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6256000" cy="9144000"/>
  <p:notesSz cx="9144000" cy="16256000"/>
  <p:embeddedFontLst>
    <p:embeddedFont>
      <p:font typeface="Quattrocento Sans" charset="-122" pitchFamily="34"/>
      <p:regular r:id="rId3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7khcepmtdap64/mnt/agents/output/ict-week3/images/6_Seamless_Electronics_Circuit_Board.png">    </p:cNvPr>
          <p:cNvPicPr>
            <a:picLocks noChangeAspect="1"/>
          </p:cNvPicPr>
          <p:nvPr/>
        </p:nvPicPr>
        <p:blipFill>
          <a:blip r:embed="rId1"/>
          <a:srcRect l="0" r="0" t="7812" b="7812"/>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B5E5E">
                  <a:alpha val="94000"/>
                </a:srgbClr>
              </a:gs>
              <a:gs pos="60000">
                <a:srgbClr val="1B5E5E">
                  <a:alpha val="82000"/>
                </a:srgbClr>
              </a:gs>
              <a:gs pos="100000">
                <a:srgbClr val="1B5E5E">
                  <a:alpha val="56000"/>
                </a:srgbClr>
              </a:gs>
            </a:gsLst>
            <a:lin ang="5400000" scaled="1"/>
          </a:gradFill>
          <a:ln w="12700">
            <a:solidFill>
              <a:srgbClr val="333333"/>
            </a:solidFill>
            <a:prstDash val="solid"/>
          </a:ln>
        </p:spPr>
      </p:sp>
      <p:sp>
        <p:nvSpPr>
          <p:cNvPr id="4" name="Text 1"/>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FFFFFF">
                    <a:alpha val="56471"/>
                  </a:srgbClr>
                </a:solidFill>
                <a:latin typeface="QuattrocentoSans" pitchFamily="34" charset="0"/>
                <a:ea typeface="QuattrocentoSans" pitchFamily="34" charset="-122"/>
                <a:cs typeface="QuattrocentoSans" pitchFamily="34" charset="-120"/>
              </a:rPr>
              <a:t>ICT WEEK 3</a:t>
            </a:r>
            <a:endParaRPr lang="en-US" sz="1400" dirty="0"/>
          </a:p>
        </p:txBody>
      </p:sp>
      <p:sp>
        <p:nvSpPr>
          <p:cNvPr id="5" name="Shape 2"/>
          <p:cNvSpPr/>
          <p:nvPr/>
        </p:nvSpPr>
        <p:spPr>
          <a:xfrm>
            <a:off x="6858000" y="2794000"/>
            <a:ext cx="2540000" cy="38100"/>
          </a:xfrm>
          <a:prstGeom prst="rect">
            <a:avLst/>
          </a:prstGeom>
          <a:solidFill>
            <a:srgbClr val="C17A3A"/>
          </a:solidFill>
          <a:ln/>
        </p:spPr>
      </p:sp>
      <p:sp>
        <p:nvSpPr>
          <p:cNvPr id="6" name="Text 3"/>
          <p:cNvSpPr/>
          <p:nvPr/>
        </p:nvSpPr>
        <p:spPr>
          <a:xfrm>
            <a:off x="1778000" y="3175000"/>
            <a:ext cx="12700000" cy="1524000"/>
          </a:xfrm>
          <a:prstGeom prst="rect">
            <a:avLst/>
          </a:prstGeom>
          <a:noFill/>
          <a:ln/>
        </p:spPr>
        <p:txBody>
          <a:bodyPr wrap="square" lIns="0" tIns="0" rIns="0" bIns="0" rtlCol="0" anchor="ctr"/>
          <a:lstStyle/>
          <a:p>
            <a:pPr algn="ctr">
              <a:lnSpc>
                <a:spcPct val="120000"/>
              </a:lnSpc>
            </a:pPr>
            <a:r>
              <a:rPr lang="en-US" sz="4200" b="1" spc="300" kern="0" dirty="0">
                <a:solidFill>
                  <a:srgbClr val="FFFFFF"/>
                </a:solidFill>
                <a:latin typeface="QuattrocentoSans" pitchFamily="34" charset="0"/>
                <a:ea typeface="QuattrocentoSans" pitchFamily="34" charset="-122"/>
                <a:cs typeface="QuattrocentoSans" pitchFamily="34" charset="-120"/>
              </a:rPr>
              <a:t>APPLICATIONS OF INFORMATION</a:t>
            </a:r>
            <a:endParaRPr lang="en-US" sz="4200" dirty="0"/>
          </a:p>
          <a:p>
            <a:pPr algn="ctr">
              <a:lnSpc>
                <a:spcPct val="120000"/>
              </a:lnSpc>
            </a:pPr>
            <a:r>
              <a:rPr lang="en-US" sz="4200" b="1" spc="300" kern="0" dirty="0">
                <a:solidFill>
                  <a:srgbClr val="FFFFFF"/>
                </a:solidFill>
                <a:latin typeface="QuattrocentoSans" pitchFamily="34" charset="0"/>
                <a:ea typeface="QuattrocentoSans" pitchFamily="34" charset="-122"/>
                <a:cs typeface="QuattrocentoSans" pitchFamily="34" charset="-120"/>
              </a:rPr>
              <a:t>AND COMMUNICATION TECHNOLOGIES</a:t>
            </a:r>
            <a:endParaRPr lang="en-US" sz="4200" dirty="0"/>
          </a:p>
        </p:txBody>
      </p:sp>
      <p:sp>
        <p:nvSpPr>
          <p:cNvPr id="7" name="Text 4"/>
          <p:cNvSpPr/>
          <p:nvPr/>
        </p:nvSpPr>
        <p:spPr>
          <a:xfrm>
            <a:off x="3048000" y="4953000"/>
            <a:ext cx="10160000" cy="508000"/>
          </a:xfrm>
          <a:prstGeom prst="rect">
            <a:avLst/>
          </a:prstGeom>
          <a:noFill/>
          <a:ln/>
        </p:spPr>
        <p:txBody>
          <a:bodyPr wrap="none" lIns="0" tIns="0" rIns="0" bIns="0" rtlCol="0" anchor="ctr"/>
          <a:lstStyle/>
          <a:p>
            <a:pPr algn="ctr">
              <a:lnSpc>
                <a:spcPct val="140000"/>
              </a:lnSpc>
            </a:pPr>
            <a:r>
              <a:rPr lang="en-US" sz="2200" dirty="0">
                <a:solidFill>
                  <a:srgbClr val="FFFFFF"/>
                </a:solidFill>
                <a:latin typeface="QuattrocentoSans" pitchFamily="34" charset="0"/>
                <a:ea typeface="QuattrocentoSans" pitchFamily="34" charset="-122"/>
                <a:cs typeface="QuattrocentoSans" pitchFamily="34" charset="-120"/>
              </a:rPr>
              <a:t>Input, Output &amp; Storage Devices</a:t>
            </a:r>
            <a:endParaRPr lang="en-US" sz="2200" dirty="0"/>
          </a:p>
        </p:txBody>
      </p:sp>
      <p:sp>
        <p:nvSpPr>
          <p:cNvPr id="8" name="Shape 5"/>
          <p:cNvSpPr/>
          <p:nvPr/>
        </p:nvSpPr>
        <p:spPr>
          <a:xfrm>
            <a:off x="6858000" y="5715000"/>
            <a:ext cx="2540000" cy="38100"/>
          </a:xfrm>
          <a:prstGeom prst="rect">
            <a:avLst/>
          </a:prstGeom>
          <a:solidFill>
            <a:srgbClr val="C17A3A"/>
          </a:solidFill>
          <a:ln/>
        </p:spPr>
      </p:sp>
      <p:sp>
        <p:nvSpPr>
          <p:cNvPr id="9" name="Text 6"/>
          <p:cNvSpPr/>
          <p:nvPr/>
        </p:nvSpPr>
        <p:spPr>
          <a:xfrm>
            <a:off x="5588000" y="6096000"/>
            <a:ext cx="5080000" cy="381000"/>
          </a:xfrm>
          <a:prstGeom prst="rect">
            <a:avLst/>
          </a:prstGeom>
          <a:noFill/>
          <a:ln/>
        </p:spPr>
        <p:txBody>
          <a:bodyPr wrap="none" lIns="0" tIns="0" rIns="0" bIns="0" rtlCol="0" anchor="ctr"/>
          <a:lstStyle/>
          <a:p>
            <a:pPr algn="ctr">
              <a:lnSpc>
                <a:spcPct val="100000"/>
              </a:lnSpc>
            </a:pPr>
            <a:r>
              <a:rPr lang="en-US" sz="1800" dirty="0">
                <a:solidFill>
                  <a:srgbClr val="FFFFFF">
                    <a:alpha val="73333"/>
                  </a:srgbClr>
                </a:solidFill>
                <a:latin typeface="Quattrocento Sans" pitchFamily="34" charset="0"/>
                <a:ea typeface="Quattrocento Sans" pitchFamily="34" charset="-122"/>
                <a:cs typeface="Quattrocento Sans" pitchFamily="34" charset="-120"/>
              </a:rPr>
              <a:t>Week 3 | Lectures 5 &amp; 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5080000" cy="571500"/>
          </a:xfrm>
          <a:prstGeom prst="rect">
            <a:avLst/>
          </a:prstGeom>
          <a:noFill/>
          <a:ln/>
        </p:spPr>
        <p:txBody>
          <a:bodyPr wrap="none" lIns="0" tIns="0" rIns="0" bIns="0" rtlCol="0" anchor="ctr"/>
          <a:lstStyle/>
          <a:p>
            <a:pPr>
              <a:lnSpc>
                <a:spcPct val="130000"/>
              </a:lnSpc>
            </a:pPr>
            <a:r>
              <a:rPr lang="en-US" sz="3200" b="1" dirty="0">
                <a:solidFill>
                  <a:srgbClr val="1B5E5E"/>
                </a:solidFill>
                <a:latin typeface="QuattrocentoSans" pitchFamily="34" charset="0"/>
                <a:ea typeface="QuattrocentoSans" pitchFamily="34" charset="-122"/>
                <a:cs typeface="QuattrocentoSans" pitchFamily="34" charset="-120"/>
              </a:rPr>
              <a:t>Session Overview</a:t>
            </a:r>
            <a:endParaRPr lang="en-US" sz="2800" dirty="0"/>
          </a:p>
        </p:txBody>
      </p:sp>
      <p:sp>
        <p:nvSpPr>
          <p:cNvPr id="4" name="Shape 2"/>
          <p:cNvSpPr/>
          <p:nvPr/>
        </p:nvSpPr>
        <p:spPr>
          <a:xfrm>
            <a:off x="762000" y="1587500"/>
            <a:ext cx="1016000" cy="38100"/>
          </a:xfrm>
          <a:prstGeom prst="rect">
            <a:avLst/>
          </a:prstGeom>
          <a:solidFill>
            <a:srgbClr val="C17A3A"/>
          </a:solidFill>
          <a:ln/>
        </p:spPr>
      </p:sp>
      <p:sp>
        <p:nvSpPr>
          <p:cNvPr id="5" name="Shape 3"/>
          <p:cNvSpPr/>
          <p:nvPr/>
        </p:nvSpPr>
        <p:spPr>
          <a:xfrm>
            <a:off x="762000" y="2159000"/>
            <a:ext cx="3429000" cy="5842000"/>
          </a:xfrm>
          <a:prstGeom prst="rect">
            <a:avLst/>
          </a:prstGeom>
          <a:solidFill>
            <a:srgbClr val="EDEAE4"/>
          </a:solidFill>
          <a:ln/>
        </p:spPr>
      </p:sp>
      <p:sp>
        <p:nvSpPr>
          <p:cNvPr id="6" name="Text 4"/>
          <p:cNvSpPr/>
          <p:nvPr/>
        </p:nvSpPr>
        <p:spPr>
          <a:xfrm>
            <a:off x="1016000" y="2413000"/>
            <a:ext cx="1270000" cy="825500"/>
          </a:xfrm>
          <a:prstGeom prst="rect">
            <a:avLst/>
          </a:prstGeom>
          <a:noFill/>
          <a:ln/>
        </p:spPr>
        <p:txBody>
          <a:bodyPr wrap="none" lIns="0" tIns="0" rIns="0" bIns="0" rtlCol="0" anchor="ctr"/>
          <a:lstStyle/>
          <a:p>
            <a:pPr>
              <a:lnSpc>
                <a:spcPct val="100000"/>
              </a:lnSpc>
            </a:pPr>
            <a:r>
              <a:rPr lang="en-US" sz="4800" dirty="0">
                <a:solidFill>
                  <a:srgbClr val="C17A3A"/>
                </a:solidFill>
                <a:latin typeface="QuattrocentoSans" pitchFamily="34" charset="0"/>
                <a:ea typeface="QuattrocentoSans" pitchFamily="34" charset="-122"/>
                <a:cs typeface="QuattrocentoSans" pitchFamily="34" charset="-120"/>
              </a:rPr>
              <a:t>01</a:t>
            </a:r>
            <a:endParaRPr lang="en-US" sz="4800" dirty="0"/>
          </a:p>
        </p:txBody>
      </p:sp>
      <p:sp>
        <p:nvSpPr>
          <p:cNvPr id="7" name="Text 5"/>
          <p:cNvSpPr/>
          <p:nvPr/>
        </p:nvSpPr>
        <p:spPr>
          <a:xfrm>
            <a:off x="1016000" y="3365500"/>
            <a:ext cx="2921000" cy="444500"/>
          </a:xfrm>
          <a:prstGeom prst="rect">
            <a:avLst/>
          </a:prstGeom>
          <a:noFill/>
          <a:ln/>
        </p:spPr>
        <p:txBody>
          <a:bodyPr wrap="none" lIns="0" tIns="0" rIns="0" bIns="0" rtlCol="0" anchor="ctr"/>
          <a:lstStyle/>
          <a:p>
            <a:pPr>
              <a:lnSpc>
                <a:spcPct val="130000"/>
              </a:lnSpc>
            </a:pPr>
            <a:r>
              <a:rPr lang="en-US" sz="2000" b="1" dirty="0">
                <a:solidFill>
                  <a:srgbClr val="1B5E5E"/>
                </a:solidFill>
                <a:latin typeface="QuattrocentoSans" pitchFamily="34" charset="0"/>
                <a:ea typeface="QuattrocentoSans" pitchFamily="34" charset="-122"/>
                <a:cs typeface="QuattrocentoSans" pitchFamily="34" charset="-120"/>
              </a:rPr>
              <a:t>Input Devices</a:t>
            </a:r>
            <a:endParaRPr lang="en-US" sz="2000" dirty="0"/>
          </a:p>
        </p:txBody>
      </p:sp>
      <p:sp>
        <p:nvSpPr>
          <p:cNvPr id="8" name="Shape 6"/>
          <p:cNvSpPr/>
          <p:nvPr/>
        </p:nvSpPr>
        <p:spPr>
          <a:xfrm>
            <a:off x="1016000" y="3937000"/>
            <a:ext cx="508000" cy="25400"/>
          </a:xfrm>
          <a:prstGeom prst="rect">
            <a:avLst/>
          </a:prstGeom>
          <a:solidFill>
            <a:srgbClr val="C17A3A"/>
          </a:solidFill>
          <a:ln/>
        </p:spPr>
      </p:sp>
      <p:sp>
        <p:nvSpPr>
          <p:cNvPr id="9" name="Text 7"/>
          <p:cNvSpPr/>
          <p:nvPr/>
        </p:nvSpPr>
        <p:spPr>
          <a:xfrm>
            <a:off x="1016000" y="4191000"/>
            <a:ext cx="2921000" cy="3556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Keyboard, pointing devices, remote control, joystick, touch screen, scanners, cameras, microphones, and sensors</a:t>
            </a:r>
            <a:endParaRPr lang="en-US" sz="2000" dirty="0"/>
          </a:p>
        </p:txBody>
      </p:sp>
      <p:sp>
        <p:nvSpPr>
          <p:cNvPr id="10" name="Shape 8"/>
          <p:cNvSpPr/>
          <p:nvPr/>
        </p:nvSpPr>
        <p:spPr>
          <a:xfrm>
            <a:off x="4445000" y="2159000"/>
            <a:ext cx="3429000" cy="5842000"/>
          </a:xfrm>
          <a:prstGeom prst="rect">
            <a:avLst/>
          </a:prstGeom>
          <a:solidFill>
            <a:srgbClr val="EDEAE4"/>
          </a:solidFill>
          <a:ln/>
        </p:spPr>
      </p:sp>
      <p:sp>
        <p:nvSpPr>
          <p:cNvPr id="11" name="Text 9"/>
          <p:cNvSpPr/>
          <p:nvPr/>
        </p:nvSpPr>
        <p:spPr>
          <a:xfrm>
            <a:off x="4699000" y="2413000"/>
            <a:ext cx="1270000" cy="825500"/>
          </a:xfrm>
          <a:prstGeom prst="rect">
            <a:avLst/>
          </a:prstGeom>
          <a:noFill/>
          <a:ln/>
        </p:spPr>
        <p:txBody>
          <a:bodyPr wrap="none" lIns="0" tIns="0" rIns="0" bIns="0" rtlCol="0" anchor="ctr"/>
          <a:lstStyle/>
          <a:p>
            <a:pPr>
              <a:lnSpc>
                <a:spcPct val="100000"/>
              </a:lnSpc>
            </a:pPr>
            <a:r>
              <a:rPr lang="en-US" sz="4800" dirty="0">
                <a:solidFill>
                  <a:srgbClr val="C17A3A"/>
                </a:solidFill>
                <a:latin typeface="QuattrocentoSans" pitchFamily="34" charset="0"/>
                <a:ea typeface="QuattrocentoSans" pitchFamily="34" charset="-122"/>
                <a:cs typeface="QuattrocentoSans" pitchFamily="34" charset="-120"/>
              </a:rPr>
              <a:t>02</a:t>
            </a:r>
            <a:endParaRPr lang="en-US" sz="4800" dirty="0"/>
          </a:p>
        </p:txBody>
      </p:sp>
      <p:sp>
        <p:nvSpPr>
          <p:cNvPr id="12" name="Text 10"/>
          <p:cNvSpPr/>
          <p:nvPr/>
        </p:nvSpPr>
        <p:spPr>
          <a:xfrm>
            <a:off x="4699000" y="3365500"/>
            <a:ext cx="2921000" cy="444500"/>
          </a:xfrm>
          <a:prstGeom prst="rect">
            <a:avLst/>
          </a:prstGeom>
          <a:noFill/>
          <a:ln/>
        </p:spPr>
        <p:txBody>
          <a:bodyPr wrap="none" lIns="0" tIns="0" rIns="0" bIns="0" rtlCol="0" anchor="ctr"/>
          <a:lstStyle/>
          <a:p>
            <a:pPr>
              <a:lnSpc>
                <a:spcPct val="130000"/>
              </a:lnSpc>
            </a:pPr>
            <a:r>
              <a:rPr lang="en-US" sz="2000" b="1" dirty="0">
                <a:solidFill>
                  <a:srgbClr val="1B5E5E"/>
                </a:solidFill>
                <a:latin typeface="QuattrocentoSans" pitchFamily="34" charset="0"/>
                <a:ea typeface="QuattrocentoSans" pitchFamily="34" charset="-122"/>
                <a:cs typeface="QuattrocentoSans" pitchFamily="34" charset="-120"/>
              </a:rPr>
              <a:t>Direct Data Entry</a:t>
            </a:r>
            <a:endParaRPr lang="en-US" sz="2000" dirty="0"/>
          </a:p>
        </p:txBody>
      </p:sp>
      <p:sp>
        <p:nvSpPr>
          <p:cNvPr id="13" name="Shape 11"/>
          <p:cNvSpPr/>
          <p:nvPr/>
        </p:nvSpPr>
        <p:spPr>
          <a:xfrm>
            <a:off x="4699000" y="3937000"/>
            <a:ext cx="508000" cy="25400"/>
          </a:xfrm>
          <a:prstGeom prst="rect">
            <a:avLst/>
          </a:prstGeom>
          <a:solidFill>
            <a:srgbClr val="C17A3A"/>
          </a:solidFill>
          <a:ln/>
        </p:spPr>
      </p:sp>
      <p:sp>
        <p:nvSpPr>
          <p:cNvPr id="14" name="Text 12"/>
          <p:cNvSpPr/>
          <p:nvPr/>
        </p:nvSpPr>
        <p:spPr>
          <a:xfrm>
            <a:off x="4699000" y="4191000"/>
            <a:ext cx="2921000" cy="3556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Magnetic stripe reader, chip and PIN, RFID, OMR, OCR, bar code reader, and QR scanner</a:t>
            </a:r>
            <a:endParaRPr lang="en-US" sz="2000" dirty="0"/>
          </a:p>
        </p:txBody>
      </p:sp>
      <p:sp>
        <p:nvSpPr>
          <p:cNvPr id="15" name="Shape 13"/>
          <p:cNvSpPr/>
          <p:nvPr/>
        </p:nvSpPr>
        <p:spPr>
          <a:xfrm>
            <a:off x="8128000" y="2159000"/>
            <a:ext cx="3429000" cy="5842000"/>
          </a:xfrm>
          <a:prstGeom prst="rect">
            <a:avLst/>
          </a:prstGeom>
          <a:solidFill>
            <a:srgbClr val="EDEAE4"/>
          </a:solidFill>
          <a:ln/>
        </p:spPr>
      </p:sp>
      <p:sp>
        <p:nvSpPr>
          <p:cNvPr id="16" name="Text 14"/>
          <p:cNvSpPr/>
          <p:nvPr/>
        </p:nvSpPr>
        <p:spPr>
          <a:xfrm>
            <a:off x="8382000" y="2413000"/>
            <a:ext cx="1270000" cy="825500"/>
          </a:xfrm>
          <a:prstGeom prst="rect">
            <a:avLst/>
          </a:prstGeom>
          <a:noFill/>
          <a:ln/>
        </p:spPr>
        <p:txBody>
          <a:bodyPr wrap="none" lIns="0" tIns="0" rIns="0" bIns="0" rtlCol="0" anchor="ctr"/>
          <a:lstStyle/>
          <a:p>
            <a:pPr>
              <a:lnSpc>
                <a:spcPct val="100000"/>
              </a:lnSpc>
            </a:pPr>
            <a:r>
              <a:rPr lang="en-US" sz="4800" dirty="0">
                <a:solidFill>
                  <a:srgbClr val="C17A3A"/>
                </a:solidFill>
                <a:latin typeface="QuattrocentoSans" pitchFamily="34" charset="0"/>
                <a:ea typeface="QuattrocentoSans" pitchFamily="34" charset="-122"/>
                <a:cs typeface="QuattrocentoSans" pitchFamily="34" charset="-120"/>
              </a:rPr>
              <a:t>03</a:t>
            </a:r>
            <a:endParaRPr lang="en-US" sz="4800" dirty="0"/>
          </a:p>
        </p:txBody>
      </p:sp>
      <p:sp>
        <p:nvSpPr>
          <p:cNvPr id="17" name="Text 15"/>
          <p:cNvSpPr/>
          <p:nvPr/>
        </p:nvSpPr>
        <p:spPr>
          <a:xfrm>
            <a:off x="8382000" y="3365500"/>
            <a:ext cx="2921000" cy="444500"/>
          </a:xfrm>
          <a:prstGeom prst="rect">
            <a:avLst/>
          </a:prstGeom>
          <a:noFill/>
          <a:ln/>
        </p:spPr>
        <p:txBody>
          <a:bodyPr wrap="none" lIns="0" tIns="0" rIns="0" bIns="0" rtlCol="0" anchor="ctr"/>
          <a:lstStyle/>
          <a:p>
            <a:pPr>
              <a:lnSpc>
                <a:spcPct val="130000"/>
              </a:lnSpc>
            </a:pPr>
            <a:r>
              <a:rPr lang="en-US" sz="2000" b="1" dirty="0">
                <a:solidFill>
                  <a:srgbClr val="1B5E5E"/>
                </a:solidFill>
                <a:latin typeface="QuattrocentoSans" pitchFamily="34" charset="0"/>
                <a:ea typeface="QuattrocentoSans" pitchFamily="34" charset="-122"/>
                <a:cs typeface="QuattrocentoSans" pitchFamily="34" charset="-120"/>
              </a:rPr>
              <a:t>Output Devices</a:t>
            </a:r>
            <a:endParaRPr lang="en-US" sz="2000" dirty="0"/>
          </a:p>
        </p:txBody>
      </p:sp>
      <p:sp>
        <p:nvSpPr>
          <p:cNvPr id="18" name="Shape 16"/>
          <p:cNvSpPr/>
          <p:nvPr/>
        </p:nvSpPr>
        <p:spPr>
          <a:xfrm>
            <a:off x="8382000" y="3937000"/>
            <a:ext cx="508000" cy="25400"/>
          </a:xfrm>
          <a:prstGeom prst="rect">
            <a:avLst/>
          </a:prstGeom>
          <a:solidFill>
            <a:srgbClr val="C17A3A"/>
          </a:solidFill>
          <a:ln/>
        </p:spPr>
      </p:sp>
      <p:sp>
        <p:nvSpPr>
          <p:cNvPr id="19" name="Text 17"/>
          <p:cNvSpPr/>
          <p:nvPr/>
        </p:nvSpPr>
        <p:spPr>
          <a:xfrm>
            <a:off x="8382000" y="4191000"/>
            <a:ext cx="2921000" cy="3556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Monitors, touch screen, multimedia projector, printers, plotter, 3D printers, speakers, and actuators</a:t>
            </a:r>
            <a:endParaRPr lang="en-US" sz="2000" dirty="0"/>
          </a:p>
        </p:txBody>
      </p:sp>
      <p:sp>
        <p:nvSpPr>
          <p:cNvPr id="20" name="Shape 18"/>
          <p:cNvSpPr/>
          <p:nvPr/>
        </p:nvSpPr>
        <p:spPr>
          <a:xfrm>
            <a:off x="11811000" y="2159000"/>
            <a:ext cx="3429000" cy="5842000"/>
          </a:xfrm>
          <a:prstGeom prst="rect">
            <a:avLst/>
          </a:prstGeom>
          <a:solidFill>
            <a:srgbClr val="EDEAE4"/>
          </a:solidFill>
          <a:ln/>
        </p:spPr>
      </p:sp>
      <p:sp>
        <p:nvSpPr>
          <p:cNvPr id="21" name="Text 19"/>
          <p:cNvSpPr/>
          <p:nvPr/>
        </p:nvSpPr>
        <p:spPr>
          <a:xfrm>
            <a:off x="12065000" y="2413000"/>
            <a:ext cx="1270000" cy="825500"/>
          </a:xfrm>
          <a:prstGeom prst="rect">
            <a:avLst/>
          </a:prstGeom>
          <a:noFill/>
          <a:ln/>
        </p:spPr>
        <p:txBody>
          <a:bodyPr wrap="none" lIns="0" tIns="0" rIns="0" bIns="0" rtlCol="0" anchor="ctr"/>
          <a:lstStyle/>
          <a:p>
            <a:pPr>
              <a:lnSpc>
                <a:spcPct val="100000"/>
              </a:lnSpc>
            </a:pPr>
            <a:r>
              <a:rPr lang="en-US" sz="4800" dirty="0">
                <a:solidFill>
                  <a:srgbClr val="C17A3A"/>
                </a:solidFill>
                <a:latin typeface="QuattrocentoSans" pitchFamily="34" charset="0"/>
                <a:ea typeface="QuattrocentoSans" pitchFamily="34" charset="-122"/>
                <a:cs typeface="QuattrocentoSans" pitchFamily="34" charset="-120"/>
              </a:rPr>
              <a:t>04</a:t>
            </a:r>
            <a:endParaRPr lang="en-US" sz="4800" dirty="0"/>
          </a:p>
        </p:txBody>
      </p:sp>
      <p:sp>
        <p:nvSpPr>
          <p:cNvPr id="22" name="Text 20"/>
          <p:cNvSpPr/>
          <p:nvPr/>
        </p:nvSpPr>
        <p:spPr>
          <a:xfrm>
            <a:off x="12065000" y="3365500"/>
            <a:ext cx="2921000" cy="444500"/>
          </a:xfrm>
          <a:prstGeom prst="rect">
            <a:avLst/>
          </a:prstGeom>
          <a:noFill/>
          <a:ln/>
        </p:spPr>
        <p:txBody>
          <a:bodyPr wrap="none" lIns="0" tIns="0" rIns="0" bIns="0" rtlCol="0" anchor="ctr"/>
          <a:lstStyle/>
          <a:p>
            <a:pPr>
              <a:lnSpc>
                <a:spcPct val="130000"/>
              </a:lnSpc>
            </a:pPr>
            <a:r>
              <a:rPr lang="en-US" sz="2000" b="1" dirty="0">
                <a:solidFill>
                  <a:srgbClr val="1B5E5E"/>
                </a:solidFill>
                <a:latin typeface="QuattrocentoSans" pitchFamily="34" charset="0"/>
                <a:ea typeface="QuattrocentoSans" pitchFamily="34" charset="-122"/>
                <a:cs typeface="QuattrocentoSans" pitchFamily="34" charset="-120"/>
              </a:rPr>
              <a:t>Storage Devices</a:t>
            </a:r>
            <a:endParaRPr lang="en-US" sz="2000" dirty="0"/>
          </a:p>
        </p:txBody>
      </p:sp>
      <p:sp>
        <p:nvSpPr>
          <p:cNvPr id="23" name="Shape 21"/>
          <p:cNvSpPr/>
          <p:nvPr/>
        </p:nvSpPr>
        <p:spPr>
          <a:xfrm>
            <a:off x="12065000" y="3937000"/>
            <a:ext cx="508000" cy="25400"/>
          </a:xfrm>
          <a:prstGeom prst="rect">
            <a:avLst/>
          </a:prstGeom>
          <a:solidFill>
            <a:srgbClr val="C17A3A"/>
          </a:solidFill>
          <a:ln/>
        </p:spPr>
      </p:sp>
      <p:sp>
        <p:nvSpPr>
          <p:cNvPr id="24" name="Text 22"/>
          <p:cNvSpPr/>
          <p:nvPr/>
        </p:nvSpPr>
        <p:spPr>
          <a:xfrm>
            <a:off x="12065000" y="4191000"/>
            <a:ext cx="2921000" cy="3556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Magnetic, optical, and solid-state storage — characteristics, uses, advantages, and disadvantages</a:t>
            </a:r>
            <a:endParaRPr lang="en-US" sz="2000" dirty="0"/>
          </a:p>
        </p:txBody>
      </p:sp>
      <p:sp>
        <p:nvSpPr>
          <p:cNvPr id="25" name="Text 23"/>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02</a:t>
            </a:r>
            <a:endParaRPr lang="en-US" sz="1400" dirty="0"/>
          </a:p>
        </p:txBody>
      </p:sp>
      <p:sp>
        <p:nvSpPr>
          <p:cNvPr id="26" name="Shape 24"/>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6350000" cy="9144000"/>
          </a:xfrm>
          <a:prstGeom prst="rect">
            <a:avLst/>
          </a:prstGeom>
          <a:solidFill>
            <a:srgbClr val="EDEAE4"/>
          </a:solidFill>
          <a:ln/>
        </p:spPr>
      </p:sp>
      <p:sp>
        <p:nvSpPr>
          <p:cNvPr id="3" name="Text 1"/>
          <p:cNvSpPr/>
          <p:nvPr/>
        </p:nvSpPr>
        <p:spPr>
          <a:xfrm>
            <a:off x="762000" y="2286000"/>
            <a:ext cx="4826000" cy="1981200"/>
          </a:xfrm>
          <a:prstGeom prst="rect">
            <a:avLst/>
          </a:prstGeom>
          <a:noFill/>
          <a:ln/>
        </p:spPr>
        <p:txBody>
          <a:bodyPr wrap="none" lIns="0" tIns="0" rIns="0" bIns="0" rtlCol="0" anchor="ctr"/>
          <a:lstStyle/>
          <a:p>
            <a:pPr>
              <a:lnSpc>
                <a:spcPct val="100000"/>
              </a:lnSpc>
            </a:pPr>
            <a:r>
              <a:rPr lang="en-US" sz="12000" dirty="0">
                <a:solidFill>
                  <a:srgbClr val="1B5E5E"/>
                </a:solidFill>
                <a:latin typeface="QuattrocentoSans" pitchFamily="34" charset="0"/>
                <a:ea typeface="QuattrocentoSans" pitchFamily="34" charset="-122"/>
                <a:cs typeface="QuattrocentoSans" pitchFamily="34" charset="-120"/>
              </a:rPr>
              <a:t>01</a:t>
            </a:r>
            <a:endParaRPr lang="en-US" sz="12000" dirty="0"/>
          </a:p>
        </p:txBody>
      </p:sp>
      <p:sp>
        <p:nvSpPr>
          <p:cNvPr id="4" name="Shape 2"/>
          <p:cNvSpPr/>
          <p:nvPr/>
        </p:nvSpPr>
        <p:spPr>
          <a:xfrm>
            <a:off x="762000" y="4445000"/>
            <a:ext cx="762000" cy="50800"/>
          </a:xfrm>
          <a:prstGeom prst="rect">
            <a:avLst/>
          </a:prstGeom>
          <a:solidFill>
            <a:srgbClr val="C17A3A"/>
          </a:solidFill>
          <a:ln/>
        </p:spPr>
      </p:sp>
      <p:sp>
        <p:nvSpPr>
          <p:cNvPr id="5" name="Text 3"/>
          <p:cNvSpPr/>
          <p:nvPr/>
        </p:nvSpPr>
        <p:spPr>
          <a:xfrm>
            <a:off x="762000" y="4699000"/>
            <a:ext cx="4826000" cy="635000"/>
          </a:xfrm>
          <a:prstGeom prst="rect">
            <a:avLst/>
          </a:prstGeom>
          <a:noFill/>
          <a:ln/>
        </p:spPr>
        <p:txBody>
          <a:bodyPr wrap="none" lIns="0" tIns="0" rIns="0" bIns="0" rtlCol="0" anchor="ctr"/>
          <a:lstStyle/>
          <a:p>
            <a:pPr>
              <a:lnSpc>
                <a:spcPct val="120000"/>
              </a:lnSpc>
            </a:pPr>
            <a:r>
              <a:rPr lang="en-US" sz="3800" b="1" dirty="0">
                <a:solidFill>
                  <a:srgbClr val="1B5E5E"/>
                </a:solidFill>
                <a:latin typeface="QuattrocentoSans" pitchFamily="34" charset="0"/>
                <a:ea typeface="QuattrocentoSans" pitchFamily="34" charset="-122"/>
                <a:cs typeface="QuattrocentoSans" pitchFamily="34" charset="-120"/>
              </a:rPr>
              <a:t>Input Devices</a:t>
            </a:r>
            <a:endParaRPr lang="en-US" sz="3800" dirty="0"/>
          </a:p>
        </p:txBody>
      </p:sp>
      <p:sp>
        <p:nvSpPr>
          <p:cNvPr id="6" name="Text 4"/>
          <p:cNvSpPr/>
          <p:nvPr/>
        </p:nvSpPr>
        <p:spPr>
          <a:xfrm>
            <a:off x="762000" y="5461000"/>
            <a:ext cx="4826000" cy="1016000"/>
          </a:xfrm>
          <a:prstGeom prst="rect">
            <a:avLst/>
          </a:prstGeom>
          <a:noFill/>
          <a:ln/>
        </p:spPr>
        <p:txBody>
          <a:bodyPr wrap="square" lIns="0" tIns="0" rIns="0" bIns="0" rtlCol="0" anchor="ctr"/>
          <a:lstStyle/>
          <a:p>
            <a:pPr>
              <a:lnSpc>
                <a:spcPct val="160000"/>
              </a:lnSpc>
            </a:pPr>
            <a:r>
              <a:rPr lang="en-US" sz="1800" dirty="0">
                <a:solidFill>
                  <a:srgbClr val="8A8580"/>
                </a:solidFill>
                <a:latin typeface="QuattrocentoSans" pitchFamily="34" charset="0"/>
                <a:ea typeface="QuattrocentoSans" pitchFamily="34" charset="-122"/>
                <a:cs typeface="QuattrocentoSans" pitchFamily="34" charset="-120"/>
              </a:rPr>
              <a:t>How Humans Communicate with Computer Systems</a:t>
            </a:r>
            <a:endParaRPr lang="en-US" sz="2000" dirty="0"/>
          </a:p>
        </p:txBody>
      </p:sp>
      <p:pic>
        <p:nvPicPr>
          <p:cNvPr id="7" name="Image 0" descr="https://kimi-img.moonshot.cn/pub/slides/okc/7khcepmtdap64/mnt/agents/output/ict-week3/images/1_Essential_Guide_to_Input_Devices.png">    </p:cNvPr>
          <p:cNvPicPr>
            <a:picLocks noChangeAspect="1"/>
          </p:cNvPicPr>
          <p:nvPr/>
        </p:nvPicPr>
        <p:blipFill>
          <a:blip r:embed="rId1"/>
          <a:srcRect l="19048" r="19048" t="0" b="0"/>
          <a:stretch/>
        </p:blipFill>
        <p:spPr>
          <a:xfrm>
            <a:off x="6350000" y="0"/>
            <a:ext cx="9906000" cy="9144000"/>
          </a:xfrm>
          <a:prstGeom prst="rect">
            <a:avLst/>
          </a:prstGeom>
        </p:spPr>
      </p:pic>
      <p:sp>
        <p:nvSpPr>
          <p:cNvPr id="8" name="Shape 5"/>
          <p:cNvSpPr/>
          <p:nvPr/>
        </p:nvSpPr>
        <p:spPr>
          <a:xfrm>
            <a:off x="6350000" y="0"/>
            <a:ext cx="9906000" cy="9144000"/>
          </a:xfrm>
          <a:prstGeom prst="rect">
            <a:avLst/>
          </a:prstGeom>
          <a:gradFill rotWithShape="1" flip="none">
            <a:gsLst>
              <a:gs pos="0">
                <a:srgbClr val="F5F1EB"/>
              </a:gs>
              <a:gs pos="15000">
                <a:srgbClr val="F5F1EB">
                  <a:alpha val="0"/>
                </a:srgbClr>
              </a:gs>
              <a:gs pos="100000">
                <a:srgbClr val="F5F1EB">
                  <a:alpha val="0"/>
                </a:srgbClr>
              </a:gs>
            </a:gsLst>
            <a:lin ang="0" scaled="1"/>
          </a:gradFill>
          <a:ln/>
        </p:spPr>
      </p:sp>
      <p:sp>
        <p:nvSpPr>
          <p:cNvPr id="9" name="Text 6"/>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Keyboard &amp; Numeric Keypad</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39775" y="1968500"/>
            <a:ext cx="400050" cy="355600"/>
          </a:xfrm>
          <a:custGeom>
            <a:avLst/>
            <a:gdLst/>
            <a:ahLst/>
            <a:cxnLst/>
            <a:rect l="l" t="t" r="r" b="b"/>
            <a:pathLst>
              <a:path w="400050" h="355600">
                <a:moveTo>
                  <a:pt x="44450" y="44450"/>
                </a:moveTo>
                <a:cubicBezTo>
                  <a:pt x="19933" y="44450"/>
                  <a:pt x="0" y="64383"/>
                  <a:pt x="0" y="88900"/>
                </a:cubicBezTo>
                <a:lnTo>
                  <a:pt x="0" y="266700"/>
                </a:lnTo>
                <a:cubicBezTo>
                  <a:pt x="0" y="291217"/>
                  <a:pt x="19933" y="311150"/>
                  <a:pt x="44450" y="311150"/>
                </a:cubicBezTo>
                <a:lnTo>
                  <a:pt x="355600" y="311150"/>
                </a:lnTo>
                <a:cubicBezTo>
                  <a:pt x="380117" y="311150"/>
                  <a:pt x="400050" y="291217"/>
                  <a:pt x="400050" y="266700"/>
                </a:cubicBezTo>
                <a:lnTo>
                  <a:pt x="400050" y="88900"/>
                </a:lnTo>
                <a:cubicBezTo>
                  <a:pt x="400050" y="64383"/>
                  <a:pt x="380117" y="44450"/>
                  <a:pt x="355600" y="44450"/>
                </a:cubicBezTo>
                <a:lnTo>
                  <a:pt x="44450" y="44450"/>
                </a:lnTo>
                <a:close/>
                <a:moveTo>
                  <a:pt x="55563" y="88900"/>
                </a:moveTo>
                <a:lnTo>
                  <a:pt x="77788" y="88900"/>
                </a:lnTo>
                <a:cubicBezTo>
                  <a:pt x="83899" y="88900"/>
                  <a:pt x="88900" y="93901"/>
                  <a:pt x="88900" y="100013"/>
                </a:cubicBezTo>
                <a:lnTo>
                  <a:pt x="88900" y="122238"/>
                </a:lnTo>
                <a:cubicBezTo>
                  <a:pt x="88900" y="128349"/>
                  <a:pt x="83899" y="133350"/>
                  <a:pt x="77788" y="133350"/>
                </a:cubicBezTo>
                <a:lnTo>
                  <a:pt x="55563" y="133350"/>
                </a:lnTo>
                <a:cubicBezTo>
                  <a:pt x="49451" y="133350"/>
                  <a:pt x="44450" y="128349"/>
                  <a:pt x="44450" y="122238"/>
                </a:cubicBezTo>
                <a:lnTo>
                  <a:pt x="44450" y="100013"/>
                </a:lnTo>
                <a:cubicBezTo>
                  <a:pt x="44450" y="93901"/>
                  <a:pt x="49451" y="88900"/>
                  <a:pt x="55563" y="88900"/>
                </a:cubicBezTo>
                <a:close/>
                <a:moveTo>
                  <a:pt x="44450" y="166688"/>
                </a:moveTo>
                <a:cubicBezTo>
                  <a:pt x="44450" y="160576"/>
                  <a:pt x="49451" y="155575"/>
                  <a:pt x="55563" y="155575"/>
                </a:cubicBezTo>
                <a:lnTo>
                  <a:pt x="77788" y="155575"/>
                </a:lnTo>
                <a:cubicBezTo>
                  <a:pt x="83899" y="155575"/>
                  <a:pt x="88900" y="160576"/>
                  <a:pt x="88900" y="166688"/>
                </a:cubicBezTo>
                <a:lnTo>
                  <a:pt x="88900" y="188913"/>
                </a:lnTo>
                <a:cubicBezTo>
                  <a:pt x="88900" y="195024"/>
                  <a:pt x="83899" y="200025"/>
                  <a:pt x="77788" y="200025"/>
                </a:cubicBezTo>
                <a:lnTo>
                  <a:pt x="55563" y="200025"/>
                </a:lnTo>
                <a:cubicBezTo>
                  <a:pt x="49451" y="200025"/>
                  <a:pt x="44450" y="195024"/>
                  <a:pt x="44450" y="188913"/>
                </a:cubicBezTo>
                <a:lnTo>
                  <a:pt x="44450" y="166688"/>
                </a:lnTo>
                <a:close/>
                <a:moveTo>
                  <a:pt x="122238" y="88900"/>
                </a:moveTo>
                <a:lnTo>
                  <a:pt x="144463" y="88900"/>
                </a:lnTo>
                <a:cubicBezTo>
                  <a:pt x="150574" y="88900"/>
                  <a:pt x="155575" y="93901"/>
                  <a:pt x="155575" y="100013"/>
                </a:cubicBezTo>
                <a:lnTo>
                  <a:pt x="155575" y="122238"/>
                </a:lnTo>
                <a:cubicBezTo>
                  <a:pt x="155575" y="128349"/>
                  <a:pt x="150574" y="133350"/>
                  <a:pt x="144463" y="133350"/>
                </a:cubicBezTo>
                <a:lnTo>
                  <a:pt x="122238" y="133350"/>
                </a:lnTo>
                <a:cubicBezTo>
                  <a:pt x="116126" y="133350"/>
                  <a:pt x="111125" y="128349"/>
                  <a:pt x="111125" y="122238"/>
                </a:cubicBezTo>
                <a:lnTo>
                  <a:pt x="111125" y="100013"/>
                </a:lnTo>
                <a:cubicBezTo>
                  <a:pt x="111125" y="93901"/>
                  <a:pt x="116126" y="88900"/>
                  <a:pt x="122238" y="88900"/>
                </a:cubicBezTo>
                <a:close/>
                <a:moveTo>
                  <a:pt x="111125" y="166688"/>
                </a:moveTo>
                <a:cubicBezTo>
                  <a:pt x="111125" y="160576"/>
                  <a:pt x="116126" y="155575"/>
                  <a:pt x="122238" y="155575"/>
                </a:cubicBezTo>
                <a:lnTo>
                  <a:pt x="144463" y="155575"/>
                </a:lnTo>
                <a:cubicBezTo>
                  <a:pt x="150574" y="155575"/>
                  <a:pt x="155575" y="160576"/>
                  <a:pt x="155575" y="166688"/>
                </a:cubicBezTo>
                <a:lnTo>
                  <a:pt x="155575" y="188913"/>
                </a:lnTo>
                <a:cubicBezTo>
                  <a:pt x="155575" y="195024"/>
                  <a:pt x="150574" y="200025"/>
                  <a:pt x="144463" y="200025"/>
                </a:cubicBezTo>
                <a:lnTo>
                  <a:pt x="122238" y="200025"/>
                </a:lnTo>
                <a:cubicBezTo>
                  <a:pt x="116126" y="200025"/>
                  <a:pt x="111125" y="195024"/>
                  <a:pt x="111125" y="188913"/>
                </a:cubicBezTo>
                <a:lnTo>
                  <a:pt x="111125" y="166688"/>
                </a:lnTo>
                <a:close/>
                <a:moveTo>
                  <a:pt x="122238" y="222250"/>
                </a:moveTo>
                <a:lnTo>
                  <a:pt x="277813" y="222250"/>
                </a:lnTo>
                <a:cubicBezTo>
                  <a:pt x="283924" y="222250"/>
                  <a:pt x="288925" y="227251"/>
                  <a:pt x="288925" y="233363"/>
                </a:cubicBezTo>
                <a:lnTo>
                  <a:pt x="288925" y="255587"/>
                </a:lnTo>
                <a:cubicBezTo>
                  <a:pt x="288925" y="261699"/>
                  <a:pt x="283924" y="266700"/>
                  <a:pt x="277813" y="266700"/>
                </a:cubicBezTo>
                <a:lnTo>
                  <a:pt x="122238" y="266700"/>
                </a:lnTo>
                <a:cubicBezTo>
                  <a:pt x="116126" y="266700"/>
                  <a:pt x="111125" y="261699"/>
                  <a:pt x="111125" y="255587"/>
                </a:cubicBezTo>
                <a:lnTo>
                  <a:pt x="111125" y="233363"/>
                </a:lnTo>
                <a:cubicBezTo>
                  <a:pt x="111125" y="227251"/>
                  <a:pt x="116126" y="222250"/>
                  <a:pt x="122238" y="222250"/>
                </a:cubicBezTo>
                <a:close/>
                <a:moveTo>
                  <a:pt x="177800" y="100013"/>
                </a:moveTo>
                <a:cubicBezTo>
                  <a:pt x="177800" y="93901"/>
                  <a:pt x="182801" y="88900"/>
                  <a:pt x="188913" y="88900"/>
                </a:cubicBezTo>
                <a:lnTo>
                  <a:pt x="211138" y="88900"/>
                </a:lnTo>
                <a:cubicBezTo>
                  <a:pt x="217249" y="88900"/>
                  <a:pt x="222250" y="93901"/>
                  <a:pt x="222250" y="100013"/>
                </a:cubicBezTo>
                <a:lnTo>
                  <a:pt x="222250" y="122238"/>
                </a:lnTo>
                <a:cubicBezTo>
                  <a:pt x="222250" y="128349"/>
                  <a:pt x="217249" y="133350"/>
                  <a:pt x="211138" y="133350"/>
                </a:cubicBezTo>
                <a:lnTo>
                  <a:pt x="188913" y="133350"/>
                </a:lnTo>
                <a:cubicBezTo>
                  <a:pt x="182801" y="133350"/>
                  <a:pt x="177800" y="128349"/>
                  <a:pt x="177800" y="122238"/>
                </a:cubicBezTo>
                <a:lnTo>
                  <a:pt x="177800" y="100013"/>
                </a:lnTo>
                <a:close/>
                <a:moveTo>
                  <a:pt x="188913" y="155575"/>
                </a:moveTo>
                <a:lnTo>
                  <a:pt x="211138" y="155575"/>
                </a:lnTo>
                <a:cubicBezTo>
                  <a:pt x="217249" y="155575"/>
                  <a:pt x="222250" y="160576"/>
                  <a:pt x="222250" y="166688"/>
                </a:cubicBezTo>
                <a:lnTo>
                  <a:pt x="222250" y="188913"/>
                </a:lnTo>
                <a:cubicBezTo>
                  <a:pt x="222250" y="195024"/>
                  <a:pt x="217249" y="200025"/>
                  <a:pt x="211138" y="200025"/>
                </a:cubicBezTo>
                <a:lnTo>
                  <a:pt x="188913" y="200025"/>
                </a:lnTo>
                <a:cubicBezTo>
                  <a:pt x="182801" y="200025"/>
                  <a:pt x="177800" y="195024"/>
                  <a:pt x="177800" y="188913"/>
                </a:cubicBezTo>
                <a:lnTo>
                  <a:pt x="177800" y="166688"/>
                </a:lnTo>
                <a:cubicBezTo>
                  <a:pt x="177800" y="160576"/>
                  <a:pt x="182801" y="155575"/>
                  <a:pt x="188913" y="155575"/>
                </a:cubicBezTo>
                <a:close/>
                <a:moveTo>
                  <a:pt x="244475" y="100013"/>
                </a:moveTo>
                <a:cubicBezTo>
                  <a:pt x="244475" y="93901"/>
                  <a:pt x="249476" y="88900"/>
                  <a:pt x="255587" y="88900"/>
                </a:cubicBezTo>
                <a:lnTo>
                  <a:pt x="277813" y="88900"/>
                </a:lnTo>
                <a:cubicBezTo>
                  <a:pt x="283924" y="88900"/>
                  <a:pt x="288925" y="93901"/>
                  <a:pt x="288925" y="100013"/>
                </a:cubicBezTo>
                <a:lnTo>
                  <a:pt x="288925" y="122238"/>
                </a:lnTo>
                <a:cubicBezTo>
                  <a:pt x="288925" y="128349"/>
                  <a:pt x="283924" y="133350"/>
                  <a:pt x="277813" y="133350"/>
                </a:cubicBezTo>
                <a:lnTo>
                  <a:pt x="255587" y="133350"/>
                </a:lnTo>
                <a:cubicBezTo>
                  <a:pt x="249476" y="133350"/>
                  <a:pt x="244475" y="128349"/>
                  <a:pt x="244475" y="122238"/>
                </a:cubicBezTo>
                <a:lnTo>
                  <a:pt x="244475" y="100013"/>
                </a:lnTo>
                <a:close/>
                <a:moveTo>
                  <a:pt x="255587" y="155575"/>
                </a:moveTo>
                <a:lnTo>
                  <a:pt x="277813" y="155575"/>
                </a:lnTo>
                <a:cubicBezTo>
                  <a:pt x="283924" y="155575"/>
                  <a:pt x="288925" y="160576"/>
                  <a:pt x="288925" y="166688"/>
                </a:cubicBezTo>
                <a:lnTo>
                  <a:pt x="288925" y="188913"/>
                </a:lnTo>
                <a:cubicBezTo>
                  <a:pt x="288925" y="195024"/>
                  <a:pt x="283924" y="200025"/>
                  <a:pt x="277813" y="200025"/>
                </a:cubicBezTo>
                <a:lnTo>
                  <a:pt x="255587" y="200025"/>
                </a:lnTo>
                <a:cubicBezTo>
                  <a:pt x="249476" y="200025"/>
                  <a:pt x="244475" y="195024"/>
                  <a:pt x="244475" y="188913"/>
                </a:cubicBezTo>
                <a:lnTo>
                  <a:pt x="244475" y="166688"/>
                </a:lnTo>
                <a:cubicBezTo>
                  <a:pt x="244475" y="160576"/>
                  <a:pt x="249476" y="155575"/>
                  <a:pt x="255587" y="155575"/>
                </a:cubicBezTo>
                <a:close/>
                <a:moveTo>
                  <a:pt x="311150" y="100013"/>
                </a:moveTo>
                <a:cubicBezTo>
                  <a:pt x="311150" y="93901"/>
                  <a:pt x="316151" y="88900"/>
                  <a:pt x="322263" y="88900"/>
                </a:cubicBezTo>
                <a:lnTo>
                  <a:pt x="344488" y="88900"/>
                </a:lnTo>
                <a:cubicBezTo>
                  <a:pt x="350599" y="88900"/>
                  <a:pt x="355600" y="93901"/>
                  <a:pt x="355600" y="100013"/>
                </a:cubicBezTo>
                <a:lnTo>
                  <a:pt x="355600" y="122238"/>
                </a:lnTo>
                <a:cubicBezTo>
                  <a:pt x="355600" y="128349"/>
                  <a:pt x="350599" y="133350"/>
                  <a:pt x="344488" y="133350"/>
                </a:cubicBezTo>
                <a:lnTo>
                  <a:pt x="322263" y="133350"/>
                </a:lnTo>
                <a:cubicBezTo>
                  <a:pt x="316151" y="133350"/>
                  <a:pt x="311150" y="128349"/>
                  <a:pt x="311150" y="122238"/>
                </a:cubicBezTo>
                <a:lnTo>
                  <a:pt x="311150" y="100013"/>
                </a:lnTo>
                <a:close/>
                <a:moveTo>
                  <a:pt x="322263" y="155575"/>
                </a:moveTo>
                <a:lnTo>
                  <a:pt x="344488" y="155575"/>
                </a:lnTo>
                <a:cubicBezTo>
                  <a:pt x="350599" y="155575"/>
                  <a:pt x="355600" y="160576"/>
                  <a:pt x="355600" y="166688"/>
                </a:cubicBezTo>
                <a:lnTo>
                  <a:pt x="355600" y="188913"/>
                </a:lnTo>
                <a:cubicBezTo>
                  <a:pt x="355600" y="195024"/>
                  <a:pt x="350599" y="200025"/>
                  <a:pt x="344488" y="200025"/>
                </a:cubicBezTo>
                <a:lnTo>
                  <a:pt x="322263" y="200025"/>
                </a:lnTo>
                <a:cubicBezTo>
                  <a:pt x="316151" y="200025"/>
                  <a:pt x="311150" y="195024"/>
                  <a:pt x="311150" y="188913"/>
                </a:cubicBezTo>
                <a:lnTo>
                  <a:pt x="311150" y="166688"/>
                </a:lnTo>
                <a:cubicBezTo>
                  <a:pt x="311150" y="160576"/>
                  <a:pt x="316151" y="155575"/>
                  <a:pt x="322263" y="155575"/>
                </a:cubicBezTo>
                <a:close/>
              </a:path>
            </a:pathLst>
          </a:custGeom>
          <a:solidFill>
            <a:srgbClr val="1B5E5E"/>
          </a:solidFill>
          <a:ln/>
        </p:spPr>
      </p:sp>
      <p:sp>
        <p:nvSpPr>
          <p:cNvPr id="6" name="Text 4"/>
          <p:cNvSpPr/>
          <p:nvPr/>
        </p:nvSpPr>
        <p:spPr>
          <a:xfrm>
            <a:off x="1270000" y="19304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Keyboard</a:t>
            </a:r>
            <a:endParaRPr lang="en-US" sz="1600" dirty="0"/>
          </a:p>
        </p:txBody>
      </p:sp>
      <p:sp>
        <p:nvSpPr>
          <p:cNvPr id="7" name="Text 5"/>
          <p:cNvSpPr/>
          <p:nvPr/>
        </p:nvSpPr>
        <p:spPr>
          <a:xfrm>
            <a:off x="762000" y="2540000"/>
            <a:ext cx="8128000" cy="2286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The most common input device for entering text, numbers, and commands. Uses the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QWERTY layout</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with:</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Function keys</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(F1–F12) for shortcuts</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Control keys</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(Ctrl, Alt, Shift) for combinations</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Special keys</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(Enter, Tab, Esc) for navigation</a:t>
            </a:r>
            <a:endParaRPr lang="en-US" sz="2000" dirty="0"/>
          </a:p>
        </p:txBody>
      </p:sp>
      <p:sp>
        <p:nvSpPr>
          <p:cNvPr id="8" name="Shape 6"/>
          <p:cNvSpPr/>
          <p:nvPr/>
        </p:nvSpPr>
        <p:spPr>
          <a:xfrm>
            <a:off x="806450" y="5080000"/>
            <a:ext cx="266700" cy="355600"/>
          </a:xfrm>
          <a:custGeom>
            <a:avLst/>
            <a:gdLst/>
            <a:ahLst/>
            <a:cxnLst/>
            <a:rect l="l" t="t" r="r" b="b"/>
            <a:pathLst>
              <a:path w="266700" h="355600">
                <a:moveTo>
                  <a:pt x="44450" y="0"/>
                </a:moveTo>
                <a:cubicBezTo>
                  <a:pt x="19933" y="0"/>
                  <a:pt x="0" y="19933"/>
                  <a:pt x="0" y="44450"/>
                </a:cubicBezTo>
                <a:lnTo>
                  <a:pt x="0" y="311150"/>
                </a:lnTo>
                <a:cubicBezTo>
                  <a:pt x="0" y="335667"/>
                  <a:pt x="19933" y="355600"/>
                  <a:pt x="44450" y="355600"/>
                </a:cubicBezTo>
                <a:lnTo>
                  <a:pt x="222250" y="355600"/>
                </a:lnTo>
                <a:cubicBezTo>
                  <a:pt x="246767" y="355600"/>
                  <a:pt x="266700" y="335667"/>
                  <a:pt x="266700" y="311150"/>
                </a:cubicBezTo>
                <a:lnTo>
                  <a:pt x="266700" y="44450"/>
                </a:lnTo>
                <a:cubicBezTo>
                  <a:pt x="266700" y="19933"/>
                  <a:pt x="246767" y="0"/>
                  <a:pt x="222250" y="0"/>
                </a:cubicBezTo>
                <a:lnTo>
                  <a:pt x="44450" y="0"/>
                </a:lnTo>
                <a:close/>
                <a:moveTo>
                  <a:pt x="66675" y="44450"/>
                </a:moveTo>
                <a:lnTo>
                  <a:pt x="200025" y="44450"/>
                </a:lnTo>
                <a:cubicBezTo>
                  <a:pt x="212318" y="44450"/>
                  <a:pt x="222250" y="54382"/>
                  <a:pt x="222250" y="66675"/>
                </a:cubicBezTo>
                <a:lnTo>
                  <a:pt x="222250" y="88900"/>
                </a:lnTo>
                <a:cubicBezTo>
                  <a:pt x="222250" y="101193"/>
                  <a:pt x="212318" y="111125"/>
                  <a:pt x="200025" y="111125"/>
                </a:cubicBezTo>
                <a:lnTo>
                  <a:pt x="66675" y="111125"/>
                </a:lnTo>
                <a:cubicBezTo>
                  <a:pt x="54382" y="111125"/>
                  <a:pt x="44450" y="101193"/>
                  <a:pt x="44450" y="88900"/>
                </a:cubicBezTo>
                <a:lnTo>
                  <a:pt x="44450" y="66675"/>
                </a:lnTo>
                <a:cubicBezTo>
                  <a:pt x="44450" y="54382"/>
                  <a:pt x="54382" y="44450"/>
                  <a:pt x="66675" y="44450"/>
                </a:cubicBezTo>
                <a:close/>
                <a:moveTo>
                  <a:pt x="77788" y="161131"/>
                </a:moveTo>
                <a:cubicBezTo>
                  <a:pt x="77788" y="170331"/>
                  <a:pt x="70318" y="177800"/>
                  <a:pt x="61119" y="177800"/>
                </a:cubicBezTo>
                <a:cubicBezTo>
                  <a:pt x="51919" y="177800"/>
                  <a:pt x="44450" y="170331"/>
                  <a:pt x="44450" y="161131"/>
                </a:cubicBezTo>
                <a:cubicBezTo>
                  <a:pt x="44450" y="151932"/>
                  <a:pt x="51919" y="144463"/>
                  <a:pt x="61119" y="144463"/>
                </a:cubicBezTo>
                <a:cubicBezTo>
                  <a:pt x="70318" y="144463"/>
                  <a:pt x="77788" y="151932"/>
                  <a:pt x="77788" y="161131"/>
                </a:cubicBezTo>
                <a:close/>
                <a:moveTo>
                  <a:pt x="133350" y="177800"/>
                </a:moveTo>
                <a:cubicBezTo>
                  <a:pt x="124150" y="177800"/>
                  <a:pt x="116681" y="170331"/>
                  <a:pt x="116681" y="161131"/>
                </a:cubicBezTo>
                <a:cubicBezTo>
                  <a:pt x="116681" y="151932"/>
                  <a:pt x="124150" y="144463"/>
                  <a:pt x="133350" y="144463"/>
                </a:cubicBezTo>
                <a:cubicBezTo>
                  <a:pt x="142550" y="144463"/>
                  <a:pt x="150019" y="151932"/>
                  <a:pt x="150019" y="161131"/>
                </a:cubicBezTo>
                <a:cubicBezTo>
                  <a:pt x="150019" y="170331"/>
                  <a:pt x="142550" y="177800"/>
                  <a:pt x="133350" y="177800"/>
                </a:cubicBezTo>
                <a:close/>
                <a:moveTo>
                  <a:pt x="222250" y="161131"/>
                </a:moveTo>
                <a:cubicBezTo>
                  <a:pt x="222250" y="170331"/>
                  <a:pt x="214781" y="177800"/>
                  <a:pt x="205581" y="177800"/>
                </a:cubicBezTo>
                <a:cubicBezTo>
                  <a:pt x="196382" y="177800"/>
                  <a:pt x="188913" y="170331"/>
                  <a:pt x="188913" y="161131"/>
                </a:cubicBezTo>
                <a:cubicBezTo>
                  <a:pt x="188913" y="151932"/>
                  <a:pt x="196382" y="144463"/>
                  <a:pt x="205581" y="144463"/>
                </a:cubicBezTo>
                <a:cubicBezTo>
                  <a:pt x="214781" y="144463"/>
                  <a:pt x="222250" y="151932"/>
                  <a:pt x="222250" y="161131"/>
                </a:cubicBezTo>
                <a:close/>
                <a:moveTo>
                  <a:pt x="61119" y="244475"/>
                </a:moveTo>
                <a:cubicBezTo>
                  <a:pt x="51919" y="244475"/>
                  <a:pt x="44450" y="237006"/>
                  <a:pt x="44450" y="227806"/>
                </a:cubicBezTo>
                <a:cubicBezTo>
                  <a:pt x="44450" y="218607"/>
                  <a:pt x="51919" y="211138"/>
                  <a:pt x="61119" y="211138"/>
                </a:cubicBezTo>
                <a:cubicBezTo>
                  <a:pt x="70318" y="211138"/>
                  <a:pt x="77788" y="218607"/>
                  <a:pt x="77788" y="227806"/>
                </a:cubicBezTo>
                <a:cubicBezTo>
                  <a:pt x="77788" y="237006"/>
                  <a:pt x="70318" y="244475"/>
                  <a:pt x="61119" y="244475"/>
                </a:cubicBezTo>
                <a:close/>
                <a:moveTo>
                  <a:pt x="150019" y="227806"/>
                </a:moveTo>
                <a:cubicBezTo>
                  <a:pt x="150019" y="237006"/>
                  <a:pt x="142550" y="244475"/>
                  <a:pt x="133350" y="244475"/>
                </a:cubicBezTo>
                <a:cubicBezTo>
                  <a:pt x="124150" y="244475"/>
                  <a:pt x="116681" y="237006"/>
                  <a:pt x="116681" y="227806"/>
                </a:cubicBezTo>
                <a:cubicBezTo>
                  <a:pt x="116681" y="218607"/>
                  <a:pt x="124150" y="211138"/>
                  <a:pt x="133350" y="211138"/>
                </a:cubicBezTo>
                <a:cubicBezTo>
                  <a:pt x="142550" y="211138"/>
                  <a:pt x="150019" y="218607"/>
                  <a:pt x="150019" y="227806"/>
                </a:cubicBezTo>
                <a:close/>
                <a:moveTo>
                  <a:pt x="205581" y="244475"/>
                </a:moveTo>
                <a:cubicBezTo>
                  <a:pt x="196382" y="244475"/>
                  <a:pt x="188913" y="237006"/>
                  <a:pt x="188913" y="227806"/>
                </a:cubicBezTo>
                <a:cubicBezTo>
                  <a:pt x="188913" y="218607"/>
                  <a:pt x="196382" y="211138"/>
                  <a:pt x="205581" y="211138"/>
                </a:cubicBezTo>
                <a:cubicBezTo>
                  <a:pt x="214781" y="211138"/>
                  <a:pt x="222250" y="218607"/>
                  <a:pt x="222250" y="227806"/>
                </a:cubicBezTo>
                <a:cubicBezTo>
                  <a:pt x="222250" y="237006"/>
                  <a:pt x="214781" y="244475"/>
                  <a:pt x="205581" y="244475"/>
                </a:cubicBezTo>
                <a:close/>
                <a:moveTo>
                  <a:pt x="44450" y="294481"/>
                </a:moveTo>
                <a:cubicBezTo>
                  <a:pt x="44450" y="285244"/>
                  <a:pt x="51881" y="277813"/>
                  <a:pt x="61119" y="277813"/>
                </a:cubicBezTo>
                <a:lnTo>
                  <a:pt x="138906" y="277813"/>
                </a:lnTo>
                <a:cubicBezTo>
                  <a:pt x="148144" y="277813"/>
                  <a:pt x="155575" y="285244"/>
                  <a:pt x="155575" y="294481"/>
                </a:cubicBezTo>
                <a:cubicBezTo>
                  <a:pt x="155575" y="303719"/>
                  <a:pt x="148144" y="311150"/>
                  <a:pt x="138906" y="311150"/>
                </a:cubicBezTo>
                <a:lnTo>
                  <a:pt x="61119" y="311150"/>
                </a:lnTo>
                <a:cubicBezTo>
                  <a:pt x="51881" y="311150"/>
                  <a:pt x="44450" y="303719"/>
                  <a:pt x="44450" y="294481"/>
                </a:cubicBezTo>
                <a:close/>
                <a:moveTo>
                  <a:pt x="205581" y="277813"/>
                </a:moveTo>
                <a:cubicBezTo>
                  <a:pt x="214819" y="277813"/>
                  <a:pt x="222250" y="285244"/>
                  <a:pt x="222250" y="294481"/>
                </a:cubicBezTo>
                <a:cubicBezTo>
                  <a:pt x="222250" y="303719"/>
                  <a:pt x="214819" y="311150"/>
                  <a:pt x="205581" y="311150"/>
                </a:cubicBezTo>
                <a:cubicBezTo>
                  <a:pt x="196344" y="311150"/>
                  <a:pt x="188913" y="303719"/>
                  <a:pt x="188913" y="294481"/>
                </a:cubicBezTo>
                <a:cubicBezTo>
                  <a:pt x="188913" y="285244"/>
                  <a:pt x="196344" y="277813"/>
                  <a:pt x="205581" y="277813"/>
                </a:cubicBezTo>
                <a:close/>
              </a:path>
            </a:pathLst>
          </a:custGeom>
          <a:solidFill>
            <a:srgbClr val="1B5E5E"/>
          </a:solidFill>
          <a:ln/>
        </p:spPr>
      </p:sp>
      <p:sp>
        <p:nvSpPr>
          <p:cNvPr id="9" name="Text 7"/>
          <p:cNvSpPr/>
          <p:nvPr/>
        </p:nvSpPr>
        <p:spPr>
          <a:xfrm>
            <a:off x="1270000" y="50419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Numeric Keypad</a:t>
            </a:r>
            <a:endParaRPr lang="en-US" sz="1600" dirty="0"/>
          </a:p>
        </p:txBody>
      </p:sp>
      <p:sp>
        <p:nvSpPr>
          <p:cNvPr id="10" name="Text 8"/>
          <p:cNvSpPr/>
          <p:nvPr/>
        </p:nvSpPr>
        <p:spPr>
          <a:xfrm>
            <a:off x="762000" y="5651500"/>
            <a:ext cx="8128000" cy="1651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A compact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17-key</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input device for fast numerical data entry in accounting, banking, and POS systems. Available as integrated or standalone units.</a:t>
            </a:r>
            <a:endParaRPr lang="en-US" sz="2000" dirty="0"/>
          </a:p>
        </p:txBody>
      </p:sp>
      <p:sp>
        <p:nvSpPr>
          <p:cNvPr id="11" name="Shape 9"/>
          <p:cNvSpPr/>
          <p:nvPr/>
        </p:nvSpPr>
        <p:spPr>
          <a:xfrm>
            <a:off x="762000" y="7620000"/>
            <a:ext cx="8128000" cy="635000"/>
          </a:xfrm>
          <a:prstGeom prst="rect">
            <a:avLst/>
          </a:prstGeom>
          <a:solidFill>
            <a:srgbClr val="EDEAE4"/>
          </a:solidFill>
          <a:ln/>
        </p:spPr>
      </p:sp>
      <p:sp>
        <p:nvSpPr>
          <p:cNvPr id="12" name="Text 10"/>
          <p:cNvSpPr/>
          <p:nvPr/>
        </p:nvSpPr>
        <p:spPr>
          <a:xfrm>
            <a:off x="1016000" y="7683500"/>
            <a:ext cx="7620000" cy="508000"/>
          </a:xfrm>
          <a:prstGeom prst="rect">
            <a:avLst/>
          </a:prstGeom>
          <a:noFill/>
          <a:ln/>
        </p:spPr>
        <p:txBody>
          <a:bodyPr wrap="square" lIns="0" tIns="0" rIns="0" bIns="0" rtlCol="0" anchor="ctr"/>
          <a:lstStyle/>
          <a:p>
            <a:pPr>
              <a:lnSpc>
                <a:spcPct val="140000"/>
              </a:lnSpc>
            </a:pPr>
            <a:r>
              <a:rPr lang="en-US" sz="1600" dirty="0">
                <a:solidFill>
                  <a:srgbClr val="C17A3A"/>
                </a:solidFill>
                <a:latin typeface="Quattrocento Sans" pitchFamily="34" charset="0"/>
                <a:ea typeface="Quattrocento Sans" pitchFamily="34" charset="-122"/>
                <a:cs typeface="Quattrocento Sans" pitchFamily="34" charset="-120"/>
              </a:rPr>
              <a:t>●</a:t>
            </a:r>
            <a:pPr>
              <a:lnSpc>
                <a:spcPct val="140000"/>
              </a:lnSpc>
            </a:pPr>
            <a:r>
              <a:rPr lang="en-US" sz="1600" dirty="0">
                <a:solidFill>
                  <a:srgbClr val="8A8580"/>
                </a:solidFill>
                <a:latin typeface="Quattrocento Sans" pitchFamily="34" charset="0"/>
                <a:ea typeface="Quattrocento Sans" pitchFamily="34" charset="-122"/>
                <a:cs typeface="Quattrocento Sans" pitchFamily="34" charset="-120"/>
              </a:rPr>
              <a:t> Modern variants include wireless, ergonomic, mechanical, and backlit designs</a:t>
            </a:r>
            <a:endParaRPr lang="en-US" sz="1600" dirty="0"/>
          </a:p>
        </p:txBody>
      </p:sp>
      <p:pic>
        <p:nvPicPr>
          <p:cNvPr id="13" name="Image 0" descr="https://kimi-img.moonshot.cn/pub/slides/okc/7khcepmtdap64/mnt/agents/output/ict-week3/images/6_Abstract_glowing_blue_digital_keyboard.png">    </p:cNvPr>
          <p:cNvPicPr>
            <a:picLocks noChangeAspect="1"/>
          </p:cNvPicPr>
          <p:nvPr/>
        </p:nvPicPr>
        <p:blipFill>
          <a:blip r:embed="rId1"/>
          <a:srcRect l="18000" r="18000" t="0" b="0"/>
          <a:stretch/>
        </p:blipFill>
        <p:spPr>
          <a:xfrm>
            <a:off x="9398000" y="1778000"/>
            <a:ext cx="6096000" cy="6350000"/>
          </a:xfrm>
          <a:prstGeom prst="rect">
            <a:avLst/>
          </a:prstGeom>
        </p:spPr>
      </p:pic>
      <p:sp>
        <p:nvSpPr>
          <p:cNvPr id="14" name="Text 11"/>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04</a:t>
            </a:r>
            <a:endParaRPr lang="en-US" sz="1400" dirty="0"/>
          </a:p>
        </p:txBody>
      </p:sp>
      <p:sp>
        <p:nvSpPr>
          <p:cNvPr id="15" name="Shape 12"/>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Pointing Devices</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05000"/>
            <a:ext cx="7048500" cy="1524000"/>
          </a:xfrm>
          <a:prstGeom prst="rect">
            <a:avLst/>
          </a:prstGeom>
          <a:solidFill>
            <a:srgbClr val="EDEAE4"/>
          </a:solidFill>
          <a:ln/>
        </p:spPr>
      </p:sp>
      <p:sp>
        <p:nvSpPr>
          <p:cNvPr id="6" name="Shape 4"/>
          <p:cNvSpPr/>
          <p:nvPr/>
        </p:nvSpPr>
        <p:spPr>
          <a:xfrm>
            <a:off x="1060450" y="2159000"/>
            <a:ext cx="266700" cy="355600"/>
          </a:xfrm>
          <a:custGeom>
            <a:avLst/>
            <a:gdLst/>
            <a:ahLst/>
            <a:cxnLst/>
            <a:rect l="l" t="t" r="r" b="b"/>
            <a:pathLst>
              <a:path w="266700" h="355600">
                <a:moveTo>
                  <a:pt x="0" y="133350"/>
                </a:moveTo>
                <a:lnTo>
                  <a:pt x="116681" y="133350"/>
                </a:lnTo>
                <a:lnTo>
                  <a:pt x="116681" y="0"/>
                </a:lnTo>
                <a:lnTo>
                  <a:pt x="111125" y="0"/>
                </a:lnTo>
                <a:cubicBezTo>
                  <a:pt x="49728" y="0"/>
                  <a:pt x="0" y="49728"/>
                  <a:pt x="0" y="111125"/>
                </a:cubicBezTo>
                <a:lnTo>
                  <a:pt x="0" y="133350"/>
                </a:lnTo>
                <a:close/>
                <a:moveTo>
                  <a:pt x="0" y="166688"/>
                </a:moveTo>
                <a:lnTo>
                  <a:pt x="0" y="244475"/>
                </a:lnTo>
                <a:cubicBezTo>
                  <a:pt x="0" y="305872"/>
                  <a:pt x="49728" y="355600"/>
                  <a:pt x="111125" y="355600"/>
                </a:cubicBezTo>
                <a:lnTo>
                  <a:pt x="155575" y="355600"/>
                </a:lnTo>
                <a:cubicBezTo>
                  <a:pt x="216972" y="355600"/>
                  <a:pt x="266700" y="305872"/>
                  <a:pt x="266700" y="244475"/>
                </a:cubicBezTo>
                <a:lnTo>
                  <a:pt x="266700" y="166688"/>
                </a:lnTo>
                <a:lnTo>
                  <a:pt x="0" y="166688"/>
                </a:lnTo>
                <a:close/>
                <a:moveTo>
                  <a:pt x="266700" y="133350"/>
                </a:moveTo>
                <a:lnTo>
                  <a:pt x="266700" y="111125"/>
                </a:lnTo>
                <a:cubicBezTo>
                  <a:pt x="266700" y="49728"/>
                  <a:pt x="216972" y="0"/>
                  <a:pt x="155575" y="0"/>
                </a:cubicBezTo>
                <a:lnTo>
                  <a:pt x="150019" y="0"/>
                </a:lnTo>
                <a:lnTo>
                  <a:pt x="150019" y="133350"/>
                </a:lnTo>
                <a:lnTo>
                  <a:pt x="266700" y="133350"/>
                </a:lnTo>
                <a:close/>
              </a:path>
            </a:pathLst>
          </a:custGeom>
          <a:solidFill>
            <a:srgbClr val="C17A3A"/>
          </a:solidFill>
          <a:ln/>
        </p:spPr>
      </p:sp>
      <p:sp>
        <p:nvSpPr>
          <p:cNvPr id="7" name="Text 5"/>
          <p:cNvSpPr/>
          <p:nvPr/>
        </p:nvSpPr>
        <p:spPr>
          <a:xfrm>
            <a:off x="1524000" y="2133600"/>
            <a:ext cx="2540000" cy="3810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Mouse</a:t>
            </a:r>
            <a:endParaRPr lang="en-US" sz="1600" dirty="0"/>
          </a:p>
        </p:txBody>
      </p:sp>
      <p:sp>
        <p:nvSpPr>
          <p:cNvPr id="8" name="Text 6"/>
          <p:cNvSpPr/>
          <p:nvPr/>
        </p:nvSpPr>
        <p:spPr>
          <a:xfrm>
            <a:off x="1524000" y="2540000"/>
            <a:ext cx="6032500" cy="698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Optical/laser sensors detect movement. Available as wired, wireless (Bluetooth/RF), and ergonomic designs.</a:t>
            </a:r>
            <a:endParaRPr lang="en-US" sz="1600" dirty="0"/>
          </a:p>
        </p:txBody>
      </p:sp>
      <p:sp>
        <p:nvSpPr>
          <p:cNvPr id="9" name="Shape 7"/>
          <p:cNvSpPr/>
          <p:nvPr/>
        </p:nvSpPr>
        <p:spPr>
          <a:xfrm>
            <a:off x="8445500" y="1905000"/>
            <a:ext cx="7048500" cy="1524000"/>
          </a:xfrm>
          <a:prstGeom prst="rect">
            <a:avLst/>
          </a:prstGeom>
          <a:solidFill>
            <a:srgbClr val="EDEAE4"/>
          </a:solidFill>
          <a:ln/>
        </p:spPr>
      </p:sp>
      <p:sp>
        <p:nvSpPr>
          <p:cNvPr id="10" name="Shape 8"/>
          <p:cNvSpPr/>
          <p:nvPr/>
        </p:nvSpPr>
        <p:spPr>
          <a:xfrm>
            <a:off x="8699500" y="2159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11125"/>
                </a:moveTo>
                <a:cubicBezTo>
                  <a:pt x="214599" y="111125"/>
                  <a:pt x="244475" y="141001"/>
                  <a:pt x="244475" y="177800"/>
                </a:cubicBezTo>
                <a:cubicBezTo>
                  <a:pt x="244475" y="214599"/>
                  <a:pt x="214599" y="244475"/>
                  <a:pt x="177800" y="244475"/>
                </a:cubicBezTo>
                <a:cubicBezTo>
                  <a:pt x="141001" y="244475"/>
                  <a:pt x="111125" y="214599"/>
                  <a:pt x="111125" y="177800"/>
                </a:cubicBezTo>
                <a:cubicBezTo>
                  <a:pt x="111125" y="141001"/>
                  <a:pt x="141001" y="111125"/>
                  <a:pt x="177800" y="111125"/>
                </a:cubicBezTo>
                <a:close/>
              </a:path>
            </a:pathLst>
          </a:custGeom>
          <a:solidFill>
            <a:srgbClr val="C17A3A"/>
          </a:solidFill>
          <a:ln/>
        </p:spPr>
      </p:sp>
      <p:sp>
        <p:nvSpPr>
          <p:cNvPr id="11" name="Text 9"/>
          <p:cNvSpPr/>
          <p:nvPr/>
        </p:nvSpPr>
        <p:spPr>
          <a:xfrm>
            <a:off x="9207500" y="2133600"/>
            <a:ext cx="2540000" cy="3810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Trackball</a:t>
            </a:r>
            <a:endParaRPr lang="en-US" sz="1600" dirty="0"/>
          </a:p>
        </p:txBody>
      </p:sp>
      <p:sp>
        <p:nvSpPr>
          <p:cNvPr id="12" name="Text 10"/>
          <p:cNvSpPr/>
          <p:nvPr/>
        </p:nvSpPr>
        <p:spPr>
          <a:xfrm>
            <a:off x="9207500" y="2540000"/>
            <a:ext cx="6032500" cy="698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Stationary device with a rotating ball. User moves the ball to control the cursor. Ideal for limited desk space.</a:t>
            </a:r>
            <a:endParaRPr lang="en-US" sz="1600" dirty="0"/>
          </a:p>
        </p:txBody>
      </p:sp>
      <p:sp>
        <p:nvSpPr>
          <p:cNvPr id="13" name="Shape 11"/>
          <p:cNvSpPr/>
          <p:nvPr/>
        </p:nvSpPr>
        <p:spPr>
          <a:xfrm>
            <a:off x="762000" y="3746500"/>
            <a:ext cx="7048500" cy="1524000"/>
          </a:xfrm>
          <a:prstGeom prst="rect">
            <a:avLst/>
          </a:prstGeom>
          <a:solidFill>
            <a:srgbClr val="EDEAE4"/>
          </a:solidFill>
          <a:ln/>
        </p:spPr>
      </p:sp>
      <p:sp>
        <p:nvSpPr>
          <p:cNvPr id="14" name="Shape 12"/>
          <p:cNvSpPr/>
          <p:nvPr/>
        </p:nvSpPr>
        <p:spPr>
          <a:xfrm>
            <a:off x="1038225" y="4000500"/>
            <a:ext cx="311150" cy="355600"/>
          </a:xfrm>
          <a:custGeom>
            <a:avLst/>
            <a:gdLst/>
            <a:ahLst/>
            <a:cxnLst/>
            <a:rect l="l" t="t" r="r" b="b"/>
            <a:pathLst>
              <a:path w="311150" h="355600">
                <a:moveTo>
                  <a:pt x="88900" y="27781"/>
                </a:moveTo>
                <a:cubicBezTo>
                  <a:pt x="88900" y="12432"/>
                  <a:pt x="101332" y="0"/>
                  <a:pt x="116681" y="0"/>
                </a:cubicBezTo>
                <a:cubicBezTo>
                  <a:pt x="132030" y="0"/>
                  <a:pt x="144463" y="12432"/>
                  <a:pt x="144463" y="27781"/>
                </a:cubicBezTo>
                <a:lnTo>
                  <a:pt x="144463" y="130711"/>
                </a:lnTo>
                <a:cubicBezTo>
                  <a:pt x="150366" y="125432"/>
                  <a:pt x="158145" y="122238"/>
                  <a:pt x="166688" y="122238"/>
                </a:cubicBezTo>
                <a:cubicBezTo>
                  <a:pt x="180995" y="122238"/>
                  <a:pt x="193219" y="131266"/>
                  <a:pt x="197941" y="143907"/>
                </a:cubicBezTo>
                <a:cubicBezTo>
                  <a:pt x="204053" y="137448"/>
                  <a:pt x="212665" y="133350"/>
                  <a:pt x="222250" y="133350"/>
                </a:cubicBezTo>
                <a:cubicBezTo>
                  <a:pt x="239822" y="133350"/>
                  <a:pt x="254198" y="146893"/>
                  <a:pt x="255518" y="164118"/>
                </a:cubicBezTo>
                <a:cubicBezTo>
                  <a:pt x="261422" y="158770"/>
                  <a:pt x="269270" y="155575"/>
                  <a:pt x="277813" y="155575"/>
                </a:cubicBezTo>
                <a:cubicBezTo>
                  <a:pt x="296218" y="155575"/>
                  <a:pt x="311150" y="170507"/>
                  <a:pt x="311150" y="188913"/>
                </a:cubicBezTo>
                <a:lnTo>
                  <a:pt x="311150" y="266700"/>
                </a:lnTo>
                <a:cubicBezTo>
                  <a:pt x="311150" y="315803"/>
                  <a:pt x="271353" y="355600"/>
                  <a:pt x="222250" y="355600"/>
                </a:cubicBezTo>
                <a:lnTo>
                  <a:pt x="163006" y="355600"/>
                </a:lnTo>
                <a:cubicBezTo>
                  <a:pt x="159534" y="355600"/>
                  <a:pt x="156131" y="355392"/>
                  <a:pt x="152797" y="354905"/>
                </a:cubicBezTo>
                <a:cubicBezTo>
                  <a:pt x="114389" y="351016"/>
                  <a:pt x="79038" y="331291"/>
                  <a:pt x="55563" y="300038"/>
                </a:cubicBezTo>
                <a:lnTo>
                  <a:pt x="5556" y="233363"/>
                </a:lnTo>
                <a:cubicBezTo>
                  <a:pt x="-3681" y="221069"/>
                  <a:pt x="-1181" y="203706"/>
                  <a:pt x="11112" y="194469"/>
                </a:cubicBezTo>
                <a:cubicBezTo>
                  <a:pt x="23406" y="185231"/>
                  <a:pt x="40769" y="187732"/>
                  <a:pt x="50006" y="200025"/>
                </a:cubicBezTo>
                <a:lnTo>
                  <a:pt x="88900" y="251906"/>
                </a:lnTo>
                <a:lnTo>
                  <a:pt x="88900" y="27781"/>
                </a:lnTo>
                <a:close/>
                <a:moveTo>
                  <a:pt x="166688" y="211138"/>
                </a:moveTo>
                <a:cubicBezTo>
                  <a:pt x="166688" y="205026"/>
                  <a:pt x="161687" y="200025"/>
                  <a:pt x="155575" y="200025"/>
                </a:cubicBezTo>
                <a:cubicBezTo>
                  <a:pt x="149463" y="200025"/>
                  <a:pt x="144463" y="205026"/>
                  <a:pt x="144463" y="211138"/>
                </a:cubicBezTo>
                <a:lnTo>
                  <a:pt x="144463" y="277813"/>
                </a:lnTo>
                <a:cubicBezTo>
                  <a:pt x="144463" y="283924"/>
                  <a:pt x="149463" y="288925"/>
                  <a:pt x="155575" y="288925"/>
                </a:cubicBezTo>
                <a:cubicBezTo>
                  <a:pt x="161687" y="288925"/>
                  <a:pt x="166688" y="283924"/>
                  <a:pt x="166688" y="277813"/>
                </a:cubicBezTo>
                <a:lnTo>
                  <a:pt x="166688" y="211138"/>
                </a:lnTo>
                <a:close/>
                <a:moveTo>
                  <a:pt x="200025" y="200025"/>
                </a:moveTo>
                <a:cubicBezTo>
                  <a:pt x="193913" y="200025"/>
                  <a:pt x="188913" y="205026"/>
                  <a:pt x="188913" y="211138"/>
                </a:cubicBezTo>
                <a:lnTo>
                  <a:pt x="188913" y="277813"/>
                </a:lnTo>
                <a:cubicBezTo>
                  <a:pt x="188913" y="283924"/>
                  <a:pt x="193913" y="288925"/>
                  <a:pt x="200025" y="288925"/>
                </a:cubicBezTo>
                <a:cubicBezTo>
                  <a:pt x="206137" y="288925"/>
                  <a:pt x="211138" y="283924"/>
                  <a:pt x="211138" y="277813"/>
                </a:cubicBezTo>
                <a:lnTo>
                  <a:pt x="211138" y="211138"/>
                </a:lnTo>
                <a:cubicBezTo>
                  <a:pt x="211138" y="205026"/>
                  <a:pt x="206137" y="200025"/>
                  <a:pt x="200025" y="200025"/>
                </a:cubicBezTo>
                <a:close/>
                <a:moveTo>
                  <a:pt x="255587" y="211138"/>
                </a:moveTo>
                <a:cubicBezTo>
                  <a:pt x="255587" y="205026"/>
                  <a:pt x="250587" y="200025"/>
                  <a:pt x="244475" y="200025"/>
                </a:cubicBezTo>
                <a:cubicBezTo>
                  <a:pt x="238363" y="200025"/>
                  <a:pt x="233363" y="205026"/>
                  <a:pt x="233363" y="211138"/>
                </a:cubicBezTo>
                <a:lnTo>
                  <a:pt x="233363" y="277813"/>
                </a:lnTo>
                <a:cubicBezTo>
                  <a:pt x="233363" y="283924"/>
                  <a:pt x="238363" y="288925"/>
                  <a:pt x="244475" y="288925"/>
                </a:cubicBezTo>
                <a:cubicBezTo>
                  <a:pt x="250587" y="288925"/>
                  <a:pt x="255587" y="283924"/>
                  <a:pt x="255587" y="277813"/>
                </a:cubicBezTo>
                <a:lnTo>
                  <a:pt x="255587" y="211138"/>
                </a:lnTo>
                <a:close/>
              </a:path>
            </a:pathLst>
          </a:custGeom>
          <a:solidFill>
            <a:srgbClr val="C17A3A"/>
          </a:solidFill>
          <a:ln/>
        </p:spPr>
      </p:sp>
      <p:sp>
        <p:nvSpPr>
          <p:cNvPr id="15" name="Text 13"/>
          <p:cNvSpPr/>
          <p:nvPr/>
        </p:nvSpPr>
        <p:spPr>
          <a:xfrm>
            <a:off x="1524000" y="3975100"/>
            <a:ext cx="2540000" cy="3810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Touchpad</a:t>
            </a:r>
            <a:endParaRPr lang="en-US" sz="1600" dirty="0"/>
          </a:p>
        </p:txBody>
      </p:sp>
      <p:sp>
        <p:nvSpPr>
          <p:cNvPr id="16" name="Text 14"/>
          <p:cNvSpPr/>
          <p:nvPr/>
        </p:nvSpPr>
        <p:spPr>
          <a:xfrm>
            <a:off x="1524000" y="4381500"/>
            <a:ext cx="6032500" cy="698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Flat, touch-sensitive surface built into laptops. Supports multi-finger gestures: scroll, zoom, and swipe.</a:t>
            </a:r>
            <a:endParaRPr lang="en-US" sz="1600" dirty="0"/>
          </a:p>
        </p:txBody>
      </p:sp>
      <p:sp>
        <p:nvSpPr>
          <p:cNvPr id="17" name="Shape 15"/>
          <p:cNvSpPr/>
          <p:nvPr/>
        </p:nvSpPr>
        <p:spPr>
          <a:xfrm>
            <a:off x="8445500" y="3746500"/>
            <a:ext cx="7048500" cy="1524000"/>
          </a:xfrm>
          <a:prstGeom prst="rect">
            <a:avLst/>
          </a:prstGeom>
          <a:solidFill>
            <a:srgbClr val="EDEAE4"/>
          </a:solidFill>
          <a:ln/>
        </p:spPr>
      </p:sp>
      <p:sp>
        <p:nvSpPr>
          <p:cNvPr id="18" name="Shape 16"/>
          <p:cNvSpPr/>
          <p:nvPr/>
        </p:nvSpPr>
        <p:spPr>
          <a:xfrm>
            <a:off x="8699500" y="4000500"/>
            <a:ext cx="355600" cy="355600"/>
          </a:xfrm>
          <a:custGeom>
            <a:avLst/>
            <a:gdLst/>
            <a:ahLst/>
            <a:cxnLst/>
            <a:rect l="l" t="t" r="r" b="b"/>
            <a:pathLst>
              <a:path w="355600" h="355600">
                <a:moveTo>
                  <a:pt x="255935" y="12710"/>
                </a:moveTo>
                <a:lnTo>
                  <a:pt x="221139" y="47506"/>
                </a:lnTo>
                <a:lnTo>
                  <a:pt x="308164" y="134531"/>
                </a:lnTo>
                <a:lnTo>
                  <a:pt x="342960" y="99735"/>
                </a:lnTo>
                <a:cubicBezTo>
                  <a:pt x="358170" y="84524"/>
                  <a:pt x="358170" y="59938"/>
                  <a:pt x="342960" y="44728"/>
                </a:cubicBezTo>
                <a:lnTo>
                  <a:pt x="310942" y="12710"/>
                </a:lnTo>
                <a:cubicBezTo>
                  <a:pt x="295731" y="-2500"/>
                  <a:pt x="271145" y="-2500"/>
                  <a:pt x="255935" y="12710"/>
                </a:cubicBezTo>
                <a:close/>
                <a:moveTo>
                  <a:pt x="193983" y="67508"/>
                </a:moveTo>
                <a:lnTo>
                  <a:pt x="193635" y="67578"/>
                </a:lnTo>
                <a:lnTo>
                  <a:pt x="93553" y="97582"/>
                </a:lnTo>
                <a:cubicBezTo>
                  <a:pt x="79732" y="101749"/>
                  <a:pt x="68759" y="112306"/>
                  <a:pt x="64175" y="126057"/>
                </a:cubicBezTo>
                <a:lnTo>
                  <a:pt x="2639" y="309622"/>
                </a:lnTo>
                <a:cubicBezTo>
                  <a:pt x="625" y="315664"/>
                  <a:pt x="1320" y="322263"/>
                  <a:pt x="4376" y="327680"/>
                </a:cubicBezTo>
                <a:lnTo>
                  <a:pt x="112306" y="219750"/>
                </a:lnTo>
                <a:cubicBezTo>
                  <a:pt x="111542" y="216972"/>
                  <a:pt x="111194" y="214124"/>
                  <a:pt x="111194" y="211138"/>
                </a:cubicBezTo>
                <a:cubicBezTo>
                  <a:pt x="111194" y="192732"/>
                  <a:pt x="126127" y="177800"/>
                  <a:pt x="144532" y="177800"/>
                </a:cubicBezTo>
                <a:cubicBezTo>
                  <a:pt x="162937" y="177800"/>
                  <a:pt x="177869" y="192732"/>
                  <a:pt x="177869" y="211138"/>
                </a:cubicBezTo>
                <a:cubicBezTo>
                  <a:pt x="177869" y="229543"/>
                  <a:pt x="162937" y="244475"/>
                  <a:pt x="144532" y="244475"/>
                </a:cubicBezTo>
                <a:cubicBezTo>
                  <a:pt x="141545" y="244475"/>
                  <a:pt x="138628" y="244058"/>
                  <a:pt x="135920" y="243364"/>
                </a:cubicBezTo>
                <a:lnTo>
                  <a:pt x="27990" y="351224"/>
                </a:lnTo>
                <a:cubicBezTo>
                  <a:pt x="33407" y="354280"/>
                  <a:pt x="39936" y="354975"/>
                  <a:pt x="46047" y="352961"/>
                </a:cubicBezTo>
                <a:lnTo>
                  <a:pt x="229612" y="291425"/>
                </a:lnTo>
                <a:cubicBezTo>
                  <a:pt x="243294" y="286841"/>
                  <a:pt x="253921" y="275868"/>
                  <a:pt x="258088" y="262047"/>
                </a:cubicBezTo>
                <a:lnTo>
                  <a:pt x="288092" y="161965"/>
                </a:lnTo>
                <a:lnTo>
                  <a:pt x="288161" y="161617"/>
                </a:lnTo>
                <a:lnTo>
                  <a:pt x="194052" y="67508"/>
                </a:lnTo>
                <a:close/>
              </a:path>
            </a:pathLst>
          </a:custGeom>
          <a:solidFill>
            <a:srgbClr val="C17A3A"/>
          </a:solidFill>
          <a:ln/>
        </p:spPr>
      </p:sp>
      <p:sp>
        <p:nvSpPr>
          <p:cNvPr id="19" name="Text 17"/>
          <p:cNvSpPr/>
          <p:nvPr/>
        </p:nvSpPr>
        <p:spPr>
          <a:xfrm>
            <a:off x="9207500" y="3975100"/>
            <a:ext cx="2540000" cy="3810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Graphics Tablet</a:t>
            </a:r>
            <a:endParaRPr lang="en-US" sz="1600" dirty="0"/>
          </a:p>
        </p:txBody>
      </p:sp>
      <p:sp>
        <p:nvSpPr>
          <p:cNvPr id="20" name="Text 18"/>
          <p:cNvSpPr/>
          <p:nvPr/>
        </p:nvSpPr>
        <p:spPr>
          <a:xfrm>
            <a:off x="9207500" y="4381500"/>
            <a:ext cx="6032500" cy="698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Used by designers to draw directly into digital form. Converts analog pen movements into digital signals.</a:t>
            </a:r>
            <a:endParaRPr lang="en-US" sz="1600" dirty="0"/>
          </a:p>
        </p:txBody>
      </p:sp>
      <p:sp>
        <p:nvSpPr>
          <p:cNvPr id="21" name="Shape 19"/>
          <p:cNvSpPr/>
          <p:nvPr/>
        </p:nvSpPr>
        <p:spPr>
          <a:xfrm>
            <a:off x="762000" y="5715000"/>
            <a:ext cx="14732000" cy="2286000"/>
          </a:xfrm>
          <a:prstGeom prst="rect">
            <a:avLst/>
          </a:prstGeom>
          <a:solidFill>
            <a:srgbClr val="1B5E5E"/>
          </a:solidFill>
          <a:ln/>
        </p:spPr>
      </p:sp>
      <p:sp>
        <p:nvSpPr>
          <p:cNvPr id="22" name="Shape 20"/>
          <p:cNvSpPr/>
          <p:nvPr/>
        </p:nvSpPr>
        <p:spPr>
          <a:xfrm>
            <a:off x="1193800" y="6032500"/>
            <a:ext cx="304800" cy="406400"/>
          </a:xfrm>
          <a:custGeom>
            <a:avLst/>
            <a:gdLst/>
            <a:ahLst/>
            <a:cxnLst/>
            <a:rect l="l" t="t" r="r" b="b"/>
            <a:pathLst>
              <a:path w="304800" h="406400">
                <a:moveTo>
                  <a:pt x="232489" y="304800"/>
                </a:moveTo>
                <a:cubicBezTo>
                  <a:pt x="238284" y="287099"/>
                  <a:pt x="249872" y="271066"/>
                  <a:pt x="262969" y="257254"/>
                </a:cubicBezTo>
                <a:cubicBezTo>
                  <a:pt x="288925" y="229949"/>
                  <a:pt x="304800" y="193040"/>
                  <a:pt x="304800" y="152400"/>
                </a:cubicBezTo>
                <a:cubicBezTo>
                  <a:pt x="304800" y="68263"/>
                  <a:pt x="236537" y="0"/>
                  <a:pt x="152400" y="0"/>
                </a:cubicBezTo>
                <a:cubicBezTo>
                  <a:pt x="68262" y="0"/>
                  <a:pt x="0" y="68263"/>
                  <a:pt x="0" y="152400"/>
                </a:cubicBezTo>
                <a:cubicBezTo>
                  <a:pt x="0" y="193040"/>
                  <a:pt x="15875" y="229949"/>
                  <a:pt x="41831" y="257254"/>
                </a:cubicBezTo>
                <a:cubicBezTo>
                  <a:pt x="54928" y="271066"/>
                  <a:pt x="66596" y="287099"/>
                  <a:pt x="72311" y="304800"/>
                </a:cubicBezTo>
                <a:lnTo>
                  <a:pt x="232410" y="304800"/>
                </a:lnTo>
                <a:close/>
                <a:moveTo>
                  <a:pt x="228600" y="342900"/>
                </a:moveTo>
                <a:lnTo>
                  <a:pt x="76200" y="342900"/>
                </a:lnTo>
                <a:lnTo>
                  <a:pt x="76200" y="355600"/>
                </a:lnTo>
                <a:cubicBezTo>
                  <a:pt x="76200" y="390684"/>
                  <a:pt x="104616" y="419100"/>
                  <a:pt x="139700" y="419100"/>
                </a:cubicBezTo>
                <a:lnTo>
                  <a:pt x="165100" y="419100"/>
                </a:lnTo>
                <a:cubicBezTo>
                  <a:pt x="200184" y="419100"/>
                  <a:pt x="228600" y="390684"/>
                  <a:pt x="228600" y="355600"/>
                </a:cubicBezTo>
                <a:lnTo>
                  <a:pt x="228600" y="342900"/>
                </a:lnTo>
                <a:close/>
                <a:moveTo>
                  <a:pt x="146050" y="88900"/>
                </a:moveTo>
                <a:cubicBezTo>
                  <a:pt x="114459" y="88900"/>
                  <a:pt x="88900" y="114459"/>
                  <a:pt x="88900" y="146050"/>
                </a:cubicBezTo>
                <a:cubicBezTo>
                  <a:pt x="88900" y="156607"/>
                  <a:pt x="80407" y="165100"/>
                  <a:pt x="69850" y="165100"/>
                </a:cubicBezTo>
                <a:cubicBezTo>
                  <a:pt x="59293" y="165100"/>
                  <a:pt x="50800" y="156607"/>
                  <a:pt x="50800" y="146050"/>
                </a:cubicBezTo>
                <a:cubicBezTo>
                  <a:pt x="50800" y="93424"/>
                  <a:pt x="93424" y="50800"/>
                  <a:pt x="146050" y="50800"/>
                </a:cubicBezTo>
                <a:cubicBezTo>
                  <a:pt x="156607" y="50800"/>
                  <a:pt x="165100" y="59293"/>
                  <a:pt x="165100" y="69850"/>
                </a:cubicBezTo>
                <a:cubicBezTo>
                  <a:pt x="165100" y="80407"/>
                  <a:pt x="156607" y="88900"/>
                  <a:pt x="146050" y="88900"/>
                </a:cubicBezTo>
                <a:close/>
              </a:path>
            </a:pathLst>
          </a:custGeom>
          <a:solidFill>
            <a:srgbClr val="C17A3A"/>
          </a:solidFill>
          <a:ln/>
        </p:spPr>
      </p:sp>
      <p:sp>
        <p:nvSpPr>
          <p:cNvPr id="23" name="Text 21"/>
          <p:cNvSpPr/>
          <p:nvPr/>
        </p:nvSpPr>
        <p:spPr>
          <a:xfrm>
            <a:off x="1714500" y="6007100"/>
            <a:ext cx="3810000" cy="4064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Key Insight</a:t>
            </a:r>
            <a:endParaRPr lang="en-US" sz="1600" dirty="0"/>
          </a:p>
        </p:txBody>
      </p:sp>
      <p:sp>
        <p:nvSpPr>
          <p:cNvPr id="24" name="Text 22"/>
          <p:cNvSpPr/>
          <p:nvPr/>
        </p:nvSpPr>
        <p:spPr>
          <a:xfrm>
            <a:off x="1143000" y="6604000"/>
            <a:ext cx="13970000" cy="1143000"/>
          </a:xfrm>
          <a:prstGeom prst="rect">
            <a:avLst/>
          </a:prstGeom>
          <a:noFill/>
          <a:ln/>
        </p:spPr>
        <p:txBody>
          <a:bodyPr wrap="square" lIns="0" tIns="0" rIns="0" bIns="0" rtlCol="0" anchor="ctr"/>
          <a:lstStyle/>
          <a:p>
            <a:pPr>
              <a:lnSpc>
                <a:spcPct val="150000"/>
              </a:lnSpc>
            </a:pPr>
            <a:r>
              <a:rPr lang="en-US" sz="1800" dirty="0">
                <a:solidFill>
                  <a:srgbClr val="FFFFFF">
                    <a:alpha val="86667"/>
                  </a:srgbClr>
                </a:solidFill>
                <a:latin typeface="Quattrocento Sans" pitchFamily="34" charset="0"/>
                <a:ea typeface="Quattrocento Sans" pitchFamily="34" charset="-122"/>
                <a:cs typeface="Quattrocento Sans" pitchFamily="34" charset="-120"/>
              </a:rPr>
              <a:t>Pointing devices provide an intuitive interface by converting physical gestures into machine-readable input. The mouse remains the most common, but alternatives like trackballs and graphics tablets serve specialized needs.</a:t>
            </a:r>
            <a:endParaRPr lang="en-US" sz="1600" dirty="0"/>
          </a:p>
        </p:txBody>
      </p:sp>
      <p:sp>
        <p:nvSpPr>
          <p:cNvPr id="25" name="Text 23"/>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05</a:t>
            </a:r>
            <a:endParaRPr lang="en-US" sz="1400" dirty="0"/>
          </a:p>
        </p:txBody>
      </p:sp>
      <p:sp>
        <p:nvSpPr>
          <p:cNvPr id="26" name="Shape 24"/>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889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Remote Control, Joystick &amp; Driving Wheel</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2032000"/>
            <a:ext cx="406400" cy="406400"/>
          </a:xfrm>
          <a:custGeom>
            <a:avLst/>
            <a:gdLst/>
            <a:ahLst/>
            <a:cxnLst/>
            <a:rect l="l" t="t" r="r" b="b"/>
            <a:pathLst>
              <a:path w="406400" h="406400"/>
            </a:pathLst>
          </a:custGeom>
          <a:solidFill>
            <a:srgbClr val="1B5E5E"/>
          </a:solidFill>
          <a:ln/>
        </p:spPr>
      </p:sp>
      <p:sp>
        <p:nvSpPr>
          <p:cNvPr id="6" name="Text 4"/>
          <p:cNvSpPr/>
          <p:nvPr/>
        </p:nvSpPr>
        <p:spPr>
          <a:xfrm>
            <a:off x="1333500" y="2006600"/>
            <a:ext cx="3810000" cy="4064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Remote Control</a:t>
            </a:r>
            <a:endParaRPr lang="en-US" sz="1600" dirty="0"/>
          </a:p>
        </p:txBody>
      </p:sp>
      <p:sp>
        <p:nvSpPr>
          <p:cNvPr id="7" name="Text 5"/>
          <p:cNvSpPr/>
          <p:nvPr/>
        </p:nvSpPr>
        <p:spPr>
          <a:xfrm>
            <a:off x="762000" y="2667000"/>
            <a:ext cx="4572000" cy="2540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Wireless input device using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infrared (IR)</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or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radio frequency (RF)</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signals to operate devices from a distance.</a:t>
            </a:r>
            <a:endParaRPr lang="en-US" sz="2000" dirty="0"/>
          </a:p>
          <a:p>
            <a:pPr>
              <a:lnSpc>
                <a:spcPct val="150000"/>
              </a:lnSpc>
              <a:spcBef>
                <a:spcPts val="1000"/>
              </a:spcBef>
            </a:pPr>
            <a:r>
              <a:rPr lang="en-US" sz="1800" dirty="0">
                <a:solidFill>
                  <a:srgbClr val="2D2D2D"/>
                </a:solidFill>
                <a:latin typeface="QuattrocentoSans" pitchFamily="34" charset="0"/>
                <a:ea typeface="QuattrocentoSans" pitchFamily="34" charset="-122"/>
                <a:cs typeface="QuattrocentoSans" pitchFamily="34" charset="-120"/>
              </a:rPr>
              <a:t>Common in TVs, presentation systems, and smart home devices.</a:t>
            </a:r>
            <a:endParaRPr lang="en-US" sz="2000" dirty="0"/>
          </a:p>
        </p:txBody>
      </p:sp>
      <p:sp>
        <p:nvSpPr>
          <p:cNvPr id="8" name="Shape 6"/>
          <p:cNvSpPr/>
          <p:nvPr/>
        </p:nvSpPr>
        <p:spPr>
          <a:xfrm>
            <a:off x="5791200" y="2032000"/>
            <a:ext cx="508000" cy="406400"/>
          </a:xfrm>
          <a:custGeom>
            <a:avLst/>
            <a:gdLst/>
            <a:ahLst/>
            <a:cxnLst/>
            <a:rect l="l" t="t" r="r" b="b"/>
            <a:pathLst>
              <a:path w="508000" h="406400">
                <a:moveTo>
                  <a:pt x="355600" y="50800"/>
                </a:moveTo>
                <a:cubicBezTo>
                  <a:pt x="439738" y="50800"/>
                  <a:pt x="508000" y="119063"/>
                  <a:pt x="508000" y="203200"/>
                </a:cubicBezTo>
                <a:cubicBezTo>
                  <a:pt x="508000" y="287338"/>
                  <a:pt x="439738" y="355600"/>
                  <a:pt x="355600" y="355600"/>
                </a:cubicBezTo>
                <a:lnTo>
                  <a:pt x="152400" y="355600"/>
                </a:lnTo>
                <a:cubicBezTo>
                  <a:pt x="68263" y="355600"/>
                  <a:pt x="0" y="287338"/>
                  <a:pt x="0" y="203200"/>
                </a:cubicBezTo>
                <a:cubicBezTo>
                  <a:pt x="0" y="119063"/>
                  <a:pt x="68263" y="50800"/>
                  <a:pt x="152400" y="50800"/>
                </a:cubicBezTo>
                <a:lnTo>
                  <a:pt x="355600" y="50800"/>
                </a:lnTo>
                <a:close/>
                <a:moveTo>
                  <a:pt x="152400" y="139700"/>
                </a:moveTo>
                <a:cubicBezTo>
                  <a:pt x="141843" y="139700"/>
                  <a:pt x="133350" y="148193"/>
                  <a:pt x="133350" y="158750"/>
                </a:cubicBezTo>
                <a:lnTo>
                  <a:pt x="133350" y="184150"/>
                </a:lnTo>
                <a:lnTo>
                  <a:pt x="107950" y="184150"/>
                </a:lnTo>
                <a:cubicBezTo>
                  <a:pt x="97393" y="184150"/>
                  <a:pt x="88900" y="192643"/>
                  <a:pt x="88900" y="203200"/>
                </a:cubicBezTo>
                <a:cubicBezTo>
                  <a:pt x="88900" y="213757"/>
                  <a:pt x="97393" y="222250"/>
                  <a:pt x="107950" y="222250"/>
                </a:cubicBezTo>
                <a:lnTo>
                  <a:pt x="133350" y="222250"/>
                </a:lnTo>
                <a:lnTo>
                  <a:pt x="133350" y="247650"/>
                </a:lnTo>
                <a:cubicBezTo>
                  <a:pt x="133350" y="258207"/>
                  <a:pt x="141843" y="266700"/>
                  <a:pt x="152400" y="266700"/>
                </a:cubicBezTo>
                <a:cubicBezTo>
                  <a:pt x="162957" y="266700"/>
                  <a:pt x="171450" y="258207"/>
                  <a:pt x="171450" y="247650"/>
                </a:cubicBezTo>
                <a:lnTo>
                  <a:pt x="171450" y="222250"/>
                </a:lnTo>
                <a:lnTo>
                  <a:pt x="196850" y="222250"/>
                </a:lnTo>
                <a:cubicBezTo>
                  <a:pt x="207407" y="222250"/>
                  <a:pt x="215900" y="213757"/>
                  <a:pt x="215900" y="203200"/>
                </a:cubicBezTo>
                <a:cubicBezTo>
                  <a:pt x="215900" y="192643"/>
                  <a:pt x="207407" y="184150"/>
                  <a:pt x="196850" y="184150"/>
                </a:cubicBezTo>
                <a:lnTo>
                  <a:pt x="171450" y="184150"/>
                </a:lnTo>
                <a:lnTo>
                  <a:pt x="171450" y="158750"/>
                </a:lnTo>
                <a:cubicBezTo>
                  <a:pt x="171450" y="148193"/>
                  <a:pt x="162957" y="139700"/>
                  <a:pt x="152400" y="139700"/>
                </a:cubicBezTo>
                <a:close/>
                <a:moveTo>
                  <a:pt x="342900" y="215900"/>
                </a:moveTo>
                <a:cubicBezTo>
                  <a:pt x="328881" y="215900"/>
                  <a:pt x="317500" y="227281"/>
                  <a:pt x="317500" y="241300"/>
                </a:cubicBezTo>
                <a:cubicBezTo>
                  <a:pt x="317500" y="255319"/>
                  <a:pt x="328881" y="266700"/>
                  <a:pt x="342900" y="266700"/>
                </a:cubicBezTo>
                <a:cubicBezTo>
                  <a:pt x="356919" y="266700"/>
                  <a:pt x="368300" y="255319"/>
                  <a:pt x="368300" y="241300"/>
                </a:cubicBezTo>
                <a:cubicBezTo>
                  <a:pt x="368300" y="227281"/>
                  <a:pt x="356919" y="215900"/>
                  <a:pt x="342900" y="215900"/>
                </a:cubicBezTo>
                <a:close/>
                <a:moveTo>
                  <a:pt x="393700" y="139700"/>
                </a:moveTo>
                <a:cubicBezTo>
                  <a:pt x="379681" y="139700"/>
                  <a:pt x="368300" y="151081"/>
                  <a:pt x="368300" y="165100"/>
                </a:cubicBezTo>
                <a:cubicBezTo>
                  <a:pt x="368300" y="179119"/>
                  <a:pt x="379681" y="190500"/>
                  <a:pt x="393700" y="190500"/>
                </a:cubicBezTo>
                <a:cubicBezTo>
                  <a:pt x="407719" y="190500"/>
                  <a:pt x="419100" y="179119"/>
                  <a:pt x="419100" y="165100"/>
                </a:cubicBezTo>
                <a:cubicBezTo>
                  <a:pt x="419100" y="151081"/>
                  <a:pt x="407719" y="139700"/>
                  <a:pt x="393700" y="139700"/>
                </a:cubicBezTo>
                <a:close/>
              </a:path>
            </a:pathLst>
          </a:custGeom>
          <a:solidFill>
            <a:srgbClr val="1B5E5E"/>
          </a:solidFill>
          <a:ln/>
        </p:spPr>
      </p:sp>
      <p:sp>
        <p:nvSpPr>
          <p:cNvPr id="9" name="Text 7"/>
          <p:cNvSpPr/>
          <p:nvPr/>
        </p:nvSpPr>
        <p:spPr>
          <a:xfrm>
            <a:off x="6413500" y="2006600"/>
            <a:ext cx="3810000" cy="4064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Joystick</a:t>
            </a:r>
            <a:endParaRPr lang="en-US" sz="1600" dirty="0"/>
          </a:p>
        </p:txBody>
      </p:sp>
      <p:sp>
        <p:nvSpPr>
          <p:cNvPr id="10" name="Text 8"/>
          <p:cNvSpPr/>
          <p:nvPr/>
        </p:nvSpPr>
        <p:spPr>
          <a:xfrm>
            <a:off x="5842000" y="2667000"/>
            <a:ext cx="4572000" cy="2540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A lever-based input device used for gaming,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CAD</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and flight simulation.</a:t>
            </a:r>
            <a:endParaRPr lang="en-US" sz="2000" dirty="0"/>
          </a:p>
          <a:p>
            <a:pPr>
              <a:lnSpc>
                <a:spcPct val="150000"/>
              </a:lnSpc>
              <a:spcBef>
                <a:spcPts val="1000"/>
              </a:spcBef>
            </a:pPr>
            <a:r>
              <a:rPr lang="en-US" sz="1800" dirty="0">
                <a:solidFill>
                  <a:srgbClr val="2D2D2D"/>
                </a:solidFill>
                <a:latin typeface="QuattrocentoSans" pitchFamily="34" charset="0"/>
                <a:ea typeface="QuattrocentoSans" pitchFamily="34" charset="-122"/>
                <a:cs typeface="QuattrocentoSans" pitchFamily="34" charset="-120"/>
              </a:rPr>
              <a:t>Uses pressure and directional movement to control on-screen actions with precision.</a:t>
            </a:r>
            <a:endParaRPr lang="en-US" sz="2000" dirty="0"/>
          </a:p>
        </p:txBody>
      </p:sp>
      <p:sp>
        <p:nvSpPr>
          <p:cNvPr id="11" name="Shape 9"/>
          <p:cNvSpPr/>
          <p:nvPr/>
        </p:nvSpPr>
        <p:spPr>
          <a:xfrm>
            <a:off x="10922000" y="2032000"/>
            <a:ext cx="406400" cy="406400"/>
          </a:xfrm>
          <a:custGeom>
            <a:avLst/>
            <a:gdLst/>
            <a:ahLst/>
            <a:cxnLst/>
            <a:rect l="l" t="t" r="r" b="b"/>
            <a:pathLst>
              <a:path w="406400" h="406400">
                <a:moveTo>
                  <a:pt x="107315" y="93186"/>
                </a:moveTo>
                <a:lnTo>
                  <a:pt x="86598" y="152400"/>
                </a:lnTo>
                <a:lnTo>
                  <a:pt x="319802" y="152400"/>
                </a:lnTo>
                <a:lnTo>
                  <a:pt x="299085" y="93186"/>
                </a:lnTo>
                <a:cubicBezTo>
                  <a:pt x="295513" y="83026"/>
                  <a:pt x="285909" y="76200"/>
                  <a:pt x="275114" y="76200"/>
                </a:cubicBezTo>
                <a:lnTo>
                  <a:pt x="131286" y="76200"/>
                </a:lnTo>
                <a:cubicBezTo>
                  <a:pt x="120491" y="76200"/>
                  <a:pt x="110887" y="83026"/>
                  <a:pt x="107315" y="93186"/>
                </a:cubicBezTo>
                <a:close/>
                <a:moveTo>
                  <a:pt x="31433" y="156210"/>
                </a:moveTo>
                <a:lnTo>
                  <a:pt x="59372" y="76438"/>
                </a:lnTo>
                <a:cubicBezTo>
                  <a:pt x="70088" y="45879"/>
                  <a:pt x="98901" y="25400"/>
                  <a:pt x="131286" y="25400"/>
                </a:cubicBezTo>
                <a:lnTo>
                  <a:pt x="275114" y="25400"/>
                </a:lnTo>
                <a:cubicBezTo>
                  <a:pt x="307499" y="25400"/>
                  <a:pt x="336312" y="45879"/>
                  <a:pt x="347028" y="76438"/>
                </a:cubicBezTo>
                <a:lnTo>
                  <a:pt x="374968" y="156210"/>
                </a:lnTo>
                <a:cubicBezTo>
                  <a:pt x="393383" y="163830"/>
                  <a:pt x="406400" y="182007"/>
                  <a:pt x="406400" y="203200"/>
                </a:cubicBezTo>
                <a:lnTo>
                  <a:pt x="406400" y="355600"/>
                </a:lnTo>
                <a:cubicBezTo>
                  <a:pt x="406400" y="369649"/>
                  <a:pt x="395049" y="381000"/>
                  <a:pt x="381000" y="381000"/>
                </a:cubicBezTo>
                <a:lnTo>
                  <a:pt x="355600" y="381000"/>
                </a:lnTo>
                <a:cubicBezTo>
                  <a:pt x="341551" y="381000"/>
                  <a:pt x="330200" y="369649"/>
                  <a:pt x="330200" y="355600"/>
                </a:cubicBezTo>
                <a:lnTo>
                  <a:pt x="330200" y="330200"/>
                </a:lnTo>
                <a:lnTo>
                  <a:pt x="76200" y="330200"/>
                </a:lnTo>
                <a:lnTo>
                  <a:pt x="76200" y="355600"/>
                </a:lnTo>
                <a:cubicBezTo>
                  <a:pt x="76200" y="369649"/>
                  <a:pt x="64849" y="381000"/>
                  <a:pt x="50800" y="381000"/>
                </a:cubicBezTo>
                <a:lnTo>
                  <a:pt x="25400" y="381000"/>
                </a:lnTo>
                <a:cubicBezTo>
                  <a:pt x="11351" y="381000"/>
                  <a:pt x="0" y="369649"/>
                  <a:pt x="0" y="355600"/>
                </a:cubicBezTo>
                <a:lnTo>
                  <a:pt x="0" y="203200"/>
                </a:lnTo>
                <a:cubicBezTo>
                  <a:pt x="0" y="182007"/>
                  <a:pt x="13017" y="163830"/>
                  <a:pt x="31433" y="156210"/>
                </a:cubicBezTo>
                <a:close/>
                <a:moveTo>
                  <a:pt x="101600" y="241300"/>
                </a:moveTo>
                <a:cubicBezTo>
                  <a:pt x="101600" y="227281"/>
                  <a:pt x="90219" y="215900"/>
                  <a:pt x="76200" y="215900"/>
                </a:cubicBezTo>
                <a:cubicBezTo>
                  <a:pt x="62181" y="215900"/>
                  <a:pt x="50800" y="227281"/>
                  <a:pt x="50800" y="241300"/>
                </a:cubicBezTo>
                <a:cubicBezTo>
                  <a:pt x="50800" y="255319"/>
                  <a:pt x="62181" y="266700"/>
                  <a:pt x="76200" y="266700"/>
                </a:cubicBezTo>
                <a:cubicBezTo>
                  <a:pt x="90219" y="266700"/>
                  <a:pt x="101600" y="255319"/>
                  <a:pt x="101600" y="241300"/>
                </a:cubicBezTo>
                <a:close/>
                <a:moveTo>
                  <a:pt x="330200" y="266700"/>
                </a:moveTo>
                <a:cubicBezTo>
                  <a:pt x="344219" y="266700"/>
                  <a:pt x="355600" y="255319"/>
                  <a:pt x="355600" y="241300"/>
                </a:cubicBezTo>
                <a:cubicBezTo>
                  <a:pt x="355600" y="227281"/>
                  <a:pt x="344219" y="215900"/>
                  <a:pt x="330200" y="215900"/>
                </a:cubicBezTo>
                <a:cubicBezTo>
                  <a:pt x="316181" y="215900"/>
                  <a:pt x="304800" y="227281"/>
                  <a:pt x="304800" y="241300"/>
                </a:cubicBezTo>
                <a:cubicBezTo>
                  <a:pt x="304800" y="255319"/>
                  <a:pt x="316181" y="266700"/>
                  <a:pt x="330200" y="266700"/>
                </a:cubicBezTo>
                <a:close/>
              </a:path>
            </a:pathLst>
          </a:custGeom>
          <a:solidFill>
            <a:srgbClr val="1B5E5E"/>
          </a:solidFill>
          <a:ln/>
        </p:spPr>
      </p:sp>
      <p:sp>
        <p:nvSpPr>
          <p:cNvPr id="12" name="Text 10"/>
          <p:cNvSpPr/>
          <p:nvPr/>
        </p:nvSpPr>
        <p:spPr>
          <a:xfrm>
            <a:off x="11493500" y="2006600"/>
            <a:ext cx="3810000" cy="4064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Driving Wheel</a:t>
            </a:r>
            <a:endParaRPr lang="en-US" sz="1600" dirty="0"/>
          </a:p>
        </p:txBody>
      </p:sp>
      <p:sp>
        <p:nvSpPr>
          <p:cNvPr id="13" name="Text 11"/>
          <p:cNvSpPr/>
          <p:nvPr/>
        </p:nvSpPr>
        <p:spPr>
          <a:xfrm>
            <a:off x="10922000" y="2667000"/>
            <a:ext cx="4572000" cy="2540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Steering wheel controller with pedals that simulates real driving for racing games.</a:t>
            </a:r>
            <a:endParaRPr lang="en-US" sz="2000" dirty="0"/>
          </a:p>
          <a:p>
            <a:pPr>
              <a:lnSpc>
                <a:spcPct val="150000"/>
              </a:lnSpc>
              <a:spcBef>
                <a:spcPts val="1000"/>
              </a:spcBef>
            </a:pPr>
            <a:r>
              <a:rPr lang="en-US" sz="1800" dirty="0">
                <a:solidFill>
                  <a:srgbClr val="2D2D2D"/>
                </a:solidFill>
                <a:latin typeface="QuattrocentoSans" pitchFamily="34" charset="0"/>
                <a:ea typeface="QuattrocentoSans" pitchFamily="34" charset="-122"/>
                <a:cs typeface="QuattrocentoSans" pitchFamily="34" charset="-120"/>
              </a:rPr>
              <a:t>Provides </a:t>
            </a:r>
            <a:pPr>
              <a:lnSpc>
                <a:spcPct val="150000"/>
              </a:lnSpc>
              <a:spcBef>
                <a:spcPts val="1000"/>
              </a:spcBef>
            </a:pPr>
            <a:r>
              <a:rPr lang="en-US" sz="1800" b="1" dirty="0">
                <a:solidFill>
                  <a:srgbClr val="2D2D2D"/>
                </a:solidFill>
                <a:latin typeface="QuattrocentoSans" pitchFamily="34" charset="0"/>
                <a:ea typeface="QuattrocentoSans" pitchFamily="34" charset="-122"/>
                <a:cs typeface="QuattrocentoSans" pitchFamily="34" charset="-120"/>
              </a:rPr>
              <a:t>force feedback</a:t>
            </a:r>
            <a:pPr>
              <a:lnSpc>
                <a:spcPct val="150000"/>
              </a:lnSpc>
              <a:spcBef>
                <a:spcPts val="1000"/>
              </a:spcBef>
            </a:pPr>
            <a:r>
              <a:rPr lang="en-US" sz="1800" dirty="0">
                <a:solidFill>
                  <a:srgbClr val="2D2D2D"/>
                </a:solidFill>
                <a:latin typeface="QuattrocentoSans" pitchFamily="34" charset="0"/>
                <a:ea typeface="QuattrocentoSans" pitchFamily="34" charset="-122"/>
                <a:cs typeface="QuattrocentoSans" pitchFamily="34" charset="-120"/>
              </a:rPr>
              <a:t> for realistic handling and immersion.</a:t>
            </a:r>
            <a:endParaRPr lang="en-US" sz="2000" dirty="0"/>
          </a:p>
        </p:txBody>
      </p:sp>
      <p:sp>
        <p:nvSpPr>
          <p:cNvPr id="14" name="Shape 12"/>
          <p:cNvSpPr/>
          <p:nvPr/>
        </p:nvSpPr>
        <p:spPr>
          <a:xfrm>
            <a:off x="5588000" y="2032000"/>
            <a:ext cx="0" cy="3302000"/>
          </a:xfrm>
          <a:prstGeom prst="straightConnector1">
            <a:avLst/>
          </a:prstGeom>
          <a:noFill/>
          <a:ln w="12700">
            <a:solidFill>
              <a:srgbClr val="D5D0C8"/>
            </a:solidFill>
            <a:prstDash val="solid"/>
            <a:headEnd type="none"/>
            <a:tailEnd type="none"/>
          </a:ln>
        </p:spPr>
      </p:sp>
      <p:sp>
        <p:nvSpPr>
          <p:cNvPr id="15" name="Shape 13"/>
          <p:cNvSpPr/>
          <p:nvPr/>
        </p:nvSpPr>
        <p:spPr>
          <a:xfrm>
            <a:off x="10668000" y="2032000"/>
            <a:ext cx="0" cy="3302000"/>
          </a:xfrm>
          <a:prstGeom prst="straightConnector1">
            <a:avLst/>
          </a:prstGeom>
          <a:noFill/>
          <a:ln w="12700">
            <a:solidFill>
              <a:srgbClr val="D5D0C8"/>
            </a:solidFill>
            <a:prstDash val="solid"/>
            <a:headEnd type="none"/>
            <a:tailEnd type="none"/>
          </a:ln>
        </p:spPr>
      </p:sp>
      <p:sp>
        <p:nvSpPr>
          <p:cNvPr id="16" name="Shape 14"/>
          <p:cNvSpPr/>
          <p:nvPr/>
        </p:nvSpPr>
        <p:spPr>
          <a:xfrm>
            <a:off x="762000" y="5715000"/>
            <a:ext cx="14732000" cy="2286000"/>
          </a:xfrm>
          <a:prstGeom prst="rect">
            <a:avLst/>
          </a:prstGeom>
          <a:solidFill>
            <a:srgbClr val="EDEAE4"/>
          </a:solidFill>
          <a:ln/>
        </p:spPr>
      </p:sp>
      <p:sp>
        <p:nvSpPr>
          <p:cNvPr id="17" name="Text 15"/>
          <p:cNvSpPr/>
          <p:nvPr/>
        </p:nvSpPr>
        <p:spPr>
          <a:xfrm>
            <a:off x="1143000" y="5969000"/>
            <a:ext cx="5080000" cy="3810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Applications &amp; Use Cases</a:t>
            </a:r>
            <a:endParaRPr lang="en-US" sz="1600" dirty="0"/>
          </a:p>
        </p:txBody>
      </p:sp>
      <p:sp>
        <p:nvSpPr>
          <p:cNvPr id="18" name="Text 16"/>
          <p:cNvSpPr/>
          <p:nvPr/>
        </p:nvSpPr>
        <p:spPr>
          <a:xfrm>
            <a:off x="1143000" y="6477000"/>
            <a:ext cx="13970000" cy="1270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These specialized input devices enhance user experience in entertainment, simulation, and accessibility applications. Joysticks are essential for flight simulators and gaming, while driving wheels provide realistic training for professional drivers. Remote controls remain the primary interface for consumer electronics.</a:t>
            </a:r>
            <a:endParaRPr lang="en-US" sz="2000" dirty="0"/>
          </a:p>
        </p:txBody>
      </p:sp>
      <p:sp>
        <p:nvSpPr>
          <p:cNvPr id="19" name="Text 17"/>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06</a:t>
            </a:r>
            <a:endParaRPr lang="en-US" sz="1400" dirty="0"/>
          </a:p>
        </p:txBody>
      </p:sp>
      <p:sp>
        <p:nvSpPr>
          <p:cNvPr id="20" name="Shape 18"/>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889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Touch Screen as an Input Device</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Text 3"/>
          <p:cNvSpPr/>
          <p:nvPr/>
        </p:nvSpPr>
        <p:spPr>
          <a:xfrm>
            <a:off x="762000" y="1905000"/>
            <a:ext cx="7620000" cy="1143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A display screen that also functions as an input device, allowing users to interact directly by touching icons, buttons, and on-screen elements.</a:t>
            </a:r>
            <a:endParaRPr lang="en-US" sz="2000" dirty="0"/>
          </a:p>
        </p:txBody>
      </p:sp>
      <p:sp>
        <p:nvSpPr>
          <p:cNvPr id="6" name="Text 4"/>
          <p:cNvSpPr/>
          <p:nvPr/>
        </p:nvSpPr>
        <p:spPr>
          <a:xfrm>
            <a:off x="762000" y="3302000"/>
            <a:ext cx="3810000" cy="3810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Touch Technologies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2000" y="3810000"/>
          <a:ext cx="7620000" cy="3175000"/>
        </p:xfrm>
        <a:graphic>
          <a:graphicData uri="http://schemas.openxmlformats.org/drawingml/2006/table">
            <a:tbl>
              <a:tblPr/>
              <a:tblGrid>
                <a:gridCol w="2286000"/>
                <a:gridCol w="2667000"/>
                <a:gridCol w="2667000"/>
              </a:tblGrid>
              <a:tr h="573795">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Technology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How It Works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Key Feature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r>
              <a:tr h="650301">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Resistive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Pressure-sensitive layers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Works with stylus/gloves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650301">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Capacitive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Detects electrical properties of skin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Multi-touch support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r h="650301">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Infrared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IR light grid detection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Durable, no overlay needed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650301">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SAW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Surface acoustic waves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High clarity and precision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bl>
          </a:graphicData>
        </a:graphic>
      </p:graphicFrame>
      <p:pic>
        <p:nvPicPr>
          <p:cNvPr id="8" name="Image 0" descr="https://kimi-img.moonshot.cn/pub/slides/okc/7khcepmtdap64/mnt/agents/output/ict-week3/images/2_Touchscreen_Basics_The_3_Best_Types.png">    </p:cNvPr>
          <p:cNvPicPr>
            <a:picLocks noChangeAspect="1"/>
          </p:cNvPicPr>
          <p:nvPr/>
        </p:nvPicPr>
        <p:blipFill>
          <a:blip r:embed="rId1"/>
          <a:srcRect l="13438" r="13437" t="0" b="0"/>
          <a:stretch/>
        </p:blipFill>
        <p:spPr>
          <a:xfrm>
            <a:off x="8890000" y="1905000"/>
            <a:ext cx="6604000" cy="5080000"/>
          </a:xfrm>
          <a:prstGeom prst="rect">
            <a:avLst/>
          </a:prstGeom>
        </p:spPr>
      </p:pic>
      <p:sp>
        <p:nvSpPr>
          <p:cNvPr id="9" name="Text 5"/>
          <p:cNvSpPr/>
          <p:nvPr/>
        </p:nvSpPr>
        <p:spPr>
          <a:xfrm>
            <a:off x="762000" y="7302500"/>
            <a:ext cx="381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Common Applications</a:t>
            </a:r>
            <a:endParaRPr lang="en-US" sz="1600" dirty="0"/>
          </a:p>
        </p:txBody>
      </p:sp>
      <p:sp>
        <p:nvSpPr>
          <p:cNvPr id="10" name="Text 6"/>
          <p:cNvSpPr/>
          <p:nvPr/>
        </p:nvSpPr>
        <p:spPr>
          <a:xfrm>
            <a:off x="762000" y="7747000"/>
            <a:ext cx="14732000" cy="6350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Smartphones, tablets, ATMs, self-service kiosks, POS terminals, interactive whiteboards, automotive dashboards, and industrial control panels</a:t>
            </a:r>
            <a:endParaRPr lang="en-US" sz="1600" dirty="0"/>
          </a:p>
        </p:txBody>
      </p:sp>
      <p:sp>
        <p:nvSpPr>
          <p:cNvPr id="11" name="Text 7"/>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07</a:t>
            </a:r>
            <a:endParaRPr lang="en-US" sz="1400" dirty="0"/>
          </a:p>
        </p:txBody>
      </p:sp>
      <p:sp>
        <p:nvSpPr>
          <p:cNvPr id="12" name="Shape 8"/>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Scanners &amp; Cameras</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68500"/>
            <a:ext cx="355600" cy="355600"/>
          </a:xfrm>
          <a:custGeom>
            <a:avLst/>
            <a:gdLst/>
            <a:ahLst/>
            <a:cxnLst/>
            <a:rect l="l" t="t" r="r" b="b"/>
            <a:pathLst>
              <a:path w="355600" h="355600"/>
            </a:pathLst>
          </a:custGeom>
          <a:solidFill>
            <a:srgbClr val="1B5E5E"/>
          </a:solidFill>
          <a:ln/>
        </p:spPr>
      </p:sp>
      <p:sp>
        <p:nvSpPr>
          <p:cNvPr id="6" name="Text 4"/>
          <p:cNvSpPr/>
          <p:nvPr/>
        </p:nvSpPr>
        <p:spPr>
          <a:xfrm>
            <a:off x="1270000" y="19304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Scanner</a:t>
            </a:r>
            <a:endParaRPr lang="en-US" sz="1600" dirty="0"/>
          </a:p>
        </p:txBody>
      </p:sp>
      <p:sp>
        <p:nvSpPr>
          <p:cNvPr id="7" name="Text 5"/>
          <p:cNvSpPr/>
          <p:nvPr/>
        </p:nvSpPr>
        <p:spPr>
          <a:xfrm>
            <a:off x="762000" y="2540000"/>
            <a:ext cx="7112000" cy="2032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Converts physical documents/images into digital format.</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Flatbed</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high-quality photo scanning</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Document</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sheet-fed for bulk processing</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Portable</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compact/mobile scanning</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3D Scanner</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captures object geometry</a:t>
            </a:r>
            <a:endParaRPr lang="en-US" sz="2000" dirty="0"/>
          </a:p>
        </p:txBody>
      </p:sp>
      <p:sp>
        <p:nvSpPr>
          <p:cNvPr id="8" name="Shape 6"/>
          <p:cNvSpPr/>
          <p:nvPr/>
        </p:nvSpPr>
        <p:spPr>
          <a:xfrm>
            <a:off x="8382000" y="1968500"/>
            <a:ext cx="355600" cy="355600"/>
          </a:xfrm>
          <a:custGeom>
            <a:avLst/>
            <a:gdLst/>
            <a:ahLst/>
            <a:cxnLst/>
            <a:rect l="l" t="t" r="r" b="b"/>
            <a:pathLst>
              <a:path w="355600" h="355600">
                <a:moveTo>
                  <a:pt x="103555" y="45006"/>
                </a:moveTo>
                <a:lnTo>
                  <a:pt x="96331" y="66675"/>
                </a:lnTo>
                <a:lnTo>
                  <a:pt x="44450" y="66675"/>
                </a:lnTo>
                <a:cubicBezTo>
                  <a:pt x="19933" y="66675"/>
                  <a:pt x="0" y="86608"/>
                  <a:pt x="0" y="111125"/>
                </a:cubicBezTo>
                <a:lnTo>
                  <a:pt x="0" y="288925"/>
                </a:lnTo>
                <a:cubicBezTo>
                  <a:pt x="0" y="313442"/>
                  <a:pt x="19933" y="333375"/>
                  <a:pt x="44450" y="333375"/>
                </a:cubicBezTo>
                <a:lnTo>
                  <a:pt x="311150" y="333375"/>
                </a:lnTo>
                <a:cubicBezTo>
                  <a:pt x="335667" y="333375"/>
                  <a:pt x="355600" y="313442"/>
                  <a:pt x="355600" y="288925"/>
                </a:cubicBezTo>
                <a:lnTo>
                  <a:pt x="355600" y="111125"/>
                </a:lnTo>
                <a:cubicBezTo>
                  <a:pt x="355600" y="86608"/>
                  <a:pt x="335667" y="66675"/>
                  <a:pt x="311150" y="66675"/>
                </a:cubicBezTo>
                <a:lnTo>
                  <a:pt x="259269" y="66675"/>
                </a:lnTo>
                <a:lnTo>
                  <a:pt x="252045" y="45006"/>
                </a:lnTo>
                <a:cubicBezTo>
                  <a:pt x="247531" y="31393"/>
                  <a:pt x="234821" y="22225"/>
                  <a:pt x="220444" y="22225"/>
                </a:cubicBezTo>
                <a:lnTo>
                  <a:pt x="135156" y="22225"/>
                </a:lnTo>
                <a:cubicBezTo>
                  <a:pt x="120779" y="22225"/>
                  <a:pt x="108069" y="31393"/>
                  <a:pt x="103555" y="45006"/>
                </a:cubicBezTo>
                <a:close/>
                <a:moveTo>
                  <a:pt x="177800" y="133350"/>
                </a:moveTo>
                <a:cubicBezTo>
                  <a:pt x="214599" y="133350"/>
                  <a:pt x="244475" y="163226"/>
                  <a:pt x="244475" y="200025"/>
                </a:cubicBezTo>
                <a:cubicBezTo>
                  <a:pt x="244475" y="236824"/>
                  <a:pt x="214599" y="266700"/>
                  <a:pt x="177800" y="266700"/>
                </a:cubicBezTo>
                <a:cubicBezTo>
                  <a:pt x="141001" y="266700"/>
                  <a:pt x="111125" y="236824"/>
                  <a:pt x="111125" y="200025"/>
                </a:cubicBezTo>
                <a:cubicBezTo>
                  <a:pt x="111125" y="163226"/>
                  <a:pt x="141001" y="133350"/>
                  <a:pt x="177800" y="133350"/>
                </a:cubicBezTo>
                <a:close/>
              </a:path>
            </a:pathLst>
          </a:custGeom>
          <a:solidFill>
            <a:srgbClr val="1B5E5E"/>
          </a:solidFill>
          <a:ln/>
        </p:spPr>
      </p:sp>
      <p:sp>
        <p:nvSpPr>
          <p:cNvPr id="9" name="Text 7"/>
          <p:cNvSpPr/>
          <p:nvPr/>
        </p:nvSpPr>
        <p:spPr>
          <a:xfrm>
            <a:off x="8890000" y="19304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Digital Camera</a:t>
            </a:r>
            <a:endParaRPr lang="en-US" sz="1600" dirty="0"/>
          </a:p>
        </p:txBody>
      </p:sp>
      <p:sp>
        <p:nvSpPr>
          <p:cNvPr id="10" name="Text 8"/>
          <p:cNvSpPr/>
          <p:nvPr/>
        </p:nvSpPr>
        <p:spPr>
          <a:xfrm>
            <a:off x="8382000" y="2540000"/>
            <a:ext cx="7112000" cy="1270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Captures still images and video in digital format for photography, video conferencing, content creation, and surveillance.</a:t>
            </a:r>
            <a:endParaRPr lang="en-US" sz="2000" dirty="0"/>
          </a:p>
        </p:txBody>
      </p:sp>
      <p:sp>
        <p:nvSpPr>
          <p:cNvPr id="11" name="Shape 9"/>
          <p:cNvSpPr/>
          <p:nvPr/>
        </p:nvSpPr>
        <p:spPr>
          <a:xfrm>
            <a:off x="8359775" y="4064000"/>
            <a:ext cx="400050" cy="355600"/>
          </a:xfrm>
          <a:custGeom>
            <a:avLst/>
            <a:gdLst/>
            <a:ahLst/>
            <a:cxnLst/>
            <a:rect l="l" t="t" r="r" b="b"/>
            <a:pathLst>
              <a:path w="400050" h="355600">
                <a:moveTo>
                  <a:pt x="66675" y="44450"/>
                </a:moveTo>
                <a:cubicBezTo>
                  <a:pt x="42158" y="44450"/>
                  <a:pt x="22225" y="64383"/>
                  <a:pt x="22225" y="88900"/>
                </a:cubicBezTo>
                <a:lnTo>
                  <a:pt x="22225" y="266700"/>
                </a:lnTo>
                <a:cubicBezTo>
                  <a:pt x="22225" y="291217"/>
                  <a:pt x="42158" y="311150"/>
                  <a:pt x="66675" y="311150"/>
                </a:cubicBezTo>
                <a:lnTo>
                  <a:pt x="244475" y="311150"/>
                </a:lnTo>
                <a:cubicBezTo>
                  <a:pt x="268992" y="311150"/>
                  <a:pt x="288925" y="291217"/>
                  <a:pt x="288925" y="266700"/>
                </a:cubicBezTo>
                <a:lnTo>
                  <a:pt x="288925" y="88900"/>
                </a:lnTo>
                <a:cubicBezTo>
                  <a:pt x="288925" y="64383"/>
                  <a:pt x="268992" y="44450"/>
                  <a:pt x="244475" y="44450"/>
                </a:cubicBezTo>
                <a:lnTo>
                  <a:pt x="66675" y="44450"/>
                </a:lnTo>
                <a:close/>
                <a:moveTo>
                  <a:pt x="322263" y="233363"/>
                </a:moveTo>
                <a:lnTo>
                  <a:pt x="373311" y="274201"/>
                </a:lnTo>
                <a:cubicBezTo>
                  <a:pt x="376228" y="276562"/>
                  <a:pt x="379839" y="277813"/>
                  <a:pt x="383590" y="277813"/>
                </a:cubicBezTo>
                <a:cubicBezTo>
                  <a:pt x="392688" y="277813"/>
                  <a:pt x="400050" y="270450"/>
                  <a:pt x="400050" y="261352"/>
                </a:cubicBezTo>
                <a:lnTo>
                  <a:pt x="400050" y="94248"/>
                </a:lnTo>
                <a:cubicBezTo>
                  <a:pt x="400050" y="85150"/>
                  <a:pt x="392688" y="77788"/>
                  <a:pt x="383590" y="77788"/>
                </a:cubicBezTo>
                <a:cubicBezTo>
                  <a:pt x="379839" y="77788"/>
                  <a:pt x="376228" y="79038"/>
                  <a:pt x="373311" y="81399"/>
                </a:cubicBezTo>
                <a:lnTo>
                  <a:pt x="322263" y="122238"/>
                </a:lnTo>
                <a:lnTo>
                  <a:pt x="322263" y="233363"/>
                </a:lnTo>
                <a:close/>
              </a:path>
            </a:pathLst>
          </a:custGeom>
          <a:solidFill>
            <a:srgbClr val="1B5E5E"/>
          </a:solidFill>
          <a:ln/>
        </p:spPr>
      </p:sp>
      <p:sp>
        <p:nvSpPr>
          <p:cNvPr id="12" name="Text 10"/>
          <p:cNvSpPr/>
          <p:nvPr/>
        </p:nvSpPr>
        <p:spPr>
          <a:xfrm>
            <a:off x="8890000" y="40386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Webcam</a:t>
            </a:r>
            <a:endParaRPr lang="en-US" sz="1600" dirty="0"/>
          </a:p>
        </p:txBody>
      </p:sp>
      <p:sp>
        <p:nvSpPr>
          <p:cNvPr id="13" name="Text 11"/>
          <p:cNvSpPr/>
          <p:nvPr/>
        </p:nvSpPr>
        <p:spPr>
          <a:xfrm>
            <a:off x="8382000" y="4635500"/>
            <a:ext cx="7112000" cy="1016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Small digital video camera (USB or built-in) for video calls, live streaming, and facial recognition.</a:t>
            </a:r>
            <a:endParaRPr lang="en-US" sz="2000" dirty="0"/>
          </a:p>
        </p:txBody>
      </p:sp>
      <p:sp>
        <p:nvSpPr>
          <p:cNvPr id="14" name="Shape 12"/>
          <p:cNvSpPr/>
          <p:nvPr/>
        </p:nvSpPr>
        <p:spPr>
          <a:xfrm>
            <a:off x="762000" y="6096000"/>
            <a:ext cx="14732000" cy="1778000"/>
          </a:xfrm>
          <a:prstGeom prst="rect">
            <a:avLst/>
          </a:prstGeom>
          <a:solidFill>
            <a:srgbClr val="EDEAE4"/>
          </a:solidFill>
          <a:ln/>
        </p:spPr>
      </p:sp>
      <p:sp>
        <p:nvSpPr>
          <p:cNvPr id="15" name="Shape 13"/>
          <p:cNvSpPr/>
          <p:nvPr/>
        </p:nvSpPr>
        <p:spPr>
          <a:xfrm>
            <a:off x="1079500" y="63500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133350" y="95250"/>
                </a:moveTo>
                <a:cubicBezTo>
                  <a:pt x="133350" y="84736"/>
                  <a:pt x="141886" y="76200"/>
                  <a:pt x="152400" y="76200"/>
                </a:cubicBezTo>
                <a:cubicBezTo>
                  <a:pt x="162914" y="76200"/>
                  <a:pt x="171450" y="84736"/>
                  <a:pt x="171450" y="95250"/>
                </a:cubicBezTo>
                <a:cubicBezTo>
                  <a:pt x="171450" y="105764"/>
                  <a:pt x="162914" y="114300"/>
                  <a:pt x="152400" y="114300"/>
                </a:cubicBezTo>
                <a:cubicBezTo>
                  <a:pt x="141886" y="114300"/>
                  <a:pt x="133350" y="105764"/>
                  <a:pt x="133350" y="95250"/>
                </a:cubicBezTo>
                <a:close/>
                <a:moveTo>
                  <a:pt x="128588" y="133350"/>
                </a:moveTo>
                <a:lnTo>
                  <a:pt x="157163" y="133350"/>
                </a:lnTo>
                <a:cubicBezTo>
                  <a:pt x="165080" y="133350"/>
                  <a:pt x="171450" y="139720"/>
                  <a:pt x="171450" y="147638"/>
                </a:cubicBezTo>
                <a:lnTo>
                  <a:pt x="171450" y="200025"/>
                </a:lnTo>
                <a:lnTo>
                  <a:pt x="176212" y="200025"/>
                </a:lnTo>
                <a:cubicBezTo>
                  <a:pt x="184130" y="200025"/>
                  <a:pt x="190500" y="206395"/>
                  <a:pt x="190500" y="214313"/>
                </a:cubicBezTo>
                <a:cubicBezTo>
                  <a:pt x="190500" y="222230"/>
                  <a:pt x="184130" y="228600"/>
                  <a:pt x="176212" y="228600"/>
                </a:cubicBezTo>
                <a:lnTo>
                  <a:pt x="128588" y="228600"/>
                </a:lnTo>
                <a:cubicBezTo>
                  <a:pt x="120670" y="228600"/>
                  <a:pt x="114300" y="222230"/>
                  <a:pt x="114300" y="214313"/>
                </a:cubicBezTo>
                <a:cubicBezTo>
                  <a:pt x="114300" y="206395"/>
                  <a:pt x="120670" y="200025"/>
                  <a:pt x="128588" y="200025"/>
                </a:cubicBezTo>
                <a:lnTo>
                  <a:pt x="142875" y="200025"/>
                </a:lnTo>
                <a:lnTo>
                  <a:pt x="142875" y="161925"/>
                </a:lnTo>
                <a:lnTo>
                  <a:pt x="128588" y="161925"/>
                </a:lnTo>
                <a:cubicBezTo>
                  <a:pt x="120670" y="161925"/>
                  <a:pt x="114300" y="155555"/>
                  <a:pt x="114300" y="147638"/>
                </a:cubicBezTo>
                <a:cubicBezTo>
                  <a:pt x="114300" y="139720"/>
                  <a:pt x="120670" y="133350"/>
                  <a:pt x="128588" y="133350"/>
                </a:cubicBezTo>
                <a:close/>
              </a:path>
            </a:pathLst>
          </a:custGeom>
          <a:solidFill>
            <a:srgbClr val="C17A3A"/>
          </a:solidFill>
          <a:ln/>
        </p:spPr>
      </p:sp>
      <p:sp>
        <p:nvSpPr>
          <p:cNvPr id="16" name="Text 14"/>
          <p:cNvSpPr/>
          <p:nvPr/>
        </p:nvSpPr>
        <p:spPr>
          <a:xfrm>
            <a:off x="1524000" y="6324600"/>
            <a:ext cx="381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Modern Integration</a:t>
            </a:r>
            <a:endParaRPr lang="en-US" sz="1600" dirty="0"/>
          </a:p>
        </p:txBody>
      </p:sp>
      <p:sp>
        <p:nvSpPr>
          <p:cNvPr id="17" name="Text 15"/>
          <p:cNvSpPr/>
          <p:nvPr/>
        </p:nvSpPr>
        <p:spPr>
          <a:xfrm>
            <a:off x="1079500" y="6794500"/>
            <a:ext cx="14097000" cy="88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Smartphones combine scanner functionality (document scanning apps) with high-resolution cameras, blurring the line between dedicated and multi-purpose devices.</a:t>
            </a:r>
            <a:endParaRPr lang="en-US" sz="2000" dirty="0"/>
          </a:p>
        </p:txBody>
      </p:sp>
      <p:sp>
        <p:nvSpPr>
          <p:cNvPr id="18" name="Text 16"/>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08</a:t>
            </a:r>
            <a:endParaRPr lang="en-US" sz="1400" dirty="0"/>
          </a:p>
        </p:txBody>
      </p:sp>
      <p:sp>
        <p:nvSpPr>
          <p:cNvPr id="19" name="Shape 17"/>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Microphone &amp; Sensors</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806450" y="1968500"/>
            <a:ext cx="266700" cy="355600"/>
          </a:xfrm>
          <a:custGeom>
            <a:avLst/>
            <a:gdLst/>
            <a:ahLst/>
            <a:cxnLst/>
            <a:rect l="l" t="t" r="r" b="b"/>
            <a:pathLst>
              <a:path w="266700" h="355600">
                <a:moveTo>
                  <a:pt x="133350" y="0"/>
                </a:moveTo>
                <a:cubicBezTo>
                  <a:pt x="96540" y="0"/>
                  <a:pt x="66675" y="29865"/>
                  <a:pt x="66675" y="66675"/>
                </a:cubicBezTo>
                <a:lnTo>
                  <a:pt x="66675" y="155575"/>
                </a:lnTo>
                <a:cubicBezTo>
                  <a:pt x="66675" y="192385"/>
                  <a:pt x="96540" y="222250"/>
                  <a:pt x="133350" y="222250"/>
                </a:cubicBezTo>
                <a:cubicBezTo>
                  <a:pt x="170160" y="222250"/>
                  <a:pt x="200025" y="192385"/>
                  <a:pt x="200025" y="155575"/>
                </a:cubicBezTo>
                <a:lnTo>
                  <a:pt x="200025" y="66675"/>
                </a:lnTo>
                <a:cubicBezTo>
                  <a:pt x="200025" y="29865"/>
                  <a:pt x="170160" y="0"/>
                  <a:pt x="133350" y="0"/>
                </a:cubicBezTo>
                <a:close/>
                <a:moveTo>
                  <a:pt x="33337" y="127794"/>
                </a:moveTo>
                <a:cubicBezTo>
                  <a:pt x="33337" y="118556"/>
                  <a:pt x="25906" y="111125"/>
                  <a:pt x="16669" y="111125"/>
                </a:cubicBezTo>
                <a:cubicBezTo>
                  <a:pt x="7431" y="111125"/>
                  <a:pt x="0" y="118556"/>
                  <a:pt x="0" y="127794"/>
                </a:cubicBezTo>
                <a:lnTo>
                  <a:pt x="0" y="155575"/>
                </a:lnTo>
                <a:cubicBezTo>
                  <a:pt x="0" y="223570"/>
                  <a:pt x="50909" y="279688"/>
                  <a:pt x="116681" y="287883"/>
                </a:cubicBezTo>
                <a:lnTo>
                  <a:pt x="116681" y="322263"/>
                </a:lnTo>
                <a:lnTo>
                  <a:pt x="83344" y="322263"/>
                </a:lnTo>
                <a:cubicBezTo>
                  <a:pt x="74106" y="322263"/>
                  <a:pt x="66675" y="329694"/>
                  <a:pt x="66675" y="338931"/>
                </a:cubicBezTo>
                <a:cubicBezTo>
                  <a:pt x="66675" y="348169"/>
                  <a:pt x="74106" y="355600"/>
                  <a:pt x="83344" y="355600"/>
                </a:cubicBezTo>
                <a:lnTo>
                  <a:pt x="183356" y="355600"/>
                </a:lnTo>
                <a:cubicBezTo>
                  <a:pt x="192594" y="355600"/>
                  <a:pt x="200025" y="348169"/>
                  <a:pt x="200025" y="338931"/>
                </a:cubicBezTo>
                <a:cubicBezTo>
                  <a:pt x="200025" y="329694"/>
                  <a:pt x="192594" y="322263"/>
                  <a:pt x="183356" y="322263"/>
                </a:cubicBezTo>
                <a:lnTo>
                  <a:pt x="150019" y="322263"/>
                </a:lnTo>
                <a:lnTo>
                  <a:pt x="150019" y="287883"/>
                </a:lnTo>
                <a:cubicBezTo>
                  <a:pt x="215791" y="279688"/>
                  <a:pt x="266700" y="223570"/>
                  <a:pt x="266700" y="155575"/>
                </a:cubicBezTo>
                <a:lnTo>
                  <a:pt x="266700" y="127794"/>
                </a:lnTo>
                <a:cubicBezTo>
                  <a:pt x="266700" y="118556"/>
                  <a:pt x="259269" y="111125"/>
                  <a:pt x="250031" y="111125"/>
                </a:cubicBezTo>
                <a:cubicBezTo>
                  <a:pt x="240794" y="111125"/>
                  <a:pt x="233363" y="118556"/>
                  <a:pt x="233363" y="127794"/>
                </a:cubicBezTo>
                <a:lnTo>
                  <a:pt x="233363" y="155575"/>
                </a:lnTo>
                <a:cubicBezTo>
                  <a:pt x="233363" y="210790"/>
                  <a:pt x="188565" y="255587"/>
                  <a:pt x="133350" y="255587"/>
                </a:cubicBezTo>
                <a:cubicBezTo>
                  <a:pt x="78135" y="255587"/>
                  <a:pt x="33337" y="210790"/>
                  <a:pt x="33337" y="155575"/>
                </a:cubicBezTo>
                <a:lnTo>
                  <a:pt x="33337" y="127794"/>
                </a:lnTo>
                <a:close/>
              </a:path>
            </a:pathLst>
          </a:custGeom>
          <a:solidFill>
            <a:srgbClr val="1B5E5E"/>
          </a:solidFill>
          <a:ln/>
        </p:spPr>
      </p:sp>
      <p:sp>
        <p:nvSpPr>
          <p:cNvPr id="6" name="Text 4"/>
          <p:cNvSpPr/>
          <p:nvPr/>
        </p:nvSpPr>
        <p:spPr>
          <a:xfrm>
            <a:off x="1270000" y="19304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Microphone</a:t>
            </a:r>
            <a:endParaRPr lang="en-US" sz="1600" dirty="0"/>
          </a:p>
        </p:txBody>
      </p:sp>
      <p:sp>
        <p:nvSpPr>
          <p:cNvPr id="7" name="Text 5"/>
          <p:cNvSpPr/>
          <p:nvPr/>
        </p:nvSpPr>
        <p:spPr>
          <a:xfrm>
            <a:off x="762000" y="2540000"/>
            <a:ext cx="7112000" cy="2286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Converts sound waves into digital signals for voice recording, video conferencing, voice commands, and speech recognition.</a:t>
            </a:r>
            <a:endParaRPr lang="en-US" sz="2000" dirty="0"/>
          </a:p>
          <a:p>
            <a:pPr>
              <a:lnSpc>
                <a:spcPct val="150000"/>
              </a:lnSpc>
              <a:spcBef>
                <a:spcPts val="800"/>
              </a:spcBef>
            </a:pPr>
            <a:r>
              <a:rPr lang="en-US" sz="1800" b="1" dirty="0">
                <a:solidFill>
                  <a:srgbClr val="2D2D2D"/>
                </a:solidFill>
                <a:latin typeface="QuattrocentoSans" pitchFamily="34" charset="0"/>
                <a:ea typeface="QuattrocentoSans" pitchFamily="34" charset="-122"/>
                <a:cs typeface="QuattrocentoSans" pitchFamily="34" charset="-120"/>
              </a:rPr>
              <a:t>Types:</a:t>
            </a:r>
            <a:pPr>
              <a:lnSpc>
                <a:spcPct val="150000"/>
              </a:lnSpc>
              <a:spcBef>
                <a:spcPts val="800"/>
              </a:spcBef>
            </a:pPr>
            <a:r>
              <a:rPr lang="en-US" sz="1800" dirty="0">
                <a:solidFill>
                  <a:srgbClr val="2D2D2D"/>
                </a:solidFill>
                <a:latin typeface="QuattrocentoSans" pitchFamily="34" charset="0"/>
                <a:ea typeface="QuattrocentoSans" pitchFamily="34" charset="-122"/>
                <a:cs typeface="QuattrocentoSans" pitchFamily="34" charset="-120"/>
              </a:rPr>
              <a:t> Condenser (studio), Dynamic (live), Lavalier (clip-on), USB (plug-and-play), Headset</a:t>
            </a:r>
            <a:endParaRPr lang="en-US" sz="2000" dirty="0"/>
          </a:p>
        </p:txBody>
      </p:sp>
      <p:sp>
        <p:nvSpPr>
          <p:cNvPr id="8" name="Shape 6"/>
          <p:cNvSpPr/>
          <p:nvPr/>
        </p:nvSpPr>
        <p:spPr>
          <a:xfrm>
            <a:off x="8359775" y="1968500"/>
            <a:ext cx="400050" cy="355600"/>
          </a:xfrm>
          <a:custGeom>
            <a:avLst/>
            <a:gdLst/>
            <a:ahLst/>
            <a:cxnLst/>
            <a:rect l="l" t="t" r="r" b="b"/>
            <a:pathLst>
              <a:path w="400050" h="355600">
                <a:moveTo>
                  <a:pt x="61049" y="7987"/>
                </a:moveTo>
                <a:cubicBezTo>
                  <a:pt x="53201" y="3195"/>
                  <a:pt x="42922" y="5765"/>
                  <a:pt x="38130" y="13613"/>
                </a:cubicBezTo>
                <a:cubicBezTo>
                  <a:pt x="20905" y="42089"/>
                  <a:pt x="11043" y="75496"/>
                  <a:pt x="11043" y="111125"/>
                </a:cubicBezTo>
                <a:cubicBezTo>
                  <a:pt x="11043" y="146754"/>
                  <a:pt x="20905" y="180161"/>
                  <a:pt x="38130" y="208637"/>
                </a:cubicBezTo>
                <a:cubicBezTo>
                  <a:pt x="42922" y="216485"/>
                  <a:pt x="53132" y="219055"/>
                  <a:pt x="61049" y="214263"/>
                </a:cubicBezTo>
                <a:cubicBezTo>
                  <a:pt x="68967" y="209471"/>
                  <a:pt x="71467" y="199261"/>
                  <a:pt x="66675" y="191343"/>
                </a:cubicBezTo>
                <a:cubicBezTo>
                  <a:pt x="52576" y="168007"/>
                  <a:pt x="44450" y="140504"/>
                  <a:pt x="44450" y="111125"/>
                </a:cubicBezTo>
                <a:cubicBezTo>
                  <a:pt x="44450" y="81746"/>
                  <a:pt x="52576" y="54243"/>
                  <a:pt x="66744" y="30837"/>
                </a:cubicBezTo>
                <a:cubicBezTo>
                  <a:pt x="71537" y="22989"/>
                  <a:pt x="68967" y="12710"/>
                  <a:pt x="61119" y="7918"/>
                </a:cubicBezTo>
                <a:close/>
                <a:moveTo>
                  <a:pt x="338931" y="7987"/>
                </a:moveTo>
                <a:cubicBezTo>
                  <a:pt x="331083" y="12779"/>
                  <a:pt x="328513" y="22989"/>
                  <a:pt x="333306" y="30907"/>
                </a:cubicBezTo>
                <a:cubicBezTo>
                  <a:pt x="347474" y="54312"/>
                  <a:pt x="355600" y="81816"/>
                  <a:pt x="355600" y="111194"/>
                </a:cubicBezTo>
                <a:cubicBezTo>
                  <a:pt x="355600" y="140573"/>
                  <a:pt x="347474" y="168077"/>
                  <a:pt x="333306" y="191482"/>
                </a:cubicBezTo>
                <a:cubicBezTo>
                  <a:pt x="328513" y="199330"/>
                  <a:pt x="331083" y="209610"/>
                  <a:pt x="338931" y="214402"/>
                </a:cubicBezTo>
                <a:cubicBezTo>
                  <a:pt x="346779" y="219194"/>
                  <a:pt x="357059" y="216624"/>
                  <a:pt x="361851" y="208776"/>
                </a:cubicBezTo>
                <a:cubicBezTo>
                  <a:pt x="379075" y="180300"/>
                  <a:pt x="388938" y="146893"/>
                  <a:pt x="388938" y="111264"/>
                </a:cubicBezTo>
                <a:cubicBezTo>
                  <a:pt x="388938" y="75634"/>
                  <a:pt x="379075" y="42089"/>
                  <a:pt x="361851" y="13613"/>
                </a:cubicBezTo>
                <a:cubicBezTo>
                  <a:pt x="357059" y="5765"/>
                  <a:pt x="346849" y="3195"/>
                  <a:pt x="338931" y="7987"/>
                </a:cubicBezTo>
                <a:close/>
                <a:moveTo>
                  <a:pt x="222250" y="149602"/>
                </a:moveTo>
                <a:cubicBezTo>
                  <a:pt x="235516" y="141893"/>
                  <a:pt x="244475" y="127585"/>
                  <a:pt x="244475" y="111125"/>
                </a:cubicBezTo>
                <a:cubicBezTo>
                  <a:pt x="244475" y="86608"/>
                  <a:pt x="224542" y="66675"/>
                  <a:pt x="200025" y="66675"/>
                </a:cubicBezTo>
                <a:cubicBezTo>
                  <a:pt x="175508" y="66675"/>
                  <a:pt x="155575" y="86608"/>
                  <a:pt x="155575" y="111125"/>
                </a:cubicBezTo>
                <a:cubicBezTo>
                  <a:pt x="155575" y="127585"/>
                  <a:pt x="164534" y="141962"/>
                  <a:pt x="177800" y="149602"/>
                </a:cubicBezTo>
                <a:lnTo>
                  <a:pt x="177800" y="333375"/>
                </a:lnTo>
                <a:cubicBezTo>
                  <a:pt x="177800" y="345668"/>
                  <a:pt x="187732" y="355600"/>
                  <a:pt x="200025" y="355600"/>
                </a:cubicBezTo>
                <a:cubicBezTo>
                  <a:pt x="212318" y="355600"/>
                  <a:pt x="222250" y="345668"/>
                  <a:pt x="222250" y="333375"/>
                </a:cubicBezTo>
                <a:lnTo>
                  <a:pt x="222250" y="149602"/>
                </a:lnTo>
                <a:close/>
                <a:moveTo>
                  <a:pt x="125155" y="63202"/>
                </a:moveTo>
                <a:cubicBezTo>
                  <a:pt x="130155" y="55424"/>
                  <a:pt x="127863" y="45145"/>
                  <a:pt x="120154" y="40144"/>
                </a:cubicBezTo>
                <a:cubicBezTo>
                  <a:pt x="112445" y="35143"/>
                  <a:pt x="102096" y="37435"/>
                  <a:pt x="97095" y="45145"/>
                </a:cubicBezTo>
                <a:cubicBezTo>
                  <a:pt x="84872" y="64175"/>
                  <a:pt x="77788" y="86816"/>
                  <a:pt x="77788" y="111125"/>
                </a:cubicBezTo>
                <a:cubicBezTo>
                  <a:pt x="77788" y="135434"/>
                  <a:pt x="84872" y="158075"/>
                  <a:pt x="97095" y="177105"/>
                </a:cubicBezTo>
                <a:cubicBezTo>
                  <a:pt x="102096" y="184884"/>
                  <a:pt x="112375" y="187107"/>
                  <a:pt x="120154" y="182106"/>
                </a:cubicBezTo>
                <a:cubicBezTo>
                  <a:pt x="127933" y="177105"/>
                  <a:pt x="130155" y="166826"/>
                  <a:pt x="125155" y="159048"/>
                </a:cubicBezTo>
                <a:cubicBezTo>
                  <a:pt x="116265" y="145226"/>
                  <a:pt x="111125" y="128766"/>
                  <a:pt x="111125" y="111125"/>
                </a:cubicBezTo>
                <a:cubicBezTo>
                  <a:pt x="111125" y="93484"/>
                  <a:pt x="116265" y="77024"/>
                  <a:pt x="125155" y="63202"/>
                </a:cubicBezTo>
                <a:close/>
                <a:moveTo>
                  <a:pt x="302955" y="45145"/>
                </a:moveTo>
                <a:cubicBezTo>
                  <a:pt x="297954" y="37366"/>
                  <a:pt x="287675" y="35143"/>
                  <a:pt x="279896" y="40144"/>
                </a:cubicBezTo>
                <a:cubicBezTo>
                  <a:pt x="272117" y="45145"/>
                  <a:pt x="269895" y="55424"/>
                  <a:pt x="274895" y="63202"/>
                </a:cubicBezTo>
                <a:cubicBezTo>
                  <a:pt x="283785" y="77024"/>
                  <a:pt x="288925" y="93484"/>
                  <a:pt x="288925" y="111125"/>
                </a:cubicBezTo>
                <a:cubicBezTo>
                  <a:pt x="288925" y="128766"/>
                  <a:pt x="283785" y="145226"/>
                  <a:pt x="274895" y="159048"/>
                </a:cubicBezTo>
                <a:cubicBezTo>
                  <a:pt x="269895" y="166826"/>
                  <a:pt x="272187" y="177105"/>
                  <a:pt x="279896" y="182106"/>
                </a:cubicBezTo>
                <a:cubicBezTo>
                  <a:pt x="287605" y="187107"/>
                  <a:pt x="297954" y="184815"/>
                  <a:pt x="302955" y="177105"/>
                </a:cubicBezTo>
                <a:cubicBezTo>
                  <a:pt x="315178" y="158075"/>
                  <a:pt x="322263" y="135434"/>
                  <a:pt x="322263" y="111125"/>
                </a:cubicBezTo>
                <a:cubicBezTo>
                  <a:pt x="322263" y="86816"/>
                  <a:pt x="315178" y="64175"/>
                  <a:pt x="302955" y="45145"/>
                </a:cubicBezTo>
                <a:close/>
              </a:path>
            </a:pathLst>
          </a:custGeom>
          <a:solidFill>
            <a:srgbClr val="1B5E5E"/>
          </a:solidFill>
          <a:ln/>
        </p:spPr>
      </p:sp>
      <p:sp>
        <p:nvSpPr>
          <p:cNvPr id="9" name="Text 7"/>
          <p:cNvSpPr/>
          <p:nvPr/>
        </p:nvSpPr>
        <p:spPr>
          <a:xfrm>
            <a:off x="8890000" y="19304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Sensors</a:t>
            </a:r>
            <a:endParaRPr lang="en-US" sz="1600" dirty="0"/>
          </a:p>
        </p:txBody>
      </p:sp>
      <p:sp>
        <p:nvSpPr>
          <p:cNvPr id="10" name="Text 8"/>
          <p:cNvSpPr/>
          <p:nvPr/>
        </p:nvSpPr>
        <p:spPr>
          <a:xfrm>
            <a:off x="8382000" y="2540000"/>
            <a:ext cx="7112000" cy="1270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Input devices that detect and respond to physical stimuli from the environment, converting them into digital signals.</a:t>
            </a:r>
            <a:endParaRPr lang="en-US" sz="2000" dirty="0"/>
          </a:p>
        </p:txBody>
      </p:sp>
      <p:sp>
        <p:nvSpPr>
          <p:cNvPr id="11" name="Text 9"/>
          <p:cNvSpPr/>
          <p:nvPr/>
        </p:nvSpPr>
        <p:spPr>
          <a:xfrm>
            <a:off x="8382000" y="4064000"/>
            <a:ext cx="508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Common Sensor Types</a:t>
            </a:r>
            <a:endParaRPr lang="en-US" sz="1600" dirty="0"/>
          </a:p>
        </p:txBody>
      </p:sp>
      <p:sp>
        <p:nvSpPr>
          <p:cNvPr id="12" name="Text 10"/>
          <p:cNvSpPr/>
          <p:nvPr/>
        </p:nvSpPr>
        <p:spPr>
          <a:xfrm>
            <a:off x="8382000" y="4508500"/>
            <a:ext cx="7112000" cy="2921000"/>
          </a:xfrm>
          <a:prstGeom prst="rect">
            <a:avLst/>
          </a:prstGeom>
          <a:noFill/>
          <a:ln/>
        </p:spPr>
        <p:txBody>
          <a:bodyPr wrap="square" lIns="0" tIns="0" rIns="0" bIns="0" rtlCol="0" anchor="ctr"/>
          <a:lstStyle/>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Temperature</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measures heat levels</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Motion (PIR)</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detects movement</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Proximity</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senses nearby objects</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Light</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measures illumination</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Pressure</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detects force applied</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Accelerometer / Gyroscope</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orientation</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Biometric</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 fingerprint, iris scan</a:t>
            </a:r>
            <a:endParaRPr lang="en-US" sz="2000" dirty="0"/>
          </a:p>
        </p:txBody>
      </p:sp>
      <p:sp>
        <p:nvSpPr>
          <p:cNvPr id="13" name="Shape 11"/>
          <p:cNvSpPr/>
          <p:nvPr/>
        </p:nvSpPr>
        <p:spPr>
          <a:xfrm>
            <a:off x="762000" y="7366000"/>
            <a:ext cx="7112000" cy="762000"/>
          </a:xfrm>
          <a:prstGeom prst="rect">
            <a:avLst/>
          </a:prstGeom>
          <a:solidFill>
            <a:srgbClr val="1B5E5E"/>
          </a:solidFill>
          <a:ln/>
        </p:spPr>
      </p:sp>
      <p:sp>
        <p:nvSpPr>
          <p:cNvPr id="14" name="Text 12"/>
          <p:cNvSpPr/>
          <p:nvPr/>
        </p:nvSpPr>
        <p:spPr>
          <a:xfrm>
            <a:off x="1016000" y="7429500"/>
            <a:ext cx="6604000" cy="635000"/>
          </a:xfrm>
          <a:prstGeom prst="rect">
            <a:avLst/>
          </a:prstGeom>
          <a:noFill/>
          <a:ln/>
        </p:spPr>
        <p:txBody>
          <a:bodyPr wrap="square" lIns="0" tIns="0" rIns="0" bIns="0" rtlCol="0" anchor="ctr"/>
          <a:lstStyle/>
          <a:p>
            <a:pPr>
              <a:lnSpc>
                <a:spcPct val="140000"/>
              </a:lnSpc>
            </a:pPr>
            <a:r>
              <a:rPr lang="en-US" sz="1600" dirty="0">
                <a:solidFill>
                  <a:srgbClr val="C17A3A"/>
                </a:solidFill>
                <a:latin typeface="Quattrocento Sans" pitchFamily="34" charset="0"/>
                <a:ea typeface="Quattrocento Sans" pitchFamily="34" charset="-122"/>
                <a:cs typeface="Quattrocento Sans" pitchFamily="34" charset="-120"/>
              </a:rPr>
              <a:t>●</a:t>
            </a:r>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Sensors are the foundation of the </a:t>
            </a:r>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Internet of Things (IoT)</a:t>
            </a:r>
            <a:endParaRPr lang="en-US" sz="1600" dirty="0"/>
          </a:p>
        </p:txBody>
      </p:sp>
      <p:sp>
        <p:nvSpPr>
          <p:cNvPr id="15" name="Text 13"/>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09</a:t>
            </a:r>
            <a:endParaRPr lang="en-US" sz="1400" dirty="0"/>
          </a:p>
        </p:txBody>
      </p:sp>
      <p:sp>
        <p:nvSpPr>
          <p:cNvPr id="16" name="Shape 14"/>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6350000" cy="9144000"/>
          </a:xfrm>
          <a:prstGeom prst="rect">
            <a:avLst/>
          </a:prstGeom>
          <a:solidFill>
            <a:srgbClr val="EDEAE4"/>
          </a:solidFill>
          <a:ln/>
        </p:spPr>
      </p:sp>
      <p:sp>
        <p:nvSpPr>
          <p:cNvPr id="3" name="Text 1"/>
          <p:cNvSpPr/>
          <p:nvPr/>
        </p:nvSpPr>
        <p:spPr>
          <a:xfrm>
            <a:off x="762000" y="2286000"/>
            <a:ext cx="4826000" cy="1981200"/>
          </a:xfrm>
          <a:prstGeom prst="rect">
            <a:avLst/>
          </a:prstGeom>
          <a:noFill/>
          <a:ln/>
        </p:spPr>
        <p:txBody>
          <a:bodyPr wrap="none" lIns="0" tIns="0" rIns="0" bIns="0" rtlCol="0" anchor="ctr"/>
          <a:lstStyle/>
          <a:p>
            <a:pPr>
              <a:lnSpc>
                <a:spcPct val="100000"/>
              </a:lnSpc>
            </a:pPr>
            <a:r>
              <a:rPr lang="en-US" sz="12000" dirty="0">
                <a:solidFill>
                  <a:srgbClr val="1B5E5E"/>
                </a:solidFill>
                <a:latin typeface="QuattrocentoSans" pitchFamily="34" charset="0"/>
                <a:ea typeface="QuattrocentoSans" pitchFamily="34" charset="-122"/>
                <a:cs typeface="QuattrocentoSans" pitchFamily="34" charset="-120"/>
              </a:rPr>
              <a:t>02</a:t>
            </a:r>
            <a:endParaRPr lang="en-US" sz="12000" dirty="0"/>
          </a:p>
        </p:txBody>
      </p:sp>
      <p:sp>
        <p:nvSpPr>
          <p:cNvPr id="4" name="Shape 2"/>
          <p:cNvSpPr/>
          <p:nvPr/>
        </p:nvSpPr>
        <p:spPr>
          <a:xfrm>
            <a:off x="762000" y="4445000"/>
            <a:ext cx="762000" cy="50800"/>
          </a:xfrm>
          <a:prstGeom prst="rect">
            <a:avLst/>
          </a:prstGeom>
          <a:solidFill>
            <a:srgbClr val="C17A3A"/>
          </a:solidFill>
          <a:ln/>
        </p:spPr>
      </p:sp>
      <p:sp>
        <p:nvSpPr>
          <p:cNvPr id="5" name="Text 3"/>
          <p:cNvSpPr/>
          <p:nvPr/>
        </p:nvSpPr>
        <p:spPr>
          <a:xfrm>
            <a:off x="762000" y="4699000"/>
            <a:ext cx="4826000" cy="635000"/>
          </a:xfrm>
          <a:prstGeom prst="rect">
            <a:avLst/>
          </a:prstGeom>
          <a:noFill/>
          <a:ln/>
        </p:spPr>
        <p:txBody>
          <a:bodyPr wrap="none" lIns="0" tIns="0" rIns="0" bIns="0" rtlCol="0" anchor="ctr"/>
          <a:lstStyle/>
          <a:p>
            <a:pPr>
              <a:lnSpc>
                <a:spcPct val="120000"/>
              </a:lnSpc>
            </a:pPr>
            <a:r>
              <a:rPr lang="en-US" sz="3800" b="1" dirty="0">
                <a:solidFill>
                  <a:srgbClr val="1B5E5E"/>
                </a:solidFill>
                <a:latin typeface="QuattrocentoSans" pitchFamily="34" charset="0"/>
                <a:ea typeface="QuattrocentoSans" pitchFamily="34" charset="-122"/>
                <a:cs typeface="QuattrocentoSans" pitchFamily="34" charset="-120"/>
              </a:rPr>
              <a:t>Direct Data Entry</a:t>
            </a:r>
            <a:endParaRPr lang="en-US" sz="3800" dirty="0"/>
          </a:p>
        </p:txBody>
      </p:sp>
      <p:sp>
        <p:nvSpPr>
          <p:cNvPr id="6" name="Text 4"/>
          <p:cNvSpPr/>
          <p:nvPr/>
        </p:nvSpPr>
        <p:spPr>
          <a:xfrm>
            <a:off x="762000" y="5461000"/>
            <a:ext cx="4826000" cy="1016000"/>
          </a:xfrm>
          <a:prstGeom prst="rect">
            <a:avLst/>
          </a:prstGeom>
          <a:noFill/>
          <a:ln/>
        </p:spPr>
        <p:txBody>
          <a:bodyPr wrap="square" lIns="0" tIns="0" rIns="0" bIns="0" rtlCol="0" anchor="ctr"/>
          <a:lstStyle/>
          <a:p>
            <a:pPr>
              <a:lnSpc>
                <a:spcPct val="160000"/>
              </a:lnSpc>
            </a:pPr>
            <a:r>
              <a:rPr lang="en-US" sz="1800" dirty="0">
                <a:solidFill>
                  <a:srgbClr val="8A8580"/>
                </a:solidFill>
                <a:latin typeface="QuattrocentoSans" pitchFamily="34" charset="0"/>
                <a:ea typeface="QuattrocentoSans" pitchFamily="34" charset="-122"/>
                <a:cs typeface="QuattrocentoSans" pitchFamily="34" charset="-120"/>
              </a:rPr>
              <a:t>Automated Data Capture Technologies</a:t>
            </a:r>
            <a:endParaRPr lang="en-US" sz="2000" dirty="0"/>
          </a:p>
        </p:txBody>
      </p:sp>
      <p:pic>
        <p:nvPicPr>
          <p:cNvPr id="7" name="Image 0" descr="https://kimi-img.moonshot.cn/pub/slides/okc/7khcepmtdap64/mnt/agents/output/ict-week3/images/4_RFID_technology_applied_in_a_warehouse.png">    </p:cNvPr>
          <p:cNvPicPr>
            <a:picLocks noChangeAspect="1"/>
          </p:cNvPicPr>
          <p:nvPr/>
        </p:nvPicPr>
        <p:blipFill>
          <a:blip r:embed="rId1"/>
          <a:srcRect l="19531" r="19531" t="0" b="0"/>
          <a:stretch/>
        </p:blipFill>
        <p:spPr>
          <a:xfrm>
            <a:off x="6350000" y="0"/>
            <a:ext cx="9906000" cy="9144000"/>
          </a:xfrm>
          <a:prstGeom prst="rect">
            <a:avLst/>
          </a:prstGeom>
        </p:spPr>
      </p:pic>
      <p:sp>
        <p:nvSpPr>
          <p:cNvPr id="8" name="Shape 5"/>
          <p:cNvSpPr/>
          <p:nvPr/>
        </p:nvSpPr>
        <p:spPr>
          <a:xfrm>
            <a:off x="6350000" y="0"/>
            <a:ext cx="9906000" cy="9144000"/>
          </a:xfrm>
          <a:prstGeom prst="rect">
            <a:avLst/>
          </a:prstGeom>
          <a:gradFill rotWithShape="1" flip="none">
            <a:gsLst>
              <a:gs pos="0">
                <a:srgbClr val="F5F1EB"/>
              </a:gs>
              <a:gs pos="15000">
                <a:srgbClr val="F5F1EB">
                  <a:alpha val="0"/>
                </a:srgbClr>
              </a:gs>
              <a:gs pos="100000">
                <a:srgbClr val="F5F1EB">
                  <a:alpha val="0"/>
                </a:srgbClr>
              </a:gs>
            </a:gsLst>
            <a:lin ang="0" scaled="1"/>
          </a:gradFill>
          <a:ln/>
        </p:spPr>
      </p:sp>
      <p:sp>
        <p:nvSpPr>
          <p:cNvPr id="9" name="Text 6"/>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1016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Magnetic Stripe Reader &amp; Chip and PIN</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05000"/>
            <a:ext cx="7048500" cy="4699000"/>
          </a:xfrm>
          <a:prstGeom prst="rect">
            <a:avLst/>
          </a:prstGeom>
          <a:solidFill>
            <a:srgbClr val="EDEAE4"/>
          </a:solidFill>
          <a:ln/>
        </p:spPr>
      </p:sp>
      <p:sp>
        <p:nvSpPr>
          <p:cNvPr id="6" name="Shape 4"/>
          <p:cNvSpPr/>
          <p:nvPr/>
        </p:nvSpPr>
        <p:spPr>
          <a:xfrm>
            <a:off x="1079500" y="2222500"/>
            <a:ext cx="406400" cy="406400"/>
          </a:xfrm>
          <a:custGeom>
            <a:avLst/>
            <a:gdLst/>
            <a:ahLst/>
            <a:cxnLst/>
            <a:rect l="l" t="t" r="r" b="b"/>
            <a:pathLst>
              <a:path w="406400" h="406400">
                <a:moveTo>
                  <a:pt x="0" y="101600"/>
                </a:moveTo>
                <a:lnTo>
                  <a:pt x="0" y="127000"/>
                </a:lnTo>
                <a:lnTo>
                  <a:pt x="406400" y="127000"/>
                </a:lnTo>
                <a:lnTo>
                  <a:pt x="406400" y="101600"/>
                </a:lnTo>
                <a:cubicBezTo>
                  <a:pt x="406400" y="73581"/>
                  <a:pt x="383619" y="50800"/>
                  <a:pt x="355600" y="50800"/>
                </a:cubicBezTo>
                <a:lnTo>
                  <a:pt x="50800" y="50800"/>
                </a:lnTo>
                <a:cubicBezTo>
                  <a:pt x="22781" y="50800"/>
                  <a:pt x="0" y="73581"/>
                  <a:pt x="0" y="101600"/>
                </a:cubicBezTo>
                <a:close/>
                <a:moveTo>
                  <a:pt x="0" y="165100"/>
                </a:moveTo>
                <a:lnTo>
                  <a:pt x="0" y="304800"/>
                </a:lnTo>
                <a:cubicBezTo>
                  <a:pt x="0" y="332819"/>
                  <a:pt x="22781" y="355600"/>
                  <a:pt x="50800" y="355600"/>
                </a:cubicBezTo>
                <a:lnTo>
                  <a:pt x="355600" y="355600"/>
                </a:lnTo>
                <a:cubicBezTo>
                  <a:pt x="383619" y="355600"/>
                  <a:pt x="406400" y="332819"/>
                  <a:pt x="406400" y="304800"/>
                </a:cubicBezTo>
                <a:lnTo>
                  <a:pt x="406400" y="165100"/>
                </a:lnTo>
                <a:lnTo>
                  <a:pt x="0" y="165100"/>
                </a:lnTo>
                <a:close/>
                <a:moveTo>
                  <a:pt x="50800" y="285750"/>
                </a:moveTo>
                <a:cubicBezTo>
                  <a:pt x="50800" y="275193"/>
                  <a:pt x="59293" y="266700"/>
                  <a:pt x="69850" y="266700"/>
                </a:cubicBezTo>
                <a:lnTo>
                  <a:pt x="107950" y="266700"/>
                </a:lnTo>
                <a:cubicBezTo>
                  <a:pt x="118507" y="266700"/>
                  <a:pt x="127000" y="275193"/>
                  <a:pt x="127000" y="285750"/>
                </a:cubicBezTo>
                <a:cubicBezTo>
                  <a:pt x="127000" y="296307"/>
                  <a:pt x="118507" y="304800"/>
                  <a:pt x="107950" y="304800"/>
                </a:cubicBezTo>
                <a:lnTo>
                  <a:pt x="69850" y="304800"/>
                </a:lnTo>
                <a:cubicBezTo>
                  <a:pt x="59293" y="304800"/>
                  <a:pt x="50800" y="296307"/>
                  <a:pt x="50800" y="285750"/>
                </a:cubicBezTo>
                <a:close/>
                <a:moveTo>
                  <a:pt x="165100" y="285750"/>
                </a:moveTo>
                <a:cubicBezTo>
                  <a:pt x="165100" y="275193"/>
                  <a:pt x="173593" y="266700"/>
                  <a:pt x="184150" y="266700"/>
                </a:cubicBezTo>
                <a:lnTo>
                  <a:pt x="234950" y="266700"/>
                </a:lnTo>
                <a:cubicBezTo>
                  <a:pt x="245507" y="266700"/>
                  <a:pt x="254000" y="275193"/>
                  <a:pt x="254000" y="285750"/>
                </a:cubicBezTo>
                <a:cubicBezTo>
                  <a:pt x="254000" y="296307"/>
                  <a:pt x="245507" y="304800"/>
                  <a:pt x="234950" y="304800"/>
                </a:cubicBezTo>
                <a:lnTo>
                  <a:pt x="184150" y="304800"/>
                </a:lnTo>
                <a:cubicBezTo>
                  <a:pt x="173593" y="304800"/>
                  <a:pt x="165100" y="296307"/>
                  <a:pt x="165100" y="285750"/>
                </a:cubicBezTo>
                <a:close/>
              </a:path>
            </a:pathLst>
          </a:custGeom>
          <a:solidFill>
            <a:srgbClr val="1B5E5E"/>
          </a:solidFill>
          <a:ln/>
        </p:spPr>
      </p:sp>
      <p:sp>
        <p:nvSpPr>
          <p:cNvPr id="7" name="Text 5"/>
          <p:cNvSpPr/>
          <p:nvPr/>
        </p:nvSpPr>
        <p:spPr>
          <a:xfrm>
            <a:off x="1651000" y="2197100"/>
            <a:ext cx="5080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Magnetic Stripe Reader</a:t>
            </a:r>
            <a:endParaRPr lang="en-US" sz="1600" dirty="0"/>
          </a:p>
        </p:txBody>
      </p:sp>
      <p:sp>
        <p:nvSpPr>
          <p:cNvPr id="8" name="Text 6"/>
          <p:cNvSpPr/>
          <p:nvPr/>
        </p:nvSpPr>
        <p:spPr>
          <a:xfrm>
            <a:off x="1079500" y="2857500"/>
            <a:ext cx="6413500" cy="342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Reads encoded data from the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magnetic stripe</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on cards. Data stored in three tracks containing account numbers and verification codes.</a:t>
            </a:r>
            <a:endParaRPr lang="en-US" sz="2000" dirty="0"/>
          </a:p>
          <a:p>
            <a:pPr>
              <a:lnSpc>
                <a:spcPct val="150000"/>
              </a:lnSpc>
              <a:spcBef>
                <a:spcPts val="800"/>
              </a:spcBef>
            </a:pPr>
            <a:r>
              <a:rPr lang="en-US" sz="1800" b="1" dirty="0">
                <a:solidFill>
                  <a:srgbClr val="2D2D2D"/>
                </a:solidFill>
                <a:latin typeface="QuattrocentoSans" pitchFamily="34" charset="0"/>
                <a:ea typeface="QuattrocentoSans" pitchFamily="34" charset="-122"/>
                <a:cs typeface="QuattrocentoSans" pitchFamily="34" charset="-120"/>
              </a:rPr>
              <a:t>Applications: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Retail POS terminals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Banking and ATMs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Hotel access cards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Transportation ticketing</a:t>
            </a:r>
            <a:endParaRPr lang="en-US" sz="2000" dirty="0"/>
          </a:p>
        </p:txBody>
      </p:sp>
      <p:sp>
        <p:nvSpPr>
          <p:cNvPr id="9" name="Shape 7"/>
          <p:cNvSpPr/>
          <p:nvPr/>
        </p:nvSpPr>
        <p:spPr>
          <a:xfrm>
            <a:off x="8445500" y="1905000"/>
            <a:ext cx="7048500" cy="4699000"/>
          </a:xfrm>
          <a:prstGeom prst="rect">
            <a:avLst/>
          </a:prstGeom>
          <a:solidFill>
            <a:srgbClr val="EDEAE4"/>
          </a:solidFill>
          <a:ln/>
        </p:spPr>
      </p:sp>
      <p:sp>
        <p:nvSpPr>
          <p:cNvPr id="10" name="Shape 8"/>
          <p:cNvSpPr/>
          <p:nvPr/>
        </p:nvSpPr>
        <p:spPr>
          <a:xfrm>
            <a:off x="8763000" y="2222500"/>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1B5E5E"/>
          </a:solidFill>
          <a:ln/>
        </p:spPr>
      </p:sp>
      <p:sp>
        <p:nvSpPr>
          <p:cNvPr id="11" name="Text 9"/>
          <p:cNvSpPr/>
          <p:nvPr/>
        </p:nvSpPr>
        <p:spPr>
          <a:xfrm>
            <a:off x="9334500" y="2197100"/>
            <a:ext cx="5080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Chip and PIN Reader</a:t>
            </a:r>
            <a:endParaRPr lang="en-US" sz="1600" dirty="0"/>
          </a:p>
        </p:txBody>
      </p:sp>
      <p:sp>
        <p:nvSpPr>
          <p:cNvPr id="12" name="Text 10"/>
          <p:cNvSpPr/>
          <p:nvPr/>
        </p:nvSpPr>
        <p:spPr>
          <a:xfrm>
            <a:off x="8763000" y="2857500"/>
            <a:ext cx="6413500" cy="342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Reads data from an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embedded microchip</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on the card. The chip stores encrypted data and requires a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PIN</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for authentication.</a:t>
            </a:r>
            <a:endParaRPr lang="en-US" sz="2000" dirty="0"/>
          </a:p>
          <a:p>
            <a:pPr>
              <a:lnSpc>
                <a:spcPct val="150000"/>
              </a:lnSpc>
              <a:spcBef>
                <a:spcPts val="800"/>
              </a:spcBef>
            </a:pPr>
            <a:r>
              <a:rPr lang="en-US" sz="1800" b="1" dirty="0">
                <a:solidFill>
                  <a:srgbClr val="2D2D2D"/>
                </a:solidFill>
                <a:latin typeface="QuattrocentoSans" pitchFamily="34" charset="0"/>
                <a:ea typeface="QuattrocentoSans" pitchFamily="34" charset="-122"/>
                <a:cs typeface="QuattrocentoSans" pitchFamily="34" charset="-120"/>
              </a:rPr>
              <a:t>Advantages: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Dynamic data authentication</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Significantly reduced card fraud</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More secure than magnetic stripes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Supports contactless payments</a:t>
            </a:r>
            <a:endParaRPr lang="en-US" sz="2000" dirty="0"/>
          </a:p>
        </p:txBody>
      </p:sp>
      <p:sp>
        <p:nvSpPr>
          <p:cNvPr id="13" name="Shape 11"/>
          <p:cNvSpPr/>
          <p:nvPr/>
        </p:nvSpPr>
        <p:spPr>
          <a:xfrm>
            <a:off x="762000" y="6985000"/>
            <a:ext cx="14732000" cy="1016000"/>
          </a:xfrm>
          <a:prstGeom prst="rect">
            <a:avLst/>
          </a:prstGeom>
          <a:solidFill>
            <a:srgbClr val="1B5E5E"/>
          </a:solidFill>
          <a:ln/>
        </p:spPr>
      </p:sp>
      <p:sp>
        <p:nvSpPr>
          <p:cNvPr id="14" name="Text 12"/>
          <p:cNvSpPr/>
          <p:nvPr/>
        </p:nvSpPr>
        <p:spPr>
          <a:xfrm>
            <a:off x="1143000" y="7112000"/>
            <a:ext cx="13970000" cy="762000"/>
          </a:xfrm>
          <a:prstGeom prst="rect">
            <a:avLst/>
          </a:prstGeom>
          <a:noFill/>
          <a:ln/>
        </p:spPr>
        <p:txBody>
          <a:bodyPr wrap="square" lIns="0" tIns="0" rIns="0" bIns="0" rtlCol="0" anchor="ctr"/>
          <a:lstStyle/>
          <a:p>
            <a:pPr>
              <a:lnSpc>
                <a:spcPct val="140000"/>
              </a:lnSpc>
            </a:pPr>
            <a:r>
              <a:rPr lang="en-US" sz="1600" dirty="0">
                <a:solidFill>
                  <a:srgbClr val="C17A3A"/>
                </a:solidFill>
                <a:latin typeface="Quattrocento Sans" pitchFamily="34" charset="0"/>
                <a:ea typeface="Quattrocento Sans" pitchFamily="34" charset="-122"/>
                <a:cs typeface="Quattrocento Sans" pitchFamily="34" charset="-120"/>
              </a:rPr>
              <a:t>●</a:t>
            </a:r>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a:t>
            </a:r>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EMV</a:t>
            </a:r>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(Europay, MasterCard, Visa) chip technology is the global standard; contactless NFC payments represent the next evolution.</a:t>
            </a:r>
            <a:endParaRPr lang="en-US" sz="1600" dirty="0"/>
          </a:p>
        </p:txBody>
      </p:sp>
      <p:sp>
        <p:nvSpPr>
          <p:cNvPr id="15" name="Text 13"/>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11</a:t>
            </a:r>
            <a:endParaRPr lang="en-US" sz="1400" dirty="0"/>
          </a:p>
        </p:txBody>
      </p:sp>
      <p:sp>
        <p:nvSpPr>
          <p:cNvPr id="16" name="Shape 14"/>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1016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Radio Frequency Identification (RFID)</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Text 3"/>
          <p:cNvSpPr/>
          <p:nvPr/>
        </p:nvSpPr>
        <p:spPr>
          <a:xfrm>
            <a:off x="762000" y="1841500"/>
            <a:ext cx="8890000" cy="8255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Uses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radio waves</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to automatically identify and track tags attached to objects. Consists of a reader and a tag.</a:t>
            </a:r>
            <a:endParaRPr lang="en-US" sz="2000" dirty="0"/>
          </a:p>
        </p:txBody>
      </p:sp>
      <p:sp>
        <p:nvSpPr>
          <p:cNvPr id="6" name="Text 4"/>
          <p:cNvSpPr/>
          <p:nvPr/>
        </p:nvSpPr>
        <p:spPr>
          <a:xfrm>
            <a:off x="762000" y="2857500"/>
            <a:ext cx="381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RFID Tag Types</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62000" y="3302000"/>
          <a:ext cx="8890000" cy="2159000"/>
        </p:xfrm>
        <a:graphic>
          <a:graphicData uri="http://schemas.openxmlformats.org/drawingml/2006/table">
            <a:tbl>
              <a:tblPr/>
              <a:tblGrid>
                <a:gridCol w="1955800"/>
                <a:gridCol w="2489200"/>
                <a:gridCol w="2222500"/>
                <a:gridCol w="2222500"/>
              </a:tblGrid>
              <a:tr h="539750">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Type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Power Source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Range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Use Case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r>
              <a:tr h="539750">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Passive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Reader's signal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Short (few 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Retail, access cards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539750">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Active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Internal battery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Long (100m+)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Fleet, cargo tracking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r h="539750">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Semi-Passive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Battery + reader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Medium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Cold chain, medical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bl>
          </a:graphicData>
        </a:graphic>
      </p:graphicFrame>
      <p:sp>
        <p:nvSpPr>
          <p:cNvPr id="8" name="Text 5"/>
          <p:cNvSpPr/>
          <p:nvPr/>
        </p:nvSpPr>
        <p:spPr>
          <a:xfrm>
            <a:off x="762000" y="5778500"/>
            <a:ext cx="508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Real-World Applications</a:t>
            </a:r>
            <a:endParaRPr lang="en-US" sz="1600" dirty="0"/>
          </a:p>
        </p:txBody>
      </p:sp>
      <p:sp>
        <p:nvSpPr>
          <p:cNvPr id="9" name="Text 6"/>
          <p:cNvSpPr/>
          <p:nvPr/>
        </p:nvSpPr>
        <p:spPr>
          <a:xfrm>
            <a:off x="762000" y="6223000"/>
            <a:ext cx="8890000" cy="1778000"/>
          </a:xfrm>
          <a:prstGeom prst="rect">
            <a:avLst/>
          </a:prstGeom>
          <a:noFill/>
          <a:ln/>
        </p:spPr>
        <p:txBody>
          <a:bodyPr wrap="square" lIns="0" tIns="0" rIns="0" bIns="0" rtlCol="0" anchor="ctr"/>
          <a:lstStyle/>
          <a:p>
            <a:pPr marL="317500" indent="-317500">
              <a:lnSpc>
                <a:spcPct val="150000"/>
              </a:lnSpc>
              <a:spcBef>
                <a:spcPts val="10"/>
              </a:spcBef>
              <a:buSzPct val="100000"/>
              <a:buChar char="•"/>
            </a:pPr>
            <a:r>
              <a:rPr lang="en-US" sz="1600" b="1" dirty="0">
                <a:solidFill>
                  <a:srgbClr val="2D2D2D"/>
                </a:solidFill>
                <a:latin typeface="QuattrocentoSans" pitchFamily="34" charset="0"/>
                <a:ea typeface="QuattrocentoSans" pitchFamily="34" charset="-122"/>
                <a:cs typeface="QuattrocentoSans" pitchFamily="34" charset="-120"/>
              </a:rPr>
              <a:t>Retail:</a:t>
            </a:r>
            <a:pPr>
              <a:lnSpc>
                <a:spcPct val="150000"/>
              </a:lnSpc>
              <a:spcBef>
                <a:spcPts val="10"/>
              </a:spcBef>
            </a:pPr>
            <a:r>
              <a:rPr lang="en-US" sz="1600" dirty="0">
                <a:solidFill>
                  <a:srgbClr val="2D2D2D"/>
                </a:solidFill>
                <a:latin typeface="QuattrocentoSans" pitchFamily="34" charset="0"/>
                <a:ea typeface="QuattrocentoSans" pitchFamily="34" charset="-122"/>
                <a:cs typeface="QuattrocentoSans" pitchFamily="34" charset="-120"/>
              </a:rPr>
              <a:t> Walmart, Zara, Uniqlo — inventory and checkout</a:t>
            </a:r>
            <a:endParaRPr lang="en-US" sz="2000" dirty="0"/>
          </a:p>
          <a:p>
            <a:pPr marL="317500" indent="-317500">
              <a:lnSpc>
                <a:spcPct val="150000"/>
              </a:lnSpc>
              <a:spcBef>
                <a:spcPts val="10"/>
              </a:spcBef>
              <a:buSzPct val="100000"/>
              <a:buChar char="•"/>
            </a:pPr>
            <a:r>
              <a:rPr lang="en-US" sz="1600" b="1" dirty="0">
                <a:solidFill>
                  <a:srgbClr val="2D2D2D"/>
                </a:solidFill>
                <a:latin typeface="QuattrocentoSans" pitchFamily="34" charset="0"/>
                <a:ea typeface="QuattrocentoSans" pitchFamily="34" charset="-122"/>
                <a:cs typeface="QuattrocentoSans" pitchFamily="34" charset="-120"/>
              </a:rPr>
              <a:t>Access:</a:t>
            </a:r>
            <a:pPr>
              <a:lnSpc>
                <a:spcPct val="150000"/>
              </a:lnSpc>
              <a:spcBef>
                <a:spcPts val="10"/>
              </a:spcBef>
            </a:pPr>
            <a:r>
              <a:rPr lang="en-US" sz="1600" dirty="0">
                <a:solidFill>
                  <a:srgbClr val="2D2D2D"/>
                </a:solidFill>
                <a:latin typeface="QuattrocentoSans" pitchFamily="34" charset="0"/>
                <a:ea typeface="QuattrocentoSans" pitchFamily="34" charset="-122"/>
                <a:cs typeface="QuattrocentoSans" pitchFamily="34" charset="-120"/>
              </a:rPr>
              <a:t> Disney MagicBands, Tesla key cards</a:t>
            </a:r>
            <a:endParaRPr lang="en-US" sz="2000" dirty="0"/>
          </a:p>
          <a:p>
            <a:pPr marL="317500" indent="-317500">
              <a:lnSpc>
                <a:spcPct val="150000"/>
              </a:lnSpc>
              <a:spcBef>
                <a:spcPts val="10"/>
              </a:spcBef>
              <a:buSzPct val="100000"/>
              <a:buChar char="•"/>
            </a:pPr>
            <a:r>
              <a:rPr lang="en-US" sz="1600" b="1" dirty="0">
                <a:solidFill>
                  <a:srgbClr val="2D2D2D"/>
                </a:solidFill>
                <a:latin typeface="QuattrocentoSans" pitchFamily="34" charset="0"/>
                <a:ea typeface="QuattrocentoSans" pitchFamily="34" charset="-122"/>
                <a:cs typeface="QuattrocentoSans" pitchFamily="34" charset="-120"/>
              </a:rPr>
              <a:t>Logistics:</a:t>
            </a:r>
            <a:pPr>
              <a:lnSpc>
                <a:spcPct val="150000"/>
              </a:lnSpc>
              <a:spcBef>
                <a:spcPts val="10"/>
              </a:spcBef>
            </a:pPr>
            <a:r>
              <a:rPr lang="en-US" sz="1600" dirty="0">
                <a:solidFill>
                  <a:srgbClr val="2D2D2D"/>
                </a:solidFill>
                <a:latin typeface="QuattrocentoSans" pitchFamily="34" charset="0"/>
                <a:ea typeface="QuattrocentoSans" pitchFamily="34" charset="-122"/>
                <a:cs typeface="QuattrocentoSans" pitchFamily="34" charset="-120"/>
              </a:rPr>
              <a:t> Delta airline baggage tracking</a:t>
            </a:r>
            <a:endParaRPr lang="en-US" sz="2000" dirty="0"/>
          </a:p>
          <a:p>
            <a:pPr marL="317500" indent="-317500">
              <a:lnSpc>
                <a:spcPct val="150000"/>
              </a:lnSpc>
              <a:spcBef>
                <a:spcPts val="10"/>
              </a:spcBef>
              <a:buSzPct val="100000"/>
              <a:buChar char="•"/>
            </a:pPr>
            <a:r>
              <a:rPr lang="en-US" sz="1600" b="1" dirty="0">
                <a:solidFill>
                  <a:srgbClr val="2D2D2D"/>
                </a:solidFill>
                <a:latin typeface="QuattrocentoSans" pitchFamily="34" charset="0"/>
                <a:ea typeface="QuattrocentoSans" pitchFamily="34" charset="-122"/>
                <a:cs typeface="QuattrocentoSans" pitchFamily="34" charset="-120"/>
              </a:rPr>
              <a:t>Healthcare:</a:t>
            </a:r>
            <a:pPr>
              <a:lnSpc>
                <a:spcPct val="150000"/>
              </a:lnSpc>
              <a:spcBef>
                <a:spcPts val="10"/>
              </a:spcBef>
            </a:pPr>
            <a:r>
              <a:rPr lang="en-US" sz="1600" dirty="0">
                <a:solidFill>
                  <a:srgbClr val="2D2D2D"/>
                </a:solidFill>
                <a:latin typeface="QuattrocentoSans" pitchFamily="34" charset="0"/>
                <a:ea typeface="QuattrocentoSans" pitchFamily="34" charset="-122"/>
                <a:cs typeface="QuattrocentoSans" pitchFamily="34" charset="-120"/>
              </a:rPr>
              <a:t> Equipment and medication tracking</a:t>
            </a:r>
            <a:endParaRPr lang="en-US" sz="2000" dirty="0"/>
          </a:p>
        </p:txBody>
      </p:sp>
      <p:pic>
        <p:nvPicPr>
          <p:cNvPr id="10" name="Image 0" descr="https://kimi-img.moonshot.cn/pub/slides/okc/7khcepmtdap64/mnt/agents/output/ict-week3/images/4_RFID_technology_applied_in_a_warehouse.png">    </p:cNvPr>
          <p:cNvPicPr>
            <a:picLocks noChangeAspect="1"/>
          </p:cNvPicPr>
          <p:nvPr/>
        </p:nvPicPr>
        <p:blipFill>
          <a:blip r:embed="rId1"/>
          <a:srcRect l="26375" r="26375" t="0" b="0"/>
          <a:stretch/>
        </p:blipFill>
        <p:spPr>
          <a:xfrm>
            <a:off x="10160000" y="1841500"/>
            <a:ext cx="5334000" cy="6350000"/>
          </a:xfrm>
          <a:prstGeom prst="rect">
            <a:avLst/>
          </a:prstGeom>
        </p:spPr>
      </p:pic>
      <p:sp>
        <p:nvSpPr>
          <p:cNvPr id="11" name="Shape 7"/>
          <p:cNvSpPr/>
          <p:nvPr/>
        </p:nvSpPr>
        <p:spPr>
          <a:xfrm>
            <a:off x="10160000" y="7048500"/>
            <a:ext cx="5334000" cy="1143000"/>
          </a:xfrm>
          <a:prstGeom prst="rect">
            <a:avLst/>
          </a:prstGeom>
          <a:solidFill>
            <a:srgbClr val="1B5E5E"/>
          </a:solidFill>
          <a:ln/>
        </p:spPr>
      </p:sp>
      <p:sp>
        <p:nvSpPr>
          <p:cNvPr id="12" name="Text 8"/>
          <p:cNvSpPr/>
          <p:nvPr/>
        </p:nvSpPr>
        <p:spPr>
          <a:xfrm>
            <a:off x="10414000" y="7175500"/>
            <a:ext cx="4826000" cy="889000"/>
          </a:xfrm>
          <a:prstGeom prst="rect">
            <a:avLst/>
          </a:prstGeom>
          <a:noFill/>
          <a:ln/>
        </p:spPr>
        <p:txBody>
          <a:bodyPr wrap="square" lIns="0" tIns="0" rIns="0" bIns="0" rtlCol="0" anchor="ctr"/>
          <a:lstStyle/>
          <a:p>
            <a:pPr>
              <a:lnSpc>
                <a:spcPct val="140000"/>
              </a:lnSpc>
            </a:pPr>
            <a:r>
              <a:rPr lang="en-US" sz="2200" b="1" dirty="0">
                <a:solidFill>
                  <a:srgbClr val="C17A3A"/>
                </a:solidFill>
                <a:latin typeface="Quattrocento Sans" pitchFamily="34" charset="0"/>
                <a:ea typeface="Quattrocento Sans" pitchFamily="34" charset="-122"/>
                <a:cs typeface="Quattrocento Sans" pitchFamily="34" charset="-120"/>
              </a:rPr>
              <a:t>60%+</a:t>
            </a:r>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of retailers plan to implement RFID by 2026</a:t>
            </a:r>
            <a:endParaRPr lang="en-US" sz="1600" dirty="0"/>
          </a:p>
        </p:txBody>
      </p:sp>
      <p:sp>
        <p:nvSpPr>
          <p:cNvPr id="13" name="Text 9"/>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12</a:t>
            </a:r>
            <a:endParaRPr lang="en-US" sz="1400" dirty="0"/>
          </a:p>
        </p:txBody>
      </p:sp>
      <p:sp>
        <p:nvSpPr>
          <p:cNvPr id="14" name="Shape 10"/>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OMR &amp; OCR</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05000"/>
            <a:ext cx="7048500" cy="5969000"/>
          </a:xfrm>
          <a:prstGeom prst="rect">
            <a:avLst/>
          </a:prstGeom>
          <a:solidFill>
            <a:srgbClr val="EDEAE4"/>
          </a:solidFill>
          <a:ln/>
        </p:spPr>
      </p:sp>
      <p:sp>
        <p:nvSpPr>
          <p:cNvPr id="6" name="Shape 4"/>
          <p:cNvSpPr/>
          <p:nvPr/>
        </p:nvSpPr>
        <p:spPr>
          <a:xfrm>
            <a:off x="1079500" y="22225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270193" y="168831"/>
                </a:moveTo>
                <a:lnTo>
                  <a:pt x="206692" y="270431"/>
                </a:lnTo>
                <a:cubicBezTo>
                  <a:pt x="203359" y="275749"/>
                  <a:pt x="197644" y="279083"/>
                  <a:pt x="191373" y="279400"/>
                </a:cubicBezTo>
                <a:cubicBezTo>
                  <a:pt x="185102" y="279718"/>
                  <a:pt x="179070" y="276860"/>
                  <a:pt x="175339" y="271780"/>
                </a:cubicBezTo>
                <a:lnTo>
                  <a:pt x="137239" y="220980"/>
                </a:lnTo>
                <a:cubicBezTo>
                  <a:pt x="130889" y="212566"/>
                  <a:pt x="132636" y="200660"/>
                  <a:pt x="141049" y="194310"/>
                </a:cubicBezTo>
                <a:cubicBezTo>
                  <a:pt x="149463" y="187960"/>
                  <a:pt x="161369" y="189706"/>
                  <a:pt x="167719" y="198120"/>
                </a:cubicBezTo>
                <a:lnTo>
                  <a:pt x="189151" y="226695"/>
                </a:lnTo>
                <a:lnTo>
                  <a:pt x="237887" y="148669"/>
                </a:lnTo>
                <a:cubicBezTo>
                  <a:pt x="243443" y="139779"/>
                  <a:pt x="255191" y="137001"/>
                  <a:pt x="264160" y="142637"/>
                </a:cubicBezTo>
                <a:cubicBezTo>
                  <a:pt x="273129" y="148273"/>
                  <a:pt x="275828" y="159941"/>
                  <a:pt x="270193" y="168910"/>
                </a:cubicBezTo>
                <a:close/>
              </a:path>
            </a:pathLst>
          </a:custGeom>
          <a:solidFill>
            <a:srgbClr val="1B5E5E"/>
          </a:solidFill>
          <a:ln/>
        </p:spPr>
      </p:sp>
      <p:sp>
        <p:nvSpPr>
          <p:cNvPr id="7" name="Text 5"/>
          <p:cNvSpPr/>
          <p:nvPr/>
        </p:nvSpPr>
        <p:spPr>
          <a:xfrm>
            <a:off x="1651000" y="2197100"/>
            <a:ext cx="5080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Optical Mark Recognition</a:t>
            </a:r>
            <a:endParaRPr lang="en-US" sz="1600" dirty="0"/>
          </a:p>
        </p:txBody>
      </p:sp>
      <p:sp>
        <p:nvSpPr>
          <p:cNvPr id="8" name="Text 6"/>
          <p:cNvSpPr/>
          <p:nvPr/>
        </p:nvSpPr>
        <p:spPr>
          <a:xfrm>
            <a:off x="1651000" y="2667000"/>
            <a:ext cx="2540000" cy="304800"/>
          </a:xfrm>
          <a:prstGeom prst="rect">
            <a:avLst/>
          </a:prstGeom>
          <a:noFill/>
          <a:ln/>
        </p:spPr>
        <p:txBody>
          <a:bodyPr wrap="none" lIns="0" tIns="0" rIns="0" bIns="0" rtlCol="0" anchor="ctr"/>
          <a:lstStyle/>
          <a:p>
            <a:pPr>
              <a:lnSpc>
                <a:spcPct val="100000"/>
              </a:lnSpc>
            </a:pPr>
            <a:r>
              <a:rPr lang="en-US" sz="1600" dirty="0">
                <a:solidFill>
                  <a:srgbClr val="C17A3A"/>
                </a:solidFill>
                <a:latin typeface="Quattrocento Sans" pitchFamily="34" charset="0"/>
                <a:ea typeface="Quattrocento Sans" pitchFamily="34" charset="-122"/>
                <a:cs typeface="Quattrocento Sans" pitchFamily="34" charset="-120"/>
              </a:rPr>
              <a:t>(OMR)</a:t>
            </a:r>
            <a:endParaRPr lang="en-US" sz="1600" dirty="0"/>
          </a:p>
        </p:txBody>
      </p:sp>
      <p:sp>
        <p:nvSpPr>
          <p:cNvPr id="9" name="Text 7"/>
          <p:cNvSpPr/>
          <p:nvPr/>
        </p:nvSpPr>
        <p:spPr>
          <a:xfrm>
            <a:off x="1079500" y="3175000"/>
            <a:ext cx="6413500" cy="4318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Detects marks made in predefined positions on paper using reflected light.</a:t>
            </a:r>
            <a:endParaRPr lang="en-US" sz="2000" dirty="0"/>
          </a:p>
          <a:p>
            <a:pPr>
              <a:lnSpc>
                <a:spcPct val="150000"/>
              </a:lnSpc>
              <a:spcBef>
                <a:spcPts val="1000"/>
              </a:spcBef>
            </a:pPr>
            <a:r>
              <a:rPr lang="en-US" sz="1800" b="1" dirty="0">
                <a:solidFill>
                  <a:srgbClr val="2D2D2D"/>
                </a:solidFill>
                <a:latin typeface="QuattrocentoSans" pitchFamily="34" charset="0"/>
                <a:ea typeface="QuattrocentoSans" pitchFamily="34" charset="-122"/>
                <a:cs typeface="QuattrocentoSans" pitchFamily="34" charset="-120"/>
              </a:rPr>
              <a:t>Applications: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Standardized multiple-choice exams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Surveys and questionnaires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Census form processing</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Ballot counting systems</a:t>
            </a:r>
            <a:endParaRPr lang="en-US" sz="2000" dirty="0"/>
          </a:p>
          <a:p>
            <a:pPr>
              <a:lnSpc>
                <a:spcPct val="150000"/>
              </a:lnSpc>
              <a:spcBef>
                <a:spcPts val="1000"/>
              </a:spcBef>
            </a:pPr>
            <a:r>
              <a:rPr lang="en-US" sz="1800" dirty="0">
                <a:solidFill>
                  <a:srgbClr val="C17A3A"/>
                </a:solidFill>
                <a:latin typeface="QuattrocentoSans" pitchFamily="34" charset="0"/>
                <a:ea typeface="QuattrocentoSans" pitchFamily="34" charset="-122"/>
                <a:cs typeface="QuattrocentoSans" pitchFamily="34" charset="-120"/>
              </a:rPr>
              <a:t>●</a:t>
            </a:r>
            <a:pPr>
              <a:lnSpc>
                <a:spcPct val="150000"/>
              </a:lnSpc>
              <a:spcBef>
                <a:spcPts val="1000"/>
              </a:spcBef>
            </a:pPr>
            <a:r>
              <a:rPr lang="en-US" sz="1800" dirty="0">
                <a:solidFill>
                  <a:srgbClr val="2D2D2D"/>
                </a:solidFill>
                <a:latin typeface="QuattrocentoSans" pitchFamily="34" charset="0"/>
                <a:ea typeface="QuattrocentoSans" pitchFamily="34" charset="-122"/>
                <a:cs typeface="QuattrocentoSans" pitchFamily="34" charset="-120"/>
              </a:rPr>
              <a:t> Fast, accurate, and cost-effective for high-volume form processing</a:t>
            </a:r>
            <a:endParaRPr lang="en-US" sz="2000" dirty="0"/>
          </a:p>
        </p:txBody>
      </p:sp>
      <p:sp>
        <p:nvSpPr>
          <p:cNvPr id="10" name="Shape 8"/>
          <p:cNvSpPr/>
          <p:nvPr/>
        </p:nvSpPr>
        <p:spPr>
          <a:xfrm>
            <a:off x="8445500" y="1905000"/>
            <a:ext cx="7048500" cy="5969000"/>
          </a:xfrm>
          <a:prstGeom prst="rect">
            <a:avLst/>
          </a:prstGeom>
          <a:solidFill>
            <a:srgbClr val="EDEAE4"/>
          </a:solidFill>
          <a:ln/>
        </p:spPr>
      </p:sp>
      <p:sp>
        <p:nvSpPr>
          <p:cNvPr id="11" name="Shape 9"/>
          <p:cNvSpPr/>
          <p:nvPr/>
        </p:nvSpPr>
        <p:spPr>
          <a:xfrm>
            <a:off x="8763000" y="2222500"/>
            <a:ext cx="406400" cy="406400"/>
          </a:xfrm>
          <a:custGeom>
            <a:avLst/>
            <a:gdLst/>
            <a:ahLst/>
            <a:cxnLst/>
            <a:rect l="l" t="t" r="r" b="b"/>
            <a:pathLst>
              <a:path w="406400" h="406400">
                <a:moveTo>
                  <a:pt x="226298" y="40243"/>
                </a:moveTo>
                <a:cubicBezTo>
                  <a:pt x="222171" y="31194"/>
                  <a:pt x="213122" y="25400"/>
                  <a:pt x="203200" y="25400"/>
                </a:cubicBezTo>
                <a:cubicBezTo>
                  <a:pt x="193278" y="25400"/>
                  <a:pt x="184229" y="31194"/>
                  <a:pt x="180102" y="40243"/>
                </a:cubicBezTo>
                <a:lnTo>
                  <a:pt x="47228" y="330200"/>
                </a:lnTo>
                <a:lnTo>
                  <a:pt x="38100" y="330200"/>
                </a:lnTo>
                <a:cubicBezTo>
                  <a:pt x="24051" y="330200"/>
                  <a:pt x="12700" y="341551"/>
                  <a:pt x="12700" y="355600"/>
                </a:cubicBezTo>
                <a:cubicBezTo>
                  <a:pt x="12700" y="369649"/>
                  <a:pt x="24051" y="381000"/>
                  <a:pt x="38100" y="381000"/>
                </a:cubicBezTo>
                <a:lnTo>
                  <a:pt x="107950" y="381000"/>
                </a:lnTo>
                <a:cubicBezTo>
                  <a:pt x="121999" y="381000"/>
                  <a:pt x="133350" y="369649"/>
                  <a:pt x="133350" y="355600"/>
                </a:cubicBezTo>
                <a:cubicBezTo>
                  <a:pt x="133350" y="341551"/>
                  <a:pt x="121999" y="330200"/>
                  <a:pt x="107950" y="330200"/>
                </a:cubicBezTo>
                <a:lnTo>
                  <a:pt x="103108" y="330200"/>
                </a:lnTo>
                <a:lnTo>
                  <a:pt x="120571" y="292100"/>
                </a:lnTo>
                <a:lnTo>
                  <a:pt x="285909" y="292100"/>
                </a:lnTo>
                <a:lnTo>
                  <a:pt x="303371" y="330200"/>
                </a:lnTo>
                <a:lnTo>
                  <a:pt x="298529" y="330200"/>
                </a:lnTo>
                <a:cubicBezTo>
                  <a:pt x="284480" y="330200"/>
                  <a:pt x="273129" y="341551"/>
                  <a:pt x="273129" y="355600"/>
                </a:cubicBezTo>
                <a:cubicBezTo>
                  <a:pt x="273129" y="369649"/>
                  <a:pt x="284480" y="381000"/>
                  <a:pt x="298529" y="381000"/>
                </a:cubicBezTo>
                <a:lnTo>
                  <a:pt x="368379" y="381000"/>
                </a:lnTo>
                <a:cubicBezTo>
                  <a:pt x="382429" y="381000"/>
                  <a:pt x="393779" y="369649"/>
                  <a:pt x="393779" y="355600"/>
                </a:cubicBezTo>
                <a:cubicBezTo>
                  <a:pt x="393779" y="341551"/>
                  <a:pt x="382429" y="330200"/>
                  <a:pt x="368379" y="330200"/>
                </a:cubicBezTo>
                <a:lnTo>
                  <a:pt x="359251" y="330200"/>
                </a:lnTo>
                <a:lnTo>
                  <a:pt x="226378" y="40243"/>
                </a:lnTo>
                <a:close/>
                <a:moveTo>
                  <a:pt x="262573" y="241300"/>
                </a:moveTo>
                <a:lnTo>
                  <a:pt x="143828" y="241300"/>
                </a:lnTo>
                <a:lnTo>
                  <a:pt x="203200" y="111760"/>
                </a:lnTo>
                <a:lnTo>
                  <a:pt x="262573" y="241300"/>
                </a:lnTo>
                <a:close/>
              </a:path>
            </a:pathLst>
          </a:custGeom>
          <a:solidFill>
            <a:srgbClr val="1B5E5E"/>
          </a:solidFill>
          <a:ln/>
        </p:spPr>
      </p:sp>
      <p:sp>
        <p:nvSpPr>
          <p:cNvPr id="12" name="Text 10"/>
          <p:cNvSpPr/>
          <p:nvPr/>
        </p:nvSpPr>
        <p:spPr>
          <a:xfrm>
            <a:off x="9334500" y="2197100"/>
            <a:ext cx="5080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Optical Character Recognition</a:t>
            </a:r>
            <a:endParaRPr lang="en-US" sz="1600" dirty="0"/>
          </a:p>
        </p:txBody>
      </p:sp>
      <p:sp>
        <p:nvSpPr>
          <p:cNvPr id="13" name="Text 11"/>
          <p:cNvSpPr/>
          <p:nvPr/>
        </p:nvSpPr>
        <p:spPr>
          <a:xfrm>
            <a:off x="9334500" y="2667000"/>
            <a:ext cx="2540000" cy="304800"/>
          </a:xfrm>
          <a:prstGeom prst="rect">
            <a:avLst/>
          </a:prstGeom>
          <a:noFill/>
          <a:ln/>
        </p:spPr>
        <p:txBody>
          <a:bodyPr wrap="none" lIns="0" tIns="0" rIns="0" bIns="0" rtlCol="0" anchor="ctr"/>
          <a:lstStyle/>
          <a:p>
            <a:pPr>
              <a:lnSpc>
                <a:spcPct val="100000"/>
              </a:lnSpc>
            </a:pPr>
            <a:r>
              <a:rPr lang="en-US" sz="1600" dirty="0">
                <a:solidFill>
                  <a:srgbClr val="C17A3A"/>
                </a:solidFill>
                <a:latin typeface="Quattrocento Sans" pitchFamily="34" charset="0"/>
                <a:ea typeface="Quattrocento Sans" pitchFamily="34" charset="-122"/>
                <a:cs typeface="Quattrocento Sans" pitchFamily="34" charset="-120"/>
              </a:rPr>
              <a:t>(OCR)</a:t>
            </a:r>
            <a:endParaRPr lang="en-US" sz="1600" dirty="0"/>
          </a:p>
        </p:txBody>
      </p:sp>
      <p:sp>
        <p:nvSpPr>
          <p:cNvPr id="14" name="Text 12"/>
          <p:cNvSpPr/>
          <p:nvPr/>
        </p:nvSpPr>
        <p:spPr>
          <a:xfrm>
            <a:off x="8763000" y="3175000"/>
            <a:ext cx="6413500" cy="4318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Converts printed or handwritten text into machine-readable digital text.</a:t>
            </a:r>
            <a:endParaRPr lang="en-US" sz="2000" dirty="0"/>
          </a:p>
          <a:p>
            <a:pPr>
              <a:lnSpc>
                <a:spcPct val="150000"/>
              </a:lnSpc>
              <a:spcBef>
                <a:spcPts val="1000"/>
              </a:spcBef>
            </a:pPr>
            <a:r>
              <a:rPr lang="en-US" sz="1800" b="1" dirty="0">
                <a:solidFill>
                  <a:srgbClr val="2D2D2D"/>
                </a:solidFill>
                <a:latin typeface="QuattrocentoSans" pitchFamily="34" charset="0"/>
                <a:ea typeface="QuattrocentoSans" pitchFamily="34" charset="-122"/>
                <a:cs typeface="QuattrocentoSans" pitchFamily="34" charset="-120"/>
              </a:rPr>
              <a:t>Applications: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Digitizing printed books and documents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Automated data entry systems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License plate recognition</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Text-to-speech for accessibility</a:t>
            </a:r>
            <a:endParaRPr lang="en-US" sz="2000" dirty="0"/>
          </a:p>
          <a:p>
            <a:pPr>
              <a:lnSpc>
                <a:spcPct val="150000"/>
              </a:lnSpc>
              <a:spcBef>
                <a:spcPts val="1000"/>
              </a:spcBef>
            </a:pPr>
            <a:r>
              <a:rPr lang="en-US" sz="1800" dirty="0">
                <a:solidFill>
                  <a:srgbClr val="C17A3A"/>
                </a:solidFill>
                <a:latin typeface="QuattrocentoSans" pitchFamily="34" charset="0"/>
                <a:ea typeface="QuattrocentoSans" pitchFamily="34" charset="-122"/>
                <a:cs typeface="QuattrocentoSans" pitchFamily="34" charset="-120"/>
              </a:rPr>
              <a:t>●</a:t>
            </a:r>
            <a:pPr>
              <a:lnSpc>
                <a:spcPct val="150000"/>
              </a:lnSpc>
              <a:spcBef>
                <a:spcPts val="1000"/>
              </a:spcBef>
            </a:pPr>
            <a:r>
              <a:rPr lang="en-US" sz="1800" dirty="0">
                <a:solidFill>
                  <a:srgbClr val="2D2D2D"/>
                </a:solidFill>
                <a:latin typeface="QuattrocentoSans" pitchFamily="34" charset="0"/>
                <a:ea typeface="QuattrocentoSans" pitchFamily="34" charset="-122"/>
                <a:cs typeface="QuattrocentoSans" pitchFamily="34" charset="-120"/>
              </a:rPr>
              <a:t> Modern AI-powered OCR achieves near-human accuracy</a:t>
            </a:r>
            <a:endParaRPr lang="en-US" sz="2000" dirty="0"/>
          </a:p>
        </p:txBody>
      </p:sp>
      <p:sp>
        <p:nvSpPr>
          <p:cNvPr id="15" name="Text 13"/>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13</a:t>
            </a:r>
            <a:endParaRPr lang="en-US" sz="1400" dirty="0"/>
          </a:p>
        </p:txBody>
      </p:sp>
      <p:sp>
        <p:nvSpPr>
          <p:cNvPr id="16" name="Shape 14"/>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889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Bar Code Reader &amp; QR Scanner</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05000"/>
            <a:ext cx="7048500" cy="6096000"/>
          </a:xfrm>
          <a:prstGeom prst="rect">
            <a:avLst/>
          </a:prstGeom>
          <a:solidFill>
            <a:srgbClr val="EDEAE4"/>
          </a:solidFill>
          <a:ln/>
        </p:spPr>
      </p:sp>
      <p:sp>
        <p:nvSpPr>
          <p:cNvPr id="6" name="Shape 4"/>
          <p:cNvSpPr/>
          <p:nvPr/>
        </p:nvSpPr>
        <p:spPr>
          <a:xfrm>
            <a:off x="1104900" y="2222500"/>
            <a:ext cx="355600" cy="406400"/>
          </a:xfrm>
          <a:custGeom>
            <a:avLst/>
            <a:gdLst/>
            <a:ahLst/>
            <a:cxnLst/>
            <a:rect l="l" t="t" r="r" b="b"/>
            <a:pathLst>
              <a:path w="355600" h="406400">
                <a:moveTo>
                  <a:pt x="25400" y="25400"/>
                </a:moveTo>
                <a:cubicBezTo>
                  <a:pt x="11351" y="25400"/>
                  <a:pt x="0" y="36751"/>
                  <a:pt x="0" y="50800"/>
                </a:cubicBezTo>
                <a:lnTo>
                  <a:pt x="0" y="355600"/>
                </a:lnTo>
                <a:cubicBezTo>
                  <a:pt x="0" y="369649"/>
                  <a:pt x="11351" y="381000"/>
                  <a:pt x="25400" y="381000"/>
                </a:cubicBezTo>
                <a:cubicBezTo>
                  <a:pt x="39449" y="381000"/>
                  <a:pt x="50800" y="369649"/>
                  <a:pt x="50800" y="355600"/>
                </a:cubicBezTo>
                <a:lnTo>
                  <a:pt x="50800" y="50800"/>
                </a:lnTo>
                <a:cubicBezTo>
                  <a:pt x="50800" y="36751"/>
                  <a:pt x="39449" y="25400"/>
                  <a:pt x="25400" y="25400"/>
                </a:cubicBezTo>
                <a:close/>
                <a:moveTo>
                  <a:pt x="95250" y="25400"/>
                </a:moveTo>
                <a:cubicBezTo>
                  <a:pt x="84693" y="25400"/>
                  <a:pt x="76200" y="33893"/>
                  <a:pt x="76200" y="44450"/>
                </a:cubicBezTo>
                <a:lnTo>
                  <a:pt x="76200" y="361950"/>
                </a:lnTo>
                <a:cubicBezTo>
                  <a:pt x="76200" y="372507"/>
                  <a:pt x="84693" y="381000"/>
                  <a:pt x="95250" y="381000"/>
                </a:cubicBezTo>
                <a:cubicBezTo>
                  <a:pt x="105807" y="381000"/>
                  <a:pt x="114300" y="372507"/>
                  <a:pt x="114300" y="361950"/>
                </a:cubicBezTo>
                <a:lnTo>
                  <a:pt x="114300" y="44450"/>
                </a:lnTo>
                <a:cubicBezTo>
                  <a:pt x="114300" y="33893"/>
                  <a:pt x="105807" y="25400"/>
                  <a:pt x="95250" y="25400"/>
                </a:cubicBezTo>
                <a:close/>
                <a:moveTo>
                  <a:pt x="152400" y="50800"/>
                </a:moveTo>
                <a:lnTo>
                  <a:pt x="152400" y="355600"/>
                </a:lnTo>
                <a:cubicBezTo>
                  <a:pt x="152400" y="369649"/>
                  <a:pt x="163751" y="381000"/>
                  <a:pt x="177800" y="381000"/>
                </a:cubicBezTo>
                <a:cubicBezTo>
                  <a:pt x="191849" y="381000"/>
                  <a:pt x="203200" y="369649"/>
                  <a:pt x="203200" y="355600"/>
                </a:cubicBezTo>
                <a:lnTo>
                  <a:pt x="203200" y="50800"/>
                </a:lnTo>
                <a:cubicBezTo>
                  <a:pt x="203200" y="36751"/>
                  <a:pt x="191849" y="25400"/>
                  <a:pt x="177800" y="25400"/>
                </a:cubicBezTo>
                <a:cubicBezTo>
                  <a:pt x="163751" y="25400"/>
                  <a:pt x="152400" y="36751"/>
                  <a:pt x="152400" y="50800"/>
                </a:cubicBezTo>
                <a:close/>
                <a:moveTo>
                  <a:pt x="317500" y="44450"/>
                </a:moveTo>
                <a:lnTo>
                  <a:pt x="317500" y="361950"/>
                </a:lnTo>
                <a:cubicBezTo>
                  <a:pt x="317500" y="372507"/>
                  <a:pt x="325993" y="381000"/>
                  <a:pt x="336550" y="381000"/>
                </a:cubicBezTo>
                <a:cubicBezTo>
                  <a:pt x="347107" y="381000"/>
                  <a:pt x="355600" y="372507"/>
                  <a:pt x="355600" y="361950"/>
                </a:cubicBezTo>
                <a:lnTo>
                  <a:pt x="355600" y="44450"/>
                </a:lnTo>
                <a:cubicBezTo>
                  <a:pt x="355600" y="33893"/>
                  <a:pt x="347107" y="25400"/>
                  <a:pt x="336550" y="25400"/>
                </a:cubicBezTo>
                <a:cubicBezTo>
                  <a:pt x="325993" y="25400"/>
                  <a:pt x="317500" y="33893"/>
                  <a:pt x="317500" y="44450"/>
                </a:cubicBezTo>
                <a:close/>
                <a:moveTo>
                  <a:pt x="241300" y="44450"/>
                </a:moveTo>
                <a:lnTo>
                  <a:pt x="241300" y="361950"/>
                </a:lnTo>
                <a:cubicBezTo>
                  <a:pt x="241300" y="372507"/>
                  <a:pt x="249793" y="381000"/>
                  <a:pt x="260350" y="381000"/>
                </a:cubicBezTo>
                <a:cubicBezTo>
                  <a:pt x="270907" y="381000"/>
                  <a:pt x="279400" y="372507"/>
                  <a:pt x="279400" y="361950"/>
                </a:cubicBezTo>
                <a:lnTo>
                  <a:pt x="279400" y="44450"/>
                </a:lnTo>
                <a:cubicBezTo>
                  <a:pt x="279400" y="33893"/>
                  <a:pt x="270907" y="25400"/>
                  <a:pt x="260350" y="25400"/>
                </a:cubicBezTo>
                <a:cubicBezTo>
                  <a:pt x="249793" y="25400"/>
                  <a:pt x="241300" y="33893"/>
                  <a:pt x="241300" y="44450"/>
                </a:cubicBezTo>
                <a:close/>
              </a:path>
            </a:pathLst>
          </a:custGeom>
          <a:solidFill>
            <a:srgbClr val="1B5E5E"/>
          </a:solidFill>
          <a:ln/>
        </p:spPr>
      </p:sp>
      <p:sp>
        <p:nvSpPr>
          <p:cNvPr id="7" name="Text 5"/>
          <p:cNvSpPr/>
          <p:nvPr/>
        </p:nvSpPr>
        <p:spPr>
          <a:xfrm>
            <a:off x="1651000" y="2197100"/>
            <a:ext cx="5080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Bar Code Reader</a:t>
            </a:r>
            <a:endParaRPr lang="en-US" sz="1600" dirty="0"/>
          </a:p>
        </p:txBody>
      </p:sp>
      <p:sp>
        <p:nvSpPr>
          <p:cNvPr id="8" name="Text 6"/>
          <p:cNvSpPr/>
          <p:nvPr/>
        </p:nvSpPr>
        <p:spPr>
          <a:xfrm>
            <a:off x="1079500" y="2857500"/>
            <a:ext cx="6413500" cy="342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Uses laser or LED light to scan barcodes — parallel lines of varying widths representing numeric data.</a:t>
            </a:r>
            <a:endParaRPr lang="en-US" sz="2000" dirty="0"/>
          </a:p>
          <a:p>
            <a:pPr>
              <a:lnSpc>
                <a:spcPct val="150000"/>
              </a:lnSpc>
              <a:spcBef>
                <a:spcPts val="600"/>
              </a:spcBef>
            </a:pPr>
            <a:r>
              <a:rPr lang="en-US" sz="1800" b="1" dirty="0">
                <a:solidFill>
                  <a:srgbClr val="2D2D2D"/>
                </a:solidFill>
                <a:latin typeface="QuattrocentoSans" pitchFamily="34" charset="0"/>
                <a:ea typeface="QuattrocentoSans" pitchFamily="34" charset="-122"/>
                <a:cs typeface="QuattrocentoSans" pitchFamily="34" charset="-120"/>
              </a:rPr>
              <a:t>Types:</a:t>
            </a:r>
            <a:pPr>
              <a:lnSpc>
                <a:spcPct val="150000"/>
              </a:lnSpc>
              <a:spcBef>
                <a:spcPts val="600"/>
              </a:spcBef>
            </a:pPr>
            <a:r>
              <a:rPr lang="en-US" sz="1800" dirty="0">
                <a:solidFill>
                  <a:srgbClr val="2D2D2D"/>
                </a:solidFill>
                <a:latin typeface="QuattrocentoSans" pitchFamily="34" charset="0"/>
                <a:ea typeface="QuattrocentoSans" pitchFamily="34" charset="-122"/>
                <a:cs typeface="QuattrocentoSans" pitchFamily="34" charset="-120"/>
              </a:rPr>
              <a:t> Handheld, fixed-mount, pen/wand readers</a:t>
            </a:r>
            <a:endParaRPr lang="en-US" sz="2000" dirty="0"/>
          </a:p>
          <a:p>
            <a:pPr>
              <a:lnSpc>
                <a:spcPct val="150000"/>
              </a:lnSpc>
              <a:spcBef>
                <a:spcPts val="600"/>
              </a:spcBef>
            </a:pPr>
            <a:r>
              <a:rPr lang="en-US" sz="1800" b="1" dirty="0">
                <a:solidFill>
                  <a:srgbClr val="2D2D2D"/>
                </a:solidFill>
                <a:latin typeface="QuattrocentoSans" pitchFamily="34" charset="0"/>
                <a:ea typeface="QuattrocentoSans" pitchFamily="34" charset="-122"/>
                <a:cs typeface="QuattrocentoSans" pitchFamily="34" charset="-120"/>
              </a:rPr>
              <a:t>Applications: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Retail product identification (UPC/EAN)</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Inventory management</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Library book tracking</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Healthcare patient/medication ID</a:t>
            </a:r>
            <a:endParaRPr lang="en-US" sz="2000" dirty="0"/>
          </a:p>
        </p:txBody>
      </p:sp>
      <p:sp>
        <p:nvSpPr>
          <p:cNvPr id="9" name="Shape 7"/>
          <p:cNvSpPr/>
          <p:nvPr/>
        </p:nvSpPr>
        <p:spPr>
          <a:xfrm>
            <a:off x="8445500" y="1905000"/>
            <a:ext cx="7048500" cy="6096000"/>
          </a:xfrm>
          <a:prstGeom prst="rect">
            <a:avLst/>
          </a:prstGeom>
          <a:solidFill>
            <a:srgbClr val="EDEAE4"/>
          </a:solidFill>
          <a:ln/>
        </p:spPr>
      </p:sp>
      <p:sp>
        <p:nvSpPr>
          <p:cNvPr id="10" name="Shape 8"/>
          <p:cNvSpPr/>
          <p:nvPr/>
        </p:nvSpPr>
        <p:spPr>
          <a:xfrm>
            <a:off x="8788400" y="2222500"/>
            <a:ext cx="355600" cy="406400"/>
          </a:xfrm>
          <a:custGeom>
            <a:avLst/>
            <a:gdLst/>
            <a:ahLst/>
            <a:cxnLst/>
            <a:rect l="l" t="t" r="r" b="b"/>
            <a:pathLst>
              <a:path w="355600" h="406400">
                <a:moveTo>
                  <a:pt x="50800" y="127000"/>
                </a:moveTo>
                <a:lnTo>
                  <a:pt x="101600" y="127000"/>
                </a:lnTo>
                <a:lnTo>
                  <a:pt x="101600" y="76200"/>
                </a:lnTo>
                <a:lnTo>
                  <a:pt x="50800" y="76200"/>
                </a:lnTo>
                <a:lnTo>
                  <a:pt x="50800" y="127000"/>
                </a:lnTo>
                <a:close/>
                <a:moveTo>
                  <a:pt x="0" y="63500"/>
                </a:moveTo>
                <a:cubicBezTo>
                  <a:pt x="0" y="42466"/>
                  <a:pt x="17066" y="25400"/>
                  <a:pt x="38100" y="25400"/>
                </a:cubicBezTo>
                <a:lnTo>
                  <a:pt x="114300" y="25400"/>
                </a:lnTo>
                <a:cubicBezTo>
                  <a:pt x="135334" y="25400"/>
                  <a:pt x="152400" y="42466"/>
                  <a:pt x="152400" y="63500"/>
                </a:cubicBezTo>
                <a:lnTo>
                  <a:pt x="152400" y="139700"/>
                </a:lnTo>
                <a:cubicBezTo>
                  <a:pt x="152400" y="160734"/>
                  <a:pt x="135334" y="177800"/>
                  <a:pt x="114300" y="177800"/>
                </a:cubicBezTo>
                <a:lnTo>
                  <a:pt x="38100" y="177800"/>
                </a:lnTo>
                <a:cubicBezTo>
                  <a:pt x="17066" y="177800"/>
                  <a:pt x="0" y="160734"/>
                  <a:pt x="0" y="139700"/>
                </a:cubicBezTo>
                <a:lnTo>
                  <a:pt x="0" y="63500"/>
                </a:lnTo>
                <a:close/>
                <a:moveTo>
                  <a:pt x="50800" y="330200"/>
                </a:moveTo>
                <a:lnTo>
                  <a:pt x="101600" y="330200"/>
                </a:lnTo>
                <a:lnTo>
                  <a:pt x="101600" y="279400"/>
                </a:lnTo>
                <a:lnTo>
                  <a:pt x="50800" y="279400"/>
                </a:lnTo>
                <a:lnTo>
                  <a:pt x="50800" y="330200"/>
                </a:lnTo>
                <a:close/>
                <a:moveTo>
                  <a:pt x="0" y="266700"/>
                </a:moveTo>
                <a:cubicBezTo>
                  <a:pt x="0" y="245666"/>
                  <a:pt x="17066" y="228600"/>
                  <a:pt x="38100" y="228600"/>
                </a:cubicBezTo>
                <a:lnTo>
                  <a:pt x="114300" y="228600"/>
                </a:lnTo>
                <a:cubicBezTo>
                  <a:pt x="135334" y="228600"/>
                  <a:pt x="152400" y="245666"/>
                  <a:pt x="152400" y="266700"/>
                </a:cubicBezTo>
                <a:lnTo>
                  <a:pt x="152400" y="342900"/>
                </a:lnTo>
                <a:cubicBezTo>
                  <a:pt x="152400" y="363934"/>
                  <a:pt x="135334" y="381000"/>
                  <a:pt x="114300" y="381000"/>
                </a:cubicBezTo>
                <a:lnTo>
                  <a:pt x="38100" y="381000"/>
                </a:lnTo>
                <a:cubicBezTo>
                  <a:pt x="17066" y="381000"/>
                  <a:pt x="0" y="363934"/>
                  <a:pt x="0" y="342900"/>
                </a:cubicBezTo>
                <a:lnTo>
                  <a:pt x="0" y="266700"/>
                </a:lnTo>
                <a:close/>
                <a:moveTo>
                  <a:pt x="254000" y="76200"/>
                </a:moveTo>
                <a:lnTo>
                  <a:pt x="254000" y="127000"/>
                </a:lnTo>
                <a:lnTo>
                  <a:pt x="304800" y="127000"/>
                </a:lnTo>
                <a:lnTo>
                  <a:pt x="304800" y="76200"/>
                </a:lnTo>
                <a:lnTo>
                  <a:pt x="254000" y="76200"/>
                </a:lnTo>
                <a:close/>
                <a:moveTo>
                  <a:pt x="241300" y="25400"/>
                </a:moveTo>
                <a:lnTo>
                  <a:pt x="317500" y="25400"/>
                </a:lnTo>
                <a:cubicBezTo>
                  <a:pt x="338534" y="25400"/>
                  <a:pt x="355600" y="42466"/>
                  <a:pt x="355600" y="63500"/>
                </a:cubicBezTo>
                <a:lnTo>
                  <a:pt x="355600" y="139700"/>
                </a:lnTo>
                <a:cubicBezTo>
                  <a:pt x="355600" y="160734"/>
                  <a:pt x="338534" y="177800"/>
                  <a:pt x="317500" y="177800"/>
                </a:cubicBezTo>
                <a:lnTo>
                  <a:pt x="241300" y="177800"/>
                </a:lnTo>
                <a:cubicBezTo>
                  <a:pt x="220266" y="177800"/>
                  <a:pt x="203200" y="160734"/>
                  <a:pt x="203200" y="139700"/>
                </a:cubicBezTo>
                <a:lnTo>
                  <a:pt x="203200" y="63500"/>
                </a:lnTo>
                <a:cubicBezTo>
                  <a:pt x="203200" y="42466"/>
                  <a:pt x="220266" y="25400"/>
                  <a:pt x="241300" y="25400"/>
                </a:cubicBezTo>
                <a:close/>
                <a:moveTo>
                  <a:pt x="228600" y="279400"/>
                </a:moveTo>
                <a:cubicBezTo>
                  <a:pt x="214581" y="279400"/>
                  <a:pt x="203200" y="268019"/>
                  <a:pt x="203200" y="254000"/>
                </a:cubicBezTo>
                <a:cubicBezTo>
                  <a:pt x="203200" y="239981"/>
                  <a:pt x="214581" y="228600"/>
                  <a:pt x="228600" y="228600"/>
                </a:cubicBezTo>
                <a:cubicBezTo>
                  <a:pt x="242619" y="228600"/>
                  <a:pt x="254000" y="239981"/>
                  <a:pt x="254000" y="254000"/>
                </a:cubicBezTo>
                <a:cubicBezTo>
                  <a:pt x="254000" y="268019"/>
                  <a:pt x="242619" y="279400"/>
                  <a:pt x="228600" y="279400"/>
                </a:cubicBezTo>
                <a:close/>
                <a:moveTo>
                  <a:pt x="228600" y="330200"/>
                </a:moveTo>
                <a:cubicBezTo>
                  <a:pt x="242649" y="330200"/>
                  <a:pt x="254000" y="341551"/>
                  <a:pt x="254000" y="355600"/>
                </a:cubicBezTo>
                <a:cubicBezTo>
                  <a:pt x="254000" y="369649"/>
                  <a:pt x="242649" y="381000"/>
                  <a:pt x="228600" y="381000"/>
                </a:cubicBezTo>
                <a:cubicBezTo>
                  <a:pt x="214551" y="381000"/>
                  <a:pt x="203200" y="369649"/>
                  <a:pt x="203200" y="355600"/>
                </a:cubicBezTo>
                <a:cubicBezTo>
                  <a:pt x="203200" y="341551"/>
                  <a:pt x="214551" y="330200"/>
                  <a:pt x="228600" y="330200"/>
                </a:cubicBezTo>
                <a:close/>
                <a:moveTo>
                  <a:pt x="304800" y="355600"/>
                </a:moveTo>
                <a:cubicBezTo>
                  <a:pt x="304800" y="341551"/>
                  <a:pt x="316151" y="330200"/>
                  <a:pt x="330200" y="330200"/>
                </a:cubicBezTo>
                <a:cubicBezTo>
                  <a:pt x="344249" y="330200"/>
                  <a:pt x="355600" y="341551"/>
                  <a:pt x="355600" y="355600"/>
                </a:cubicBezTo>
                <a:cubicBezTo>
                  <a:pt x="355600" y="369649"/>
                  <a:pt x="344249" y="381000"/>
                  <a:pt x="330200" y="381000"/>
                </a:cubicBezTo>
                <a:cubicBezTo>
                  <a:pt x="316151" y="381000"/>
                  <a:pt x="304800" y="369649"/>
                  <a:pt x="304800" y="355600"/>
                </a:cubicBezTo>
                <a:close/>
                <a:moveTo>
                  <a:pt x="330200" y="279400"/>
                </a:moveTo>
                <a:cubicBezTo>
                  <a:pt x="316181" y="279400"/>
                  <a:pt x="304800" y="268019"/>
                  <a:pt x="304800" y="254000"/>
                </a:cubicBezTo>
                <a:cubicBezTo>
                  <a:pt x="304800" y="239981"/>
                  <a:pt x="316181" y="228600"/>
                  <a:pt x="330200" y="228600"/>
                </a:cubicBezTo>
                <a:cubicBezTo>
                  <a:pt x="344219" y="228600"/>
                  <a:pt x="355600" y="239981"/>
                  <a:pt x="355600" y="254000"/>
                </a:cubicBezTo>
                <a:cubicBezTo>
                  <a:pt x="355600" y="268019"/>
                  <a:pt x="344219" y="279400"/>
                  <a:pt x="330200" y="279400"/>
                </a:cubicBezTo>
                <a:close/>
                <a:moveTo>
                  <a:pt x="304800" y="304800"/>
                </a:moveTo>
                <a:cubicBezTo>
                  <a:pt x="304800" y="318819"/>
                  <a:pt x="293419" y="330200"/>
                  <a:pt x="279400" y="330200"/>
                </a:cubicBezTo>
                <a:cubicBezTo>
                  <a:pt x="265381" y="330200"/>
                  <a:pt x="254000" y="318819"/>
                  <a:pt x="254000" y="304800"/>
                </a:cubicBezTo>
                <a:cubicBezTo>
                  <a:pt x="254000" y="290781"/>
                  <a:pt x="265381" y="279400"/>
                  <a:pt x="279400" y="279400"/>
                </a:cubicBezTo>
                <a:cubicBezTo>
                  <a:pt x="293419" y="279400"/>
                  <a:pt x="304800" y="290781"/>
                  <a:pt x="304800" y="304800"/>
                </a:cubicBezTo>
                <a:close/>
              </a:path>
            </a:pathLst>
          </a:custGeom>
          <a:solidFill>
            <a:srgbClr val="1B5E5E"/>
          </a:solidFill>
          <a:ln/>
        </p:spPr>
      </p:sp>
      <p:sp>
        <p:nvSpPr>
          <p:cNvPr id="11" name="Text 9"/>
          <p:cNvSpPr/>
          <p:nvPr/>
        </p:nvSpPr>
        <p:spPr>
          <a:xfrm>
            <a:off x="9334500" y="2197100"/>
            <a:ext cx="5080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QR Scanner</a:t>
            </a:r>
            <a:endParaRPr lang="en-US" sz="1600" dirty="0"/>
          </a:p>
        </p:txBody>
      </p:sp>
      <p:sp>
        <p:nvSpPr>
          <p:cNvPr id="12" name="Text 10"/>
          <p:cNvSpPr/>
          <p:nvPr/>
        </p:nvSpPr>
        <p:spPr>
          <a:xfrm>
            <a:off x="8763000" y="2857500"/>
            <a:ext cx="6413500" cy="342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Reads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Quick Response (QR)</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codes — 2D matrix barcodes storing URLs, text, contact info, and payment data.</a:t>
            </a:r>
            <a:endParaRPr lang="en-US" sz="2000" dirty="0"/>
          </a:p>
          <a:p>
            <a:pPr>
              <a:lnSpc>
                <a:spcPct val="150000"/>
              </a:lnSpc>
              <a:spcBef>
                <a:spcPts val="800"/>
              </a:spcBef>
            </a:pPr>
            <a:r>
              <a:rPr lang="en-US" sz="1800" b="1" dirty="0">
                <a:solidFill>
                  <a:srgbClr val="2D2D2D"/>
                </a:solidFill>
                <a:latin typeface="QuattrocentoSans" pitchFamily="34" charset="0"/>
                <a:ea typeface="QuattrocentoSans" pitchFamily="34" charset="-122"/>
                <a:cs typeface="QuattrocentoSans" pitchFamily="34" charset="-120"/>
              </a:rPr>
              <a:t>Applications: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Mobile payments and digital wallets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Marketing campaigns and ticketing</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Restaurant menus and Wi-Fi sharing</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Product authentication</a:t>
            </a:r>
            <a:endParaRPr lang="en-US" sz="2000" dirty="0"/>
          </a:p>
        </p:txBody>
      </p:sp>
      <p:sp>
        <p:nvSpPr>
          <p:cNvPr id="13" name="Shape 11"/>
          <p:cNvSpPr/>
          <p:nvPr/>
        </p:nvSpPr>
        <p:spPr>
          <a:xfrm>
            <a:off x="762000" y="8064500"/>
            <a:ext cx="14732000" cy="482600"/>
          </a:xfrm>
          <a:prstGeom prst="rect">
            <a:avLst/>
          </a:prstGeom>
          <a:solidFill>
            <a:srgbClr val="1B5E5E"/>
          </a:solidFill>
          <a:ln/>
        </p:spPr>
      </p:sp>
      <p:sp>
        <p:nvSpPr>
          <p:cNvPr id="14" name="Text 12"/>
          <p:cNvSpPr/>
          <p:nvPr/>
        </p:nvSpPr>
        <p:spPr>
          <a:xfrm>
            <a:off x="1143000" y="8115300"/>
            <a:ext cx="13462000" cy="381000"/>
          </a:xfrm>
          <a:prstGeom prst="rect">
            <a:avLst/>
          </a:prstGeom>
          <a:noFill/>
          <a:ln/>
        </p:spPr>
        <p:txBody>
          <a:bodyPr wrap="none" lIns="0" tIns="0" rIns="0" bIns="0" rtlCol="0" anchor="ctr"/>
          <a:lstStyle/>
          <a:p>
            <a:pPr>
              <a:lnSpc>
                <a:spcPct val="100000"/>
              </a:lnSpc>
            </a:pPr>
            <a:r>
              <a:rPr lang="en-US" sz="1600" dirty="0">
                <a:solidFill>
                  <a:srgbClr val="C17A3A"/>
                </a:solidFill>
                <a:latin typeface="Quattrocento Sans" pitchFamily="34" charset="0"/>
                <a:ea typeface="Quattrocento Sans" pitchFamily="34" charset="-122"/>
                <a:cs typeface="Quattrocento Sans" pitchFamily="34" charset="-120"/>
              </a:rPr>
              <a:t>●</a:t>
            </a:r>
            <a:pPr>
              <a:lnSpc>
                <a:spcPct val="100000"/>
              </a:lnSpc>
            </a:pPr>
            <a:r>
              <a:rPr lang="en-US" sz="1600" dirty="0">
                <a:solidFill>
                  <a:srgbClr val="FFFFFF"/>
                </a:solidFill>
                <a:latin typeface="Quattrocento Sans" pitchFamily="34" charset="0"/>
                <a:ea typeface="Quattrocento Sans" pitchFamily="34" charset="-122"/>
                <a:cs typeface="Quattrocento Sans" pitchFamily="34" charset="-120"/>
              </a:rPr>
              <a:t> QR codes store ~100x more data than barcodes and can be read from any angle</a:t>
            </a:r>
            <a:endParaRPr lang="en-US" sz="1600" dirty="0"/>
          </a:p>
        </p:txBody>
      </p:sp>
      <p:sp>
        <p:nvSpPr>
          <p:cNvPr id="15" name="Text 13"/>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14</a:t>
            </a:r>
            <a:endParaRPr lang="en-US" sz="1400" dirty="0"/>
          </a:p>
        </p:txBody>
      </p:sp>
      <p:sp>
        <p:nvSpPr>
          <p:cNvPr id="16" name="Shape 14"/>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6350000" cy="9144000"/>
          </a:xfrm>
          <a:prstGeom prst="rect">
            <a:avLst/>
          </a:prstGeom>
          <a:solidFill>
            <a:srgbClr val="EDEAE4"/>
          </a:solidFill>
          <a:ln/>
        </p:spPr>
      </p:sp>
      <p:sp>
        <p:nvSpPr>
          <p:cNvPr id="3" name="Text 1"/>
          <p:cNvSpPr/>
          <p:nvPr/>
        </p:nvSpPr>
        <p:spPr>
          <a:xfrm>
            <a:off x="762000" y="2286000"/>
            <a:ext cx="4826000" cy="1981200"/>
          </a:xfrm>
          <a:prstGeom prst="rect">
            <a:avLst/>
          </a:prstGeom>
          <a:noFill/>
          <a:ln/>
        </p:spPr>
        <p:txBody>
          <a:bodyPr wrap="none" lIns="0" tIns="0" rIns="0" bIns="0" rtlCol="0" anchor="ctr"/>
          <a:lstStyle/>
          <a:p>
            <a:pPr>
              <a:lnSpc>
                <a:spcPct val="100000"/>
              </a:lnSpc>
            </a:pPr>
            <a:r>
              <a:rPr lang="en-US" sz="12000" dirty="0">
                <a:solidFill>
                  <a:srgbClr val="1B5E5E"/>
                </a:solidFill>
                <a:latin typeface="QuattrocentoSans" pitchFamily="34" charset="0"/>
                <a:ea typeface="QuattrocentoSans" pitchFamily="34" charset="-122"/>
                <a:cs typeface="QuattrocentoSans" pitchFamily="34" charset="-120"/>
              </a:rPr>
              <a:t>03</a:t>
            </a:r>
            <a:endParaRPr lang="en-US" sz="12000" dirty="0"/>
          </a:p>
        </p:txBody>
      </p:sp>
      <p:sp>
        <p:nvSpPr>
          <p:cNvPr id="4" name="Shape 2"/>
          <p:cNvSpPr/>
          <p:nvPr/>
        </p:nvSpPr>
        <p:spPr>
          <a:xfrm>
            <a:off x="762000" y="4445000"/>
            <a:ext cx="762000" cy="50800"/>
          </a:xfrm>
          <a:prstGeom prst="rect">
            <a:avLst/>
          </a:prstGeom>
          <a:solidFill>
            <a:srgbClr val="C17A3A"/>
          </a:solidFill>
          <a:ln/>
        </p:spPr>
      </p:sp>
      <p:sp>
        <p:nvSpPr>
          <p:cNvPr id="5" name="Text 3"/>
          <p:cNvSpPr/>
          <p:nvPr/>
        </p:nvSpPr>
        <p:spPr>
          <a:xfrm>
            <a:off x="762000" y="4699000"/>
            <a:ext cx="4826000" cy="635000"/>
          </a:xfrm>
          <a:prstGeom prst="rect">
            <a:avLst/>
          </a:prstGeom>
          <a:noFill/>
          <a:ln/>
        </p:spPr>
        <p:txBody>
          <a:bodyPr wrap="none" lIns="0" tIns="0" rIns="0" bIns="0" rtlCol="0" anchor="ctr"/>
          <a:lstStyle/>
          <a:p>
            <a:pPr>
              <a:lnSpc>
                <a:spcPct val="120000"/>
              </a:lnSpc>
            </a:pPr>
            <a:r>
              <a:rPr lang="en-US" sz="3800" b="1" dirty="0">
                <a:solidFill>
                  <a:srgbClr val="1B5E5E"/>
                </a:solidFill>
                <a:latin typeface="QuattrocentoSans" pitchFamily="34" charset="0"/>
                <a:ea typeface="QuattrocentoSans" pitchFamily="34" charset="-122"/>
                <a:cs typeface="QuattrocentoSans" pitchFamily="34" charset="-120"/>
              </a:rPr>
              <a:t>Output Devices</a:t>
            </a:r>
            <a:endParaRPr lang="en-US" sz="3800" dirty="0"/>
          </a:p>
        </p:txBody>
      </p:sp>
      <p:sp>
        <p:nvSpPr>
          <p:cNvPr id="6" name="Text 4"/>
          <p:cNvSpPr/>
          <p:nvPr/>
        </p:nvSpPr>
        <p:spPr>
          <a:xfrm>
            <a:off x="762000" y="5461000"/>
            <a:ext cx="4826000" cy="1016000"/>
          </a:xfrm>
          <a:prstGeom prst="rect">
            <a:avLst/>
          </a:prstGeom>
          <a:noFill/>
          <a:ln/>
        </p:spPr>
        <p:txBody>
          <a:bodyPr wrap="square" lIns="0" tIns="0" rIns="0" bIns="0" rtlCol="0" anchor="ctr"/>
          <a:lstStyle/>
          <a:p>
            <a:pPr>
              <a:lnSpc>
                <a:spcPct val="160000"/>
              </a:lnSpc>
            </a:pPr>
            <a:r>
              <a:rPr lang="en-US" sz="1800" dirty="0">
                <a:solidFill>
                  <a:srgbClr val="8A8580"/>
                </a:solidFill>
                <a:latin typeface="QuattrocentoSans" pitchFamily="34" charset="0"/>
                <a:ea typeface="QuattrocentoSans" pitchFamily="34" charset="-122"/>
                <a:cs typeface="QuattrocentoSans" pitchFamily="34" charset="-120"/>
              </a:rPr>
              <a:t>How Computers Present Information to Users</a:t>
            </a:r>
            <a:endParaRPr lang="en-US" sz="2000" dirty="0"/>
          </a:p>
        </p:txBody>
      </p:sp>
      <p:pic>
        <p:nvPicPr>
          <p:cNvPr id="7" name="Image 0" descr="https://kimi-img.moonshot.cn/pub/slides/okc/7khcepmtdap64/mnt/agents/output/ict-week3/images/2_Dell_unveils_monitors_with_groundbreaking.png">    </p:cNvPr>
          <p:cNvPicPr>
            <a:picLocks noChangeAspect="1"/>
          </p:cNvPicPr>
          <p:nvPr/>
        </p:nvPicPr>
        <p:blipFill>
          <a:blip r:embed="rId1"/>
          <a:srcRect l="19441" r="19441" t="0" b="0"/>
          <a:stretch/>
        </p:blipFill>
        <p:spPr>
          <a:xfrm>
            <a:off x="6350000" y="0"/>
            <a:ext cx="9906000" cy="9144000"/>
          </a:xfrm>
          <a:prstGeom prst="rect">
            <a:avLst/>
          </a:prstGeom>
        </p:spPr>
      </p:pic>
      <p:sp>
        <p:nvSpPr>
          <p:cNvPr id="8" name="Shape 5"/>
          <p:cNvSpPr/>
          <p:nvPr/>
        </p:nvSpPr>
        <p:spPr>
          <a:xfrm>
            <a:off x="6350000" y="0"/>
            <a:ext cx="9906000" cy="9144000"/>
          </a:xfrm>
          <a:prstGeom prst="rect">
            <a:avLst/>
          </a:prstGeom>
          <a:gradFill rotWithShape="1" flip="none">
            <a:gsLst>
              <a:gs pos="0">
                <a:srgbClr val="F5F1EB"/>
              </a:gs>
              <a:gs pos="15000">
                <a:srgbClr val="F5F1EB">
                  <a:alpha val="0"/>
                </a:srgbClr>
              </a:gs>
              <a:gs pos="100000">
                <a:srgbClr val="F5F1EB">
                  <a:alpha val="0"/>
                </a:srgbClr>
              </a:gs>
            </a:gsLst>
            <a:lin ang="0" scaled="1"/>
          </a:gradFill>
          <a:ln/>
        </p:spPr>
      </p:sp>
      <p:sp>
        <p:nvSpPr>
          <p:cNvPr id="9" name="Text 6"/>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889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Monitors &amp; Touch Screen as Output</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Text 3"/>
          <p:cNvSpPr/>
          <p:nvPr/>
        </p:nvSpPr>
        <p:spPr>
          <a:xfrm>
            <a:off x="762000" y="1841500"/>
            <a:ext cx="7874000" cy="1016000"/>
          </a:xfrm>
          <a:prstGeom prst="rect">
            <a:avLst/>
          </a:prstGeom>
          <a:noFill/>
          <a:ln/>
        </p:spPr>
        <p:txBody>
          <a:bodyPr wrap="square" lIns="0" tIns="0" rIns="0" bIns="0" rtlCol="0" anchor="ctr"/>
          <a:lstStyle/>
          <a:p>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Monitor (VDU)</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 Primary output device displaying visual information composed of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pixels</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in a rectangular grid.</a:t>
            </a:r>
            <a:endParaRPr lang="en-US" sz="2000" dirty="0"/>
          </a:p>
        </p:txBody>
      </p:sp>
      <p:sp>
        <p:nvSpPr>
          <p:cNvPr id="6" name="Text 4"/>
          <p:cNvSpPr/>
          <p:nvPr/>
        </p:nvSpPr>
        <p:spPr>
          <a:xfrm>
            <a:off x="762000" y="3048000"/>
            <a:ext cx="381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Display Technologies</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62000" y="3492500"/>
          <a:ext cx="7874000" cy="2794000"/>
        </p:xfrm>
        <a:graphic>
          <a:graphicData uri="http://schemas.openxmlformats.org/drawingml/2006/table">
            <a:tbl>
              <a:tblPr/>
              <a:tblGrid>
                <a:gridCol w="1417320"/>
                <a:gridCol w="3307080"/>
                <a:gridCol w="3149600"/>
              </a:tblGrid>
              <a:tr h="467774">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Type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Technology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Key Features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r>
              <a:tr h="581557">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CRT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Cathode Ray Tube (electron beams)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Bulky, obsolete, high refresh rate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581557">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LCD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Liquid crystals + backlighting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Thin, energy-efficient, affordable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r h="581557">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LED-backlit LCD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Better contrast, thinner, low power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581557">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OLED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Organic self-emitting LEDs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Superior color, deep blacks, flexible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bl>
          </a:graphicData>
        </a:graphic>
      </p:graphicFrame>
      <p:sp>
        <p:nvSpPr>
          <p:cNvPr id="8" name="Text 5"/>
          <p:cNvSpPr/>
          <p:nvPr/>
        </p:nvSpPr>
        <p:spPr>
          <a:xfrm>
            <a:off x="762000" y="6604000"/>
            <a:ext cx="381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Key Specifications</a:t>
            </a:r>
            <a:endParaRPr lang="en-US" sz="1600" dirty="0"/>
          </a:p>
        </p:txBody>
      </p:sp>
      <p:sp>
        <p:nvSpPr>
          <p:cNvPr id="9" name="Text 6"/>
          <p:cNvSpPr/>
          <p:nvPr/>
        </p:nvSpPr>
        <p:spPr>
          <a:xfrm>
            <a:off x="762000" y="7048500"/>
            <a:ext cx="7874000" cy="1016000"/>
          </a:xfrm>
          <a:prstGeom prst="rect">
            <a:avLst/>
          </a:prstGeom>
          <a:noFill/>
          <a:ln/>
        </p:spPr>
        <p:txBody>
          <a:bodyPr wrap="square" lIns="0" tIns="0" rIns="0" bIns="0" rtlCol="0" anchor="ctr"/>
          <a:lstStyle/>
          <a:p>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Resolution:</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Full HD (1920x1080), 4K, 8K |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Refresh Rate:</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60Hz–240Hz |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Size:</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15"–49"+</a:t>
            </a:r>
            <a:endParaRPr lang="en-US" sz="2000" dirty="0"/>
          </a:p>
        </p:txBody>
      </p:sp>
      <p:pic>
        <p:nvPicPr>
          <p:cNvPr id="10" name="Image 0" descr="https://kimi-img.moonshot.cn/pub/slides/okc/7khcepmtdap64/mnt/agents/output/ict-week3/images/9_The_8_Best_Monitors_of_2026_Reviews.png">    </p:cNvPr>
          <p:cNvPicPr>
            <a:picLocks noChangeAspect="1"/>
          </p:cNvPicPr>
          <p:nvPr/>
        </p:nvPicPr>
        <p:blipFill>
          <a:blip r:embed="rId1"/>
          <a:srcRect l="15995" r="15995" t="0" b="0"/>
          <a:stretch/>
        </p:blipFill>
        <p:spPr>
          <a:xfrm>
            <a:off x="9144000" y="1841500"/>
            <a:ext cx="6350000" cy="6223000"/>
          </a:xfrm>
          <a:prstGeom prst="rect">
            <a:avLst/>
          </a:prstGeom>
        </p:spPr>
      </p:pic>
      <p:sp>
        <p:nvSpPr>
          <p:cNvPr id="11" name="Shape 7"/>
          <p:cNvSpPr/>
          <p:nvPr/>
        </p:nvSpPr>
        <p:spPr>
          <a:xfrm>
            <a:off x="9144000" y="7048500"/>
            <a:ext cx="6350000" cy="1016000"/>
          </a:xfrm>
          <a:prstGeom prst="rect">
            <a:avLst/>
          </a:prstGeom>
          <a:solidFill>
            <a:srgbClr val="1B5E5E"/>
          </a:solidFill>
          <a:ln/>
        </p:spPr>
      </p:sp>
      <p:sp>
        <p:nvSpPr>
          <p:cNvPr id="12" name="Text 8"/>
          <p:cNvSpPr/>
          <p:nvPr/>
        </p:nvSpPr>
        <p:spPr>
          <a:xfrm>
            <a:off x="9398000" y="7175500"/>
            <a:ext cx="5842000" cy="762000"/>
          </a:xfrm>
          <a:prstGeom prst="rect">
            <a:avLst/>
          </a:prstGeom>
          <a:noFill/>
          <a:ln/>
        </p:spPr>
        <p:txBody>
          <a:bodyPr wrap="square" lIns="0" tIns="0" rIns="0" bIns="0" rtlCol="0" anchor="ctr"/>
          <a:lstStyle/>
          <a:p>
            <a:pPr>
              <a:lnSpc>
                <a:spcPct val="140000"/>
              </a:lnSpc>
            </a:pPr>
            <a:r>
              <a:rPr lang="en-US" sz="1600" dirty="0">
                <a:solidFill>
                  <a:srgbClr val="C17A3A"/>
                </a:solidFill>
                <a:latin typeface="Quattrocento Sans" pitchFamily="34" charset="0"/>
                <a:ea typeface="Quattrocento Sans" pitchFamily="34" charset="-122"/>
                <a:cs typeface="Quattrocento Sans" pitchFamily="34" charset="-120"/>
              </a:rPr>
              <a:t>●</a:t>
            </a:r>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a:t>
            </a:r>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Touch Screen as Output:</a:t>
            </a:r>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Displays visual feedback in response to touch input</a:t>
            </a:r>
            <a:endParaRPr lang="en-US" sz="1600" dirty="0"/>
          </a:p>
        </p:txBody>
      </p:sp>
      <p:sp>
        <p:nvSpPr>
          <p:cNvPr id="13" name="Text 9"/>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16</a:t>
            </a:r>
            <a:endParaRPr lang="en-US" sz="1400" dirty="0"/>
          </a:p>
        </p:txBody>
      </p:sp>
      <p:sp>
        <p:nvSpPr>
          <p:cNvPr id="14" name="Shape 10"/>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Multimedia Projector</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Text 3"/>
          <p:cNvSpPr/>
          <p:nvPr/>
        </p:nvSpPr>
        <p:spPr>
          <a:xfrm>
            <a:off x="762000" y="1841500"/>
            <a:ext cx="14732000" cy="88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An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optical output device</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that projects enlarged images and video onto a large screen or wall surface. Essential for presentations, education, and entertainment.</a:t>
            </a:r>
            <a:endParaRPr lang="en-US" sz="2000" dirty="0"/>
          </a:p>
        </p:txBody>
      </p:sp>
      <p:sp>
        <p:nvSpPr>
          <p:cNvPr id="6" name="Text 4"/>
          <p:cNvSpPr/>
          <p:nvPr/>
        </p:nvSpPr>
        <p:spPr>
          <a:xfrm>
            <a:off x="762000" y="2921000"/>
            <a:ext cx="508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Projection Technologies</a:t>
            </a:r>
            <a:endParaRPr lang="en-US" sz="1600" dirty="0"/>
          </a:p>
        </p:txBody>
      </p:sp>
      <p:sp>
        <p:nvSpPr>
          <p:cNvPr id="7" name="Shape 5"/>
          <p:cNvSpPr/>
          <p:nvPr/>
        </p:nvSpPr>
        <p:spPr>
          <a:xfrm>
            <a:off x="762000" y="3429000"/>
            <a:ext cx="4699000" cy="2286000"/>
          </a:xfrm>
          <a:prstGeom prst="rect">
            <a:avLst/>
          </a:prstGeom>
          <a:solidFill>
            <a:srgbClr val="EDEAE4"/>
          </a:solidFill>
          <a:ln/>
        </p:spPr>
      </p:sp>
      <p:sp>
        <p:nvSpPr>
          <p:cNvPr id="8" name="Text 6"/>
          <p:cNvSpPr/>
          <p:nvPr/>
        </p:nvSpPr>
        <p:spPr>
          <a:xfrm>
            <a:off x="1016000" y="3619500"/>
            <a:ext cx="4191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DLP</a:t>
            </a:r>
            <a:endParaRPr lang="en-US" sz="1600" dirty="0"/>
          </a:p>
        </p:txBody>
      </p:sp>
      <p:sp>
        <p:nvSpPr>
          <p:cNvPr id="9" name="Text 7"/>
          <p:cNvSpPr/>
          <p:nvPr/>
        </p:nvSpPr>
        <p:spPr>
          <a:xfrm>
            <a:off x="1016000" y="4038600"/>
            <a:ext cx="4191000" cy="13970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Digital Light Processing uses millions of micro-mirrors to reflect light. Sharp images, high contrast, reliable.</a:t>
            </a:r>
            <a:endParaRPr lang="en-US" sz="1600" dirty="0"/>
          </a:p>
        </p:txBody>
      </p:sp>
      <p:sp>
        <p:nvSpPr>
          <p:cNvPr id="10" name="Shape 8"/>
          <p:cNvSpPr/>
          <p:nvPr/>
        </p:nvSpPr>
        <p:spPr>
          <a:xfrm>
            <a:off x="5778500" y="3429000"/>
            <a:ext cx="4699000" cy="2286000"/>
          </a:xfrm>
          <a:prstGeom prst="rect">
            <a:avLst/>
          </a:prstGeom>
          <a:solidFill>
            <a:srgbClr val="EDEAE4"/>
          </a:solidFill>
          <a:ln/>
        </p:spPr>
      </p:sp>
      <p:sp>
        <p:nvSpPr>
          <p:cNvPr id="11" name="Text 9"/>
          <p:cNvSpPr/>
          <p:nvPr/>
        </p:nvSpPr>
        <p:spPr>
          <a:xfrm>
            <a:off x="6032500" y="3619500"/>
            <a:ext cx="4191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LCD Projection</a:t>
            </a:r>
            <a:endParaRPr lang="en-US" sz="1600" dirty="0"/>
          </a:p>
        </p:txBody>
      </p:sp>
      <p:sp>
        <p:nvSpPr>
          <p:cNvPr id="12" name="Text 10"/>
          <p:cNvSpPr/>
          <p:nvPr/>
        </p:nvSpPr>
        <p:spPr>
          <a:xfrm>
            <a:off x="6032500" y="4038600"/>
            <a:ext cx="4191000" cy="13970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Uses liquid crystal panels to filter light. Accurate color reproduction, energy-efficient, widely available.</a:t>
            </a:r>
            <a:endParaRPr lang="en-US" sz="1600" dirty="0"/>
          </a:p>
        </p:txBody>
      </p:sp>
      <p:sp>
        <p:nvSpPr>
          <p:cNvPr id="13" name="Shape 11"/>
          <p:cNvSpPr/>
          <p:nvPr/>
        </p:nvSpPr>
        <p:spPr>
          <a:xfrm>
            <a:off x="10795000" y="3429000"/>
            <a:ext cx="4699000" cy="2286000"/>
          </a:xfrm>
          <a:prstGeom prst="rect">
            <a:avLst/>
          </a:prstGeom>
          <a:solidFill>
            <a:srgbClr val="EDEAE4"/>
          </a:solidFill>
          <a:ln/>
        </p:spPr>
      </p:sp>
      <p:sp>
        <p:nvSpPr>
          <p:cNvPr id="14" name="Text 12"/>
          <p:cNvSpPr/>
          <p:nvPr/>
        </p:nvSpPr>
        <p:spPr>
          <a:xfrm>
            <a:off x="11049000" y="3619500"/>
            <a:ext cx="4191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Laser Projection</a:t>
            </a:r>
            <a:endParaRPr lang="en-US" sz="1600" dirty="0"/>
          </a:p>
        </p:txBody>
      </p:sp>
      <p:sp>
        <p:nvSpPr>
          <p:cNvPr id="15" name="Text 13"/>
          <p:cNvSpPr/>
          <p:nvPr/>
        </p:nvSpPr>
        <p:spPr>
          <a:xfrm>
            <a:off x="11049000" y="4038600"/>
            <a:ext cx="4191000" cy="13970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Uses laser light sources for enhanced brightness, instant on/off, and extended lamp life (20,000+ hours).</a:t>
            </a:r>
            <a:endParaRPr lang="en-US" sz="1600" dirty="0"/>
          </a:p>
        </p:txBody>
      </p:sp>
      <p:sp>
        <p:nvSpPr>
          <p:cNvPr id="16" name="Text 14"/>
          <p:cNvSpPr/>
          <p:nvPr/>
        </p:nvSpPr>
        <p:spPr>
          <a:xfrm>
            <a:off x="762000" y="6096000"/>
            <a:ext cx="508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Applications &amp; Key Specs</a:t>
            </a:r>
            <a:endParaRPr lang="en-US" sz="1600" dirty="0"/>
          </a:p>
        </p:txBody>
      </p:sp>
      <p:sp>
        <p:nvSpPr>
          <p:cNvPr id="17" name="Text 15"/>
          <p:cNvSpPr/>
          <p:nvPr/>
        </p:nvSpPr>
        <p:spPr>
          <a:xfrm>
            <a:off x="762000" y="6540500"/>
            <a:ext cx="14732000" cy="1524000"/>
          </a:xfrm>
          <a:prstGeom prst="rect">
            <a:avLst/>
          </a:prstGeom>
          <a:noFill/>
          <a:ln/>
        </p:spPr>
        <p:txBody>
          <a:bodyPr wrap="square" lIns="0" tIns="0" rIns="0" bIns="0" rtlCol="0" anchor="ctr"/>
          <a:lstStyle/>
          <a:p>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Applications:</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Classroom teaching, business presentations, home theater, conference halls, outdoor events, digital signage</a:t>
            </a:r>
            <a:endParaRPr lang="en-US" sz="2000" dirty="0"/>
          </a:p>
          <a:p>
            <a:pPr>
              <a:lnSpc>
                <a:spcPct val="150000"/>
              </a:lnSpc>
              <a:spcBef>
                <a:spcPts val="600"/>
              </a:spcBef>
            </a:pPr>
            <a:r>
              <a:rPr lang="en-US" sz="1800" b="1" dirty="0">
                <a:solidFill>
                  <a:srgbClr val="2D2D2D"/>
                </a:solidFill>
                <a:latin typeface="QuattrocentoSans" pitchFamily="34" charset="0"/>
                <a:ea typeface="QuattrocentoSans" pitchFamily="34" charset="-122"/>
                <a:cs typeface="QuattrocentoSans" pitchFamily="34" charset="-120"/>
              </a:rPr>
              <a:t>Key Specifications:</a:t>
            </a:r>
            <a:pPr>
              <a:lnSpc>
                <a:spcPct val="150000"/>
              </a:lnSpc>
              <a:spcBef>
                <a:spcPts val="600"/>
              </a:spcBef>
            </a:pPr>
            <a:r>
              <a:rPr lang="en-US" sz="1800" dirty="0">
                <a:solidFill>
                  <a:srgbClr val="2D2D2D"/>
                </a:solidFill>
                <a:latin typeface="QuattrocentoSans" pitchFamily="34" charset="0"/>
                <a:ea typeface="QuattrocentoSans" pitchFamily="34" charset="-122"/>
                <a:cs typeface="QuattrocentoSans" pitchFamily="34" charset="-120"/>
              </a:rPr>
              <a:t> Brightness (lumens), Resolution (XGA to 4K), Throw ratio, Contrast ratio, Lamp life</a:t>
            </a:r>
            <a:endParaRPr lang="en-US" sz="2000" dirty="0"/>
          </a:p>
          <a:p>
            <a:pPr>
              <a:lnSpc>
                <a:spcPct val="150000"/>
              </a:lnSpc>
              <a:spcBef>
                <a:spcPts val="600"/>
              </a:spcBef>
            </a:pPr>
            <a:r>
              <a:rPr lang="en-US" sz="1800" dirty="0">
                <a:solidFill>
                  <a:srgbClr val="C17A3A"/>
                </a:solidFill>
                <a:latin typeface="QuattrocentoSans" pitchFamily="34" charset="0"/>
                <a:ea typeface="QuattrocentoSans" pitchFamily="34" charset="-122"/>
                <a:cs typeface="QuattrocentoSans" pitchFamily="34" charset="-120"/>
              </a:rPr>
              <a:t>●</a:t>
            </a:r>
            <a:pPr>
              <a:lnSpc>
                <a:spcPct val="150000"/>
              </a:lnSpc>
              <a:spcBef>
                <a:spcPts val="600"/>
              </a:spcBef>
            </a:pPr>
            <a:r>
              <a:rPr lang="en-US" sz="1800" dirty="0">
                <a:solidFill>
                  <a:srgbClr val="2D2D2D"/>
                </a:solidFill>
                <a:latin typeface="QuattrocentoSans" pitchFamily="34" charset="0"/>
                <a:ea typeface="QuattrocentoSans" pitchFamily="34" charset="-122"/>
                <a:cs typeface="QuattrocentoSans" pitchFamily="34" charset="-120"/>
              </a:rPr>
              <a:t> Modern projectors support wireless connectivity and interactive touch capabilities</a:t>
            </a:r>
            <a:endParaRPr lang="en-US" sz="2000" dirty="0"/>
          </a:p>
        </p:txBody>
      </p:sp>
      <p:sp>
        <p:nvSpPr>
          <p:cNvPr id="18" name="Text 16"/>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17</a:t>
            </a:r>
            <a:endParaRPr lang="en-US" sz="1400" dirty="0"/>
          </a:p>
        </p:txBody>
      </p:sp>
      <p:sp>
        <p:nvSpPr>
          <p:cNvPr id="19" name="Shape 17"/>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889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Printers — Laser, Inkjet &amp; Dot Matrix</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05000"/>
            <a:ext cx="4699000" cy="5334000"/>
          </a:xfrm>
          <a:prstGeom prst="rect">
            <a:avLst/>
          </a:prstGeom>
          <a:solidFill>
            <a:srgbClr val="EDEAE4"/>
          </a:solidFill>
          <a:ln/>
        </p:spPr>
      </p:sp>
      <p:sp>
        <p:nvSpPr>
          <p:cNvPr id="6" name="Shape 4"/>
          <p:cNvSpPr/>
          <p:nvPr/>
        </p:nvSpPr>
        <p:spPr>
          <a:xfrm>
            <a:off x="1016000" y="2222500"/>
            <a:ext cx="406400" cy="406400"/>
          </a:xfrm>
          <a:custGeom>
            <a:avLst/>
            <a:gdLst/>
            <a:ahLst/>
            <a:cxnLst/>
            <a:rect l="l" t="t" r="r" b="b"/>
            <a:pathLst>
              <a:path w="406400" h="406400">
                <a:moveTo>
                  <a:pt x="50800" y="50800"/>
                </a:moveTo>
                <a:cubicBezTo>
                  <a:pt x="50800" y="22781"/>
                  <a:pt x="73581" y="0"/>
                  <a:pt x="101600" y="0"/>
                </a:cubicBezTo>
                <a:lnTo>
                  <a:pt x="271066" y="0"/>
                </a:lnTo>
                <a:cubicBezTo>
                  <a:pt x="284559" y="0"/>
                  <a:pt x="297498" y="5318"/>
                  <a:pt x="307023" y="14843"/>
                </a:cubicBezTo>
                <a:lnTo>
                  <a:pt x="340757" y="48578"/>
                </a:lnTo>
                <a:cubicBezTo>
                  <a:pt x="350282" y="58103"/>
                  <a:pt x="355600" y="71041"/>
                  <a:pt x="355600" y="84534"/>
                </a:cubicBezTo>
                <a:lnTo>
                  <a:pt x="355600" y="114300"/>
                </a:lnTo>
                <a:lnTo>
                  <a:pt x="50800" y="114300"/>
                </a:lnTo>
                <a:lnTo>
                  <a:pt x="50800" y="50800"/>
                </a:lnTo>
                <a:close/>
                <a:moveTo>
                  <a:pt x="0" y="203200"/>
                </a:moveTo>
                <a:cubicBezTo>
                  <a:pt x="0" y="175181"/>
                  <a:pt x="22781" y="152400"/>
                  <a:pt x="50800" y="152400"/>
                </a:cubicBezTo>
                <a:lnTo>
                  <a:pt x="355600" y="152400"/>
                </a:lnTo>
                <a:cubicBezTo>
                  <a:pt x="383619" y="152400"/>
                  <a:pt x="406400" y="175181"/>
                  <a:pt x="406400" y="203200"/>
                </a:cubicBezTo>
                <a:lnTo>
                  <a:pt x="406400" y="279400"/>
                </a:lnTo>
                <a:cubicBezTo>
                  <a:pt x="406400" y="293449"/>
                  <a:pt x="395049" y="304800"/>
                  <a:pt x="381000" y="304800"/>
                </a:cubicBezTo>
                <a:lnTo>
                  <a:pt x="355600" y="304800"/>
                </a:lnTo>
                <a:lnTo>
                  <a:pt x="355600" y="355600"/>
                </a:lnTo>
                <a:cubicBezTo>
                  <a:pt x="355600" y="383619"/>
                  <a:pt x="332819" y="406400"/>
                  <a:pt x="304800" y="406400"/>
                </a:cubicBezTo>
                <a:lnTo>
                  <a:pt x="101600" y="406400"/>
                </a:lnTo>
                <a:cubicBezTo>
                  <a:pt x="73581" y="406400"/>
                  <a:pt x="50800" y="383619"/>
                  <a:pt x="50800" y="355600"/>
                </a:cubicBezTo>
                <a:lnTo>
                  <a:pt x="50800" y="304800"/>
                </a:lnTo>
                <a:lnTo>
                  <a:pt x="25400" y="304800"/>
                </a:lnTo>
                <a:cubicBezTo>
                  <a:pt x="11351" y="304800"/>
                  <a:pt x="0" y="293449"/>
                  <a:pt x="0" y="279400"/>
                </a:cubicBezTo>
                <a:lnTo>
                  <a:pt x="0" y="203200"/>
                </a:lnTo>
                <a:close/>
                <a:moveTo>
                  <a:pt x="101600" y="330200"/>
                </a:moveTo>
                <a:lnTo>
                  <a:pt x="101600" y="355600"/>
                </a:lnTo>
                <a:lnTo>
                  <a:pt x="304800" y="355600"/>
                </a:lnTo>
                <a:lnTo>
                  <a:pt x="304800" y="279400"/>
                </a:lnTo>
                <a:lnTo>
                  <a:pt x="101600" y="279400"/>
                </a:lnTo>
                <a:lnTo>
                  <a:pt x="101600" y="330200"/>
                </a:lnTo>
                <a:close/>
                <a:moveTo>
                  <a:pt x="361950" y="215900"/>
                </a:moveTo>
                <a:cubicBezTo>
                  <a:pt x="361950" y="205386"/>
                  <a:pt x="353414" y="196850"/>
                  <a:pt x="342900" y="196850"/>
                </a:cubicBezTo>
                <a:cubicBezTo>
                  <a:pt x="332386" y="196850"/>
                  <a:pt x="323850" y="205386"/>
                  <a:pt x="323850" y="215900"/>
                </a:cubicBezTo>
                <a:cubicBezTo>
                  <a:pt x="323850" y="226414"/>
                  <a:pt x="332386" y="234950"/>
                  <a:pt x="342900" y="234950"/>
                </a:cubicBezTo>
                <a:cubicBezTo>
                  <a:pt x="353414" y="234950"/>
                  <a:pt x="361950" y="226414"/>
                  <a:pt x="361950" y="215900"/>
                </a:cubicBezTo>
                <a:close/>
              </a:path>
            </a:pathLst>
          </a:custGeom>
          <a:solidFill>
            <a:srgbClr val="1B5E5E"/>
          </a:solidFill>
          <a:ln/>
        </p:spPr>
      </p:sp>
      <p:sp>
        <p:nvSpPr>
          <p:cNvPr id="7" name="Text 5"/>
          <p:cNvSpPr/>
          <p:nvPr/>
        </p:nvSpPr>
        <p:spPr>
          <a:xfrm>
            <a:off x="1587500" y="2197100"/>
            <a:ext cx="3556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Laser Printer</a:t>
            </a:r>
            <a:endParaRPr lang="en-US" sz="1600" dirty="0"/>
          </a:p>
        </p:txBody>
      </p:sp>
      <p:sp>
        <p:nvSpPr>
          <p:cNvPr id="8" name="Text 6"/>
          <p:cNvSpPr/>
          <p:nvPr/>
        </p:nvSpPr>
        <p:spPr>
          <a:xfrm>
            <a:off x="1016000" y="2857500"/>
            <a:ext cx="4127500" cy="4064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Uses laser beam and toner powder to produce high-quality output.</a:t>
            </a:r>
            <a:endParaRPr lang="en-US" sz="2000" dirty="0"/>
          </a:p>
          <a:p>
            <a:pPr>
              <a:lnSpc>
                <a:spcPct val="150000"/>
              </a:lnSpc>
              <a:spcBef>
                <a:spcPts val="800"/>
              </a:spcBef>
            </a:pPr>
            <a:r>
              <a:rPr lang="en-US" sz="1600" b="1" dirty="0">
                <a:solidFill>
                  <a:srgbClr val="2D2D2D"/>
                </a:solidFill>
                <a:latin typeface="QuattrocentoSans" pitchFamily="34" charset="0"/>
                <a:ea typeface="QuattrocentoSans" pitchFamily="34" charset="-122"/>
                <a:cs typeface="QuattrocentoSans" pitchFamily="34" charset="-120"/>
              </a:rPr>
              <a:t>Speed:</a:t>
            </a:r>
            <a:pPr>
              <a:lnSpc>
                <a:spcPct val="150000"/>
              </a:lnSpc>
              <a:spcBef>
                <a:spcPts val="800"/>
              </a:spcBef>
            </a:pPr>
            <a:r>
              <a:rPr lang="en-US" sz="1600" dirty="0">
                <a:solidFill>
                  <a:srgbClr val="2D2D2D"/>
                </a:solidFill>
                <a:latin typeface="QuattrocentoSans" pitchFamily="34" charset="0"/>
                <a:ea typeface="QuattrocentoSans" pitchFamily="34" charset="-122"/>
                <a:cs typeface="QuattrocentoSans" pitchFamily="34" charset="-120"/>
              </a:rPr>
              <a:t> 20–70 ppm</a:t>
            </a:r>
            <a:endParaRPr lang="en-US" sz="2000" dirty="0"/>
          </a:p>
          <a:p>
            <a:pPr>
              <a:lnSpc>
                <a:spcPct val="150000"/>
              </a:lnSpc>
              <a:spcBef>
                <a:spcPts val="400"/>
              </a:spcBef>
            </a:pPr>
            <a:r>
              <a:rPr lang="en-US" sz="1600" b="1" dirty="0">
                <a:solidFill>
                  <a:srgbClr val="2D2D2D"/>
                </a:solidFill>
                <a:latin typeface="QuattrocentoSans" pitchFamily="34" charset="0"/>
                <a:ea typeface="QuattrocentoSans" pitchFamily="34" charset="-122"/>
                <a:cs typeface="QuattrocentoSans" pitchFamily="34" charset="-120"/>
              </a:rPr>
              <a:t>Cost:</a:t>
            </a:r>
            <a:pPr>
              <a:lnSpc>
                <a:spcPct val="150000"/>
              </a:lnSpc>
              <a:spcBef>
                <a:spcPts val="400"/>
              </a:spcBef>
            </a:pPr>
            <a:r>
              <a:rPr lang="en-US" sz="1600" dirty="0">
                <a:solidFill>
                  <a:srgbClr val="2D2D2D"/>
                </a:solidFill>
                <a:latin typeface="QuattrocentoSans" pitchFamily="34" charset="0"/>
                <a:ea typeface="QuattrocentoSans" pitchFamily="34" charset="-122"/>
                <a:cs typeface="QuattrocentoSans" pitchFamily="34" charset="-120"/>
              </a:rPr>
              <a:t> Low per page</a:t>
            </a:r>
            <a:endParaRPr lang="en-US" sz="2000" dirty="0"/>
          </a:p>
          <a:p>
            <a:pPr>
              <a:lnSpc>
                <a:spcPct val="150000"/>
              </a:lnSpc>
              <a:spcBef>
                <a:spcPts val="800"/>
              </a:spcBef>
            </a:pPr>
            <a:r>
              <a:rPr lang="en-US" sz="1600" dirty="0">
                <a:solidFill>
                  <a:srgbClr val="C17A3A"/>
                </a:solidFill>
                <a:latin typeface="QuattrocentoSans" pitchFamily="34" charset="0"/>
                <a:ea typeface="QuattrocentoSans" pitchFamily="34" charset="-122"/>
                <a:cs typeface="QuattrocentoSans" pitchFamily="34" charset="-120"/>
              </a:rPr>
              <a:t>Pros:</a:t>
            </a:r>
            <a:pPr>
              <a:lnSpc>
                <a:spcPct val="150000"/>
              </a:lnSpc>
              <a:spcBef>
                <a:spcPts val="800"/>
              </a:spcBef>
            </a:pPr>
            <a:r>
              <a:rPr lang="en-US" sz="1600" dirty="0">
                <a:solidFill>
                  <a:srgbClr val="2D2D2D"/>
                </a:solidFill>
                <a:latin typeface="QuattrocentoSans" pitchFamily="34" charset="0"/>
                <a:ea typeface="QuattrocentoSans" pitchFamily="34" charset="-122"/>
                <a:cs typeface="QuattrocentoSans" pitchFamily="34" charset="-120"/>
              </a:rPr>
              <a:t> Fast, sharp text, efficient</a:t>
            </a:r>
            <a:endParaRPr lang="en-US" sz="2000" dirty="0"/>
          </a:p>
          <a:p>
            <a:pPr>
              <a:lnSpc>
                <a:spcPct val="150000"/>
              </a:lnSpc>
              <a:spcBef>
                <a:spcPts val="400"/>
              </a:spcBef>
            </a:pPr>
            <a:r>
              <a:rPr lang="en-US" sz="1600" dirty="0">
                <a:solidFill>
                  <a:srgbClr val="8A8580"/>
                </a:solidFill>
                <a:latin typeface="QuattrocentoSans" pitchFamily="34" charset="0"/>
                <a:ea typeface="QuattrocentoSans" pitchFamily="34" charset="-122"/>
                <a:cs typeface="QuattrocentoSans" pitchFamily="34" charset="-120"/>
              </a:rPr>
              <a:t>Cons:</a:t>
            </a:r>
            <a:pPr>
              <a:lnSpc>
                <a:spcPct val="150000"/>
              </a:lnSpc>
              <a:spcBef>
                <a:spcPts val="400"/>
              </a:spcBef>
            </a:pPr>
            <a:r>
              <a:rPr lang="en-US" sz="1600" dirty="0">
                <a:solidFill>
                  <a:srgbClr val="2D2D2D"/>
                </a:solidFill>
                <a:latin typeface="QuattrocentoSans" pitchFamily="34" charset="0"/>
                <a:ea typeface="QuattrocentoSans" pitchFamily="34" charset="-122"/>
                <a:cs typeface="QuattrocentoSans" pitchFamily="34" charset="-120"/>
              </a:rPr>
              <a:t> Higher upfront cost</a:t>
            </a:r>
            <a:endParaRPr lang="en-US" sz="2000" dirty="0"/>
          </a:p>
          <a:p>
            <a:pPr>
              <a:lnSpc>
                <a:spcPct val="150000"/>
              </a:lnSpc>
              <a:spcBef>
                <a:spcPts val="1000"/>
              </a:spcBef>
            </a:pPr>
            <a:r>
              <a:rPr lang="en-US" sz="1600" b="1" dirty="0">
                <a:solidFill>
                  <a:srgbClr val="2D2D2D"/>
                </a:solidFill>
                <a:latin typeface="QuattrocentoSans" pitchFamily="34" charset="0"/>
                <a:ea typeface="QuattrocentoSans" pitchFamily="34" charset="-122"/>
                <a:cs typeface="QuattrocentoSans" pitchFamily="34" charset="-120"/>
              </a:rPr>
              <a:t>Best for:</a:t>
            </a:r>
            <a:pPr>
              <a:lnSpc>
                <a:spcPct val="150000"/>
              </a:lnSpc>
              <a:spcBef>
                <a:spcPts val="1000"/>
              </a:spcBef>
            </a:pPr>
            <a:r>
              <a:rPr lang="en-US" sz="1600" dirty="0">
                <a:solidFill>
                  <a:srgbClr val="2D2D2D"/>
                </a:solidFill>
                <a:latin typeface="QuattrocentoSans" pitchFamily="34" charset="0"/>
                <a:ea typeface="QuattrocentoSans" pitchFamily="34" charset="-122"/>
                <a:cs typeface="QuattrocentoSans" pitchFamily="34" charset="-120"/>
              </a:rPr>
              <a:t> Offices, high-volume text</a:t>
            </a:r>
            <a:endParaRPr lang="en-US" sz="2000" dirty="0"/>
          </a:p>
        </p:txBody>
      </p:sp>
      <p:sp>
        <p:nvSpPr>
          <p:cNvPr id="9" name="Shape 7"/>
          <p:cNvSpPr/>
          <p:nvPr/>
        </p:nvSpPr>
        <p:spPr>
          <a:xfrm>
            <a:off x="5778500" y="1905000"/>
            <a:ext cx="4699000" cy="5334000"/>
          </a:xfrm>
          <a:prstGeom prst="rect">
            <a:avLst/>
          </a:prstGeom>
          <a:solidFill>
            <a:srgbClr val="EDEAE4"/>
          </a:solidFill>
          <a:ln/>
        </p:spPr>
      </p:sp>
      <p:sp>
        <p:nvSpPr>
          <p:cNvPr id="10" name="Shape 8"/>
          <p:cNvSpPr/>
          <p:nvPr/>
        </p:nvSpPr>
        <p:spPr>
          <a:xfrm>
            <a:off x="6083300" y="2222500"/>
            <a:ext cx="304800" cy="406400"/>
          </a:xfrm>
          <a:custGeom>
            <a:avLst/>
            <a:gdLst/>
            <a:ahLst/>
            <a:cxnLst/>
            <a:rect l="l" t="t" r="r" b="b"/>
            <a:pathLst>
              <a:path w="304800" h="406400">
                <a:moveTo>
                  <a:pt x="152400" y="406400"/>
                </a:moveTo>
                <a:cubicBezTo>
                  <a:pt x="68263" y="406400"/>
                  <a:pt x="0" y="338138"/>
                  <a:pt x="0" y="254000"/>
                </a:cubicBezTo>
                <a:cubicBezTo>
                  <a:pt x="0" y="181610"/>
                  <a:pt x="103346" y="36433"/>
                  <a:pt x="132239" y="-2778"/>
                </a:cubicBezTo>
                <a:cubicBezTo>
                  <a:pt x="136922" y="-9128"/>
                  <a:pt x="144304" y="-12700"/>
                  <a:pt x="152241" y="-12700"/>
                </a:cubicBezTo>
                <a:lnTo>
                  <a:pt x="152559" y="-12700"/>
                </a:lnTo>
                <a:cubicBezTo>
                  <a:pt x="160496" y="-12700"/>
                  <a:pt x="167878" y="-9128"/>
                  <a:pt x="172561" y="-2778"/>
                </a:cubicBezTo>
                <a:cubicBezTo>
                  <a:pt x="201454" y="36433"/>
                  <a:pt x="304800" y="181610"/>
                  <a:pt x="304800" y="254000"/>
                </a:cubicBezTo>
                <a:cubicBezTo>
                  <a:pt x="304800" y="338138"/>
                  <a:pt x="236538" y="406400"/>
                  <a:pt x="152400" y="406400"/>
                </a:cubicBezTo>
                <a:close/>
                <a:moveTo>
                  <a:pt x="88900" y="247650"/>
                </a:moveTo>
                <a:cubicBezTo>
                  <a:pt x="88900" y="237093"/>
                  <a:pt x="80407" y="228600"/>
                  <a:pt x="69850" y="228600"/>
                </a:cubicBezTo>
                <a:cubicBezTo>
                  <a:pt x="59293" y="228600"/>
                  <a:pt x="50800" y="237093"/>
                  <a:pt x="50800" y="247650"/>
                </a:cubicBezTo>
                <a:cubicBezTo>
                  <a:pt x="50800" y="307261"/>
                  <a:pt x="99139" y="355600"/>
                  <a:pt x="158750" y="355600"/>
                </a:cubicBezTo>
                <a:cubicBezTo>
                  <a:pt x="169307" y="355600"/>
                  <a:pt x="177800" y="347107"/>
                  <a:pt x="177800" y="336550"/>
                </a:cubicBezTo>
                <a:cubicBezTo>
                  <a:pt x="177800" y="325993"/>
                  <a:pt x="169307" y="317500"/>
                  <a:pt x="158750" y="317500"/>
                </a:cubicBezTo>
                <a:cubicBezTo>
                  <a:pt x="120174" y="317500"/>
                  <a:pt x="88900" y="286226"/>
                  <a:pt x="88900" y="247650"/>
                </a:cubicBezTo>
                <a:close/>
              </a:path>
            </a:pathLst>
          </a:custGeom>
          <a:solidFill>
            <a:srgbClr val="1B5E5E"/>
          </a:solidFill>
          <a:ln/>
        </p:spPr>
      </p:sp>
      <p:sp>
        <p:nvSpPr>
          <p:cNvPr id="11" name="Text 9"/>
          <p:cNvSpPr/>
          <p:nvPr/>
        </p:nvSpPr>
        <p:spPr>
          <a:xfrm>
            <a:off x="6604000" y="2197100"/>
            <a:ext cx="3556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Inkjet Printer</a:t>
            </a:r>
            <a:endParaRPr lang="en-US" sz="1600" dirty="0"/>
          </a:p>
        </p:txBody>
      </p:sp>
      <p:sp>
        <p:nvSpPr>
          <p:cNvPr id="12" name="Text 10"/>
          <p:cNvSpPr/>
          <p:nvPr/>
        </p:nvSpPr>
        <p:spPr>
          <a:xfrm>
            <a:off x="6032500" y="2857500"/>
            <a:ext cx="4127500" cy="4064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Sprays tiny droplets of liquid ink onto paper.</a:t>
            </a:r>
            <a:endParaRPr lang="en-US" sz="2000" dirty="0"/>
          </a:p>
          <a:p>
            <a:pPr>
              <a:lnSpc>
                <a:spcPct val="150000"/>
              </a:lnSpc>
              <a:spcBef>
                <a:spcPts val="800"/>
              </a:spcBef>
            </a:pPr>
            <a:r>
              <a:rPr lang="en-US" sz="1600" b="1" dirty="0">
                <a:solidFill>
                  <a:srgbClr val="2D2D2D"/>
                </a:solidFill>
                <a:latin typeface="QuattrocentoSans" pitchFamily="34" charset="0"/>
                <a:ea typeface="QuattrocentoSans" pitchFamily="34" charset="-122"/>
                <a:cs typeface="QuattrocentoSans" pitchFamily="34" charset="-120"/>
              </a:rPr>
              <a:t>Quality:</a:t>
            </a:r>
            <a:pPr>
              <a:lnSpc>
                <a:spcPct val="150000"/>
              </a:lnSpc>
              <a:spcBef>
                <a:spcPts val="800"/>
              </a:spcBef>
            </a:pPr>
            <a:r>
              <a:rPr lang="en-US" sz="1600" dirty="0">
                <a:solidFill>
                  <a:srgbClr val="2D2D2D"/>
                </a:solidFill>
                <a:latin typeface="QuattrocentoSans" pitchFamily="34" charset="0"/>
                <a:ea typeface="QuattrocentoSans" pitchFamily="34" charset="-122"/>
                <a:cs typeface="QuattrocentoSans" pitchFamily="34" charset="-120"/>
              </a:rPr>
              <a:t> Excellent photos</a:t>
            </a:r>
            <a:endParaRPr lang="en-US" sz="2000" dirty="0"/>
          </a:p>
          <a:p>
            <a:pPr>
              <a:lnSpc>
                <a:spcPct val="150000"/>
              </a:lnSpc>
              <a:spcBef>
                <a:spcPts val="400"/>
              </a:spcBef>
            </a:pPr>
            <a:r>
              <a:rPr lang="en-US" sz="1600" b="1" dirty="0">
                <a:solidFill>
                  <a:srgbClr val="2D2D2D"/>
                </a:solidFill>
                <a:latin typeface="QuattrocentoSans" pitchFamily="34" charset="0"/>
                <a:ea typeface="QuattrocentoSans" pitchFamily="34" charset="-122"/>
                <a:cs typeface="QuattrocentoSans" pitchFamily="34" charset="-120"/>
              </a:rPr>
              <a:t>Cost:</a:t>
            </a:r>
            <a:pPr>
              <a:lnSpc>
                <a:spcPct val="150000"/>
              </a:lnSpc>
              <a:spcBef>
                <a:spcPts val="400"/>
              </a:spcBef>
            </a:pPr>
            <a:r>
              <a:rPr lang="en-US" sz="1600" dirty="0">
                <a:solidFill>
                  <a:srgbClr val="2D2D2D"/>
                </a:solidFill>
                <a:latin typeface="QuattrocentoSans" pitchFamily="34" charset="0"/>
                <a:ea typeface="QuattrocentoSans" pitchFamily="34" charset="-122"/>
                <a:cs typeface="QuattrocentoSans" pitchFamily="34" charset="-120"/>
              </a:rPr>
              <a:t> Affordable initial price</a:t>
            </a:r>
            <a:endParaRPr lang="en-US" sz="2000" dirty="0"/>
          </a:p>
          <a:p>
            <a:pPr>
              <a:lnSpc>
                <a:spcPct val="150000"/>
              </a:lnSpc>
              <a:spcBef>
                <a:spcPts val="800"/>
              </a:spcBef>
            </a:pPr>
            <a:r>
              <a:rPr lang="en-US" sz="1600" dirty="0">
                <a:solidFill>
                  <a:srgbClr val="C17A3A"/>
                </a:solidFill>
                <a:latin typeface="QuattrocentoSans" pitchFamily="34" charset="0"/>
                <a:ea typeface="QuattrocentoSans" pitchFamily="34" charset="-122"/>
                <a:cs typeface="QuattrocentoSans" pitchFamily="34" charset="-120"/>
              </a:rPr>
              <a:t>Pros:</a:t>
            </a:r>
            <a:pPr>
              <a:lnSpc>
                <a:spcPct val="150000"/>
              </a:lnSpc>
              <a:spcBef>
                <a:spcPts val="800"/>
              </a:spcBef>
            </a:pPr>
            <a:r>
              <a:rPr lang="en-US" sz="1600" dirty="0">
                <a:solidFill>
                  <a:srgbClr val="2D2D2D"/>
                </a:solidFill>
                <a:latin typeface="QuattrocentoSans" pitchFamily="34" charset="0"/>
                <a:ea typeface="QuattrocentoSans" pitchFamily="34" charset="-122"/>
                <a:cs typeface="QuattrocentoSans" pitchFamily="34" charset="-120"/>
              </a:rPr>
              <a:t> Photo quality, color, versatile media</a:t>
            </a:r>
            <a:endParaRPr lang="en-US" sz="2000" dirty="0"/>
          </a:p>
          <a:p>
            <a:pPr>
              <a:lnSpc>
                <a:spcPct val="150000"/>
              </a:lnSpc>
              <a:spcBef>
                <a:spcPts val="400"/>
              </a:spcBef>
            </a:pPr>
            <a:r>
              <a:rPr lang="en-US" sz="1600" dirty="0">
                <a:solidFill>
                  <a:srgbClr val="8A8580"/>
                </a:solidFill>
                <a:latin typeface="QuattrocentoSans" pitchFamily="34" charset="0"/>
                <a:ea typeface="QuattrocentoSans" pitchFamily="34" charset="-122"/>
                <a:cs typeface="QuattrocentoSans" pitchFamily="34" charset="-120"/>
              </a:rPr>
              <a:t>Cons:</a:t>
            </a:r>
            <a:pPr>
              <a:lnSpc>
                <a:spcPct val="150000"/>
              </a:lnSpc>
              <a:spcBef>
                <a:spcPts val="400"/>
              </a:spcBef>
            </a:pPr>
            <a:r>
              <a:rPr lang="en-US" sz="1600" dirty="0">
                <a:solidFill>
                  <a:srgbClr val="2D2D2D"/>
                </a:solidFill>
                <a:latin typeface="QuattrocentoSans" pitchFamily="34" charset="0"/>
                <a:ea typeface="QuattrocentoSans" pitchFamily="34" charset="-122"/>
                <a:cs typeface="QuattrocentoSans" pitchFamily="34" charset="-120"/>
              </a:rPr>
              <a:t> Slower, expensive ink</a:t>
            </a:r>
            <a:endParaRPr lang="en-US" sz="2000" dirty="0"/>
          </a:p>
          <a:p>
            <a:pPr>
              <a:lnSpc>
                <a:spcPct val="150000"/>
              </a:lnSpc>
              <a:spcBef>
                <a:spcPts val="1000"/>
              </a:spcBef>
            </a:pPr>
            <a:r>
              <a:rPr lang="en-US" sz="1600" b="1" dirty="0">
                <a:solidFill>
                  <a:srgbClr val="2D2D2D"/>
                </a:solidFill>
                <a:latin typeface="QuattrocentoSans" pitchFamily="34" charset="0"/>
                <a:ea typeface="QuattrocentoSans" pitchFamily="34" charset="-122"/>
                <a:cs typeface="QuattrocentoSans" pitchFamily="34" charset="-120"/>
              </a:rPr>
              <a:t>Best for:</a:t>
            </a:r>
            <a:pPr>
              <a:lnSpc>
                <a:spcPct val="150000"/>
              </a:lnSpc>
              <a:spcBef>
                <a:spcPts val="1000"/>
              </a:spcBef>
            </a:pPr>
            <a:r>
              <a:rPr lang="en-US" sz="1600" dirty="0">
                <a:solidFill>
                  <a:srgbClr val="2D2D2D"/>
                </a:solidFill>
                <a:latin typeface="QuattrocentoSans" pitchFamily="34" charset="0"/>
                <a:ea typeface="QuattrocentoSans" pitchFamily="34" charset="-122"/>
                <a:cs typeface="QuattrocentoSans" pitchFamily="34" charset="-120"/>
              </a:rPr>
              <a:t> Photos, creative work</a:t>
            </a:r>
            <a:endParaRPr lang="en-US" sz="2000" dirty="0"/>
          </a:p>
        </p:txBody>
      </p:sp>
      <p:sp>
        <p:nvSpPr>
          <p:cNvPr id="13" name="Shape 11"/>
          <p:cNvSpPr/>
          <p:nvPr/>
        </p:nvSpPr>
        <p:spPr>
          <a:xfrm>
            <a:off x="10795000" y="1905000"/>
            <a:ext cx="4699000" cy="5334000"/>
          </a:xfrm>
          <a:prstGeom prst="rect">
            <a:avLst/>
          </a:prstGeom>
          <a:solidFill>
            <a:srgbClr val="EDEAE4"/>
          </a:solidFill>
          <a:ln/>
        </p:spPr>
      </p:sp>
      <p:sp>
        <p:nvSpPr>
          <p:cNvPr id="14" name="Shape 12"/>
          <p:cNvSpPr/>
          <p:nvPr/>
        </p:nvSpPr>
        <p:spPr>
          <a:xfrm>
            <a:off x="11049000" y="2222500"/>
            <a:ext cx="406400" cy="406400"/>
          </a:xfrm>
          <a:custGeom>
            <a:avLst/>
            <a:gdLst/>
            <a:ahLst/>
            <a:cxnLst/>
            <a:rect l="l" t="t" r="r" b="b"/>
            <a:pathLst>
              <a:path w="406400" h="406400">
                <a:moveTo>
                  <a:pt x="170418" y="556"/>
                </a:moveTo>
                <a:cubicBezTo>
                  <a:pt x="184150" y="3493"/>
                  <a:pt x="192881" y="16986"/>
                  <a:pt x="189944" y="30718"/>
                </a:cubicBezTo>
                <a:lnTo>
                  <a:pt x="174784" y="101600"/>
                </a:lnTo>
                <a:lnTo>
                  <a:pt x="275193" y="101600"/>
                </a:lnTo>
                <a:lnTo>
                  <a:pt x="292656" y="20082"/>
                </a:lnTo>
                <a:cubicBezTo>
                  <a:pt x="295592" y="6350"/>
                  <a:pt x="309086" y="-2381"/>
                  <a:pt x="322818" y="556"/>
                </a:cubicBezTo>
                <a:cubicBezTo>
                  <a:pt x="336550" y="3493"/>
                  <a:pt x="345281" y="16986"/>
                  <a:pt x="342344" y="30718"/>
                </a:cubicBezTo>
                <a:lnTo>
                  <a:pt x="327184" y="101600"/>
                </a:lnTo>
                <a:lnTo>
                  <a:pt x="381000" y="101600"/>
                </a:lnTo>
                <a:cubicBezTo>
                  <a:pt x="395049" y="101600"/>
                  <a:pt x="406400" y="112951"/>
                  <a:pt x="406400" y="127000"/>
                </a:cubicBezTo>
                <a:cubicBezTo>
                  <a:pt x="406400" y="141049"/>
                  <a:pt x="395049" y="152400"/>
                  <a:pt x="381000" y="152400"/>
                </a:cubicBezTo>
                <a:lnTo>
                  <a:pt x="316230" y="152400"/>
                </a:lnTo>
                <a:lnTo>
                  <a:pt x="294481" y="254000"/>
                </a:lnTo>
                <a:lnTo>
                  <a:pt x="348298" y="254000"/>
                </a:lnTo>
                <a:cubicBezTo>
                  <a:pt x="362347" y="254000"/>
                  <a:pt x="373698" y="265351"/>
                  <a:pt x="373698" y="279400"/>
                </a:cubicBezTo>
                <a:cubicBezTo>
                  <a:pt x="373698" y="293449"/>
                  <a:pt x="362347" y="304800"/>
                  <a:pt x="348298" y="304800"/>
                </a:cubicBezTo>
                <a:lnTo>
                  <a:pt x="283528" y="304800"/>
                </a:lnTo>
                <a:lnTo>
                  <a:pt x="266065" y="386318"/>
                </a:lnTo>
                <a:cubicBezTo>
                  <a:pt x="263128" y="400050"/>
                  <a:pt x="249634" y="408781"/>
                  <a:pt x="235903" y="405844"/>
                </a:cubicBezTo>
                <a:cubicBezTo>
                  <a:pt x="222171" y="402908"/>
                  <a:pt x="213439" y="389414"/>
                  <a:pt x="216376" y="375682"/>
                </a:cubicBezTo>
                <a:lnTo>
                  <a:pt x="231537" y="304800"/>
                </a:lnTo>
                <a:lnTo>
                  <a:pt x="131128" y="304800"/>
                </a:lnTo>
                <a:lnTo>
                  <a:pt x="113665" y="386318"/>
                </a:lnTo>
                <a:cubicBezTo>
                  <a:pt x="110728" y="400050"/>
                  <a:pt x="97234" y="408781"/>
                  <a:pt x="83503" y="405844"/>
                </a:cubicBezTo>
                <a:cubicBezTo>
                  <a:pt x="69771" y="402908"/>
                  <a:pt x="61039" y="389414"/>
                  <a:pt x="63976" y="375682"/>
                </a:cubicBezTo>
                <a:lnTo>
                  <a:pt x="79216" y="304800"/>
                </a:lnTo>
                <a:lnTo>
                  <a:pt x="25400" y="304800"/>
                </a:lnTo>
                <a:cubicBezTo>
                  <a:pt x="11351" y="304800"/>
                  <a:pt x="0" y="293449"/>
                  <a:pt x="0" y="279400"/>
                </a:cubicBezTo>
                <a:cubicBezTo>
                  <a:pt x="0" y="265351"/>
                  <a:pt x="11351" y="254000"/>
                  <a:pt x="25400" y="254000"/>
                </a:cubicBezTo>
                <a:lnTo>
                  <a:pt x="90170" y="254000"/>
                </a:lnTo>
                <a:lnTo>
                  <a:pt x="111919" y="152400"/>
                </a:lnTo>
                <a:lnTo>
                  <a:pt x="58103" y="152400"/>
                </a:lnTo>
                <a:cubicBezTo>
                  <a:pt x="44053" y="152400"/>
                  <a:pt x="32703" y="141049"/>
                  <a:pt x="32703" y="127000"/>
                </a:cubicBezTo>
                <a:cubicBezTo>
                  <a:pt x="32703" y="112951"/>
                  <a:pt x="44053" y="101600"/>
                  <a:pt x="58103" y="101600"/>
                </a:cubicBezTo>
                <a:lnTo>
                  <a:pt x="122873" y="101600"/>
                </a:lnTo>
                <a:lnTo>
                  <a:pt x="140335" y="20082"/>
                </a:lnTo>
                <a:cubicBezTo>
                  <a:pt x="143193" y="6350"/>
                  <a:pt x="156686" y="-2381"/>
                  <a:pt x="170418" y="556"/>
                </a:cubicBezTo>
                <a:close/>
                <a:moveTo>
                  <a:pt x="163830" y="152400"/>
                </a:moveTo>
                <a:lnTo>
                  <a:pt x="142081" y="254000"/>
                </a:lnTo>
                <a:lnTo>
                  <a:pt x="242491" y="254000"/>
                </a:lnTo>
                <a:lnTo>
                  <a:pt x="264239" y="152400"/>
                </a:lnTo>
                <a:lnTo>
                  <a:pt x="163830" y="152400"/>
                </a:lnTo>
                <a:close/>
              </a:path>
            </a:pathLst>
          </a:custGeom>
          <a:solidFill>
            <a:srgbClr val="1B5E5E"/>
          </a:solidFill>
          <a:ln/>
        </p:spPr>
      </p:sp>
      <p:sp>
        <p:nvSpPr>
          <p:cNvPr id="15" name="Text 13"/>
          <p:cNvSpPr/>
          <p:nvPr/>
        </p:nvSpPr>
        <p:spPr>
          <a:xfrm>
            <a:off x="11620500" y="2197100"/>
            <a:ext cx="3556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Dot Matrix</a:t>
            </a:r>
            <a:endParaRPr lang="en-US" sz="1600" dirty="0"/>
          </a:p>
        </p:txBody>
      </p:sp>
      <p:sp>
        <p:nvSpPr>
          <p:cNvPr id="16" name="Text 14"/>
          <p:cNvSpPr/>
          <p:nvPr/>
        </p:nvSpPr>
        <p:spPr>
          <a:xfrm>
            <a:off x="11049000" y="2857500"/>
            <a:ext cx="4127500" cy="4064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Pins strike an ink ribbon to create characters.</a:t>
            </a:r>
            <a:endParaRPr lang="en-US" sz="2000" dirty="0"/>
          </a:p>
          <a:p>
            <a:pPr>
              <a:lnSpc>
                <a:spcPct val="150000"/>
              </a:lnSpc>
              <a:spcBef>
                <a:spcPts val="800"/>
              </a:spcBef>
            </a:pPr>
            <a:r>
              <a:rPr lang="en-US" sz="1600" b="1" dirty="0">
                <a:solidFill>
                  <a:srgbClr val="2D2D2D"/>
                </a:solidFill>
                <a:latin typeface="QuattrocentoSans" pitchFamily="34" charset="0"/>
                <a:ea typeface="QuattrocentoSans" pitchFamily="34" charset="-122"/>
                <a:cs typeface="QuattrocentoSans" pitchFamily="34" charset="-120"/>
              </a:rPr>
              <a:t>Feature:</a:t>
            </a:r>
            <a:pPr>
              <a:lnSpc>
                <a:spcPct val="150000"/>
              </a:lnSpc>
              <a:spcBef>
                <a:spcPts val="800"/>
              </a:spcBef>
            </a:pPr>
            <a:r>
              <a:rPr lang="en-US" sz="1600" dirty="0">
                <a:solidFill>
                  <a:srgbClr val="2D2D2D"/>
                </a:solidFill>
                <a:latin typeface="QuattrocentoSans" pitchFamily="34" charset="0"/>
                <a:ea typeface="QuattrocentoSans" pitchFamily="34" charset="-122"/>
                <a:cs typeface="QuattrocentoSans" pitchFamily="34" charset="-120"/>
              </a:rPr>
              <a:t> Multi-layer forms</a:t>
            </a:r>
            <a:endParaRPr lang="en-US" sz="2000" dirty="0"/>
          </a:p>
          <a:p>
            <a:pPr>
              <a:lnSpc>
                <a:spcPct val="150000"/>
              </a:lnSpc>
              <a:spcBef>
                <a:spcPts val="400"/>
              </a:spcBef>
            </a:pPr>
            <a:r>
              <a:rPr lang="en-US" sz="1600" b="1" dirty="0">
                <a:solidFill>
                  <a:srgbClr val="2D2D2D"/>
                </a:solidFill>
                <a:latin typeface="QuattrocentoSans" pitchFamily="34" charset="0"/>
                <a:ea typeface="QuattrocentoSans" pitchFamily="34" charset="-122"/>
                <a:cs typeface="QuattrocentoSans" pitchFamily="34" charset="-120"/>
              </a:rPr>
              <a:t>Cost:</a:t>
            </a:r>
            <a:pPr>
              <a:lnSpc>
                <a:spcPct val="150000"/>
              </a:lnSpc>
              <a:spcBef>
                <a:spcPts val="400"/>
              </a:spcBef>
            </a:pPr>
            <a:r>
              <a:rPr lang="en-US" sz="1600" dirty="0">
                <a:solidFill>
                  <a:srgbClr val="2D2D2D"/>
                </a:solidFill>
                <a:latin typeface="QuattrocentoSans" pitchFamily="34" charset="0"/>
                <a:ea typeface="QuattrocentoSans" pitchFamily="34" charset="-122"/>
                <a:cs typeface="QuattrocentoSans" pitchFamily="34" charset="-120"/>
              </a:rPr>
              <a:t> Very low operating cost</a:t>
            </a:r>
            <a:endParaRPr lang="en-US" sz="2000" dirty="0"/>
          </a:p>
          <a:p>
            <a:pPr>
              <a:lnSpc>
                <a:spcPct val="150000"/>
              </a:lnSpc>
              <a:spcBef>
                <a:spcPts val="800"/>
              </a:spcBef>
            </a:pPr>
            <a:r>
              <a:rPr lang="en-US" sz="1600" dirty="0">
                <a:solidFill>
                  <a:srgbClr val="C17A3A"/>
                </a:solidFill>
                <a:latin typeface="QuattrocentoSans" pitchFamily="34" charset="0"/>
                <a:ea typeface="QuattrocentoSans" pitchFamily="34" charset="-122"/>
                <a:cs typeface="QuattrocentoSans" pitchFamily="34" charset="-120"/>
              </a:rPr>
              <a:t>Pros:</a:t>
            </a:r>
            <a:pPr>
              <a:lnSpc>
                <a:spcPct val="150000"/>
              </a:lnSpc>
              <a:spcBef>
                <a:spcPts val="800"/>
              </a:spcBef>
            </a:pPr>
            <a:r>
              <a:rPr lang="en-US" sz="1600" dirty="0">
                <a:solidFill>
                  <a:srgbClr val="2D2D2D"/>
                </a:solidFill>
                <a:latin typeface="QuattrocentoSans" pitchFamily="34" charset="0"/>
                <a:ea typeface="QuattrocentoSans" pitchFamily="34" charset="-122"/>
                <a:cs typeface="QuattrocentoSans" pitchFamily="34" charset="-120"/>
              </a:rPr>
              <a:t> Carbon copies, durable, cheap</a:t>
            </a:r>
            <a:endParaRPr lang="en-US" sz="2000" dirty="0"/>
          </a:p>
          <a:p>
            <a:pPr>
              <a:lnSpc>
                <a:spcPct val="150000"/>
              </a:lnSpc>
              <a:spcBef>
                <a:spcPts val="400"/>
              </a:spcBef>
            </a:pPr>
            <a:r>
              <a:rPr lang="en-US" sz="1600" dirty="0">
                <a:solidFill>
                  <a:srgbClr val="8A8580"/>
                </a:solidFill>
                <a:latin typeface="QuattrocentoSans" pitchFamily="34" charset="0"/>
                <a:ea typeface="QuattrocentoSans" pitchFamily="34" charset="-122"/>
                <a:cs typeface="QuattrocentoSans" pitchFamily="34" charset="-120"/>
              </a:rPr>
              <a:t>Cons:</a:t>
            </a:r>
            <a:pPr>
              <a:lnSpc>
                <a:spcPct val="150000"/>
              </a:lnSpc>
              <a:spcBef>
                <a:spcPts val="400"/>
              </a:spcBef>
            </a:pPr>
            <a:r>
              <a:rPr lang="en-US" sz="1600" dirty="0">
                <a:solidFill>
                  <a:srgbClr val="2D2D2D"/>
                </a:solidFill>
                <a:latin typeface="QuattrocentoSans" pitchFamily="34" charset="0"/>
                <a:ea typeface="QuattrocentoSans" pitchFamily="34" charset="-122"/>
                <a:cs typeface="QuattrocentoSans" pitchFamily="34" charset="-120"/>
              </a:rPr>
              <a:t> Loud, low quality, slow</a:t>
            </a:r>
            <a:endParaRPr lang="en-US" sz="2000" dirty="0"/>
          </a:p>
          <a:p>
            <a:pPr>
              <a:lnSpc>
                <a:spcPct val="150000"/>
              </a:lnSpc>
              <a:spcBef>
                <a:spcPts val="1000"/>
              </a:spcBef>
            </a:pPr>
            <a:r>
              <a:rPr lang="en-US" sz="1600" b="1" dirty="0">
                <a:solidFill>
                  <a:srgbClr val="2D2D2D"/>
                </a:solidFill>
                <a:latin typeface="QuattrocentoSans" pitchFamily="34" charset="0"/>
                <a:ea typeface="QuattrocentoSans" pitchFamily="34" charset="-122"/>
                <a:cs typeface="QuattrocentoSans" pitchFamily="34" charset="-120"/>
              </a:rPr>
              <a:t>Best for:</a:t>
            </a:r>
            <a:pPr>
              <a:lnSpc>
                <a:spcPct val="150000"/>
              </a:lnSpc>
              <a:spcBef>
                <a:spcPts val="1000"/>
              </a:spcBef>
            </a:pPr>
            <a:r>
              <a:rPr lang="en-US" sz="1600" dirty="0">
                <a:solidFill>
                  <a:srgbClr val="2D2D2D"/>
                </a:solidFill>
                <a:latin typeface="QuattrocentoSans" pitchFamily="34" charset="0"/>
                <a:ea typeface="QuattrocentoSans" pitchFamily="34" charset="-122"/>
                <a:cs typeface="QuattrocentoSans" pitchFamily="34" charset="-120"/>
              </a:rPr>
              <a:t> Receipts, invoices, forms</a:t>
            </a:r>
            <a:endParaRPr lang="en-US" sz="2000" dirty="0"/>
          </a:p>
        </p:txBody>
      </p:sp>
      <p:sp>
        <p:nvSpPr>
          <p:cNvPr id="17" name="Shape 15"/>
          <p:cNvSpPr/>
          <p:nvPr/>
        </p:nvSpPr>
        <p:spPr>
          <a:xfrm>
            <a:off x="762000" y="7556500"/>
            <a:ext cx="14732000" cy="635000"/>
          </a:xfrm>
          <a:prstGeom prst="rect">
            <a:avLst/>
          </a:prstGeom>
          <a:solidFill>
            <a:srgbClr val="1B5E5E"/>
          </a:solidFill>
          <a:ln/>
        </p:spPr>
      </p:sp>
      <p:sp>
        <p:nvSpPr>
          <p:cNvPr id="18" name="Text 16"/>
          <p:cNvSpPr/>
          <p:nvPr/>
        </p:nvSpPr>
        <p:spPr>
          <a:xfrm>
            <a:off x="1143000" y="7683500"/>
            <a:ext cx="13970000" cy="381000"/>
          </a:xfrm>
          <a:prstGeom prst="rect">
            <a:avLst/>
          </a:prstGeom>
          <a:noFill/>
          <a:ln/>
        </p:spPr>
        <p:txBody>
          <a:bodyPr wrap="square" lIns="0" tIns="0" rIns="0" bIns="0" rtlCol="0" anchor="ctr"/>
          <a:lstStyle/>
          <a:p>
            <a:pPr>
              <a:lnSpc>
                <a:spcPct val="100000"/>
              </a:lnSpc>
            </a:pPr>
            <a:r>
              <a:rPr lang="en-US" sz="1600" dirty="0">
                <a:solidFill>
                  <a:srgbClr val="C17A3A"/>
                </a:solidFill>
                <a:latin typeface="Quattrocento Sans" pitchFamily="34" charset="0"/>
                <a:ea typeface="Quattrocento Sans" pitchFamily="34" charset="-122"/>
                <a:cs typeface="Quattrocento Sans" pitchFamily="34" charset="-120"/>
              </a:rPr>
              <a:t>●</a:t>
            </a:r>
            <a:pPr>
              <a:lnSpc>
                <a:spcPct val="100000"/>
              </a:lnSpc>
            </a:pPr>
            <a:r>
              <a:rPr lang="en-US" sz="1600" dirty="0">
                <a:solidFill>
                  <a:srgbClr val="FFFFFF"/>
                </a:solidFill>
                <a:latin typeface="Quattrocento Sans" pitchFamily="34" charset="0"/>
                <a:ea typeface="Quattrocento Sans" pitchFamily="34" charset="-122"/>
                <a:cs typeface="Quattrocento Sans" pitchFamily="34" charset="-120"/>
              </a:rPr>
              <a:t> Selection depends on use case: </a:t>
            </a:r>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Laser</a:t>
            </a:r>
            <a:pPr>
              <a:lnSpc>
                <a:spcPct val="100000"/>
              </a:lnSpc>
            </a:pPr>
            <a:r>
              <a:rPr lang="en-US" sz="1600" dirty="0">
                <a:solidFill>
                  <a:srgbClr val="FFFFFF"/>
                </a:solidFill>
                <a:latin typeface="Quattrocento Sans" pitchFamily="34" charset="0"/>
                <a:ea typeface="Quattrocento Sans" pitchFamily="34" charset="-122"/>
                <a:cs typeface="Quattrocento Sans" pitchFamily="34" charset="-120"/>
              </a:rPr>
              <a:t> for offices, </a:t>
            </a:r>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Inkjet</a:t>
            </a:r>
            <a:pPr>
              <a:lnSpc>
                <a:spcPct val="100000"/>
              </a:lnSpc>
            </a:pPr>
            <a:r>
              <a:rPr lang="en-US" sz="1600" dirty="0">
                <a:solidFill>
                  <a:srgbClr val="FFFFFF"/>
                </a:solidFill>
                <a:latin typeface="Quattrocento Sans" pitchFamily="34" charset="0"/>
                <a:ea typeface="Quattrocento Sans" pitchFamily="34" charset="-122"/>
                <a:cs typeface="Quattrocento Sans" pitchFamily="34" charset="-120"/>
              </a:rPr>
              <a:t> for photos, </a:t>
            </a:r>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Dot Matrix</a:t>
            </a:r>
            <a:pPr>
              <a:lnSpc>
                <a:spcPct val="100000"/>
              </a:lnSpc>
            </a:pPr>
            <a:r>
              <a:rPr lang="en-US" sz="1600" dirty="0">
                <a:solidFill>
                  <a:srgbClr val="FFFFFF"/>
                </a:solidFill>
                <a:latin typeface="Quattrocento Sans" pitchFamily="34" charset="0"/>
                <a:ea typeface="Quattrocento Sans" pitchFamily="34" charset="-122"/>
                <a:cs typeface="Quattrocento Sans" pitchFamily="34" charset="-120"/>
              </a:rPr>
              <a:t> for multi-part forms</a:t>
            </a:r>
            <a:endParaRPr lang="en-US" sz="1600" dirty="0"/>
          </a:p>
        </p:txBody>
      </p:sp>
      <p:sp>
        <p:nvSpPr>
          <p:cNvPr id="19" name="Text 17"/>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18</a:t>
            </a:r>
            <a:endParaRPr lang="en-US" sz="1400" dirty="0"/>
          </a:p>
        </p:txBody>
      </p:sp>
      <p:sp>
        <p:nvSpPr>
          <p:cNvPr id="20" name="Shape 18"/>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Plotter &amp; 3D Printers</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68500"/>
            <a:ext cx="355600" cy="355600"/>
          </a:xfrm>
          <a:custGeom>
            <a:avLst/>
            <a:gdLst/>
            <a:ahLst/>
            <a:cxnLst/>
            <a:rect l="l" t="t" r="r" b="b"/>
            <a:pathLst>
              <a:path w="355600" h="355600">
                <a:moveTo>
                  <a:pt x="280591" y="0"/>
                </a:moveTo>
                <a:cubicBezTo>
                  <a:pt x="293926" y="0"/>
                  <a:pt x="306705" y="5278"/>
                  <a:pt x="316081" y="14724"/>
                </a:cubicBezTo>
                <a:lnTo>
                  <a:pt x="340876" y="39519"/>
                </a:lnTo>
                <a:cubicBezTo>
                  <a:pt x="350322" y="48895"/>
                  <a:pt x="355600" y="61674"/>
                  <a:pt x="355600" y="75009"/>
                </a:cubicBezTo>
                <a:cubicBezTo>
                  <a:pt x="355600" y="88344"/>
                  <a:pt x="350322" y="101124"/>
                  <a:pt x="340876" y="110500"/>
                </a:cubicBezTo>
                <a:lnTo>
                  <a:pt x="309691" y="141684"/>
                </a:lnTo>
                <a:lnTo>
                  <a:pt x="213916" y="45909"/>
                </a:lnTo>
                <a:lnTo>
                  <a:pt x="245100" y="14724"/>
                </a:lnTo>
                <a:cubicBezTo>
                  <a:pt x="254476" y="5278"/>
                  <a:pt x="267256" y="0"/>
                  <a:pt x="280591" y="0"/>
                </a:cubicBezTo>
                <a:close/>
                <a:moveTo>
                  <a:pt x="40908" y="218847"/>
                </a:moveTo>
                <a:lnTo>
                  <a:pt x="190371" y="69453"/>
                </a:lnTo>
                <a:lnTo>
                  <a:pt x="286147" y="165229"/>
                </a:lnTo>
                <a:lnTo>
                  <a:pt x="136753" y="314692"/>
                </a:lnTo>
                <a:cubicBezTo>
                  <a:pt x="129322" y="322124"/>
                  <a:pt x="120015" y="327541"/>
                  <a:pt x="109875" y="330389"/>
                </a:cubicBezTo>
                <a:lnTo>
                  <a:pt x="21114" y="354975"/>
                </a:lnTo>
                <a:cubicBezTo>
                  <a:pt x="15349" y="356572"/>
                  <a:pt x="9098" y="354975"/>
                  <a:pt x="4862" y="350669"/>
                </a:cubicBezTo>
                <a:cubicBezTo>
                  <a:pt x="625" y="346363"/>
                  <a:pt x="-1042" y="340181"/>
                  <a:pt x="556" y="334417"/>
                </a:cubicBezTo>
                <a:lnTo>
                  <a:pt x="25281" y="245725"/>
                </a:lnTo>
                <a:cubicBezTo>
                  <a:pt x="28129" y="235585"/>
                  <a:pt x="33476" y="226348"/>
                  <a:pt x="40977" y="218847"/>
                </a:cubicBezTo>
                <a:close/>
                <a:moveTo>
                  <a:pt x="156547" y="56118"/>
                </a:moveTo>
                <a:lnTo>
                  <a:pt x="56118" y="156547"/>
                </a:lnTo>
                <a:lnTo>
                  <a:pt x="8126" y="108555"/>
                </a:lnTo>
                <a:cubicBezTo>
                  <a:pt x="-2709" y="97721"/>
                  <a:pt x="-2709" y="80149"/>
                  <a:pt x="8126" y="69245"/>
                </a:cubicBezTo>
                <a:lnTo>
                  <a:pt x="69245" y="8126"/>
                </a:lnTo>
                <a:cubicBezTo>
                  <a:pt x="80079" y="-2709"/>
                  <a:pt x="97651" y="-2709"/>
                  <a:pt x="108555" y="8126"/>
                </a:cubicBezTo>
                <a:lnTo>
                  <a:pt x="112653" y="12224"/>
                </a:lnTo>
                <a:lnTo>
                  <a:pt x="73551" y="51326"/>
                </a:lnTo>
                <a:cubicBezTo>
                  <a:pt x="68134" y="56743"/>
                  <a:pt x="68134" y="65564"/>
                  <a:pt x="73551" y="70981"/>
                </a:cubicBezTo>
                <a:cubicBezTo>
                  <a:pt x="78968" y="76398"/>
                  <a:pt x="87789" y="76398"/>
                  <a:pt x="93206" y="70981"/>
                </a:cubicBezTo>
                <a:lnTo>
                  <a:pt x="132308" y="31879"/>
                </a:lnTo>
                <a:lnTo>
                  <a:pt x="156547" y="56118"/>
                </a:lnTo>
                <a:close/>
                <a:moveTo>
                  <a:pt x="299482" y="199053"/>
                </a:moveTo>
                <a:lnTo>
                  <a:pt x="323721" y="223292"/>
                </a:lnTo>
                <a:lnTo>
                  <a:pt x="284619" y="262394"/>
                </a:lnTo>
                <a:cubicBezTo>
                  <a:pt x="279202" y="267811"/>
                  <a:pt x="279202" y="276632"/>
                  <a:pt x="284619" y="282049"/>
                </a:cubicBezTo>
                <a:cubicBezTo>
                  <a:pt x="290036" y="287466"/>
                  <a:pt x="298857" y="287466"/>
                  <a:pt x="304274" y="282049"/>
                </a:cubicBezTo>
                <a:lnTo>
                  <a:pt x="343376" y="242947"/>
                </a:lnTo>
                <a:lnTo>
                  <a:pt x="347474" y="247045"/>
                </a:lnTo>
                <a:cubicBezTo>
                  <a:pt x="358309" y="257879"/>
                  <a:pt x="358309" y="275451"/>
                  <a:pt x="347474" y="286355"/>
                </a:cubicBezTo>
                <a:lnTo>
                  <a:pt x="286355" y="347474"/>
                </a:lnTo>
                <a:cubicBezTo>
                  <a:pt x="275521" y="358309"/>
                  <a:pt x="257949" y="358309"/>
                  <a:pt x="247045" y="347474"/>
                </a:cubicBezTo>
                <a:lnTo>
                  <a:pt x="199053" y="299482"/>
                </a:lnTo>
                <a:lnTo>
                  <a:pt x="299482" y="199053"/>
                </a:lnTo>
                <a:close/>
              </a:path>
            </a:pathLst>
          </a:custGeom>
          <a:solidFill>
            <a:srgbClr val="1B5E5E"/>
          </a:solidFill>
          <a:ln/>
        </p:spPr>
      </p:sp>
      <p:sp>
        <p:nvSpPr>
          <p:cNvPr id="6" name="Text 4"/>
          <p:cNvSpPr/>
          <p:nvPr/>
        </p:nvSpPr>
        <p:spPr>
          <a:xfrm>
            <a:off x="1270000" y="19304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Plotter</a:t>
            </a:r>
            <a:endParaRPr lang="en-US" sz="1600" dirty="0"/>
          </a:p>
        </p:txBody>
      </p:sp>
      <p:sp>
        <p:nvSpPr>
          <p:cNvPr id="7" name="Text 5"/>
          <p:cNvSpPr/>
          <p:nvPr/>
        </p:nvSpPr>
        <p:spPr>
          <a:xfrm>
            <a:off x="762000" y="2540000"/>
            <a:ext cx="7112000" cy="1905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Specialized printer for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large-format, high-precision</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output such as blueprints, maps, engineering drawings, and posters.</a:t>
            </a:r>
            <a:endParaRPr lang="en-US" sz="2000" dirty="0"/>
          </a:p>
          <a:p>
            <a:pPr>
              <a:lnSpc>
                <a:spcPct val="150000"/>
              </a:lnSpc>
              <a:spcBef>
                <a:spcPts val="600"/>
              </a:spcBef>
            </a:pPr>
            <a:r>
              <a:rPr lang="en-US" sz="1800" dirty="0">
                <a:solidFill>
                  <a:srgbClr val="2D2D2D"/>
                </a:solidFill>
                <a:latin typeface="QuattrocentoSans" pitchFamily="34" charset="0"/>
                <a:ea typeface="QuattrocentoSans" pitchFamily="34" charset="-122"/>
                <a:cs typeface="QuattrocentoSans" pitchFamily="34" charset="-120"/>
              </a:rPr>
              <a:t>Uses pens or cutting blades on paper/vinyl. Types include drum, flatbed, and cutting plotters.</a:t>
            </a:r>
            <a:endParaRPr lang="en-US" sz="2000" dirty="0"/>
          </a:p>
        </p:txBody>
      </p:sp>
      <p:pic>
        <p:nvPicPr>
          <p:cNvPr id="8" name="Image 0" descr="https://kimi-img.moonshot.cn/pub/slides/okc/7khcepmtdap64/mnt/agents/output/ict-week3/images/10_The_Use_of_3D_Printing_in_Manufacturing.png">    </p:cNvPr>
          <p:cNvPicPr>
            <a:picLocks noChangeAspect="1"/>
          </p:cNvPicPr>
          <p:nvPr/>
        </p:nvPicPr>
        <p:blipFill>
          <a:blip r:embed="rId1"/>
          <a:srcRect l="0" r="0" t="20366" b="20366"/>
          <a:stretch/>
        </p:blipFill>
        <p:spPr>
          <a:xfrm>
            <a:off x="8382000" y="1778000"/>
            <a:ext cx="7112000" cy="2921000"/>
          </a:xfrm>
          <a:prstGeom prst="rect">
            <a:avLst/>
          </a:prstGeom>
        </p:spPr>
      </p:pic>
      <p:sp>
        <p:nvSpPr>
          <p:cNvPr id="9" name="Shape 6"/>
          <p:cNvSpPr/>
          <p:nvPr/>
        </p:nvSpPr>
        <p:spPr>
          <a:xfrm>
            <a:off x="762000" y="4699000"/>
            <a:ext cx="14732000" cy="0"/>
          </a:xfrm>
          <a:prstGeom prst="straightConnector1">
            <a:avLst/>
          </a:prstGeom>
          <a:noFill/>
          <a:ln w="12700">
            <a:solidFill>
              <a:srgbClr val="D5D0C8"/>
            </a:solidFill>
            <a:prstDash val="solid"/>
            <a:headEnd type="none"/>
            <a:tailEnd type="none"/>
          </a:ln>
        </p:spPr>
      </p:sp>
      <p:sp>
        <p:nvSpPr>
          <p:cNvPr id="10" name="Shape 7"/>
          <p:cNvSpPr/>
          <p:nvPr/>
        </p:nvSpPr>
        <p:spPr>
          <a:xfrm>
            <a:off x="762000" y="5016500"/>
            <a:ext cx="355600" cy="355600"/>
          </a:xfrm>
          <a:custGeom>
            <a:avLst/>
            <a:gdLst/>
            <a:ahLst/>
            <a:cxnLst/>
            <a:rect l="l" t="t" r="r" b="b"/>
            <a:pathLst>
              <a:path w="355600" h="355600">
                <a:moveTo>
                  <a:pt x="155783" y="-1736"/>
                </a:moveTo>
                <a:cubicBezTo>
                  <a:pt x="169535" y="-9654"/>
                  <a:pt x="186482" y="-9654"/>
                  <a:pt x="200233" y="-1736"/>
                </a:cubicBezTo>
                <a:lnTo>
                  <a:pt x="322401" y="68759"/>
                </a:lnTo>
                <a:cubicBezTo>
                  <a:pt x="336153" y="76676"/>
                  <a:pt x="344626" y="91400"/>
                  <a:pt x="344626" y="107236"/>
                </a:cubicBezTo>
                <a:lnTo>
                  <a:pt x="344626" y="248225"/>
                </a:lnTo>
                <a:cubicBezTo>
                  <a:pt x="344626" y="264130"/>
                  <a:pt x="336153" y="278785"/>
                  <a:pt x="322401" y="286702"/>
                </a:cubicBezTo>
                <a:lnTo>
                  <a:pt x="200233" y="357336"/>
                </a:lnTo>
                <a:cubicBezTo>
                  <a:pt x="186482" y="365254"/>
                  <a:pt x="169535" y="365254"/>
                  <a:pt x="155783" y="357336"/>
                </a:cubicBezTo>
                <a:lnTo>
                  <a:pt x="33685" y="286841"/>
                </a:lnTo>
                <a:cubicBezTo>
                  <a:pt x="19933" y="278924"/>
                  <a:pt x="11460" y="264200"/>
                  <a:pt x="11460" y="248364"/>
                </a:cubicBezTo>
                <a:lnTo>
                  <a:pt x="11460" y="107375"/>
                </a:lnTo>
                <a:cubicBezTo>
                  <a:pt x="11460" y="91470"/>
                  <a:pt x="19933" y="76815"/>
                  <a:pt x="33685" y="68898"/>
                </a:cubicBezTo>
                <a:lnTo>
                  <a:pt x="155783" y="-1736"/>
                </a:lnTo>
                <a:close/>
                <a:moveTo>
                  <a:pt x="300107" y="248295"/>
                </a:moveTo>
                <a:lnTo>
                  <a:pt x="300107" y="132933"/>
                </a:lnTo>
                <a:lnTo>
                  <a:pt x="200233" y="190579"/>
                </a:lnTo>
                <a:lnTo>
                  <a:pt x="200233" y="305941"/>
                </a:lnTo>
                <a:lnTo>
                  <a:pt x="300107" y="248295"/>
                </a:lnTo>
                <a:close/>
              </a:path>
            </a:pathLst>
          </a:custGeom>
          <a:solidFill>
            <a:srgbClr val="1B5E5E"/>
          </a:solidFill>
          <a:ln/>
        </p:spPr>
      </p:sp>
      <p:sp>
        <p:nvSpPr>
          <p:cNvPr id="11" name="Text 8"/>
          <p:cNvSpPr/>
          <p:nvPr/>
        </p:nvSpPr>
        <p:spPr>
          <a:xfrm>
            <a:off x="1270000" y="4978400"/>
            <a:ext cx="3810000" cy="4064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3D Printer</a:t>
            </a:r>
            <a:endParaRPr lang="en-US" sz="1600" dirty="0"/>
          </a:p>
        </p:txBody>
      </p:sp>
      <p:sp>
        <p:nvSpPr>
          <p:cNvPr id="12" name="Text 9"/>
          <p:cNvSpPr/>
          <p:nvPr/>
        </p:nvSpPr>
        <p:spPr>
          <a:xfrm>
            <a:off x="762000" y="5588000"/>
            <a:ext cx="7112000" cy="88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Creates physical 3D objects from digital models using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additive manufacturing</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 building layer by layer.</a:t>
            </a:r>
            <a:endParaRPr lang="en-US" sz="2000" dirty="0"/>
          </a:p>
        </p:txBody>
      </p:sp>
      <p:sp>
        <p:nvSpPr>
          <p:cNvPr id="13" name="Text 10"/>
          <p:cNvSpPr/>
          <p:nvPr/>
        </p:nvSpPr>
        <p:spPr>
          <a:xfrm>
            <a:off x="762000" y="6604000"/>
            <a:ext cx="508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3D Printing Technologies</a:t>
            </a:r>
            <a:endParaRPr lang="en-US" sz="1600" dirty="0"/>
          </a:p>
        </p:txBody>
      </p:sp>
      <p:sp>
        <p:nvSpPr>
          <p:cNvPr id="14" name="Text 11"/>
          <p:cNvSpPr/>
          <p:nvPr/>
        </p:nvSpPr>
        <p:spPr>
          <a:xfrm>
            <a:off x="762000" y="7048500"/>
            <a:ext cx="7112000" cy="508000"/>
          </a:xfrm>
          <a:prstGeom prst="rect">
            <a:avLst/>
          </a:prstGeom>
          <a:noFill/>
          <a:ln/>
        </p:spPr>
        <p:txBody>
          <a:bodyPr wrap="square" lIns="0" tIns="0" rIns="0" bIns="0" rtlCol="0" anchor="ctr"/>
          <a:lstStyle/>
          <a:p>
            <a:pPr>
              <a:lnSpc>
                <a:spcPct val="150000"/>
              </a:lnSpc>
            </a:pPr>
            <a:r>
              <a:rPr lang="en-US" sz="1600" b="1" dirty="0">
                <a:solidFill>
                  <a:srgbClr val="2D2D2D"/>
                </a:solidFill>
                <a:latin typeface="QuattrocentoSans" pitchFamily="34" charset="0"/>
                <a:ea typeface="QuattrocentoSans" pitchFamily="34" charset="-122"/>
                <a:cs typeface="QuattrocentoSans" pitchFamily="34" charset="-120"/>
              </a:rPr>
              <a:t>FDM</a:t>
            </a:r>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 — melted filament | </a:t>
            </a:r>
            <a:pPr>
              <a:lnSpc>
                <a:spcPct val="150000"/>
              </a:lnSpc>
            </a:pPr>
            <a:r>
              <a:rPr lang="en-US" sz="1600" b="1" dirty="0">
                <a:solidFill>
                  <a:srgbClr val="2D2D2D"/>
                </a:solidFill>
                <a:latin typeface="QuattrocentoSans" pitchFamily="34" charset="0"/>
                <a:ea typeface="QuattrocentoSans" pitchFamily="34" charset="-122"/>
                <a:cs typeface="QuattrocentoSans" pitchFamily="34" charset="-120"/>
              </a:rPr>
              <a:t>SLA</a:t>
            </a:r>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 — UV-cured resin | </a:t>
            </a:r>
            <a:pPr>
              <a:lnSpc>
                <a:spcPct val="150000"/>
              </a:lnSpc>
            </a:pPr>
            <a:r>
              <a:rPr lang="en-US" sz="1600" b="1" dirty="0">
                <a:solidFill>
                  <a:srgbClr val="2D2D2D"/>
                </a:solidFill>
                <a:latin typeface="QuattrocentoSans" pitchFamily="34" charset="0"/>
                <a:ea typeface="QuattrocentoSans" pitchFamily="34" charset="-122"/>
                <a:cs typeface="QuattrocentoSans" pitchFamily="34" charset="-120"/>
              </a:rPr>
              <a:t>SLS</a:t>
            </a:r>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 — laser-fused powder</a:t>
            </a:r>
            <a:endParaRPr lang="en-US" sz="2000" dirty="0"/>
          </a:p>
        </p:txBody>
      </p:sp>
      <p:sp>
        <p:nvSpPr>
          <p:cNvPr id="15" name="Text 12"/>
          <p:cNvSpPr/>
          <p:nvPr/>
        </p:nvSpPr>
        <p:spPr>
          <a:xfrm>
            <a:off x="8382000" y="5016500"/>
            <a:ext cx="508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Applications</a:t>
            </a:r>
            <a:endParaRPr lang="en-US" sz="1600" dirty="0"/>
          </a:p>
        </p:txBody>
      </p:sp>
      <p:sp>
        <p:nvSpPr>
          <p:cNvPr id="16" name="Text 13"/>
          <p:cNvSpPr/>
          <p:nvPr/>
        </p:nvSpPr>
        <p:spPr>
          <a:xfrm>
            <a:off x="8382000" y="5461000"/>
            <a:ext cx="7112000" cy="2730500"/>
          </a:xfrm>
          <a:prstGeom prst="rect">
            <a:avLst/>
          </a:prstGeom>
          <a:noFill/>
          <a:ln/>
        </p:spPr>
        <p:txBody>
          <a:bodyPr wrap="square" lIns="0" tIns="0" rIns="0" bIns="0" rtlCol="0" anchor="ctr"/>
          <a:lstStyle/>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Healthcare:</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Custom implants, prosthetics, surgical guides</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Manufacturing:</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Rapid prototyping, tooling</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Education:</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Hands-on learning models</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Aerospace:</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Lightweight complex parts</a:t>
            </a:r>
            <a:endParaRPr lang="en-US" sz="2000" dirty="0"/>
          </a:p>
          <a:p>
            <a:pPr marL="317500" indent="-317500">
              <a:lnSpc>
                <a:spcPct val="150000"/>
              </a:lnSpc>
              <a:spcBef>
                <a:spcPts val="10"/>
              </a:spcBef>
              <a:buSzPct val="100000"/>
              <a:buChar char="•"/>
            </a:pPr>
            <a:r>
              <a:rPr lang="en-US" sz="1800" b="1" dirty="0">
                <a:solidFill>
                  <a:srgbClr val="2D2D2D"/>
                </a:solidFill>
                <a:latin typeface="QuattrocentoSans" pitchFamily="34" charset="0"/>
                <a:ea typeface="QuattrocentoSans" pitchFamily="34" charset="-122"/>
                <a:cs typeface="QuattrocentoSans" pitchFamily="34" charset="-120"/>
              </a:rPr>
              <a:t>Automotive:</a:t>
            </a:r>
            <a:pPr>
              <a:lnSpc>
                <a:spcPct val="150000"/>
              </a:lnSpc>
              <a:spcBef>
                <a:spcPts val="10"/>
              </a:spcBef>
            </a:pPr>
            <a:r>
              <a:rPr lang="en-US" sz="1800" dirty="0">
                <a:solidFill>
                  <a:srgbClr val="2D2D2D"/>
                </a:solidFill>
                <a:latin typeface="QuattrocentoSans" pitchFamily="34" charset="0"/>
                <a:ea typeface="QuattrocentoSans" pitchFamily="34" charset="-122"/>
                <a:cs typeface="QuattrocentoSans" pitchFamily="34" charset="-120"/>
              </a:rPr>
              <a:t> Custom components</a:t>
            </a:r>
            <a:endParaRPr lang="en-US" sz="2000" dirty="0"/>
          </a:p>
        </p:txBody>
      </p:sp>
      <p:sp>
        <p:nvSpPr>
          <p:cNvPr id="17" name="Text 14"/>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19</a:t>
            </a:r>
            <a:endParaRPr lang="en-US" sz="1400" dirty="0"/>
          </a:p>
        </p:txBody>
      </p:sp>
      <p:sp>
        <p:nvSpPr>
          <p:cNvPr id="18" name="Shape 15"/>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Speaker &amp; Actuator</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05000"/>
            <a:ext cx="7048500" cy="6096000"/>
          </a:xfrm>
          <a:prstGeom prst="rect">
            <a:avLst/>
          </a:prstGeom>
          <a:solidFill>
            <a:srgbClr val="EDEAE4"/>
          </a:solidFill>
          <a:ln/>
        </p:spPr>
      </p:sp>
      <p:sp>
        <p:nvSpPr>
          <p:cNvPr id="6" name="Shape 4"/>
          <p:cNvSpPr/>
          <p:nvPr/>
        </p:nvSpPr>
        <p:spPr>
          <a:xfrm>
            <a:off x="1028700" y="2222500"/>
            <a:ext cx="508000" cy="406400"/>
          </a:xfrm>
          <a:custGeom>
            <a:avLst/>
            <a:gdLst/>
            <a:ahLst/>
            <a:cxnLst/>
            <a:rect l="l" t="t" r="r" b="b"/>
            <a:pathLst>
              <a:path w="508000" h="406400">
                <a:moveTo>
                  <a:pt x="423545" y="25797"/>
                </a:moveTo>
                <a:cubicBezTo>
                  <a:pt x="415369" y="19129"/>
                  <a:pt x="403384" y="20399"/>
                  <a:pt x="396716" y="28575"/>
                </a:cubicBezTo>
                <a:cubicBezTo>
                  <a:pt x="390049" y="36751"/>
                  <a:pt x="391319" y="48736"/>
                  <a:pt x="399494" y="55404"/>
                </a:cubicBezTo>
                <a:cubicBezTo>
                  <a:pt x="442516" y="90329"/>
                  <a:pt x="469900" y="143510"/>
                  <a:pt x="469900" y="203200"/>
                </a:cubicBezTo>
                <a:cubicBezTo>
                  <a:pt x="469900" y="262890"/>
                  <a:pt x="442516" y="316071"/>
                  <a:pt x="399494" y="351076"/>
                </a:cubicBezTo>
                <a:cubicBezTo>
                  <a:pt x="391319" y="357743"/>
                  <a:pt x="390128" y="369729"/>
                  <a:pt x="396716" y="377904"/>
                </a:cubicBezTo>
                <a:cubicBezTo>
                  <a:pt x="403304" y="386080"/>
                  <a:pt x="415369" y="387271"/>
                  <a:pt x="423545" y="380683"/>
                </a:cubicBezTo>
                <a:cubicBezTo>
                  <a:pt x="475059" y="338693"/>
                  <a:pt x="508000" y="274796"/>
                  <a:pt x="508000" y="203200"/>
                </a:cubicBezTo>
                <a:cubicBezTo>
                  <a:pt x="508000" y="131604"/>
                  <a:pt x="475059" y="67628"/>
                  <a:pt x="423545" y="25797"/>
                </a:cubicBezTo>
                <a:close/>
                <a:moveTo>
                  <a:pt x="375523" y="84931"/>
                </a:moveTo>
                <a:cubicBezTo>
                  <a:pt x="367348" y="78264"/>
                  <a:pt x="355362" y="79534"/>
                  <a:pt x="348694" y="87709"/>
                </a:cubicBezTo>
                <a:cubicBezTo>
                  <a:pt x="342027" y="95885"/>
                  <a:pt x="343297" y="107871"/>
                  <a:pt x="351473" y="114538"/>
                </a:cubicBezTo>
                <a:cubicBezTo>
                  <a:pt x="377269" y="135493"/>
                  <a:pt x="393700" y="167402"/>
                  <a:pt x="393700" y="203200"/>
                </a:cubicBezTo>
                <a:cubicBezTo>
                  <a:pt x="393700" y="238998"/>
                  <a:pt x="377269" y="270907"/>
                  <a:pt x="351473" y="291941"/>
                </a:cubicBezTo>
                <a:cubicBezTo>
                  <a:pt x="343297" y="298609"/>
                  <a:pt x="342106" y="310594"/>
                  <a:pt x="348694" y="318770"/>
                </a:cubicBezTo>
                <a:cubicBezTo>
                  <a:pt x="355283" y="326946"/>
                  <a:pt x="367348" y="328136"/>
                  <a:pt x="375523" y="321548"/>
                </a:cubicBezTo>
                <a:cubicBezTo>
                  <a:pt x="409813" y="293608"/>
                  <a:pt x="431800" y="250984"/>
                  <a:pt x="431800" y="203279"/>
                </a:cubicBezTo>
                <a:cubicBezTo>
                  <a:pt x="431800" y="155575"/>
                  <a:pt x="409813" y="112951"/>
                  <a:pt x="375523" y="85011"/>
                </a:cubicBezTo>
                <a:close/>
                <a:moveTo>
                  <a:pt x="327501" y="144066"/>
                </a:moveTo>
                <a:cubicBezTo>
                  <a:pt x="319326" y="137398"/>
                  <a:pt x="307340" y="138668"/>
                  <a:pt x="300673" y="146844"/>
                </a:cubicBezTo>
                <a:cubicBezTo>
                  <a:pt x="294005" y="155019"/>
                  <a:pt x="295275" y="167005"/>
                  <a:pt x="303451" y="173673"/>
                </a:cubicBezTo>
                <a:cubicBezTo>
                  <a:pt x="312023" y="180658"/>
                  <a:pt x="317500" y="191294"/>
                  <a:pt x="317500" y="203200"/>
                </a:cubicBezTo>
                <a:cubicBezTo>
                  <a:pt x="317500" y="215106"/>
                  <a:pt x="312023" y="225742"/>
                  <a:pt x="303451" y="232807"/>
                </a:cubicBezTo>
                <a:cubicBezTo>
                  <a:pt x="295275" y="239474"/>
                  <a:pt x="294084" y="251460"/>
                  <a:pt x="300673" y="259636"/>
                </a:cubicBezTo>
                <a:cubicBezTo>
                  <a:pt x="307261" y="267811"/>
                  <a:pt x="319326" y="269002"/>
                  <a:pt x="327501" y="262414"/>
                </a:cubicBezTo>
                <a:cubicBezTo>
                  <a:pt x="344567" y="248364"/>
                  <a:pt x="355600" y="227092"/>
                  <a:pt x="355600" y="203200"/>
                </a:cubicBezTo>
                <a:cubicBezTo>
                  <a:pt x="355600" y="179308"/>
                  <a:pt x="344567" y="158036"/>
                  <a:pt x="327501" y="144066"/>
                </a:cubicBezTo>
                <a:close/>
                <a:moveTo>
                  <a:pt x="63500" y="279400"/>
                </a:moveTo>
                <a:lnTo>
                  <a:pt x="101600" y="279400"/>
                </a:lnTo>
                <a:lnTo>
                  <a:pt x="208042" y="374015"/>
                </a:lnTo>
                <a:cubicBezTo>
                  <a:pt x="213122" y="378539"/>
                  <a:pt x="219631" y="381000"/>
                  <a:pt x="226378" y="381000"/>
                </a:cubicBezTo>
                <a:cubicBezTo>
                  <a:pt x="241618" y="381000"/>
                  <a:pt x="254000" y="368617"/>
                  <a:pt x="254000" y="353378"/>
                </a:cubicBezTo>
                <a:lnTo>
                  <a:pt x="254000" y="53023"/>
                </a:lnTo>
                <a:cubicBezTo>
                  <a:pt x="254000" y="37783"/>
                  <a:pt x="241618" y="25400"/>
                  <a:pt x="226378" y="25400"/>
                </a:cubicBezTo>
                <a:cubicBezTo>
                  <a:pt x="219631" y="25400"/>
                  <a:pt x="213122" y="27861"/>
                  <a:pt x="208042" y="32385"/>
                </a:cubicBezTo>
                <a:lnTo>
                  <a:pt x="101600" y="127000"/>
                </a:lnTo>
                <a:lnTo>
                  <a:pt x="63500" y="127000"/>
                </a:lnTo>
                <a:cubicBezTo>
                  <a:pt x="42466" y="127000"/>
                  <a:pt x="25400" y="144066"/>
                  <a:pt x="25400" y="165100"/>
                </a:cubicBezTo>
                <a:lnTo>
                  <a:pt x="25400" y="241300"/>
                </a:lnTo>
                <a:cubicBezTo>
                  <a:pt x="25400" y="262334"/>
                  <a:pt x="42466" y="279400"/>
                  <a:pt x="63500" y="279400"/>
                </a:cubicBezTo>
                <a:close/>
              </a:path>
            </a:pathLst>
          </a:custGeom>
          <a:solidFill>
            <a:srgbClr val="1B5E5E"/>
          </a:solidFill>
          <a:ln/>
        </p:spPr>
      </p:sp>
      <p:sp>
        <p:nvSpPr>
          <p:cNvPr id="7" name="Text 5"/>
          <p:cNvSpPr/>
          <p:nvPr/>
        </p:nvSpPr>
        <p:spPr>
          <a:xfrm>
            <a:off x="1651000" y="2197100"/>
            <a:ext cx="3810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Speaker</a:t>
            </a:r>
            <a:endParaRPr lang="en-US" sz="1600" dirty="0"/>
          </a:p>
        </p:txBody>
      </p:sp>
      <p:sp>
        <p:nvSpPr>
          <p:cNvPr id="8" name="Text 6"/>
          <p:cNvSpPr/>
          <p:nvPr/>
        </p:nvSpPr>
        <p:spPr>
          <a:xfrm>
            <a:off x="1079500" y="2857500"/>
            <a:ext cx="6413500" cy="342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Converts electrical audio signals into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sound waves</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a:t>
            </a:r>
            <a:endParaRPr lang="en-US" sz="2000" dirty="0"/>
          </a:p>
          <a:p>
            <a:pPr>
              <a:lnSpc>
                <a:spcPct val="150000"/>
              </a:lnSpc>
              <a:spcBef>
                <a:spcPts val="600"/>
              </a:spcBef>
            </a:pPr>
            <a:r>
              <a:rPr lang="en-US" sz="1800" b="1" dirty="0">
                <a:solidFill>
                  <a:srgbClr val="2D2D2D"/>
                </a:solidFill>
                <a:latin typeface="QuattrocentoSans" pitchFamily="34" charset="0"/>
                <a:ea typeface="QuattrocentoSans" pitchFamily="34" charset="-122"/>
                <a:cs typeface="QuattrocentoSans" pitchFamily="34" charset="-120"/>
              </a:rPr>
              <a:t>Types: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Built-in computer speakers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Standalone / Studio monitors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Bluetooth/wireless speakers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Headphones and headsets</a:t>
            </a:r>
            <a:endParaRPr lang="en-US" sz="2000" dirty="0"/>
          </a:p>
          <a:p>
            <a:pPr>
              <a:lnSpc>
                <a:spcPct val="150000"/>
              </a:lnSpc>
              <a:spcBef>
                <a:spcPts val="600"/>
              </a:spcBef>
            </a:pPr>
            <a:r>
              <a:rPr lang="en-US" sz="1800" b="1" dirty="0">
                <a:solidFill>
                  <a:srgbClr val="2D2D2D"/>
                </a:solidFill>
                <a:latin typeface="QuattrocentoSans" pitchFamily="34" charset="0"/>
                <a:ea typeface="QuattrocentoSans" pitchFamily="34" charset="-122"/>
                <a:cs typeface="QuattrocentoSans" pitchFamily="34" charset="-120"/>
              </a:rPr>
              <a:t>Applications:</a:t>
            </a:r>
            <a:pPr>
              <a:lnSpc>
                <a:spcPct val="150000"/>
              </a:lnSpc>
              <a:spcBef>
                <a:spcPts val="600"/>
              </a:spcBef>
            </a:pPr>
            <a:r>
              <a:rPr lang="en-US" sz="1800" dirty="0">
                <a:solidFill>
                  <a:srgbClr val="2D2D2D"/>
                </a:solidFill>
                <a:latin typeface="QuattrocentoSans" pitchFamily="34" charset="0"/>
                <a:ea typeface="QuattrocentoSans" pitchFamily="34" charset="-122"/>
                <a:cs typeface="QuattrocentoSans" pitchFamily="34" charset="-120"/>
              </a:rPr>
              <a:t> Music, video, voice assistants, gaming, alerts</a:t>
            </a:r>
            <a:endParaRPr lang="en-US" sz="2000" dirty="0"/>
          </a:p>
        </p:txBody>
      </p:sp>
      <p:sp>
        <p:nvSpPr>
          <p:cNvPr id="9" name="Shape 7"/>
          <p:cNvSpPr/>
          <p:nvPr/>
        </p:nvSpPr>
        <p:spPr>
          <a:xfrm>
            <a:off x="8445500" y="1905000"/>
            <a:ext cx="7048500" cy="6096000"/>
          </a:xfrm>
          <a:prstGeom prst="rect">
            <a:avLst/>
          </a:prstGeom>
          <a:solidFill>
            <a:srgbClr val="EDEAE4"/>
          </a:solidFill>
          <a:ln/>
        </p:spPr>
      </p:sp>
      <p:sp>
        <p:nvSpPr>
          <p:cNvPr id="10" name="Shape 8"/>
          <p:cNvSpPr/>
          <p:nvPr/>
        </p:nvSpPr>
        <p:spPr>
          <a:xfrm>
            <a:off x="8712200" y="2222500"/>
            <a:ext cx="508000" cy="406400"/>
          </a:xfrm>
          <a:custGeom>
            <a:avLst/>
            <a:gdLst/>
            <a:ahLst/>
            <a:cxnLst/>
            <a:rect l="l" t="t" r="r" b="b"/>
            <a:pathLst>
              <a:path w="508000" h="406400">
                <a:moveTo>
                  <a:pt x="330121" y="167084"/>
                </a:moveTo>
                <a:cubicBezTo>
                  <a:pt x="339804" y="164465"/>
                  <a:pt x="349964" y="169069"/>
                  <a:pt x="354330" y="178038"/>
                </a:cubicBezTo>
                <a:lnTo>
                  <a:pt x="369094" y="207883"/>
                </a:lnTo>
                <a:cubicBezTo>
                  <a:pt x="377269" y="208994"/>
                  <a:pt x="385286" y="211217"/>
                  <a:pt x="392827" y="214313"/>
                </a:cubicBezTo>
                <a:lnTo>
                  <a:pt x="420608" y="195818"/>
                </a:lnTo>
                <a:cubicBezTo>
                  <a:pt x="428943" y="190262"/>
                  <a:pt x="439976" y="191373"/>
                  <a:pt x="447040" y="198438"/>
                </a:cubicBezTo>
                <a:lnTo>
                  <a:pt x="462280" y="213678"/>
                </a:lnTo>
                <a:cubicBezTo>
                  <a:pt x="469344" y="220742"/>
                  <a:pt x="470456" y="231854"/>
                  <a:pt x="464899" y="240109"/>
                </a:cubicBezTo>
                <a:lnTo>
                  <a:pt x="446405" y="267811"/>
                </a:lnTo>
                <a:cubicBezTo>
                  <a:pt x="447913" y="271542"/>
                  <a:pt x="449263" y="275431"/>
                  <a:pt x="450374" y="279479"/>
                </a:cubicBezTo>
                <a:cubicBezTo>
                  <a:pt x="451485" y="283528"/>
                  <a:pt x="452199" y="287496"/>
                  <a:pt x="452755" y="291544"/>
                </a:cubicBezTo>
                <a:lnTo>
                  <a:pt x="482679" y="306308"/>
                </a:lnTo>
                <a:cubicBezTo>
                  <a:pt x="491649" y="310753"/>
                  <a:pt x="496253" y="320913"/>
                  <a:pt x="493633" y="330518"/>
                </a:cubicBezTo>
                <a:lnTo>
                  <a:pt x="488077" y="351314"/>
                </a:lnTo>
                <a:cubicBezTo>
                  <a:pt x="485458" y="360918"/>
                  <a:pt x="476488" y="367427"/>
                  <a:pt x="466487" y="366792"/>
                </a:cubicBezTo>
                <a:lnTo>
                  <a:pt x="433149" y="364649"/>
                </a:lnTo>
                <a:cubicBezTo>
                  <a:pt x="428149" y="371078"/>
                  <a:pt x="422354" y="377031"/>
                  <a:pt x="415766" y="382111"/>
                </a:cubicBezTo>
                <a:lnTo>
                  <a:pt x="417909" y="415369"/>
                </a:lnTo>
                <a:cubicBezTo>
                  <a:pt x="418544" y="425371"/>
                  <a:pt x="412036" y="434419"/>
                  <a:pt x="402431" y="436959"/>
                </a:cubicBezTo>
                <a:lnTo>
                  <a:pt x="381635" y="442516"/>
                </a:lnTo>
                <a:cubicBezTo>
                  <a:pt x="371951" y="445135"/>
                  <a:pt x="361871" y="440531"/>
                  <a:pt x="357426" y="431562"/>
                </a:cubicBezTo>
                <a:lnTo>
                  <a:pt x="342662" y="401717"/>
                </a:lnTo>
                <a:cubicBezTo>
                  <a:pt x="334486" y="400606"/>
                  <a:pt x="326469" y="398383"/>
                  <a:pt x="318929" y="395288"/>
                </a:cubicBezTo>
                <a:lnTo>
                  <a:pt x="291148" y="413782"/>
                </a:lnTo>
                <a:cubicBezTo>
                  <a:pt x="282813" y="419338"/>
                  <a:pt x="271780" y="418227"/>
                  <a:pt x="264716" y="411163"/>
                </a:cubicBezTo>
                <a:lnTo>
                  <a:pt x="249476" y="395923"/>
                </a:lnTo>
                <a:cubicBezTo>
                  <a:pt x="242411" y="388858"/>
                  <a:pt x="241300" y="377825"/>
                  <a:pt x="246856" y="369491"/>
                </a:cubicBezTo>
                <a:lnTo>
                  <a:pt x="265351" y="341709"/>
                </a:lnTo>
                <a:cubicBezTo>
                  <a:pt x="263843" y="337979"/>
                  <a:pt x="262493" y="334089"/>
                  <a:pt x="261382" y="330041"/>
                </a:cubicBezTo>
                <a:cubicBezTo>
                  <a:pt x="260271" y="325993"/>
                  <a:pt x="259556" y="321945"/>
                  <a:pt x="259001" y="317976"/>
                </a:cubicBezTo>
                <a:lnTo>
                  <a:pt x="229076" y="303213"/>
                </a:lnTo>
                <a:cubicBezTo>
                  <a:pt x="220107" y="298768"/>
                  <a:pt x="215583" y="288608"/>
                  <a:pt x="218123" y="279003"/>
                </a:cubicBezTo>
                <a:lnTo>
                  <a:pt x="223679" y="258207"/>
                </a:lnTo>
                <a:cubicBezTo>
                  <a:pt x="226298" y="248602"/>
                  <a:pt x="235268" y="242094"/>
                  <a:pt x="245269" y="242729"/>
                </a:cubicBezTo>
                <a:lnTo>
                  <a:pt x="278527" y="244872"/>
                </a:lnTo>
                <a:cubicBezTo>
                  <a:pt x="283528" y="238442"/>
                  <a:pt x="289322" y="232489"/>
                  <a:pt x="295910" y="227409"/>
                </a:cubicBezTo>
                <a:lnTo>
                  <a:pt x="293767" y="194231"/>
                </a:lnTo>
                <a:cubicBezTo>
                  <a:pt x="293132" y="184229"/>
                  <a:pt x="299641" y="175181"/>
                  <a:pt x="309245" y="172641"/>
                </a:cubicBezTo>
                <a:lnTo>
                  <a:pt x="330041" y="167084"/>
                </a:lnTo>
                <a:close/>
                <a:moveTo>
                  <a:pt x="355918" y="269875"/>
                </a:moveTo>
                <a:cubicBezTo>
                  <a:pt x="336642" y="269897"/>
                  <a:pt x="321010" y="285564"/>
                  <a:pt x="321032" y="304840"/>
                </a:cubicBezTo>
                <a:cubicBezTo>
                  <a:pt x="321054" y="324115"/>
                  <a:pt x="336721" y="339747"/>
                  <a:pt x="355997" y="339725"/>
                </a:cubicBezTo>
                <a:cubicBezTo>
                  <a:pt x="375273" y="339703"/>
                  <a:pt x="390904" y="324036"/>
                  <a:pt x="390882" y="304760"/>
                </a:cubicBezTo>
                <a:cubicBezTo>
                  <a:pt x="390860" y="285485"/>
                  <a:pt x="375193" y="269853"/>
                  <a:pt x="355918" y="269875"/>
                </a:cubicBezTo>
                <a:close/>
                <a:moveTo>
                  <a:pt x="178514" y="-36116"/>
                </a:moveTo>
                <a:lnTo>
                  <a:pt x="199311" y="-30559"/>
                </a:lnTo>
                <a:cubicBezTo>
                  <a:pt x="208915" y="-27940"/>
                  <a:pt x="215424" y="-18891"/>
                  <a:pt x="214789" y="-8969"/>
                </a:cubicBezTo>
                <a:lnTo>
                  <a:pt x="212646" y="24209"/>
                </a:lnTo>
                <a:cubicBezTo>
                  <a:pt x="219234" y="29289"/>
                  <a:pt x="225028" y="35163"/>
                  <a:pt x="230029" y="41672"/>
                </a:cubicBezTo>
                <a:lnTo>
                  <a:pt x="263366" y="39529"/>
                </a:lnTo>
                <a:cubicBezTo>
                  <a:pt x="273288" y="38894"/>
                  <a:pt x="282337" y="45403"/>
                  <a:pt x="284956" y="55007"/>
                </a:cubicBezTo>
                <a:lnTo>
                  <a:pt x="290513" y="75803"/>
                </a:lnTo>
                <a:cubicBezTo>
                  <a:pt x="293053" y="85408"/>
                  <a:pt x="288528" y="95568"/>
                  <a:pt x="279559" y="100013"/>
                </a:cubicBezTo>
                <a:lnTo>
                  <a:pt x="249634" y="114776"/>
                </a:lnTo>
                <a:cubicBezTo>
                  <a:pt x="249079" y="118824"/>
                  <a:pt x="248285" y="122873"/>
                  <a:pt x="247253" y="126841"/>
                </a:cubicBezTo>
                <a:cubicBezTo>
                  <a:pt x="246221" y="130810"/>
                  <a:pt x="244793" y="134779"/>
                  <a:pt x="243284" y="138509"/>
                </a:cubicBezTo>
                <a:lnTo>
                  <a:pt x="261779" y="166291"/>
                </a:lnTo>
                <a:cubicBezTo>
                  <a:pt x="267335" y="174625"/>
                  <a:pt x="266224" y="185658"/>
                  <a:pt x="259159" y="192722"/>
                </a:cubicBezTo>
                <a:lnTo>
                  <a:pt x="243919" y="207963"/>
                </a:lnTo>
                <a:cubicBezTo>
                  <a:pt x="236855" y="215027"/>
                  <a:pt x="225822" y="216138"/>
                  <a:pt x="217488" y="210582"/>
                </a:cubicBezTo>
                <a:lnTo>
                  <a:pt x="189706" y="192088"/>
                </a:lnTo>
                <a:cubicBezTo>
                  <a:pt x="182166" y="195183"/>
                  <a:pt x="174149" y="197406"/>
                  <a:pt x="165973" y="198517"/>
                </a:cubicBezTo>
                <a:lnTo>
                  <a:pt x="151209" y="228362"/>
                </a:lnTo>
                <a:cubicBezTo>
                  <a:pt x="146764" y="237331"/>
                  <a:pt x="136604" y="241856"/>
                  <a:pt x="127000" y="239316"/>
                </a:cubicBezTo>
                <a:lnTo>
                  <a:pt x="106204" y="233759"/>
                </a:lnTo>
                <a:cubicBezTo>
                  <a:pt x="96520" y="231140"/>
                  <a:pt x="90091" y="222091"/>
                  <a:pt x="90726" y="212169"/>
                </a:cubicBezTo>
                <a:lnTo>
                  <a:pt x="92869" y="178911"/>
                </a:lnTo>
                <a:cubicBezTo>
                  <a:pt x="86281" y="173831"/>
                  <a:pt x="80486" y="167958"/>
                  <a:pt x="75486" y="161449"/>
                </a:cubicBezTo>
                <a:lnTo>
                  <a:pt x="42148" y="163592"/>
                </a:lnTo>
                <a:cubicBezTo>
                  <a:pt x="32226" y="164227"/>
                  <a:pt x="23178" y="157718"/>
                  <a:pt x="20558" y="148114"/>
                </a:cubicBezTo>
                <a:lnTo>
                  <a:pt x="15002" y="127318"/>
                </a:lnTo>
                <a:cubicBezTo>
                  <a:pt x="12462" y="117713"/>
                  <a:pt x="16986" y="107553"/>
                  <a:pt x="25956" y="103108"/>
                </a:cubicBezTo>
                <a:lnTo>
                  <a:pt x="55880" y="88344"/>
                </a:lnTo>
                <a:cubicBezTo>
                  <a:pt x="56436" y="84296"/>
                  <a:pt x="57229" y="80328"/>
                  <a:pt x="58261" y="76279"/>
                </a:cubicBezTo>
                <a:cubicBezTo>
                  <a:pt x="59373" y="72231"/>
                  <a:pt x="60643" y="68342"/>
                  <a:pt x="62230" y="64611"/>
                </a:cubicBezTo>
                <a:lnTo>
                  <a:pt x="43736" y="36909"/>
                </a:lnTo>
                <a:cubicBezTo>
                  <a:pt x="38179" y="28575"/>
                  <a:pt x="39291" y="17542"/>
                  <a:pt x="46355" y="10478"/>
                </a:cubicBezTo>
                <a:lnTo>
                  <a:pt x="61595" y="-4762"/>
                </a:lnTo>
                <a:cubicBezTo>
                  <a:pt x="68659" y="-11827"/>
                  <a:pt x="79693" y="-12938"/>
                  <a:pt x="88027" y="-7382"/>
                </a:cubicBezTo>
                <a:lnTo>
                  <a:pt x="115808" y="11113"/>
                </a:lnTo>
                <a:cubicBezTo>
                  <a:pt x="123349" y="8017"/>
                  <a:pt x="131366" y="5794"/>
                  <a:pt x="139541" y="4683"/>
                </a:cubicBezTo>
                <a:lnTo>
                  <a:pt x="154305" y="-25162"/>
                </a:lnTo>
                <a:cubicBezTo>
                  <a:pt x="158750" y="-34131"/>
                  <a:pt x="168831" y="-38656"/>
                  <a:pt x="178514" y="-36116"/>
                </a:cubicBezTo>
                <a:close/>
                <a:moveTo>
                  <a:pt x="152718" y="66675"/>
                </a:moveTo>
                <a:cubicBezTo>
                  <a:pt x="133442" y="66675"/>
                  <a:pt x="117793" y="82324"/>
                  <a:pt x="117793" y="101600"/>
                </a:cubicBezTo>
                <a:cubicBezTo>
                  <a:pt x="117793" y="120876"/>
                  <a:pt x="133442" y="136525"/>
                  <a:pt x="152718" y="136525"/>
                </a:cubicBezTo>
                <a:cubicBezTo>
                  <a:pt x="171993" y="136525"/>
                  <a:pt x="187643" y="120876"/>
                  <a:pt x="187643" y="101600"/>
                </a:cubicBezTo>
                <a:cubicBezTo>
                  <a:pt x="187643" y="82324"/>
                  <a:pt x="171993" y="66675"/>
                  <a:pt x="152718" y="66675"/>
                </a:cubicBezTo>
                <a:close/>
              </a:path>
            </a:pathLst>
          </a:custGeom>
          <a:solidFill>
            <a:srgbClr val="1B5E5E"/>
          </a:solidFill>
          <a:ln/>
        </p:spPr>
      </p:sp>
      <p:sp>
        <p:nvSpPr>
          <p:cNvPr id="11" name="Text 9"/>
          <p:cNvSpPr/>
          <p:nvPr/>
        </p:nvSpPr>
        <p:spPr>
          <a:xfrm>
            <a:off x="9334500" y="2197100"/>
            <a:ext cx="3810000" cy="431800"/>
          </a:xfrm>
          <a:prstGeom prst="rect">
            <a:avLst/>
          </a:prstGeom>
          <a:noFill/>
          <a:ln/>
        </p:spPr>
        <p:txBody>
          <a:bodyPr wrap="none" lIns="0" tIns="0" rIns="0" bIns="0" rtlCol="0" anchor="ctr"/>
          <a:lstStyle/>
          <a:p>
            <a:pPr>
              <a:lnSpc>
                <a:spcPct val="100000"/>
              </a:lnSpc>
            </a:pPr>
            <a:r>
              <a:rPr lang="en-US" sz="2200" b="1" dirty="0">
                <a:solidFill>
                  <a:srgbClr val="1B5E5E"/>
                </a:solidFill>
                <a:latin typeface="Quattrocento Sans" pitchFamily="34" charset="0"/>
                <a:ea typeface="Quattrocento Sans" pitchFamily="34" charset="-122"/>
                <a:cs typeface="Quattrocento Sans" pitchFamily="34" charset="-120"/>
              </a:rPr>
              <a:t>Actuator</a:t>
            </a:r>
            <a:endParaRPr lang="en-US" sz="1600" dirty="0"/>
          </a:p>
        </p:txBody>
      </p:sp>
      <p:sp>
        <p:nvSpPr>
          <p:cNvPr id="12" name="Text 10"/>
          <p:cNvSpPr/>
          <p:nvPr/>
        </p:nvSpPr>
        <p:spPr>
          <a:xfrm>
            <a:off x="8763000" y="2857500"/>
            <a:ext cx="6413500" cy="342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Converts electrical signals into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physical motion</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 the "muscles" of a control system.</a:t>
            </a:r>
            <a:endParaRPr lang="en-US" sz="2000" dirty="0"/>
          </a:p>
          <a:p>
            <a:pPr>
              <a:lnSpc>
                <a:spcPct val="150000"/>
              </a:lnSpc>
              <a:spcBef>
                <a:spcPts val="600"/>
              </a:spcBef>
            </a:pPr>
            <a:r>
              <a:rPr lang="en-US" sz="1800" b="1" dirty="0">
                <a:solidFill>
                  <a:srgbClr val="2D2D2D"/>
                </a:solidFill>
                <a:latin typeface="QuattrocentoSans" pitchFamily="34" charset="0"/>
                <a:ea typeface="QuattrocentoSans" pitchFamily="34" charset="-122"/>
                <a:cs typeface="QuattrocentoSans" pitchFamily="34" charset="-120"/>
              </a:rPr>
              <a:t>Types: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Linear actuators (straight-line motion)</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Rotary actuators (circular motion)</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Servo motors (precise positioning)</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Solenoids (electromagnetic motion)</a:t>
            </a:r>
            <a:endParaRPr lang="en-US" sz="2000" dirty="0"/>
          </a:p>
          <a:p>
            <a:pPr>
              <a:lnSpc>
                <a:spcPct val="150000"/>
              </a:lnSpc>
              <a:spcBef>
                <a:spcPts val="400"/>
              </a:spcBef>
            </a:pPr>
            <a:r>
              <a:rPr lang="en-US" sz="1800" b="1" dirty="0">
                <a:solidFill>
                  <a:srgbClr val="2D2D2D"/>
                </a:solidFill>
                <a:latin typeface="QuattrocentoSans" pitchFamily="34" charset="0"/>
                <a:ea typeface="QuattrocentoSans" pitchFamily="34" charset="-122"/>
                <a:cs typeface="QuattrocentoSans" pitchFamily="34" charset="-120"/>
              </a:rPr>
              <a:t>Uses:</a:t>
            </a:r>
            <a:pPr>
              <a:lnSpc>
                <a:spcPct val="150000"/>
              </a:lnSpc>
              <a:spcBef>
                <a:spcPts val="400"/>
              </a:spcBef>
            </a:pPr>
            <a:r>
              <a:rPr lang="en-US" sz="1800" dirty="0">
                <a:solidFill>
                  <a:srgbClr val="2D2D2D"/>
                </a:solidFill>
                <a:latin typeface="QuattrocentoSans" pitchFamily="34" charset="0"/>
                <a:ea typeface="QuattrocentoSans" pitchFamily="34" charset="-122"/>
                <a:cs typeface="QuattrocentoSans" pitchFamily="34" charset="-120"/>
              </a:rPr>
              <a:t> Robotics, CNC, vehicles, smart home</a:t>
            </a:r>
            <a:endParaRPr lang="en-US" sz="2000" dirty="0"/>
          </a:p>
        </p:txBody>
      </p:sp>
      <p:sp>
        <p:nvSpPr>
          <p:cNvPr id="13" name="Shape 11"/>
          <p:cNvSpPr/>
          <p:nvPr/>
        </p:nvSpPr>
        <p:spPr>
          <a:xfrm>
            <a:off x="762000" y="8064500"/>
            <a:ext cx="14732000" cy="482600"/>
          </a:xfrm>
          <a:prstGeom prst="rect">
            <a:avLst/>
          </a:prstGeom>
          <a:solidFill>
            <a:srgbClr val="1B5E5E"/>
          </a:solidFill>
          <a:ln/>
        </p:spPr>
      </p:sp>
      <p:sp>
        <p:nvSpPr>
          <p:cNvPr id="14" name="Text 12"/>
          <p:cNvSpPr/>
          <p:nvPr/>
        </p:nvSpPr>
        <p:spPr>
          <a:xfrm>
            <a:off x="1143000" y="8115300"/>
            <a:ext cx="13462000" cy="381000"/>
          </a:xfrm>
          <a:prstGeom prst="rect">
            <a:avLst/>
          </a:prstGeom>
          <a:noFill/>
          <a:ln/>
        </p:spPr>
        <p:txBody>
          <a:bodyPr wrap="square" lIns="0" tIns="0" rIns="0" bIns="0" rtlCol="0" anchor="ctr"/>
          <a:lstStyle/>
          <a:p>
            <a:pPr>
              <a:lnSpc>
                <a:spcPct val="100000"/>
              </a:lnSpc>
            </a:pPr>
            <a:r>
              <a:rPr lang="en-US" sz="1600" dirty="0">
                <a:solidFill>
                  <a:srgbClr val="C17A3A"/>
                </a:solidFill>
                <a:latin typeface="Quattrocento Sans" pitchFamily="34" charset="0"/>
                <a:ea typeface="Quattrocento Sans" pitchFamily="34" charset="-122"/>
                <a:cs typeface="Quattrocento Sans" pitchFamily="34" charset="-120"/>
              </a:rPr>
              <a:t>●</a:t>
            </a:r>
            <a:pPr>
              <a:lnSpc>
                <a:spcPct val="100000"/>
              </a:lnSpc>
            </a:pPr>
            <a:r>
              <a:rPr lang="en-US" sz="1600" dirty="0">
                <a:solidFill>
                  <a:srgbClr val="FFFFFF"/>
                </a:solidFill>
                <a:latin typeface="Quattrocento Sans" pitchFamily="34" charset="0"/>
                <a:ea typeface="Quattrocento Sans" pitchFamily="34" charset="-122"/>
                <a:cs typeface="Quattrocento Sans" pitchFamily="34" charset="-120"/>
              </a:rPr>
              <a:t> Actuators bridge the gap between digital commands and physical world actions in automation and IoT</a:t>
            </a:r>
            <a:endParaRPr lang="en-US" sz="1600" dirty="0"/>
          </a:p>
        </p:txBody>
      </p:sp>
      <p:sp>
        <p:nvSpPr>
          <p:cNvPr id="15" name="Text 13"/>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20</a:t>
            </a:r>
            <a:endParaRPr lang="en-US" sz="1400" dirty="0"/>
          </a:p>
        </p:txBody>
      </p:sp>
      <p:sp>
        <p:nvSpPr>
          <p:cNvPr id="16" name="Shape 14"/>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1EB"/>
        </a:solidFill>
      </p:bgPr>
    </p:bg>
    <p:spTree>
      <p:nvGrpSpPr>
        <p:cNvPr id="1" name=""/>
        <p:cNvGrpSpPr/>
        <p:nvPr/>
      </p:nvGrpSpPr>
      <p:grpSpPr>
        <a:xfrm>
          <a:off x="0" y="0"/>
          <a:ext cx="0" cy="0"/>
          <a:chOff x="0" y="0"/>
          <a:chExt cx="0" cy="0"/>
        </a:xfrm>
      </p:grpSpPr>
      <p:sp>
        <p:nvSpPr>
          <p:cNvPr id="2" name="Shape 0"/>
          <p:cNvSpPr/>
          <p:nvPr/>
        </p:nvSpPr>
        <p:spPr>
          <a:xfrm>
            <a:off x="0" y="0"/>
            <a:ext cx="6350000" cy="9144000"/>
          </a:xfrm>
          <a:prstGeom prst="rect">
            <a:avLst/>
          </a:prstGeom>
          <a:solidFill>
            <a:srgbClr val="EDEAE4"/>
          </a:solidFill>
          <a:ln/>
        </p:spPr>
      </p:sp>
      <p:sp>
        <p:nvSpPr>
          <p:cNvPr id="3" name="Text 1"/>
          <p:cNvSpPr/>
          <p:nvPr/>
        </p:nvSpPr>
        <p:spPr>
          <a:xfrm>
            <a:off x="762000" y="2286000"/>
            <a:ext cx="4826000" cy="1981200"/>
          </a:xfrm>
          <a:prstGeom prst="rect">
            <a:avLst/>
          </a:prstGeom>
          <a:noFill/>
          <a:ln/>
        </p:spPr>
        <p:txBody>
          <a:bodyPr wrap="none" lIns="0" tIns="0" rIns="0" bIns="0" rtlCol="0" anchor="ctr"/>
          <a:lstStyle/>
          <a:p>
            <a:pPr>
              <a:lnSpc>
                <a:spcPct val="100000"/>
              </a:lnSpc>
            </a:pPr>
            <a:r>
              <a:rPr lang="en-US" sz="12000" dirty="0">
                <a:solidFill>
                  <a:srgbClr val="1B5E5E"/>
                </a:solidFill>
                <a:latin typeface="QuattrocentoSans" pitchFamily="34" charset="0"/>
                <a:ea typeface="QuattrocentoSans" pitchFamily="34" charset="-122"/>
                <a:cs typeface="QuattrocentoSans" pitchFamily="34" charset="-120"/>
              </a:rPr>
              <a:t>04</a:t>
            </a:r>
            <a:endParaRPr lang="en-US" sz="12000" dirty="0"/>
          </a:p>
        </p:txBody>
      </p:sp>
      <p:sp>
        <p:nvSpPr>
          <p:cNvPr id="4" name="Shape 2"/>
          <p:cNvSpPr/>
          <p:nvPr/>
        </p:nvSpPr>
        <p:spPr>
          <a:xfrm>
            <a:off x="762000" y="4445000"/>
            <a:ext cx="762000" cy="50800"/>
          </a:xfrm>
          <a:prstGeom prst="rect">
            <a:avLst/>
          </a:prstGeom>
          <a:solidFill>
            <a:srgbClr val="C17A3A"/>
          </a:solidFill>
          <a:ln/>
        </p:spPr>
      </p:sp>
      <p:sp>
        <p:nvSpPr>
          <p:cNvPr id="5" name="Text 3"/>
          <p:cNvSpPr/>
          <p:nvPr/>
        </p:nvSpPr>
        <p:spPr>
          <a:xfrm>
            <a:off x="762000" y="4699000"/>
            <a:ext cx="4826000" cy="635000"/>
          </a:xfrm>
          <a:prstGeom prst="rect">
            <a:avLst/>
          </a:prstGeom>
          <a:noFill/>
          <a:ln/>
        </p:spPr>
        <p:txBody>
          <a:bodyPr wrap="none" lIns="0" tIns="0" rIns="0" bIns="0" rtlCol="0" anchor="ctr"/>
          <a:lstStyle/>
          <a:p>
            <a:pPr>
              <a:lnSpc>
                <a:spcPct val="120000"/>
              </a:lnSpc>
            </a:pPr>
            <a:r>
              <a:rPr lang="en-US" sz="3800" b="1" dirty="0">
                <a:solidFill>
                  <a:srgbClr val="1B5E5E"/>
                </a:solidFill>
                <a:latin typeface="QuattrocentoSans" pitchFamily="34" charset="0"/>
                <a:ea typeface="QuattrocentoSans" pitchFamily="34" charset="-122"/>
                <a:cs typeface="QuattrocentoSans" pitchFamily="34" charset="-120"/>
              </a:rPr>
              <a:t>Storage Devices</a:t>
            </a:r>
            <a:endParaRPr lang="en-US" sz="3800" dirty="0"/>
          </a:p>
        </p:txBody>
      </p:sp>
      <p:sp>
        <p:nvSpPr>
          <p:cNvPr id="6" name="Text 4"/>
          <p:cNvSpPr/>
          <p:nvPr/>
        </p:nvSpPr>
        <p:spPr>
          <a:xfrm>
            <a:off x="762000" y="5461000"/>
            <a:ext cx="4826000" cy="1016000"/>
          </a:xfrm>
          <a:prstGeom prst="rect">
            <a:avLst/>
          </a:prstGeom>
          <a:noFill/>
          <a:ln/>
        </p:spPr>
        <p:txBody>
          <a:bodyPr wrap="square" lIns="0" tIns="0" rIns="0" bIns="0" rtlCol="0" anchor="ctr"/>
          <a:lstStyle/>
          <a:p>
            <a:pPr>
              <a:lnSpc>
                <a:spcPct val="160000"/>
              </a:lnSpc>
            </a:pPr>
            <a:r>
              <a:rPr lang="en-US" sz="1800" dirty="0">
                <a:solidFill>
                  <a:srgbClr val="8A8580"/>
                </a:solidFill>
                <a:latin typeface="QuattrocentoSans" pitchFamily="34" charset="0"/>
                <a:ea typeface="QuattrocentoSans" pitchFamily="34" charset="-122"/>
                <a:cs typeface="QuattrocentoSans" pitchFamily="34" charset="-120"/>
              </a:rPr>
              <a:t>Media, Characteristics &amp; Comparisons</a:t>
            </a:r>
            <a:endParaRPr lang="en-US" sz="2000" dirty="0"/>
          </a:p>
        </p:txBody>
      </p:sp>
      <p:pic>
        <p:nvPicPr>
          <p:cNvPr id="7" name="Image 0" descr="https://kimi-img.moonshot.cn/pub/slides/okc/7khcepmtdap64/mnt/agents/output/ict-week3/images/8_What_s_the_difference_between_an.png">    </p:cNvPr>
          <p:cNvPicPr>
            <a:picLocks noChangeAspect="1"/>
          </p:cNvPicPr>
          <p:nvPr/>
        </p:nvPicPr>
        <p:blipFill>
          <a:blip r:embed="rId1"/>
          <a:srcRect l="9385" r="9385" t="0" b="0"/>
          <a:stretch/>
        </p:blipFill>
        <p:spPr>
          <a:xfrm>
            <a:off x="6350000" y="0"/>
            <a:ext cx="9906000" cy="9144000"/>
          </a:xfrm>
          <a:prstGeom prst="rect">
            <a:avLst/>
          </a:prstGeom>
        </p:spPr>
      </p:pic>
      <p:sp>
        <p:nvSpPr>
          <p:cNvPr id="8" name="Shape 5"/>
          <p:cNvSpPr/>
          <p:nvPr/>
        </p:nvSpPr>
        <p:spPr>
          <a:xfrm>
            <a:off x="6350000" y="0"/>
            <a:ext cx="9906000" cy="9144000"/>
          </a:xfrm>
          <a:prstGeom prst="rect">
            <a:avLst/>
          </a:prstGeom>
          <a:gradFill rotWithShape="1" flip="none">
            <a:gsLst>
              <a:gs pos="0">
                <a:srgbClr val="F5F1EB"/>
              </a:gs>
              <a:gs pos="15000">
                <a:srgbClr val="F5F1EB">
                  <a:alpha val="0"/>
                </a:srgbClr>
              </a:gs>
              <a:gs pos="100000">
                <a:srgbClr val="F5F1EB">
                  <a:alpha val="0"/>
                </a:srgbClr>
              </a:gs>
            </a:gsLst>
            <a:lin ang="0" scaled="1"/>
          </a:gradFill>
          <a:ln/>
        </p:spPr>
      </p:sp>
      <p:sp>
        <p:nvSpPr>
          <p:cNvPr id="9" name="Text 6"/>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889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Storage Device Characteristics</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Text 3"/>
          <p:cNvSpPr/>
          <p:nvPr/>
        </p:nvSpPr>
        <p:spPr>
          <a:xfrm>
            <a:off x="762000" y="1778000"/>
            <a:ext cx="14732000" cy="762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Storage devices retain data even when power is removed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non-volatile</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The following characteristics determine the right storage for each use case:</a:t>
            </a:r>
            <a:endParaRPr lang="en-US" sz="2000" dirty="0"/>
          </a:p>
        </p:txBody>
      </p:sp>
      <p:sp>
        <p:nvSpPr>
          <p:cNvPr id="6" name="Shape 4"/>
          <p:cNvSpPr/>
          <p:nvPr/>
        </p:nvSpPr>
        <p:spPr>
          <a:xfrm>
            <a:off x="762000" y="2794000"/>
            <a:ext cx="3429000" cy="1651000"/>
          </a:xfrm>
          <a:prstGeom prst="rect">
            <a:avLst/>
          </a:prstGeom>
          <a:solidFill>
            <a:srgbClr val="EDEAE4"/>
          </a:solidFill>
          <a:ln/>
        </p:spPr>
      </p:sp>
      <p:sp>
        <p:nvSpPr>
          <p:cNvPr id="7" name="Shape 5"/>
          <p:cNvSpPr/>
          <p:nvPr/>
        </p:nvSpPr>
        <p:spPr>
          <a:xfrm>
            <a:off x="1038225" y="2984500"/>
            <a:ext cx="311150" cy="355600"/>
          </a:xfrm>
          <a:custGeom>
            <a:avLst/>
            <a:gdLst/>
            <a:ahLst/>
            <a:cxnLst/>
            <a:rect l="l" t="t" r="r" b="b"/>
            <a:pathLst>
              <a:path w="311150" h="355600">
                <a:moveTo>
                  <a:pt x="44450" y="22225"/>
                </a:moveTo>
                <a:cubicBezTo>
                  <a:pt x="19933" y="22225"/>
                  <a:pt x="0" y="42158"/>
                  <a:pt x="0" y="66675"/>
                </a:cubicBezTo>
                <a:lnTo>
                  <a:pt x="0" y="180648"/>
                </a:lnTo>
                <a:cubicBezTo>
                  <a:pt x="12571" y="171827"/>
                  <a:pt x="27920" y="166688"/>
                  <a:pt x="44450" y="166688"/>
                </a:cubicBezTo>
                <a:lnTo>
                  <a:pt x="266700" y="166688"/>
                </a:lnTo>
                <a:cubicBezTo>
                  <a:pt x="283230" y="166688"/>
                  <a:pt x="298579" y="171827"/>
                  <a:pt x="311150" y="180648"/>
                </a:cubicBezTo>
                <a:lnTo>
                  <a:pt x="311150" y="66675"/>
                </a:lnTo>
                <a:cubicBezTo>
                  <a:pt x="311150" y="42158"/>
                  <a:pt x="291217" y="22225"/>
                  <a:pt x="266700" y="22225"/>
                </a:cubicBezTo>
                <a:lnTo>
                  <a:pt x="44450" y="22225"/>
                </a:lnTo>
                <a:close/>
                <a:moveTo>
                  <a:pt x="311150" y="244475"/>
                </a:moveTo>
                <a:cubicBezTo>
                  <a:pt x="311150" y="219958"/>
                  <a:pt x="291217" y="200025"/>
                  <a:pt x="266700" y="200025"/>
                </a:cubicBezTo>
                <a:lnTo>
                  <a:pt x="44450" y="200025"/>
                </a:lnTo>
                <a:cubicBezTo>
                  <a:pt x="19933" y="200025"/>
                  <a:pt x="0" y="219958"/>
                  <a:pt x="0" y="244475"/>
                </a:cubicBezTo>
                <a:lnTo>
                  <a:pt x="0" y="288925"/>
                </a:lnTo>
                <a:cubicBezTo>
                  <a:pt x="0" y="313442"/>
                  <a:pt x="19933" y="333375"/>
                  <a:pt x="44450" y="333375"/>
                </a:cubicBezTo>
                <a:lnTo>
                  <a:pt x="266700" y="333375"/>
                </a:lnTo>
                <a:cubicBezTo>
                  <a:pt x="291217" y="333375"/>
                  <a:pt x="311150" y="313442"/>
                  <a:pt x="311150" y="288925"/>
                </a:cubicBezTo>
                <a:lnTo>
                  <a:pt x="311150" y="244475"/>
                </a:lnTo>
                <a:close/>
                <a:moveTo>
                  <a:pt x="155575" y="266700"/>
                </a:moveTo>
                <a:cubicBezTo>
                  <a:pt x="155575" y="254434"/>
                  <a:pt x="165534" y="244475"/>
                  <a:pt x="177800" y="244475"/>
                </a:cubicBezTo>
                <a:cubicBezTo>
                  <a:pt x="190066" y="244475"/>
                  <a:pt x="200025" y="254434"/>
                  <a:pt x="200025" y="266700"/>
                </a:cubicBezTo>
                <a:cubicBezTo>
                  <a:pt x="200025" y="278966"/>
                  <a:pt x="190066" y="288925"/>
                  <a:pt x="177800" y="288925"/>
                </a:cubicBezTo>
                <a:cubicBezTo>
                  <a:pt x="165534" y="288925"/>
                  <a:pt x="155575" y="278966"/>
                  <a:pt x="155575" y="266700"/>
                </a:cubicBezTo>
                <a:close/>
                <a:moveTo>
                  <a:pt x="244475" y="244475"/>
                </a:moveTo>
                <a:cubicBezTo>
                  <a:pt x="256741" y="244475"/>
                  <a:pt x="266700" y="254434"/>
                  <a:pt x="266700" y="266700"/>
                </a:cubicBezTo>
                <a:cubicBezTo>
                  <a:pt x="266700" y="278966"/>
                  <a:pt x="256741" y="288925"/>
                  <a:pt x="244475" y="288925"/>
                </a:cubicBezTo>
                <a:cubicBezTo>
                  <a:pt x="232209" y="288925"/>
                  <a:pt x="222250" y="278966"/>
                  <a:pt x="222250" y="266700"/>
                </a:cubicBezTo>
                <a:cubicBezTo>
                  <a:pt x="222250" y="254434"/>
                  <a:pt x="232209" y="244475"/>
                  <a:pt x="244475" y="244475"/>
                </a:cubicBezTo>
                <a:close/>
              </a:path>
            </a:pathLst>
          </a:custGeom>
          <a:solidFill>
            <a:srgbClr val="C17A3A"/>
          </a:solidFill>
          <a:ln/>
        </p:spPr>
      </p:sp>
      <p:sp>
        <p:nvSpPr>
          <p:cNvPr id="8" name="Text 6"/>
          <p:cNvSpPr/>
          <p:nvPr/>
        </p:nvSpPr>
        <p:spPr>
          <a:xfrm>
            <a:off x="1498600" y="2959100"/>
            <a:ext cx="2413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Capacity</a:t>
            </a:r>
            <a:endParaRPr lang="en-US" sz="1600" dirty="0"/>
          </a:p>
        </p:txBody>
      </p:sp>
      <p:sp>
        <p:nvSpPr>
          <p:cNvPr id="9" name="Text 7"/>
          <p:cNvSpPr/>
          <p:nvPr/>
        </p:nvSpPr>
        <p:spPr>
          <a:xfrm>
            <a:off x="1016000" y="3429000"/>
            <a:ext cx="2921000" cy="825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Amount of data held (GB, TB)</a:t>
            </a:r>
            <a:endParaRPr lang="en-US" sz="1600" dirty="0"/>
          </a:p>
        </p:txBody>
      </p:sp>
      <p:sp>
        <p:nvSpPr>
          <p:cNvPr id="10" name="Shape 8"/>
          <p:cNvSpPr/>
          <p:nvPr/>
        </p:nvSpPr>
        <p:spPr>
          <a:xfrm>
            <a:off x="4508500" y="2794000"/>
            <a:ext cx="3429000" cy="1651000"/>
          </a:xfrm>
          <a:prstGeom prst="rect">
            <a:avLst/>
          </a:prstGeom>
          <a:solidFill>
            <a:srgbClr val="EDEAE4"/>
          </a:solidFill>
          <a:ln/>
        </p:spPr>
      </p:sp>
      <p:sp>
        <p:nvSpPr>
          <p:cNvPr id="11" name="Shape 9"/>
          <p:cNvSpPr/>
          <p:nvPr/>
        </p:nvSpPr>
        <p:spPr>
          <a:xfrm>
            <a:off x="4762500" y="2984500"/>
            <a:ext cx="355600" cy="355600"/>
          </a:xfrm>
          <a:custGeom>
            <a:avLst/>
            <a:gdLst/>
            <a:ahLst/>
            <a:cxnLst/>
            <a:rect l="l" t="t" r="r" b="b"/>
            <a:pathLst>
              <a:path w="355600" h="355600">
                <a:moveTo>
                  <a:pt x="0" y="177800"/>
                </a:moveTo>
                <a:cubicBezTo>
                  <a:pt x="0" y="79670"/>
                  <a:pt x="79670" y="0"/>
                  <a:pt x="177800" y="0"/>
                </a:cubicBezTo>
                <a:cubicBezTo>
                  <a:pt x="275930" y="0"/>
                  <a:pt x="355600" y="79670"/>
                  <a:pt x="355600" y="177800"/>
                </a:cubicBezTo>
                <a:cubicBezTo>
                  <a:pt x="355600" y="275930"/>
                  <a:pt x="275930" y="355600"/>
                  <a:pt x="177800" y="355600"/>
                </a:cubicBezTo>
                <a:cubicBezTo>
                  <a:pt x="79670" y="355600"/>
                  <a:pt x="0" y="275930"/>
                  <a:pt x="0" y="177800"/>
                </a:cubicBezTo>
                <a:close/>
                <a:moveTo>
                  <a:pt x="200025" y="66675"/>
                </a:moveTo>
                <a:cubicBezTo>
                  <a:pt x="200025" y="54409"/>
                  <a:pt x="190066" y="44450"/>
                  <a:pt x="177800" y="44450"/>
                </a:cubicBezTo>
                <a:cubicBezTo>
                  <a:pt x="165534" y="44450"/>
                  <a:pt x="155575" y="54409"/>
                  <a:pt x="155575" y="66675"/>
                </a:cubicBezTo>
                <a:cubicBezTo>
                  <a:pt x="155575" y="78941"/>
                  <a:pt x="165534" y="88900"/>
                  <a:pt x="177800" y="88900"/>
                </a:cubicBezTo>
                <a:cubicBezTo>
                  <a:pt x="190066" y="88900"/>
                  <a:pt x="200025" y="78941"/>
                  <a:pt x="200025" y="66675"/>
                </a:cubicBezTo>
                <a:close/>
                <a:moveTo>
                  <a:pt x="177800" y="288925"/>
                </a:moveTo>
                <a:cubicBezTo>
                  <a:pt x="202317" y="288925"/>
                  <a:pt x="222250" y="268992"/>
                  <a:pt x="222250" y="244475"/>
                </a:cubicBezTo>
                <a:cubicBezTo>
                  <a:pt x="222250" y="233224"/>
                  <a:pt x="218083" y="222875"/>
                  <a:pt x="211138" y="215096"/>
                </a:cubicBezTo>
                <a:lnTo>
                  <a:pt x="259407" y="118626"/>
                </a:lnTo>
                <a:cubicBezTo>
                  <a:pt x="263505" y="110361"/>
                  <a:pt x="260171" y="100360"/>
                  <a:pt x="251976" y="96262"/>
                </a:cubicBezTo>
                <a:cubicBezTo>
                  <a:pt x="243780" y="92164"/>
                  <a:pt x="233710" y="95498"/>
                  <a:pt x="229612" y="103694"/>
                </a:cubicBezTo>
                <a:lnTo>
                  <a:pt x="181342" y="200164"/>
                </a:lnTo>
                <a:cubicBezTo>
                  <a:pt x="180161" y="200094"/>
                  <a:pt x="178981" y="200025"/>
                  <a:pt x="177800" y="200025"/>
                </a:cubicBezTo>
                <a:cubicBezTo>
                  <a:pt x="153283" y="200025"/>
                  <a:pt x="133350" y="219958"/>
                  <a:pt x="133350" y="244475"/>
                </a:cubicBezTo>
                <a:cubicBezTo>
                  <a:pt x="133350" y="268992"/>
                  <a:pt x="153283" y="288925"/>
                  <a:pt x="177800" y="288925"/>
                </a:cubicBezTo>
                <a:close/>
                <a:moveTo>
                  <a:pt x="122238" y="100013"/>
                </a:moveTo>
                <a:cubicBezTo>
                  <a:pt x="122238" y="87746"/>
                  <a:pt x="112279" y="77788"/>
                  <a:pt x="100013" y="77788"/>
                </a:cubicBezTo>
                <a:cubicBezTo>
                  <a:pt x="87746" y="77788"/>
                  <a:pt x="77788" y="87746"/>
                  <a:pt x="77788" y="100013"/>
                </a:cubicBezTo>
                <a:cubicBezTo>
                  <a:pt x="77788" y="112279"/>
                  <a:pt x="87746" y="122238"/>
                  <a:pt x="100013" y="122238"/>
                </a:cubicBezTo>
                <a:cubicBezTo>
                  <a:pt x="112279" y="122238"/>
                  <a:pt x="122238" y="112279"/>
                  <a:pt x="122238" y="100013"/>
                </a:cubicBezTo>
                <a:close/>
                <a:moveTo>
                  <a:pt x="66675" y="200025"/>
                </a:moveTo>
                <a:cubicBezTo>
                  <a:pt x="78941" y="200025"/>
                  <a:pt x="88900" y="190066"/>
                  <a:pt x="88900" y="177800"/>
                </a:cubicBezTo>
                <a:cubicBezTo>
                  <a:pt x="88900" y="165534"/>
                  <a:pt x="78941" y="155575"/>
                  <a:pt x="66675" y="155575"/>
                </a:cubicBezTo>
                <a:cubicBezTo>
                  <a:pt x="54409" y="155575"/>
                  <a:pt x="44450" y="165534"/>
                  <a:pt x="44450" y="177800"/>
                </a:cubicBezTo>
                <a:cubicBezTo>
                  <a:pt x="44450" y="190066"/>
                  <a:pt x="54409" y="200025"/>
                  <a:pt x="66675" y="200025"/>
                </a:cubicBezTo>
                <a:close/>
                <a:moveTo>
                  <a:pt x="311150" y="177800"/>
                </a:moveTo>
                <a:cubicBezTo>
                  <a:pt x="311150" y="165534"/>
                  <a:pt x="301191" y="155575"/>
                  <a:pt x="288925" y="155575"/>
                </a:cubicBezTo>
                <a:cubicBezTo>
                  <a:pt x="276659" y="155575"/>
                  <a:pt x="266700" y="165534"/>
                  <a:pt x="266700" y="177800"/>
                </a:cubicBezTo>
                <a:cubicBezTo>
                  <a:pt x="266700" y="190066"/>
                  <a:pt x="276659" y="200025"/>
                  <a:pt x="288925" y="200025"/>
                </a:cubicBezTo>
                <a:cubicBezTo>
                  <a:pt x="301191" y="200025"/>
                  <a:pt x="311150" y="190066"/>
                  <a:pt x="311150" y="177800"/>
                </a:cubicBezTo>
                <a:close/>
              </a:path>
            </a:pathLst>
          </a:custGeom>
          <a:solidFill>
            <a:srgbClr val="C17A3A"/>
          </a:solidFill>
          <a:ln/>
        </p:spPr>
      </p:sp>
      <p:sp>
        <p:nvSpPr>
          <p:cNvPr id="12" name="Text 10"/>
          <p:cNvSpPr/>
          <p:nvPr/>
        </p:nvSpPr>
        <p:spPr>
          <a:xfrm>
            <a:off x="5245100" y="2959100"/>
            <a:ext cx="2413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Speed</a:t>
            </a:r>
            <a:endParaRPr lang="en-US" sz="1600" dirty="0"/>
          </a:p>
        </p:txBody>
      </p:sp>
      <p:sp>
        <p:nvSpPr>
          <p:cNvPr id="13" name="Text 11"/>
          <p:cNvSpPr/>
          <p:nvPr/>
        </p:nvSpPr>
        <p:spPr>
          <a:xfrm>
            <a:off x="4762500" y="3429000"/>
            <a:ext cx="2921000" cy="825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Read/write access time and transfer rate</a:t>
            </a:r>
            <a:endParaRPr lang="en-US" sz="1600" dirty="0"/>
          </a:p>
        </p:txBody>
      </p:sp>
      <p:sp>
        <p:nvSpPr>
          <p:cNvPr id="14" name="Shape 12"/>
          <p:cNvSpPr/>
          <p:nvPr/>
        </p:nvSpPr>
        <p:spPr>
          <a:xfrm>
            <a:off x="8255000" y="2794000"/>
            <a:ext cx="3429000" cy="1651000"/>
          </a:xfrm>
          <a:prstGeom prst="rect">
            <a:avLst/>
          </a:prstGeom>
          <a:solidFill>
            <a:srgbClr val="EDEAE4"/>
          </a:solidFill>
          <a:ln/>
        </p:spPr>
      </p:sp>
      <p:sp>
        <p:nvSpPr>
          <p:cNvPr id="15" name="Shape 13"/>
          <p:cNvSpPr/>
          <p:nvPr/>
        </p:nvSpPr>
        <p:spPr>
          <a:xfrm>
            <a:off x="8509000" y="2984500"/>
            <a:ext cx="355600" cy="355600"/>
          </a:xfrm>
          <a:custGeom>
            <a:avLst/>
            <a:gdLst/>
            <a:ahLst/>
            <a:cxnLst/>
            <a:rect l="l" t="t" r="r" b="b"/>
            <a:pathLst>
              <a:path w="355600" h="355600">
                <a:moveTo>
                  <a:pt x="138906" y="33337"/>
                </a:moveTo>
                <a:lnTo>
                  <a:pt x="216694" y="33337"/>
                </a:lnTo>
                <a:cubicBezTo>
                  <a:pt x="219750" y="33337"/>
                  <a:pt x="222250" y="35838"/>
                  <a:pt x="222250" y="38894"/>
                </a:cubicBezTo>
                <a:lnTo>
                  <a:pt x="222250" y="66675"/>
                </a:lnTo>
                <a:lnTo>
                  <a:pt x="133350" y="66675"/>
                </a:lnTo>
                <a:lnTo>
                  <a:pt x="133350" y="38894"/>
                </a:lnTo>
                <a:cubicBezTo>
                  <a:pt x="133350" y="35838"/>
                  <a:pt x="135850" y="33337"/>
                  <a:pt x="138906" y="33337"/>
                </a:cubicBezTo>
                <a:close/>
                <a:moveTo>
                  <a:pt x="100013" y="38894"/>
                </a:moveTo>
                <a:lnTo>
                  <a:pt x="100013" y="333375"/>
                </a:lnTo>
                <a:lnTo>
                  <a:pt x="255587" y="333375"/>
                </a:lnTo>
                <a:lnTo>
                  <a:pt x="255587" y="38894"/>
                </a:lnTo>
                <a:cubicBezTo>
                  <a:pt x="255587" y="17433"/>
                  <a:pt x="238155" y="0"/>
                  <a:pt x="216694" y="0"/>
                </a:cubicBezTo>
                <a:lnTo>
                  <a:pt x="138906" y="0"/>
                </a:lnTo>
                <a:cubicBezTo>
                  <a:pt x="117445" y="0"/>
                  <a:pt x="100013" y="17433"/>
                  <a:pt x="100013" y="38894"/>
                </a:cubicBezTo>
                <a:close/>
                <a:moveTo>
                  <a:pt x="288925" y="66675"/>
                </a:moveTo>
                <a:lnTo>
                  <a:pt x="288925" y="333375"/>
                </a:lnTo>
                <a:lnTo>
                  <a:pt x="311150" y="333375"/>
                </a:lnTo>
                <a:cubicBezTo>
                  <a:pt x="335667" y="333375"/>
                  <a:pt x="355600" y="313442"/>
                  <a:pt x="355600" y="288925"/>
                </a:cubicBezTo>
                <a:lnTo>
                  <a:pt x="355600" y="111125"/>
                </a:lnTo>
                <a:cubicBezTo>
                  <a:pt x="355600" y="86608"/>
                  <a:pt x="335667" y="66675"/>
                  <a:pt x="311150" y="66675"/>
                </a:cubicBezTo>
                <a:lnTo>
                  <a:pt x="288925" y="66675"/>
                </a:lnTo>
                <a:close/>
                <a:moveTo>
                  <a:pt x="66675" y="333375"/>
                </a:moveTo>
                <a:lnTo>
                  <a:pt x="66675" y="66675"/>
                </a:lnTo>
                <a:lnTo>
                  <a:pt x="44450" y="66675"/>
                </a:lnTo>
                <a:cubicBezTo>
                  <a:pt x="19933" y="66675"/>
                  <a:pt x="0" y="86608"/>
                  <a:pt x="0" y="111125"/>
                </a:cubicBezTo>
                <a:lnTo>
                  <a:pt x="0" y="288925"/>
                </a:lnTo>
                <a:cubicBezTo>
                  <a:pt x="0" y="313442"/>
                  <a:pt x="19933" y="333375"/>
                  <a:pt x="44450" y="333375"/>
                </a:cubicBezTo>
                <a:lnTo>
                  <a:pt x="66675" y="333375"/>
                </a:lnTo>
                <a:close/>
              </a:path>
            </a:pathLst>
          </a:custGeom>
          <a:solidFill>
            <a:srgbClr val="C17A3A"/>
          </a:solidFill>
          <a:ln/>
        </p:spPr>
      </p:sp>
      <p:sp>
        <p:nvSpPr>
          <p:cNvPr id="16" name="Text 14"/>
          <p:cNvSpPr/>
          <p:nvPr/>
        </p:nvSpPr>
        <p:spPr>
          <a:xfrm>
            <a:off x="8991600" y="2959100"/>
            <a:ext cx="2413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Portability</a:t>
            </a:r>
            <a:endParaRPr lang="en-US" sz="1600" dirty="0"/>
          </a:p>
        </p:txBody>
      </p:sp>
      <p:sp>
        <p:nvSpPr>
          <p:cNvPr id="17" name="Text 15"/>
          <p:cNvSpPr/>
          <p:nvPr/>
        </p:nvSpPr>
        <p:spPr>
          <a:xfrm>
            <a:off x="8509000" y="3429000"/>
            <a:ext cx="2921000" cy="825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Ease of transport between devices</a:t>
            </a:r>
            <a:endParaRPr lang="en-US" sz="1600" dirty="0"/>
          </a:p>
        </p:txBody>
      </p:sp>
      <p:sp>
        <p:nvSpPr>
          <p:cNvPr id="18" name="Shape 16"/>
          <p:cNvSpPr/>
          <p:nvPr/>
        </p:nvSpPr>
        <p:spPr>
          <a:xfrm>
            <a:off x="12001500" y="2794000"/>
            <a:ext cx="3429000" cy="1651000"/>
          </a:xfrm>
          <a:prstGeom prst="rect">
            <a:avLst/>
          </a:prstGeom>
          <a:solidFill>
            <a:srgbClr val="EDEAE4"/>
          </a:solidFill>
          <a:ln/>
        </p:spPr>
      </p:sp>
      <p:sp>
        <p:nvSpPr>
          <p:cNvPr id="19" name="Shape 17"/>
          <p:cNvSpPr/>
          <p:nvPr/>
        </p:nvSpPr>
        <p:spPr>
          <a:xfrm>
            <a:off x="12255500" y="2984500"/>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C17A3A"/>
          </a:solidFill>
          <a:ln/>
        </p:spPr>
      </p:sp>
      <p:sp>
        <p:nvSpPr>
          <p:cNvPr id="20" name="Text 18"/>
          <p:cNvSpPr/>
          <p:nvPr/>
        </p:nvSpPr>
        <p:spPr>
          <a:xfrm>
            <a:off x="12738100" y="2959100"/>
            <a:ext cx="2413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Durability</a:t>
            </a:r>
            <a:endParaRPr lang="en-US" sz="1600" dirty="0"/>
          </a:p>
        </p:txBody>
      </p:sp>
      <p:sp>
        <p:nvSpPr>
          <p:cNvPr id="21" name="Text 19"/>
          <p:cNvSpPr/>
          <p:nvPr/>
        </p:nvSpPr>
        <p:spPr>
          <a:xfrm>
            <a:off x="12255500" y="3429000"/>
            <a:ext cx="2921000" cy="825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Resistance to damage and environment</a:t>
            </a:r>
            <a:endParaRPr lang="en-US" sz="1600" dirty="0"/>
          </a:p>
        </p:txBody>
      </p:sp>
      <p:sp>
        <p:nvSpPr>
          <p:cNvPr id="22" name="Shape 20"/>
          <p:cNvSpPr/>
          <p:nvPr/>
        </p:nvSpPr>
        <p:spPr>
          <a:xfrm>
            <a:off x="762000" y="4762500"/>
            <a:ext cx="3429000" cy="1651000"/>
          </a:xfrm>
          <a:prstGeom prst="rect">
            <a:avLst/>
          </a:prstGeom>
          <a:solidFill>
            <a:srgbClr val="EDEAE4"/>
          </a:solidFill>
          <a:ln/>
        </p:spPr>
      </p:sp>
      <p:sp>
        <p:nvSpPr>
          <p:cNvPr id="23" name="Shape 21"/>
          <p:cNvSpPr/>
          <p:nvPr/>
        </p:nvSpPr>
        <p:spPr>
          <a:xfrm>
            <a:off x="1016000" y="4953000"/>
            <a:ext cx="355600" cy="355600"/>
          </a:xfrm>
          <a:custGeom>
            <a:avLst/>
            <a:gdLst/>
            <a:ahLst/>
            <a:cxnLst/>
            <a:rect l="l" t="t" r="r" b="b"/>
            <a:pathLst>
              <a:path w="355600" h="355600">
                <a:moveTo>
                  <a:pt x="88900" y="66675"/>
                </a:moveTo>
                <a:lnTo>
                  <a:pt x="88900" y="55563"/>
                </a:lnTo>
                <a:cubicBezTo>
                  <a:pt x="88900" y="24864"/>
                  <a:pt x="148630" y="0"/>
                  <a:pt x="222250" y="0"/>
                </a:cubicBezTo>
                <a:cubicBezTo>
                  <a:pt x="295870" y="0"/>
                  <a:pt x="355600" y="24864"/>
                  <a:pt x="355600" y="55563"/>
                </a:cubicBezTo>
                <a:lnTo>
                  <a:pt x="355600" y="66675"/>
                </a:lnTo>
                <a:cubicBezTo>
                  <a:pt x="355600" y="87928"/>
                  <a:pt x="326916" y="106402"/>
                  <a:pt x="284758" y="115778"/>
                </a:cubicBezTo>
                <a:cubicBezTo>
                  <a:pt x="283091" y="113834"/>
                  <a:pt x="281355" y="111958"/>
                  <a:pt x="279618" y="110222"/>
                </a:cubicBezTo>
                <a:cubicBezTo>
                  <a:pt x="268853" y="99596"/>
                  <a:pt x="254962" y="91539"/>
                  <a:pt x="240447" y="85566"/>
                </a:cubicBezTo>
                <a:cubicBezTo>
                  <a:pt x="211346" y="73412"/>
                  <a:pt x="173424" y="66744"/>
                  <a:pt x="133350" y="66744"/>
                </a:cubicBezTo>
                <a:cubicBezTo>
                  <a:pt x="118140" y="66744"/>
                  <a:pt x="103277" y="67717"/>
                  <a:pt x="89039" y="69592"/>
                </a:cubicBezTo>
                <a:cubicBezTo>
                  <a:pt x="88900" y="68689"/>
                  <a:pt x="88900" y="67717"/>
                  <a:pt x="88900" y="66744"/>
                </a:cubicBezTo>
                <a:close/>
                <a:moveTo>
                  <a:pt x="300038" y="245170"/>
                </a:moveTo>
                <a:lnTo>
                  <a:pt x="300038" y="213082"/>
                </a:lnTo>
                <a:cubicBezTo>
                  <a:pt x="310525" y="210374"/>
                  <a:pt x="320387" y="207179"/>
                  <a:pt x="329347" y="203428"/>
                </a:cubicBezTo>
                <a:cubicBezTo>
                  <a:pt x="338515" y="199608"/>
                  <a:pt x="347474" y="194955"/>
                  <a:pt x="355600" y="189329"/>
                </a:cubicBezTo>
                <a:lnTo>
                  <a:pt x="355600" y="200025"/>
                </a:lnTo>
                <a:cubicBezTo>
                  <a:pt x="355600" y="218638"/>
                  <a:pt x="333722" y="235099"/>
                  <a:pt x="300038" y="245170"/>
                </a:cubicBezTo>
                <a:close/>
                <a:moveTo>
                  <a:pt x="300038" y="178495"/>
                </a:moveTo>
                <a:lnTo>
                  <a:pt x="300038" y="155575"/>
                </a:lnTo>
                <a:cubicBezTo>
                  <a:pt x="300038" y="152450"/>
                  <a:pt x="299760" y="149463"/>
                  <a:pt x="299343" y="146546"/>
                </a:cubicBezTo>
                <a:cubicBezTo>
                  <a:pt x="310108" y="143837"/>
                  <a:pt x="320179" y="140573"/>
                  <a:pt x="329347" y="136684"/>
                </a:cubicBezTo>
                <a:cubicBezTo>
                  <a:pt x="338515" y="132794"/>
                  <a:pt x="347474" y="128210"/>
                  <a:pt x="355600" y="122585"/>
                </a:cubicBezTo>
                <a:lnTo>
                  <a:pt x="355600" y="133281"/>
                </a:lnTo>
                <a:cubicBezTo>
                  <a:pt x="355600" y="151894"/>
                  <a:pt x="333722" y="168354"/>
                  <a:pt x="300038" y="178425"/>
                </a:cubicBezTo>
                <a:close/>
                <a:moveTo>
                  <a:pt x="0" y="166688"/>
                </a:moveTo>
                <a:lnTo>
                  <a:pt x="0" y="155575"/>
                </a:lnTo>
                <a:cubicBezTo>
                  <a:pt x="0" y="124877"/>
                  <a:pt x="59730" y="100013"/>
                  <a:pt x="133350" y="100013"/>
                </a:cubicBezTo>
                <a:cubicBezTo>
                  <a:pt x="206970" y="100013"/>
                  <a:pt x="266700" y="124877"/>
                  <a:pt x="266700" y="155575"/>
                </a:cubicBezTo>
                <a:lnTo>
                  <a:pt x="266700" y="166688"/>
                </a:lnTo>
                <a:cubicBezTo>
                  <a:pt x="266700" y="197386"/>
                  <a:pt x="206970" y="222250"/>
                  <a:pt x="133350" y="222250"/>
                </a:cubicBezTo>
                <a:cubicBezTo>
                  <a:pt x="59730" y="222250"/>
                  <a:pt x="0" y="197386"/>
                  <a:pt x="0" y="166688"/>
                </a:cubicBezTo>
                <a:close/>
                <a:moveTo>
                  <a:pt x="266700" y="233363"/>
                </a:moveTo>
                <a:cubicBezTo>
                  <a:pt x="266700" y="264061"/>
                  <a:pt x="206970" y="288925"/>
                  <a:pt x="133350" y="288925"/>
                </a:cubicBezTo>
                <a:cubicBezTo>
                  <a:pt x="59730" y="288925"/>
                  <a:pt x="0" y="264061"/>
                  <a:pt x="0" y="233363"/>
                </a:cubicBezTo>
                <a:lnTo>
                  <a:pt x="0" y="222667"/>
                </a:lnTo>
                <a:cubicBezTo>
                  <a:pt x="8057" y="228292"/>
                  <a:pt x="17016" y="232876"/>
                  <a:pt x="26253" y="236766"/>
                </a:cubicBezTo>
                <a:cubicBezTo>
                  <a:pt x="55354" y="248920"/>
                  <a:pt x="93276" y="255588"/>
                  <a:pt x="133350" y="255588"/>
                </a:cubicBezTo>
                <a:cubicBezTo>
                  <a:pt x="173424" y="255588"/>
                  <a:pt x="211346" y="248851"/>
                  <a:pt x="240447" y="236766"/>
                </a:cubicBezTo>
                <a:cubicBezTo>
                  <a:pt x="249615" y="232946"/>
                  <a:pt x="258574" y="228292"/>
                  <a:pt x="266700" y="222667"/>
                </a:cubicBezTo>
                <a:lnTo>
                  <a:pt x="266700" y="233363"/>
                </a:lnTo>
                <a:close/>
                <a:moveTo>
                  <a:pt x="266700" y="289342"/>
                </a:moveTo>
                <a:lnTo>
                  <a:pt x="266700" y="300038"/>
                </a:lnTo>
                <a:cubicBezTo>
                  <a:pt x="266700" y="330736"/>
                  <a:pt x="206970" y="355600"/>
                  <a:pt x="133350" y="355600"/>
                </a:cubicBezTo>
                <a:cubicBezTo>
                  <a:pt x="59730" y="355600"/>
                  <a:pt x="0" y="330736"/>
                  <a:pt x="0" y="300038"/>
                </a:cubicBezTo>
                <a:lnTo>
                  <a:pt x="0" y="289342"/>
                </a:lnTo>
                <a:cubicBezTo>
                  <a:pt x="8057" y="294967"/>
                  <a:pt x="17016" y="299551"/>
                  <a:pt x="26253" y="303441"/>
                </a:cubicBezTo>
                <a:cubicBezTo>
                  <a:pt x="55354" y="315595"/>
                  <a:pt x="93276" y="322263"/>
                  <a:pt x="133350" y="322263"/>
                </a:cubicBezTo>
                <a:cubicBezTo>
                  <a:pt x="173424" y="322263"/>
                  <a:pt x="211346" y="315526"/>
                  <a:pt x="240447" y="303441"/>
                </a:cubicBezTo>
                <a:cubicBezTo>
                  <a:pt x="249615" y="299621"/>
                  <a:pt x="258574" y="294967"/>
                  <a:pt x="266700" y="289342"/>
                </a:cubicBezTo>
                <a:close/>
              </a:path>
            </a:pathLst>
          </a:custGeom>
          <a:solidFill>
            <a:srgbClr val="C17A3A"/>
          </a:solidFill>
          <a:ln/>
        </p:spPr>
      </p:sp>
      <p:sp>
        <p:nvSpPr>
          <p:cNvPr id="24" name="Text 22"/>
          <p:cNvSpPr/>
          <p:nvPr/>
        </p:nvSpPr>
        <p:spPr>
          <a:xfrm>
            <a:off x="1498600" y="4927600"/>
            <a:ext cx="2413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Cost per GB</a:t>
            </a:r>
            <a:endParaRPr lang="en-US" sz="1600" dirty="0"/>
          </a:p>
        </p:txBody>
      </p:sp>
      <p:sp>
        <p:nvSpPr>
          <p:cNvPr id="25" name="Text 23"/>
          <p:cNvSpPr/>
          <p:nvPr/>
        </p:nvSpPr>
        <p:spPr>
          <a:xfrm>
            <a:off x="1016000" y="5397500"/>
            <a:ext cx="2921000" cy="825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Price relative to storage amount</a:t>
            </a:r>
            <a:endParaRPr lang="en-US" sz="1600" dirty="0"/>
          </a:p>
        </p:txBody>
      </p:sp>
      <p:sp>
        <p:nvSpPr>
          <p:cNvPr id="26" name="Shape 24"/>
          <p:cNvSpPr/>
          <p:nvPr/>
        </p:nvSpPr>
        <p:spPr>
          <a:xfrm>
            <a:off x="4508500" y="4762500"/>
            <a:ext cx="3429000" cy="1651000"/>
          </a:xfrm>
          <a:prstGeom prst="rect">
            <a:avLst/>
          </a:prstGeom>
          <a:solidFill>
            <a:srgbClr val="EDEAE4"/>
          </a:solidFill>
          <a:ln/>
        </p:spPr>
      </p:sp>
      <p:sp>
        <p:nvSpPr>
          <p:cNvPr id="27" name="Shape 25"/>
          <p:cNvSpPr/>
          <p:nvPr/>
        </p:nvSpPr>
        <p:spPr>
          <a:xfrm>
            <a:off x="4762500" y="4953000"/>
            <a:ext cx="355600" cy="355600"/>
          </a:xfrm>
          <a:custGeom>
            <a:avLst/>
            <a:gdLst/>
            <a:ahLst/>
            <a:cxnLst/>
            <a:rect l="l" t="t" r="r" b="b"/>
            <a:pathLst>
              <a:path w="355600" h="355600">
                <a:moveTo>
                  <a:pt x="177800" y="0"/>
                </a:moveTo>
                <a:cubicBezTo>
                  <a:pt x="275930" y="0"/>
                  <a:pt x="355600" y="79670"/>
                  <a:pt x="355600" y="177800"/>
                </a:cubicBezTo>
                <a:cubicBezTo>
                  <a:pt x="355600" y="275930"/>
                  <a:pt x="275930" y="355600"/>
                  <a:pt x="177800" y="355600"/>
                </a:cubicBezTo>
                <a:cubicBezTo>
                  <a:pt x="79670" y="355600"/>
                  <a:pt x="0" y="275930"/>
                  <a:pt x="0" y="177800"/>
                </a:cubicBezTo>
                <a:cubicBezTo>
                  <a:pt x="0" y="79670"/>
                  <a:pt x="79670" y="0"/>
                  <a:pt x="177800" y="0"/>
                </a:cubicBezTo>
                <a:close/>
                <a:moveTo>
                  <a:pt x="161131" y="83344"/>
                </a:moveTo>
                <a:lnTo>
                  <a:pt x="161131" y="177800"/>
                </a:lnTo>
                <a:cubicBezTo>
                  <a:pt x="161131" y="183356"/>
                  <a:pt x="163909" y="188565"/>
                  <a:pt x="168563" y="191691"/>
                </a:cubicBezTo>
                <a:lnTo>
                  <a:pt x="235238" y="236141"/>
                </a:lnTo>
                <a:cubicBezTo>
                  <a:pt x="242878" y="241280"/>
                  <a:pt x="253226" y="239197"/>
                  <a:pt x="258366" y="231487"/>
                </a:cubicBezTo>
                <a:cubicBezTo>
                  <a:pt x="263505" y="223778"/>
                  <a:pt x="261422" y="213499"/>
                  <a:pt x="253712" y="208359"/>
                </a:cubicBezTo>
                <a:lnTo>
                  <a:pt x="194469" y="168910"/>
                </a:lnTo>
                <a:lnTo>
                  <a:pt x="194469" y="83344"/>
                </a:lnTo>
                <a:cubicBezTo>
                  <a:pt x="194469" y="74106"/>
                  <a:pt x="187037" y="66675"/>
                  <a:pt x="177800" y="66675"/>
                </a:cubicBezTo>
                <a:cubicBezTo>
                  <a:pt x="168563" y="66675"/>
                  <a:pt x="161131" y="74106"/>
                  <a:pt x="161131" y="83344"/>
                </a:cubicBezTo>
                <a:close/>
              </a:path>
            </a:pathLst>
          </a:custGeom>
          <a:solidFill>
            <a:srgbClr val="C17A3A"/>
          </a:solidFill>
          <a:ln/>
        </p:spPr>
      </p:sp>
      <p:sp>
        <p:nvSpPr>
          <p:cNvPr id="28" name="Text 26"/>
          <p:cNvSpPr/>
          <p:nvPr/>
        </p:nvSpPr>
        <p:spPr>
          <a:xfrm>
            <a:off x="5245100" y="4927600"/>
            <a:ext cx="2413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Reliability</a:t>
            </a:r>
            <a:endParaRPr lang="en-US" sz="1600" dirty="0"/>
          </a:p>
        </p:txBody>
      </p:sp>
      <p:sp>
        <p:nvSpPr>
          <p:cNvPr id="29" name="Text 27"/>
          <p:cNvSpPr/>
          <p:nvPr/>
        </p:nvSpPr>
        <p:spPr>
          <a:xfrm>
            <a:off x="4762500" y="5397500"/>
            <a:ext cx="2921000" cy="825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MTBF and data longevity</a:t>
            </a:r>
            <a:endParaRPr lang="en-US" sz="1600" dirty="0"/>
          </a:p>
        </p:txBody>
      </p:sp>
      <p:sp>
        <p:nvSpPr>
          <p:cNvPr id="30" name="Shape 28"/>
          <p:cNvSpPr/>
          <p:nvPr/>
        </p:nvSpPr>
        <p:spPr>
          <a:xfrm>
            <a:off x="8255000" y="4762500"/>
            <a:ext cx="3429000" cy="1651000"/>
          </a:xfrm>
          <a:prstGeom prst="rect">
            <a:avLst/>
          </a:prstGeom>
          <a:solidFill>
            <a:srgbClr val="EDEAE4"/>
          </a:solidFill>
          <a:ln/>
        </p:spPr>
      </p:sp>
      <p:sp>
        <p:nvSpPr>
          <p:cNvPr id="31" name="Shape 29"/>
          <p:cNvSpPr/>
          <p:nvPr/>
        </p:nvSpPr>
        <p:spPr>
          <a:xfrm>
            <a:off x="8531225" y="4953000"/>
            <a:ext cx="311150" cy="355600"/>
          </a:xfrm>
          <a:custGeom>
            <a:avLst/>
            <a:gdLst/>
            <a:ahLst/>
            <a:cxnLst/>
            <a:rect l="l" t="t" r="r" b="b"/>
            <a:pathLst>
              <a:path w="311150" h="355600">
                <a:moveTo>
                  <a:pt x="88900" y="-22225"/>
                </a:moveTo>
                <a:cubicBezTo>
                  <a:pt x="101193" y="-22225"/>
                  <a:pt x="111125" y="-12293"/>
                  <a:pt x="111125" y="0"/>
                </a:cubicBezTo>
                <a:lnTo>
                  <a:pt x="111125" y="66675"/>
                </a:lnTo>
                <a:lnTo>
                  <a:pt x="200025" y="66675"/>
                </a:lnTo>
                <a:lnTo>
                  <a:pt x="200025" y="0"/>
                </a:lnTo>
                <a:cubicBezTo>
                  <a:pt x="200025" y="-12293"/>
                  <a:pt x="209957" y="-22225"/>
                  <a:pt x="222250" y="-22225"/>
                </a:cubicBezTo>
                <a:cubicBezTo>
                  <a:pt x="234543" y="-22225"/>
                  <a:pt x="244475" y="-12293"/>
                  <a:pt x="244475" y="0"/>
                </a:cubicBezTo>
                <a:lnTo>
                  <a:pt x="244475" y="66675"/>
                </a:lnTo>
                <a:lnTo>
                  <a:pt x="288925" y="66675"/>
                </a:lnTo>
                <a:cubicBezTo>
                  <a:pt x="301218" y="66675"/>
                  <a:pt x="311150" y="76607"/>
                  <a:pt x="311150" y="88900"/>
                </a:cubicBezTo>
                <a:cubicBezTo>
                  <a:pt x="311150" y="101193"/>
                  <a:pt x="301218" y="111125"/>
                  <a:pt x="288925" y="111125"/>
                </a:cubicBezTo>
                <a:lnTo>
                  <a:pt x="288925" y="155575"/>
                </a:lnTo>
                <a:cubicBezTo>
                  <a:pt x="288925" y="221625"/>
                  <a:pt x="240863" y="276493"/>
                  <a:pt x="177800" y="287050"/>
                </a:cubicBezTo>
                <a:lnTo>
                  <a:pt x="177800" y="333375"/>
                </a:lnTo>
                <a:cubicBezTo>
                  <a:pt x="177800" y="345668"/>
                  <a:pt x="167868" y="355600"/>
                  <a:pt x="155575" y="355600"/>
                </a:cubicBezTo>
                <a:cubicBezTo>
                  <a:pt x="143282" y="355600"/>
                  <a:pt x="133350" y="345668"/>
                  <a:pt x="133350" y="333375"/>
                </a:cubicBezTo>
                <a:lnTo>
                  <a:pt x="133350" y="287050"/>
                </a:lnTo>
                <a:cubicBezTo>
                  <a:pt x="70287" y="276493"/>
                  <a:pt x="22225" y="221625"/>
                  <a:pt x="22225" y="155575"/>
                </a:cubicBezTo>
                <a:lnTo>
                  <a:pt x="22225" y="111125"/>
                </a:lnTo>
                <a:cubicBezTo>
                  <a:pt x="9932" y="111125"/>
                  <a:pt x="0" y="101193"/>
                  <a:pt x="0" y="88900"/>
                </a:cubicBezTo>
                <a:cubicBezTo>
                  <a:pt x="0" y="76607"/>
                  <a:pt x="9932" y="66675"/>
                  <a:pt x="22225" y="66675"/>
                </a:cubicBezTo>
                <a:lnTo>
                  <a:pt x="66675" y="66675"/>
                </a:lnTo>
                <a:lnTo>
                  <a:pt x="66675" y="0"/>
                </a:lnTo>
                <a:cubicBezTo>
                  <a:pt x="66675" y="-12293"/>
                  <a:pt x="76607" y="-22225"/>
                  <a:pt x="88900" y="-22225"/>
                </a:cubicBezTo>
                <a:close/>
              </a:path>
            </a:pathLst>
          </a:custGeom>
          <a:solidFill>
            <a:srgbClr val="C17A3A"/>
          </a:solidFill>
          <a:ln/>
        </p:spPr>
      </p:sp>
      <p:sp>
        <p:nvSpPr>
          <p:cNvPr id="32" name="Text 30"/>
          <p:cNvSpPr/>
          <p:nvPr/>
        </p:nvSpPr>
        <p:spPr>
          <a:xfrm>
            <a:off x="8991600" y="4927600"/>
            <a:ext cx="2413000" cy="355600"/>
          </a:xfrm>
          <a:prstGeom prst="rect">
            <a:avLst/>
          </a:prstGeom>
          <a:noFill/>
          <a:ln/>
        </p:spPr>
        <p:txBody>
          <a:bodyPr wrap="none" lIns="0" tIns="0" rIns="0" bIns="0" rtlCol="0" anchor="ctr"/>
          <a:lstStyle/>
          <a:p>
            <a:pPr>
              <a:lnSpc>
                <a:spcPct val="100000"/>
              </a:lnSpc>
            </a:pPr>
            <a:r>
              <a:rPr lang="en-US" sz="1800" b="1" dirty="0">
                <a:solidFill>
                  <a:srgbClr val="1B5E5E"/>
                </a:solidFill>
                <a:latin typeface="Quattrocento Sans" pitchFamily="34" charset="0"/>
                <a:ea typeface="Quattrocento Sans" pitchFamily="34" charset="-122"/>
                <a:cs typeface="Quattrocento Sans" pitchFamily="34" charset="-120"/>
              </a:rPr>
              <a:t>Power Use</a:t>
            </a:r>
            <a:endParaRPr lang="en-US" sz="1600" dirty="0"/>
          </a:p>
        </p:txBody>
      </p:sp>
      <p:sp>
        <p:nvSpPr>
          <p:cNvPr id="33" name="Text 31"/>
          <p:cNvSpPr/>
          <p:nvPr/>
        </p:nvSpPr>
        <p:spPr>
          <a:xfrm>
            <a:off x="8509000" y="5397500"/>
            <a:ext cx="2921000" cy="825500"/>
          </a:xfrm>
          <a:prstGeom prst="rect">
            <a:avLst/>
          </a:prstGeom>
          <a:noFill/>
          <a:ln/>
        </p:spPr>
        <p:txBody>
          <a:bodyPr wrap="square" lIns="0" tIns="0" rIns="0" bIns="0" rtlCol="0" anchor="ctr"/>
          <a:lstStyle/>
          <a:p>
            <a:pPr>
              <a:lnSpc>
                <a:spcPct val="140000"/>
              </a:lnSpc>
            </a:pPr>
            <a:r>
              <a:rPr lang="en-US" sz="1600" dirty="0">
                <a:solidFill>
                  <a:srgbClr val="2D2D2D"/>
                </a:solidFill>
                <a:latin typeface="Quattrocento Sans" pitchFamily="34" charset="0"/>
                <a:ea typeface="Quattrocento Sans" pitchFamily="34" charset="-122"/>
                <a:cs typeface="Quattrocento Sans" pitchFamily="34" charset="-120"/>
              </a:rPr>
              <a:t>Energy required for operation</a:t>
            </a:r>
            <a:endParaRPr lang="en-US" sz="1600" dirty="0"/>
          </a:p>
        </p:txBody>
      </p:sp>
      <p:sp>
        <p:nvSpPr>
          <p:cNvPr id="34" name="Text 32"/>
          <p:cNvSpPr/>
          <p:nvPr/>
        </p:nvSpPr>
        <p:spPr>
          <a:xfrm>
            <a:off x="762000" y="6858000"/>
            <a:ext cx="5080000" cy="381000"/>
          </a:xfrm>
          <a:prstGeom prst="rect">
            <a:avLst/>
          </a:prstGeom>
          <a:noFill/>
          <a:ln/>
        </p:spPr>
        <p:txBody>
          <a:bodyPr wrap="none" lIns="0" tIns="0" rIns="0" bIns="0" rtlCol="0" anchor="ctr"/>
          <a:lstStyle/>
          <a:p>
            <a:pPr>
              <a:lnSpc>
                <a:spcPct val="100000"/>
              </a:lnSpc>
            </a:pPr>
            <a:r>
              <a:rPr lang="en-US" sz="2000" b="1" dirty="0">
                <a:solidFill>
                  <a:srgbClr val="C17A3A"/>
                </a:solidFill>
                <a:latin typeface="Quattrocento Sans" pitchFamily="34" charset="0"/>
                <a:ea typeface="Quattrocento Sans" pitchFamily="34" charset="-122"/>
                <a:cs typeface="Quattrocento Sans" pitchFamily="34" charset="-120"/>
              </a:rPr>
              <a:t>Three Main Categories</a:t>
            </a:r>
            <a:endParaRPr lang="en-US" sz="1600" dirty="0"/>
          </a:p>
        </p:txBody>
      </p:sp>
      <p:sp>
        <p:nvSpPr>
          <p:cNvPr id="35" name="Shape 33"/>
          <p:cNvSpPr/>
          <p:nvPr/>
        </p:nvSpPr>
        <p:spPr>
          <a:xfrm>
            <a:off x="762000" y="7429500"/>
            <a:ext cx="4699000" cy="635000"/>
          </a:xfrm>
          <a:prstGeom prst="rect">
            <a:avLst/>
          </a:prstGeom>
          <a:solidFill>
            <a:srgbClr val="1B5E5E"/>
          </a:solidFill>
          <a:ln/>
        </p:spPr>
      </p:sp>
      <p:sp>
        <p:nvSpPr>
          <p:cNvPr id="36" name="Text 34"/>
          <p:cNvSpPr/>
          <p:nvPr/>
        </p:nvSpPr>
        <p:spPr>
          <a:xfrm>
            <a:off x="762000" y="7429500"/>
            <a:ext cx="4699000" cy="635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Magnetic Storage</a:t>
            </a:r>
            <a:endParaRPr lang="en-US" sz="1600" dirty="0"/>
          </a:p>
        </p:txBody>
      </p:sp>
      <p:sp>
        <p:nvSpPr>
          <p:cNvPr id="37" name="Shape 35"/>
          <p:cNvSpPr/>
          <p:nvPr/>
        </p:nvSpPr>
        <p:spPr>
          <a:xfrm>
            <a:off x="5778500" y="7429500"/>
            <a:ext cx="4699000" cy="635000"/>
          </a:xfrm>
          <a:prstGeom prst="rect">
            <a:avLst/>
          </a:prstGeom>
          <a:solidFill>
            <a:srgbClr val="1B5E5E"/>
          </a:solidFill>
          <a:ln/>
        </p:spPr>
      </p:sp>
      <p:sp>
        <p:nvSpPr>
          <p:cNvPr id="38" name="Text 36"/>
          <p:cNvSpPr/>
          <p:nvPr/>
        </p:nvSpPr>
        <p:spPr>
          <a:xfrm>
            <a:off x="5778500" y="7429500"/>
            <a:ext cx="4699000" cy="635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Optical Storage</a:t>
            </a:r>
            <a:endParaRPr lang="en-US" sz="1600" dirty="0"/>
          </a:p>
        </p:txBody>
      </p:sp>
      <p:sp>
        <p:nvSpPr>
          <p:cNvPr id="39" name="Shape 37"/>
          <p:cNvSpPr/>
          <p:nvPr/>
        </p:nvSpPr>
        <p:spPr>
          <a:xfrm>
            <a:off x="10795000" y="7429500"/>
            <a:ext cx="4699000" cy="635000"/>
          </a:xfrm>
          <a:prstGeom prst="rect">
            <a:avLst/>
          </a:prstGeom>
          <a:solidFill>
            <a:srgbClr val="1B5E5E"/>
          </a:solidFill>
          <a:ln/>
        </p:spPr>
      </p:sp>
      <p:sp>
        <p:nvSpPr>
          <p:cNvPr id="40" name="Text 38"/>
          <p:cNvSpPr/>
          <p:nvPr/>
        </p:nvSpPr>
        <p:spPr>
          <a:xfrm>
            <a:off x="10795000" y="7429500"/>
            <a:ext cx="4699000" cy="635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Solid-State Storage</a:t>
            </a:r>
            <a:endParaRPr lang="en-US" sz="1600" dirty="0"/>
          </a:p>
        </p:txBody>
      </p:sp>
      <p:sp>
        <p:nvSpPr>
          <p:cNvPr id="41" name="Text 39"/>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22</a:t>
            </a:r>
            <a:endParaRPr lang="en-US" sz="1400" dirty="0"/>
          </a:p>
        </p:txBody>
      </p:sp>
      <p:sp>
        <p:nvSpPr>
          <p:cNvPr id="42" name="Shape 40"/>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889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Magnetic Storage — Hard Drives &amp; Tape</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05000"/>
            <a:ext cx="4699000" cy="6096000"/>
          </a:xfrm>
          <a:prstGeom prst="rect">
            <a:avLst/>
          </a:prstGeom>
          <a:solidFill>
            <a:srgbClr val="EDEAE4"/>
          </a:solidFill>
          <a:ln/>
        </p:spPr>
      </p:sp>
      <p:sp>
        <p:nvSpPr>
          <p:cNvPr id="6" name="Shape 4"/>
          <p:cNvSpPr/>
          <p:nvPr/>
        </p:nvSpPr>
        <p:spPr>
          <a:xfrm>
            <a:off x="1038225" y="2222500"/>
            <a:ext cx="311150" cy="355600"/>
          </a:xfrm>
          <a:custGeom>
            <a:avLst/>
            <a:gdLst/>
            <a:ahLst/>
            <a:cxnLst/>
            <a:rect l="l" t="t" r="r" b="b"/>
            <a:pathLst>
              <a:path w="311150" h="355600">
                <a:moveTo>
                  <a:pt x="44450" y="22225"/>
                </a:moveTo>
                <a:cubicBezTo>
                  <a:pt x="19933" y="22225"/>
                  <a:pt x="0" y="42158"/>
                  <a:pt x="0" y="66675"/>
                </a:cubicBezTo>
                <a:lnTo>
                  <a:pt x="0" y="180648"/>
                </a:lnTo>
                <a:cubicBezTo>
                  <a:pt x="12571" y="171827"/>
                  <a:pt x="27920" y="166688"/>
                  <a:pt x="44450" y="166688"/>
                </a:cubicBezTo>
                <a:lnTo>
                  <a:pt x="266700" y="166688"/>
                </a:lnTo>
                <a:cubicBezTo>
                  <a:pt x="283230" y="166688"/>
                  <a:pt x="298579" y="171827"/>
                  <a:pt x="311150" y="180648"/>
                </a:cubicBezTo>
                <a:lnTo>
                  <a:pt x="311150" y="66675"/>
                </a:lnTo>
                <a:cubicBezTo>
                  <a:pt x="311150" y="42158"/>
                  <a:pt x="291217" y="22225"/>
                  <a:pt x="266700" y="22225"/>
                </a:cubicBezTo>
                <a:lnTo>
                  <a:pt x="44450" y="22225"/>
                </a:lnTo>
                <a:close/>
                <a:moveTo>
                  <a:pt x="311150" y="244475"/>
                </a:moveTo>
                <a:cubicBezTo>
                  <a:pt x="311150" y="219958"/>
                  <a:pt x="291217" y="200025"/>
                  <a:pt x="266700" y="200025"/>
                </a:cubicBezTo>
                <a:lnTo>
                  <a:pt x="44450" y="200025"/>
                </a:lnTo>
                <a:cubicBezTo>
                  <a:pt x="19933" y="200025"/>
                  <a:pt x="0" y="219958"/>
                  <a:pt x="0" y="244475"/>
                </a:cubicBezTo>
                <a:lnTo>
                  <a:pt x="0" y="288925"/>
                </a:lnTo>
                <a:cubicBezTo>
                  <a:pt x="0" y="313442"/>
                  <a:pt x="19933" y="333375"/>
                  <a:pt x="44450" y="333375"/>
                </a:cubicBezTo>
                <a:lnTo>
                  <a:pt x="266700" y="333375"/>
                </a:lnTo>
                <a:cubicBezTo>
                  <a:pt x="291217" y="333375"/>
                  <a:pt x="311150" y="313442"/>
                  <a:pt x="311150" y="288925"/>
                </a:cubicBezTo>
                <a:lnTo>
                  <a:pt x="311150" y="244475"/>
                </a:lnTo>
                <a:close/>
                <a:moveTo>
                  <a:pt x="155575" y="266700"/>
                </a:moveTo>
                <a:cubicBezTo>
                  <a:pt x="155575" y="254434"/>
                  <a:pt x="165534" y="244475"/>
                  <a:pt x="177800" y="244475"/>
                </a:cubicBezTo>
                <a:cubicBezTo>
                  <a:pt x="190066" y="244475"/>
                  <a:pt x="200025" y="254434"/>
                  <a:pt x="200025" y="266700"/>
                </a:cubicBezTo>
                <a:cubicBezTo>
                  <a:pt x="200025" y="278966"/>
                  <a:pt x="190066" y="288925"/>
                  <a:pt x="177800" y="288925"/>
                </a:cubicBezTo>
                <a:cubicBezTo>
                  <a:pt x="165534" y="288925"/>
                  <a:pt x="155575" y="278966"/>
                  <a:pt x="155575" y="266700"/>
                </a:cubicBezTo>
                <a:close/>
                <a:moveTo>
                  <a:pt x="244475" y="244475"/>
                </a:moveTo>
                <a:cubicBezTo>
                  <a:pt x="256741" y="244475"/>
                  <a:pt x="266700" y="254434"/>
                  <a:pt x="266700" y="266700"/>
                </a:cubicBezTo>
                <a:cubicBezTo>
                  <a:pt x="266700" y="278966"/>
                  <a:pt x="256741" y="288925"/>
                  <a:pt x="244475" y="288925"/>
                </a:cubicBezTo>
                <a:cubicBezTo>
                  <a:pt x="232209" y="288925"/>
                  <a:pt x="222250" y="278966"/>
                  <a:pt x="222250" y="266700"/>
                </a:cubicBezTo>
                <a:cubicBezTo>
                  <a:pt x="222250" y="254434"/>
                  <a:pt x="232209" y="244475"/>
                  <a:pt x="244475" y="244475"/>
                </a:cubicBezTo>
                <a:close/>
              </a:path>
            </a:pathLst>
          </a:custGeom>
          <a:solidFill>
            <a:srgbClr val="1B5E5E"/>
          </a:solidFill>
          <a:ln/>
        </p:spPr>
      </p:sp>
      <p:sp>
        <p:nvSpPr>
          <p:cNvPr id="7" name="Text 5"/>
          <p:cNvSpPr/>
          <p:nvPr/>
        </p:nvSpPr>
        <p:spPr>
          <a:xfrm>
            <a:off x="1524000" y="2197100"/>
            <a:ext cx="3556000" cy="3810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Fixed Hard Disk (HDD)</a:t>
            </a:r>
            <a:endParaRPr lang="en-US" sz="1600" dirty="0"/>
          </a:p>
        </p:txBody>
      </p:sp>
      <p:sp>
        <p:nvSpPr>
          <p:cNvPr id="8" name="Text 6"/>
          <p:cNvSpPr/>
          <p:nvPr/>
        </p:nvSpPr>
        <p:spPr>
          <a:xfrm>
            <a:off x="1016000" y="2794000"/>
            <a:ext cx="4127500" cy="4953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Non-removable magnetic storage with spinning platters and read/write heads.</a:t>
            </a:r>
            <a:endParaRPr lang="en-US" sz="2000" dirty="0"/>
          </a:p>
          <a:p>
            <a:pPr>
              <a:lnSpc>
                <a:spcPct val="150000"/>
              </a:lnSpc>
              <a:spcBef>
                <a:spcPts val="600"/>
              </a:spcBef>
            </a:pPr>
            <a:r>
              <a:rPr lang="en-US" sz="1600" b="1" dirty="0">
                <a:solidFill>
                  <a:srgbClr val="2D2D2D"/>
                </a:solidFill>
                <a:latin typeface="QuattrocentoSans" pitchFamily="34" charset="0"/>
                <a:ea typeface="QuattrocentoSans" pitchFamily="34" charset="-122"/>
                <a:cs typeface="QuattrocentoSans" pitchFamily="34" charset="-120"/>
              </a:rPr>
              <a:t>Capacity:</a:t>
            </a:r>
            <a:pPr>
              <a:lnSpc>
                <a:spcPct val="150000"/>
              </a:lnSpc>
              <a:spcBef>
                <a:spcPts val="600"/>
              </a:spcBef>
            </a:pPr>
            <a:r>
              <a:rPr lang="en-US" sz="1600" dirty="0">
                <a:solidFill>
                  <a:srgbClr val="2D2D2D"/>
                </a:solidFill>
                <a:latin typeface="QuattrocentoSans" pitchFamily="34" charset="0"/>
                <a:ea typeface="QuattrocentoSans" pitchFamily="34" charset="-122"/>
                <a:cs typeface="QuattrocentoSans" pitchFamily="34" charset="-120"/>
              </a:rPr>
              <a:t> 500GB – 20TB+</a:t>
            </a:r>
            <a:endParaRPr lang="en-US" sz="2000" dirty="0"/>
          </a:p>
          <a:p>
            <a:pPr>
              <a:lnSpc>
                <a:spcPct val="150000"/>
              </a:lnSpc>
              <a:spcBef>
                <a:spcPts val="800"/>
              </a:spcBef>
            </a:pPr>
            <a:r>
              <a:rPr lang="en-US" sz="1600" dirty="0">
                <a:solidFill>
                  <a:srgbClr val="C17A3A"/>
                </a:solidFill>
                <a:latin typeface="QuattrocentoSans" pitchFamily="34" charset="0"/>
                <a:ea typeface="QuattrocentoSans" pitchFamily="34" charset="-122"/>
                <a:cs typeface="QuattrocentoSans" pitchFamily="34" charset="-120"/>
              </a:rPr>
              <a:t>Advantages:</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High capacity</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Low cost per GB</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Established, reliable technology</a:t>
            </a:r>
            <a:endParaRPr lang="en-US" sz="2000" dirty="0"/>
          </a:p>
          <a:p>
            <a:pPr>
              <a:lnSpc>
                <a:spcPct val="150000"/>
              </a:lnSpc>
              <a:spcBef>
                <a:spcPts val="600"/>
              </a:spcBef>
            </a:pPr>
            <a:r>
              <a:rPr lang="en-US" sz="1600" dirty="0">
                <a:solidFill>
                  <a:srgbClr val="8A8580"/>
                </a:solidFill>
                <a:latin typeface="QuattrocentoSans" pitchFamily="34" charset="0"/>
                <a:ea typeface="QuattrocentoSans" pitchFamily="34" charset="-122"/>
                <a:cs typeface="QuattrocentoSans" pitchFamily="34" charset="-120"/>
              </a:rPr>
              <a:t>Disadvantages:</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Moving parts (failure risk)</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Slower than SSD</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Sensitive to shock</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Generates heat and noise</a:t>
            </a:r>
            <a:endParaRPr lang="en-US" sz="2000" dirty="0"/>
          </a:p>
        </p:txBody>
      </p:sp>
      <p:sp>
        <p:nvSpPr>
          <p:cNvPr id="9" name="Shape 7"/>
          <p:cNvSpPr/>
          <p:nvPr/>
        </p:nvSpPr>
        <p:spPr>
          <a:xfrm>
            <a:off x="5778500" y="1905000"/>
            <a:ext cx="4699000" cy="6096000"/>
          </a:xfrm>
          <a:prstGeom prst="rect">
            <a:avLst/>
          </a:prstGeom>
          <a:solidFill>
            <a:srgbClr val="EDEAE4"/>
          </a:solidFill>
          <a:ln/>
        </p:spPr>
      </p:sp>
      <p:sp>
        <p:nvSpPr>
          <p:cNvPr id="10" name="Shape 8"/>
          <p:cNvSpPr/>
          <p:nvPr/>
        </p:nvSpPr>
        <p:spPr>
          <a:xfrm>
            <a:off x="6032500" y="2222500"/>
            <a:ext cx="355600" cy="355600"/>
          </a:xfrm>
          <a:custGeom>
            <a:avLst/>
            <a:gdLst/>
            <a:ahLst/>
            <a:cxnLst/>
            <a:rect l="l" t="t" r="r" b="b"/>
            <a:pathLst>
              <a:path w="355600" h="355600"/>
            </a:pathLst>
          </a:custGeom>
          <a:solidFill>
            <a:srgbClr val="1B5E5E"/>
          </a:solidFill>
          <a:ln/>
        </p:spPr>
      </p:sp>
      <p:sp>
        <p:nvSpPr>
          <p:cNvPr id="11" name="Text 9"/>
          <p:cNvSpPr/>
          <p:nvPr/>
        </p:nvSpPr>
        <p:spPr>
          <a:xfrm>
            <a:off x="6540500" y="2197100"/>
            <a:ext cx="3556000" cy="3810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Portable Hard Drive</a:t>
            </a:r>
            <a:endParaRPr lang="en-US" sz="1600" dirty="0"/>
          </a:p>
        </p:txBody>
      </p:sp>
      <p:sp>
        <p:nvSpPr>
          <p:cNvPr id="12" name="Text 10"/>
          <p:cNvSpPr/>
          <p:nvPr/>
        </p:nvSpPr>
        <p:spPr>
          <a:xfrm>
            <a:off x="6032500" y="2794000"/>
            <a:ext cx="4127500" cy="4953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External HDD connected via USB in a portable enclosure.</a:t>
            </a:r>
            <a:endParaRPr lang="en-US" sz="2000" dirty="0"/>
          </a:p>
          <a:p>
            <a:pPr>
              <a:lnSpc>
                <a:spcPct val="150000"/>
              </a:lnSpc>
              <a:spcBef>
                <a:spcPts val="600"/>
              </a:spcBef>
            </a:pPr>
            <a:r>
              <a:rPr lang="en-US" sz="1600" b="1" dirty="0">
                <a:solidFill>
                  <a:srgbClr val="2D2D2D"/>
                </a:solidFill>
                <a:latin typeface="QuattrocentoSans" pitchFamily="34" charset="0"/>
                <a:ea typeface="QuattrocentoSans" pitchFamily="34" charset="-122"/>
                <a:cs typeface="QuattrocentoSans" pitchFamily="34" charset="-120"/>
              </a:rPr>
              <a:t>Interface:</a:t>
            </a:r>
            <a:pPr>
              <a:lnSpc>
                <a:spcPct val="150000"/>
              </a:lnSpc>
              <a:spcBef>
                <a:spcPts val="600"/>
              </a:spcBef>
            </a:pPr>
            <a:r>
              <a:rPr lang="en-US" sz="1600" dirty="0">
                <a:solidFill>
                  <a:srgbClr val="2D2D2D"/>
                </a:solidFill>
                <a:latin typeface="QuattrocentoSans" pitchFamily="34" charset="0"/>
                <a:ea typeface="QuattrocentoSans" pitchFamily="34" charset="-122"/>
                <a:cs typeface="QuattrocentoSans" pitchFamily="34" charset="-120"/>
              </a:rPr>
              <a:t> USB 3.0 / USB-C</a:t>
            </a:r>
            <a:endParaRPr lang="en-US" sz="2000" dirty="0"/>
          </a:p>
          <a:p>
            <a:pPr>
              <a:lnSpc>
                <a:spcPct val="150000"/>
              </a:lnSpc>
              <a:spcBef>
                <a:spcPts val="800"/>
              </a:spcBef>
            </a:pPr>
            <a:r>
              <a:rPr lang="en-US" sz="1600" dirty="0">
                <a:solidFill>
                  <a:srgbClr val="C17A3A"/>
                </a:solidFill>
                <a:latin typeface="QuattrocentoSans" pitchFamily="34" charset="0"/>
                <a:ea typeface="QuattrocentoSans" pitchFamily="34" charset="-122"/>
                <a:cs typeface="QuattrocentoSans" pitchFamily="34" charset="-120"/>
              </a:rPr>
              <a:t>Advantages:</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Large capacity</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Affordable</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Plug-and-play</a:t>
            </a:r>
            <a:endParaRPr lang="en-US" sz="2000" dirty="0"/>
          </a:p>
          <a:p>
            <a:pPr>
              <a:lnSpc>
                <a:spcPct val="150000"/>
              </a:lnSpc>
              <a:spcBef>
                <a:spcPts val="600"/>
              </a:spcBef>
            </a:pPr>
            <a:r>
              <a:rPr lang="en-US" sz="1600" dirty="0">
                <a:solidFill>
                  <a:srgbClr val="8A8580"/>
                </a:solidFill>
                <a:latin typeface="QuattrocentoSans" pitchFamily="34" charset="0"/>
                <a:ea typeface="QuattrocentoSans" pitchFamily="34" charset="-122"/>
                <a:cs typeface="QuattrocentoSans" pitchFamily="34" charset="-120"/>
              </a:rPr>
              <a:t>Disadvantages:</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Requires careful handling</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Slower than SSD</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Vulnerable to drops</a:t>
            </a:r>
            <a:endParaRPr lang="en-US" sz="2000" dirty="0"/>
          </a:p>
        </p:txBody>
      </p:sp>
      <p:sp>
        <p:nvSpPr>
          <p:cNvPr id="13" name="Shape 11"/>
          <p:cNvSpPr/>
          <p:nvPr/>
        </p:nvSpPr>
        <p:spPr>
          <a:xfrm>
            <a:off x="10795000" y="1905000"/>
            <a:ext cx="4699000" cy="6096000"/>
          </a:xfrm>
          <a:prstGeom prst="rect">
            <a:avLst/>
          </a:prstGeom>
          <a:solidFill>
            <a:srgbClr val="EDEAE4"/>
          </a:solidFill>
          <a:ln/>
        </p:spPr>
      </p:sp>
      <p:sp>
        <p:nvSpPr>
          <p:cNvPr id="14" name="Shape 12"/>
          <p:cNvSpPr/>
          <p:nvPr/>
        </p:nvSpPr>
        <p:spPr>
          <a:xfrm>
            <a:off x="11026775" y="2222500"/>
            <a:ext cx="400050" cy="355600"/>
          </a:xfrm>
          <a:custGeom>
            <a:avLst/>
            <a:gdLst/>
            <a:ahLst/>
            <a:cxnLst/>
            <a:rect l="l" t="t" r="r" b="b"/>
            <a:pathLst>
              <a:path w="400050" h="355600">
                <a:moveTo>
                  <a:pt x="286703" y="288925"/>
                </a:moveTo>
                <a:cubicBezTo>
                  <a:pt x="315526" y="260658"/>
                  <a:pt x="333375" y="221347"/>
                  <a:pt x="333375" y="177800"/>
                </a:cubicBezTo>
                <a:cubicBezTo>
                  <a:pt x="333375" y="91886"/>
                  <a:pt x="263714" y="22225"/>
                  <a:pt x="177800" y="22225"/>
                </a:cubicBezTo>
                <a:cubicBezTo>
                  <a:pt x="91886" y="22225"/>
                  <a:pt x="22225" y="91886"/>
                  <a:pt x="22225" y="177800"/>
                </a:cubicBezTo>
                <a:cubicBezTo>
                  <a:pt x="22225" y="263714"/>
                  <a:pt x="91886" y="333375"/>
                  <a:pt x="177800" y="333375"/>
                </a:cubicBezTo>
                <a:lnTo>
                  <a:pt x="377825" y="333375"/>
                </a:lnTo>
                <a:cubicBezTo>
                  <a:pt x="390118" y="333375"/>
                  <a:pt x="400050" y="323443"/>
                  <a:pt x="400050" y="311150"/>
                </a:cubicBezTo>
                <a:cubicBezTo>
                  <a:pt x="400050" y="298857"/>
                  <a:pt x="390118" y="288925"/>
                  <a:pt x="377825" y="288925"/>
                </a:cubicBezTo>
                <a:lnTo>
                  <a:pt x="286703" y="288925"/>
                </a:lnTo>
                <a:close/>
                <a:moveTo>
                  <a:pt x="177800" y="111125"/>
                </a:moveTo>
                <a:cubicBezTo>
                  <a:pt x="214599" y="111125"/>
                  <a:pt x="244475" y="141001"/>
                  <a:pt x="244475" y="177800"/>
                </a:cubicBezTo>
                <a:cubicBezTo>
                  <a:pt x="244475" y="214599"/>
                  <a:pt x="214599" y="244475"/>
                  <a:pt x="177800" y="244475"/>
                </a:cubicBezTo>
                <a:cubicBezTo>
                  <a:pt x="141001" y="244475"/>
                  <a:pt x="111125" y="214599"/>
                  <a:pt x="111125" y="177800"/>
                </a:cubicBezTo>
                <a:cubicBezTo>
                  <a:pt x="111125" y="141001"/>
                  <a:pt x="141001" y="111125"/>
                  <a:pt x="177800" y="111125"/>
                </a:cubicBezTo>
                <a:close/>
                <a:moveTo>
                  <a:pt x="211138" y="177800"/>
                </a:moveTo>
                <a:cubicBezTo>
                  <a:pt x="211138" y="159401"/>
                  <a:pt x="196199" y="144463"/>
                  <a:pt x="177800" y="144463"/>
                </a:cubicBezTo>
                <a:cubicBezTo>
                  <a:pt x="159401" y="144463"/>
                  <a:pt x="144463" y="159401"/>
                  <a:pt x="144463" y="177800"/>
                </a:cubicBezTo>
                <a:cubicBezTo>
                  <a:pt x="144463" y="196199"/>
                  <a:pt x="159401" y="211138"/>
                  <a:pt x="177800" y="211138"/>
                </a:cubicBezTo>
                <a:cubicBezTo>
                  <a:pt x="196199" y="211138"/>
                  <a:pt x="211138" y="196199"/>
                  <a:pt x="211138" y="177800"/>
                </a:cubicBezTo>
                <a:close/>
              </a:path>
            </a:pathLst>
          </a:custGeom>
          <a:solidFill>
            <a:srgbClr val="1B5E5E"/>
          </a:solidFill>
          <a:ln/>
        </p:spPr>
      </p:sp>
      <p:sp>
        <p:nvSpPr>
          <p:cNvPr id="15" name="Text 13"/>
          <p:cNvSpPr/>
          <p:nvPr/>
        </p:nvSpPr>
        <p:spPr>
          <a:xfrm>
            <a:off x="11557000" y="2197100"/>
            <a:ext cx="3556000" cy="3810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Magnetic Tape</a:t>
            </a:r>
            <a:endParaRPr lang="en-US" sz="1600" dirty="0"/>
          </a:p>
        </p:txBody>
      </p:sp>
      <p:sp>
        <p:nvSpPr>
          <p:cNvPr id="16" name="Text 14"/>
          <p:cNvSpPr/>
          <p:nvPr/>
        </p:nvSpPr>
        <p:spPr>
          <a:xfrm>
            <a:off x="11049000" y="2794000"/>
            <a:ext cx="4127500" cy="4953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Sequential-access storage on tape reels for backup and archival.</a:t>
            </a:r>
            <a:endParaRPr lang="en-US" sz="2000" dirty="0"/>
          </a:p>
          <a:p>
            <a:pPr>
              <a:lnSpc>
                <a:spcPct val="150000"/>
              </a:lnSpc>
              <a:spcBef>
                <a:spcPts val="600"/>
              </a:spcBef>
            </a:pPr>
            <a:r>
              <a:rPr lang="en-US" sz="1600" b="1" dirty="0">
                <a:solidFill>
                  <a:srgbClr val="2D2D2D"/>
                </a:solidFill>
                <a:latin typeface="QuattrocentoSans" pitchFamily="34" charset="0"/>
                <a:ea typeface="QuattrocentoSans" pitchFamily="34" charset="-122"/>
                <a:cs typeface="QuattrocentoSans" pitchFamily="34" charset="-120"/>
              </a:rPr>
              <a:t>Capacity:</a:t>
            </a:r>
            <a:pPr>
              <a:lnSpc>
                <a:spcPct val="150000"/>
              </a:lnSpc>
              <a:spcBef>
                <a:spcPts val="600"/>
              </a:spcBef>
            </a:pPr>
            <a:r>
              <a:rPr lang="en-US" sz="1600" dirty="0">
                <a:solidFill>
                  <a:srgbClr val="2D2D2D"/>
                </a:solidFill>
                <a:latin typeface="QuattrocentoSans" pitchFamily="34" charset="0"/>
                <a:ea typeface="QuattrocentoSans" pitchFamily="34" charset="-122"/>
                <a:cs typeface="QuattrocentoSans" pitchFamily="34" charset="-120"/>
              </a:rPr>
              <a:t> LTO-9: 18TB native</a:t>
            </a:r>
            <a:endParaRPr lang="en-US" sz="2000" dirty="0"/>
          </a:p>
          <a:p>
            <a:pPr>
              <a:lnSpc>
                <a:spcPct val="150000"/>
              </a:lnSpc>
              <a:spcBef>
                <a:spcPts val="800"/>
              </a:spcBef>
            </a:pPr>
            <a:r>
              <a:rPr lang="en-US" sz="1600" dirty="0">
                <a:solidFill>
                  <a:srgbClr val="C17A3A"/>
                </a:solidFill>
                <a:latin typeface="QuattrocentoSans" pitchFamily="34" charset="0"/>
                <a:ea typeface="QuattrocentoSans" pitchFamily="34" charset="-122"/>
                <a:cs typeface="QuattrocentoSans" pitchFamily="34" charset="-120"/>
              </a:rPr>
              <a:t>Advantages:</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Extremely high capacity</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Very low cost per GB</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30+ year archival life</a:t>
            </a:r>
            <a:endParaRPr lang="en-US" sz="2000" dirty="0"/>
          </a:p>
          <a:p>
            <a:pPr>
              <a:lnSpc>
                <a:spcPct val="150000"/>
              </a:lnSpc>
              <a:spcBef>
                <a:spcPts val="600"/>
              </a:spcBef>
            </a:pPr>
            <a:r>
              <a:rPr lang="en-US" sz="1600" dirty="0">
                <a:solidFill>
                  <a:srgbClr val="8A8580"/>
                </a:solidFill>
                <a:latin typeface="QuattrocentoSans" pitchFamily="34" charset="0"/>
                <a:ea typeface="QuattrocentoSans" pitchFamily="34" charset="-122"/>
                <a:cs typeface="QuattrocentoSans" pitchFamily="34" charset="-120"/>
              </a:rPr>
              <a:t>Disadvantages:</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Very slow (sequential only)</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Requires special equipment</a:t>
            </a:r>
            <a:endParaRPr lang="en-US" sz="2000" dirty="0"/>
          </a:p>
          <a:p>
            <a:pPr marL="317500" indent="-317500">
              <a:lnSpc>
                <a:spcPct val="150000"/>
              </a:lnSpc>
              <a:spcBef>
                <a:spcPts val="10"/>
              </a:spcBef>
              <a:buSzPct val="100000"/>
              <a:buChar char="•"/>
            </a:pPr>
            <a:r>
              <a:rPr lang="en-US" sz="1600" dirty="0">
                <a:solidFill>
                  <a:srgbClr val="2D2D2D"/>
                </a:solidFill>
                <a:latin typeface="QuattrocentoSans" pitchFamily="34" charset="0"/>
                <a:ea typeface="QuattrocentoSans" pitchFamily="34" charset="-122"/>
                <a:cs typeface="QuattrocentoSans" pitchFamily="34" charset="-120"/>
              </a:rPr>
              <a:t>Degrades over time</a:t>
            </a:r>
            <a:endParaRPr lang="en-US" sz="2000" dirty="0"/>
          </a:p>
        </p:txBody>
      </p:sp>
      <p:sp>
        <p:nvSpPr>
          <p:cNvPr id="17" name="Text 15"/>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23</a:t>
            </a:r>
            <a:endParaRPr lang="en-US" sz="1400" dirty="0"/>
          </a:p>
        </p:txBody>
      </p:sp>
      <p:sp>
        <p:nvSpPr>
          <p:cNvPr id="18" name="Shape 16"/>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889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Optical Storage — CD, DVD &amp; Blu-ray</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Text 3"/>
          <p:cNvSpPr/>
          <p:nvPr/>
        </p:nvSpPr>
        <p:spPr>
          <a:xfrm>
            <a:off x="762000" y="1778000"/>
            <a:ext cx="8890000" cy="762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Uses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laser technology</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to read/write data as pits and lands on a reflective disc surface.</a:t>
            </a:r>
            <a:endParaRPr lang="en-US" sz="2000" dirty="0"/>
          </a:p>
        </p:txBody>
      </p:sp>
      <p:pic>
        <p:nvPicPr>
          <p:cNvPr id="6" name="Image 0" descr="https://kimi-img.moonshot.cn/pub/slides/okc/7khcepmtdap64/mnt/agents/output/ict-week3/images/9_What_Is_a_DVD_RW_or_Blu_ray_Drive.png">    </p:cNvPr>
          <p:cNvPicPr>
            <a:picLocks noChangeAspect="1"/>
          </p:cNvPicPr>
          <p:nvPr/>
        </p:nvPicPr>
        <p:blipFill>
          <a:blip r:embed="rId1"/>
          <a:srcRect l="0" r="0" t="5087" b="5087"/>
          <a:stretch/>
        </p:blipFill>
        <p:spPr>
          <a:xfrm>
            <a:off x="10160000" y="1651000"/>
            <a:ext cx="5334000" cy="330200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62000" y="2730500"/>
          <a:ext cx="8890000" cy="3048000"/>
        </p:xfrm>
        <a:graphic>
          <a:graphicData uri="http://schemas.openxmlformats.org/drawingml/2006/table">
            <a:tbl>
              <a:tblPr/>
              <a:tblGrid>
                <a:gridCol w="1600200"/>
                <a:gridCol w="1600200"/>
                <a:gridCol w="2844800"/>
                <a:gridCol w="2844800"/>
              </a:tblGrid>
              <a:tr h="548385">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Format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Capacity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Primary Use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Status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r>
              <a:tr h="624904">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CD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700 MB</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Audio, small data backup</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Largely obsolete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624904">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DVD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4.7 – 8.5 GB</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Movies, software, archiving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Declining use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r h="624904">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Blu-ray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25 – 100+ GB</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HD movies, games, archiving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Niche use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624904">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Types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ROM / R / RW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Read-only, recordable, rewritable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Various formats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bl>
          </a:graphicData>
        </a:graphic>
      </p:graphicFrame>
      <p:sp>
        <p:nvSpPr>
          <p:cNvPr id="8" name="Text 4"/>
          <p:cNvSpPr/>
          <p:nvPr/>
        </p:nvSpPr>
        <p:spPr>
          <a:xfrm>
            <a:off x="762000" y="6096000"/>
            <a:ext cx="3810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Advantages</a:t>
            </a:r>
            <a:endParaRPr lang="en-US" sz="1600" dirty="0"/>
          </a:p>
        </p:txBody>
      </p:sp>
      <p:sp>
        <p:nvSpPr>
          <p:cNvPr id="9" name="Text 5"/>
          <p:cNvSpPr/>
          <p:nvPr/>
        </p:nvSpPr>
        <p:spPr>
          <a:xfrm>
            <a:off x="762000" y="6540500"/>
            <a:ext cx="7048500" cy="1397000"/>
          </a:xfrm>
          <a:prstGeom prst="rect">
            <a:avLst/>
          </a:prstGeom>
          <a:noFill/>
          <a:ln/>
        </p:spPr>
        <p:txBody>
          <a:bodyPr wrap="square" lIns="0" tIns="0" rIns="0" bIns="0" rtlCol="0" anchor="ctr"/>
          <a:lstStyle/>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Low cost per GB</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No moving parts in the disc</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Portable and silent operation</a:t>
            </a:r>
            <a:endParaRPr lang="en-US" sz="2000" dirty="0"/>
          </a:p>
        </p:txBody>
      </p:sp>
      <p:sp>
        <p:nvSpPr>
          <p:cNvPr id="10" name="Text 6"/>
          <p:cNvSpPr/>
          <p:nvPr/>
        </p:nvSpPr>
        <p:spPr>
          <a:xfrm>
            <a:off x="8382000" y="6096000"/>
            <a:ext cx="3810000" cy="355600"/>
          </a:xfrm>
          <a:prstGeom prst="rect">
            <a:avLst/>
          </a:prstGeom>
          <a:noFill/>
          <a:ln/>
        </p:spPr>
        <p:txBody>
          <a:bodyPr wrap="none" lIns="0" tIns="0" rIns="0" bIns="0" rtlCol="0" anchor="ctr"/>
          <a:lstStyle/>
          <a:p>
            <a:pPr>
              <a:lnSpc>
                <a:spcPct val="100000"/>
              </a:lnSpc>
            </a:pPr>
            <a:r>
              <a:rPr lang="en-US" sz="1800" b="1" dirty="0">
                <a:solidFill>
                  <a:srgbClr val="8A8580"/>
                </a:solidFill>
                <a:latin typeface="Quattrocento Sans" pitchFamily="34" charset="0"/>
                <a:ea typeface="Quattrocento Sans" pitchFamily="34" charset="-122"/>
                <a:cs typeface="Quattrocento Sans" pitchFamily="34" charset="-120"/>
              </a:rPr>
              <a:t>Disadvantages</a:t>
            </a:r>
            <a:endParaRPr lang="en-US" sz="1600" dirty="0"/>
          </a:p>
        </p:txBody>
      </p:sp>
      <p:sp>
        <p:nvSpPr>
          <p:cNvPr id="11" name="Text 7"/>
          <p:cNvSpPr/>
          <p:nvPr/>
        </p:nvSpPr>
        <p:spPr>
          <a:xfrm>
            <a:off x="8382000" y="6540500"/>
            <a:ext cx="7048500" cy="1651000"/>
          </a:xfrm>
          <a:prstGeom prst="rect">
            <a:avLst/>
          </a:prstGeom>
          <a:noFill/>
          <a:ln/>
        </p:spPr>
        <p:txBody>
          <a:bodyPr wrap="square" lIns="0" tIns="0" rIns="0" bIns="0" rtlCol="0" anchor="ctr"/>
          <a:lstStyle/>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Low capacity vs. HDD/SSD</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Slow read/write speeds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Prone to scratches</a:t>
            </a:r>
            <a:endParaRPr lang="en-US" sz="2000" dirty="0"/>
          </a:p>
          <a:p>
            <a:pPr marL="317500" indent="-317500">
              <a:lnSpc>
                <a:spcPct val="150000"/>
              </a:lnSpc>
              <a:spcBef>
                <a:spcPts val="10"/>
              </a:spcBef>
              <a:buSzPct val="100000"/>
              <a:buChar char="•"/>
            </a:pPr>
            <a:r>
              <a:rPr lang="en-US" sz="1800" dirty="0">
                <a:solidFill>
                  <a:srgbClr val="2D2D2D"/>
                </a:solidFill>
                <a:latin typeface="QuattrocentoSans" pitchFamily="34" charset="0"/>
                <a:ea typeface="QuattrocentoSans" pitchFamily="34" charset="-122"/>
                <a:cs typeface="QuattrocentoSans" pitchFamily="34" charset="-120"/>
              </a:rPr>
              <a:t>Becoming obsolete</a:t>
            </a:r>
            <a:endParaRPr lang="en-US" sz="2000" dirty="0"/>
          </a:p>
        </p:txBody>
      </p:sp>
      <p:sp>
        <p:nvSpPr>
          <p:cNvPr id="12" name="Text 8"/>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24</a:t>
            </a:r>
            <a:endParaRPr lang="en-US" sz="1400" dirty="0"/>
          </a:p>
        </p:txBody>
      </p:sp>
      <p:sp>
        <p:nvSpPr>
          <p:cNvPr id="13" name="Shape 9"/>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1016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Solid-State Storage — SSD, Pen Drive &amp; Flash</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Text 3"/>
          <p:cNvSpPr/>
          <p:nvPr/>
        </p:nvSpPr>
        <p:spPr>
          <a:xfrm>
            <a:off x="762000" y="1778000"/>
            <a:ext cx="8890000" cy="889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Uses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flash memory chips</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with no moving parts. Faster, more durable, and more energy-efficient.</a:t>
            </a:r>
            <a:endParaRPr lang="en-US" sz="2000" dirty="0"/>
          </a:p>
        </p:txBody>
      </p:sp>
      <p:pic>
        <p:nvPicPr>
          <p:cNvPr id="6" name="Image 0" descr="https://kimi-img.moonshot.cn/pub/slides/okc/7khcepmtdap64/mnt/agents/output/ict-week3/images/4_The_2_Best_USB_Flash_Drives_of_2026.png">    </p:cNvPr>
          <p:cNvPicPr>
            <a:picLocks noChangeAspect="1"/>
          </p:cNvPicPr>
          <p:nvPr/>
        </p:nvPicPr>
        <p:blipFill>
          <a:blip r:embed="rId1"/>
          <a:srcRect l="0" r="0" t="7164" b="7164"/>
          <a:stretch/>
        </p:blipFill>
        <p:spPr>
          <a:xfrm>
            <a:off x="10160000" y="1651000"/>
            <a:ext cx="5334000" cy="3048000"/>
          </a:xfrm>
          <a:prstGeom prst="rect">
            <a:avLst/>
          </a:prstGeom>
        </p:spPr>
      </p:pic>
      <p:sp>
        <p:nvSpPr>
          <p:cNvPr id="7" name="Shape 4"/>
          <p:cNvSpPr/>
          <p:nvPr/>
        </p:nvSpPr>
        <p:spPr>
          <a:xfrm>
            <a:off x="762000" y="2667000"/>
            <a:ext cx="4699000" cy="3556000"/>
          </a:xfrm>
          <a:prstGeom prst="rect">
            <a:avLst/>
          </a:prstGeom>
          <a:solidFill>
            <a:srgbClr val="EDEAE4"/>
          </a:solidFill>
          <a:ln/>
        </p:spPr>
      </p:sp>
      <p:sp>
        <p:nvSpPr>
          <p:cNvPr id="8" name="Shape 5"/>
          <p:cNvSpPr/>
          <p:nvPr/>
        </p:nvSpPr>
        <p:spPr>
          <a:xfrm>
            <a:off x="1016000" y="2921000"/>
            <a:ext cx="355600" cy="355600"/>
          </a:xfrm>
          <a:custGeom>
            <a:avLst/>
            <a:gdLst/>
            <a:ahLst/>
            <a:cxnLst/>
            <a:rect l="l" t="t" r="r" b="b"/>
            <a:pathLst>
              <a:path w="355600" h="355600">
                <a:moveTo>
                  <a:pt x="122238" y="16669"/>
                </a:moveTo>
                <a:cubicBezTo>
                  <a:pt x="122238" y="7431"/>
                  <a:pt x="114806" y="0"/>
                  <a:pt x="105569" y="0"/>
                </a:cubicBezTo>
                <a:cubicBezTo>
                  <a:pt x="96331" y="0"/>
                  <a:pt x="88900" y="7431"/>
                  <a:pt x="88900" y="16669"/>
                </a:cubicBezTo>
                <a:lnTo>
                  <a:pt x="88900" y="44450"/>
                </a:lnTo>
                <a:cubicBezTo>
                  <a:pt x="64383" y="44450"/>
                  <a:pt x="44450" y="64383"/>
                  <a:pt x="44450" y="88900"/>
                </a:cubicBezTo>
                <a:lnTo>
                  <a:pt x="16669" y="88900"/>
                </a:lnTo>
                <a:cubicBezTo>
                  <a:pt x="7431" y="88900"/>
                  <a:pt x="0" y="96331"/>
                  <a:pt x="0" y="105569"/>
                </a:cubicBezTo>
                <a:cubicBezTo>
                  <a:pt x="0" y="114806"/>
                  <a:pt x="7431" y="122238"/>
                  <a:pt x="16669" y="122238"/>
                </a:cubicBezTo>
                <a:lnTo>
                  <a:pt x="44450" y="122238"/>
                </a:lnTo>
                <a:lnTo>
                  <a:pt x="44450" y="161131"/>
                </a:lnTo>
                <a:lnTo>
                  <a:pt x="16669" y="161131"/>
                </a:lnTo>
                <a:cubicBezTo>
                  <a:pt x="7431" y="161131"/>
                  <a:pt x="0" y="168563"/>
                  <a:pt x="0" y="177800"/>
                </a:cubicBezTo>
                <a:cubicBezTo>
                  <a:pt x="0" y="187037"/>
                  <a:pt x="7431" y="194469"/>
                  <a:pt x="16669" y="194469"/>
                </a:cubicBezTo>
                <a:lnTo>
                  <a:pt x="44450" y="194469"/>
                </a:lnTo>
                <a:lnTo>
                  <a:pt x="44450" y="233363"/>
                </a:lnTo>
                <a:lnTo>
                  <a:pt x="16669" y="233363"/>
                </a:lnTo>
                <a:cubicBezTo>
                  <a:pt x="7431" y="233363"/>
                  <a:pt x="0" y="240794"/>
                  <a:pt x="0" y="250031"/>
                </a:cubicBezTo>
                <a:cubicBezTo>
                  <a:pt x="0" y="259269"/>
                  <a:pt x="7431" y="266700"/>
                  <a:pt x="16669" y="266700"/>
                </a:cubicBezTo>
                <a:lnTo>
                  <a:pt x="44450" y="266700"/>
                </a:lnTo>
                <a:cubicBezTo>
                  <a:pt x="44450" y="291217"/>
                  <a:pt x="64383" y="311150"/>
                  <a:pt x="88900" y="311150"/>
                </a:cubicBezTo>
                <a:lnTo>
                  <a:pt x="88900" y="338931"/>
                </a:lnTo>
                <a:cubicBezTo>
                  <a:pt x="88900" y="348169"/>
                  <a:pt x="96331" y="355600"/>
                  <a:pt x="105569" y="355600"/>
                </a:cubicBezTo>
                <a:cubicBezTo>
                  <a:pt x="114806" y="355600"/>
                  <a:pt x="122238" y="348169"/>
                  <a:pt x="122238" y="338931"/>
                </a:cubicBezTo>
                <a:lnTo>
                  <a:pt x="122238" y="311150"/>
                </a:lnTo>
                <a:lnTo>
                  <a:pt x="161131" y="311150"/>
                </a:lnTo>
                <a:lnTo>
                  <a:pt x="161131" y="338931"/>
                </a:lnTo>
                <a:cubicBezTo>
                  <a:pt x="161131" y="348169"/>
                  <a:pt x="168563" y="355600"/>
                  <a:pt x="177800" y="355600"/>
                </a:cubicBezTo>
                <a:cubicBezTo>
                  <a:pt x="187037" y="355600"/>
                  <a:pt x="194469" y="348169"/>
                  <a:pt x="194469" y="338931"/>
                </a:cubicBezTo>
                <a:lnTo>
                  <a:pt x="194469" y="311150"/>
                </a:lnTo>
                <a:lnTo>
                  <a:pt x="233363" y="311150"/>
                </a:lnTo>
                <a:lnTo>
                  <a:pt x="233363" y="338931"/>
                </a:lnTo>
                <a:cubicBezTo>
                  <a:pt x="233363" y="348169"/>
                  <a:pt x="240794" y="355600"/>
                  <a:pt x="250031" y="355600"/>
                </a:cubicBezTo>
                <a:cubicBezTo>
                  <a:pt x="259269" y="355600"/>
                  <a:pt x="266700" y="348169"/>
                  <a:pt x="266700" y="338931"/>
                </a:cubicBezTo>
                <a:lnTo>
                  <a:pt x="266700" y="311150"/>
                </a:lnTo>
                <a:cubicBezTo>
                  <a:pt x="291217" y="311150"/>
                  <a:pt x="311150" y="291217"/>
                  <a:pt x="311150" y="266700"/>
                </a:cubicBezTo>
                <a:lnTo>
                  <a:pt x="338931" y="266700"/>
                </a:lnTo>
                <a:cubicBezTo>
                  <a:pt x="348169" y="266700"/>
                  <a:pt x="355600" y="259269"/>
                  <a:pt x="355600" y="250031"/>
                </a:cubicBezTo>
                <a:cubicBezTo>
                  <a:pt x="355600" y="240794"/>
                  <a:pt x="348169" y="233363"/>
                  <a:pt x="338931" y="233363"/>
                </a:cubicBezTo>
                <a:lnTo>
                  <a:pt x="311150" y="233363"/>
                </a:lnTo>
                <a:lnTo>
                  <a:pt x="311150" y="194469"/>
                </a:lnTo>
                <a:lnTo>
                  <a:pt x="338931" y="194469"/>
                </a:lnTo>
                <a:cubicBezTo>
                  <a:pt x="348169" y="194469"/>
                  <a:pt x="355600" y="187037"/>
                  <a:pt x="355600" y="177800"/>
                </a:cubicBezTo>
                <a:cubicBezTo>
                  <a:pt x="355600" y="168563"/>
                  <a:pt x="348169" y="161131"/>
                  <a:pt x="338931" y="161131"/>
                </a:cubicBezTo>
                <a:lnTo>
                  <a:pt x="311150" y="161131"/>
                </a:lnTo>
                <a:lnTo>
                  <a:pt x="311150" y="122238"/>
                </a:lnTo>
                <a:lnTo>
                  <a:pt x="338931" y="122238"/>
                </a:lnTo>
                <a:cubicBezTo>
                  <a:pt x="348169" y="122238"/>
                  <a:pt x="355600" y="114806"/>
                  <a:pt x="355600" y="105569"/>
                </a:cubicBezTo>
                <a:cubicBezTo>
                  <a:pt x="355600" y="96331"/>
                  <a:pt x="348169" y="88900"/>
                  <a:pt x="338931" y="88900"/>
                </a:cubicBezTo>
                <a:lnTo>
                  <a:pt x="311150" y="88900"/>
                </a:lnTo>
                <a:cubicBezTo>
                  <a:pt x="311150" y="64383"/>
                  <a:pt x="291217" y="44450"/>
                  <a:pt x="266700" y="44450"/>
                </a:cubicBezTo>
                <a:lnTo>
                  <a:pt x="266700" y="16669"/>
                </a:lnTo>
                <a:cubicBezTo>
                  <a:pt x="266700" y="7431"/>
                  <a:pt x="259269" y="0"/>
                  <a:pt x="250031" y="0"/>
                </a:cubicBezTo>
                <a:cubicBezTo>
                  <a:pt x="240794" y="0"/>
                  <a:pt x="233363" y="7431"/>
                  <a:pt x="233363" y="16669"/>
                </a:cubicBezTo>
                <a:lnTo>
                  <a:pt x="233363" y="44450"/>
                </a:lnTo>
                <a:lnTo>
                  <a:pt x="194469" y="44450"/>
                </a:lnTo>
                <a:lnTo>
                  <a:pt x="194469" y="16669"/>
                </a:lnTo>
                <a:cubicBezTo>
                  <a:pt x="194469" y="7431"/>
                  <a:pt x="187037" y="0"/>
                  <a:pt x="177800" y="0"/>
                </a:cubicBezTo>
                <a:cubicBezTo>
                  <a:pt x="168563" y="0"/>
                  <a:pt x="161131" y="7431"/>
                  <a:pt x="161131" y="16669"/>
                </a:cubicBezTo>
                <a:lnTo>
                  <a:pt x="161131" y="44450"/>
                </a:lnTo>
                <a:lnTo>
                  <a:pt x="122238" y="44450"/>
                </a:lnTo>
                <a:lnTo>
                  <a:pt x="122238" y="16669"/>
                </a:lnTo>
                <a:close/>
                <a:moveTo>
                  <a:pt x="111125" y="88900"/>
                </a:moveTo>
                <a:lnTo>
                  <a:pt x="244475" y="88900"/>
                </a:lnTo>
                <a:cubicBezTo>
                  <a:pt x="256768" y="88900"/>
                  <a:pt x="266700" y="98832"/>
                  <a:pt x="266700" y="111125"/>
                </a:cubicBezTo>
                <a:lnTo>
                  <a:pt x="266700" y="244475"/>
                </a:lnTo>
                <a:cubicBezTo>
                  <a:pt x="266700" y="256768"/>
                  <a:pt x="256768" y="266700"/>
                  <a:pt x="244475" y="266700"/>
                </a:cubicBezTo>
                <a:lnTo>
                  <a:pt x="111125" y="266700"/>
                </a:lnTo>
                <a:cubicBezTo>
                  <a:pt x="98832" y="266700"/>
                  <a:pt x="88900" y="256768"/>
                  <a:pt x="88900" y="244475"/>
                </a:cubicBezTo>
                <a:lnTo>
                  <a:pt x="88900" y="111125"/>
                </a:lnTo>
                <a:cubicBezTo>
                  <a:pt x="88900" y="98832"/>
                  <a:pt x="98832" y="88900"/>
                  <a:pt x="111125" y="88900"/>
                </a:cubicBezTo>
                <a:close/>
                <a:moveTo>
                  <a:pt x="122238" y="122238"/>
                </a:moveTo>
                <a:lnTo>
                  <a:pt x="122238" y="233363"/>
                </a:lnTo>
                <a:lnTo>
                  <a:pt x="233363" y="233363"/>
                </a:lnTo>
                <a:lnTo>
                  <a:pt x="233363" y="122238"/>
                </a:lnTo>
                <a:lnTo>
                  <a:pt x="122238" y="122238"/>
                </a:lnTo>
                <a:close/>
              </a:path>
            </a:pathLst>
          </a:custGeom>
          <a:solidFill>
            <a:srgbClr val="1B5E5E"/>
          </a:solidFill>
          <a:ln/>
        </p:spPr>
      </p:sp>
      <p:sp>
        <p:nvSpPr>
          <p:cNvPr id="9" name="Text 6"/>
          <p:cNvSpPr/>
          <p:nvPr/>
        </p:nvSpPr>
        <p:spPr>
          <a:xfrm>
            <a:off x="1524000" y="2895600"/>
            <a:ext cx="3556000" cy="3810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Fixed SSD</a:t>
            </a:r>
            <a:endParaRPr lang="en-US" sz="1600" dirty="0"/>
          </a:p>
        </p:txBody>
      </p:sp>
      <p:sp>
        <p:nvSpPr>
          <p:cNvPr id="10" name="Text 7"/>
          <p:cNvSpPr/>
          <p:nvPr/>
        </p:nvSpPr>
        <p:spPr>
          <a:xfrm>
            <a:off x="1016000" y="3429000"/>
            <a:ext cx="4127500" cy="2540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Replaces internal HDD. Capacities: 256GB – 4TB+</a:t>
            </a:r>
            <a:endParaRPr lang="en-US" sz="2000" dirty="0"/>
          </a:p>
          <a:p>
            <a:pPr>
              <a:lnSpc>
                <a:spcPct val="150000"/>
              </a:lnSpc>
              <a:spcBef>
                <a:spcPts val="600"/>
              </a:spcBef>
            </a:pPr>
            <a:r>
              <a:rPr lang="en-US" sz="1600" dirty="0">
                <a:solidFill>
                  <a:srgbClr val="C17A3A"/>
                </a:solidFill>
                <a:latin typeface="QuattrocentoSans" pitchFamily="34" charset="0"/>
                <a:ea typeface="QuattrocentoSans" pitchFamily="34" charset="-122"/>
                <a:cs typeface="QuattrocentoSans" pitchFamily="34" charset="-120"/>
              </a:rPr>
              <a:t>Pros:</a:t>
            </a:r>
            <a:pPr>
              <a:lnSpc>
                <a:spcPct val="150000"/>
              </a:lnSpc>
              <a:spcBef>
                <a:spcPts val="600"/>
              </a:spcBef>
            </a:pPr>
            <a:r>
              <a:rPr lang="en-US" sz="1600" dirty="0">
                <a:solidFill>
                  <a:srgbClr val="2D2D2D"/>
                </a:solidFill>
                <a:latin typeface="QuattrocentoSans" pitchFamily="34" charset="0"/>
                <a:ea typeface="QuattrocentoSans" pitchFamily="34" charset="-122"/>
                <a:cs typeface="QuattrocentoSans" pitchFamily="34" charset="-120"/>
              </a:rPr>
              <a:t> Very fast boot (10–13s), silent, shock-resistant, low power</a:t>
            </a:r>
            <a:endParaRPr lang="en-US" sz="2000" dirty="0"/>
          </a:p>
          <a:p>
            <a:pPr>
              <a:lnSpc>
                <a:spcPct val="150000"/>
              </a:lnSpc>
              <a:spcBef>
                <a:spcPts val="400"/>
              </a:spcBef>
            </a:pPr>
            <a:r>
              <a:rPr lang="en-US" sz="1600" dirty="0">
                <a:solidFill>
                  <a:srgbClr val="8A8580"/>
                </a:solidFill>
                <a:latin typeface="QuattrocentoSans" pitchFamily="34" charset="0"/>
                <a:ea typeface="QuattrocentoSans" pitchFamily="34" charset="-122"/>
                <a:cs typeface="QuattrocentoSans" pitchFamily="34" charset="-120"/>
              </a:rPr>
              <a:t>Cons:</a:t>
            </a:r>
            <a:pPr>
              <a:lnSpc>
                <a:spcPct val="150000"/>
              </a:lnSpc>
              <a:spcBef>
                <a:spcPts val="400"/>
              </a:spcBef>
            </a:pPr>
            <a:r>
              <a:rPr lang="en-US" sz="1600" dirty="0">
                <a:solidFill>
                  <a:srgbClr val="2D2D2D"/>
                </a:solidFill>
                <a:latin typeface="QuattrocentoSans" pitchFamily="34" charset="0"/>
                <a:ea typeface="QuattrocentoSans" pitchFamily="34" charset="-122"/>
                <a:cs typeface="QuattrocentoSans" pitchFamily="34" charset="-120"/>
              </a:rPr>
              <a:t> Higher cost per GB, limited write cycles</a:t>
            </a:r>
            <a:endParaRPr lang="en-US" sz="2000" dirty="0"/>
          </a:p>
        </p:txBody>
      </p:sp>
      <p:sp>
        <p:nvSpPr>
          <p:cNvPr id="11" name="Shape 8"/>
          <p:cNvSpPr/>
          <p:nvPr/>
        </p:nvSpPr>
        <p:spPr>
          <a:xfrm>
            <a:off x="5778500" y="2667000"/>
            <a:ext cx="4064000" cy="3556000"/>
          </a:xfrm>
          <a:prstGeom prst="rect">
            <a:avLst/>
          </a:prstGeom>
          <a:solidFill>
            <a:srgbClr val="EDEAE4"/>
          </a:solidFill>
          <a:ln/>
        </p:spPr>
      </p:sp>
      <p:sp>
        <p:nvSpPr>
          <p:cNvPr id="12" name="Shape 9"/>
          <p:cNvSpPr/>
          <p:nvPr/>
        </p:nvSpPr>
        <p:spPr>
          <a:xfrm>
            <a:off x="6032500" y="2921000"/>
            <a:ext cx="355600" cy="355600"/>
          </a:xfrm>
          <a:custGeom>
            <a:avLst/>
            <a:gdLst/>
            <a:ahLst/>
            <a:cxnLst/>
            <a:rect l="l" t="t" r="r" b="b"/>
            <a:pathLst>
              <a:path w="355600" h="355600"/>
            </a:pathLst>
          </a:custGeom>
          <a:solidFill>
            <a:srgbClr val="1B5E5E"/>
          </a:solidFill>
          <a:ln/>
        </p:spPr>
      </p:sp>
      <p:sp>
        <p:nvSpPr>
          <p:cNvPr id="13" name="Text 10"/>
          <p:cNvSpPr/>
          <p:nvPr/>
        </p:nvSpPr>
        <p:spPr>
          <a:xfrm>
            <a:off x="6540500" y="2895600"/>
            <a:ext cx="2921000" cy="381000"/>
          </a:xfrm>
          <a:prstGeom prst="rect">
            <a:avLst/>
          </a:prstGeom>
          <a:noFill/>
          <a:ln/>
        </p:spPr>
        <p:txBody>
          <a:bodyPr wrap="none" lIns="0" tIns="0" rIns="0" bIns="0" rtlCol="0" anchor="ctr"/>
          <a:lstStyle/>
          <a:p>
            <a:pPr>
              <a:lnSpc>
                <a:spcPct val="100000"/>
              </a:lnSpc>
            </a:pPr>
            <a:r>
              <a:rPr lang="en-US" sz="2000" b="1" dirty="0">
                <a:solidFill>
                  <a:srgbClr val="1B5E5E"/>
                </a:solidFill>
                <a:latin typeface="Quattrocento Sans" pitchFamily="34" charset="0"/>
                <a:ea typeface="Quattrocento Sans" pitchFamily="34" charset="-122"/>
                <a:cs typeface="Quattrocento Sans" pitchFamily="34" charset="-120"/>
              </a:rPr>
              <a:t>Pen / Flash Drive</a:t>
            </a:r>
            <a:endParaRPr lang="en-US" sz="1600" dirty="0"/>
          </a:p>
        </p:txBody>
      </p:sp>
      <p:sp>
        <p:nvSpPr>
          <p:cNvPr id="14" name="Text 11"/>
          <p:cNvSpPr/>
          <p:nvPr/>
        </p:nvSpPr>
        <p:spPr>
          <a:xfrm>
            <a:off x="6032500" y="3429000"/>
            <a:ext cx="3492500" cy="2540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Small plug-and-play device. Capacities: 8GB – 1TB</a:t>
            </a:r>
            <a:endParaRPr lang="en-US" sz="2000" dirty="0"/>
          </a:p>
          <a:p>
            <a:pPr>
              <a:lnSpc>
                <a:spcPct val="150000"/>
              </a:lnSpc>
              <a:spcBef>
                <a:spcPts val="600"/>
              </a:spcBef>
            </a:pPr>
            <a:r>
              <a:rPr lang="en-US" sz="1600" dirty="0">
                <a:solidFill>
                  <a:srgbClr val="C17A3A"/>
                </a:solidFill>
                <a:latin typeface="QuattrocentoSans" pitchFamily="34" charset="0"/>
                <a:ea typeface="QuattrocentoSans" pitchFamily="34" charset="-122"/>
                <a:cs typeface="QuattrocentoSans" pitchFamily="34" charset="-120"/>
              </a:rPr>
              <a:t>Pros:</a:t>
            </a:r>
            <a:pPr>
              <a:lnSpc>
                <a:spcPct val="150000"/>
              </a:lnSpc>
              <a:spcBef>
                <a:spcPts val="600"/>
              </a:spcBef>
            </a:pPr>
            <a:r>
              <a:rPr lang="en-US" sz="1600" dirty="0">
                <a:solidFill>
                  <a:srgbClr val="2D2D2D"/>
                </a:solidFill>
                <a:latin typeface="QuattrocentoSans" pitchFamily="34" charset="0"/>
                <a:ea typeface="QuattrocentoSans" pitchFamily="34" charset="-122"/>
                <a:cs typeface="QuattrocentoSans" pitchFamily="34" charset="-120"/>
              </a:rPr>
              <a:t> Highly portable, affordable, durable</a:t>
            </a:r>
            <a:endParaRPr lang="en-US" sz="2000" dirty="0"/>
          </a:p>
          <a:p>
            <a:pPr>
              <a:lnSpc>
                <a:spcPct val="150000"/>
              </a:lnSpc>
              <a:spcBef>
                <a:spcPts val="400"/>
              </a:spcBef>
            </a:pPr>
            <a:r>
              <a:rPr lang="en-US" sz="1600" dirty="0">
                <a:solidFill>
                  <a:srgbClr val="8A8580"/>
                </a:solidFill>
                <a:latin typeface="QuattrocentoSans" pitchFamily="34" charset="0"/>
                <a:ea typeface="QuattrocentoSans" pitchFamily="34" charset="-122"/>
                <a:cs typeface="QuattrocentoSans" pitchFamily="34" charset="-120"/>
              </a:rPr>
              <a:t>Cons:</a:t>
            </a:r>
            <a:pPr>
              <a:lnSpc>
                <a:spcPct val="150000"/>
              </a:lnSpc>
              <a:spcBef>
                <a:spcPts val="400"/>
              </a:spcBef>
            </a:pPr>
            <a:r>
              <a:rPr lang="en-US" sz="1600" dirty="0">
                <a:solidFill>
                  <a:srgbClr val="2D2D2D"/>
                </a:solidFill>
                <a:latin typeface="QuattrocentoSans" pitchFamily="34" charset="0"/>
                <a:ea typeface="QuattrocentoSans" pitchFamily="34" charset="-122"/>
                <a:cs typeface="QuattrocentoSans" pitchFamily="34" charset="-120"/>
              </a:rPr>
              <a:t> Easy to lose, slower than fixed SSD</a:t>
            </a:r>
            <a:endParaRPr lang="en-US" sz="2000" dirty="0"/>
          </a:p>
        </p:txBody>
      </p:sp>
      <p:sp>
        <p:nvSpPr>
          <p:cNvPr id="15" name="Shape 12"/>
          <p:cNvSpPr/>
          <p:nvPr/>
        </p:nvSpPr>
        <p:spPr>
          <a:xfrm>
            <a:off x="762000" y="6540500"/>
            <a:ext cx="4699000" cy="1524000"/>
          </a:xfrm>
          <a:prstGeom prst="rect">
            <a:avLst/>
          </a:prstGeom>
          <a:solidFill>
            <a:srgbClr val="1B5E5E"/>
          </a:solidFill>
          <a:ln/>
        </p:spPr>
      </p:sp>
      <p:sp>
        <p:nvSpPr>
          <p:cNvPr id="16" name="Text 13"/>
          <p:cNvSpPr/>
          <p:nvPr/>
        </p:nvSpPr>
        <p:spPr>
          <a:xfrm>
            <a:off x="1016000" y="6667500"/>
            <a:ext cx="4191000" cy="1270000"/>
          </a:xfrm>
          <a:prstGeom prst="rect">
            <a:avLst/>
          </a:prstGeom>
          <a:noFill/>
          <a:ln/>
        </p:spPr>
        <p:txBody>
          <a:bodyPr wrap="square" lIns="0" tIns="0" rIns="0" bIns="0" rtlCol="0" anchor="ctr"/>
          <a:lstStyle/>
          <a:p>
            <a:pPr>
              <a:lnSpc>
                <a:spcPct val="150000"/>
              </a:lnSpc>
            </a:pPr>
            <a:r>
              <a:rPr lang="en-US" sz="2200" b="1" dirty="0">
                <a:solidFill>
                  <a:srgbClr val="C17A3A"/>
                </a:solidFill>
                <a:latin typeface="Quattrocento Sans" pitchFamily="34" charset="0"/>
                <a:ea typeface="Quattrocento Sans" pitchFamily="34" charset="-122"/>
                <a:cs typeface="Quattrocento Sans" pitchFamily="34" charset="-120"/>
              </a:rPr>
              <a:t>10–13s</a:t>
            </a:r>
            <a:endParaRPr lang="en-US" sz="1600" dirty="0"/>
          </a:p>
          <a:p>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SSD boot time vs. 30–40s for HDD</a:t>
            </a:r>
            <a:endParaRPr lang="en-US" sz="1600" dirty="0"/>
          </a:p>
        </p:txBody>
      </p:sp>
      <p:sp>
        <p:nvSpPr>
          <p:cNvPr id="17" name="Shape 14"/>
          <p:cNvSpPr/>
          <p:nvPr/>
        </p:nvSpPr>
        <p:spPr>
          <a:xfrm>
            <a:off x="5778500" y="6540500"/>
            <a:ext cx="4064000" cy="1524000"/>
          </a:xfrm>
          <a:prstGeom prst="rect">
            <a:avLst/>
          </a:prstGeom>
          <a:solidFill>
            <a:srgbClr val="1B5E5E"/>
          </a:solidFill>
          <a:ln/>
        </p:spPr>
      </p:sp>
      <p:sp>
        <p:nvSpPr>
          <p:cNvPr id="18" name="Text 15"/>
          <p:cNvSpPr/>
          <p:nvPr/>
        </p:nvSpPr>
        <p:spPr>
          <a:xfrm>
            <a:off x="6032500" y="6667500"/>
            <a:ext cx="3556000" cy="1270000"/>
          </a:xfrm>
          <a:prstGeom prst="rect">
            <a:avLst/>
          </a:prstGeom>
          <a:noFill/>
          <a:ln/>
        </p:spPr>
        <p:txBody>
          <a:bodyPr wrap="square" lIns="0" tIns="0" rIns="0" bIns="0" rtlCol="0" anchor="ctr"/>
          <a:lstStyle/>
          <a:p>
            <a:pPr>
              <a:lnSpc>
                <a:spcPct val="150000"/>
              </a:lnSpc>
            </a:pPr>
            <a:r>
              <a:rPr lang="en-US" sz="2200" b="1" dirty="0">
                <a:solidFill>
                  <a:srgbClr val="C17A3A"/>
                </a:solidFill>
                <a:latin typeface="Quattrocento Sans" pitchFamily="34" charset="0"/>
                <a:ea typeface="Quattrocento Sans" pitchFamily="34" charset="-122"/>
                <a:cs typeface="Quattrocento Sans" pitchFamily="34" charset="-120"/>
              </a:rPr>
              <a:t>200–550</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MB/s</a:t>
            </a:r>
            <a:endParaRPr lang="en-US" sz="1600" dirty="0"/>
          </a:p>
          <a:p>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SSD file copy speed vs. 50–120 MB/s for HDD</a:t>
            </a:r>
            <a:endParaRPr lang="en-US" sz="1600" dirty="0"/>
          </a:p>
        </p:txBody>
      </p:sp>
      <p:sp>
        <p:nvSpPr>
          <p:cNvPr id="19" name="Shape 16"/>
          <p:cNvSpPr/>
          <p:nvPr/>
        </p:nvSpPr>
        <p:spPr>
          <a:xfrm>
            <a:off x="10160000" y="5080000"/>
            <a:ext cx="5334000" cy="2984500"/>
          </a:xfrm>
          <a:prstGeom prst="rect">
            <a:avLst/>
          </a:prstGeom>
          <a:solidFill>
            <a:srgbClr val="EDEAE4"/>
          </a:solidFill>
          <a:ln/>
        </p:spPr>
      </p:sp>
      <p:sp>
        <p:nvSpPr>
          <p:cNvPr id="20" name="Text 17"/>
          <p:cNvSpPr/>
          <p:nvPr/>
        </p:nvSpPr>
        <p:spPr>
          <a:xfrm>
            <a:off x="10414000" y="5270500"/>
            <a:ext cx="4826000" cy="355600"/>
          </a:xfrm>
          <a:prstGeom prst="rect">
            <a:avLst/>
          </a:prstGeom>
          <a:noFill/>
          <a:ln/>
        </p:spPr>
        <p:txBody>
          <a:bodyPr wrap="none" lIns="0" tIns="0" rIns="0" bIns="0" rtlCol="0" anchor="ctr"/>
          <a:lstStyle/>
          <a:p>
            <a:pPr>
              <a:lnSpc>
                <a:spcPct val="100000"/>
              </a:lnSpc>
            </a:pPr>
            <a:r>
              <a:rPr lang="en-US" sz="1800" b="1" dirty="0">
                <a:solidFill>
                  <a:srgbClr val="C17A3A"/>
                </a:solidFill>
                <a:latin typeface="Quattrocento Sans" pitchFamily="34" charset="0"/>
                <a:ea typeface="Quattrocento Sans" pitchFamily="34" charset="-122"/>
                <a:cs typeface="Quattrocento Sans" pitchFamily="34" charset="-120"/>
              </a:rPr>
              <a:t>Market Trend</a:t>
            </a:r>
            <a:endParaRPr lang="en-US" sz="1600" dirty="0"/>
          </a:p>
        </p:txBody>
      </p:sp>
      <p:sp>
        <p:nvSpPr>
          <p:cNvPr id="21" name="Text 18"/>
          <p:cNvSpPr/>
          <p:nvPr/>
        </p:nvSpPr>
        <p:spPr>
          <a:xfrm>
            <a:off x="10414000" y="5715000"/>
            <a:ext cx="4826000" cy="2159000"/>
          </a:xfrm>
          <a:prstGeom prst="rect">
            <a:avLst/>
          </a:prstGeom>
          <a:noFill/>
          <a:ln/>
        </p:spPr>
        <p:txBody>
          <a:bodyPr wrap="square" lIns="0" tIns="0" rIns="0" bIns="0" rtlCol="0" anchor="ctr"/>
          <a:lstStyle/>
          <a:p>
            <a:pPr>
              <a:lnSpc>
                <a:spcPct val="150000"/>
              </a:lnSpc>
            </a:pPr>
            <a:r>
              <a:rPr lang="en-US" sz="1600" dirty="0">
                <a:solidFill>
                  <a:srgbClr val="2D2D2D"/>
                </a:solidFill>
                <a:latin typeface="QuattrocentoSans" pitchFamily="34" charset="0"/>
                <a:ea typeface="QuattrocentoSans" pitchFamily="34" charset="-122"/>
                <a:cs typeface="QuattrocentoSans" pitchFamily="34" charset="-120"/>
              </a:rPr>
              <a:t>SSD prices have dropped dramatically and are now the default choice for primary storage in laptops and desktops. Portable SSDs via USB-C/Thunderbolt are ideal for video editing and professional workflows.</a:t>
            </a:r>
            <a:endParaRPr lang="en-US" sz="2000" dirty="0"/>
          </a:p>
        </p:txBody>
      </p:sp>
      <p:sp>
        <p:nvSpPr>
          <p:cNvPr id="22" name="Text 19"/>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25</a:t>
            </a:r>
            <a:endParaRPr lang="en-US" sz="1400" dirty="0"/>
          </a:p>
        </p:txBody>
      </p:sp>
      <p:sp>
        <p:nvSpPr>
          <p:cNvPr id="23" name="Shape 20"/>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Storage Device Comparison</a:t>
            </a:r>
            <a:endParaRPr lang="en-US" sz="2800" dirty="0"/>
          </a:p>
        </p:txBody>
      </p:sp>
      <p:sp>
        <p:nvSpPr>
          <p:cNvPr id="4" name="Shape 2"/>
          <p:cNvSpPr/>
          <p:nvPr/>
        </p:nvSpPr>
        <p:spPr>
          <a:xfrm>
            <a:off x="762000" y="1498600"/>
            <a:ext cx="762000" cy="38100"/>
          </a:xfrm>
          <a:prstGeom prst="rect">
            <a:avLst/>
          </a:prstGeom>
          <a:solidFill>
            <a:srgbClr val="C17A3A"/>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62000" y="1905000"/>
          <a:ext cx="14732000" cy="4826000"/>
        </p:xfrm>
        <a:graphic>
          <a:graphicData uri="http://schemas.openxmlformats.org/drawingml/2006/table">
            <a:tbl>
              <a:tblPr/>
              <a:tblGrid>
                <a:gridCol w="2651760"/>
                <a:gridCol w="3977640"/>
                <a:gridCol w="3977640"/>
                <a:gridCol w="4124960"/>
              </a:tblGrid>
              <a:tr h="579624">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Characteristic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Magnetic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Optical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Solid-State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1B5E5E"/>
                    </a:solidFill>
                  </a:tcPr>
                </a:tc>
              </a:tr>
              <a:tr h="604825">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Capacity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Very High (up to 20TB+)</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Low (700MB – 100GB)</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High (up to 4TB+)</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604825">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Speed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Moderate (50–200 MB/s)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Slow (read-only fast)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Very Fast (200–7000 MB/s)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r h="604825">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Portability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Moderate (external drives)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High (small discs)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Very High (USB/compact)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604825">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Durability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Low (moving parts)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Moderate (scratches)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High (no moving parts)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r h="604825">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Cost per GB</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Very Low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Low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Moderate (decreasing)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r h="604825">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Best For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Bulk storage, backups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Media distribution, archive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Primary storage, mobile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EDEAE4"/>
                    </a:solidFill>
                  </a:tcPr>
                </a:tc>
              </a:tr>
              <a:tr h="617426">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Power Use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High (6–7W)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Low (read only)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c>
                  <a:txBody>
                    <a:bodyPr/>
                    <a:lstStyle/>
                    <a:p>
                      <a:pPr algn="l"/>
                      <a:r>
                        <a:rPr lang="en-US" sz="1600" u="none" dirty="0">
                          <a:solidFill>
                            <a:srgbClr val="2D2D2D"/>
                          </a:solidFill>
                          <a:latin typeface="QuattrocentoSans" pitchFamily="34" charset="0"/>
                          <a:ea typeface="QuattrocentoSans" pitchFamily="34" charset="-122"/>
                          <a:cs typeface="QuattrocentoSans" pitchFamily="34" charset="-120"/>
                        </a:rPr>
                        <a:t>Very Low (2–3W)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D0C8"/>
                      </a:solidFill>
                      <a:prstDash val="solid"/>
                      <a:round/>
                      <a:headEnd type="none" w="med" len="med"/>
                      <a:tailEnd type="none" w="med" len="med"/>
                    </a:lnL>
                    <a:lnR w="12700" cap="flat" cmpd="sng" algn="ctr">
                      <a:solidFill>
                        <a:srgbClr val="D5D0C8"/>
                      </a:solidFill>
                      <a:prstDash val="solid"/>
                      <a:round/>
                      <a:headEnd type="none" w="med" len="med"/>
                      <a:tailEnd type="none" w="med" len="med"/>
                    </a:lnR>
                    <a:lnT w="12700" cap="flat" cmpd="sng" algn="ctr">
                      <a:solidFill>
                        <a:srgbClr val="D5D0C8"/>
                      </a:solidFill>
                      <a:prstDash val="solid"/>
                      <a:round/>
                      <a:headEnd type="none" w="med" len="med"/>
                      <a:tailEnd type="none" w="med" len="med"/>
                    </a:lnT>
                    <a:lnB w="12700" cap="flat" cmpd="sng" algn="ctr">
                      <a:solidFill>
                        <a:srgbClr val="D5D0C8"/>
                      </a:solidFill>
                      <a:prstDash val="solid"/>
                      <a:round/>
                      <a:headEnd type="none" w="med" len="med"/>
                      <a:tailEnd type="none" w="med" len="med"/>
                    </a:lnB>
                    <a:solidFill>
                      <a:srgbClr val="FFFFFF"/>
                    </a:solidFill>
                  </a:tcPr>
                </a:tc>
              </a:tr>
            </a:tbl>
          </a:graphicData>
        </a:graphic>
      </p:graphicFrame>
      <p:sp>
        <p:nvSpPr>
          <p:cNvPr id="6" name="Shape 3"/>
          <p:cNvSpPr/>
          <p:nvPr/>
        </p:nvSpPr>
        <p:spPr>
          <a:xfrm>
            <a:off x="762000" y="7112000"/>
            <a:ext cx="14732000" cy="1016000"/>
          </a:xfrm>
          <a:prstGeom prst="rect">
            <a:avLst/>
          </a:prstGeom>
          <a:solidFill>
            <a:srgbClr val="1B5E5E"/>
          </a:solidFill>
          <a:ln/>
        </p:spPr>
      </p:sp>
      <p:sp>
        <p:nvSpPr>
          <p:cNvPr id="7" name="Text 4"/>
          <p:cNvSpPr/>
          <p:nvPr/>
        </p:nvSpPr>
        <p:spPr>
          <a:xfrm>
            <a:off x="1143000" y="7239000"/>
            <a:ext cx="13970000" cy="762000"/>
          </a:xfrm>
          <a:prstGeom prst="rect">
            <a:avLst/>
          </a:prstGeom>
          <a:noFill/>
          <a:ln/>
        </p:spPr>
        <p:txBody>
          <a:bodyPr wrap="square" lIns="0" tIns="0" rIns="0" bIns="0" rtlCol="0" anchor="ctr"/>
          <a:lstStyle/>
          <a:p>
            <a:pPr>
              <a:lnSpc>
                <a:spcPct val="150000"/>
              </a:lnSpc>
            </a:pPr>
            <a:r>
              <a:rPr lang="en-US" sz="1800" dirty="0">
                <a:solidFill>
                  <a:srgbClr val="C17A3A"/>
                </a:solidFill>
                <a:latin typeface="Quattrocento Sans" pitchFamily="34" charset="0"/>
                <a:ea typeface="Quattrocento Sans" pitchFamily="34" charset="-122"/>
                <a:cs typeface="Quattrocento Sans" pitchFamily="34" charset="-120"/>
              </a:rPr>
              <a:t>●</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a:t>
            </a:r>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Hybrid approaches</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(SSHD — Solid-State Hybrid Drives) combine magnetic and flash storage for a balance of capacity and speed</a:t>
            </a:r>
            <a:endParaRPr lang="en-US" sz="1600" dirty="0"/>
          </a:p>
        </p:txBody>
      </p:sp>
      <p:sp>
        <p:nvSpPr>
          <p:cNvPr id="8" name="Text 5"/>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26</a:t>
            </a:r>
            <a:endParaRPr lang="en-US" sz="1400" dirty="0"/>
          </a:p>
        </p:txBody>
      </p:sp>
      <p:sp>
        <p:nvSpPr>
          <p:cNvPr id="9" name="Shape 6"/>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381000"/>
            <a:ext cx="2540000" cy="317500"/>
          </a:xfrm>
          <a:prstGeom prst="rect">
            <a:avLst/>
          </a:prstGeom>
          <a:noFill/>
          <a:ln/>
        </p:spPr>
        <p:txBody>
          <a:bodyPr wrap="none" lIns="0" tIns="0" rIns="0" bIns="0" rtlCol="0" anchor="ctr"/>
          <a:lstStyle/>
          <a:p>
            <a:pP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ICT WEEK 3</a:t>
            </a:r>
            <a:endParaRPr lang="en-US" sz="1400" dirty="0"/>
          </a:p>
        </p:txBody>
      </p:sp>
      <p:sp>
        <p:nvSpPr>
          <p:cNvPr id="3" name="Text 1"/>
          <p:cNvSpPr/>
          <p:nvPr/>
        </p:nvSpPr>
        <p:spPr>
          <a:xfrm>
            <a:off x="762000" y="889000"/>
            <a:ext cx="7620000" cy="508000"/>
          </a:xfrm>
          <a:prstGeom prst="rect">
            <a:avLst/>
          </a:prstGeom>
          <a:noFill/>
          <a:ln/>
        </p:spPr>
        <p:txBody>
          <a:bodyPr wrap="none" lIns="0" tIns="0" rIns="0" bIns="0" rtlCol="0" anchor="ctr"/>
          <a:lstStyle/>
          <a:p>
            <a:pPr>
              <a:lnSpc>
                <a:spcPct val="130000"/>
              </a:lnSpc>
            </a:pPr>
            <a:r>
              <a:rPr lang="en-US" sz="2800" b="1" dirty="0">
                <a:solidFill>
                  <a:srgbClr val="1B5E5E"/>
                </a:solidFill>
                <a:latin typeface="QuattrocentoSans" pitchFamily="34" charset="0"/>
                <a:ea typeface="QuattrocentoSans" pitchFamily="34" charset="-122"/>
                <a:cs typeface="QuattrocentoSans" pitchFamily="34" charset="-120"/>
              </a:rPr>
              <a:t>Key Takeaways</a:t>
            </a:r>
            <a:endParaRPr lang="en-US" sz="2800" dirty="0"/>
          </a:p>
        </p:txBody>
      </p:sp>
      <p:sp>
        <p:nvSpPr>
          <p:cNvPr id="4" name="Shape 2"/>
          <p:cNvSpPr/>
          <p:nvPr/>
        </p:nvSpPr>
        <p:spPr>
          <a:xfrm>
            <a:off x="762000" y="1498600"/>
            <a:ext cx="762000" cy="38100"/>
          </a:xfrm>
          <a:prstGeom prst="rect">
            <a:avLst/>
          </a:prstGeom>
          <a:solidFill>
            <a:srgbClr val="C17A3A"/>
          </a:solidFill>
          <a:ln/>
        </p:spPr>
      </p:sp>
      <p:sp>
        <p:nvSpPr>
          <p:cNvPr id="5" name="Shape 3"/>
          <p:cNvSpPr/>
          <p:nvPr/>
        </p:nvSpPr>
        <p:spPr>
          <a:xfrm>
            <a:off x="762000" y="1968500"/>
            <a:ext cx="7048500" cy="1524000"/>
          </a:xfrm>
          <a:prstGeom prst="rect">
            <a:avLst/>
          </a:prstGeom>
          <a:solidFill>
            <a:srgbClr val="EDEAE4"/>
          </a:solidFill>
          <a:ln/>
        </p:spPr>
      </p:sp>
      <p:sp>
        <p:nvSpPr>
          <p:cNvPr id="6" name="Text 4"/>
          <p:cNvSpPr/>
          <p:nvPr/>
        </p:nvSpPr>
        <p:spPr>
          <a:xfrm>
            <a:off x="1016000" y="2159000"/>
            <a:ext cx="635000" cy="508000"/>
          </a:xfrm>
          <a:prstGeom prst="rect">
            <a:avLst/>
          </a:prstGeom>
          <a:noFill/>
          <a:ln/>
        </p:spPr>
        <p:txBody>
          <a:bodyPr wrap="none" lIns="0" tIns="0" rIns="0" bIns="0" rtlCol="0" anchor="ctr"/>
          <a:lstStyle/>
          <a:p>
            <a:pPr>
              <a:lnSpc>
                <a:spcPct val="100000"/>
              </a:lnSpc>
            </a:pPr>
            <a:r>
              <a:rPr lang="en-US" sz="2800" b="1" dirty="0">
                <a:solidFill>
                  <a:srgbClr val="C17A3A"/>
                </a:solidFill>
                <a:latin typeface="Quattrocento Sans" pitchFamily="34" charset="0"/>
                <a:ea typeface="Quattrocento Sans" pitchFamily="34" charset="-122"/>
                <a:cs typeface="Quattrocento Sans" pitchFamily="34" charset="-120"/>
              </a:rPr>
              <a:t>1</a:t>
            </a:r>
            <a:endParaRPr lang="en-US" sz="1600" dirty="0"/>
          </a:p>
        </p:txBody>
      </p:sp>
      <p:sp>
        <p:nvSpPr>
          <p:cNvPr id="7" name="Text 5"/>
          <p:cNvSpPr/>
          <p:nvPr/>
        </p:nvSpPr>
        <p:spPr>
          <a:xfrm>
            <a:off x="1651000" y="2159000"/>
            <a:ext cx="5905500" cy="1206500"/>
          </a:xfrm>
          <a:prstGeom prst="rect">
            <a:avLst/>
          </a:prstGeom>
          <a:noFill/>
          <a:ln/>
        </p:spPr>
        <p:txBody>
          <a:bodyPr wrap="square" lIns="0" tIns="0" rIns="0" bIns="0" rtlCol="0" anchor="ctr"/>
          <a:lstStyle/>
          <a:p>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Input devices</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translate human actions into machine-readable data;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output devices</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translate processed data back into human-perceivable forms</a:t>
            </a:r>
            <a:endParaRPr lang="en-US" sz="2000" dirty="0"/>
          </a:p>
        </p:txBody>
      </p:sp>
      <p:sp>
        <p:nvSpPr>
          <p:cNvPr id="8" name="Shape 6"/>
          <p:cNvSpPr/>
          <p:nvPr/>
        </p:nvSpPr>
        <p:spPr>
          <a:xfrm>
            <a:off x="8445500" y="1968500"/>
            <a:ext cx="7048500" cy="1397000"/>
          </a:xfrm>
          <a:prstGeom prst="rect">
            <a:avLst/>
          </a:prstGeom>
          <a:solidFill>
            <a:srgbClr val="EDEAE4"/>
          </a:solidFill>
          <a:ln/>
        </p:spPr>
      </p:sp>
      <p:sp>
        <p:nvSpPr>
          <p:cNvPr id="9" name="Text 7"/>
          <p:cNvSpPr/>
          <p:nvPr/>
        </p:nvSpPr>
        <p:spPr>
          <a:xfrm>
            <a:off x="8699500" y="2095500"/>
            <a:ext cx="635000" cy="508000"/>
          </a:xfrm>
          <a:prstGeom prst="rect">
            <a:avLst/>
          </a:prstGeom>
          <a:noFill/>
          <a:ln/>
        </p:spPr>
        <p:txBody>
          <a:bodyPr wrap="none" lIns="0" tIns="0" rIns="0" bIns="0" rtlCol="0" anchor="ctr"/>
          <a:lstStyle/>
          <a:p>
            <a:pPr>
              <a:lnSpc>
                <a:spcPct val="100000"/>
              </a:lnSpc>
            </a:pPr>
            <a:r>
              <a:rPr lang="en-US" sz="2800" b="1" dirty="0">
                <a:solidFill>
                  <a:srgbClr val="C17A3A"/>
                </a:solidFill>
                <a:latin typeface="Quattrocento Sans" pitchFamily="34" charset="0"/>
                <a:ea typeface="Quattrocento Sans" pitchFamily="34" charset="-122"/>
                <a:cs typeface="Quattrocento Sans" pitchFamily="34" charset="-120"/>
              </a:rPr>
              <a:t>2</a:t>
            </a:r>
            <a:endParaRPr lang="en-US" sz="1600" dirty="0"/>
          </a:p>
        </p:txBody>
      </p:sp>
      <p:sp>
        <p:nvSpPr>
          <p:cNvPr id="10" name="Text 8"/>
          <p:cNvSpPr/>
          <p:nvPr/>
        </p:nvSpPr>
        <p:spPr>
          <a:xfrm>
            <a:off x="9334500" y="2159000"/>
            <a:ext cx="5905500" cy="1016000"/>
          </a:xfrm>
          <a:prstGeom prst="rect">
            <a:avLst/>
          </a:prstGeom>
          <a:noFill/>
          <a:ln/>
        </p:spPr>
        <p:txBody>
          <a:bodyPr wrap="square" lIns="0" tIns="0" rIns="0" bIns="0" rtlCol="0" anchor="ctr"/>
          <a:lstStyle/>
          <a:p>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Direct data entry</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technologies (RFID, barcode, OCR, etc.) automate data capture, improving accuracy and efficiency</a:t>
            </a:r>
            <a:endParaRPr lang="en-US" sz="2000" dirty="0"/>
          </a:p>
        </p:txBody>
      </p:sp>
      <p:sp>
        <p:nvSpPr>
          <p:cNvPr id="11" name="Shape 9"/>
          <p:cNvSpPr/>
          <p:nvPr/>
        </p:nvSpPr>
        <p:spPr>
          <a:xfrm>
            <a:off x="762000" y="3683000"/>
            <a:ext cx="7048500" cy="1524000"/>
          </a:xfrm>
          <a:prstGeom prst="rect">
            <a:avLst/>
          </a:prstGeom>
          <a:solidFill>
            <a:srgbClr val="EDEAE4"/>
          </a:solidFill>
          <a:ln/>
        </p:spPr>
      </p:sp>
      <p:sp>
        <p:nvSpPr>
          <p:cNvPr id="12" name="Text 10"/>
          <p:cNvSpPr/>
          <p:nvPr/>
        </p:nvSpPr>
        <p:spPr>
          <a:xfrm>
            <a:off x="1016000" y="3873500"/>
            <a:ext cx="635000" cy="508000"/>
          </a:xfrm>
          <a:prstGeom prst="rect">
            <a:avLst/>
          </a:prstGeom>
          <a:noFill/>
          <a:ln/>
        </p:spPr>
        <p:txBody>
          <a:bodyPr wrap="none" lIns="0" tIns="0" rIns="0" bIns="0" rtlCol="0" anchor="ctr"/>
          <a:lstStyle/>
          <a:p>
            <a:pPr>
              <a:lnSpc>
                <a:spcPct val="100000"/>
              </a:lnSpc>
            </a:pPr>
            <a:r>
              <a:rPr lang="en-US" sz="2800" b="1" dirty="0">
                <a:solidFill>
                  <a:srgbClr val="C17A3A"/>
                </a:solidFill>
                <a:latin typeface="Quattrocento Sans" pitchFamily="34" charset="0"/>
                <a:ea typeface="Quattrocento Sans" pitchFamily="34" charset="-122"/>
                <a:cs typeface="Quattrocento Sans" pitchFamily="34" charset="-120"/>
              </a:rPr>
              <a:t>3</a:t>
            </a:r>
            <a:endParaRPr lang="en-US" sz="1600" dirty="0"/>
          </a:p>
        </p:txBody>
      </p:sp>
      <p:sp>
        <p:nvSpPr>
          <p:cNvPr id="13" name="Text 11"/>
          <p:cNvSpPr/>
          <p:nvPr/>
        </p:nvSpPr>
        <p:spPr>
          <a:xfrm>
            <a:off x="1651000" y="3873500"/>
            <a:ext cx="5905500" cy="1206500"/>
          </a:xfrm>
          <a:prstGeom prst="rect">
            <a:avLst/>
          </a:prstGeom>
          <a:noFill/>
          <a:ln/>
        </p:spPr>
        <p:txBody>
          <a:bodyPr wrap="square" lIns="0" tIns="0" rIns="0" bIns="0" rtlCol="0" anchor="ctr"/>
          <a:lstStyle/>
          <a:p>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Storage technology choice</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depends on balancing capacity, speed, cost, durability, and portability requirements</a:t>
            </a:r>
            <a:endParaRPr lang="en-US" sz="2000" dirty="0"/>
          </a:p>
        </p:txBody>
      </p:sp>
      <p:sp>
        <p:nvSpPr>
          <p:cNvPr id="14" name="Shape 12"/>
          <p:cNvSpPr/>
          <p:nvPr/>
        </p:nvSpPr>
        <p:spPr>
          <a:xfrm>
            <a:off x="8445500" y="3683000"/>
            <a:ext cx="7048500" cy="1397000"/>
          </a:xfrm>
          <a:prstGeom prst="rect">
            <a:avLst/>
          </a:prstGeom>
          <a:solidFill>
            <a:srgbClr val="EDEAE4"/>
          </a:solidFill>
          <a:ln/>
        </p:spPr>
      </p:sp>
      <p:sp>
        <p:nvSpPr>
          <p:cNvPr id="15" name="Text 13"/>
          <p:cNvSpPr/>
          <p:nvPr/>
        </p:nvSpPr>
        <p:spPr>
          <a:xfrm>
            <a:off x="8699500" y="3810000"/>
            <a:ext cx="635000" cy="508000"/>
          </a:xfrm>
          <a:prstGeom prst="rect">
            <a:avLst/>
          </a:prstGeom>
          <a:noFill/>
          <a:ln/>
        </p:spPr>
        <p:txBody>
          <a:bodyPr wrap="none" lIns="0" tIns="0" rIns="0" bIns="0" rtlCol="0" anchor="ctr"/>
          <a:lstStyle/>
          <a:p>
            <a:pPr>
              <a:lnSpc>
                <a:spcPct val="100000"/>
              </a:lnSpc>
            </a:pPr>
            <a:r>
              <a:rPr lang="en-US" sz="2800" b="1" dirty="0">
                <a:solidFill>
                  <a:srgbClr val="C17A3A"/>
                </a:solidFill>
                <a:latin typeface="Quattrocento Sans" pitchFamily="34" charset="0"/>
                <a:ea typeface="Quattrocento Sans" pitchFamily="34" charset="-122"/>
                <a:cs typeface="Quattrocento Sans" pitchFamily="34" charset="-120"/>
              </a:rPr>
              <a:t>4</a:t>
            </a:r>
            <a:endParaRPr lang="en-US" sz="1600" dirty="0"/>
          </a:p>
        </p:txBody>
      </p:sp>
      <p:sp>
        <p:nvSpPr>
          <p:cNvPr id="16" name="Text 14"/>
          <p:cNvSpPr/>
          <p:nvPr/>
        </p:nvSpPr>
        <p:spPr>
          <a:xfrm>
            <a:off x="9334500" y="3873500"/>
            <a:ext cx="5905500" cy="1016000"/>
          </a:xfrm>
          <a:prstGeom prst="rect">
            <a:avLst/>
          </a:prstGeom>
          <a:noFill/>
          <a:ln/>
        </p:spPr>
        <p:txBody>
          <a:bodyPr wrap="square" lIns="0" tIns="0" rIns="0" bIns="0" rtlCol="0" anchor="ctr"/>
          <a:lstStyle/>
          <a:p>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The trend across all device categories is toward </a:t>
            </a:r>
            <a:pPr>
              <a:lnSpc>
                <a:spcPct val="150000"/>
              </a:lnSpc>
            </a:pPr>
            <a:r>
              <a:rPr lang="en-US" sz="1800" b="1" dirty="0">
                <a:solidFill>
                  <a:srgbClr val="2D2D2D"/>
                </a:solidFill>
                <a:latin typeface="QuattrocentoSans" pitchFamily="34" charset="0"/>
                <a:ea typeface="QuattrocentoSans" pitchFamily="34" charset="-122"/>
                <a:cs typeface="QuattrocentoSans" pitchFamily="34" charset="-120"/>
              </a:rPr>
              <a:t>faster, smaller, more efficient, and more integrated</a:t>
            </a:r>
            <a:pPr>
              <a:lnSpc>
                <a:spcPct val="150000"/>
              </a:lnSpc>
            </a:pPr>
            <a:r>
              <a:rPr lang="en-US" sz="1800" dirty="0">
                <a:solidFill>
                  <a:srgbClr val="2D2D2D"/>
                </a:solidFill>
                <a:latin typeface="QuattrocentoSans" pitchFamily="34" charset="0"/>
                <a:ea typeface="QuattrocentoSans" pitchFamily="34" charset="-122"/>
                <a:cs typeface="QuattrocentoSans" pitchFamily="34" charset="-120"/>
              </a:rPr>
              <a:t> solutions</a:t>
            </a:r>
            <a:endParaRPr lang="en-US" sz="2000" dirty="0"/>
          </a:p>
        </p:txBody>
      </p:sp>
      <p:sp>
        <p:nvSpPr>
          <p:cNvPr id="17" name="Shape 15"/>
          <p:cNvSpPr/>
          <p:nvPr/>
        </p:nvSpPr>
        <p:spPr>
          <a:xfrm>
            <a:off x="762000" y="5397500"/>
            <a:ext cx="14732000" cy="1397000"/>
          </a:xfrm>
          <a:prstGeom prst="rect">
            <a:avLst/>
          </a:prstGeom>
          <a:solidFill>
            <a:srgbClr val="1B5E5E"/>
          </a:solidFill>
          <a:ln/>
        </p:spPr>
      </p:sp>
      <p:sp>
        <p:nvSpPr>
          <p:cNvPr id="18" name="Text 16"/>
          <p:cNvSpPr/>
          <p:nvPr/>
        </p:nvSpPr>
        <p:spPr>
          <a:xfrm>
            <a:off x="1016000" y="5524500"/>
            <a:ext cx="635000" cy="508000"/>
          </a:xfrm>
          <a:prstGeom prst="rect">
            <a:avLst/>
          </a:prstGeom>
          <a:noFill/>
          <a:ln/>
        </p:spPr>
        <p:txBody>
          <a:bodyPr wrap="none" lIns="0" tIns="0" rIns="0" bIns="0" rtlCol="0" anchor="ctr"/>
          <a:lstStyle/>
          <a:p>
            <a:pPr>
              <a:lnSpc>
                <a:spcPct val="100000"/>
              </a:lnSpc>
            </a:pPr>
            <a:r>
              <a:rPr lang="en-US" sz="2800" b="1" dirty="0">
                <a:solidFill>
                  <a:srgbClr val="C17A3A"/>
                </a:solidFill>
                <a:latin typeface="Quattrocento Sans" pitchFamily="34" charset="0"/>
                <a:ea typeface="Quattrocento Sans" pitchFamily="34" charset="-122"/>
                <a:cs typeface="Quattrocento Sans" pitchFamily="34" charset="-120"/>
              </a:rPr>
              <a:t>5</a:t>
            </a:r>
            <a:endParaRPr lang="en-US" sz="1600" dirty="0"/>
          </a:p>
        </p:txBody>
      </p:sp>
      <p:sp>
        <p:nvSpPr>
          <p:cNvPr id="19" name="Text 17"/>
          <p:cNvSpPr/>
          <p:nvPr/>
        </p:nvSpPr>
        <p:spPr>
          <a:xfrm>
            <a:off x="1651000" y="5588000"/>
            <a:ext cx="13462000" cy="1016000"/>
          </a:xfrm>
          <a:prstGeom prst="rect">
            <a:avLst/>
          </a:prstGeom>
          <a:noFill/>
          <a:ln/>
        </p:spPr>
        <p:txBody>
          <a:bodyPr wrap="square" lIns="0" tIns="0" rIns="0" bIns="0" rtlCol="0" anchor="ctr"/>
          <a:lstStyle/>
          <a:p>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Understanding device characteristics enables </a:t>
            </a:r>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informed technology selection</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for any application — from personal computing to enterprise systems</a:t>
            </a:r>
            <a:endParaRPr lang="en-US" sz="1600" dirty="0"/>
          </a:p>
        </p:txBody>
      </p:sp>
      <p:sp>
        <p:nvSpPr>
          <p:cNvPr id="20" name="Text 18"/>
          <p:cNvSpPr/>
          <p:nvPr/>
        </p:nvSpPr>
        <p:spPr>
          <a:xfrm>
            <a:off x="14986000" y="8636000"/>
            <a:ext cx="762000" cy="279400"/>
          </a:xfrm>
          <a:prstGeom prst="rect">
            <a:avLst/>
          </a:prstGeom>
          <a:noFill/>
          <a:ln/>
        </p:spPr>
        <p:txBody>
          <a:bodyPr wrap="none" lIns="0" tIns="0" rIns="0" bIns="0" rtlCol="0" anchor="ctr"/>
          <a:lstStyle/>
          <a:p>
            <a:pPr algn="r">
              <a:lnSpc>
                <a:spcPct val="140000"/>
              </a:lnSpc>
            </a:pPr>
            <a:r>
              <a:rPr lang="en-US" sz="1400" dirty="0">
                <a:solidFill>
                  <a:srgbClr val="8A8580"/>
                </a:solidFill>
                <a:latin typeface="QuattrocentoSans" pitchFamily="34" charset="0"/>
                <a:ea typeface="QuattrocentoSans" pitchFamily="34" charset="-122"/>
                <a:cs typeface="QuattrocentoSans" pitchFamily="34" charset="-120"/>
              </a:rPr>
              <a:t>27</a:t>
            </a:r>
            <a:endParaRPr lang="en-US" sz="1400" dirty="0"/>
          </a:p>
        </p:txBody>
      </p:sp>
      <p:sp>
        <p:nvSpPr>
          <p:cNvPr id="21" name="Shape 19"/>
          <p:cNvSpPr/>
          <p:nvPr/>
        </p:nvSpPr>
        <p:spPr>
          <a:xfrm>
            <a:off x="762000" y="8699500"/>
            <a:ext cx="762000" cy="38100"/>
          </a:xfrm>
          <a:prstGeom prst="rect">
            <a:avLst/>
          </a:prstGeom>
          <a:solidFill>
            <a:srgbClr val="C17A3A"/>
          </a:solidFill>
          <a:ln/>
        </p:spPr>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https://kimi-img.moonshot.cn/pub/slides/okc/7khcepmtdap64/mnt/agents/output/ict-week3/images/3_Abstract_technology_circuit_board.png">    </p:cNvPr>
          <p:cNvPicPr>
            <a:picLocks noChangeAspect="1"/>
          </p:cNvPicPr>
          <p:nvPr/>
        </p:nvPicPr>
        <p:blipFill>
          <a:blip r:embed="rId1"/>
          <a:srcRect l="0" r="0" t="6" b="6"/>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B5E5E">
                  <a:alpha val="94000"/>
                </a:srgbClr>
              </a:gs>
              <a:gs pos="60000">
                <a:srgbClr val="1B5E5E">
                  <a:alpha val="82000"/>
                </a:srgbClr>
              </a:gs>
              <a:gs pos="100000">
                <a:srgbClr val="1B5E5E">
                  <a:alpha val="56000"/>
                </a:srgbClr>
              </a:gs>
            </a:gsLst>
            <a:lin ang="5400000" scaled="1"/>
          </a:gradFill>
          <a:ln w="12700">
            <a:solidFill>
              <a:srgbClr val="333333"/>
            </a:solidFill>
            <a:prstDash val="solid"/>
          </a:ln>
        </p:spPr>
      </p:sp>
      <p:sp>
        <p:nvSpPr>
          <p:cNvPr id="4" name="Shape 1"/>
          <p:cNvSpPr/>
          <p:nvPr/>
        </p:nvSpPr>
        <p:spPr>
          <a:xfrm>
            <a:off x="6858000" y="3048000"/>
            <a:ext cx="2540000" cy="38100"/>
          </a:xfrm>
          <a:prstGeom prst="rect">
            <a:avLst/>
          </a:prstGeom>
          <a:solidFill>
            <a:srgbClr val="C17A3A"/>
          </a:solidFill>
          <a:ln/>
        </p:spPr>
      </p:sp>
      <p:sp>
        <p:nvSpPr>
          <p:cNvPr id="5" name="Text 2"/>
          <p:cNvSpPr/>
          <p:nvPr/>
        </p:nvSpPr>
        <p:spPr>
          <a:xfrm>
            <a:off x="3048000" y="3429000"/>
            <a:ext cx="10160000" cy="889000"/>
          </a:xfrm>
          <a:prstGeom prst="rect">
            <a:avLst/>
          </a:prstGeom>
          <a:noFill/>
          <a:ln/>
        </p:spPr>
        <p:txBody>
          <a:bodyPr wrap="none" lIns="0" tIns="0" rIns="0" bIns="0" rtlCol="0" anchor="ctr"/>
          <a:lstStyle/>
          <a:p>
            <a:pPr algn="ctr">
              <a:lnSpc>
                <a:spcPct val="100000"/>
              </a:lnSpc>
            </a:pPr>
            <a:r>
              <a:rPr lang="en-US" sz="4800" b="1" spc="400" kern="0" dirty="0">
                <a:solidFill>
                  <a:srgbClr val="FFFFFF"/>
                </a:solidFill>
                <a:latin typeface="Quattrocento Sans" pitchFamily="34" charset="0"/>
                <a:ea typeface="Quattrocento Sans" pitchFamily="34" charset="-122"/>
                <a:cs typeface="Quattrocento Sans" pitchFamily="34" charset="-120"/>
              </a:rPr>
              <a:t>THANK YOU</a:t>
            </a:r>
            <a:endParaRPr lang="en-US" sz="1600" dirty="0"/>
          </a:p>
        </p:txBody>
      </p:sp>
      <p:sp>
        <p:nvSpPr>
          <p:cNvPr id="6" name="Shape 3"/>
          <p:cNvSpPr/>
          <p:nvPr/>
        </p:nvSpPr>
        <p:spPr>
          <a:xfrm>
            <a:off x="6858000" y="4572000"/>
            <a:ext cx="2540000" cy="38100"/>
          </a:xfrm>
          <a:prstGeom prst="rect">
            <a:avLst/>
          </a:prstGeom>
          <a:solidFill>
            <a:srgbClr val="C17A3A"/>
          </a:solidFill>
          <a:ln/>
        </p:spPr>
      </p:sp>
      <p:sp>
        <p:nvSpPr>
          <p:cNvPr id="7" name="Text 4"/>
          <p:cNvSpPr/>
          <p:nvPr/>
        </p:nvSpPr>
        <p:spPr>
          <a:xfrm>
            <a:off x="3048000" y="4953000"/>
            <a:ext cx="10160000" cy="508000"/>
          </a:xfrm>
          <a:prstGeom prst="rect">
            <a:avLst/>
          </a:prstGeom>
          <a:noFill/>
          <a:ln/>
        </p:spPr>
        <p:txBody>
          <a:bodyPr wrap="none" lIns="0" tIns="0" rIns="0" bIns="0" rtlCol="0" anchor="ctr"/>
          <a:lstStyle/>
          <a:p>
            <a:pPr algn="ctr">
              <a:lnSpc>
                <a:spcPct val="140000"/>
              </a:lnSpc>
            </a:pPr>
            <a:r>
              <a:rPr lang="en-US" sz="2200" dirty="0">
                <a:solidFill>
                  <a:srgbClr val="FFFFFF"/>
                </a:solidFill>
                <a:latin typeface="QuattrocentoSans" pitchFamily="34" charset="0"/>
                <a:ea typeface="QuattrocentoSans" pitchFamily="34" charset="-122"/>
                <a:cs typeface="QuattrocentoSans" pitchFamily="34" charset="-120"/>
              </a:rPr>
              <a:t>Applications of Information and Communication Technologies</a:t>
            </a:r>
            <a:endParaRPr lang="en-US" sz="2200" dirty="0"/>
          </a:p>
        </p:txBody>
      </p:sp>
      <p:sp>
        <p:nvSpPr>
          <p:cNvPr id="8" name="Text 5"/>
          <p:cNvSpPr/>
          <p:nvPr/>
        </p:nvSpPr>
        <p:spPr>
          <a:xfrm>
            <a:off x="5588000" y="5588000"/>
            <a:ext cx="5080000" cy="381000"/>
          </a:xfrm>
          <a:prstGeom prst="rect">
            <a:avLst/>
          </a:prstGeom>
          <a:noFill/>
          <a:ln/>
        </p:spPr>
        <p:txBody>
          <a:bodyPr wrap="none" lIns="0" tIns="0" rIns="0" bIns="0" rtlCol="0" anchor="ctr"/>
          <a:lstStyle/>
          <a:p>
            <a:pPr algn="ctr">
              <a:lnSpc>
                <a:spcPct val="100000"/>
              </a:lnSpc>
            </a:pPr>
            <a:r>
              <a:rPr lang="en-US" sz="1800" dirty="0">
                <a:solidFill>
                  <a:srgbClr val="FFFFFF">
                    <a:alpha val="73333"/>
                  </a:srgbClr>
                </a:solidFill>
                <a:latin typeface="Quattrocento Sans" pitchFamily="34" charset="0"/>
                <a:ea typeface="Quattrocento Sans" pitchFamily="34" charset="-122"/>
                <a:cs typeface="Quattrocento Sans" pitchFamily="34" charset="-120"/>
              </a:rPr>
              <a:t>Week 3 | Lectures 5 &amp; 6</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of Information and Communication Technologies - Week 3</dc:title>
  <dc:subject>Applications of Information and Communication Technologies - Week 3</dc:subject>
  <dc:creator>Kimi</dc:creator>
  <cp:lastModifiedBy>Kimi</cp:lastModifiedBy>
  <cp:revision>1</cp:revision>
  <dcterms:created xsi:type="dcterms:W3CDTF">2026-05-25T08:55:37Z</dcterms:created>
  <dcterms:modified xsi:type="dcterms:W3CDTF">2026-05-25T08:55:37Z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{"Label":"Applications of Information and Communication Technologies - Week 3","ContentProducer":"001191110108MACG2KBH8F10000","ProduceID":"19e5e42e-d6d2-899e-8000-0000623fabba","ReservedCode1":"","ContentPropagator":"001191110108MACG2KBH8F20000","PropagateID":"19e5e42e-d6d2-899e-8000-0000623fabba","ReservedCode2":""}</vt:lpwstr>
  </property>
</Properties>
</file>