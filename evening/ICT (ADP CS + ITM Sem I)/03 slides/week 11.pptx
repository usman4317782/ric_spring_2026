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2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3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3C4A5A"/>
                </a:solidFill>
                <a:latin typeface="Arial"/>
              </a:defRPr>
            </a:pPr>
            <a:r>
              <a:rPr sz="1600" b="0" i="0" u="none" strike="noStrike">
                <a:solidFill>
                  <a:srgbClr val="3C4A5A"/>
                </a:solidFill>
                <a:latin typeface="Arial"/>
              </a:rPr>
              <a:t>5-Year Cost: Human Labor vs Robotics ($K)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Human Labor</c:v>
                </c:pt>
              </c:strCache>
            </c:strRef>
          </c:tx>
          <c:spPr>
            <a:solidFill>
              <a:srgbClr val="D0D6D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250</c:v>
                </c:pt>
                <c:pt idx="1">
                  <c:v>500</c:v>
                </c:pt>
                <c:pt idx="2">
                  <c:v>750</c:v>
                </c:pt>
                <c:pt idx="3">
                  <c:v>1000</c:v>
                </c:pt>
                <c:pt idx="4">
                  <c:v>1250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Robotics</c:v>
                </c:pt>
              </c:strCache>
            </c:strRef>
          </c:tx>
          <c:spPr>
            <a:solidFill>
              <a:srgbClr val="FF7F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400</c:v>
                </c:pt>
                <c:pt idx="1">
                  <c:v>450</c:v>
                </c:pt>
                <c:pt idx="2">
                  <c:v>500</c:v>
                </c:pt>
                <c:pt idx="3">
                  <c:v>550</c:v>
                </c:pt>
                <c:pt idx="4">
                  <c:v>600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C4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3C4A5A"/>
                </a:solidFill>
                <a:latin typeface="Arial"/>
              </a:defRPr>
            </a:pPr>
            <a:r>
              <a:rPr sz="1600" b="0" i="0" u="none" strike="noStrike">
                <a:solidFill>
                  <a:srgbClr val="3C4A5A"/>
                </a:solidFill>
                <a:latin typeface="Arial"/>
              </a:rPr>
              <a:t>Current AV Market Distribution by Autonomy Level (2024)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 (%)</c:v>
                </c:pt>
              </c:strCache>
            </c:strRef>
          </c:tx>
          <c:spPr>
            <a:solidFill>
              <a:srgbClr val="2E5E8A"/>
            </a:solidFill>
            <a:effectLst/>
          </c:spPr>
          <c:invertIfNegative val="0"/>
          <c:dLbls>
            <c:numFmt formatCode="0'%'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Level 0</c:v>
                  </c:pt>
                  <c:pt idx="1">
                    <c:v>Level 1</c:v>
                  </c:pt>
                  <c:pt idx="2">
                    <c:v>Level 2</c:v>
                  </c:pt>
                  <c:pt idx="3">
                    <c:v>Level 3</c:v>
                  </c:pt>
                  <c:pt idx="4">
                    <c:v>Level 4</c:v>
                  </c:pt>
                  <c:pt idx="5">
                    <c:v>Level 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</c:v>
                </c:pt>
                <c:pt idx="1">
                  <c:v>30</c:v>
                </c:pt>
                <c:pt idx="2">
                  <c:v>20</c:v>
                </c:pt>
                <c:pt idx="3">
                  <c:v>3</c:v>
                </c:pt>
                <c:pt idx="4">
                  <c:v>2</c:v>
                </c:pt>
                <c:pt idx="5">
                  <c:v>0</c:v>
                </c:pt>
              </c:numCache>
            </c:numRef>
          </c:val>
        </c:ser>
        <c:dLbls>
          <c:numFmt formatCode="0'%'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7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C4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3C4A5A"/>
                </a:solidFill>
                <a:latin typeface="Arial"/>
              </a:defRPr>
            </a:pPr>
            <a:r>
              <a:rPr sz="1600" b="0" i="0" u="none" strike="noStrike">
                <a:solidFill>
                  <a:srgbClr val="3C4A5A"/>
                </a:solidFill>
                <a:latin typeface="Arial"/>
              </a:rPr>
              <a:t>Human vs CCS — Key Performance Metrics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Human</c:v>
                </c:pt>
              </c:strCache>
            </c:strRef>
          </c:tx>
          <c:spPr>
            <a:solidFill>
              <a:srgbClr val="D0D6D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Precision</c:v>
                  </c:pt>
                  <c:pt idx="1">
                    <c:v>Speed</c:v>
                  </c:pt>
                  <c:pt idx="2">
                    <c:v>Consistency</c:v>
                  </c:pt>
                  <c:pt idx="3">
                    <c:v>Uptime</c:v>
                  </c:pt>
                  <c:pt idx="4">
                    <c:v>Safety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25</c:v>
                </c:pt>
                <c:pt idx="2">
                  <c:v>30</c:v>
                </c:pt>
                <c:pt idx="3">
                  <c:v>35</c:v>
                </c:pt>
                <c:pt idx="4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CCS</c:v>
                </c:pt>
              </c:strCache>
            </c:strRef>
          </c:tx>
          <c:spPr>
            <a:solidFill>
              <a:srgbClr val="FF7F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Precision</c:v>
                  </c:pt>
                  <c:pt idx="1">
                    <c:v>Speed</c:v>
                  </c:pt>
                  <c:pt idx="2">
                    <c:v>Consistency</c:v>
                  </c:pt>
                  <c:pt idx="3">
                    <c:v>Uptime</c:v>
                  </c:pt>
                  <c:pt idx="4">
                    <c:v>Safety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C4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5080000" h="3810000">
                <a:moveTo>
                  <a:pt x="0" y="0"/>
                </a:moveTo>
                <a:lnTo>
                  <a:pt x="5080000" y="0"/>
                </a:lnTo>
                <a:lnTo>
                  <a:pt x="5080000" y="1905000"/>
                </a:lnTo>
                <a:quadBezTo>
                  <a:pt x="4445000" y="2540000"/>
                  <a:pt x="3810000" y="2540000"/>
                </a:quadBezTo>
                <a:lnTo>
                  <a:pt x="1270000" y="2540000"/>
                </a:lnTo>
                <a:quadBezTo>
                  <a:pt x="635000" y="2540000"/>
                  <a:pt x="0" y="1905000"/>
                </a:quadBezTo>
                <a:close/>
              </a:path>
            </a:pathLst>
          </a:custGeom>
          <a:gradFill rotWithShape="1" flip="none">
            <a:gsLst>
              <a:gs pos="0">
                <a:srgbClr val="2E5E8A"/>
              </a:gs>
              <a:gs pos="50000">
                <a:srgbClr val="D0E0E3"/>
              </a:gs>
              <a:gs pos="100000">
                <a:srgbClr val="D0E0E3">
                  <a:alpha val="13000"/>
                </a:srgbClr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11176000" y="6604000"/>
            <a:ext cx="5080000" cy="2540000"/>
          </a:xfrm>
          <a:custGeom>
            <a:avLst/>
            <a:gdLst/>
            <a:ahLst/>
            <a:cxnLst/>
            <a:rect l="l" t="t" r="r" b="b"/>
            <a:pathLst>
              <a:path w="5080000" h="2540000">
                <a:moveTo>
                  <a:pt x="5080000" y="2540000"/>
                </a:moveTo>
                <a:lnTo>
                  <a:pt x="0" y="2540000"/>
                </a:lnTo>
                <a:lnTo>
                  <a:pt x="0" y="1270000"/>
                </a:lnTo>
                <a:quadBezTo>
                  <a:pt x="635000" y="635000"/>
                  <a:pt x="1270000" y="635000"/>
                </a:quadBezTo>
                <a:lnTo>
                  <a:pt x="3810000" y="635000"/>
                </a:lnTo>
                <a:quadBezTo>
                  <a:pt x="4445000" y="635000"/>
                  <a:pt x="5080000" y="1270000"/>
                </a:quadBezTo>
                <a:close/>
              </a:path>
            </a:pathLst>
          </a:custGeom>
          <a:gradFill rotWithShape="1" flip="none">
            <a:gsLst>
              <a:gs pos="0">
                <a:srgbClr val="D0E0E3">
                  <a:alpha val="25000"/>
                </a:srgbClr>
              </a:gs>
              <a:gs pos="50000">
                <a:srgbClr val="D0E0E3"/>
              </a:gs>
              <a:gs pos="100000">
                <a:srgbClr val="D0D6DC"/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1778000" y="2794000"/>
            <a:ext cx="1270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800" b="1" spc="100" kern="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Computer Controlled Systems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3048000" y="40640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11 — Lecture 21 &amp; 22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0" y="4889500"/>
            <a:ext cx="2540000" cy="25400"/>
          </a:xfrm>
          <a:prstGeom prst="rect">
            <a:avLst/>
          </a:prstGeom>
          <a:solidFill>
            <a:srgbClr val="6B9CB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83000" y="5207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Robotics in Manufacturing · Production Line Control · Autonomous Vehicles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Advantages &amp; Disadvantages of Computer-Controlled Systems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10160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0160000" y="1270000"/>
            <a:ext cx="4826000" cy="6350000"/>
          </a:xfrm>
          <a:custGeom>
            <a:avLst/>
            <a:gdLst/>
            <a:ahLst/>
            <a:cxnLst/>
            <a:rect l="l" t="t" r="r" b="b"/>
            <a:pathLst>
              <a:path w="4826000" h="6350000">
                <a:moveTo>
                  <a:pt x="4826000" y="0"/>
                </a:moveTo>
                <a:lnTo>
                  <a:pt x="4826000" y="6350000"/>
                </a:lnTo>
                <a:lnTo>
                  <a:pt x="2413000" y="6350000"/>
                </a:lnTo>
                <a:quadBezTo>
                  <a:pt x="1778000" y="6350000"/>
                  <a:pt x="1143000" y="5715000"/>
                </a:quadBezTo>
                <a:lnTo>
                  <a:pt x="1143000" y="635000"/>
                </a:lnTo>
                <a:quadBezTo>
                  <a:pt x="1143000" y="0"/>
                  <a:pt x="1778000" y="0"/>
                </a:quadBezTo>
                <a:close/>
              </a:path>
            </a:pathLst>
          </a:custGeom>
          <a:gradFill rotWithShape="1" flip="none">
            <a:gsLst>
              <a:gs pos="0">
                <a:srgbClr val="D0E0E3">
                  <a:alpha val="6000"/>
                </a:srgbClr>
              </a:gs>
              <a:gs pos="70000">
                <a:srgbClr val="D0E0E3"/>
              </a:gs>
              <a:gs pos="100000">
                <a:srgbClr val="2E5E8A">
                  <a:alpha val="8000"/>
                </a:srgbClr>
              </a:gs>
            </a:gsLst>
            <a:lin ang="10800000" scaled="1"/>
          </a:gradFill>
          <a:ln/>
        </p:spPr>
      </p:sp>
      <p:sp>
        <p:nvSpPr>
          <p:cNvPr id="4" name="Shape 2"/>
          <p:cNvSpPr/>
          <p:nvPr/>
        </p:nvSpPr>
        <p:spPr>
          <a:xfrm>
            <a:off x="1524000" y="2540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2540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0" y="2540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Computer Controlled Systems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524000" y="3556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3556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86000" y="3556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Robotics in Manufacturing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524000" y="4572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1" name="Text 9"/>
          <p:cNvSpPr/>
          <p:nvPr/>
        </p:nvSpPr>
        <p:spPr>
          <a:xfrm>
            <a:off x="1524000" y="4572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86000" y="4572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 Line Control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524000" y="5588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1524000" y="5588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286000" y="5588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Autonomous Vehicles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524000" y="6604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7" name="Text 15"/>
          <p:cNvSpPr/>
          <p:nvPr/>
        </p:nvSpPr>
        <p:spPr>
          <a:xfrm>
            <a:off x="1524000" y="6604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286000" y="6604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Advantages &amp; Disadvantages of CCS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2921000"/>
            <a:ext cx="10160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Computer Controlled Systems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889500"/>
            <a:ext cx="889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Understanding the fundamentals of CCS and their role in modern industry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are Computer Controlled Systems?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841500"/>
            <a:ext cx="6858000" cy="501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Computer Controlled System (CCS)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a system where a computer or microprocessor manages, directs, or regulates the behavior of other devices using control loops and algorithms.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Automated decision-making, real-time processing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Precision control with feedback loops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CNC machines, traffic systems, smart homes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36000" y="1841500"/>
            <a:ext cx="6350000" cy="482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pic>
        <p:nvPicPr>
          <p:cNvPr id="6" name="Image 0" descr="https://kimi-img.moonshot.cn/pub/slides/okc/nzffcm4kpdkvi/mnt/agents/output/ccs-week11/images/6_Control_System_Block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890000" y="2095500"/>
            <a:ext cx="5842000" cy="2540000"/>
          </a:xfrm>
          <a:prstGeom prst="roundRect">
            <a:avLst>
              <a:gd name="adj" fmla="val 6000"/>
            </a:avLst>
          </a:prstGeom>
        </p:spPr>
      </p:pic>
      <p:sp>
        <p:nvSpPr>
          <p:cNvPr id="7" name="Text 4"/>
          <p:cNvSpPr/>
          <p:nvPr/>
        </p:nvSpPr>
        <p:spPr>
          <a:xfrm>
            <a:off x="8890000" y="48260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Closed-Loop Control System Block Diagram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890000" y="53086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Hierarchy of CCS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890000" y="5715000"/>
            <a:ext cx="584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CCS → Industrial Control → Embedded Systems → Robotics → Autonomous Systems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270000" y="6985000"/>
            <a:ext cx="13716000" cy="1016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78000" y="7175500"/>
            <a:ext cx="2286000" cy="6350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12" name="Text 9"/>
          <p:cNvSpPr/>
          <p:nvPr/>
        </p:nvSpPr>
        <p:spPr>
          <a:xfrm>
            <a:off x="1778000" y="71755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Sensors (Input)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191000" y="7429500"/>
            <a:ext cx="762000" cy="0"/>
          </a:xfrm>
          <a:prstGeom prst="straightConnector1">
            <a:avLst/>
          </a:prstGeom>
          <a:noFill/>
          <a:ln w="25400">
            <a:solidFill>
              <a:srgbClr val="2E5E8A"/>
            </a:solidFill>
            <a:prstDash val="solid"/>
            <a:headEnd type="none"/>
            <a:tailEnd type="arrow"/>
          </a:ln>
        </p:spPr>
      </p:sp>
      <p:sp>
        <p:nvSpPr>
          <p:cNvPr id="14" name="Shape 11"/>
          <p:cNvSpPr/>
          <p:nvPr/>
        </p:nvSpPr>
        <p:spPr>
          <a:xfrm>
            <a:off x="5080000" y="7175500"/>
            <a:ext cx="2540000" cy="6350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15" name="Text 12"/>
          <p:cNvSpPr/>
          <p:nvPr/>
        </p:nvSpPr>
        <p:spPr>
          <a:xfrm>
            <a:off x="5080000" y="71755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Controller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747000" y="7429500"/>
            <a:ext cx="762000" cy="0"/>
          </a:xfrm>
          <a:prstGeom prst="straightConnector1">
            <a:avLst/>
          </a:prstGeom>
          <a:noFill/>
          <a:ln w="25400">
            <a:solidFill>
              <a:srgbClr val="FF7F50"/>
            </a:solidFill>
            <a:prstDash val="solid"/>
            <a:headEnd type="none"/>
            <a:tailEnd type="arrow"/>
          </a:ln>
        </p:spPr>
      </p:sp>
      <p:sp>
        <p:nvSpPr>
          <p:cNvPr id="17" name="Shape 14"/>
          <p:cNvSpPr/>
          <p:nvPr/>
        </p:nvSpPr>
        <p:spPr>
          <a:xfrm>
            <a:off x="8636000" y="7175500"/>
            <a:ext cx="2540000" cy="6350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18" name="Text 15"/>
          <p:cNvSpPr/>
          <p:nvPr/>
        </p:nvSpPr>
        <p:spPr>
          <a:xfrm>
            <a:off x="8636000" y="71755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Actuators (Output)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858000" y="7874000"/>
            <a:ext cx="0" cy="381000"/>
          </a:xfrm>
          <a:prstGeom prst="straightConnector1">
            <a:avLst/>
          </a:prstGeom>
          <a:noFill/>
          <a:ln w="25400">
            <a:solidFill>
              <a:srgbClr val="6B9CBF"/>
            </a:solidFill>
            <a:prstDash val="solid"/>
            <a:headEnd type="arrow"/>
            <a:tailEnd type="none"/>
          </a:ln>
        </p:spPr>
      </p:sp>
      <p:sp>
        <p:nvSpPr>
          <p:cNvPr id="20" name="Text 17"/>
          <p:cNvSpPr/>
          <p:nvPr/>
        </p:nvSpPr>
        <p:spPr>
          <a:xfrm>
            <a:off x="11430000" y="7175500"/>
            <a:ext cx="317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← Feedback Loop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698500"/>
            <a:ext cx="1143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Computer Controlled Systems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4572000" cy="330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51000" y="215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98673" y="276423"/>
                </a:moveTo>
                <a:cubicBezTo>
                  <a:pt x="511076" y="264021"/>
                  <a:pt x="511076" y="243880"/>
                  <a:pt x="498673" y="231477"/>
                </a:cubicBezTo>
                <a:lnTo>
                  <a:pt x="339923" y="72727"/>
                </a:lnTo>
                <a:cubicBezTo>
                  <a:pt x="327521" y="60325"/>
                  <a:pt x="307380" y="60325"/>
                  <a:pt x="294977" y="72727"/>
                </a:cubicBezTo>
                <a:cubicBezTo>
                  <a:pt x="282575" y="85130"/>
                  <a:pt x="282575" y="105271"/>
                  <a:pt x="294977" y="117673"/>
                </a:cubicBezTo>
                <a:lnTo>
                  <a:pt x="399554" y="222250"/>
                </a:lnTo>
                <a:lnTo>
                  <a:pt x="31750" y="222250"/>
                </a:lnTo>
                <a:cubicBezTo>
                  <a:pt x="14188" y="222250"/>
                  <a:pt x="0" y="236438"/>
                  <a:pt x="0" y="254000"/>
                </a:cubicBezTo>
                <a:cubicBezTo>
                  <a:pt x="0" y="271562"/>
                  <a:pt x="14188" y="285750"/>
                  <a:pt x="31750" y="285750"/>
                </a:cubicBezTo>
                <a:lnTo>
                  <a:pt x="399554" y="285750"/>
                </a:lnTo>
                <a:lnTo>
                  <a:pt x="294977" y="390327"/>
                </a:lnTo>
                <a:cubicBezTo>
                  <a:pt x="282575" y="402729"/>
                  <a:pt x="282575" y="422870"/>
                  <a:pt x="294977" y="435273"/>
                </a:cubicBezTo>
                <a:cubicBezTo>
                  <a:pt x="307380" y="447675"/>
                  <a:pt x="327521" y="447675"/>
                  <a:pt x="339923" y="435273"/>
                </a:cubicBezTo>
                <a:lnTo>
                  <a:pt x="498673" y="276523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2159000"/>
            <a:ext cx="330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Open-Loop Systems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51000" y="2794000"/>
            <a:ext cx="3937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No feedback mechanism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Output has no effect on control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Simple but less accurate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Example: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Washing machine timer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23000" y="1905000"/>
            <a:ext cx="4572000" cy="330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04000" y="215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76349" y="190500"/>
                </a:moveTo>
                <a:lnTo>
                  <a:pt x="484187" y="190500"/>
                </a:lnTo>
                <a:cubicBezTo>
                  <a:pt x="497384" y="190500"/>
                  <a:pt x="508000" y="179884"/>
                  <a:pt x="508000" y="166688"/>
                </a:cubicBezTo>
                <a:lnTo>
                  <a:pt x="508000" y="23812"/>
                </a:lnTo>
                <a:cubicBezTo>
                  <a:pt x="508000" y="14188"/>
                  <a:pt x="502245" y="5457"/>
                  <a:pt x="493316" y="1786"/>
                </a:cubicBezTo>
                <a:cubicBezTo>
                  <a:pt x="484386" y="-1885"/>
                  <a:pt x="474166" y="198"/>
                  <a:pt x="467320" y="6945"/>
                </a:cubicBezTo>
                <a:lnTo>
                  <a:pt x="416024" y="58341"/>
                </a:lnTo>
                <a:cubicBezTo>
                  <a:pt x="372070" y="21927"/>
                  <a:pt x="315516" y="0"/>
                  <a:pt x="254000" y="0"/>
                </a:cubicBezTo>
                <a:cubicBezTo>
                  <a:pt x="126008" y="0"/>
                  <a:pt x="20141" y="94655"/>
                  <a:pt x="2580" y="217785"/>
                </a:cubicBezTo>
                <a:cubicBezTo>
                  <a:pt x="99" y="235148"/>
                  <a:pt x="12105" y="251222"/>
                  <a:pt x="29468" y="253702"/>
                </a:cubicBezTo>
                <a:cubicBezTo>
                  <a:pt x="46831" y="256183"/>
                  <a:pt x="62905" y="244078"/>
                  <a:pt x="65385" y="226814"/>
                </a:cubicBezTo>
                <a:cubicBezTo>
                  <a:pt x="78581" y="134441"/>
                  <a:pt x="158055" y="63500"/>
                  <a:pt x="254000" y="63500"/>
                </a:cubicBezTo>
                <a:cubicBezTo>
                  <a:pt x="298053" y="63500"/>
                  <a:pt x="338534" y="78383"/>
                  <a:pt x="370780" y="103485"/>
                </a:cubicBezTo>
                <a:lnTo>
                  <a:pt x="324445" y="149820"/>
                </a:lnTo>
                <a:cubicBezTo>
                  <a:pt x="317599" y="156666"/>
                  <a:pt x="315615" y="166886"/>
                  <a:pt x="319286" y="175816"/>
                </a:cubicBezTo>
                <a:cubicBezTo>
                  <a:pt x="322957" y="184745"/>
                  <a:pt x="331688" y="190500"/>
                  <a:pt x="341313" y="190500"/>
                </a:cubicBezTo>
                <a:lnTo>
                  <a:pt x="476349" y="190500"/>
                </a:lnTo>
                <a:close/>
                <a:moveTo>
                  <a:pt x="505520" y="290215"/>
                </a:moveTo>
                <a:cubicBezTo>
                  <a:pt x="508000" y="272852"/>
                  <a:pt x="495895" y="256778"/>
                  <a:pt x="478631" y="254298"/>
                </a:cubicBezTo>
                <a:cubicBezTo>
                  <a:pt x="461367" y="251817"/>
                  <a:pt x="445195" y="263922"/>
                  <a:pt x="442714" y="281186"/>
                </a:cubicBezTo>
                <a:cubicBezTo>
                  <a:pt x="429518" y="373459"/>
                  <a:pt x="350044" y="444401"/>
                  <a:pt x="254099" y="444401"/>
                </a:cubicBezTo>
                <a:cubicBezTo>
                  <a:pt x="210046" y="444401"/>
                  <a:pt x="169565" y="429518"/>
                  <a:pt x="137319" y="404416"/>
                </a:cubicBezTo>
                <a:lnTo>
                  <a:pt x="183555" y="358180"/>
                </a:lnTo>
                <a:cubicBezTo>
                  <a:pt x="190401" y="351334"/>
                  <a:pt x="192385" y="341114"/>
                  <a:pt x="188714" y="332184"/>
                </a:cubicBezTo>
                <a:cubicBezTo>
                  <a:pt x="185043" y="323255"/>
                  <a:pt x="176312" y="317500"/>
                  <a:pt x="166688" y="317500"/>
                </a:cubicBezTo>
                <a:lnTo>
                  <a:pt x="23812" y="317500"/>
                </a:lnTo>
                <a:cubicBezTo>
                  <a:pt x="10616" y="317500"/>
                  <a:pt x="0" y="328116"/>
                  <a:pt x="0" y="341313"/>
                </a:cubicBezTo>
                <a:lnTo>
                  <a:pt x="0" y="484187"/>
                </a:lnTo>
                <a:cubicBezTo>
                  <a:pt x="0" y="493812"/>
                  <a:pt x="5755" y="502543"/>
                  <a:pt x="14684" y="506214"/>
                </a:cubicBezTo>
                <a:cubicBezTo>
                  <a:pt x="23614" y="509885"/>
                  <a:pt x="33834" y="507802"/>
                  <a:pt x="40680" y="501055"/>
                </a:cubicBezTo>
                <a:lnTo>
                  <a:pt x="92075" y="449659"/>
                </a:lnTo>
                <a:cubicBezTo>
                  <a:pt x="135930" y="486073"/>
                  <a:pt x="192484" y="508000"/>
                  <a:pt x="254000" y="508000"/>
                </a:cubicBezTo>
                <a:cubicBezTo>
                  <a:pt x="381992" y="508000"/>
                  <a:pt x="487859" y="413345"/>
                  <a:pt x="505420" y="290215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7239000" y="2159000"/>
            <a:ext cx="330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Closed-Loop Systems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604000" y="2794000"/>
            <a:ext cx="3937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Uses feedback to adjust output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Compares with desired input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More accurate and stable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Example: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Thermostat, cruise control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176000" y="1905000"/>
            <a:ext cx="3810000" cy="3302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11557000" y="215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90500" y="63500"/>
                </a:moveTo>
                <a:cubicBezTo>
                  <a:pt x="190500" y="45938"/>
                  <a:pt x="204688" y="31750"/>
                  <a:pt x="222250" y="31750"/>
                </a:cubicBezTo>
                <a:lnTo>
                  <a:pt x="285750" y="31750"/>
                </a:lnTo>
                <a:cubicBezTo>
                  <a:pt x="303312" y="31750"/>
                  <a:pt x="317500" y="45938"/>
                  <a:pt x="317500" y="63500"/>
                </a:cubicBezTo>
                <a:lnTo>
                  <a:pt x="317500" y="127000"/>
                </a:lnTo>
                <a:cubicBezTo>
                  <a:pt x="317500" y="144562"/>
                  <a:pt x="303312" y="158750"/>
                  <a:pt x="285750" y="158750"/>
                </a:cubicBezTo>
                <a:lnTo>
                  <a:pt x="277813" y="158750"/>
                </a:lnTo>
                <a:lnTo>
                  <a:pt x="277813" y="222250"/>
                </a:lnTo>
                <a:lnTo>
                  <a:pt x="396875" y="222250"/>
                </a:lnTo>
                <a:cubicBezTo>
                  <a:pt x="436364" y="222250"/>
                  <a:pt x="468313" y="254198"/>
                  <a:pt x="468313" y="293688"/>
                </a:cubicBezTo>
                <a:lnTo>
                  <a:pt x="468313" y="349250"/>
                </a:lnTo>
                <a:lnTo>
                  <a:pt x="476250" y="349250"/>
                </a:lnTo>
                <a:cubicBezTo>
                  <a:pt x="493812" y="349250"/>
                  <a:pt x="508000" y="363438"/>
                  <a:pt x="508000" y="381000"/>
                </a:cubicBezTo>
                <a:lnTo>
                  <a:pt x="508000" y="444500"/>
                </a:lnTo>
                <a:cubicBezTo>
                  <a:pt x="508000" y="462062"/>
                  <a:pt x="493812" y="476250"/>
                  <a:pt x="476250" y="476250"/>
                </a:cubicBezTo>
                <a:lnTo>
                  <a:pt x="412750" y="476250"/>
                </a:lnTo>
                <a:cubicBezTo>
                  <a:pt x="395188" y="476250"/>
                  <a:pt x="381000" y="462062"/>
                  <a:pt x="381000" y="444500"/>
                </a:cubicBezTo>
                <a:lnTo>
                  <a:pt x="381000" y="381000"/>
                </a:lnTo>
                <a:cubicBezTo>
                  <a:pt x="381000" y="363438"/>
                  <a:pt x="395188" y="349250"/>
                  <a:pt x="412750" y="349250"/>
                </a:cubicBezTo>
                <a:lnTo>
                  <a:pt x="420688" y="349250"/>
                </a:lnTo>
                <a:lnTo>
                  <a:pt x="420688" y="293688"/>
                </a:lnTo>
                <a:cubicBezTo>
                  <a:pt x="420688" y="280491"/>
                  <a:pt x="410071" y="269875"/>
                  <a:pt x="396875" y="269875"/>
                </a:cubicBezTo>
                <a:lnTo>
                  <a:pt x="277813" y="269875"/>
                </a:lnTo>
                <a:lnTo>
                  <a:pt x="277813" y="349250"/>
                </a:lnTo>
                <a:lnTo>
                  <a:pt x="285750" y="349250"/>
                </a:lnTo>
                <a:cubicBezTo>
                  <a:pt x="303312" y="349250"/>
                  <a:pt x="317500" y="363438"/>
                  <a:pt x="317500" y="381000"/>
                </a:cubicBezTo>
                <a:lnTo>
                  <a:pt x="317500" y="444500"/>
                </a:lnTo>
                <a:cubicBezTo>
                  <a:pt x="317500" y="462062"/>
                  <a:pt x="303312" y="476250"/>
                  <a:pt x="285750" y="476250"/>
                </a:cubicBezTo>
                <a:lnTo>
                  <a:pt x="222250" y="476250"/>
                </a:lnTo>
                <a:cubicBezTo>
                  <a:pt x="204688" y="476250"/>
                  <a:pt x="190500" y="462062"/>
                  <a:pt x="190500" y="444500"/>
                </a:cubicBezTo>
                <a:lnTo>
                  <a:pt x="190500" y="381000"/>
                </a:lnTo>
                <a:cubicBezTo>
                  <a:pt x="190500" y="363438"/>
                  <a:pt x="204688" y="349250"/>
                  <a:pt x="222250" y="349250"/>
                </a:cubicBezTo>
                <a:lnTo>
                  <a:pt x="230188" y="349250"/>
                </a:lnTo>
                <a:lnTo>
                  <a:pt x="230188" y="269875"/>
                </a:lnTo>
                <a:lnTo>
                  <a:pt x="111125" y="269875"/>
                </a:lnTo>
                <a:cubicBezTo>
                  <a:pt x="97929" y="269875"/>
                  <a:pt x="87313" y="280491"/>
                  <a:pt x="87313" y="293688"/>
                </a:cubicBezTo>
                <a:lnTo>
                  <a:pt x="87313" y="349250"/>
                </a:lnTo>
                <a:lnTo>
                  <a:pt x="95250" y="349250"/>
                </a:lnTo>
                <a:cubicBezTo>
                  <a:pt x="112812" y="349250"/>
                  <a:pt x="127000" y="363438"/>
                  <a:pt x="127000" y="381000"/>
                </a:cubicBezTo>
                <a:lnTo>
                  <a:pt x="127000" y="444500"/>
                </a:lnTo>
                <a:cubicBezTo>
                  <a:pt x="127000" y="462062"/>
                  <a:pt x="112812" y="476250"/>
                  <a:pt x="95250" y="476250"/>
                </a:cubicBezTo>
                <a:lnTo>
                  <a:pt x="31750" y="476250"/>
                </a:lnTo>
                <a:cubicBezTo>
                  <a:pt x="14188" y="476250"/>
                  <a:pt x="0" y="462062"/>
                  <a:pt x="0" y="444500"/>
                </a:cubicBezTo>
                <a:lnTo>
                  <a:pt x="0" y="381000"/>
                </a:lnTo>
                <a:cubicBezTo>
                  <a:pt x="0" y="363438"/>
                  <a:pt x="14188" y="349250"/>
                  <a:pt x="31750" y="349250"/>
                </a:cubicBezTo>
                <a:lnTo>
                  <a:pt x="39688" y="349250"/>
                </a:lnTo>
                <a:lnTo>
                  <a:pt x="39688" y="293688"/>
                </a:lnTo>
                <a:cubicBezTo>
                  <a:pt x="39688" y="254198"/>
                  <a:pt x="71636" y="222250"/>
                  <a:pt x="111125" y="222250"/>
                </a:cubicBezTo>
                <a:lnTo>
                  <a:pt x="230188" y="222250"/>
                </a:lnTo>
                <a:lnTo>
                  <a:pt x="230188" y="158750"/>
                </a:lnTo>
                <a:lnTo>
                  <a:pt x="222250" y="158750"/>
                </a:lnTo>
                <a:cubicBezTo>
                  <a:pt x="204688" y="158750"/>
                  <a:pt x="190500" y="144562"/>
                  <a:pt x="190500" y="127000"/>
                </a:cubicBezTo>
                <a:lnTo>
                  <a:pt x="190500" y="6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2192000" y="21590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Sub-Types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557000" y="2794000"/>
            <a:ext cx="3175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Linear Control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Non-Linear Control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Time-Invariant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Time-Variant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Digital vs Analog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70000" y="55245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Comparison: Open-Loop vs Closed-Loop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6096000"/>
          <a:ext cx="13716000" cy="2032000"/>
        </p:xfrm>
        <a:graphic>
          <a:graphicData uri="http://schemas.openxmlformats.org/drawingml/2006/table">
            <a:tbl>
              <a:tblPr/>
              <a:tblGrid>
                <a:gridCol w="3429000"/>
                <a:gridCol w="5143500"/>
                <a:gridCol w="5143500"/>
              </a:tblGrid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Feature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Open-Loop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Closed-Loop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Feedback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None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Continuous feedback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Accuracy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Lower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Higher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Complexity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Simple, low cost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Complex, higher cost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698500"/>
            <a:ext cx="1270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Components of a CCS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3175000" cy="3048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40000" y="2159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317500" y="39688"/>
                </a:moveTo>
                <a:cubicBezTo>
                  <a:pt x="228424" y="39688"/>
                  <a:pt x="157096" y="85328"/>
                  <a:pt x="105172" y="139650"/>
                </a:cubicBezTo>
                <a:cubicBezTo>
                  <a:pt x="53578" y="193601"/>
                  <a:pt x="19072" y="257969"/>
                  <a:pt x="2646" y="302245"/>
                </a:cubicBezTo>
                <a:cubicBezTo>
                  <a:pt x="-992" y="312043"/>
                  <a:pt x="-992" y="322957"/>
                  <a:pt x="2646" y="332755"/>
                </a:cubicBezTo>
                <a:cubicBezTo>
                  <a:pt x="19072" y="377031"/>
                  <a:pt x="53578" y="441523"/>
                  <a:pt x="105172" y="495350"/>
                </a:cubicBezTo>
                <a:cubicBezTo>
                  <a:pt x="157096" y="549548"/>
                  <a:pt x="228424" y="595313"/>
                  <a:pt x="317500" y="595313"/>
                </a:cubicBezTo>
                <a:cubicBezTo>
                  <a:pt x="406576" y="595313"/>
                  <a:pt x="477904" y="549672"/>
                  <a:pt x="529828" y="495350"/>
                </a:cubicBezTo>
                <a:cubicBezTo>
                  <a:pt x="581422" y="441399"/>
                  <a:pt x="615928" y="377031"/>
                  <a:pt x="632354" y="332755"/>
                </a:cubicBezTo>
                <a:cubicBezTo>
                  <a:pt x="635992" y="322957"/>
                  <a:pt x="635992" y="312043"/>
                  <a:pt x="632354" y="302245"/>
                </a:cubicBezTo>
                <a:cubicBezTo>
                  <a:pt x="615928" y="257969"/>
                  <a:pt x="581422" y="193477"/>
                  <a:pt x="529828" y="139650"/>
                </a:cubicBezTo>
                <a:cubicBezTo>
                  <a:pt x="477904" y="85452"/>
                  <a:pt x="406576" y="39687"/>
                  <a:pt x="317500" y="39687"/>
                </a:cubicBezTo>
                <a:close/>
                <a:moveTo>
                  <a:pt x="158750" y="317500"/>
                </a:moveTo>
                <a:cubicBezTo>
                  <a:pt x="158750" y="218931"/>
                  <a:pt x="229883" y="138906"/>
                  <a:pt x="317500" y="138906"/>
                </a:cubicBezTo>
                <a:cubicBezTo>
                  <a:pt x="405117" y="138906"/>
                  <a:pt x="476250" y="218931"/>
                  <a:pt x="476250" y="317500"/>
                </a:cubicBezTo>
                <a:cubicBezTo>
                  <a:pt x="476250" y="416069"/>
                  <a:pt x="405117" y="496094"/>
                  <a:pt x="317500" y="496094"/>
                </a:cubicBezTo>
                <a:cubicBezTo>
                  <a:pt x="229883" y="496094"/>
                  <a:pt x="158750" y="416069"/>
                  <a:pt x="158750" y="317500"/>
                </a:cubicBezTo>
                <a:close/>
                <a:moveTo>
                  <a:pt x="317500" y="238125"/>
                </a:moveTo>
                <a:cubicBezTo>
                  <a:pt x="317500" y="281905"/>
                  <a:pt x="285860" y="317500"/>
                  <a:pt x="246944" y="317500"/>
                </a:cubicBezTo>
                <a:cubicBezTo>
                  <a:pt x="234266" y="317500"/>
                  <a:pt x="222360" y="313779"/>
                  <a:pt x="211997" y="307082"/>
                </a:cubicBezTo>
                <a:cubicBezTo>
                  <a:pt x="210895" y="320601"/>
                  <a:pt x="211887" y="334491"/>
                  <a:pt x="215194" y="348258"/>
                </a:cubicBezTo>
                <a:cubicBezTo>
                  <a:pt x="230298" y="411758"/>
                  <a:pt x="288396" y="449461"/>
                  <a:pt x="344840" y="432470"/>
                </a:cubicBezTo>
                <a:cubicBezTo>
                  <a:pt x="401285" y="415479"/>
                  <a:pt x="434799" y="350118"/>
                  <a:pt x="419695" y="286618"/>
                </a:cubicBezTo>
                <a:cubicBezTo>
                  <a:pt x="406246" y="229939"/>
                  <a:pt x="358510" y="193849"/>
                  <a:pt x="308240" y="198810"/>
                </a:cubicBezTo>
                <a:cubicBezTo>
                  <a:pt x="314082" y="210344"/>
                  <a:pt x="317500" y="223738"/>
                  <a:pt x="317500" y="238125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2921000"/>
            <a:ext cx="266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Sensors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0500" y="3403600"/>
            <a:ext cx="279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Detect physical quantities and convert to electrical signals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Ex: Thermocouples, LIDAR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87900" y="1905000"/>
            <a:ext cx="3175000" cy="3048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57900" y="2159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218281" y="29766"/>
                </a:moveTo>
                <a:cubicBezTo>
                  <a:pt x="218281" y="13271"/>
                  <a:pt x="205011" y="0"/>
                  <a:pt x="188516" y="0"/>
                </a:cubicBezTo>
                <a:cubicBezTo>
                  <a:pt x="172021" y="0"/>
                  <a:pt x="158750" y="13271"/>
                  <a:pt x="158750" y="29766"/>
                </a:cubicBezTo>
                <a:lnTo>
                  <a:pt x="158750" y="79375"/>
                </a:lnTo>
                <a:cubicBezTo>
                  <a:pt x="114970" y="79375"/>
                  <a:pt x="79375" y="114970"/>
                  <a:pt x="79375" y="158750"/>
                </a:cubicBezTo>
                <a:lnTo>
                  <a:pt x="29766" y="158750"/>
                </a:lnTo>
                <a:cubicBezTo>
                  <a:pt x="13271" y="158750"/>
                  <a:pt x="0" y="172021"/>
                  <a:pt x="0" y="188516"/>
                </a:cubicBezTo>
                <a:cubicBezTo>
                  <a:pt x="0" y="205011"/>
                  <a:pt x="13271" y="218281"/>
                  <a:pt x="29766" y="218281"/>
                </a:cubicBezTo>
                <a:lnTo>
                  <a:pt x="79375" y="218281"/>
                </a:lnTo>
                <a:lnTo>
                  <a:pt x="79375" y="287734"/>
                </a:lnTo>
                <a:lnTo>
                  <a:pt x="29766" y="287734"/>
                </a:lnTo>
                <a:cubicBezTo>
                  <a:pt x="13271" y="287734"/>
                  <a:pt x="0" y="301005"/>
                  <a:pt x="0" y="317500"/>
                </a:cubicBezTo>
                <a:cubicBezTo>
                  <a:pt x="0" y="333995"/>
                  <a:pt x="13271" y="347266"/>
                  <a:pt x="29766" y="347266"/>
                </a:cubicBezTo>
                <a:lnTo>
                  <a:pt x="79375" y="347266"/>
                </a:lnTo>
                <a:lnTo>
                  <a:pt x="79375" y="416719"/>
                </a:lnTo>
                <a:lnTo>
                  <a:pt x="29766" y="416719"/>
                </a:lnTo>
                <a:cubicBezTo>
                  <a:pt x="13271" y="416719"/>
                  <a:pt x="0" y="429989"/>
                  <a:pt x="0" y="446484"/>
                </a:cubicBezTo>
                <a:cubicBezTo>
                  <a:pt x="0" y="462979"/>
                  <a:pt x="13271" y="476250"/>
                  <a:pt x="29766" y="476250"/>
                </a:cubicBezTo>
                <a:lnTo>
                  <a:pt x="79375" y="476250"/>
                </a:lnTo>
                <a:cubicBezTo>
                  <a:pt x="79375" y="520030"/>
                  <a:pt x="114970" y="555625"/>
                  <a:pt x="158750" y="555625"/>
                </a:cubicBezTo>
                <a:lnTo>
                  <a:pt x="158750" y="605234"/>
                </a:lnTo>
                <a:cubicBezTo>
                  <a:pt x="158750" y="621729"/>
                  <a:pt x="172021" y="635000"/>
                  <a:pt x="188516" y="635000"/>
                </a:cubicBezTo>
                <a:cubicBezTo>
                  <a:pt x="205011" y="635000"/>
                  <a:pt x="218281" y="621729"/>
                  <a:pt x="218281" y="605234"/>
                </a:cubicBezTo>
                <a:lnTo>
                  <a:pt x="218281" y="555625"/>
                </a:lnTo>
                <a:lnTo>
                  <a:pt x="287734" y="555625"/>
                </a:lnTo>
                <a:lnTo>
                  <a:pt x="287734" y="605234"/>
                </a:lnTo>
                <a:cubicBezTo>
                  <a:pt x="287734" y="621729"/>
                  <a:pt x="301005" y="635000"/>
                  <a:pt x="317500" y="635000"/>
                </a:cubicBezTo>
                <a:cubicBezTo>
                  <a:pt x="333995" y="635000"/>
                  <a:pt x="347266" y="621729"/>
                  <a:pt x="347266" y="605234"/>
                </a:cubicBezTo>
                <a:lnTo>
                  <a:pt x="347266" y="555625"/>
                </a:lnTo>
                <a:lnTo>
                  <a:pt x="416719" y="555625"/>
                </a:lnTo>
                <a:lnTo>
                  <a:pt x="416719" y="605234"/>
                </a:lnTo>
                <a:cubicBezTo>
                  <a:pt x="416719" y="621729"/>
                  <a:pt x="429989" y="635000"/>
                  <a:pt x="446484" y="635000"/>
                </a:cubicBezTo>
                <a:cubicBezTo>
                  <a:pt x="462979" y="635000"/>
                  <a:pt x="476250" y="621729"/>
                  <a:pt x="476250" y="605234"/>
                </a:cubicBezTo>
                <a:lnTo>
                  <a:pt x="476250" y="555625"/>
                </a:lnTo>
                <a:cubicBezTo>
                  <a:pt x="520030" y="555625"/>
                  <a:pt x="555625" y="520030"/>
                  <a:pt x="555625" y="476250"/>
                </a:cubicBezTo>
                <a:lnTo>
                  <a:pt x="605234" y="476250"/>
                </a:lnTo>
                <a:cubicBezTo>
                  <a:pt x="621729" y="476250"/>
                  <a:pt x="635000" y="462979"/>
                  <a:pt x="635000" y="446484"/>
                </a:cubicBezTo>
                <a:cubicBezTo>
                  <a:pt x="635000" y="429989"/>
                  <a:pt x="621729" y="416719"/>
                  <a:pt x="605234" y="416719"/>
                </a:cubicBezTo>
                <a:lnTo>
                  <a:pt x="555625" y="416719"/>
                </a:lnTo>
                <a:lnTo>
                  <a:pt x="555625" y="347266"/>
                </a:lnTo>
                <a:lnTo>
                  <a:pt x="605234" y="347266"/>
                </a:lnTo>
                <a:cubicBezTo>
                  <a:pt x="621729" y="347266"/>
                  <a:pt x="635000" y="333995"/>
                  <a:pt x="635000" y="317500"/>
                </a:cubicBezTo>
                <a:cubicBezTo>
                  <a:pt x="635000" y="301005"/>
                  <a:pt x="621729" y="287734"/>
                  <a:pt x="605234" y="287734"/>
                </a:cubicBezTo>
                <a:lnTo>
                  <a:pt x="555625" y="287734"/>
                </a:lnTo>
                <a:lnTo>
                  <a:pt x="555625" y="218281"/>
                </a:lnTo>
                <a:lnTo>
                  <a:pt x="605234" y="218281"/>
                </a:lnTo>
                <a:cubicBezTo>
                  <a:pt x="621729" y="218281"/>
                  <a:pt x="635000" y="205011"/>
                  <a:pt x="635000" y="188516"/>
                </a:cubicBezTo>
                <a:cubicBezTo>
                  <a:pt x="635000" y="172021"/>
                  <a:pt x="621729" y="158750"/>
                  <a:pt x="605234" y="158750"/>
                </a:cubicBezTo>
                <a:lnTo>
                  <a:pt x="555625" y="158750"/>
                </a:lnTo>
                <a:cubicBezTo>
                  <a:pt x="555625" y="114970"/>
                  <a:pt x="520030" y="79375"/>
                  <a:pt x="476250" y="79375"/>
                </a:cubicBezTo>
                <a:lnTo>
                  <a:pt x="476250" y="29766"/>
                </a:lnTo>
                <a:cubicBezTo>
                  <a:pt x="476250" y="13271"/>
                  <a:pt x="462979" y="0"/>
                  <a:pt x="446484" y="0"/>
                </a:cubicBezTo>
                <a:cubicBezTo>
                  <a:pt x="429989" y="0"/>
                  <a:pt x="416719" y="13271"/>
                  <a:pt x="416719" y="29766"/>
                </a:cubicBezTo>
                <a:lnTo>
                  <a:pt x="416719" y="79375"/>
                </a:lnTo>
                <a:lnTo>
                  <a:pt x="347266" y="79375"/>
                </a:lnTo>
                <a:lnTo>
                  <a:pt x="347266" y="29766"/>
                </a:lnTo>
                <a:cubicBezTo>
                  <a:pt x="347266" y="13271"/>
                  <a:pt x="333995" y="0"/>
                  <a:pt x="317500" y="0"/>
                </a:cubicBezTo>
                <a:cubicBezTo>
                  <a:pt x="301005" y="0"/>
                  <a:pt x="287734" y="13271"/>
                  <a:pt x="287734" y="29766"/>
                </a:cubicBezTo>
                <a:lnTo>
                  <a:pt x="287734" y="79375"/>
                </a:lnTo>
                <a:lnTo>
                  <a:pt x="218281" y="79375"/>
                </a:lnTo>
                <a:lnTo>
                  <a:pt x="218281" y="29766"/>
                </a:lnTo>
                <a:close/>
                <a:moveTo>
                  <a:pt x="198438" y="158750"/>
                </a:moveTo>
                <a:lnTo>
                  <a:pt x="436563" y="158750"/>
                </a:lnTo>
                <a:cubicBezTo>
                  <a:pt x="458515" y="158750"/>
                  <a:pt x="476250" y="176485"/>
                  <a:pt x="476250" y="198438"/>
                </a:cubicBezTo>
                <a:lnTo>
                  <a:pt x="476250" y="436563"/>
                </a:lnTo>
                <a:cubicBezTo>
                  <a:pt x="476250" y="458515"/>
                  <a:pt x="458515" y="476250"/>
                  <a:pt x="436563" y="476250"/>
                </a:cubicBezTo>
                <a:lnTo>
                  <a:pt x="198438" y="476250"/>
                </a:lnTo>
                <a:cubicBezTo>
                  <a:pt x="176485" y="476250"/>
                  <a:pt x="158750" y="458515"/>
                  <a:pt x="158750" y="436563"/>
                </a:cubicBezTo>
                <a:lnTo>
                  <a:pt x="158750" y="198438"/>
                </a:lnTo>
                <a:cubicBezTo>
                  <a:pt x="158750" y="176485"/>
                  <a:pt x="176485" y="158750"/>
                  <a:pt x="198438" y="158750"/>
                </a:cubicBezTo>
                <a:close/>
                <a:moveTo>
                  <a:pt x="218281" y="218281"/>
                </a:moveTo>
                <a:lnTo>
                  <a:pt x="218281" y="416719"/>
                </a:lnTo>
                <a:lnTo>
                  <a:pt x="416719" y="416719"/>
                </a:lnTo>
                <a:lnTo>
                  <a:pt x="416719" y="218281"/>
                </a:lnTo>
                <a:lnTo>
                  <a:pt x="218281" y="218281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5041900" y="2921000"/>
            <a:ext cx="266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Controller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978400" y="3403600"/>
            <a:ext cx="279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"brain" — processes input and makes decisions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Ex: Arduino, PLC, Raspberry Pi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05800" y="1905000"/>
            <a:ext cx="3175000" cy="3048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575800" y="2159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412651" y="261069"/>
                </a:moveTo>
                <a:cubicBezTo>
                  <a:pt x="424755" y="256977"/>
                  <a:pt x="437455" y="264170"/>
                  <a:pt x="442912" y="278185"/>
                </a:cubicBezTo>
                <a:lnTo>
                  <a:pt x="461367" y="324817"/>
                </a:lnTo>
                <a:cubicBezTo>
                  <a:pt x="471587" y="326554"/>
                  <a:pt x="481608" y="330026"/>
                  <a:pt x="491034" y="334863"/>
                </a:cubicBezTo>
                <a:lnTo>
                  <a:pt x="525760" y="305966"/>
                </a:lnTo>
                <a:cubicBezTo>
                  <a:pt x="536178" y="297284"/>
                  <a:pt x="549970" y="299021"/>
                  <a:pt x="558800" y="310059"/>
                </a:cubicBezTo>
                <a:lnTo>
                  <a:pt x="577850" y="333871"/>
                </a:lnTo>
                <a:cubicBezTo>
                  <a:pt x="586680" y="344909"/>
                  <a:pt x="588070" y="362272"/>
                  <a:pt x="581124" y="375171"/>
                </a:cubicBezTo>
                <a:lnTo>
                  <a:pt x="558006" y="418455"/>
                </a:lnTo>
                <a:cubicBezTo>
                  <a:pt x="559891" y="424284"/>
                  <a:pt x="561578" y="430361"/>
                  <a:pt x="562967" y="436687"/>
                </a:cubicBezTo>
                <a:cubicBezTo>
                  <a:pt x="564356" y="443012"/>
                  <a:pt x="565249" y="449213"/>
                  <a:pt x="565944" y="455538"/>
                </a:cubicBezTo>
                <a:lnTo>
                  <a:pt x="603349" y="478606"/>
                </a:lnTo>
                <a:cubicBezTo>
                  <a:pt x="614561" y="485552"/>
                  <a:pt x="620316" y="501427"/>
                  <a:pt x="617041" y="516434"/>
                </a:cubicBezTo>
                <a:lnTo>
                  <a:pt x="610096" y="548928"/>
                </a:lnTo>
                <a:cubicBezTo>
                  <a:pt x="606822" y="563935"/>
                  <a:pt x="595610" y="574104"/>
                  <a:pt x="583109" y="573112"/>
                </a:cubicBezTo>
                <a:lnTo>
                  <a:pt x="541437" y="569764"/>
                </a:lnTo>
                <a:cubicBezTo>
                  <a:pt x="535186" y="579810"/>
                  <a:pt x="527943" y="589111"/>
                  <a:pt x="519708" y="597049"/>
                </a:cubicBezTo>
                <a:lnTo>
                  <a:pt x="522387" y="649015"/>
                </a:lnTo>
                <a:cubicBezTo>
                  <a:pt x="523180" y="664642"/>
                  <a:pt x="515045" y="678780"/>
                  <a:pt x="503039" y="682749"/>
                </a:cubicBezTo>
                <a:lnTo>
                  <a:pt x="477044" y="691431"/>
                </a:lnTo>
                <a:cubicBezTo>
                  <a:pt x="464939" y="695523"/>
                  <a:pt x="452338" y="688330"/>
                  <a:pt x="446782" y="674315"/>
                </a:cubicBezTo>
                <a:lnTo>
                  <a:pt x="428327" y="627683"/>
                </a:lnTo>
                <a:cubicBezTo>
                  <a:pt x="418108" y="625946"/>
                  <a:pt x="408087" y="622474"/>
                  <a:pt x="398661" y="617637"/>
                </a:cubicBezTo>
                <a:lnTo>
                  <a:pt x="363934" y="646534"/>
                </a:lnTo>
                <a:cubicBezTo>
                  <a:pt x="353516" y="655216"/>
                  <a:pt x="339725" y="653479"/>
                  <a:pt x="330895" y="642441"/>
                </a:cubicBezTo>
                <a:lnTo>
                  <a:pt x="311845" y="618629"/>
                </a:lnTo>
                <a:cubicBezTo>
                  <a:pt x="303014" y="607591"/>
                  <a:pt x="301625" y="590352"/>
                  <a:pt x="308570" y="577329"/>
                </a:cubicBezTo>
                <a:lnTo>
                  <a:pt x="331688" y="533921"/>
                </a:lnTo>
                <a:cubicBezTo>
                  <a:pt x="329803" y="528092"/>
                  <a:pt x="328116" y="522015"/>
                  <a:pt x="326727" y="515689"/>
                </a:cubicBezTo>
                <a:cubicBezTo>
                  <a:pt x="325338" y="509364"/>
                  <a:pt x="324445" y="503039"/>
                  <a:pt x="323751" y="496838"/>
                </a:cubicBezTo>
                <a:lnTo>
                  <a:pt x="286345" y="473770"/>
                </a:lnTo>
                <a:cubicBezTo>
                  <a:pt x="275134" y="466824"/>
                  <a:pt x="269478" y="450949"/>
                  <a:pt x="272653" y="435942"/>
                </a:cubicBezTo>
                <a:lnTo>
                  <a:pt x="279598" y="403448"/>
                </a:lnTo>
                <a:cubicBezTo>
                  <a:pt x="282873" y="388441"/>
                  <a:pt x="294084" y="378271"/>
                  <a:pt x="306586" y="379264"/>
                </a:cubicBezTo>
                <a:lnTo>
                  <a:pt x="348159" y="382612"/>
                </a:lnTo>
                <a:cubicBezTo>
                  <a:pt x="354409" y="372566"/>
                  <a:pt x="361652" y="363265"/>
                  <a:pt x="369887" y="355327"/>
                </a:cubicBezTo>
                <a:lnTo>
                  <a:pt x="367209" y="303485"/>
                </a:lnTo>
                <a:cubicBezTo>
                  <a:pt x="366415" y="287858"/>
                  <a:pt x="374551" y="273720"/>
                  <a:pt x="386556" y="269751"/>
                </a:cubicBezTo>
                <a:lnTo>
                  <a:pt x="412552" y="261069"/>
                </a:lnTo>
                <a:close/>
                <a:moveTo>
                  <a:pt x="444897" y="421680"/>
                </a:moveTo>
                <a:cubicBezTo>
                  <a:pt x="420802" y="421714"/>
                  <a:pt x="401263" y="446194"/>
                  <a:pt x="401290" y="476312"/>
                </a:cubicBezTo>
                <a:cubicBezTo>
                  <a:pt x="401318" y="506430"/>
                  <a:pt x="420902" y="530855"/>
                  <a:pt x="444996" y="530820"/>
                </a:cubicBezTo>
                <a:cubicBezTo>
                  <a:pt x="469091" y="530786"/>
                  <a:pt x="488630" y="506306"/>
                  <a:pt x="488603" y="476188"/>
                </a:cubicBezTo>
                <a:cubicBezTo>
                  <a:pt x="488575" y="446070"/>
                  <a:pt x="468991" y="421645"/>
                  <a:pt x="444897" y="421680"/>
                </a:cubicBezTo>
                <a:close/>
                <a:moveTo>
                  <a:pt x="223143" y="-56431"/>
                </a:moveTo>
                <a:lnTo>
                  <a:pt x="249138" y="-47749"/>
                </a:lnTo>
                <a:cubicBezTo>
                  <a:pt x="261144" y="-43656"/>
                  <a:pt x="269280" y="-29518"/>
                  <a:pt x="268486" y="-14015"/>
                </a:cubicBezTo>
                <a:lnTo>
                  <a:pt x="265807" y="37827"/>
                </a:lnTo>
                <a:cubicBezTo>
                  <a:pt x="274042" y="45765"/>
                  <a:pt x="281285" y="54942"/>
                  <a:pt x="287536" y="65112"/>
                </a:cubicBezTo>
                <a:lnTo>
                  <a:pt x="329208" y="61764"/>
                </a:lnTo>
                <a:cubicBezTo>
                  <a:pt x="341610" y="60771"/>
                  <a:pt x="352921" y="70941"/>
                  <a:pt x="356195" y="85948"/>
                </a:cubicBezTo>
                <a:lnTo>
                  <a:pt x="363141" y="118442"/>
                </a:lnTo>
                <a:cubicBezTo>
                  <a:pt x="366316" y="133449"/>
                  <a:pt x="360660" y="149324"/>
                  <a:pt x="349448" y="156270"/>
                </a:cubicBezTo>
                <a:lnTo>
                  <a:pt x="312043" y="179338"/>
                </a:lnTo>
                <a:cubicBezTo>
                  <a:pt x="311348" y="185663"/>
                  <a:pt x="310356" y="191988"/>
                  <a:pt x="309066" y="198189"/>
                </a:cubicBezTo>
                <a:cubicBezTo>
                  <a:pt x="307777" y="204391"/>
                  <a:pt x="305991" y="210592"/>
                  <a:pt x="304105" y="216421"/>
                </a:cubicBezTo>
                <a:lnTo>
                  <a:pt x="327223" y="259829"/>
                </a:lnTo>
                <a:cubicBezTo>
                  <a:pt x="334169" y="272852"/>
                  <a:pt x="332780" y="290091"/>
                  <a:pt x="323949" y="301129"/>
                </a:cubicBezTo>
                <a:lnTo>
                  <a:pt x="304899" y="324941"/>
                </a:lnTo>
                <a:cubicBezTo>
                  <a:pt x="296069" y="335979"/>
                  <a:pt x="282277" y="337716"/>
                  <a:pt x="271859" y="329034"/>
                </a:cubicBezTo>
                <a:lnTo>
                  <a:pt x="237133" y="300137"/>
                </a:lnTo>
                <a:cubicBezTo>
                  <a:pt x="227707" y="304974"/>
                  <a:pt x="217686" y="308446"/>
                  <a:pt x="207466" y="310183"/>
                </a:cubicBezTo>
                <a:lnTo>
                  <a:pt x="189012" y="356815"/>
                </a:lnTo>
                <a:cubicBezTo>
                  <a:pt x="183455" y="370830"/>
                  <a:pt x="170755" y="377899"/>
                  <a:pt x="158750" y="373931"/>
                </a:cubicBezTo>
                <a:lnTo>
                  <a:pt x="132755" y="365249"/>
                </a:lnTo>
                <a:cubicBezTo>
                  <a:pt x="120650" y="361156"/>
                  <a:pt x="112613" y="347018"/>
                  <a:pt x="113407" y="331515"/>
                </a:cubicBezTo>
                <a:lnTo>
                  <a:pt x="116086" y="279549"/>
                </a:lnTo>
                <a:cubicBezTo>
                  <a:pt x="107851" y="271611"/>
                  <a:pt x="100608" y="262434"/>
                  <a:pt x="94357" y="252264"/>
                </a:cubicBezTo>
                <a:lnTo>
                  <a:pt x="52685" y="255612"/>
                </a:lnTo>
                <a:cubicBezTo>
                  <a:pt x="40283" y="256604"/>
                  <a:pt x="28972" y="246435"/>
                  <a:pt x="25698" y="231428"/>
                </a:cubicBezTo>
                <a:lnTo>
                  <a:pt x="18752" y="198934"/>
                </a:lnTo>
                <a:cubicBezTo>
                  <a:pt x="15577" y="183927"/>
                  <a:pt x="21233" y="168052"/>
                  <a:pt x="32445" y="161106"/>
                </a:cubicBezTo>
                <a:lnTo>
                  <a:pt x="69850" y="138038"/>
                </a:lnTo>
                <a:cubicBezTo>
                  <a:pt x="70545" y="131713"/>
                  <a:pt x="71537" y="125512"/>
                  <a:pt x="72827" y="119187"/>
                </a:cubicBezTo>
                <a:cubicBezTo>
                  <a:pt x="74216" y="112861"/>
                  <a:pt x="75803" y="106784"/>
                  <a:pt x="77788" y="100955"/>
                </a:cubicBezTo>
                <a:lnTo>
                  <a:pt x="54670" y="57671"/>
                </a:lnTo>
                <a:cubicBezTo>
                  <a:pt x="47724" y="44648"/>
                  <a:pt x="49113" y="27409"/>
                  <a:pt x="57944" y="16371"/>
                </a:cubicBezTo>
                <a:lnTo>
                  <a:pt x="76994" y="-7441"/>
                </a:lnTo>
                <a:cubicBezTo>
                  <a:pt x="85824" y="-18479"/>
                  <a:pt x="99616" y="-20216"/>
                  <a:pt x="110034" y="-11534"/>
                </a:cubicBezTo>
                <a:lnTo>
                  <a:pt x="144760" y="17363"/>
                </a:lnTo>
                <a:cubicBezTo>
                  <a:pt x="154186" y="12526"/>
                  <a:pt x="164207" y="9054"/>
                  <a:pt x="174427" y="7317"/>
                </a:cubicBezTo>
                <a:lnTo>
                  <a:pt x="192881" y="-39315"/>
                </a:lnTo>
                <a:cubicBezTo>
                  <a:pt x="198437" y="-53330"/>
                  <a:pt x="211038" y="-60399"/>
                  <a:pt x="223143" y="-56431"/>
                </a:cubicBezTo>
                <a:close/>
                <a:moveTo>
                  <a:pt x="190897" y="104180"/>
                </a:moveTo>
                <a:cubicBezTo>
                  <a:pt x="166802" y="104180"/>
                  <a:pt x="147241" y="128632"/>
                  <a:pt x="147241" y="158750"/>
                </a:cubicBezTo>
                <a:cubicBezTo>
                  <a:pt x="147241" y="188868"/>
                  <a:pt x="166802" y="213320"/>
                  <a:pt x="190897" y="213320"/>
                </a:cubicBezTo>
                <a:cubicBezTo>
                  <a:pt x="214991" y="213320"/>
                  <a:pt x="234553" y="188868"/>
                  <a:pt x="234553" y="158750"/>
                </a:cubicBezTo>
                <a:cubicBezTo>
                  <a:pt x="234553" y="128632"/>
                  <a:pt x="214991" y="104180"/>
                  <a:pt x="190897" y="10418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4" name="Text 12"/>
          <p:cNvSpPr/>
          <p:nvPr/>
        </p:nvSpPr>
        <p:spPr>
          <a:xfrm>
            <a:off x="8559800" y="2921000"/>
            <a:ext cx="266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Actuators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96300" y="3403600"/>
            <a:ext cx="279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Convert electrical signals to physical action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Ex: Motors, Servo Valves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811000" y="1905000"/>
            <a:ext cx="3175000" cy="3048000"/>
          </a:xfrm>
          <a:prstGeom prst="roundRect">
            <a:avLst>
              <a:gd name="adj" fmla="val 10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7" name="Shape 15"/>
          <p:cNvSpPr/>
          <p:nvPr/>
        </p:nvSpPr>
        <p:spPr>
          <a:xfrm>
            <a:off x="13081000" y="2159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273403" y="109141"/>
                </a:moveTo>
                <a:lnTo>
                  <a:pt x="361597" y="109141"/>
                </a:lnTo>
                <a:lnTo>
                  <a:pt x="361597" y="168672"/>
                </a:lnTo>
                <a:lnTo>
                  <a:pt x="273403" y="168672"/>
                </a:lnTo>
                <a:lnTo>
                  <a:pt x="273403" y="109141"/>
                </a:lnTo>
                <a:close/>
                <a:moveTo>
                  <a:pt x="264583" y="39688"/>
                </a:moveTo>
                <a:cubicBezTo>
                  <a:pt x="235369" y="39688"/>
                  <a:pt x="211667" y="66353"/>
                  <a:pt x="211667" y="99219"/>
                </a:cubicBezTo>
                <a:lnTo>
                  <a:pt x="211667" y="178594"/>
                </a:lnTo>
                <a:cubicBezTo>
                  <a:pt x="211667" y="211460"/>
                  <a:pt x="235369" y="238125"/>
                  <a:pt x="264583" y="238125"/>
                </a:cubicBezTo>
                <a:lnTo>
                  <a:pt x="282222" y="238125"/>
                </a:lnTo>
                <a:lnTo>
                  <a:pt x="282222" y="277813"/>
                </a:lnTo>
                <a:lnTo>
                  <a:pt x="35278" y="277813"/>
                </a:lnTo>
                <a:cubicBezTo>
                  <a:pt x="15765" y="277813"/>
                  <a:pt x="0" y="295548"/>
                  <a:pt x="0" y="317500"/>
                </a:cubicBezTo>
                <a:cubicBezTo>
                  <a:pt x="0" y="339452"/>
                  <a:pt x="15765" y="357188"/>
                  <a:pt x="35278" y="357188"/>
                </a:cubicBezTo>
                <a:lnTo>
                  <a:pt x="141111" y="357188"/>
                </a:lnTo>
                <a:lnTo>
                  <a:pt x="141111" y="396875"/>
                </a:lnTo>
                <a:lnTo>
                  <a:pt x="123472" y="396875"/>
                </a:lnTo>
                <a:cubicBezTo>
                  <a:pt x="94258" y="396875"/>
                  <a:pt x="70556" y="423540"/>
                  <a:pt x="70556" y="456406"/>
                </a:cubicBezTo>
                <a:lnTo>
                  <a:pt x="70556" y="535781"/>
                </a:lnTo>
                <a:cubicBezTo>
                  <a:pt x="70556" y="568647"/>
                  <a:pt x="94258" y="595313"/>
                  <a:pt x="123472" y="595313"/>
                </a:cubicBezTo>
                <a:lnTo>
                  <a:pt x="229306" y="595313"/>
                </a:lnTo>
                <a:cubicBezTo>
                  <a:pt x="258520" y="595313"/>
                  <a:pt x="282222" y="568647"/>
                  <a:pt x="282222" y="535781"/>
                </a:cubicBezTo>
                <a:lnTo>
                  <a:pt x="282222" y="456406"/>
                </a:lnTo>
                <a:cubicBezTo>
                  <a:pt x="282222" y="423540"/>
                  <a:pt x="258520" y="396875"/>
                  <a:pt x="229306" y="396875"/>
                </a:cubicBezTo>
                <a:lnTo>
                  <a:pt x="211667" y="396875"/>
                </a:lnTo>
                <a:lnTo>
                  <a:pt x="211667" y="357188"/>
                </a:lnTo>
                <a:lnTo>
                  <a:pt x="423333" y="357188"/>
                </a:lnTo>
                <a:lnTo>
                  <a:pt x="423333" y="396875"/>
                </a:lnTo>
                <a:lnTo>
                  <a:pt x="405694" y="396875"/>
                </a:lnTo>
                <a:cubicBezTo>
                  <a:pt x="376480" y="396875"/>
                  <a:pt x="352778" y="423540"/>
                  <a:pt x="352778" y="456406"/>
                </a:cubicBezTo>
                <a:lnTo>
                  <a:pt x="352778" y="535781"/>
                </a:lnTo>
                <a:cubicBezTo>
                  <a:pt x="352778" y="568647"/>
                  <a:pt x="376480" y="595313"/>
                  <a:pt x="405694" y="595313"/>
                </a:cubicBezTo>
                <a:lnTo>
                  <a:pt x="511528" y="595313"/>
                </a:lnTo>
                <a:cubicBezTo>
                  <a:pt x="540742" y="595313"/>
                  <a:pt x="564444" y="568647"/>
                  <a:pt x="564444" y="535781"/>
                </a:cubicBezTo>
                <a:lnTo>
                  <a:pt x="564444" y="456406"/>
                </a:lnTo>
                <a:cubicBezTo>
                  <a:pt x="564444" y="423540"/>
                  <a:pt x="540742" y="396875"/>
                  <a:pt x="511528" y="396875"/>
                </a:cubicBezTo>
                <a:lnTo>
                  <a:pt x="493889" y="396875"/>
                </a:lnTo>
                <a:lnTo>
                  <a:pt x="493889" y="357188"/>
                </a:lnTo>
                <a:lnTo>
                  <a:pt x="599722" y="357188"/>
                </a:lnTo>
                <a:cubicBezTo>
                  <a:pt x="619235" y="357188"/>
                  <a:pt x="635000" y="339452"/>
                  <a:pt x="635000" y="317500"/>
                </a:cubicBezTo>
                <a:cubicBezTo>
                  <a:pt x="635000" y="295548"/>
                  <a:pt x="619235" y="277813"/>
                  <a:pt x="599722" y="277813"/>
                </a:cubicBezTo>
                <a:lnTo>
                  <a:pt x="352778" y="277813"/>
                </a:lnTo>
                <a:lnTo>
                  <a:pt x="352778" y="238125"/>
                </a:lnTo>
                <a:lnTo>
                  <a:pt x="370417" y="238125"/>
                </a:lnTo>
                <a:cubicBezTo>
                  <a:pt x="399631" y="238125"/>
                  <a:pt x="423333" y="211460"/>
                  <a:pt x="423333" y="178594"/>
                </a:cubicBezTo>
                <a:lnTo>
                  <a:pt x="423333" y="99219"/>
                </a:lnTo>
                <a:cubicBezTo>
                  <a:pt x="423333" y="66353"/>
                  <a:pt x="399631" y="39688"/>
                  <a:pt x="370417" y="39688"/>
                </a:cubicBezTo>
                <a:lnTo>
                  <a:pt x="264583" y="39688"/>
                </a:lnTo>
                <a:close/>
                <a:moveTo>
                  <a:pt x="493889" y="466328"/>
                </a:moveTo>
                <a:lnTo>
                  <a:pt x="502708" y="466328"/>
                </a:lnTo>
                <a:lnTo>
                  <a:pt x="502708" y="525859"/>
                </a:lnTo>
                <a:lnTo>
                  <a:pt x="414514" y="525859"/>
                </a:lnTo>
                <a:lnTo>
                  <a:pt x="414514" y="466328"/>
                </a:lnTo>
                <a:lnTo>
                  <a:pt x="493889" y="466328"/>
                </a:lnTo>
                <a:close/>
                <a:moveTo>
                  <a:pt x="211667" y="466328"/>
                </a:moveTo>
                <a:lnTo>
                  <a:pt x="220486" y="466328"/>
                </a:lnTo>
                <a:lnTo>
                  <a:pt x="220486" y="525859"/>
                </a:lnTo>
                <a:lnTo>
                  <a:pt x="132292" y="525859"/>
                </a:lnTo>
                <a:lnTo>
                  <a:pt x="132292" y="466328"/>
                </a:lnTo>
                <a:lnTo>
                  <a:pt x="211667" y="46632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2065000" y="2921000"/>
            <a:ext cx="266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Network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001500" y="3403600"/>
            <a:ext cx="279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Connects all components for data exchange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D0E0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Ex: Fieldbus, Ethernet/IP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70000" y="5270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System Flow Diagram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651000" y="5969000"/>
            <a:ext cx="2032000" cy="7620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22" name="Text 20"/>
          <p:cNvSpPr/>
          <p:nvPr/>
        </p:nvSpPr>
        <p:spPr>
          <a:xfrm>
            <a:off x="1651000" y="5969000"/>
            <a:ext cx="203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Input (Sensors)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810000" y="6324600"/>
            <a:ext cx="1016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4953000" y="5969000"/>
            <a:ext cx="2286000" cy="7620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25" name="Text 23"/>
          <p:cNvSpPr/>
          <p:nvPr/>
        </p:nvSpPr>
        <p:spPr>
          <a:xfrm>
            <a:off x="4953000" y="5969000"/>
            <a:ext cx="228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Controller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366000" y="6324600"/>
            <a:ext cx="1016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8509000" y="5969000"/>
            <a:ext cx="2286000" cy="7620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28" name="Text 26"/>
          <p:cNvSpPr/>
          <p:nvPr/>
        </p:nvSpPr>
        <p:spPr>
          <a:xfrm>
            <a:off x="8509000" y="5969000"/>
            <a:ext cx="228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Output (Actuators)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096000" y="6858000"/>
            <a:ext cx="0" cy="635000"/>
          </a:xfrm>
          <a:prstGeom prst="straightConnector1">
            <a:avLst/>
          </a:prstGeom>
          <a:noFill/>
          <a:ln w="25400">
            <a:solidFill>
              <a:srgbClr val="6B9CBF"/>
            </a:solidFill>
            <a:prstDash val="dash"/>
            <a:headEnd type="arrow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6350000" y="6985000"/>
            <a:ext cx="190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Feedback Loop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651000" y="7493000"/>
            <a:ext cx="9144000" cy="0"/>
          </a:xfrm>
          <a:prstGeom prst="straightConnector1">
            <a:avLst/>
          </a:prstGeom>
          <a:noFill/>
          <a:ln w="25400">
            <a:solidFill>
              <a:srgbClr val="6B9CBF"/>
            </a:solidFill>
            <a:prstDash val="dash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1651000" y="6858000"/>
            <a:ext cx="0" cy="635000"/>
          </a:xfrm>
          <a:prstGeom prst="straightConnector1">
            <a:avLst/>
          </a:prstGeom>
          <a:noFill/>
          <a:ln w="25400">
            <a:solidFill>
              <a:srgbClr val="6B9CBF"/>
            </a:solidFill>
            <a:prstDash val="dash"/>
            <a:headEnd type="none"/>
            <a:tailEnd type="arrow"/>
          </a:ln>
        </p:spPr>
      </p:sp>
      <p:sp>
        <p:nvSpPr>
          <p:cNvPr id="33" name="Text 31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Robotics in Manufacturing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How robotic systems transform modern manufacturing processes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Robotics in Manufacturing — Overview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841500"/>
            <a:ext cx="7112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Industrial robotics refers to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programmable, multi-functional manipulators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designed to move materials, parts, or tools through programmed motions.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Applications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Welding, painting, assembly, packaging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Quality inspection, material handling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Major Manufacturers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FANUC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(Japan),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ABB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(Switzerland)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KUKA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(Germany),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Universal Robots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Universal Robots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(Denmark)</a:t>
            </a:r>
            <a:endParaRPr lang="en-US" sz="1800" dirty="0"/>
          </a:p>
        </p:txBody>
      </p:sp>
      <p:pic>
        <p:nvPicPr>
          <p:cNvPr id="5" name="Image 0" descr="https://kimi-img.moonshot.cn/pub/slides/okc/nzffcm4kpdkvi/mnt/agents/output/ccs-week11/images/7_Industrial_Robot_Arms_Throwing_Spark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890000" y="1841500"/>
            <a:ext cx="6096000" cy="3302000"/>
          </a:xfrm>
          <a:prstGeom prst="roundRect">
            <a:avLst>
              <a:gd name="adj" fmla="val 800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8890000" y="5334000"/>
            <a:ext cx="6096000" cy="1587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0" y="5461000"/>
            <a:ext cx="254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$43.8B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9144000" y="6223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Market Value (2024)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938000" y="5461000"/>
            <a:ext cx="279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$81.4B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11938000" y="62230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Projected (2030)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Industrial Robots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4318000" cy="304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4000" y="203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51460" y="0"/>
                </a:moveTo>
                <a:cubicBezTo>
                  <a:pt x="251460" y="-15806"/>
                  <a:pt x="241244" y="-28575"/>
                  <a:pt x="228600" y="-28575"/>
                </a:cubicBezTo>
                <a:cubicBezTo>
                  <a:pt x="215956" y="-28575"/>
                  <a:pt x="205740" y="-15806"/>
                  <a:pt x="205740" y="0"/>
                </a:cubicBezTo>
                <a:lnTo>
                  <a:pt x="205740" y="57150"/>
                </a:lnTo>
                <a:lnTo>
                  <a:pt x="137160" y="57150"/>
                </a:lnTo>
                <a:cubicBezTo>
                  <a:pt x="99298" y="57150"/>
                  <a:pt x="68580" y="95548"/>
                  <a:pt x="68580" y="142875"/>
                </a:cubicBezTo>
                <a:lnTo>
                  <a:pt x="68580" y="342900"/>
                </a:lnTo>
                <a:cubicBezTo>
                  <a:pt x="68580" y="390227"/>
                  <a:pt x="99298" y="428625"/>
                  <a:pt x="137160" y="428625"/>
                </a:cubicBezTo>
                <a:lnTo>
                  <a:pt x="320040" y="428625"/>
                </a:lnTo>
                <a:cubicBezTo>
                  <a:pt x="357902" y="428625"/>
                  <a:pt x="388620" y="390227"/>
                  <a:pt x="388620" y="342900"/>
                </a:cubicBezTo>
                <a:lnTo>
                  <a:pt x="388620" y="142875"/>
                </a:lnTo>
                <a:cubicBezTo>
                  <a:pt x="388620" y="95548"/>
                  <a:pt x="357902" y="57150"/>
                  <a:pt x="320040" y="57150"/>
                </a:cubicBezTo>
                <a:lnTo>
                  <a:pt x="251460" y="57150"/>
                </a:lnTo>
                <a:lnTo>
                  <a:pt x="251460" y="0"/>
                </a:lnTo>
                <a:close/>
                <a:moveTo>
                  <a:pt x="114300" y="328613"/>
                </a:moveTo>
                <a:cubicBezTo>
                  <a:pt x="114300" y="316736"/>
                  <a:pt x="121944" y="307181"/>
                  <a:pt x="131445" y="307181"/>
                </a:cubicBezTo>
                <a:lnTo>
                  <a:pt x="154305" y="307181"/>
                </a:lnTo>
                <a:cubicBezTo>
                  <a:pt x="163806" y="307181"/>
                  <a:pt x="171450" y="316736"/>
                  <a:pt x="171450" y="328613"/>
                </a:cubicBezTo>
                <a:cubicBezTo>
                  <a:pt x="171450" y="340489"/>
                  <a:pt x="163806" y="350044"/>
                  <a:pt x="154305" y="350044"/>
                </a:cubicBezTo>
                <a:lnTo>
                  <a:pt x="131445" y="350044"/>
                </a:lnTo>
                <a:cubicBezTo>
                  <a:pt x="121944" y="350044"/>
                  <a:pt x="114300" y="340489"/>
                  <a:pt x="114300" y="328613"/>
                </a:cubicBezTo>
                <a:close/>
                <a:moveTo>
                  <a:pt x="200025" y="328613"/>
                </a:moveTo>
                <a:cubicBezTo>
                  <a:pt x="200025" y="316736"/>
                  <a:pt x="207669" y="307181"/>
                  <a:pt x="217170" y="307181"/>
                </a:cubicBezTo>
                <a:lnTo>
                  <a:pt x="240030" y="307181"/>
                </a:lnTo>
                <a:cubicBezTo>
                  <a:pt x="249531" y="307181"/>
                  <a:pt x="257175" y="316736"/>
                  <a:pt x="257175" y="328613"/>
                </a:cubicBezTo>
                <a:cubicBezTo>
                  <a:pt x="257175" y="340489"/>
                  <a:pt x="249531" y="350044"/>
                  <a:pt x="240030" y="350044"/>
                </a:cubicBezTo>
                <a:lnTo>
                  <a:pt x="217170" y="350044"/>
                </a:lnTo>
                <a:cubicBezTo>
                  <a:pt x="207669" y="350044"/>
                  <a:pt x="200025" y="340489"/>
                  <a:pt x="200025" y="328613"/>
                </a:cubicBezTo>
                <a:close/>
                <a:moveTo>
                  <a:pt x="285750" y="328613"/>
                </a:moveTo>
                <a:cubicBezTo>
                  <a:pt x="285750" y="316736"/>
                  <a:pt x="293394" y="307181"/>
                  <a:pt x="302895" y="307181"/>
                </a:cubicBezTo>
                <a:lnTo>
                  <a:pt x="325755" y="307181"/>
                </a:lnTo>
                <a:cubicBezTo>
                  <a:pt x="335256" y="307181"/>
                  <a:pt x="342900" y="316736"/>
                  <a:pt x="342900" y="328613"/>
                </a:cubicBezTo>
                <a:cubicBezTo>
                  <a:pt x="342900" y="340489"/>
                  <a:pt x="335256" y="350044"/>
                  <a:pt x="325755" y="350044"/>
                </a:cubicBezTo>
                <a:lnTo>
                  <a:pt x="302895" y="350044"/>
                </a:lnTo>
                <a:cubicBezTo>
                  <a:pt x="293394" y="350044"/>
                  <a:pt x="285750" y="340489"/>
                  <a:pt x="285750" y="328613"/>
                </a:cubicBezTo>
                <a:close/>
                <a:moveTo>
                  <a:pt x="160020" y="157163"/>
                </a:moveTo>
                <a:cubicBezTo>
                  <a:pt x="178945" y="157163"/>
                  <a:pt x="194310" y="176369"/>
                  <a:pt x="194310" y="200025"/>
                </a:cubicBezTo>
                <a:cubicBezTo>
                  <a:pt x="194310" y="223681"/>
                  <a:pt x="178945" y="242888"/>
                  <a:pt x="160020" y="242888"/>
                </a:cubicBezTo>
                <a:cubicBezTo>
                  <a:pt x="141095" y="242888"/>
                  <a:pt x="125730" y="223681"/>
                  <a:pt x="125730" y="200025"/>
                </a:cubicBezTo>
                <a:cubicBezTo>
                  <a:pt x="125730" y="176369"/>
                  <a:pt x="141095" y="157163"/>
                  <a:pt x="160020" y="157163"/>
                </a:cubicBezTo>
                <a:close/>
                <a:moveTo>
                  <a:pt x="262890" y="200025"/>
                </a:moveTo>
                <a:cubicBezTo>
                  <a:pt x="262890" y="176369"/>
                  <a:pt x="278255" y="157163"/>
                  <a:pt x="297180" y="157163"/>
                </a:cubicBezTo>
                <a:cubicBezTo>
                  <a:pt x="316105" y="157163"/>
                  <a:pt x="331470" y="176369"/>
                  <a:pt x="331470" y="200025"/>
                </a:cubicBezTo>
                <a:cubicBezTo>
                  <a:pt x="331470" y="223681"/>
                  <a:pt x="316105" y="242888"/>
                  <a:pt x="297180" y="242888"/>
                </a:cubicBezTo>
                <a:cubicBezTo>
                  <a:pt x="278255" y="242888"/>
                  <a:pt x="262890" y="223681"/>
                  <a:pt x="262890" y="200025"/>
                </a:cubicBezTo>
                <a:close/>
                <a:moveTo>
                  <a:pt x="45720" y="200025"/>
                </a:moveTo>
                <a:cubicBezTo>
                  <a:pt x="45720" y="184219"/>
                  <a:pt x="35504" y="171450"/>
                  <a:pt x="22860" y="171450"/>
                </a:cubicBezTo>
                <a:cubicBezTo>
                  <a:pt x="10216" y="171450"/>
                  <a:pt x="0" y="184219"/>
                  <a:pt x="0" y="200025"/>
                </a:cubicBezTo>
                <a:lnTo>
                  <a:pt x="0" y="285750"/>
                </a:lnTo>
                <a:cubicBezTo>
                  <a:pt x="0" y="301556"/>
                  <a:pt x="10216" y="314325"/>
                  <a:pt x="22860" y="314325"/>
                </a:cubicBezTo>
                <a:cubicBezTo>
                  <a:pt x="35504" y="314325"/>
                  <a:pt x="45720" y="301556"/>
                  <a:pt x="45720" y="285750"/>
                </a:cubicBezTo>
                <a:lnTo>
                  <a:pt x="45720" y="200025"/>
                </a:lnTo>
                <a:close/>
                <a:moveTo>
                  <a:pt x="434340" y="171450"/>
                </a:moveTo>
                <a:cubicBezTo>
                  <a:pt x="421696" y="171450"/>
                  <a:pt x="411480" y="184219"/>
                  <a:pt x="411480" y="200025"/>
                </a:cubicBezTo>
                <a:lnTo>
                  <a:pt x="411480" y="285750"/>
                </a:lnTo>
                <a:cubicBezTo>
                  <a:pt x="411480" y="301556"/>
                  <a:pt x="421696" y="314325"/>
                  <a:pt x="434340" y="314325"/>
                </a:cubicBezTo>
                <a:cubicBezTo>
                  <a:pt x="446984" y="314325"/>
                  <a:pt x="457200" y="301556"/>
                  <a:pt x="457200" y="285750"/>
                </a:cubicBezTo>
                <a:lnTo>
                  <a:pt x="457200" y="200025"/>
                </a:lnTo>
                <a:cubicBezTo>
                  <a:pt x="457200" y="184219"/>
                  <a:pt x="446984" y="171450"/>
                  <a:pt x="434340" y="17145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095500" y="2032000"/>
            <a:ext cx="330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Articulated Robots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24000" y="2603500"/>
            <a:ext cx="3810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Multiple rotary joints (like a human arm)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6-axis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most common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Used for welding, assembly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Ex: FANUC M-20iD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42000" y="1841500"/>
            <a:ext cx="4318000" cy="304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96000" y="203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48781" y="8394"/>
                </a:moveTo>
                <a:cubicBezTo>
                  <a:pt x="237619" y="-2768"/>
                  <a:pt x="219492" y="-2768"/>
                  <a:pt x="208330" y="8394"/>
                </a:cubicBezTo>
                <a:lnTo>
                  <a:pt x="151180" y="65544"/>
                </a:lnTo>
                <a:cubicBezTo>
                  <a:pt x="140018" y="76706"/>
                  <a:pt x="140018" y="94833"/>
                  <a:pt x="151180" y="105995"/>
                </a:cubicBezTo>
                <a:cubicBezTo>
                  <a:pt x="162342" y="117157"/>
                  <a:pt x="180469" y="117157"/>
                  <a:pt x="191631" y="105995"/>
                </a:cubicBezTo>
                <a:lnTo>
                  <a:pt x="200025" y="97601"/>
                </a:lnTo>
                <a:lnTo>
                  <a:pt x="200025" y="200025"/>
                </a:lnTo>
                <a:lnTo>
                  <a:pt x="97601" y="200025"/>
                </a:lnTo>
                <a:lnTo>
                  <a:pt x="105995" y="191631"/>
                </a:lnTo>
                <a:cubicBezTo>
                  <a:pt x="117158" y="180469"/>
                  <a:pt x="117158" y="162342"/>
                  <a:pt x="105995" y="151180"/>
                </a:cubicBezTo>
                <a:cubicBezTo>
                  <a:pt x="94833" y="140018"/>
                  <a:pt x="76706" y="140018"/>
                  <a:pt x="65544" y="151180"/>
                </a:cubicBezTo>
                <a:lnTo>
                  <a:pt x="8394" y="208330"/>
                </a:lnTo>
                <a:cubicBezTo>
                  <a:pt x="-2768" y="219492"/>
                  <a:pt x="-2768" y="237619"/>
                  <a:pt x="8394" y="248781"/>
                </a:cubicBezTo>
                <a:lnTo>
                  <a:pt x="65544" y="305931"/>
                </a:lnTo>
                <a:cubicBezTo>
                  <a:pt x="76706" y="317093"/>
                  <a:pt x="94833" y="317093"/>
                  <a:pt x="105995" y="305931"/>
                </a:cubicBezTo>
                <a:cubicBezTo>
                  <a:pt x="117158" y="294769"/>
                  <a:pt x="117158" y="276642"/>
                  <a:pt x="105995" y="265480"/>
                </a:cubicBezTo>
                <a:lnTo>
                  <a:pt x="97601" y="257086"/>
                </a:lnTo>
                <a:lnTo>
                  <a:pt x="200025" y="257086"/>
                </a:lnTo>
                <a:lnTo>
                  <a:pt x="200025" y="359509"/>
                </a:lnTo>
                <a:lnTo>
                  <a:pt x="191631" y="351115"/>
                </a:lnTo>
                <a:cubicBezTo>
                  <a:pt x="180469" y="339953"/>
                  <a:pt x="162342" y="339953"/>
                  <a:pt x="151180" y="351115"/>
                </a:cubicBezTo>
                <a:cubicBezTo>
                  <a:pt x="140018" y="362277"/>
                  <a:pt x="140018" y="380405"/>
                  <a:pt x="151180" y="391567"/>
                </a:cubicBezTo>
                <a:lnTo>
                  <a:pt x="208330" y="448717"/>
                </a:lnTo>
                <a:cubicBezTo>
                  <a:pt x="219492" y="459879"/>
                  <a:pt x="237619" y="459879"/>
                  <a:pt x="248781" y="448717"/>
                </a:cubicBezTo>
                <a:lnTo>
                  <a:pt x="305931" y="391567"/>
                </a:lnTo>
                <a:cubicBezTo>
                  <a:pt x="317093" y="380405"/>
                  <a:pt x="317093" y="362277"/>
                  <a:pt x="305931" y="351115"/>
                </a:cubicBezTo>
                <a:cubicBezTo>
                  <a:pt x="294769" y="339953"/>
                  <a:pt x="276642" y="339953"/>
                  <a:pt x="265480" y="351115"/>
                </a:cubicBezTo>
                <a:lnTo>
                  <a:pt x="257086" y="359509"/>
                </a:lnTo>
                <a:lnTo>
                  <a:pt x="257086" y="257086"/>
                </a:lnTo>
                <a:lnTo>
                  <a:pt x="359509" y="257086"/>
                </a:lnTo>
                <a:lnTo>
                  <a:pt x="351115" y="265480"/>
                </a:lnTo>
                <a:cubicBezTo>
                  <a:pt x="339953" y="276642"/>
                  <a:pt x="339953" y="294769"/>
                  <a:pt x="351115" y="305931"/>
                </a:cubicBezTo>
                <a:cubicBezTo>
                  <a:pt x="362277" y="317093"/>
                  <a:pt x="380405" y="317093"/>
                  <a:pt x="391567" y="305931"/>
                </a:cubicBezTo>
                <a:lnTo>
                  <a:pt x="448717" y="248781"/>
                </a:lnTo>
                <a:cubicBezTo>
                  <a:pt x="459879" y="237619"/>
                  <a:pt x="459879" y="219492"/>
                  <a:pt x="448717" y="208330"/>
                </a:cubicBezTo>
                <a:lnTo>
                  <a:pt x="391567" y="151180"/>
                </a:lnTo>
                <a:cubicBezTo>
                  <a:pt x="380405" y="140018"/>
                  <a:pt x="362277" y="140018"/>
                  <a:pt x="351115" y="151180"/>
                </a:cubicBezTo>
                <a:cubicBezTo>
                  <a:pt x="339953" y="162342"/>
                  <a:pt x="339953" y="180469"/>
                  <a:pt x="351115" y="191631"/>
                </a:cubicBezTo>
                <a:lnTo>
                  <a:pt x="359509" y="200025"/>
                </a:lnTo>
                <a:lnTo>
                  <a:pt x="257086" y="200025"/>
                </a:lnTo>
                <a:lnTo>
                  <a:pt x="257086" y="97601"/>
                </a:lnTo>
                <a:lnTo>
                  <a:pt x="265480" y="105995"/>
                </a:lnTo>
                <a:cubicBezTo>
                  <a:pt x="276642" y="117158"/>
                  <a:pt x="294769" y="117158"/>
                  <a:pt x="305931" y="105995"/>
                </a:cubicBezTo>
                <a:cubicBezTo>
                  <a:pt x="317093" y="94833"/>
                  <a:pt x="317093" y="76706"/>
                  <a:pt x="305931" y="65544"/>
                </a:cubicBezTo>
                <a:lnTo>
                  <a:pt x="248781" y="8394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6667500" y="2032000"/>
            <a:ext cx="330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SCARA Robots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096000" y="2603500"/>
            <a:ext cx="3810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4-axis, fast and precise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Selective Compliance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Pick-and-place, dispensing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Ex: Epson T-Series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414000" y="1841500"/>
            <a:ext cx="4572000" cy="304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668000" y="203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00293" y="-2232"/>
                </a:moveTo>
                <a:cubicBezTo>
                  <a:pt x="217974" y="-12412"/>
                  <a:pt x="239762" y="-12412"/>
                  <a:pt x="257443" y="-2232"/>
                </a:cubicBezTo>
                <a:lnTo>
                  <a:pt x="414516" y="88404"/>
                </a:lnTo>
                <a:cubicBezTo>
                  <a:pt x="432197" y="98584"/>
                  <a:pt x="443091" y="117515"/>
                  <a:pt x="443091" y="137874"/>
                </a:cubicBezTo>
                <a:lnTo>
                  <a:pt x="443091" y="319147"/>
                </a:lnTo>
                <a:cubicBezTo>
                  <a:pt x="443091" y="339596"/>
                  <a:pt x="432197" y="358438"/>
                  <a:pt x="414516" y="368617"/>
                </a:cubicBezTo>
                <a:lnTo>
                  <a:pt x="257443" y="459432"/>
                </a:lnTo>
                <a:cubicBezTo>
                  <a:pt x="239762" y="469612"/>
                  <a:pt x="217974" y="469612"/>
                  <a:pt x="200293" y="459432"/>
                </a:cubicBezTo>
                <a:lnTo>
                  <a:pt x="43309" y="368796"/>
                </a:lnTo>
                <a:cubicBezTo>
                  <a:pt x="25628" y="358616"/>
                  <a:pt x="14734" y="339685"/>
                  <a:pt x="14734" y="319326"/>
                </a:cubicBezTo>
                <a:lnTo>
                  <a:pt x="14734" y="138053"/>
                </a:lnTo>
                <a:cubicBezTo>
                  <a:pt x="14734" y="117604"/>
                  <a:pt x="25628" y="98762"/>
                  <a:pt x="43309" y="88583"/>
                </a:cubicBezTo>
                <a:lnTo>
                  <a:pt x="200293" y="-2232"/>
                </a:lnTo>
                <a:close/>
                <a:moveTo>
                  <a:pt x="385852" y="319236"/>
                </a:moveTo>
                <a:lnTo>
                  <a:pt x="385852" y="170914"/>
                </a:lnTo>
                <a:lnTo>
                  <a:pt x="257443" y="245031"/>
                </a:lnTo>
                <a:lnTo>
                  <a:pt x="257443" y="393353"/>
                </a:lnTo>
                <a:lnTo>
                  <a:pt x="385852" y="319236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4" name="Text 12"/>
          <p:cNvSpPr/>
          <p:nvPr/>
        </p:nvSpPr>
        <p:spPr>
          <a:xfrm>
            <a:off x="11239500" y="2032000"/>
            <a:ext cx="35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Cartesian / Gantry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668000" y="2603500"/>
            <a:ext cx="4064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Linear motion in X, Y, Z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High precision positioning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CNC, 3D printing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Ex: Bosch Rexroth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70000" y="5143500"/>
            <a:ext cx="4318000" cy="304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524000" y="533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41727" y="0"/>
                  <a:pt x="253782" y="7233"/>
                  <a:pt x="260033" y="18752"/>
                </a:cubicBezTo>
                <a:lnTo>
                  <a:pt x="452914" y="375940"/>
                </a:lnTo>
                <a:cubicBezTo>
                  <a:pt x="458897" y="387013"/>
                  <a:pt x="458629" y="400407"/>
                  <a:pt x="452199" y="411212"/>
                </a:cubicBezTo>
                <a:cubicBezTo>
                  <a:pt x="445770" y="422017"/>
                  <a:pt x="434072" y="428625"/>
                  <a:pt x="421481" y="428625"/>
                </a:cubicBezTo>
                <a:lnTo>
                  <a:pt x="35719" y="428625"/>
                </a:lnTo>
                <a:cubicBezTo>
                  <a:pt x="23128" y="428625"/>
                  <a:pt x="11519" y="422017"/>
                  <a:pt x="5001" y="411212"/>
                </a:cubicBezTo>
                <a:cubicBezTo>
                  <a:pt x="-1518" y="400407"/>
                  <a:pt x="-1697" y="387013"/>
                  <a:pt x="4286" y="375940"/>
                </a:cubicBezTo>
                <a:lnTo>
                  <a:pt x="197168" y="18752"/>
                </a:lnTo>
                <a:cubicBezTo>
                  <a:pt x="203418" y="7233"/>
                  <a:pt x="215473" y="0"/>
                  <a:pt x="228600" y="0"/>
                </a:cubicBezTo>
                <a:close/>
                <a:moveTo>
                  <a:pt x="228600" y="150019"/>
                </a:moveTo>
                <a:cubicBezTo>
                  <a:pt x="216724" y="150019"/>
                  <a:pt x="207169" y="159574"/>
                  <a:pt x="207169" y="171450"/>
                </a:cubicBezTo>
                <a:lnTo>
                  <a:pt x="207169" y="271463"/>
                </a:lnTo>
                <a:cubicBezTo>
                  <a:pt x="207169" y="283339"/>
                  <a:pt x="216724" y="292894"/>
                  <a:pt x="228600" y="292894"/>
                </a:cubicBezTo>
                <a:cubicBezTo>
                  <a:pt x="240476" y="292894"/>
                  <a:pt x="250031" y="283339"/>
                  <a:pt x="250031" y="271463"/>
                </a:cubicBezTo>
                <a:lnTo>
                  <a:pt x="250031" y="171450"/>
                </a:lnTo>
                <a:cubicBezTo>
                  <a:pt x="250031" y="159574"/>
                  <a:pt x="240476" y="150019"/>
                  <a:pt x="228600" y="150019"/>
                </a:cubicBezTo>
                <a:close/>
                <a:moveTo>
                  <a:pt x="252442" y="342900"/>
                </a:moveTo>
                <a:cubicBezTo>
                  <a:pt x="252985" y="334050"/>
                  <a:pt x="248571" y="325630"/>
                  <a:pt x="240985" y="321041"/>
                </a:cubicBezTo>
                <a:cubicBezTo>
                  <a:pt x="233398" y="316452"/>
                  <a:pt x="223891" y="316452"/>
                  <a:pt x="216305" y="321041"/>
                </a:cubicBezTo>
                <a:cubicBezTo>
                  <a:pt x="208718" y="325630"/>
                  <a:pt x="204305" y="334050"/>
                  <a:pt x="204847" y="342900"/>
                </a:cubicBezTo>
                <a:cubicBezTo>
                  <a:pt x="204305" y="351750"/>
                  <a:pt x="208718" y="360170"/>
                  <a:pt x="216305" y="364759"/>
                </a:cubicBezTo>
                <a:cubicBezTo>
                  <a:pt x="223891" y="369348"/>
                  <a:pt x="233398" y="369348"/>
                  <a:pt x="240985" y="364759"/>
                </a:cubicBezTo>
                <a:cubicBezTo>
                  <a:pt x="248571" y="360170"/>
                  <a:pt x="252985" y="351750"/>
                  <a:pt x="252442" y="3429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8" name="Text 16"/>
          <p:cNvSpPr/>
          <p:nvPr/>
        </p:nvSpPr>
        <p:spPr>
          <a:xfrm>
            <a:off x="2095500" y="5334000"/>
            <a:ext cx="330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Delta Robots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24000" y="5905500"/>
            <a:ext cx="3810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Parallel kinematic structure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Extremely fast movement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Packaging, sorting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Ex: ABB FlexPicker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842000" y="5143500"/>
            <a:ext cx="4318000" cy="304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96000" y="533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13439" y="76081"/>
                </a:moveTo>
                <a:lnTo>
                  <a:pt x="120888" y="191810"/>
                </a:lnTo>
                <a:cubicBezTo>
                  <a:pt x="117237" y="196364"/>
                  <a:pt x="117396" y="203418"/>
                  <a:pt x="121285" y="207794"/>
                </a:cubicBezTo>
                <a:cubicBezTo>
                  <a:pt x="145494" y="235029"/>
                  <a:pt x="184785" y="235029"/>
                  <a:pt x="208994" y="207794"/>
                </a:cubicBezTo>
                <a:lnTo>
                  <a:pt x="234236" y="179397"/>
                </a:lnTo>
                <a:cubicBezTo>
                  <a:pt x="237569" y="175647"/>
                  <a:pt x="241776" y="173593"/>
                  <a:pt x="246063" y="173236"/>
                </a:cubicBezTo>
                <a:cubicBezTo>
                  <a:pt x="251460" y="172700"/>
                  <a:pt x="257016" y="174754"/>
                  <a:pt x="261144" y="179397"/>
                </a:cubicBezTo>
                <a:lnTo>
                  <a:pt x="401320" y="335756"/>
                </a:lnTo>
                <a:lnTo>
                  <a:pt x="457200" y="285750"/>
                </a:lnTo>
                <a:lnTo>
                  <a:pt x="457200" y="28575"/>
                </a:lnTo>
                <a:lnTo>
                  <a:pt x="368300" y="85725"/>
                </a:lnTo>
                <a:lnTo>
                  <a:pt x="349409" y="71527"/>
                </a:lnTo>
                <a:cubicBezTo>
                  <a:pt x="336867" y="62151"/>
                  <a:pt x="322183" y="57150"/>
                  <a:pt x="307102" y="57150"/>
                </a:cubicBezTo>
                <a:lnTo>
                  <a:pt x="251222" y="57150"/>
                </a:lnTo>
                <a:cubicBezTo>
                  <a:pt x="250349" y="57150"/>
                  <a:pt x="249396" y="57150"/>
                  <a:pt x="248523" y="57239"/>
                </a:cubicBezTo>
                <a:cubicBezTo>
                  <a:pt x="235109" y="58043"/>
                  <a:pt x="222488" y="64830"/>
                  <a:pt x="213439" y="76081"/>
                </a:cubicBezTo>
                <a:close/>
                <a:moveTo>
                  <a:pt x="92551" y="163145"/>
                </a:moveTo>
                <a:lnTo>
                  <a:pt x="177324" y="57150"/>
                </a:lnTo>
                <a:lnTo>
                  <a:pt x="145891" y="57150"/>
                </a:lnTo>
                <a:cubicBezTo>
                  <a:pt x="125651" y="57150"/>
                  <a:pt x="106283" y="66169"/>
                  <a:pt x="91996" y="82242"/>
                </a:cubicBezTo>
                <a:lnTo>
                  <a:pt x="88900" y="85725"/>
                </a:lnTo>
                <a:lnTo>
                  <a:pt x="0" y="28575"/>
                </a:lnTo>
                <a:lnTo>
                  <a:pt x="0" y="285750"/>
                </a:lnTo>
                <a:lnTo>
                  <a:pt x="124143" y="402104"/>
                </a:lnTo>
                <a:cubicBezTo>
                  <a:pt x="142399" y="419249"/>
                  <a:pt x="165418" y="428625"/>
                  <a:pt x="189151" y="428625"/>
                </a:cubicBezTo>
                <a:lnTo>
                  <a:pt x="201613" y="428625"/>
                </a:lnTo>
                <a:lnTo>
                  <a:pt x="196056" y="422374"/>
                </a:lnTo>
                <a:cubicBezTo>
                  <a:pt x="188595" y="413980"/>
                  <a:pt x="188595" y="400407"/>
                  <a:pt x="196056" y="392103"/>
                </a:cubicBezTo>
                <a:cubicBezTo>
                  <a:pt x="203518" y="383798"/>
                  <a:pt x="215583" y="383709"/>
                  <a:pt x="222964" y="392103"/>
                </a:cubicBezTo>
                <a:lnTo>
                  <a:pt x="255508" y="428714"/>
                </a:lnTo>
                <a:lnTo>
                  <a:pt x="262652" y="428714"/>
                </a:lnTo>
                <a:cubicBezTo>
                  <a:pt x="277813" y="428714"/>
                  <a:pt x="292656" y="424875"/>
                  <a:pt x="306149" y="417731"/>
                </a:cubicBezTo>
                <a:lnTo>
                  <a:pt x="284956" y="393799"/>
                </a:lnTo>
                <a:cubicBezTo>
                  <a:pt x="277495" y="385405"/>
                  <a:pt x="277495" y="371832"/>
                  <a:pt x="284956" y="363528"/>
                </a:cubicBezTo>
                <a:cubicBezTo>
                  <a:pt x="292418" y="355223"/>
                  <a:pt x="304483" y="355134"/>
                  <a:pt x="311864" y="363528"/>
                </a:cubicBezTo>
                <a:lnTo>
                  <a:pt x="337264" y="392103"/>
                </a:lnTo>
                <a:lnTo>
                  <a:pt x="351155" y="376476"/>
                </a:lnTo>
                <a:cubicBezTo>
                  <a:pt x="358219" y="368528"/>
                  <a:pt x="360283" y="357009"/>
                  <a:pt x="357188" y="346918"/>
                </a:cubicBezTo>
                <a:lnTo>
                  <a:pt x="247729" y="224760"/>
                </a:lnTo>
                <a:lnTo>
                  <a:pt x="235903" y="238065"/>
                </a:lnTo>
                <a:cubicBezTo>
                  <a:pt x="196771" y="282089"/>
                  <a:pt x="133429" y="282089"/>
                  <a:pt x="94298" y="238065"/>
                </a:cubicBezTo>
                <a:cubicBezTo>
                  <a:pt x="76041" y="217527"/>
                  <a:pt x="75327" y="184577"/>
                  <a:pt x="92551" y="163056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22" name="Text 20"/>
          <p:cNvSpPr/>
          <p:nvPr/>
        </p:nvSpPr>
        <p:spPr>
          <a:xfrm>
            <a:off x="6667500" y="5334000"/>
            <a:ext cx="330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Collaborative (Cobots)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096000" y="5905500"/>
            <a:ext cx="3810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Work safely alongside humans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Force-limiting sensors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Easy programming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Ex: Universal Robots UR10e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414000" y="5143500"/>
            <a:ext cx="4572000" cy="3048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25" name="Shape 23"/>
          <p:cNvSpPr/>
          <p:nvPr/>
        </p:nvSpPr>
        <p:spPr>
          <a:xfrm>
            <a:off x="10668000" y="533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28714" y="171450"/>
                </a:moveTo>
                <a:lnTo>
                  <a:pt x="435769" y="171450"/>
                </a:lnTo>
                <a:cubicBezTo>
                  <a:pt x="447645" y="171450"/>
                  <a:pt x="457200" y="161895"/>
                  <a:pt x="457200" y="150019"/>
                </a:cubicBezTo>
                <a:lnTo>
                  <a:pt x="457200" y="21431"/>
                </a:lnTo>
                <a:cubicBezTo>
                  <a:pt x="457200" y="12769"/>
                  <a:pt x="452021" y="4911"/>
                  <a:pt x="443984" y="1607"/>
                </a:cubicBezTo>
                <a:cubicBezTo>
                  <a:pt x="435947" y="-1697"/>
                  <a:pt x="426750" y="179"/>
                  <a:pt x="420588" y="6251"/>
                </a:cubicBezTo>
                <a:lnTo>
                  <a:pt x="374422" y="52507"/>
                </a:lnTo>
                <a:cubicBezTo>
                  <a:pt x="334863" y="19735"/>
                  <a:pt x="283964" y="0"/>
                  <a:pt x="228600" y="0"/>
                </a:cubicBezTo>
                <a:cubicBezTo>
                  <a:pt x="113407" y="0"/>
                  <a:pt x="18127" y="85189"/>
                  <a:pt x="2322" y="196007"/>
                </a:cubicBezTo>
                <a:cubicBezTo>
                  <a:pt x="89" y="211634"/>
                  <a:pt x="10894" y="226100"/>
                  <a:pt x="26521" y="228332"/>
                </a:cubicBezTo>
                <a:cubicBezTo>
                  <a:pt x="42148" y="230565"/>
                  <a:pt x="56614" y="219670"/>
                  <a:pt x="58847" y="204133"/>
                </a:cubicBezTo>
                <a:cubicBezTo>
                  <a:pt x="70723" y="120997"/>
                  <a:pt x="142250" y="57150"/>
                  <a:pt x="228600" y="57150"/>
                </a:cubicBezTo>
                <a:cubicBezTo>
                  <a:pt x="268248" y="57150"/>
                  <a:pt x="304681" y="70545"/>
                  <a:pt x="333702" y="93137"/>
                </a:cubicBezTo>
                <a:lnTo>
                  <a:pt x="292001" y="134838"/>
                </a:lnTo>
                <a:cubicBezTo>
                  <a:pt x="285839" y="141000"/>
                  <a:pt x="284053" y="150197"/>
                  <a:pt x="287357" y="158234"/>
                </a:cubicBezTo>
                <a:cubicBezTo>
                  <a:pt x="290661" y="166271"/>
                  <a:pt x="298519" y="171450"/>
                  <a:pt x="307181" y="171450"/>
                </a:cubicBezTo>
                <a:lnTo>
                  <a:pt x="428714" y="171450"/>
                </a:lnTo>
                <a:close/>
                <a:moveTo>
                  <a:pt x="454968" y="261193"/>
                </a:moveTo>
                <a:cubicBezTo>
                  <a:pt x="457200" y="245566"/>
                  <a:pt x="446306" y="231100"/>
                  <a:pt x="430768" y="228868"/>
                </a:cubicBezTo>
                <a:cubicBezTo>
                  <a:pt x="415230" y="226635"/>
                  <a:pt x="400675" y="237530"/>
                  <a:pt x="398443" y="253067"/>
                </a:cubicBezTo>
                <a:cubicBezTo>
                  <a:pt x="386566" y="336113"/>
                  <a:pt x="315039" y="399961"/>
                  <a:pt x="228689" y="399961"/>
                </a:cubicBezTo>
                <a:cubicBezTo>
                  <a:pt x="189041" y="399961"/>
                  <a:pt x="152608" y="386566"/>
                  <a:pt x="123587" y="363974"/>
                </a:cubicBezTo>
                <a:lnTo>
                  <a:pt x="165199" y="322362"/>
                </a:lnTo>
                <a:cubicBezTo>
                  <a:pt x="171361" y="316200"/>
                  <a:pt x="173147" y="307003"/>
                  <a:pt x="169843" y="298966"/>
                </a:cubicBezTo>
                <a:cubicBezTo>
                  <a:pt x="166539" y="290929"/>
                  <a:pt x="158681" y="285750"/>
                  <a:pt x="150019" y="285750"/>
                </a:cubicBezTo>
                <a:lnTo>
                  <a:pt x="21431" y="285750"/>
                </a:lnTo>
                <a:cubicBezTo>
                  <a:pt x="9555" y="285750"/>
                  <a:pt x="0" y="295305"/>
                  <a:pt x="0" y="307181"/>
                </a:cubicBezTo>
                <a:lnTo>
                  <a:pt x="0" y="435769"/>
                </a:lnTo>
                <a:cubicBezTo>
                  <a:pt x="0" y="444431"/>
                  <a:pt x="5179" y="452289"/>
                  <a:pt x="13216" y="455593"/>
                </a:cubicBezTo>
                <a:cubicBezTo>
                  <a:pt x="21253" y="458897"/>
                  <a:pt x="30450" y="457021"/>
                  <a:pt x="36612" y="450949"/>
                </a:cubicBezTo>
                <a:lnTo>
                  <a:pt x="82867" y="404693"/>
                </a:lnTo>
                <a:cubicBezTo>
                  <a:pt x="122337" y="437465"/>
                  <a:pt x="173236" y="457200"/>
                  <a:pt x="228600" y="457200"/>
                </a:cubicBezTo>
                <a:cubicBezTo>
                  <a:pt x="343793" y="457200"/>
                  <a:pt x="439073" y="372011"/>
                  <a:pt x="454878" y="26119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1239500" y="5334000"/>
            <a:ext cx="35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Cylindrical &amp; Polar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668000" y="5905500"/>
            <a:ext cx="4064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Rotary + linear motion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Simple loading/unloading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Cost-effective for basic tasks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D0E0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Ex: FANUC M-710iC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698500"/>
            <a:ext cx="1143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Examples — Robotics in Action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pic>
        <p:nvPicPr>
          <p:cNvPr id="4" name="Image 0" descr="https://kimi-img.moonshot.cn/pub/slides/okc/nzffcm4kpdkvi/mnt/agents/output/ccs-week11/images/8_Tesla_Cybertruck_Production_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70000" y="1841500"/>
            <a:ext cx="6096000" cy="3048000"/>
          </a:xfrm>
          <a:prstGeom prst="roundRect">
            <a:avLst>
              <a:gd name="adj" fmla="val 8000"/>
            </a:avLst>
          </a:prstGeom>
        </p:spPr>
      </p:pic>
      <p:sp>
        <p:nvSpPr>
          <p:cNvPr id="5" name="Text 2"/>
          <p:cNvSpPr/>
          <p:nvPr/>
        </p:nvSpPr>
        <p:spPr>
          <a:xfrm>
            <a:off x="7874000" y="1841500"/>
            <a:ext cx="7112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Tesla Gigafactory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1,500+ KUKA and FANUC robots per factory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One car produced every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 seconds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Amazon Fulfillment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750,000+ Kiva robots move inventory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Order processing time reduced by 50%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1270000" y="5207000"/>
            <a:ext cx="4318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524000" y="5397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BMW Spartanburg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524000" y="5905500"/>
            <a:ext cx="381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2,500+ robots in largest BMW factory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ABB robots with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0.1mm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precision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Spot welding on car bodies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842000" y="5207000"/>
            <a:ext cx="4318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096000" y="5397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Foxconn (Apple)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096000" y="5905500"/>
            <a:ext cx="381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"Lights-out" factories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30,000+ Foxbots for iPhone assembly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100% robotic production lines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414000" y="5207000"/>
            <a:ext cx="4572000" cy="2921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Text 10"/>
          <p:cNvSpPr/>
          <p:nvPr/>
        </p:nvSpPr>
        <p:spPr>
          <a:xfrm>
            <a:off x="10668000" y="5397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 Vinci Surgical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0668000" y="5905500"/>
            <a:ext cx="4064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7 degrees of freedom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10+ million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surgeries worldwide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Minimally invasive procedures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 of Robotics in Manufacturing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3048000" cy="1905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4000" y="2095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55600" y="203200"/>
                </a:moveTo>
                <a:cubicBezTo>
                  <a:pt x="355600" y="119088"/>
                  <a:pt x="287312" y="50800"/>
                  <a:pt x="203200" y="50800"/>
                </a:cubicBezTo>
                <a:cubicBezTo>
                  <a:pt x="119088" y="50800"/>
                  <a:pt x="50800" y="119088"/>
                  <a:pt x="50800" y="203200"/>
                </a:cubicBezTo>
                <a:cubicBezTo>
                  <a:pt x="50800" y="287312"/>
                  <a:pt x="119088" y="355600"/>
                  <a:pt x="203200" y="355600"/>
                </a:cubicBezTo>
                <a:cubicBezTo>
                  <a:pt x="287312" y="355600"/>
                  <a:pt x="355600" y="287312"/>
                  <a:pt x="355600" y="203200"/>
                </a:cubicBezTo>
                <a:close/>
                <a:moveTo>
                  <a:pt x="0" y="203200"/>
                </a:moveTo>
                <a:cubicBezTo>
                  <a:pt x="0" y="91051"/>
                  <a:pt x="91051" y="0"/>
                  <a:pt x="203200" y="0"/>
                </a:cubicBez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lose/>
                <a:moveTo>
                  <a:pt x="203200" y="266700"/>
                </a:moveTo>
                <a:cubicBezTo>
                  <a:pt x="238247" y="266700"/>
                  <a:pt x="266700" y="238247"/>
                  <a:pt x="266700" y="203200"/>
                </a:cubicBezTo>
                <a:cubicBezTo>
                  <a:pt x="266700" y="168153"/>
                  <a:pt x="238247" y="139700"/>
                  <a:pt x="203200" y="139700"/>
                </a:cubicBezTo>
                <a:cubicBezTo>
                  <a:pt x="168153" y="139700"/>
                  <a:pt x="139700" y="168153"/>
                  <a:pt x="139700" y="203200"/>
                </a:cubicBezTo>
                <a:cubicBezTo>
                  <a:pt x="139700" y="238247"/>
                  <a:pt x="168153" y="266700"/>
                  <a:pt x="203200" y="266700"/>
                </a:cubicBezTo>
                <a:close/>
                <a:moveTo>
                  <a:pt x="203200" y="88900"/>
                </a:moveTo>
                <a:cubicBezTo>
                  <a:pt x="266284" y="88900"/>
                  <a:pt x="317500" y="140116"/>
                  <a:pt x="317500" y="203200"/>
                </a:cubicBezTo>
                <a:cubicBezTo>
                  <a:pt x="317500" y="266284"/>
                  <a:pt x="266284" y="317500"/>
                  <a:pt x="203200" y="317500"/>
                </a:cubicBezTo>
                <a:cubicBezTo>
                  <a:pt x="140116" y="317500"/>
                  <a:pt x="88900" y="266284"/>
                  <a:pt x="88900" y="203200"/>
                </a:cubicBezTo>
                <a:cubicBezTo>
                  <a:pt x="88900" y="140116"/>
                  <a:pt x="140116" y="88900"/>
                  <a:pt x="203200" y="88900"/>
                </a:cubicBezTo>
                <a:close/>
                <a:moveTo>
                  <a:pt x="177800" y="203200"/>
                </a:moveTo>
                <a:cubicBezTo>
                  <a:pt x="177800" y="189181"/>
                  <a:pt x="189181" y="177800"/>
                  <a:pt x="203200" y="177800"/>
                </a:cubicBezTo>
                <a:cubicBezTo>
                  <a:pt x="217219" y="177800"/>
                  <a:pt x="228600" y="189181"/>
                  <a:pt x="228600" y="203200"/>
                </a:cubicBezTo>
                <a:cubicBezTo>
                  <a:pt x="228600" y="217219"/>
                  <a:pt x="217219" y="228600"/>
                  <a:pt x="203200" y="228600"/>
                </a:cubicBezTo>
                <a:cubicBezTo>
                  <a:pt x="189181" y="228600"/>
                  <a:pt x="177800" y="217219"/>
                  <a:pt x="177800" y="2032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1270000" y="2540000"/>
            <a:ext cx="304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±0.02mm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270000" y="32385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Robot Precision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0" y="1905000"/>
            <a:ext cx="3048000" cy="1905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26000" y="2095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ubicBezTo>
                  <a:pt x="0" y="91051"/>
                  <a:pt x="91051" y="0"/>
                  <a:pt x="203200" y="0"/>
                </a:cubicBezTo>
                <a:close/>
                <a:moveTo>
                  <a:pt x="184150" y="95250"/>
                </a:moveTo>
                <a:lnTo>
                  <a:pt x="184150" y="203200"/>
                </a:lnTo>
                <a:cubicBezTo>
                  <a:pt x="184150" y="209550"/>
                  <a:pt x="187325" y="215503"/>
                  <a:pt x="192643" y="219075"/>
                </a:cubicBezTo>
                <a:lnTo>
                  <a:pt x="268843" y="269875"/>
                </a:lnTo>
                <a:cubicBezTo>
                  <a:pt x="277574" y="275749"/>
                  <a:pt x="289401" y="273368"/>
                  <a:pt x="295275" y="264557"/>
                </a:cubicBezTo>
                <a:cubicBezTo>
                  <a:pt x="301149" y="255746"/>
                  <a:pt x="298768" y="243999"/>
                  <a:pt x="289957" y="238125"/>
                </a:cubicBezTo>
                <a:lnTo>
                  <a:pt x="222250" y="193040"/>
                </a:lnTo>
                <a:lnTo>
                  <a:pt x="222250" y="95250"/>
                </a:lnTo>
                <a:cubicBezTo>
                  <a:pt x="222250" y="84693"/>
                  <a:pt x="213757" y="76200"/>
                  <a:pt x="203200" y="76200"/>
                </a:cubicBezTo>
                <a:cubicBezTo>
                  <a:pt x="192643" y="76200"/>
                  <a:pt x="184150" y="84693"/>
                  <a:pt x="184150" y="9525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540000"/>
            <a:ext cx="304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24/7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572000" y="32385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Continuous Operation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874000" y="1905000"/>
            <a:ext cx="3048000" cy="1905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8000" y="2095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7874000" y="2540000"/>
            <a:ext cx="304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72%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7874000" y="32385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Injury Reduction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176000" y="1905000"/>
            <a:ext cx="3810000" cy="1905000"/>
          </a:xfrm>
          <a:prstGeom prst="roundRect">
            <a:avLst>
              <a:gd name="adj" fmla="val 12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7" name="Shape 15"/>
          <p:cNvSpPr/>
          <p:nvPr/>
        </p:nvSpPr>
        <p:spPr>
          <a:xfrm>
            <a:off x="11430000" y="2095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76200"/>
                </a:moveTo>
                <a:lnTo>
                  <a:pt x="101600" y="63500"/>
                </a:lnTo>
                <a:cubicBezTo>
                  <a:pt x="101600" y="28416"/>
                  <a:pt x="169863" y="0"/>
                  <a:pt x="254000" y="0"/>
                </a:cubicBezTo>
                <a:cubicBezTo>
                  <a:pt x="338138" y="0"/>
                  <a:pt x="406400" y="28416"/>
                  <a:pt x="406400" y="63500"/>
                </a:cubicBezTo>
                <a:lnTo>
                  <a:pt x="406400" y="76200"/>
                </a:lnTo>
                <a:cubicBezTo>
                  <a:pt x="406400" y="100489"/>
                  <a:pt x="373618" y="121603"/>
                  <a:pt x="325438" y="132318"/>
                </a:cubicBezTo>
                <a:cubicBezTo>
                  <a:pt x="323533" y="130096"/>
                  <a:pt x="321548" y="127953"/>
                  <a:pt x="319564" y="125968"/>
                </a:cubicBezTo>
                <a:cubicBezTo>
                  <a:pt x="307261" y="113824"/>
                  <a:pt x="291386" y="104616"/>
                  <a:pt x="274796" y="97790"/>
                </a:cubicBezTo>
                <a:cubicBezTo>
                  <a:pt x="241538" y="83899"/>
                  <a:pt x="198199" y="76279"/>
                  <a:pt x="152400" y="76279"/>
                </a:cubicBezTo>
                <a:cubicBezTo>
                  <a:pt x="135017" y="76279"/>
                  <a:pt x="118031" y="77391"/>
                  <a:pt x="101759" y="79534"/>
                </a:cubicBezTo>
                <a:cubicBezTo>
                  <a:pt x="101600" y="78502"/>
                  <a:pt x="101600" y="77391"/>
                  <a:pt x="101600" y="76279"/>
                </a:cubicBezTo>
                <a:close/>
                <a:moveTo>
                  <a:pt x="342900" y="280194"/>
                </a:moveTo>
                <a:lnTo>
                  <a:pt x="342900" y="243523"/>
                </a:lnTo>
                <a:cubicBezTo>
                  <a:pt x="354886" y="240427"/>
                  <a:pt x="366157" y="236776"/>
                  <a:pt x="376396" y="232489"/>
                </a:cubicBezTo>
                <a:cubicBezTo>
                  <a:pt x="386874" y="228124"/>
                  <a:pt x="397113" y="222806"/>
                  <a:pt x="406400" y="216376"/>
                </a:cubicBezTo>
                <a:lnTo>
                  <a:pt x="406400" y="228600"/>
                </a:lnTo>
                <a:cubicBezTo>
                  <a:pt x="406400" y="249873"/>
                  <a:pt x="381397" y="268684"/>
                  <a:pt x="342900" y="280194"/>
                </a:cubicBezTo>
                <a:close/>
                <a:moveTo>
                  <a:pt x="342900" y="203994"/>
                </a:moveTo>
                <a:lnTo>
                  <a:pt x="342900" y="177800"/>
                </a:lnTo>
                <a:cubicBezTo>
                  <a:pt x="342900" y="174228"/>
                  <a:pt x="342583" y="170815"/>
                  <a:pt x="342106" y="167481"/>
                </a:cubicBezTo>
                <a:cubicBezTo>
                  <a:pt x="354409" y="164386"/>
                  <a:pt x="365919" y="160655"/>
                  <a:pt x="376396" y="156210"/>
                </a:cubicBezTo>
                <a:cubicBezTo>
                  <a:pt x="386874" y="151765"/>
                  <a:pt x="397113" y="146526"/>
                  <a:pt x="406400" y="140097"/>
                </a:cubicBezTo>
                <a:lnTo>
                  <a:pt x="406400" y="152321"/>
                </a:lnTo>
                <a:cubicBezTo>
                  <a:pt x="406400" y="173593"/>
                  <a:pt x="381397" y="192405"/>
                  <a:pt x="342900" y="203914"/>
                </a:cubicBezTo>
                <a:close/>
                <a:moveTo>
                  <a:pt x="0" y="190500"/>
                </a:moveTo>
                <a:lnTo>
                  <a:pt x="0" y="177800"/>
                </a:lnTo>
                <a:cubicBezTo>
                  <a:pt x="0" y="142716"/>
                  <a:pt x="68263" y="114300"/>
                  <a:pt x="152400" y="114300"/>
                </a:cubicBezTo>
                <a:cubicBezTo>
                  <a:pt x="236538" y="114300"/>
                  <a:pt x="304800" y="142716"/>
                  <a:pt x="304800" y="177800"/>
                </a:cubicBezTo>
                <a:lnTo>
                  <a:pt x="304800" y="190500"/>
                </a:lnTo>
                <a:cubicBezTo>
                  <a:pt x="304800" y="225584"/>
                  <a:pt x="236538" y="254000"/>
                  <a:pt x="152400" y="254000"/>
                </a:cubicBezTo>
                <a:cubicBezTo>
                  <a:pt x="68263" y="254000"/>
                  <a:pt x="0" y="225584"/>
                  <a:pt x="0" y="190500"/>
                </a:cubicBezTo>
                <a:close/>
                <a:moveTo>
                  <a:pt x="304800" y="266700"/>
                </a:moveTo>
                <a:cubicBezTo>
                  <a:pt x="304800" y="301784"/>
                  <a:pt x="236538" y="330200"/>
                  <a:pt x="152400" y="330200"/>
                </a:cubicBezTo>
                <a:cubicBezTo>
                  <a:pt x="68263" y="330200"/>
                  <a:pt x="0" y="301784"/>
                  <a:pt x="0" y="266700"/>
                </a:cubicBezTo>
                <a:lnTo>
                  <a:pt x="0" y="254476"/>
                </a:lnTo>
                <a:cubicBezTo>
                  <a:pt x="9207" y="260906"/>
                  <a:pt x="19447" y="266144"/>
                  <a:pt x="30004" y="270589"/>
                </a:cubicBezTo>
                <a:cubicBezTo>
                  <a:pt x="63262" y="284480"/>
                  <a:pt x="106601" y="292100"/>
                  <a:pt x="152400" y="292100"/>
                </a:cubicBezTo>
                <a:cubicBezTo>
                  <a:pt x="198199" y="292100"/>
                  <a:pt x="241538" y="284401"/>
                  <a:pt x="274796" y="270589"/>
                </a:cubicBezTo>
                <a:cubicBezTo>
                  <a:pt x="285274" y="266224"/>
                  <a:pt x="295513" y="260906"/>
                  <a:pt x="304800" y="254476"/>
                </a:cubicBezTo>
                <a:lnTo>
                  <a:pt x="304800" y="266700"/>
                </a:lnTo>
                <a:close/>
                <a:moveTo>
                  <a:pt x="304800" y="330676"/>
                </a:moveTo>
                <a:lnTo>
                  <a:pt x="304800" y="342900"/>
                </a:lnTo>
                <a:cubicBezTo>
                  <a:pt x="304800" y="377984"/>
                  <a:pt x="236538" y="406400"/>
                  <a:pt x="152400" y="406400"/>
                </a:cubicBezTo>
                <a:cubicBezTo>
                  <a:pt x="68263" y="406400"/>
                  <a:pt x="0" y="377984"/>
                  <a:pt x="0" y="342900"/>
                </a:cubicBezTo>
                <a:lnTo>
                  <a:pt x="0" y="330676"/>
                </a:lnTo>
                <a:cubicBezTo>
                  <a:pt x="9207" y="337106"/>
                  <a:pt x="19447" y="342344"/>
                  <a:pt x="30004" y="346789"/>
                </a:cubicBezTo>
                <a:cubicBezTo>
                  <a:pt x="63262" y="360680"/>
                  <a:pt x="106601" y="368300"/>
                  <a:pt x="152400" y="368300"/>
                </a:cubicBezTo>
                <a:cubicBezTo>
                  <a:pt x="198199" y="368300"/>
                  <a:pt x="241538" y="360601"/>
                  <a:pt x="274796" y="346789"/>
                </a:cubicBezTo>
                <a:cubicBezTo>
                  <a:pt x="285274" y="342424"/>
                  <a:pt x="295513" y="337106"/>
                  <a:pt x="304800" y="33067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1176000" y="25400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12-24 Mo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11176000" y="3238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Typical ROI Period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70000" y="4191000"/>
            <a:ext cx="6604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Advantages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Precision &amp; Consistency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Zero fatigue-related errors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Speed &amp; Productivity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3-5x faster than humans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Safety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Handles hazardous environments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Quality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Defect rates reduced by 80-95%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Every action logged for optimization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1 robot = 3-5 human workers</a:t>
            </a:r>
            <a:endParaRPr lang="en-US" sz="18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255000" y="4191000"/>
          <a:ext cx="6731000" cy="3937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 Line Control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Systems and technologies that manage automated production lines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 Line Control — Overview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841500"/>
            <a:ext cx="7112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 line control refers to the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computerized management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 manufacturing processes where materials move through sequential workstations.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Objectives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Maximize throughput, minimize downtime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Ensure quality, optimize resources, enable traceability</a:t>
            </a:r>
            <a:endParaRPr lang="en-US" sz="1800" dirty="0"/>
          </a:p>
        </p:txBody>
      </p:sp>
      <p:pic>
        <p:nvPicPr>
          <p:cNvPr id="5" name="Image 0" descr="https://kimi-img.moonshot.cn/pub/slides/okc/nzffcm4kpdkvi/mnt/agents/output/ccs-week11/images/5_Assembly_Line_Automation_Revolutioniz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890000" y="1841500"/>
            <a:ext cx="6096000" cy="3429000"/>
          </a:xfrm>
          <a:prstGeom prst="roundRect">
            <a:avLst>
              <a:gd name="adj" fmla="val 8000"/>
            </a:avLst>
          </a:prstGeom>
        </p:spPr>
      </p:pic>
      <p:sp>
        <p:nvSpPr>
          <p:cNvPr id="6" name="Text 3"/>
          <p:cNvSpPr/>
          <p:nvPr/>
        </p:nvSpPr>
        <p:spPr>
          <a:xfrm>
            <a:off x="1270000" y="5588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Evolution of Production Control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270000" y="6477000"/>
            <a:ext cx="13716000" cy="50800"/>
          </a:xfrm>
          <a:prstGeom prst="rect">
            <a:avLst/>
          </a:prstGeom>
          <a:solidFill>
            <a:srgbClr val="2E5E8A"/>
          </a:solidFill>
          <a:ln/>
        </p:spPr>
      </p:sp>
      <p:sp>
        <p:nvSpPr>
          <p:cNvPr id="8" name="Shape 5"/>
          <p:cNvSpPr/>
          <p:nvPr/>
        </p:nvSpPr>
        <p:spPr>
          <a:xfrm>
            <a:off x="1778000" y="6350000"/>
            <a:ext cx="304800" cy="304800"/>
          </a:xfrm>
          <a:prstGeom prst="ellipse">
            <a:avLst/>
          </a:prstGeom>
          <a:solidFill>
            <a:srgbClr val="FF7F5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70000" y="5969000"/>
            <a:ext cx="152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1913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70000" y="6794500"/>
            <a:ext cx="165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Manual Assembly</a:t>
            </a:r>
            <a:endParaRPr lang="en-US" sz="14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Ford Model 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191000" y="6350000"/>
            <a:ext cx="304800" cy="304800"/>
          </a:xfrm>
          <a:prstGeom prst="ellipse">
            <a:avLst/>
          </a:prstGeom>
          <a:solidFill>
            <a:srgbClr val="FF7F5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83000" y="5969000"/>
            <a:ext cx="152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1960s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556000" y="6794500"/>
            <a:ext cx="177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Relay Automation</a:t>
            </a:r>
            <a:endParaRPr lang="en-US" sz="14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Hard-wired logic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731000" y="6350000"/>
            <a:ext cx="304800" cy="304800"/>
          </a:xfrm>
          <a:prstGeom prst="ellipse">
            <a:avLst/>
          </a:prstGeom>
          <a:solidFill>
            <a:srgbClr val="FF7F5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23000" y="5969000"/>
            <a:ext cx="152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1970s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096000" y="6794500"/>
            <a:ext cx="177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PLC Control</a:t>
            </a:r>
            <a:endParaRPr lang="en-US" sz="14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Programmable logic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9271000" y="6350000"/>
            <a:ext cx="304800" cy="304800"/>
          </a:xfrm>
          <a:prstGeom prst="ellipse">
            <a:avLst/>
          </a:prstGeom>
          <a:solidFill>
            <a:srgbClr val="2E5E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763000" y="5969000"/>
            <a:ext cx="152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1990s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509000" y="6794500"/>
            <a:ext cx="20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DCS / SCADA</a:t>
            </a:r>
            <a:endParaRPr lang="en-US" sz="14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Integrated systems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11938000" y="6350000"/>
            <a:ext cx="304800" cy="304800"/>
          </a:xfrm>
          <a:prstGeom prst="ellipse">
            <a:avLst/>
          </a:prstGeom>
          <a:solidFill>
            <a:srgbClr val="2E5E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430000" y="5969000"/>
            <a:ext cx="152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2010s+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1176000" y="67945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Industry 4.0</a:t>
            </a:r>
            <a:endParaRPr lang="en-US" sz="14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Smart Manufacturing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698500"/>
            <a:ext cx="1143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Production Line Control Systems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79600"/>
            <a:ext cx="6604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4000" y="2133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7163" y="21431"/>
                </a:moveTo>
                <a:cubicBezTo>
                  <a:pt x="157163" y="9555"/>
                  <a:pt x="147608" y="0"/>
                  <a:pt x="135731" y="0"/>
                </a:cubicBezTo>
                <a:cubicBezTo>
                  <a:pt x="123855" y="0"/>
                  <a:pt x="114300" y="9555"/>
                  <a:pt x="114300" y="21431"/>
                </a:cubicBezTo>
                <a:lnTo>
                  <a:pt x="114300" y="57150"/>
                </a:lnTo>
                <a:cubicBezTo>
                  <a:pt x="82778" y="57150"/>
                  <a:pt x="57150" y="82778"/>
                  <a:pt x="57150" y="114300"/>
                </a:cubicBezTo>
                <a:lnTo>
                  <a:pt x="21431" y="114300"/>
                </a:lnTo>
                <a:cubicBezTo>
                  <a:pt x="9555" y="114300"/>
                  <a:pt x="0" y="123855"/>
                  <a:pt x="0" y="135731"/>
                </a:cubicBezTo>
                <a:cubicBezTo>
                  <a:pt x="0" y="147608"/>
                  <a:pt x="9555" y="157163"/>
                  <a:pt x="21431" y="157163"/>
                </a:cubicBezTo>
                <a:lnTo>
                  <a:pt x="57150" y="157163"/>
                </a:lnTo>
                <a:lnTo>
                  <a:pt x="57150" y="207169"/>
                </a:lnTo>
                <a:lnTo>
                  <a:pt x="21431" y="207169"/>
                </a:lnTo>
                <a:cubicBezTo>
                  <a:pt x="9555" y="207169"/>
                  <a:pt x="0" y="216724"/>
                  <a:pt x="0" y="228600"/>
                </a:cubicBezTo>
                <a:cubicBezTo>
                  <a:pt x="0" y="240476"/>
                  <a:pt x="9555" y="250031"/>
                  <a:pt x="21431" y="250031"/>
                </a:cubicBezTo>
                <a:lnTo>
                  <a:pt x="57150" y="250031"/>
                </a:lnTo>
                <a:lnTo>
                  <a:pt x="57150" y="300038"/>
                </a:lnTo>
                <a:lnTo>
                  <a:pt x="21431" y="300038"/>
                </a:lnTo>
                <a:cubicBezTo>
                  <a:pt x="9555" y="300038"/>
                  <a:pt x="0" y="309592"/>
                  <a:pt x="0" y="321469"/>
                </a:cubicBezTo>
                <a:cubicBezTo>
                  <a:pt x="0" y="333345"/>
                  <a:pt x="9555" y="342900"/>
                  <a:pt x="21431" y="342900"/>
                </a:cubicBezTo>
                <a:lnTo>
                  <a:pt x="57150" y="342900"/>
                </a:lnTo>
                <a:cubicBezTo>
                  <a:pt x="57150" y="374422"/>
                  <a:pt x="82778" y="400050"/>
                  <a:pt x="114300" y="400050"/>
                </a:cubicBezTo>
                <a:lnTo>
                  <a:pt x="114300" y="435769"/>
                </a:lnTo>
                <a:cubicBezTo>
                  <a:pt x="114300" y="447645"/>
                  <a:pt x="123855" y="457200"/>
                  <a:pt x="135731" y="457200"/>
                </a:cubicBezTo>
                <a:cubicBezTo>
                  <a:pt x="147608" y="457200"/>
                  <a:pt x="157163" y="447645"/>
                  <a:pt x="157163" y="435769"/>
                </a:cubicBezTo>
                <a:lnTo>
                  <a:pt x="157163" y="400050"/>
                </a:lnTo>
                <a:lnTo>
                  <a:pt x="207169" y="400050"/>
                </a:lnTo>
                <a:lnTo>
                  <a:pt x="207169" y="435769"/>
                </a:lnTo>
                <a:cubicBezTo>
                  <a:pt x="207169" y="447645"/>
                  <a:pt x="216724" y="457200"/>
                  <a:pt x="228600" y="457200"/>
                </a:cubicBezTo>
                <a:cubicBezTo>
                  <a:pt x="240476" y="457200"/>
                  <a:pt x="250031" y="447645"/>
                  <a:pt x="250031" y="435769"/>
                </a:cubicBezTo>
                <a:lnTo>
                  <a:pt x="250031" y="400050"/>
                </a:lnTo>
                <a:lnTo>
                  <a:pt x="300038" y="400050"/>
                </a:lnTo>
                <a:lnTo>
                  <a:pt x="300038" y="435769"/>
                </a:lnTo>
                <a:cubicBezTo>
                  <a:pt x="300038" y="447645"/>
                  <a:pt x="309592" y="457200"/>
                  <a:pt x="321469" y="457200"/>
                </a:cubicBezTo>
                <a:cubicBezTo>
                  <a:pt x="333345" y="457200"/>
                  <a:pt x="342900" y="447645"/>
                  <a:pt x="342900" y="435769"/>
                </a:cubicBezTo>
                <a:lnTo>
                  <a:pt x="342900" y="400050"/>
                </a:lnTo>
                <a:cubicBezTo>
                  <a:pt x="374422" y="400050"/>
                  <a:pt x="400050" y="374422"/>
                  <a:pt x="400050" y="342900"/>
                </a:cubicBezTo>
                <a:lnTo>
                  <a:pt x="435769" y="342900"/>
                </a:lnTo>
                <a:cubicBezTo>
                  <a:pt x="447645" y="342900"/>
                  <a:pt x="457200" y="333345"/>
                  <a:pt x="457200" y="321469"/>
                </a:cubicBezTo>
                <a:cubicBezTo>
                  <a:pt x="457200" y="309592"/>
                  <a:pt x="447645" y="300038"/>
                  <a:pt x="435769" y="300038"/>
                </a:cubicBezTo>
                <a:lnTo>
                  <a:pt x="400050" y="300038"/>
                </a:lnTo>
                <a:lnTo>
                  <a:pt x="400050" y="250031"/>
                </a:lnTo>
                <a:lnTo>
                  <a:pt x="435769" y="250031"/>
                </a:lnTo>
                <a:cubicBezTo>
                  <a:pt x="447645" y="250031"/>
                  <a:pt x="457200" y="240476"/>
                  <a:pt x="457200" y="228600"/>
                </a:cubicBezTo>
                <a:cubicBezTo>
                  <a:pt x="457200" y="216724"/>
                  <a:pt x="447645" y="207169"/>
                  <a:pt x="435769" y="207169"/>
                </a:cubicBezTo>
                <a:lnTo>
                  <a:pt x="400050" y="207169"/>
                </a:lnTo>
                <a:lnTo>
                  <a:pt x="400050" y="157163"/>
                </a:lnTo>
                <a:lnTo>
                  <a:pt x="435769" y="157163"/>
                </a:lnTo>
                <a:cubicBezTo>
                  <a:pt x="447645" y="157163"/>
                  <a:pt x="457200" y="147608"/>
                  <a:pt x="457200" y="135731"/>
                </a:cubicBezTo>
                <a:cubicBezTo>
                  <a:pt x="457200" y="123855"/>
                  <a:pt x="447645" y="114300"/>
                  <a:pt x="435769" y="114300"/>
                </a:cubicBezTo>
                <a:lnTo>
                  <a:pt x="400050" y="114300"/>
                </a:lnTo>
                <a:cubicBezTo>
                  <a:pt x="400050" y="82778"/>
                  <a:pt x="374422" y="57150"/>
                  <a:pt x="342900" y="57150"/>
                </a:cubicBezTo>
                <a:lnTo>
                  <a:pt x="342900" y="21431"/>
                </a:lnTo>
                <a:cubicBezTo>
                  <a:pt x="342900" y="9555"/>
                  <a:pt x="333345" y="0"/>
                  <a:pt x="321469" y="0"/>
                </a:cubicBezTo>
                <a:cubicBezTo>
                  <a:pt x="309592" y="0"/>
                  <a:pt x="300038" y="9555"/>
                  <a:pt x="300038" y="21431"/>
                </a:cubicBezTo>
                <a:lnTo>
                  <a:pt x="300038" y="57150"/>
                </a:lnTo>
                <a:lnTo>
                  <a:pt x="250031" y="57150"/>
                </a:lnTo>
                <a:lnTo>
                  <a:pt x="250031" y="21431"/>
                </a:lnTo>
                <a:cubicBezTo>
                  <a:pt x="250031" y="9555"/>
                  <a:pt x="240476" y="0"/>
                  <a:pt x="228600" y="0"/>
                </a:cubicBezTo>
                <a:cubicBezTo>
                  <a:pt x="216724" y="0"/>
                  <a:pt x="207169" y="9555"/>
                  <a:pt x="207169" y="21431"/>
                </a:cubicBezTo>
                <a:lnTo>
                  <a:pt x="207169" y="57150"/>
                </a:lnTo>
                <a:lnTo>
                  <a:pt x="157163" y="57150"/>
                </a:lnTo>
                <a:lnTo>
                  <a:pt x="157163" y="21431"/>
                </a:lnTo>
                <a:close/>
                <a:moveTo>
                  <a:pt x="142875" y="114300"/>
                </a:moveTo>
                <a:lnTo>
                  <a:pt x="314325" y="114300"/>
                </a:lnTo>
                <a:cubicBezTo>
                  <a:pt x="330131" y="114300"/>
                  <a:pt x="342900" y="127069"/>
                  <a:pt x="342900" y="142875"/>
                </a:cubicBezTo>
                <a:lnTo>
                  <a:pt x="342900" y="314325"/>
                </a:lnTo>
                <a:cubicBezTo>
                  <a:pt x="342900" y="330131"/>
                  <a:pt x="330131" y="342900"/>
                  <a:pt x="314325" y="342900"/>
                </a:cubicBezTo>
                <a:lnTo>
                  <a:pt x="142875" y="342900"/>
                </a:lnTo>
                <a:cubicBezTo>
                  <a:pt x="127069" y="342900"/>
                  <a:pt x="114300" y="330131"/>
                  <a:pt x="114300" y="314325"/>
                </a:cubicBezTo>
                <a:lnTo>
                  <a:pt x="114300" y="142875"/>
                </a:lnTo>
                <a:cubicBezTo>
                  <a:pt x="114300" y="127069"/>
                  <a:pt x="127069" y="114300"/>
                  <a:pt x="142875" y="114300"/>
                </a:cubicBezTo>
                <a:close/>
                <a:moveTo>
                  <a:pt x="157163" y="157163"/>
                </a:moveTo>
                <a:lnTo>
                  <a:pt x="157163" y="300038"/>
                </a:lnTo>
                <a:lnTo>
                  <a:pt x="300038" y="300038"/>
                </a:lnTo>
                <a:lnTo>
                  <a:pt x="300038" y="157163"/>
                </a:lnTo>
                <a:lnTo>
                  <a:pt x="157163" y="157163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133600" y="2070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PLC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33600" y="2476500"/>
            <a:ext cx="546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Rugged, real-time industrial computer for automation</a:t>
            </a:r>
            <a:endParaRPr lang="en-US" sz="1500" dirty="0"/>
          </a:p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Ex: Siemens S7-1500, Allen-Bradley ControlLogix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270000" y="3594100"/>
            <a:ext cx="6604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524000" y="3848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65314" y="28575"/>
                </a:moveTo>
                <a:cubicBezTo>
                  <a:pt x="29289" y="28575"/>
                  <a:pt x="0" y="54203"/>
                  <a:pt x="0" y="85725"/>
                </a:cubicBezTo>
                <a:lnTo>
                  <a:pt x="0" y="142875"/>
                </a:lnTo>
                <a:cubicBezTo>
                  <a:pt x="0" y="174397"/>
                  <a:pt x="29289" y="200025"/>
                  <a:pt x="65314" y="200025"/>
                </a:cubicBezTo>
                <a:lnTo>
                  <a:pt x="391886" y="200025"/>
                </a:lnTo>
                <a:cubicBezTo>
                  <a:pt x="427911" y="200025"/>
                  <a:pt x="457200" y="174397"/>
                  <a:pt x="457200" y="142875"/>
                </a:cubicBezTo>
                <a:lnTo>
                  <a:pt x="457200" y="85725"/>
                </a:lnTo>
                <a:cubicBezTo>
                  <a:pt x="457200" y="54203"/>
                  <a:pt x="427911" y="28575"/>
                  <a:pt x="391886" y="28575"/>
                </a:cubicBezTo>
                <a:lnTo>
                  <a:pt x="65314" y="28575"/>
                </a:lnTo>
                <a:close/>
                <a:moveTo>
                  <a:pt x="285750" y="92869"/>
                </a:moveTo>
                <a:cubicBezTo>
                  <a:pt x="299268" y="92869"/>
                  <a:pt x="310243" y="102472"/>
                  <a:pt x="310243" y="114300"/>
                </a:cubicBezTo>
                <a:cubicBezTo>
                  <a:pt x="310243" y="126128"/>
                  <a:pt x="299268" y="135731"/>
                  <a:pt x="285750" y="135731"/>
                </a:cubicBezTo>
                <a:cubicBezTo>
                  <a:pt x="272232" y="135731"/>
                  <a:pt x="261257" y="126128"/>
                  <a:pt x="261257" y="114300"/>
                </a:cubicBezTo>
                <a:cubicBezTo>
                  <a:pt x="261257" y="102472"/>
                  <a:pt x="272232" y="92869"/>
                  <a:pt x="285750" y="92869"/>
                </a:cubicBezTo>
                <a:close/>
                <a:moveTo>
                  <a:pt x="342900" y="114300"/>
                </a:moveTo>
                <a:cubicBezTo>
                  <a:pt x="342900" y="102472"/>
                  <a:pt x="353875" y="92869"/>
                  <a:pt x="367393" y="92869"/>
                </a:cubicBezTo>
                <a:cubicBezTo>
                  <a:pt x="380911" y="92869"/>
                  <a:pt x="391886" y="102472"/>
                  <a:pt x="391886" y="114300"/>
                </a:cubicBezTo>
                <a:cubicBezTo>
                  <a:pt x="391886" y="126128"/>
                  <a:pt x="380911" y="135731"/>
                  <a:pt x="367393" y="135731"/>
                </a:cubicBezTo>
                <a:cubicBezTo>
                  <a:pt x="353875" y="135731"/>
                  <a:pt x="342900" y="126128"/>
                  <a:pt x="342900" y="114300"/>
                </a:cubicBezTo>
                <a:close/>
                <a:moveTo>
                  <a:pt x="65314" y="257175"/>
                </a:moveTo>
                <a:cubicBezTo>
                  <a:pt x="29289" y="257175"/>
                  <a:pt x="0" y="282803"/>
                  <a:pt x="0" y="314325"/>
                </a:cubicBezTo>
                <a:lnTo>
                  <a:pt x="0" y="371475"/>
                </a:lnTo>
                <a:cubicBezTo>
                  <a:pt x="0" y="402997"/>
                  <a:pt x="29289" y="428625"/>
                  <a:pt x="65314" y="428625"/>
                </a:cubicBezTo>
                <a:lnTo>
                  <a:pt x="391886" y="428625"/>
                </a:lnTo>
                <a:cubicBezTo>
                  <a:pt x="427911" y="428625"/>
                  <a:pt x="457200" y="402997"/>
                  <a:pt x="457200" y="371475"/>
                </a:cubicBezTo>
                <a:lnTo>
                  <a:pt x="457200" y="314325"/>
                </a:lnTo>
                <a:cubicBezTo>
                  <a:pt x="457200" y="282803"/>
                  <a:pt x="427911" y="257175"/>
                  <a:pt x="391886" y="257175"/>
                </a:cubicBezTo>
                <a:lnTo>
                  <a:pt x="65314" y="257175"/>
                </a:lnTo>
                <a:close/>
                <a:moveTo>
                  <a:pt x="285750" y="321469"/>
                </a:moveTo>
                <a:cubicBezTo>
                  <a:pt x="299268" y="321469"/>
                  <a:pt x="310243" y="331072"/>
                  <a:pt x="310243" y="342900"/>
                </a:cubicBezTo>
                <a:cubicBezTo>
                  <a:pt x="310243" y="354728"/>
                  <a:pt x="299268" y="364331"/>
                  <a:pt x="285750" y="364331"/>
                </a:cubicBezTo>
                <a:cubicBezTo>
                  <a:pt x="272232" y="364331"/>
                  <a:pt x="261257" y="354728"/>
                  <a:pt x="261257" y="342900"/>
                </a:cubicBezTo>
                <a:cubicBezTo>
                  <a:pt x="261257" y="331072"/>
                  <a:pt x="272232" y="321469"/>
                  <a:pt x="285750" y="321469"/>
                </a:cubicBezTo>
                <a:close/>
                <a:moveTo>
                  <a:pt x="342900" y="342900"/>
                </a:moveTo>
                <a:cubicBezTo>
                  <a:pt x="342900" y="331072"/>
                  <a:pt x="353875" y="321469"/>
                  <a:pt x="367393" y="321469"/>
                </a:cubicBezTo>
                <a:cubicBezTo>
                  <a:pt x="380911" y="321469"/>
                  <a:pt x="391886" y="331072"/>
                  <a:pt x="391886" y="342900"/>
                </a:cubicBezTo>
                <a:cubicBezTo>
                  <a:pt x="391886" y="354728"/>
                  <a:pt x="380911" y="364331"/>
                  <a:pt x="367393" y="364331"/>
                </a:cubicBezTo>
                <a:cubicBezTo>
                  <a:pt x="353875" y="364331"/>
                  <a:pt x="342900" y="354728"/>
                  <a:pt x="342900" y="3429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2133600" y="37846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DCS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133600" y="4191000"/>
            <a:ext cx="546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Large-scale control with distributed controllers</a:t>
            </a:r>
            <a:endParaRPr lang="en-US" sz="1500" dirty="0"/>
          </a:p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Ex: Honeywell Experion, Yokogawa CENTUM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270000" y="5308600"/>
            <a:ext cx="6604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524000" y="5562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00050" y="85725"/>
                </a:moveTo>
                <a:lnTo>
                  <a:pt x="400050" y="314325"/>
                </a:lnTo>
                <a:lnTo>
                  <a:pt x="57150" y="314325"/>
                </a:lnTo>
                <a:lnTo>
                  <a:pt x="57150" y="85725"/>
                </a:lnTo>
                <a:lnTo>
                  <a:pt x="400050" y="85725"/>
                </a:lnTo>
                <a:close/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314325"/>
                </a:lnTo>
                <a:cubicBezTo>
                  <a:pt x="0" y="345847"/>
                  <a:pt x="25628" y="371475"/>
                  <a:pt x="57150" y="371475"/>
                </a:cubicBezTo>
                <a:lnTo>
                  <a:pt x="185738" y="371475"/>
                </a:lnTo>
                <a:lnTo>
                  <a:pt x="171450" y="414338"/>
                </a:lnTo>
                <a:lnTo>
                  <a:pt x="107156" y="414338"/>
                </a:lnTo>
                <a:cubicBezTo>
                  <a:pt x="95280" y="414338"/>
                  <a:pt x="85725" y="423892"/>
                  <a:pt x="85725" y="435769"/>
                </a:cubicBezTo>
                <a:cubicBezTo>
                  <a:pt x="85725" y="447645"/>
                  <a:pt x="95280" y="457200"/>
                  <a:pt x="107156" y="457200"/>
                </a:cubicBezTo>
                <a:lnTo>
                  <a:pt x="350044" y="457200"/>
                </a:lnTo>
                <a:cubicBezTo>
                  <a:pt x="361920" y="457200"/>
                  <a:pt x="371475" y="447645"/>
                  <a:pt x="371475" y="435769"/>
                </a:cubicBezTo>
                <a:cubicBezTo>
                  <a:pt x="371475" y="423892"/>
                  <a:pt x="361920" y="414338"/>
                  <a:pt x="350044" y="414338"/>
                </a:cubicBezTo>
                <a:lnTo>
                  <a:pt x="285750" y="414338"/>
                </a:lnTo>
                <a:lnTo>
                  <a:pt x="271463" y="371475"/>
                </a:lnTo>
                <a:lnTo>
                  <a:pt x="400050" y="371475"/>
                </a:lnTo>
                <a:cubicBezTo>
                  <a:pt x="431572" y="371475"/>
                  <a:pt x="457200" y="345847"/>
                  <a:pt x="457200" y="314325"/>
                </a:cubicBezTo>
                <a:lnTo>
                  <a:pt x="457200" y="85725"/>
                </a:lnTo>
                <a:cubicBezTo>
                  <a:pt x="457200" y="54203"/>
                  <a:pt x="431572" y="28575"/>
                  <a:pt x="400050" y="28575"/>
                </a:cubicBezTo>
                <a:lnTo>
                  <a:pt x="57150" y="28575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4" name="Text 12"/>
          <p:cNvSpPr/>
          <p:nvPr/>
        </p:nvSpPr>
        <p:spPr>
          <a:xfrm>
            <a:off x="2133600" y="5499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SCADA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133600" y="5905500"/>
            <a:ext cx="546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Centralized monitoring of dispersed systems</a:t>
            </a:r>
            <a:endParaRPr lang="en-US" sz="1500" dirty="0"/>
          </a:p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Ex: Wonderware, Ignition, WinCC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270000" y="7023100"/>
            <a:ext cx="6604000" cy="1143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524000" y="7277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30629" y="35719"/>
                </a:moveTo>
                <a:cubicBezTo>
                  <a:pt x="130629" y="15984"/>
                  <a:pt x="148896" y="0"/>
                  <a:pt x="171450" y="0"/>
                </a:cubicBezTo>
                <a:cubicBezTo>
                  <a:pt x="194004" y="0"/>
                  <a:pt x="212271" y="15984"/>
                  <a:pt x="212271" y="35719"/>
                </a:cubicBezTo>
                <a:lnTo>
                  <a:pt x="212271" y="168057"/>
                </a:lnTo>
                <a:cubicBezTo>
                  <a:pt x="220946" y="161270"/>
                  <a:pt x="232376" y="157163"/>
                  <a:pt x="244929" y="157163"/>
                </a:cubicBezTo>
                <a:cubicBezTo>
                  <a:pt x="265952" y="157163"/>
                  <a:pt x="283913" y="168771"/>
                  <a:pt x="290853" y="185023"/>
                </a:cubicBezTo>
                <a:cubicBezTo>
                  <a:pt x="299833" y="176719"/>
                  <a:pt x="312488" y="171450"/>
                  <a:pt x="326571" y="171450"/>
                </a:cubicBezTo>
                <a:cubicBezTo>
                  <a:pt x="352391" y="171450"/>
                  <a:pt x="373516" y="188863"/>
                  <a:pt x="375455" y="211009"/>
                </a:cubicBezTo>
                <a:cubicBezTo>
                  <a:pt x="384130" y="204133"/>
                  <a:pt x="395662" y="200025"/>
                  <a:pt x="408214" y="200025"/>
                </a:cubicBezTo>
                <a:cubicBezTo>
                  <a:pt x="435258" y="200025"/>
                  <a:pt x="457200" y="219224"/>
                  <a:pt x="457200" y="242888"/>
                </a:cubicBezTo>
                <a:lnTo>
                  <a:pt x="457200" y="342900"/>
                </a:lnTo>
                <a:cubicBezTo>
                  <a:pt x="457200" y="406033"/>
                  <a:pt x="398723" y="457200"/>
                  <a:pt x="326571" y="457200"/>
                </a:cubicBezTo>
                <a:lnTo>
                  <a:pt x="239520" y="457200"/>
                </a:lnTo>
                <a:cubicBezTo>
                  <a:pt x="234417" y="457200"/>
                  <a:pt x="229416" y="456932"/>
                  <a:pt x="224518" y="456307"/>
                </a:cubicBezTo>
                <a:cubicBezTo>
                  <a:pt x="168082" y="451306"/>
                  <a:pt x="116137" y="425946"/>
                  <a:pt x="81643" y="385763"/>
                </a:cubicBezTo>
                <a:lnTo>
                  <a:pt x="8164" y="300038"/>
                </a:lnTo>
                <a:cubicBezTo>
                  <a:pt x="-5409" y="284232"/>
                  <a:pt x="-1735" y="261908"/>
                  <a:pt x="16329" y="250031"/>
                </a:cubicBezTo>
                <a:cubicBezTo>
                  <a:pt x="34392" y="238155"/>
                  <a:pt x="59905" y="241369"/>
                  <a:pt x="73479" y="257175"/>
                </a:cubicBezTo>
                <a:lnTo>
                  <a:pt x="130629" y="323880"/>
                </a:lnTo>
                <a:lnTo>
                  <a:pt x="130629" y="35719"/>
                </a:lnTo>
                <a:close/>
                <a:moveTo>
                  <a:pt x="244929" y="271463"/>
                </a:moveTo>
                <a:cubicBezTo>
                  <a:pt x="244929" y="263604"/>
                  <a:pt x="237581" y="257175"/>
                  <a:pt x="228600" y="257175"/>
                </a:cubicBezTo>
                <a:cubicBezTo>
                  <a:pt x="219619" y="257175"/>
                  <a:pt x="212271" y="263604"/>
                  <a:pt x="212271" y="271463"/>
                </a:cubicBezTo>
                <a:lnTo>
                  <a:pt x="212271" y="357188"/>
                </a:lnTo>
                <a:cubicBezTo>
                  <a:pt x="212271" y="365046"/>
                  <a:pt x="219619" y="371475"/>
                  <a:pt x="228600" y="371475"/>
                </a:cubicBezTo>
                <a:cubicBezTo>
                  <a:pt x="237581" y="371475"/>
                  <a:pt x="244929" y="365046"/>
                  <a:pt x="244929" y="357188"/>
                </a:cubicBezTo>
                <a:lnTo>
                  <a:pt x="244929" y="271463"/>
                </a:lnTo>
                <a:close/>
                <a:moveTo>
                  <a:pt x="293914" y="257175"/>
                </a:moveTo>
                <a:cubicBezTo>
                  <a:pt x="284934" y="257175"/>
                  <a:pt x="277586" y="263604"/>
                  <a:pt x="277586" y="271463"/>
                </a:cubicBezTo>
                <a:lnTo>
                  <a:pt x="277586" y="357188"/>
                </a:lnTo>
                <a:cubicBezTo>
                  <a:pt x="277586" y="365046"/>
                  <a:pt x="284934" y="371475"/>
                  <a:pt x="293914" y="371475"/>
                </a:cubicBezTo>
                <a:cubicBezTo>
                  <a:pt x="302895" y="371475"/>
                  <a:pt x="310243" y="365046"/>
                  <a:pt x="310243" y="357188"/>
                </a:cubicBezTo>
                <a:lnTo>
                  <a:pt x="310243" y="271463"/>
                </a:lnTo>
                <a:cubicBezTo>
                  <a:pt x="310243" y="263604"/>
                  <a:pt x="302895" y="257175"/>
                  <a:pt x="293914" y="257175"/>
                </a:cubicBezTo>
                <a:close/>
                <a:moveTo>
                  <a:pt x="375557" y="271463"/>
                </a:moveTo>
                <a:cubicBezTo>
                  <a:pt x="375557" y="263604"/>
                  <a:pt x="368209" y="257175"/>
                  <a:pt x="359229" y="257175"/>
                </a:cubicBezTo>
                <a:cubicBezTo>
                  <a:pt x="350248" y="257175"/>
                  <a:pt x="342900" y="263604"/>
                  <a:pt x="342900" y="271463"/>
                </a:cubicBezTo>
                <a:lnTo>
                  <a:pt x="342900" y="357188"/>
                </a:lnTo>
                <a:cubicBezTo>
                  <a:pt x="342900" y="365046"/>
                  <a:pt x="350248" y="371475"/>
                  <a:pt x="359229" y="371475"/>
                </a:cubicBezTo>
                <a:cubicBezTo>
                  <a:pt x="368209" y="371475"/>
                  <a:pt x="375557" y="365046"/>
                  <a:pt x="375557" y="357188"/>
                </a:cubicBezTo>
                <a:lnTo>
                  <a:pt x="375557" y="271463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8" name="Text 16"/>
          <p:cNvSpPr/>
          <p:nvPr/>
        </p:nvSpPr>
        <p:spPr>
          <a:xfrm>
            <a:off x="2133600" y="72136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HMI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133600" y="7620000"/>
            <a:ext cx="546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Touchscreen panels for operator interaction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82000" y="18796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PLC vs DCS vs SCADA</a:t>
            </a:r>
            <a:endParaRPr lang="en-US" sz="2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2387600"/>
          <a:ext cx="6604000" cy="3556000"/>
        </p:xfrm>
        <a:graphic>
          <a:graphicData uri="http://schemas.openxmlformats.org/drawingml/2006/table">
            <a:tbl>
              <a:tblPr/>
              <a:tblGrid>
                <a:gridCol w="1452880"/>
                <a:gridCol w="1717040"/>
                <a:gridCol w="1717040"/>
                <a:gridCol w="1717040"/>
              </a:tblGrid>
              <a:tr h="56896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Feature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PLC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DCS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SCADA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Scale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Small-Medium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Large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Very Large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Speed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Real-time (ms)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Fast (100ms)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Variable (s)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Industry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Manufacturing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Oil, Chemical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Utilities, Water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Cost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Low-Medium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High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Medium-High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pic>
        <p:nvPicPr>
          <p:cNvPr id="22" name="Image 0" descr="https://kimi-img.moonshot.cn/pub/slides/okc/nzffcm4kpdkvi/mnt/agents/output/ccs-week11/images/1_PLC_HMI_and_SCADA_Control_Syst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382000" y="6223000"/>
            <a:ext cx="6604000" cy="1905000"/>
          </a:xfrm>
          <a:prstGeom prst="roundRect">
            <a:avLst>
              <a:gd name="adj" fmla="val 8000"/>
            </a:avLst>
          </a:prstGeom>
        </p:spPr>
      </p:pic>
      <p:sp>
        <p:nvSpPr>
          <p:cNvPr id="23" name="Text 1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698500"/>
            <a:ext cx="1143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PLC Programming — Ladder Logic Example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841500"/>
            <a:ext cx="6350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Ladder Logic?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Graphical language for PLCs. Resembles relay circuits with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rungs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rails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Instructions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XIC — Examine If Closed  • XIO — Examine If Open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OTE — Output Energize  • TON — Timer On-Delay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001000" y="1841500"/>
            <a:ext cx="6985000" cy="304800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/>
          <a:effectLst>
            <a:outerShdw sx="100000" sy="100000" kx="0" ky="0" algn="bl" rotWithShape="0" blurRad="152400" dist="50800" dir="5400000">
              <a:srgbClr val="000000">
                <a:alpha val="8235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01000" y="1841500"/>
            <a:ext cx="6985000" cy="457200"/>
          </a:xfrm>
          <a:prstGeom prst="roundRect">
            <a:avLst>
              <a:gd name="adj" fmla="val 8000"/>
            </a:avLst>
          </a:prstGeom>
          <a:solidFill>
            <a:srgbClr val="2D2D2D"/>
          </a:solidFill>
          <a:ln/>
        </p:spPr>
      </p:sp>
      <p:sp>
        <p:nvSpPr>
          <p:cNvPr id="7" name="Text 5"/>
          <p:cNvSpPr/>
          <p:nvPr/>
        </p:nvSpPr>
        <p:spPr>
          <a:xfrm>
            <a:off x="8191500" y="1841500"/>
            <a:ext cx="127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● ● 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525000" y="18415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conveyor_belt_control.ld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55000" y="2413000"/>
            <a:ext cx="6477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Conveyor Belt Motor Control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Rung 1: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Motor Start/Stop Latch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|--[ 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START_SW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]--+--[/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STOP_SW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/]--(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MOTOR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)--|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              +--[ 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MOTOR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]----------------|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Rung 2: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Overload Protection Timer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|--[ 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MOTOR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]--+--[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TON T1 10s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]--(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44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ALARM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)--|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70000" y="5207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Modern PLC Programming Languages (IEC 61131-3)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270000" y="5778500"/>
            <a:ext cx="2540000" cy="1016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</p:spPr>
      </p:sp>
      <p:sp>
        <p:nvSpPr>
          <p:cNvPr id="12" name="Text 10"/>
          <p:cNvSpPr/>
          <p:nvPr/>
        </p:nvSpPr>
        <p:spPr>
          <a:xfrm>
            <a:off x="1270000" y="57785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Ladder Diagram</a:t>
            </a:r>
            <a:endParaRPr lang="en-US" sz="18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(LD) — Most popular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064000" y="5778500"/>
            <a:ext cx="2540000" cy="1016000"/>
          </a:xfrm>
          <a:prstGeom prst="roundRect">
            <a:avLst>
              <a:gd name="adj" fmla="val 10000"/>
            </a:avLst>
          </a:pr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4064000" y="57785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Structured Text</a:t>
            </a:r>
            <a:endParaRPr lang="en-US" sz="18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(ST) — Pascal-like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858000" y="5778500"/>
            <a:ext cx="2540000" cy="1016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57785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Function Block</a:t>
            </a:r>
            <a:endParaRPr lang="en-US" sz="18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(FBD) — Graphical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652000" y="5778500"/>
            <a:ext cx="2540000" cy="1016000"/>
          </a:xfrm>
          <a:prstGeom prst="roundRect">
            <a:avLst>
              <a:gd name="adj" fmla="val 10000"/>
            </a:avLst>
          </a:prstGeom>
          <a:solidFill>
            <a:srgbClr val="FF7F50"/>
          </a:solidFill>
          <a:ln/>
        </p:spPr>
      </p:sp>
      <p:sp>
        <p:nvSpPr>
          <p:cNvPr id="18" name="Text 16"/>
          <p:cNvSpPr/>
          <p:nvPr/>
        </p:nvSpPr>
        <p:spPr>
          <a:xfrm>
            <a:off x="9652000" y="57785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Sequential Func</a:t>
            </a:r>
            <a:endParaRPr lang="en-US" sz="18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(SFC) — State-based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446000" y="5778500"/>
            <a:ext cx="2540000" cy="1016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</p:spPr>
      </p:sp>
      <p:sp>
        <p:nvSpPr>
          <p:cNvPr id="20" name="Text 18"/>
          <p:cNvSpPr/>
          <p:nvPr/>
        </p:nvSpPr>
        <p:spPr>
          <a:xfrm>
            <a:off x="12446000" y="57785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Instruction List</a:t>
            </a:r>
            <a:endParaRPr lang="en-US" sz="18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(IL) — Assembly-like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270000" y="7112000"/>
            <a:ext cx="13716000" cy="889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78000" y="7175500"/>
            <a:ext cx="1270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bottling plant PLC controls </a:t>
            </a:r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500+ bottles/minute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with </a:t>
            </a:r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99.97%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accuracy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698500"/>
            <a:ext cx="1143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SCADA Systems &amp; Applications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778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SCADA Architecture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270000" y="2349500"/>
            <a:ext cx="2540000" cy="6350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270000" y="23495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Field Devices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937000" y="2641600"/>
            <a:ext cx="508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4572000" y="2349500"/>
            <a:ext cx="2286000" cy="6350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23495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RTU / PLC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985000" y="2641600"/>
            <a:ext cx="508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7620000" y="2349500"/>
            <a:ext cx="2540000" cy="6350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0" y="23495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Comm Network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287000" y="2641600"/>
            <a:ext cx="508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10922000" y="2349500"/>
            <a:ext cx="2286000" cy="6350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15" name="Text 13"/>
          <p:cNvSpPr/>
          <p:nvPr/>
        </p:nvSpPr>
        <p:spPr>
          <a:xfrm>
            <a:off x="10922000" y="23495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SCADA Server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065000" y="3111500"/>
            <a:ext cx="0" cy="38100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10668000" y="3556000"/>
            <a:ext cx="2794000" cy="635000"/>
          </a:xfrm>
          <a:prstGeom prst="roundRect">
            <a:avLst>
              <a:gd name="adj" fmla="val 12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5400000" scaled="1"/>
          </a:gradFill>
          <a:ln/>
        </p:spPr>
      </p:sp>
      <p:sp>
        <p:nvSpPr>
          <p:cNvPr id="18" name="Text 16"/>
          <p:cNvSpPr/>
          <p:nvPr/>
        </p:nvSpPr>
        <p:spPr>
          <a:xfrm>
            <a:off x="10668000" y="35560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HMI Workstation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0000" y="3302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Functions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70000" y="3810000"/>
            <a:ext cx="635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Real-time monitoring &amp; alarm management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Historical data logging &amp; report generation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Remote control of geographically dispersed systems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70000" y="5080000"/>
            <a:ext cx="4318000" cy="1968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524000" y="5270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85328" y="381000"/>
                  <a:pt x="0" y="317004"/>
                  <a:pt x="0" y="238125"/>
                </a:cubicBezTo>
                <a:cubicBezTo>
                  <a:pt x="0" y="170259"/>
                  <a:pt x="129183" y="34156"/>
                  <a:pt x="165298" y="-2604"/>
                </a:cubicBezTo>
                <a:cubicBezTo>
                  <a:pt x="171152" y="-8558"/>
                  <a:pt x="180380" y="-11906"/>
                  <a:pt x="190302" y="-11906"/>
                </a:cubicBezTo>
                <a:lnTo>
                  <a:pt x="190698" y="-11906"/>
                </a:lnTo>
                <a:cubicBezTo>
                  <a:pt x="200620" y="-11906"/>
                  <a:pt x="209848" y="-8558"/>
                  <a:pt x="215702" y="-2604"/>
                </a:cubicBezTo>
                <a:cubicBezTo>
                  <a:pt x="251817" y="34156"/>
                  <a:pt x="381000" y="170259"/>
                  <a:pt x="381000" y="238125"/>
                </a:cubicBezTo>
                <a:cubicBezTo>
                  <a:pt x="381000" y="317004"/>
                  <a:pt x="295672" y="381000"/>
                  <a:pt x="190500" y="381000"/>
                </a:cubicBezTo>
                <a:close/>
                <a:moveTo>
                  <a:pt x="111125" y="232172"/>
                </a:moveTo>
                <a:cubicBezTo>
                  <a:pt x="111125" y="222275"/>
                  <a:pt x="100509" y="214313"/>
                  <a:pt x="87313" y="214313"/>
                </a:cubicBezTo>
                <a:cubicBezTo>
                  <a:pt x="74116" y="214313"/>
                  <a:pt x="63500" y="222275"/>
                  <a:pt x="63500" y="232172"/>
                </a:cubicBezTo>
                <a:cubicBezTo>
                  <a:pt x="63500" y="288057"/>
                  <a:pt x="123924" y="333375"/>
                  <a:pt x="198438" y="333375"/>
                </a:cubicBezTo>
                <a:cubicBezTo>
                  <a:pt x="211634" y="333375"/>
                  <a:pt x="222250" y="325413"/>
                  <a:pt x="222250" y="315516"/>
                </a:cubicBezTo>
                <a:cubicBezTo>
                  <a:pt x="222250" y="305619"/>
                  <a:pt x="211634" y="297656"/>
                  <a:pt x="198438" y="297656"/>
                </a:cubicBezTo>
                <a:cubicBezTo>
                  <a:pt x="150217" y="297656"/>
                  <a:pt x="111125" y="268337"/>
                  <a:pt x="111125" y="232172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23" name="Text 21"/>
          <p:cNvSpPr/>
          <p:nvPr/>
        </p:nvSpPr>
        <p:spPr>
          <a:xfrm>
            <a:off x="2006600" y="52705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Water Treatment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24000" y="5778500"/>
            <a:ext cx="381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Thames Water (UK)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350 treatment plants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30,000 km of pipes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15 million customers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842000" y="5080000"/>
            <a:ext cx="4318000" cy="1968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96000" y="5270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49448" y="45616"/>
                </a:moveTo>
                <a:cubicBezTo>
                  <a:pt x="341908" y="13841"/>
                  <a:pt x="312870" y="-4986"/>
                  <a:pt x="284626" y="3497"/>
                </a:cubicBezTo>
                <a:lnTo>
                  <a:pt x="274439" y="6548"/>
                </a:lnTo>
                <a:cubicBezTo>
                  <a:pt x="263128" y="9971"/>
                  <a:pt x="256447" y="23068"/>
                  <a:pt x="259490" y="35719"/>
                </a:cubicBezTo>
                <a:lnTo>
                  <a:pt x="275696" y="103733"/>
                </a:lnTo>
                <a:lnTo>
                  <a:pt x="204126" y="124644"/>
                </a:lnTo>
                <a:lnTo>
                  <a:pt x="199959" y="111175"/>
                </a:lnTo>
                <a:cubicBezTo>
                  <a:pt x="196916" y="101650"/>
                  <a:pt x="188913" y="95250"/>
                  <a:pt x="179917" y="95250"/>
                </a:cubicBezTo>
                <a:cubicBezTo>
                  <a:pt x="170921" y="95250"/>
                  <a:pt x="162917" y="101650"/>
                  <a:pt x="159941" y="111175"/>
                </a:cubicBezTo>
                <a:lnTo>
                  <a:pt x="150945" y="140196"/>
                </a:lnTo>
                <a:lnTo>
                  <a:pt x="63500" y="165720"/>
                </a:lnTo>
                <a:lnTo>
                  <a:pt x="63500" y="136996"/>
                </a:lnTo>
                <a:cubicBezTo>
                  <a:pt x="63500" y="127099"/>
                  <a:pt x="56422" y="119137"/>
                  <a:pt x="47625" y="119137"/>
                </a:cubicBezTo>
                <a:cubicBezTo>
                  <a:pt x="38828" y="119137"/>
                  <a:pt x="31750" y="127099"/>
                  <a:pt x="31750" y="136996"/>
                </a:cubicBezTo>
                <a:lnTo>
                  <a:pt x="31750" y="333449"/>
                </a:lnTo>
                <a:lnTo>
                  <a:pt x="21167" y="333449"/>
                </a:lnTo>
                <a:cubicBezTo>
                  <a:pt x="9459" y="333449"/>
                  <a:pt x="0" y="344091"/>
                  <a:pt x="0" y="357262"/>
                </a:cubicBezTo>
                <a:cubicBezTo>
                  <a:pt x="0" y="370433"/>
                  <a:pt x="9459" y="381074"/>
                  <a:pt x="21167" y="381074"/>
                </a:cubicBezTo>
                <a:lnTo>
                  <a:pt x="359833" y="381074"/>
                </a:lnTo>
                <a:cubicBezTo>
                  <a:pt x="371541" y="381074"/>
                  <a:pt x="381000" y="370433"/>
                  <a:pt x="381000" y="357262"/>
                </a:cubicBezTo>
                <a:cubicBezTo>
                  <a:pt x="381000" y="344091"/>
                  <a:pt x="371541" y="333449"/>
                  <a:pt x="359833" y="333449"/>
                </a:cubicBezTo>
                <a:lnTo>
                  <a:pt x="269015" y="333449"/>
                </a:lnTo>
                <a:lnTo>
                  <a:pt x="228402" y="202927"/>
                </a:lnTo>
                <a:lnTo>
                  <a:pt x="187259" y="214908"/>
                </a:lnTo>
                <a:lnTo>
                  <a:pt x="201877" y="261938"/>
                </a:lnTo>
                <a:lnTo>
                  <a:pt x="157824" y="261938"/>
                </a:lnTo>
                <a:lnTo>
                  <a:pt x="170987" y="219596"/>
                </a:lnTo>
                <a:lnTo>
                  <a:pt x="121642" y="233958"/>
                </a:lnTo>
                <a:lnTo>
                  <a:pt x="90752" y="333301"/>
                </a:lnTo>
                <a:lnTo>
                  <a:pt x="63434" y="333301"/>
                </a:lnTo>
                <a:lnTo>
                  <a:pt x="63434" y="214833"/>
                </a:lnTo>
                <a:lnTo>
                  <a:pt x="286610" y="149721"/>
                </a:lnTo>
                <a:lnTo>
                  <a:pt x="303279" y="219670"/>
                </a:lnTo>
                <a:cubicBezTo>
                  <a:pt x="306321" y="232395"/>
                  <a:pt x="317897" y="239911"/>
                  <a:pt x="329208" y="236488"/>
                </a:cubicBezTo>
                <a:lnTo>
                  <a:pt x="339460" y="233437"/>
                </a:lnTo>
                <a:cubicBezTo>
                  <a:pt x="367705" y="224954"/>
                  <a:pt x="384440" y="192286"/>
                  <a:pt x="376899" y="160511"/>
                </a:cubicBezTo>
                <a:lnTo>
                  <a:pt x="349448" y="45616"/>
                </a:lnTo>
                <a:close/>
                <a:moveTo>
                  <a:pt x="135665" y="333375"/>
                </a:moveTo>
                <a:lnTo>
                  <a:pt x="146778" y="297656"/>
                </a:lnTo>
                <a:lnTo>
                  <a:pt x="213056" y="297656"/>
                </a:lnTo>
                <a:lnTo>
                  <a:pt x="224168" y="333375"/>
                </a:lnTo>
                <a:lnTo>
                  <a:pt x="135665" y="333375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7" name="Text 25"/>
          <p:cNvSpPr/>
          <p:nvPr/>
        </p:nvSpPr>
        <p:spPr>
          <a:xfrm>
            <a:off x="6578600" y="52705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Oil &amp; Gas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096000" y="5778500"/>
            <a:ext cx="381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Shell Offshore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3,000+ wells monitored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Real-time pressure &amp; temp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Remote flow control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0414000" y="5080000"/>
            <a:ext cx="4572000" cy="19685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30" name="Shape 28"/>
          <p:cNvSpPr/>
          <p:nvPr/>
        </p:nvSpPr>
        <p:spPr>
          <a:xfrm>
            <a:off x="10668000" y="5270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88131" y="-7367"/>
                </a:moveTo>
                <a:cubicBezTo>
                  <a:pt x="298252" y="-967"/>
                  <a:pt x="301994" y="10641"/>
                  <a:pt x="297401" y="20762"/>
                </a:cubicBezTo>
                <a:lnTo>
                  <a:pt x="230726" y="166688"/>
                </a:lnTo>
                <a:lnTo>
                  <a:pt x="353786" y="166688"/>
                </a:lnTo>
                <a:cubicBezTo>
                  <a:pt x="365267" y="166688"/>
                  <a:pt x="375472" y="172938"/>
                  <a:pt x="379384" y="182389"/>
                </a:cubicBezTo>
                <a:cubicBezTo>
                  <a:pt x="383296" y="191839"/>
                  <a:pt x="379979" y="202406"/>
                  <a:pt x="371220" y="208806"/>
                </a:cubicBezTo>
                <a:lnTo>
                  <a:pt x="126291" y="387400"/>
                </a:lnTo>
                <a:cubicBezTo>
                  <a:pt x="116681" y="394395"/>
                  <a:pt x="102989" y="394767"/>
                  <a:pt x="92869" y="388367"/>
                </a:cubicBezTo>
                <a:cubicBezTo>
                  <a:pt x="82748" y="381967"/>
                  <a:pt x="79006" y="370359"/>
                  <a:pt x="83599" y="360238"/>
                </a:cubicBezTo>
                <a:lnTo>
                  <a:pt x="150274" y="214313"/>
                </a:lnTo>
                <a:lnTo>
                  <a:pt x="27214" y="214313"/>
                </a:lnTo>
                <a:cubicBezTo>
                  <a:pt x="15733" y="214313"/>
                  <a:pt x="5528" y="208062"/>
                  <a:pt x="1616" y="198611"/>
                </a:cubicBezTo>
                <a:cubicBezTo>
                  <a:pt x="-2296" y="189161"/>
                  <a:pt x="1021" y="178594"/>
                  <a:pt x="9780" y="172194"/>
                </a:cubicBezTo>
                <a:lnTo>
                  <a:pt x="254709" y="-6400"/>
                </a:lnTo>
                <a:cubicBezTo>
                  <a:pt x="264319" y="-13395"/>
                  <a:pt x="278011" y="-13767"/>
                  <a:pt x="288131" y="-736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1150600" y="52705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Power Grid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668000" y="5778500"/>
            <a:ext cx="406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National Grid (UK)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25,000 km of lines controlled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Real-time load balancing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Automatic fault detection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270000" y="7112000"/>
            <a:ext cx="13716000" cy="889000"/>
          </a:xfrm>
          <a:prstGeom prst="roundRect">
            <a:avLst>
              <a:gd name="adj" fmla="val 6000"/>
            </a:avLst>
          </a:prstGeom>
          <a:solidFill>
            <a:srgbClr val="FFF3E0"/>
          </a:solidFill>
          <a:ln w="12700">
            <a:solidFill>
              <a:srgbClr val="FF7F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524000" y="7302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cubicBezTo>
                  <a:pt x="201439" y="0"/>
                  <a:pt x="211485" y="6028"/>
                  <a:pt x="216694" y="15627"/>
                </a:cubicBezTo>
                <a:lnTo>
                  <a:pt x="377428" y="313283"/>
                </a:lnTo>
                <a:cubicBezTo>
                  <a:pt x="382414" y="322511"/>
                  <a:pt x="382191" y="333673"/>
                  <a:pt x="376833" y="342677"/>
                </a:cubicBezTo>
                <a:cubicBezTo>
                  <a:pt x="371475" y="351681"/>
                  <a:pt x="361727" y="357188"/>
                  <a:pt x="351234" y="357188"/>
                </a:cubicBezTo>
                <a:lnTo>
                  <a:pt x="29766" y="357188"/>
                </a:lnTo>
                <a:cubicBezTo>
                  <a:pt x="19273" y="357188"/>
                  <a:pt x="9599" y="351681"/>
                  <a:pt x="4167" y="342677"/>
                </a:cubicBezTo>
                <a:cubicBezTo>
                  <a:pt x="-1265" y="333673"/>
                  <a:pt x="-1414" y="322511"/>
                  <a:pt x="3572" y="313283"/>
                </a:cubicBezTo>
                <a:lnTo>
                  <a:pt x="164306" y="15627"/>
                </a:lnTo>
                <a:cubicBezTo>
                  <a:pt x="169515" y="6028"/>
                  <a:pt x="179561" y="0"/>
                  <a:pt x="190500" y="0"/>
                </a:cubicBezTo>
                <a:close/>
                <a:moveTo>
                  <a:pt x="190500" y="125016"/>
                </a:moveTo>
                <a:cubicBezTo>
                  <a:pt x="180603" y="125016"/>
                  <a:pt x="172641" y="132978"/>
                  <a:pt x="172641" y="142875"/>
                </a:cubicBezTo>
                <a:lnTo>
                  <a:pt x="172641" y="226219"/>
                </a:lnTo>
                <a:cubicBezTo>
                  <a:pt x="172641" y="236116"/>
                  <a:pt x="180603" y="244078"/>
                  <a:pt x="190500" y="244078"/>
                </a:cubicBezTo>
                <a:cubicBezTo>
                  <a:pt x="200397" y="244078"/>
                  <a:pt x="208359" y="236116"/>
                  <a:pt x="208359" y="226219"/>
                </a:cubicBezTo>
                <a:lnTo>
                  <a:pt x="208359" y="142875"/>
                </a:lnTo>
                <a:cubicBezTo>
                  <a:pt x="208359" y="132978"/>
                  <a:pt x="200397" y="125016"/>
                  <a:pt x="190500" y="125016"/>
                </a:cubicBezTo>
                <a:close/>
                <a:moveTo>
                  <a:pt x="210369" y="285750"/>
                </a:moveTo>
                <a:cubicBezTo>
                  <a:pt x="210821" y="278375"/>
                  <a:pt x="207143" y="271358"/>
                  <a:pt x="200820" y="267534"/>
                </a:cubicBezTo>
                <a:cubicBezTo>
                  <a:pt x="194498" y="263710"/>
                  <a:pt x="186576" y="263710"/>
                  <a:pt x="180254" y="267534"/>
                </a:cubicBezTo>
                <a:cubicBezTo>
                  <a:pt x="173932" y="271358"/>
                  <a:pt x="170254" y="278375"/>
                  <a:pt x="170706" y="285750"/>
                </a:cubicBezTo>
                <a:cubicBezTo>
                  <a:pt x="170254" y="293125"/>
                  <a:pt x="173932" y="300142"/>
                  <a:pt x="180254" y="303966"/>
                </a:cubicBezTo>
                <a:cubicBezTo>
                  <a:pt x="186576" y="307790"/>
                  <a:pt x="194498" y="307790"/>
                  <a:pt x="200820" y="303966"/>
                </a:cubicBezTo>
                <a:cubicBezTo>
                  <a:pt x="207143" y="300142"/>
                  <a:pt x="210821" y="293125"/>
                  <a:pt x="210369" y="28575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35" name="Text 33"/>
          <p:cNvSpPr/>
          <p:nvPr/>
        </p:nvSpPr>
        <p:spPr>
          <a:xfrm>
            <a:off x="2095500" y="7175500"/>
            <a:ext cx="1257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Security Alert: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Stuxnet worm (2010) targeted SCADA systems, causing </a:t>
            </a:r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$1B+ in damages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Ransomware attacks on factories increased 156% in 2023.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Autonomous Vehicles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Self-driving technology and its levels, types, and real-world applications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698500"/>
            <a:ext cx="1143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Autonomous Vehicles — Definition &amp; Overview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841500"/>
            <a:ext cx="7112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autonomous vehicle (AV)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senses its environment and operates without human involvement.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Technologies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Computer vision, LIDAR, RADAR, GPS/IMU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Sensor fusion, machine learning, path planning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Players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Tesla, Waymo, Cruise, Baidu Apollo, Mobileye</a:t>
            </a:r>
            <a:endParaRPr lang="en-US" sz="1800" dirty="0"/>
          </a:p>
        </p:txBody>
      </p:sp>
      <p:pic>
        <p:nvPicPr>
          <p:cNvPr id="5" name="Image 0" descr="https://kimi-img.moonshot.cn/pub/slides/okc/nzffcm4kpdkvi/mnt/agents/output/ccs-week11/images/6_Aerodynamic_sensors_could_speed_u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890000" y="1841500"/>
            <a:ext cx="6096000" cy="3937000"/>
          </a:xfrm>
          <a:prstGeom prst="roundRect">
            <a:avLst>
              <a:gd name="adj" fmla="val 800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1270000" y="6096000"/>
            <a:ext cx="13716000" cy="1905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524000" y="6286500"/>
            <a:ext cx="406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$2.3 Trillion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1524000" y="7048500"/>
            <a:ext cx="406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Expected AV Market by 2030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842000" y="6286500"/>
            <a:ext cx="406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33 Million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5842000" y="7048500"/>
            <a:ext cx="406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Autonomous Vehicles on Roads (2030)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160000" y="6286500"/>
            <a:ext cx="4572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SAE J3016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10160000" y="7048500"/>
            <a:ext cx="457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6-Level Autonomy Classification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Levels of Vehicle Autonomy (SAE J3016)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2159000" cy="304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70000" y="1841500"/>
            <a:ext cx="2159000" cy="508000"/>
          </a:xfrm>
          <a:prstGeom prst="roundRect">
            <a:avLst>
              <a:gd name="adj" fmla="val 8000"/>
            </a:avLst>
          </a:prstGeom>
          <a:solidFill>
            <a:srgbClr val="9E9E9E"/>
          </a:solidFill>
          <a:ln/>
        </p:spPr>
      </p:sp>
      <p:sp>
        <p:nvSpPr>
          <p:cNvPr id="6" name="Text 4"/>
          <p:cNvSpPr/>
          <p:nvPr/>
        </p:nvSpPr>
        <p:spPr>
          <a:xfrm>
            <a:off x="1270000" y="1841500"/>
            <a:ext cx="215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Level 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97000" y="2476500"/>
            <a:ext cx="190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Automation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97000" y="2921000"/>
            <a:ext cx="1905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Human does everything</a:t>
            </a:r>
            <a:endParaRPr lang="en-US" sz="1400" dirty="0"/>
          </a:p>
          <a:p>
            <a:pPr algn="ctr"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Ex: Traditional manual cars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83000" y="1841500"/>
            <a:ext cx="2159000" cy="304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83000" y="1841500"/>
            <a:ext cx="2159000" cy="508000"/>
          </a:xfrm>
          <a:prstGeom prst="roundRect">
            <a:avLst>
              <a:gd name="adj" fmla="val 8000"/>
            </a:avLst>
          </a:prstGeom>
          <a:solidFill>
            <a:srgbClr val="6B9CBF"/>
          </a:solidFill>
          <a:ln/>
        </p:spPr>
      </p:sp>
      <p:sp>
        <p:nvSpPr>
          <p:cNvPr id="11" name="Text 9"/>
          <p:cNvSpPr/>
          <p:nvPr/>
        </p:nvSpPr>
        <p:spPr>
          <a:xfrm>
            <a:off x="3683000" y="1841500"/>
            <a:ext cx="215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Level 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10000" y="2476500"/>
            <a:ext cx="190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Assistance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10000" y="2921000"/>
            <a:ext cx="1905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Single function automated</a:t>
            </a:r>
            <a:endParaRPr lang="en-US" sz="1400" dirty="0"/>
          </a:p>
          <a:p>
            <a:pPr algn="ctr"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Ex: Cruise control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1841500"/>
            <a:ext cx="2159000" cy="304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FF7F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96000" y="1841500"/>
            <a:ext cx="2159000" cy="508000"/>
          </a:xfrm>
          <a:prstGeom prst="roundRect">
            <a:avLst>
              <a:gd name="adj" fmla="val 8000"/>
            </a:avLst>
          </a:prstGeom>
          <a:solidFill>
            <a:srgbClr val="FF7F50"/>
          </a:solidFill>
          <a:ln/>
        </p:spPr>
      </p:sp>
      <p:sp>
        <p:nvSpPr>
          <p:cNvPr id="16" name="Text 14"/>
          <p:cNvSpPr/>
          <p:nvPr/>
        </p:nvSpPr>
        <p:spPr>
          <a:xfrm>
            <a:off x="6096000" y="1841500"/>
            <a:ext cx="215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Level 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23000" y="2476500"/>
            <a:ext cx="190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Partial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23000" y="2921000"/>
            <a:ext cx="1905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Combined auto functions. Driver must monitor</a:t>
            </a:r>
            <a:endParaRPr lang="en-US" sz="1400" dirty="0"/>
          </a:p>
          <a:p>
            <a:pPr algn="ctr"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Ex: Tesla Autopilot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509000" y="1841500"/>
            <a:ext cx="2159000" cy="304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9000" y="1841500"/>
            <a:ext cx="2159000" cy="508000"/>
          </a:xfrm>
          <a:prstGeom prst="roundRect">
            <a:avLst>
              <a:gd name="adj" fmla="val 8000"/>
            </a:avLst>
          </a:prstGeom>
          <a:solidFill>
            <a:srgbClr val="2E5E8A"/>
          </a:solidFill>
          <a:ln/>
        </p:spPr>
      </p:sp>
      <p:sp>
        <p:nvSpPr>
          <p:cNvPr id="21" name="Text 19"/>
          <p:cNvSpPr/>
          <p:nvPr/>
        </p:nvSpPr>
        <p:spPr>
          <a:xfrm>
            <a:off x="8509000" y="1841500"/>
            <a:ext cx="215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Level 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636000" y="2476500"/>
            <a:ext cx="190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Conditional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36000" y="2921000"/>
            <a:ext cx="1905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Vehicle handles most driving. Human must be ready</a:t>
            </a:r>
            <a:endParaRPr lang="en-US" sz="1300" dirty="0"/>
          </a:p>
          <a:p>
            <a:pPr algn="ctr">
              <a:lnSpc>
                <a:spcPct val="14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Ex: Mercedes Drive Pilot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922000" y="1841500"/>
            <a:ext cx="1778000" cy="304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22000" y="1841500"/>
            <a:ext cx="1778000" cy="508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FF7F50"/>
              </a:gs>
            </a:gsLst>
            <a:lin ang="5400000" scaled="1"/>
          </a:gradFill>
          <a:ln/>
        </p:spPr>
      </p:sp>
      <p:sp>
        <p:nvSpPr>
          <p:cNvPr id="26" name="Text 24"/>
          <p:cNvSpPr/>
          <p:nvPr/>
        </p:nvSpPr>
        <p:spPr>
          <a:xfrm>
            <a:off x="10922000" y="1841500"/>
            <a:ext cx="177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Level 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049000" y="24765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High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049000" y="2921000"/>
            <a:ext cx="1524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Fully autonomous in specific areas (geofenced)</a:t>
            </a:r>
            <a:endParaRPr lang="en-US" sz="1300" dirty="0"/>
          </a:p>
          <a:p>
            <a:pPr algn="ctr">
              <a:lnSpc>
                <a:spcPct val="14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Ex: Waymo One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2827000" y="1841500"/>
            <a:ext cx="2159000" cy="3048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30" name="Shape 28"/>
          <p:cNvSpPr/>
          <p:nvPr/>
        </p:nvSpPr>
        <p:spPr>
          <a:xfrm>
            <a:off x="12827000" y="1841500"/>
            <a:ext cx="2159000" cy="508000"/>
          </a:xfrm>
          <a:prstGeom prst="roundRect">
            <a:avLst>
              <a:gd name="adj" fmla="val 8000"/>
            </a:avLst>
          </a:prstGeom>
          <a:solidFill>
            <a:srgbClr val="FFFFFF">
              <a:alpha val="18824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2827000" y="1841500"/>
            <a:ext cx="215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Level 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954000" y="2476500"/>
            <a:ext cx="190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Full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954000" y="2921000"/>
            <a:ext cx="1905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Complete autonomy in all conditions. No wheel needed</a:t>
            </a:r>
            <a:endParaRPr lang="en-US" sz="1300" dirty="0"/>
          </a:p>
          <a:p>
            <a:pPr algn="ctr">
              <a:lnSpc>
                <a:spcPct val="14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D0E0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Expected 2030+</a:t>
            </a:r>
            <a:endParaRPr lang="en-US" sz="130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1270000" y="5207000"/>
          <a:ext cx="13716000" cy="2794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5" name="Text 32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Autonomous Vehicles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4445000" cy="228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4000" y="2057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7315" y="93186"/>
                </a:moveTo>
                <a:lnTo>
                  <a:pt x="86598" y="152400"/>
                </a:lnTo>
                <a:lnTo>
                  <a:pt x="319802" y="152400"/>
                </a:lnTo>
                <a:lnTo>
                  <a:pt x="299085" y="93186"/>
                </a:lnTo>
                <a:cubicBezTo>
                  <a:pt x="295513" y="83026"/>
                  <a:pt x="285909" y="76200"/>
                  <a:pt x="275114" y="76200"/>
                </a:cubicBezTo>
                <a:lnTo>
                  <a:pt x="131286" y="76200"/>
                </a:lnTo>
                <a:cubicBezTo>
                  <a:pt x="120491" y="76200"/>
                  <a:pt x="110887" y="83026"/>
                  <a:pt x="107315" y="93186"/>
                </a:cubicBezTo>
                <a:close/>
                <a:moveTo>
                  <a:pt x="31433" y="156210"/>
                </a:moveTo>
                <a:lnTo>
                  <a:pt x="59372" y="76438"/>
                </a:lnTo>
                <a:cubicBezTo>
                  <a:pt x="70088" y="45879"/>
                  <a:pt x="98901" y="25400"/>
                  <a:pt x="131286" y="25400"/>
                </a:cubicBezTo>
                <a:lnTo>
                  <a:pt x="275114" y="25400"/>
                </a:lnTo>
                <a:cubicBezTo>
                  <a:pt x="307499" y="25400"/>
                  <a:pt x="336312" y="45879"/>
                  <a:pt x="347028" y="76438"/>
                </a:cubicBezTo>
                <a:lnTo>
                  <a:pt x="374968" y="156210"/>
                </a:lnTo>
                <a:cubicBezTo>
                  <a:pt x="393383" y="163830"/>
                  <a:pt x="406400" y="182007"/>
                  <a:pt x="406400" y="203200"/>
                </a:cubicBezTo>
                <a:lnTo>
                  <a:pt x="406400" y="355600"/>
                </a:lnTo>
                <a:cubicBezTo>
                  <a:pt x="406400" y="369649"/>
                  <a:pt x="395049" y="381000"/>
                  <a:pt x="381000" y="381000"/>
                </a:cubicBezTo>
                <a:lnTo>
                  <a:pt x="355600" y="381000"/>
                </a:lnTo>
                <a:cubicBezTo>
                  <a:pt x="341551" y="381000"/>
                  <a:pt x="330200" y="369649"/>
                  <a:pt x="330200" y="355600"/>
                </a:cubicBezTo>
                <a:lnTo>
                  <a:pt x="330200" y="330200"/>
                </a:lnTo>
                <a:lnTo>
                  <a:pt x="76200" y="330200"/>
                </a:lnTo>
                <a:lnTo>
                  <a:pt x="76200" y="355600"/>
                </a:lnTo>
                <a:cubicBezTo>
                  <a:pt x="76200" y="369649"/>
                  <a:pt x="64849" y="381000"/>
                  <a:pt x="50800" y="381000"/>
                </a:cubicBezTo>
                <a:lnTo>
                  <a:pt x="25400" y="381000"/>
                </a:lnTo>
                <a:cubicBezTo>
                  <a:pt x="11351" y="381000"/>
                  <a:pt x="0" y="369649"/>
                  <a:pt x="0" y="355600"/>
                </a:cubicBezTo>
                <a:lnTo>
                  <a:pt x="0" y="203200"/>
                </a:lnTo>
                <a:cubicBezTo>
                  <a:pt x="0" y="182007"/>
                  <a:pt x="13017" y="163830"/>
                  <a:pt x="31433" y="156210"/>
                </a:cubicBezTo>
                <a:close/>
                <a:moveTo>
                  <a:pt x="101600" y="241300"/>
                </a:moveTo>
                <a:cubicBezTo>
                  <a:pt x="101600" y="227281"/>
                  <a:pt x="90219" y="215900"/>
                  <a:pt x="76200" y="215900"/>
                </a:cubicBezTo>
                <a:cubicBezTo>
                  <a:pt x="62181" y="215900"/>
                  <a:pt x="50800" y="227281"/>
                  <a:pt x="50800" y="241300"/>
                </a:cubicBezTo>
                <a:cubicBezTo>
                  <a:pt x="50800" y="255319"/>
                  <a:pt x="62181" y="266700"/>
                  <a:pt x="76200" y="266700"/>
                </a:cubicBezTo>
                <a:cubicBezTo>
                  <a:pt x="90219" y="266700"/>
                  <a:pt x="101600" y="255319"/>
                  <a:pt x="101600" y="241300"/>
                </a:cubicBezTo>
                <a:close/>
                <a:moveTo>
                  <a:pt x="330200" y="266700"/>
                </a:moveTo>
                <a:cubicBezTo>
                  <a:pt x="344219" y="266700"/>
                  <a:pt x="355600" y="255319"/>
                  <a:pt x="355600" y="241300"/>
                </a:cubicBezTo>
                <a:cubicBezTo>
                  <a:pt x="355600" y="227281"/>
                  <a:pt x="344219" y="215900"/>
                  <a:pt x="330200" y="215900"/>
                </a:cubicBezTo>
                <a:cubicBezTo>
                  <a:pt x="316181" y="215900"/>
                  <a:pt x="304800" y="227281"/>
                  <a:pt x="304800" y="241300"/>
                </a:cubicBezTo>
                <a:cubicBezTo>
                  <a:pt x="304800" y="255319"/>
                  <a:pt x="316181" y="266700"/>
                  <a:pt x="330200" y="26670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057400" y="2057400"/>
            <a:ext cx="342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Autonomous Cars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24000" y="2603500"/>
            <a:ext cx="3937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Passenger vehicles with self-driving capability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Ex: Tesla Model S, Waymo I-PACE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69000" y="1841500"/>
            <a:ext cx="4445000" cy="228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23000" y="2057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76200"/>
                </a:moveTo>
                <a:cubicBezTo>
                  <a:pt x="0" y="48181"/>
                  <a:pt x="20249" y="25400"/>
                  <a:pt x="45156" y="25400"/>
                </a:cubicBezTo>
                <a:lnTo>
                  <a:pt x="248356" y="25400"/>
                </a:lnTo>
                <a:cubicBezTo>
                  <a:pt x="273262" y="25400"/>
                  <a:pt x="293511" y="48181"/>
                  <a:pt x="293511" y="76200"/>
                </a:cubicBezTo>
                <a:lnTo>
                  <a:pt x="293511" y="101600"/>
                </a:lnTo>
                <a:lnTo>
                  <a:pt x="329283" y="101600"/>
                </a:lnTo>
                <a:cubicBezTo>
                  <a:pt x="341277" y="101600"/>
                  <a:pt x="352778" y="106918"/>
                  <a:pt x="361244" y="116443"/>
                </a:cubicBezTo>
                <a:lnTo>
                  <a:pt x="393206" y="152400"/>
                </a:lnTo>
                <a:cubicBezTo>
                  <a:pt x="401673" y="161925"/>
                  <a:pt x="406400" y="174863"/>
                  <a:pt x="406400" y="188357"/>
                </a:cubicBezTo>
                <a:lnTo>
                  <a:pt x="406400" y="304800"/>
                </a:lnTo>
                <a:cubicBezTo>
                  <a:pt x="406400" y="332819"/>
                  <a:pt x="386151" y="355600"/>
                  <a:pt x="361244" y="355600"/>
                </a:cubicBezTo>
                <a:lnTo>
                  <a:pt x="358916" y="355600"/>
                </a:lnTo>
                <a:cubicBezTo>
                  <a:pt x="351578" y="384889"/>
                  <a:pt x="327589" y="406400"/>
                  <a:pt x="299156" y="406400"/>
                </a:cubicBezTo>
                <a:cubicBezTo>
                  <a:pt x="270722" y="406400"/>
                  <a:pt x="246803" y="384889"/>
                  <a:pt x="239395" y="355600"/>
                </a:cubicBezTo>
                <a:lnTo>
                  <a:pt x="167005" y="355600"/>
                </a:lnTo>
                <a:cubicBezTo>
                  <a:pt x="159667" y="384889"/>
                  <a:pt x="135678" y="406400"/>
                  <a:pt x="107244" y="406400"/>
                </a:cubicBezTo>
                <a:cubicBezTo>
                  <a:pt x="78811" y="406400"/>
                  <a:pt x="54892" y="384889"/>
                  <a:pt x="47484" y="355600"/>
                </a:cubicBezTo>
                <a:lnTo>
                  <a:pt x="45156" y="355600"/>
                </a:lnTo>
                <a:cubicBezTo>
                  <a:pt x="20249" y="355600"/>
                  <a:pt x="0" y="332819"/>
                  <a:pt x="0" y="304800"/>
                </a:cubicBezTo>
                <a:lnTo>
                  <a:pt x="0" y="76200"/>
                </a:lnTo>
                <a:close/>
                <a:moveTo>
                  <a:pt x="361244" y="228600"/>
                </a:moveTo>
                <a:lnTo>
                  <a:pt x="361244" y="188357"/>
                </a:lnTo>
                <a:lnTo>
                  <a:pt x="329283" y="152400"/>
                </a:lnTo>
                <a:lnTo>
                  <a:pt x="293511" y="152400"/>
                </a:lnTo>
                <a:lnTo>
                  <a:pt x="293511" y="228600"/>
                </a:lnTo>
                <a:lnTo>
                  <a:pt x="361244" y="228600"/>
                </a:lnTo>
                <a:close/>
                <a:moveTo>
                  <a:pt x="135467" y="336550"/>
                </a:moveTo>
                <a:cubicBezTo>
                  <a:pt x="135467" y="319027"/>
                  <a:pt x="122821" y="304800"/>
                  <a:pt x="107244" y="304800"/>
                </a:cubicBezTo>
                <a:cubicBezTo>
                  <a:pt x="91668" y="304800"/>
                  <a:pt x="79022" y="319027"/>
                  <a:pt x="79022" y="336550"/>
                </a:cubicBezTo>
                <a:cubicBezTo>
                  <a:pt x="79022" y="354073"/>
                  <a:pt x="91668" y="368300"/>
                  <a:pt x="107244" y="368300"/>
                </a:cubicBezTo>
                <a:cubicBezTo>
                  <a:pt x="122821" y="368300"/>
                  <a:pt x="135467" y="354073"/>
                  <a:pt x="135467" y="336550"/>
                </a:cubicBezTo>
                <a:close/>
                <a:moveTo>
                  <a:pt x="299156" y="368300"/>
                </a:moveTo>
                <a:cubicBezTo>
                  <a:pt x="314732" y="368300"/>
                  <a:pt x="327378" y="354073"/>
                  <a:pt x="327378" y="336550"/>
                </a:cubicBezTo>
                <a:cubicBezTo>
                  <a:pt x="327378" y="319027"/>
                  <a:pt x="314732" y="304800"/>
                  <a:pt x="299156" y="304800"/>
                </a:cubicBezTo>
                <a:cubicBezTo>
                  <a:pt x="283579" y="304800"/>
                  <a:pt x="270933" y="319027"/>
                  <a:pt x="270933" y="336550"/>
                </a:cubicBezTo>
                <a:cubicBezTo>
                  <a:pt x="270933" y="354073"/>
                  <a:pt x="283579" y="368300"/>
                  <a:pt x="299156" y="3683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6756400" y="2057400"/>
            <a:ext cx="342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Autonomous Trucks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223000" y="2603500"/>
            <a:ext cx="3937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Long-haul freight without drivers. Reduce costs by 45%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Ex: TuSimple, Aurora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668000" y="1841500"/>
            <a:ext cx="4318000" cy="2286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10922000" y="2057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35099" y="101600"/>
                </a:moveTo>
                <a:lnTo>
                  <a:pt x="303984" y="63500"/>
                </a:lnTo>
                <a:lnTo>
                  <a:pt x="102507" y="63500"/>
                </a:lnTo>
                <a:lnTo>
                  <a:pt x="71392" y="101600"/>
                </a:lnTo>
                <a:lnTo>
                  <a:pt x="335099" y="101600"/>
                </a:lnTo>
                <a:close/>
                <a:moveTo>
                  <a:pt x="0" y="117872"/>
                </a:moveTo>
                <a:cubicBezTo>
                  <a:pt x="0" y="107315"/>
                  <a:pt x="3810" y="96996"/>
                  <a:pt x="10795" y="88344"/>
                </a:cubicBezTo>
                <a:lnTo>
                  <a:pt x="55245" y="33973"/>
                </a:lnTo>
                <a:cubicBezTo>
                  <a:pt x="66131" y="20638"/>
                  <a:pt x="83729" y="12700"/>
                  <a:pt x="102416" y="12700"/>
                </a:cubicBezTo>
                <a:lnTo>
                  <a:pt x="303893" y="12700"/>
                </a:lnTo>
                <a:cubicBezTo>
                  <a:pt x="322671" y="12700"/>
                  <a:pt x="340269" y="20638"/>
                  <a:pt x="351155" y="33973"/>
                </a:cubicBezTo>
                <a:lnTo>
                  <a:pt x="395514" y="88344"/>
                </a:lnTo>
                <a:cubicBezTo>
                  <a:pt x="402590" y="96996"/>
                  <a:pt x="406309" y="107315"/>
                  <a:pt x="406309" y="117872"/>
                </a:cubicBezTo>
                <a:lnTo>
                  <a:pt x="406400" y="330200"/>
                </a:lnTo>
                <a:cubicBezTo>
                  <a:pt x="406400" y="358219"/>
                  <a:pt x="380365" y="381000"/>
                  <a:pt x="348343" y="381000"/>
                </a:cubicBezTo>
                <a:lnTo>
                  <a:pt x="58057" y="381000"/>
                </a:lnTo>
                <a:cubicBezTo>
                  <a:pt x="26035" y="381000"/>
                  <a:pt x="0" y="358219"/>
                  <a:pt x="0" y="330200"/>
                </a:cubicBezTo>
                <a:lnTo>
                  <a:pt x="0" y="11787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455400" y="2057400"/>
            <a:ext cx="330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Delivery Drones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22000" y="2603500"/>
            <a:ext cx="3810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Last-mile autonomous delivery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D0E0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Ex: Amazon Prime Air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D0E0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Starship Technologies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70000" y="4381500"/>
            <a:ext cx="4445000" cy="228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524000" y="4597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87086" y="0"/>
                </a:moveTo>
                <a:cubicBezTo>
                  <a:pt x="39007" y="0"/>
                  <a:pt x="0" y="34131"/>
                  <a:pt x="0" y="76200"/>
                </a:cubicBezTo>
                <a:lnTo>
                  <a:pt x="0" y="304800"/>
                </a:lnTo>
                <a:cubicBezTo>
                  <a:pt x="0" y="328454"/>
                  <a:pt x="18506" y="348377"/>
                  <a:pt x="43543" y="354013"/>
                </a:cubicBezTo>
                <a:lnTo>
                  <a:pt x="43543" y="381000"/>
                </a:lnTo>
                <a:cubicBezTo>
                  <a:pt x="43543" y="395049"/>
                  <a:pt x="56515" y="406400"/>
                  <a:pt x="72571" y="406400"/>
                </a:cubicBezTo>
                <a:lnTo>
                  <a:pt x="87086" y="406400"/>
                </a:lnTo>
                <a:cubicBezTo>
                  <a:pt x="103142" y="406400"/>
                  <a:pt x="116114" y="395049"/>
                  <a:pt x="116114" y="381000"/>
                </a:cubicBezTo>
                <a:lnTo>
                  <a:pt x="116114" y="355600"/>
                </a:lnTo>
                <a:lnTo>
                  <a:pt x="290286" y="355600"/>
                </a:lnTo>
                <a:lnTo>
                  <a:pt x="290286" y="381000"/>
                </a:lnTo>
                <a:cubicBezTo>
                  <a:pt x="290286" y="395049"/>
                  <a:pt x="303258" y="406400"/>
                  <a:pt x="319314" y="406400"/>
                </a:cubicBezTo>
                <a:lnTo>
                  <a:pt x="333829" y="406400"/>
                </a:lnTo>
                <a:cubicBezTo>
                  <a:pt x="349885" y="406400"/>
                  <a:pt x="362857" y="395049"/>
                  <a:pt x="362857" y="381000"/>
                </a:cubicBezTo>
                <a:lnTo>
                  <a:pt x="362857" y="354013"/>
                </a:lnTo>
                <a:cubicBezTo>
                  <a:pt x="387894" y="348377"/>
                  <a:pt x="406400" y="328454"/>
                  <a:pt x="406400" y="304800"/>
                </a:cubicBezTo>
                <a:lnTo>
                  <a:pt x="406400" y="76200"/>
                </a:lnTo>
                <a:cubicBezTo>
                  <a:pt x="406400" y="34131"/>
                  <a:pt x="367393" y="0"/>
                  <a:pt x="319314" y="0"/>
                </a:cubicBezTo>
                <a:lnTo>
                  <a:pt x="87086" y="0"/>
                </a:lnTo>
                <a:close/>
                <a:moveTo>
                  <a:pt x="58057" y="139700"/>
                </a:moveTo>
                <a:cubicBezTo>
                  <a:pt x="58057" y="125651"/>
                  <a:pt x="71029" y="114300"/>
                  <a:pt x="87086" y="114300"/>
                </a:cubicBezTo>
                <a:lnTo>
                  <a:pt x="181429" y="114300"/>
                </a:lnTo>
                <a:lnTo>
                  <a:pt x="181429" y="203200"/>
                </a:lnTo>
                <a:lnTo>
                  <a:pt x="87086" y="203200"/>
                </a:lnTo>
                <a:cubicBezTo>
                  <a:pt x="71029" y="203200"/>
                  <a:pt x="58057" y="191849"/>
                  <a:pt x="58057" y="177800"/>
                </a:cubicBezTo>
                <a:lnTo>
                  <a:pt x="58057" y="139700"/>
                </a:lnTo>
                <a:close/>
                <a:moveTo>
                  <a:pt x="224971" y="203200"/>
                </a:moveTo>
                <a:lnTo>
                  <a:pt x="224971" y="114300"/>
                </a:lnTo>
                <a:lnTo>
                  <a:pt x="319314" y="114300"/>
                </a:lnTo>
                <a:cubicBezTo>
                  <a:pt x="335371" y="114300"/>
                  <a:pt x="348343" y="125651"/>
                  <a:pt x="348343" y="139700"/>
                </a:cubicBezTo>
                <a:lnTo>
                  <a:pt x="348343" y="177800"/>
                </a:lnTo>
                <a:cubicBezTo>
                  <a:pt x="348343" y="191849"/>
                  <a:pt x="335371" y="203200"/>
                  <a:pt x="319314" y="203200"/>
                </a:cubicBezTo>
                <a:lnTo>
                  <a:pt x="224971" y="203200"/>
                </a:lnTo>
                <a:close/>
                <a:moveTo>
                  <a:pt x="87086" y="254000"/>
                </a:moveTo>
                <a:cubicBezTo>
                  <a:pt x="103107" y="254000"/>
                  <a:pt x="116114" y="265381"/>
                  <a:pt x="116114" y="279400"/>
                </a:cubicBezTo>
                <a:cubicBezTo>
                  <a:pt x="116114" y="293419"/>
                  <a:pt x="103107" y="304800"/>
                  <a:pt x="87086" y="304800"/>
                </a:cubicBezTo>
                <a:cubicBezTo>
                  <a:pt x="71064" y="304800"/>
                  <a:pt x="58057" y="293419"/>
                  <a:pt x="58057" y="279400"/>
                </a:cubicBezTo>
                <a:cubicBezTo>
                  <a:pt x="58057" y="265381"/>
                  <a:pt x="71064" y="254000"/>
                  <a:pt x="87086" y="254000"/>
                </a:cubicBezTo>
                <a:close/>
                <a:moveTo>
                  <a:pt x="319314" y="254000"/>
                </a:moveTo>
                <a:cubicBezTo>
                  <a:pt x="335336" y="254000"/>
                  <a:pt x="348343" y="265381"/>
                  <a:pt x="348343" y="279400"/>
                </a:cubicBezTo>
                <a:cubicBezTo>
                  <a:pt x="348343" y="293419"/>
                  <a:pt x="335336" y="304800"/>
                  <a:pt x="319314" y="304800"/>
                </a:cubicBezTo>
                <a:cubicBezTo>
                  <a:pt x="303293" y="304800"/>
                  <a:pt x="290286" y="293419"/>
                  <a:pt x="290286" y="279400"/>
                </a:cubicBezTo>
                <a:cubicBezTo>
                  <a:pt x="290286" y="265381"/>
                  <a:pt x="303293" y="254000"/>
                  <a:pt x="319314" y="254000"/>
                </a:cubicBezTo>
                <a:close/>
                <a:moveTo>
                  <a:pt x="137886" y="57150"/>
                </a:moveTo>
                <a:cubicBezTo>
                  <a:pt x="137886" y="46593"/>
                  <a:pt x="147592" y="38100"/>
                  <a:pt x="159657" y="38100"/>
                </a:cubicBezTo>
                <a:lnTo>
                  <a:pt x="246743" y="38100"/>
                </a:lnTo>
                <a:cubicBezTo>
                  <a:pt x="258808" y="38100"/>
                  <a:pt x="268514" y="46593"/>
                  <a:pt x="268514" y="57150"/>
                </a:cubicBezTo>
                <a:cubicBezTo>
                  <a:pt x="268514" y="67707"/>
                  <a:pt x="258808" y="76200"/>
                  <a:pt x="246743" y="76200"/>
                </a:cubicBezTo>
                <a:lnTo>
                  <a:pt x="159657" y="76200"/>
                </a:lnTo>
                <a:cubicBezTo>
                  <a:pt x="147592" y="76200"/>
                  <a:pt x="137886" y="67707"/>
                  <a:pt x="137886" y="5715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8" name="Text 16"/>
          <p:cNvSpPr/>
          <p:nvPr/>
        </p:nvSpPr>
        <p:spPr>
          <a:xfrm>
            <a:off x="2057400" y="4597400"/>
            <a:ext cx="342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Autonomous Buses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24000" y="5143500"/>
            <a:ext cx="3937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Public transport automation. Operating in 30+ countries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Ex: Navya, EasyMile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69000" y="4381500"/>
            <a:ext cx="4445000" cy="228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23000" y="4597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12889" y="76200"/>
                </a:moveTo>
                <a:lnTo>
                  <a:pt x="112889" y="152400"/>
                </a:lnTo>
                <a:lnTo>
                  <a:pt x="207010" y="152400"/>
                </a:lnTo>
                <a:lnTo>
                  <a:pt x="166370" y="76200"/>
                </a:lnTo>
                <a:lnTo>
                  <a:pt x="112889" y="76200"/>
                </a:lnTo>
                <a:close/>
                <a:moveTo>
                  <a:pt x="67733" y="177006"/>
                </a:moveTo>
                <a:lnTo>
                  <a:pt x="67733" y="50800"/>
                </a:lnTo>
                <a:cubicBezTo>
                  <a:pt x="67733" y="36751"/>
                  <a:pt x="77823" y="25400"/>
                  <a:pt x="90311" y="25400"/>
                </a:cubicBezTo>
                <a:lnTo>
                  <a:pt x="166370" y="25400"/>
                </a:lnTo>
                <a:cubicBezTo>
                  <a:pt x="182245" y="25400"/>
                  <a:pt x="196921" y="34766"/>
                  <a:pt x="205105" y="50086"/>
                </a:cubicBezTo>
                <a:lnTo>
                  <a:pt x="259715" y="152400"/>
                </a:lnTo>
                <a:lnTo>
                  <a:pt x="304871" y="152400"/>
                </a:lnTo>
                <a:lnTo>
                  <a:pt x="304871" y="95250"/>
                </a:lnTo>
                <a:cubicBezTo>
                  <a:pt x="304871" y="84693"/>
                  <a:pt x="312420" y="76200"/>
                  <a:pt x="321804" y="76200"/>
                </a:cubicBezTo>
                <a:cubicBezTo>
                  <a:pt x="331188" y="76200"/>
                  <a:pt x="338737" y="84693"/>
                  <a:pt x="338737" y="95250"/>
                </a:cubicBezTo>
                <a:lnTo>
                  <a:pt x="338737" y="152400"/>
                </a:lnTo>
                <a:lnTo>
                  <a:pt x="372604" y="152400"/>
                </a:lnTo>
                <a:cubicBezTo>
                  <a:pt x="391301" y="152400"/>
                  <a:pt x="406471" y="169466"/>
                  <a:pt x="406471" y="190500"/>
                </a:cubicBezTo>
                <a:lnTo>
                  <a:pt x="406471" y="223441"/>
                </a:lnTo>
                <a:cubicBezTo>
                  <a:pt x="406471" y="234712"/>
                  <a:pt x="402026" y="245507"/>
                  <a:pt x="394264" y="252730"/>
                </a:cubicBezTo>
                <a:lnTo>
                  <a:pt x="369570" y="275908"/>
                </a:lnTo>
                <a:cubicBezTo>
                  <a:pt x="388267" y="287972"/>
                  <a:pt x="400826" y="310594"/>
                  <a:pt x="400826" y="336550"/>
                </a:cubicBezTo>
                <a:cubicBezTo>
                  <a:pt x="400826" y="375126"/>
                  <a:pt x="373027" y="406400"/>
                  <a:pt x="338737" y="406400"/>
                </a:cubicBezTo>
                <a:cubicBezTo>
                  <a:pt x="304447" y="406400"/>
                  <a:pt x="276648" y="375126"/>
                  <a:pt x="276648" y="336550"/>
                </a:cubicBezTo>
                <a:cubicBezTo>
                  <a:pt x="276648" y="325120"/>
                  <a:pt x="279118" y="314325"/>
                  <a:pt x="283422" y="304800"/>
                </a:cubicBezTo>
                <a:lnTo>
                  <a:pt x="212019" y="304800"/>
                </a:lnTo>
                <a:cubicBezTo>
                  <a:pt x="209903" y="315436"/>
                  <a:pt x="206446" y="325438"/>
                  <a:pt x="201859" y="334724"/>
                </a:cubicBezTo>
                <a:cubicBezTo>
                  <a:pt x="207292" y="342186"/>
                  <a:pt x="206939" y="353298"/>
                  <a:pt x="200731" y="360283"/>
                </a:cubicBezTo>
                <a:lnTo>
                  <a:pt x="184785" y="378222"/>
                </a:lnTo>
                <a:cubicBezTo>
                  <a:pt x="178576" y="385207"/>
                  <a:pt x="168769" y="385604"/>
                  <a:pt x="162066" y="379492"/>
                </a:cubicBezTo>
                <a:cubicBezTo>
                  <a:pt x="155504" y="383619"/>
                  <a:pt x="148449" y="386874"/>
                  <a:pt x="141041" y="389255"/>
                </a:cubicBezTo>
                <a:cubicBezTo>
                  <a:pt x="140194" y="398859"/>
                  <a:pt x="132997" y="406400"/>
                  <a:pt x="124178" y="406400"/>
                </a:cubicBezTo>
                <a:lnTo>
                  <a:pt x="101600" y="406400"/>
                </a:lnTo>
                <a:cubicBezTo>
                  <a:pt x="92851" y="406400"/>
                  <a:pt x="85584" y="398859"/>
                  <a:pt x="84737" y="389255"/>
                </a:cubicBezTo>
                <a:cubicBezTo>
                  <a:pt x="77329" y="386874"/>
                  <a:pt x="70344" y="383540"/>
                  <a:pt x="63712" y="379492"/>
                </a:cubicBezTo>
                <a:cubicBezTo>
                  <a:pt x="57079" y="385604"/>
                  <a:pt x="47202" y="385207"/>
                  <a:pt x="40993" y="378222"/>
                </a:cubicBezTo>
                <a:lnTo>
                  <a:pt x="25047" y="360204"/>
                </a:lnTo>
                <a:cubicBezTo>
                  <a:pt x="18838" y="353219"/>
                  <a:pt x="18486" y="342186"/>
                  <a:pt x="23918" y="334645"/>
                </a:cubicBezTo>
                <a:cubicBezTo>
                  <a:pt x="20249" y="327263"/>
                  <a:pt x="17357" y="319326"/>
                  <a:pt x="15240" y="310991"/>
                </a:cubicBezTo>
                <a:cubicBezTo>
                  <a:pt x="6703" y="310039"/>
                  <a:pt x="0" y="301943"/>
                  <a:pt x="0" y="292021"/>
                </a:cubicBezTo>
                <a:lnTo>
                  <a:pt x="0" y="266621"/>
                </a:lnTo>
                <a:cubicBezTo>
                  <a:pt x="0" y="256778"/>
                  <a:pt x="6703" y="248603"/>
                  <a:pt x="15240" y="247650"/>
                </a:cubicBezTo>
                <a:cubicBezTo>
                  <a:pt x="17357" y="239316"/>
                  <a:pt x="20320" y="231458"/>
                  <a:pt x="23918" y="223996"/>
                </a:cubicBezTo>
                <a:cubicBezTo>
                  <a:pt x="18486" y="216535"/>
                  <a:pt x="18838" y="205423"/>
                  <a:pt x="25047" y="198438"/>
                </a:cubicBezTo>
                <a:lnTo>
                  <a:pt x="40993" y="180499"/>
                </a:lnTo>
                <a:cubicBezTo>
                  <a:pt x="47202" y="173514"/>
                  <a:pt x="57009" y="173117"/>
                  <a:pt x="63712" y="179229"/>
                </a:cubicBezTo>
                <a:cubicBezTo>
                  <a:pt x="65052" y="178435"/>
                  <a:pt x="66322" y="177641"/>
                  <a:pt x="67733" y="176848"/>
                </a:cubicBezTo>
                <a:close/>
                <a:moveTo>
                  <a:pt x="112889" y="228600"/>
                </a:moveTo>
                <a:cubicBezTo>
                  <a:pt x="87967" y="228600"/>
                  <a:pt x="67733" y="251363"/>
                  <a:pt x="67733" y="279400"/>
                </a:cubicBezTo>
                <a:cubicBezTo>
                  <a:pt x="67733" y="307437"/>
                  <a:pt x="87967" y="330200"/>
                  <a:pt x="112889" y="330200"/>
                </a:cubicBezTo>
                <a:cubicBezTo>
                  <a:pt x="137811" y="330200"/>
                  <a:pt x="158044" y="307437"/>
                  <a:pt x="158044" y="279400"/>
                </a:cubicBezTo>
                <a:cubicBezTo>
                  <a:pt x="158044" y="251363"/>
                  <a:pt x="137811" y="228600"/>
                  <a:pt x="112889" y="228600"/>
                </a:cubicBezTo>
                <a:close/>
                <a:moveTo>
                  <a:pt x="310444" y="336550"/>
                </a:moveTo>
                <a:cubicBezTo>
                  <a:pt x="310444" y="354073"/>
                  <a:pt x="323090" y="368300"/>
                  <a:pt x="338667" y="368300"/>
                </a:cubicBezTo>
                <a:cubicBezTo>
                  <a:pt x="354243" y="368300"/>
                  <a:pt x="366889" y="354073"/>
                  <a:pt x="366889" y="336550"/>
                </a:cubicBezTo>
                <a:cubicBezTo>
                  <a:pt x="366889" y="319027"/>
                  <a:pt x="354243" y="304800"/>
                  <a:pt x="338667" y="304800"/>
                </a:cubicBezTo>
                <a:cubicBezTo>
                  <a:pt x="323090" y="304800"/>
                  <a:pt x="310444" y="319027"/>
                  <a:pt x="310444" y="33655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2" name="Text 20"/>
          <p:cNvSpPr/>
          <p:nvPr/>
        </p:nvSpPr>
        <p:spPr>
          <a:xfrm>
            <a:off x="6756400" y="4597400"/>
            <a:ext cx="342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Agricultural AVs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223000" y="5143500"/>
            <a:ext cx="3937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Self-driving tractors and harvesters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Ex: John Deere 8R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Fendt Xaver swarming robots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668000" y="4381500"/>
            <a:ext cx="4318000" cy="2286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25" name="Shape 23"/>
          <p:cNvSpPr/>
          <p:nvPr/>
        </p:nvSpPr>
        <p:spPr>
          <a:xfrm>
            <a:off x="10922000" y="4597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72720" y="0"/>
                </a:moveTo>
                <a:cubicBezTo>
                  <a:pt x="155893" y="0"/>
                  <a:pt x="142240" y="17066"/>
                  <a:pt x="142240" y="38100"/>
                </a:cubicBezTo>
                <a:lnTo>
                  <a:pt x="142240" y="50800"/>
                </a:lnTo>
                <a:lnTo>
                  <a:pt x="132080" y="50800"/>
                </a:lnTo>
                <a:cubicBezTo>
                  <a:pt x="104013" y="50800"/>
                  <a:pt x="81280" y="79216"/>
                  <a:pt x="81280" y="114300"/>
                </a:cubicBezTo>
                <a:lnTo>
                  <a:pt x="81280" y="200660"/>
                </a:lnTo>
                <a:lnTo>
                  <a:pt x="67564" y="207486"/>
                </a:lnTo>
                <a:cubicBezTo>
                  <a:pt x="58166" y="212169"/>
                  <a:pt x="53277" y="225266"/>
                  <a:pt x="56515" y="237252"/>
                </a:cubicBezTo>
                <a:cubicBezTo>
                  <a:pt x="63119" y="262096"/>
                  <a:pt x="73533" y="284321"/>
                  <a:pt x="86805" y="303213"/>
                </a:cubicBezTo>
                <a:cubicBezTo>
                  <a:pt x="99568" y="295910"/>
                  <a:pt x="113284" y="292179"/>
                  <a:pt x="127000" y="292100"/>
                </a:cubicBezTo>
                <a:cubicBezTo>
                  <a:pt x="148019" y="291941"/>
                  <a:pt x="169101" y="300196"/>
                  <a:pt x="186944" y="317024"/>
                </a:cubicBezTo>
                <a:lnTo>
                  <a:pt x="187960" y="317976"/>
                </a:lnTo>
                <a:lnTo>
                  <a:pt x="187960" y="147320"/>
                </a:lnTo>
                <a:lnTo>
                  <a:pt x="121920" y="180340"/>
                </a:lnTo>
                <a:lnTo>
                  <a:pt x="121920" y="114300"/>
                </a:lnTo>
                <a:cubicBezTo>
                  <a:pt x="121920" y="107315"/>
                  <a:pt x="126492" y="101600"/>
                  <a:pt x="132080" y="101600"/>
                </a:cubicBezTo>
                <a:lnTo>
                  <a:pt x="274320" y="101600"/>
                </a:lnTo>
                <a:cubicBezTo>
                  <a:pt x="279908" y="101600"/>
                  <a:pt x="284480" y="107315"/>
                  <a:pt x="284480" y="114300"/>
                </a:cubicBezTo>
                <a:lnTo>
                  <a:pt x="284480" y="180340"/>
                </a:lnTo>
                <a:lnTo>
                  <a:pt x="218440" y="147320"/>
                </a:lnTo>
                <a:lnTo>
                  <a:pt x="218440" y="317976"/>
                </a:lnTo>
                <a:lnTo>
                  <a:pt x="219456" y="317024"/>
                </a:lnTo>
                <a:cubicBezTo>
                  <a:pt x="236919" y="300593"/>
                  <a:pt x="257493" y="292259"/>
                  <a:pt x="278130" y="292100"/>
                </a:cubicBezTo>
                <a:cubicBezTo>
                  <a:pt x="292291" y="292021"/>
                  <a:pt x="306451" y="295672"/>
                  <a:pt x="319596" y="303212"/>
                </a:cubicBezTo>
                <a:cubicBezTo>
                  <a:pt x="332867" y="284401"/>
                  <a:pt x="343281" y="262096"/>
                  <a:pt x="349885" y="237252"/>
                </a:cubicBezTo>
                <a:cubicBezTo>
                  <a:pt x="353060" y="225187"/>
                  <a:pt x="348234" y="212169"/>
                  <a:pt x="338836" y="207486"/>
                </a:cubicBezTo>
                <a:lnTo>
                  <a:pt x="325120" y="200660"/>
                </a:lnTo>
                <a:lnTo>
                  <a:pt x="325120" y="114300"/>
                </a:lnTo>
                <a:cubicBezTo>
                  <a:pt x="325120" y="79216"/>
                  <a:pt x="302387" y="50800"/>
                  <a:pt x="274320" y="50800"/>
                </a:cubicBezTo>
                <a:lnTo>
                  <a:pt x="264160" y="50800"/>
                </a:lnTo>
                <a:lnTo>
                  <a:pt x="264160" y="38100"/>
                </a:lnTo>
                <a:cubicBezTo>
                  <a:pt x="264160" y="17066"/>
                  <a:pt x="250508" y="0"/>
                  <a:pt x="233680" y="0"/>
                </a:cubicBezTo>
                <a:lnTo>
                  <a:pt x="172720" y="0"/>
                </a:lnTo>
                <a:close/>
                <a:moveTo>
                  <a:pt x="256159" y="377904"/>
                </a:moveTo>
                <a:cubicBezTo>
                  <a:pt x="269685" y="365125"/>
                  <a:pt x="287846" y="365125"/>
                  <a:pt x="301371" y="377904"/>
                </a:cubicBezTo>
                <a:cubicBezTo>
                  <a:pt x="313436" y="389334"/>
                  <a:pt x="327978" y="400288"/>
                  <a:pt x="344043" y="404336"/>
                </a:cubicBezTo>
                <a:cubicBezTo>
                  <a:pt x="360870" y="408623"/>
                  <a:pt x="378523" y="404971"/>
                  <a:pt x="395288" y="389176"/>
                </a:cubicBezTo>
                <a:cubicBezTo>
                  <a:pt x="402019" y="382826"/>
                  <a:pt x="403352" y="370919"/>
                  <a:pt x="398272" y="362506"/>
                </a:cubicBezTo>
                <a:cubicBezTo>
                  <a:pt x="393192" y="354092"/>
                  <a:pt x="383667" y="352425"/>
                  <a:pt x="376936" y="358775"/>
                </a:cubicBezTo>
                <a:cubicBezTo>
                  <a:pt x="367475" y="367665"/>
                  <a:pt x="358775" y="369173"/>
                  <a:pt x="350076" y="366951"/>
                </a:cubicBezTo>
                <a:cubicBezTo>
                  <a:pt x="340614" y="364569"/>
                  <a:pt x="330454" y="357505"/>
                  <a:pt x="319723" y="347424"/>
                </a:cubicBezTo>
                <a:cubicBezTo>
                  <a:pt x="295339" y="324406"/>
                  <a:pt x="262255" y="324406"/>
                  <a:pt x="237808" y="347424"/>
                </a:cubicBezTo>
                <a:cubicBezTo>
                  <a:pt x="222568" y="361791"/>
                  <a:pt x="211963" y="368300"/>
                  <a:pt x="203200" y="368300"/>
                </a:cubicBezTo>
                <a:cubicBezTo>
                  <a:pt x="194437" y="368300"/>
                  <a:pt x="183833" y="361791"/>
                  <a:pt x="168593" y="347424"/>
                </a:cubicBezTo>
                <a:cubicBezTo>
                  <a:pt x="144209" y="324406"/>
                  <a:pt x="111125" y="324406"/>
                  <a:pt x="86678" y="347424"/>
                </a:cubicBezTo>
                <a:cubicBezTo>
                  <a:pt x="72962" y="360363"/>
                  <a:pt x="60452" y="367903"/>
                  <a:pt x="49276" y="367824"/>
                </a:cubicBezTo>
                <a:cubicBezTo>
                  <a:pt x="43180" y="367744"/>
                  <a:pt x="36640" y="365442"/>
                  <a:pt x="29464" y="358696"/>
                </a:cubicBezTo>
                <a:cubicBezTo>
                  <a:pt x="22733" y="352346"/>
                  <a:pt x="13208" y="354013"/>
                  <a:pt x="8128" y="362426"/>
                </a:cubicBezTo>
                <a:cubicBezTo>
                  <a:pt x="3048" y="370840"/>
                  <a:pt x="4445" y="382826"/>
                  <a:pt x="11176" y="389176"/>
                </a:cubicBezTo>
                <a:cubicBezTo>
                  <a:pt x="23305" y="400606"/>
                  <a:pt x="36195" y="405844"/>
                  <a:pt x="49149" y="405924"/>
                </a:cubicBezTo>
                <a:cubicBezTo>
                  <a:pt x="70676" y="406083"/>
                  <a:pt x="89980" y="392113"/>
                  <a:pt x="105093" y="377904"/>
                </a:cubicBezTo>
                <a:cubicBezTo>
                  <a:pt x="118618" y="365125"/>
                  <a:pt x="136779" y="365125"/>
                  <a:pt x="150305" y="377904"/>
                </a:cubicBezTo>
                <a:cubicBezTo>
                  <a:pt x="165672" y="392430"/>
                  <a:pt x="183515" y="406400"/>
                  <a:pt x="203264" y="406400"/>
                </a:cubicBezTo>
                <a:cubicBezTo>
                  <a:pt x="223012" y="406400"/>
                  <a:pt x="240792" y="392351"/>
                  <a:pt x="256223" y="37790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1455400" y="4597400"/>
            <a:ext cx="330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Maritime &amp; UAVs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922000" y="5143500"/>
            <a:ext cx="3810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Self-navigating ships &amp; aerial drones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D0E0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Ex: Yara Birkeland ship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D0E0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DJI Matrice, Wing drones</a:t>
            </a:r>
            <a:endParaRPr lang="en-US" sz="1600" dirty="0"/>
          </a:p>
        </p:txBody>
      </p:sp>
      <p:pic>
        <p:nvPicPr>
          <p:cNvPr id="28" name="Image 0" descr="https://kimi-img.moonshot.cn/pub/slides/okc/nzffcm4kpdkvi/mnt/agents/output/ccs-week11/images/5_Autonomous_farming_A_Leap_Forward.png">    </p:cNvPr>
          <p:cNvPicPr>
            <a:picLocks noChangeAspect="1"/>
          </p:cNvPicPr>
          <p:nvPr/>
        </p:nvPicPr>
        <p:blipFill>
          <a:blip r:embed="rId1"/>
          <a:srcRect l="0" r="0" t="10000" b="20000"/>
          <a:stretch/>
        </p:blipFill>
        <p:spPr>
          <a:xfrm>
            <a:off x="1270000" y="6985000"/>
            <a:ext cx="13716000" cy="1270000"/>
          </a:xfrm>
          <a:prstGeom prst="roundRect">
            <a:avLst>
              <a:gd name="adj" fmla="val 6000"/>
            </a:avLst>
          </a:prstGeom>
        </p:spPr>
      </p:pic>
      <p:sp>
        <p:nvSpPr>
          <p:cNvPr id="29" name="Text 2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698500"/>
            <a:ext cx="1143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Applications of Autonomous Vehicles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pic>
        <p:nvPicPr>
          <p:cNvPr id="4" name="Image 0" descr="https://kimi-img.moonshot.cn/pub/slides/okc/nzffcm4kpdkvi/mnt/agents/output/ccs-week11/images/3_Waymo_says_self_driving_taxis_wil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70000" y="1841500"/>
            <a:ext cx="5588000" cy="3556000"/>
          </a:xfrm>
          <a:prstGeom prst="roundRect">
            <a:avLst>
              <a:gd name="adj" fmla="val 8000"/>
            </a:avLst>
          </a:prstGeom>
        </p:spPr>
      </p:pic>
      <p:sp>
        <p:nvSpPr>
          <p:cNvPr id="5" name="Text 2"/>
          <p:cNvSpPr/>
          <p:nvPr/>
        </p:nvSpPr>
        <p:spPr>
          <a:xfrm>
            <a:off x="7239000" y="1841500"/>
            <a:ext cx="7747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Waymo One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World's first commercial robotaxi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100,000+ weekly rides (2024)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Phoenix, AZ &amp; San Francisco, CA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Zero at-fault accidents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Tesla FSD Beta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400,000+ owners, 500M+ miles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Still Level 2 — requires supervision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270000" y="5715000"/>
            <a:ext cx="4318000" cy="2413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524000" y="590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98778" y="66675"/>
                </a:moveTo>
                <a:lnTo>
                  <a:pt x="98778" y="133350"/>
                </a:lnTo>
                <a:lnTo>
                  <a:pt x="181134" y="133350"/>
                </a:lnTo>
                <a:lnTo>
                  <a:pt x="145574" y="66675"/>
                </a:lnTo>
                <a:lnTo>
                  <a:pt x="98778" y="66675"/>
                </a:lnTo>
                <a:close/>
                <a:moveTo>
                  <a:pt x="59267" y="154880"/>
                </a:moveTo>
                <a:lnTo>
                  <a:pt x="59267" y="44450"/>
                </a:lnTo>
                <a:cubicBezTo>
                  <a:pt x="59267" y="32157"/>
                  <a:pt x="68095" y="22225"/>
                  <a:pt x="79022" y="22225"/>
                </a:cubicBezTo>
                <a:lnTo>
                  <a:pt x="145574" y="22225"/>
                </a:lnTo>
                <a:cubicBezTo>
                  <a:pt x="159464" y="22225"/>
                  <a:pt x="172305" y="30420"/>
                  <a:pt x="179467" y="43825"/>
                </a:cubicBezTo>
                <a:lnTo>
                  <a:pt x="227251" y="133350"/>
                </a:lnTo>
                <a:lnTo>
                  <a:pt x="266762" y="133350"/>
                </a:lnTo>
                <a:lnTo>
                  <a:pt x="266762" y="83344"/>
                </a:lnTo>
                <a:cubicBezTo>
                  <a:pt x="266762" y="74106"/>
                  <a:pt x="273368" y="66675"/>
                  <a:pt x="281578" y="66675"/>
                </a:cubicBezTo>
                <a:cubicBezTo>
                  <a:pt x="289789" y="66675"/>
                  <a:pt x="296395" y="74106"/>
                  <a:pt x="296395" y="83344"/>
                </a:cubicBezTo>
                <a:lnTo>
                  <a:pt x="296395" y="133350"/>
                </a:lnTo>
                <a:lnTo>
                  <a:pt x="326028" y="133350"/>
                </a:lnTo>
                <a:cubicBezTo>
                  <a:pt x="342388" y="133350"/>
                  <a:pt x="355662" y="148282"/>
                  <a:pt x="355662" y="166688"/>
                </a:cubicBezTo>
                <a:lnTo>
                  <a:pt x="355662" y="195511"/>
                </a:lnTo>
                <a:cubicBezTo>
                  <a:pt x="355662" y="205373"/>
                  <a:pt x="351772" y="214819"/>
                  <a:pt x="344981" y="221139"/>
                </a:cubicBezTo>
                <a:lnTo>
                  <a:pt x="323374" y="241419"/>
                </a:lnTo>
                <a:cubicBezTo>
                  <a:pt x="339734" y="251976"/>
                  <a:pt x="350723" y="271770"/>
                  <a:pt x="350723" y="294481"/>
                </a:cubicBezTo>
                <a:cubicBezTo>
                  <a:pt x="350723" y="328235"/>
                  <a:pt x="326399" y="355600"/>
                  <a:pt x="296395" y="355600"/>
                </a:cubicBezTo>
                <a:cubicBezTo>
                  <a:pt x="266391" y="355600"/>
                  <a:pt x="242067" y="328235"/>
                  <a:pt x="242067" y="294481"/>
                </a:cubicBezTo>
                <a:cubicBezTo>
                  <a:pt x="242067" y="284480"/>
                  <a:pt x="244228" y="275034"/>
                  <a:pt x="247994" y="266700"/>
                </a:cubicBezTo>
                <a:lnTo>
                  <a:pt x="185517" y="266700"/>
                </a:lnTo>
                <a:cubicBezTo>
                  <a:pt x="183665" y="276007"/>
                  <a:pt x="180640" y="284758"/>
                  <a:pt x="176627" y="292884"/>
                </a:cubicBezTo>
                <a:cubicBezTo>
                  <a:pt x="181381" y="299412"/>
                  <a:pt x="181072" y="309136"/>
                  <a:pt x="175639" y="315248"/>
                </a:cubicBezTo>
                <a:lnTo>
                  <a:pt x="161687" y="330944"/>
                </a:lnTo>
                <a:cubicBezTo>
                  <a:pt x="156254" y="337056"/>
                  <a:pt x="147673" y="337403"/>
                  <a:pt x="141808" y="332055"/>
                </a:cubicBezTo>
                <a:cubicBezTo>
                  <a:pt x="136066" y="335667"/>
                  <a:pt x="129893" y="338515"/>
                  <a:pt x="123410" y="340598"/>
                </a:cubicBezTo>
                <a:cubicBezTo>
                  <a:pt x="122670" y="349002"/>
                  <a:pt x="116373" y="355600"/>
                  <a:pt x="108656" y="355600"/>
                </a:cubicBezTo>
                <a:lnTo>
                  <a:pt x="88900" y="355600"/>
                </a:lnTo>
                <a:cubicBezTo>
                  <a:pt x="81245" y="355600"/>
                  <a:pt x="74886" y="349002"/>
                  <a:pt x="74145" y="340598"/>
                </a:cubicBezTo>
                <a:cubicBezTo>
                  <a:pt x="67663" y="338515"/>
                  <a:pt x="61551" y="335598"/>
                  <a:pt x="55748" y="332055"/>
                </a:cubicBezTo>
                <a:cubicBezTo>
                  <a:pt x="49945" y="337403"/>
                  <a:pt x="41301" y="337056"/>
                  <a:pt x="35869" y="330944"/>
                </a:cubicBezTo>
                <a:lnTo>
                  <a:pt x="21916" y="315178"/>
                </a:lnTo>
                <a:cubicBezTo>
                  <a:pt x="16484" y="309066"/>
                  <a:pt x="16175" y="299412"/>
                  <a:pt x="20929" y="292814"/>
                </a:cubicBezTo>
                <a:cubicBezTo>
                  <a:pt x="17718" y="286355"/>
                  <a:pt x="15187" y="279410"/>
                  <a:pt x="13335" y="272117"/>
                </a:cubicBezTo>
                <a:cubicBezTo>
                  <a:pt x="5865" y="271284"/>
                  <a:pt x="0" y="264200"/>
                  <a:pt x="0" y="255518"/>
                </a:cubicBezTo>
                <a:lnTo>
                  <a:pt x="0" y="233293"/>
                </a:lnTo>
                <a:cubicBezTo>
                  <a:pt x="0" y="224681"/>
                  <a:pt x="5865" y="217527"/>
                  <a:pt x="13335" y="216694"/>
                </a:cubicBezTo>
                <a:cubicBezTo>
                  <a:pt x="15187" y="209401"/>
                  <a:pt x="17780" y="202525"/>
                  <a:pt x="20929" y="195997"/>
                </a:cubicBezTo>
                <a:cubicBezTo>
                  <a:pt x="16175" y="189468"/>
                  <a:pt x="16484" y="179745"/>
                  <a:pt x="21916" y="173633"/>
                </a:cubicBezTo>
                <a:lnTo>
                  <a:pt x="35869" y="157936"/>
                </a:lnTo>
                <a:cubicBezTo>
                  <a:pt x="41301" y="151825"/>
                  <a:pt x="49883" y="151477"/>
                  <a:pt x="55748" y="156825"/>
                </a:cubicBezTo>
                <a:cubicBezTo>
                  <a:pt x="56921" y="156131"/>
                  <a:pt x="58032" y="155436"/>
                  <a:pt x="59267" y="154742"/>
                </a:cubicBezTo>
                <a:close/>
                <a:moveTo>
                  <a:pt x="98778" y="200025"/>
                </a:moveTo>
                <a:cubicBezTo>
                  <a:pt x="76971" y="200025"/>
                  <a:pt x="59267" y="219942"/>
                  <a:pt x="59267" y="244475"/>
                </a:cubicBezTo>
                <a:cubicBezTo>
                  <a:pt x="59267" y="269008"/>
                  <a:pt x="76971" y="288925"/>
                  <a:pt x="98778" y="288925"/>
                </a:cubicBezTo>
                <a:cubicBezTo>
                  <a:pt x="120585" y="288925"/>
                  <a:pt x="138289" y="269008"/>
                  <a:pt x="138289" y="244475"/>
                </a:cubicBezTo>
                <a:cubicBezTo>
                  <a:pt x="138289" y="219942"/>
                  <a:pt x="120585" y="200025"/>
                  <a:pt x="98778" y="200025"/>
                </a:cubicBezTo>
                <a:close/>
                <a:moveTo>
                  <a:pt x="271639" y="294481"/>
                </a:moveTo>
                <a:cubicBezTo>
                  <a:pt x="271639" y="309814"/>
                  <a:pt x="282704" y="322263"/>
                  <a:pt x="296333" y="322263"/>
                </a:cubicBezTo>
                <a:cubicBezTo>
                  <a:pt x="309963" y="322263"/>
                  <a:pt x="321028" y="309814"/>
                  <a:pt x="321028" y="294481"/>
                </a:cubicBezTo>
                <a:cubicBezTo>
                  <a:pt x="321028" y="279148"/>
                  <a:pt x="309963" y="266700"/>
                  <a:pt x="296333" y="266700"/>
                </a:cubicBezTo>
                <a:cubicBezTo>
                  <a:pt x="282704" y="266700"/>
                  <a:pt x="271639" y="279148"/>
                  <a:pt x="271639" y="294481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8" name="Text 5"/>
          <p:cNvSpPr/>
          <p:nvPr/>
        </p:nvSpPr>
        <p:spPr>
          <a:xfrm>
            <a:off x="1981200" y="5905500"/>
            <a:ext cx="330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John Deere Autonomous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524000" y="6350000"/>
            <a:ext cx="3810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Fully autonomous farming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6 cameras + AI processing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325 million acres covered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842000" y="5715000"/>
            <a:ext cx="4318000" cy="2413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096000" y="590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08656" y="22225"/>
                </a:moveTo>
                <a:cubicBezTo>
                  <a:pt x="100445" y="22225"/>
                  <a:pt x="93839" y="29656"/>
                  <a:pt x="93839" y="38894"/>
                </a:cubicBezTo>
                <a:cubicBezTo>
                  <a:pt x="93839" y="48131"/>
                  <a:pt x="100445" y="55563"/>
                  <a:pt x="108656" y="55563"/>
                </a:cubicBezTo>
                <a:lnTo>
                  <a:pt x="202494" y="55563"/>
                </a:lnTo>
                <a:lnTo>
                  <a:pt x="202494" y="88900"/>
                </a:lnTo>
                <a:lnTo>
                  <a:pt x="66181" y="88900"/>
                </a:lnTo>
                <a:lnTo>
                  <a:pt x="45932" y="61535"/>
                </a:lnTo>
                <a:cubicBezTo>
                  <a:pt x="43154" y="57785"/>
                  <a:pt x="38955" y="55563"/>
                  <a:pt x="34572" y="55563"/>
                </a:cubicBezTo>
                <a:lnTo>
                  <a:pt x="14817" y="55563"/>
                </a:lnTo>
                <a:cubicBezTo>
                  <a:pt x="9693" y="55563"/>
                  <a:pt x="4939" y="58549"/>
                  <a:pt x="2223" y="63480"/>
                </a:cubicBezTo>
                <a:cubicBezTo>
                  <a:pt x="-494" y="68411"/>
                  <a:pt x="-741" y="74523"/>
                  <a:pt x="1543" y="79732"/>
                </a:cubicBezTo>
                <a:lnTo>
                  <a:pt x="31177" y="146407"/>
                </a:lnTo>
                <a:cubicBezTo>
                  <a:pt x="33708" y="152033"/>
                  <a:pt x="38832" y="155575"/>
                  <a:pt x="44450" y="155575"/>
                </a:cubicBezTo>
                <a:lnTo>
                  <a:pt x="111002" y="155575"/>
                </a:lnTo>
                <a:lnTo>
                  <a:pt x="175207" y="254962"/>
                </a:lnTo>
                <a:cubicBezTo>
                  <a:pt x="184529" y="269339"/>
                  <a:pt x="199346" y="277813"/>
                  <a:pt x="215150" y="277813"/>
                </a:cubicBezTo>
                <a:lnTo>
                  <a:pt x="261761" y="277813"/>
                </a:lnTo>
                <a:cubicBezTo>
                  <a:pt x="308125" y="277813"/>
                  <a:pt x="345722" y="235516"/>
                  <a:pt x="345722" y="183356"/>
                </a:cubicBezTo>
                <a:cubicBezTo>
                  <a:pt x="345722" y="131197"/>
                  <a:pt x="308125" y="88900"/>
                  <a:pt x="261761" y="88900"/>
                </a:cubicBezTo>
                <a:lnTo>
                  <a:pt x="232128" y="88900"/>
                </a:lnTo>
                <a:lnTo>
                  <a:pt x="232128" y="55563"/>
                </a:lnTo>
                <a:lnTo>
                  <a:pt x="325967" y="55563"/>
                </a:lnTo>
                <a:cubicBezTo>
                  <a:pt x="334178" y="55563"/>
                  <a:pt x="340783" y="48131"/>
                  <a:pt x="340783" y="38894"/>
                </a:cubicBezTo>
                <a:cubicBezTo>
                  <a:pt x="340783" y="29656"/>
                  <a:pt x="334178" y="22225"/>
                  <a:pt x="325967" y="22225"/>
                </a:cubicBezTo>
                <a:lnTo>
                  <a:pt x="108656" y="22225"/>
                </a:lnTo>
                <a:close/>
                <a:moveTo>
                  <a:pt x="232128" y="133350"/>
                </a:moveTo>
                <a:lnTo>
                  <a:pt x="261761" y="133350"/>
                </a:lnTo>
                <a:cubicBezTo>
                  <a:pt x="286332" y="133350"/>
                  <a:pt x="306211" y="155714"/>
                  <a:pt x="306211" y="183356"/>
                </a:cubicBezTo>
                <a:cubicBezTo>
                  <a:pt x="306211" y="210999"/>
                  <a:pt x="286332" y="233363"/>
                  <a:pt x="261761" y="233363"/>
                </a:cubicBezTo>
                <a:lnTo>
                  <a:pt x="232128" y="233363"/>
                </a:lnTo>
                <a:lnTo>
                  <a:pt x="232128" y="133350"/>
                </a:lnTo>
                <a:close/>
                <a:moveTo>
                  <a:pt x="340783" y="288925"/>
                </a:moveTo>
                <a:cubicBezTo>
                  <a:pt x="332572" y="288925"/>
                  <a:pt x="325967" y="296356"/>
                  <a:pt x="325967" y="305594"/>
                </a:cubicBezTo>
                <a:cubicBezTo>
                  <a:pt x="325967" y="308650"/>
                  <a:pt x="323744" y="311150"/>
                  <a:pt x="321028" y="311150"/>
                </a:cubicBezTo>
                <a:lnTo>
                  <a:pt x="153106" y="311150"/>
                </a:lnTo>
                <a:cubicBezTo>
                  <a:pt x="144895" y="311150"/>
                  <a:pt x="138289" y="318581"/>
                  <a:pt x="138289" y="327819"/>
                </a:cubicBezTo>
                <a:cubicBezTo>
                  <a:pt x="138289" y="337056"/>
                  <a:pt x="144895" y="344488"/>
                  <a:pt x="153106" y="344488"/>
                </a:cubicBezTo>
                <a:lnTo>
                  <a:pt x="321028" y="344488"/>
                </a:lnTo>
                <a:cubicBezTo>
                  <a:pt x="340104" y="344488"/>
                  <a:pt x="355600" y="327055"/>
                  <a:pt x="355600" y="305594"/>
                </a:cubicBezTo>
                <a:cubicBezTo>
                  <a:pt x="355600" y="296356"/>
                  <a:pt x="348994" y="288925"/>
                  <a:pt x="340783" y="288925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2" name="Text 9"/>
          <p:cNvSpPr/>
          <p:nvPr/>
        </p:nvSpPr>
        <p:spPr>
          <a:xfrm>
            <a:off x="6553200" y="5905500"/>
            <a:ext cx="330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Amazon Prime Air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096000" y="6350000"/>
            <a:ext cx="3810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Drone delivery service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30-minute delivery promise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Operating in TX &amp; CA (2024)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0414000" y="5715000"/>
            <a:ext cx="4572000" cy="2413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5" name="Shape 12"/>
          <p:cNvSpPr/>
          <p:nvPr/>
        </p:nvSpPr>
        <p:spPr>
          <a:xfrm>
            <a:off x="10668000" y="590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51130" y="0"/>
                </a:moveTo>
                <a:cubicBezTo>
                  <a:pt x="136406" y="0"/>
                  <a:pt x="124460" y="14932"/>
                  <a:pt x="124460" y="33337"/>
                </a:cubicBezTo>
                <a:lnTo>
                  <a:pt x="124460" y="44450"/>
                </a:lnTo>
                <a:lnTo>
                  <a:pt x="115570" y="44450"/>
                </a:lnTo>
                <a:cubicBezTo>
                  <a:pt x="91011" y="44450"/>
                  <a:pt x="71120" y="69314"/>
                  <a:pt x="71120" y="100013"/>
                </a:cubicBezTo>
                <a:lnTo>
                  <a:pt x="71120" y="175577"/>
                </a:lnTo>
                <a:lnTo>
                  <a:pt x="59119" y="181550"/>
                </a:lnTo>
                <a:cubicBezTo>
                  <a:pt x="50895" y="185648"/>
                  <a:pt x="46617" y="197108"/>
                  <a:pt x="49451" y="207595"/>
                </a:cubicBezTo>
                <a:cubicBezTo>
                  <a:pt x="55229" y="229334"/>
                  <a:pt x="64341" y="248781"/>
                  <a:pt x="75954" y="265311"/>
                </a:cubicBezTo>
                <a:cubicBezTo>
                  <a:pt x="87122" y="258921"/>
                  <a:pt x="99123" y="255657"/>
                  <a:pt x="111125" y="255587"/>
                </a:cubicBezTo>
                <a:cubicBezTo>
                  <a:pt x="129516" y="255449"/>
                  <a:pt x="147963" y="262672"/>
                  <a:pt x="163576" y="277396"/>
                </a:cubicBezTo>
                <a:lnTo>
                  <a:pt x="164465" y="278229"/>
                </a:lnTo>
                <a:lnTo>
                  <a:pt x="164465" y="128905"/>
                </a:lnTo>
                <a:lnTo>
                  <a:pt x="106680" y="157797"/>
                </a:lnTo>
                <a:lnTo>
                  <a:pt x="106680" y="100012"/>
                </a:lnTo>
                <a:cubicBezTo>
                  <a:pt x="106680" y="93901"/>
                  <a:pt x="110680" y="88900"/>
                  <a:pt x="115570" y="88900"/>
                </a:cubicBezTo>
                <a:lnTo>
                  <a:pt x="240030" y="88900"/>
                </a:lnTo>
                <a:cubicBezTo>
                  <a:pt x="244920" y="88900"/>
                  <a:pt x="248920" y="93901"/>
                  <a:pt x="248920" y="100012"/>
                </a:cubicBezTo>
                <a:lnTo>
                  <a:pt x="248920" y="157797"/>
                </a:lnTo>
                <a:lnTo>
                  <a:pt x="191135" y="128905"/>
                </a:lnTo>
                <a:lnTo>
                  <a:pt x="191135" y="278229"/>
                </a:lnTo>
                <a:lnTo>
                  <a:pt x="192024" y="277396"/>
                </a:lnTo>
                <a:cubicBezTo>
                  <a:pt x="207304" y="263019"/>
                  <a:pt x="225306" y="255726"/>
                  <a:pt x="243364" y="255587"/>
                </a:cubicBezTo>
                <a:cubicBezTo>
                  <a:pt x="255754" y="255518"/>
                  <a:pt x="268145" y="258713"/>
                  <a:pt x="279646" y="265311"/>
                </a:cubicBezTo>
                <a:cubicBezTo>
                  <a:pt x="291259" y="248851"/>
                  <a:pt x="300371" y="229334"/>
                  <a:pt x="306149" y="207595"/>
                </a:cubicBezTo>
                <a:cubicBezTo>
                  <a:pt x="308927" y="197039"/>
                  <a:pt x="304705" y="185648"/>
                  <a:pt x="296482" y="181550"/>
                </a:cubicBezTo>
                <a:lnTo>
                  <a:pt x="284480" y="175577"/>
                </a:lnTo>
                <a:lnTo>
                  <a:pt x="284480" y="100013"/>
                </a:lnTo>
                <a:cubicBezTo>
                  <a:pt x="284480" y="69314"/>
                  <a:pt x="264589" y="44450"/>
                  <a:pt x="240030" y="44450"/>
                </a:cubicBezTo>
                <a:lnTo>
                  <a:pt x="231140" y="44450"/>
                </a:lnTo>
                <a:lnTo>
                  <a:pt x="231140" y="33337"/>
                </a:lnTo>
                <a:cubicBezTo>
                  <a:pt x="231140" y="14932"/>
                  <a:pt x="219194" y="0"/>
                  <a:pt x="204470" y="0"/>
                </a:cubicBezTo>
                <a:lnTo>
                  <a:pt x="151130" y="0"/>
                </a:lnTo>
                <a:close/>
                <a:moveTo>
                  <a:pt x="224139" y="330666"/>
                </a:moveTo>
                <a:cubicBezTo>
                  <a:pt x="235974" y="319484"/>
                  <a:pt x="251865" y="319484"/>
                  <a:pt x="263700" y="330666"/>
                </a:cubicBezTo>
                <a:cubicBezTo>
                  <a:pt x="274257" y="340668"/>
                  <a:pt x="286980" y="350252"/>
                  <a:pt x="301038" y="353794"/>
                </a:cubicBezTo>
                <a:cubicBezTo>
                  <a:pt x="315762" y="357545"/>
                  <a:pt x="331208" y="354350"/>
                  <a:pt x="345877" y="340529"/>
                </a:cubicBezTo>
                <a:cubicBezTo>
                  <a:pt x="351766" y="334972"/>
                  <a:pt x="352933" y="324554"/>
                  <a:pt x="348488" y="317192"/>
                </a:cubicBezTo>
                <a:cubicBezTo>
                  <a:pt x="344043" y="309830"/>
                  <a:pt x="335709" y="308372"/>
                  <a:pt x="329819" y="313928"/>
                </a:cubicBezTo>
                <a:cubicBezTo>
                  <a:pt x="321540" y="321707"/>
                  <a:pt x="313928" y="323026"/>
                  <a:pt x="306316" y="321082"/>
                </a:cubicBezTo>
                <a:cubicBezTo>
                  <a:pt x="298037" y="318998"/>
                  <a:pt x="289147" y="312817"/>
                  <a:pt x="279757" y="303996"/>
                </a:cubicBezTo>
                <a:cubicBezTo>
                  <a:pt x="258421" y="283855"/>
                  <a:pt x="229473" y="283855"/>
                  <a:pt x="208082" y="303996"/>
                </a:cubicBezTo>
                <a:cubicBezTo>
                  <a:pt x="194747" y="316567"/>
                  <a:pt x="185468" y="322263"/>
                  <a:pt x="177800" y="322263"/>
                </a:cubicBezTo>
                <a:cubicBezTo>
                  <a:pt x="170132" y="322263"/>
                  <a:pt x="160853" y="316567"/>
                  <a:pt x="147518" y="303996"/>
                </a:cubicBezTo>
                <a:cubicBezTo>
                  <a:pt x="126182" y="283855"/>
                  <a:pt x="97234" y="283855"/>
                  <a:pt x="75843" y="303996"/>
                </a:cubicBezTo>
                <a:cubicBezTo>
                  <a:pt x="63841" y="315317"/>
                  <a:pt x="52896" y="321915"/>
                  <a:pt x="43117" y="321846"/>
                </a:cubicBezTo>
                <a:cubicBezTo>
                  <a:pt x="37783" y="321776"/>
                  <a:pt x="32060" y="319762"/>
                  <a:pt x="25781" y="313859"/>
                </a:cubicBezTo>
                <a:cubicBezTo>
                  <a:pt x="19891" y="308302"/>
                  <a:pt x="11557" y="309761"/>
                  <a:pt x="7112" y="317123"/>
                </a:cubicBezTo>
                <a:cubicBezTo>
                  <a:pt x="2667" y="324485"/>
                  <a:pt x="3889" y="334972"/>
                  <a:pt x="9779" y="340529"/>
                </a:cubicBezTo>
                <a:cubicBezTo>
                  <a:pt x="20391" y="350530"/>
                  <a:pt x="31671" y="355114"/>
                  <a:pt x="43005" y="355183"/>
                </a:cubicBezTo>
                <a:cubicBezTo>
                  <a:pt x="61841" y="355322"/>
                  <a:pt x="78732" y="343098"/>
                  <a:pt x="91956" y="330666"/>
                </a:cubicBezTo>
                <a:cubicBezTo>
                  <a:pt x="103791" y="319484"/>
                  <a:pt x="119682" y="319484"/>
                  <a:pt x="131516" y="330666"/>
                </a:cubicBezTo>
                <a:cubicBezTo>
                  <a:pt x="144963" y="343376"/>
                  <a:pt x="160576" y="355600"/>
                  <a:pt x="177856" y="355600"/>
                </a:cubicBezTo>
                <a:cubicBezTo>
                  <a:pt x="195136" y="355600"/>
                  <a:pt x="210693" y="343307"/>
                  <a:pt x="224195" y="33066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11125200" y="59055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Yara Birkeland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0668000" y="6350000"/>
            <a:ext cx="4064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80km autonomous voyage (Norway)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Zero emissions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Replaces 40,000 truck journeys/year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Advantages &amp; Disadvantages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Evaluating computer-controlled systems against human-operated systems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698500"/>
            <a:ext cx="1143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Advantages of Computer-Controlled Systems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79600"/>
            <a:ext cx="3238500" cy="1778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4000" y="2057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11150" y="177800"/>
                </a:moveTo>
                <a:cubicBezTo>
                  <a:pt x="311150" y="104202"/>
                  <a:pt x="251398" y="44450"/>
                  <a:pt x="177800" y="44450"/>
                </a:cubicBezTo>
                <a:cubicBezTo>
                  <a:pt x="104202" y="44450"/>
                  <a:pt x="44450" y="104202"/>
                  <a:pt x="44450" y="177800"/>
                </a:cubicBezTo>
                <a:cubicBezTo>
                  <a:pt x="44450" y="251398"/>
                  <a:pt x="104202" y="311150"/>
                  <a:pt x="177800" y="311150"/>
                </a:cubicBezTo>
                <a:cubicBezTo>
                  <a:pt x="251398" y="311150"/>
                  <a:pt x="311150" y="251398"/>
                  <a:pt x="311150" y="177800"/>
                </a:cubicBezTo>
                <a:close/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  <a:moveTo>
                  <a:pt x="177800" y="233363"/>
                </a:moveTo>
                <a:cubicBezTo>
                  <a:pt x="208466" y="233363"/>
                  <a:pt x="233363" y="208466"/>
                  <a:pt x="233363" y="177800"/>
                </a:cubicBezTo>
                <a:cubicBezTo>
                  <a:pt x="233363" y="147134"/>
                  <a:pt x="208466" y="122238"/>
                  <a:pt x="177800" y="122238"/>
                </a:cubicBezTo>
                <a:cubicBezTo>
                  <a:pt x="147134" y="122238"/>
                  <a:pt x="122238" y="147134"/>
                  <a:pt x="122238" y="177800"/>
                </a:cubicBezTo>
                <a:cubicBezTo>
                  <a:pt x="122238" y="208466"/>
                  <a:pt x="147134" y="233363"/>
                  <a:pt x="177800" y="233363"/>
                </a:cubicBezTo>
                <a:close/>
                <a:moveTo>
                  <a:pt x="177800" y="77788"/>
                </a:moveTo>
                <a:cubicBezTo>
                  <a:pt x="232998" y="77788"/>
                  <a:pt x="277813" y="122602"/>
                  <a:pt x="277813" y="177800"/>
                </a:cubicBezTo>
                <a:cubicBezTo>
                  <a:pt x="277813" y="232998"/>
                  <a:pt x="232998" y="277813"/>
                  <a:pt x="177800" y="277813"/>
                </a:cubicBezTo>
                <a:cubicBezTo>
                  <a:pt x="122602" y="277813"/>
                  <a:pt x="77788" y="232998"/>
                  <a:pt x="77788" y="177800"/>
                </a:cubicBezTo>
                <a:cubicBezTo>
                  <a:pt x="77788" y="122602"/>
                  <a:pt x="122602" y="77788"/>
                  <a:pt x="177800" y="77788"/>
                </a:cubicBezTo>
                <a:close/>
                <a:moveTo>
                  <a:pt x="155575" y="177800"/>
                </a:moveTo>
                <a:cubicBezTo>
                  <a:pt x="155575" y="165534"/>
                  <a:pt x="165534" y="155575"/>
                  <a:pt x="177800" y="155575"/>
                </a:cubicBezTo>
                <a:cubicBezTo>
                  <a:pt x="190066" y="155575"/>
                  <a:pt x="200025" y="165534"/>
                  <a:pt x="200025" y="177800"/>
                </a:cubicBezTo>
                <a:cubicBezTo>
                  <a:pt x="200025" y="190066"/>
                  <a:pt x="190066" y="200025"/>
                  <a:pt x="177800" y="200025"/>
                </a:cubicBezTo>
                <a:cubicBezTo>
                  <a:pt x="165534" y="200025"/>
                  <a:pt x="155575" y="190066"/>
                  <a:pt x="155575" y="1778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1270000" y="2476500"/>
            <a:ext cx="3238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±0.001mm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270000" y="311150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CNC Precision (100x human)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62500" y="1879600"/>
            <a:ext cx="3238500" cy="1778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16500" y="2057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ubicBezTo>
                  <a:pt x="0" y="79670"/>
                  <a:pt x="79670" y="0"/>
                  <a:pt x="177800" y="0"/>
                </a:cubicBezTo>
                <a:close/>
                <a:moveTo>
                  <a:pt x="161131" y="83344"/>
                </a:moveTo>
                <a:lnTo>
                  <a:pt x="161131" y="177800"/>
                </a:lnTo>
                <a:cubicBezTo>
                  <a:pt x="161131" y="183356"/>
                  <a:pt x="163909" y="188565"/>
                  <a:pt x="168563" y="191691"/>
                </a:cubicBezTo>
                <a:lnTo>
                  <a:pt x="235238" y="236141"/>
                </a:lnTo>
                <a:cubicBezTo>
                  <a:pt x="242878" y="241280"/>
                  <a:pt x="253226" y="239197"/>
                  <a:pt x="258366" y="231487"/>
                </a:cubicBezTo>
                <a:cubicBezTo>
                  <a:pt x="263505" y="223778"/>
                  <a:pt x="261422" y="213499"/>
                  <a:pt x="253712" y="208359"/>
                </a:cubicBezTo>
                <a:lnTo>
                  <a:pt x="194469" y="168910"/>
                </a:lnTo>
                <a:lnTo>
                  <a:pt x="194469" y="83344"/>
                </a:lnTo>
                <a:cubicBezTo>
                  <a:pt x="194469" y="74106"/>
                  <a:pt x="187037" y="66675"/>
                  <a:pt x="177800" y="66675"/>
                </a:cubicBezTo>
                <a:cubicBezTo>
                  <a:pt x="168563" y="66675"/>
                  <a:pt x="161131" y="74106"/>
                  <a:pt x="161131" y="83344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4762500" y="2476500"/>
            <a:ext cx="3238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24/7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762500" y="311150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Continuous Operation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55000" y="1879600"/>
            <a:ext cx="3238500" cy="1778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509000" y="2057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8255000" y="2476500"/>
            <a:ext cx="3238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70%+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255000" y="311150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Injury Reduction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747500" y="1879600"/>
            <a:ext cx="3238500" cy="1778000"/>
          </a:xfrm>
          <a:prstGeom prst="roundRect">
            <a:avLst>
              <a:gd name="adj" fmla="val 12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7" name="Shape 15"/>
          <p:cNvSpPr/>
          <p:nvPr/>
        </p:nvSpPr>
        <p:spPr>
          <a:xfrm>
            <a:off x="12001500" y="2057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1747500" y="2476500"/>
            <a:ext cx="3238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80-95%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11747500" y="311150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Defect Rate Reduction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70000" y="4000500"/>
            <a:ext cx="6858000" cy="412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Advantages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Precision &amp; Accuracy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Tolerances impossible for humans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Speed &amp; Efficiency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3-5x more units per hour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Consistency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Zero variation between operations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Safety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Handles hazards (1000°C+, radiation)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Collection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Every action logged automatically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 Reduction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1 robot = 3-5 workers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Scalability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Easy to replicate without proportional cost</a:t>
            </a:r>
            <a:endParaRPr lang="en-US" sz="18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509000" y="4000500"/>
          <a:ext cx="6477000" cy="4127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698500"/>
            <a:ext cx="1143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Disadvantages of Computer-Controlled Systems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841500"/>
            <a:ext cx="71120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High Initial Investment</a:t>
            </a:r>
            <a:endParaRPr lang="en-US" sz="1700" dirty="0"/>
          </a:p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Robots: $50K-$500K each. Full line: $1M-$50M+</a:t>
            </a:r>
            <a:endParaRPr lang="en-US" sz="1700" dirty="0"/>
          </a:p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Small businesses often cannot afford</a:t>
            </a:r>
            <a:endParaRPr lang="en-US" sz="17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Job Displacement</a:t>
            </a:r>
            <a:endParaRPr lang="en-US" sz="1700" dirty="0"/>
          </a:p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WEF: 85M jobs may be displaced by 2025</a:t>
            </a:r>
            <a:endParaRPr lang="en-US" sz="1700" dirty="0"/>
          </a:p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(97M new roles may also emerge)</a:t>
            </a:r>
            <a:endParaRPr lang="en-US" sz="17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Complexity &amp; Maintenance</a:t>
            </a:r>
            <a:endParaRPr lang="en-US" sz="1700" dirty="0"/>
          </a:p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Requires specialized engineers</a:t>
            </a:r>
            <a:endParaRPr lang="en-US" sz="1700" dirty="0"/>
          </a:p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Downtime: up to </a:t>
            </a:r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$22,000/min</a:t>
            </a:r>
            <a:endParaRPr lang="en-US" sz="17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 Lack of Flexibility</a:t>
            </a:r>
            <a:endParaRPr lang="en-US" sz="1700" dirty="0"/>
          </a:p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Struggle with novel situations</a:t>
            </a:r>
            <a:endParaRPr lang="en-US" sz="1700" dirty="0"/>
          </a:p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Reprogramming takes hours to days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763000" y="1841500"/>
            <a:ext cx="62230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 Cybersecurity Risks</a:t>
            </a:r>
            <a:endParaRPr lang="en-US" sz="1700" dirty="0"/>
          </a:p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Stuxnet caused $1B+ in damages</a:t>
            </a:r>
            <a:endParaRPr lang="en-US" sz="1700" dirty="0"/>
          </a:p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Ransomware attacks up </a:t>
            </a:r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156%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2023</a:t>
            </a:r>
            <a:endParaRPr lang="en-US" sz="17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6. Infrastructure Dependence</a:t>
            </a:r>
            <a:endParaRPr lang="en-US" sz="1700" dirty="0"/>
          </a:p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Power outages halt all operations</a:t>
            </a:r>
            <a:endParaRPr lang="en-US" sz="1700" dirty="0"/>
          </a:p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Requires robust backup systems</a:t>
            </a:r>
            <a:endParaRPr lang="en-US" sz="17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7. Limited Creativity</a:t>
            </a:r>
            <a:endParaRPr lang="en-US" sz="1700" dirty="0"/>
          </a:p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Cannot handle ambiguous situations</a:t>
            </a:r>
            <a:endParaRPr lang="en-US" sz="1700" dirty="0"/>
          </a:p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No human intuition or ethical judgment</a:t>
            </a:r>
            <a:endParaRPr lang="en-US" sz="17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8. Environmental Concerns</a:t>
            </a:r>
            <a:endParaRPr lang="en-US" sz="1700" dirty="0"/>
          </a:p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E-waste from obsolete systems</a:t>
            </a:r>
            <a:endParaRPr lang="en-US" sz="1700" dirty="0"/>
          </a:p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High energy consumption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270000" y="7048500"/>
            <a:ext cx="13716000" cy="889000"/>
          </a:xfrm>
          <a:prstGeom prst="roundRect">
            <a:avLst>
              <a:gd name="adj" fmla="val 6000"/>
            </a:avLst>
          </a:prstGeom>
          <a:solidFill>
            <a:srgbClr val="FFF3E0"/>
          </a:solidFill>
          <a:ln w="12700">
            <a:solidFill>
              <a:srgbClr val="FF7F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24000" y="7239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2032000" y="7239000"/>
            <a:ext cx="1257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Insight: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The best approach is </a:t>
            </a:r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human-robot collaboration (Cobots)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not full replacement.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698500"/>
            <a:ext cx="1143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Humans vs Computer-Controlled Systems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1841500"/>
          <a:ext cx="13716000" cy="5461000"/>
        </p:xfrm>
        <a:graphic>
          <a:graphicData uri="http://schemas.openxmlformats.org/drawingml/2006/table">
            <a:tbl>
              <a:tblPr/>
              <a:tblGrid>
                <a:gridCol w="3017520"/>
                <a:gridCol w="5349240"/>
                <a:gridCol w="5349240"/>
              </a:tblGrid>
              <a:tr h="49149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Criteria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Human Workers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Computer-Controlled Systems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49695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Precision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±0.1mm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±0.001mm</a:t>
                      </a:r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(100x better)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49695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Operating Hours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8 hrs/day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24/7</a:t>
                      </a:r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(3x more)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9695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Initial Cost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Low</a:t>
                      </a:r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(salary-based)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High (capital investment)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49695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Flexibility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High</a:t>
                      </a:r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— adapts to novel situations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Low-Medium — needs reprogramming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9695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Creativity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High</a:t>
                      </a:r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— intuition &amp; judgment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None — rule-based only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49695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Consistency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Variable — fatigue affects output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Perfect</a:t>
                      </a:r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— zero variation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9695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Safety Risk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High in hazardous environments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Low</a:t>
                      </a:r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— remote operation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49695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Learning Curve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Moderate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Steep — specialized training required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9695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Data Logging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Manual — prone to errors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Automatic</a:t>
                      </a:r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&amp; comprehensive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0241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Maintenance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N/A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Required — specialized engineers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270000" y="7556500"/>
            <a:ext cx="13716000" cy="635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FF7F50"/>
              </a:gs>
            </a:gsLst>
            <a:lin ang="0" scaled="1"/>
          </a:gradFill>
          <a:ln/>
        </p:spPr>
      </p:sp>
      <p:sp>
        <p:nvSpPr>
          <p:cNvPr id="6" name="Text 3"/>
          <p:cNvSpPr/>
          <p:nvPr/>
        </p:nvSpPr>
        <p:spPr>
          <a:xfrm>
            <a:off x="1778000" y="75565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Verdict: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Best results come from human-robot collaboration (Cobots), not replacement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698500"/>
            <a:ext cx="1143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Case Study — Tesla Gigafactory Automation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pic>
        <p:nvPicPr>
          <p:cNvPr id="4" name="Image 0" descr="https://kimi-img.moonshot.cn/pub/slides/okc/nzffcm4kpdkvi/mnt/agents/output/ccs-week11/images/2_Assembly_Line_Automation_Revolutioniz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70000" y="1841500"/>
            <a:ext cx="6096000" cy="3556000"/>
          </a:xfrm>
          <a:prstGeom prst="roundRect">
            <a:avLst>
              <a:gd name="adj" fmla="val 8000"/>
            </a:avLst>
          </a:prstGeom>
        </p:spPr>
      </p:pic>
      <p:sp>
        <p:nvSpPr>
          <p:cNvPr id="5" name="Text 2"/>
          <p:cNvSpPr/>
          <p:nvPr/>
        </p:nvSpPr>
        <p:spPr>
          <a:xfrm>
            <a:off x="7874000" y="1841500"/>
            <a:ext cx="7112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Overview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Tesla's Shanghai Gigafactory produces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 Model Y every 30 seconds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Robotics &amp; Control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1,500+ KUKA and FANUC robots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Siemens PLCs + Tesla SCADA (99.9% uptime)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270000" y="5715000"/>
            <a:ext cx="3238500" cy="1524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270000" y="5842000"/>
            <a:ext cx="3238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65%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1270000" y="6540500"/>
            <a:ext cx="3238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Production Cost Reduction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762500" y="5715000"/>
            <a:ext cx="3238500" cy="1524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762500" y="5842000"/>
            <a:ext cx="3238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4762500" y="6540500"/>
            <a:ext cx="3238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Defects per 100 Vehicles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255000" y="5715000"/>
            <a:ext cx="3238500" cy="1524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255000" y="5842000"/>
            <a:ext cx="3238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15,000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8255000" y="6540500"/>
            <a:ext cx="3238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Employees + Robots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1747500" y="5715000"/>
            <a:ext cx="3238500" cy="1524000"/>
          </a:xfrm>
          <a:prstGeom prst="roundRect">
            <a:avLst>
              <a:gd name="adj" fmla="val 12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6" name="Text 13"/>
          <p:cNvSpPr/>
          <p:nvPr/>
        </p:nvSpPr>
        <p:spPr>
          <a:xfrm>
            <a:off x="11747500" y="5842000"/>
            <a:ext cx="3238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30s</a:t>
            </a:r>
            <a:endParaRPr lang="en-US" sz="4000" dirty="0"/>
          </a:p>
        </p:txBody>
      </p:sp>
      <p:sp>
        <p:nvSpPr>
          <p:cNvPr id="17" name="Text 14"/>
          <p:cNvSpPr/>
          <p:nvPr/>
        </p:nvSpPr>
        <p:spPr>
          <a:xfrm>
            <a:off x="11747500" y="6540500"/>
            <a:ext cx="3238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 Car Production Time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270000" y="7556500"/>
            <a:ext cx="13716000" cy="635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778000" y="75565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Takeaway: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Successful automation combines CCS strengths with human strengths (judgment, adaptability)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698500"/>
            <a:ext cx="1143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Case Study — Waymo Autonomous Taxi Service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pic>
        <p:nvPicPr>
          <p:cNvPr id="4" name="Image 0" descr="https://kimi-img.moonshot.cn/pub/slides/okc/nzffcm4kpdkvi/mnt/agents/output/ccs-week11/images/9_LIDAR_Sensors_in_Autonomous_Vehicl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70000" y="1841500"/>
            <a:ext cx="5588000" cy="3302000"/>
          </a:xfrm>
          <a:prstGeom prst="roundRect">
            <a:avLst>
              <a:gd name="adj" fmla="val 8000"/>
            </a:avLst>
          </a:prstGeom>
        </p:spPr>
      </p:pic>
      <p:sp>
        <p:nvSpPr>
          <p:cNvPr id="5" name="Text 2"/>
          <p:cNvSpPr/>
          <p:nvPr/>
        </p:nvSpPr>
        <p:spPr>
          <a:xfrm>
            <a:off x="7239000" y="1841500"/>
            <a:ext cx="7747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Overview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Waymo operates the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world's largest robotaxi fleet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&amp; Scale (2024)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LIDAR + cameras + RADAR sensor fusion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700+ vehicles, 100,000+ paid rides/week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20+ million autonomous miles driven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270000" y="5461000"/>
            <a:ext cx="3238500" cy="1397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270000" y="5588000"/>
            <a:ext cx="3238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85%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1270000" y="6223000"/>
            <a:ext cx="3238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Fewer Injury Crashes vs Humans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62500" y="5461000"/>
            <a:ext cx="3238500" cy="1397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762500" y="5588000"/>
            <a:ext cx="3238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$15-20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4762500" y="6223000"/>
            <a:ext cx="3238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 Ride (Competitive with Uber)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255000" y="5461000"/>
            <a:ext cx="3238500" cy="1397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255000" y="5588000"/>
            <a:ext cx="3238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8255000" y="6223000"/>
            <a:ext cx="3238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At-Fault Fatalities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1747500" y="5461000"/>
            <a:ext cx="3238500" cy="1397000"/>
          </a:xfrm>
          <a:prstGeom prst="roundRect">
            <a:avLst>
              <a:gd name="adj" fmla="val 12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6" name="Text 13"/>
          <p:cNvSpPr/>
          <p:nvPr/>
        </p:nvSpPr>
        <p:spPr>
          <a:xfrm>
            <a:off x="11747500" y="5588000"/>
            <a:ext cx="3238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</a:t>
            </a:r>
            <a:endParaRPr lang="en-US" sz="3800" dirty="0"/>
          </a:p>
        </p:txBody>
      </p:sp>
      <p:sp>
        <p:nvSpPr>
          <p:cNvPr id="17" name="Text 14"/>
          <p:cNvSpPr/>
          <p:nvPr/>
        </p:nvSpPr>
        <p:spPr>
          <a:xfrm>
            <a:off x="11747500" y="6223000"/>
            <a:ext cx="3238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Profitability Target Year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270000" y="7175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Challenges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270000" y="7620000"/>
            <a:ext cx="1371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Limited to mapped/geofenced areas  • Struggles with heavy rain/snow  • Regulatory hurdles  • Public acceptance still growing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0" y="0"/>
                </a:moveTo>
                <a:lnTo>
                  <a:pt x="8128000" y="0"/>
                </a:lnTo>
                <a:lnTo>
                  <a:pt x="8128000" y="2286000"/>
                </a:lnTo>
                <a:quadBezTo>
                  <a:pt x="6096000" y="4572000"/>
                  <a:pt x="4064000" y="4572000"/>
                </a:quadBezTo>
                <a:lnTo>
                  <a:pt x="2032000" y="4572000"/>
                </a:lnTo>
                <a:quadBezTo>
                  <a:pt x="0" y="4572000"/>
                  <a:pt x="0" y="2286000"/>
                </a:quadBezTo>
                <a:close/>
              </a:path>
            </a:pathLst>
          </a:custGeom>
          <a:gradFill rotWithShape="1" flip="none">
            <a:gsLst>
              <a:gs pos="0">
                <a:srgbClr val="2E5E8A">
                  <a:alpha val="25000"/>
                </a:srgbClr>
              </a:gs>
              <a:gs pos="100000">
                <a:srgbClr val="D0E0E3"/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8128000" y="45720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8128000" y="4572000"/>
                </a:moveTo>
                <a:lnTo>
                  <a:pt x="0" y="4572000"/>
                </a:lnTo>
                <a:lnTo>
                  <a:pt x="0" y="2286000"/>
                </a:lnTo>
                <a:quadBezTo>
                  <a:pt x="2032000" y="0"/>
                  <a:pt x="4064000" y="0"/>
                </a:quadBezTo>
                <a:lnTo>
                  <a:pt x="6096000" y="0"/>
                </a:lnTo>
                <a:quadBezTo>
                  <a:pt x="8128000" y="0"/>
                  <a:pt x="8128000" y="2286000"/>
                </a:quadBez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100000">
                <a:srgbClr val="FF7F50">
                  <a:alpha val="13000"/>
                </a:srgbClr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1778000" y="25400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Future is Collaborative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2413000" y="3746500"/>
            <a:ext cx="1143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Computer-controlled systems don't replace humans — they augment our capabilities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318000" y="5080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Week 11 — Computer Controlled Systems</a:t>
            </a:r>
            <a:endParaRPr lang="en-US" sz="1800" dirty="0"/>
          </a:p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Lecture 21 &amp; 22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0" y="6223000"/>
            <a:ext cx="2540000" cy="508000"/>
          </a:xfrm>
          <a:prstGeom prst="roundRect">
            <a:avLst>
              <a:gd name="adj" fmla="val 20000"/>
            </a:avLst>
          </a:prstGeom>
          <a:solidFill>
            <a:srgbClr val="FFFFFF">
              <a:alpha val="12549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62230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Controlled Systems - Week 11</dc:title>
  <dc:subject>Computer Controlled Systems - Week 11</dc:subject>
  <dc:creator>Kimi</dc:creator>
  <cp:lastModifiedBy>Kimi</cp:lastModifiedBy>
  <cp:revision>1</cp:revision>
  <dcterms:created xsi:type="dcterms:W3CDTF">2026-06-28T17:43:08Z</dcterms:created>
  <dcterms:modified xsi:type="dcterms:W3CDTF">2026-06-28T17:43:08Z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{"Label":"Computer Controlled Systems - Week 11","ContentProducer":"001191110108MACG2KBH8F10000","ProduceID":"19f0f2d4-eee2-8815-8000-00004a33725a","ReservedCode1":"","ContentPropagator":"001191110108MACG2KBH8F20000","PropagateID":"19f0f283-43f2-875d-8000-090970827b15","ReservedCode2":""}</vt:lpwstr>
  </property>
</Properties>
</file>