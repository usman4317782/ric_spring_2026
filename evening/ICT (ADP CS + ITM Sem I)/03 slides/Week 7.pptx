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6256000" cy="9144000"/>
  <p:notesSz cx="9144000" cy="16256000"/>
  <p:embeddedFontLst>
    <p:embeddedFont>
      <p:font typeface="Liter" charset="-122" pitchFamily="34"/>
      <p:regular r:id="rId36"/>
    </p:embeddedFont>
    <p:embeddedFont>
      <p:font typeface="Quattrocento Sans" charset="-122" pitchFamily="34"/>
      <p:regular r:id="rId3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font" Target="fonts/font1.fntdata"/><Relationship Id="rId3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hlp66oxrsclq/mnt/agents/output/ict-week7/images/9_Abstract_network_topology_background.png">    </p:cNvPr>
          <p:cNvPicPr>
            <a:picLocks noChangeAspect="1"/>
          </p:cNvPicPr>
          <p:nvPr/>
        </p:nvPicPr>
        <p:blipFill>
          <a:blip r:embed="rId1"/>
          <a:srcRect l="0" r="0" t="7370" b="737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A36">
                  <a:alpha val="90000"/>
                </a:srgbClr>
              </a:gs>
              <a:gs pos="50000">
                <a:srgbClr val="1E2A36">
                  <a:alpha val="80000"/>
                </a:srgbClr>
              </a:gs>
              <a:gs pos="100000">
                <a:srgbClr val="1E2A36">
                  <a:alpha val="88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2258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 ICT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778000" y="4114800"/>
            <a:ext cx="1270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spc="400" kern="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7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413000" y="4826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Internet Protocol Suite, DHCP,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 IP Addresses &amp; Network Address Translation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858000" y="6096000"/>
            <a:ext cx="2540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9" name="Text 6"/>
          <p:cNvSpPr/>
          <p:nvPr/>
        </p:nvSpPr>
        <p:spPr>
          <a:xfrm>
            <a:off x="1778000" y="8128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Lectures 13 —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4000" y="1524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Internet Protocol Suite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930400"/>
            <a:ext cx="558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TCP/IP model, layers, OSI comparison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4892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24892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2895600"/>
            <a:ext cx="558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Physical transmission, framing, MAC addressing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34544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34544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24000" y="3860800"/>
            <a:ext cx="558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IP protocol, routing, ICMP, ARP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2000" y="44196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44196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Transport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4826000"/>
            <a:ext cx="558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TCP, UDP, segmentation, flow control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82000" y="15240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1524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19304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HTTP, FTP, SMTP, DNS and more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82000" y="24892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24892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Host Configuration Protocol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28956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DHCP, DORA process, lease management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82000" y="34544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0" y="34544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IP Addresses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0" y="38608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RFC 1918, reserved address ranges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82000" y="44196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44196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Address Translation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0" y="48260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 NAT, Dynamic NAT, PAT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01000" y="1524000"/>
            <a:ext cx="25400" cy="3581400"/>
          </a:xfrm>
          <a:prstGeom prst="rect">
            <a:avLst/>
          </a:prstGeom>
          <a:solidFill>
            <a:srgbClr val="D1CFC9"/>
          </a:solidFill>
          <a:ln/>
        </p:spPr>
      </p:sp>
      <p:sp>
        <p:nvSpPr>
          <p:cNvPr id="30" name="Shape 28"/>
          <p:cNvSpPr/>
          <p:nvPr/>
        </p:nvSpPr>
        <p:spPr>
          <a:xfrm>
            <a:off x="762000" y="5588000"/>
            <a:ext cx="14732000" cy="2794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1" name="Text 29"/>
          <p:cNvSpPr/>
          <p:nvPr/>
        </p:nvSpPr>
        <p:spPr>
          <a:xfrm>
            <a:off x="1270000" y="596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LECTURES 13 — 14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70000" y="6604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week covers the complete TCP/IP protocol suite,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DHCP operation, and IP address management with NAT.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906500" y="6350000"/>
            <a:ext cx="1143000" cy="1016000"/>
          </a:xfrm>
          <a:custGeom>
            <a:avLst/>
            <a:gdLst/>
            <a:ahLst/>
            <a:cxnLst/>
            <a:rect l="l" t="t" r="r" b="b"/>
            <a:pathLst>
              <a:path w="1143000" h="1016000">
                <a:moveTo>
                  <a:pt x="492125" y="174625"/>
                </a:moveTo>
                <a:lnTo>
                  <a:pt x="650875" y="174625"/>
                </a:lnTo>
                <a:lnTo>
                  <a:pt x="650875" y="269875"/>
                </a:lnTo>
                <a:lnTo>
                  <a:pt x="492125" y="269875"/>
                </a:lnTo>
                <a:lnTo>
                  <a:pt x="492125" y="174625"/>
                </a:lnTo>
                <a:close/>
                <a:moveTo>
                  <a:pt x="476250" y="63500"/>
                </a:moveTo>
                <a:cubicBezTo>
                  <a:pt x="423664" y="63500"/>
                  <a:pt x="381000" y="106164"/>
                  <a:pt x="381000" y="158750"/>
                </a:cubicBezTo>
                <a:lnTo>
                  <a:pt x="381000" y="285750"/>
                </a:lnTo>
                <a:cubicBezTo>
                  <a:pt x="381000" y="338336"/>
                  <a:pt x="423664" y="381000"/>
                  <a:pt x="476250" y="381000"/>
                </a:cubicBezTo>
                <a:lnTo>
                  <a:pt x="508000" y="381000"/>
                </a:lnTo>
                <a:lnTo>
                  <a:pt x="508000" y="444500"/>
                </a:lnTo>
                <a:lnTo>
                  <a:pt x="63500" y="444500"/>
                </a:lnTo>
                <a:cubicBezTo>
                  <a:pt x="28377" y="444500"/>
                  <a:pt x="0" y="472877"/>
                  <a:pt x="0" y="508000"/>
                </a:cubicBezTo>
                <a:cubicBezTo>
                  <a:pt x="0" y="543123"/>
                  <a:pt x="28377" y="571500"/>
                  <a:pt x="63500" y="571500"/>
                </a:cubicBezTo>
                <a:lnTo>
                  <a:pt x="254000" y="571500"/>
                </a:lnTo>
                <a:lnTo>
                  <a:pt x="254000" y="635000"/>
                </a:lnTo>
                <a:lnTo>
                  <a:pt x="222250" y="635000"/>
                </a:lnTo>
                <a:cubicBezTo>
                  <a:pt x="169664" y="635000"/>
                  <a:pt x="127000" y="677664"/>
                  <a:pt x="127000" y="730250"/>
                </a:cubicBezTo>
                <a:lnTo>
                  <a:pt x="127000" y="857250"/>
                </a:lnTo>
                <a:cubicBezTo>
                  <a:pt x="127000" y="909836"/>
                  <a:pt x="169664" y="952500"/>
                  <a:pt x="222250" y="952500"/>
                </a:cubicBezTo>
                <a:lnTo>
                  <a:pt x="412750" y="952500"/>
                </a:lnTo>
                <a:cubicBezTo>
                  <a:pt x="465336" y="952500"/>
                  <a:pt x="508000" y="909836"/>
                  <a:pt x="508000" y="857250"/>
                </a:cubicBezTo>
                <a:lnTo>
                  <a:pt x="508000" y="730250"/>
                </a:lnTo>
                <a:cubicBezTo>
                  <a:pt x="508000" y="677664"/>
                  <a:pt x="465336" y="635000"/>
                  <a:pt x="412750" y="635000"/>
                </a:cubicBezTo>
                <a:lnTo>
                  <a:pt x="381000" y="635000"/>
                </a:lnTo>
                <a:lnTo>
                  <a:pt x="381000" y="571500"/>
                </a:lnTo>
                <a:lnTo>
                  <a:pt x="762000" y="571500"/>
                </a:lnTo>
                <a:lnTo>
                  <a:pt x="762000" y="635000"/>
                </a:lnTo>
                <a:lnTo>
                  <a:pt x="730250" y="635000"/>
                </a:lnTo>
                <a:cubicBezTo>
                  <a:pt x="677664" y="635000"/>
                  <a:pt x="635000" y="677664"/>
                  <a:pt x="635000" y="730250"/>
                </a:cubicBezTo>
                <a:lnTo>
                  <a:pt x="635000" y="857250"/>
                </a:lnTo>
                <a:cubicBezTo>
                  <a:pt x="635000" y="909836"/>
                  <a:pt x="677664" y="952500"/>
                  <a:pt x="730250" y="952500"/>
                </a:cubicBezTo>
                <a:lnTo>
                  <a:pt x="920750" y="952500"/>
                </a:lnTo>
                <a:cubicBezTo>
                  <a:pt x="973336" y="952500"/>
                  <a:pt x="1016000" y="909836"/>
                  <a:pt x="1016000" y="857250"/>
                </a:cubicBezTo>
                <a:lnTo>
                  <a:pt x="1016000" y="730250"/>
                </a:lnTo>
                <a:cubicBezTo>
                  <a:pt x="1016000" y="677664"/>
                  <a:pt x="973336" y="635000"/>
                  <a:pt x="920750" y="635000"/>
                </a:cubicBezTo>
                <a:lnTo>
                  <a:pt x="889000" y="635000"/>
                </a:lnTo>
                <a:lnTo>
                  <a:pt x="889000" y="571500"/>
                </a:lnTo>
                <a:lnTo>
                  <a:pt x="1079500" y="571500"/>
                </a:lnTo>
                <a:cubicBezTo>
                  <a:pt x="1114623" y="571500"/>
                  <a:pt x="1143000" y="543123"/>
                  <a:pt x="1143000" y="508000"/>
                </a:cubicBezTo>
                <a:cubicBezTo>
                  <a:pt x="1143000" y="472877"/>
                  <a:pt x="1114623" y="444500"/>
                  <a:pt x="1079500" y="444500"/>
                </a:cubicBezTo>
                <a:lnTo>
                  <a:pt x="635000" y="444500"/>
                </a:lnTo>
                <a:lnTo>
                  <a:pt x="635000" y="381000"/>
                </a:lnTo>
                <a:lnTo>
                  <a:pt x="666750" y="381000"/>
                </a:lnTo>
                <a:cubicBezTo>
                  <a:pt x="719336" y="381000"/>
                  <a:pt x="762000" y="338336"/>
                  <a:pt x="762000" y="285750"/>
                </a:cubicBezTo>
                <a:lnTo>
                  <a:pt x="762000" y="158750"/>
                </a:lnTo>
                <a:cubicBezTo>
                  <a:pt x="762000" y="106164"/>
                  <a:pt x="719336" y="63500"/>
                  <a:pt x="666750" y="63500"/>
                </a:cubicBezTo>
                <a:lnTo>
                  <a:pt x="476250" y="63500"/>
                </a:lnTo>
                <a:close/>
                <a:moveTo>
                  <a:pt x="889000" y="746125"/>
                </a:moveTo>
                <a:lnTo>
                  <a:pt x="904875" y="746125"/>
                </a:lnTo>
                <a:lnTo>
                  <a:pt x="904875" y="841375"/>
                </a:lnTo>
                <a:lnTo>
                  <a:pt x="746125" y="841375"/>
                </a:lnTo>
                <a:lnTo>
                  <a:pt x="746125" y="746125"/>
                </a:lnTo>
                <a:lnTo>
                  <a:pt x="889000" y="746125"/>
                </a:lnTo>
                <a:close/>
                <a:moveTo>
                  <a:pt x="381000" y="746125"/>
                </a:moveTo>
                <a:lnTo>
                  <a:pt x="396875" y="746125"/>
                </a:lnTo>
                <a:lnTo>
                  <a:pt x="396875" y="841375"/>
                </a:lnTo>
                <a:lnTo>
                  <a:pt x="238125" y="841375"/>
                </a:lnTo>
                <a:lnTo>
                  <a:pt x="238125" y="746125"/>
                </a:lnTo>
                <a:lnTo>
                  <a:pt x="381000" y="746125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hlp66oxrsclq/mnt/agents/output/ict-week7/images/1_Cyber_Network_Grid_With_Dotted_Tech.png">    </p:cNvPr>
          <p:cNvPicPr>
            <a:picLocks noChangeAspect="1"/>
          </p:cNvPicPr>
          <p:nvPr/>
        </p:nvPicPr>
        <p:blipFill>
          <a:blip r:embed="rId1"/>
          <a:srcRect l="14444" r="1444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A36">
                  <a:alpha val="91000"/>
                </a:srgbClr>
              </a:gs>
              <a:gs pos="60000">
                <a:srgbClr val="1E2A36">
                  <a:alpha val="82000"/>
                </a:srgbClr>
              </a:gs>
              <a:gs pos="100000">
                <a:srgbClr val="1E2A36">
                  <a:alpha val="5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270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267200"/>
            <a:ext cx="889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Internet Protocol Suite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 foundation of modern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network communication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TCP/IP Model — Four Layers of Communication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143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Internet Protocol Suite (TCP/IP) is a collection of communication protocols that forms the foundation of the Internet, organized into four layers with specific responsibilities.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032000"/>
            <a:ext cx="14732000" cy="1397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159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1000" y="215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51000" y="25908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Interfaces with user applications. Protocols: HTTP, FTP, SMTP, DNS. Handles data formatting, encryption, and session management.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556000"/>
            <a:ext cx="14732000" cy="1397000"/>
          </a:xfrm>
          <a:prstGeom prst="rect">
            <a:avLst/>
          </a:prstGeom>
          <a:solidFill>
            <a:srgbClr val="3D4D5E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3683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51000" y="368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Transport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51000" y="41148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reliable data delivery. Protocols: TCP, UDP. Manages segmentation, flow control, error checking, and port-based multiplexing.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080000"/>
            <a:ext cx="14732000" cy="1397000"/>
          </a:xfrm>
          <a:prstGeom prst="rect">
            <a:avLst/>
          </a:prstGeom>
          <a:solidFill>
            <a:srgbClr val="4D5F70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5207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51000" y="520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56388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addressing and routing. Protocols: IP, ICMP, ARP. Manages logical addressing, packet routing, and fragmentation.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604000"/>
            <a:ext cx="14732000" cy="1397000"/>
          </a:xfrm>
          <a:prstGeom prst="rect">
            <a:avLst/>
          </a:prstGeom>
          <a:solidFill>
            <a:srgbClr val="5D70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6731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51000" y="673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 Layer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51000" y="71628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 physical transmission. Technologies: Ethernet, Wi-Fi, PPP. Handles framing, error detection, and MAC addressing.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843838" y="3429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49957" y="100856"/>
                </a:moveTo>
                <a:cubicBezTo>
                  <a:pt x="53057" y="103956"/>
                  <a:pt x="58093" y="103956"/>
                  <a:pt x="61193" y="100856"/>
                </a:cubicBezTo>
                <a:lnTo>
                  <a:pt x="108818" y="53231"/>
                </a:lnTo>
                <a:cubicBezTo>
                  <a:pt x="111919" y="50130"/>
                  <a:pt x="111919" y="45095"/>
                  <a:pt x="108818" y="41994"/>
                </a:cubicBezTo>
                <a:cubicBezTo>
                  <a:pt x="105718" y="38894"/>
                  <a:pt x="100682" y="38894"/>
                  <a:pt x="97582" y="41994"/>
                </a:cubicBezTo>
                <a:lnTo>
                  <a:pt x="55563" y="84013"/>
                </a:lnTo>
                <a:lnTo>
                  <a:pt x="13543" y="42019"/>
                </a:lnTo>
                <a:cubicBezTo>
                  <a:pt x="10443" y="38919"/>
                  <a:pt x="5407" y="38919"/>
                  <a:pt x="2307" y="42019"/>
                </a:cubicBezTo>
                <a:cubicBezTo>
                  <a:pt x="-794" y="45120"/>
                  <a:pt x="-794" y="50155"/>
                  <a:pt x="2307" y="53256"/>
                </a:cubicBezTo>
                <a:lnTo>
                  <a:pt x="49932" y="100881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Shape 22"/>
          <p:cNvSpPr/>
          <p:nvPr/>
        </p:nvSpPr>
        <p:spPr>
          <a:xfrm>
            <a:off x="7843838" y="4953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49957" y="100856"/>
                </a:moveTo>
                <a:cubicBezTo>
                  <a:pt x="53057" y="103956"/>
                  <a:pt x="58093" y="103956"/>
                  <a:pt x="61193" y="100856"/>
                </a:cubicBezTo>
                <a:lnTo>
                  <a:pt x="108818" y="53231"/>
                </a:lnTo>
                <a:cubicBezTo>
                  <a:pt x="111919" y="50130"/>
                  <a:pt x="111919" y="45095"/>
                  <a:pt x="108818" y="41994"/>
                </a:cubicBezTo>
                <a:cubicBezTo>
                  <a:pt x="105718" y="38894"/>
                  <a:pt x="100682" y="38894"/>
                  <a:pt x="97582" y="41994"/>
                </a:cubicBezTo>
                <a:lnTo>
                  <a:pt x="55563" y="84013"/>
                </a:lnTo>
                <a:lnTo>
                  <a:pt x="13543" y="42019"/>
                </a:lnTo>
                <a:cubicBezTo>
                  <a:pt x="10443" y="38919"/>
                  <a:pt x="5407" y="38919"/>
                  <a:pt x="2307" y="42019"/>
                </a:cubicBezTo>
                <a:cubicBezTo>
                  <a:pt x="-794" y="45120"/>
                  <a:pt x="-794" y="50155"/>
                  <a:pt x="2307" y="53256"/>
                </a:cubicBezTo>
                <a:lnTo>
                  <a:pt x="49932" y="100881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5" name="Shape 23"/>
          <p:cNvSpPr/>
          <p:nvPr/>
        </p:nvSpPr>
        <p:spPr>
          <a:xfrm>
            <a:off x="7843838" y="6477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49957" y="100856"/>
                </a:moveTo>
                <a:cubicBezTo>
                  <a:pt x="53057" y="103956"/>
                  <a:pt x="58093" y="103956"/>
                  <a:pt x="61193" y="100856"/>
                </a:cubicBezTo>
                <a:lnTo>
                  <a:pt x="108818" y="53231"/>
                </a:lnTo>
                <a:cubicBezTo>
                  <a:pt x="111919" y="50130"/>
                  <a:pt x="111919" y="45095"/>
                  <a:pt x="108818" y="41994"/>
                </a:cubicBezTo>
                <a:cubicBezTo>
                  <a:pt x="105718" y="38894"/>
                  <a:pt x="100682" y="38894"/>
                  <a:pt x="97582" y="41994"/>
                </a:cubicBezTo>
                <a:lnTo>
                  <a:pt x="55563" y="84013"/>
                </a:lnTo>
                <a:lnTo>
                  <a:pt x="13543" y="42019"/>
                </a:lnTo>
                <a:cubicBezTo>
                  <a:pt x="10443" y="38919"/>
                  <a:pt x="5407" y="38919"/>
                  <a:pt x="2307" y="42019"/>
                </a:cubicBezTo>
                <a:cubicBezTo>
                  <a:pt x="-794" y="45120"/>
                  <a:pt x="-794" y="50155"/>
                  <a:pt x="2307" y="53256"/>
                </a:cubicBezTo>
                <a:lnTo>
                  <a:pt x="49932" y="100881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6" name="Text 24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TCP/IP vs OSI Model — A Comparative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14732000" cy="5588000"/>
        </p:xfrm>
        <a:graphic>
          <a:graphicData uri="http://schemas.openxmlformats.org/drawingml/2006/table">
            <a:tbl>
              <a:tblPr/>
              <a:tblGrid>
                <a:gridCol w="3683000"/>
                <a:gridCol w="5524500"/>
                <a:gridCol w="5524500"/>
              </a:tblGrid>
              <a:tr h="56007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OSI 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TCP/IP 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</a:tr>
              <a:tr h="72554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 layers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layers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72554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Approach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Theoretical reference 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Practical implementation 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72554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Developer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ISO (International Organization)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U.S. Department of Defense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72554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Protocols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Protocol-agnostic (generic)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Defines specific protocols (TCP, IP, HTTP)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72554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 Boundaries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Strictly independent layers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 integrated, flexible layers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72554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Teaching and reference framework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Actual Internet protocol stack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6746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Mapping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Session + Presentation + Application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 combined in Application Layer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7112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Both models use layered architecture to separate concerns and simplify troubleshooting. The TCP/IP model is what actually powers the Internet today.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hlp66oxrsclq/mnt/agents/output/ict-week7/images/4_6_245_Fiber_Optic_Cable_Close_Royalty.png">    </p:cNvPr>
          <p:cNvPicPr>
            <a:picLocks noChangeAspect="1"/>
          </p:cNvPicPr>
          <p:nvPr/>
        </p:nvPicPr>
        <p:blipFill>
          <a:blip r:embed="rId1"/>
          <a:srcRect l="0" r="0" t="1685" b="168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A36">
                  <a:alpha val="91000"/>
                </a:srgbClr>
              </a:gs>
              <a:gs pos="60000">
                <a:srgbClr val="1E2A36">
                  <a:alpha val="82000"/>
                </a:srgbClr>
              </a:gs>
              <a:gs pos="100000">
                <a:srgbClr val="1E2A36">
                  <a:alpha val="5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270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267200"/>
            <a:ext cx="762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 Layer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Physical transmission and local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network communication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 Layer — The Physical Foundation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371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Physical Transmission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7272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Sends and receives raw bits over physical media: Ethernet cables, fiber optics, Wi-Fi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90800"/>
            <a:ext cx="508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565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29210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Organizes data into frames for proper transmission and recognition by devices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784600"/>
            <a:ext cx="508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3759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Detection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41148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 transmission errors using checksums or CRC (Cyclic Redundancy Check)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978400"/>
            <a:ext cx="508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495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 Addressing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53086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hardware addresses (48-bit) to identify devices within the same network segment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172200"/>
            <a:ext cx="508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61468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65024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Determines how multiple devices share the same physical medium, avoiding collisions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1270000"/>
            <a:ext cx="7112000" cy="5588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2" name="Text 20"/>
          <p:cNvSpPr/>
          <p:nvPr/>
        </p:nvSpPr>
        <p:spPr>
          <a:xfrm>
            <a:off x="8636000" y="1397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spc="10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ETHERNET FRAME STRUCTURE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36000" y="2032000"/>
            <a:ext cx="1016000" cy="762000"/>
          </a:xfrm>
          <a:prstGeom prst="rect">
            <a:avLst/>
          </a:prstGeom>
          <a:solidFill>
            <a:srgbClr val="7A8B7A"/>
          </a:solidFill>
          <a:ln/>
        </p:spPr>
      </p:sp>
      <p:sp>
        <p:nvSpPr>
          <p:cNvPr id="24" name="Text 22"/>
          <p:cNvSpPr/>
          <p:nvPr/>
        </p:nvSpPr>
        <p:spPr>
          <a:xfrm>
            <a:off x="8636000" y="2032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Preamble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bytes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779000" y="2032000"/>
            <a:ext cx="1143000" cy="762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26" name="Text 24"/>
          <p:cNvSpPr/>
          <p:nvPr/>
        </p:nvSpPr>
        <p:spPr>
          <a:xfrm>
            <a:off x="9779000" y="2032000"/>
            <a:ext cx="1143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 MAC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bytes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049000" y="2032000"/>
            <a:ext cx="1143000" cy="762000"/>
          </a:xfrm>
          <a:prstGeom prst="rect">
            <a:avLst/>
          </a:prstGeom>
          <a:solidFill>
            <a:srgbClr val="3D4D5E"/>
          </a:solidFill>
          <a:ln/>
        </p:spPr>
      </p:sp>
      <p:sp>
        <p:nvSpPr>
          <p:cNvPr id="28" name="Text 26"/>
          <p:cNvSpPr/>
          <p:nvPr/>
        </p:nvSpPr>
        <p:spPr>
          <a:xfrm>
            <a:off x="11049000" y="2032000"/>
            <a:ext cx="1143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Src MAC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bytes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319000" y="2032000"/>
            <a:ext cx="889000" cy="762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0" name="Text 28"/>
          <p:cNvSpPr/>
          <p:nvPr/>
        </p:nvSpPr>
        <p:spPr>
          <a:xfrm>
            <a:off x="12319000" y="2032000"/>
            <a:ext cx="88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bytes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36000" y="3048000"/>
            <a:ext cx="5588000" cy="762000"/>
          </a:xfrm>
          <a:prstGeom prst="rect">
            <a:avLst/>
          </a:prstGeom>
          <a:solidFill>
            <a:srgbClr val="5D7080"/>
          </a:solidFill>
          <a:ln/>
        </p:spPr>
      </p:sp>
      <p:sp>
        <p:nvSpPr>
          <p:cNvPr id="32" name="Text 30"/>
          <p:cNvSpPr/>
          <p:nvPr/>
        </p:nvSpPr>
        <p:spPr>
          <a:xfrm>
            <a:off x="8636000" y="3048000"/>
            <a:ext cx="558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Payload Data (46 - 1500 bytes)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4351000" y="2032000"/>
            <a:ext cx="1016000" cy="762000"/>
          </a:xfrm>
          <a:prstGeom prst="rect">
            <a:avLst/>
          </a:prstGeom>
          <a:solidFill>
            <a:srgbClr val="7A8B7A"/>
          </a:solidFill>
          <a:ln/>
        </p:spPr>
      </p:sp>
      <p:sp>
        <p:nvSpPr>
          <p:cNvPr id="34" name="Text 32"/>
          <p:cNvSpPr/>
          <p:nvPr/>
        </p:nvSpPr>
        <p:spPr>
          <a:xfrm>
            <a:off x="14351000" y="2032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CRC/FCS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bytes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36000" y="4191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frame size: 64 to 1,518 bytes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 addresses are 48-bit hardware addresses burned into NICs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 Layer Protocols &amp; Technologies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4699000" cy="3302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47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177800"/>
                </a:moveTo>
                <a:lnTo>
                  <a:pt x="0" y="330200"/>
                </a:lnTo>
                <a:cubicBezTo>
                  <a:pt x="0" y="344249"/>
                  <a:pt x="11351" y="355600"/>
                  <a:pt x="25400" y="355600"/>
                </a:cubicBezTo>
                <a:lnTo>
                  <a:pt x="50800" y="355600"/>
                </a:lnTo>
                <a:lnTo>
                  <a:pt x="50800" y="273050"/>
                </a:lnTo>
                <a:cubicBezTo>
                  <a:pt x="50800" y="262493"/>
                  <a:pt x="59293" y="254000"/>
                  <a:pt x="69850" y="254000"/>
                </a:cubicBezTo>
                <a:cubicBezTo>
                  <a:pt x="80407" y="254000"/>
                  <a:pt x="88900" y="262493"/>
                  <a:pt x="88900" y="273050"/>
                </a:cubicBezTo>
                <a:lnTo>
                  <a:pt x="88900" y="355600"/>
                </a:lnTo>
                <a:lnTo>
                  <a:pt x="139700" y="355600"/>
                </a:lnTo>
                <a:lnTo>
                  <a:pt x="139700" y="273050"/>
                </a:lnTo>
                <a:cubicBezTo>
                  <a:pt x="139700" y="262493"/>
                  <a:pt x="148193" y="254000"/>
                  <a:pt x="158750" y="254000"/>
                </a:cubicBezTo>
                <a:cubicBezTo>
                  <a:pt x="169307" y="254000"/>
                  <a:pt x="177800" y="262493"/>
                  <a:pt x="177800" y="273050"/>
                </a:cubicBezTo>
                <a:lnTo>
                  <a:pt x="177800" y="355600"/>
                </a:lnTo>
                <a:lnTo>
                  <a:pt x="228600" y="355600"/>
                </a:lnTo>
                <a:lnTo>
                  <a:pt x="228600" y="273050"/>
                </a:lnTo>
                <a:cubicBezTo>
                  <a:pt x="228600" y="262493"/>
                  <a:pt x="237093" y="254000"/>
                  <a:pt x="247650" y="254000"/>
                </a:cubicBezTo>
                <a:cubicBezTo>
                  <a:pt x="258207" y="254000"/>
                  <a:pt x="266700" y="262493"/>
                  <a:pt x="266700" y="273050"/>
                </a:cubicBezTo>
                <a:lnTo>
                  <a:pt x="266700" y="355600"/>
                </a:lnTo>
                <a:lnTo>
                  <a:pt x="317500" y="355600"/>
                </a:lnTo>
                <a:lnTo>
                  <a:pt x="317500" y="273050"/>
                </a:lnTo>
                <a:cubicBezTo>
                  <a:pt x="317500" y="262493"/>
                  <a:pt x="325993" y="254000"/>
                  <a:pt x="336550" y="254000"/>
                </a:cubicBezTo>
                <a:cubicBezTo>
                  <a:pt x="347107" y="254000"/>
                  <a:pt x="355600" y="262493"/>
                  <a:pt x="355600" y="273050"/>
                </a:cubicBezTo>
                <a:lnTo>
                  <a:pt x="355600" y="355600"/>
                </a:ln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lnTo>
                  <a:pt x="406400" y="177800"/>
                </a:lnTo>
                <a:cubicBezTo>
                  <a:pt x="406400" y="163751"/>
                  <a:pt x="395049" y="152400"/>
                  <a:pt x="381000" y="152400"/>
                </a:cubicBezTo>
                <a:lnTo>
                  <a:pt x="355600" y="152400"/>
                </a:lnTo>
                <a:lnTo>
                  <a:pt x="355600" y="127000"/>
                </a:lnTo>
                <a:cubicBezTo>
                  <a:pt x="355600" y="112951"/>
                  <a:pt x="344249" y="101600"/>
                  <a:pt x="330200" y="101600"/>
                </a:cubicBezTo>
                <a:lnTo>
                  <a:pt x="304800" y="101600"/>
                </a:lnTo>
                <a:lnTo>
                  <a:pt x="304800" y="76200"/>
                </a:lnTo>
                <a:cubicBezTo>
                  <a:pt x="304800" y="62151"/>
                  <a:pt x="293449" y="50800"/>
                  <a:pt x="279400" y="50800"/>
                </a:cubicBezTo>
                <a:lnTo>
                  <a:pt x="127000" y="50800"/>
                </a:lnTo>
                <a:cubicBezTo>
                  <a:pt x="112951" y="50800"/>
                  <a:pt x="101600" y="62151"/>
                  <a:pt x="101600" y="76200"/>
                </a:cubicBezTo>
                <a:lnTo>
                  <a:pt x="101600" y="101600"/>
                </a:lnTo>
                <a:lnTo>
                  <a:pt x="76200" y="101600"/>
                </a:lnTo>
                <a:cubicBezTo>
                  <a:pt x="62151" y="101600"/>
                  <a:pt x="50800" y="112951"/>
                  <a:pt x="50800" y="127000"/>
                </a:cubicBezTo>
                <a:lnTo>
                  <a:pt x="50800" y="152400"/>
                </a:lnTo>
                <a:lnTo>
                  <a:pt x="25400" y="152400"/>
                </a:lnTo>
                <a:cubicBezTo>
                  <a:pt x="11351" y="152400"/>
                  <a:pt x="0" y="163751"/>
                  <a:pt x="0" y="1778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549400" y="14732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Ethernet (IEEE 802.3)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0066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most widely used wired LAN technology. Uses CSMA/CD (Carrier Sense Multiple Access with Collision Detection) to manage shared medium access. Supports speeds from 10 Mbps to 400 Gbps.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270000"/>
            <a:ext cx="4699000" cy="3302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1" name="Shape 9"/>
          <p:cNvSpPr/>
          <p:nvPr/>
        </p:nvSpPr>
        <p:spPr>
          <a:xfrm>
            <a:off x="6007100" y="14732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76200"/>
                </a:moveTo>
                <a:cubicBezTo>
                  <a:pt x="156448" y="76200"/>
                  <a:pt x="91123" y="104775"/>
                  <a:pt x="43101" y="151289"/>
                </a:cubicBezTo>
                <a:cubicBezTo>
                  <a:pt x="33020" y="161052"/>
                  <a:pt x="16907" y="160814"/>
                  <a:pt x="7223" y="150733"/>
                </a:cubicBezTo>
                <a:cubicBezTo>
                  <a:pt x="-2461" y="140653"/>
                  <a:pt x="-2302" y="124539"/>
                  <a:pt x="7779" y="114856"/>
                </a:cubicBezTo>
                <a:cubicBezTo>
                  <a:pt x="64849" y="59452"/>
                  <a:pt x="142796" y="25400"/>
                  <a:pt x="228600" y="25400"/>
                </a:cubicBezTo>
                <a:cubicBezTo>
                  <a:pt x="314404" y="25400"/>
                  <a:pt x="392351" y="59452"/>
                  <a:pt x="449501" y="114856"/>
                </a:cubicBezTo>
                <a:cubicBezTo>
                  <a:pt x="459581" y="124619"/>
                  <a:pt x="459819" y="140732"/>
                  <a:pt x="450056" y="150733"/>
                </a:cubicBezTo>
                <a:cubicBezTo>
                  <a:pt x="440293" y="160734"/>
                  <a:pt x="424180" y="161052"/>
                  <a:pt x="414179" y="151289"/>
                </a:cubicBezTo>
                <a:cubicBezTo>
                  <a:pt x="366077" y="104775"/>
                  <a:pt x="300752" y="76200"/>
                  <a:pt x="228600" y="76200"/>
                </a:cubicBezTo>
                <a:close/>
                <a:moveTo>
                  <a:pt x="190500" y="342900"/>
                </a:moveTo>
                <a:cubicBezTo>
                  <a:pt x="190500" y="321872"/>
                  <a:pt x="207572" y="304800"/>
                  <a:pt x="228600" y="304800"/>
                </a:cubicBezTo>
                <a:cubicBezTo>
                  <a:pt x="249628" y="304800"/>
                  <a:pt x="266700" y="321872"/>
                  <a:pt x="266700" y="342900"/>
                </a:cubicBezTo>
                <a:cubicBezTo>
                  <a:pt x="266700" y="363928"/>
                  <a:pt x="249628" y="381000"/>
                  <a:pt x="228600" y="381000"/>
                </a:cubicBezTo>
                <a:cubicBezTo>
                  <a:pt x="207572" y="381000"/>
                  <a:pt x="190500" y="363928"/>
                  <a:pt x="190500" y="342900"/>
                </a:cubicBezTo>
                <a:close/>
                <a:moveTo>
                  <a:pt x="133350" y="258921"/>
                </a:moveTo>
                <a:cubicBezTo>
                  <a:pt x="124063" y="269478"/>
                  <a:pt x="108029" y="270431"/>
                  <a:pt x="97473" y="261144"/>
                </a:cubicBezTo>
                <a:cubicBezTo>
                  <a:pt x="86916" y="251857"/>
                  <a:pt x="85963" y="235823"/>
                  <a:pt x="95250" y="225266"/>
                </a:cubicBezTo>
                <a:cubicBezTo>
                  <a:pt x="127794" y="188436"/>
                  <a:pt x="175498" y="165100"/>
                  <a:pt x="228600" y="165100"/>
                </a:cubicBezTo>
                <a:cubicBezTo>
                  <a:pt x="281702" y="165100"/>
                  <a:pt x="329406" y="188436"/>
                  <a:pt x="361950" y="225266"/>
                </a:cubicBezTo>
                <a:cubicBezTo>
                  <a:pt x="371237" y="235823"/>
                  <a:pt x="370205" y="251857"/>
                  <a:pt x="359728" y="261144"/>
                </a:cubicBezTo>
                <a:cubicBezTo>
                  <a:pt x="349250" y="270431"/>
                  <a:pt x="333137" y="269399"/>
                  <a:pt x="323850" y="258921"/>
                </a:cubicBezTo>
                <a:cubicBezTo>
                  <a:pt x="300514" y="232489"/>
                  <a:pt x="266541" y="215900"/>
                  <a:pt x="228600" y="215900"/>
                </a:cubicBezTo>
                <a:cubicBezTo>
                  <a:pt x="190659" y="215900"/>
                  <a:pt x="156686" y="232489"/>
                  <a:pt x="133350" y="258921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900" y="14732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Wi-Fi (IEEE 802.11)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0066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Wireless LAN technology using CSMA/CA (Collision Avoidance). Operates in 2.4 GHz and 5 GHz bands. Standards include 802.11a/b/g/n/ac/ax (Wi-Fi 6) with speeds up to 9.6 Gbps.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270000"/>
            <a:ext cx="4699000" cy="3302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74400" y="1473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-25400"/>
                </a:moveTo>
                <a:cubicBezTo>
                  <a:pt x="115649" y="-25400"/>
                  <a:pt x="127000" y="-14049"/>
                  <a:pt x="127000" y="0"/>
                </a:cubicBezTo>
                <a:lnTo>
                  <a:pt x="127000" y="76200"/>
                </a:lnTo>
                <a:lnTo>
                  <a:pt x="228600" y="76200"/>
                </a:lnTo>
                <a:lnTo>
                  <a:pt x="228600" y="0"/>
                </a:lnTo>
                <a:cubicBezTo>
                  <a:pt x="228600" y="-14049"/>
                  <a:pt x="239951" y="-25400"/>
                  <a:pt x="254000" y="-25400"/>
                </a:cubicBezTo>
                <a:cubicBezTo>
                  <a:pt x="268049" y="-25400"/>
                  <a:pt x="279400" y="-14049"/>
                  <a:pt x="279400" y="0"/>
                </a:cubicBezTo>
                <a:lnTo>
                  <a:pt x="279400" y="76200"/>
                </a:ln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cubicBezTo>
                  <a:pt x="355600" y="115649"/>
                  <a:pt x="344249" y="127000"/>
                  <a:pt x="330200" y="127000"/>
                </a:cubicBezTo>
                <a:lnTo>
                  <a:pt x="330200" y="177800"/>
                </a:lnTo>
                <a:cubicBezTo>
                  <a:pt x="330200" y="253286"/>
                  <a:pt x="275273" y="315992"/>
                  <a:pt x="203200" y="328057"/>
                </a:cubicBezTo>
                <a:lnTo>
                  <a:pt x="203200" y="381000"/>
                </a:lnTo>
                <a:cubicBezTo>
                  <a:pt x="203200" y="395049"/>
                  <a:pt x="191849" y="406400"/>
                  <a:pt x="177800" y="406400"/>
                </a:cubicBezTo>
                <a:cubicBezTo>
                  <a:pt x="163751" y="406400"/>
                  <a:pt x="152400" y="395049"/>
                  <a:pt x="152400" y="381000"/>
                </a:cubicBezTo>
                <a:lnTo>
                  <a:pt x="152400" y="328057"/>
                </a:lnTo>
                <a:cubicBezTo>
                  <a:pt x="80328" y="315992"/>
                  <a:pt x="25400" y="253286"/>
                  <a:pt x="25400" y="177800"/>
                </a:cubicBez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76200" y="76200"/>
                </a:lnTo>
                <a:lnTo>
                  <a:pt x="76200" y="0"/>
                </a:lnTo>
                <a:cubicBezTo>
                  <a:pt x="76200" y="-14049"/>
                  <a:pt x="87551" y="-25400"/>
                  <a:pt x="101600" y="-254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1582400" y="14732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PPP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20066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Point-to-Point Protocol for direct connections between two nodes. Commonly used for dial-up and VPN connections. Provides authentication, encryption, and compression.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889500"/>
            <a:ext cx="7112000" cy="3302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990600" y="50927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406400" y="381000"/>
                </a:lnTo>
                <a:cubicBezTo>
                  <a:pt x="434419" y="381000"/>
                  <a:pt x="457200" y="358219"/>
                  <a:pt x="457200" y="330200"/>
                </a:cubicBezTo>
                <a:lnTo>
                  <a:pt x="457200" y="76200"/>
                </a:lnTo>
                <a:cubicBezTo>
                  <a:pt x="457200" y="48181"/>
                  <a:pt x="434419" y="25400"/>
                  <a:pt x="406400" y="25400"/>
                </a:cubicBezTo>
                <a:lnTo>
                  <a:pt x="50800" y="25400"/>
                </a:lnTo>
                <a:close/>
                <a:moveTo>
                  <a:pt x="114300" y="228600"/>
                </a:moveTo>
                <a:lnTo>
                  <a:pt x="165100" y="228600"/>
                </a:lnTo>
                <a:cubicBezTo>
                  <a:pt x="200184" y="228600"/>
                  <a:pt x="228600" y="257016"/>
                  <a:pt x="228600" y="292100"/>
                </a:cubicBezTo>
                <a:cubicBezTo>
                  <a:pt x="228600" y="299085"/>
                  <a:pt x="222885" y="304800"/>
                  <a:pt x="215900" y="304800"/>
                </a:cubicBezTo>
                <a:lnTo>
                  <a:pt x="63500" y="304800"/>
                </a:lnTo>
                <a:cubicBezTo>
                  <a:pt x="56515" y="304800"/>
                  <a:pt x="50800" y="299085"/>
                  <a:pt x="50800" y="292100"/>
                </a:cubicBezTo>
                <a:cubicBezTo>
                  <a:pt x="50800" y="257016"/>
                  <a:pt x="79216" y="228600"/>
                  <a:pt x="114300" y="228600"/>
                </a:cubicBezTo>
                <a:close/>
                <a:moveTo>
                  <a:pt x="95250" y="152400"/>
                </a:moveTo>
                <a:cubicBezTo>
                  <a:pt x="95250" y="127867"/>
                  <a:pt x="115167" y="107950"/>
                  <a:pt x="139700" y="107950"/>
                </a:cubicBezTo>
                <a:cubicBezTo>
                  <a:pt x="164233" y="107950"/>
                  <a:pt x="184150" y="127867"/>
                  <a:pt x="184150" y="152400"/>
                </a:cubicBezTo>
                <a:cubicBezTo>
                  <a:pt x="184150" y="176933"/>
                  <a:pt x="164233" y="196850"/>
                  <a:pt x="139700" y="196850"/>
                </a:cubicBezTo>
                <a:cubicBezTo>
                  <a:pt x="115167" y="196850"/>
                  <a:pt x="95250" y="176933"/>
                  <a:pt x="95250" y="152400"/>
                </a:cubicBezTo>
                <a:close/>
                <a:moveTo>
                  <a:pt x="285750" y="114300"/>
                </a:moveTo>
                <a:lnTo>
                  <a:pt x="374650" y="114300"/>
                </a:lnTo>
                <a:cubicBezTo>
                  <a:pt x="385207" y="114300"/>
                  <a:pt x="393700" y="122793"/>
                  <a:pt x="393700" y="133350"/>
                </a:cubicBezTo>
                <a:cubicBezTo>
                  <a:pt x="393700" y="143907"/>
                  <a:pt x="385207" y="152400"/>
                  <a:pt x="374650" y="152400"/>
                </a:cubicBezTo>
                <a:lnTo>
                  <a:pt x="285750" y="152400"/>
                </a:lnTo>
                <a:cubicBezTo>
                  <a:pt x="275193" y="152400"/>
                  <a:pt x="266700" y="143907"/>
                  <a:pt x="266700" y="133350"/>
                </a:cubicBezTo>
                <a:cubicBezTo>
                  <a:pt x="266700" y="122793"/>
                  <a:pt x="275193" y="114300"/>
                  <a:pt x="285750" y="114300"/>
                </a:cubicBezTo>
                <a:close/>
                <a:moveTo>
                  <a:pt x="285750" y="190500"/>
                </a:moveTo>
                <a:lnTo>
                  <a:pt x="374650" y="190500"/>
                </a:lnTo>
                <a:cubicBezTo>
                  <a:pt x="385207" y="190500"/>
                  <a:pt x="393700" y="198993"/>
                  <a:pt x="393700" y="209550"/>
                </a:cubicBezTo>
                <a:cubicBezTo>
                  <a:pt x="393700" y="220107"/>
                  <a:pt x="385207" y="228600"/>
                  <a:pt x="374650" y="228600"/>
                </a:cubicBezTo>
                <a:lnTo>
                  <a:pt x="285750" y="228600"/>
                </a:lnTo>
                <a:cubicBezTo>
                  <a:pt x="275193" y="228600"/>
                  <a:pt x="266700" y="220107"/>
                  <a:pt x="266700" y="209550"/>
                </a:cubicBezTo>
                <a:cubicBezTo>
                  <a:pt x="266700" y="198993"/>
                  <a:pt x="275193" y="190500"/>
                  <a:pt x="285750" y="1905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549400" y="50927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5626100"/>
            <a:ext cx="6604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 Resolution Protocol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maps IP addresses (32-bit) to MAC addresses (48-bit). Uses ARP request (broadcast) and ARP reply (unicast). Maintains an ARP cache table for recent mappings. Essential for delivering packets within the same local network segment.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91500" y="4889500"/>
            <a:ext cx="7302500" cy="3302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3" name="Text 21"/>
          <p:cNvSpPr/>
          <p:nvPr/>
        </p:nvSpPr>
        <p:spPr>
          <a:xfrm>
            <a:off x="8445500" y="50927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45500" y="5626100"/>
            <a:ext cx="6794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Operates within a single network segment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physical (MAC) addresses, not IP addresses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Responsible for hop-to-hop delivery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Detects but does not correct errors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Manages media access to prevent collisions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hlp66oxrsclq/mnt/agents/output/ict-week7/images/2_Network_connection_structure_on_dark.png">    </p:cNvPr>
          <p:cNvPicPr>
            <a:picLocks noChangeAspect="1"/>
          </p:cNvPicPr>
          <p:nvPr/>
        </p:nvPicPr>
        <p:blipFill>
          <a:blip r:embed="rId1"/>
          <a:srcRect l="18" r="18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A36">
                  <a:alpha val="91000"/>
                </a:srgbClr>
              </a:gs>
              <a:gs pos="60000">
                <a:srgbClr val="1E2A36">
                  <a:alpha val="82000"/>
                </a:srgbClr>
              </a:gs>
              <a:gs pos="100000">
                <a:srgbClr val="1E2A36">
                  <a:alpha val="5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270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267200"/>
            <a:ext cx="762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Layer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Addressing, routing, and packet delivery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across networks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Layer — Routing Data Across Networks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7112000" cy="1651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7" name="Shape 5"/>
          <p:cNvSpPr/>
          <p:nvPr/>
        </p:nvSpPr>
        <p:spPr>
          <a:xfrm>
            <a:off x="1060450" y="14732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130989"/>
                </a:moveTo>
                <a:cubicBezTo>
                  <a:pt x="0" y="58618"/>
                  <a:pt x="59730" y="0"/>
                  <a:pt x="133350" y="0"/>
                </a:cubicBezTo>
                <a:cubicBezTo>
                  <a:pt x="206970" y="0"/>
                  <a:pt x="266700" y="58618"/>
                  <a:pt x="266700" y="130989"/>
                </a:cubicBezTo>
                <a:cubicBezTo>
                  <a:pt x="266700" y="213846"/>
                  <a:pt x="183217" y="313164"/>
                  <a:pt x="148352" y="351016"/>
                </a:cubicBezTo>
                <a:cubicBezTo>
                  <a:pt x="140156" y="359906"/>
                  <a:pt x="126474" y="359906"/>
                  <a:pt x="118279" y="351016"/>
                </a:cubicBezTo>
                <a:cubicBezTo>
                  <a:pt x="83413" y="313164"/>
                  <a:pt x="-69" y="213846"/>
                  <a:pt x="-69" y="130989"/>
                </a:cubicBezTo>
                <a:close/>
                <a:moveTo>
                  <a:pt x="133350" y="177800"/>
                </a:moveTo>
                <a:cubicBezTo>
                  <a:pt x="157883" y="177800"/>
                  <a:pt x="177800" y="157883"/>
                  <a:pt x="177800" y="133350"/>
                </a:cubicBezTo>
                <a:cubicBezTo>
                  <a:pt x="177800" y="108817"/>
                  <a:pt x="157883" y="88900"/>
                  <a:pt x="133350" y="88900"/>
                </a:cubicBezTo>
                <a:cubicBezTo>
                  <a:pt x="108817" y="88900"/>
                  <a:pt x="88900" y="108817"/>
                  <a:pt x="88900" y="133350"/>
                </a:cubicBezTo>
                <a:cubicBezTo>
                  <a:pt x="88900" y="157883"/>
                  <a:pt x="108817" y="177800"/>
                  <a:pt x="133350" y="1778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1447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Logical Addressing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1905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Assigns IP addresses to identify source and destination devices globally across interconnected networks.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270000"/>
            <a:ext cx="7112000" cy="1651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1" name="Shape 9"/>
          <p:cNvSpPr/>
          <p:nvPr/>
        </p:nvSpPr>
        <p:spPr>
          <a:xfrm>
            <a:off x="8636000" y="1473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66675"/>
                </a:moveTo>
                <a:cubicBezTo>
                  <a:pt x="355600" y="101540"/>
                  <a:pt x="314553" y="153561"/>
                  <a:pt x="296843" y="174327"/>
                </a:cubicBezTo>
                <a:cubicBezTo>
                  <a:pt x="294203" y="177383"/>
                  <a:pt x="290314" y="178564"/>
                  <a:pt x="286772" y="177800"/>
                </a:cubicBezTo>
                <a:lnTo>
                  <a:pt x="222250" y="177800"/>
                </a:lnTo>
                <a:cubicBezTo>
                  <a:pt x="209957" y="177800"/>
                  <a:pt x="200025" y="187732"/>
                  <a:pt x="200025" y="200025"/>
                </a:cubicBezTo>
                <a:cubicBezTo>
                  <a:pt x="200025" y="212318"/>
                  <a:pt x="209957" y="222250"/>
                  <a:pt x="222250" y="222250"/>
                </a:cubicBezTo>
                <a:lnTo>
                  <a:pt x="288925" y="222250"/>
                </a:lnTo>
                <a:cubicBezTo>
                  <a:pt x="325735" y="222250"/>
                  <a:pt x="355600" y="252115"/>
                  <a:pt x="355600" y="288925"/>
                </a:cubicBezTo>
                <a:cubicBezTo>
                  <a:pt x="355600" y="325735"/>
                  <a:pt x="325735" y="355600"/>
                  <a:pt x="288925" y="355600"/>
                </a:cubicBezTo>
                <a:lnTo>
                  <a:pt x="96957" y="355600"/>
                </a:lnTo>
                <a:cubicBezTo>
                  <a:pt x="102999" y="348724"/>
                  <a:pt x="110361" y="339904"/>
                  <a:pt x="117793" y="330041"/>
                </a:cubicBezTo>
                <a:cubicBezTo>
                  <a:pt x="122168" y="324207"/>
                  <a:pt x="126683" y="317818"/>
                  <a:pt x="130989" y="311150"/>
                </a:cubicBezTo>
                <a:lnTo>
                  <a:pt x="288925" y="311150"/>
                </a:lnTo>
                <a:cubicBezTo>
                  <a:pt x="301218" y="311150"/>
                  <a:pt x="311150" y="301218"/>
                  <a:pt x="311150" y="288925"/>
                </a:cubicBezTo>
                <a:cubicBezTo>
                  <a:pt x="311150" y="276632"/>
                  <a:pt x="301218" y="266700"/>
                  <a:pt x="288925" y="266700"/>
                </a:cubicBezTo>
                <a:lnTo>
                  <a:pt x="222250" y="266700"/>
                </a:lnTo>
                <a:cubicBezTo>
                  <a:pt x="185440" y="266700"/>
                  <a:pt x="155575" y="236835"/>
                  <a:pt x="155575" y="200025"/>
                </a:cubicBezTo>
                <a:cubicBezTo>
                  <a:pt x="155575" y="163215"/>
                  <a:pt x="185440" y="133350"/>
                  <a:pt x="222250" y="133350"/>
                </a:cubicBezTo>
                <a:lnTo>
                  <a:pt x="249892" y="133350"/>
                </a:lnTo>
                <a:cubicBezTo>
                  <a:pt x="235307" y="111472"/>
                  <a:pt x="222250" y="86330"/>
                  <a:pt x="222250" y="66675"/>
                </a:cubicBezTo>
                <a:cubicBezTo>
                  <a:pt x="222250" y="29865"/>
                  <a:pt x="252115" y="0"/>
                  <a:pt x="288925" y="0"/>
                </a:cubicBezTo>
                <a:cubicBezTo>
                  <a:pt x="325735" y="0"/>
                  <a:pt x="355600" y="29865"/>
                  <a:pt x="355600" y="66675"/>
                </a:cubicBezTo>
                <a:close/>
                <a:moveTo>
                  <a:pt x="81330" y="339695"/>
                </a:moveTo>
                <a:cubicBezTo>
                  <a:pt x="78690" y="342682"/>
                  <a:pt x="76329" y="345321"/>
                  <a:pt x="74315" y="347543"/>
                </a:cubicBezTo>
                <a:lnTo>
                  <a:pt x="73065" y="348933"/>
                </a:lnTo>
                <a:lnTo>
                  <a:pt x="72926" y="348794"/>
                </a:lnTo>
                <a:cubicBezTo>
                  <a:pt x="68759" y="351988"/>
                  <a:pt x="62786" y="351572"/>
                  <a:pt x="59035" y="347543"/>
                </a:cubicBezTo>
                <a:cubicBezTo>
                  <a:pt x="41533" y="328513"/>
                  <a:pt x="0" y="279549"/>
                  <a:pt x="0" y="244475"/>
                </a:cubicBezTo>
                <a:cubicBezTo>
                  <a:pt x="0" y="207665"/>
                  <a:pt x="29865" y="177800"/>
                  <a:pt x="66675" y="177800"/>
                </a:cubicBezTo>
                <a:cubicBezTo>
                  <a:pt x="103485" y="177800"/>
                  <a:pt x="133350" y="207665"/>
                  <a:pt x="133350" y="244475"/>
                </a:cubicBezTo>
                <a:cubicBezTo>
                  <a:pt x="133350" y="265311"/>
                  <a:pt x="118695" y="291009"/>
                  <a:pt x="103138" y="312470"/>
                </a:cubicBezTo>
                <a:cubicBezTo>
                  <a:pt x="95706" y="322679"/>
                  <a:pt x="88067" y="331916"/>
                  <a:pt x="81746" y="339209"/>
                </a:cubicBezTo>
                <a:lnTo>
                  <a:pt x="81330" y="339695"/>
                </a:lnTo>
                <a:close/>
                <a:moveTo>
                  <a:pt x="88900" y="244475"/>
                </a:moveTo>
                <a:cubicBezTo>
                  <a:pt x="88900" y="232209"/>
                  <a:pt x="78941" y="222250"/>
                  <a:pt x="66675" y="222250"/>
                </a:cubicBezTo>
                <a:cubicBezTo>
                  <a:pt x="54409" y="222250"/>
                  <a:pt x="44450" y="232209"/>
                  <a:pt x="44450" y="244475"/>
                </a:cubicBezTo>
                <a:cubicBezTo>
                  <a:pt x="44450" y="256741"/>
                  <a:pt x="54409" y="266700"/>
                  <a:pt x="66675" y="266700"/>
                </a:cubicBezTo>
                <a:cubicBezTo>
                  <a:pt x="78941" y="266700"/>
                  <a:pt x="88900" y="256741"/>
                  <a:pt x="88900" y="244475"/>
                </a:cubicBezTo>
                <a:close/>
                <a:moveTo>
                  <a:pt x="288925" y="88900"/>
                </a:moveTo>
                <a:cubicBezTo>
                  <a:pt x="301191" y="88900"/>
                  <a:pt x="311150" y="78941"/>
                  <a:pt x="311150" y="66675"/>
                </a:cubicBezTo>
                <a:cubicBezTo>
                  <a:pt x="311150" y="54409"/>
                  <a:pt x="301191" y="44450"/>
                  <a:pt x="288925" y="44450"/>
                </a:cubicBezTo>
                <a:cubicBezTo>
                  <a:pt x="276659" y="44450"/>
                  <a:pt x="266700" y="54409"/>
                  <a:pt x="266700" y="66675"/>
                </a:cubicBezTo>
                <a:cubicBezTo>
                  <a:pt x="266700" y="78941"/>
                  <a:pt x="276659" y="88900"/>
                  <a:pt x="288925" y="889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1447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Packet Routing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1905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Determines the best path for data to travel across interconnected networks using routing algorithms and routing tables.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175000"/>
            <a:ext cx="7112000" cy="1651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3378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3352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Fragmentation &amp; Reassembly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3810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Breaks large packets into smaller fragments for transmission and reassembles them at the destination.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3175000"/>
            <a:ext cx="7112000" cy="1651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1550" y="33782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88856" y="146199"/>
                </a:moveTo>
                <a:cubicBezTo>
                  <a:pt x="297329" y="143907"/>
                  <a:pt x="306219" y="147935"/>
                  <a:pt x="310039" y="155783"/>
                </a:cubicBezTo>
                <a:lnTo>
                  <a:pt x="322957" y="181898"/>
                </a:lnTo>
                <a:cubicBezTo>
                  <a:pt x="330111" y="182870"/>
                  <a:pt x="337125" y="184815"/>
                  <a:pt x="343724" y="187523"/>
                </a:cubicBezTo>
                <a:lnTo>
                  <a:pt x="368032" y="171341"/>
                </a:lnTo>
                <a:cubicBezTo>
                  <a:pt x="375325" y="166479"/>
                  <a:pt x="384979" y="167451"/>
                  <a:pt x="391160" y="173633"/>
                </a:cubicBezTo>
                <a:lnTo>
                  <a:pt x="404495" y="186968"/>
                </a:lnTo>
                <a:cubicBezTo>
                  <a:pt x="410676" y="193149"/>
                  <a:pt x="411649" y="202873"/>
                  <a:pt x="406787" y="210096"/>
                </a:cubicBezTo>
                <a:lnTo>
                  <a:pt x="390604" y="234335"/>
                </a:lnTo>
                <a:cubicBezTo>
                  <a:pt x="391924" y="237599"/>
                  <a:pt x="393105" y="241002"/>
                  <a:pt x="394077" y="244544"/>
                </a:cubicBezTo>
                <a:cubicBezTo>
                  <a:pt x="395049" y="248087"/>
                  <a:pt x="395674" y="251559"/>
                  <a:pt x="396161" y="255101"/>
                </a:cubicBezTo>
                <a:lnTo>
                  <a:pt x="422344" y="268020"/>
                </a:lnTo>
                <a:cubicBezTo>
                  <a:pt x="430193" y="271909"/>
                  <a:pt x="434221" y="280799"/>
                  <a:pt x="431929" y="289203"/>
                </a:cubicBezTo>
                <a:lnTo>
                  <a:pt x="427067" y="307400"/>
                </a:lnTo>
                <a:cubicBezTo>
                  <a:pt x="424775" y="315803"/>
                  <a:pt x="416927" y="321499"/>
                  <a:pt x="408176" y="320943"/>
                </a:cubicBezTo>
                <a:lnTo>
                  <a:pt x="379006" y="319068"/>
                </a:lnTo>
                <a:cubicBezTo>
                  <a:pt x="374630" y="324693"/>
                  <a:pt x="369560" y="329902"/>
                  <a:pt x="363795" y="334347"/>
                </a:cubicBezTo>
                <a:lnTo>
                  <a:pt x="365671" y="363448"/>
                </a:lnTo>
                <a:cubicBezTo>
                  <a:pt x="366226" y="372199"/>
                  <a:pt x="360531" y="380117"/>
                  <a:pt x="352127" y="382339"/>
                </a:cubicBezTo>
                <a:lnTo>
                  <a:pt x="333931" y="387201"/>
                </a:lnTo>
                <a:cubicBezTo>
                  <a:pt x="325457" y="389493"/>
                  <a:pt x="316637" y="385465"/>
                  <a:pt x="312747" y="377617"/>
                </a:cubicBezTo>
                <a:lnTo>
                  <a:pt x="299829" y="351502"/>
                </a:lnTo>
                <a:cubicBezTo>
                  <a:pt x="292675" y="350530"/>
                  <a:pt x="285661" y="348585"/>
                  <a:pt x="279063" y="345877"/>
                </a:cubicBezTo>
                <a:lnTo>
                  <a:pt x="254754" y="362059"/>
                </a:lnTo>
                <a:cubicBezTo>
                  <a:pt x="247461" y="366921"/>
                  <a:pt x="237808" y="365949"/>
                  <a:pt x="231626" y="359767"/>
                </a:cubicBezTo>
                <a:lnTo>
                  <a:pt x="218291" y="346432"/>
                </a:lnTo>
                <a:cubicBezTo>
                  <a:pt x="212110" y="340251"/>
                  <a:pt x="211138" y="330597"/>
                  <a:pt x="215999" y="323304"/>
                </a:cubicBezTo>
                <a:lnTo>
                  <a:pt x="232182" y="298996"/>
                </a:lnTo>
                <a:cubicBezTo>
                  <a:pt x="230862" y="295731"/>
                  <a:pt x="229681" y="292328"/>
                  <a:pt x="228709" y="288786"/>
                </a:cubicBezTo>
                <a:cubicBezTo>
                  <a:pt x="227737" y="285244"/>
                  <a:pt x="227112" y="281702"/>
                  <a:pt x="226626" y="278229"/>
                </a:cubicBezTo>
                <a:lnTo>
                  <a:pt x="200442" y="265311"/>
                </a:lnTo>
                <a:cubicBezTo>
                  <a:pt x="192594" y="261422"/>
                  <a:pt x="188635" y="252532"/>
                  <a:pt x="190857" y="244128"/>
                </a:cubicBezTo>
                <a:lnTo>
                  <a:pt x="195719" y="225931"/>
                </a:lnTo>
                <a:cubicBezTo>
                  <a:pt x="198011" y="217527"/>
                  <a:pt x="205859" y="211832"/>
                  <a:pt x="214610" y="212388"/>
                </a:cubicBezTo>
                <a:lnTo>
                  <a:pt x="243711" y="214263"/>
                </a:lnTo>
                <a:cubicBezTo>
                  <a:pt x="248087" y="208637"/>
                  <a:pt x="253157" y="203428"/>
                  <a:pt x="258921" y="198983"/>
                </a:cubicBezTo>
                <a:lnTo>
                  <a:pt x="257046" y="169952"/>
                </a:lnTo>
                <a:cubicBezTo>
                  <a:pt x="256490" y="161201"/>
                  <a:pt x="262186" y="153283"/>
                  <a:pt x="270589" y="151061"/>
                </a:cubicBezTo>
                <a:lnTo>
                  <a:pt x="288786" y="146199"/>
                </a:lnTo>
                <a:close/>
                <a:moveTo>
                  <a:pt x="311428" y="236141"/>
                </a:moveTo>
                <a:cubicBezTo>
                  <a:pt x="294562" y="236160"/>
                  <a:pt x="280884" y="249869"/>
                  <a:pt x="280903" y="266735"/>
                </a:cubicBezTo>
                <a:cubicBezTo>
                  <a:pt x="280922" y="283601"/>
                  <a:pt x="294631" y="297279"/>
                  <a:pt x="311497" y="297259"/>
                </a:cubicBezTo>
                <a:cubicBezTo>
                  <a:pt x="328363" y="297240"/>
                  <a:pt x="342041" y="283531"/>
                  <a:pt x="342022" y="266665"/>
                </a:cubicBezTo>
                <a:cubicBezTo>
                  <a:pt x="342003" y="249799"/>
                  <a:pt x="328294" y="236121"/>
                  <a:pt x="311428" y="236141"/>
                </a:cubicBezTo>
                <a:close/>
                <a:moveTo>
                  <a:pt x="156200" y="-31601"/>
                </a:moveTo>
                <a:lnTo>
                  <a:pt x="174397" y="-26739"/>
                </a:lnTo>
                <a:cubicBezTo>
                  <a:pt x="182801" y="-24448"/>
                  <a:pt x="188496" y="-16530"/>
                  <a:pt x="187940" y="-7848"/>
                </a:cubicBezTo>
                <a:lnTo>
                  <a:pt x="186065" y="21183"/>
                </a:lnTo>
                <a:cubicBezTo>
                  <a:pt x="191830" y="25628"/>
                  <a:pt x="196900" y="30768"/>
                  <a:pt x="201275" y="36463"/>
                </a:cubicBezTo>
                <a:lnTo>
                  <a:pt x="230445" y="34588"/>
                </a:lnTo>
                <a:cubicBezTo>
                  <a:pt x="239127" y="34032"/>
                  <a:pt x="247045" y="39727"/>
                  <a:pt x="249337" y="48131"/>
                </a:cubicBezTo>
                <a:lnTo>
                  <a:pt x="254198" y="66328"/>
                </a:lnTo>
                <a:cubicBezTo>
                  <a:pt x="256421" y="74732"/>
                  <a:pt x="252462" y="83622"/>
                  <a:pt x="244614" y="87511"/>
                </a:cubicBezTo>
                <a:lnTo>
                  <a:pt x="218430" y="100429"/>
                </a:lnTo>
                <a:cubicBezTo>
                  <a:pt x="217944" y="103971"/>
                  <a:pt x="217249" y="107513"/>
                  <a:pt x="216346" y="110986"/>
                </a:cubicBezTo>
                <a:cubicBezTo>
                  <a:pt x="215444" y="114459"/>
                  <a:pt x="214193" y="117931"/>
                  <a:pt x="212874" y="121196"/>
                </a:cubicBezTo>
                <a:lnTo>
                  <a:pt x="229056" y="145504"/>
                </a:lnTo>
                <a:cubicBezTo>
                  <a:pt x="233918" y="152797"/>
                  <a:pt x="232946" y="162451"/>
                  <a:pt x="226764" y="168632"/>
                </a:cubicBezTo>
                <a:lnTo>
                  <a:pt x="213429" y="181967"/>
                </a:lnTo>
                <a:cubicBezTo>
                  <a:pt x="207248" y="188149"/>
                  <a:pt x="197594" y="189121"/>
                  <a:pt x="190302" y="184259"/>
                </a:cubicBezTo>
                <a:lnTo>
                  <a:pt x="165993" y="168077"/>
                </a:lnTo>
                <a:cubicBezTo>
                  <a:pt x="159395" y="170785"/>
                  <a:pt x="152380" y="172730"/>
                  <a:pt x="145226" y="173702"/>
                </a:cubicBezTo>
                <a:lnTo>
                  <a:pt x="132308" y="199817"/>
                </a:lnTo>
                <a:cubicBezTo>
                  <a:pt x="128419" y="207665"/>
                  <a:pt x="119529" y="211624"/>
                  <a:pt x="111125" y="209401"/>
                </a:cubicBezTo>
                <a:lnTo>
                  <a:pt x="92928" y="204539"/>
                </a:lnTo>
                <a:cubicBezTo>
                  <a:pt x="84455" y="202248"/>
                  <a:pt x="78829" y="194330"/>
                  <a:pt x="79385" y="185648"/>
                </a:cubicBezTo>
                <a:lnTo>
                  <a:pt x="81260" y="156547"/>
                </a:lnTo>
                <a:cubicBezTo>
                  <a:pt x="75496" y="152102"/>
                  <a:pt x="70425" y="146963"/>
                  <a:pt x="66050" y="141268"/>
                </a:cubicBezTo>
                <a:lnTo>
                  <a:pt x="36880" y="143143"/>
                </a:lnTo>
                <a:cubicBezTo>
                  <a:pt x="28198" y="143699"/>
                  <a:pt x="20280" y="138003"/>
                  <a:pt x="17988" y="129600"/>
                </a:cubicBezTo>
                <a:lnTo>
                  <a:pt x="13127" y="111403"/>
                </a:lnTo>
                <a:cubicBezTo>
                  <a:pt x="10904" y="102999"/>
                  <a:pt x="14863" y="94109"/>
                  <a:pt x="22711" y="90220"/>
                </a:cubicBezTo>
                <a:lnTo>
                  <a:pt x="48895" y="77301"/>
                </a:lnTo>
                <a:cubicBezTo>
                  <a:pt x="49381" y="73759"/>
                  <a:pt x="50076" y="70287"/>
                  <a:pt x="50979" y="66744"/>
                </a:cubicBezTo>
                <a:cubicBezTo>
                  <a:pt x="51951" y="63202"/>
                  <a:pt x="53062" y="59799"/>
                  <a:pt x="54451" y="56535"/>
                </a:cubicBezTo>
                <a:lnTo>
                  <a:pt x="38269" y="32296"/>
                </a:lnTo>
                <a:cubicBezTo>
                  <a:pt x="33407" y="25003"/>
                  <a:pt x="34379" y="15349"/>
                  <a:pt x="40561" y="9168"/>
                </a:cubicBezTo>
                <a:lnTo>
                  <a:pt x="53896" y="-4167"/>
                </a:lnTo>
                <a:cubicBezTo>
                  <a:pt x="60077" y="-10349"/>
                  <a:pt x="69731" y="-11321"/>
                  <a:pt x="77024" y="-6459"/>
                </a:cubicBezTo>
                <a:lnTo>
                  <a:pt x="101332" y="9723"/>
                </a:lnTo>
                <a:cubicBezTo>
                  <a:pt x="107930" y="7015"/>
                  <a:pt x="114945" y="5070"/>
                  <a:pt x="122099" y="4098"/>
                </a:cubicBezTo>
                <a:lnTo>
                  <a:pt x="135017" y="-22017"/>
                </a:lnTo>
                <a:cubicBezTo>
                  <a:pt x="138906" y="-29865"/>
                  <a:pt x="147727" y="-33824"/>
                  <a:pt x="156200" y="-31601"/>
                </a:cubicBezTo>
                <a:close/>
                <a:moveTo>
                  <a:pt x="133628" y="58341"/>
                </a:moveTo>
                <a:cubicBezTo>
                  <a:pt x="116762" y="58341"/>
                  <a:pt x="103068" y="72034"/>
                  <a:pt x="103068" y="88900"/>
                </a:cubicBezTo>
                <a:cubicBezTo>
                  <a:pt x="103068" y="105766"/>
                  <a:pt x="116762" y="119459"/>
                  <a:pt x="133628" y="119459"/>
                </a:cubicBezTo>
                <a:cubicBezTo>
                  <a:pt x="150494" y="119459"/>
                  <a:pt x="164187" y="105766"/>
                  <a:pt x="164187" y="88900"/>
                </a:cubicBezTo>
                <a:cubicBezTo>
                  <a:pt x="164187" y="72034"/>
                  <a:pt x="150494" y="58341"/>
                  <a:pt x="133628" y="58341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3352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Protocol Support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36000" y="3810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Primarily uses IP, along with ICMP for error reporting and ARP for address resolution.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520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DATAGRAM STRUCTURE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715000"/>
            <a:ext cx="1270000" cy="635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5715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bits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159000" y="5715000"/>
            <a:ext cx="1397000" cy="635000"/>
          </a:xfrm>
          <a:prstGeom prst="rect">
            <a:avLst/>
          </a:prstGeom>
          <a:solidFill>
            <a:srgbClr val="3D4D5E"/>
          </a:solidFill>
          <a:ln/>
        </p:spPr>
      </p:sp>
      <p:sp>
        <p:nvSpPr>
          <p:cNvPr id="26" name="Text 24"/>
          <p:cNvSpPr/>
          <p:nvPr/>
        </p:nvSpPr>
        <p:spPr>
          <a:xfrm>
            <a:off x="2159000" y="5715000"/>
            <a:ext cx="139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Len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bits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83000" y="5715000"/>
            <a:ext cx="1397000" cy="635000"/>
          </a:xfrm>
          <a:prstGeom prst="rect">
            <a:avLst/>
          </a:prstGeom>
          <a:solidFill>
            <a:srgbClr val="7A8B7A"/>
          </a:solidFill>
          <a:ln/>
        </p:spPr>
      </p:sp>
      <p:sp>
        <p:nvSpPr>
          <p:cNvPr id="28" name="Text 26"/>
          <p:cNvSpPr/>
          <p:nvPr/>
        </p:nvSpPr>
        <p:spPr>
          <a:xfrm>
            <a:off x="3683000" y="5715000"/>
            <a:ext cx="139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bits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07000" y="5715000"/>
            <a:ext cx="16510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0" name="Text 28"/>
          <p:cNvSpPr/>
          <p:nvPr/>
        </p:nvSpPr>
        <p:spPr>
          <a:xfrm>
            <a:off x="5207000" y="5715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Length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6477000"/>
            <a:ext cx="1905000" cy="635000"/>
          </a:xfrm>
          <a:prstGeom prst="rect">
            <a:avLst/>
          </a:prstGeom>
          <a:solidFill>
            <a:srgbClr val="4D5F70"/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64770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794000" y="6477000"/>
            <a:ext cx="1397000" cy="635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4" name="Text 32"/>
          <p:cNvSpPr/>
          <p:nvPr/>
        </p:nvSpPr>
        <p:spPr>
          <a:xfrm>
            <a:off x="2794000" y="6477000"/>
            <a:ext cx="139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bits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18000" y="6477000"/>
            <a:ext cx="1651000" cy="635000"/>
          </a:xfrm>
          <a:prstGeom prst="rect">
            <a:avLst/>
          </a:prstGeom>
          <a:solidFill>
            <a:srgbClr val="5D7080"/>
          </a:solidFill>
          <a:ln/>
        </p:spPr>
      </p:sp>
      <p:sp>
        <p:nvSpPr>
          <p:cNvPr id="36" name="Text 34"/>
          <p:cNvSpPr/>
          <p:nvPr/>
        </p:nvSpPr>
        <p:spPr>
          <a:xfrm>
            <a:off x="4318000" y="6477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 Offset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bits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7239000"/>
            <a:ext cx="11430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72390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bits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032000" y="7239000"/>
            <a:ext cx="1397000" cy="635000"/>
          </a:xfrm>
          <a:prstGeom prst="rect">
            <a:avLst/>
          </a:prstGeom>
          <a:solidFill>
            <a:srgbClr val="7A8B7A"/>
          </a:solidFill>
          <a:ln/>
        </p:spPr>
      </p:sp>
      <p:sp>
        <p:nvSpPr>
          <p:cNvPr id="40" name="Text 38"/>
          <p:cNvSpPr/>
          <p:nvPr/>
        </p:nvSpPr>
        <p:spPr>
          <a:xfrm>
            <a:off x="2032000" y="7239000"/>
            <a:ext cx="139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bits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556000" y="7239000"/>
            <a:ext cx="1905000" cy="635000"/>
          </a:xfrm>
          <a:prstGeom prst="rect">
            <a:avLst/>
          </a:prstGeom>
          <a:solidFill>
            <a:srgbClr val="3D4D5E"/>
          </a:solidFill>
          <a:ln/>
        </p:spPr>
      </p:sp>
      <p:sp>
        <p:nvSpPr>
          <p:cNvPr id="42" name="Text 40"/>
          <p:cNvSpPr/>
          <p:nvPr/>
        </p:nvSpPr>
        <p:spPr>
          <a:xfrm>
            <a:off x="3556000" y="72390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Checksum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2000" y="8001000"/>
            <a:ext cx="3048000" cy="508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44" name="Text 42"/>
          <p:cNvSpPr/>
          <p:nvPr/>
        </p:nvSpPr>
        <p:spPr>
          <a:xfrm>
            <a:off x="762000" y="80010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IP (32 bits)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937000" y="8001000"/>
            <a:ext cx="3048000" cy="508000"/>
          </a:xfrm>
          <a:prstGeom prst="rect">
            <a:avLst/>
          </a:prstGeom>
          <a:solidFill>
            <a:srgbClr val="4D5F70"/>
          </a:solidFill>
          <a:ln/>
        </p:spPr>
      </p:sp>
      <p:sp>
        <p:nvSpPr>
          <p:cNvPr id="46" name="Text 44"/>
          <p:cNvSpPr/>
          <p:nvPr/>
        </p:nvSpPr>
        <p:spPr>
          <a:xfrm>
            <a:off x="3937000" y="80010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Destination IP (32 bits)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82000" y="5207000"/>
            <a:ext cx="7112000" cy="3429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48" name="Text 46"/>
          <p:cNvSpPr/>
          <p:nvPr/>
        </p:nvSpPr>
        <p:spPr>
          <a:xfrm>
            <a:off x="8636000" y="5334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RESPONSIBILITIES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36000" y="5816600"/>
            <a:ext cx="6604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Host-to-host communication across networks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IP addressing (IPv4: 32-bit, IPv6: 128-bit)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Packet formatting into IP datagrams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Fragmentation for different MTUs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Routing decisions via routing tables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Best-effort delivery (no guarantees)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Protocol (IP) — The Core of the Internet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50800" cy="1016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244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Addressing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6256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Defines addressing conventions: IPv4 uses 32-bit addresses; IPv6 uses 128-bit addresses for expanded capacity.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489200"/>
            <a:ext cx="50800" cy="1016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4638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Host-to-Host Communication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28448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Determines the path a packet must take based on the receiving host's IP address and routing tables.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708400"/>
            <a:ext cx="50800" cy="1016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368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Packet Formatting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40640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Assembles packets into IP datagrams with headers containing version, length, TTL, protocol, and addresses.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927600"/>
            <a:ext cx="50800" cy="1016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4902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52832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Breaks packets too large for network media into smaller fragments; reassembles them at the destination.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1270000"/>
            <a:ext cx="7112000" cy="4826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0" y="14478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spc="1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IPv4 vs IPv6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19812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IPv4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36000" y="23622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32-bit addresses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~4.3 billion addresses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Decimal notation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192.168.1.1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938000" y="19812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IPv6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938000" y="23622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128-bit addresses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~3.4 x 10^38 addresses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Hexadecimal notation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2001:0db8::1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684000" y="1981200"/>
            <a:ext cx="25400" cy="19050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636000" y="4191000"/>
            <a:ext cx="660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the term "IP" is used without version specification, the description applies to both IPv4 and IPv6. Most networks today run both protocols simultaneously (dual-stack).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Supporting Protocols — ICMP &amp; ARP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7239000" cy="6858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47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549400" y="14732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ICMP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19812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 Control Message Protocol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413000"/>
            <a:ext cx="673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for error reporting and diagnostic functions. ICMP messages are encapsulated in IP datagrams for delivery.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352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ICMP Messages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37846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Echo Request / Reply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Used by the ping utility to test connectivity between hosts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7752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Destination Unreachable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Sent when a packet cannot be delivered to its destination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7658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Exceeded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Sent when TTL reaches zero, preventing packets from circulating indefinitely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68580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for network troubleshooting and status communication between devices.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5000" y="1270000"/>
            <a:ext cx="7239000" cy="6858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9000" y="147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8939" y="119539"/>
                </a:moveTo>
                <a:lnTo>
                  <a:pt x="322739" y="195739"/>
                </a:lnTo>
                <a:cubicBezTo>
                  <a:pt x="315436" y="203041"/>
                  <a:pt x="304562" y="205184"/>
                  <a:pt x="295037" y="201216"/>
                </a:cubicBezTo>
                <a:cubicBezTo>
                  <a:pt x="285512" y="197247"/>
                  <a:pt x="279400" y="188039"/>
                  <a:pt x="279400" y="177800"/>
                </a:cubicBezTo>
                <a:lnTo>
                  <a:pt x="279400" y="127000"/>
                </a:ln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279400" y="76200"/>
                </a:lnTo>
                <a:lnTo>
                  <a:pt x="279400" y="25400"/>
                </a:lnTo>
                <a:cubicBezTo>
                  <a:pt x="279400" y="15161"/>
                  <a:pt x="285591" y="5874"/>
                  <a:pt x="295116" y="1905"/>
                </a:cubicBezTo>
                <a:cubicBezTo>
                  <a:pt x="304641" y="-2064"/>
                  <a:pt x="315516" y="159"/>
                  <a:pt x="322818" y="7382"/>
                </a:cubicBezTo>
                <a:lnTo>
                  <a:pt x="399018" y="83582"/>
                </a:lnTo>
                <a:cubicBezTo>
                  <a:pt x="408940" y="93504"/>
                  <a:pt x="408940" y="109617"/>
                  <a:pt x="399018" y="119539"/>
                </a:cubicBezTo>
                <a:close/>
                <a:moveTo>
                  <a:pt x="83582" y="398939"/>
                </a:moveTo>
                <a:lnTo>
                  <a:pt x="7382" y="322739"/>
                </a:lnTo>
                <a:cubicBezTo>
                  <a:pt x="-2540" y="312817"/>
                  <a:pt x="-2540" y="296704"/>
                  <a:pt x="7382" y="286782"/>
                </a:cubicBezTo>
                <a:lnTo>
                  <a:pt x="83582" y="210582"/>
                </a:lnTo>
                <a:cubicBezTo>
                  <a:pt x="90884" y="203279"/>
                  <a:pt x="101759" y="201136"/>
                  <a:pt x="111284" y="205105"/>
                </a:cubicBezTo>
                <a:cubicBezTo>
                  <a:pt x="120809" y="209074"/>
                  <a:pt x="127000" y="218361"/>
                  <a:pt x="127000" y="228600"/>
                </a:cubicBezTo>
                <a:lnTo>
                  <a:pt x="12700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cubicBezTo>
                  <a:pt x="406400" y="318849"/>
                  <a:pt x="395049" y="330200"/>
                  <a:pt x="381000" y="330200"/>
                </a:cubicBezTo>
                <a:lnTo>
                  <a:pt x="127000" y="330200"/>
                </a:lnTo>
                <a:lnTo>
                  <a:pt x="127000" y="381000"/>
                </a:lnTo>
                <a:cubicBezTo>
                  <a:pt x="127000" y="391239"/>
                  <a:pt x="120809" y="400526"/>
                  <a:pt x="111284" y="404495"/>
                </a:cubicBezTo>
                <a:cubicBezTo>
                  <a:pt x="101759" y="408464"/>
                  <a:pt x="90884" y="406241"/>
                  <a:pt x="83582" y="39901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9042400" y="14732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9000" y="19812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 Resolution Protocol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9000" y="2413000"/>
            <a:ext cx="673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Conceptually exists between Link Layer and Internet Layer. Maps IP addresses to MAC addresses.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3352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ARP Works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9000" y="37846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Host broadcasts ARP Request: "Who has this IP address?"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9000" y="45212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Target host replies with ARP Reply containing its MAC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9000" y="52578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Requesting host stores mapping in ARP cache table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9000" y="6096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ARP cache stores recent IP-to-MAC mappings to reduce network traffic. Entries typically expire after a few minutes.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hlp66oxrsclq/mnt/agents/output/ict-week7/images/8_Abstract_Concepts_Cybersecurity_Technology.png">    </p:cNvPr>
          <p:cNvPicPr>
            <a:picLocks noChangeAspect="1"/>
          </p:cNvPicPr>
          <p:nvPr/>
        </p:nvPicPr>
        <p:blipFill>
          <a:blip r:embed="rId1"/>
          <a:srcRect l="0" r="0" t="3493" b="349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A36">
                  <a:alpha val="91000"/>
                </a:srgbClr>
              </a:gs>
              <a:gs pos="60000">
                <a:srgbClr val="1E2A36">
                  <a:alpha val="82000"/>
                </a:srgbClr>
              </a:gs>
              <a:gs pos="100000">
                <a:srgbClr val="1E2A36">
                  <a:alpha val="5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270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267200"/>
            <a:ext cx="762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Transport Layer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End-to-end reliable data delivery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between hosts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Transport Layer — Delivering the Complete Message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143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Unlike the Internet Layer which handles individual packets, the Transport Layer delivers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message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source to destination.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032000"/>
            <a:ext cx="4699000" cy="228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235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177800"/>
                </a:moveTo>
                <a:lnTo>
                  <a:pt x="105916" y="205234"/>
                </a:lnTo>
                <a:cubicBezTo>
                  <a:pt x="97165" y="201831"/>
                  <a:pt x="87719" y="200025"/>
                  <a:pt x="77788" y="200025"/>
                </a:cubicBezTo>
                <a:cubicBezTo>
                  <a:pt x="34796" y="200025"/>
                  <a:pt x="0" y="234821"/>
                  <a:pt x="0" y="277813"/>
                </a:cubicBezTo>
                <a:cubicBezTo>
                  <a:pt x="0" y="320804"/>
                  <a:pt x="34796" y="355600"/>
                  <a:pt x="77788" y="355600"/>
                </a:cubicBezTo>
                <a:cubicBezTo>
                  <a:pt x="120779" y="355600"/>
                  <a:pt x="155575" y="320804"/>
                  <a:pt x="155575" y="277813"/>
                </a:cubicBezTo>
                <a:cubicBezTo>
                  <a:pt x="155575" y="267881"/>
                  <a:pt x="153700" y="258435"/>
                  <a:pt x="150366" y="249684"/>
                </a:cubicBezTo>
                <a:lnTo>
                  <a:pt x="346710" y="53340"/>
                </a:lnTo>
                <a:cubicBezTo>
                  <a:pt x="351641" y="48409"/>
                  <a:pt x="351641" y="40491"/>
                  <a:pt x="346710" y="35560"/>
                </a:cubicBezTo>
                <a:cubicBezTo>
                  <a:pt x="327055" y="15905"/>
                  <a:pt x="295245" y="15905"/>
                  <a:pt x="275590" y="35560"/>
                </a:cubicBezTo>
                <a:lnTo>
                  <a:pt x="177800" y="133350"/>
                </a:lnTo>
                <a:lnTo>
                  <a:pt x="150366" y="105916"/>
                </a:lnTo>
                <a:cubicBezTo>
                  <a:pt x="153769" y="97165"/>
                  <a:pt x="155575" y="87719"/>
                  <a:pt x="155575" y="77788"/>
                </a:cubicBezTo>
                <a:cubicBezTo>
                  <a:pt x="155575" y="34796"/>
                  <a:pt x="120779" y="0"/>
                  <a:pt x="77788" y="0"/>
                </a:cubicBezTo>
                <a:cubicBezTo>
                  <a:pt x="34796" y="0"/>
                  <a:pt x="0" y="34796"/>
                  <a:pt x="0" y="77788"/>
                </a:cubicBezTo>
                <a:cubicBezTo>
                  <a:pt x="0" y="120779"/>
                  <a:pt x="34796" y="155575"/>
                  <a:pt x="77788" y="155575"/>
                </a:cubicBezTo>
                <a:cubicBezTo>
                  <a:pt x="87719" y="155575"/>
                  <a:pt x="97165" y="153700"/>
                  <a:pt x="105916" y="150366"/>
                </a:cubicBezTo>
                <a:lnTo>
                  <a:pt x="133350" y="177800"/>
                </a:lnTo>
                <a:close/>
                <a:moveTo>
                  <a:pt x="201345" y="245795"/>
                </a:moveTo>
                <a:lnTo>
                  <a:pt x="275590" y="320040"/>
                </a:lnTo>
                <a:cubicBezTo>
                  <a:pt x="295245" y="339695"/>
                  <a:pt x="327055" y="339695"/>
                  <a:pt x="346710" y="320040"/>
                </a:cubicBezTo>
                <a:cubicBezTo>
                  <a:pt x="351641" y="315109"/>
                  <a:pt x="351641" y="307191"/>
                  <a:pt x="346710" y="302260"/>
                </a:cubicBezTo>
                <a:lnTo>
                  <a:pt x="245795" y="201345"/>
                </a:lnTo>
                <a:lnTo>
                  <a:pt x="201345" y="245795"/>
                </a:lnTo>
                <a:close/>
                <a:moveTo>
                  <a:pt x="44450" y="77788"/>
                </a:moveTo>
                <a:cubicBezTo>
                  <a:pt x="44450" y="59388"/>
                  <a:pt x="59388" y="44450"/>
                  <a:pt x="77787" y="44450"/>
                </a:cubicBezTo>
                <a:cubicBezTo>
                  <a:pt x="96187" y="44450"/>
                  <a:pt x="111125" y="59388"/>
                  <a:pt x="111125" y="77787"/>
                </a:cubicBezTo>
                <a:cubicBezTo>
                  <a:pt x="111125" y="96187"/>
                  <a:pt x="96187" y="111125"/>
                  <a:pt x="77788" y="111125"/>
                </a:cubicBezTo>
                <a:cubicBezTo>
                  <a:pt x="59388" y="111125"/>
                  <a:pt x="44450" y="96187"/>
                  <a:pt x="44450" y="77788"/>
                </a:cubicBezTo>
                <a:close/>
                <a:moveTo>
                  <a:pt x="77788" y="244475"/>
                </a:moveTo>
                <a:cubicBezTo>
                  <a:pt x="96187" y="244475"/>
                  <a:pt x="111125" y="259413"/>
                  <a:pt x="111125" y="277813"/>
                </a:cubicBezTo>
                <a:cubicBezTo>
                  <a:pt x="111125" y="296212"/>
                  <a:pt x="96187" y="311150"/>
                  <a:pt x="77788" y="311150"/>
                </a:cubicBezTo>
                <a:cubicBezTo>
                  <a:pt x="59388" y="311150"/>
                  <a:pt x="44450" y="296212"/>
                  <a:pt x="44450" y="277813"/>
                </a:cubicBezTo>
                <a:cubicBezTo>
                  <a:pt x="44450" y="259413"/>
                  <a:pt x="59388" y="244475"/>
                  <a:pt x="77787" y="2444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22352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7178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Breaks large messages into segments for transmission and reassembles them at the destination.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2032000"/>
            <a:ext cx="4699000" cy="228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2500" y="2235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44450"/>
                </a:moveTo>
                <a:cubicBezTo>
                  <a:pt x="133350" y="32157"/>
                  <a:pt x="143282" y="22225"/>
                  <a:pt x="155575" y="22225"/>
                </a:cubicBezTo>
                <a:lnTo>
                  <a:pt x="200025" y="22225"/>
                </a:lnTo>
                <a:cubicBezTo>
                  <a:pt x="212318" y="22225"/>
                  <a:pt x="222250" y="32157"/>
                  <a:pt x="222250" y="44450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194469" y="111125"/>
                </a:lnTo>
                <a:lnTo>
                  <a:pt x="194469" y="155575"/>
                </a:lnTo>
                <a:lnTo>
                  <a:pt x="277813" y="155575"/>
                </a:lnTo>
                <a:cubicBezTo>
                  <a:pt x="305455" y="155575"/>
                  <a:pt x="327819" y="177939"/>
                  <a:pt x="327819" y="205581"/>
                </a:cubicBezTo>
                <a:lnTo>
                  <a:pt x="327819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288925" y="333375"/>
                </a:lnTo>
                <a:cubicBezTo>
                  <a:pt x="276632" y="333375"/>
                  <a:pt x="266700" y="323443"/>
                  <a:pt x="266700" y="311150"/>
                </a:cubicBezTo>
                <a:lnTo>
                  <a:pt x="266700" y="266700"/>
                </a:lnTo>
                <a:cubicBezTo>
                  <a:pt x="266700" y="254407"/>
                  <a:pt x="276632" y="244475"/>
                  <a:pt x="288925" y="244475"/>
                </a:cubicBezTo>
                <a:lnTo>
                  <a:pt x="294481" y="244475"/>
                </a:lnTo>
                <a:lnTo>
                  <a:pt x="294481" y="205581"/>
                </a:lnTo>
                <a:cubicBezTo>
                  <a:pt x="294481" y="196344"/>
                  <a:pt x="287050" y="188913"/>
                  <a:pt x="277813" y="188913"/>
                </a:cubicBezTo>
                <a:lnTo>
                  <a:pt x="194469" y="188913"/>
                </a:lnTo>
                <a:lnTo>
                  <a:pt x="194469" y="244475"/>
                </a:lnTo>
                <a:lnTo>
                  <a:pt x="200025" y="244475"/>
                </a:lnTo>
                <a:cubicBezTo>
                  <a:pt x="212318" y="244475"/>
                  <a:pt x="222250" y="254407"/>
                  <a:pt x="222250" y="266700"/>
                </a:cubicBezTo>
                <a:lnTo>
                  <a:pt x="222250" y="311150"/>
                </a:lnTo>
                <a:cubicBezTo>
                  <a:pt x="222250" y="323443"/>
                  <a:pt x="212318" y="333375"/>
                  <a:pt x="200025" y="333375"/>
                </a:cubicBezTo>
                <a:lnTo>
                  <a:pt x="155575" y="333375"/>
                </a:lnTo>
                <a:cubicBezTo>
                  <a:pt x="143282" y="333375"/>
                  <a:pt x="133350" y="323443"/>
                  <a:pt x="133350" y="311150"/>
                </a:cubicBezTo>
                <a:lnTo>
                  <a:pt x="133350" y="266700"/>
                </a:lnTo>
                <a:cubicBezTo>
                  <a:pt x="133350" y="254407"/>
                  <a:pt x="143282" y="244475"/>
                  <a:pt x="155575" y="244475"/>
                </a:cubicBezTo>
                <a:lnTo>
                  <a:pt x="161131" y="244475"/>
                </a:lnTo>
                <a:lnTo>
                  <a:pt x="161131" y="188913"/>
                </a:lnTo>
                <a:lnTo>
                  <a:pt x="77788" y="188913"/>
                </a:lnTo>
                <a:cubicBezTo>
                  <a:pt x="68550" y="188913"/>
                  <a:pt x="61119" y="196344"/>
                  <a:pt x="61119" y="205581"/>
                </a:cubicBezTo>
                <a:lnTo>
                  <a:pt x="61119" y="244475"/>
                </a:lnTo>
                <a:lnTo>
                  <a:pt x="66675" y="244475"/>
                </a:lnTo>
                <a:cubicBezTo>
                  <a:pt x="78968" y="244475"/>
                  <a:pt x="88900" y="254407"/>
                  <a:pt x="88900" y="266700"/>
                </a:cubicBezTo>
                <a:lnTo>
                  <a:pt x="88900" y="311150"/>
                </a:lnTo>
                <a:cubicBezTo>
                  <a:pt x="88900" y="323443"/>
                  <a:pt x="78968" y="333375"/>
                  <a:pt x="66675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66700"/>
                </a:lnTo>
                <a:cubicBezTo>
                  <a:pt x="0" y="254407"/>
                  <a:pt x="9932" y="244475"/>
                  <a:pt x="22225" y="244475"/>
                </a:cubicBezTo>
                <a:lnTo>
                  <a:pt x="27781" y="244475"/>
                </a:lnTo>
                <a:lnTo>
                  <a:pt x="27781" y="205581"/>
                </a:lnTo>
                <a:cubicBezTo>
                  <a:pt x="27781" y="177939"/>
                  <a:pt x="50145" y="155575"/>
                  <a:pt x="77788" y="155575"/>
                </a:cubicBezTo>
                <a:lnTo>
                  <a:pt x="161131" y="155575"/>
                </a:lnTo>
                <a:lnTo>
                  <a:pt x="161131" y="111125"/>
                </a:lnTo>
                <a:lnTo>
                  <a:pt x="155575" y="111125"/>
                </a:lnTo>
                <a:cubicBezTo>
                  <a:pt x="143282" y="111125"/>
                  <a:pt x="133350" y="101193"/>
                  <a:pt x="133350" y="88900"/>
                </a:cubicBezTo>
                <a:lnTo>
                  <a:pt x="133350" y="4445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6515100" y="22352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Multiplexing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7178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port numbers to allow multiple applications to share the network simultaneously.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2032000"/>
            <a:ext cx="4699000" cy="228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49000" y="2235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531600" y="22352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Detection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27178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Verifies data integrity using checksums to ensure packets arrive uncorrupted.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635500"/>
            <a:ext cx="7112000" cy="2286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4838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498600" y="48387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 Control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53213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the receiver from being overwhelmed by regulating the data transmission rate using sliding window mechanisms.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91500" y="4635500"/>
            <a:ext cx="7302500" cy="228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4" name="Shape 22"/>
          <p:cNvSpPr/>
          <p:nvPr/>
        </p:nvSpPr>
        <p:spPr>
          <a:xfrm>
            <a:off x="8423275" y="48387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86759" y="59174"/>
                </a:moveTo>
                <a:lnTo>
                  <a:pt x="105777" y="149185"/>
                </a:lnTo>
                <a:cubicBezTo>
                  <a:pt x="102582" y="152727"/>
                  <a:pt x="102721" y="158214"/>
                  <a:pt x="106124" y="161617"/>
                </a:cubicBezTo>
                <a:cubicBezTo>
                  <a:pt x="127308" y="182801"/>
                  <a:pt x="161687" y="182801"/>
                  <a:pt x="182870" y="161617"/>
                </a:cubicBezTo>
                <a:lnTo>
                  <a:pt x="204956" y="139531"/>
                </a:lnTo>
                <a:cubicBezTo>
                  <a:pt x="207873" y="136614"/>
                  <a:pt x="211554" y="135017"/>
                  <a:pt x="215305" y="134739"/>
                </a:cubicBezTo>
                <a:cubicBezTo>
                  <a:pt x="220028" y="134322"/>
                  <a:pt x="224889" y="135920"/>
                  <a:pt x="228501" y="139531"/>
                </a:cubicBezTo>
                <a:lnTo>
                  <a:pt x="351155" y="261144"/>
                </a:lnTo>
                <a:lnTo>
                  <a:pt x="400050" y="222250"/>
                </a:lnTo>
                <a:lnTo>
                  <a:pt x="400050" y="22225"/>
                </a:lnTo>
                <a:lnTo>
                  <a:pt x="322263" y="66675"/>
                </a:lnTo>
                <a:lnTo>
                  <a:pt x="305733" y="55632"/>
                </a:lnTo>
                <a:cubicBezTo>
                  <a:pt x="294759" y="48339"/>
                  <a:pt x="281910" y="44450"/>
                  <a:pt x="268714" y="44450"/>
                </a:cubicBezTo>
                <a:lnTo>
                  <a:pt x="219819" y="44450"/>
                </a:lnTo>
                <a:cubicBezTo>
                  <a:pt x="219055" y="44450"/>
                  <a:pt x="218222" y="44450"/>
                  <a:pt x="217458" y="44519"/>
                </a:cubicBezTo>
                <a:cubicBezTo>
                  <a:pt x="205720" y="45145"/>
                  <a:pt x="194677" y="50423"/>
                  <a:pt x="186759" y="59174"/>
                </a:cubicBezTo>
                <a:close/>
                <a:moveTo>
                  <a:pt x="80982" y="126891"/>
                </a:moveTo>
                <a:lnTo>
                  <a:pt x="155158" y="44450"/>
                </a:lnTo>
                <a:lnTo>
                  <a:pt x="127655" y="44450"/>
                </a:lnTo>
                <a:cubicBezTo>
                  <a:pt x="109944" y="44450"/>
                  <a:pt x="92998" y="51465"/>
                  <a:pt x="80496" y="63966"/>
                </a:cubicBezTo>
                <a:lnTo>
                  <a:pt x="77788" y="66675"/>
                </a:lnTo>
                <a:lnTo>
                  <a:pt x="0" y="22225"/>
                </a:lnTo>
                <a:lnTo>
                  <a:pt x="0" y="222250"/>
                </a:lnTo>
                <a:lnTo>
                  <a:pt x="108625" y="312747"/>
                </a:lnTo>
                <a:cubicBezTo>
                  <a:pt x="124599" y="326082"/>
                  <a:pt x="144740" y="333375"/>
                  <a:pt x="165507" y="333375"/>
                </a:cubicBezTo>
                <a:lnTo>
                  <a:pt x="176411" y="333375"/>
                </a:lnTo>
                <a:lnTo>
                  <a:pt x="171549" y="328513"/>
                </a:lnTo>
                <a:cubicBezTo>
                  <a:pt x="165021" y="321985"/>
                  <a:pt x="165021" y="311428"/>
                  <a:pt x="171549" y="304969"/>
                </a:cubicBezTo>
                <a:cubicBezTo>
                  <a:pt x="178078" y="298510"/>
                  <a:pt x="188635" y="298440"/>
                  <a:pt x="195094" y="304969"/>
                </a:cubicBezTo>
                <a:lnTo>
                  <a:pt x="223570" y="333444"/>
                </a:lnTo>
                <a:lnTo>
                  <a:pt x="229820" y="333444"/>
                </a:lnTo>
                <a:cubicBezTo>
                  <a:pt x="243086" y="333444"/>
                  <a:pt x="256074" y="330458"/>
                  <a:pt x="267881" y="324902"/>
                </a:cubicBezTo>
                <a:lnTo>
                  <a:pt x="249337" y="306288"/>
                </a:lnTo>
                <a:cubicBezTo>
                  <a:pt x="242808" y="299760"/>
                  <a:pt x="242808" y="289203"/>
                  <a:pt x="249337" y="282744"/>
                </a:cubicBezTo>
                <a:cubicBezTo>
                  <a:pt x="255865" y="276285"/>
                  <a:pt x="266422" y="276215"/>
                  <a:pt x="272881" y="282744"/>
                </a:cubicBezTo>
                <a:lnTo>
                  <a:pt x="295106" y="304969"/>
                </a:lnTo>
                <a:lnTo>
                  <a:pt x="307261" y="292814"/>
                </a:lnTo>
                <a:cubicBezTo>
                  <a:pt x="313442" y="286633"/>
                  <a:pt x="315248" y="277674"/>
                  <a:pt x="312539" y="269825"/>
                </a:cubicBezTo>
                <a:lnTo>
                  <a:pt x="216763" y="174814"/>
                </a:lnTo>
                <a:lnTo>
                  <a:pt x="206415" y="185162"/>
                </a:lnTo>
                <a:cubicBezTo>
                  <a:pt x="172174" y="219402"/>
                  <a:pt x="116751" y="219402"/>
                  <a:pt x="82510" y="185162"/>
                </a:cubicBezTo>
                <a:cubicBezTo>
                  <a:pt x="66536" y="169188"/>
                  <a:pt x="65911" y="143560"/>
                  <a:pt x="80982" y="126821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8928100" y="48387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Management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45500" y="5321300"/>
            <a:ext cx="679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Establishes, maintains, and terminates connections between communicating hosts through handshake protocols.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7302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distinction: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While all network nodes need the Internet Layer, only the two end hosts need the Transport Layer — it is purely end-to-end.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— Transmission Control Protocol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3048000" cy="406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2700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CONNECTION-ORIENTED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1981200"/>
            <a:ext cx="50800" cy="762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955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Three-Way Handshake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3114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Establishes connection via SYN → SYN-ACK → ACK sequence before data transfer.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149600"/>
            <a:ext cx="50800" cy="762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3124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 Delivery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4798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Confirms packet receipt and automatically retransmits lost or corrupted data.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343400"/>
            <a:ext cx="50800" cy="762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431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Ordered Delivery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46736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Sequences packets with sequence numbers so they can be reassembled in correct order.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537200"/>
            <a:ext cx="50800" cy="762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511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Checking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8674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 errors using checksums to ensure data integrity throughout transmission.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731000"/>
            <a:ext cx="50800" cy="762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6705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 Control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70612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sliding window mechanism to regulate data rate and prevent receiver overflow.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1270000"/>
            <a:ext cx="7112000" cy="5588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24" name="Text 22"/>
          <p:cNvSpPr/>
          <p:nvPr/>
        </p:nvSpPr>
        <p:spPr>
          <a:xfrm>
            <a:off x="8636000" y="14478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spc="1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USE CASES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36000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6" name="Text 24"/>
          <p:cNvSpPr/>
          <p:nvPr/>
        </p:nvSpPr>
        <p:spPr>
          <a:xfrm>
            <a:off x="9093200" y="2032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Browsing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HTTP/HTTPS requires complete, accurate page delivery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74100" y="2971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104180" y="262533"/>
                </a:moveTo>
                <a:cubicBezTo>
                  <a:pt x="109776" y="268129"/>
                  <a:pt x="118824" y="268129"/>
                  <a:pt x="124361" y="262533"/>
                </a:cubicBezTo>
                <a:lnTo>
                  <a:pt x="162461" y="224433"/>
                </a:lnTo>
                <a:cubicBezTo>
                  <a:pt x="168057" y="218837"/>
                  <a:pt x="168057" y="209788"/>
                  <a:pt x="162461" y="204252"/>
                </a:cubicBezTo>
                <a:cubicBezTo>
                  <a:pt x="156865" y="198715"/>
                  <a:pt x="147816" y="198656"/>
                  <a:pt x="142280" y="204252"/>
                </a:cubicBezTo>
                <a:lnTo>
                  <a:pt x="128587" y="217944"/>
                </a:lnTo>
                <a:lnTo>
                  <a:pt x="128587" y="166688"/>
                </a:lnTo>
                <a:cubicBezTo>
                  <a:pt x="128587" y="158770"/>
                  <a:pt x="122218" y="152400"/>
                  <a:pt x="114300" y="152400"/>
                </a:cubicBezTo>
                <a:cubicBezTo>
                  <a:pt x="106382" y="152400"/>
                  <a:pt x="100012" y="158770"/>
                  <a:pt x="100012" y="166688"/>
                </a:cubicBezTo>
                <a:lnTo>
                  <a:pt x="100012" y="217944"/>
                </a:lnTo>
                <a:lnTo>
                  <a:pt x="86320" y="204252"/>
                </a:lnTo>
                <a:cubicBezTo>
                  <a:pt x="80724" y="198656"/>
                  <a:pt x="71676" y="198656"/>
                  <a:pt x="66139" y="204252"/>
                </a:cubicBezTo>
                <a:cubicBezTo>
                  <a:pt x="60603" y="209848"/>
                  <a:pt x="60543" y="218896"/>
                  <a:pt x="66139" y="224433"/>
                </a:cubicBezTo>
                <a:lnTo>
                  <a:pt x="104239" y="262533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9093200" y="2921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Transfers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FTP requires every byte to arrive correctly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36000" y="3860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38100"/>
                </a:moveTo>
                <a:cubicBezTo>
                  <a:pt x="12799" y="38100"/>
                  <a:pt x="0" y="50899"/>
                  <a:pt x="0" y="66675"/>
                </a:cubicBezTo>
                <a:cubicBezTo>
                  <a:pt x="0" y="75664"/>
                  <a:pt x="4227" y="84118"/>
                  <a:pt x="11430" y="89535"/>
                </a:cubicBezTo>
                <a:lnTo>
                  <a:pt x="135255" y="182404"/>
                </a:lnTo>
                <a:cubicBezTo>
                  <a:pt x="145435" y="190024"/>
                  <a:pt x="159365" y="190024"/>
                  <a:pt x="169545" y="182404"/>
                </a:cubicBezTo>
                <a:lnTo>
                  <a:pt x="293370" y="89535"/>
                </a:lnTo>
                <a:cubicBezTo>
                  <a:pt x="300573" y="84118"/>
                  <a:pt x="304800" y="75664"/>
                  <a:pt x="304800" y="66675"/>
                </a:cubicBezTo>
                <a:cubicBezTo>
                  <a:pt x="304800" y="50899"/>
                  <a:pt x="292001" y="38100"/>
                  <a:pt x="276225" y="38100"/>
                </a:cubicBezTo>
                <a:lnTo>
                  <a:pt x="28575" y="38100"/>
                </a:lnTo>
                <a:close/>
                <a:moveTo>
                  <a:pt x="0" y="116681"/>
                </a:move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266700" y="266700"/>
                </a:lnTo>
                <a:cubicBezTo>
                  <a:pt x="287715" y="266700"/>
                  <a:pt x="304800" y="249615"/>
                  <a:pt x="304800" y="228600"/>
                </a:cubicBezTo>
                <a:lnTo>
                  <a:pt x="304800" y="116681"/>
                </a:lnTo>
                <a:lnTo>
                  <a:pt x="186690" y="205264"/>
                </a:lnTo>
                <a:cubicBezTo>
                  <a:pt x="166390" y="220504"/>
                  <a:pt x="138410" y="220504"/>
                  <a:pt x="118110" y="205264"/>
                </a:cubicBezTo>
                <a:lnTo>
                  <a:pt x="0" y="116681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0" name="Text 28"/>
          <p:cNvSpPr/>
          <p:nvPr/>
        </p:nvSpPr>
        <p:spPr>
          <a:xfrm>
            <a:off x="9093200" y="3810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SMTP, POP3, IMAP need reliable message delivery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55050" y="4749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2" name="Text 30"/>
          <p:cNvSpPr/>
          <p:nvPr/>
        </p:nvSpPr>
        <p:spPr>
          <a:xfrm>
            <a:off x="9093200" y="4699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Access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SQL queries require accurate results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36000" y="5715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header size: 20 bytes (minimum). Operates on port-based addressing with well-known ports (0-1023).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UDP — User Datagram Protocol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2794000" cy="406400"/>
          </a:xfrm>
          <a:prstGeom prst="rect">
            <a:avLst/>
          </a:prstGeom>
          <a:solidFill>
            <a:srgbClr val="7A8B7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270000"/>
            <a:ext cx="279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CONNECTIONLESS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1981200"/>
            <a:ext cx="50800" cy="762000"/>
          </a:xfrm>
          <a:prstGeom prst="rect">
            <a:avLst/>
          </a:prstGeom>
          <a:solidFill>
            <a:srgbClr val="7A8B7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955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Connection Setup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3114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Sends data immediately without establishing a connection — minimal overhead, maximum speed.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149600"/>
            <a:ext cx="50800" cy="762000"/>
          </a:xfrm>
          <a:prstGeom prst="rect">
            <a:avLst/>
          </a:prstGeom>
          <a:solidFill>
            <a:srgbClr val="7A8B7A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3124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Error Checking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4798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not verify whether data has errors — applications handle reliability if needed.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343400"/>
            <a:ext cx="50800" cy="762000"/>
          </a:xfrm>
          <a:prstGeom prst="rect">
            <a:avLst/>
          </a:prstGeom>
          <a:solidFill>
            <a:srgbClr val="7A8B7A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431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Retransmission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46736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Lost or damaged data is not resent — acceptable for real-time applications.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537200"/>
            <a:ext cx="50800" cy="762000"/>
          </a:xfrm>
          <a:prstGeom prst="rect">
            <a:avLst/>
          </a:prstGeom>
          <a:solidFill>
            <a:srgbClr val="7A8B7A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511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 &amp; Fast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8674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Smaller header (8 bytes) and fewer resources — ideal for high-speed applications.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1270000"/>
            <a:ext cx="7112000" cy="5588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21" name="Text 19"/>
          <p:cNvSpPr/>
          <p:nvPr/>
        </p:nvSpPr>
        <p:spPr>
          <a:xfrm>
            <a:off x="8636000" y="14478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spc="1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UDP USE CASES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16950" y="2082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7150" y="38100"/>
                </a:moveTo>
                <a:cubicBezTo>
                  <a:pt x="36135" y="38100"/>
                  <a:pt x="19050" y="55185"/>
                  <a:pt x="19050" y="76200"/>
                </a:cubicBezTo>
                <a:lnTo>
                  <a:pt x="19050" y="228600"/>
                </a:lnTo>
                <a:cubicBezTo>
                  <a:pt x="19050" y="249615"/>
                  <a:pt x="36135" y="266700"/>
                  <a:pt x="57150" y="266700"/>
                </a:cubicBezTo>
                <a:lnTo>
                  <a:pt x="209550" y="266700"/>
                </a:lnTo>
                <a:cubicBezTo>
                  <a:pt x="230565" y="266700"/>
                  <a:pt x="247650" y="249615"/>
                  <a:pt x="247650" y="228600"/>
                </a:cubicBezTo>
                <a:lnTo>
                  <a:pt x="247650" y="76200"/>
                </a:lnTo>
                <a:cubicBezTo>
                  <a:pt x="247650" y="55185"/>
                  <a:pt x="230565" y="38100"/>
                  <a:pt x="209550" y="38100"/>
                </a:cubicBezTo>
                <a:lnTo>
                  <a:pt x="57150" y="38100"/>
                </a:lnTo>
                <a:close/>
                <a:moveTo>
                  <a:pt x="276225" y="200025"/>
                </a:moveTo>
                <a:lnTo>
                  <a:pt x="319980" y="235029"/>
                </a:lnTo>
                <a:cubicBezTo>
                  <a:pt x="322481" y="237053"/>
                  <a:pt x="325576" y="238125"/>
                  <a:pt x="328791" y="238125"/>
                </a:cubicBezTo>
                <a:cubicBezTo>
                  <a:pt x="336590" y="238125"/>
                  <a:pt x="342900" y="231815"/>
                  <a:pt x="342900" y="224016"/>
                </a:cubicBezTo>
                <a:lnTo>
                  <a:pt x="342900" y="80784"/>
                </a:lnTo>
                <a:cubicBezTo>
                  <a:pt x="342900" y="72985"/>
                  <a:pt x="336590" y="66675"/>
                  <a:pt x="328791" y="66675"/>
                </a:cubicBezTo>
                <a:cubicBezTo>
                  <a:pt x="325576" y="66675"/>
                  <a:pt x="322481" y="67747"/>
                  <a:pt x="319980" y="69771"/>
                </a:cubicBezTo>
                <a:lnTo>
                  <a:pt x="276225" y="104775"/>
                </a:lnTo>
                <a:lnTo>
                  <a:pt x="276225" y="200025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9093200" y="2032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Streaming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Real-time video where occasional loss is better than delay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97900" y="2971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66700" y="38100"/>
                </a:moveTo>
                <a:cubicBezTo>
                  <a:pt x="329803" y="38100"/>
                  <a:pt x="381000" y="89297"/>
                  <a:pt x="381000" y="152400"/>
                </a:cubicBezTo>
                <a:cubicBezTo>
                  <a:pt x="381000" y="215503"/>
                  <a:pt x="329803" y="266700"/>
                  <a:pt x="266700" y="266700"/>
                </a:cubicBezTo>
                <a:lnTo>
                  <a:pt x="114300" y="266700"/>
                </a:lnTo>
                <a:cubicBezTo>
                  <a:pt x="51197" y="266700"/>
                  <a:pt x="0" y="215503"/>
                  <a:pt x="0" y="152400"/>
                </a:cubicBezTo>
                <a:cubicBezTo>
                  <a:pt x="0" y="89297"/>
                  <a:pt x="51197" y="38100"/>
                  <a:pt x="114300" y="38100"/>
                </a:cubicBezTo>
                <a:lnTo>
                  <a:pt x="266700" y="38100"/>
                </a:lnTo>
                <a:close/>
                <a:moveTo>
                  <a:pt x="114300" y="104775"/>
                </a:moveTo>
                <a:cubicBezTo>
                  <a:pt x="106382" y="104775"/>
                  <a:pt x="100013" y="111145"/>
                  <a:pt x="100013" y="119062"/>
                </a:cubicBezTo>
                <a:lnTo>
                  <a:pt x="100013" y="138113"/>
                </a:lnTo>
                <a:lnTo>
                  <a:pt x="80962" y="138113"/>
                </a:lnTo>
                <a:cubicBezTo>
                  <a:pt x="73045" y="138113"/>
                  <a:pt x="66675" y="144482"/>
                  <a:pt x="66675" y="152400"/>
                </a:cubicBezTo>
                <a:cubicBezTo>
                  <a:pt x="66675" y="160318"/>
                  <a:pt x="73045" y="166688"/>
                  <a:pt x="80962" y="166688"/>
                </a:cubicBezTo>
                <a:lnTo>
                  <a:pt x="100013" y="166688"/>
                </a:lnTo>
                <a:lnTo>
                  <a:pt x="100013" y="185738"/>
                </a:lnTo>
                <a:cubicBezTo>
                  <a:pt x="100013" y="193655"/>
                  <a:pt x="106382" y="200025"/>
                  <a:pt x="114300" y="200025"/>
                </a:cubicBezTo>
                <a:cubicBezTo>
                  <a:pt x="122218" y="200025"/>
                  <a:pt x="128588" y="193655"/>
                  <a:pt x="128588" y="185738"/>
                </a:cubicBezTo>
                <a:lnTo>
                  <a:pt x="128588" y="166688"/>
                </a:lnTo>
                <a:lnTo>
                  <a:pt x="147638" y="166688"/>
                </a:lnTo>
                <a:cubicBezTo>
                  <a:pt x="155555" y="166688"/>
                  <a:pt x="161925" y="160318"/>
                  <a:pt x="161925" y="152400"/>
                </a:cubicBezTo>
                <a:cubicBezTo>
                  <a:pt x="161925" y="144482"/>
                  <a:pt x="155555" y="138113"/>
                  <a:pt x="147638" y="138113"/>
                </a:cubicBezTo>
                <a:lnTo>
                  <a:pt x="128588" y="138113"/>
                </a:lnTo>
                <a:lnTo>
                  <a:pt x="128588" y="119062"/>
                </a:lnTo>
                <a:cubicBezTo>
                  <a:pt x="128588" y="111145"/>
                  <a:pt x="122218" y="104775"/>
                  <a:pt x="114300" y="104775"/>
                </a:cubicBezTo>
                <a:close/>
                <a:moveTo>
                  <a:pt x="257175" y="161925"/>
                </a:moveTo>
                <a:cubicBezTo>
                  <a:pt x="246661" y="161925"/>
                  <a:pt x="238125" y="170461"/>
                  <a:pt x="238125" y="180975"/>
                </a:cubicBezTo>
                <a:cubicBezTo>
                  <a:pt x="238125" y="191489"/>
                  <a:pt x="246661" y="200025"/>
                  <a:pt x="257175" y="200025"/>
                </a:cubicBezTo>
                <a:cubicBezTo>
                  <a:pt x="267689" y="200025"/>
                  <a:pt x="276225" y="191489"/>
                  <a:pt x="276225" y="180975"/>
                </a:cubicBezTo>
                <a:cubicBezTo>
                  <a:pt x="276225" y="170461"/>
                  <a:pt x="267689" y="161925"/>
                  <a:pt x="257175" y="161925"/>
                </a:cubicBezTo>
                <a:close/>
                <a:moveTo>
                  <a:pt x="295275" y="104775"/>
                </a:moveTo>
                <a:cubicBezTo>
                  <a:pt x="284761" y="104775"/>
                  <a:pt x="276225" y="113311"/>
                  <a:pt x="276225" y="123825"/>
                </a:cubicBezTo>
                <a:cubicBezTo>
                  <a:pt x="276225" y="134339"/>
                  <a:pt x="284761" y="142875"/>
                  <a:pt x="295275" y="142875"/>
                </a:cubicBezTo>
                <a:cubicBezTo>
                  <a:pt x="305789" y="142875"/>
                  <a:pt x="314325" y="134339"/>
                  <a:pt x="314325" y="123825"/>
                </a:cubicBezTo>
                <a:cubicBezTo>
                  <a:pt x="314325" y="113311"/>
                  <a:pt x="305789" y="104775"/>
                  <a:pt x="295275" y="1047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9093200" y="2921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Gaming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Low latency is critical; missing frames are skipped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36000" y="3860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95369" y="14883"/>
                </a:moveTo>
                <a:cubicBezTo>
                  <a:pt x="90666" y="3631"/>
                  <a:pt x="78403" y="-2322"/>
                  <a:pt x="66735" y="833"/>
                </a:cubicBezTo>
                <a:lnTo>
                  <a:pt x="63460" y="1726"/>
                </a:lnTo>
                <a:cubicBezTo>
                  <a:pt x="25003" y="12204"/>
                  <a:pt x="-7858" y="49470"/>
                  <a:pt x="1726" y="94833"/>
                </a:cubicBezTo>
                <a:cubicBezTo>
                  <a:pt x="23812" y="199013"/>
                  <a:pt x="105787" y="280987"/>
                  <a:pt x="209967" y="303074"/>
                </a:cubicBezTo>
                <a:cubicBezTo>
                  <a:pt x="255389" y="312718"/>
                  <a:pt x="292596" y="279797"/>
                  <a:pt x="303074" y="241340"/>
                </a:cubicBezTo>
                <a:lnTo>
                  <a:pt x="303967" y="238065"/>
                </a:lnTo>
                <a:cubicBezTo>
                  <a:pt x="307181" y="226338"/>
                  <a:pt x="301169" y="214074"/>
                  <a:pt x="289977" y="209431"/>
                </a:cubicBezTo>
                <a:lnTo>
                  <a:pt x="232053" y="185321"/>
                </a:lnTo>
                <a:cubicBezTo>
                  <a:pt x="222230" y="181213"/>
                  <a:pt x="210860" y="184071"/>
                  <a:pt x="204073" y="192345"/>
                </a:cubicBezTo>
                <a:lnTo>
                  <a:pt x="181094" y="220444"/>
                </a:lnTo>
                <a:cubicBezTo>
                  <a:pt x="139244" y="199668"/>
                  <a:pt x="105549" y="164902"/>
                  <a:pt x="86201" y="122218"/>
                </a:cubicBezTo>
                <a:lnTo>
                  <a:pt x="112514" y="100786"/>
                </a:lnTo>
                <a:cubicBezTo>
                  <a:pt x="120789" y="94059"/>
                  <a:pt x="123587" y="82689"/>
                  <a:pt x="119539" y="72807"/>
                </a:cubicBezTo>
                <a:lnTo>
                  <a:pt x="95369" y="14883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9093200" y="3810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VoIP Calls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Voice communication prioritizes speed over perfection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36000" y="474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9093200" y="4699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Queries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Quick lookups where a retry is faster than TCP setup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36000" y="5715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UDP header: only 8 bytes (Source Port, Dest Port, Length, Checksum). Much smaller than TCP's 20 bytes.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vs UDP — Choosing the Right Protocol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14732000" cy="5080000"/>
        </p:xfrm>
        <a:graphic>
          <a:graphicData uri="http://schemas.openxmlformats.org/drawingml/2006/table">
            <a:tbl>
              <a:tblPr/>
              <a:tblGrid>
                <a:gridCol w="4124960"/>
                <a:gridCol w="5303520"/>
                <a:gridCol w="530352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TCP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UDP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Connection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Connection-oriented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Connectionless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Reliability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Guaranteed delivery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Best-effort, no guarantee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Ordering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Ordered packet delivery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ordering guarantee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Error Check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Checksum + retransmission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Optional checksum only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Flow Control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Sliding window mechanism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Header Size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 bytes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bytes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Slower (overhead)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Fast (minimal overhead)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Cases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Web, email, file transfer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Streaming, gaming, VoIP, DNS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6667500"/>
            <a:ext cx="7112000" cy="1524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679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TCP When: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71755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completeness is critical — web pages, files, emails, financial transactions, database queries.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191500" y="6667500"/>
            <a:ext cx="7302500" cy="1524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1" name="Text 8"/>
          <p:cNvSpPr/>
          <p:nvPr/>
        </p:nvSpPr>
        <p:spPr>
          <a:xfrm>
            <a:off x="8445500" y="679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UDP When: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45500" y="7175500"/>
            <a:ext cx="6794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and low latency matter most — live video, online gaming, voice calls, real-time monitoring.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hlp66oxrsclq/mnt/agents/output/ict-week7/images/5_Abstract_Wifi_Symbol_Concept_Communication.png">    </p:cNvPr>
          <p:cNvPicPr>
            <a:picLocks noChangeAspect="1"/>
          </p:cNvPicPr>
          <p:nvPr/>
        </p:nvPicPr>
        <p:blipFill>
          <a:blip r:embed="rId1"/>
          <a:srcRect l="0" r="0" t="2991" b="299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A36">
                  <a:alpha val="91000"/>
                </a:srgbClr>
              </a:gs>
              <a:gs pos="60000">
                <a:srgbClr val="1E2A36">
                  <a:alpha val="82000"/>
                </a:srgbClr>
              </a:gs>
              <a:gs pos="100000">
                <a:srgbClr val="1E2A36">
                  <a:alpha val="5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270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267200"/>
            <a:ext cx="762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Layer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User-facing protocols and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network services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Layer — The User Interface to Networks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143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Application Layer is the topmost layer, closest to the user. In TCP/IP, it combines the functions of OSI's Session, Presentation, and Application layers.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032000"/>
            <a:ext cx="4699000" cy="1905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235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cubicBezTo>
                  <a:pt x="0" y="56743"/>
                  <a:pt x="9932" y="66675"/>
                  <a:pt x="22225" y="66675"/>
                </a:cubicBezTo>
                <a:lnTo>
                  <a:pt x="27781" y="66675"/>
                </a:lnTo>
                <a:lnTo>
                  <a:pt x="27781" y="111125"/>
                </a:lnTo>
                <a:lnTo>
                  <a:pt x="0" y="111125"/>
                </a:lnTo>
                <a:lnTo>
                  <a:pt x="0" y="188913"/>
                </a:lnTo>
                <a:cubicBezTo>
                  <a:pt x="26114" y="195441"/>
                  <a:pt x="44450" y="218916"/>
                  <a:pt x="44450" y="245864"/>
                </a:cubicBezTo>
                <a:lnTo>
                  <a:pt x="44450" y="311150"/>
                </a:lnTo>
                <a:cubicBezTo>
                  <a:pt x="44450" y="323443"/>
                  <a:pt x="54382" y="333375"/>
                  <a:pt x="66675" y="333375"/>
                </a:cubicBezTo>
                <a:lnTo>
                  <a:pt x="88900" y="333375"/>
                </a:lnTo>
                <a:cubicBezTo>
                  <a:pt x="101193" y="333375"/>
                  <a:pt x="111125" y="323443"/>
                  <a:pt x="111125" y="311150"/>
                </a:cubicBezTo>
                <a:lnTo>
                  <a:pt x="111125" y="266700"/>
                </a:lnTo>
                <a:cubicBezTo>
                  <a:pt x="111125" y="229890"/>
                  <a:pt x="140990" y="200025"/>
                  <a:pt x="177800" y="200025"/>
                </a:cubicBezTo>
                <a:cubicBezTo>
                  <a:pt x="214610" y="200025"/>
                  <a:pt x="244475" y="229890"/>
                  <a:pt x="244475" y="266700"/>
                </a:cubicBezTo>
                <a:lnTo>
                  <a:pt x="244475" y="311150"/>
                </a:lnTo>
                <a:cubicBezTo>
                  <a:pt x="244475" y="323443"/>
                  <a:pt x="254407" y="333375"/>
                  <a:pt x="266700" y="333375"/>
                </a:cubicBezTo>
                <a:lnTo>
                  <a:pt x="288925" y="333375"/>
                </a:lnTo>
                <a:cubicBezTo>
                  <a:pt x="301218" y="333375"/>
                  <a:pt x="311150" y="323443"/>
                  <a:pt x="311150" y="311150"/>
                </a:cubicBezTo>
                <a:lnTo>
                  <a:pt x="311150" y="245864"/>
                </a:lnTo>
                <a:cubicBezTo>
                  <a:pt x="311150" y="218916"/>
                  <a:pt x="329486" y="195441"/>
                  <a:pt x="355600" y="188913"/>
                </a:cubicBezTo>
                <a:lnTo>
                  <a:pt x="355600" y="111125"/>
                </a:lnTo>
                <a:lnTo>
                  <a:pt x="327819" y="111125"/>
                </a:lnTo>
                <a:lnTo>
                  <a:pt x="327819" y="66675"/>
                </a:lnTo>
                <a:lnTo>
                  <a:pt x="333375" y="66675"/>
                </a:lnTo>
                <a:cubicBezTo>
                  <a:pt x="345668" y="66675"/>
                  <a:pt x="355600" y="56743"/>
                  <a:pt x="355600" y="44450"/>
                </a:cubicBezTo>
                <a:cubicBezTo>
                  <a:pt x="355600" y="32157"/>
                  <a:pt x="345668" y="22225"/>
                  <a:pt x="333375" y="22225"/>
                </a:cubicBezTo>
                <a:lnTo>
                  <a:pt x="22225" y="22225"/>
                </a:lnTo>
                <a:close/>
                <a:moveTo>
                  <a:pt x="294481" y="66675"/>
                </a:moveTo>
                <a:lnTo>
                  <a:pt x="294481" y="111125"/>
                </a:lnTo>
                <a:lnTo>
                  <a:pt x="238919" y="111125"/>
                </a:lnTo>
                <a:lnTo>
                  <a:pt x="238919" y="66675"/>
                </a:lnTo>
                <a:lnTo>
                  <a:pt x="294481" y="66675"/>
                </a:lnTo>
                <a:close/>
                <a:moveTo>
                  <a:pt x="205581" y="66675"/>
                </a:moveTo>
                <a:lnTo>
                  <a:pt x="205581" y="111125"/>
                </a:lnTo>
                <a:lnTo>
                  <a:pt x="150019" y="111125"/>
                </a:lnTo>
                <a:lnTo>
                  <a:pt x="150019" y="66675"/>
                </a:lnTo>
                <a:lnTo>
                  <a:pt x="205581" y="66675"/>
                </a:lnTo>
                <a:close/>
                <a:moveTo>
                  <a:pt x="61119" y="66675"/>
                </a:moveTo>
                <a:lnTo>
                  <a:pt x="116681" y="66675"/>
                </a:lnTo>
                <a:lnTo>
                  <a:pt x="116681" y="111125"/>
                </a:lnTo>
                <a:lnTo>
                  <a:pt x="61119" y="111125"/>
                </a:lnTo>
                <a:lnTo>
                  <a:pt x="61119" y="66675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22352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Bridge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692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Acts as a bridge between user applications and lower network layers.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2032000"/>
            <a:ext cx="4699000" cy="1905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76950" y="22352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6515100" y="22352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Formatting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692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data formatting so information is correctly understood by both sender and receiver.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2032000"/>
            <a:ext cx="4699000" cy="1905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49000" y="2235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3363" y="244475"/>
                </a:moveTo>
                <a:cubicBezTo>
                  <a:pt x="300871" y="244475"/>
                  <a:pt x="355600" y="189746"/>
                  <a:pt x="355600" y="122238"/>
                </a:cubicBezTo>
                <a:cubicBezTo>
                  <a:pt x="355600" y="54729"/>
                  <a:pt x="300871" y="0"/>
                  <a:pt x="233363" y="0"/>
                </a:cubicBezTo>
                <a:cubicBezTo>
                  <a:pt x="165854" y="0"/>
                  <a:pt x="111125" y="54729"/>
                  <a:pt x="111125" y="122238"/>
                </a:cubicBezTo>
                <a:cubicBezTo>
                  <a:pt x="111125" y="135225"/>
                  <a:pt x="113139" y="147796"/>
                  <a:pt x="116890" y="159534"/>
                </a:cubicBezTo>
                <a:lnTo>
                  <a:pt x="4862" y="271562"/>
                </a:lnTo>
                <a:cubicBezTo>
                  <a:pt x="1736" y="274687"/>
                  <a:pt x="0" y="278924"/>
                  <a:pt x="0" y="283369"/>
                </a:cubicBezTo>
                <a:lnTo>
                  <a:pt x="0" y="338931"/>
                </a:lnTo>
                <a:cubicBezTo>
                  <a:pt x="0" y="348169"/>
                  <a:pt x="7431" y="355600"/>
                  <a:pt x="16669" y="355600"/>
                </a:cubicBezTo>
                <a:lnTo>
                  <a:pt x="72231" y="355600"/>
                </a:lnTo>
                <a:cubicBezTo>
                  <a:pt x="81469" y="355600"/>
                  <a:pt x="88900" y="348169"/>
                  <a:pt x="88900" y="338931"/>
                </a:cubicBezTo>
                <a:lnTo>
                  <a:pt x="88900" y="311150"/>
                </a:lnTo>
                <a:lnTo>
                  <a:pt x="116681" y="311150"/>
                </a:lnTo>
                <a:cubicBezTo>
                  <a:pt x="125919" y="311150"/>
                  <a:pt x="133350" y="303719"/>
                  <a:pt x="133350" y="294481"/>
                </a:cubicBezTo>
                <a:lnTo>
                  <a:pt x="133350" y="266700"/>
                </a:lnTo>
                <a:lnTo>
                  <a:pt x="161131" y="266700"/>
                </a:lnTo>
                <a:cubicBezTo>
                  <a:pt x="165576" y="266700"/>
                  <a:pt x="169813" y="264964"/>
                  <a:pt x="172938" y="261838"/>
                </a:cubicBezTo>
                <a:lnTo>
                  <a:pt x="196066" y="238710"/>
                </a:lnTo>
                <a:cubicBezTo>
                  <a:pt x="207804" y="242461"/>
                  <a:pt x="220375" y="244475"/>
                  <a:pt x="233363" y="244475"/>
                </a:cubicBezTo>
                <a:close/>
                <a:moveTo>
                  <a:pt x="261144" y="66675"/>
                </a:moveTo>
                <a:cubicBezTo>
                  <a:pt x="276477" y="66675"/>
                  <a:pt x="288925" y="79123"/>
                  <a:pt x="288925" y="94456"/>
                </a:cubicBezTo>
                <a:cubicBezTo>
                  <a:pt x="288925" y="109789"/>
                  <a:pt x="276477" y="122238"/>
                  <a:pt x="261144" y="122238"/>
                </a:cubicBezTo>
                <a:cubicBezTo>
                  <a:pt x="245811" y="122238"/>
                  <a:pt x="233363" y="109789"/>
                  <a:pt x="233363" y="94456"/>
                </a:cubicBezTo>
                <a:cubicBezTo>
                  <a:pt x="233363" y="79123"/>
                  <a:pt x="245811" y="66675"/>
                  <a:pt x="261144" y="666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531600" y="22352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2692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encryption for secure communication over the network.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254500"/>
            <a:ext cx="7112000" cy="1905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4457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498600" y="44577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Management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49149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 sessions to track ongoing connections between applications across the network.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91500" y="4254500"/>
            <a:ext cx="7302500" cy="1905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4" name="Shape 22"/>
          <p:cNvSpPr/>
          <p:nvPr/>
        </p:nvSpPr>
        <p:spPr>
          <a:xfrm>
            <a:off x="8445500" y="4457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8928100" y="44577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OSI Layer Combination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45500" y="4914900"/>
            <a:ext cx="679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Session, Presentation, and Application layer functions from the OSI model into one layer.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604000"/>
            <a:ext cx="14732000" cy="1270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6604000"/>
            <a:ext cx="50800" cy="1270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1066800" y="6781800"/>
            <a:ext cx="1417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Application Layer supports protocols such as HTTP, FTP, SMTP, and DNS. Communication at this layer is end-to-end — a message from computer A reaches computer B without being changed during transmission.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Application Layer Protocols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4699000" cy="2159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47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14478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/ HTTPS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1879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HyperText Transfer Protocol. Used for web browsing — transfers web pages between servers and browsers. HTTPS adds encryption.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270000"/>
            <a:ext cx="4699000" cy="2159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1" name="Shape 9"/>
          <p:cNvSpPr/>
          <p:nvPr/>
        </p:nvSpPr>
        <p:spPr>
          <a:xfrm>
            <a:off x="6013450" y="1473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7448" y="0"/>
                </a:moveTo>
                <a:cubicBezTo>
                  <a:pt x="36433" y="0"/>
                  <a:pt x="19348" y="17085"/>
                  <a:pt x="19348" y="38100"/>
                </a:cubicBezTo>
                <a:lnTo>
                  <a:pt x="19348" y="266700"/>
                </a:lnTo>
                <a:cubicBezTo>
                  <a:pt x="19348" y="287715"/>
                  <a:pt x="36433" y="304800"/>
                  <a:pt x="57448" y="304800"/>
                </a:cubicBezTo>
                <a:lnTo>
                  <a:pt x="209848" y="304800"/>
                </a:lnTo>
                <a:cubicBezTo>
                  <a:pt x="230862" y="304800"/>
                  <a:pt x="247948" y="287715"/>
                  <a:pt x="247948" y="266700"/>
                </a:cubicBezTo>
                <a:lnTo>
                  <a:pt x="247948" y="209550"/>
                </a:lnTo>
                <a:lnTo>
                  <a:pt x="294442" y="209550"/>
                </a:lnTo>
                <a:lnTo>
                  <a:pt x="275987" y="228005"/>
                </a:lnTo>
                <a:cubicBezTo>
                  <a:pt x="270391" y="233601"/>
                  <a:pt x="270391" y="242649"/>
                  <a:pt x="275987" y="248186"/>
                </a:cubicBezTo>
                <a:cubicBezTo>
                  <a:pt x="281583" y="253722"/>
                  <a:pt x="290632" y="253782"/>
                  <a:pt x="296168" y="248186"/>
                </a:cubicBezTo>
                <a:lnTo>
                  <a:pt x="339030" y="205323"/>
                </a:lnTo>
                <a:cubicBezTo>
                  <a:pt x="344626" y="199727"/>
                  <a:pt x="344626" y="190679"/>
                  <a:pt x="339030" y="185142"/>
                </a:cubicBezTo>
                <a:lnTo>
                  <a:pt x="296168" y="142280"/>
                </a:lnTo>
                <a:cubicBezTo>
                  <a:pt x="290572" y="136684"/>
                  <a:pt x="281523" y="136684"/>
                  <a:pt x="275987" y="142280"/>
                </a:cubicBezTo>
                <a:cubicBezTo>
                  <a:pt x="270450" y="147876"/>
                  <a:pt x="270391" y="156924"/>
                  <a:pt x="275987" y="162461"/>
                </a:cubicBezTo>
                <a:lnTo>
                  <a:pt x="294442" y="180915"/>
                </a:lnTo>
                <a:lnTo>
                  <a:pt x="247948" y="180915"/>
                </a:lnTo>
                <a:lnTo>
                  <a:pt x="247948" y="101441"/>
                </a:lnTo>
                <a:cubicBezTo>
                  <a:pt x="247948" y="91321"/>
                  <a:pt x="243959" y="81617"/>
                  <a:pt x="236815" y="74474"/>
                </a:cubicBezTo>
                <a:lnTo>
                  <a:pt x="173355" y="11132"/>
                </a:lnTo>
                <a:cubicBezTo>
                  <a:pt x="166211" y="3989"/>
                  <a:pt x="156567" y="0"/>
                  <a:pt x="146447" y="0"/>
                </a:cubicBezTo>
                <a:lnTo>
                  <a:pt x="57448" y="0"/>
                </a:lnTo>
                <a:close/>
                <a:moveTo>
                  <a:pt x="213122" y="104775"/>
                </a:moveTo>
                <a:lnTo>
                  <a:pt x="157460" y="104775"/>
                </a:lnTo>
                <a:cubicBezTo>
                  <a:pt x="149543" y="104775"/>
                  <a:pt x="143173" y="98405"/>
                  <a:pt x="143173" y="90488"/>
                </a:cubicBezTo>
                <a:lnTo>
                  <a:pt x="143173" y="34826"/>
                </a:lnTo>
                <a:lnTo>
                  <a:pt x="213122" y="104775"/>
                </a:lnTo>
                <a:close/>
                <a:moveTo>
                  <a:pt x="133648" y="195263"/>
                </a:moveTo>
                <a:cubicBezTo>
                  <a:pt x="133648" y="187345"/>
                  <a:pt x="140018" y="180975"/>
                  <a:pt x="147935" y="180975"/>
                </a:cubicBezTo>
                <a:lnTo>
                  <a:pt x="209848" y="180975"/>
                </a:lnTo>
                <a:lnTo>
                  <a:pt x="209848" y="209550"/>
                </a:lnTo>
                <a:lnTo>
                  <a:pt x="147935" y="209550"/>
                </a:lnTo>
                <a:cubicBezTo>
                  <a:pt x="140018" y="209550"/>
                  <a:pt x="133648" y="203180"/>
                  <a:pt x="133648" y="19526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300" y="14478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FTP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1879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Transfer Protocol. Used for transferring files between computers over a network. Supports upload and download operations.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270000"/>
            <a:ext cx="4699000" cy="2159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49000" y="147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38100"/>
                </a:moveTo>
                <a:cubicBezTo>
                  <a:pt x="12799" y="38100"/>
                  <a:pt x="0" y="50899"/>
                  <a:pt x="0" y="66675"/>
                </a:cubicBezTo>
                <a:cubicBezTo>
                  <a:pt x="0" y="75664"/>
                  <a:pt x="4227" y="84118"/>
                  <a:pt x="11430" y="89535"/>
                </a:cubicBezTo>
                <a:lnTo>
                  <a:pt x="135255" y="182404"/>
                </a:lnTo>
                <a:cubicBezTo>
                  <a:pt x="145435" y="190024"/>
                  <a:pt x="159365" y="190024"/>
                  <a:pt x="169545" y="182404"/>
                </a:cubicBezTo>
                <a:lnTo>
                  <a:pt x="293370" y="89535"/>
                </a:lnTo>
                <a:cubicBezTo>
                  <a:pt x="300573" y="84118"/>
                  <a:pt x="304800" y="75664"/>
                  <a:pt x="304800" y="66675"/>
                </a:cubicBezTo>
                <a:cubicBezTo>
                  <a:pt x="304800" y="50899"/>
                  <a:pt x="292001" y="38100"/>
                  <a:pt x="276225" y="38100"/>
                </a:cubicBezTo>
                <a:lnTo>
                  <a:pt x="28575" y="38100"/>
                </a:lnTo>
                <a:close/>
                <a:moveTo>
                  <a:pt x="0" y="116681"/>
                </a:move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266700" y="266700"/>
                </a:lnTo>
                <a:cubicBezTo>
                  <a:pt x="287715" y="266700"/>
                  <a:pt x="304800" y="249615"/>
                  <a:pt x="304800" y="228600"/>
                </a:cubicBezTo>
                <a:lnTo>
                  <a:pt x="304800" y="116681"/>
                </a:lnTo>
                <a:lnTo>
                  <a:pt x="186690" y="205264"/>
                </a:lnTo>
                <a:cubicBezTo>
                  <a:pt x="166390" y="220504"/>
                  <a:pt x="138410" y="220504"/>
                  <a:pt x="118110" y="205264"/>
                </a:cubicBezTo>
                <a:lnTo>
                  <a:pt x="0" y="116681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1480800" y="14478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SMTP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1879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Mail Transfer Protocol. Used for sending email messages from clients to servers and between mail servers.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746500"/>
            <a:ext cx="4699000" cy="2159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3949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4650" y="19050"/>
                </a:moveTo>
                <a:cubicBezTo>
                  <a:pt x="35659" y="19050"/>
                  <a:pt x="19586" y="32980"/>
                  <a:pt x="16907" y="51733"/>
                </a:cubicBezTo>
                <a:lnTo>
                  <a:pt x="357" y="167402"/>
                </a:lnTo>
                <a:cubicBezTo>
                  <a:pt x="119" y="169188"/>
                  <a:pt x="0" y="170974"/>
                  <a:pt x="0" y="172819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66700" y="285750"/>
                </a:lnTo>
                <a:cubicBezTo>
                  <a:pt x="287715" y="285750"/>
                  <a:pt x="304800" y="268665"/>
                  <a:pt x="304800" y="247650"/>
                </a:cubicBezTo>
                <a:lnTo>
                  <a:pt x="304800" y="172819"/>
                </a:lnTo>
                <a:cubicBezTo>
                  <a:pt x="304800" y="171033"/>
                  <a:pt x="304681" y="169188"/>
                  <a:pt x="304443" y="167402"/>
                </a:cubicBezTo>
                <a:lnTo>
                  <a:pt x="287893" y="51733"/>
                </a:lnTo>
                <a:cubicBezTo>
                  <a:pt x="285214" y="32980"/>
                  <a:pt x="269141" y="19050"/>
                  <a:pt x="250150" y="19050"/>
                </a:cubicBezTo>
                <a:lnTo>
                  <a:pt x="54650" y="19050"/>
                </a:lnTo>
                <a:close/>
                <a:moveTo>
                  <a:pt x="54650" y="57150"/>
                </a:moveTo>
                <a:lnTo>
                  <a:pt x="250210" y="57150"/>
                </a:lnTo>
                <a:lnTo>
                  <a:pt x="266521" y="171450"/>
                </a:lnTo>
                <a:lnTo>
                  <a:pt x="230862" y="171450"/>
                </a:lnTo>
                <a:cubicBezTo>
                  <a:pt x="223659" y="171450"/>
                  <a:pt x="217051" y="175498"/>
                  <a:pt x="213836" y="181987"/>
                </a:cubicBezTo>
                <a:lnTo>
                  <a:pt x="205323" y="199013"/>
                </a:lnTo>
                <a:cubicBezTo>
                  <a:pt x="202109" y="205442"/>
                  <a:pt x="195501" y="209550"/>
                  <a:pt x="188297" y="209550"/>
                </a:cubicBezTo>
                <a:lnTo>
                  <a:pt x="116622" y="209550"/>
                </a:lnTo>
                <a:cubicBezTo>
                  <a:pt x="109418" y="209550"/>
                  <a:pt x="102810" y="205502"/>
                  <a:pt x="99596" y="199013"/>
                </a:cubicBezTo>
                <a:lnTo>
                  <a:pt x="91083" y="181987"/>
                </a:lnTo>
                <a:cubicBezTo>
                  <a:pt x="87868" y="175558"/>
                  <a:pt x="81260" y="171450"/>
                  <a:pt x="74057" y="171450"/>
                </a:cubicBezTo>
                <a:lnTo>
                  <a:pt x="38279" y="171450"/>
                </a:lnTo>
                <a:lnTo>
                  <a:pt x="54650" y="5715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" y="39243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POP3 / IMAP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3561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Office Protocol v3 and Internet Message Access Protocol. Used for retrieving email from mail servers to local clients.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78500" y="3746500"/>
            <a:ext cx="4699000" cy="2159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6051550" y="39497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300" y="39243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2500" y="43561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Name System. Translates human-readable domain names (e.g., google.com) into IP addresses (e.g., 142.250.80.46).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795000" y="3746500"/>
            <a:ext cx="4699000" cy="2159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49000" y="3949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596" y="70604"/>
                </a:moveTo>
                <a:cubicBezTo>
                  <a:pt x="-1845" y="63163"/>
                  <a:pt x="-1845" y="51078"/>
                  <a:pt x="5596" y="43636"/>
                </a:cubicBezTo>
                <a:cubicBezTo>
                  <a:pt x="13037" y="36195"/>
                  <a:pt x="25122" y="36195"/>
                  <a:pt x="32564" y="43636"/>
                </a:cubicBezTo>
                <a:lnTo>
                  <a:pt x="127814" y="138886"/>
                </a:lnTo>
                <a:cubicBezTo>
                  <a:pt x="135255" y="146328"/>
                  <a:pt x="135255" y="158413"/>
                  <a:pt x="127814" y="165854"/>
                </a:cubicBezTo>
                <a:lnTo>
                  <a:pt x="32564" y="261104"/>
                </a:lnTo>
                <a:cubicBezTo>
                  <a:pt x="25122" y="268545"/>
                  <a:pt x="13037" y="268545"/>
                  <a:pt x="5596" y="261104"/>
                </a:cubicBezTo>
                <a:cubicBezTo>
                  <a:pt x="-1845" y="253663"/>
                  <a:pt x="-1845" y="241578"/>
                  <a:pt x="5596" y="234136"/>
                </a:cubicBezTo>
                <a:lnTo>
                  <a:pt x="87332" y="152400"/>
                </a:lnTo>
                <a:lnTo>
                  <a:pt x="5596" y="70604"/>
                </a:lnTo>
                <a:close/>
                <a:moveTo>
                  <a:pt x="133350" y="228600"/>
                </a:move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11480800" y="39243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Telnet / SSH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49000" y="43561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login protocols. Telnet is unencrypted; SSH (Secure Shell) provides encrypted remote management of systems.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6286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Additional protocols: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SNMP (Simple Network Management Protocol) for network device monitoring, DHCP for automatic IP configuration, and NTP for time synchronization.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hlp66oxrsclq/mnt/agents/output/ict-week7/images/10_Network_Switch_Hardware_with_Ethernet.png">    </p:cNvPr>
          <p:cNvPicPr>
            <a:picLocks noChangeAspect="1"/>
          </p:cNvPicPr>
          <p:nvPr/>
        </p:nvPicPr>
        <p:blipFill>
          <a:blip r:embed="rId1"/>
          <a:srcRect l="1524" r="152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A36">
                  <a:alpha val="91000"/>
                </a:srgbClr>
              </a:gs>
              <a:gs pos="60000">
                <a:srgbClr val="1E2A36">
                  <a:alpha val="82000"/>
                </a:srgbClr>
              </a:gs>
              <a:gs pos="100000">
                <a:srgbClr val="1E2A36">
                  <a:alpha val="5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270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267200"/>
            <a:ext cx="889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Host Configuration Protocol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Automating IP address assignment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and network configuration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 — Automating Network Configuration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143000"/>
            <a:ext cx="1473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DHCP is a network management protocol that automatically assigns IP addresses and configuration settings. It operates at the Application Layer using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UDP ports 67 (server)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68 (client)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032000"/>
            <a:ext cx="4699000" cy="2667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8" name="Shape 6"/>
          <p:cNvSpPr/>
          <p:nvPr/>
        </p:nvSpPr>
        <p:spPr>
          <a:xfrm>
            <a:off x="1041400" y="2235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2781" y="177800"/>
                  <a:pt x="50800" y="177800"/>
                </a:cubicBezTo>
                <a:lnTo>
                  <a:pt x="304800" y="177800"/>
                </a:lnTo>
                <a:cubicBezTo>
                  <a:pt x="332819" y="177800"/>
                  <a:pt x="355600" y="155019"/>
                  <a:pt x="355600" y="1270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222250" y="82550"/>
                </a:moveTo>
                <a:cubicBezTo>
                  <a:pt x="232764" y="82550"/>
                  <a:pt x="241300" y="91086"/>
                  <a:pt x="241300" y="101600"/>
                </a:cubicBezTo>
                <a:cubicBezTo>
                  <a:pt x="241300" y="112114"/>
                  <a:pt x="232764" y="120650"/>
                  <a:pt x="222250" y="120650"/>
                </a:cubicBezTo>
                <a:cubicBezTo>
                  <a:pt x="211736" y="120650"/>
                  <a:pt x="203200" y="112114"/>
                  <a:pt x="203200" y="101600"/>
                </a:cubicBezTo>
                <a:cubicBezTo>
                  <a:pt x="203200" y="91086"/>
                  <a:pt x="211736" y="82550"/>
                  <a:pt x="222250" y="82550"/>
                </a:cubicBezTo>
                <a:close/>
                <a:moveTo>
                  <a:pt x="266700" y="101600"/>
                </a:moveTo>
                <a:cubicBezTo>
                  <a:pt x="266700" y="91086"/>
                  <a:pt x="275236" y="82550"/>
                  <a:pt x="285750" y="82550"/>
                </a:cubicBezTo>
                <a:cubicBezTo>
                  <a:pt x="296264" y="82550"/>
                  <a:pt x="304800" y="91086"/>
                  <a:pt x="304800" y="101600"/>
                </a:cubicBezTo>
                <a:cubicBezTo>
                  <a:pt x="304800" y="112114"/>
                  <a:pt x="296264" y="120650"/>
                  <a:pt x="285750" y="120650"/>
                </a:cubicBezTo>
                <a:cubicBezTo>
                  <a:pt x="275236" y="120650"/>
                  <a:pt x="266700" y="112114"/>
                  <a:pt x="266700" y="101600"/>
                </a:cubicBezTo>
                <a:close/>
                <a:moveTo>
                  <a:pt x="50800" y="228600"/>
                </a:moveTo>
                <a:cubicBezTo>
                  <a:pt x="22781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279400"/>
                </a:lnTo>
                <a:cubicBezTo>
                  <a:pt x="355600" y="251381"/>
                  <a:pt x="332819" y="228600"/>
                  <a:pt x="304800" y="228600"/>
                </a:cubicBezTo>
                <a:lnTo>
                  <a:pt x="50800" y="228600"/>
                </a:lnTo>
                <a:close/>
                <a:moveTo>
                  <a:pt x="222250" y="285750"/>
                </a:moveTo>
                <a:cubicBezTo>
                  <a:pt x="232764" y="285750"/>
                  <a:pt x="241300" y="294286"/>
                  <a:pt x="241300" y="304800"/>
                </a:cubicBezTo>
                <a:cubicBezTo>
                  <a:pt x="241300" y="315314"/>
                  <a:pt x="232764" y="323850"/>
                  <a:pt x="222250" y="323850"/>
                </a:cubicBezTo>
                <a:cubicBezTo>
                  <a:pt x="211736" y="323850"/>
                  <a:pt x="203200" y="315314"/>
                  <a:pt x="203200" y="304800"/>
                </a:cubicBezTo>
                <a:cubicBezTo>
                  <a:pt x="203200" y="294286"/>
                  <a:pt x="211736" y="285750"/>
                  <a:pt x="222250" y="285750"/>
                </a:cubicBezTo>
                <a:close/>
                <a:moveTo>
                  <a:pt x="266700" y="304800"/>
                </a:moveTo>
                <a:cubicBezTo>
                  <a:pt x="266700" y="294286"/>
                  <a:pt x="275236" y="285750"/>
                  <a:pt x="285750" y="285750"/>
                </a:cubicBezTo>
                <a:cubicBezTo>
                  <a:pt x="296264" y="285750"/>
                  <a:pt x="304800" y="294286"/>
                  <a:pt x="304800" y="304800"/>
                </a:cubicBezTo>
                <a:cubicBezTo>
                  <a:pt x="304800" y="315314"/>
                  <a:pt x="296264" y="323850"/>
                  <a:pt x="285750" y="323850"/>
                </a:cubicBezTo>
                <a:cubicBezTo>
                  <a:pt x="275236" y="323850"/>
                  <a:pt x="266700" y="315314"/>
                  <a:pt x="266700" y="3048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549400" y="22352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 Server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7686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 IP address pools and assigns configuration. Typically a router or dedicated server. Tracks lease durations and available addresses.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2032000"/>
            <a:ext cx="4699000" cy="2667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2" name="Shape 10"/>
          <p:cNvSpPr/>
          <p:nvPr/>
        </p:nvSpPr>
        <p:spPr>
          <a:xfrm>
            <a:off x="5981700" y="22352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01600" y="25400"/>
                </a:moveTo>
                <a:cubicBezTo>
                  <a:pt x="73581" y="25400"/>
                  <a:pt x="50800" y="48181"/>
                  <a:pt x="50800" y="76200"/>
                </a:cubicBezTo>
                <a:lnTo>
                  <a:pt x="50800" y="266700"/>
                </a:lnTo>
                <a:lnTo>
                  <a:pt x="101600" y="266700"/>
                </a:lnTo>
                <a:lnTo>
                  <a:pt x="101600" y="76200"/>
                </a:lnTo>
                <a:lnTo>
                  <a:pt x="406400" y="76200"/>
                </a:lnTo>
                <a:lnTo>
                  <a:pt x="406400" y="266700"/>
                </a:lnTo>
                <a:lnTo>
                  <a:pt x="457200" y="266700"/>
                </a:lnTo>
                <a:lnTo>
                  <a:pt x="457200" y="76200"/>
                </a:lnTo>
                <a:cubicBezTo>
                  <a:pt x="457200" y="48181"/>
                  <a:pt x="434419" y="25400"/>
                  <a:pt x="406400" y="25400"/>
                </a:cubicBezTo>
                <a:lnTo>
                  <a:pt x="101600" y="25400"/>
                </a:lnTo>
                <a:close/>
                <a:moveTo>
                  <a:pt x="15240" y="304800"/>
                </a:moveTo>
                <a:cubicBezTo>
                  <a:pt x="6826" y="304800"/>
                  <a:pt x="0" y="311626"/>
                  <a:pt x="0" y="320040"/>
                </a:cubicBezTo>
                <a:cubicBezTo>
                  <a:pt x="0" y="353695"/>
                  <a:pt x="27305" y="381000"/>
                  <a:pt x="60960" y="381000"/>
                </a:cubicBezTo>
                <a:lnTo>
                  <a:pt x="447040" y="381000"/>
                </a:lnTo>
                <a:cubicBezTo>
                  <a:pt x="480695" y="381000"/>
                  <a:pt x="508000" y="353695"/>
                  <a:pt x="508000" y="320040"/>
                </a:cubicBezTo>
                <a:cubicBezTo>
                  <a:pt x="508000" y="311626"/>
                  <a:pt x="501174" y="304800"/>
                  <a:pt x="492760" y="304800"/>
                </a:cubicBezTo>
                <a:lnTo>
                  <a:pt x="15240" y="30480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6565900" y="22352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 Client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7686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device requesting IP configuration: PCs, mobile devices, printers, IoT devices. Automatically discovers and requests settings.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2032000"/>
            <a:ext cx="4699000" cy="2667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49000" y="223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8939" y="119539"/>
                </a:moveTo>
                <a:lnTo>
                  <a:pt x="322739" y="195739"/>
                </a:lnTo>
                <a:cubicBezTo>
                  <a:pt x="315436" y="203041"/>
                  <a:pt x="304562" y="205184"/>
                  <a:pt x="295037" y="201216"/>
                </a:cubicBezTo>
                <a:cubicBezTo>
                  <a:pt x="285512" y="197247"/>
                  <a:pt x="279400" y="188039"/>
                  <a:pt x="279400" y="177800"/>
                </a:cubicBezTo>
                <a:lnTo>
                  <a:pt x="279400" y="127000"/>
                </a:ln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279400" y="76200"/>
                </a:lnTo>
                <a:lnTo>
                  <a:pt x="279400" y="25400"/>
                </a:lnTo>
                <a:cubicBezTo>
                  <a:pt x="279400" y="15161"/>
                  <a:pt x="285591" y="5874"/>
                  <a:pt x="295116" y="1905"/>
                </a:cubicBezTo>
                <a:cubicBezTo>
                  <a:pt x="304641" y="-2064"/>
                  <a:pt x="315516" y="159"/>
                  <a:pt x="322818" y="7382"/>
                </a:cubicBezTo>
                <a:lnTo>
                  <a:pt x="399018" y="83582"/>
                </a:lnTo>
                <a:cubicBezTo>
                  <a:pt x="408940" y="93504"/>
                  <a:pt x="408940" y="109617"/>
                  <a:pt x="399018" y="119539"/>
                </a:cubicBezTo>
                <a:close/>
                <a:moveTo>
                  <a:pt x="83582" y="398939"/>
                </a:moveTo>
                <a:lnTo>
                  <a:pt x="7382" y="322739"/>
                </a:lnTo>
                <a:cubicBezTo>
                  <a:pt x="-2540" y="312817"/>
                  <a:pt x="-2540" y="296704"/>
                  <a:pt x="7382" y="286782"/>
                </a:cubicBezTo>
                <a:lnTo>
                  <a:pt x="83582" y="210582"/>
                </a:lnTo>
                <a:cubicBezTo>
                  <a:pt x="90884" y="203279"/>
                  <a:pt x="101759" y="201136"/>
                  <a:pt x="111284" y="205105"/>
                </a:cubicBezTo>
                <a:cubicBezTo>
                  <a:pt x="120809" y="209074"/>
                  <a:pt x="127000" y="218361"/>
                  <a:pt x="127000" y="228600"/>
                </a:cubicBezTo>
                <a:lnTo>
                  <a:pt x="12700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cubicBezTo>
                  <a:pt x="406400" y="318849"/>
                  <a:pt x="395049" y="330200"/>
                  <a:pt x="381000" y="330200"/>
                </a:cubicBezTo>
                <a:lnTo>
                  <a:pt x="127000" y="330200"/>
                </a:lnTo>
                <a:lnTo>
                  <a:pt x="127000" y="381000"/>
                </a:lnTo>
                <a:cubicBezTo>
                  <a:pt x="127000" y="391239"/>
                  <a:pt x="120809" y="400526"/>
                  <a:pt x="111284" y="404495"/>
                </a:cubicBezTo>
                <a:cubicBezTo>
                  <a:pt x="101759" y="408464"/>
                  <a:pt x="90884" y="406241"/>
                  <a:pt x="83582" y="39901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582400" y="22352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 Relay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27686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Forwards DHCP messages between clients and servers across different subnets. Enables a single server to serve multiple network segments.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508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PARAMETERS PROVIDED BY DHCP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588000"/>
            <a:ext cx="2794000" cy="101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5588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Address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host identifier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0" y="5588000"/>
            <a:ext cx="2794000" cy="101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3" name="Text 21"/>
          <p:cNvSpPr/>
          <p:nvPr/>
        </p:nvSpPr>
        <p:spPr>
          <a:xfrm>
            <a:off x="3810000" y="5588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Subnet Mask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boundary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0" y="5588000"/>
            <a:ext cx="2794000" cy="101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5588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Gateway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Router for external access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906000" y="5588000"/>
            <a:ext cx="2794000" cy="101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7" name="Text 25"/>
          <p:cNvSpPr/>
          <p:nvPr/>
        </p:nvSpPr>
        <p:spPr>
          <a:xfrm>
            <a:off x="9906000" y="5588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Server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resolution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954000" y="5588000"/>
            <a:ext cx="2540000" cy="101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9" name="Text 27"/>
          <p:cNvSpPr/>
          <p:nvPr/>
        </p:nvSpPr>
        <p:spPr>
          <a:xfrm>
            <a:off x="12954000" y="5588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Lease Time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 validity period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6985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Benefits: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Eliminates manual IP configuration, prevents address conflicts, enables efficient address reuse, and simplifies network administration.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DORA Process — How DHCP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3429000" cy="3556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224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066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438400"/>
            <a:ext cx="292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broadcasts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DHCPDISCOVER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message to locate available servers. Sent as broadcast since client doesn't know the server address yet.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8000" y="27940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826000" y="1270000"/>
            <a:ext cx="3429000" cy="355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2" name="Text 10"/>
          <p:cNvSpPr/>
          <p:nvPr/>
        </p:nvSpPr>
        <p:spPr>
          <a:xfrm>
            <a:off x="5080000" y="14224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80000" y="20066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80000" y="2438400"/>
            <a:ext cx="292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responds with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DHCPOFFER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containing proposed IP, subnet mask, gateway, DNS, and lease duration.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27940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890000" y="1270000"/>
            <a:ext cx="3429000" cy="355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4224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20066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2438400"/>
            <a:ext cx="292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selects one offer and broadcasts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DHCPREQUEST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confirm acceptance and inform other servers.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446000" y="27940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2954000" y="1270000"/>
            <a:ext cx="2540000" cy="3556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22" name="Text 20"/>
          <p:cNvSpPr/>
          <p:nvPr/>
        </p:nvSpPr>
        <p:spPr>
          <a:xfrm>
            <a:off x="13208000" y="14224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08000" y="2006600"/>
            <a:ext cx="203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08000" y="2438400"/>
            <a:ext cx="20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sends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DHCPACK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finalize the lease and deliver full configuration.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520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DHCP MESSAGES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715000"/>
            <a:ext cx="4699000" cy="1143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58166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DHCPNAK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6146800"/>
            <a:ext cx="419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acknowledgment — server rejects the client's request.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78500" y="5715000"/>
            <a:ext cx="4699000" cy="1143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30" name="Text 28"/>
          <p:cNvSpPr/>
          <p:nvPr/>
        </p:nvSpPr>
        <p:spPr>
          <a:xfrm>
            <a:off x="6032500" y="58166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DHCPRelease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32500" y="6146800"/>
            <a:ext cx="419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returns IP to server before lease expires.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795000" y="5715000"/>
            <a:ext cx="4699000" cy="1143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33" name="Text 31"/>
          <p:cNvSpPr/>
          <p:nvPr/>
        </p:nvSpPr>
        <p:spPr>
          <a:xfrm>
            <a:off x="11049000" y="58166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DHCPInform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049000" y="6146800"/>
            <a:ext cx="419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requests settings without obtaining a new IP.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7239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Lease renewal: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At 50% of lease time, the client attempts to renew. At 87.5%, it broadcasts a new DHCPREQUEST. If expired, the DORA process restarts.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hlp66oxrsclq/mnt/agents/output/ict-week7/images/7_Optic_Fiber_Stock_Photos_Images_and.png">    </p:cNvPr>
          <p:cNvPicPr>
            <a:picLocks noChangeAspect="1"/>
          </p:cNvPicPr>
          <p:nvPr/>
        </p:nvPicPr>
        <p:blipFill>
          <a:blip r:embed="rId1"/>
          <a:srcRect l="222" r="222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A36">
                  <a:alpha val="91000"/>
                </a:srgbClr>
              </a:gs>
              <a:gs pos="60000">
                <a:srgbClr val="1E2A36">
                  <a:alpha val="82000"/>
                </a:srgbClr>
              </a:gs>
              <a:gs pos="100000">
                <a:srgbClr val="1E2A36">
                  <a:alpha val="5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270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267200"/>
            <a:ext cx="762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IP Addresses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Reserved address spaces for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internal networks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RFC 1918 — Private IP Address Ranges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143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RFC 1918 defines three ranges of IPv4 addresses reserved for private networks. These addresses are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routable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 the public Internet.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032000"/>
            <a:ext cx="4699000" cy="3556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1844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5654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10.0.0.0 / 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0480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10.0.0.0 — 10.255.255.255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Prefix: 10.0.0.0/8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Addresses: 16,777,216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Suitable for very large organizations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2032000"/>
            <a:ext cx="4699000" cy="355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0" y="21844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5654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172.16.0.0 / 12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30480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172.16.0.0 — 172.31.255.255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Prefix: 172.16.0.0/12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Addresses: 1,048,576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Suitable for medium-sized organizations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2032000"/>
            <a:ext cx="4699000" cy="355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0" y="21844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25654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192.168.0.0 / 16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30480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192.168.0.0 — 192.168.255.255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Prefix: 192.168.0.0/16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Addresses: 65,536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Commonly used in home and small office networks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969000"/>
            <a:ext cx="14732000" cy="1524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5969000"/>
            <a:ext cx="50800" cy="1524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800" y="6096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Private IP Addresses?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6477000"/>
            <a:ext cx="14173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IP addresses help conserve the limited IPv4 address space. With only ~4.3 billion IPv4 addresses available, NAT allows billions of devices to share a much smaller pool of public addresses. Organizations can freely use private addresses internally without coordination with IANA.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hlp66oxrsclq/mnt/agents/output/ict-week7/images/3_Free_Futuristic_Server_Hallway_Image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A36">
                  <a:alpha val="91000"/>
                </a:srgbClr>
              </a:gs>
              <a:gs pos="60000">
                <a:srgbClr val="1E2A36">
                  <a:alpha val="82000"/>
                </a:srgbClr>
              </a:gs>
              <a:gs pos="100000">
                <a:srgbClr val="1E2A36">
                  <a:alpha val="5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270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267200"/>
            <a:ext cx="889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Address Translation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Bridging private networks to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public Internet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 — Translating Private to Public IPs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19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NAT WORKS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727200"/>
            <a:ext cx="7112000" cy="1270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8" name="Shape 6"/>
          <p:cNvSpPr/>
          <p:nvPr/>
        </p:nvSpPr>
        <p:spPr>
          <a:xfrm>
            <a:off x="889000" y="1854200"/>
            <a:ext cx="355600" cy="355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889000" y="18542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18034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Outgoing: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Device sends packet with private IP. NAT router replaces the private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IP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its public IP before forwarding to the Internet.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02100" y="3048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3429000"/>
            <a:ext cx="7112000" cy="1270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889000" y="3556000"/>
            <a:ext cx="355600" cy="355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3556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97000" y="35052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Incoming: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Response arrives at router's public IP. NAT looks up its translation table and replaces the public IP with the correct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IP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08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 TERMINOLOGY</a:t>
            </a:r>
            <a:endParaRPr lang="en-US" sz="1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537200"/>
          <a:ext cx="7112000" cy="2540000"/>
        </p:xfrm>
        <a:graphic>
          <a:graphicData uri="http://schemas.openxmlformats.org/drawingml/2006/table">
            <a:tbl>
              <a:tblPr/>
              <a:tblGrid>
                <a:gridCol w="2844800"/>
                <a:gridCol w="42672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Term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Definition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Inside Local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 IP of the internal host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Inside Global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IP representing internal hosts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Outside Global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IP of external hosts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Outside Local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External IP as seen from inside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8382000" y="1219200"/>
            <a:ext cx="7112000" cy="6858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19" name="Text 16"/>
          <p:cNvSpPr/>
          <p:nvPr/>
        </p:nvSpPr>
        <p:spPr>
          <a:xfrm>
            <a:off x="8636000" y="1397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spc="1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NAT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655050" y="2032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103168"/>
                </a:lnTo>
                <a:cubicBezTo>
                  <a:pt x="266700" y="93047"/>
                  <a:pt x="262711" y="83344"/>
                  <a:pt x="255568" y="76200"/>
                </a:cubicBezTo>
                <a:lnTo>
                  <a:pt x="209550" y="30182"/>
                </a:lnTo>
                <a:cubicBezTo>
                  <a:pt x="202406" y="23039"/>
                  <a:pt x="192703" y="19050"/>
                  <a:pt x="182582" y="19050"/>
                </a:cubicBezTo>
                <a:lnTo>
                  <a:pt x="38100" y="19050"/>
                </a:lnTo>
                <a:close/>
                <a:moveTo>
                  <a:pt x="57150" y="76200"/>
                </a:moveTo>
                <a:cubicBezTo>
                  <a:pt x="57150" y="65663"/>
                  <a:pt x="65663" y="57150"/>
                  <a:pt x="76200" y="57150"/>
                </a:cubicBezTo>
                <a:lnTo>
                  <a:pt x="171450" y="57150"/>
                </a:lnTo>
                <a:cubicBezTo>
                  <a:pt x="181987" y="57150"/>
                  <a:pt x="190500" y="65663"/>
                  <a:pt x="190500" y="76200"/>
                </a:cubicBezTo>
                <a:lnTo>
                  <a:pt x="190500" y="114300"/>
                </a:lnTo>
                <a:cubicBezTo>
                  <a:pt x="190500" y="124837"/>
                  <a:pt x="181987" y="133350"/>
                  <a:pt x="171450" y="133350"/>
                </a:cubicBezTo>
                <a:lnTo>
                  <a:pt x="76200" y="133350"/>
                </a:lnTo>
                <a:cubicBezTo>
                  <a:pt x="65663" y="133350"/>
                  <a:pt x="57150" y="124837"/>
                  <a:pt x="57150" y="114300"/>
                </a:cubicBezTo>
                <a:lnTo>
                  <a:pt x="57150" y="76200"/>
                </a:lnTo>
                <a:close/>
                <a:moveTo>
                  <a:pt x="133350" y="171450"/>
                </a:moveTo>
                <a:cubicBezTo>
                  <a:pt x="154378" y="171450"/>
                  <a:pt x="171450" y="188522"/>
                  <a:pt x="171450" y="209550"/>
                </a:cubicBezTo>
                <a:cubicBezTo>
                  <a:pt x="171450" y="230578"/>
                  <a:pt x="154378" y="247650"/>
                  <a:pt x="133350" y="247650"/>
                </a:cubicBezTo>
                <a:cubicBezTo>
                  <a:pt x="112322" y="247650"/>
                  <a:pt x="95250" y="230578"/>
                  <a:pt x="95250" y="209550"/>
                </a:cubicBezTo>
                <a:cubicBezTo>
                  <a:pt x="95250" y="188522"/>
                  <a:pt x="112322" y="171450"/>
                  <a:pt x="133350" y="1714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1" name="Text 18"/>
          <p:cNvSpPr/>
          <p:nvPr/>
        </p:nvSpPr>
        <p:spPr>
          <a:xfrm>
            <a:off x="9093200" y="19812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Conserves IPv4 Addresses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Multiple devices share one or few public IPs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636000" y="292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3" name="Text 20"/>
          <p:cNvSpPr/>
          <p:nvPr/>
        </p:nvSpPr>
        <p:spPr>
          <a:xfrm>
            <a:off x="9093200" y="28702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Hides internal network structure from external view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636000" y="381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0387" y="20479"/>
                </a:moveTo>
                <a:cubicBezTo>
                  <a:pt x="247531" y="17502"/>
                  <a:pt x="255687" y="19169"/>
                  <a:pt x="261164" y="24586"/>
                </a:cubicBezTo>
                <a:lnTo>
                  <a:pt x="299264" y="62686"/>
                </a:lnTo>
                <a:cubicBezTo>
                  <a:pt x="302835" y="66258"/>
                  <a:pt x="304860" y="71080"/>
                  <a:pt x="304860" y="76140"/>
                </a:cubicBezTo>
                <a:cubicBezTo>
                  <a:pt x="304860" y="81201"/>
                  <a:pt x="302835" y="86023"/>
                  <a:pt x="299264" y="89595"/>
                </a:cubicBezTo>
                <a:lnTo>
                  <a:pt x="261164" y="127695"/>
                </a:lnTo>
                <a:cubicBezTo>
                  <a:pt x="255687" y="133171"/>
                  <a:pt x="247531" y="134779"/>
                  <a:pt x="240387" y="131802"/>
                </a:cubicBezTo>
                <a:cubicBezTo>
                  <a:pt x="233243" y="128826"/>
                  <a:pt x="228600" y="121980"/>
                  <a:pt x="228600" y="114300"/>
                </a:cubicBezTo>
                <a:lnTo>
                  <a:pt x="228600" y="95250"/>
                </a:lnTo>
                <a:lnTo>
                  <a:pt x="209550" y="95250"/>
                </a:lnTo>
                <a:cubicBezTo>
                  <a:pt x="203537" y="95250"/>
                  <a:pt x="197882" y="98048"/>
                  <a:pt x="194310" y="102870"/>
                </a:cubicBezTo>
                <a:lnTo>
                  <a:pt x="175022" y="128588"/>
                </a:lnTo>
                <a:lnTo>
                  <a:pt x="151209" y="96857"/>
                </a:lnTo>
                <a:lnTo>
                  <a:pt x="163830" y="80010"/>
                </a:lnTo>
                <a:cubicBezTo>
                  <a:pt x="174605" y="65603"/>
                  <a:pt x="191572" y="57150"/>
                  <a:pt x="209550" y="57150"/>
                </a:cubicBezTo>
                <a:lnTo>
                  <a:pt x="228600" y="57150"/>
                </a:lnTo>
                <a:lnTo>
                  <a:pt x="228600" y="38100"/>
                </a:lnTo>
                <a:cubicBezTo>
                  <a:pt x="228600" y="30420"/>
                  <a:pt x="233243" y="23455"/>
                  <a:pt x="240387" y="20479"/>
                </a:cubicBezTo>
                <a:close/>
                <a:moveTo>
                  <a:pt x="91678" y="176212"/>
                </a:moveTo>
                <a:lnTo>
                  <a:pt x="115491" y="207943"/>
                </a:lnTo>
                <a:lnTo>
                  <a:pt x="102870" y="224790"/>
                </a:lnTo>
                <a:cubicBezTo>
                  <a:pt x="92095" y="239197"/>
                  <a:pt x="75128" y="247650"/>
                  <a:pt x="57150" y="247650"/>
                </a:cubicBezTo>
                <a:lnTo>
                  <a:pt x="19050" y="247650"/>
                </a:lnTo>
                <a:cubicBezTo>
                  <a:pt x="8513" y="247650"/>
                  <a:pt x="0" y="239137"/>
                  <a:pt x="0" y="228600"/>
                </a:cubicBezTo>
                <a:cubicBezTo>
                  <a:pt x="0" y="218063"/>
                  <a:pt x="8513" y="209550"/>
                  <a:pt x="19050" y="209550"/>
                </a:cubicBezTo>
                <a:lnTo>
                  <a:pt x="57150" y="209550"/>
                </a:lnTo>
                <a:cubicBezTo>
                  <a:pt x="63163" y="209550"/>
                  <a:pt x="68818" y="206752"/>
                  <a:pt x="72390" y="201930"/>
                </a:cubicBezTo>
                <a:lnTo>
                  <a:pt x="91678" y="176212"/>
                </a:lnTo>
                <a:close/>
                <a:moveTo>
                  <a:pt x="261104" y="280154"/>
                </a:moveTo>
                <a:cubicBezTo>
                  <a:pt x="255627" y="285631"/>
                  <a:pt x="247471" y="287238"/>
                  <a:pt x="240328" y="284262"/>
                </a:cubicBezTo>
                <a:cubicBezTo>
                  <a:pt x="233184" y="281285"/>
                  <a:pt x="228600" y="274380"/>
                  <a:pt x="228600" y="266700"/>
                </a:cubicBezTo>
                <a:lnTo>
                  <a:pt x="228600" y="247650"/>
                </a:lnTo>
                <a:lnTo>
                  <a:pt x="209550" y="247650"/>
                </a:lnTo>
                <a:cubicBezTo>
                  <a:pt x="191572" y="247650"/>
                  <a:pt x="174605" y="239197"/>
                  <a:pt x="163830" y="224790"/>
                </a:cubicBezTo>
                <a:lnTo>
                  <a:pt x="72390" y="102870"/>
                </a:lnTo>
                <a:cubicBezTo>
                  <a:pt x="68818" y="98048"/>
                  <a:pt x="63163" y="95250"/>
                  <a:pt x="57150" y="95250"/>
                </a:cubicBez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57150" y="57150"/>
                </a:lnTo>
                <a:cubicBezTo>
                  <a:pt x="75128" y="57150"/>
                  <a:pt x="92095" y="65603"/>
                  <a:pt x="102870" y="80010"/>
                </a:cubicBezTo>
                <a:lnTo>
                  <a:pt x="194310" y="201930"/>
                </a:lnTo>
                <a:cubicBezTo>
                  <a:pt x="197882" y="206752"/>
                  <a:pt x="203537" y="209550"/>
                  <a:pt x="209550" y="209550"/>
                </a:cubicBezTo>
                <a:lnTo>
                  <a:pt x="228600" y="209550"/>
                </a:lnTo>
                <a:lnTo>
                  <a:pt x="228600" y="190500"/>
                </a:lnTo>
                <a:cubicBezTo>
                  <a:pt x="228600" y="182820"/>
                  <a:pt x="233243" y="175855"/>
                  <a:pt x="240387" y="172879"/>
                </a:cubicBezTo>
                <a:cubicBezTo>
                  <a:pt x="247531" y="169902"/>
                  <a:pt x="255687" y="171569"/>
                  <a:pt x="261164" y="176986"/>
                </a:cubicBezTo>
                <a:lnTo>
                  <a:pt x="299264" y="215086"/>
                </a:lnTo>
                <a:cubicBezTo>
                  <a:pt x="302835" y="218658"/>
                  <a:pt x="304860" y="223480"/>
                  <a:pt x="304860" y="228540"/>
                </a:cubicBezTo>
                <a:cubicBezTo>
                  <a:pt x="304860" y="233601"/>
                  <a:pt x="302835" y="238423"/>
                  <a:pt x="299264" y="241995"/>
                </a:cubicBezTo>
                <a:lnTo>
                  <a:pt x="261164" y="280095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5" name="Text 22"/>
          <p:cNvSpPr/>
          <p:nvPr/>
        </p:nvSpPr>
        <p:spPr>
          <a:xfrm>
            <a:off x="9093200" y="37592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Flexibility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Internal IP changes don't affect external communication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636000" y="469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38100"/>
                </a:moveTo>
                <a:cubicBezTo>
                  <a:pt x="11370" y="38100"/>
                  <a:pt x="4405" y="42743"/>
                  <a:pt x="1429" y="49887"/>
                </a:cubicBezTo>
                <a:cubicBezTo>
                  <a:pt x="-1548" y="57031"/>
                  <a:pt x="119" y="65187"/>
                  <a:pt x="5596" y="70604"/>
                </a:cubicBezTo>
                <a:lnTo>
                  <a:pt x="114300" y="179368"/>
                </a:lnTo>
                <a:lnTo>
                  <a:pt x="114300" y="247650"/>
                </a:lnTo>
                <a:cubicBezTo>
                  <a:pt x="114300" y="252710"/>
                  <a:pt x="116324" y="257532"/>
                  <a:pt x="119896" y="261104"/>
                </a:cubicBezTo>
                <a:lnTo>
                  <a:pt x="157996" y="299204"/>
                </a:lnTo>
                <a:cubicBezTo>
                  <a:pt x="163473" y="304681"/>
                  <a:pt x="171629" y="306288"/>
                  <a:pt x="178772" y="303312"/>
                </a:cubicBezTo>
                <a:cubicBezTo>
                  <a:pt x="185916" y="300335"/>
                  <a:pt x="190500" y="293430"/>
                  <a:pt x="190500" y="285750"/>
                </a:cubicBezTo>
                <a:lnTo>
                  <a:pt x="190500" y="179368"/>
                </a:lnTo>
                <a:lnTo>
                  <a:pt x="299204" y="70664"/>
                </a:lnTo>
                <a:cubicBezTo>
                  <a:pt x="304681" y="65187"/>
                  <a:pt x="306288" y="57031"/>
                  <a:pt x="303312" y="49887"/>
                </a:cubicBezTo>
                <a:cubicBezTo>
                  <a:pt x="300335" y="42743"/>
                  <a:pt x="293430" y="38100"/>
                  <a:pt x="285750" y="38100"/>
                </a:cubicBezTo>
                <a:lnTo>
                  <a:pt x="19050" y="3810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7" name="Text 24"/>
          <p:cNvSpPr/>
          <p:nvPr/>
        </p:nvSpPr>
        <p:spPr>
          <a:xfrm>
            <a:off x="9093200" y="46482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Filtering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Controls which internal addresses access external networks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636000" y="5715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 is implemented on routers, firewalls, and dedicated NAT devices. It operates at the network layer (Layer 3) of the OSI model.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200" kern="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50" kern="0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NAT — Static, Dynamic &amp; PAT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398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4699000" cy="5334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4699000" cy="4572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2700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NAT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19304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One-to-One Mapping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3622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private IP is permanently mapped to one public IP. Used for servers that must be accessible from the Internet (web servers, email servers).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1402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 and predictable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Allows inbound connections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52832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one public IP per device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 cost-effective for large networks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8500" y="1270000"/>
            <a:ext cx="4699000" cy="5334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14" name="Shape 12"/>
          <p:cNvSpPr/>
          <p:nvPr/>
        </p:nvSpPr>
        <p:spPr>
          <a:xfrm>
            <a:off x="5778500" y="1270000"/>
            <a:ext cx="4699000" cy="457200"/>
          </a:xfrm>
          <a:prstGeom prst="rect">
            <a:avLst/>
          </a:prstGeom>
          <a:solidFill>
            <a:srgbClr val="7A8B7A"/>
          </a:solidFill>
          <a:ln/>
        </p:spPr>
      </p:sp>
      <p:sp>
        <p:nvSpPr>
          <p:cNvPr id="15" name="Text 13"/>
          <p:cNvSpPr/>
          <p:nvPr/>
        </p:nvSpPr>
        <p:spPr>
          <a:xfrm>
            <a:off x="5778500" y="12700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NAT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19304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One-to-Many (Pool)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0" y="23622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Maps private IPs to a pool of public IPs temporarily. Public IPs are assigned as needed and returned to the pool when sessions end.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2500" y="41402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efficient than Static NAT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Suitable for limited users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2500" y="52832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Still requires multiple public IPs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7A8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New requests denied if pool exhausted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95000" y="1270000"/>
            <a:ext cx="4699000" cy="5334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95000" y="1270000"/>
            <a:ext cx="4699000" cy="4572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2" name="Text 20"/>
          <p:cNvSpPr/>
          <p:nvPr/>
        </p:nvSpPr>
        <p:spPr>
          <a:xfrm>
            <a:off x="10795000" y="12700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 / NAT OVERLOAD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0" y="19304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Many-to-One (Ports)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49000" y="23622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Allows multiple private IPs to share a single public IP using different port numbers. Most commonly used NAT type today.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49000" y="41402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Highly cost-effective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Supports thousands of users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49000" y="52832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break some applications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direct inbound connections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921500"/>
            <a:ext cx="14732000" cy="10160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6921500"/>
            <a:ext cx="50800" cy="1016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1066800" y="7048500"/>
            <a:ext cx="1417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Common: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 (NAT Overload) is used in virtually all home networks and most enterprise networks because it maximizes the efficiency of limited public IPv4 addresses.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8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hlp66oxrsclq/mnt/agents/output/ict-week7/images/9_Abstract_network_topology_background.png">    </p:cNvPr>
          <p:cNvPicPr>
            <a:picLocks noChangeAspect="1"/>
          </p:cNvPicPr>
          <p:nvPr/>
        </p:nvPicPr>
        <p:blipFill>
          <a:blip r:embed="rId1"/>
          <a:srcRect l="0" r="0" t="7370" b="737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A36">
                  <a:alpha val="94000"/>
                </a:srgbClr>
              </a:gs>
              <a:gs pos="50000">
                <a:srgbClr val="1E2A36">
                  <a:alpha val="91000"/>
                </a:srgbClr>
              </a:gs>
              <a:gs pos="100000">
                <a:srgbClr val="1E2A36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286000"/>
            <a:ext cx="2540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2590800"/>
            <a:ext cx="1270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858000" y="3429000"/>
            <a:ext cx="2540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1778000" y="3810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TCP/IP protocol suite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its four layers forms the backbone of Internet communication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78000" y="4699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layer has specific functions — from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transmission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services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78000" y="5588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DHCP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automates IP configuration, saving time and preventing conflicts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78000" y="6477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IPs and NAT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 billions of devices to connect with limited IPv4 space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78000" y="7874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FFFFF">
                    <a:alpha val="3764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 OF INFORMATION AND COMMUNICATION TECHNOLOGIES — WEEK 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Information and Communication Technologies - Week 7</dc:title>
  <dc:subject>Applications of Information and Communication Technologies - Week 7</dc:subject>
  <dc:creator>Kimi</dc:creator>
  <cp:lastModifiedBy>Kimi</cp:lastModifiedBy>
  <cp:revision>1</cp:revision>
  <dcterms:created xsi:type="dcterms:W3CDTF">2026-05-25T08:56:14Z</dcterms:created>
  <dcterms:modified xsi:type="dcterms:W3CDTF">2026-05-25T08:56:14Z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{"Label":"Applications of Information and Communication Technologies - Week 7","ContentProducer":"001191110108MACG2KBH8F10000","ProduceID":"19e5e49b-1b12-8f78-8000-0000dcfacd28","ReservedCode1":"","ContentPropagator":"001191110108MACG2KBH8F20000","PropagateID":"19e5e49b-1b12-8f78-8000-0000dcfacd28","ReservedCode2":""}</vt:lpwstr>
  </property>
</Properties>
</file>