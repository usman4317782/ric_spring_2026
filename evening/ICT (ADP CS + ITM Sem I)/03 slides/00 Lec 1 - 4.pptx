
<file path=[Content_Types].xml><?xml version="1.0" encoding="utf-8"?>
<Types xmlns="http://schemas.openxmlformats.org/package/2006/content-types">
  <Default Extension="png" ContentType="image/png"/>
  <Default Extension="webp" ContentType="image/webp"/>
  <Default Extension="rels" ContentType="application/vnd.openxmlformats-package.relationships+xml"/>
  <Default Extension="xml" ContentType="application/xml"/>
  <Default Extension="fntdata" ContentType="application/x-fontdata"/>
  <Default Extension="gif" ContentType="image/g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embeddedFontLst>
    <p:embeddedFont>
      <p:font typeface="Liter" panose="020B0604020202020204" charset="0"/>
      <p:regular r:id="rId33"/>
    </p:embeddedFont>
    <p:embeddedFont>
      <p:font typeface="Calibri" panose="020F0502020204030204" pitchFamily="34" charset="0"/>
      <p:regular r:id="rId34"/>
      <p:bold r:id="rId35"/>
      <p:italic r:id="rId36"/>
      <p:boldItalic r:id="rId37"/>
    </p:embeddedFont>
    <p:embeddedFont>
      <p:font typeface="微软雅黑" panose="020B0503020204020204" pitchFamily="34" charset="-122"/>
      <p:regular r:id="rId38"/>
      <p:bold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167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webp"/><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919"/>
        </a:solidFill>
        <a:effectLst/>
      </p:bgPr>
    </p:bg>
    <p:spTree>
      <p:nvGrpSpPr>
        <p:cNvPr id="1" name=""/>
        <p:cNvGrpSpPr/>
        <p:nvPr/>
      </p:nvGrpSpPr>
      <p:grpSpPr>
        <a:xfrm>
          <a:off x="0" y="0"/>
          <a:ext cx="0" cy="0"/>
          <a:chOff x="0" y="0"/>
          <a:chExt cx="0" cy="0"/>
        </a:xfrm>
      </p:grpSpPr>
      <p:pic>
        <p:nvPicPr>
          <p:cNvPr id="2" name="Image 0" descr="https://kimi-web-img.moonshot.cn/img/www.founderjar.com/69ad269610a697aca06bbb1362638a7149806795.png"/>
          <p:cNvPicPr>
            <a:picLocks noChangeAspect="1"/>
          </p:cNvPicPr>
          <p:nvPr/>
        </p:nvPicPr>
        <p:blipFill>
          <a:blip r:embed="rId3">
            <a:alphaModFix amt="30000"/>
          </a:blip>
          <a:srcRect t="8513" b="85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91919">
                  <a:alpha val="95000"/>
                </a:srgbClr>
              </a:gs>
              <a:gs pos="50000">
                <a:srgbClr val="191919">
                  <a:alpha val="90000"/>
                </a:srgbClr>
              </a:gs>
              <a:gs pos="100000">
                <a:srgbClr val="6366F1">
                  <a:alpha val="20000"/>
                </a:srgbClr>
              </a:gs>
            </a:gsLst>
            <a:lin ang="2700000" scaled="1"/>
          </a:gradFill>
          <a:ln/>
        </p:spPr>
      </p:sp>
      <p:sp>
        <p:nvSpPr>
          <p:cNvPr id="4" name="Shape 1"/>
          <p:cNvSpPr/>
          <p:nvPr/>
        </p:nvSpPr>
        <p:spPr>
          <a:xfrm>
            <a:off x="5039439" y="624840"/>
            <a:ext cx="2112645" cy="426720"/>
          </a:xfrm>
          <a:custGeom>
            <a:avLst/>
            <a:gdLst/>
            <a:ahLst/>
            <a:cxnLst/>
            <a:rect l="l" t="t" r="r" b="b"/>
            <a:pathLst>
              <a:path w="2112645" h="426720">
                <a:moveTo>
                  <a:pt x="213360" y="0"/>
                </a:moveTo>
                <a:lnTo>
                  <a:pt x="1899285" y="0"/>
                </a:lnTo>
                <a:cubicBezTo>
                  <a:pt x="2017120" y="0"/>
                  <a:pt x="2112645" y="95525"/>
                  <a:pt x="2112645" y="213360"/>
                </a:cubicBezTo>
                <a:lnTo>
                  <a:pt x="2112645" y="213360"/>
                </a:lnTo>
                <a:cubicBezTo>
                  <a:pt x="2112645" y="331195"/>
                  <a:pt x="2017120" y="426720"/>
                  <a:pt x="1899285" y="426720"/>
                </a:cubicBezTo>
                <a:lnTo>
                  <a:pt x="213360" y="426720"/>
                </a:lnTo>
                <a:cubicBezTo>
                  <a:pt x="95603" y="426720"/>
                  <a:pt x="0" y="331117"/>
                  <a:pt x="0" y="213360"/>
                </a:cubicBezTo>
                <a:lnTo>
                  <a:pt x="0" y="213360"/>
                </a:lnTo>
                <a:cubicBezTo>
                  <a:pt x="0" y="95603"/>
                  <a:pt x="95603" y="0"/>
                  <a:pt x="213360" y="0"/>
                </a:cubicBezTo>
                <a:close/>
              </a:path>
            </a:pathLst>
          </a:custGeom>
          <a:solidFill>
            <a:srgbClr val="6366F1">
              <a:alpha val="20000"/>
            </a:srgbClr>
          </a:solidFill>
          <a:ln w="10160">
            <a:solidFill>
              <a:srgbClr val="6366F1">
                <a:alpha val="40000"/>
              </a:srgbClr>
            </a:solidFill>
            <a:prstDash val="solid"/>
          </a:ln>
        </p:spPr>
      </p:sp>
      <p:sp>
        <p:nvSpPr>
          <p:cNvPr id="5" name="Text 2"/>
          <p:cNvSpPr/>
          <p:nvPr/>
        </p:nvSpPr>
        <p:spPr>
          <a:xfrm>
            <a:off x="5228987" y="712470"/>
            <a:ext cx="1733907" cy="243840"/>
          </a:xfrm>
          <a:prstGeom prst="rect">
            <a:avLst/>
          </a:prstGeom>
          <a:noFill/>
          <a:ln/>
        </p:spPr>
        <p:txBody>
          <a:bodyPr wrap="square" lIns="0" tIns="0" rIns="0" bIns="0" rtlCol="0" anchor="ctr"/>
          <a:lstStyle/>
          <a:p>
            <a:pPr algn="ctr">
              <a:lnSpc>
                <a:spcPct val="130000"/>
              </a:lnSpc>
            </a:pPr>
            <a:r>
              <a:rPr lang="en-US" sz="1350" b="1" kern="0" spc="68" dirty="0">
                <a:solidFill>
                  <a:srgbClr val="6366F1"/>
                </a:solidFill>
                <a:latin typeface="Liter" pitchFamily="34" charset="0"/>
                <a:ea typeface="Liter" pitchFamily="34" charset="-122"/>
                <a:cs typeface="Liter" pitchFamily="34" charset="-120"/>
              </a:rPr>
              <a:t>BEGINNER'S GUIDE</a:t>
            </a:r>
            <a:endParaRPr lang="en-US" sz="1600" dirty="0"/>
          </a:p>
        </p:txBody>
      </p:sp>
      <p:sp>
        <p:nvSpPr>
          <p:cNvPr id="6" name="Text 3"/>
          <p:cNvSpPr/>
          <p:nvPr/>
        </p:nvSpPr>
        <p:spPr>
          <a:xfrm>
            <a:off x="1657350" y="1588770"/>
            <a:ext cx="8877300" cy="3429000"/>
          </a:xfrm>
          <a:prstGeom prst="rect">
            <a:avLst/>
          </a:prstGeom>
          <a:noFill/>
          <a:ln/>
        </p:spPr>
        <p:txBody>
          <a:bodyPr wrap="square" lIns="0" tIns="0" rIns="0" bIns="0" rtlCol="0" anchor="ctr"/>
          <a:lstStyle/>
          <a:p>
            <a:pPr algn="ctr">
              <a:lnSpc>
                <a:spcPct val="100000"/>
              </a:lnSpc>
            </a:pPr>
            <a:r>
              <a:rPr lang="en-US" sz="5400" b="1" dirty="0">
                <a:solidFill>
                  <a:srgbClr val="EFEFEF"/>
                </a:solidFill>
                <a:latin typeface="Liter" pitchFamily="34" charset="0"/>
                <a:ea typeface="Liter" pitchFamily="34" charset="-122"/>
                <a:cs typeface="Liter" pitchFamily="34" charset="-120"/>
              </a:rPr>
              <a:t>Applications of</a:t>
            </a:r>
            <a:endParaRPr lang="en-US" sz="1600" dirty="0"/>
          </a:p>
          <a:p>
            <a:pPr algn="ctr">
              <a:lnSpc>
                <a:spcPct val="100000"/>
              </a:lnSpc>
            </a:pPr>
            <a:r>
              <a:rPr lang="en-US" sz="5400" b="1" dirty="0">
                <a:solidFill>
                  <a:srgbClr val="6366F1"/>
                </a:solidFill>
                <a:latin typeface="Liter" pitchFamily="34" charset="0"/>
                <a:ea typeface="Liter" pitchFamily="34" charset="-122"/>
                <a:cs typeface="Liter" pitchFamily="34" charset="-120"/>
              </a:rPr>
              <a:t>Information andCommunication Technologies</a:t>
            </a:r>
            <a:endParaRPr lang="en-US" sz="1600" dirty="0"/>
          </a:p>
        </p:txBody>
      </p:sp>
      <p:sp>
        <p:nvSpPr>
          <p:cNvPr id="7" name="Text 4"/>
          <p:cNvSpPr/>
          <p:nvPr/>
        </p:nvSpPr>
        <p:spPr>
          <a:xfrm>
            <a:off x="2988588" y="5246370"/>
            <a:ext cx="6210300" cy="304800"/>
          </a:xfrm>
          <a:prstGeom prst="rect">
            <a:avLst/>
          </a:prstGeom>
          <a:noFill/>
          <a:ln/>
        </p:spPr>
        <p:txBody>
          <a:bodyPr wrap="square" lIns="0" tIns="0" rIns="0" bIns="0" rtlCol="0" anchor="ctr"/>
          <a:lstStyle/>
          <a:p>
            <a:pPr algn="ctr">
              <a:lnSpc>
                <a:spcPct val="110000"/>
              </a:lnSpc>
            </a:pPr>
            <a:r>
              <a:rPr lang="en-US" sz="1800" dirty="0">
                <a:solidFill>
                  <a:srgbClr val="8F8F8F"/>
                </a:solidFill>
                <a:latin typeface="Liter" pitchFamily="34" charset="0"/>
                <a:ea typeface="Liter" pitchFamily="34" charset="-122"/>
                <a:cs typeface="Liter" pitchFamily="34" charset="-120"/>
              </a:rPr>
              <a:t>Understanding How Technology Shapes Our Everyday World</a:t>
            </a:r>
            <a:endParaRPr lang="en-US" sz="1600" dirty="0"/>
          </a:p>
        </p:txBody>
      </p:sp>
      <p:sp>
        <p:nvSpPr>
          <p:cNvPr id="10" name="Shape 7"/>
          <p:cNvSpPr/>
          <p:nvPr/>
        </p:nvSpPr>
        <p:spPr>
          <a:xfrm>
            <a:off x="5712738" y="6046351"/>
            <a:ext cx="171450" cy="152400"/>
          </a:xfrm>
          <a:custGeom>
            <a:avLst/>
            <a:gdLst/>
            <a:ahLst/>
            <a:cxnLst/>
            <a:rect l="l" t="t" r="r" b="b"/>
            <a:pathLst>
              <a:path w="171450" h="152400">
                <a:moveTo>
                  <a:pt x="14288" y="58281"/>
                </a:moveTo>
                <a:lnTo>
                  <a:pt x="76557" y="83909"/>
                </a:lnTo>
                <a:cubicBezTo>
                  <a:pt x="79474" y="85100"/>
                  <a:pt x="82570" y="85725"/>
                  <a:pt x="85725" y="85725"/>
                </a:cubicBezTo>
                <a:cubicBezTo>
                  <a:pt x="88880" y="85725"/>
                  <a:pt x="91976" y="85100"/>
                  <a:pt x="94893" y="83909"/>
                </a:cubicBezTo>
                <a:lnTo>
                  <a:pt x="167045" y="54203"/>
                </a:lnTo>
                <a:cubicBezTo>
                  <a:pt x="169724" y="53102"/>
                  <a:pt x="171450" y="50512"/>
                  <a:pt x="171450" y="47625"/>
                </a:cubicBezTo>
                <a:cubicBezTo>
                  <a:pt x="171450" y="44738"/>
                  <a:pt x="169724" y="42148"/>
                  <a:pt x="167045" y="41047"/>
                </a:cubicBezTo>
                <a:lnTo>
                  <a:pt x="94893" y="11341"/>
                </a:lnTo>
                <a:cubicBezTo>
                  <a:pt x="91976" y="10150"/>
                  <a:pt x="88880" y="9525"/>
                  <a:pt x="85725" y="9525"/>
                </a:cubicBezTo>
                <a:cubicBezTo>
                  <a:pt x="82570" y="9525"/>
                  <a:pt x="79474" y="10150"/>
                  <a:pt x="76557" y="11341"/>
                </a:cubicBezTo>
                <a:lnTo>
                  <a:pt x="4405" y="41047"/>
                </a:lnTo>
                <a:cubicBezTo>
                  <a:pt x="1726" y="42148"/>
                  <a:pt x="0" y="44738"/>
                  <a:pt x="0" y="47625"/>
                </a:cubicBezTo>
                <a:lnTo>
                  <a:pt x="0" y="135731"/>
                </a:lnTo>
                <a:cubicBezTo>
                  <a:pt x="0" y="139690"/>
                  <a:pt x="3185" y="142875"/>
                  <a:pt x="7144" y="142875"/>
                </a:cubicBezTo>
                <a:cubicBezTo>
                  <a:pt x="11103" y="142875"/>
                  <a:pt x="14288" y="139690"/>
                  <a:pt x="14288" y="135731"/>
                </a:cubicBezTo>
                <a:lnTo>
                  <a:pt x="14288" y="58281"/>
                </a:lnTo>
                <a:close/>
                <a:moveTo>
                  <a:pt x="28575" y="79623"/>
                </a:moveTo>
                <a:lnTo>
                  <a:pt x="28575" y="114300"/>
                </a:lnTo>
                <a:cubicBezTo>
                  <a:pt x="28575" y="130076"/>
                  <a:pt x="54173" y="142875"/>
                  <a:pt x="85725" y="142875"/>
                </a:cubicBezTo>
                <a:cubicBezTo>
                  <a:pt x="117277" y="142875"/>
                  <a:pt x="142875" y="130076"/>
                  <a:pt x="142875" y="114300"/>
                </a:cubicBezTo>
                <a:lnTo>
                  <a:pt x="142875" y="79593"/>
                </a:lnTo>
                <a:lnTo>
                  <a:pt x="100340" y="97125"/>
                </a:lnTo>
                <a:cubicBezTo>
                  <a:pt x="95696" y="99030"/>
                  <a:pt x="90755" y="100012"/>
                  <a:pt x="85725" y="100012"/>
                </a:cubicBezTo>
                <a:cubicBezTo>
                  <a:pt x="80695" y="100012"/>
                  <a:pt x="75754" y="99030"/>
                  <a:pt x="71110" y="97125"/>
                </a:cubicBezTo>
                <a:lnTo>
                  <a:pt x="28575" y="79593"/>
                </a:lnTo>
                <a:close/>
              </a:path>
            </a:pathLst>
          </a:custGeom>
          <a:solidFill>
            <a:srgbClr val="6366F1"/>
          </a:solidFill>
          <a:ln/>
        </p:spPr>
      </p:sp>
      <p:sp>
        <p:nvSpPr>
          <p:cNvPr id="11" name="Text 8"/>
          <p:cNvSpPr/>
          <p:nvPr/>
        </p:nvSpPr>
        <p:spPr>
          <a:xfrm>
            <a:off x="5931813" y="6008251"/>
            <a:ext cx="1533525"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4 Lectures • 30 Slides</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COURSE OVERVIEW</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EFEFEF"/>
                </a:solidFill>
                <a:latin typeface="Liter" pitchFamily="34" charset="0"/>
                <a:ea typeface="Liter" pitchFamily="34" charset="-122"/>
                <a:cs typeface="Liter" pitchFamily="34" charset="-120"/>
              </a:rPr>
              <a:t>What You Will Learn</a:t>
            </a:r>
            <a:endParaRPr lang="en-US" sz="1600" dirty="0"/>
          </a:p>
        </p:txBody>
      </p:sp>
      <p:sp>
        <p:nvSpPr>
          <p:cNvPr id="4" name="Shape 2"/>
          <p:cNvSpPr/>
          <p:nvPr/>
        </p:nvSpPr>
        <p:spPr>
          <a:xfrm>
            <a:off x="384810" y="1451610"/>
            <a:ext cx="5589270" cy="1817370"/>
          </a:xfrm>
          <a:custGeom>
            <a:avLst/>
            <a:gdLst/>
            <a:ahLst/>
            <a:cxnLst/>
            <a:rect l="l" t="t" r="r" b="b"/>
            <a:pathLst>
              <a:path w="5589270" h="1817370">
                <a:moveTo>
                  <a:pt x="114294" y="0"/>
                </a:moveTo>
                <a:lnTo>
                  <a:pt x="5474976" y="0"/>
                </a:lnTo>
                <a:cubicBezTo>
                  <a:pt x="5538099" y="0"/>
                  <a:pt x="5589270" y="51171"/>
                  <a:pt x="5589270" y="114294"/>
                </a:cubicBezTo>
                <a:lnTo>
                  <a:pt x="5589270" y="1703076"/>
                </a:lnTo>
                <a:cubicBezTo>
                  <a:pt x="5589270" y="1766199"/>
                  <a:pt x="5538099" y="1817370"/>
                  <a:pt x="5474976" y="1817370"/>
                </a:cubicBezTo>
                <a:lnTo>
                  <a:pt x="114294" y="1817370"/>
                </a:lnTo>
                <a:cubicBezTo>
                  <a:pt x="51171" y="1817370"/>
                  <a:pt x="0" y="1766199"/>
                  <a:pt x="0" y="1703076"/>
                </a:cubicBezTo>
                <a:lnTo>
                  <a:pt x="0" y="114294"/>
                </a:lnTo>
                <a:cubicBezTo>
                  <a:pt x="0" y="51171"/>
                  <a:pt x="51171" y="0"/>
                  <a:pt x="114294" y="0"/>
                </a:cubicBezTo>
                <a:close/>
              </a:path>
            </a:pathLst>
          </a:custGeom>
          <a:solidFill>
            <a:srgbClr val="262626"/>
          </a:solidFill>
          <a:ln w="10160">
            <a:solidFill>
              <a:srgbClr val="333333"/>
            </a:solidFill>
            <a:prstDash val="solid"/>
          </a:ln>
        </p:spPr>
      </p:sp>
      <p:sp>
        <p:nvSpPr>
          <p:cNvPr id="5" name="Shape 3"/>
          <p:cNvSpPr/>
          <p:nvPr/>
        </p:nvSpPr>
        <p:spPr>
          <a:xfrm>
            <a:off x="617220" y="16840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6366F1">
              <a:alpha val="20000"/>
            </a:srgbClr>
          </a:solidFill>
          <a:ln/>
        </p:spPr>
      </p:sp>
      <p:sp>
        <p:nvSpPr>
          <p:cNvPr id="6" name="Text 4"/>
          <p:cNvSpPr/>
          <p:nvPr/>
        </p:nvSpPr>
        <p:spPr>
          <a:xfrm>
            <a:off x="765215" y="1798320"/>
            <a:ext cx="352425" cy="304800"/>
          </a:xfrm>
          <a:prstGeom prst="rect">
            <a:avLst/>
          </a:prstGeom>
          <a:noFill/>
          <a:ln/>
        </p:spPr>
        <p:txBody>
          <a:bodyPr wrap="square" lIns="0" tIns="0" rIns="0" bIns="0" rtlCol="0" anchor="ctr"/>
          <a:lstStyle/>
          <a:p>
            <a:pPr>
              <a:lnSpc>
                <a:spcPct val="110000"/>
              </a:lnSpc>
            </a:pPr>
            <a:r>
              <a:rPr lang="en-US" sz="1800" b="1" dirty="0">
                <a:solidFill>
                  <a:srgbClr val="6366F1"/>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303020" y="1722120"/>
            <a:ext cx="8572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Lecture 1</a:t>
            </a:r>
            <a:endParaRPr lang="en-US" sz="1600" dirty="0"/>
          </a:p>
        </p:txBody>
      </p:sp>
      <p:sp>
        <p:nvSpPr>
          <p:cNvPr id="8" name="Text 6"/>
          <p:cNvSpPr/>
          <p:nvPr/>
        </p:nvSpPr>
        <p:spPr>
          <a:xfrm>
            <a:off x="1303020" y="1988820"/>
            <a:ext cx="8286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Week 1</a:t>
            </a:r>
            <a:endParaRPr lang="en-US" sz="1600" dirty="0"/>
          </a:p>
        </p:txBody>
      </p:sp>
      <p:sp>
        <p:nvSpPr>
          <p:cNvPr id="9" name="Text 7"/>
          <p:cNvSpPr/>
          <p:nvPr/>
        </p:nvSpPr>
        <p:spPr>
          <a:xfrm>
            <a:off x="617220" y="2369820"/>
            <a:ext cx="5200650" cy="247650"/>
          </a:xfrm>
          <a:prstGeom prst="rect">
            <a:avLst/>
          </a:prstGeom>
          <a:noFill/>
          <a:ln/>
        </p:spPr>
        <p:txBody>
          <a:bodyPr wrap="square" lIns="0" tIns="0" rIns="0" bIns="0" rtlCol="0" anchor="ctr"/>
          <a:lstStyle/>
          <a:p>
            <a:pPr>
              <a:lnSpc>
                <a:spcPct val="140000"/>
              </a:lnSpc>
            </a:pPr>
            <a:r>
              <a:rPr lang="en-US" sz="1200" dirty="0">
                <a:solidFill>
                  <a:srgbClr val="EFEFEF"/>
                </a:solidFill>
                <a:latin typeface="Liter" pitchFamily="34" charset="0"/>
                <a:ea typeface="Liter" pitchFamily="34" charset="-122"/>
                <a:cs typeface="Liter" pitchFamily="34" charset="-120"/>
              </a:rPr>
              <a:t>ICT in Daily Life and Computer-Based Systems</a:t>
            </a:r>
            <a:endParaRPr lang="en-US" sz="1600" dirty="0"/>
          </a:p>
        </p:txBody>
      </p:sp>
      <p:sp>
        <p:nvSpPr>
          <p:cNvPr id="10" name="Shape 8"/>
          <p:cNvSpPr/>
          <p:nvPr/>
        </p:nvSpPr>
        <p:spPr>
          <a:xfrm>
            <a:off x="617220" y="2769870"/>
            <a:ext cx="1171575" cy="266700"/>
          </a:xfrm>
          <a:custGeom>
            <a:avLst/>
            <a:gdLst/>
            <a:ahLst/>
            <a:cxnLst/>
            <a:rect l="l" t="t" r="r" b="b"/>
            <a:pathLst>
              <a:path w="1171575" h="266700">
                <a:moveTo>
                  <a:pt x="133350" y="0"/>
                </a:moveTo>
                <a:lnTo>
                  <a:pt x="1038225" y="0"/>
                </a:lnTo>
                <a:cubicBezTo>
                  <a:pt x="1111823" y="0"/>
                  <a:pt x="1171575" y="59752"/>
                  <a:pt x="1171575" y="133350"/>
                </a:cubicBezTo>
                <a:lnTo>
                  <a:pt x="1171575" y="133350"/>
                </a:lnTo>
                <a:cubicBezTo>
                  <a:pt x="1171575" y="206948"/>
                  <a:pt x="1111823" y="266700"/>
                  <a:pt x="1038225"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11" name="Text 9"/>
          <p:cNvSpPr/>
          <p:nvPr/>
        </p:nvSpPr>
        <p:spPr>
          <a:xfrm>
            <a:off x="617220" y="2769870"/>
            <a:ext cx="1238250"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School Systems</a:t>
            </a:r>
            <a:endParaRPr lang="en-US" sz="1600" dirty="0"/>
          </a:p>
        </p:txBody>
      </p:sp>
      <p:sp>
        <p:nvSpPr>
          <p:cNvPr id="12" name="Shape 10"/>
          <p:cNvSpPr/>
          <p:nvPr/>
        </p:nvSpPr>
        <p:spPr>
          <a:xfrm>
            <a:off x="1865828" y="2769870"/>
            <a:ext cx="704850" cy="266700"/>
          </a:xfrm>
          <a:custGeom>
            <a:avLst/>
            <a:gdLst/>
            <a:ahLst/>
            <a:cxnLst/>
            <a:rect l="l" t="t" r="r" b="b"/>
            <a:pathLst>
              <a:path w="704850" h="266700">
                <a:moveTo>
                  <a:pt x="133350" y="0"/>
                </a:moveTo>
                <a:lnTo>
                  <a:pt x="571500" y="0"/>
                </a:lnTo>
                <a:cubicBezTo>
                  <a:pt x="645098" y="0"/>
                  <a:pt x="704850" y="59752"/>
                  <a:pt x="704850" y="133350"/>
                </a:cubicBezTo>
                <a:lnTo>
                  <a:pt x="704850" y="133350"/>
                </a:lnTo>
                <a:cubicBezTo>
                  <a:pt x="704850" y="206948"/>
                  <a:pt x="645098" y="266700"/>
                  <a:pt x="571500"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13" name="Text 11"/>
          <p:cNvSpPr/>
          <p:nvPr/>
        </p:nvSpPr>
        <p:spPr>
          <a:xfrm>
            <a:off x="1865828" y="2769870"/>
            <a:ext cx="771525"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Banking</a:t>
            </a:r>
            <a:endParaRPr lang="en-US" sz="1600" dirty="0"/>
          </a:p>
        </p:txBody>
      </p:sp>
      <p:sp>
        <p:nvSpPr>
          <p:cNvPr id="14" name="Shape 12"/>
          <p:cNvSpPr/>
          <p:nvPr/>
        </p:nvSpPr>
        <p:spPr>
          <a:xfrm>
            <a:off x="2644378" y="2769870"/>
            <a:ext cx="771525" cy="266700"/>
          </a:xfrm>
          <a:custGeom>
            <a:avLst/>
            <a:gdLst/>
            <a:ahLst/>
            <a:cxnLst/>
            <a:rect l="l" t="t" r="r" b="b"/>
            <a:pathLst>
              <a:path w="771525" h="266700">
                <a:moveTo>
                  <a:pt x="133350" y="0"/>
                </a:moveTo>
                <a:lnTo>
                  <a:pt x="638175" y="0"/>
                </a:lnTo>
                <a:cubicBezTo>
                  <a:pt x="711773" y="0"/>
                  <a:pt x="771525" y="59752"/>
                  <a:pt x="771525" y="133350"/>
                </a:cubicBezTo>
                <a:lnTo>
                  <a:pt x="771525" y="133350"/>
                </a:lnTo>
                <a:cubicBezTo>
                  <a:pt x="771525" y="206948"/>
                  <a:pt x="711773" y="266700"/>
                  <a:pt x="638175"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15" name="Text 13"/>
          <p:cNvSpPr/>
          <p:nvPr/>
        </p:nvSpPr>
        <p:spPr>
          <a:xfrm>
            <a:off x="2644378" y="2769870"/>
            <a:ext cx="838200"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Medicine</a:t>
            </a:r>
            <a:endParaRPr lang="en-US" sz="1600" dirty="0"/>
          </a:p>
        </p:txBody>
      </p:sp>
      <p:sp>
        <p:nvSpPr>
          <p:cNvPr id="16" name="Shape 14"/>
          <p:cNvSpPr/>
          <p:nvPr/>
        </p:nvSpPr>
        <p:spPr>
          <a:xfrm>
            <a:off x="6214110" y="1451610"/>
            <a:ext cx="5589270" cy="1817370"/>
          </a:xfrm>
          <a:custGeom>
            <a:avLst/>
            <a:gdLst/>
            <a:ahLst/>
            <a:cxnLst/>
            <a:rect l="l" t="t" r="r" b="b"/>
            <a:pathLst>
              <a:path w="5589270" h="1817370">
                <a:moveTo>
                  <a:pt x="114294" y="0"/>
                </a:moveTo>
                <a:lnTo>
                  <a:pt x="5474976" y="0"/>
                </a:lnTo>
                <a:cubicBezTo>
                  <a:pt x="5538099" y="0"/>
                  <a:pt x="5589270" y="51171"/>
                  <a:pt x="5589270" y="114294"/>
                </a:cubicBezTo>
                <a:lnTo>
                  <a:pt x="5589270" y="1703076"/>
                </a:lnTo>
                <a:cubicBezTo>
                  <a:pt x="5589270" y="1766199"/>
                  <a:pt x="5538099" y="1817370"/>
                  <a:pt x="5474976" y="1817370"/>
                </a:cubicBezTo>
                <a:lnTo>
                  <a:pt x="114294" y="1817370"/>
                </a:lnTo>
                <a:cubicBezTo>
                  <a:pt x="51171" y="1817370"/>
                  <a:pt x="0" y="1766199"/>
                  <a:pt x="0" y="1703076"/>
                </a:cubicBezTo>
                <a:lnTo>
                  <a:pt x="0" y="114294"/>
                </a:lnTo>
                <a:cubicBezTo>
                  <a:pt x="0" y="51171"/>
                  <a:pt x="51171" y="0"/>
                  <a:pt x="114294" y="0"/>
                </a:cubicBezTo>
                <a:close/>
              </a:path>
            </a:pathLst>
          </a:custGeom>
          <a:solidFill>
            <a:srgbClr val="262626"/>
          </a:solidFill>
          <a:ln w="10160">
            <a:solidFill>
              <a:srgbClr val="333333"/>
            </a:solidFill>
            <a:prstDash val="solid"/>
          </a:ln>
        </p:spPr>
      </p:sp>
      <p:sp>
        <p:nvSpPr>
          <p:cNvPr id="17" name="Shape 15"/>
          <p:cNvSpPr/>
          <p:nvPr/>
        </p:nvSpPr>
        <p:spPr>
          <a:xfrm>
            <a:off x="6446520" y="16840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6366F1">
              <a:alpha val="20000"/>
            </a:srgbClr>
          </a:solidFill>
          <a:ln/>
        </p:spPr>
      </p:sp>
      <p:sp>
        <p:nvSpPr>
          <p:cNvPr id="18" name="Text 16"/>
          <p:cNvSpPr/>
          <p:nvPr/>
        </p:nvSpPr>
        <p:spPr>
          <a:xfrm>
            <a:off x="6573798" y="1798320"/>
            <a:ext cx="390525" cy="304800"/>
          </a:xfrm>
          <a:prstGeom prst="rect">
            <a:avLst/>
          </a:prstGeom>
          <a:noFill/>
          <a:ln/>
        </p:spPr>
        <p:txBody>
          <a:bodyPr wrap="square" lIns="0" tIns="0" rIns="0" bIns="0" rtlCol="0" anchor="ctr"/>
          <a:lstStyle/>
          <a:p>
            <a:pPr>
              <a:lnSpc>
                <a:spcPct val="110000"/>
              </a:lnSpc>
            </a:pPr>
            <a:r>
              <a:rPr lang="en-US" sz="1800" b="1" dirty="0">
                <a:solidFill>
                  <a:srgbClr val="6366F1"/>
                </a:solidFill>
                <a:latin typeface="Liter" pitchFamily="34" charset="0"/>
                <a:ea typeface="Liter" pitchFamily="34" charset="-122"/>
                <a:cs typeface="Liter" pitchFamily="34" charset="-120"/>
              </a:rPr>
              <a:t>02</a:t>
            </a:r>
            <a:endParaRPr lang="en-US" sz="1600" dirty="0"/>
          </a:p>
        </p:txBody>
      </p:sp>
      <p:sp>
        <p:nvSpPr>
          <p:cNvPr id="19" name="Text 17"/>
          <p:cNvSpPr/>
          <p:nvPr/>
        </p:nvSpPr>
        <p:spPr>
          <a:xfrm>
            <a:off x="7132320" y="1722120"/>
            <a:ext cx="8858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Lecture 2</a:t>
            </a:r>
            <a:endParaRPr lang="en-US" sz="1600" dirty="0"/>
          </a:p>
        </p:txBody>
      </p:sp>
      <p:sp>
        <p:nvSpPr>
          <p:cNvPr id="20" name="Text 18"/>
          <p:cNvSpPr/>
          <p:nvPr/>
        </p:nvSpPr>
        <p:spPr>
          <a:xfrm>
            <a:off x="7132320" y="1988820"/>
            <a:ext cx="85725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Week 1</a:t>
            </a:r>
            <a:endParaRPr lang="en-US" sz="1600" dirty="0"/>
          </a:p>
        </p:txBody>
      </p:sp>
      <p:sp>
        <p:nvSpPr>
          <p:cNvPr id="21" name="Text 19"/>
          <p:cNvSpPr/>
          <p:nvPr/>
        </p:nvSpPr>
        <p:spPr>
          <a:xfrm>
            <a:off x="6446520" y="2369820"/>
            <a:ext cx="5200650" cy="247650"/>
          </a:xfrm>
          <a:prstGeom prst="rect">
            <a:avLst/>
          </a:prstGeom>
          <a:noFill/>
          <a:ln/>
        </p:spPr>
        <p:txBody>
          <a:bodyPr wrap="square" lIns="0" tIns="0" rIns="0" bIns="0" rtlCol="0" anchor="ctr"/>
          <a:lstStyle/>
          <a:p>
            <a:pPr>
              <a:lnSpc>
                <a:spcPct val="140000"/>
              </a:lnSpc>
            </a:pPr>
            <a:r>
              <a:rPr lang="en-US" sz="1200" dirty="0">
                <a:solidFill>
                  <a:srgbClr val="EFEFEF"/>
                </a:solidFill>
                <a:latin typeface="Liter" pitchFamily="34" charset="0"/>
                <a:ea typeface="Liter" pitchFamily="34" charset="-122"/>
                <a:cs typeface="Liter" pitchFamily="34" charset="-120"/>
              </a:rPr>
              <a:t>Main Components of Computer Systems</a:t>
            </a:r>
            <a:endParaRPr lang="en-US" sz="1600" dirty="0"/>
          </a:p>
        </p:txBody>
      </p:sp>
      <p:sp>
        <p:nvSpPr>
          <p:cNvPr id="22" name="Shape 20"/>
          <p:cNvSpPr/>
          <p:nvPr/>
        </p:nvSpPr>
        <p:spPr>
          <a:xfrm>
            <a:off x="6446520" y="2769870"/>
            <a:ext cx="800100" cy="266700"/>
          </a:xfrm>
          <a:custGeom>
            <a:avLst/>
            <a:gdLst/>
            <a:ahLst/>
            <a:cxnLst/>
            <a:rect l="l" t="t" r="r" b="b"/>
            <a:pathLst>
              <a:path w="800100" h="266700">
                <a:moveTo>
                  <a:pt x="133350" y="0"/>
                </a:moveTo>
                <a:lnTo>
                  <a:pt x="666750" y="0"/>
                </a:lnTo>
                <a:cubicBezTo>
                  <a:pt x="740348" y="0"/>
                  <a:pt x="800100" y="59752"/>
                  <a:pt x="800100" y="133350"/>
                </a:cubicBezTo>
                <a:lnTo>
                  <a:pt x="800100" y="133350"/>
                </a:lnTo>
                <a:cubicBezTo>
                  <a:pt x="800100" y="206948"/>
                  <a:pt x="740348" y="266700"/>
                  <a:pt x="666750"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23" name="Text 21"/>
          <p:cNvSpPr/>
          <p:nvPr/>
        </p:nvSpPr>
        <p:spPr>
          <a:xfrm>
            <a:off x="6446520" y="2769870"/>
            <a:ext cx="866775"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Hardware</a:t>
            </a:r>
            <a:endParaRPr lang="en-US" sz="1600" dirty="0"/>
          </a:p>
        </p:txBody>
      </p:sp>
      <p:sp>
        <p:nvSpPr>
          <p:cNvPr id="24" name="Shape 22"/>
          <p:cNvSpPr/>
          <p:nvPr/>
        </p:nvSpPr>
        <p:spPr>
          <a:xfrm>
            <a:off x="7326630" y="2769870"/>
            <a:ext cx="762000" cy="266700"/>
          </a:xfrm>
          <a:custGeom>
            <a:avLst/>
            <a:gdLst/>
            <a:ahLst/>
            <a:cxnLst/>
            <a:rect l="l" t="t" r="r" b="b"/>
            <a:pathLst>
              <a:path w="762000" h="266700">
                <a:moveTo>
                  <a:pt x="133350" y="0"/>
                </a:moveTo>
                <a:lnTo>
                  <a:pt x="628650" y="0"/>
                </a:lnTo>
                <a:cubicBezTo>
                  <a:pt x="702248" y="0"/>
                  <a:pt x="762000" y="59752"/>
                  <a:pt x="762000" y="133350"/>
                </a:cubicBezTo>
                <a:lnTo>
                  <a:pt x="762000" y="133350"/>
                </a:lnTo>
                <a:cubicBezTo>
                  <a:pt x="762000" y="206948"/>
                  <a:pt x="702248" y="266700"/>
                  <a:pt x="628650"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25" name="Text 23"/>
          <p:cNvSpPr/>
          <p:nvPr/>
        </p:nvSpPr>
        <p:spPr>
          <a:xfrm>
            <a:off x="7326630" y="2769870"/>
            <a:ext cx="828675"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Software</a:t>
            </a:r>
            <a:endParaRPr lang="en-US" sz="1600" dirty="0"/>
          </a:p>
        </p:txBody>
      </p:sp>
      <p:sp>
        <p:nvSpPr>
          <p:cNvPr id="26" name="Shape 24"/>
          <p:cNvSpPr/>
          <p:nvPr/>
        </p:nvSpPr>
        <p:spPr>
          <a:xfrm>
            <a:off x="8166854" y="2769870"/>
            <a:ext cx="800100" cy="266700"/>
          </a:xfrm>
          <a:custGeom>
            <a:avLst/>
            <a:gdLst/>
            <a:ahLst/>
            <a:cxnLst/>
            <a:rect l="l" t="t" r="r" b="b"/>
            <a:pathLst>
              <a:path w="800100" h="266700">
                <a:moveTo>
                  <a:pt x="133350" y="0"/>
                </a:moveTo>
                <a:lnTo>
                  <a:pt x="666750" y="0"/>
                </a:lnTo>
                <a:cubicBezTo>
                  <a:pt x="740348" y="0"/>
                  <a:pt x="800100" y="59752"/>
                  <a:pt x="800100" y="133350"/>
                </a:cubicBezTo>
                <a:lnTo>
                  <a:pt x="800100" y="133350"/>
                </a:lnTo>
                <a:cubicBezTo>
                  <a:pt x="800100" y="206948"/>
                  <a:pt x="740348" y="266700"/>
                  <a:pt x="666750"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27" name="Text 25"/>
          <p:cNvSpPr/>
          <p:nvPr/>
        </p:nvSpPr>
        <p:spPr>
          <a:xfrm>
            <a:off x="8166854" y="2769870"/>
            <a:ext cx="866775"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Networks</a:t>
            </a:r>
            <a:endParaRPr lang="en-US" sz="1600" dirty="0"/>
          </a:p>
        </p:txBody>
      </p:sp>
      <p:sp>
        <p:nvSpPr>
          <p:cNvPr id="28" name="Shape 26"/>
          <p:cNvSpPr/>
          <p:nvPr/>
        </p:nvSpPr>
        <p:spPr>
          <a:xfrm>
            <a:off x="384810" y="3505200"/>
            <a:ext cx="5589270" cy="1817370"/>
          </a:xfrm>
          <a:custGeom>
            <a:avLst/>
            <a:gdLst/>
            <a:ahLst/>
            <a:cxnLst/>
            <a:rect l="l" t="t" r="r" b="b"/>
            <a:pathLst>
              <a:path w="5589270" h="1817370">
                <a:moveTo>
                  <a:pt x="114294" y="0"/>
                </a:moveTo>
                <a:lnTo>
                  <a:pt x="5474976" y="0"/>
                </a:lnTo>
                <a:cubicBezTo>
                  <a:pt x="5538099" y="0"/>
                  <a:pt x="5589270" y="51171"/>
                  <a:pt x="5589270" y="114294"/>
                </a:cubicBezTo>
                <a:lnTo>
                  <a:pt x="5589270" y="1703076"/>
                </a:lnTo>
                <a:cubicBezTo>
                  <a:pt x="5589270" y="1766199"/>
                  <a:pt x="5538099" y="1817370"/>
                  <a:pt x="5474976" y="1817370"/>
                </a:cubicBezTo>
                <a:lnTo>
                  <a:pt x="114294" y="1817370"/>
                </a:lnTo>
                <a:cubicBezTo>
                  <a:pt x="51171" y="1817370"/>
                  <a:pt x="0" y="1766199"/>
                  <a:pt x="0" y="1703076"/>
                </a:cubicBezTo>
                <a:lnTo>
                  <a:pt x="0" y="114294"/>
                </a:lnTo>
                <a:cubicBezTo>
                  <a:pt x="0" y="51171"/>
                  <a:pt x="51171" y="0"/>
                  <a:pt x="114294" y="0"/>
                </a:cubicBezTo>
                <a:close/>
              </a:path>
            </a:pathLst>
          </a:custGeom>
          <a:solidFill>
            <a:srgbClr val="262626"/>
          </a:solidFill>
          <a:ln w="10160">
            <a:solidFill>
              <a:srgbClr val="333333"/>
            </a:solidFill>
            <a:prstDash val="solid"/>
          </a:ln>
        </p:spPr>
      </p:sp>
      <p:sp>
        <p:nvSpPr>
          <p:cNvPr id="29" name="Shape 27"/>
          <p:cNvSpPr/>
          <p:nvPr/>
        </p:nvSpPr>
        <p:spPr>
          <a:xfrm>
            <a:off x="617220" y="373761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6366F1">
              <a:alpha val="20000"/>
            </a:srgbClr>
          </a:solidFill>
          <a:ln/>
        </p:spPr>
      </p:sp>
      <p:sp>
        <p:nvSpPr>
          <p:cNvPr id="30" name="Text 28"/>
          <p:cNvSpPr/>
          <p:nvPr/>
        </p:nvSpPr>
        <p:spPr>
          <a:xfrm>
            <a:off x="743545" y="3851910"/>
            <a:ext cx="390525" cy="304800"/>
          </a:xfrm>
          <a:prstGeom prst="rect">
            <a:avLst/>
          </a:prstGeom>
          <a:noFill/>
          <a:ln/>
        </p:spPr>
        <p:txBody>
          <a:bodyPr wrap="square" lIns="0" tIns="0" rIns="0" bIns="0" rtlCol="0" anchor="ctr"/>
          <a:lstStyle/>
          <a:p>
            <a:pPr>
              <a:lnSpc>
                <a:spcPct val="110000"/>
              </a:lnSpc>
            </a:pPr>
            <a:r>
              <a:rPr lang="en-US" sz="1800" b="1" dirty="0">
                <a:solidFill>
                  <a:srgbClr val="6366F1"/>
                </a:solidFill>
                <a:latin typeface="Liter" pitchFamily="34" charset="0"/>
                <a:ea typeface="Liter" pitchFamily="34" charset="-122"/>
                <a:cs typeface="Liter" pitchFamily="34" charset="-120"/>
              </a:rPr>
              <a:t>03</a:t>
            </a:r>
            <a:endParaRPr lang="en-US" sz="1600" dirty="0"/>
          </a:p>
        </p:txBody>
      </p:sp>
      <p:sp>
        <p:nvSpPr>
          <p:cNvPr id="31" name="Text 29"/>
          <p:cNvSpPr/>
          <p:nvPr/>
        </p:nvSpPr>
        <p:spPr>
          <a:xfrm>
            <a:off x="1303020" y="3775710"/>
            <a:ext cx="8858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Lecture 3</a:t>
            </a:r>
            <a:endParaRPr lang="en-US" sz="1600" dirty="0"/>
          </a:p>
        </p:txBody>
      </p:sp>
      <p:sp>
        <p:nvSpPr>
          <p:cNvPr id="32" name="Text 30"/>
          <p:cNvSpPr/>
          <p:nvPr/>
        </p:nvSpPr>
        <p:spPr>
          <a:xfrm>
            <a:off x="1303020" y="4042410"/>
            <a:ext cx="85725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Week 2</a:t>
            </a:r>
            <a:endParaRPr lang="en-US" sz="1600" dirty="0"/>
          </a:p>
        </p:txBody>
      </p:sp>
      <p:sp>
        <p:nvSpPr>
          <p:cNvPr id="33" name="Text 31"/>
          <p:cNvSpPr/>
          <p:nvPr/>
        </p:nvSpPr>
        <p:spPr>
          <a:xfrm>
            <a:off x="617220" y="4423410"/>
            <a:ext cx="5200650" cy="247650"/>
          </a:xfrm>
          <a:prstGeom prst="rect">
            <a:avLst/>
          </a:prstGeom>
          <a:noFill/>
          <a:ln/>
        </p:spPr>
        <p:txBody>
          <a:bodyPr wrap="square" lIns="0" tIns="0" rIns="0" bIns="0" rtlCol="0" anchor="ctr"/>
          <a:lstStyle/>
          <a:p>
            <a:pPr>
              <a:lnSpc>
                <a:spcPct val="140000"/>
              </a:lnSpc>
            </a:pPr>
            <a:r>
              <a:rPr lang="en-US" sz="1200" dirty="0">
                <a:solidFill>
                  <a:srgbClr val="EFEFEF"/>
                </a:solidFill>
                <a:latin typeface="Liter" pitchFamily="34" charset="0"/>
                <a:ea typeface="Liter" pitchFamily="34" charset="-122"/>
                <a:cs typeface="Liter" pitchFamily="34" charset="-120"/>
              </a:rPr>
              <a:t>Physical Components and Types of Computers</a:t>
            </a:r>
            <a:endParaRPr lang="en-US" sz="1600" dirty="0"/>
          </a:p>
        </p:txBody>
      </p:sp>
      <p:sp>
        <p:nvSpPr>
          <p:cNvPr id="34" name="Shape 32"/>
          <p:cNvSpPr/>
          <p:nvPr/>
        </p:nvSpPr>
        <p:spPr>
          <a:xfrm>
            <a:off x="617220" y="4823460"/>
            <a:ext cx="723900" cy="266700"/>
          </a:xfrm>
          <a:custGeom>
            <a:avLst/>
            <a:gdLst/>
            <a:ahLst/>
            <a:cxnLst/>
            <a:rect l="l" t="t" r="r" b="b"/>
            <a:pathLst>
              <a:path w="723900" h="266700">
                <a:moveTo>
                  <a:pt x="133350" y="0"/>
                </a:moveTo>
                <a:lnTo>
                  <a:pt x="590550" y="0"/>
                </a:lnTo>
                <a:cubicBezTo>
                  <a:pt x="664148" y="0"/>
                  <a:pt x="723900" y="59752"/>
                  <a:pt x="723900" y="133350"/>
                </a:cubicBezTo>
                <a:lnTo>
                  <a:pt x="723900" y="133350"/>
                </a:lnTo>
                <a:cubicBezTo>
                  <a:pt x="723900" y="206948"/>
                  <a:pt x="664148" y="266700"/>
                  <a:pt x="590550"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35" name="Text 33"/>
          <p:cNvSpPr/>
          <p:nvPr/>
        </p:nvSpPr>
        <p:spPr>
          <a:xfrm>
            <a:off x="617220" y="4823460"/>
            <a:ext cx="790575"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Desktop</a:t>
            </a:r>
            <a:endParaRPr lang="en-US" sz="1600" dirty="0"/>
          </a:p>
        </p:txBody>
      </p:sp>
      <p:sp>
        <p:nvSpPr>
          <p:cNvPr id="36" name="Shape 34"/>
          <p:cNvSpPr/>
          <p:nvPr/>
        </p:nvSpPr>
        <p:spPr>
          <a:xfrm>
            <a:off x="1415296" y="4823460"/>
            <a:ext cx="628650" cy="266700"/>
          </a:xfrm>
          <a:custGeom>
            <a:avLst/>
            <a:gdLst/>
            <a:ahLst/>
            <a:cxnLst/>
            <a:rect l="l" t="t" r="r" b="b"/>
            <a:pathLst>
              <a:path w="628650" h="266700">
                <a:moveTo>
                  <a:pt x="133350" y="0"/>
                </a:moveTo>
                <a:lnTo>
                  <a:pt x="495300" y="0"/>
                </a:lnTo>
                <a:cubicBezTo>
                  <a:pt x="568898" y="0"/>
                  <a:pt x="628650" y="59752"/>
                  <a:pt x="628650" y="133350"/>
                </a:cubicBezTo>
                <a:lnTo>
                  <a:pt x="628650" y="133350"/>
                </a:lnTo>
                <a:cubicBezTo>
                  <a:pt x="628650" y="206948"/>
                  <a:pt x="568898" y="266700"/>
                  <a:pt x="495300"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37" name="Text 35"/>
          <p:cNvSpPr/>
          <p:nvPr/>
        </p:nvSpPr>
        <p:spPr>
          <a:xfrm>
            <a:off x="1415296" y="4823460"/>
            <a:ext cx="695325"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Mobile</a:t>
            </a:r>
            <a:endParaRPr lang="en-US" sz="1600" dirty="0"/>
          </a:p>
        </p:txBody>
      </p:sp>
      <p:sp>
        <p:nvSpPr>
          <p:cNvPr id="38" name="Shape 36"/>
          <p:cNvSpPr/>
          <p:nvPr/>
        </p:nvSpPr>
        <p:spPr>
          <a:xfrm>
            <a:off x="2124432" y="4823460"/>
            <a:ext cx="933450" cy="266700"/>
          </a:xfrm>
          <a:custGeom>
            <a:avLst/>
            <a:gdLst/>
            <a:ahLst/>
            <a:cxnLst/>
            <a:rect l="l" t="t" r="r" b="b"/>
            <a:pathLst>
              <a:path w="933450" h="266700">
                <a:moveTo>
                  <a:pt x="133350" y="0"/>
                </a:moveTo>
                <a:lnTo>
                  <a:pt x="800100" y="0"/>
                </a:lnTo>
                <a:cubicBezTo>
                  <a:pt x="873698" y="0"/>
                  <a:pt x="933450" y="59752"/>
                  <a:pt x="933450" y="133350"/>
                </a:cubicBezTo>
                <a:lnTo>
                  <a:pt x="933450" y="133350"/>
                </a:lnTo>
                <a:cubicBezTo>
                  <a:pt x="933450" y="206948"/>
                  <a:pt x="873698" y="266700"/>
                  <a:pt x="800100"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39" name="Text 37"/>
          <p:cNvSpPr/>
          <p:nvPr/>
        </p:nvSpPr>
        <p:spPr>
          <a:xfrm>
            <a:off x="2124432" y="4823460"/>
            <a:ext cx="1000125"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Mainframes</a:t>
            </a:r>
            <a:endParaRPr lang="en-US" sz="1600" dirty="0"/>
          </a:p>
        </p:txBody>
      </p:sp>
      <p:sp>
        <p:nvSpPr>
          <p:cNvPr id="40" name="Shape 38"/>
          <p:cNvSpPr/>
          <p:nvPr/>
        </p:nvSpPr>
        <p:spPr>
          <a:xfrm>
            <a:off x="6214110" y="3505200"/>
            <a:ext cx="5589270" cy="1817370"/>
          </a:xfrm>
          <a:custGeom>
            <a:avLst/>
            <a:gdLst/>
            <a:ahLst/>
            <a:cxnLst/>
            <a:rect l="l" t="t" r="r" b="b"/>
            <a:pathLst>
              <a:path w="5589270" h="1817370">
                <a:moveTo>
                  <a:pt x="114294" y="0"/>
                </a:moveTo>
                <a:lnTo>
                  <a:pt x="5474976" y="0"/>
                </a:lnTo>
                <a:cubicBezTo>
                  <a:pt x="5538099" y="0"/>
                  <a:pt x="5589270" y="51171"/>
                  <a:pt x="5589270" y="114294"/>
                </a:cubicBezTo>
                <a:lnTo>
                  <a:pt x="5589270" y="1703076"/>
                </a:lnTo>
                <a:cubicBezTo>
                  <a:pt x="5589270" y="1766199"/>
                  <a:pt x="5538099" y="1817370"/>
                  <a:pt x="5474976" y="1817370"/>
                </a:cubicBezTo>
                <a:lnTo>
                  <a:pt x="114294" y="1817370"/>
                </a:lnTo>
                <a:cubicBezTo>
                  <a:pt x="51171" y="1817370"/>
                  <a:pt x="0" y="1766199"/>
                  <a:pt x="0" y="1703076"/>
                </a:cubicBezTo>
                <a:lnTo>
                  <a:pt x="0" y="114294"/>
                </a:lnTo>
                <a:cubicBezTo>
                  <a:pt x="0" y="51171"/>
                  <a:pt x="51171" y="0"/>
                  <a:pt x="114294" y="0"/>
                </a:cubicBezTo>
                <a:close/>
              </a:path>
            </a:pathLst>
          </a:custGeom>
          <a:solidFill>
            <a:srgbClr val="262626"/>
          </a:solidFill>
          <a:ln w="10160">
            <a:solidFill>
              <a:srgbClr val="333333"/>
            </a:solidFill>
            <a:prstDash val="solid"/>
          </a:ln>
        </p:spPr>
      </p:sp>
      <p:sp>
        <p:nvSpPr>
          <p:cNvPr id="41" name="Shape 39"/>
          <p:cNvSpPr/>
          <p:nvPr/>
        </p:nvSpPr>
        <p:spPr>
          <a:xfrm>
            <a:off x="6446520" y="373761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6366F1">
              <a:alpha val="20000"/>
            </a:srgbClr>
          </a:solidFill>
          <a:ln/>
        </p:spPr>
      </p:sp>
      <p:sp>
        <p:nvSpPr>
          <p:cNvPr id="42" name="Text 40"/>
          <p:cNvSpPr/>
          <p:nvPr/>
        </p:nvSpPr>
        <p:spPr>
          <a:xfrm>
            <a:off x="6572964" y="3851910"/>
            <a:ext cx="390525" cy="304800"/>
          </a:xfrm>
          <a:prstGeom prst="rect">
            <a:avLst/>
          </a:prstGeom>
          <a:noFill/>
          <a:ln/>
        </p:spPr>
        <p:txBody>
          <a:bodyPr wrap="square" lIns="0" tIns="0" rIns="0" bIns="0" rtlCol="0" anchor="ctr"/>
          <a:lstStyle/>
          <a:p>
            <a:pPr>
              <a:lnSpc>
                <a:spcPct val="110000"/>
              </a:lnSpc>
            </a:pPr>
            <a:r>
              <a:rPr lang="en-US" sz="1800" b="1" dirty="0">
                <a:solidFill>
                  <a:srgbClr val="6366F1"/>
                </a:solidFill>
                <a:latin typeface="Liter" pitchFamily="34" charset="0"/>
                <a:ea typeface="Liter" pitchFamily="34" charset="-122"/>
                <a:cs typeface="Liter" pitchFamily="34" charset="-120"/>
              </a:rPr>
              <a:t>04</a:t>
            </a:r>
            <a:endParaRPr lang="en-US" sz="1600" dirty="0"/>
          </a:p>
        </p:txBody>
      </p:sp>
      <p:sp>
        <p:nvSpPr>
          <p:cNvPr id="43" name="Text 41"/>
          <p:cNvSpPr/>
          <p:nvPr/>
        </p:nvSpPr>
        <p:spPr>
          <a:xfrm>
            <a:off x="7132320" y="3775710"/>
            <a:ext cx="8858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Lecture 4</a:t>
            </a:r>
            <a:endParaRPr lang="en-US" sz="1600" dirty="0"/>
          </a:p>
        </p:txBody>
      </p:sp>
      <p:sp>
        <p:nvSpPr>
          <p:cNvPr id="44" name="Text 42"/>
          <p:cNvSpPr/>
          <p:nvPr/>
        </p:nvSpPr>
        <p:spPr>
          <a:xfrm>
            <a:off x="7132320" y="4042410"/>
            <a:ext cx="85725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Week 2</a:t>
            </a:r>
            <a:endParaRPr lang="en-US" sz="1600" dirty="0"/>
          </a:p>
        </p:txBody>
      </p:sp>
      <p:sp>
        <p:nvSpPr>
          <p:cNvPr id="45" name="Text 43"/>
          <p:cNvSpPr/>
          <p:nvPr/>
        </p:nvSpPr>
        <p:spPr>
          <a:xfrm>
            <a:off x="6446520" y="4423410"/>
            <a:ext cx="5200650" cy="247650"/>
          </a:xfrm>
          <a:prstGeom prst="rect">
            <a:avLst/>
          </a:prstGeom>
          <a:noFill/>
          <a:ln/>
        </p:spPr>
        <p:txBody>
          <a:bodyPr wrap="square" lIns="0" tIns="0" rIns="0" bIns="0" rtlCol="0" anchor="ctr"/>
          <a:lstStyle/>
          <a:p>
            <a:pPr>
              <a:lnSpc>
                <a:spcPct val="140000"/>
              </a:lnSpc>
            </a:pPr>
            <a:r>
              <a:rPr lang="en-US" sz="1200" dirty="0">
                <a:solidFill>
                  <a:srgbClr val="EFEFEF"/>
                </a:solidFill>
                <a:latin typeface="Liter" pitchFamily="34" charset="0"/>
                <a:ea typeface="Liter" pitchFamily="34" charset="-122"/>
                <a:cs typeface="Liter" pitchFamily="34" charset="-120"/>
              </a:rPr>
              <a:t>CPU and Memory Concepts</a:t>
            </a:r>
            <a:endParaRPr lang="en-US" sz="1600" dirty="0"/>
          </a:p>
        </p:txBody>
      </p:sp>
      <p:sp>
        <p:nvSpPr>
          <p:cNvPr id="46" name="Shape 44"/>
          <p:cNvSpPr/>
          <p:nvPr/>
        </p:nvSpPr>
        <p:spPr>
          <a:xfrm>
            <a:off x="6446520" y="4823460"/>
            <a:ext cx="885825" cy="266700"/>
          </a:xfrm>
          <a:custGeom>
            <a:avLst/>
            <a:gdLst/>
            <a:ahLst/>
            <a:cxnLst/>
            <a:rect l="l" t="t" r="r" b="b"/>
            <a:pathLst>
              <a:path w="885825" h="266700">
                <a:moveTo>
                  <a:pt x="133350" y="0"/>
                </a:moveTo>
                <a:lnTo>
                  <a:pt x="752475" y="0"/>
                </a:lnTo>
                <a:cubicBezTo>
                  <a:pt x="826073" y="0"/>
                  <a:pt x="885825" y="59752"/>
                  <a:pt x="885825" y="133350"/>
                </a:cubicBezTo>
                <a:lnTo>
                  <a:pt x="885825" y="133350"/>
                </a:lnTo>
                <a:cubicBezTo>
                  <a:pt x="885825" y="206948"/>
                  <a:pt x="826073" y="266700"/>
                  <a:pt x="752475"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47" name="Text 45"/>
          <p:cNvSpPr/>
          <p:nvPr/>
        </p:nvSpPr>
        <p:spPr>
          <a:xfrm>
            <a:off x="6446520" y="4823460"/>
            <a:ext cx="952500"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Processing</a:t>
            </a:r>
            <a:endParaRPr lang="en-US" sz="1600" dirty="0"/>
          </a:p>
        </p:txBody>
      </p:sp>
      <p:sp>
        <p:nvSpPr>
          <p:cNvPr id="48" name="Shape 46"/>
          <p:cNvSpPr/>
          <p:nvPr/>
        </p:nvSpPr>
        <p:spPr>
          <a:xfrm>
            <a:off x="7407116" y="4823460"/>
            <a:ext cx="523875" cy="266700"/>
          </a:xfrm>
          <a:custGeom>
            <a:avLst/>
            <a:gdLst/>
            <a:ahLst/>
            <a:cxnLst/>
            <a:rect l="l" t="t" r="r" b="b"/>
            <a:pathLst>
              <a:path w="523875" h="266700">
                <a:moveTo>
                  <a:pt x="133350" y="0"/>
                </a:moveTo>
                <a:lnTo>
                  <a:pt x="390525" y="0"/>
                </a:lnTo>
                <a:cubicBezTo>
                  <a:pt x="464123" y="0"/>
                  <a:pt x="523875" y="59752"/>
                  <a:pt x="523875" y="133350"/>
                </a:cubicBezTo>
                <a:lnTo>
                  <a:pt x="523875" y="133350"/>
                </a:lnTo>
                <a:cubicBezTo>
                  <a:pt x="523875" y="206948"/>
                  <a:pt x="464123" y="266700"/>
                  <a:pt x="390525"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49" name="Text 47"/>
          <p:cNvSpPr/>
          <p:nvPr/>
        </p:nvSpPr>
        <p:spPr>
          <a:xfrm>
            <a:off x="7407116" y="4823460"/>
            <a:ext cx="590550"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RAM</a:t>
            </a:r>
            <a:endParaRPr lang="en-US" sz="1600" dirty="0"/>
          </a:p>
        </p:txBody>
      </p:sp>
      <p:sp>
        <p:nvSpPr>
          <p:cNvPr id="50" name="Shape 48"/>
          <p:cNvSpPr/>
          <p:nvPr/>
        </p:nvSpPr>
        <p:spPr>
          <a:xfrm>
            <a:off x="8002429" y="4823460"/>
            <a:ext cx="523875" cy="266700"/>
          </a:xfrm>
          <a:custGeom>
            <a:avLst/>
            <a:gdLst/>
            <a:ahLst/>
            <a:cxnLst/>
            <a:rect l="l" t="t" r="r" b="b"/>
            <a:pathLst>
              <a:path w="523875" h="266700">
                <a:moveTo>
                  <a:pt x="133350" y="0"/>
                </a:moveTo>
                <a:lnTo>
                  <a:pt x="390525" y="0"/>
                </a:lnTo>
                <a:cubicBezTo>
                  <a:pt x="464123" y="0"/>
                  <a:pt x="523875" y="59752"/>
                  <a:pt x="523875" y="133350"/>
                </a:cubicBezTo>
                <a:lnTo>
                  <a:pt x="523875" y="133350"/>
                </a:lnTo>
                <a:cubicBezTo>
                  <a:pt x="523875" y="206948"/>
                  <a:pt x="464123" y="266700"/>
                  <a:pt x="390525" y="266700"/>
                </a:cubicBezTo>
                <a:lnTo>
                  <a:pt x="133350" y="266700"/>
                </a:lnTo>
                <a:cubicBezTo>
                  <a:pt x="59752" y="266700"/>
                  <a:pt x="0" y="206948"/>
                  <a:pt x="0" y="133350"/>
                </a:cubicBezTo>
                <a:lnTo>
                  <a:pt x="0" y="133350"/>
                </a:lnTo>
                <a:cubicBezTo>
                  <a:pt x="0" y="59752"/>
                  <a:pt x="59752" y="0"/>
                  <a:pt x="133350" y="0"/>
                </a:cubicBezTo>
                <a:close/>
              </a:path>
            </a:pathLst>
          </a:custGeom>
          <a:solidFill>
            <a:srgbClr val="6366F1">
              <a:alpha val="10196"/>
            </a:srgbClr>
          </a:solidFill>
          <a:ln/>
        </p:spPr>
      </p:sp>
      <p:sp>
        <p:nvSpPr>
          <p:cNvPr id="51" name="Text 49"/>
          <p:cNvSpPr/>
          <p:nvPr/>
        </p:nvSpPr>
        <p:spPr>
          <a:xfrm>
            <a:off x="8002429" y="4823460"/>
            <a:ext cx="590550" cy="266700"/>
          </a:xfrm>
          <a:prstGeom prst="rect">
            <a:avLst/>
          </a:prstGeom>
          <a:noFill/>
          <a:ln/>
        </p:spPr>
        <p:txBody>
          <a:bodyPr wrap="square" lIns="114300" tIns="38100" rIns="114300" bIns="38100" rtlCol="0" anchor="ctr"/>
          <a:lstStyle/>
          <a:p>
            <a:pPr>
              <a:lnSpc>
                <a:spcPct val="120000"/>
              </a:lnSpc>
            </a:pPr>
            <a:r>
              <a:rPr lang="en-US" sz="1050" dirty="0">
                <a:solidFill>
                  <a:srgbClr val="6366F1"/>
                </a:solidFill>
                <a:latin typeface="Liter" pitchFamily="34" charset="0"/>
                <a:ea typeface="Liter" pitchFamily="34" charset="-122"/>
                <a:cs typeface="Liter" pitchFamily="34" charset="-120"/>
              </a:rPr>
              <a:t>ROM</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91919"/>
        </a:solidFill>
        <a:effectLst/>
      </p:bgPr>
    </p:bg>
    <p:spTree>
      <p:nvGrpSpPr>
        <p:cNvPr id="1" name=""/>
        <p:cNvGrpSpPr/>
        <p:nvPr/>
      </p:nvGrpSpPr>
      <p:grpSpPr>
        <a:xfrm>
          <a:off x="0" y="0"/>
          <a:ext cx="0" cy="0"/>
          <a:chOff x="0" y="0"/>
          <a:chExt cx="0" cy="0"/>
        </a:xfrm>
      </p:grpSpPr>
      <p:pic>
        <p:nvPicPr>
          <p:cNvPr id="2" name="Image 0" descr="https://kimi-web-img.moonshot.cn/img/www.lisedunetwork.com/3e4ec934583fd3d3aa40a8338696c0bbf69c6153.jpg"/>
          <p:cNvPicPr>
            <a:picLocks noChangeAspect="1"/>
          </p:cNvPicPr>
          <p:nvPr/>
        </p:nvPicPr>
        <p:blipFill>
          <a:blip r:embed="rId3">
            <a:alphaModFix amt="20000"/>
          </a:blip>
          <a:srcRect t="29480" b="2948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91919"/>
              </a:gs>
              <a:gs pos="50000">
                <a:srgbClr val="191919">
                  <a:alpha val="95000"/>
                </a:srgbClr>
              </a:gs>
              <a:gs pos="100000">
                <a:srgbClr val="191919">
                  <a:alpha val="70000"/>
                </a:srgbClr>
              </a:gs>
            </a:gsLst>
            <a:lin ang="0" scaled="1"/>
          </a:gradFill>
          <a:ln/>
        </p:spPr>
      </p:sp>
      <p:sp>
        <p:nvSpPr>
          <p:cNvPr id="4" name="Shape 1"/>
          <p:cNvSpPr/>
          <p:nvPr/>
        </p:nvSpPr>
        <p:spPr>
          <a:xfrm>
            <a:off x="384810" y="1601153"/>
            <a:ext cx="2179320" cy="426720"/>
          </a:xfrm>
          <a:custGeom>
            <a:avLst/>
            <a:gdLst/>
            <a:ahLst/>
            <a:cxnLst/>
            <a:rect l="l" t="t" r="r" b="b"/>
            <a:pathLst>
              <a:path w="2179320" h="426720">
                <a:moveTo>
                  <a:pt x="213360" y="0"/>
                </a:moveTo>
                <a:lnTo>
                  <a:pt x="1965960" y="0"/>
                </a:lnTo>
                <a:cubicBezTo>
                  <a:pt x="2083795" y="0"/>
                  <a:pt x="2179320" y="95525"/>
                  <a:pt x="2179320" y="213360"/>
                </a:cubicBezTo>
                <a:lnTo>
                  <a:pt x="2179320" y="213360"/>
                </a:lnTo>
                <a:cubicBezTo>
                  <a:pt x="2179320" y="331195"/>
                  <a:pt x="2083795" y="426720"/>
                  <a:pt x="1965960" y="426720"/>
                </a:cubicBezTo>
                <a:lnTo>
                  <a:pt x="213360" y="426720"/>
                </a:lnTo>
                <a:cubicBezTo>
                  <a:pt x="95603" y="426720"/>
                  <a:pt x="0" y="331117"/>
                  <a:pt x="0" y="213360"/>
                </a:cubicBezTo>
                <a:lnTo>
                  <a:pt x="0" y="213360"/>
                </a:lnTo>
                <a:cubicBezTo>
                  <a:pt x="0" y="95603"/>
                  <a:pt x="95603" y="0"/>
                  <a:pt x="213360" y="0"/>
                </a:cubicBezTo>
                <a:close/>
              </a:path>
            </a:pathLst>
          </a:custGeom>
          <a:solidFill>
            <a:srgbClr val="6366F1">
              <a:alpha val="20000"/>
            </a:srgbClr>
          </a:solidFill>
          <a:ln w="10160">
            <a:solidFill>
              <a:srgbClr val="6366F1">
                <a:alpha val="40000"/>
              </a:srgbClr>
            </a:solidFill>
            <a:prstDash val="solid"/>
          </a:ln>
        </p:spPr>
      </p:sp>
      <p:sp>
        <p:nvSpPr>
          <p:cNvPr id="5" name="Text 2"/>
          <p:cNvSpPr/>
          <p:nvPr/>
        </p:nvSpPr>
        <p:spPr>
          <a:xfrm>
            <a:off x="617220" y="1688783"/>
            <a:ext cx="1802011" cy="243840"/>
          </a:xfrm>
          <a:prstGeom prst="rect">
            <a:avLst/>
          </a:prstGeom>
          <a:noFill/>
          <a:ln/>
        </p:spPr>
        <p:txBody>
          <a:bodyPr wrap="square" lIns="0" tIns="0" rIns="0" bIns="0" rtlCol="0" anchor="ctr"/>
          <a:lstStyle/>
          <a:p>
            <a:pPr>
              <a:lnSpc>
                <a:spcPct val="130000"/>
              </a:lnSpc>
            </a:pPr>
            <a:r>
              <a:rPr lang="en-US" sz="1350" b="1" kern="0" spc="68" dirty="0">
                <a:solidFill>
                  <a:srgbClr val="6366F1"/>
                </a:solidFill>
                <a:latin typeface="Liter" pitchFamily="34" charset="0"/>
                <a:ea typeface="Liter" pitchFamily="34" charset="-122"/>
                <a:cs typeface="Liter" pitchFamily="34" charset="-120"/>
              </a:rPr>
              <a:t>LECTURE 1 • WEEK 1</a:t>
            </a:r>
            <a:endParaRPr lang="en-US" sz="1600" dirty="0"/>
          </a:p>
        </p:txBody>
      </p:sp>
      <p:sp>
        <p:nvSpPr>
          <p:cNvPr id="6" name="Text 3"/>
          <p:cNvSpPr/>
          <p:nvPr/>
        </p:nvSpPr>
        <p:spPr>
          <a:xfrm>
            <a:off x="381000" y="2260283"/>
            <a:ext cx="7658100" cy="1714500"/>
          </a:xfrm>
          <a:prstGeom prst="rect">
            <a:avLst/>
          </a:prstGeom>
          <a:noFill/>
          <a:ln/>
        </p:spPr>
        <p:txBody>
          <a:bodyPr wrap="square" lIns="0" tIns="0" rIns="0" bIns="0" rtlCol="0" anchor="ctr"/>
          <a:lstStyle/>
          <a:p>
            <a:pPr>
              <a:lnSpc>
                <a:spcPct val="100000"/>
              </a:lnSpc>
            </a:pPr>
            <a:r>
              <a:rPr lang="en-US" sz="5400" b="1" dirty="0">
                <a:solidFill>
                  <a:srgbClr val="EFEFEF"/>
                </a:solidFill>
                <a:latin typeface="Liter" pitchFamily="34" charset="0"/>
                <a:ea typeface="Liter" pitchFamily="34" charset="-122"/>
                <a:cs typeface="Liter" pitchFamily="34" charset="-120"/>
              </a:rPr>
              <a:t>ICT in</a:t>
            </a:r>
            <a:endParaRPr lang="en-US" sz="1600" dirty="0"/>
          </a:p>
          <a:p>
            <a:pPr>
              <a:lnSpc>
                <a:spcPct val="100000"/>
              </a:lnSpc>
            </a:pPr>
            <a:r>
              <a:rPr lang="en-US" sz="5400" b="1" dirty="0">
                <a:solidFill>
                  <a:srgbClr val="6366F1"/>
                </a:solidFill>
                <a:latin typeface="Liter" pitchFamily="34" charset="0"/>
                <a:ea typeface="Liter" pitchFamily="34" charset="-122"/>
                <a:cs typeface="Liter" pitchFamily="34" charset="-120"/>
              </a:rPr>
              <a:t>Daily Life</a:t>
            </a:r>
            <a:endParaRPr lang="en-US" sz="1600" dirty="0"/>
          </a:p>
        </p:txBody>
      </p:sp>
      <p:sp>
        <p:nvSpPr>
          <p:cNvPr id="7" name="Text 4"/>
          <p:cNvSpPr/>
          <p:nvPr/>
        </p:nvSpPr>
        <p:spPr>
          <a:xfrm>
            <a:off x="381000" y="4203383"/>
            <a:ext cx="6515100" cy="371475"/>
          </a:xfrm>
          <a:prstGeom prst="rect">
            <a:avLst/>
          </a:prstGeom>
          <a:noFill/>
          <a:ln/>
        </p:spPr>
        <p:txBody>
          <a:bodyPr wrap="square" lIns="0" tIns="0" rIns="0" bIns="0" rtlCol="0" anchor="ctr"/>
          <a:lstStyle/>
          <a:p>
            <a:pPr>
              <a:lnSpc>
                <a:spcPct val="140000"/>
              </a:lnSpc>
            </a:pPr>
            <a:r>
              <a:rPr lang="en-US" sz="1800" dirty="0">
                <a:solidFill>
                  <a:srgbClr val="8F8F8F"/>
                </a:solidFill>
                <a:latin typeface="Liter" pitchFamily="34" charset="0"/>
                <a:ea typeface="Liter" pitchFamily="34" charset="-122"/>
                <a:cs typeface="Liter" pitchFamily="34" charset="-120"/>
              </a:rPr>
              <a:t>Understanding how technology shapes our everyday world</a:t>
            </a:r>
            <a:endParaRPr lang="en-US" sz="1600" dirty="0"/>
          </a:p>
        </p:txBody>
      </p:sp>
      <p:sp>
        <p:nvSpPr>
          <p:cNvPr id="8" name="Shape 5"/>
          <p:cNvSpPr/>
          <p:nvPr/>
        </p:nvSpPr>
        <p:spPr>
          <a:xfrm>
            <a:off x="381000" y="5127308"/>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6366F1"/>
          </a:solidFill>
          <a:ln/>
        </p:spPr>
      </p:sp>
      <p:sp>
        <p:nvSpPr>
          <p:cNvPr id="9" name="Text 6"/>
          <p:cNvSpPr/>
          <p:nvPr/>
        </p:nvSpPr>
        <p:spPr>
          <a:xfrm>
            <a:off x="1143000" y="5032058"/>
            <a:ext cx="6572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8 Topics</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1.1</a:t>
            </a:r>
            <a:endParaRPr lang="en-US" sz="1600" dirty="0"/>
          </a:p>
        </p:txBody>
      </p:sp>
      <p:sp>
        <p:nvSpPr>
          <p:cNvPr id="3" name="Text 1"/>
          <p:cNvSpPr/>
          <p:nvPr/>
        </p:nvSpPr>
        <p:spPr>
          <a:xfrm>
            <a:off x="38100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The Role of ICT in Daily Life</a:t>
            </a:r>
            <a:endParaRPr lang="en-US" sz="1600" dirty="0"/>
          </a:p>
        </p:txBody>
      </p:sp>
      <p:sp>
        <p:nvSpPr>
          <p:cNvPr id="4" name="Shape 2"/>
          <p:cNvSpPr/>
          <p:nvPr/>
        </p:nvSpPr>
        <p:spPr>
          <a:xfrm>
            <a:off x="38100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5" name="Shape 3"/>
          <p:cNvSpPr/>
          <p:nvPr/>
        </p:nvSpPr>
        <p:spPr>
          <a:xfrm>
            <a:off x="477441" y="14573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6" name="Text 4"/>
          <p:cNvSpPr/>
          <p:nvPr/>
        </p:nvSpPr>
        <p:spPr>
          <a:xfrm>
            <a:off x="800100" y="13335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What is ICT?</a:t>
            </a:r>
            <a:endParaRPr lang="en-US" sz="1600" dirty="0"/>
          </a:p>
        </p:txBody>
      </p:sp>
      <p:sp>
        <p:nvSpPr>
          <p:cNvPr id="7" name="Text 5"/>
          <p:cNvSpPr/>
          <p:nvPr/>
        </p:nvSpPr>
        <p:spPr>
          <a:xfrm>
            <a:off x="800100" y="16002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Information and Communication Technologies include computers, internet, mobile phones, and software used to handle information</a:t>
            </a:r>
            <a:endParaRPr lang="en-US" sz="1600" dirty="0"/>
          </a:p>
        </p:txBody>
      </p:sp>
      <p:sp>
        <p:nvSpPr>
          <p:cNvPr id="8" name="Shape 6"/>
          <p:cNvSpPr/>
          <p:nvPr/>
        </p:nvSpPr>
        <p:spPr>
          <a:xfrm>
            <a:off x="381000" y="2209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9" name="Shape 7"/>
          <p:cNvSpPr/>
          <p:nvPr/>
        </p:nvSpPr>
        <p:spPr>
          <a:xfrm>
            <a:off x="477441" y="22955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0" name="Text 8"/>
          <p:cNvSpPr/>
          <p:nvPr/>
        </p:nvSpPr>
        <p:spPr>
          <a:xfrm>
            <a:off x="800100" y="21717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Morning to Night</a:t>
            </a:r>
            <a:endParaRPr lang="en-US" sz="1600" dirty="0"/>
          </a:p>
        </p:txBody>
      </p:sp>
      <p:sp>
        <p:nvSpPr>
          <p:cNvPr id="11" name="Text 9"/>
          <p:cNvSpPr/>
          <p:nvPr/>
        </p:nvSpPr>
        <p:spPr>
          <a:xfrm>
            <a:off x="800100" y="24384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From alarm clocks to streaming movies, ICT is present in almost every activity throughout your day</a:t>
            </a:r>
            <a:endParaRPr lang="en-US" sz="1600" dirty="0"/>
          </a:p>
        </p:txBody>
      </p:sp>
      <p:sp>
        <p:nvSpPr>
          <p:cNvPr id="12" name="Shape 10"/>
          <p:cNvSpPr/>
          <p:nvPr/>
        </p:nvSpPr>
        <p:spPr>
          <a:xfrm>
            <a:off x="381000" y="3048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3" name="Shape 11"/>
          <p:cNvSpPr/>
          <p:nvPr/>
        </p:nvSpPr>
        <p:spPr>
          <a:xfrm>
            <a:off x="477441" y="3133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4" name="Text 12"/>
          <p:cNvSpPr/>
          <p:nvPr/>
        </p:nvSpPr>
        <p:spPr>
          <a:xfrm>
            <a:off x="800100" y="30099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Communication</a:t>
            </a:r>
            <a:endParaRPr lang="en-US" sz="1600" dirty="0"/>
          </a:p>
        </p:txBody>
      </p:sp>
      <p:sp>
        <p:nvSpPr>
          <p:cNvPr id="15" name="Text 13"/>
          <p:cNvSpPr/>
          <p:nvPr/>
        </p:nvSpPr>
        <p:spPr>
          <a:xfrm>
            <a:off x="800100" y="32766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Email, social media, video calls, and messaging apps keep us connected with friends and family worldwide</a:t>
            </a:r>
            <a:endParaRPr lang="en-US" sz="1600" dirty="0"/>
          </a:p>
        </p:txBody>
      </p:sp>
      <p:sp>
        <p:nvSpPr>
          <p:cNvPr id="16" name="Shape 14"/>
          <p:cNvSpPr/>
          <p:nvPr/>
        </p:nvSpPr>
        <p:spPr>
          <a:xfrm>
            <a:off x="381000" y="38862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7" name="Shape 15"/>
          <p:cNvSpPr/>
          <p:nvPr/>
        </p:nvSpPr>
        <p:spPr>
          <a:xfrm>
            <a:off x="477441" y="39719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8" name="Text 16"/>
          <p:cNvSpPr/>
          <p:nvPr/>
        </p:nvSpPr>
        <p:spPr>
          <a:xfrm>
            <a:off x="800100" y="38481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Information Access</a:t>
            </a:r>
            <a:endParaRPr lang="en-US" sz="1600" dirty="0"/>
          </a:p>
        </p:txBody>
      </p:sp>
      <p:sp>
        <p:nvSpPr>
          <p:cNvPr id="19" name="Text 17"/>
          <p:cNvSpPr/>
          <p:nvPr/>
        </p:nvSpPr>
        <p:spPr>
          <a:xfrm>
            <a:off x="800100" y="41148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Search engines and online resources provide instant access to knowledge, news, and educational content</a:t>
            </a:r>
            <a:endParaRPr lang="en-US" sz="1600" dirty="0"/>
          </a:p>
        </p:txBody>
      </p:sp>
      <p:sp>
        <p:nvSpPr>
          <p:cNvPr id="20" name="Shape 18"/>
          <p:cNvSpPr/>
          <p:nvPr/>
        </p:nvSpPr>
        <p:spPr>
          <a:xfrm>
            <a:off x="381000" y="47244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1" name="Shape 19"/>
          <p:cNvSpPr/>
          <p:nvPr/>
        </p:nvSpPr>
        <p:spPr>
          <a:xfrm>
            <a:off x="477441" y="48101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2" name="Text 20"/>
          <p:cNvSpPr/>
          <p:nvPr/>
        </p:nvSpPr>
        <p:spPr>
          <a:xfrm>
            <a:off x="800100" y="46863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Convenience</a:t>
            </a:r>
            <a:endParaRPr lang="en-US" sz="1600" dirty="0"/>
          </a:p>
        </p:txBody>
      </p:sp>
      <p:sp>
        <p:nvSpPr>
          <p:cNvPr id="23" name="Text 21"/>
          <p:cNvSpPr/>
          <p:nvPr/>
        </p:nvSpPr>
        <p:spPr>
          <a:xfrm>
            <a:off x="800100" y="49530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Online shopping, banking, and entertainment make life easier and save time for millions of people</a:t>
            </a:r>
            <a:endParaRPr lang="en-US" sz="1600" dirty="0"/>
          </a:p>
        </p:txBody>
      </p:sp>
      <p:sp>
        <p:nvSpPr>
          <p:cNvPr id="24" name="Shape 22"/>
          <p:cNvSpPr/>
          <p:nvPr/>
        </p:nvSpPr>
        <p:spPr>
          <a:xfrm>
            <a:off x="384810" y="5703571"/>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25" name="Text 23"/>
          <p:cNvSpPr/>
          <p:nvPr/>
        </p:nvSpPr>
        <p:spPr>
          <a:xfrm>
            <a:off x="541020" y="5859780"/>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When you use WhatsApp to message a friend, search Google for homework help, or watch YouTube videos, you are using ICT!</a:t>
            </a:r>
            <a:endParaRPr lang="en-US" sz="1600" dirty="0"/>
          </a:p>
        </p:txBody>
      </p:sp>
      <p:sp>
        <p:nvSpPr>
          <p:cNvPr id="26" name="Shape 24"/>
          <p:cNvSpPr/>
          <p:nvPr/>
        </p:nvSpPr>
        <p:spPr>
          <a:xfrm>
            <a:off x="7379970" y="384810"/>
            <a:ext cx="4427220" cy="4398645"/>
          </a:xfrm>
          <a:custGeom>
            <a:avLst/>
            <a:gdLst/>
            <a:ahLst/>
            <a:cxnLst/>
            <a:rect l="l" t="t" r="r" b="b"/>
            <a:pathLst>
              <a:path w="4427220" h="4398645">
                <a:moveTo>
                  <a:pt x="114321" y="0"/>
                </a:moveTo>
                <a:lnTo>
                  <a:pt x="4312899" y="0"/>
                </a:lnTo>
                <a:cubicBezTo>
                  <a:pt x="4376037" y="0"/>
                  <a:pt x="4427220" y="51183"/>
                  <a:pt x="4427220" y="114321"/>
                </a:cubicBezTo>
                <a:lnTo>
                  <a:pt x="4427220" y="4284324"/>
                </a:lnTo>
                <a:cubicBezTo>
                  <a:pt x="4427220" y="4347462"/>
                  <a:pt x="4376037" y="4398645"/>
                  <a:pt x="4312899" y="4398645"/>
                </a:cubicBezTo>
                <a:lnTo>
                  <a:pt x="114321" y="4398645"/>
                </a:lnTo>
                <a:cubicBezTo>
                  <a:pt x="51183" y="4398645"/>
                  <a:pt x="0" y="4347462"/>
                  <a:pt x="0" y="4284324"/>
                </a:cubicBezTo>
                <a:lnTo>
                  <a:pt x="0" y="114321"/>
                </a:lnTo>
                <a:cubicBezTo>
                  <a:pt x="0" y="51225"/>
                  <a:pt x="51225" y="0"/>
                  <a:pt x="114321" y="0"/>
                </a:cubicBezTo>
                <a:close/>
              </a:path>
            </a:pathLst>
          </a:custGeom>
          <a:solidFill>
            <a:srgbClr val="262626"/>
          </a:solidFill>
          <a:ln w="10160">
            <a:solidFill>
              <a:srgbClr val="333333"/>
            </a:solidFill>
            <a:prstDash val="solid"/>
          </a:ln>
        </p:spPr>
      </p:sp>
      <p:pic>
        <p:nvPicPr>
          <p:cNvPr id="27" name="Image 0" descr="https://kimi-web-img.moonshot.cn/img/www.founderjar.com/69ad269610a697aca06bbb1362638a7149806795.png"/>
          <p:cNvPicPr>
            <a:picLocks noChangeAspect="1"/>
          </p:cNvPicPr>
          <p:nvPr/>
        </p:nvPicPr>
        <p:blipFill>
          <a:blip r:embed="rId3"/>
          <a:srcRect l="15883" r="15883"/>
          <a:stretch/>
        </p:blipFill>
        <p:spPr>
          <a:xfrm>
            <a:off x="7383780" y="388620"/>
            <a:ext cx="4419600" cy="4391025"/>
          </a:xfrm>
          <a:prstGeom prst="roundRect">
            <a:avLst>
              <a:gd name="adj" fmla="val 2603"/>
            </a:avLst>
          </a:prstGeom>
        </p:spPr>
      </p:pic>
      <p:sp>
        <p:nvSpPr>
          <p:cNvPr id="28" name="Shape 25"/>
          <p:cNvSpPr/>
          <p:nvPr/>
        </p:nvSpPr>
        <p:spPr>
          <a:xfrm>
            <a:off x="7379970" y="4941571"/>
            <a:ext cx="4427220" cy="1531620"/>
          </a:xfrm>
          <a:custGeom>
            <a:avLst/>
            <a:gdLst/>
            <a:ahLst/>
            <a:cxnLst/>
            <a:rect l="l" t="t" r="r" b="b"/>
            <a:pathLst>
              <a:path w="4427220" h="1531620">
                <a:moveTo>
                  <a:pt x="76198" y="0"/>
                </a:moveTo>
                <a:lnTo>
                  <a:pt x="4351022" y="0"/>
                </a:lnTo>
                <a:cubicBezTo>
                  <a:pt x="4393105" y="0"/>
                  <a:pt x="4427220" y="34115"/>
                  <a:pt x="4427220" y="76198"/>
                </a:cubicBezTo>
                <a:lnTo>
                  <a:pt x="4427220" y="1455422"/>
                </a:lnTo>
                <a:cubicBezTo>
                  <a:pt x="4427220" y="1497505"/>
                  <a:pt x="4393105" y="1531620"/>
                  <a:pt x="435102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29" name="Text 26"/>
          <p:cNvSpPr/>
          <p:nvPr/>
        </p:nvSpPr>
        <p:spPr>
          <a:xfrm>
            <a:off x="7536180" y="5097780"/>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30" name="Text 27"/>
          <p:cNvSpPr/>
          <p:nvPr/>
        </p:nvSpPr>
        <p:spPr>
          <a:xfrm>
            <a:off x="7536180" y="5402580"/>
            <a:ext cx="41910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ICT is like the nervous system of modern society. Just as your nervous system connects all parts of your body, ICT connects people, businesses, and governments, making information flow quickly and efficiently.</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73701" y="373701"/>
            <a:ext cx="11519338" cy="224221"/>
          </a:xfrm>
          <a:prstGeom prst="rect">
            <a:avLst/>
          </a:prstGeom>
          <a:noFill/>
          <a:ln/>
        </p:spPr>
        <p:txBody>
          <a:bodyPr wrap="square" lIns="0" tIns="0" rIns="0" bIns="0" rtlCol="0" anchor="ctr"/>
          <a:lstStyle/>
          <a:p>
            <a:pPr>
              <a:lnSpc>
                <a:spcPct val="130000"/>
              </a:lnSpc>
            </a:pPr>
            <a:r>
              <a:rPr lang="en-US" sz="1177" b="1" kern="0" spc="59" dirty="0">
                <a:solidFill>
                  <a:srgbClr val="6366F1"/>
                </a:solidFill>
                <a:latin typeface="Liter" pitchFamily="34" charset="0"/>
                <a:ea typeface="Liter" pitchFamily="34" charset="-122"/>
                <a:cs typeface="Liter" pitchFamily="34" charset="-120"/>
              </a:rPr>
              <a:t>LECTURE 1.2</a:t>
            </a:r>
            <a:endParaRPr lang="en-US" sz="1600" dirty="0"/>
          </a:p>
        </p:txBody>
      </p:sp>
      <p:sp>
        <p:nvSpPr>
          <p:cNvPr id="3" name="Text 1"/>
          <p:cNvSpPr/>
          <p:nvPr/>
        </p:nvSpPr>
        <p:spPr>
          <a:xfrm>
            <a:off x="373701" y="672662"/>
            <a:ext cx="11612763" cy="373701"/>
          </a:xfrm>
          <a:prstGeom prst="rect">
            <a:avLst/>
          </a:prstGeom>
          <a:noFill/>
          <a:ln/>
        </p:spPr>
        <p:txBody>
          <a:bodyPr wrap="square" lIns="0" tIns="0" rIns="0" bIns="0" rtlCol="0" anchor="ctr"/>
          <a:lstStyle/>
          <a:p>
            <a:pPr>
              <a:lnSpc>
                <a:spcPct val="90000"/>
              </a:lnSpc>
            </a:pPr>
            <a:r>
              <a:rPr lang="en-US" sz="2648" b="1" dirty="0">
                <a:solidFill>
                  <a:srgbClr val="EFEFEF"/>
                </a:solidFill>
                <a:latin typeface="Liter" pitchFamily="34" charset="0"/>
                <a:ea typeface="Liter" pitchFamily="34" charset="-122"/>
                <a:cs typeface="Liter" pitchFamily="34" charset="-120"/>
              </a:rPr>
              <a:t>School Management Systems</a:t>
            </a:r>
            <a:endParaRPr lang="en-US" sz="1600" dirty="0"/>
          </a:p>
        </p:txBody>
      </p:sp>
      <p:sp>
        <p:nvSpPr>
          <p:cNvPr id="4" name="Shape 2"/>
          <p:cNvSpPr/>
          <p:nvPr/>
        </p:nvSpPr>
        <p:spPr>
          <a:xfrm>
            <a:off x="373701" y="1233214"/>
            <a:ext cx="373701" cy="373701"/>
          </a:xfrm>
          <a:custGeom>
            <a:avLst/>
            <a:gdLst/>
            <a:ahLst/>
            <a:cxnLst/>
            <a:rect l="l" t="t" r="r" b="b"/>
            <a:pathLst>
              <a:path w="373701" h="373701">
                <a:moveTo>
                  <a:pt x="74740" y="0"/>
                </a:moveTo>
                <a:lnTo>
                  <a:pt x="298961" y="0"/>
                </a:lnTo>
                <a:cubicBezTo>
                  <a:pt x="340211" y="0"/>
                  <a:pt x="373701" y="33490"/>
                  <a:pt x="373701" y="74740"/>
                </a:cubicBezTo>
                <a:lnTo>
                  <a:pt x="373701" y="298961"/>
                </a:lnTo>
                <a:cubicBezTo>
                  <a:pt x="373701" y="340211"/>
                  <a:pt x="340211" y="373701"/>
                  <a:pt x="298961" y="373701"/>
                </a:cubicBezTo>
                <a:lnTo>
                  <a:pt x="74740" y="373701"/>
                </a:lnTo>
                <a:cubicBezTo>
                  <a:pt x="33490" y="373701"/>
                  <a:pt x="0" y="340211"/>
                  <a:pt x="0" y="298961"/>
                </a:cubicBezTo>
                <a:lnTo>
                  <a:pt x="0" y="74740"/>
                </a:lnTo>
                <a:cubicBezTo>
                  <a:pt x="0" y="33490"/>
                  <a:pt x="33490" y="0"/>
                  <a:pt x="74740" y="0"/>
                </a:cubicBezTo>
                <a:close/>
              </a:path>
            </a:pathLst>
          </a:custGeom>
          <a:solidFill>
            <a:srgbClr val="6366F1">
              <a:alpha val="20000"/>
            </a:srgbClr>
          </a:solidFill>
          <a:ln/>
        </p:spPr>
      </p:sp>
      <p:sp>
        <p:nvSpPr>
          <p:cNvPr id="5" name="Shape 3"/>
          <p:cNvSpPr/>
          <p:nvPr/>
        </p:nvSpPr>
        <p:spPr>
          <a:xfrm>
            <a:off x="495154" y="1345324"/>
            <a:ext cx="130795" cy="149480"/>
          </a:xfrm>
          <a:custGeom>
            <a:avLst/>
            <a:gdLst/>
            <a:ahLst/>
            <a:cxnLst/>
            <a:rect l="l" t="t" r="r" b="b"/>
            <a:pathLst>
              <a:path w="130795" h="149480">
                <a:moveTo>
                  <a:pt x="70449" y="-3795"/>
                </a:moveTo>
                <a:cubicBezTo>
                  <a:pt x="67120" y="-4467"/>
                  <a:pt x="63704" y="-4467"/>
                  <a:pt x="60376" y="-3795"/>
                </a:cubicBezTo>
                <a:lnTo>
                  <a:pt x="5635" y="7153"/>
                </a:lnTo>
                <a:cubicBezTo>
                  <a:pt x="2365" y="7795"/>
                  <a:pt x="0" y="10686"/>
                  <a:pt x="0" y="14014"/>
                </a:cubicBezTo>
                <a:cubicBezTo>
                  <a:pt x="0" y="17021"/>
                  <a:pt x="1898" y="19649"/>
                  <a:pt x="4671" y="20612"/>
                </a:cubicBezTo>
                <a:lnTo>
                  <a:pt x="4671" y="42041"/>
                </a:lnTo>
                <a:lnTo>
                  <a:pt x="88" y="64989"/>
                </a:lnTo>
                <a:cubicBezTo>
                  <a:pt x="29" y="65252"/>
                  <a:pt x="0" y="65544"/>
                  <a:pt x="0" y="65836"/>
                </a:cubicBezTo>
                <a:cubicBezTo>
                  <a:pt x="0" y="68171"/>
                  <a:pt x="1898" y="70098"/>
                  <a:pt x="4263" y="70098"/>
                </a:cubicBezTo>
                <a:lnTo>
                  <a:pt x="14452" y="70098"/>
                </a:lnTo>
                <a:cubicBezTo>
                  <a:pt x="16787" y="70098"/>
                  <a:pt x="18714" y="68200"/>
                  <a:pt x="18714" y="65836"/>
                </a:cubicBezTo>
                <a:cubicBezTo>
                  <a:pt x="18714" y="65544"/>
                  <a:pt x="18685" y="65281"/>
                  <a:pt x="18627" y="64989"/>
                </a:cubicBezTo>
                <a:lnTo>
                  <a:pt x="14014" y="42041"/>
                </a:lnTo>
                <a:lnTo>
                  <a:pt x="14014" y="22568"/>
                </a:lnTo>
                <a:lnTo>
                  <a:pt x="28028" y="25371"/>
                </a:lnTo>
                <a:lnTo>
                  <a:pt x="28028" y="42041"/>
                </a:lnTo>
                <a:cubicBezTo>
                  <a:pt x="28028" y="62683"/>
                  <a:pt x="44757" y="79411"/>
                  <a:pt x="65398" y="79411"/>
                </a:cubicBezTo>
                <a:cubicBezTo>
                  <a:pt x="86039" y="79411"/>
                  <a:pt x="102768" y="62683"/>
                  <a:pt x="102768" y="42041"/>
                </a:cubicBezTo>
                <a:lnTo>
                  <a:pt x="102768" y="25371"/>
                </a:lnTo>
                <a:lnTo>
                  <a:pt x="125161" y="20904"/>
                </a:lnTo>
                <a:cubicBezTo>
                  <a:pt x="128431" y="20232"/>
                  <a:pt x="130795" y="17342"/>
                  <a:pt x="130795" y="14014"/>
                </a:cubicBezTo>
                <a:cubicBezTo>
                  <a:pt x="130795" y="10686"/>
                  <a:pt x="128431" y="7795"/>
                  <a:pt x="125161" y="7153"/>
                </a:cubicBezTo>
                <a:lnTo>
                  <a:pt x="70449" y="-3795"/>
                </a:lnTo>
                <a:close/>
                <a:moveTo>
                  <a:pt x="65398" y="65398"/>
                </a:moveTo>
                <a:cubicBezTo>
                  <a:pt x="52493" y="65398"/>
                  <a:pt x="42041" y="54946"/>
                  <a:pt x="42041" y="42041"/>
                </a:cubicBezTo>
                <a:lnTo>
                  <a:pt x="88754" y="42041"/>
                </a:lnTo>
                <a:cubicBezTo>
                  <a:pt x="88754" y="54946"/>
                  <a:pt x="78302" y="65398"/>
                  <a:pt x="65398" y="65398"/>
                </a:cubicBezTo>
                <a:close/>
                <a:moveTo>
                  <a:pt x="35064" y="93454"/>
                </a:moveTo>
                <a:cubicBezTo>
                  <a:pt x="17138" y="101688"/>
                  <a:pt x="4671" y="119789"/>
                  <a:pt x="4671" y="140809"/>
                </a:cubicBezTo>
                <a:cubicBezTo>
                  <a:pt x="4671" y="145597"/>
                  <a:pt x="8554" y="149480"/>
                  <a:pt x="13342" y="149480"/>
                </a:cubicBezTo>
                <a:lnTo>
                  <a:pt x="58391" y="149480"/>
                </a:lnTo>
                <a:lnTo>
                  <a:pt x="58391" y="106855"/>
                </a:lnTo>
                <a:lnTo>
                  <a:pt x="41633" y="94301"/>
                </a:lnTo>
                <a:cubicBezTo>
                  <a:pt x="39735" y="92871"/>
                  <a:pt x="37195" y="92491"/>
                  <a:pt x="35034" y="93484"/>
                </a:cubicBezTo>
                <a:close/>
                <a:moveTo>
                  <a:pt x="72405" y="149480"/>
                </a:moveTo>
                <a:lnTo>
                  <a:pt x="117453" y="149480"/>
                </a:lnTo>
                <a:cubicBezTo>
                  <a:pt x="122241" y="149480"/>
                  <a:pt x="126124" y="145597"/>
                  <a:pt x="126124" y="140809"/>
                </a:cubicBezTo>
                <a:cubicBezTo>
                  <a:pt x="126124" y="119789"/>
                  <a:pt x="113658" y="101688"/>
                  <a:pt x="95732" y="93484"/>
                </a:cubicBezTo>
                <a:cubicBezTo>
                  <a:pt x="93571" y="92491"/>
                  <a:pt x="91031" y="92871"/>
                  <a:pt x="89134" y="94301"/>
                </a:cubicBezTo>
                <a:lnTo>
                  <a:pt x="72375" y="106855"/>
                </a:lnTo>
                <a:lnTo>
                  <a:pt x="72375" y="149480"/>
                </a:lnTo>
                <a:close/>
              </a:path>
            </a:pathLst>
          </a:custGeom>
          <a:solidFill>
            <a:srgbClr val="6366F1"/>
          </a:solidFill>
          <a:ln/>
        </p:spPr>
      </p:sp>
      <p:sp>
        <p:nvSpPr>
          <p:cNvPr id="6" name="Text 4"/>
          <p:cNvSpPr/>
          <p:nvPr/>
        </p:nvSpPr>
        <p:spPr>
          <a:xfrm>
            <a:off x="859513" y="1233214"/>
            <a:ext cx="5203789" cy="261591"/>
          </a:xfrm>
          <a:prstGeom prst="rect">
            <a:avLst/>
          </a:prstGeom>
          <a:noFill/>
          <a:ln/>
        </p:spPr>
        <p:txBody>
          <a:bodyPr wrap="square" lIns="0" tIns="0" rIns="0" bIns="0" rtlCol="0" anchor="ctr"/>
          <a:lstStyle/>
          <a:p>
            <a:pPr>
              <a:lnSpc>
                <a:spcPct val="130000"/>
              </a:lnSpc>
            </a:pPr>
            <a:r>
              <a:rPr lang="en-US" sz="1324" b="1" dirty="0">
                <a:solidFill>
                  <a:srgbClr val="EFEFEF"/>
                </a:solidFill>
                <a:latin typeface="Liter" pitchFamily="34" charset="0"/>
                <a:ea typeface="Liter" pitchFamily="34" charset="-122"/>
                <a:cs typeface="Liter" pitchFamily="34" charset="-120"/>
              </a:rPr>
              <a:t>Student Records</a:t>
            </a:r>
            <a:endParaRPr lang="en-US" sz="1600" dirty="0"/>
          </a:p>
        </p:txBody>
      </p:sp>
      <p:sp>
        <p:nvSpPr>
          <p:cNvPr id="7" name="Text 5"/>
          <p:cNvSpPr/>
          <p:nvPr/>
        </p:nvSpPr>
        <p:spPr>
          <a:xfrm>
            <a:off x="859513" y="1532175"/>
            <a:ext cx="5194446" cy="448441"/>
          </a:xfrm>
          <a:prstGeom prst="rect">
            <a:avLst/>
          </a:prstGeom>
          <a:noFill/>
          <a:ln/>
        </p:spPr>
        <p:txBody>
          <a:bodyPr wrap="square" lIns="0" tIns="0" rIns="0" bIns="0" rtlCol="0" anchor="ctr"/>
          <a:lstStyle/>
          <a:p>
            <a:pPr>
              <a:lnSpc>
                <a:spcPct val="130000"/>
              </a:lnSpc>
            </a:pPr>
            <a:r>
              <a:rPr lang="en-US" sz="1177" dirty="0">
                <a:solidFill>
                  <a:srgbClr val="8F8F8F"/>
                </a:solidFill>
                <a:latin typeface="Liter" pitchFamily="34" charset="0"/>
                <a:ea typeface="Liter" pitchFamily="34" charset="-122"/>
                <a:cs typeface="Liter" pitchFamily="34" charset="-120"/>
              </a:rPr>
              <a:t>Store personal info, grades, attendance, and behavior reports digitally for easy access</a:t>
            </a:r>
            <a:endParaRPr lang="en-US" sz="1600" dirty="0"/>
          </a:p>
        </p:txBody>
      </p:sp>
      <p:sp>
        <p:nvSpPr>
          <p:cNvPr id="8" name="Shape 6"/>
          <p:cNvSpPr/>
          <p:nvPr/>
        </p:nvSpPr>
        <p:spPr>
          <a:xfrm>
            <a:off x="373701" y="2130097"/>
            <a:ext cx="373701" cy="373701"/>
          </a:xfrm>
          <a:custGeom>
            <a:avLst/>
            <a:gdLst/>
            <a:ahLst/>
            <a:cxnLst/>
            <a:rect l="l" t="t" r="r" b="b"/>
            <a:pathLst>
              <a:path w="373701" h="373701">
                <a:moveTo>
                  <a:pt x="74740" y="0"/>
                </a:moveTo>
                <a:lnTo>
                  <a:pt x="298961" y="0"/>
                </a:lnTo>
                <a:cubicBezTo>
                  <a:pt x="340211" y="0"/>
                  <a:pt x="373701" y="33490"/>
                  <a:pt x="373701" y="74740"/>
                </a:cubicBezTo>
                <a:lnTo>
                  <a:pt x="373701" y="298961"/>
                </a:lnTo>
                <a:cubicBezTo>
                  <a:pt x="373701" y="340211"/>
                  <a:pt x="340211" y="373701"/>
                  <a:pt x="298961" y="373701"/>
                </a:cubicBezTo>
                <a:lnTo>
                  <a:pt x="74740" y="373701"/>
                </a:lnTo>
                <a:cubicBezTo>
                  <a:pt x="33490" y="373701"/>
                  <a:pt x="0" y="340211"/>
                  <a:pt x="0" y="298961"/>
                </a:cubicBezTo>
                <a:lnTo>
                  <a:pt x="0" y="74740"/>
                </a:lnTo>
                <a:cubicBezTo>
                  <a:pt x="0" y="33490"/>
                  <a:pt x="33490" y="0"/>
                  <a:pt x="74740" y="0"/>
                </a:cubicBezTo>
                <a:close/>
              </a:path>
            </a:pathLst>
          </a:custGeom>
          <a:solidFill>
            <a:srgbClr val="6366F1">
              <a:alpha val="20000"/>
            </a:srgbClr>
          </a:solidFill>
          <a:ln/>
        </p:spPr>
      </p:sp>
      <p:sp>
        <p:nvSpPr>
          <p:cNvPr id="9" name="Shape 7"/>
          <p:cNvSpPr/>
          <p:nvPr/>
        </p:nvSpPr>
        <p:spPr>
          <a:xfrm>
            <a:off x="495154" y="2242207"/>
            <a:ext cx="130795" cy="149480"/>
          </a:xfrm>
          <a:custGeom>
            <a:avLst/>
            <a:gdLst/>
            <a:ahLst/>
            <a:cxnLst/>
            <a:rect l="l" t="t" r="r" b="b"/>
            <a:pathLst>
              <a:path w="130795" h="149480">
                <a:moveTo>
                  <a:pt x="37370" y="0"/>
                </a:moveTo>
                <a:cubicBezTo>
                  <a:pt x="42538" y="0"/>
                  <a:pt x="46713" y="4175"/>
                  <a:pt x="46713" y="9343"/>
                </a:cubicBezTo>
                <a:lnTo>
                  <a:pt x="46713" y="18685"/>
                </a:lnTo>
                <a:lnTo>
                  <a:pt x="84083" y="18685"/>
                </a:lnTo>
                <a:lnTo>
                  <a:pt x="84083" y="9343"/>
                </a:lnTo>
                <a:cubicBezTo>
                  <a:pt x="84083" y="4175"/>
                  <a:pt x="88258" y="0"/>
                  <a:pt x="93425" y="0"/>
                </a:cubicBezTo>
                <a:cubicBezTo>
                  <a:pt x="98593" y="0"/>
                  <a:pt x="102768" y="4175"/>
                  <a:pt x="102768" y="9343"/>
                </a:cubicBezTo>
                <a:lnTo>
                  <a:pt x="102768" y="18685"/>
                </a:lnTo>
                <a:lnTo>
                  <a:pt x="112110" y="18685"/>
                </a:lnTo>
                <a:cubicBezTo>
                  <a:pt x="122416" y="18685"/>
                  <a:pt x="130795" y="27064"/>
                  <a:pt x="130795" y="37370"/>
                </a:cubicBezTo>
                <a:lnTo>
                  <a:pt x="130795" y="121453"/>
                </a:lnTo>
                <a:cubicBezTo>
                  <a:pt x="130795" y="131759"/>
                  <a:pt x="122416" y="140138"/>
                  <a:pt x="112110" y="140138"/>
                </a:cubicBezTo>
                <a:lnTo>
                  <a:pt x="18685" y="140138"/>
                </a:lnTo>
                <a:cubicBezTo>
                  <a:pt x="8379" y="140138"/>
                  <a:pt x="0" y="131759"/>
                  <a:pt x="0" y="121453"/>
                </a:cubicBezTo>
                <a:lnTo>
                  <a:pt x="0" y="37370"/>
                </a:lnTo>
                <a:cubicBezTo>
                  <a:pt x="0" y="27064"/>
                  <a:pt x="8379" y="18685"/>
                  <a:pt x="18685" y="18685"/>
                </a:cubicBezTo>
                <a:lnTo>
                  <a:pt x="28028" y="18685"/>
                </a:lnTo>
                <a:lnTo>
                  <a:pt x="28028" y="9343"/>
                </a:lnTo>
                <a:cubicBezTo>
                  <a:pt x="28028" y="4175"/>
                  <a:pt x="32203" y="0"/>
                  <a:pt x="37370" y="0"/>
                </a:cubicBezTo>
                <a:close/>
                <a:moveTo>
                  <a:pt x="90039" y="66770"/>
                </a:moveTo>
                <a:cubicBezTo>
                  <a:pt x="92082" y="63500"/>
                  <a:pt x="91090" y="59179"/>
                  <a:pt x="87820" y="57106"/>
                </a:cubicBezTo>
                <a:cubicBezTo>
                  <a:pt x="84550" y="55033"/>
                  <a:pt x="80229" y="56055"/>
                  <a:pt x="78156" y="59325"/>
                </a:cubicBezTo>
                <a:lnTo>
                  <a:pt x="60230" y="88024"/>
                </a:lnTo>
                <a:lnTo>
                  <a:pt x="52347" y="77514"/>
                </a:lnTo>
                <a:cubicBezTo>
                  <a:pt x="50012" y="74419"/>
                  <a:pt x="45632" y="73777"/>
                  <a:pt x="42538" y="76112"/>
                </a:cubicBezTo>
                <a:cubicBezTo>
                  <a:pt x="39443" y="78448"/>
                  <a:pt x="38801" y="82827"/>
                  <a:pt x="41136" y="85922"/>
                </a:cubicBezTo>
                <a:lnTo>
                  <a:pt x="55150" y="104607"/>
                </a:lnTo>
                <a:cubicBezTo>
                  <a:pt x="56522" y="106446"/>
                  <a:pt x="58741" y="107497"/>
                  <a:pt x="61048" y="107410"/>
                </a:cubicBezTo>
                <a:cubicBezTo>
                  <a:pt x="63354" y="107322"/>
                  <a:pt x="65456" y="106096"/>
                  <a:pt x="66682" y="104111"/>
                </a:cubicBezTo>
                <a:lnTo>
                  <a:pt x="90039" y="66741"/>
                </a:lnTo>
                <a:close/>
              </a:path>
            </a:pathLst>
          </a:custGeom>
          <a:solidFill>
            <a:srgbClr val="6366F1"/>
          </a:solidFill>
          <a:ln/>
        </p:spPr>
      </p:sp>
      <p:sp>
        <p:nvSpPr>
          <p:cNvPr id="10" name="Text 8"/>
          <p:cNvSpPr/>
          <p:nvPr/>
        </p:nvSpPr>
        <p:spPr>
          <a:xfrm>
            <a:off x="859513" y="2130097"/>
            <a:ext cx="5203789" cy="261591"/>
          </a:xfrm>
          <a:prstGeom prst="rect">
            <a:avLst/>
          </a:prstGeom>
          <a:noFill/>
          <a:ln/>
        </p:spPr>
        <p:txBody>
          <a:bodyPr wrap="square" lIns="0" tIns="0" rIns="0" bIns="0" rtlCol="0" anchor="ctr"/>
          <a:lstStyle/>
          <a:p>
            <a:pPr>
              <a:lnSpc>
                <a:spcPct val="130000"/>
              </a:lnSpc>
            </a:pPr>
            <a:r>
              <a:rPr lang="en-US" sz="1324" b="1" dirty="0">
                <a:solidFill>
                  <a:srgbClr val="EFEFEF"/>
                </a:solidFill>
                <a:latin typeface="Liter" pitchFamily="34" charset="0"/>
                <a:ea typeface="Liter" pitchFamily="34" charset="-122"/>
                <a:cs typeface="Liter" pitchFamily="34" charset="-120"/>
              </a:rPr>
              <a:t>Attendance Tracking</a:t>
            </a:r>
            <a:endParaRPr lang="en-US" sz="1600" dirty="0"/>
          </a:p>
        </p:txBody>
      </p:sp>
      <p:sp>
        <p:nvSpPr>
          <p:cNvPr id="11" name="Text 9"/>
          <p:cNvSpPr/>
          <p:nvPr/>
        </p:nvSpPr>
        <p:spPr>
          <a:xfrm>
            <a:off x="859513" y="2429057"/>
            <a:ext cx="5194446" cy="448441"/>
          </a:xfrm>
          <a:prstGeom prst="rect">
            <a:avLst/>
          </a:prstGeom>
          <a:noFill/>
          <a:ln/>
        </p:spPr>
        <p:txBody>
          <a:bodyPr wrap="square" lIns="0" tIns="0" rIns="0" bIns="0" rtlCol="0" anchor="ctr"/>
          <a:lstStyle/>
          <a:p>
            <a:pPr>
              <a:lnSpc>
                <a:spcPct val="130000"/>
              </a:lnSpc>
            </a:pPr>
            <a:r>
              <a:rPr lang="en-US" sz="1177" dirty="0">
                <a:solidFill>
                  <a:srgbClr val="8F8F8F"/>
                </a:solidFill>
                <a:latin typeface="Liter" pitchFamily="34" charset="0"/>
                <a:ea typeface="Liter" pitchFamily="34" charset="-122"/>
                <a:cs typeface="Liter" pitchFamily="34" charset="-120"/>
              </a:rPr>
              <a:t>Automated systems mark attendance and alert parents when students are absent</a:t>
            </a:r>
            <a:endParaRPr lang="en-US" sz="1600" dirty="0"/>
          </a:p>
        </p:txBody>
      </p:sp>
      <p:sp>
        <p:nvSpPr>
          <p:cNvPr id="12" name="Shape 10"/>
          <p:cNvSpPr/>
          <p:nvPr/>
        </p:nvSpPr>
        <p:spPr>
          <a:xfrm>
            <a:off x="373701" y="3026979"/>
            <a:ext cx="373701" cy="373701"/>
          </a:xfrm>
          <a:custGeom>
            <a:avLst/>
            <a:gdLst/>
            <a:ahLst/>
            <a:cxnLst/>
            <a:rect l="l" t="t" r="r" b="b"/>
            <a:pathLst>
              <a:path w="373701" h="373701">
                <a:moveTo>
                  <a:pt x="74740" y="0"/>
                </a:moveTo>
                <a:lnTo>
                  <a:pt x="298961" y="0"/>
                </a:lnTo>
                <a:cubicBezTo>
                  <a:pt x="340211" y="0"/>
                  <a:pt x="373701" y="33490"/>
                  <a:pt x="373701" y="74740"/>
                </a:cubicBezTo>
                <a:lnTo>
                  <a:pt x="373701" y="298961"/>
                </a:lnTo>
                <a:cubicBezTo>
                  <a:pt x="373701" y="340211"/>
                  <a:pt x="340211" y="373701"/>
                  <a:pt x="298961" y="373701"/>
                </a:cubicBezTo>
                <a:lnTo>
                  <a:pt x="74740" y="373701"/>
                </a:lnTo>
                <a:cubicBezTo>
                  <a:pt x="33490" y="373701"/>
                  <a:pt x="0" y="340211"/>
                  <a:pt x="0" y="298961"/>
                </a:cubicBezTo>
                <a:lnTo>
                  <a:pt x="0" y="74740"/>
                </a:lnTo>
                <a:cubicBezTo>
                  <a:pt x="0" y="33490"/>
                  <a:pt x="33490" y="0"/>
                  <a:pt x="74740" y="0"/>
                </a:cubicBezTo>
                <a:close/>
              </a:path>
            </a:pathLst>
          </a:custGeom>
          <a:solidFill>
            <a:srgbClr val="6366F1">
              <a:alpha val="20000"/>
            </a:srgbClr>
          </a:solidFill>
          <a:ln/>
        </p:spPr>
      </p:sp>
      <p:sp>
        <p:nvSpPr>
          <p:cNvPr id="13" name="Shape 11"/>
          <p:cNvSpPr/>
          <p:nvPr/>
        </p:nvSpPr>
        <p:spPr>
          <a:xfrm>
            <a:off x="495154" y="3139090"/>
            <a:ext cx="130795" cy="149480"/>
          </a:xfrm>
          <a:custGeom>
            <a:avLst/>
            <a:gdLst/>
            <a:ahLst/>
            <a:cxnLst/>
            <a:rect l="l" t="t" r="r" b="b"/>
            <a:pathLst>
              <a:path w="130795" h="149480">
                <a:moveTo>
                  <a:pt x="112110" y="149480"/>
                </a:moveTo>
                <a:lnTo>
                  <a:pt x="28028" y="149480"/>
                </a:lnTo>
                <a:cubicBezTo>
                  <a:pt x="12554" y="149480"/>
                  <a:pt x="0" y="136926"/>
                  <a:pt x="0" y="121453"/>
                </a:cubicBezTo>
                <a:lnTo>
                  <a:pt x="0" y="28028"/>
                </a:lnTo>
                <a:cubicBezTo>
                  <a:pt x="0" y="12554"/>
                  <a:pt x="12554" y="0"/>
                  <a:pt x="28028" y="0"/>
                </a:cubicBezTo>
                <a:lnTo>
                  <a:pt x="116782" y="0"/>
                </a:lnTo>
                <a:cubicBezTo>
                  <a:pt x="124518" y="0"/>
                  <a:pt x="130795" y="6277"/>
                  <a:pt x="130795" y="14014"/>
                </a:cubicBezTo>
                <a:lnTo>
                  <a:pt x="130795" y="98097"/>
                </a:lnTo>
                <a:cubicBezTo>
                  <a:pt x="130795" y="104198"/>
                  <a:pt x="126883" y="109395"/>
                  <a:pt x="121453" y="111322"/>
                </a:cubicBezTo>
                <a:lnTo>
                  <a:pt x="121453" y="130795"/>
                </a:lnTo>
                <a:cubicBezTo>
                  <a:pt x="126620" y="130795"/>
                  <a:pt x="130795" y="134970"/>
                  <a:pt x="130795" y="140138"/>
                </a:cubicBezTo>
                <a:cubicBezTo>
                  <a:pt x="130795" y="145306"/>
                  <a:pt x="126620" y="149480"/>
                  <a:pt x="121453" y="149480"/>
                </a:cubicBezTo>
                <a:lnTo>
                  <a:pt x="112110" y="149480"/>
                </a:lnTo>
                <a:close/>
                <a:moveTo>
                  <a:pt x="28028" y="112110"/>
                </a:moveTo>
                <a:cubicBezTo>
                  <a:pt x="22860" y="112110"/>
                  <a:pt x="18685" y="116285"/>
                  <a:pt x="18685" y="121453"/>
                </a:cubicBezTo>
                <a:cubicBezTo>
                  <a:pt x="18685" y="126620"/>
                  <a:pt x="22860" y="130795"/>
                  <a:pt x="28028" y="130795"/>
                </a:cubicBezTo>
                <a:lnTo>
                  <a:pt x="102768" y="130795"/>
                </a:lnTo>
                <a:lnTo>
                  <a:pt x="102768" y="112110"/>
                </a:lnTo>
                <a:lnTo>
                  <a:pt x="28028" y="112110"/>
                </a:lnTo>
                <a:close/>
                <a:moveTo>
                  <a:pt x="37370" y="44377"/>
                </a:moveTo>
                <a:cubicBezTo>
                  <a:pt x="37370" y="48260"/>
                  <a:pt x="40494" y="51384"/>
                  <a:pt x="44377" y="51384"/>
                </a:cubicBezTo>
                <a:lnTo>
                  <a:pt x="95761" y="51384"/>
                </a:lnTo>
                <a:cubicBezTo>
                  <a:pt x="99644" y="51384"/>
                  <a:pt x="102768" y="48260"/>
                  <a:pt x="102768" y="44377"/>
                </a:cubicBezTo>
                <a:cubicBezTo>
                  <a:pt x="102768" y="40494"/>
                  <a:pt x="99644" y="37370"/>
                  <a:pt x="95761" y="37370"/>
                </a:cubicBezTo>
                <a:lnTo>
                  <a:pt x="44377" y="37370"/>
                </a:lnTo>
                <a:cubicBezTo>
                  <a:pt x="40494" y="37370"/>
                  <a:pt x="37370" y="40494"/>
                  <a:pt x="37370" y="44377"/>
                </a:cubicBezTo>
                <a:close/>
                <a:moveTo>
                  <a:pt x="44377" y="65398"/>
                </a:moveTo>
                <a:cubicBezTo>
                  <a:pt x="40494" y="65398"/>
                  <a:pt x="37370" y="68522"/>
                  <a:pt x="37370" y="72405"/>
                </a:cubicBezTo>
                <a:cubicBezTo>
                  <a:pt x="37370" y="76288"/>
                  <a:pt x="40494" y="79411"/>
                  <a:pt x="44377" y="79411"/>
                </a:cubicBezTo>
                <a:lnTo>
                  <a:pt x="95761" y="79411"/>
                </a:lnTo>
                <a:cubicBezTo>
                  <a:pt x="99644" y="79411"/>
                  <a:pt x="102768" y="76288"/>
                  <a:pt x="102768" y="72405"/>
                </a:cubicBezTo>
                <a:cubicBezTo>
                  <a:pt x="102768" y="68522"/>
                  <a:pt x="99644" y="65398"/>
                  <a:pt x="95761" y="65398"/>
                </a:cubicBezTo>
                <a:lnTo>
                  <a:pt x="44377" y="65398"/>
                </a:lnTo>
                <a:close/>
              </a:path>
            </a:pathLst>
          </a:custGeom>
          <a:solidFill>
            <a:srgbClr val="6366F1"/>
          </a:solidFill>
          <a:ln/>
        </p:spPr>
      </p:sp>
      <p:sp>
        <p:nvSpPr>
          <p:cNvPr id="14" name="Text 12"/>
          <p:cNvSpPr/>
          <p:nvPr/>
        </p:nvSpPr>
        <p:spPr>
          <a:xfrm>
            <a:off x="859513" y="3026979"/>
            <a:ext cx="5203789" cy="261591"/>
          </a:xfrm>
          <a:prstGeom prst="rect">
            <a:avLst/>
          </a:prstGeom>
          <a:noFill/>
          <a:ln/>
        </p:spPr>
        <p:txBody>
          <a:bodyPr wrap="square" lIns="0" tIns="0" rIns="0" bIns="0" rtlCol="0" anchor="ctr"/>
          <a:lstStyle/>
          <a:p>
            <a:pPr>
              <a:lnSpc>
                <a:spcPct val="130000"/>
              </a:lnSpc>
            </a:pPr>
            <a:r>
              <a:rPr lang="en-US" sz="1324" b="1" dirty="0">
                <a:solidFill>
                  <a:srgbClr val="EFEFEF"/>
                </a:solidFill>
                <a:latin typeface="Liter" pitchFamily="34" charset="0"/>
                <a:ea typeface="Liter" pitchFamily="34" charset="-122"/>
                <a:cs typeface="Liter" pitchFamily="34" charset="-120"/>
              </a:rPr>
              <a:t>Grade Management</a:t>
            </a:r>
            <a:endParaRPr lang="en-US" sz="1600" dirty="0"/>
          </a:p>
        </p:txBody>
      </p:sp>
      <p:sp>
        <p:nvSpPr>
          <p:cNvPr id="15" name="Text 13"/>
          <p:cNvSpPr/>
          <p:nvPr/>
        </p:nvSpPr>
        <p:spPr>
          <a:xfrm>
            <a:off x="859513" y="3325940"/>
            <a:ext cx="5194446" cy="448441"/>
          </a:xfrm>
          <a:prstGeom prst="rect">
            <a:avLst/>
          </a:prstGeom>
          <a:noFill/>
          <a:ln/>
        </p:spPr>
        <p:txBody>
          <a:bodyPr wrap="square" lIns="0" tIns="0" rIns="0" bIns="0" rtlCol="0" anchor="ctr"/>
          <a:lstStyle/>
          <a:p>
            <a:pPr>
              <a:lnSpc>
                <a:spcPct val="130000"/>
              </a:lnSpc>
            </a:pPr>
            <a:r>
              <a:rPr lang="en-US" sz="1177" dirty="0">
                <a:solidFill>
                  <a:srgbClr val="8F8F8F"/>
                </a:solidFill>
                <a:latin typeface="Liter" pitchFamily="34" charset="0"/>
                <a:ea typeface="Liter" pitchFamily="34" charset="-122"/>
                <a:cs typeface="Liter" pitchFamily="34" charset="-120"/>
              </a:rPr>
              <a:t>Teachers enter grades online, and students/parents can view progress reports instantly</a:t>
            </a:r>
            <a:endParaRPr lang="en-US" sz="1600" dirty="0"/>
          </a:p>
        </p:txBody>
      </p:sp>
      <p:sp>
        <p:nvSpPr>
          <p:cNvPr id="16" name="Shape 14"/>
          <p:cNvSpPr/>
          <p:nvPr/>
        </p:nvSpPr>
        <p:spPr>
          <a:xfrm>
            <a:off x="373701" y="3923862"/>
            <a:ext cx="373701" cy="373701"/>
          </a:xfrm>
          <a:custGeom>
            <a:avLst/>
            <a:gdLst/>
            <a:ahLst/>
            <a:cxnLst/>
            <a:rect l="l" t="t" r="r" b="b"/>
            <a:pathLst>
              <a:path w="373701" h="373701">
                <a:moveTo>
                  <a:pt x="74740" y="0"/>
                </a:moveTo>
                <a:lnTo>
                  <a:pt x="298961" y="0"/>
                </a:lnTo>
                <a:cubicBezTo>
                  <a:pt x="340211" y="0"/>
                  <a:pt x="373701" y="33490"/>
                  <a:pt x="373701" y="74740"/>
                </a:cubicBezTo>
                <a:lnTo>
                  <a:pt x="373701" y="298961"/>
                </a:lnTo>
                <a:cubicBezTo>
                  <a:pt x="373701" y="340211"/>
                  <a:pt x="340211" y="373701"/>
                  <a:pt x="298961" y="373701"/>
                </a:cubicBezTo>
                <a:lnTo>
                  <a:pt x="74740" y="373701"/>
                </a:lnTo>
                <a:cubicBezTo>
                  <a:pt x="33490" y="373701"/>
                  <a:pt x="0" y="340211"/>
                  <a:pt x="0" y="298961"/>
                </a:cubicBezTo>
                <a:lnTo>
                  <a:pt x="0" y="74740"/>
                </a:lnTo>
                <a:cubicBezTo>
                  <a:pt x="0" y="33490"/>
                  <a:pt x="33490" y="0"/>
                  <a:pt x="74740" y="0"/>
                </a:cubicBezTo>
                <a:close/>
              </a:path>
            </a:pathLst>
          </a:custGeom>
          <a:solidFill>
            <a:srgbClr val="6366F1">
              <a:alpha val="20000"/>
            </a:srgbClr>
          </a:solidFill>
          <a:ln/>
        </p:spPr>
      </p:sp>
      <p:sp>
        <p:nvSpPr>
          <p:cNvPr id="17" name="Shape 15"/>
          <p:cNvSpPr/>
          <p:nvPr/>
        </p:nvSpPr>
        <p:spPr>
          <a:xfrm>
            <a:off x="485811" y="4035972"/>
            <a:ext cx="149480" cy="149480"/>
          </a:xfrm>
          <a:custGeom>
            <a:avLst/>
            <a:gdLst/>
            <a:ahLst/>
            <a:cxnLst/>
            <a:rect l="l" t="t" r="r" b="b"/>
            <a:pathLst>
              <a:path w="149480" h="149480">
                <a:moveTo>
                  <a:pt x="74740" y="0"/>
                </a:moveTo>
                <a:cubicBezTo>
                  <a:pt x="115990" y="0"/>
                  <a:pt x="149480" y="33490"/>
                  <a:pt x="149480" y="74740"/>
                </a:cubicBezTo>
                <a:cubicBezTo>
                  <a:pt x="149480" y="115990"/>
                  <a:pt x="115990" y="149480"/>
                  <a:pt x="74740" y="149480"/>
                </a:cubicBezTo>
                <a:cubicBezTo>
                  <a:pt x="33490" y="149480"/>
                  <a:pt x="0" y="115990"/>
                  <a:pt x="0" y="74740"/>
                </a:cubicBezTo>
                <a:cubicBezTo>
                  <a:pt x="0" y="33490"/>
                  <a:pt x="33490" y="0"/>
                  <a:pt x="74740" y="0"/>
                </a:cubicBezTo>
                <a:close/>
                <a:moveTo>
                  <a:pt x="67733" y="35034"/>
                </a:moveTo>
                <a:lnTo>
                  <a:pt x="67733" y="74740"/>
                </a:lnTo>
                <a:cubicBezTo>
                  <a:pt x="67733" y="77076"/>
                  <a:pt x="68901" y="79266"/>
                  <a:pt x="70857" y="80579"/>
                </a:cubicBezTo>
                <a:lnTo>
                  <a:pt x="98885" y="99264"/>
                </a:lnTo>
                <a:cubicBezTo>
                  <a:pt x="102096" y="101425"/>
                  <a:pt x="106446" y="100549"/>
                  <a:pt x="108607" y="97308"/>
                </a:cubicBezTo>
                <a:cubicBezTo>
                  <a:pt x="110767" y="94068"/>
                  <a:pt x="109891" y="89747"/>
                  <a:pt x="106651" y="87586"/>
                </a:cubicBezTo>
                <a:lnTo>
                  <a:pt x="81747" y="71003"/>
                </a:lnTo>
                <a:lnTo>
                  <a:pt x="81747" y="35034"/>
                </a:lnTo>
                <a:cubicBezTo>
                  <a:pt x="81747" y="31151"/>
                  <a:pt x="78623" y="28028"/>
                  <a:pt x="74740" y="28028"/>
                </a:cubicBezTo>
                <a:cubicBezTo>
                  <a:pt x="70857" y="28028"/>
                  <a:pt x="67733" y="31151"/>
                  <a:pt x="67733" y="35034"/>
                </a:cubicBezTo>
                <a:close/>
              </a:path>
            </a:pathLst>
          </a:custGeom>
          <a:solidFill>
            <a:srgbClr val="6366F1"/>
          </a:solidFill>
          <a:ln/>
        </p:spPr>
      </p:sp>
      <p:sp>
        <p:nvSpPr>
          <p:cNvPr id="18" name="Text 16"/>
          <p:cNvSpPr/>
          <p:nvPr/>
        </p:nvSpPr>
        <p:spPr>
          <a:xfrm>
            <a:off x="859513" y="3923862"/>
            <a:ext cx="5203789" cy="261591"/>
          </a:xfrm>
          <a:prstGeom prst="rect">
            <a:avLst/>
          </a:prstGeom>
          <a:noFill/>
          <a:ln/>
        </p:spPr>
        <p:txBody>
          <a:bodyPr wrap="square" lIns="0" tIns="0" rIns="0" bIns="0" rtlCol="0" anchor="ctr"/>
          <a:lstStyle/>
          <a:p>
            <a:pPr>
              <a:lnSpc>
                <a:spcPct val="130000"/>
              </a:lnSpc>
            </a:pPr>
            <a:r>
              <a:rPr lang="en-US" sz="1324" b="1" dirty="0">
                <a:solidFill>
                  <a:srgbClr val="EFEFEF"/>
                </a:solidFill>
                <a:latin typeface="Liter" pitchFamily="34" charset="0"/>
                <a:ea typeface="Liter" pitchFamily="34" charset="-122"/>
                <a:cs typeface="Liter" pitchFamily="34" charset="-120"/>
              </a:rPr>
              <a:t>Timetable Scheduling</a:t>
            </a:r>
            <a:endParaRPr lang="en-US" sz="1600" dirty="0"/>
          </a:p>
        </p:txBody>
      </p:sp>
      <p:sp>
        <p:nvSpPr>
          <p:cNvPr id="19" name="Text 17"/>
          <p:cNvSpPr/>
          <p:nvPr/>
        </p:nvSpPr>
        <p:spPr>
          <a:xfrm>
            <a:off x="859513" y="4222823"/>
            <a:ext cx="5194446" cy="448441"/>
          </a:xfrm>
          <a:prstGeom prst="rect">
            <a:avLst/>
          </a:prstGeom>
          <a:noFill/>
          <a:ln/>
        </p:spPr>
        <p:txBody>
          <a:bodyPr wrap="square" lIns="0" tIns="0" rIns="0" bIns="0" rtlCol="0" anchor="ctr"/>
          <a:lstStyle/>
          <a:p>
            <a:pPr>
              <a:lnSpc>
                <a:spcPct val="130000"/>
              </a:lnSpc>
            </a:pPr>
            <a:r>
              <a:rPr lang="en-US" sz="1177" dirty="0">
                <a:solidFill>
                  <a:srgbClr val="8F8F8F"/>
                </a:solidFill>
                <a:latin typeface="Liter" pitchFamily="34" charset="0"/>
                <a:ea typeface="Liter" pitchFamily="34" charset="-122"/>
                <a:cs typeface="Liter" pitchFamily="34" charset="-120"/>
              </a:rPr>
              <a:t>Software creates class schedules, assigns teachers to rooms, and avoids conflicts</a:t>
            </a:r>
            <a:endParaRPr lang="en-US" sz="1600" dirty="0"/>
          </a:p>
        </p:txBody>
      </p:sp>
      <p:sp>
        <p:nvSpPr>
          <p:cNvPr id="20" name="Shape 18"/>
          <p:cNvSpPr/>
          <p:nvPr/>
        </p:nvSpPr>
        <p:spPr>
          <a:xfrm>
            <a:off x="373701" y="4820745"/>
            <a:ext cx="373701" cy="373701"/>
          </a:xfrm>
          <a:custGeom>
            <a:avLst/>
            <a:gdLst/>
            <a:ahLst/>
            <a:cxnLst/>
            <a:rect l="l" t="t" r="r" b="b"/>
            <a:pathLst>
              <a:path w="373701" h="373701">
                <a:moveTo>
                  <a:pt x="74740" y="0"/>
                </a:moveTo>
                <a:lnTo>
                  <a:pt x="298961" y="0"/>
                </a:lnTo>
                <a:cubicBezTo>
                  <a:pt x="340211" y="0"/>
                  <a:pt x="373701" y="33490"/>
                  <a:pt x="373701" y="74740"/>
                </a:cubicBezTo>
                <a:lnTo>
                  <a:pt x="373701" y="298961"/>
                </a:lnTo>
                <a:cubicBezTo>
                  <a:pt x="373701" y="340211"/>
                  <a:pt x="340211" y="373701"/>
                  <a:pt x="298961" y="373701"/>
                </a:cubicBezTo>
                <a:lnTo>
                  <a:pt x="74740" y="373701"/>
                </a:lnTo>
                <a:cubicBezTo>
                  <a:pt x="33490" y="373701"/>
                  <a:pt x="0" y="340211"/>
                  <a:pt x="0" y="298961"/>
                </a:cubicBezTo>
                <a:lnTo>
                  <a:pt x="0" y="74740"/>
                </a:lnTo>
                <a:cubicBezTo>
                  <a:pt x="0" y="33490"/>
                  <a:pt x="33490" y="0"/>
                  <a:pt x="74740" y="0"/>
                </a:cubicBezTo>
                <a:close/>
              </a:path>
            </a:pathLst>
          </a:custGeom>
          <a:solidFill>
            <a:srgbClr val="6366F1">
              <a:alpha val="20000"/>
            </a:srgbClr>
          </a:solidFill>
          <a:ln/>
        </p:spPr>
      </p:sp>
      <p:sp>
        <p:nvSpPr>
          <p:cNvPr id="21" name="Shape 19"/>
          <p:cNvSpPr/>
          <p:nvPr/>
        </p:nvSpPr>
        <p:spPr>
          <a:xfrm>
            <a:off x="476469" y="4932855"/>
            <a:ext cx="168166" cy="149480"/>
          </a:xfrm>
          <a:custGeom>
            <a:avLst/>
            <a:gdLst/>
            <a:ahLst/>
            <a:cxnLst/>
            <a:rect l="l" t="t" r="r" b="b"/>
            <a:pathLst>
              <a:path w="168166" h="149480">
                <a:moveTo>
                  <a:pt x="112110" y="42041"/>
                </a:moveTo>
                <a:cubicBezTo>
                  <a:pt x="112110" y="70419"/>
                  <a:pt x="87002" y="93425"/>
                  <a:pt x="56055" y="93425"/>
                </a:cubicBezTo>
                <a:cubicBezTo>
                  <a:pt x="48260" y="93425"/>
                  <a:pt x="40844" y="91966"/>
                  <a:pt x="34100" y="89338"/>
                </a:cubicBezTo>
                <a:lnTo>
                  <a:pt x="10277" y="101950"/>
                </a:lnTo>
                <a:cubicBezTo>
                  <a:pt x="7562" y="103381"/>
                  <a:pt x="4233" y="102885"/>
                  <a:pt x="2044" y="100724"/>
                </a:cubicBezTo>
                <a:cubicBezTo>
                  <a:pt x="-146" y="98564"/>
                  <a:pt x="-642" y="95206"/>
                  <a:pt x="817" y="92491"/>
                </a:cubicBezTo>
                <a:lnTo>
                  <a:pt x="11211" y="72872"/>
                </a:lnTo>
                <a:cubicBezTo>
                  <a:pt x="4175" y="64288"/>
                  <a:pt x="0" y="53603"/>
                  <a:pt x="0" y="42041"/>
                </a:cubicBezTo>
                <a:cubicBezTo>
                  <a:pt x="0" y="13663"/>
                  <a:pt x="25108" y="-9343"/>
                  <a:pt x="56055" y="-9343"/>
                </a:cubicBezTo>
                <a:cubicBezTo>
                  <a:pt x="87002" y="-9343"/>
                  <a:pt x="112110" y="13663"/>
                  <a:pt x="112110" y="42041"/>
                </a:cubicBezTo>
                <a:close/>
                <a:moveTo>
                  <a:pt x="112110" y="149480"/>
                </a:moveTo>
                <a:cubicBezTo>
                  <a:pt x="84637" y="149480"/>
                  <a:pt x="61777" y="131350"/>
                  <a:pt x="56989" y="107439"/>
                </a:cubicBezTo>
                <a:cubicBezTo>
                  <a:pt x="92024" y="107001"/>
                  <a:pt x="122475" y="82068"/>
                  <a:pt x="125832" y="48260"/>
                </a:cubicBezTo>
                <a:cubicBezTo>
                  <a:pt x="150152" y="53866"/>
                  <a:pt x="168166" y="74040"/>
                  <a:pt x="168166" y="98097"/>
                </a:cubicBezTo>
                <a:cubicBezTo>
                  <a:pt x="168166" y="109658"/>
                  <a:pt x="163991" y="120343"/>
                  <a:pt x="156954" y="128927"/>
                </a:cubicBezTo>
                <a:lnTo>
                  <a:pt x="167348" y="148546"/>
                </a:lnTo>
                <a:cubicBezTo>
                  <a:pt x="168779" y="151261"/>
                  <a:pt x="168282" y="154590"/>
                  <a:pt x="166122" y="156779"/>
                </a:cubicBezTo>
                <a:cubicBezTo>
                  <a:pt x="163961" y="158969"/>
                  <a:pt x="160604" y="159465"/>
                  <a:pt x="157889" y="158006"/>
                </a:cubicBezTo>
                <a:lnTo>
                  <a:pt x="134065" y="145393"/>
                </a:lnTo>
                <a:cubicBezTo>
                  <a:pt x="127321" y="148021"/>
                  <a:pt x="119906" y="149480"/>
                  <a:pt x="112110" y="149480"/>
                </a:cubicBezTo>
                <a:close/>
              </a:path>
            </a:pathLst>
          </a:custGeom>
          <a:solidFill>
            <a:srgbClr val="6366F1"/>
          </a:solidFill>
          <a:ln/>
        </p:spPr>
      </p:sp>
      <p:sp>
        <p:nvSpPr>
          <p:cNvPr id="22" name="Text 20"/>
          <p:cNvSpPr/>
          <p:nvPr/>
        </p:nvSpPr>
        <p:spPr>
          <a:xfrm>
            <a:off x="859513" y="4820745"/>
            <a:ext cx="5203789" cy="261591"/>
          </a:xfrm>
          <a:prstGeom prst="rect">
            <a:avLst/>
          </a:prstGeom>
          <a:noFill/>
          <a:ln/>
        </p:spPr>
        <p:txBody>
          <a:bodyPr wrap="square" lIns="0" tIns="0" rIns="0" bIns="0" rtlCol="0" anchor="ctr"/>
          <a:lstStyle/>
          <a:p>
            <a:pPr>
              <a:lnSpc>
                <a:spcPct val="130000"/>
              </a:lnSpc>
            </a:pPr>
            <a:r>
              <a:rPr lang="en-US" sz="1324" b="1" dirty="0">
                <a:solidFill>
                  <a:srgbClr val="EFEFEF"/>
                </a:solidFill>
                <a:latin typeface="Liter" pitchFamily="34" charset="0"/>
                <a:ea typeface="Liter" pitchFamily="34" charset="-122"/>
                <a:cs typeface="Liter" pitchFamily="34" charset="-120"/>
              </a:rPr>
              <a:t>Parent Communication</a:t>
            </a:r>
            <a:endParaRPr lang="en-US" sz="1600" dirty="0"/>
          </a:p>
        </p:txBody>
      </p:sp>
      <p:sp>
        <p:nvSpPr>
          <p:cNvPr id="23" name="Text 21"/>
          <p:cNvSpPr/>
          <p:nvPr/>
        </p:nvSpPr>
        <p:spPr>
          <a:xfrm>
            <a:off x="859513" y="5119706"/>
            <a:ext cx="5194446" cy="448441"/>
          </a:xfrm>
          <a:prstGeom prst="rect">
            <a:avLst/>
          </a:prstGeom>
          <a:noFill/>
          <a:ln/>
        </p:spPr>
        <p:txBody>
          <a:bodyPr wrap="square" lIns="0" tIns="0" rIns="0" bIns="0" rtlCol="0" anchor="ctr"/>
          <a:lstStyle/>
          <a:p>
            <a:pPr>
              <a:lnSpc>
                <a:spcPct val="130000"/>
              </a:lnSpc>
            </a:pPr>
            <a:r>
              <a:rPr lang="en-US" sz="1177" dirty="0">
                <a:solidFill>
                  <a:srgbClr val="8F8F8F"/>
                </a:solidFill>
                <a:latin typeface="Liter" pitchFamily="34" charset="0"/>
                <a:ea typeface="Liter" pitchFamily="34" charset="-122"/>
                <a:cs typeface="Liter" pitchFamily="34" charset="-120"/>
              </a:rPr>
              <a:t>Send announcements, newsletters, and emergency alerts to parents via email or SMS</a:t>
            </a:r>
            <a:endParaRPr lang="en-US" sz="1600" dirty="0"/>
          </a:p>
        </p:txBody>
      </p:sp>
      <p:sp>
        <p:nvSpPr>
          <p:cNvPr id="24" name="Shape 22"/>
          <p:cNvSpPr/>
          <p:nvPr/>
        </p:nvSpPr>
        <p:spPr>
          <a:xfrm>
            <a:off x="6211263" y="1236951"/>
            <a:ext cx="5603649" cy="3492237"/>
          </a:xfrm>
          <a:custGeom>
            <a:avLst/>
            <a:gdLst/>
            <a:ahLst/>
            <a:cxnLst/>
            <a:rect l="l" t="t" r="r" b="b"/>
            <a:pathLst>
              <a:path w="5603649" h="3492237">
                <a:moveTo>
                  <a:pt x="112101" y="0"/>
                </a:moveTo>
                <a:lnTo>
                  <a:pt x="5491548" y="0"/>
                </a:lnTo>
                <a:cubicBezTo>
                  <a:pt x="5553459" y="0"/>
                  <a:pt x="5603649" y="50189"/>
                  <a:pt x="5603649" y="112101"/>
                </a:cubicBezTo>
                <a:lnTo>
                  <a:pt x="5603649" y="3380136"/>
                </a:lnTo>
                <a:cubicBezTo>
                  <a:pt x="5603649" y="3442048"/>
                  <a:pt x="5553459" y="3492237"/>
                  <a:pt x="5491548" y="3492237"/>
                </a:cubicBezTo>
                <a:lnTo>
                  <a:pt x="112101" y="3492237"/>
                </a:lnTo>
                <a:cubicBezTo>
                  <a:pt x="50189" y="3492237"/>
                  <a:pt x="0" y="3442048"/>
                  <a:pt x="0" y="3380136"/>
                </a:cubicBezTo>
                <a:lnTo>
                  <a:pt x="0" y="112101"/>
                </a:lnTo>
                <a:cubicBezTo>
                  <a:pt x="0" y="50231"/>
                  <a:pt x="50231" y="0"/>
                  <a:pt x="112101" y="0"/>
                </a:cubicBezTo>
                <a:close/>
              </a:path>
            </a:pathLst>
          </a:custGeom>
          <a:solidFill>
            <a:srgbClr val="262626"/>
          </a:solidFill>
          <a:ln w="10160">
            <a:solidFill>
              <a:srgbClr val="333333"/>
            </a:solidFill>
            <a:prstDash val="solid"/>
          </a:ln>
        </p:spPr>
      </p:sp>
      <p:pic>
        <p:nvPicPr>
          <p:cNvPr id="25" name="Image 0" descr="https://kimi-web-img.moonshot.cn/img/www.elitesoftwaresuite.com/283207c6e96a5c552d547015b6ddea25da5e9858.png"/>
          <p:cNvPicPr>
            <a:picLocks noChangeAspect="1"/>
          </p:cNvPicPr>
          <p:nvPr/>
        </p:nvPicPr>
        <p:blipFill>
          <a:blip r:embed="rId3"/>
          <a:srcRect l="39" r="39"/>
          <a:stretch/>
        </p:blipFill>
        <p:spPr>
          <a:xfrm>
            <a:off x="6215000" y="1240688"/>
            <a:ext cx="5596175" cy="3484763"/>
          </a:xfrm>
          <a:prstGeom prst="roundRect">
            <a:avLst>
              <a:gd name="adj" fmla="val 3217"/>
            </a:avLst>
          </a:prstGeom>
        </p:spPr>
      </p:pic>
      <p:sp>
        <p:nvSpPr>
          <p:cNvPr id="26" name="Shape 23"/>
          <p:cNvSpPr/>
          <p:nvPr/>
        </p:nvSpPr>
        <p:spPr>
          <a:xfrm>
            <a:off x="6211263" y="4882524"/>
            <a:ext cx="5603649" cy="754876"/>
          </a:xfrm>
          <a:custGeom>
            <a:avLst/>
            <a:gdLst/>
            <a:ahLst/>
            <a:cxnLst/>
            <a:rect l="l" t="t" r="r" b="b"/>
            <a:pathLst>
              <a:path w="5603649" h="754876">
                <a:moveTo>
                  <a:pt x="74740" y="0"/>
                </a:moveTo>
                <a:lnTo>
                  <a:pt x="5528908" y="0"/>
                </a:lnTo>
                <a:cubicBezTo>
                  <a:pt x="5570186" y="0"/>
                  <a:pt x="5603649" y="33462"/>
                  <a:pt x="5603649" y="74740"/>
                </a:cubicBezTo>
                <a:lnTo>
                  <a:pt x="5603649" y="680136"/>
                </a:lnTo>
                <a:cubicBezTo>
                  <a:pt x="5603649" y="721414"/>
                  <a:pt x="5570186" y="754876"/>
                  <a:pt x="5528908" y="754876"/>
                </a:cubicBezTo>
                <a:lnTo>
                  <a:pt x="74740" y="754876"/>
                </a:lnTo>
                <a:cubicBezTo>
                  <a:pt x="33462" y="754876"/>
                  <a:pt x="0" y="721414"/>
                  <a:pt x="0" y="680136"/>
                </a:cubicBezTo>
                <a:lnTo>
                  <a:pt x="0" y="74740"/>
                </a:lnTo>
                <a:cubicBezTo>
                  <a:pt x="0" y="33490"/>
                  <a:pt x="33490" y="0"/>
                  <a:pt x="74740" y="0"/>
                </a:cubicBezTo>
                <a:close/>
              </a:path>
            </a:pathLst>
          </a:custGeom>
          <a:solidFill>
            <a:srgbClr val="6366F1">
              <a:alpha val="10196"/>
            </a:srgbClr>
          </a:solidFill>
          <a:ln w="10160">
            <a:solidFill>
              <a:srgbClr val="6366F1">
                <a:alpha val="30196"/>
              </a:srgbClr>
            </a:solidFill>
            <a:prstDash val="solid"/>
          </a:ln>
        </p:spPr>
      </p:sp>
      <p:sp>
        <p:nvSpPr>
          <p:cNvPr id="27" name="Text 24"/>
          <p:cNvSpPr/>
          <p:nvPr/>
        </p:nvSpPr>
        <p:spPr>
          <a:xfrm>
            <a:off x="6364481" y="5035739"/>
            <a:ext cx="5371954" cy="448441"/>
          </a:xfrm>
          <a:prstGeom prst="rect">
            <a:avLst/>
          </a:prstGeom>
          <a:noFill/>
          <a:ln/>
        </p:spPr>
        <p:txBody>
          <a:bodyPr wrap="square" lIns="0" tIns="0" rIns="0" bIns="0" rtlCol="0" anchor="ctr"/>
          <a:lstStyle/>
          <a:p>
            <a:pPr>
              <a:lnSpc>
                <a:spcPct val="130000"/>
              </a:lnSpc>
            </a:pPr>
            <a:r>
              <a:rPr lang="en-US" sz="1177" b="1" dirty="0">
                <a:solidFill>
                  <a:srgbClr val="6366F1"/>
                </a:solidFill>
                <a:latin typeface="Liter" pitchFamily="34" charset="0"/>
                <a:ea typeface="Liter" pitchFamily="34" charset="-122"/>
                <a:cs typeface="Liter" pitchFamily="34" charset="-120"/>
              </a:rPr>
              <a:t>Example:</a:t>
            </a:r>
            <a:r>
              <a:rPr lang="en-US" sz="1177" dirty="0">
                <a:solidFill>
                  <a:srgbClr val="EFEFEF"/>
                </a:solidFill>
                <a:latin typeface="Liter" pitchFamily="34" charset="0"/>
                <a:ea typeface="Liter" pitchFamily="34" charset="-122"/>
                <a:cs typeface="Liter" pitchFamily="34" charset="-120"/>
              </a:rPr>
              <a:t> Your school portal where you check grades, view homework, and see announcements is a school management system!</a:t>
            </a:r>
            <a:endParaRPr lang="en-US" sz="1600" dirty="0"/>
          </a:p>
        </p:txBody>
      </p:sp>
      <p:sp>
        <p:nvSpPr>
          <p:cNvPr id="28" name="Shape 25"/>
          <p:cNvSpPr/>
          <p:nvPr/>
        </p:nvSpPr>
        <p:spPr>
          <a:xfrm>
            <a:off x="377438" y="5794353"/>
            <a:ext cx="11433387" cy="754876"/>
          </a:xfrm>
          <a:custGeom>
            <a:avLst/>
            <a:gdLst/>
            <a:ahLst/>
            <a:cxnLst/>
            <a:rect l="l" t="t" r="r" b="b"/>
            <a:pathLst>
              <a:path w="11433387" h="754876">
                <a:moveTo>
                  <a:pt x="74740" y="0"/>
                </a:moveTo>
                <a:lnTo>
                  <a:pt x="11358646" y="0"/>
                </a:lnTo>
                <a:cubicBezTo>
                  <a:pt x="11399924" y="0"/>
                  <a:pt x="11433387" y="33462"/>
                  <a:pt x="11433387" y="74740"/>
                </a:cubicBezTo>
                <a:lnTo>
                  <a:pt x="11433387" y="680136"/>
                </a:lnTo>
                <a:cubicBezTo>
                  <a:pt x="11433387" y="721414"/>
                  <a:pt x="11399924" y="754876"/>
                  <a:pt x="11358646" y="754876"/>
                </a:cubicBezTo>
                <a:lnTo>
                  <a:pt x="74740" y="754876"/>
                </a:lnTo>
                <a:cubicBezTo>
                  <a:pt x="33462" y="754876"/>
                  <a:pt x="0" y="721414"/>
                  <a:pt x="0" y="680136"/>
                </a:cubicBezTo>
                <a:lnTo>
                  <a:pt x="0" y="74740"/>
                </a:lnTo>
                <a:cubicBezTo>
                  <a:pt x="0" y="33490"/>
                  <a:pt x="33490" y="0"/>
                  <a:pt x="74740" y="0"/>
                </a:cubicBezTo>
                <a:close/>
              </a:path>
            </a:pathLst>
          </a:custGeom>
          <a:solidFill>
            <a:srgbClr val="262626"/>
          </a:solidFill>
          <a:ln w="10160">
            <a:solidFill>
              <a:srgbClr val="333333"/>
            </a:solidFill>
            <a:prstDash val="solid"/>
          </a:ln>
        </p:spPr>
      </p:sp>
      <p:sp>
        <p:nvSpPr>
          <p:cNvPr id="29" name="Text 26"/>
          <p:cNvSpPr/>
          <p:nvPr/>
        </p:nvSpPr>
        <p:spPr>
          <a:xfrm>
            <a:off x="530656" y="5947571"/>
            <a:ext cx="11201692" cy="448441"/>
          </a:xfrm>
          <a:prstGeom prst="rect">
            <a:avLst/>
          </a:prstGeom>
          <a:noFill/>
          <a:ln/>
        </p:spPr>
        <p:txBody>
          <a:bodyPr wrap="square" lIns="0" tIns="0" rIns="0" bIns="0" rtlCol="0" anchor="ctr"/>
          <a:lstStyle/>
          <a:p>
            <a:pPr>
              <a:lnSpc>
                <a:spcPct val="130000"/>
              </a:lnSpc>
            </a:pPr>
            <a:r>
              <a:rPr lang="en-US" sz="1177" b="1" dirty="0">
                <a:solidFill>
                  <a:srgbClr val="6366F1"/>
                </a:solidFill>
                <a:latin typeface="Liter" pitchFamily="34" charset="0"/>
                <a:ea typeface="Liter" pitchFamily="34" charset="-122"/>
                <a:cs typeface="Liter" pitchFamily="34" charset="-120"/>
              </a:rPr>
              <a:t>Explanation:</a:t>
            </a:r>
            <a:r>
              <a:rPr lang="en-US" sz="1177" dirty="0">
                <a:solidFill>
                  <a:srgbClr val="EFEFEF"/>
                </a:solidFill>
                <a:latin typeface="Liter" pitchFamily="34" charset="0"/>
                <a:ea typeface="Liter" pitchFamily="34" charset="-122"/>
                <a:cs typeface="Liter" pitchFamily="34" charset="-120"/>
              </a:rPr>
              <a:t> School management systems are like digital assistants for schools. They handle paperwork automatically, so teachers can focus on teaching and students get better support.</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384810" y="384810"/>
            <a:ext cx="4427220" cy="4398645"/>
          </a:xfrm>
          <a:custGeom>
            <a:avLst/>
            <a:gdLst/>
            <a:ahLst/>
            <a:cxnLst/>
            <a:rect l="l" t="t" r="r" b="b"/>
            <a:pathLst>
              <a:path w="4427220" h="4398645">
                <a:moveTo>
                  <a:pt x="114321" y="0"/>
                </a:moveTo>
                <a:lnTo>
                  <a:pt x="4312899" y="0"/>
                </a:lnTo>
                <a:cubicBezTo>
                  <a:pt x="4376037" y="0"/>
                  <a:pt x="4427220" y="51183"/>
                  <a:pt x="4427220" y="114321"/>
                </a:cubicBezTo>
                <a:lnTo>
                  <a:pt x="4427220" y="4284324"/>
                </a:lnTo>
                <a:cubicBezTo>
                  <a:pt x="4427220" y="4347462"/>
                  <a:pt x="4376037" y="4398645"/>
                  <a:pt x="4312899" y="4398645"/>
                </a:cubicBezTo>
                <a:lnTo>
                  <a:pt x="114321" y="4398645"/>
                </a:lnTo>
                <a:cubicBezTo>
                  <a:pt x="51183" y="4398645"/>
                  <a:pt x="0" y="4347462"/>
                  <a:pt x="0" y="4284324"/>
                </a:cubicBezTo>
                <a:lnTo>
                  <a:pt x="0" y="114321"/>
                </a:lnTo>
                <a:cubicBezTo>
                  <a:pt x="0" y="51225"/>
                  <a:pt x="51225" y="0"/>
                  <a:pt x="114321" y="0"/>
                </a:cubicBezTo>
                <a:close/>
              </a:path>
            </a:pathLst>
          </a:custGeom>
          <a:solidFill>
            <a:srgbClr val="262626"/>
          </a:solidFill>
          <a:ln w="10160">
            <a:solidFill>
              <a:srgbClr val="333333"/>
            </a:solidFill>
            <a:prstDash val="solid"/>
          </a:ln>
        </p:spPr>
      </p:sp>
      <p:pic>
        <p:nvPicPr>
          <p:cNvPr id="3" name="Image 0" descr="https://kimi-web-img.moonshot.cn/img/cdn.dribbble.com/5f43bbd384674f465563ef7e47a77163c80dd464.png"/>
          <p:cNvPicPr>
            <a:picLocks noChangeAspect="1"/>
          </p:cNvPicPr>
          <p:nvPr/>
        </p:nvPicPr>
        <p:blipFill>
          <a:blip r:embed="rId3"/>
          <a:srcRect l="12256" r="12256"/>
          <a:stretch/>
        </p:blipFill>
        <p:spPr>
          <a:xfrm>
            <a:off x="388620" y="388620"/>
            <a:ext cx="4419600" cy="4391025"/>
          </a:xfrm>
          <a:prstGeom prst="roundRect">
            <a:avLst>
              <a:gd name="adj" fmla="val 2603"/>
            </a:avLst>
          </a:prstGeom>
        </p:spPr>
      </p:pic>
      <p:sp>
        <p:nvSpPr>
          <p:cNvPr id="4" name="Shape 1"/>
          <p:cNvSpPr/>
          <p:nvPr/>
        </p:nvSpPr>
        <p:spPr>
          <a:xfrm>
            <a:off x="384810" y="4941569"/>
            <a:ext cx="4427220" cy="1531620"/>
          </a:xfrm>
          <a:custGeom>
            <a:avLst/>
            <a:gdLst/>
            <a:ahLst/>
            <a:cxnLst/>
            <a:rect l="l" t="t" r="r" b="b"/>
            <a:pathLst>
              <a:path w="4427220" h="1531620">
                <a:moveTo>
                  <a:pt x="76198" y="0"/>
                </a:moveTo>
                <a:lnTo>
                  <a:pt x="4351022" y="0"/>
                </a:lnTo>
                <a:cubicBezTo>
                  <a:pt x="4393105" y="0"/>
                  <a:pt x="4427220" y="34115"/>
                  <a:pt x="4427220" y="76198"/>
                </a:cubicBezTo>
                <a:lnTo>
                  <a:pt x="4427220" y="1455422"/>
                </a:lnTo>
                <a:cubicBezTo>
                  <a:pt x="4427220" y="1497505"/>
                  <a:pt x="4393105" y="1531620"/>
                  <a:pt x="435102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5" name="Text 2"/>
          <p:cNvSpPr/>
          <p:nvPr/>
        </p:nvSpPr>
        <p:spPr>
          <a:xfrm>
            <a:off x="541020" y="5097782"/>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6" name="Text 3"/>
          <p:cNvSpPr/>
          <p:nvPr/>
        </p:nvSpPr>
        <p:spPr>
          <a:xfrm>
            <a:off x="541020" y="5402582"/>
            <a:ext cx="41910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Booking systems work like digital calendars that check availability in real-time. When you book a flight, the system instantly updates seats so two people cannot book the same seat!</a:t>
            </a:r>
            <a:endParaRPr lang="en-US" sz="1600" dirty="0"/>
          </a:p>
        </p:txBody>
      </p:sp>
      <p:sp>
        <p:nvSpPr>
          <p:cNvPr id="7" name="Text 4"/>
          <p:cNvSpPr/>
          <p:nvPr/>
        </p:nvSpPr>
        <p:spPr>
          <a:xfrm>
            <a:off x="504444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1.3</a:t>
            </a:r>
            <a:endParaRPr lang="en-US" sz="1600" dirty="0"/>
          </a:p>
        </p:txBody>
      </p:sp>
      <p:sp>
        <p:nvSpPr>
          <p:cNvPr id="8" name="Text 5"/>
          <p:cNvSpPr/>
          <p:nvPr/>
        </p:nvSpPr>
        <p:spPr>
          <a:xfrm>
            <a:off x="504444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Booking Systems</a:t>
            </a:r>
            <a:endParaRPr lang="en-US" sz="1600" dirty="0"/>
          </a:p>
        </p:txBody>
      </p:sp>
      <p:sp>
        <p:nvSpPr>
          <p:cNvPr id="9" name="Shape 6"/>
          <p:cNvSpPr/>
          <p:nvPr/>
        </p:nvSpPr>
        <p:spPr>
          <a:xfrm>
            <a:off x="504444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0" name="Shape 7"/>
          <p:cNvSpPr/>
          <p:nvPr/>
        </p:nvSpPr>
        <p:spPr>
          <a:xfrm>
            <a:off x="5124212" y="1457325"/>
            <a:ext cx="150019" cy="133350"/>
          </a:xfrm>
          <a:custGeom>
            <a:avLst/>
            <a:gdLst/>
            <a:ahLst/>
            <a:cxnLst/>
            <a:rect l="l" t="t" r="r" b="b"/>
            <a:pathLst>
              <a:path w="150019" h="133350">
                <a:moveTo>
                  <a:pt x="135434" y="52090"/>
                </a:moveTo>
                <a:cubicBezTo>
                  <a:pt x="143481" y="52090"/>
                  <a:pt x="150019" y="58627"/>
                  <a:pt x="150019" y="66675"/>
                </a:cubicBezTo>
                <a:cubicBezTo>
                  <a:pt x="150019" y="74723"/>
                  <a:pt x="143481" y="81260"/>
                  <a:pt x="135434" y="81260"/>
                </a:cubicBezTo>
                <a:lnTo>
                  <a:pt x="102278" y="81260"/>
                </a:lnTo>
                <a:lnTo>
                  <a:pt x="60815" y="126474"/>
                </a:lnTo>
                <a:cubicBezTo>
                  <a:pt x="59226" y="128193"/>
                  <a:pt x="57012" y="129183"/>
                  <a:pt x="54668" y="129183"/>
                </a:cubicBezTo>
                <a:lnTo>
                  <a:pt x="43287" y="129183"/>
                </a:lnTo>
                <a:cubicBezTo>
                  <a:pt x="40448" y="129183"/>
                  <a:pt x="38442" y="126396"/>
                  <a:pt x="39328" y="123687"/>
                </a:cubicBezTo>
                <a:lnTo>
                  <a:pt x="53470" y="81260"/>
                </a:lnTo>
                <a:lnTo>
                  <a:pt x="27503" y="81260"/>
                </a:lnTo>
                <a:lnTo>
                  <a:pt x="13752" y="98450"/>
                </a:lnTo>
                <a:cubicBezTo>
                  <a:pt x="12970" y="99440"/>
                  <a:pt x="11772" y="100013"/>
                  <a:pt x="10496" y="100013"/>
                </a:cubicBezTo>
                <a:lnTo>
                  <a:pt x="5339" y="100013"/>
                </a:lnTo>
                <a:cubicBezTo>
                  <a:pt x="2631" y="100013"/>
                  <a:pt x="651" y="97460"/>
                  <a:pt x="1302" y="94830"/>
                </a:cubicBezTo>
                <a:lnTo>
                  <a:pt x="8334" y="66675"/>
                </a:lnTo>
                <a:lnTo>
                  <a:pt x="1302" y="38520"/>
                </a:lnTo>
                <a:cubicBezTo>
                  <a:pt x="625" y="35890"/>
                  <a:pt x="2631" y="33337"/>
                  <a:pt x="5339" y="33337"/>
                </a:cubicBezTo>
                <a:lnTo>
                  <a:pt x="10496" y="33337"/>
                </a:lnTo>
                <a:cubicBezTo>
                  <a:pt x="11772" y="33337"/>
                  <a:pt x="12970" y="33910"/>
                  <a:pt x="13752" y="34900"/>
                </a:cubicBezTo>
                <a:lnTo>
                  <a:pt x="27503" y="52090"/>
                </a:lnTo>
                <a:lnTo>
                  <a:pt x="53470" y="52090"/>
                </a:lnTo>
                <a:lnTo>
                  <a:pt x="39328" y="9663"/>
                </a:lnTo>
                <a:cubicBezTo>
                  <a:pt x="38442" y="6954"/>
                  <a:pt x="40448" y="4167"/>
                  <a:pt x="43287" y="4167"/>
                </a:cubicBezTo>
                <a:lnTo>
                  <a:pt x="54668" y="4167"/>
                </a:lnTo>
                <a:cubicBezTo>
                  <a:pt x="57012" y="4167"/>
                  <a:pt x="59226" y="5157"/>
                  <a:pt x="60815" y="6876"/>
                </a:cubicBezTo>
                <a:lnTo>
                  <a:pt x="102278" y="52090"/>
                </a:lnTo>
                <a:lnTo>
                  <a:pt x="135434" y="52090"/>
                </a:lnTo>
                <a:close/>
              </a:path>
            </a:pathLst>
          </a:custGeom>
          <a:solidFill>
            <a:srgbClr val="6366F1"/>
          </a:solidFill>
          <a:ln/>
        </p:spPr>
      </p:sp>
      <p:sp>
        <p:nvSpPr>
          <p:cNvPr id="11" name="Text 8"/>
          <p:cNvSpPr/>
          <p:nvPr/>
        </p:nvSpPr>
        <p:spPr>
          <a:xfrm>
            <a:off x="5463540" y="1333500"/>
            <a:ext cx="50387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Flight Reservations</a:t>
            </a:r>
            <a:endParaRPr lang="en-US" sz="1600" dirty="0"/>
          </a:p>
        </p:txBody>
      </p:sp>
      <p:sp>
        <p:nvSpPr>
          <p:cNvPr id="12" name="Text 9"/>
          <p:cNvSpPr/>
          <p:nvPr/>
        </p:nvSpPr>
        <p:spPr>
          <a:xfrm>
            <a:off x="5463540" y="1600200"/>
            <a:ext cx="5038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Search flights, compare prices, select seats, and receive e-tickets instantly</a:t>
            </a:r>
            <a:endParaRPr lang="en-US" sz="1600" dirty="0"/>
          </a:p>
        </p:txBody>
      </p:sp>
      <p:sp>
        <p:nvSpPr>
          <p:cNvPr id="13" name="Shape 10"/>
          <p:cNvSpPr/>
          <p:nvPr/>
        </p:nvSpPr>
        <p:spPr>
          <a:xfrm>
            <a:off x="5044440" y="19812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4" name="Shape 11"/>
          <p:cNvSpPr/>
          <p:nvPr/>
        </p:nvSpPr>
        <p:spPr>
          <a:xfrm>
            <a:off x="5132547" y="2066925"/>
            <a:ext cx="133350" cy="133350"/>
          </a:xfrm>
          <a:custGeom>
            <a:avLst/>
            <a:gdLst/>
            <a:ahLst/>
            <a:cxnLst/>
            <a:rect l="l" t="t" r="r" b="b"/>
            <a:pathLst>
              <a:path w="133350" h="133350">
                <a:moveTo>
                  <a:pt x="4167" y="6251"/>
                </a:moveTo>
                <a:cubicBezTo>
                  <a:pt x="4167" y="2787"/>
                  <a:pt x="6954" y="0"/>
                  <a:pt x="10418" y="0"/>
                </a:cubicBezTo>
                <a:lnTo>
                  <a:pt x="122932" y="0"/>
                </a:lnTo>
                <a:cubicBezTo>
                  <a:pt x="126396" y="0"/>
                  <a:pt x="129183" y="2787"/>
                  <a:pt x="129183" y="6251"/>
                </a:cubicBezTo>
                <a:cubicBezTo>
                  <a:pt x="129183" y="9715"/>
                  <a:pt x="126396" y="12502"/>
                  <a:pt x="122932" y="12502"/>
                </a:cubicBezTo>
                <a:lnTo>
                  <a:pt x="120848" y="12502"/>
                </a:lnTo>
                <a:lnTo>
                  <a:pt x="120848" y="120848"/>
                </a:lnTo>
                <a:lnTo>
                  <a:pt x="122932" y="120848"/>
                </a:lnTo>
                <a:cubicBezTo>
                  <a:pt x="126396" y="120848"/>
                  <a:pt x="129183" y="123635"/>
                  <a:pt x="129183" y="127099"/>
                </a:cubicBezTo>
                <a:cubicBezTo>
                  <a:pt x="129183" y="130563"/>
                  <a:pt x="126396" y="133350"/>
                  <a:pt x="122932" y="133350"/>
                </a:cubicBezTo>
                <a:lnTo>
                  <a:pt x="10418" y="133350"/>
                </a:lnTo>
                <a:cubicBezTo>
                  <a:pt x="6954" y="133350"/>
                  <a:pt x="4167" y="130563"/>
                  <a:pt x="4167" y="127099"/>
                </a:cubicBezTo>
                <a:cubicBezTo>
                  <a:pt x="4167" y="123635"/>
                  <a:pt x="6954" y="120848"/>
                  <a:pt x="10418" y="120848"/>
                </a:cubicBezTo>
                <a:lnTo>
                  <a:pt x="12502" y="120848"/>
                </a:lnTo>
                <a:lnTo>
                  <a:pt x="12502" y="12502"/>
                </a:lnTo>
                <a:lnTo>
                  <a:pt x="10418" y="12502"/>
                </a:lnTo>
                <a:cubicBezTo>
                  <a:pt x="6954" y="12502"/>
                  <a:pt x="4167" y="9715"/>
                  <a:pt x="4167" y="6251"/>
                </a:cubicBezTo>
                <a:close/>
                <a:moveTo>
                  <a:pt x="58341" y="29170"/>
                </a:moveTo>
                <a:lnTo>
                  <a:pt x="58341" y="37505"/>
                </a:lnTo>
                <a:cubicBezTo>
                  <a:pt x="58341" y="39797"/>
                  <a:pt x="60216" y="41672"/>
                  <a:pt x="62508" y="41672"/>
                </a:cubicBezTo>
                <a:lnTo>
                  <a:pt x="70842" y="41672"/>
                </a:lnTo>
                <a:cubicBezTo>
                  <a:pt x="73134" y="41672"/>
                  <a:pt x="75009" y="39797"/>
                  <a:pt x="75009" y="37505"/>
                </a:cubicBezTo>
                <a:lnTo>
                  <a:pt x="75009" y="29170"/>
                </a:lnTo>
                <a:cubicBezTo>
                  <a:pt x="75009" y="26878"/>
                  <a:pt x="73134" y="25003"/>
                  <a:pt x="70842" y="25003"/>
                </a:cubicBezTo>
                <a:lnTo>
                  <a:pt x="62508" y="25003"/>
                </a:lnTo>
                <a:cubicBezTo>
                  <a:pt x="60216" y="25003"/>
                  <a:pt x="58341" y="26878"/>
                  <a:pt x="58341" y="29170"/>
                </a:cubicBezTo>
                <a:close/>
                <a:moveTo>
                  <a:pt x="33337" y="25003"/>
                </a:moveTo>
                <a:cubicBezTo>
                  <a:pt x="31046" y="25003"/>
                  <a:pt x="29170" y="26878"/>
                  <a:pt x="29170" y="29170"/>
                </a:cubicBezTo>
                <a:lnTo>
                  <a:pt x="29170" y="37505"/>
                </a:lnTo>
                <a:cubicBezTo>
                  <a:pt x="29170" y="39797"/>
                  <a:pt x="31046" y="41672"/>
                  <a:pt x="33337" y="41672"/>
                </a:cubicBezTo>
                <a:lnTo>
                  <a:pt x="41672" y="41672"/>
                </a:lnTo>
                <a:cubicBezTo>
                  <a:pt x="43964" y="41672"/>
                  <a:pt x="45839" y="39797"/>
                  <a:pt x="45839" y="37505"/>
                </a:cubicBezTo>
                <a:lnTo>
                  <a:pt x="45839" y="29170"/>
                </a:lnTo>
                <a:cubicBezTo>
                  <a:pt x="45839" y="26878"/>
                  <a:pt x="43964" y="25003"/>
                  <a:pt x="41672" y="25003"/>
                </a:cubicBezTo>
                <a:lnTo>
                  <a:pt x="33337" y="25003"/>
                </a:lnTo>
                <a:close/>
                <a:moveTo>
                  <a:pt x="58341" y="54173"/>
                </a:moveTo>
                <a:lnTo>
                  <a:pt x="58341" y="62508"/>
                </a:lnTo>
                <a:cubicBezTo>
                  <a:pt x="58341" y="64800"/>
                  <a:pt x="60216" y="66675"/>
                  <a:pt x="62508" y="66675"/>
                </a:cubicBezTo>
                <a:lnTo>
                  <a:pt x="70842" y="66675"/>
                </a:lnTo>
                <a:cubicBezTo>
                  <a:pt x="73134" y="66675"/>
                  <a:pt x="75009" y="64800"/>
                  <a:pt x="75009" y="62508"/>
                </a:cubicBezTo>
                <a:lnTo>
                  <a:pt x="75009" y="54173"/>
                </a:lnTo>
                <a:cubicBezTo>
                  <a:pt x="75009" y="51881"/>
                  <a:pt x="73134" y="50006"/>
                  <a:pt x="70842" y="50006"/>
                </a:cubicBezTo>
                <a:lnTo>
                  <a:pt x="62508" y="50006"/>
                </a:lnTo>
                <a:cubicBezTo>
                  <a:pt x="60216" y="50006"/>
                  <a:pt x="58341" y="51881"/>
                  <a:pt x="58341" y="54173"/>
                </a:cubicBezTo>
                <a:close/>
                <a:moveTo>
                  <a:pt x="91678" y="25003"/>
                </a:moveTo>
                <a:cubicBezTo>
                  <a:pt x="89386" y="25003"/>
                  <a:pt x="87511" y="26878"/>
                  <a:pt x="87511" y="29170"/>
                </a:cubicBezTo>
                <a:lnTo>
                  <a:pt x="87511" y="37505"/>
                </a:lnTo>
                <a:cubicBezTo>
                  <a:pt x="87511" y="39797"/>
                  <a:pt x="89386" y="41672"/>
                  <a:pt x="91678" y="41672"/>
                </a:cubicBezTo>
                <a:lnTo>
                  <a:pt x="100013" y="41672"/>
                </a:lnTo>
                <a:cubicBezTo>
                  <a:pt x="102304" y="41672"/>
                  <a:pt x="104180" y="39797"/>
                  <a:pt x="104180" y="37505"/>
                </a:cubicBezTo>
                <a:lnTo>
                  <a:pt x="104180" y="29170"/>
                </a:lnTo>
                <a:cubicBezTo>
                  <a:pt x="104180" y="26878"/>
                  <a:pt x="102304" y="25003"/>
                  <a:pt x="100013" y="25003"/>
                </a:cubicBezTo>
                <a:lnTo>
                  <a:pt x="91678" y="25003"/>
                </a:lnTo>
                <a:close/>
                <a:moveTo>
                  <a:pt x="29170" y="54173"/>
                </a:moveTo>
                <a:lnTo>
                  <a:pt x="29170" y="62508"/>
                </a:lnTo>
                <a:cubicBezTo>
                  <a:pt x="29170" y="64800"/>
                  <a:pt x="31046" y="66675"/>
                  <a:pt x="33337" y="66675"/>
                </a:cubicBezTo>
                <a:lnTo>
                  <a:pt x="41672" y="66675"/>
                </a:lnTo>
                <a:cubicBezTo>
                  <a:pt x="43964" y="66675"/>
                  <a:pt x="45839" y="64800"/>
                  <a:pt x="45839" y="62508"/>
                </a:cubicBezTo>
                <a:lnTo>
                  <a:pt x="45839" y="54173"/>
                </a:lnTo>
                <a:cubicBezTo>
                  <a:pt x="45839" y="51881"/>
                  <a:pt x="43964" y="50006"/>
                  <a:pt x="41672" y="50006"/>
                </a:cubicBezTo>
                <a:lnTo>
                  <a:pt x="33337" y="50006"/>
                </a:lnTo>
                <a:cubicBezTo>
                  <a:pt x="31046" y="50006"/>
                  <a:pt x="29170" y="51881"/>
                  <a:pt x="29170" y="54173"/>
                </a:cubicBezTo>
                <a:close/>
                <a:moveTo>
                  <a:pt x="91678" y="50006"/>
                </a:moveTo>
                <a:cubicBezTo>
                  <a:pt x="89386" y="50006"/>
                  <a:pt x="87511" y="51881"/>
                  <a:pt x="87511" y="54173"/>
                </a:cubicBezTo>
                <a:lnTo>
                  <a:pt x="87511" y="62508"/>
                </a:lnTo>
                <a:cubicBezTo>
                  <a:pt x="87511" y="64800"/>
                  <a:pt x="89386" y="66675"/>
                  <a:pt x="91678" y="66675"/>
                </a:cubicBezTo>
                <a:lnTo>
                  <a:pt x="100013" y="66675"/>
                </a:lnTo>
                <a:cubicBezTo>
                  <a:pt x="102304" y="66675"/>
                  <a:pt x="104180" y="64800"/>
                  <a:pt x="104180" y="62508"/>
                </a:cubicBezTo>
                <a:lnTo>
                  <a:pt x="104180" y="54173"/>
                </a:lnTo>
                <a:cubicBezTo>
                  <a:pt x="104180" y="51881"/>
                  <a:pt x="102304" y="50006"/>
                  <a:pt x="100013" y="50006"/>
                </a:cubicBezTo>
                <a:lnTo>
                  <a:pt x="91678" y="50006"/>
                </a:lnTo>
                <a:close/>
                <a:moveTo>
                  <a:pt x="75009" y="100013"/>
                </a:moveTo>
                <a:lnTo>
                  <a:pt x="86417" y="100013"/>
                </a:lnTo>
                <a:cubicBezTo>
                  <a:pt x="88995" y="100013"/>
                  <a:pt x="90975" y="97668"/>
                  <a:pt x="90063" y="95272"/>
                </a:cubicBezTo>
                <a:cubicBezTo>
                  <a:pt x="86469" y="85870"/>
                  <a:pt x="77353" y="79177"/>
                  <a:pt x="66701" y="79177"/>
                </a:cubicBezTo>
                <a:cubicBezTo>
                  <a:pt x="56049" y="79177"/>
                  <a:pt x="46933" y="85870"/>
                  <a:pt x="43339" y="95272"/>
                </a:cubicBezTo>
                <a:cubicBezTo>
                  <a:pt x="42427" y="97668"/>
                  <a:pt x="44407" y="100013"/>
                  <a:pt x="46985" y="100013"/>
                </a:cubicBezTo>
                <a:lnTo>
                  <a:pt x="58393" y="100013"/>
                </a:lnTo>
                <a:lnTo>
                  <a:pt x="58393" y="120848"/>
                </a:lnTo>
                <a:lnTo>
                  <a:pt x="75061" y="120848"/>
                </a:lnTo>
                <a:lnTo>
                  <a:pt x="75061" y="100013"/>
                </a:lnTo>
                <a:close/>
              </a:path>
            </a:pathLst>
          </a:custGeom>
          <a:solidFill>
            <a:srgbClr val="6366F1"/>
          </a:solidFill>
          <a:ln/>
        </p:spPr>
      </p:sp>
      <p:sp>
        <p:nvSpPr>
          <p:cNvPr id="15" name="Text 12"/>
          <p:cNvSpPr/>
          <p:nvPr/>
        </p:nvSpPr>
        <p:spPr>
          <a:xfrm>
            <a:off x="5463540" y="1943100"/>
            <a:ext cx="55816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Hotel Bookings</a:t>
            </a:r>
            <a:endParaRPr lang="en-US" sz="1600" dirty="0"/>
          </a:p>
        </p:txBody>
      </p:sp>
      <p:sp>
        <p:nvSpPr>
          <p:cNvPr id="16" name="Text 13"/>
          <p:cNvSpPr/>
          <p:nvPr/>
        </p:nvSpPr>
        <p:spPr>
          <a:xfrm>
            <a:off x="5463540" y="2209800"/>
            <a:ext cx="55816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View room photos, check availability, read reviews, and confirm reservations online</a:t>
            </a:r>
            <a:endParaRPr lang="en-US" sz="1600" dirty="0"/>
          </a:p>
        </p:txBody>
      </p:sp>
      <p:sp>
        <p:nvSpPr>
          <p:cNvPr id="17" name="Shape 14"/>
          <p:cNvSpPr/>
          <p:nvPr/>
        </p:nvSpPr>
        <p:spPr>
          <a:xfrm>
            <a:off x="5044440" y="2590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8" name="Shape 15"/>
          <p:cNvSpPr/>
          <p:nvPr/>
        </p:nvSpPr>
        <p:spPr>
          <a:xfrm>
            <a:off x="5132547" y="2676525"/>
            <a:ext cx="133350" cy="133350"/>
          </a:xfrm>
          <a:custGeom>
            <a:avLst/>
            <a:gdLst/>
            <a:ahLst/>
            <a:cxnLst/>
            <a:rect l="l" t="t" r="r" b="b"/>
            <a:pathLst>
              <a:path w="133350" h="133350">
                <a:moveTo>
                  <a:pt x="16643" y="3750"/>
                </a:moveTo>
                <a:cubicBezTo>
                  <a:pt x="16434" y="1615"/>
                  <a:pt x="14637" y="0"/>
                  <a:pt x="12502" y="0"/>
                </a:cubicBezTo>
                <a:cubicBezTo>
                  <a:pt x="10366" y="0"/>
                  <a:pt x="8569" y="1615"/>
                  <a:pt x="8334" y="3724"/>
                </a:cubicBezTo>
                <a:lnTo>
                  <a:pt x="4662" y="38989"/>
                </a:lnTo>
                <a:cubicBezTo>
                  <a:pt x="4323" y="40552"/>
                  <a:pt x="4167" y="42141"/>
                  <a:pt x="4167" y="43729"/>
                </a:cubicBezTo>
                <a:cubicBezTo>
                  <a:pt x="4167" y="55684"/>
                  <a:pt x="13309" y="65503"/>
                  <a:pt x="25003" y="66571"/>
                </a:cubicBezTo>
                <a:lnTo>
                  <a:pt x="25003" y="125016"/>
                </a:lnTo>
                <a:cubicBezTo>
                  <a:pt x="25003" y="129626"/>
                  <a:pt x="28728" y="133350"/>
                  <a:pt x="33337" y="133350"/>
                </a:cubicBezTo>
                <a:cubicBezTo>
                  <a:pt x="37947" y="133350"/>
                  <a:pt x="41672" y="129626"/>
                  <a:pt x="41672" y="125016"/>
                </a:cubicBezTo>
                <a:lnTo>
                  <a:pt x="41672" y="66571"/>
                </a:lnTo>
                <a:cubicBezTo>
                  <a:pt x="53366" y="65503"/>
                  <a:pt x="62508" y="55684"/>
                  <a:pt x="62508" y="43729"/>
                </a:cubicBezTo>
                <a:cubicBezTo>
                  <a:pt x="62508" y="42141"/>
                  <a:pt x="62352" y="40552"/>
                  <a:pt x="62013" y="38989"/>
                </a:cubicBezTo>
                <a:lnTo>
                  <a:pt x="58315" y="3724"/>
                </a:lnTo>
                <a:cubicBezTo>
                  <a:pt x="58106" y="1615"/>
                  <a:pt x="56309" y="0"/>
                  <a:pt x="54173" y="0"/>
                </a:cubicBezTo>
                <a:cubicBezTo>
                  <a:pt x="52038" y="0"/>
                  <a:pt x="50241" y="1615"/>
                  <a:pt x="50032" y="3750"/>
                </a:cubicBezTo>
                <a:lnTo>
                  <a:pt x="46490" y="39041"/>
                </a:lnTo>
                <a:cubicBezTo>
                  <a:pt x="46334" y="40526"/>
                  <a:pt x="45084" y="41672"/>
                  <a:pt x="43599" y="41672"/>
                </a:cubicBezTo>
                <a:cubicBezTo>
                  <a:pt x="42089" y="41672"/>
                  <a:pt x="40838" y="40526"/>
                  <a:pt x="40682" y="39015"/>
                </a:cubicBezTo>
                <a:lnTo>
                  <a:pt x="37479" y="3803"/>
                </a:lnTo>
                <a:cubicBezTo>
                  <a:pt x="37296" y="1641"/>
                  <a:pt x="35499" y="0"/>
                  <a:pt x="33337" y="0"/>
                </a:cubicBezTo>
                <a:cubicBezTo>
                  <a:pt x="31176" y="0"/>
                  <a:pt x="29379" y="1641"/>
                  <a:pt x="29196" y="3803"/>
                </a:cubicBezTo>
                <a:lnTo>
                  <a:pt x="25993" y="39015"/>
                </a:lnTo>
                <a:cubicBezTo>
                  <a:pt x="25863" y="40526"/>
                  <a:pt x="24586" y="41672"/>
                  <a:pt x="23076" y="41672"/>
                </a:cubicBezTo>
                <a:cubicBezTo>
                  <a:pt x="21565" y="41672"/>
                  <a:pt x="20315" y="40526"/>
                  <a:pt x="20185" y="39041"/>
                </a:cubicBezTo>
                <a:lnTo>
                  <a:pt x="16643" y="3750"/>
                </a:lnTo>
                <a:close/>
                <a:moveTo>
                  <a:pt x="116681" y="0"/>
                </a:moveTo>
                <a:cubicBezTo>
                  <a:pt x="112514" y="0"/>
                  <a:pt x="83344" y="8334"/>
                  <a:pt x="83344" y="45839"/>
                </a:cubicBezTo>
                <a:lnTo>
                  <a:pt x="83344" y="75009"/>
                </a:lnTo>
                <a:cubicBezTo>
                  <a:pt x="83344" y="84203"/>
                  <a:pt x="90819" y="91678"/>
                  <a:pt x="100013" y="91678"/>
                </a:cubicBezTo>
                <a:lnTo>
                  <a:pt x="108347" y="91678"/>
                </a:lnTo>
                <a:lnTo>
                  <a:pt x="108347" y="125016"/>
                </a:lnTo>
                <a:cubicBezTo>
                  <a:pt x="108347" y="129626"/>
                  <a:pt x="112071" y="133350"/>
                  <a:pt x="116681" y="133350"/>
                </a:cubicBezTo>
                <a:cubicBezTo>
                  <a:pt x="121291" y="133350"/>
                  <a:pt x="125016" y="129626"/>
                  <a:pt x="125016" y="125016"/>
                </a:cubicBezTo>
                <a:lnTo>
                  <a:pt x="125016" y="8334"/>
                </a:lnTo>
                <a:cubicBezTo>
                  <a:pt x="125016" y="3724"/>
                  <a:pt x="121291" y="0"/>
                  <a:pt x="116681" y="0"/>
                </a:cubicBezTo>
                <a:close/>
              </a:path>
            </a:pathLst>
          </a:custGeom>
          <a:solidFill>
            <a:srgbClr val="6366F1"/>
          </a:solidFill>
          <a:ln/>
        </p:spPr>
      </p:sp>
      <p:sp>
        <p:nvSpPr>
          <p:cNvPr id="19" name="Text 16"/>
          <p:cNvSpPr/>
          <p:nvPr/>
        </p:nvSpPr>
        <p:spPr>
          <a:xfrm>
            <a:off x="5463540" y="2552700"/>
            <a:ext cx="54102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Restaurant Tables</a:t>
            </a:r>
            <a:endParaRPr lang="en-US" sz="1600" dirty="0"/>
          </a:p>
        </p:txBody>
      </p:sp>
      <p:sp>
        <p:nvSpPr>
          <p:cNvPr id="20" name="Text 17"/>
          <p:cNvSpPr/>
          <p:nvPr/>
        </p:nvSpPr>
        <p:spPr>
          <a:xfrm>
            <a:off x="5463540" y="2819400"/>
            <a:ext cx="54102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Reserve tables for dinner, choose time slots, and receive confirmation messages</a:t>
            </a:r>
            <a:endParaRPr lang="en-US" sz="1600" dirty="0"/>
          </a:p>
        </p:txBody>
      </p:sp>
      <p:sp>
        <p:nvSpPr>
          <p:cNvPr id="21" name="Shape 18"/>
          <p:cNvSpPr/>
          <p:nvPr/>
        </p:nvSpPr>
        <p:spPr>
          <a:xfrm>
            <a:off x="5044440" y="32004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2" name="Shape 19"/>
          <p:cNvSpPr/>
          <p:nvPr/>
        </p:nvSpPr>
        <p:spPr>
          <a:xfrm>
            <a:off x="5140881" y="3286125"/>
            <a:ext cx="116681" cy="133350"/>
          </a:xfrm>
          <a:custGeom>
            <a:avLst/>
            <a:gdLst/>
            <a:ahLst/>
            <a:cxnLst/>
            <a:rect l="l" t="t" r="r" b="b"/>
            <a:pathLst>
              <a:path w="116681" h="133350">
                <a:moveTo>
                  <a:pt x="33337" y="0"/>
                </a:moveTo>
                <a:cubicBezTo>
                  <a:pt x="37947" y="0"/>
                  <a:pt x="41672" y="3724"/>
                  <a:pt x="41672" y="8334"/>
                </a:cubicBezTo>
                <a:lnTo>
                  <a:pt x="41672" y="16669"/>
                </a:lnTo>
                <a:lnTo>
                  <a:pt x="75009" y="16669"/>
                </a:lnTo>
                <a:lnTo>
                  <a:pt x="75009" y="8334"/>
                </a:lnTo>
                <a:cubicBezTo>
                  <a:pt x="75009" y="3724"/>
                  <a:pt x="78734" y="0"/>
                  <a:pt x="83344" y="0"/>
                </a:cubicBezTo>
                <a:cubicBezTo>
                  <a:pt x="87954" y="0"/>
                  <a:pt x="91678" y="3724"/>
                  <a:pt x="91678" y="8334"/>
                </a:cubicBezTo>
                <a:lnTo>
                  <a:pt x="91678" y="16669"/>
                </a:lnTo>
                <a:lnTo>
                  <a:pt x="100013" y="16669"/>
                </a:lnTo>
                <a:cubicBezTo>
                  <a:pt x="109206" y="16669"/>
                  <a:pt x="116681" y="24144"/>
                  <a:pt x="116681" y="33337"/>
                </a:cubicBezTo>
                <a:lnTo>
                  <a:pt x="116681" y="108347"/>
                </a:lnTo>
                <a:cubicBezTo>
                  <a:pt x="116681" y="117541"/>
                  <a:pt x="109206" y="125016"/>
                  <a:pt x="100013" y="125016"/>
                </a:cubicBezTo>
                <a:lnTo>
                  <a:pt x="16669" y="125016"/>
                </a:lnTo>
                <a:cubicBezTo>
                  <a:pt x="7475" y="125016"/>
                  <a:pt x="0" y="117541"/>
                  <a:pt x="0" y="108347"/>
                </a:cubicBezTo>
                <a:lnTo>
                  <a:pt x="0" y="33337"/>
                </a:lnTo>
                <a:cubicBezTo>
                  <a:pt x="0" y="24144"/>
                  <a:pt x="7475" y="16669"/>
                  <a:pt x="16669" y="16669"/>
                </a:cubicBezTo>
                <a:lnTo>
                  <a:pt x="25003" y="16669"/>
                </a:lnTo>
                <a:lnTo>
                  <a:pt x="25003" y="8334"/>
                </a:lnTo>
                <a:cubicBezTo>
                  <a:pt x="25003" y="3724"/>
                  <a:pt x="28728" y="0"/>
                  <a:pt x="33337" y="0"/>
                </a:cubicBezTo>
                <a:close/>
                <a:moveTo>
                  <a:pt x="16669" y="62508"/>
                </a:moveTo>
                <a:lnTo>
                  <a:pt x="16669" y="70842"/>
                </a:lnTo>
                <a:cubicBezTo>
                  <a:pt x="16669" y="73134"/>
                  <a:pt x="18544" y="75009"/>
                  <a:pt x="20836" y="75009"/>
                </a:cubicBezTo>
                <a:lnTo>
                  <a:pt x="29170" y="75009"/>
                </a:lnTo>
                <a:cubicBezTo>
                  <a:pt x="31462" y="75009"/>
                  <a:pt x="33337" y="73134"/>
                  <a:pt x="33337" y="70842"/>
                </a:cubicBezTo>
                <a:lnTo>
                  <a:pt x="33337" y="62508"/>
                </a:lnTo>
                <a:cubicBezTo>
                  <a:pt x="33337" y="60216"/>
                  <a:pt x="31462" y="58341"/>
                  <a:pt x="29170" y="58341"/>
                </a:cubicBezTo>
                <a:lnTo>
                  <a:pt x="20836" y="58341"/>
                </a:lnTo>
                <a:cubicBezTo>
                  <a:pt x="18544" y="58341"/>
                  <a:pt x="16669" y="60216"/>
                  <a:pt x="16669" y="62508"/>
                </a:cubicBezTo>
                <a:close/>
                <a:moveTo>
                  <a:pt x="50006" y="62508"/>
                </a:moveTo>
                <a:lnTo>
                  <a:pt x="50006" y="70842"/>
                </a:lnTo>
                <a:cubicBezTo>
                  <a:pt x="50006" y="73134"/>
                  <a:pt x="51881" y="75009"/>
                  <a:pt x="54173" y="75009"/>
                </a:cubicBezTo>
                <a:lnTo>
                  <a:pt x="62508" y="75009"/>
                </a:lnTo>
                <a:cubicBezTo>
                  <a:pt x="64800" y="75009"/>
                  <a:pt x="66675" y="73134"/>
                  <a:pt x="66675" y="70842"/>
                </a:cubicBezTo>
                <a:lnTo>
                  <a:pt x="66675" y="62508"/>
                </a:lnTo>
                <a:cubicBezTo>
                  <a:pt x="66675" y="60216"/>
                  <a:pt x="64800" y="58341"/>
                  <a:pt x="62508" y="58341"/>
                </a:cubicBezTo>
                <a:lnTo>
                  <a:pt x="54173" y="58341"/>
                </a:lnTo>
                <a:cubicBezTo>
                  <a:pt x="51881" y="58341"/>
                  <a:pt x="50006" y="60216"/>
                  <a:pt x="50006" y="62508"/>
                </a:cubicBezTo>
                <a:close/>
                <a:moveTo>
                  <a:pt x="87511" y="58341"/>
                </a:moveTo>
                <a:cubicBezTo>
                  <a:pt x="85219" y="58341"/>
                  <a:pt x="83344" y="60216"/>
                  <a:pt x="83344" y="62508"/>
                </a:cubicBezTo>
                <a:lnTo>
                  <a:pt x="83344" y="70842"/>
                </a:lnTo>
                <a:cubicBezTo>
                  <a:pt x="83344" y="73134"/>
                  <a:pt x="85219" y="75009"/>
                  <a:pt x="87511" y="75009"/>
                </a:cubicBezTo>
                <a:lnTo>
                  <a:pt x="95845" y="75009"/>
                </a:lnTo>
                <a:cubicBezTo>
                  <a:pt x="98137" y="75009"/>
                  <a:pt x="100013" y="73134"/>
                  <a:pt x="100013" y="70842"/>
                </a:cubicBezTo>
                <a:lnTo>
                  <a:pt x="100013" y="62508"/>
                </a:lnTo>
                <a:cubicBezTo>
                  <a:pt x="100013" y="60216"/>
                  <a:pt x="98137" y="58341"/>
                  <a:pt x="95845" y="58341"/>
                </a:cubicBezTo>
                <a:lnTo>
                  <a:pt x="87511" y="58341"/>
                </a:lnTo>
                <a:close/>
                <a:moveTo>
                  <a:pt x="16669" y="95845"/>
                </a:moveTo>
                <a:lnTo>
                  <a:pt x="16669" y="104180"/>
                </a:lnTo>
                <a:cubicBezTo>
                  <a:pt x="16669" y="106472"/>
                  <a:pt x="18544" y="108347"/>
                  <a:pt x="20836" y="108347"/>
                </a:cubicBezTo>
                <a:lnTo>
                  <a:pt x="29170" y="108347"/>
                </a:lnTo>
                <a:cubicBezTo>
                  <a:pt x="31462" y="108347"/>
                  <a:pt x="33337" y="106472"/>
                  <a:pt x="33337" y="104180"/>
                </a:cubicBezTo>
                <a:lnTo>
                  <a:pt x="33337" y="95845"/>
                </a:lnTo>
                <a:cubicBezTo>
                  <a:pt x="33337" y="93553"/>
                  <a:pt x="31462" y="91678"/>
                  <a:pt x="29170" y="91678"/>
                </a:cubicBezTo>
                <a:lnTo>
                  <a:pt x="20836" y="91678"/>
                </a:lnTo>
                <a:cubicBezTo>
                  <a:pt x="18544" y="91678"/>
                  <a:pt x="16669" y="93553"/>
                  <a:pt x="16669" y="95845"/>
                </a:cubicBezTo>
                <a:close/>
                <a:moveTo>
                  <a:pt x="54173" y="91678"/>
                </a:moveTo>
                <a:cubicBezTo>
                  <a:pt x="51881" y="91678"/>
                  <a:pt x="50006" y="93553"/>
                  <a:pt x="50006" y="95845"/>
                </a:cubicBezTo>
                <a:lnTo>
                  <a:pt x="50006" y="104180"/>
                </a:lnTo>
                <a:cubicBezTo>
                  <a:pt x="50006" y="106472"/>
                  <a:pt x="51881" y="108347"/>
                  <a:pt x="54173" y="108347"/>
                </a:cubicBezTo>
                <a:lnTo>
                  <a:pt x="62508" y="108347"/>
                </a:lnTo>
                <a:cubicBezTo>
                  <a:pt x="64800" y="108347"/>
                  <a:pt x="66675" y="106472"/>
                  <a:pt x="66675" y="104180"/>
                </a:cubicBezTo>
                <a:lnTo>
                  <a:pt x="66675" y="95845"/>
                </a:lnTo>
                <a:cubicBezTo>
                  <a:pt x="66675" y="93553"/>
                  <a:pt x="64800" y="91678"/>
                  <a:pt x="62508" y="91678"/>
                </a:cubicBezTo>
                <a:lnTo>
                  <a:pt x="54173" y="91678"/>
                </a:lnTo>
                <a:close/>
                <a:moveTo>
                  <a:pt x="83344" y="95845"/>
                </a:moveTo>
                <a:lnTo>
                  <a:pt x="83344" y="104180"/>
                </a:lnTo>
                <a:cubicBezTo>
                  <a:pt x="83344" y="106472"/>
                  <a:pt x="85219" y="108347"/>
                  <a:pt x="87511" y="108347"/>
                </a:cubicBezTo>
                <a:lnTo>
                  <a:pt x="95845" y="108347"/>
                </a:lnTo>
                <a:cubicBezTo>
                  <a:pt x="98137" y="108347"/>
                  <a:pt x="100013" y="106472"/>
                  <a:pt x="100013" y="104180"/>
                </a:cubicBezTo>
                <a:lnTo>
                  <a:pt x="100013" y="95845"/>
                </a:lnTo>
                <a:cubicBezTo>
                  <a:pt x="100013" y="93553"/>
                  <a:pt x="98137" y="91678"/>
                  <a:pt x="95845" y="91678"/>
                </a:cubicBezTo>
                <a:lnTo>
                  <a:pt x="87511" y="91678"/>
                </a:lnTo>
                <a:cubicBezTo>
                  <a:pt x="85219" y="91678"/>
                  <a:pt x="83344" y="93553"/>
                  <a:pt x="83344" y="95845"/>
                </a:cubicBezTo>
                <a:close/>
              </a:path>
            </a:pathLst>
          </a:custGeom>
          <a:solidFill>
            <a:srgbClr val="6366F1"/>
          </a:solidFill>
          <a:ln/>
        </p:spPr>
      </p:sp>
      <p:sp>
        <p:nvSpPr>
          <p:cNvPr id="23" name="Text 20"/>
          <p:cNvSpPr/>
          <p:nvPr/>
        </p:nvSpPr>
        <p:spPr>
          <a:xfrm>
            <a:off x="5463540" y="3162300"/>
            <a:ext cx="47434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Appointment Scheduling</a:t>
            </a:r>
            <a:endParaRPr lang="en-US" sz="1600" dirty="0"/>
          </a:p>
        </p:txBody>
      </p:sp>
      <p:sp>
        <p:nvSpPr>
          <p:cNvPr id="24" name="Text 21"/>
          <p:cNvSpPr/>
          <p:nvPr/>
        </p:nvSpPr>
        <p:spPr>
          <a:xfrm>
            <a:off x="5463540" y="3429000"/>
            <a:ext cx="47434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Book doctor visits, haircuts, or consultations with automatic reminders</a:t>
            </a:r>
            <a:endParaRPr lang="en-US" sz="1600" dirty="0"/>
          </a:p>
        </p:txBody>
      </p:sp>
      <p:sp>
        <p:nvSpPr>
          <p:cNvPr id="25" name="Shape 22"/>
          <p:cNvSpPr/>
          <p:nvPr/>
        </p:nvSpPr>
        <p:spPr>
          <a:xfrm>
            <a:off x="5044440" y="3810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6" name="Shape 23"/>
          <p:cNvSpPr/>
          <p:nvPr/>
        </p:nvSpPr>
        <p:spPr>
          <a:xfrm>
            <a:off x="5132547" y="3895725"/>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6366F1"/>
          </a:solidFill>
          <a:ln/>
        </p:spPr>
      </p:sp>
      <p:sp>
        <p:nvSpPr>
          <p:cNvPr id="27" name="Text 24"/>
          <p:cNvSpPr/>
          <p:nvPr/>
        </p:nvSpPr>
        <p:spPr>
          <a:xfrm>
            <a:off x="5463540" y="3771900"/>
            <a:ext cx="49625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Secure Payments</a:t>
            </a:r>
            <a:endParaRPr lang="en-US" sz="1600" dirty="0"/>
          </a:p>
        </p:txBody>
      </p:sp>
      <p:sp>
        <p:nvSpPr>
          <p:cNvPr id="28" name="Text 25"/>
          <p:cNvSpPr/>
          <p:nvPr/>
        </p:nvSpPr>
        <p:spPr>
          <a:xfrm>
            <a:off x="5463540" y="4038600"/>
            <a:ext cx="49625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Integrated payment systems handle credit cards and digital wallets safely</a:t>
            </a:r>
            <a:endParaRPr lang="en-US" sz="1600" dirty="0"/>
          </a:p>
        </p:txBody>
      </p:sp>
      <p:sp>
        <p:nvSpPr>
          <p:cNvPr id="29" name="Shape 26"/>
          <p:cNvSpPr/>
          <p:nvPr/>
        </p:nvSpPr>
        <p:spPr>
          <a:xfrm>
            <a:off x="5048250" y="5703569"/>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30" name="Text 27"/>
          <p:cNvSpPr/>
          <p:nvPr/>
        </p:nvSpPr>
        <p:spPr>
          <a:xfrm>
            <a:off x="5204460" y="5859782"/>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When you use Booking.com to reserve a hotel or Uber to book a ride, you are using a booking system!</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6366F1"/>
                </a:solidFill>
                <a:latin typeface="Liter" pitchFamily="34" charset="0"/>
                <a:ea typeface="Liter" pitchFamily="34" charset="-122"/>
                <a:cs typeface="Liter" pitchFamily="34" charset="-120"/>
              </a:rPr>
              <a:t>LECTURE 1.4</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FEFEF"/>
                </a:solidFill>
                <a:latin typeface="Liter" pitchFamily="34" charset="0"/>
                <a:ea typeface="Liter" pitchFamily="34" charset="-122"/>
                <a:cs typeface="Liter" pitchFamily="34" charset="-120"/>
              </a:rPr>
              <a:t>Banking Applications</a:t>
            </a:r>
            <a:endParaRPr lang="en-US" sz="1600" dirty="0"/>
          </a:p>
        </p:txBody>
      </p:sp>
      <p:sp>
        <p:nvSpPr>
          <p:cNvPr id="4" name="Shape 2"/>
          <p:cNvSpPr/>
          <p:nvPr/>
        </p:nvSpPr>
        <p:spPr>
          <a:xfrm>
            <a:off x="317500" y="104775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6366F1">
              <a:alpha val="20000"/>
            </a:srgbClr>
          </a:solidFill>
          <a:ln/>
        </p:spPr>
      </p:sp>
      <p:sp>
        <p:nvSpPr>
          <p:cNvPr id="5" name="Shape 3"/>
          <p:cNvSpPr/>
          <p:nvPr/>
        </p:nvSpPr>
        <p:spPr>
          <a:xfrm>
            <a:off x="428625" y="1143000"/>
            <a:ext cx="95250" cy="127000"/>
          </a:xfrm>
          <a:custGeom>
            <a:avLst/>
            <a:gdLst/>
            <a:ahLst/>
            <a:cxnLst/>
            <a:rect l="l" t="t" r="r" b="b"/>
            <a:pathLst>
              <a:path w="95250" h="127000">
                <a:moveTo>
                  <a:pt x="3969" y="15875"/>
                </a:moveTo>
                <a:cubicBezTo>
                  <a:pt x="3969" y="7119"/>
                  <a:pt x="11088" y="0"/>
                  <a:pt x="19844" y="0"/>
                </a:cubicBezTo>
                <a:lnTo>
                  <a:pt x="75406" y="0"/>
                </a:lnTo>
                <a:cubicBezTo>
                  <a:pt x="84162" y="0"/>
                  <a:pt x="91281" y="7119"/>
                  <a:pt x="91281" y="15875"/>
                </a:cubicBezTo>
                <a:lnTo>
                  <a:pt x="91281" y="111125"/>
                </a:lnTo>
                <a:cubicBezTo>
                  <a:pt x="91281" y="119881"/>
                  <a:pt x="84162" y="127000"/>
                  <a:pt x="75406" y="127000"/>
                </a:cubicBezTo>
                <a:lnTo>
                  <a:pt x="19844" y="127000"/>
                </a:lnTo>
                <a:cubicBezTo>
                  <a:pt x="11088" y="127000"/>
                  <a:pt x="3969" y="119881"/>
                  <a:pt x="3969" y="111125"/>
                </a:cubicBezTo>
                <a:lnTo>
                  <a:pt x="3969" y="15875"/>
                </a:lnTo>
                <a:close/>
                <a:moveTo>
                  <a:pt x="19844" y="15875"/>
                </a:moveTo>
                <a:lnTo>
                  <a:pt x="19844" y="91281"/>
                </a:lnTo>
                <a:lnTo>
                  <a:pt x="75406" y="91281"/>
                </a:lnTo>
                <a:lnTo>
                  <a:pt x="75406" y="15875"/>
                </a:lnTo>
                <a:lnTo>
                  <a:pt x="19844" y="15875"/>
                </a:lnTo>
                <a:close/>
                <a:moveTo>
                  <a:pt x="47625" y="117078"/>
                </a:moveTo>
                <a:cubicBezTo>
                  <a:pt x="52015" y="117078"/>
                  <a:pt x="55563" y="113531"/>
                  <a:pt x="55563" y="109141"/>
                </a:cubicBezTo>
                <a:cubicBezTo>
                  <a:pt x="55563" y="104750"/>
                  <a:pt x="52015" y="101203"/>
                  <a:pt x="47625" y="101203"/>
                </a:cubicBezTo>
                <a:cubicBezTo>
                  <a:pt x="43235" y="101203"/>
                  <a:pt x="39688" y="104750"/>
                  <a:pt x="39688" y="109141"/>
                </a:cubicBezTo>
                <a:cubicBezTo>
                  <a:pt x="39688" y="113531"/>
                  <a:pt x="43235" y="117078"/>
                  <a:pt x="47625" y="117078"/>
                </a:cubicBezTo>
                <a:close/>
              </a:path>
            </a:pathLst>
          </a:custGeom>
          <a:solidFill>
            <a:srgbClr val="6366F1"/>
          </a:solidFill>
          <a:ln/>
        </p:spPr>
      </p:sp>
      <p:sp>
        <p:nvSpPr>
          <p:cNvPr id="6" name="Text 4"/>
          <p:cNvSpPr/>
          <p:nvPr/>
        </p:nvSpPr>
        <p:spPr>
          <a:xfrm>
            <a:off x="730250" y="1047750"/>
            <a:ext cx="4794250" cy="222250"/>
          </a:xfrm>
          <a:prstGeom prst="rect">
            <a:avLst/>
          </a:prstGeom>
          <a:noFill/>
          <a:ln/>
        </p:spPr>
        <p:txBody>
          <a:bodyPr wrap="square" lIns="0" tIns="0" rIns="0" bIns="0" rtlCol="0" anchor="ctr"/>
          <a:lstStyle/>
          <a:p>
            <a:pPr>
              <a:lnSpc>
                <a:spcPct val="130000"/>
              </a:lnSpc>
            </a:pPr>
            <a:r>
              <a:rPr lang="en-US" sz="1125" b="1" dirty="0">
                <a:solidFill>
                  <a:srgbClr val="EFEFEF"/>
                </a:solidFill>
                <a:latin typeface="Liter" pitchFamily="34" charset="0"/>
                <a:ea typeface="Liter" pitchFamily="34" charset="-122"/>
                <a:cs typeface="Liter" pitchFamily="34" charset="-120"/>
              </a:rPr>
              <a:t>Mobile Banking</a:t>
            </a:r>
            <a:endParaRPr lang="en-US" sz="1600" dirty="0"/>
          </a:p>
        </p:txBody>
      </p:sp>
      <p:sp>
        <p:nvSpPr>
          <p:cNvPr id="7" name="Text 5"/>
          <p:cNvSpPr/>
          <p:nvPr/>
        </p:nvSpPr>
        <p:spPr>
          <a:xfrm>
            <a:off x="730250" y="1301750"/>
            <a:ext cx="4786313" cy="190500"/>
          </a:xfrm>
          <a:prstGeom prst="rect">
            <a:avLst/>
          </a:prstGeom>
          <a:noFill/>
          <a:ln/>
        </p:spPr>
        <p:txBody>
          <a:bodyPr wrap="square" lIns="0" tIns="0" rIns="0" bIns="0" rtlCol="0" anchor="ctr"/>
          <a:lstStyle/>
          <a:p>
            <a:pPr>
              <a:lnSpc>
                <a:spcPct val="130000"/>
              </a:lnSpc>
            </a:pPr>
            <a:r>
              <a:rPr lang="en-US" sz="1000" dirty="0">
                <a:solidFill>
                  <a:srgbClr val="8F8F8F"/>
                </a:solidFill>
                <a:latin typeface="Liter" pitchFamily="34" charset="0"/>
                <a:ea typeface="Liter" pitchFamily="34" charset="-122"/>
                <a:cs typeface="Liter" pitchFamily="34" charset="-120"/>
              </a:rPr>
              <a:t>Check balances, transfer money, and pay bills using smartphone apps from anywhere</a:t>
            </a:r>
            <a:endParaRPr lang="en-US" sz="1600" dirty="0"/>
          </a:p>
        </p:txBody>
      </p:sp>
      <p:sp>
        <p:nvSpPr>
          <p:cNvPr id="8" name="Shape 6"/>
          <p:cNvSpPr/>
          <p:nvPr/>
        </p:nvSpPr>
        <p:spPr>
          <a:xfrm>
            <a:off x="317500" y="161925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6366F1">
              <a:alpha val="20000"/>
            </a:srgbClr>
          </a:solidFill>
          <a:ln/>
        </p:spPr>
      </p:sp>
      <p:sp>
        <p:nvSpPr>
          <p:cNvPr id="9" name="Shape 7"/>
          <p:cNvSpPr/>
          <p:nvPr/>
        </p:nvSpPr>
        <p:spPr>
          <a:xfrm>
            <a:off x="412750" y="1714500"/>
            <a:ext cx="127000" cy="127000"/>
          </a:xfrm>
          <a:custGeom>
            <a:avLst/>
            <a:gdLst/>
            <a:ahLst/>
            <a:cxnLst/>
            <a:rect l="l" t="t" r="r" b="b"/>
            <a:pathLst>
              <a:path w="127000" h="127000">
                <a:moveTo>
                  <a:pt x="0" y="31750"/>
                </a:moveTo>
                <a:lnTo>
                  <a:pt x="0" y="39688"/>
                </a:lnTo>
                <a:lnTo>
                  <a:pt x="127000" y="39688"/>
                </a:lnTo>
                <a:lnTo>
                  <a:pt x="127000" y="31750"/>
                </a:lnTo>
                <a:cubicBezTo>
                  <a:pt x="127000" y="22994"/>
                  <a:pt x="119881" y="15875"/>
                  <a:pt x="111125" y="15875"/>
                </a:cubicBezTo>
                <a:lnTo>
                  <a:pt x="15875" y="15875"/>
                </a:lnTo>
                <a:cubicBezTo>
                  <a:pt x="7119" y="15875"/>
                  <a:pt x="0" y="22994"/>
                  <a:pt x="0" y="31750"/>
                </a:cubicBezTo>
                <a:close/>
                <a:moveTo>
                  <a:pt x="0" y="51594"/>
                </a:moveTo>
                <a:lnTo>
                  <a:pt x="0" y="95250"/>
                </a:lnTo>
                <a:cubicBezTo>
                  <a:pt x="0" y="104006"/>
                  <a:pt x="7119" y="111125"/>
                  <a:pt x="15875" y="111125"/>
                </a:cubicBezTo>
                <a:lnTo>
                  <a:pt x="111125" y="111125"/>
                </a:lnTo>
                <a:cubicBezTo>
                  <a:pt x="119881" y="111125"/>
                  <a:pt x="127000" y="104006"/>
                  <a:pt x="127000" y="95250"/>
                </a:cubicBezTo>
                <a:lnTo>
                  <a:pt x="127000" y="51594"/>
                </a:lnTo>
                <a:lnTo>
                  <a:pt x="0" y="51594"/>
                </a:lnTo>
                <a:close/>
                <a:moveTo>
                  <a:pt x="15875" y="89297"/>
                </a:moveTo>
                <a:cubicBezTo>
                  <a:pt x="15875" y="85998"/>
                  <a:pt x="18529" y="83344"/>
                  <a:pt x="21828" y="83344"/>
                </a:cubicBezTo>
                <a:lnTo>
                  <a:pt x="33734" y="83344"/>
                </a:lnTo>
                <a:cubicBezTo>
                  <a:pt x="37033" y="83344"/>
                  <a:pt x="39688" y="85998"/>
                  <a:pt x="39688" y="89297"/>
                </a:cubicBezTo>
                <a:cubicBezTo>
                  <a:pt x="39688" y="92596"/>
                  <a:pt x="37033" y="95250"/>
                  <a:pt x="33734" y="95250"/>
                </a:cubicBezTo>
                <a:lnTo>
                  <a:pt x="21828" y="95250"/>
                </a:lnTo>
                <a:cubicBezTo>
                  <a:pt x="18529" y="95250"/>
                  <a:pt x="15875" y="92596"/>
                  <a:pt x="15875" y="89297"/>
                </a:cubicBezTo>
                <a:close/>
                <a:moveTo>
                  <a:pt x="51594" y="89297"/>
                </a:moveTo>
                <a:cubicBezTo>
                  <a:pt x="51594" y="85998"/>
                  <a:pt x="54248" y="83344"/>
                  <a:pt x="57547" y="83344"/>
                </a:cubicBezTo>
                <a:lnTo>
                  <a:pt x="73422" y="83344"/>
                </a:lnTo>
                <a:cubicBezTo>
                  <a:pt x="76721" y="83344"/>
                  <a:pt x="79375" y="85998"/>
                  <a:pt x="79375" y="89297"/>
                </a:cubicBezTo>
                <a:cubicBezTo>
                  <a:pt x="79375" y="92596"/>
                  <a:pt x="76721" y="95250"/>
                  <a:pt x="73422" y="95250"/>
                </a:cubicBezTo>
                <a:lnTo>
                  <a:pt x="57547" y="95250"/>
                </a:lnTo>
                <a:cubicBezTo>
                  <a:pt x="54248" y="95250"/>
                  <a:pt x="51594" y="92596"/>
                  <a:pt x="51594" y="89297"/>
                </a:cubicBezTo>
                <a:close/>
              </a:path>
            </a:pathLst>
          </a:custGeom>
          <a:solidFill>
            <a:srgbClr val="6366F1"/>
          </a:solidFill>
          <a:ln/>
        </p:spPr>
      </p:sp>
      <p:sp>
        <p:nvSpPr>
          <p:cNvPr id="10" name="Text 8"/>
          <p:cNvSpPr/>
          <p:nvPr/>
        </p:nvSpPr>
        <p:spPr>
          <a:xfrm>
            <a:off x="730250" y="1619250"/>
            <a:ext cx="4460875" cy="222250"/>
          </a:xfrm>
          <a:prstGeom prst="rect">
            <a:avLst/>
          </a:prstGeom>
          <a:noFill/>
          <a:ln/>
        </p:spPr>
        <p:txBody>
          <a:bodyPr wrap="square" lIns="0" tIns="0" rIns="0" bIns="0" rtlCol="0" anchor="ctr"/>
          <a:lstStyle/>
          <a:p>
            <a:pPr>
              <a:lnSpc>
                <a:spcPct val="130000"/>
              </a:lnSpc>
            </a:pPr>
            <a:r>
              <a:rPr lang="en-US" sz="1125" b="1" dirty="0">
                <a:solidFill>
                  <a:srgbClr val="EFEFEF"/>
                </a:solidFill>
                <a:latin typeface="Liter" pitchFamily="34" charset="0"/>
                <a:ea typeface="Liter" pitchFamily="34" charset="-122"/>
                <a:cs typeface="Liter" pitchFamily="34" charset="-120"/>
              </a:rPr>
              <a:t>Online Payments</a:t>
            </a:r>
            <a:endParaRPr lang="en-US" sz="1600" dirty="0"/>
          </a:p>
        </p:txBody>
      </p:sp>
      <p:sp>
        <p:nvSpPr>
          <p:cNvPr id="11" name="Text 9"/>
          <p:cNvSpPr/>
          <p:nvPr/>
        </p:nvSpPr>
        <p:spPr>
          <a:xfrm>
            <a:off x="730250" y="1873250"/>
            <a:ext cx="4452938" cy="190500"/>
          </a:xfrm>
          <a:prstGeom prst="rect">
            <a:avLst/>
          </a:prstGeom>
          <a:noFill/>
          <a:ln/>
        </p:spPr>
        <p:txBody>
          <a:bodyPr wrap="square" lIns="0" tIns="0" rIns="0" bIns="0" rtlCol="0" anchor="ctr"/>
          <a:lstStyle/>
          <a:p>
            <a:pPr>
              <a:lnSpc>
                <a:spcPct val="130000"/>
              </a:lnSpc>
            </a:pPr>
            <a:r>
              <a:rPr lang="en-US" sz="1000" dirty="0">
                <a:solidFill>
                  <a:srgbClr val="8F8F8F"/>
                </a:solidFill>
                <a:latin typeface="Liter" pitchFamily="34" charset="0"/>
                <a:ea typeface="Liter" pitchFamily="34" charset="-122"/>
                <a:cs typeface="Liter" pitchFamily="34" charset="-120"/>
              </a:rPr>
              <a:t>Shop online securely using credit/debit cards, PayPal, Apple Pay, or Google Pay</a:t>
            </a:r>
            <a:endParaRPr lang="en-US" sz="1600" dirty="0"/>
          </a:p>
        </p:txBody>
      </p:sp>
      <p:sp>
        <p:nvSpPr>
          <p:cNvPr id="12" name="Shape 10"/>
          <p:cNvSpPr/>
          <p:nvPr/>
        </p:nvSpPr>
        <p:spPr>
          <a:xfrm>
            <a:off x="317500" y="219075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6366F1">
              <a:alpha val="20000"/>
            </a:srgbClr>
          </a:solidFill>
          <a:ln/>
        </p:spPr>
      </p:sp>
      <p:sp>
        <p:nvSpPr>
          <p:cNvPr id="13" name="Shape 11"/>
          <p:cNvSpPr/>
          <p:nvPr/>
        </p:nvSpPr>
        <p:spPr>
          <a:xfrm>
            <a:off x="412750" y="2286000"/>
            <a:ext cx="127000" cy="127000"/>
          </a:xfrm>
          <a:custGeom>
            <a:avLst/>
            <a:gdLst/>
            <a:ahLst/>
            <a:cxnLst/>
            <a:rect l="l" t="t" r="r" b="b"/>
            <a:pathLst>
              <a:path w="127000" h="127000">
                <a:moveTo>
                  <a:pt x="0" y="104080"/>
                </a:moveTo>
                <a:lnTo>
                  <a:pt x="0" y="27161"/>
                </a:lnTo>
                <a:cubicBezTo>
                  <a:pt x="0" y="21406"/>
                  <a:pt x="5978" y="17587"/>
                  <a:pt x="11485" y="19224"/>
                </a:cubicBezTo>
                <a:cubicBezTo>
                  <a:pt x="33238" y="25722"/>
                  <a:pt x="48617" y="20588"/>
                  <a:pt x="64095" y="15429"/>
                </a:cubicBezTo>
                <a:cubicBezTo>
                  <a:pt x="80094" y="10096"/>
                  <a:pt x="96193" y="4738"/>
                  <a:pt x="119484" y="12179"/>
                </a:cubicBezTo>
                <a:cubicBezTo>
                  <a:pt x="124073" y="13643"/>
                  <a:pt x="127000" y="18083"/>
                  <a:pt x="127000" y="22920"/>
                </a:cubicBezTo>
                <a:lnTo>
                  <a:pt x="127000" y="99839"/>
                </a:lnTo>
                <a:cubicBezTo>
                  <a:pt x="127000" y="105594"/>
                  <a:pt x="121022" y="109413"/>
                  <a:pt x="115540" y="107776"/>
                </a:cubicBezTo>
                <a:cubicBezTo>
                  <a:pt x="93787" y="101278"/>
                  <a:pt x="78383" y="106412"/>
                  <a:pt x="62929" y="111571"/>
                </a:cubicBezTo>
                <a:cubicBezTo>
                  <a:pt x="46930" y="116904"/>
                  <a:pt x="30832" y="122262"/>
                  <a:pt x="7541" y="114821"/>
                </a:cubicBezTo>
                <a:cubicBezTo>
                  <a:pt x="2952" y="113357"/>
                  <a:pt x="25" y="108917"/>
                  <a:pt x="25" y="104080"/>
                </a:cubicBezTo>
                <a:close/>
                <a:moveTo>
                  <a:pt x="83344" y="63500"/>
                </a:moveTo>
                <a:cubicBezTo>
                  <a:pt x="83344" y="50354"/>
                  <a:pt x="74464" y="39688"/>
                  <a:pt x="63500" y="39688"/>
                </a:cubicBezTo>
                <a:cubicBezTo>
                  <a:pt x="52536" y="39688"/>
                  <a:pt x="43656" y="50354"/>
                  <a:pt x="43656" y="63500"/>
                </a:cubicBezTo>
                <a:cubicBezTo>
                  <a:pt x="43656" y="76646"/>
                  <a:pt x="52536" y="87313"/>
                  <a:pt x="63500" y="87313"/>
                </a:cubicBezTo>
                <a:cubicBezTo>
                  <a:pt x="74464" y="87313"/>
                  <a:pt x="83344" y="76646"/>
                  <a:pt x="83344" y="63500"/>
                </a:cubicBezTo>
                <a:close/>
                <a:moveTo>
                  <a:pt x="29766" y="102592"/>
                </a:moveTo>
                <a:cubicBezTo>
                  <a:pt x="30857" y="102592"/>
                  <a:pt x="31725" y="101650"/>
                  <a:pt x="31552" y="100583"/>
                </a:cubicBezTo>
                <a:cubicBezTo>
                  <a:pt x="30411" y="93687"/>
                  <a:pt x="24854" y="88305"/>
                  <a:pt x="17859" y="87437"/>
                </a:cubicBezTo>
                <a:cubicBezTo>
                  <a:pt x="16768" y="87313"/>
                  <a:pt x="15875" y="88205"/>
                  <a:pt x="15875" y="89297"/>
                </a:cubicBezTo>
                <a:lnTo>
                  <a:pt x="15875" y="99194"/>
                </a:lnTo>
                <a:cubicBezTo>
                  <a:pt x="15875" y="100087"/>
                  <a:pt x="16470" y="100881"/>
                  <a:pt x="17363" y="101104"/>
                </a:cubicBezTo>
                <a:cubicBezTo>
                  <a:pt x="21803" y="102146"/>
                  <a:pt x="25871" y="102617"/>
                  <a:pt x="29766" y="102617"/>
                </a:cubicBezTo>
                <a:close/>
                <a:moveTo>
                  <a:pt x="108769" y="89917"/>
                </a:moveTo>
                <a:cubicBezTo>
                  <a:pt x="110009" y="90115"/>
                  <a:pt x="111125" y="89173"/>
                  <a:pt x="111125" y="87933"/>
                </a:cubicBezTo>
                <a:lnTo>
                  <a:pt x="111125" y="77366"/>
                </a:lnTo>
                <a:cubicBezTo>
                  <a:pt x="111125" y="76274"/>
                  <a:pt x="110232" y="75357"/>
                  <a:pt x="109141" y="75505"/>
                </a:cubicBezTo>
                <a:cubicBezTo>
                  <a:pt x="102890" y="76274"/>
                  <a:pt x="97755" y="80690"/>
                  <a:pt x="95945" y="86568"/>
                </a:cubicBezTo>
                <a:cubicBezTo>
                  <a:pt x="95597" y="87734"/>
                  <a:pt x="96515" y="88826"/>
                  <a:pt x="97730" y="88850"/>
                </a:cubicBezTo>
                <a:cubicBezTo>
                  <a:pt x="101253" y="88950"/>
                  <a:pt x="104924" y="89272"/>
                  <a:pt x="108744" y="89917"/>
                </a:cubicBezTo>
                <a:close/>
                <a:moveTo>
                  <a:pt x="111125" y="37703"/>
                </a:moveTo>
                <a:lnTo>
                  <a:pt x="111125" y="27806"/>
                </a:lnTo>
                <a:cubicBezTo>
                  <a:pt x="111125" y="26913"/>
                  <a:pt x="110505" y="26119"/>
                  <a:pt x="109637" y="25896"/>
                </a:cubicBezTo>
                <a:cubicBezTo>
                  <a:pt x="105197" y="24854"/>
                  <a:pt x="101129" y="24383"/>
                  <a:pt x="97234" y="24383"/>
                </a:cubicBezTo>
                <a:cubicBezTo>
                  <a:pt x="96143" y="24383"/>
                  <a:pt x="95275" y="25326"/>
                  <a:pt x="95448" y="26392"/>
                </a:cubicBezTo>
                <a:cubicBezTo>
                  <a:pt x="96589" y="33288"/>
                  <a:pt x="102146" y="38671"/>
                  <a:pt x="109141" y="39539"/>
                </a:cubicBezTo>
                <a:cubicBezTo>
                  <a:pt x="110232" y="39663"/>
                  <a:pt x="111125" y="38770"/>
                  <a:pt x="111125" y="37678"/>
                </a:cubicBezTo>
                <a:close/>
                <a:moveTo>
                  <a:pt x="31055" y="40407"/>
                </a:moveTo>
                <a:cubicBezTo>
                  <a:pt x="31403" y="39241"/>
                  <a:pt x="30485" y="38150"/>
                  <a:pt x="29270" y="38125"/>
                </a:cubicBezTo>
                <a:cubicBezTo>
                  <a:pt x="25747" y="38026"/>
                  <a:pt x="22076" y="37703"/>
                  <a:pt x="18256" y="37058"/>
                </a:cubicBezTo>
                <a:cubicBezTo>
                  <a:pt x="17016" y="36860"/>
                  <a:pt x="15900" y="37802"/>
                  <a:pt x="15900" y="39043"/>
                </a:cubicBezTo>
                <a:lnTo>
                  <a:pt x="15875" y="49609"/>
                </a:lnTo>
                <a:cubicBezTo>
                  <a:pt x="15875" y="50701"/>
                  <a:pt x="16768" y="51619"/>
                  <a:pt x="17859" y="51470"/>
                </a:cubicBezTo>
                <a:cubicBezTo>
                  <a:pt x="24110" y="50701"/>
                  <a:pt x="29245" y="46286"/>
                  <a:pt x="31055" y="40407"/>
                </a:cubicBezTo>
                <a:close/>
              </a:path>
            </a:pathLst>
          </a:custGeom>
          <a:solidFill>
            <a:srgbClr val="6366F1"/>
          </a:solidFill>
          <a:ln/>
        </p:spPr>
      </p:sp>
      <p:sp>
        <p:nvSpPr>
          <p:cNvPr id="14" name="Text 12"/>
          <p:cNvSpPr/>
          <p:nvPr/>
        </p:nvSpPr>
        <p:spPr>
          <a:xfrm>
            <a:off x="730250" y="2190750"/>
            <a:ext cx="4762500" cy="222250"/>
          </a:xfrm>
          <a:prstGeom prst="rect">
            <a:avLst/>
          </a:prstGeom>
          <a:noFill/>
          <a:ln/>
        </p:spPr>
        <p:txBody>
          <a:bodyPr wrap="square" lIns="0" tIns="0" rIns="0" bIns="0" rtlCol="0" anchor="ctr"/>
          <a:lstStyle/>
          <a:p>
            <a:pPr>
              <a:lnSpc>
                <a:spcPct val="130000"/>
              </a:lnSpc>
            </a:pPr>
            <a:r>
              <a:rPr lang="en-US" sz="1125" b="1" dirty="0">
                <a:solidFill>
                  <a:srgbClr val="EFEFEF"/>
                </a:solidFill>
                <a:latin typeface="Liter" pitchFamily="34" charset="0"/>
                <a:ea typeface="Liter" pitchFamily="34" charset="-122"/>
                <a:cs typeface="Liter" pitchFamily="34" charset="-120"/>
              </a:rPr>
              <a:t>ATM Transactions</a:t>
            </a:r>
            <a:endParaRPr lang="en-US" sz="1600" dirty="0"/>
          </a:p>
        </p:txBody>
      </p:sp>
      <p:sp>
        <p:nvSpPr>
          <p:cNvPr id="15" name="Text 13"/>
          <p:cNvSpPr/>
          <p:nvPr/>
        </p:nvSpPr>
        <p:spPr>
          <a:xfrm>
            <a:off x="730250" y="2444750"/>
            <a:ext cx="4754563" cy="190500"/>
          </a:xfrm>
          <a:prstGeom prst="rect">
            <a:avLst/>
          </a:prstGeom>
          <a:noFill/>
          <a:ln/>
        </p:spPr>
        <p:txBody>
          <a:bodyPr wrap="square" lIns="0" tIns="0" rIns="0" bIns="0" rtlCol="0" anchor="ctr"/>
          <a:lstStyle/>
          <a:p>
            <a:pPr>
              <a:lnSpc>
                <a:spcPct val="130000"/>
              </a:lnSpc>
            </a:pPr>
            <a:r>
              <a:rPr lang="en-US" sz="1000" dirty="0">
                <a:solidFill>
                  <a:srgbClr val="8F8F8F"/>
                </a:solidFill>
                <a:latin typeface="Liter" pitchFamily="34" charset="0"/>
                <a:ea typeface="Liter" pitchFamily="34" charset="-122"/>
                <a:cs typeface="Liter" pitchFamily="34" charset="-120"/>
              </a:rPr>
              <a:t>Withdraw cash, deposit checks, and check account balances at automated machines</a:t>
            </a:r>
            <a:endParaRPr lang="en-US" sz="1600" dirty="0"/>
          </a:p>
        </p:txBody>
      </p:sp>
      <p:sp>
        <p:nvSpPr>
          <p:cNvPr id="16" name="Shape 14"/>
          <p:cNvSpPr/>
          <p:nvPr/>
        </p:nvSpPr>
        <p:spPr>
          <a:xfrm>
            <a:off x="317500" y="276225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6366F1">
              <a:alpha val="20000"/>
            </a:srgbClr>
          </a:solidFill>
          <a:ln/>
        </p:spPr>
      </p:sp>
      <p:sp>
        <p:nvSpPr>
          <p:cNvPr id="17" name="Shape 15"/>
          <p:cNvSpPr/>
          <p:nvPr/>
        </p:nvSpPr>
        <p:spPr>
          <a:xfrm>
            <a:off x="428625" y="2857500"/>
            <a:ext cx="95250" cy="127000"/>
          </a:xfrm>
          <a:custGeom>
            <a:avLst/>
            <a:gdLst/>
            <a:ahLst/>
            <a:cxnLst/>
            <a:rect l="l" t="t" r="r" b="b"/>
            <a:pathLst>
              <a:path w="95250" h="127000">
                <a:moveTo>
                  <a:pt x="31750" y="23812"/>
                </a:moveTo>
                <a:lnTo>
                  <a:pt x="31750" y="39688"/>
                </a:lnTo>
                <a:lnTo>
                  <a:pt x="63500" y="39688"/>
                </a:lnTo>
                <a:lnTo>
                  <a:pt x="63500" y="23812"/>
                </a:lnTo>
                <a:cubicBezTo>
                  <a:pt x="63500" y="15056"/>
                  <a:pt x="56381" y="7938"/>
                  <a:pt x="47625" y="7938"/>
                </a:cubicBezTo>
                <a:cubicBezTo>
                  <a:pt x="38869" y="7938"/>
                  <a:pt x="31750" y="15056"/>
                  <a:pt x="31750" y="23812"/>
                </a:cubicBezTo>
                <a:close/>
                <a:moveTo>
                  <a:pt x="15875" y="39688"/>
                </a:moveTo>
                <a:lnTo>
                  <a:pt x="15875" y="23812"/>
                </a:lnTo>
                <a:cubicBezTo>
                  <a:pt x="15875" y="6276"/>
                  <a:pt x="30088" y="-7937"/>
                  <a:pt x="47625" y="-7937"/>
                </a:cubicBezTo>
                <a:cubicBezTo>
                  <a:pt x="65162" y="-7937"/>
                  <a:pt x="79375" y="6276"/>
                  <a:pt x="79375" y="23812"/>
                </a:cubicBezTo>
                <a:lnTo>
                  <a:pt x="79375" y="39688"/>
                </a:lnTo>
                <a:cubicBezTo>
                  <a:pt x="88131" y="39688"/>
                  <a:pt x="95250" y="46806"/>
                  <a:pt x="95250" y="55563"/>
                </a:cubicBezTo>
                <a:lnTo>
                  <a:pt x="95250" y="111125"/>
                </a:lnTo>
                <a:cubicBezTo>
                  <a:pt x="95250" y="119881"/>
                  <a:pt x="88131" y="127000"/>
                  <a:pt x="79375" y="127000"/>
                </a:cubicBezTo>
                <a:lnTo>
                  <a:pt x="15875" y="127000"/>
                </a:lnTo>
                <a:cubicBezTo>
                  <a:pt x="7119" y="127000"/>
                  <a:pt x="0" y="119881"/>
                  <a:pt x="0" y="111125"/>
                </a:cubicBezTo>
                <a:lnTo>
                  <a:pt x="0" y="55563"/>
                </a:lnTo>
                <a:cubicBezTo>
                  <a:pt x="0" y="46806"/>
                  <a:pt x="7119" y="39688"/>
                  <a:pt x="15875" y="39688"/>
                </a:cubicBezTo>
                <a:close/>
              </a:path>
            </a:pathLst>
          </a:custGeom>
          <a:solidFill>
            <a:srgbClr val="6366F1"/>
          </a:solidFill>
          <a:ln/>
        </p:spPr>
      </p:sp>
      <p:sp>
        <p:nvSpPr>
          <p:cNvPr id="18" name="Text 16"/>
          <p:cNvSpPr/>
          <p:nvPr/>
        </p:nvSpPr>
        <p:spPr>
          <a:xfrm>
            <a:off x="730250" y="2762250"/>
            <a:ext cx="4476750" cy="222250"/>
          </a:xfrm>
          <a:prstGeom prst="rect">
            <a:avLst/>
          </a:prstGeom>
          <a:noFill/>
          <a:ln/>
        </p:spPr>
        <p:txBody>
          <a:bodyPr wrap="square" lIns="0" tIns="0" rIns="0" bIns="0" rtlCol="0" anchor="ctr"/>
          <a:lstStyle/>
          <a:p>
            <a:pPr>
              <a:lnSpc>
                <a:spcPct val="130000"/>
              </a:lnSpc>
            </a:pPr>
            <a:r>
              <a:rPr lang="en-US" sz="1125" b="1" dirty="0">
                <a:solidFill>
                  <a:srgbClr val="EFEFEF"/>
                </a:solidFill>
                <a:latin typeface="Liter" pitchFamily="34" charset="0"/>
                <a:ea typeface="Liter" pitchFamily="34" charset="-122"/>
                <a:cs typeface="Liter" pitchFamily="34" charset="-120"/>
              </a:rPr>
              <a:t>Security Features</a:t>
            </a:r>
            <a:endParaRPr lang="en-US" sz="1600" dirty="0"/>
          </a:p>
        </p:txBody>
      </p:sp>
      <p:sp>
        <p:nvSpPr>
          <p:cNvPr id="19" name="Text 17"/>
          <p:cNvSpPr/>
          <p:nvPr/>
        </p:nvSpPr>
        <p:spPr>
          <a:xfrm>
            <a:off x="730250" y="3016250"/>
            <a:ext cx="4468813" cy="190500"/>
          </a:xfrm>
          <a:prstGeom prst="rect">
            <a:avLst/>
          </a:prstGeom>
          <a:noFill/>
          <a:ln/>
        </p:spPr>
        <p:txBody>
          <a:bodyPr wrap="square" lIns="0" tIns="0" rIns="0" bIns="0" rtlCol="0" anchor="ctr"/>
          <a:lstStyle/>
          <a:p>
            <a:pPr>
              <a:lnSpc>
                <a:spcPct val="130000"/>
              </a:lnSpc>
            </a:pPr>
            <a:r>
              <a:rPr lang="en-US" sz="1000" dirty="0">
                <a:solidFill>
                  <a:srgbClr val="8F8F8F"/>
                </a:solidFill>
                <a:latin typeface="Liter" pitchFamily="34" charset="0"/>
                <a:ea typeface="Liter" pitchFamily="34" charset="-122"/>
                <a:cs typeface="Liter" pitchFamily="34" charset="-120"/>
              </a:rPr>
              <a:t>Two-factor authentication, fingerprint login, and encryption protect your money</a:t>
            </a:r>
            <a:endParaRPr lang="en-US" sz="1600" dirty="0"/>
          </a:p>
        </p:txBody>
      </p:sp>
      <p:sp>
        <p:nvSpPr>
          <p:cNvPr id="20" name="Shape 18"/>
          <p:cNvSpPr/>
          <p:nvPr/>
        </p:nvSpPr>
        <p:spPr>
          <a:xfrm>
            <a:off x="317500" y="333375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6366F1">
              <a:alpha val="20000"/>
            </a:srgbClr>
          </a:solidFill>
          <a:ln/>
        </p:spPr>
      </p:sp>
      <p:sp>
        <p:nvSpPr>
          <p:cNvPr id="21" name="Shape 19"/>
          <p:cNvSpPr/>
          <p:nvPr/>
        </p:nvSpPr>
        <p:spPr>
          <a:xfrm>
            <a:off x="412750" y="342900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6366F1"/>
          </a:solidFill>
          <a:ln/>
        </p:spPr>
      </p:sp>
      <p:sp>
        <p:nvSpPr>
          <p:cNvPr id="22" name="Text 20"/>
          <p:cNvSpPr/>
          <p:nvPr/>
        </p:nvSpPr>
        <p:spPr>
          <a:xfrm>
            <a:off x="730250" y="3333750"/>
            <a:ext cx="4238625" cy="222250"/>
          </a:xfrm>
          <a:prstGeom prst="rect">
            <a:avLst/>
          </a:prstGeom>
          <a:noFill/>
          <a:ln/>
        </p:spPr>
        <p:txBody>
          <a:bodyPr wrap="square" lIns="0" tIns="0" rIns="0" bIns="0" rtlCol="0" anchor="ctr"/>
          <a:lstStyle/>
          <a:p>
            <a:pPr>
              <a:lnSpc>
                <a:spcPct val="130000"/>
              </a:lnSpc>
            </a:pPr>
            <a:r>
              <a:rPr lang="en-US" sz="1125" b="1" dirty="0">
                <a:solidFill>
                  <a:srgbClr val="EFEFEF"/>
                </a:solidFill>
                <a:latin typeface="Liter" pitchFamily="34" charset="0"/>
                <a:ea typeface="Liter" pitchFamily="34" charset="-122"/>
                <a:cs typeface="Liter" pitchFamily="34" charset="-120"/>
              </a:rPr>
              <a:t>Financial Management</a:t>
            </a:r>
            <a:endParaRPr lang="en-US" sz="1600" dirty="0"/>
          </a:p>
        </p:txBody>
      </p:sp>
      <p:sp>
        <p:nvSpPr>
          <p:cNvPr id="23" name="Text 21"/>
          <p:cNvSpPr/>
          <p:nvPr/>
        </p:nvSpPr>
        <p:spPr>
          <a:xfrm>
            <a:off x="730250" y="3587750"/>
            <a:ext cx="4230688" cy="190500"/>
          </a:xfrm>
          <a:prstGeom prst="rect">
            <a:avLst/>
          </a:prstGeom>
          <a:noFill/>
          <a:ln/>
        </p:spPr>
        <p:txBody>
          <a:bodyPr wrap="square" lIns="0" tIns="0" rIns="0" bIns="0" rtlCol="0" anchor="ctr"/>
          <a:lstStyle/>
          <a:p>
            <a:pPr>
              <a:lnSpc>
                <a:spcPct val="130000"/>
              </a:lnSpc>
            </a:pPr>
            <a:r>
              <a:rPr lang="en-US" sz="1000" dirty="0">
                <a:solidFill>
                  <a:srgbClr val="8F8F8F"/>
                </a:solidFill>
                <a:latin typeface="Liter" pitchFamily="34" charset="0"/>
                <a:ea typeface="Liter" pitchFamily="34" charset="-122"/>
                <a:cs typeface="Liter" pitchFamily="34" charset="-120"/>
              </a:rPr>
              <a:t>Track spending, set budgets, and receive alerts for unusual account activity</a:t>
            </a:r>
            <a:endParaRPr lang="en-US" sz="1600" dirty="0"/>
          </a:p>
        </p:txBody>
      </p:sp>
      <p:sp>
        <p:nvSpPr>
          <p:cNvPr id="24" name="Shape 22"/>
          <p:cNvSpPr/>
          <p:nvPr/>
        </p:nvSpPr>
        <p:spPr>
          <a:xfrm>
            <a:off x="6194425" y="1050925"/>
            <a:ext cx="5673725" cy="10690225"/>
          </a:xfrm>
          <a:custGeom>
            <a:avLst/>
            <a:gdLst/>
            <a:ahLst/>
            <a:cxnLst/>
            <a:rect l="l" t="t" r="r" b="b"/>
            <a:pathLst>
              <a:path w="5673725" h="10690225">
                <a:moveTo>
                  <a:pt x="95262" y="0"/>
                </a:moveTo>
                <a:lnTo>
                  <a:pt x="5578463" y="0"/>
                </a:lnTo>
                <a:cubicBezTo>
                  <a:pt x="5631075" y="0"/>
                  <a:pt x="5673725" y="42650"/>
                  <a:pt x="5673725" y="95262"/>
                </a:cubicBezTo>
                <a:lnTo>
                  <a:pt x="5673725" y="10594963"/>
                </a:lnTo>
                <a:cubicBezTo>
                  <a:pt x="5673725" y="10647575"/>
                  <a:pt x="5631075" y="10690225"/>
                  <a:pt x="5578463" y="10690225"/>
                </a:cubicBezTo>
                <a:lnTo>
                  <a:pt x="95262" y="10690225"/>
                </a:lnTo>
                <a:cubicBezTo>
                  <a:pt x="42650" y="10690225"/>
                  <a:pt x="0" y="10647575"/>
                  <a:pt x="0" y="10594963"/>
                </a:cubicBezTo>
                <a:lnTo>
                  <a:pt x="0" y="95262"/>
                </a:lnTo>
                <a:cubicBezTo>
                  <a:pt x="0" y="42685"/>
                  <a:pt x="42685" y="0"/>
                  <a:pt x="95262" y="0"/>
                </a:cubicBezTo>
                <a:close/>
              </a:path>
            </a:pathLst>
          </a:custGeom>
          <a:solidFill>
            <a:srgbClr val="262626"/>
          </a:solidFill>
          <a:ln w="10160">
            <a:solidFill>
              <a:srgbClr val="333333"/>
            </a:solidFill>
            <a:prstDash val="solid"/>
          </a:ln>
        </p:spPr>
      </p:sp>
      <p:pic>
        <p:nvPicPr>
          <p:cNvPr id="25" name="Image 0" descr="https://kimi-web-img.moonshot.cn/img/www.exoft.net/260e8e11009400ec290e867276c820d8cf6a1f8c.webp"/>
          <p:cNvPicPr>
            <a:picLocks noChangeAspect="1"/>
          </p:cNvPicPr>
          <p:nvPr/>
        </p:nvPicPr>
        <p:blipFill>
          <a:blip r:embed="rId3"/>
          <a:srcRect l="42" r="42"/>
          <a:stretch/>
        </p:blipFill>
        <p:spPr>
          <a:xfrm>
            <a:off x="6197600" y="1054102"/>
            <a:ext cx="5667375" cy="10683875"/>
          </a:xfrm>
          <a:prstGeom prst="roundRect">
            <a:avLst>
              <a:gd name="adj" fmla="val 1681"/>
            </a:avLst>
          </a:prstGeom>
        </p:spPr>
      </p:pic>
      <p:sp>
        <p:nvSpPr>
          <p:cNvPr id="26" name="Shape 23"/>
          <p:cNvSpPr/>
          <p:nvPr/>
        </p:nvSpPr>
        <p:spPr>
          <a:xfrm>
            <a:off x="6194425" y="11871524"/>
            <a:ext cx="5673725" cy="641350"/>
          </a:xfrm>
          <a:custGeom>
            <a:avLst/>
            <a:gdLst/>
            <a:ahLst/>
            <a:cxnLst/>
            <a:rect l="l" t="t" r="r" b="b"/>
            <a:pathLst>
              <a:path w="5673725" h="641350">
                <a:moveTo>
                  <a:pt x="63500" y="0"/>
                </a:moveTo>
                <a:lnTo>
                  <a:pt x="5610225" y="0"/>
                </a:lnTo>
                <a:cubicBezTo>
                  <a:pt x="5645295" y="0"/>
                  <a:pt x="5673725" y="28430"/>
                  <a:pt x="5673725" y="63500"/>
                </a:cubicBezTo>
                <a:lnTo>
                  <a:pt x="5673725" y="577850"/>
                </a:lnTo>
                <a:cubicBezTo>
                  <a:pt x="5673725" y="612920"/>
                  <a:pt x="5645295" y="641350"/>
                  <a:pt x="5610225" y="641350"/>
                </a:cubicBezTo>
                <a:lnTo>
                  <a:pt x="63500" y="641350"/>
                </a:lnTo>
                <a:cubicBezTo>
                  <a:pt x="28430" y="641350"/>
                  <a:pt x="0" y="612920"/>
                  <a:pt x="0" y="577850"/>
                </a:cubicBezTo>
                <a:lnTo>
                  <a:pt x="0" y="63500"/>
                </a:lnTo>
                <a:cubicBezTo>
                  <a:pt x="0" y="28430"/>
                  <a:pt x="28430" y="0"/>
                  <a:pt x="63500" y="0"/>
                </a:cubicBezTo>
                <a:close/>
              </a:path>
            </a:pathLst>
          </a:custGeom>
          <a:solidFill>
            <a:srgbClr val="6366F1">
              <a:alpha val="10196"/>
            </a:srgbClr>
          </a:solidFill>
          <a:ln w="10160">
            <a:solidFill>
              <a:srgbClr val="6366F1">
                <a:alpha val="30196"/>
              </a:srgbClr>
            </a:solidFill>
            <a:prstDash val="solid"/>
          </a:ln>
        </p:spPr>
      </p:sp>
      <p:sp>
        <p:nvSpPr>
          <p:cNvPr id="27" name="Text 24"/>
          <p:cNvSpPr/>
          <p:nvPr/>
        </p:nvSpPr>
        <p:spPr>
          <a:xfrm>
            <a:off x="6324600" y="12001698"/>
            <a:ext cx="5476875" cy="381000"/>
          </a:xfrm>
          <a:prstGeom prst="rect">
            <a:avLst/>
          </a:prstGeom>
          <a:noFill/>
          <a:ln/>
        </p:spPr>
        <p:txBody>
          <a:bodyPr wrap="square" lIns="0" tIns="0" rIns="0" bIns="0" rtlCol="0" anchor="ctr"/>
          <a:lstStyle/>
          <a:p>
            <a:pPr>
              <a:lnSpc>
                <a:spcPct val="130000"/>
              </a:lnSpc>
            </a:pPr>
            <a:r>
              <a:rPr lang="en-US" sz="1000" b="1" dirty="0">
                <a:solidFill>
                  <a:srgbClr val="6366F1"/>
                </a:solidFill>
                <a:latin typeface="Liter" pitchFamily="34" charset="0"/>
                <a:ea typeface="Liter" pitchFamily="34" charset="-122"/>
                <a:cs typeface="Liter" pitchFamily="34" charset="-120"/>
              </a:rPr>
              <a:t>Example:</a:t>
            </a:r>
            <a:r>
              <a:rPr lang="en-US" sz="1000" dirty="0">
                <a:solidFill>
                  <a:srgbClr val="EFEFEF"/>
                </a:solidFill>
                <a:latin typeface="Liter" pitchFamily="34" charset="0"/>
                <a:ea typeface="Liter" pitchFamily="34" charset="-122"/>
                <a:cs typeface="Liter" pitchFamily="34" charset="-120"/>
              </a:rPr>
              <a:t> Using your bank app to send money to a friend or pay for groceries with your phone is digital banking in action!</a:t>
            </a:r>
            <a:endParaRPr lang="en-US" sz="1600" dirty="0"/>
          </a:p>
        </p:txBody>
      </p:sp>
      <p:sp>
        <p:nvSpPr>
          <p:cNvPr id="28" name="Shape 25"/>
          <p:cNvSpPr/>
          <p:nvPr/>
        </p:nvSpPr>
        <p:spPr>
          <a:xfrm>
            <a:off x="320675" y="12646225"/>
            <a:ext cx="11547475" cy="641350"/>
          </a:xfrm>
          <a:custGeom>
            <a:avLst/>
            <a:gdLst/>
            <a:ahLst/>
            <a:cxnLst/>
            <a:rect l="l" t="t" r="r" b="b"/>
            <a:pathLst>
              <a:path w="11547475" h="641350">
                <a:moveTo>
                  <a:pt x="63500" y="0"/>
                </a:moveTo>
                <a:lnTo>
                  <a:pt x="11483975" y="0"/>
                </a:lnTo>
                <a:cubicBezTo>
                  <a:pt x="11519045" y="0"/>
                  <a:pt x="11547475" y="28430"/>
                  <a:pt x="11547475" y="63500"/>
                </a:cubicBezTo>
                <a:lnTo>
                  <a:pt x="11547475" y="577850"/>
                </a:lnTo>
                <a:cubicBezTo>
                  <a:pt x="11547475" y="612920"/>
                  <a:pt x="11519045" y="641350"/>
                  <a:pt x="11483975" y="641350"/>
                </a:cubicBezTo>
                <a:lnTo>
                  <a:pt x="63500" y="641350"/>
                </a:lnTo>
                <a:cubicBezTo>
                  <a:pt x="28430" y="641350"/>
                  <a:pt x="0" y="612920"/>
                  <a:pt x="0" y="577850"/>
                </a:cubicBezTo>
                <a:lnTo>
                  <a:pt x="0" y="63500"/>
                </a:lnTo>
                <a:cubicBezTo>
                  <a:pt x="0" y="28430"/>
                  <a:pt x="28430" y="0"/>
                  <a:pt x="63500" y="0"/>
                </a:cubicBezTo>
                <a:close/>
              </a:path>
            </a:pathLst>
          </a:custGeom>
          <a:solidFill>
            <a:srgbClr val="262626"/>
          </a:solidFill>
          <a:ln w="10160">
            <a:solidFill>
              <a:srgbClr val="333333"/>
            </a:solidFill>
            <a:prstDash val="solid"/>
          </a:ln>
        </p:spPr>
      </p:sp>
      <p:sp>
        <p:nvSpPr>
          <p:cNvPr id="29" name="Text 26"/>
          <p:cNvSpPr/>
          <p:nvPr/>
        </p:nvSpPr>
        <p:spPr>
          <a:xfrm>
            <a:off x="450850" y="12776398"/>
            <a:ext cx="11350625" cy="381000"/>
          </a:xfrm>
          <a:prstGeom prst="rect">
            <a:avLst/>
          </a:prstGeom>
          <a:noFill/>
          <a:ln/>
        </p:spPr>
        <p:txBody>
          <a:bodyPr wrap="square" lIns="0" tIns="0" rIns="0" bIns="0" rtlCol="0" anchor="ctr"/>
          <a:lstStyle/>
          <a:p>
            <a:pPr>
              <a:lnSpc>
                <a:spcPct val="130000"/>
              </a:lnSpc>
            </a:pPr>
            <a:r>
              <a:rPr lang="en-US" sz="1000" b="1" dirty="0">
                <a:solidFill>
                  <a:srgbClr val="6366F1"/>
                </a:solidFill>
                <a:latin typeface="Liter" pitchFamily="34" charset="0"/>
                <a:ea typeface="Liter" pitchFamily="34" charset="-122"/>
                <a:cs typeface="Liter" pitchFamily="34" charset="-120"/>
              </a:rPr>
              <a:t>Explanation:</a:t>
            </a:r>
            <a:r>
              <a:rPr lang="en-US" sz="1000" dirty="0">
                <a:solidFill>
                  <a:srgbClr val="EFEFEF"/>
                </a:solidFill>
                <a:latin typeface="Liter" pitchFamily="34" charset="0"/>
                <a:ea typeface="Liter" pitchFamily="34" charset="-122"/>
                <a:cs typeface="Liter" pitchFamily="34" charset="-120"/>
              </a:rPr>
              <a:t> Banking applications are like having a bank branch in your pocket. They use secure encryption (secret codes) to protect your money and personal information, making transactions safe and convenient.</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1.5</a:t>
            </a:r>
            <a:endParaRPr lang="en-US" sz="1600" dirty="0"/>
          </a:p>
        </p:txBody>
      </p:sp>
      <p:sp>
        <p:nvSpPr>
          <p:cNvPr id="3" name="Text 1"/>
          <p:cNvSpPr/>
          <p:nvPr/>
        </p:nvSpPr>
        <p:spPr>
          <a:xfrm>
            <a:off x="38100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Computers in Medicine</a:t>
            </a:r>
            <a:endParaRPr lang="en-US" sz="1600" dirty="0"/>
          </a:p>
        </p:txBody>
      </p:sp>
      <p:sp>
        <p:nvSpPr>
          <p:cNvPr id="4" name="Shape 2"/>
          <p:cNvSpPr/>
          <p:nvPr/>
        </p:nvSpPr>
        <p:spPr>
          <a:xfrm>
            <a:off x="38100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5" name="Shape 3"/>
          <p:cNvSpPr/>
          <p:nvPr/>
        </p:nvSpPr>
        <p:spPr>
          <a:xfrm>
            <a:off x="485775" y="1457325"/>
            <a:ext cx="100013" cy="133350"/>
          </a:xfrm>
          <a:custGeom>
            <a:avLst/>
            <a:gdLst/>
            <a:ahLst/>
            <a:cxnLst/>
            <a:rect l="l" t="t" r="r" b="b"/>
            <a:pathLst>
              <a:path w="100013" h="133350">
                <a:moveTo>
                  <a:pt x="0" y="16669"/>
                </a:moveTo>
                <a:cubicBezTo>
                  <a:pt x="0" y="7475"/>
                  <a:pt x="7475" y="0"/>
                  <a:pt x="16669" y="0"/>
                </a:cubicBezTo>
                <a:lnTo>
                  <a:pt x="55606" y="0"/>
                </a:lnTo>
                <a:cubicBezTo>
                  <a:pt x="60034" y="0"/>
                  <a:pt x="64279" y="1745"/>
                  <a:pt x="67404" y="4870"/>
                </a:cubicBezTo>
                <a:lnTo>
                  <a:pt x="95142" y="32634"/>
                </a:lnTo>
                <a:cubicBezTo>
                  <a:pt x="98267" y="35760"/>
                  <a:pt x="100013" y="40005"/>
                  <a:pt x="100013" y="44433"/>
                </a:cubicBezTo>
                <a:lnTo>
                  <a:pt x="100013" y="116681"/>
                </a:lnTo>
                <a:cubicBezTo>
                  <a:pt x="100013" y="125875"/>
                  <a:pt x="92538" y="133350"/>
                  <a:pt x="83344" y="133350"/>
                </a:cubicBezTo>
                <a:lnTo>
                  <a:pt x="16669" y="133350"/>
                </a:lnTo>
                <a:cubicBezTo>
                  <a:pt x="7475" y="133350"/>
                  <a:pt x="0" y="125875"/>
                  <a:pt x="0" y="116681"/>
                </a:cubicBezTo>
                <a:lnTo>
                  <a:pt x="0" y="16669"/>
                </a:lnTo>
                <a:close/>
                <a:moveTo>
                  <a:pt x="54173" y="15236"/>
                </a:moveTo>
                <a:lnTo>
                  <a:pt x="54173" y="39588"/>
                </a:lnTo>
                <a:cubicBezTo>
                  <a:pt x="54173" y="43052"/>
                  <a:pt x="56960" y="45839"/>
                  <a:pt x="60424" y="45839"/>
                </a:cubicBezTo>
                <a:lnTo>
                  <a:pt x="84776" y="45839"/>
                </a:lnTo>
                <a:lnTo>
                  <a:pt x="54173" y="15236"/>
                </a:lnTo>
                <a:close/>
                <a:moveTo>
                  <a:pt x="41672" y="72926"/>
                </a:moveTo>
                <a:lnTo>
                  <a:pt x="41672" y="83344"/>
                </a:lnTo>
                <a:lnTo>
                  <a:pt x="31254" y="83344"/>
                </a:lnTo>
                <a:cubicBezTo>
                  <a:pt x="28962" y="83344"/>
                  <a:pt x="27087" y="85219"/>
                  <a:pt x="27087" y="87511"/>
                </a:cubicBezTo>
                <a:lnTo>
                  <a:pt x="27087" y="95845"/>
                </a:lnTo>
                <a:cubicBezTo>
                  <a:pt x="27087" y="98137"/>
                  <a:pt x="28962" y="100013"/>
                  <a:pt x="31254" y="100013"/>
                </a:cubicBezTo>
                <a:lnTo>
                  <a:pt x="41672" y="100013"/>
                </a:lnTo>
                <a:lnTo>
                  <a:pt x="41672" y="110430"/>
                </a:lnTo>
                <a:cubicBezTo>
                  <a:pt x="41672" y="112722"/>
                  <a:pt x="43547" y="114598"/>
                  <a:pt x="45839" y="114598"/>
                </a:cubicBezTo>
                <a:lnTo>
                  <a:pt x="54173" y="114598"/>
                </a:lnTo>
                <a:cubicBezTo>
                  <a:pt x="56465" y="114598"/>
                  <a:pt x="58341" y="112722"/>
                  <a:pt x="58341" y="110430"/>
                </a:cubicBezTo>
                <a:lnTo>
                  <a:pt x="58341" y="100013"/>
                </a:lnTo>
                <a:lnTo>
                  <a:pt x="68759" y="100013"/>
                </a:lnTo>
                <a:cubicBezTo>
                  <a:pt x="71051" y="100013"/>
                  <a:pt x="72926" y="98137"/>
                  <a:pt x="72926" y="95845"/>
                </a:cubicBezTo>
                <a:lnTo>
                  <a:pt x="72926" y="87511"/>
                </a:lnTo>
                <a:cubicBezTo>
                  <a:pt x="72926" y="85219"/>
                  <a:pt x="71051" y="83344"/>
                  <a:pt x="68759" y="83344"/>
                </a:cubicBezTo>
                <a:lnTo>
                  <a:pt x="58341" y="83344"/>
                </a:lnTo>
                <a:lnTo>
                  <a:pt x="58341" y="72926"/>
                </a:lnTo>
                <a:cubicBezTo>
                  <a:pt x="58341" y="70634"/>
                  <a:pt x="56465" y="68759"/>
                  <a:pt x="54173" y="68759"/>
                </a:cubicBezTo>
                <a:lnTo>
                  <a:pt x="45839" y="68759"/>
                </a:lnTo>
                <a:cubicBezTo>
                  <a:pt x="43547" y="68759"/>
                  <a:pt x="41672" y="70634"/>
                  <a:pt x="41672" y="72926"/>
                </a:cubicBezTo>
                <a:close/>
              </a:path>
            </a:pathLst>
          </a:custGeom>
          <a:solidFill>
            <a:srgbClr val="6366F1"/>
          </a:solidFill>
          <a:ln/>
        </p:spPr>
      </p:sp>
      <p:sp>
        <p:nvSpPr>
          <p:cNvPr id="6" name="Text 4"/>
          <p:cNvSpPr/>
          <p:nvPr/>
        </p:nvSpPr>
        <p:spPr>
          <a:xfrm>
            <a:off x="800100" y="1333500"/>
            <a:ext cx="62865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Patient Records</a:t>
            </a:r>
            <a:endParaRPr lang="en-US" sz="1600" dirty="0"/>
          </a:p>
        </p:txBody>
      </p:sp>
      <p:sp>
        <p:nvSpPr>
          <p:cNvPr id="7" name="Text 5"/>
          <p:cNvSpPr/>
          <p:nvPr/>
        </p:nvSpPr>
        <p:spPr>
          <a:xfrm>
            <a:off x="800100" y="1600200"/>
            <a:ext cx="62865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Electronic Health Records (EHR) store medical history, prescriptions, and test results digitally</a:t>
            </a:r>
            <a:endParaRPr lang="en-US" sz="1600" dirty="0"/>
          </a:p>
        </p:txBody>
      </p:sp>
      <p:sp>
        <p:nvSpPr>
          <p:cNvPr id="8" name="Shape 6"/>
          <p:cNvSpPr/>
          <p:nvPr/>
        </p:nvSpPr>
        <p:spPr>
          <a:xfrm>
            <a:off x="381000" y="19812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9" name="Shape 7"/>
          <p:cNvSpPr/>
          <p:nvPr/>
        </p:nvSpPr>
        <p:spPr>
          <a:xfrm>
            <a:off x="469106" y="2066925"/>
            <a:ext cx="133350" cy="133350"/>
          </a:xfrm>
          <a:custGeom>
            <a:avLst/>
            <a:gdLst/>
            <a:ahLst/>
            <a:cxnLst/>
            <a:rect l="l" t="t" r="r" b="b"/>
            <a:pathLst>
              <a:path w="133350" h="133350">
                <a:moveTo>
                  <a:pt x="0" y="16669"/>
                </a:moveTo>
                <a:cubicBezTo>
                  <a:pt x="0" y="12059"/>
                  <a:pt x="3724" y="8334"/>
                  <a:pt x="8334" y="8334"/>
                </a:cubicBezTo>
                <a:lnTo>
                  <a:pt x="125016" y="8334"/>
                </a:lnTo>
                <a:cubicBezTo>
                  <a:pt x="129626" y="8334"/>
                  <a:pt x="133350" y="12059"/>
                  <a:pt x="133350" y="16669"/>
                </a:cubicBezTo>
                <a:cubicBezTo>
                  <a:pt x="133350" y="21279"/>
                  <a:pt x="129626" y="25003"/>
                  <a:pt x="125016" y="25003"/>
                </a:cubicBezTo>
                <a:lnTo>
                  <a:pt x="125016" y="108347"/>
                </a:lnTo>
                <a:cubicBezTo>
                  <a:pt x="129626" y="108347"/>
                  <a:pt x="133350" y="112071"/>
                  <a:pt x="133350" y="116681"/>
                </a:cubicBezTo>
                <a:cubicBezTo>
                  <a:pt x="133350" y="121291"/>
                  <a:pt x="129626" y="125016"/>
                  <a:pt x="125016" y="125016"/>
                </a:cubicBezTo>
                <a:lnTo>
                  <a:pt x="8334" y="125016"/>
                </a:lnTo>
                <a:cubicBezTo>
                  <a:pt x="3724" y="125016"/>
                  <a:pt x="0" y="121291"/>
                  <a:pt x="0" y="116681"/>
                </a:cubicBezTo>
                <a:cubicBezTo>
                  <a:pt x="0" y="112071"/>
                  <a:pt x="3724" y="108347"/>
                  <a:pt x="8334" y="108347"/>
                </a:cubicBezTo>
                <a:lnTo>
                  <a:pt x="8334" y="25003"/>
                </a:lnTo>
                <a:cubicBezTo>
                  <a:pt x="3724" y="25003"/>
                  <a:pt x="0" y="21279"/>
                  <a:pt x="0" y="16669"/>
                </a:cubicBezTo>
                <a:close/>
                <a:moveTo>
                  <a:pt x="72926" y="31254"/>
                </a:moveTo>
                <a:cubicBezTo>
                  <a:pt x="72926" y="27790"/>
                  <a:pt x="70139" y="25003"/>
                  <a:pt x="66675" y="25003"/>
                </a:cubicBezTo>
                <a:cubicBezTo>
                  <a:pt x="63211" y="25003"/>
                  <a:pt x="60424" y="27790"/>
                  <a:pt x="60424" y="31254"/>
                </a:cubicBezTo>
                <a:lnTo>
                  <a:pt x="60424" y="35421"/>
                </a:lnTo>
                <a:lnTo>
                  <a:pt x="43755" y="35421"/>
                </a:lnTo>
                <a:cubicBezTo>
                  <a:pt x="40291" y="35421"/>
                  <a:pt x="37505" y="38208"/>
                  <a:pt x="37505" y="41672"/>
                </a:cubicBezTo>
                <a:cubicBezTo>
                  <a:pt x="37505" y="45136"/>
                  <a:pt x="40291" y="47923"/>
                  <a:pt x="43755" y="47923"/>
                </a:cubicBezTo>
                <a:lnTo>
                  <a:pt x="60424" y="47923"/>
                </a:lnTo>
                <a:lnTo>
                  <a:pt x="60424" y="60424"/>
                </a:lnTo>
                <a:lnTo>
                  <a:pt x="39588" y="60424"/>
                </a:lnTo>
                <a:cubicBezTo>
                  <a:pt x="36124" y="60424"/>
                  <a:pt x="33337" y="63211"/>
                  <a:pt x="33337" y="66675"/>
                </a:cubicBezTo>
                <a:cubicBezTo>
                  <a:pt x="33337" y="70139"/>
                  <a:pt x="36124" y="72926"/>
                  <a:pt x="39588" y="72926"/>
                </a:cubicBezTo>
                <a:lnTo>
                  <a:pt x="60424" y="72926"/>
                </a:lnTo>
                <a:lnTo>
                  <a:pt x="60424" y="85427"/>
                </a:lnTo>
                <a:lnTo>
                  <a:pt x="43755" y="85427"/>
                </a:lnTo>
                <a:cubicBezTo>
                  <a:pt x="40291" y="85427"/>
                  <a:pt x="37505" y="88214"/>
                  <a:pt x="37505" y="91678"/>
                </a:cubicBezTo>
                <a:cubicBezTo>
                  <a:pt x="37505" y="95142"/>
                  <a:pt x="40291" y="97929"/>
                  <a:pt x="43755" y="97929"/>
                </a:cubicBezTo>
                <a:lnTo>
                  <a:pt x="60424" y="97929"/>
                </a:lnTo>
                <a:lnTo>
                  <a:pt x="60424" y="102096"/>
                </a:lnTo>
                <a:cubicBezTo>
                  <a:pt x="60424" y="105560"/>
                  <a:pt x="63211" y="108347"/>
                  <a:pt x="66675" y="108347"/>
                </a:cubicBezTo>
                <a:cubicBezTo>
                  <a:pt x="70139" y="108347"/>
                  <a:pt x="72926" y="105560"/>
                  <a:pt x="72926" y="102096"/>
                </a:cubicBezTo>
                <a:lnTo>
                  <a:pt x="72926" y="97929"/>
                </a:lnTo>
                <a:lnTo>
                  <a:pt x="89595" y="97929"/>
                </a:lnTo>
                <a:cubicBezTo>
                  <a:pt x="93059" y="97929"/>
                  <a:pt x="95845" y="95142"/>
                  <a:pt x="95845" y="91678"/>
                </a:cubicBezTo>
                <a:cubicBezTo>
                  <a:pt x="95845" y="88214"/>
                  <a:pt x="93059" y="85427"/>
                  <a:pt x="89595" y="85427"/>
                </a:cubicBezTo>
                <a:lnTo>
                  <a:pt x="72926" y="85427"/>
                </a:lnTo>
                <a:lnTo>
                  <a:pt x="72926" y="72926"/>
                </a:lnTo>
                <a:lnTo>
                  <a:pt x="93762" y="72926"/>
                </a:lnTo>
                <a:cubicBezTo>
                  <a:pt x="97226" y="72926"/>
                  <a:pt x="100013" y="70139"/>
                  <a:pt x="100013" y="66675"/>
                </a:cubicBezTo>
                <a:cubicBezTo>
                  <a:pt x="100013" y="63211"/>
                  <a:pt x="97226" y="60424"/>
                  <a:pt x="93762" y="60424"/>
                </a:cubicBezTo>
                <a:lnTo>
                  <a:pt x="72926" y="60424"/>
                </a:lnTo>
                <a:lnTo>
                  <a:pt x="72926" y="47923"/>
                </a:lnTo>
                <a:lnTo>
                  <a:pt x="89595" y="47923"/>
                </a:lnTo>
                <a:cubicBezTo>
                  <a:pt x="93059" y="47923"/>
                  <a:pt x="95845" y="45136"/>
                  <a:pt x="95845" y="41672"/>
                </a:cubicBezTo>
                <a:cubicBezTo>
                  <a:pt x="95845" y="38208"/>
                  <a:pt x="93059" y="35421"/>
                  <a:pt x="89595" y="35421"/>
                </a:cubicBezTo>
                <a:lnTo>
                  <a:pt x="72926" y="35421"/>
                </a:lnTo>
                <a:lnTo>
                  <a:pt x="72926" y="31254"/>
                </a:lnTo>
                <a:close/>
              </a:path>
            </a:pathLst>
          </a:custGeom>
          <a:solidFill>
            <a:srgbClr val="6366F1"/>
          </a:solidFill>
          <a:ln/>
        </p:spPr>
      </p:sp>
      <p:sp>
        <p:nvSpPr>
          <p:cNvPr id="10" name="Text 8"/>
          <p:cNvSpPr/>
          <p:nvPr/>
        </p:nvSpPr>
        <p:spPr>
          <a:xfrm>
            <a:off x="800100" y="1943100"/>
            <a:ext cx="54197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Medical Imaging</a:t>
            </a:r>
            <a:endParaRPr lang="en-US" sz="1600" dirty="0"/>
          </a:p>
        </p:txBody>
      </p:sp>
      <p:sp>
        <p:nvSpPr>
          <p:cNvPr id="11" name="Text 9"/>
          <p:cNvSpPr/>
          <p:nvPr/>
        </p:nvSpPr>
        <p:spPr>
          <a:xfrm>
            <a:off x="800100" y="2209800"/>
            <a:ext cx="5419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X-rays, CT scans, and MRIs use computers to create detailed images of the body</a:t>
            </a:r>
            <a:endParaRPr lang="en-US" sz="1600" dirty="0"/>
          </a:p>
        </p:txBody>
      </p:sp>
      <p:sp>
        <p:nvSpPr>
          <p:cNvPr id="12" name="Shape 10"/>
          <p:cNvSpPr/>
          <p:nvPr/>
        </p:nvSpPr>
        <p:spPr>
          <a:xfrm>
            <a:off x="381000" y="2590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3" name="Shape 11"/>
          <p:cNvSpPr/>
          <p:nvPr/>
        </p:nvSpPr>
        <p:spPr>
          <a:xfrm>
            <a:off x="469106" y="2676525"/>
            <a:ext cx="133350" cy="133350"/>
          </a:xfrm>
          <a:custGeom>
            <a:avLst/>
            <a:gdLst/>
            <a:ahLst/>
            <a:cxnLst/>
            <a:rect l="l" t="t" r="r" b="b"/>
            <a:pathLst>
              <a:path w="133350" h="133350">
                <a:moveTo>
                  <a:pt x="16669" y="16669"/>
                </a:moveTo>
                <a:cubicBezTo>
                  <a:pt x="16669" y="7475"/>
                  <a:pt x="24144" y="0"/>
                  <a:pt x="33337" y="0"/>
                </a:cubicBezTo>
                <a:lnTo>
                  <a:pt x="88943" y="0"/>
                </a:lnTo>
                <a:cubicBezTo>
                  <a:pt x="93371" y="0"/>
                  <a:pt x="97616" y="1745"/>
                  <a:pt x="100742" y="4870"/>
                </a:cubicBezTo>
                <a:lnTo>
                  <a:pt x="111811" y="15939"/>
                </a:lnTo>
                <a:cubicBezTo>
                  <a:pt x="114936" y="19065"/>
                  <a:pt x="116681" y="23310"/>
                  <a:pt x="116681" y="27738"/>
                </a:cubicBezTo>
                <a:lnTo>
                  <a:pt x="116681" y="37505"/>
                </a:lnTo>
                <a:lnTo>
                  <a:pt x="16669" y="37505"/>
                </a:lnTo>
                <a:lnTo>
                  <a:pt x="16669" y="16669"/>
                </a:lnTo>
                <a:close/>
                <a:moveTo>
                  <a:pt x="0" y="66675"/>
                </a:moveTo>
                <a:cubicBezTo>
                  <a:pt x="0" y="57481"/>
                  <a:pt x="7475" y="50006"/>
                  <a:pt x="16669" y="50006"/>
                </a:cubicBezTo>
                <a:lnTo>
                  <a:pt x="116681" y="50006"/>
                </a:lnTo>
                <a:cubicBezTo>
                  <a:pt x="125875" y="50006"/>
                  <a:pt x="133350" y="57481"/>
                  <a:pt x="133350" y="66675"/>
                </a:cubicBezTo>
                <a:lnTo>
                  <a:pt x="133350" y="91678"/>
                </a:lnTo>
                <a:cubicBezTo>
                  <a:pt x="133350" y="96288"/>
                  <a:pt x="129626" y="100013"/>
                  <a:pt x="125016" y="100013"/>
                </a:cubicBezTo>
                <a:lnTo>
                  <a:pt x="116681" y="100013"/>
                </a:lnTo>
                <a:lnTo>
                  <a:pt x="116681" y="116681"/>
                </a:lnTo>
                <a:cubicBezTo>
                  <a:pt x="116681" y="125875"/>
                  <a:pt x="109206" y="133350"/>
                  <a:pt x="100013" y="133350"/>
                </a:cubicBezTo>
                <a:lnTo>
                  <a:pt x="33337" y="133350"/>
                </a:lnTo>
                <a:cubicBezTo>
                  <a:pt x="24144" y="133350"/>
                  <a:pt x="16669" y="125875"/>
                  <a:pt x="16669" y="116681"/>
                </a:cubicBezTo>
                <a:lnTo>
                  <a:pt x="16669" y="100013"/>
                </a:lnTo>
                <a:lnTo>
                  <a:pt x="8334" y="100013"/>
                </a:lnTo>
                <a:cubicBezTo>
                  <a:pt x="3724" y="100013"/>
                  <a:pt x="0" y="96288"/>
                  <a:pt x="0" y="91678"/>
                </a:cubicBezTo>
                <a:lnTo>
                  <a:pt x="0" y="66675"/>
                </a:lnTo>
                <a:close/>
                <a:moveTo>
                  <a:pt x="33337" y="108347"/>
                </a:moveTo>
                <a:lnTo>
                  <a:pt x="33337" y="116681"/>
                </a:lnTo>
                <a:lnTo>
                  <a:pt x="100013" y="116681"/>
                </a:lnTo>
                <a:lnTo>
                  <a:pt x="100013" y="91678"/>
                </a:lnTo>
                <a:lnTo>
                  <a:pt x="33337" y="91678"/>
                </a:lnTo>
                <a:lnTo>
                  <a:pt x="33337" y="108347"/>
                </a:lnTo>
                <a:close/>
                <a:moveTo>
                  <a:pt x="118765" y="70842"/>
                </a:moveTo>
                <a:cubicBezTo>
                  <a:pt x="118765" y="67392"/>
                  <a:pt x="115964" y="64591"/>
                  <a:pt x="112514" y="64591"/>
                </a:cubicBezTo>
                <a:cubicBezTo>
                  <a:pt x="109064" y="64591"/>
                  <a:pt x="106263" y="67392"/>
                  <a:pt x="106263" y="70842"/>
                </a:cubicBezTo>
                <a:cubicBezTo>
                  <a:pt x="106263" y="74292"/>
                  <a:pt x="109064" y="77093"/>
                  <a:pt x="112514" y="77093"/>
                </a:cubicBezTo>
                <a:cubicBezTo>
                  <a:pt x="115964" y="77093"/>
                  <a:pt x="118765" y="74292"/>
                  <a:pt x="118765" y="70842"/>
                </a:cubicBezTo>
                <a:close/>
              </a:path>
            </a:pathLst>
          </a:custGeom>
          <a:solidFill>
            <a:srgbClr val="6366F1"/>
          </a:solidFill>
          <a:ln/>
        </p:spPr>
      </p:sp>
      <p:sp>
        <p:nvSpPr>
          <p:cNvPr id="14" name="Text 12"/>
          <p:cNvSpPr/>
          <p:nvPr/>
        </p:nvSpPr>
        <p:spPr>
          <a:xfrm>
            <a:off x="800100" y="2552700"/>
            <a:ext cx="53721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3D Printing</a:t>
            </a:r>
            <a:endParaRPr lang="en-US" sz="1600" dirty="0"/>
          </a:p>
        </p:txBody>
      </p:sp>
      <p:sp>
        <p:nvSpPr>
          <p:cNvPr id="15" name="Text 13"/>
          <p:cNvSpPr/>
          <p:nvPr/>
        </p:nvSpPr>
        <p:spPr>
          <a:xfrm>
            <a:off x="800100" y="2819400"/>
            <a:ext cx="53721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Create prosthetic limbs, dental implants, and organ models for surgical planning</a:t>
            </a:r>
            <a:endParaRPr lang="en-US" sz="1600" dirty="0"/>
          </a:p>
        </p:txBody>
      </p:sp>
      <p:sp>
        <p:nvSpPr>
          <p:cNvPr id="16" name="Shape 14"/>
          <p:cNvSpPr/>
          <p:nvPr/>
        </p:nvSpPr>
        <p:spPr>
          <a:xfrm>
            <a:off x="381000" y="32004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7" name="Shape 15"/>
          <p:cNvSpPr/>
          <p:nvPr/>
        </p:nvSpPr>
        <p:spPr>
          <a:xfrm>
            <a:off x="452438" y="3286125"/>
            <a:ext cx="166688" cy="133350"/>
          </a:xfrm>
          <a:custGeom>
            <a:avLst/>
            <a:gdLst/>
            <a:ahLst/>
            <a:cxnLst/>
            <a:rect l="l" t="t" r="r" b="b"/>
            <a:pathLst>
              <a:path w="166688" h="133350">
                <a:moveTo>
                  <a:pt x="91678" y="0"/>
                </a:moveTo>
                <a:cubicBezTo>
                  <a:pt x="91678" y="-4610"/>
                  <a:pt x="87954" y="-8334"/>
                  <a:pt x="83344" y="-8334"/>
                </a:cubicBezTo>
                <a:cubicBezTo>
                  <a:pt x="78734" y="-8334"/>
                  <a:pt x="75009" y="-4610"/>
                  <a:pt x="75009" y="0"/>
                </a:cubicBezTo>
                <a:lnTo>
                  <a:pt x="75009" y="16669"/>
                </a:lnTo>
                <a:lnTo>
                  <a:pt x="50006" y="16669"/>
                </a:lnTo>
                <a:cubicBezTo>
                  <a:pt x="36202" y="16669"/>
                  <a:pt x="25003" y="27868"/>
                  <a:pt x="25003" y="41672"/>
                </a:cubicBezTo>
                <a:lnTo>
                  <a:pt x="25003" y="100013"/>
                </a:lnTo>
                <a:cubicBezTo>
                  <a:pt x="25003" y="113816"/>
                  <a:pt x="36202" y="125016"/>
                  <a:pt x="50006" y="125016"/>
                </a:cubicBezTo>
                <a:lnTo>
                  <a:pt x="116681" y="125016"/>
                </a:lnTo>
                <a:cubicBezTo>
                  <a:pt x="130485" y="125016"/>
                  <a:pt x="141684" y="113816"/>
                  <a:pt x="141684" y="100013"/>
                </a:cubicBezTo>
                <a:lnTo>
                  <a:pt x="141684" y="41672"/>
                </a:lnTo>
                <a:cubicBezTo>
                  <a:pt x="141684" y="27868"/>
                  <a:pt x="130485" y="16669"/>
                  <a:pt x="116681" y="16669"/>
                </a:cubicBezTo>
                <a:lnTo>
                  <a:pt x="91678" y="16669"/>
                </a:lnTo>
                <a:lnTo>
                  <a:pt x="91678" y="0"/>
                </a:lnTo>
                <a:close/>
                <a:moveTo>
                  <a:pt x="41672" y="95845"/>
                </a:moveTo>
                <a:cubicBezTo>
                  <a:pt x="41672" y="92381"/>
                  <a:pt x="44459" y="89595"/>
                  <a:pt x="47923" y="89595"/>
                </a:cubicBezTo>
                <a:lnTo>
                  <a:pt x="56257" y="89595"/>
                </a:lnTo>
                <a:cubicBezTo>
                  <a:pt x="59721" y="89595"/>
                  <a:pt x="62508" y="92381"/>
                  <a:pt x="62508" y="95845"/>
                </a:cubicBezTo>
                <a:cubicBezTo>
                  <a:pt x="62508" y="99309"/>
                  <a:pt x="59721" y="102096"/>
                  <a:pt x="56257" y="102096"/>
                </a:cubicBezTo>
                <a:lnTo>
                  <a:pt x="47923" y="102096"/>
                </a:lnTo>
                <a:cubicBezTo>
                  <a:pt x="44459" y="102096"/>
                  <a:pt x="41672" y="99309"/>
                  <a:pt x="41672" y="95845"/>
                </a:cubicBezTo>
                <a:close/>
                <a:moveTo>
                  <a:pt x="72926" y="95845"/>
                </a:moveTo>
                <a:cubicBezTo>
                  <a:pt x="72926" y="92381"/>
                  <a:pt x="75713" y="89595"/>
                  <a:pt x="79177" y="89595"/>
                </a:cubicBezTo>
                <a:lnTo>
                  <a:pt x="87511" y="89595"/>
                </a:lnTo>
                <a:cubicBezTo>
                  <a:pt x="90975" y="89595"/>
                  <a:pt x="93762" y="92381"/>
                  <a:pt x="93762" y="95845"/>
                </a:cubicBezTo>
                <a:cubicBezTo>
                  <a:pt x="93762" y="99309"/>
                  <a:pt x="90975" y="102096"/>
                  <a:pt x="87511" y="102096"/>
                </a:cubicBezTo>
                <a:lnTo>
                  <a:pt x="79177" y="102096"/>
                </a:lnTo>
                <a:cubicBezTo>
                  <a:pt x="75713" y="102096"/>
                  <a:pt x="72926" y="99309"/>
                  <a:pt x="72926" y="95845"/>
                </a:cubicBezTo>
                <a:close/>
                <a:moveTo>
                  <a:pt x="104180" y="95845"/>
                </a:moveTo>
                <a:cubicBezTo>
                  <a:pt x="104180" y="92381"/>
                  <a:pt x="106966" y="89595"/>
                  <a:pt x="110430" y="89595"/>
                </a:cubicBezTo>
                <a:lnTo>
                  <a:pt x="118765" y="89595"/>
                </a:lnTo>
                <a:cubicBezTo>
                  <a:pt x="122229" y="89595"/>
                  <a:pt x="125016" y="92381"/>
                  <a:pt x="125016" y="95845"/>
                </a:cubicBezTo>
                <a:cubicBezTo>
                  <a:pt x="125016" y="99309"/>
                  <a:pt x="122229" y="102096"/>
                  <a:pt x="118765" y="102096"/>
                </a:cubicBezTo>
                <a:lnTo>
                  <a:pt x="110430" y="102096"/>
                </a:lnTo>
                <a:cubicBezTo>
                  <a:pt x="106966" y="102096"/>
                  <a:pt x="104180" y="99309"/>
                  <a:pt x="104180" y="95845"/>
                </a:cubicBezTo>
                <a:close/>
                <a:moveTo>
                  <a:pt x="58341" y="45839"/>
                </a:moveTo>
                <a:cubicBezTo>
                  <a:pt x="65240" y="45839"/>
                  <a:pt x="70842" y="51441"/>
                  <a:pt x="70842" y="58341"/>
                </a:cubicBezTo>
                <a:cubicBezTo>
                  <a:pt x="70842" y="65240"/>
                  <a:pt x="65240" y="70842"/>
                  <a:pt x="58341" y="70842"/>
                </a:cubicBezTo>
                <a:cubicBezTo>
                  <a:pt x="51441" y="70842"/>
                  <a:pt x="45839" y="65240"/>
                  <a:pt x="45839" y="58341"/>
                </a:cubicBezTo>
                <a:cubicBezTo>
                  <a:pt x="45839" y="51441"/>
                  <a:pt x="51441" y="45839"/>
                  <a:pt x="58341" y="45839"/>
                </a:cubicBezTo>
                <a:close/>
                <a:moveTo>
                  <a:pt x="95845" y="58341"/>
                </a:moveTo>
                <a:cubicBezTo>
                  <a:pt x="95845" y="51441"/>
                  <a:pt x="101447" y="45839"/>
                  <a:pt x="108347" y="45839"/>
                </a:cubicBezTo>
                <a:cubicBezTo>
                  <a:pt x="115247" y="45839"/>
                  <a:pt x="120848" y="51441"/>
                  <a:pt x="120848" y="58341"/>
                </a:cubicBezTo>
                <a:cubicBezTo>
                  <a:pt x="120848" y="65240"/>
                  <a:pt x="115247" y="70842"/>
                  <a:pt x="108347" y="70842"/>
                </a:cubicBezTo>
                <a:cubicBezTo>
                  <a:pt x="101447" y="70842"/>
                  <a:pt x="95845" y="65240"/>
                  <a:pt x="95845" y="58341"/>
                </a:cubicBezTo>
                <a:close/>
                <a:moveTo>
                  <a:pt x="16669" y="58341"/>
                </a:moveTo>
                <a:cubicBezTo>
                  <a:pt x="16669" y="53731"/>
                  <a:pt x="12944" y="50006"/>
                  <a:pt x="8334" y="50006"/>
                </a:cubicBezTo>
                <a:cubicBezTo>
                  <a:pt x="3724" y="50006"/>
                  <a:pt x="0" y="53731"/>
                  <a:pt x="0" y="58341"/>
                </a:cubicBezTo>
                <a:lnTo>
                  <a:pt x="0" y="83344"/>
                </a:lnTo>
                <a:cubicBezTo>
                  <a:pt x="0" y="87954"/>
                  <a:pt x="3724" y="91678"/>
                  <a:pt x="8334" y="91678"/>
                </a:cubicBezTo>
                <a:cubicBezTo>
                  <a:pt x="12944" y="91678"/>
                  <a:pt x="16669" y="87954"/>
                  <a:pt x="16669" y="83344"/>
                </a:cubicBezTo>
                <a:lnTo>
                  <a:pt x="16669" y="58341"/>
                </a:lnTo>
                <a:close/>
                <a:moveTo>
                  <a:pt x="158353" y="50006"/>
                </a:moveTo>
                <a:cubicBezTo>
                  <a:pt x="153743" y="50006"/>
                  <a:pt x="150019" y="53731"/>
                  <a:pt x="150019" y="58341"/>
                </a:cubicBezTo>
                <a:lnTo>
                  <a:pt x="150019" y="83344"/>
                </a:lnTo>
                <a:cubicBezTo>
                  <a:pt x="150019" y="87954"/>
                  <a:pt x="153743" y="91678"/>
                  <a:pt x="158353" y="91678"/>
                </a:cubicBezTo>
                <a:cubicBezTo>
                  <a:pt x="162963" y="91678"/>
                  <a:pt x="166688" y="87954"/>
                  <a:pt x="166688" y="83344"/>
                </a:cubicBezTo>
                <a:lnTo>
                  <a:pt x="166688" y="58341"/>
                </a:lnTo>
                <a:cubicBezTo>
                  <a:pt x="166688" y="53731"/>
                  <a:pt x="162963" y="50006"/>
                  <a:pt x="158353" y="50006"/>
                </a:cubicBezTo>
                <a:close/>
              </a:path>
            </a:pathLst>
          </a:custGeom>
          <a:solidFill>
            <a:srgbClr val="6366F1"/>
          </a:solidFill>
          <a:ln/>
        </p:spPr>
      </p:sp>
      <p:sp>
        <p:nvSpPr>
          <p:cNvPr id="18" name="Text 16"/>
          <p:cNvSpPr/>
          <p:nvPr/>
        </p:nvSpPr>
        <p:spPr>
          <a:xfrm>
            <a:off x="800100" y="3162300"/>
            <a:ext cx="5657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Robotic Surgery</a:t>
            </a:r>
            <a:endParaRPr lang="en-US" sz="1600" dirty="0"/>
          </a:p>
        </p:txBody>
      </p:sp>
      <p:sp>
        <p:nvSpPr>
          <p:cNvPr id="19" name="Text 17"/>
          <p:cNvSpPr/>
          <p:nvPr/>
        </p:nvSpPr>
        <p:spPr>
          <a:xfrm>
            <a:off x="800100" y="3429000"/>
            <a:ext cx="56578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Surgeons use computer-controlled robots for precise, minimally invasive operations</a:t>
            </a:r>
            <a:endParaRPr lang="en-US" sz="1600" dirty="0"/>
          </a:p>
        </p:txBody>
      </p:sp>
      <p:sp>
        <p:nvSpPr>
          <p:cNvPr id="20" name="Shape 18"/>
          <p:cNvSpPr/>
          <p:nvPr/>
        </p:nvSpPr>
        <p:spPr>
          <a:xfrm>
            <a:off x="381000" y="3810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1" name="Shape 19"/>
          <p:cNvSpPr/>
          <p:nvPr/>
        </p:nvSpPr>
        <p:spPr>
          <a:xfrm>
            <a:off x="469106" y="3895725"/>
            <a:ext cx="133350" cy="133350"/>
          </a:xfrm>
          <a:custGeom>
            <a:avLst/>
            <a:gdLst/>
            <a:ahLst/>
            <a:cxnLst/>
            <a:rect l="l" t="t" r="r" b="b"/>
            <a:pathLst>
              <a:path w="133350" h="133350">
                <a:moveTo>
                  <a:pt x="16669" y="29170"/>
                </a:moveTo>
                <a:cubicBezTo>
                  <a:pt x="16669" y="22268"/>
                  <a:pt x="22268" y="16669"/>
                  <a:pt x="29170" y="16669"/>
                </a:cubicBezTo>
                <a:cubicBezTo>
                  <a:pt x="36072" y="16669"/>
                  <a:pt x="41672" y="22268"/>
                  <a:pt x="41672" y="29170"/>
                </a:cubicBezTo>
                <a:lnTo>
                  <a:pt x="41672" y="58341"/>
                </a:lnTo>
                <a:lnTo>
                  <a:pt x="16669" y="58341"/>
                </a:lnTo>
                <a:lnTo>
                  <a:pt x="16669" y="29170"/>
                </a:lnTo>
                <a:close/>
                <a:moveTo>
                  <a:pt x="45839" y="95845"/>
                </a:moveTo>
                <a:cubicBezTo>
                  <a:pt x="45839" y="83161"/>
                  <a:pt x="50553" y="71571"/>
                  <a:pt x="58341" y="62768"/>
                </a:cubicBezTo>
                <a:lnTo>
                  <a:pt x="58341" y="29170"/>
                </a:lnTo>
                <a:cubicBezTo>
                  <a:pt x="58341" y="13049"/>
                  <a:pt x="45292" y="0"/>
                  <a:pt x="29170" y="0"/>
                </a:cubicBezTo>
                <a:cubicBezTo>
                  <a:pt x="13049" y="0"/>
                  <a:pt x="0" y="13049"/>
                  <a:pt x="0" y="29170"/>
                </a:cubicBezTo>
                <a:lnTo>
                  <a:pt x="0" y="104180"/>
                </a:lnTo>
                <a:cubicBezTo>
                  <a:pt x="0" y="120301"/>
                  <a:pt x="13049" y="133350"/>
                  <a:pt x="29170" y="133350"/>
                </a:cubicBezTo>
                <a:cubicBezTo>
                  <a:pt x="38885" y="133350"/>
                  <a:pt x="47480" y="128610"/>
                  <a:pt x="52793" y="121291"/>
                </a:cubicBezTo>
                <a:cubicBezTo>
                  <a:pt x="48365" y="113842"/>
                  <a:pt x="45839" y="105143"/>
                  <a:pt x="45839" y="95845"/>
                </a:cubicBezTo>
                <a:close/>
                <a:moveTo>
                  <a:pt x="62690" y="113400"/>
                </a:moveTo>
                <a:cubicBezTo>
                  <a:pt x="63888" y="115665"/>
                  <a:pt x="66935" y="115926"/>
                  <a:pt x="68759" y="114103"/>
                </a:cubicBezTo>
                <a:lnTo>
                  <a:pt x="114103" y="68759"/>
                </a:lnTo>
                <a:cubicBezTo>
                  <a:pt x="115926" y="66935"/>
                  <a:pt x="115665" y="63888"/>
                  <a:pt x="113400" y="62690"/>
                </a:cubicBezTo>
                <a:cubicBezTo>
                  <a:pt x="108165" y="59903"/>
                  <a:pt x="102200" y="58341"/>
                  <a:pt x="95845" y="58341"/>
                </a:cubicBezTo>
                <a:cubicBezTo>
                  <a:pt x="75140" y="58341"/>
                  <a:pt x="58341" y="75140"/>
                  <a:pt x="58341" y="95845"/>
                </a:cubicBezTo>
                <a:cubicBezTo>
                  <a:pt x="58341" y="102174"/>
                  <a:pt x="59903" y="108165"/>
                  <a:pt x="62690" y="113400"/>
                </a:cubicBezTo>
                <a:close/>
                <a:moveTo>
                  <a:pt x="77588" y="122932"/>
                </a:moveTo>
                <a:cubicBezTo>
                  <a:pt x="75765" y="124755"/>
                  <a:pt x="76025" y="127802"/>
                  <a:pt x="78291" y="129000"/>
                </a:cubicBezTo>
                <a:cubicBezTo>
                  <a:pt x="83526" y="131787"/>
                  <a:pt x="89490" y="133350"/>
                  <a:pt x="95845" y="133350"/>
                </a:cubicBezTo>
                <a:cubicBezTo>
                  <a:pt x="116551" y="133350"/>
                  <a:pt x="133350" y="116551"/>
                  <a:pt x="133350" y="95845"/>
                </a:cubicBezTo>
                <a:cubicBezTo>
                  <a:pt x="133350" y="89516"/>
                  <a:pt x="131787" y="83526"/>
                  <a:pt x="129000" y="78291"/>
                </a:cubicBezTo>
                <a:cubicBezTo>
                  <a:pt x="127802" y="76025"/>
                  <a:pt x="124755" y="75765"/>
                  <a:pt x="122932" y="77588"/>
                </a:cubicBezTo>
                <a:lnTo>
                  <a:pt x="77588" y="122932"/>
                </a:lnTo>
                <a:close/>
              </a:path>
            </a:pathLst>
          </a:custGeom>
          <a:solidFill>
            <a:srgbClr val="6366F1"/>
          </a:solidFill>
          <a:ln/>
        </p:spPr>
      </p:sp>
      <p:sp>
        <p:nvSpPr>
          <p:cNvPr id="22" name="Text 20"/>
          <p:cNvSpPr/>
          <p:nvPr/>
        </p:nvSpPr>
        <p:spPr>
          <a:xfrm>
            <a:off x="800100" y="3771900"/>
            <a:ext cx="53340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Pharmacy Management</a:t>
            </a:r>
            <a:endParaRPr lang="en-US" sz="1600" dirty="0"/>
          </a:p>
        </p:txBody>
      </p:sp>
      <p:sp>
        <p:nvSpPr>
          <p:cNvPr id="23" name="Text 21"/>
          <p:cNvSpPr/>
          <p:nvPr/>
        </p:nvSpPr>
        <p:spPr>
          <a:xfrm>
            <a:off x="800100" y="4038600"/>
            <a:ext cx="53340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Track medication inventory, check drug interactions, and manage prescriptions</a:t>
            </a:r>
            <a:endParaRPr lang="en-US" sz="1600" dirty="0"/>
          </a:p>
        </p:txBody>
      </p:sp>
      <p:sp>
        <p:nvSpPr>
          <p:cNvPr id="24" name="Shape 22"/>
          <p:cNvSpPr/>
          <p:nvPr/>
        </p:nvSpPr>
        <p:spPr>
          <a:xfrm>
            <a:off x="384810" y="5703569"/>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25" name="Text 23"/>
          <p:cNvSpPr/>
          <p:nvPr/>
        </p:nvSpPr>
        <p:spPr>
          <a:xfrm>
            <a:off x="541020" y="5859782"/>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Doctors using tablets to view X-rays, or hospitals 3D printing custom prosthetic hands for patients!</a:t>
            </a:r>
            <a:endParaRPr lang="en-US" sz="1600" dirty="0"/>
          </a:p>
        </p:txBody>
      </p:sp>
      <p:sp>
        <p:nvSpPr>
          <p:cNvPr id="26" name="Shape 24"/>
          <p:cNvSpPr/>
          <p:nvPr/>
        </p:nvSpPr>
        <p:spPr>
          <a:xfrm>
            <a:off x="7379970" y="384810"/>
            <a:ext cx="4427220" cy="4627245"/>
          </a:xfrm>
          <a:custGeom>
            <a:avLst/>
            <a:gdLst/>
            <a:ahLst/>
            <a:cxnLst/>
            <a:rect l="l" t="t" r="r" b="b"/>
            <a:pathLst>
              <a:path w="4427220" h="4627245">
                <a:moveTo>
                  <a:pt x="114311" y="0"/>
                </a:moveTo>
                <a:lnTo>
                  <a:pt x="4312909" y="0"/>
                </a:lnTo>
                <a:cubicBezTo>
                  <a:pt x="4376041" y="0"/>
                  <a:pt x="4427220" y="51179"/>
                  <a:pt x="4427220" y="114311"/>
                </a:cubicBezTo>
                <a:lnTo>
                  <a:pt x="4427220" y="4512934"/>
                </a:lnTo>
                <a:cubicBezTo>
                  <a:pt x="4427220" y="4576066"/>
                  <a:pt x="4376041" y="4627245"/>
                  <a:pt x="4312909" y="4627245"/>
                </a:cubicBezTo>
                <a:lnTo>
                  <a:pt x="114311" y="4627245"/>
                </a:lnTo>
                <a:cubicBezTo>
                  <a:pt x="51179" y="4627245"/>
                  <a:pt x="0" y="4576066"/>
                  <a:pt x="0" y="4512934"/>
                </a:cubicBezTo>
                <a:lnTo>
                  <a:pt x="0" y="114311"/>
                </a:lnTo>
                <a:cubicBezTo>
                  <a:pt x="0" y="51179"/>
                  <a:pt x="51179" y="0"/>
                  <a:pt x="114311" y="0"/>
                </a:cubicBezTo>
                <a:close/>
              </a:path>
            </a:pathLst>
          </a:custGeom>
          <a:solidFill>
            <a:srgbClr val="262626"/>
          </a:solidFill>
          <a:ln w="10160">
            <a:solidFill>
              <a:srgbClr val="333333"/>
            </a:solidFill>
            <a:prstDash val="solid"/>
          </a:ln>
        </p:spPr>
      </p:sp>
      <p:pic>
        <p:nvPicPr>
          <p:cNvPr id="27" name="Image 0" descr="https://kimi-web-img.moonshot.cn/img/www.technicaltextiles.in/ca56da673e2d9437d5ff6987674a2ba241901590.png"/>
          <p:cNvPicPr>
            <a:picLocks noChangeAspect="1"/>
          </p:cNvPicPr>
          <p:nvPr/>
        </p:nvPicPr>
        <p:blipFill>
          <a:blip r:embed="rId3"/>
          <a:srcRect l="20243" r="20243"/>
          <a:stretch/>
        </p:blipFill>
        <p:spPr>
          <a:xfrm>
            <a:off x="7383780" y="388623"/>
            <a:ext cx="4419600" cy="4619625"/>
          </a:xfrm>
          <a:prstGeom prst="roundRect">
            <a:avLst>
              <a:gd name="adj" fmla="val 2586"/>
            </a:avLst>
          </a:prstGeom>
        </p:spPr>
      </p:pic>
      <p:sp>
        <p:nvSpPr>
          <p:cNvPr id="28" name="Shape 25"/>
          <p:cNvSpPr/>
          <p:nvPr/>
        </p:nvSpPr>
        <p:spPr>
          <a:xfrm>
            <a:off x="7379970" y="5170169"/>
            <a:ext cx="4427220" cy="1303020"/>
          </a:xfrm>
          <a:custGeom>
            <a:avLst/>
            <a:gdLst/>
            <a:ahLst/>
            <a:cxnLst/>
            <a:rect l="l" t="t" r="r" b="b"/>
            <a:pathLst>
              <a:path w="4427220" h="1303020">
                <a:moveTo>
                  <a:pt x="76201" y="0"/>
                </a:moveTo>
                <a:lnTo>
                  <a:pt x="4351019" y="0"/>
                </a:lnTo>
                <a:cubicBezTo>
                  <a:pt x="4393104" y="0"/>
                  <a:pt x="4427220" y="34116"/>
                  <a:pt x="4427220" y="76201"/>
                </a:cubicBezTo>
                <a:lnTo>
                  <a:pt x="4427220" y="1226819"/>
                </a:lnTo>
                <a:cubicBezTo>
                  <a:pt x="4427220" y="1268904"/>
                  <a:pt x="4393104" y="1303020"/>
                  <a:pt x="4351019" y="1303020"/>
                </a:cubicBezTo>
                <a:lnTo>
                  <a:pt x="76201" y="1303020"/>
                </a:lnTo>
                <a:cubicBezTo>
                  <a:pt x="34116" y="1303020"/>
                  <a:pt x="0" y="1268904"/>
                  <a:pt x="0" y="1226819"/>
                </a:cubicBezTo>
                <a:lnTo>
                  <a:pt x="0" y="76201"/>
                </a:lnTo>
                <a:cubicBezTo>
                  <a:pt x="0" y="34144"/>
                  <a:pt x="34144" y="0"/>
                  <a:pt x="76201" y="0"/>
                </a:cubicBezTo>
                <a:close/>
              </a:path>
            </a:pathLst>
          </a:custGeom>
          <a:solidFill>
            <a:srgbClr val="6366F1">
              <a:alpha val="10196"/>
            </a:srgbClr>
          </a:solidFill>
          <a:ln w="10160">
            <a:solidFill>
              <a:srgbClr val="6366F1">
                <a:alpha val="30196"/>
              </a:srgbClr>
            </a:solidFill>
            <a:prstDash val="solid"/>
          </a:ln>
        </p:spPr>
      </p:sp>
      <p:sp>
        <p:nvSpPr>
          <p:cNvPr id="29" name="Text 26"/>
          <p:cNvSpPr/>
          <p:nvPr/>
        </p:nvSpPr>
        <p:spPr>
          <a:xfrm>
            <a:off x="7536180" y="5326382"/>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30" name="Text 27"/>
          <p:cNvSpPr/>
          <p:nvPr/>
        </p:nvSpPr>
        <p:spPr>
          <a:xfrm>
            <a:off x="7536180" y="5631182"/>
            <a:ext cx="41910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Computers in medicine are like super-powered assistants. They help doctors see inside the body, plan surgeries, and create custom medical devices that fit each patient perfectly.</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1.6</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Expert Systems and Recognition Systems</a:t>
            </a:r>
            <a:endParaRPr lang="en-US" sz="1600" dirty="0"/>
          </a:p>
        </p:txBody>
      </p:sp>
      <p:sp>
        <p:nvSpPr>
          <p:cNvPr id="4" name="Shape 2"/>
          <p:cNvSpPr/>
          <p:nvPr/>
        </p:nvSpPr>
        <p:spPr>
          <a:xfrm>
            <a:off x="384810" y="1261110"/>
            <a:ext cx="5589270" cy="2255520"/>
          </a:xfrm>
          <a:custGeom>
            <a:avLst/>
            <a:gdLst/>
            <a:ahLst/>
            <a:cxnLst/>
            <a:rect l="l" t="t" r="r" b="b"/>
            <a:pathLst>
              <a:path w="5589270" h="2255520">
                <a:moveTo>
                  <a:pt x="114310" y="0"/>
                </a:moveTo>
                <a:lnTo>
                  <a:pt x="5474960" y="0"/>
                </a:lnTo>
                <a:cubicBezTo>
                  <a:pt x="5538092" y="0"/>
                  <a:pt x="5589270" y="51178"/>
                  <a:pt x="5589270" y="114310"/>
                </a:cubicBezTo>
                <a:lnTo>
                  <a:pt x="5589270" y="2141210"/>
                </a:lnTo>
                <a:cubicBezTo>
                  <a:pt x="5589270" y="2204342"/>
                  <a:pt x="5538092" y="2255520"/>
                  <a:pt x="5474960" y="2255520"/>
                </a:cubicBezTo>
                <a:lnTo>
                  <a:pt x="114310" y="2255520"/>
                </a:lnTo>
                <a:cubicBezTo>
                  <a:pt x="51178" y="2255520"/>
                  <a:pt x="0" y="2204342"/>
                  <a:pt x="0" y="2141210"/>
                </a:cubicBezTo>
                <a:lnTo>
                  <a:pt x="0" y="114310"/>
                </a:lnTo>
                <a:cubicBezTo>
                  <a:pt x="0" y="51220"/>
                  <a:pt x="51220" y="0"/>
                  <a:pt x="114310" y="0"/>
                </a:cubicBezTo>
                <a:close/>
              </a:path>
            </a:pathLst>
          </a:custGeom>
          <a:solidFill>
            <a:srgbClr val="262626"/>
          </a:solidFill>
          <a:ln w="10160">
            <a:solidFill>
              <a:srgbClr val="333333"/>
            </a:solidFill>
            <a:prstDash val="solid"/>
          </a:ln>
        </p:spPr>
      </p:sp>
      <p:sp>
        <p:nvSpPr>
          <p:cNvPr id="5" name="Shape 3"/>
          <p:cNvSpPr/>
          <p:nvPr/>
        </p:nvSpPr>
        <p:spPr>
          <a:xfrm>
            <a:off x="579120" y="145542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6" name="Shape 4"/>
          <p:cNvSpPr/>
          <p:nvPr/>
        </p:nvSpPr>
        <p:spPr>
          <a:xfrm>
            <a:off x="693420" y="1569723"/>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6366F1"/>
          </a:solidFill>
          <a:ln/>
        </p:spPr>
      </p:sp>
      <p:sp>
        <p:nvSpPr>
          <p:cNvPr id="7" name="Text 5"/>
          <p:cNvSpPr/>
          <p:nvPr/>
        </p:nvSpPr>
        <p:spPr>
          <a:xfrm>
            <a:off x="1074420" y="1512573"/>
            <a:ext cx="14097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Expert Systems</a:t>
            </a:r>
            <a:endParaRPr lang="en-US" sz="1600" dirty="0"/>
          </a:p>
        </p:txBody>
      </p:sp>
      <p:sp>
        <p:nvSpPr>
          <p:cNvPr id="8" name="Shape 6"/>
          <p:cNvSpPr/>
          <p:nvPr/>
        </p:nvSpPr>
        <p:spPr>
          <a:xfrm>
            <a:off x="601742" y="1988823"/>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9" name="Text 7"/>
          <p:cNvSpPr/>
          <p:nvPr/>
        </p:nvSpPr>
        <p:spPr>
          <a:xfrm>
            <a:off x="813792" y="1950723"/>
            <a:ext cx="5048250"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What they are:</a:t>
            </a:r>
            <a:r>
              <a:rPr lang="en-US" sz="1200" dirty="0">
                <a:solidFill>
                  <a:srgbClr val="EFEFEF"/>
                </a:solidFill>
                <a:latin typeface="Liter" pitchFamily="34" charset="0"/>
                <a:ea typeface="Liter" pitchFamily="34" charset="-122"/>
                <a:cs typeface="Liter" pitchFamily="34" charset="-120"/>
              </a:rPr>
              <a:t> Computer programs that mimic human experts in specific fields</a:t>
            </a:r>
            <a:endParaRPr lang="en-US" sz="1600" dirty="0"/>
          </a:p>
        </p:txBody>
      </p:sp>
      <p:sp>
        <p:nvSpPr>
          <p:cNvPr id="10" name="Shape 8"/>
          <p:cNvSpPr/>
          <p:nvPr/>
        </p:nvSpPr>
        <p:spPr>
          <a:xfrm>
            <a:off x="606504" y="2560323"/>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1" name="Text 9"/>
          <p:cNvSpPr/>
          <p:nvPr/>
        </p:nvSpPr>
        <p:spPr>
          <a:xfrm>
            <a:off x="822008" y="2522223"/>
            <a:ext cx="4667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How they work:</a:t>
            </a:r>
            <a:r>
              <a:rPr lang="en-US" sz="1200" dirty="0">
                <a:solidFill>
                  <a:srgbClr val="EFEFEF"/>
                </a:solidFill>
                <a:latin typeface="Liter" pitchFamily="34" charset="0"/>
                <a:ea typeface="Liter" pitchFamily="34" charset="-122"/>
                <a:cs typeface="Liter" pitchFamily="34" charset="-120"/>
              </a:rPr>
              <a:t> Use rules and data to make decisions and give advice</a:t>
            </a:r>
            <a:endParaRPr lang="en-US" sz="1600" dirty="0"/>
          </a:p>
        </p:txBody>
      </p:sp>
      <p:sp>
        <p:nvSpPr>
          <p:cNvPr id="12" name="Shape 10"/>
          <p:cNvSpPr/>
          <p:nvPr/>
        </p:nvSpPr>
        <p:spPr>
          <a:xfrm>
            <a:off x="596979" y="2903223"/>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3" name="Text 11"/>
          <p:cNvSpPr/>
          <p:nvPr/>
        </p:nvSpPr>
        <p:spPr>
          <a:xfrm>
            <a:off x="809863" y="2865123"/>
            <a:ext cx="5048250"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Examples:</a:t>
            </a:r>
            <a:r>
              <a:rPr lang="en-US" sz="1200" dirty="0">
                <a:solidFill>
                  <a:srgbClr val="EFEFEF"/>
                </a:solidFill>
                <a:latin typeface="Liter" pitchFamily="34" charset="0"/>
                <a:ea typeface="Liter" pitchFamily="34" charset="-122"/>
                <a:cs typeface="Liter" pitchFamily="34" charset="-120"/>
              </a:rPr>
              <a:t> Medical diagnosis systems, financial advisors, troubleshooting guides</a:t>
            </a:r>
            <a:endParaRPr lang="en-US" sz="1600" dirty="0"/>
          </a:p>
        </p:txBody>
      </p:sp>
      <p:sp>
        <p:nvSpPr>
          <p:cNvPr id="14" name="Shape 12"/>
          <p:cNvSpPr/>
          <p:nvPr/>
        </p:nvSpPr>
        <p:spPr>
          <a:xfrm>
            <a:off x="384810" y="3676651"/>
            <a:ext cx="5589270" cy="2026920"/>
          </a:xfrm>
          <a:custGeom>
            <a:avLst/>
            <a:gdLst/>
            <a:ahLst/>
            <a:cxnLst/>
            <a:rect l="l" t="t" r="r" b="b"/>
            <a:pathLst>
              <a:path w="5589270" h="2026920">
                <a:moveTo>
                  <a:pt x="114298" y="0"/>
                </a:moveTo>
                <a:lnTo>
                  <a:pt x="5474972" y="0"/>
                </a:lnTo>
                <a:cubicBezTo>
                  <a:pt x="5538097" y="0"/>
                  <a:pt x="5589270" y="51173"/>
                  <a:pt x="5589270" y="114298"/>
                </a:cubicBezTo>
                <a:lnTo>
                  <a:pt x="5589270" y="1912622"/>
                </a:lnTo>
                <a:cubicBezTo>
                  <a:pt x="5589270" y="1975747"/>
                  <a:pt x="5538097" y="2026920"/>
                  <a:pt x="5474972" y="2026920"/>
                </a:cubicBezTo>
                <a:lnTo>
                  <a:pt x="114298" y="2026920"/>
                </a:lnTo>
                <a:cubicBezTo>
                  <a:pt x="51173" y="2026920"/>
                  <a:pt x="0" y="1975747"/>
                  <a:pt x="0" y="1912622"/>
                </a:cubicBezTo>
                <a:lnTo>
                  <a:pt x="0" y="114298"/>
                </a:lnTo>
                <a:cubicBezTo>
                  <a:pt x="0" y="51215"/>
                  <a:pt x="51215" y="0"/>
                  <a:pt x="114298" y="0"/>
                </a:cubicBezTo>
                <a:close/>
              </a:path>
            </a:pathLst>
          </a:custGeom>
          <a:solidFill>
            <a:srgbClr val="262626"/>
          </a:solidFill>
          <a:ln w="10160">
            <a:solidFill>
              <a:srgbClr val="333333"/>
            </a:solidFill>
            <a:prstDash val="solid"/>
          </a:ln>
        </p:spPr>
      </p:sp>
      <p:sp>
        <p:nvSpPr>
          <p:cNvPr id="15" name="Shape 13"/>
          <p:cNvSpPr/>
          <p:nvPr/>
        </p:nvSpPr>
        <p:spPr>
          <a:xfrm>
            <a:off x="579120" y="3870959"/>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6" name="Shape 14"/>
          <p:cNvSpPr/>
          <p:nvPr/>
        </p:nvSpPr>
        <p:spPr>
          <a:xfrm>
            <a:off x="693420" y="3985259"/>
            <a:ext cx="152400" cy="152400"/>
          </a:xfrm>
          <a:custGeom>
            <a:avLst/>
            <a:gdLst/>
            <a:ahLst/>
            <a:cxnLst/>
            <a:rect l="l" t="t" r="r" b="b"/>
            <a:pathLst>
              <a:path w="152400" h="152400">
                <a:moveTo>
                  <a:pt x="14288" y="76200"/>
                </a:moveTo>
                <a:cubicBezTo>
                  <a:pt x="14288" y="41999"/>
                  <a:pt x="41999" y="14288"/>
                  <a:pt x="76200" y="14288"/>
                </a:cubicBezTo>
                <a:cubicBezTo>
                  <a:pt x="94982" y="14288"/>
                  <a:pt x="111800" y="22652"/>
                  <a:pt x="123170" y="35868"/>
                </a:cubicBezTo>
                <a:cubicBezTo>
                  <a:pt x="125730" y="38874"/>
                  <a:pt x="130254" y="39201"/>
                  <a:pt x="133231" y="36641"/>
                </a:cubicBezTo>
                <a:cubicBezTo>
                  <a:pt x="136208" y="34082"/>
                  <a:pt x="136565" y="29557"/>
                  <a:pt x="134005" y="26581"/>
                </a:cubicBezTo>
                <a:cubicBezTo>
                  <a:pt x="120045" y="10299"/>
                  <a:pt x="99328" y="0"/>
                  <a:pt x="76200" y="0"/>
                </a:cubicBezTo>
                <a:cubicBezTo>
                  <a:pt x="34111" y="0"/>
                  <a:pt x="0" y="34111"/>
                  <a:pt x="0" y="76200"/>
                </a:cubicBezTo>
                <a:lnTo>
                  <a:pt x="0" y="88106"/>
                </a:lnTo>
                <a:cubicBezTo>
                  <a:pt x="0" y="92065"/>
                  <a:pt x="3185" y="95250"/>
                  <a:pt x="7144" y="95250"/>
                </a:cubicBezTo>
                <a:cubicBezTo>
                  <a:pt x="11103" y="95250"/>
                  <a:pt x="14288" y="92065"/>
                  <a:pt x="14288" y="88106"/>
                </a:cubicBezTo>
                <a:lnTo>
                  <a:pt x="14288" y="76200"/>
                </a:lnTo>
                <a:close/>
                <a:moveTo>
                  <a:pt x="150763" y="60454"/>
                </a:moveTo>
                <a:cubicBezTo>
                  <a:pt x="149959" y="56584"/>
                  <a:pt x="146149" y="54114"/>
                  <a:pt x="142309" y="54947"/>
                </a:cubicBezTo>
                <a:cubicBezTo>
                  <a:pt x="138470" y="55781"/>
                  <a:pt x="135969" y="59561"/>
                  <a:pt x="136803" y="63401"/>
                </a:cubicBezTo>
                <a:cubicBezTo>
                  <a:pt x="137666" y="67538"/>
                  <a:pt x="138142" y="71824"/>
                  <a:pt x="138142" y="76230"/>
                </a:cubicBezTo>
                <a:lnTo>
                  <a:pt x="138142" y="88136"/>
                </a:lnTo>
                <a:cubicBezTo>
                  <a:pt x="138142" y="92095"/>
                  <a:pt x="141327" y="95280"/>
                  <a:pt x="145286" y="95280"/>
                </a:cubicBezTo>
                <a:cubicBezTo>
                  <a:pt x="149245" y="95280"/>
                  <a:pt x="152430" y="92095"/>
                  <a:pt x="152430" y="88136"/>
                </a:cubicBezTo>
                <a:lnTo>
                  <a:pt x="152430" y="76230"/>
                </a:lnTo>
                <a:cubicBezTo>
                  <a:pt x="152430" y="70842"/>
                  <a:pt x="151864" y="65574"/>
                  <a:pt x="150793" y="60484"/>
                </a:cubicBezTo>
                <a:close/>
                <a:moveTo>
                  <a:pt x="76200" y="23813"/>
                </a:moveTo>
                <a:cubicBezTo>
                  <a:pt x="70545" y="23813"/>
                  <a:pt x="65068" y="24705"/>
                  <a:pt x="59978" y="26372"/>
                </a:cubicBezTo>
                <a:cubicBezTo>
                  <a:pt x="55453" y="27861"/>
                  <a:pt x="54412" y="33427"/>
                  <a:pt x="57507" y="37058"/>
                </a:cubicBezTo>
                <a:cubicBezTo>
                  <a:pt x="59621" y="39529"/>
                  <a:pt x="63103" y="40273"/>
                  <a:pt x="66258" y="39410"/>
                </a:cubicBezTo>
                <a:cubicBezTo>
                  <a:pt x="69413" y="38546"/>
                  <a:pt x="72747" y="38100"/>
                  <a:pt x="76200" y="38100"/>
                </a:cubicBezTo>
                <a:cubicBezTo>
                  <a:pt x="97244" y="38100"/>
                  <a:pt x="114300" y="55156"/>
                  <a:pt x="114300" y="76200"/>
                </a:cubicBezTo>
                <a:lnTo>
                  <a:pt x="114300" y="83612"/>
                </a:lnTo>
                <a:cubicBezTo>
                  <a:pt x="114300" y="91113"/>
                  <a:pt x="113854" y="98584"/>
                  <a:pt x="112990" y="106025"/>
                </a:cubicBezTo>
                <a:cubicBezTo>
                  <a:pt x="112484" y="110371"/>
                  <a:pt x="115788" y="114300"/>
                  <a:pt x="120194" y="114300"/>
                </a:cubicBezTo>
                <a:cubicBezTo>
                  <a:pt x="123706" y="114300"/>
                  <a:pt x="126712" y="111740"/>
                  <a:pt x="127129" y="108258"/>
                </a:cubicBezTo>
                <a:cubicBezTo>
                  <a:pt x="128111" y="100102"/>
                  <a:pt x="128617" y="91886"/>
                  <a:pt x="128617" y="83641"/>
                </a:cubicBezTo>
                <a:lnTo>
                  <a:pt x="128617" y="76230"/>
                </a:lnTo>
                <a:cubicBezTo>
                  <a:pt x="128617" y="47298"/>
                  <a:pt x="105162" y="23842"/>
                  <a:pt x="76230" y="23842"/>
                </a:cubicBezTo>
                <a:close/>
                <a:moveTo>
                  <a:pt x="44857" y="44261"/>
                </a:moveTo>
                <a:cubicBezTo>
                  <a:pt x="42148" y="41106"/>
                  <a:pt x="37326" y="40868"/>
                  <a:pt x="34766" y="44142"/>
                </a:cubicBezTo>
                <a:cubicBezTo>
                  <a:pt x="27890" y="53013"/>
                  <a:pt x="23812" y="64115"/>
                  <a:pt x="23812" y="76200"/>
                </a:cubicBezTo>
                <a:lnTo>
                  <a:pt x="23812" y="83612"/>
                </a:lnTo>
                <a:cubicBezTo>
                  <a:pt x="23812" y="90815"/>
                  <a:pt x="23039" y="98018"/>
                  <a:pt x="21491" y="105013"/>
                </a:cubicBezTo>
                <a:cubicBezTo>
                  <a:pt x="20479" y="109657"/>
                  <a:pt x="23842" y="114270"/>
                  <a:pt x="28605" y="114270"/>
                </a:cubicBezTo>
                <a:cubicBezTo>
                  <a:pt x="31730" y="114270"/>
                  <a:pt x="34528" y="112187"/>
                  <a:pt x="35213" y="109121"/>
                </a:cubicBezTo>
                <a:cubicBezTo>
                  <a:pt x="37118" y="100757"/>
                  <a:pt x="38100" y="92214"/>
                  <a:pt x="38100" y="83582"/>
                </a:cubicBezTo>
                <a:lnTo>
                  <a:pt x="38100" y="76170"/>
                </a:lnTo>
                <a:cubicBezTo>
                  <a:pt x="38100" y="68074"/>
                  <a:pt x="40630" y="60573"/>
                  <a:pt x="44916" y="54412"/>
                </a:cubicBezTo>
                <a:cubicBezTo>
                  <a:pt x="47059" y="51316"/>
                  <a:pt x="47298" y="47089"/>
                  <a:pt x="44857" y="44232"/>
                </a:cubicBezTo>
                <a:close/>
                <a:moveTo>
                  <a:pt x="76200" y="47625"/>
                </a:moveTo>
                <a:cubicBezTo>
                  <a:pt x="60424" y="47625"/>
                  <a:pt x="47625" y="60424"/>
                  <a:pt x="47625" y="76200"/>
                </a:cubicBezTo>
                <a:lnTo>
                  <a:pt x="47625" y="83612"/>
                </a:lnTo>
                <a:cubicBezTo>
                  <a:pt x="47625" y="94298"/>
                  <a:pt x="46256" y="104894"/>
                  <a:pt x="43517" y="115193"/>
                </a:cubicBezTo>
                <a:cubicBezTo>
                  <a:pt x="42386" y="119449"/>
                  <a:pt x="45512" y="123825"/>
                  <a:pt x="49917" y="123825"/>
                </a:cubicBezTo>
                <a:cubicBezTo>
                  <a:pt x="52745" y="123825"/>
                  <a:pt x="55245" y="121980"/>
                  <a:pt x="55989" y="119241"/>
                </a:cubicBezTo>
                <a:cubicBezTo>
                  <a:pt x="59115" y="107633"/>
                  <a:pt x="60722" y="95667"/>
                  <a:pt x="60722" y="83612"/>
                </a:cubicBezTo>
                <a:lnTo>
                  <a:pt x="60722" y="76200"/>
                </a:lnTo>
                <a:cubicBezTo>
                  <a:pt x="60722" y="67657"/>
                  <a:pt x="67657" y="60722"/>
                  <a:pt x="76200" y="60722"/>
                </a:cubicBezTo>
                <a:cubicBezTo>
                  <a:pt x="84743" y="60722"/>
                  <a:pt x="91678" y="67657"/>
                  <a:pt x="91678" y="76200"/>
                </a:cubicBezTo>
                <a:lnTo>
                  <a:pt x="91678" y="83612"/>
                </a:lnTo>
                <a:cubicBezTo>
                  <a:pt x="91678" y="94417"/>
                  <a:pt x="90636" y="105162"/>
                  <a:pt x="88583" y="115729"/>
                </a:cubicBezTo>
                <a:cubicBezTo>
                  <a:pt x="87779" y="119866"/>
                  <a:pt x="90874" y="123825"/>
                  <a:pt x="95071" y="123825"/>
                </a:cubicBezTo>
                <a:cubicBezTo>
                  <a:pt x="98108" y="123825"/>
                  <a:pt x="100727" y="121741"/>
                  <a:pt x="101322" y="118765"/>
                </a:cubicBezTo>
                <a:cubicBezTo>
                  <a:pt x="103614" y="107216"/>
                  <a:pt x="104775" y="95458"/>
                  <a:pt x="104775" y="83612"/>
                </a:cubicBezTo>
                <a:lnTo>
                  <a:pt x="104775" y="76200"/>
                </a:lnTo>
                <a:cubicBezTo>
                  <a:pt x="104775" y="60424"/>
                  <a:pt x="91976" y="47625"/>
                  <a:pt x="76200" y="47625"/>
                </a:cubicBezTo>
                <a:close/>
                <a:moveTo>
                  <a:pt x="83344" y="76200"/>
                </a:moveTo>
                <a:cubicBezTo>
                  <a:pt x="83344" y="72241"/>
                  <a:pt x="80159" y="69056"/>
                  <a:pt x="76200" y="69056"/>
                </a:cubicBezTo>
                <a:cubicBezTo>
                  <a:pt x="72241" y="69056"/>
                  <a:pt x="69056" y="72241"/>
                  <a:pt x="69056" y="76200"/>
                </a:cubicBezTo>
                <a:lnTo>
                  <a:pt x="69056" y="83612"/>
                </a:lnTo>
                <a:cubicBezTo>
                  <a:pt x="69056" y="101441"/>
                  <a:pt x="65782" y="119122"/>
                  <a:pt x="59382" y="135761"/>
                </a:cubicBezTo>
                <a:lnTo>
                  <a:pt x="57626" y="140315"/>
                </a:lnTo>
                <a:cubicBezTo>
                  <a:pt x="56197" y="144006"/>
                  <a:pt x="58043" y="148144"/>
                  <a:pt x="61734" y="149543"/>
                </a:cubicBezTo>
                <a:cubicBezTo>
                  <a:pt x="65425" y="150941"/>
                  <a:pt x="69562" y="149126"/>
                  <a:pt x="70961" y="145435"/>
                </a:cubicBezTo>
                <a:lnTo>
                  <a:pt x="72717" y="140881"/>
                </a:lnTo>
                <a:cubicBezTo>
                  <a:pt x="79742" y="122605"/>
                  <a:pt x="83344" y="103197"/>
                  <a:pt x="83344" y="83612"/>
                </a:cubicBezTo>
                <a:lnTo>
                  <a:pt x="83344" y="76200"/>
                </a:lnTo>
                <a:close/>
              </a:path>
            </a:pathLst>
          </a:custGeom>
          <a:solidFill>
            <a:srgbClr val="6366F1"/>
          </a:solidFill>
          <a:ln/>
        </p:spPr>
      </p:sp>
      <p:sp>
        <p:nvSpPr>
          <p:cNvPr id="17" name="Text 15"/>
          <p:cNvSpPr/>
          <p:nvPr/>
        </p:nvSpPr>
        <p:spPr>
          <a:xfrm>
            <a:off x="1074420" y="3928109"/>
            <a:ext cx="18669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Recognition Systems</a:t>
            </a:r>
            <a:endParaRPr lang="en-US" sz="1600" dirty="0"/>
          </a:p>
        </p:txBody>
      </p:sp>
      <p:sp>
        <p:nvSpPr>
          <p:cNvPr id="18" name="Shape 16"/>
          <p:cNvSpPr/>
          <p:nvPr/>
        </p:nvSpPr>
        <p:spPr>
          <a:xfrm>
            <a:off x="606504" y="4404359"/>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9" name="Text 17"/>
          <p:cNvSpPr/>
          <p:nvPr/>
        </p:nvSpPr>
        <p:spPr>
          <a:xfrm>
            <a:off x="822008" y="4366259"/>
            <a:ext cx="47720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Face Recognition:</a:t>
            </a:r>
            <a:r>
              <a:rPr lang="en-US" sz="1200" dirty="0">
                <a:solidFill>
                  <a:srgbClr val="EFEFEF"/>
                </a:solidFill>
                <a:latin typeface="Liter" pitchFamily="34" charset="0"/>
                <a:ea typeface="Liter" pitchFamily="34" charset="-122"/>
                <a:cs typeface="Liter" pitchFamily="34" charset="-120"/>
              </a:rPr>
              <a:t> Cameras identify people by analyzing facial features</a:t>
            </a:r>
            <a:endParaRPr lang="en-US" sz="1600" dirty="0"/>
          </a:p>
        </p:txBody>
      </p:sp>
      <p:sp>
        <p:nvSpPr>
          <p:cNvPr id="20" name="Shape 18"/>
          <p:cNvSpPr/>
          <p:nvPr/>
        </p:nvSpPr>
        <p:spPr>
          <a:xfrm>
            <a:off x="601742" y="4747259"/>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1" name="Text 19"/>
          <p:cNvSpPr/>
          <p:nvPr/>
        </p:nvSpPr>
        <p:spPr>
          <a:xfrm>
            <a:off x="818198" y="4709159"/>
            <a:ext cx="50387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Fingerprint Scanning:</a:t>
            </a:r>
            <a:r>
              <a:rPr lang="en-US" sz="1200" dirty="0">
                <a:solidFill>
                  <a:srgbClr val="EFEFEF"/>
                </a:solidFill>
                <a:latin typeface="Liter" pitchFamily="34" charset="0"/>
                <a:ea typeface="Liter" pitchFamily="34" charset="-122"/>
                <a:cs typeface="Liter" pitchFamily="34" charset="-120"/>
              </a:rPr>
              <a:t> Sensors read unique patterns on fingertips for security</a:t>
            </a:r>
            <a:endParaRPr lang="en-US" sz="1600" dirty="0"/>
          </a:p>
        </p:txBody>
      </p:sp>
      <p:sp>
        <p:nvSpPr>
          <p:cNvPr id="22" name="Shape 20"/>
          <p:cNvSpPr/>
          <p:nvPr/>
        </p:nvSpPr>
        <p:spPr>
          <a:xfrm>
            <a:off x="606504" y="5318759"/>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3" name="Text 21"/>
          <p:cNvSpPr/>
          <p:nvPr/>
        </p:nvSpPr>
        <p:spPr>
          <a:xfrm>
            <a:off x="822008" y="5280659"/>
            <a:ext cx="41529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Uses:</a:t>
            </a:r>
            <a:r>
              <a:rPr lang="en-US" sz="1200" dirty="0">
                <a:solidFill>
                  <a:srgbClr val="EFEFEF"/>
                </a:solidFill>
                <a:latin typeface="Liter" pitchFamily="34" charset="0"/>
                <a:ea typeface="Liter" pitchFamily="34" charset="-122"/>
                <a:cs typeface="Liter" pitchFamily="34" charset="-120"/>
              </a:rPr>
              <a:t> Unlock phones, airport security, banking authentication</a:t>
            </a:r>
            <a:endParaRPr lang="en-US" sz="1600" dirty="0"/>
          </a:p>
        </p:txBody>
      </p:sp>
      <p:sp>
        <p:nvSpPr>
          <p:cNvPr id="24" name="Shape 22"/>
          <p:cNvSpPr/>
          <p:nvPr/>
        </p:nvSpPr>
        <p:spPr>
          <a:xfrm>
            <a:off x="6214110" y="1261110"/>
            <a:ext cx="5589270" cy="2979420"/>
          </a:xfrm>
          <a:custGeom>
            <a:avLst/>
            <a:gdLst/>
            <a:ahLst/>
            <a:cxnLst/>
            <a:rect l="l" t="t" r="r" b="b"/>
            <a:pathLst>
              <a:path w="5589270" h="2979420">
                <a:moveTo>
                  <a:pt x="114291" y="0"/>
                </a:moveTo>
                <a:lnTo>
                  <a:pt x="5474979" y="0"/>
                </a:lnTo>
                <a:cubicBezTo>
                  <a:pt x="5538100" y="0"/>
                  <a:pt x="5589270" y="51170"/>
                  <a:pt x="5589270" y="114291"/>
                </a:cubicBezTo>
                <a:lnTo>
                  <a:pt x="5589270" y="2865129"/>
                </a:lnTo>
                <a:cubicBezTo>
                  <a:pt x="5589270" y="2928250"/>
                  <a:pt x="5538100" y="2979420"/>
                  <a:pt x="5474979" y="2979420"/>
                </a:cubicBezTo>
                <a:lnTo>
                  <a:pt x="114291" y="2979420"/>
                </a:lnTo>
                <a:cubicBezTo>
                  <a:pt x="51170" y="2979420"/>
                  <a:pt x="0" y="2928250"/>
                  <a:pt x="0" y="2865129"/>
                </a:cubicBezTo>
                <a:lnTo>
                  <a:pt x="0" y="114291"/>
                </a:lnTo>
                <a:cubicBezTo>
                  <a:pt x="0" y="51170"/>
                  <a:pt x="51170" y="0"/>
                  <a:pt x="114291" y="0"/>
                </a:cubicBezTo>
                <a:close/>
              </a:path>
            </a:pathLst>
          </a:custGeom>
          <a:solidFill>
            <a:srgbClr val="262626"/>
          </a:solidFill>
          <a:ln w="10160">
            <a:solidFill>
              <a:srgbClr val="333333"/>
            </a:solidFill>
            <a:prstDash val="solid"/>
          </a:ln>
        </p:spPr>
      </p:sp>
      <p:sp>
        <p:nvSpPr>
          <p:cNvPr id="25" name="Shape 23"/>
          <p:cNvSpPr/>
          <p:nvPr/>
        </p:nvSpPr>
        <p:spPr>
          <a:xfrm>
            <a:off x="8496300" y="1931673"/>
            <a:ext cx="1028700" cy="914400"/>
          </a:xfrm>
          <a:custGeom>
            <a:avLst/>
            <a:gdLst/>
            <a:ahLst/>
            <a:cxnLst/>
            <a:rect l="l" t="t" r="r" b="b"/>
            <a:pathLst>
              <a:path w="1028700" h="914400">
                <a:moveTo>
                  <a:pt x="400050" y="442913"/>
                </a:moveTo>
                <a:cubicBezTo>
                  <a:pt x="518332" y="442913"/>
                  <a:pt x="614363" y="346882"/>
                  <a:pt x="614363" y="228600"/>
                </a:cubicBezTo>
                <a:cubicBezTo>
                  <a:pt x="614363" y="110318"/>
                  <a:pt x="518332" y="14288"/>
                  <a:pt x="400050" y="14288"/>
                </a:cubicBezTo>
                <a:cubicBezTo>
                  <a:pt x="281768" y="14288"/>
                  <a:pt x="185738" y="110318"/>
                  <a:pt x="185738" y="228600"/>
                </a:cubicBezTo>
                <a:cubicBezTo>
                  <a:pt x="185738" y="346882"/>
                  <a:pt x="281768" y="442913"/>
                  <a:pt x="400050" y="442913"/>
                </a:cubicBezTo>
                <a:close/>
                <a:moveTo>
                  <a:pt x="347008" y="542925"/>
                </a:moveTo>
                <a:cubicBezTo>
                  <a:pt x="171093" y="542925"/>
                  <a:pt x="28575" y="685443"/>
                  <a:pt x="28575" y="861358"/>
                </a:cubicBezTo>
                <a:cubicBezTo>
                  <a:pt x="28575" y="890647"/>
                  <a:pt x="52328" y="914400"/>
                  <a:pt x="81617" y="914400"/>
                </a:cubicBezTo>
                <a:lnTo>
                  <a:pt x="530781" y="914400"/>
                </a:lnTo>
                <a:cubicBezTo>
                  <a:pt x="466130" y="838319"/>
                  <a:pt x="428625" y="740271"/>
                  <a:pt x="428625" y="636508"/>
                </a:cubicBezTo>
                <a:lnTo>
                  <a:pt x="428625" y="580965"/>
                </a:lnTo>
                <a:cubicBezTo>
                  <a:pt x="428625" y="567928"/>
                  <a:pt x="430411" y="555069"/>
                  <a:pt x="433804" y="542925"/>
                </a:cubicBezTo>
                <a:lnTo>
                  <a:pt x="347008" y="542925"/>
                </a:lnTo>
                <a:close/>
                <a:moveTo>
                  <a:pt x="795278" y="872430"/>
                </a:moveTo>
                <a:lnTo>
                  <a:pt x="771525" y="883682"/>
                </a:lnTo>
                <a:lnTo>
                  <a:pt x="771525" y="547747"/>
                </a:lnTo>
                <a:lnTo>
                  <a:pt x="942975" y="604897"/>
                </a:lnTo>
                <a:lnTo>
                  <a:pt x="942975" y="639901"/>
                </a:lnTo>
                <a:cubicBezTo>
                  <a:pt x="942975" y="739557"/>
                  <a:pt x="885468" y="830104"/>
                  <a:pt x="795278" y="872609"/>
                </a:cubicBezTo>
                <a:close/>
                <a:moveTo>
                  <a:pt x="753487" y="463451"/>
                </a:moveTo>
                <a:lnTo>
                  <a:pt x="553462" y="530066"/>
                </a:lnTo>
                <a:cubicBezTo>
                  <a:pt x="530066" y="537924"/>
                  <a:pt x="514350" y="559713"/>
                  <a:pt x="514350" y="584359"/>
                </a:cubicBezTo>
                <a:lnTo>
                  <a:pt x="514350" y="639901"/>
                </a:lnTo>
                <a:cubicBezTo>
                  <a:pt x="514350" y="772775"/>
                  <a:pt x="591145" y="893683"/>
                  <a:pt x="711160" y="950119"/>
                </a:cubicBezTo>
                <a:lnTo>
                  <a:pt x="744200" y="965656"/>
                </a:lnTo>
                <a:cubicBezTo>
                  <a:pt x="752773" y="969585"/>
                  <a:pt x="762060" y="971729"/>
                  <a:pt x="771346" y="971729"/>
                </a:cubicBezTo>
                <a:cubicBezTo>
                  <a:pt x="780633" y="971729"/>
                  <a:pt x="790099" y="969585"/>
                  <a:pt x="798493" y="965656"/>
                </a:cubicBezTo>
                <a:lnTo>
                  <a:pt x="831532" y="950119"/>
                </a:lnTo>
                <a:cubicBezTo>
                  <a:pt x="951905" y="893505"/>
                  <a:pt x="1028700" y="772597"/>
                  <a:pt x="1028700" y="639723"/>
                </a:cubicBezTo>
                <a:lnTo>
                  <a:pt x="1028700" y="584180"/>
                </a:lnTo>
                <a:cubicBezTo>
                  <a:pt x="1028700" y="559534"/>
                  <a:pt x="1012984" y="537746"/>
                  <a:pt x="989588" y="529888"/>
                </a:cubicBezTo>
                <a:lnTo>
                  <a:pt x="789563" y="463272"/>
                </a:lnTo>
                <a:cubicBezTo>
                  <a:pt x="777776" y="459343"/>
                  <a:pt x="765096" y="459343"/>
                  <a:pt x="753487" y="463272"/>
                </a:cubicBezTo>
                <a:close/>
              </a:path>
            </a:pathLst>
          </a:custGeom>
          <a:solidFill>
            <a:srgbClr val="6366F1"/>
          </a:solidFill>
          <a:ln/>
        </p:spPr>
      </p:sp>
      <p:sp>
        <p:nvSpPr>
          <p:cNvPr id="26" name="Text 24"/>
          <p:cNvSpPr/>
          <p:nvPr/>
        </p:nvSpPr>
        <p:spPr>
          <a:xfrm>
            <a:off x="6890504" y="2998473"/>
            <a:ext cx="4238625"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Biometric Security</a:t>
            </a:r>
            <a:endParaRPr lang="en-US" sz="1600" dirty="0"/>
          </a:p>
        </p:txBody>
      </p:sp>
      <p:sp>
        <p:nvSpPr>
          <p:cNvPr id="27" name="Text 25"/>
          <p:cNvSpPr/>
          <p:nvPr/>
        </p:nvSpPr>
        <p:spPr>
          <a:xfrm>
            <a:off x="6900029" y="3341373"/>
            <a:ext cx="4219575"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Face and fingerprint recognition protect your devices and data</a:t>
            </a:r>
            <a:endParaRPr lang="en-US" sz="1600" dirty="0"/>
          </a:p>
        </p:txBody>
      </p:sp>
      <p:sp>
        <p:nvSpPr>
          <p:cNvPr id="28" name="Shape 26"/>
          <p:cNvSpPr/>
          <p:nvPr/>
        </p:nvSpPr>
        <p:spPr>
          <a:xfrm>
            <a:off x="6214110" y="4400551"/>
            <a:ext cx="5589270" cy="1303020"/>
          </a:xfrm>
          <a:custGeom>
            <a:avLst/>
            <a:gdLst/>
            <a:ahLst/>
            <a:cxnLst/>
            <a:rect l="l" t="t" r="r" b="b"/>
            <a:pathLst>
              <a:path w="5589270" h="1303020">
                <a:moveTo>
                  <a:pt x="76201" y="0"/>
                </a:moveTo>
                <a:lnTo>
                  <a:pt x="5513069" y="0"/>
                </a:lnTo>
                <a:cubicBezTo>
                  <a:pt x="5555154" y="0"/>
                  <a:pt x="5589270" y="34116"/>
                  <a:pt x="5589270" y="76201"/>
                </a:cubicBezTo>
                <a:lnTo>
                  <a:pt x="5589270" y="1226819"/>
                </a:lnTo>
                <a:cubicBezTo>
                  <a:pt x="5589270" y="1268904"/>
                  <a:pt x="5555154" y="1303020"/>
                  <a:pt x="5513069" y="1303020"/>
                </a:cubicBezTo>
                <a:lnTo>
                  <a:pt x="76201" y="1303020"/>
                </a:lnTo>
                <a:cubicBezTo>
                  <a:pt x="34116" y="1303020"/>
                  <a:pt x="0" y="1268904"/>
                  <a:pt x="0" y="1226819"/>
                </a:cubicBezTo>
                <a:lnTo>
                  <a:pt x="0" y="76201"/>
                </a:lnTo>
                <a:cubicBezTo>
                  <a:pt x="0" y="34144"/>
                  <a:pt x="34144" y="0"/>
                  <a:pt x="76201" y="0"/>
                </a:cubicBezTo>
                <a:close/>
              </a:path>
            </a:pathLst>
          </a:custGeom>
          <a:solidFill>
            <a:srgbClr val="6366F1">
              <a:alpha val="10196"/>
            </a:srgbClr>
          </a:solidFill>
          <a:ln w="10160">
            <a:solidFill>
              <a:srgbClr val="6366F1">
                <a:alpha val="30196"/>
              </a:srgbClr>
            </a:solidFill>
            <a:prstDash val="solid"/>
          </a:ln>
        </p:spPr>
      </p:sp>
      <p:sp>
        <p:nvSpPr>
          <p:cNvPr id="29" name="Text 27"/>
          <p:cNvSpPr/>
          <p:nvPr/>
        </p:nvSpPr>
        <p:spPr>
          <a:xfrm>
            <a:off x="6370320" y="4556759"/>
            <a:ext cx="535305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Unlocking your phone with your face, or using fingerprint to open a door!</a:t>
            </a:r>
            <a:endParaRPr lang="en-US" sz="1600" dirty="0"/>
          </a:p>
        </p:txBody>
      </p:sp>
      <p:sp>
        <p:nvSpPr>
          <p:cNvPr id="30" name="Text 28"/>
          <p:cNvSpPr/>
          <p:nvPr/>
        </p:nvSpPr>
        <p:spPr>
          <a:xfrm>
            <a:off x="6370320" y="5090159"/>
            <a:ext cx="53530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Expert systems are like having a doctor, financial advisor, or technician available 24/7 to answer questions and solve problems.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1.7</a:t>
            </a:r>
            <a:endParaRPr lang="en-US" sz="1600" dirty="0"/>
          </a:p>
        </p:txBody>
      </p:sp>
      <p:sp>
        <p:nvSpPr>
          <p:cNvPr id="3" name="Text 1"/>
          <p:cNvSpPr/>
          <p:nvPr/>
        </p:nvSpPr>
        <p:spPr>
          <a:xfrm>
            <a:off x="38100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Retail Industry and Satellite Systems</a:t>
            </a:r>
            <a:endParaRPr lang="en-US" sz="1600" dirty="0"/>
          </a:p>
        </p:txBody>
      </p:sp>
      <p:sp>
        <p:nvSpPr>
          <p:cNvPr id="4" name="Shape 2"/>
          <p:cNvSpPr/>
          <p:nvPr/>
        </p:nvSpPr>
        <p:spPr>
          <a:xfrm>
            <a:off x="384810" y="1337310"/>
            <a:ext cx="6760845" cy="1722120"/>
          </a:xfrm>
          <a:custGeom>
            <a:avLst/>
            <a:gdLst/>
            <a:ahLst/>
            <a:cxnLst/>
            <a:rect l="l" t="t" r="r" b="b"/>
            <a:pathLst>
              <a:path w="6760845" h="1722120">
                <a:moveTo>
                  <a:pt x="114297" y="0"/>
                </a:moveTo>
                <a:lnTo>
                  <a:pt x="6646548" y="0"/>
                </a:lnTo>
                <a:cubicBezTo>
                  <a:pt x="6709672" y="0"/>
                  <a:pt x="6760845" y="51173"/>
                  <a:pt x="6760845" y="114297"/>
                </a:cubicBezTo>
                <a:lnTo>
                  <a:pt x="6760845" y="1607823"/>
                </a:lnTo>
                <a:cubicBezTo>
                  <a:pt x="6760845" y="1670947"/>
                  <a:pt x="6709672" y="1722120"/>
                  <a:pt x="6646548" y="1722120"/>
                </a:cubicBezTo>
                <a:lnTo>
                  <a:pt x="114297" y="1722120"/>
                </a:lnTo>
                <a:cubicBezTo>
                  <a:pt x="51173" y="1722120"/>
                  <a:pt x="0" y="1670947"/>
                  <a:pt x="0" y="1607823"/>
                </a:cubicBezTo>
                <a:lnTo>
                  <a:pt x="0" y="114297"/>
                </a:lnTo>
                <a:cubicBezTo>
                  <a:pt x="0" y="51215"/>
                  <a:pt x="51215" y="0"/>
                  <a:pt x="114297" y="0"/>
                </a:cubicBezTo>
                <a:close/>
              </a:path>
            </a:pathLst>
          </a:custGeom>
          <a:solidFill>
            <a:srgbClr val="262626"/>
          </a:solidFill>
          <a:ln w="10160">
            <a:solidFill>
              <a:srgbClr val="333333"/>
            </a:solidFill>
            <a:prstDash val="solid"/>
          </a:ln>
        </p:spPr>
      </p:sp>
      <p:sp>
        <p:nvSpPr>
          <p:cNvPr id="5" name="Shape 3"/>
          <p:cNvSpPr/>
          <p:nvPr/>
        </p:nvSpPr>
        <p:spPr>
          <a:xfrm>
            <a:off x="541020" y="1531623"/>
            <a:ext cx="238125" cy="190500"/>
          </a:xfrm>
          <a:custGeom>
            <a:avLst/>
            <a:gdLst/>
            <a:ahLst/>
            <a:cxnLst/>
            <a:rect l="l" t="t" r="r" b="b"/>
            <a:pathLst>
              <a:path w="238125" h="190500">
                <a:moveTo>
                  <a:pt x="8930" y="-5953"/>
                </a:moveTo>
                <a:cubicBezTo>
                  <a:pt x="3981" y="-5953"/>
                  <a:pt x="0" y="-1972"/>
                  <a:pt x="0" y="2977"/>
                </a:cubicBezTo>
                <a:cubicBezTo>
                  <a:pt x="0" y="7925"/>
                  <a:pt x="3981" y="11906"/>
                  <a:pt x="8930" y="11906"/>
                </a:cubicBezTo>
                <a:lnTo>
                  <a:pt x="25784" y="11906"/>
                </a:lnTo>
                <a:cubicBezTo>
                  <a:pt x="27236" y="11906"/>
                  <a:pt x="28463" y="12948"/>
                  <a:pt x="28724" y="14362"/>
                </a:cubicBezTo>
                <a:lnTo>
                  <a:pt x="48109" y="120886"/>
                </a:lnTo>
                <a:cubicBezTo>
                  <a:pt x="50416" y="133610"/>
                  <a:pt x="61503" y="142875"/>
                  <a:pt x="74451" y="142875"/>
                </a:cubicBezTo>
                <a:lnTo>
                  <a:pt x="169664" y="142875"/>
                </a:lnTo>
                <a:cubicBezTo>
                  <a:pt x="174613" y="142875"/>
                  <a:pt x="178594" y="138894"/>
                  <a:pt x="178594" y="133945"/>
                </a:cubicBezTo>
                <a:cubicBezTo>
                  <a:pt x="178594" y="128997"/>
                  <a:pt x="174613" y="125016"/>
                  <a:pt x="169664" y="125016"/>
                </a:cubicBezTo>
                <a:lnTo>
                  <a:pt x="74451" y="125016"/>
                </a:lnTo>
                <a:cubicBezTo>
                  <a:pt x="70135" y="125016"/>
                  <a:pt x="66452" y="121927"/>
                  <a:pt x="65670" y="117686"/>
                </a:cubicBezTo>
                <a:lnTo>
                  <a:pt x="63773" y="107156"/>
                </a:lnTo>
                <a:lnTo>
                  <a:pt x="176733" y="107156"/>
                </a:lnTo>
                <a:cubicBezTo>
                  <a:pt x="188193" y="107156"/>
                  <a:pt x="198016" y="99008"/>
                  <a:pt x="200137" y="87734"/>
                </a:cubicBezTo>
                <a:lnTo>
                  <a:pt x="211671" y="26008"/>
                </a:lnTo>
                <a:cubicBezTo>
                  <a:pt x="213047" y="18678"/>
                  <a:pt x="207429" y="11906"/>
                  <a:pt x="199951" y="11906"/>
                </a:cubicBezTo>
                <a:lnTo>
                  <a:pt x="46397" y="11906"/>
                </a:lnTo>
                <a:lnTo>
                  <a:pt x="46248" y="11162"/>
                </a:lnTo>
                <a:cubicBezTo>
                  <a:pt x="44462" y="1265"/>
                  <a:pt x="35830" y="-5953"/>
                  <a:pt x="25747" y="-5953"/>
                </a:cubicBezTo>
                <a:lnTo>
                  <a:pt x="8930" y="-5953"/>
                </a:lnTo>
                <a:close/>
                <a:moveTo>
                  <a:pt x="77391" y="190500"/>
                </a:moveTo>
                <a:cubicBezTo>
                  <a:pt x="87247" y="190500"/>
                  <a:pt x="95250" y="182497"/>
                  <a:pt x="95250" y="172641"/>
                </a:cubicBezTo>
                <a:cubicBezTo>
                  <a:pt x="95250" y="162784"/>
                  <a:pt x="87247" y="154781"/>
                  <a:pt x="77391" y="154781"/>
                </a:cubicBezTo>
                <a:cubicBezTo>
                  <a:pt x="67534" y="154781"/>
                  <a:pt x="59531" y="162784"/>
                  <a:pt x="59531" y="172641"/>
                </a:cubicBezTo>
                <a:cubicBezTo>
                  <a:pt x="59531" y="182497"/>
                  <a:pt x="67534" y="190500"/>
                  <a:pt x="77391" y="190500"/>
                </a:cubicBezTo>
                <a:close/>
                <a:moveTo>
                  <a:pt x="160734" y="190500"/>
                </a:moveTo>
                <a:cubicBezTo>
                  <a:pt x="170591" y="190500"/>
                  <a:pt x="178594" y="182497"/>
                  <a:pt x="178594" y="172641"/>
                </a:cubicBezTo>
                <a:cubicBezTo>
                  <a:pt x="178594" y="162784"/>
                  <a:pt x="170591" y="154781"/>
                  <a:pt x="160734" y="154781"/>
                </a:cubicBezTo>
                <a:cubicBezTo>
                  <a:pt x="150878" y="154781"/>
                  <a:pt x="142875" y="162784"/>
                  <a:pt x="142875" y="172641"/>
                </a:cubicBezTo>
                <a:cubicBezTo>
                  <a:pt x="142875" y="182497"/>
                  <a:pt x="150878" y="190500"/>
                  <a:pt x="160734" y="190500"/>
                </a:cubicBezTo>
                <a:close/>
              </a:path>
            </a:pathLst>
          </a:custGeom>
          <a:solidFill>
            <a:srgbClr val="6366F1"/>
          </a:solidFill>
          <a:ln/>
        </p:spPr>
      </p:sp>
      <p:sp>
        <p:nvSpPr>
          <p:cNvPr id="6" name="Text 4"/>
          <p:cNvSpPr/>
          <p:nvPr/>
        </p:nvSpPr>
        <p:spPr>
          <a:xfrm>
            <a:off x="893445" y="1493523"/>
            <a:ext cx="18573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Retail Industry Systems</a:t>
            </a:r>
            <a:endParaRPr lang="en-US" sz="1600" dirty="0"/>
          </a:p>
        </p:txBody>
      </p:sp>
      <p:sp>
        <p:nvSpPr>
          <p:cNvPr id="7" name="Shape 5"/>
          <p:cNvSpPr/>
          <p:nvPr/>
        </p:nvSpPr>
        <p:spPr>
          <a:xfrm>
            <a:off x="545782" y="1912623"/>
            <a:ext cx="133350" cy="152400"/>
          </a:xfrm>
          <a:custGeom>
            <a:avLst/>
            <a:gdLst/>
            <a:ahLst/>
            <a:cxnLst/>
            <a:rect l="l" t="t" r="r" b="b"/>
            <a:pathLst>
              <a:path w="133350" h="152400">
                <a:moveTo>
                  <a:pt x="9525" y="9525"/>
                </a:moveTo>
                <a:cubicBezTo>
                  <a:pt x="4256" y="9525"/>
                  <a:pt x="0" y="13781"/>
                  <a:pt x="0" y="19050"/>
                </a:cubicBezTo>
                <a:lnTo>
                  <a:pt x="0" y="133350"/>
                </a:lnTo>
                <a:cubicBezTo>
                  <a:pt x="0" y="138619"/>
                  <a:pt x="4256" y="142875"/>
                  <a:pt x="9525" y="142875"/>
                </a:cubicBezTo>
                <a:cubicBezTo>
                  <a:pt x="14794" y="142875"/>
                  <a:pt x="19050" y="138619"/>
                  <a:pt x="19050" y="133350"/>
                </a:cubicBezTo>
                <a:lnTo>
                  <a:pt x="19050" y="19050"/>
                </a:lnTo>
                <a:cubicBezTo>
                  <a:pt x="19050" y="13781"/>
                  <a:pt x="14794" y="9525"/>
                  <a:pt x="9525" y="9525"/>
                </a:cubicBezTo>
                <a:close/>
                <a:moveTo>
                  <a:pt x="35719" y="9525"/>
                </a:moveTo>
                <a:cubicBezTo>
                  <a:pt x="31760" y="9525"/>
                  <a:pt x="28575" y="12710"/>
                  <a:pt x="28575" y="16669"/>
                </a:cubicBezTo>
                <a:lnTo>
                  <a:pt x="28575" y="135731"/>
                </a:lnTo>
                <a:cubicBezTo>
                  <a:pt x="28575" y="139690"/>
                  <a:pt x="31760" y="142875"/>
                  <a:pt x="35719" y="142875"/>
                </a:cubicBezTo>
                <a:cubicBezTo>
                  <a:pt x="39678" y="142875"/>
                  <a:pt x="42863" y="139690"/>
                  <a:pt x="42863" y="135731"/>
                </a:cubicBezTo>
                <a:lnTo>
                  <a:pt x="42863" y="16669"/>
                </a:lnTo>
                <a:cubicBezTo>
                  <a:pt x="42863" y="12710"/>
                  <a:pt x="39678" y="9525"/>
                  <a:pt x="35719" y="9525"/>
                </a:cubicBezTo>
                <a:close/>
                <a:moveTo>
                  <a:pt x="57150" y="19050"/>
                </a:moveTo>
                <a:lnTo>
                  <a:pt x="57150" y="133350"/>
                </a:lnTo>
                <a:cubicBezTo>
                  <a:pt x="57150" y="138619"/>
                  <a:pt x="61406" y="142875"/>
                  <a:pt x="66675" y="142875"/>
                </a:cubicBezTo>
                <a:cubicBezTo>
                  <a:pt x="71944" y="142875"/>
                  <a:pt x="76200" y="138619"/>
                  <a:pt x="76200" y="133350"/>
                </a:cubicBezTo>
                <a:lnTo>
                  <a:pt x="76200" y="19050"/>
                </a:lnTo>
                <a:cubicBezTo>
                  <a:pt x="76200" y="13781"/>
                  <a:pt x="71944" y="9525"/>
                  <a:pt x="66675" y="9525"/>
                </a:cubicBezTo>
                <a:cubicBezTo>
                  <a:pt x="61406" y="9525"/>
                  <a:pt x="57150" y="13781"/>
                  <a:pt x="57150" y="19050"/>
                </a:cubicBezTo>
                <a:close/>
                <a:moveTo>
                  <a:pt x="119062" y="16669"/>
                </a:moveTo>
                <a:lnTo>
                  <a:pt x="119062" y="135731"/>
                </a:lnTo>
                <a:cubicBezTo>
                  <a:pt x="119062" y="139690"/>
                  <a:pt x="122247" y="142875"/>
                  <a:pt x="126206" y="142875"/>
                </a:cubicBezTo>
                <a:cubicBezTo>
                  <a:pt x="130165" y="142875"/>
                  <a:pt x="133350" y="139690"/>
                  <a:pt x="133350" y="135731"/>
                </a:cubicBezTo>
                <a:lnTo>
                  <a:pt x="133350" y="16669"/>
                </a:lnTo>
                <a:cubicBezTo>
                  <a:pt x="133350" y="12710"/>
                  <a:pt x="130165" y="9525"/>
                  <a:pt x="126206" y="9525"/>
                </a:cubicBezTo>
                <a:cubicBezTo>
                  <a:pt x="122247" y="9525"/>
                  <a:pt x="119062" y="12710"/>
                  <a:pt x="119062" y="16669"/>
                </a:cubicBezTo>
                <a:close/>
                <a:moveTo>
                  <a:pt x="90488" y="16669"/>
                </a:moveTo>
                <a:lnTo>
                  <a:pt x="90488" y="135731"/>
                </a:lnTo>
                <a:cubicBezTo>
                  <a:pt x="90488" y="139690"/>
                  <a:pt x="93672" y="142875"/>
                  <a:pt x="97631" y="142875"/>
                </a:cubicBezTo>
                <a:cubicBezTo>
                  <a:pt x="101590" y="142875"/>
                  <a:pt x="104775" y="139690"/>
                  <a:pt x="104775" y="135731"/>
                </a:cubicBezTo>
                <a:lnTo>
                  <a:pt x="104775" y="16669"/>
                </a:lnTo>
                <a:cubicBezTo>
                  <a:pt x="104775" y="12710"/>
                  <a:pt x="101590" y="9525"/>
                  <a:pt x="97631" y="9525"/>
                </a:cubicBezTo>
                <a:cubicBezTo>
                  <a:pt x="93672" y="9525"/>
                  <a:pt x="90488" y="12710"/>
                  <a:pt x="90488" y="16669"/>
                </a:cubicBezTo>
                <a:close/>
              </a:path>
            </a:pathLst>
          </a:custGeom>
          <a:solidFill>
            <a:srgbClr val="6366F1"/>
          </a:solidFill>
          <a:ln/>
        </p:spPr>
      </p:sp>
      <p:sp>
        <p:nvSpPr>
          <p:cNvPr id="8" name="Text 6"/>
          <p:cNvSpPr/>
          <p:nvPr/>
        </p:nvSpPr>
        <p:spPr>
          <a:xfrm>
            <a:off x="763072" y="1874523"/>
            <a:ext cx="30194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Barcode Scanning:</a:t>
            </a:r>
            <a:r>
              <a:rPr lang="en-US" sz="1200" dirty="0">
                <a:solidFill>
                  <a:srgbClr val="EFEFEF"/>
                </a:solidFill>
                <a:latin typeface="Liter" pitchFamily="34" charset="0"/>
                <a:ea typeface="Liter" pitchFamily="34" charset="-122"/>
                <a:cs typeface="Liter" pitchFamily="34" charset="-120"/>
              </a:rPr>
              <a:t> Quick checkout and inventory tracking</a:t>
            </a:r>
            <a:endParaRPr lang="en-US" sz="1600" dirty="0"/>
          </a:p>
        </p:txBody>
      </p:sp>
      <p:sp>
        <p:nvSpPr>
          <p:cNvPr id="9" name="Shape 7"/>
          <p:cNvSpPr/>
          <p:nvPr/>
        </p:nvSpPr>
        <p:spPr>
          <a:xfrm>
            <a:off x="3821430" y="1912623"/>
            <a:ext cx="152400" cy="152400"/>
          </a:xfrm>
          <a:custGeom>
            <a:avLst/>
            <a:gdLst/>
            <a:ahLst/>
            <a:cxnLst/>
            <a:rect l="l" t="t" r="r" b="b"/>
            <a:pathLst>
              <a:path w="152400" h="152400">
                <a:moveTo>
                  <a:pt x="66675" y="0"/>
                </a:moveTo>
                <a:lnTo>
                  <a:pt x="66675" y="19050"/>
                </a:lnTo>
                <a:cubicBezTo>
                  <a:pt x="66675" y="21669"/>
                  <a:pt x="68818" y="23813"/>
                  <a:pt x="71438" y="23813"/>
                </a:cubicBezTo>
                <a:lnTo>
                  <a:pt x="80962" y="23813"/>
                </a:lnTo>
                <a:cubicBezTo>
                  <a:pt x="83582" y="23813"/>
                  <a:pt x="85725" y="21669"/>
                  <a:pt x="85725" y="19050"/>
                </a:cubicBezTo>
                <a:lnTo>
                  <a:pt x="85725" y="0"/>
                </a:lnTo>
                <a:lnTo>
                  <a:pt x="95250" y="0"/>
                </a:lnTo>
                <a:cubicBezTo>
                  <a:pt x="105757" y="0"/>
                  <a:pt x="114300" y="8543"/>
                  <a:pt x="114300" y="19050"/>
                </a:cubicBezTo>
                <a:lnTo>
                  <a:pt x="114300" y="57150"/>
                </a:lnTo>
                <a:cubicBezTo>
                  <a:pt x="114300" y="58787"/>
                  <a:pt x="114092" y="60394"/>
                  <a:pt x="113705" y="61912"/>
                </a:cubicBezTo>
                <a:lnTo>
                  <a:pt x="38695" y="61912"/>
                </a:lnTo>
                <a:cubicBezTo>
                  <a:pt x="38308" y="60394"/>
                  <a:pt x="38100" y="58787"/>
                  <a:pt x="38100" y="57150"/>
                </a:cubicBezTo>
                <a:lnTo>
                  <a:pt x="38100" y="19050"/>
                </a:lnTo>
                <a:cubicBezTo>
                  <a:pt x="38100" y="8543"/>
                  <a:pt x="46643" y="0"/>
                  <a:pt x="57150" y="0"/>
                </a:cubicBezTo>
                <a:lnTo>
                  <a:pt x="66675" y="0"/>
                </a:lnTo>
                <a:close/>
                <a:moveTo>
                  <a:pt x="95250" y="152400"/>
                </a:moveTo>
                <a:cubicBezTo>
                  <a:pt x="91916" y="152400"/>
                  <a:pt x="88761" y="151537"/>
                  <a:pt x="86023" y="150019"/>
                </a:cubicBezTo>
                <a:cubicBezTo>
                  <a:pt x="88850" y="145107"/>
                  <a:pt x="90488" y="139422"/>
                  <a:pt x="90488" y="133350"/>
                </a:cubicBezTo>
                <a:lnTo>
                  <a:pt x="90488" y="95250"/>
                </a:lnTo>
                <a:cubicBezTo>
                  <a:pt x="90488" y="89178"/>
                  <a:pt x="88850" y="83493"/>
                  <a:pt x="86023" y="78581"/>
                </a:cubicBezTo>
                <a:cubicBezTo>
                  <a:pt x="88761" y="77063"/>
                  <a:pt x="91886" y="76200"/>
                  <a:pt x="95250" y="76200"/>
                </a:cubicBezTo>
                <a:lnTo>
                  <a:pt x="104775" y="76200"/>
                </a:lnTo>
                <a:lnTo>
                  <a:pt x="104775" y="95250"/>
                </a:lnTo>
                <a:cubicBezTo>
                  <a:pt x="104775" y="97869"/>
                  <a:pt x="106918" y="100013"/>
                  <a:pt x="109537" y="100013"/>
                </a:cubicBezTo>
                <a:lnTo>
                  <a:pt x="119062" y="100013"/>
                </a:lnTo>
                <a:cubicBezTo>
                  <a:pt x="121682" y="100013"/>
                  <a:pt x="123825" y="97869"/>
                  <a:pt x="123825" y="95250"/>
                </a:cubicBezTo>
                <a:lnTo>
                  <a:pt x="123825" y="76200"/>
                </a:lnTo>
                <a:lnTo>
                  <a:pt x="133350" y="76200"/>
                </a:lnTo>
                <a:cubicBezTo>
                  <a:pt x="143857" y="76200"/>
                  <a:pt x="152400" y="84743"/>
                  <a:pt x="152400" y="95250"/>
                </a:cubicBezTo>
                <a:lnTo>
                  <a:pt x="152400" y="133350"/>
                </a:lnTo>
                <a:cubicBezTo>
                  <a:pt x="152400" y="143857"/>
                  <a:pt x="143857" y="152400"/>
                  <a:pt x="133350" y="152400"/>
                </a:cubicBezTo>
                <a:lnTo>
                  <a:pt x="95250" y="152400"/>
                </a:lnTo>
                <a:close/>
                <a:moveTo>
                  <a:pt x="0" y="95250"/>
                </a:moveTo>
                <a:cubicBezTo>
                  <a:pt x="0" y="84743"/>
                  <a:pt x="8543" y="76200"/>
                  <a:pt x="19050" y="76200"/>
                </a:cubicBezTo>
                <a:lnTo>
                  <a:pt x="28575" y="76200"/>
                </a:lnTo>
                <a:lnTo>
                  <a:pt x="28575" y="95250"/>
                </a:lnTo>
                <a:cubicBezTo>
                  <a:pt x="28575" y="97869"/>
                  <a:pt x="30718" y="100013"/>
                  <a:pt x="33338" y="100013"/>
                </a:cubicBezTo>
                <a:lnTo>
                  <a:pt x="42863" y="100013"/>
                </a:lnTo>
                <a:cubicBezTo>
                  <a:pt x="45482" y="100013"/>
                  <a:pt x="47625" y="97869"/>
                  <a:pt x="47625" y="95250"/>
                </a:cubicBezTo>
                <a:lnTo>
                  <a:pt x="47625" y="76200"/>
                </a:lnTo>
                <a:lnTo>
                  <a:pt x="57150" y="76200"/>
                </a:lnTo>
                <a:cubicBezTo>
                  <a:pt x="67657" y="76200"/>
                  <a:pt x="76200" y="84743"/>
                  <a:pt x="76200" y="95250"/>
                </a:cubicBezTo>
                <a:lnTo>
                  <a:pt x="76200" y="133350"/>
                </a:lnTo>
                <a:cubicBezTo>
                  <a:pt x="76200" y="143857"/>
                  <a:pt x="67657" y="152400"/>
                  <a:pt x="57150" y="152400"/>
                </a:cubicBezTo>
                <a:lnTo>
                  <a:pt x="19050" y="152400"/>
                </a:lnTo>
                <a:cubicBezTo>
                  <a:pt x="8543" y="152400"/>
                  <a:pt x="0" y="143857"/>
                  <a:pt x="0" y="133350"/>
                </a:cubicBezTo>
                <a:lnTo>
                  <a:pt x="0" y="95250"/>
                </a:lnTo>
                <a:close/>
              </a:path>
            </a:pathLst>
          </a:custGeom>
          <a:solidFill>
            <a:srgbClr val="6366F1"/>
          </a:solidFill>
          <a:ln/>
        </p:spPr>
      </p:sp>
      <p:sp>
        <p:nvSpPr>
          <p:cNvPr id="10" name="Text 8"/>
          <p:cNvSpPr/>
          <p:nvPr/>
        </p:nvSpPr>
        <p:spPr>
          <a:xfrm>
            <a:off x="4046934" y="1874523"/>
            <a:ext cx="30194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Inventory Management:</a:t>
            </a:r>
            <a:r>
              <a:rPr lang="en-US" sz="1200" dirty="0">
                <a:solidFill>
                  <a:srgbClr val="EFEFEF"/>
                </a:solidFill>
                <a:latin typeface="Liter" pitchFamily="34" charset="0"/>
                <a:ea typeface="Liter" pitchFamily="34" charset="-122"/>
                <a:cs typeface="Liter" pitchFamily="34" charset="-120"/>
              </a:rPr>
              <a:t> Track stock levels automatically</a:t>
            </a:r>
            <a:endParaRPr lang="en-US" sz="1600" dirty="0"/>
          </a:p>
        </p:txBody>
      </p:sp>
      <p:sp>
        <p:nvSpPr>
          <p:cNvPr id="11" name="Shape 9"/>
          <p:cNvSpPr/>
          <p:nvPr/>
        </p:nvSpPr>
        <p:spPr>
          <a:xfrm>
            <a:off x="545782" y="2484123"/>
            <a:ext cx="133350" cy="152400"/>
          </a:xfrm>
          <a:custGeom>
            <a:avLst/>
            <a:gdLst/>
            <a:ahLst/>
            <a:cxnLst/>
            <a:rect l="l" t="t" r="r" b="b"/>
            <a:pathLst>
              <a:path w="133350" h="152400">
                <a:moveTo>
                  <a:pt x="47625" y="23813"/>
                </a:moveTo>
                <a:cubicBezTo>
                  <a:pt x="47625" y="13305"/>
                  <a:pt x="56168" y="4763"/>
                  <a:pt x="66675" y="4763"/>
                </a:cubicBezTo>
                <a:cubicBezTo>
                  <a:pt x="77182" y="4763"/>
                  <a:pt x="85725" y="13305"/>
                  <a:pt x="85725" y="23813"/>
                </a:cubicBezTo>
                <a:lnTo>
                  <a:pt x="85725" y="38100"/>
                </a:lnTo>
                <a:lnTo>
                  <a:pt x="47625" y="38100"/>
                </a:lnTo>
                <a:lnTo>
                  <a:pt x="47625" y="23813"/>
                </a:lnTo>
                <a:close/>
                <a:moveTo>
                  <a:pt x="33338" y="38100"/>
                </a:moveTo>
                <a:lnTo>
                  <a:pt x="14288" y="38100"/>
                </a:lnTo>
                <a:cubicBezTo>
                  <a:pt x="6400" y="38100"/>
                  <a:pt x="0" y="44500"/>
                  <a:pt x="0" y="52388"/>
                </a:cubicBezTo>
                <a:lnTo>
                  <a:pt x="0" y="114300"/>
                </a:lnTo>
                <a:cubicBezTo>
                  <a:pt x="0" y="130076"/>
                  <a:pt x="12799" y="142875"/>
                  <a:pt x="28575" y="142875"/>
                </a:cubicBezTo>
                <a:lnTo>
                  <a:pt x="104775" y="142875"/>
                </a:lnTo>
                <a:cubicBezTo>
                  <a:pt x="120551" y="142875"/>
                  <a:pt x="133350" y="130076"/>
                  <a:pt x="133350" y="114300"/>
                </a:cubicBezTo>
                <a:lnTo>
                  <a:pt x="133350" y="52388"/>
                </a:lnTo>
                <a:cubicBezTo>
                  <a:pt x="133350" y="44500"/>
                  <a:pt x="126950" y="38100"/>
                  <a:pt x="119062" y="38100"/>
                </a:cubicBezTo>
                <a:lnTo>
                  <a:pt x="100013" y="38100"/>
                </a:lnTo>
                <a:lnTo>
                  <a:pt x="100013" y="23813"/>
                </a:lnTo>
                <a:cubicBezTo>
                  <a:pt x="100013" y="5388"/>
                  <a:pt x="85100" y="-9525"/>
                  <a:pt x="66675" y="-9525"/>
                </a:cubicBezTo>
                <a:cubicBezTo>
                  <a:pt x="48250" y="-9525"/>
                  <a:pt x="33338" y="5388"/>
                  <a:pt x="33338" y="23813"/>
                </a:cubicBezTo>
                <a:lnTo>
                  <a:pt x="33338" y="38100"/>
                </a:lnTo>
                <a:close/>
                <a:moveTo>
                  <a:pt x="40481" y="52388"/>
                </a:moveTo>
                <a:cubicBezTo>
                  <a:pt x="44424" y="52388"/>
                  <a:pt x="47625" y="55589"/>
                  <a:pt x="47625" y="59531"/>
                </a:cubicBezTo>
                <a:cubicBezTo>
                  <a:pt x="47625" y="63474"/>
                  <a:pt x="44424" y="66675"/>
                  <a:pt x="40481" y="66675"/>
                </a:cubicBezTo>
                <a:cubicBezTo>
                  <a:pt x="36539" y="66675"/>
                  <a:pt x="33338" y="63474"/>
                  <a:pt x="33338" y="59531"/>
                </a:cubicBezTo>
                <a:cubicBezTo>
                  <a:pt x="33338" y="55589"/>
                  <a:pt x="36539" y="52388"/>
                  <a:pt x="40481" y="52388"/>
                </a:cubicBezTo>
                <a:close/>
                <a:moveTo>
                  <a:pt x="85725" y="59531"/>
                </a:moveTo>
                <a:cubicBezTo>
                  <a:pt x="85725" y="55589"/>
                  <a:pt x="88926" y="52388"/>
                  <a:pt x="92869" y="52388"/>
                </a:cubicBezTo>
                <a:cubicBezTo>
                  <a:pt x="96811" y="52388"/>
                  <a:pt x="100013" y="55589"/>
                  <a:pt x="100013" y="59531"/>
                </a:cubicBezTo>
                <a:cubicBezTo>
                  <a:pt x="100013" y="63474"/>
                  <a:pt x="96811" y="66675"/>
                  <a:pt x="92869" y="66675"/>
                </a:cubicBezTo>
                <a:cubicBezTo>
                  <a:pt x="88926" y="66675"/>
                  <a:pt x="85725" y="63474"/>
                  <a:pt x="85725" y="59531"/>
                </a:cubicBezTo>
                <a:close/>
              </a:path>
            </a:pathLst>
          </a:custGeom>
          <a:solidFill>
            <a:srgbClr val="6366F1"/>
          </a:solidFill>
          <a:ln/>
        </p:spPr>
      </p:sp>
      <p:sp>
        <p:nvSpPr>
          <p:cNvPr id="12" name="Text 10"/>
          <p:cNvSpPr/>
          <p:nvPr/>
        </p:nvSpPr>
        <p:spPr>
          <a:xfrm>
            <a:off x="764619" y="2446023"/>
            <a:ext cx="30194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Online Shopping:</a:t>
            </a:r>
            <a:r>
              <a:rPr lang="en-US" sz="1200" dirty="0">
                <a:solidFill>
                  <a:srgbClr val="EFEFEF"/>
                </a:solidFill>
                <a:latin typeface="Liter" pitchFamily="34" charset="0"/>
                <a:ea typeface="Liter" pitchFamily="34" charset="-122"/>
                <a:cs typeface="Liter" pitchFamily="34" charset="-120"/>
              </a:rPr>
              <a:t> E-commerce websites and mobile apps</a:t>
            </a:r>
            <a:endParaRPr lang="en-US" sz="1600" dirty="0"/>
          </a:p>
        </p:txBody>
      </p:sp>
      <p:sp>
        <p:nvSpPr>
          <p:cNvPr id="13" name="Shape 11"/>
          <p:cNvSpPr/>
          <p:nvPr/>
        </p:nvSpPr>
        <p:spPr>
          <a:xfrm>
            <a:off x="3821430" y="2484123"/>
            <a:ext cx="152400" cy="152400"/>
          </a:xfrm>
          <a:custGeom>
            <a:avLst/>
            <a:gdLst/>
            <a:ahLst/>
            <a:cxnLst/>
            <a:rect l="l" t="t" r="r" b="b"/>
            <a:pathLst>
              <a:path w="152400" h="152400">
                <a:moveTo>
                  <a:pt x="0" y="38100"/>
                </a:moveTo>
                <a:lnTo>
                  <a:pt x="0" y="47625"/>
                </a:lnTo>
                <a:lnTo>
                  <a:pt x="152400" y="47625"/>
                </a:lnTo>
                <a:lnTo>
                  <a:pt x="152400" y="38100"/>
                </a:lnTo>
                <a:cubicBezTo>
                  <a:pt x="152400" y="27593"/>
                  <a:pt x="143857" y="19050"/>
                  <a:pt x="133350" y="19050"/>
                </a:cubicBezTo>
                <a:lnTo>
                  <a:pt x="19050" y="19050"/>
                </a:lnTo>
                <a:cubicBezTo>
                  <a:pt x="8543" y="19050"/>
                  <a:pt x="0" y="27593"/>
                  <a:pt x="0" y="38100"/>
                </a:cubicBezTo>
                <a:close/>
                <a:moveTo>
                  <a:pt x="0" y="61912"/>
                </a:moveTo>
                <a:lnTo>
                  <a:pt x="0" y="114300"/>
                </a:lnTo>
                <a:cubicBezTo>
                  <a:pt x="0" y="124807"/>
                  <a:pt x="8543" y="133350"/>
                  <a:pt x="19050" y="133350"/>
                </a:cubicBezTo>
                <a:lnTo>
                  <a:pt x="133350" y="133350"/>
                </a:lnTo>
                <a:cubicBezTo>
                  <a:pt x="143857" y="133350"/>
                  <a:pt x="152400" y="124807"/>
                  <a:pt x="152400" y="114300"/>
                </a:cubicBezTo>
                <a:lnTo>
                  <a:pt x="152400" y="61912"/>
                </a:lnTo>
                <a:lnTo>
                  <a:pt x="0" y="61912"/>
                </a:lnTo>
                <a:close/>
                <a:moveTo>
                  <a:pt x="19050" y="107156"/>
                </a:moveTo>
                <a:cubicBezTo>
                  <a:pt x="19050" y="103197"/>
                  <a:pt x="22235" y="100013"/>
                  <a:pt x="26194" y="100013"/>
                </a:cubicBezTo>
                <a:lnTo>
                  <a:pt x="40481" y="100013"/>
                </a:lnTo>
                <a:cubicBezTo>
                  <a:pt x="44440" y="100013"/>
                  <a:pt x="47625" y="103197"/>
                  <a:pt x="47625" y="107156"/>
                </a:cubicBezTo>
                <a:cubicBezTo>
                  <a:pt x="47625" y="111115"/>
                  <a:pt x="44440" y="114300"/>
                  <a:pt x="40481" y="114300"/>
                </a:cubicBezTo>
                <a:lnTo>
                  <a:pt x="26194" y="114300"/>
                </a:lnTo>
                <a:cubicBezTo>
                  <a:pt x="22235" y="114300"/>
                  <a:pt x="19050" y="111115"/>
                  <a:pt x="19050" y="107156"/>
                </a:cubicBezTo>
                <a:close/>
                <a:moveTo>
                  <a:pt x="61912" y="107156"/>
                </a:moveTo>
                <a:cubicBezTo>
                  <a:pt x="61912" y="103197"/>
                  <a:pt x="65097" y="100013"/>
                  <a:pt x="69056" y="100013"/>
                </a:cubicBezTo>
                <a:lnTo>
                  <a:pt x="88106" y="100013"/>
                </a:lnTo>
                <a:cubicBezTo>
                  <a:pt x="92065" y="100013"/>
                  <a:pt x="95250" y="103197"/>
                  <a:pt x="95250" y="107156"/>
                </a:cubicBezTo>
                <a:cubicBezTo>
                  <a:pt x="95250" y="111115"/>
                  <a:pt x="92065" y="114300"/>
                  <a:pt x="88106" y="114300"/>
                </a:cubicBezTo>
                <a:lnTo>
                  <a:pt x="69056" y="114300"/>
                </a:lnTo>
                <a:cubicBezTo>
                  <a:pt x="65097" y="114300"/>
                  <a:pt x="61912" y="111115"/>
                  <a:pt x="61912" y="107156"/>
                </a:cubicBezTo>
                <a:close/>
              </a:path>
            </a:pathLst>
          </a:custGeom>
          <a:solidFill>
            <a:srgbClr val="6366F1"/>
          </a:solidFill>
          <a:ln/>
        </p:spPr>
      </p:sp>
      <p:sp>
        <p:nvSpPr>
          <p:cNvPr id="14" name="Text 12"/>
          <p:cNvSpPr/>
          <p:nvPr/>
        </p:nvSpPr>
        <p:spPr>
          <a:xfrm>
            <a:off x="4048839" y="2446023"/>
            <a:ext cx="30194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POS Systems:</a:t>
            </a:r>
            <a:r>
              <a:rPr lang="en-US" sz="1200" dirty="0">
                <a:solidFill>
                  <a:srgbClr val="EFEFEF"/>
                </a:solidFill>
                <a:latin typeface="Liter" pitchFamily="34" charset="0"/>
                <a:ea typeface="Liter" pitchFamily="34" charset="-122"/>
                <a:cs typeface="Liter" pitchFamily="34" charset="-120"/>
              </a:rPr>
              <a:t> Process payments and generate receipts</a:t>
            </a:r>
            <a:endParaRPr lang="en-US" sz="1600" dirty="0"/>
          </a:p>
        </p:txBody>
      </p:sp>
      <p:sp>
        <p:nvSpPr>
          <p:cNvPr id="15" name="Shape 13"/>
          <p:cNvSpPr/>
          <p:nvPr/>
        </p:nvSpPr>
        <p:spPr>
          <a:xfrm>
            <a:off x="384810" y="3219451"/>
            <a:ext cx="6760845" cy="1722120"/>
          </a:xfrm>
          <a:custGeom>
            <a:avLst/>
            <a:gdLst/>
            <a:ahLst/>
            <a:cxnLst/>
            <a:rect l="l" t="t" r="r" b="b"/>
            <a:pathLst>
              <a:path w="6760845" h="1722120">
                <a:moveTo>
                  <a:pt x="114297" y="0"/>
                </a:moveTo>
                <a:lnTo>
                  <a:pt x="6646548" y="0"/>
                </a:lnTo>
                <a:cubicBezTo>
                  <a:pt x="6709672" y="0"/>
                  <a:pt x="6760845" y="51173"/>
                  <a:pt x="6760845" y="114297"/>
                </a:cubicBezTo>
                <a:lnTo>
                  <a:pt x="6760845" y="1607823"/>
                </a:lnTo>
                <a:cubicBezTo>
                  <a:pt x="6760845" y="1670947"/>
                  <a:pt x="6709672" y="1722120"/>
                  <a:pt x="6646548" y="1722120"/>
                </a:cubicBezTo>
                <a:lnTo>
                  <a:pt x="114297" y="1722120"/>
                </a:lnTo>
                <a:cubicBezTo>
                  <a:pt x="51173" y="1722120"/>
                  <a:pt x="0" y="1670947"/>
                  <a:pt x="0" y="1607823"/>
                </a:cubicBezTo>
                <a:lnTo>
                  <a:pt x="0" y="114297"/>
                </a:lnTo>
                <a:cubicBezTo>
                  <a:pt x="0" y="51215"/>
                  <a:pt x="51215" y="0"/>
                  <a:pt x="114297" y="0"/>
                </a:cubicBezTo>
                <a:close/>
              </a:path>
            </a:pathLst>
          </a:custGeom>
          <a:solidFill>
            <a:srgbClr val="262626"/>
          </a:solidFill>
          <a:ln w="10160">
            <a:solidFill>
              <a:srgbClr val="333333"/>
            </a:solidFill>
            <a:prstDash val="solid"/>
          </a:ln>
        </p:spPr>
      </p:sp>
      <p:sp>
        <p:nvSpPr>
          <p:cNvPr id="16" name="Shape 14"/>
          <p:cNvSpPr/>
          <p:nvPr/>
        </p:nvSpPr>
        <p:spPr>
          <a:xfrm>
            <a:off x="564832" y="3413759"/>
            <a:ext cx="190500" cy="190500"/>
          </a:xfrm>
          <a:custGeom>
            <a:avLst/>
            <a:gdLst/>
            <a:ahLst/>
            <a:cxnLst/>
            <a:rect l="l" t="t" r="r" b="b"/>
            <a:pathLst>
              <a:path w="190500" h="190500">
                <a:moveTo>
                  <a:pt x="74042" y="2604"/>
                </a:moveTo>
                <a:cubicBezTo>
                  <a:pt x="77539" y="-893"/>
                  <a:pt x="83195" y="-893"/>
                  <a:pt x="86655" y="2604"/>
                </a:cubicBezTo>
                <a:lnTo>
                  <a:pt x="119918" y="35868"/>
                </a:lnTo>
                <a:lnTo>
                  <a:pt x="140382" y="15404"/>
                </a:lnTo>
                <a:cubicBezTo>
                  <a:pt x="145033" y="10753"/>
                  <a:pt x="152586" y="10753"/>
                  <a:pt x="157237" y="15404"/>
                </a:cubicBezTo>
                <a:lnTo>
                  <a:pt x="175096" y="33263"/>
                </a:lnTo>
                <a:cubicBezTo>
                  <a:pt x="179747" y="37914"/>
                  <a:pt x="179747" y="45467"/>
                  <a:pt x="175096" y="50118"/>
                </a:cubicBezTo>
                <a:lnTo>
                  <a:pt x="154632" y="70582"/>
                </a:lnTo>
                <a:lnTo>
                  <a:pt x="187896" y="103845"/>
                </a:lnTo>
                <a:cubicBezTo>
                  <a:pt x="191393" y="107342"/>
                  <a:pt x="191393" y="112998"/>
                  <a:pt x="187896" y="116458"/>
                </a:cubicBezTo>
                <a:lnTo>
                  <a:pt x="152177" y="152177"/>
                </a:lnTo>
                <a:cubicBezTo>
                  <a:pt x="148679" y="155674"/>
                  <a:pt x="143024" y="155674"/>
                  <a:pt x="139564" y="152177"/>
                </a:cubicBezTo>
                <a:lnTo>
                  <a:pt x="106300" y="118914"/>
                </a:lnTo>
                <a:lnTo>
                  <a:pt x="100533" y="124681"/>
                </a:lnTo>
                <a:cubicBezTo>
                  <a:pt x="104775" y="133834"/>
                  <a:pt x="107156" y="144028"/>
                  <a:pt x="107156" y="154781"/>
                </a:cubicBezTo>
                <a:cubicBezTo>
                  <a:pt x="107156" y="166576"/>
                  <a:pt x="104291" y="177664"/>
                  <a:pt x="99268" y="187449"/>
                </a:cubicBezTo>
                <a:cubicBezTo>
                  <a:pt x="97520" y="190798"/>
                  <a:pt x="93055" y="191281"/>
                  <a:pt x="90413" y="188602"/>
                </a:cubicBezTo>
                <a:lnTo>
                  <a:pt x="54583" y="152772"/>
                </a:lnTo>
                <a:lnTo>
                  <a:pt x="32258" y="175096"/>
                </a:lnTo>
                <a:cubicBezTo>
                  <a:pt x="27608" y="179747"/>
                  <a:pt x="20055" y="179747"/>
                  <a:pt x="15404" y="175096"/>
                </a:cubicBezTo>
                <a:cubicBezTo>
                  <a:pt x="10753" y="170445"/>
                  <a:pt x="10753" y="162892"/>
                  <a:pt x="15404" y="158242"/>
                </a:cubicBezTo>
                <a:lnTo>
                  <a:pt x="37728" y="135917"/>
                </a:lnTo>
                <a:lnTo>
                  <a:pt x="1898" y="100087"/>
                </a:lnTo>
                <a:cubicBezTo>
                  <a:pt x="-781" y="97408"/>
                  <a:pt x="-298" y="92943"/>
                  <a:pt x="3051" y="91232"/>
                </a:cubicBezTo>
                <a:cubicBezTo>
                  <a:pt x="12836" y="86171"/>
                  <a:pt x="23961" y="83344"/>
                  <a:pt x="35719" y="83344"/>
                </a:cubicBezTo>
                <a:cubicBezTo>
                  <a:pt x="46472" y="83344"/>
                  <a:pt x="56666" y="85725"/>
                  <a:pt x="65819" y="89967"/>
                </a:cubicBezTo>
                <a:lnTo>
                  <a:pt x="71586" y="84200"/>
                </a:lnTo>
                <a:lnTo>
                  <a:pt x="38323" y="50974"/>
                </a:lnTo>
                <a:cubicBezTo>
                  <a:pt x="34826" y="47476"/>
                  <a:pt x="34826" y="41821"/>
                  <a:pt x="38323" y="38360"/>
                </a:cubicBezTo>
                <a:lnTo>
                  <a:pt x="74042" y="2604"/>
                </a:lnTo>
                <a:close/>
                <a:moveTo>
                  <a:pt x="80367" y="21543"/>
                </a:moveTo>
                <a:lnTo>
                  <a:pt x="57262" y="44648"/>
                </a:lnTo>
                <a:lnTo>
                  <a:pt x="84200" y="71586"/>
                </a:lnTo>
                <a:lnTo>
                  <a:pt x="107305" y="48481"/>
                </a:lnTo>
                <a:lnTo>
                  <a:pt x="80367" y="21543"/>
                </a:lnTo>
                <a:close/>
                <a:moveTo>
                  <a:pt x="145852" y="133238"/>
                </a:moveTo>
                <a:lnTo>
                  <a:pt x="168957" y="110133"/>
                </a:lnTo>
                <a:lnTo>
                  <a:pt x="142019" y="83195"/>
                </a:lnTo>
                <a:lnTo>
                  <a:pt x="118914" y="106300"/>
                </a:lnTo>
                <a:lnTo>
                  <a:pt x="145852" y="133238"/>
                </a:lnTo>
                <a:close/>
              </a:path>
            </a:pathLst>
          </a:custGeom>
          <a:solidFill>
            <a:srgbClr val="6366F1"/>
          </a:solidFill>
          <a:ln/>
        </p:spPr>
      </p:sp>
      <p:sp>
        <p:nvSpPr>
          <p:cNvPr id="17" name="Text 15"/>
          <p:cNvSpPr/>
          <p:nvPr/>
        </p:nvSpPr>
        <p:spPr>
          <a:xfrm>
            <a:off x="893445" y="3375659"/>
            <a:ext cx="13906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Satellite Systems</a:t>
            </a:r>
            <a:endParaRPr lang="en-US" sz="1600" dirty="0"/>
          </a:p>
        </p:txBody>
      </p:sp>
      <p:sp>
        <p:nvSpPr>
          <p:cNvPr id="18" name="Shape 16"/>
          <p:cNvSpPr/>
          <p:nvPr/>
        </p:nvSpPr>
        <p:spPr>
          <a:xfrm>
            <a:off x="531495" y="3794759"/>
            <a:ext cx="190500" cy="152400"/>
          </a:xfrm>
          <a:custGeom>
            <a:avLst/>
            <a:gdLst/>
            <a:ahLst/>
            <a:cxnLst/>
            <a:rect l="l" t="t" r="r" b="b"/>
            <a:pathLst>
              <a:path w="190500" h="152400">
                <a:moveTo>
                  <a:pt x="171450" y="14288"/>
                </a:moveTo>
                <a:cubicBezTo>
                  <a:pt x="171450" y="10984"/>
                  <a:pt x="169753" y="7918"/>
                  <a:pt x="166926" y="6191"/>
                </a:cubicBezTo>
                <a:cubicBezTo>
                  <a:pt x="164098" y="4465"/>
                  <a:pt x="160615" y="4286"/>
                  <a:pt x="157669" y="5775"/>
                </a:cubicBezTo>
                <a:lnTo>
                  <a:pt x="123081" y="23068"/>
                </a:lnTo>
                <a:lnTo>
                  <a:pt x="69681" y="5239"/>
                </a:lnTo>
                <a:cubicBezTo>
                  <a:pt x="67270" y="4435"/>
                  <a:pt x="64681" y="4614"/>
                  <a:pt x="62419" y="5745"/>
                </a:cubicBezTo>
                <a:lnTo>
                  <a:pt x="24319" y="24795"/>
                </a:lnTo>
                <a:cubicBezTo>
                  <a:pt x="21074" y="26432"/>
                  <a:pt x="19050" y="29736"/>
                  <a:pt x="19050" y="33338"/>
                </a:cubicBezTo>
                <a:lnTo>
                  <a:pt x="19050" y="138113"/>
                </a:lnTo>
                <a:cubicBezTo>
                  <a:pt x="19050" y="141416"/>
                  <a:pt x="20747" y="144482"/>
                  <a:pt x="23574" y="146209"/>
                </a:cubicBezTo>
                <a:cubicBezTo>
                  <a:pt x="26402" y="147935"/>
                  <a:pt x="29885" y="148114"/>
                  <a:pt x="32831" y="146625"/>
                </a:cubicBezTo>
                <a:lnTo>
                  <a:pt x="67389" y="129332"/>
                </a:lnTo>
                <a:lnTo>
                  <a:pt x="118973" y="146536"/>
                </a:lnTo>
                <a:cubicBezTo>
                  <a:pt x="117693" y="144631"/>
                  <a:pt x="116443" y="142637"/>
                  <a:pt x="115223" y="140613"/>
                </a:cubicBezTo>
                <a:cubicBezTo>
                  <a:pt x="111949" y="135166"/>
                  <a:pt x="108704" y="128915"/>
                  <a:pt x="106293" y="122218"/>
                </a:cubicBezTo>
                <a:lnTo>
                  <a:pt x="76170" y="112187"/>
                </a:lnTo>
                <a:lnTo>
                  <a:pt x="76170" y="27503"/>
                </a:lnTo>
                <a:lnTo>
                  <a:pt x="114270" y="40213"/>
                </a:lnTo>
                <a:lnTo>
                  <a:pt x="114270" y="69771"/>
                </a:lnTo>
                <a:cubicBezTo>
                  <a:pt x="123498" y="59115"/>
                  <a:pt x="137190" y="52387"/>
                  <a:pt x="152370" y="52387"/>
                </a:cubicBezTo>
                <a:cubicBezTo>
                  <a:pt x="159097" y="52387"/>
                  <a:pt x="165527" y="53697"/>
                  <a:pt x="171420" y="56108"/>
                </a:cubicBezTo>
                <a:lnTo>
                  <a:pt x="171450" y="14288"/>
                </a:lnTo>
                <a:close/>
                <a:moveTo>
                  <a:pt x="152400" y="66675"/>
                </a:moveTo>
                <a:cubicBezTo>
                  <a:pt x="132665" y="66675"/>
                  <a:pt x="116681" y="82391"/>
                  <a:pt x="116681" y="101769"/>
                </a:cubicBezTo>
                <a:cubicBezTo>
                  <a:pt x="116681" y="122277"/>
                  <a:pt x="135761" y="146536"/>
                  <a:pt x="146030" y="158115"/>
                </a:cubicBezTo>
                <a:cubicBezTo>
                  <a:pt x="149483" y="161985"/>
                  <a:pt x="155347" y="161985"/>
                  <a:pt x="158800" y="158115"/>
                </a:cubicBezTo>
                <a:cubicBezTo>
                  <a:pt x="169069" y="146536"/>
                  <a:pt x="188149" y="122277"/>
                  <a:pt x="188149" y="101769"/>
                </a:cubicBezTo>
                <a:cubicBezTo>
                  <a:pt x="188149" y="82391"/>
                  <a:pt x="172164" y="66675"/>
                  <a:pt x="152430" y="66675"/>
                </a:cubicBezTo>
                <a:close/>
                <a:moveTo>
                  <a:pt x="140494" y="102394"/>
                </a:moveTo>
                <a:cubicBezTo>
                  <a:pt x="140494" y="95823"/>
                  <a:pt x="145829" y="90488"/>
                  <a:pt x="152400" y="90488"/>
                </a:cubicBezTo>
                <a:cubicBezTo>
                  <a:pt x="158971" y="90488"/>
                  <a:pt x="164306" y="95823"/>
                  <a:pt x="164306" y="102394"/>
                </a:cubicBezTo>
                <a:cubicBezTo>
                  <a:pt x="164306" y="108965"/>
                  <a:pt x="158971" y="114300"/>
                  <a:pt x="152400" y="114300"/>
                </a:cubicBezTo>
                <a:cubicBezTo>
                  <a:pt x="145829" y="114300"/>
                  <a:pt x="140494" y="108965"/>
                  <a:pt x="140494" y="102394"/>
                </a:cubicBezTo>
                <a:close/>
              </a:path>
            </a:pathLst>
          </a:custGeom>
          <a:solidFill>
            <a:srgbClr val="6366F1"/>
          </a:solidFill>
          <a:ln/>
        </p:spPr>
      </p:sp>
      <p:sp>
        <p:nvSpPr>
          <p:cNvPr id="19" name="Text 17"/>
          <p:cNvSpPr/>
          <p:nvPr/>
        </p:nvSpPr>
        <p:spPr>
          <a:xfrm>
            <a:off x="786765" y="3756659"/>
            <a:ext cx="300037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GPS Navigation:</a:t>
            </a:r>
            <a:r>
              <a:rPr lang="en-US" sz="1200" dirty="0">
                <a:solidFill>
                  <a:srgbClr val="EFEFEF"/>
                </a:solidFill>
                <a:latin typeface="Liter" pitchFamily="34" charset="0"/>
                <a:ea typeface="Liter" pitchFamily="34" charset="-122"/>
                <a:cs typeface="Liter" pitchFamily="34" charset="-120"/>
              </a:rPr>
              <a:t> Find locations and get directions</a:t>
            </a:r>
            <a:endParaRPr lang="en-US" sz="1600" dirty="0"/>
          </a:p>
        </p:txBody>
      </p:sp>
      <p:sp>
        <p:nvSpPr>
          <p:cNvPr id="20" name="Shape 18"/>
          <p:cNvSpPr/>
          <p:nvPr/>
        </p:nvSpPr>
        <p:spPr>
          <a:xfrm>
            <a:off x="3807143" y="3794759"/>
            <a:ext cx="171450" cy="152400"/>
          </a:xfrm>
          <a:custGeom>
            <a:avLst/>
            <a:gdLst/>
            <a:ahLst/>
            <a:cxnLst/>
            <a:rect l="l" t="t" r="r" b="b"/>
            <a:pathLst>
              <a:path w="171450" h="152400">
                <a:moveTo>
                  <a:pt x="135017" y="-4405"/>
                </a:moveTo>
                <a:cubicBezTo>
                  <a:pt x="136475" y="-3810"/>
                  <a:pt x="137547" y="-2500"/>
                  <a:pt x="137845" y="-953"/>
                </a:cubicBezTo>
                <a:lnTo>
                  <a:pt x="142875" y="23813"/>
                </a:lnTo>
                <a:lnTo>
                  <a:pt x="167640" y="28813"/>
                </a:lnTo>
                <a:cubicBezTo>
                  <a:pt x="169188" y="29141"/>
                  <a:pt x="170468" y="30182"/>
                  <a:pt x="171093" y="31641"/>
                </a:cubicBezTo>
                <a:cubicBezTo>
                  <a:pt x="171718" y="33099"/>
                  <a:pt x="171539" y="34766"/>
                  <a:pt x="170676" y="36076"/>
                </a:cubicBezTo>
                <a:lnTo>
                  <a:pt x="156716" y="57120"/>
                </a:lnTo>
                <a:lnTo>
                  <a:pt x="170676" y="78165"/>
                </a:lnTo>
                <a:cubicBezTo>
                  <a:pt x="171539" y="79474"/>
                  <a:pt x="171718" y="81141"/>
                  <a:pt x="171093" y="82600"/>
                </a:cubicBezTo>
                <a:cubicBezTo>
                  <a:pt x="170468" y="84058"/>
                  <a:pt x="169188" y="85130"/>
                  <a:pt x="167640" y="85427"/>
                </a:cubicBezTo>
                <a:lnTo>
                  <a:pt x="149126" y="89208"/>
                </a:lnTo>
                <a:cubicBezTo>
                  <a:pt x="145584" y="86618"/>
                  <a:pt x="141655" y="84564"/>
                  <a:pt x="137398" y="83135"/>
                </a:cubicBezTo>
                <a:cubicBezTo>
                  <a:pt x="136654" y="79355"/>
                  <a:pt x="135374" y="75783"/>
                  <a:pt x="133618" y="72509"/>
                </a:cubicBezTo>
                <a:cubicBezTo>
                  <a:pt x="136446" y="68074"/>
                  <a:pt x="138113" y="62805"/>
                  <a:pt x="138113" y="57120"/>
                </a:cubicBezTo>
                <a:cubicBezTo>
                  <a:pt x="138113" y="41344"/>
                  <a:pt x="125313" y="28545"/>
                  <a:pt x="109538" y="28545"/>
                </a:cubicBezTo>
                <a:cubicBezTo>
                  <a:pt x="95280" y="28545"/>
                  <a:pt x="83463" y="38993"/>
                  <a:pt x="81320" y="52626"/>
                </a:cubicBezTo>
                <a:cubicBezTo>
                  <a:pt x="73432" y="46583"/>
                  <a:pt x="63609" y="42952"/>
                  <a:pt x="52923" y="42833"/>
                </a:cubicBezTo>
                <a:lnTo>
                  <a:pt x="48429" y="36076"/>
                </a:lnTo>
                <a:cubicBezTo>
                  <a:pt x="47565" y="34766"/>
                  <a:pt x="47387" y="33099"/>
                  <a:pt x="48012" y="31641"/>
                </a:cubicBezTo>
                <a:cubicBezTo>
                  <a:pt x="48637" y="30182"/>
                  <a:pt x="49917" y="29111"/>
                  <a:pt x="51465" y="28813"/>
                </a:cubicBezTo>
                <a:lnTo>
                  <a:pt x="76200" y="23813"/>
                </a:lnTo>
                <a:lnTo>
                  <a:pt x="81201" y="-952"/>
                </a:lnTo>
                <a:cubicBezTo>
                  <a:pt x="81528" y="-2500"/>
                  <a:pt x="82570" y="-3780"/>
                  <a:pt x="84028" y="-4405"/>
                </a:cubicBezTo>
                <a:cubicBezTo>
                  <a:pt x="85487" y="-5030"/>
                  <a:pt x="87154" y="-4852"/>
                  <a:pt x="88463" y="-3989"/>
                </a:cubicBezTo>
                <a:lnTo>
                  <a:pt x="109537" y="10001"/>
                </a:lnTo>
                <a:lnTo>
                  <a:pt x="130582" y="-3959"/>
                </a:lnTo>
                <a:cubicBezTo>
                  <a:pt x="131891" y="-4822"/>
                  <a:pt x="133558" y="-5001"/>
                  <a:pt x="135017" y="-4376"/>
                </a:cubicBezTo>
                <a:close/>
                <a:moveTo>
                  <a:pt x="123825" y="57150"/>
                </a:moveTo>
                <a:cubicBezTo>
                  <a:pt x="123825" y="58281"/>
                  <a:pt x="123706" y="59382"/>
                  <a:pt x="123438" y="60454"/>
                </a:cubicBezTo>
                <a:cubicBezTo>
                  <a:pt x="116979" y="55394"/>
                  <a:pt x="108853" y="52388"/>
                  <a:pt x="100013" y="52388"/>
                </a:cubicBezTo>
                <a:cubicBezTo>
                  <a:pt x="98643" y="52388"/>
                  <a:pt x="97304" y="52447"/>
                  <a:pt x="95994" y="52596"/>
                </a:cubicBezTo>
                <a:cubicBezTo>
                  <a:pt x="97899" y="46940"/>
                  <a:pt x="103257" y="42863"/>
                  <a:pt x="109537" y="42863"/>
                </a:cubicBezTo>
                <a:cubicBezTo>
                  <a:pt x="117425" y="42863"/>
                  <a:pt x="123825" y="49262"/>
                  <a:pt x="123825" y="57150"/>
                </a:cubicBezTo>
                <a:close/>
                <a:moveTo>
                  <a:pt x="28575" y="152400"/>
                </a:moveTo>
                <a:cubicBezTo>
                  <a:pt x="12799" y="152400"/>
                  <a:pt x="0" y="139601"/>
                  <a:pt x="0" y="123825"/>
                </a:cubicBezTo>
                <a:cubicBezTo>
                  <a:pt x="0" y="111175"/>
                  <a:pt x="8215" y="100429"/>
                  <a:pt x="19616" y="96679"/>
                </a:cubicBezTo>
                <a:cubicBezTo>
                  <a:pt x="19229" y="94684"/>
                  <a:pt x="19050" y="92601"/>
                  <a:pt x="19050" y="90488"/>
                </a:cubicBezTo>
                <a:cubicBezTo>
                  <a:pt x="19050" y="72063"/>
                  <a:pt x="33963" y="57150"/>
                  <a:pt x="52388" y="57150"/>
                </a:cubicBezTo>
                <a:cubicBezTo>
                  <a:pt x="65216" y="57150"/>
                  <a:pt x="76349" y="64383"/>
                  <a:pt x="81915" y="75009"/>
                </a:cubicBezTo>
                <a:cubicBezTo>
                  <a:pt x="86291" y="69919"/>
                  <a:pt x="92779" y="66675"/>
                  <a:pt x="100013" y="66675"/>
                </a:cubicBezTo>
                <a:cubicBezTo>
                  <a:pt x="113169" y="66675"/>
                  <a:pt x="123825" y="77331"/>
                  <a:pt x="123825" y="90488"/>
                </a:cubicBezTo>
                <a:cubicBezTo>
                  <a:pt x="123825" y="92125"/>
                  <a:pt x="123646" y="93702"/>
                  <a:pt x="123349" y="95250"/>
                </a:cubicBezTo>
                <a:cubicBezTo>
                  <a:pt x="123498" y="95250"/>
                  <a:pt x="123676" y="95250"/>
                  <a:pt x="123825" y="95250"/>
                </a:cubicBezTo>
                <a:cubicBezTo>
                  <a:pt x="139601" y="95250"/>
                  <a:pt x="152400" y="108049"/>
                  <a:pt x="152400" y="123825"/>
                </a:cubicBezTo>
                <a:cubicBezTo>
                  <a:pt x="152400" y="139601"/>
                  <a:pt x="139601" y="152400"/>
                  <a:pt x="123825" y="152400"/>
                </a:cubicBezTo>
                <a:lnTo>
                  <a:pt x="28575" y="152400"/>
                </a:lnTo>
                <a:close/>
              </a:path>
            </a:pathLst>
          </a:custGeom>
          <a:solidFill>
            <a:srgbClr val="6366F1"/>
          </a:solidFill>
          <a:ln/>
        </p:spPr>
      </p:sp>
      <p:sp>
        <p:nvSpPr>
          <p:cNvPr id="21" name="Text 19"/>
          <p:cNvSpPr/>
          <p:nvPr/>
        </p:nvSpPr>
        <p:spPr>
          <a:xfrm>
            <a:off x="4043363" y="3756659"/>
            <a:ext cx="30194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Weather Forecasting:</a:t>
            </a:r>
            <a:r>
              <a:rPr lang="en-US" sz="1200" dirty="0">
                <a:solidFill>
                  <a:srgbClr val="EFEFEF"/>
                </a:solidFill>
                <a:latin typeface="Liter" pitchFamily="34" charset="0"/>
                <a:ea typeface="Liter" pitchFamily="34" charset="-122"/>
                <a:cs typeface="Liter" pitchFamily="34" charset="-120"/>
              </a:rPr>
              <a:t> Predict storms and climate patterns</a:t>
            </a:r>
            <a:endParaRPr lang="en-US" sz="1600" dirty="0"/>
          </a:p>
        </p:txBody>
      </p:sp>
      <p:sp>
        <p:nvSpPr>
          <p:cNvPr id="22" name="Shape 20"/>
          <p:cNvSpPr/>
          <p:nvPr/>
        </p:nvSpPr>
        <p:spPr>
          <a:xfrm>
            <a:off x="536257" y="4366259"/>
            <a:ext cx="171450" cy="152400"/>
          </a:xfrm>
          <a:custGeom>
            <a:avLst/>
            <a:gdLst/>
            <a:ahLst/>
            <a:cxnLst/>
            <a:rect l="l" t="t" r="r" b="b"/>
            <a:pathLst>
              <a:path w="171450" h="152400">
                <a:moveTo>
                  <a:pt x="26164" y="3423"/>
                </a:moveTo>
                <a:cubicBezTo>
                  <a:pt x="22800" y="1369"/>
                  <a:pt x="18395" y="2471"/>
                  <a:pt x="16341" y="5834"/>
                </a:cubicBezTo>
                <a:cubicBezTo>
                  <a:pt x="8959" y="18038"/>
                  <a:pt x="4733" y="32355"/>
                  <a:pt x="4733" y="47625"/>
                </a:cubicBezTo>
                <a:cubicBezTo>
                  <a:pt x="4733" y="62895"/>
                  <a:pt x="8959" y="77212"/>
                  <a:pt x="16341" y="89416"/>
                </a:cubicBezTo>
                <a:cubicBezTo>
                  <a:pt x="18395" y="92779"/>
                  <a:pt x="22771" y="93881"/>
                  <a:pt x="26164" y="91827"/>
                </a:cubicBezTo>
                <a:cubicBezTo>
                  <a:pt x="29557" y="89773"/>
                  <a:pt x="30629" y="85398"/>
                  <a:pt x="28575" y="82004"/>
                </a:cubicBezTo>
                <a:cubicBezTo>
                  <a:pt x="22533" y="72003"/>
                  <a:pt x="19050" y="60216"/>
                  <a:pt x="19050" y="47625"/>
                </a:cubicBezTo>
                <a:cubicBezTo>
                  <a:pt x="19050" y="35034"/>
                  <a:pt x="22533" y="23247"/>
                  <a:pt x="28605" y="13216"/>
                </a:cubicBezTo>
                <a:cubicBezTo>
                  <a:pt x="30659" y="9852"/>
                  <a:pt x="29557" y="5447"/>
                  <a:pt x="26194" y="3393"/>
                </a:cubicBezTo>
                <a:close/>
                <a:moveTo>
                  <a:pt x="145256" y="3423"/>
                </a:moveTo>
                <a:cubicBezTo>
                  <a:pt x="141893" y="5477"/>
                  <a:pt x="140791" y="9852"/>
                  <a:pt x="142845" y="13246"/>
                </a:cubicBezTo>
                <a:cubicBezTo>
                  <a:pt x="148917" y="23277"/>
                  <a:pt x="152400" y="35064"/>
                  <a:pt x="152400" y="47655"/>
                </a:cubicBezTo>
                <a:cubicBezTo>
                  <a:pt x="152400" y="60246"/>
                  <a:pt x="148917" y="72033"/>
                  <a:pt x="142845" y="82064"/>
                </a:cubicBezTo>
                <a:cubicBezTo>
                  <a:pt x="140791" y="85427"/>
                  <a:pt x="141893" y="89833"/>
                  <a:pt x="145256" y="91886"/>
                </a:cubicBezTo>
                <a:cubicBezTo>
                  <a:pt x="148620" y="93940"/>
                  <a:pt x="153025" y="92839"/>
                  <a:pt x="155079" y="89475"/>
                </a:cubicBezTo>
                <a:cubicBezTo>
                  <a:pt x="162461" y="77272"/>
                  <a:pt x="166688" y="62954"/>
                  <a:pt x="166688" y="47685"/>
                </a:cubicBezTo>
                <a:cubicBezTo>
                  <a:pt x="166688" y="32415"/>
                  <a:pt x="162461" y="18038"/>
                  <a:pt x="155079" y="5834"/>
                </a:cubicBezTo>
                <a:cubicBezTo>
                  <a:pt x="153025" y="2471"/>
                  <a:pt x="148650" y="1369"/>
                  <a:pt x="145256" y="3423"/>
                </a:cubicBezTo>
                <a:close/>
                <a:moveTo>
                  <a:pt x="95250" y="64115"/>
                </a:moveTo>
                <a:cubicBezTo>
                  <a:pt x="100935" y="60811"/>
                  <a:pt x="104775" y="54679"/>
                  <a:pt x="104775" y="47625"/>
                </a:cubicBezTo>
                <a:cubicBezTo>
                  <a:pt x="104775" y="37118"/>
                  <a:pt x="96232" y="28575"/>
                  <a:pt x="85725" y="28575"/>
                </a:cubicBezTo>
                <a:cubicBezTo>
                  <a:pt x="75218" y="28575"/>
                  <a:pt x="66675" y="37118"/>
                  <a:pt x="66675" y="47625"/>
                </a:cubicBezTo>
                <a:cubicBezTo>
                  <a:pt x="66675" y="54679"/>
                  <a:pt x="70515" y="60841"/>
                  <a:pt x="76200" y="64115"/>
                </a:cubicBezTo>
                <a:lnTo>
                  <a:pt x="76200" y="142875"/>
                </a:lnTo>
                <a:cubicBezTo>
                  <a:pt x="76200" y="148144"/>
                  <a:pt x="80456" y="152400"/>
                  <a:pt x="85725" y="152400"/>
                </a:cubicBezTo>
                <a:cubicBezTo>
                  <a:pt x="90994" y="152400"/>
                  <a:pt x="95250" y="148144"/>
                  <a:pt x="95250" y="142875"/>
                </a:cubicBezTo>
                <a:lnTo>
                  <a:pt x="95250" y="64115"/>
                </a:lnTo>
                <a:close/>
                <a:moveTo>
                  <a:pt x="53638" y="27087"/>
                </a:moveTo>
                <a:cubicBezTo>
                  <a:pt x="55781" y="23753"/>
                  <a:pt x="54799" y="19348"/>
                  <a:pt x="51495" y="17205"/>
                </a:cubicBezTo>
                <a:cubicBezTo>
                  <a:pt x="48191" y="15061"/>
                  <a:pt x="43755" y="16044"/>
                  <a:pt x="41612" y="19348"/>
                </a:cubicBezTo>
                <a:cubicBezTo>
                  <a:pt x="36374" y="27503"/>
                  <a:pt x="33338" y="37207"/>
                  <a:pt x="33338" y="47625"/>
                </a:cubicBezTo>
                <a:cubicBezTo>
                  <a:pt x="33338" y="58043"/>
                  <a:pt x="36374" y="67747"/>
                  <a:pt x="41612" y="75902"/>
                </a:cubicBezTo>
                <a:cubicBezTo>
                  <a:pt x="43755" y="79236"/>
                  <a:pt x="48161" y="80189"/>
                  <a:pt x="51495" y="78045"/>
                </a:cubicBezTo>
                <a:cubicBezTo>
                  <a:pt x="54828" y="75902"/>
                  <a:pt x="55781" y="71497"/>
                  <a:pt x="53638" y="68163"/>
                </a:cubicBezTo>
                <a:cubicBezTo>
                  <a:pt x="49828" y="62240"/>
                  <a:pt x="47625" y="55185"/>
                  <a:pt x="47625" y="47625"/>
                </a:cubicBezTo>
                <a:cubicBezTo>
                  <a:pt x="47625" y="40065"/>
                  <a:pt x="49828" y="33010"/>
                  <a:pt x="53638" y="27087"/>
                </a:cubicBezTo>
                <a:close/>
                <a:moveTo>
                  <a:pt x="129838" y="19348"/>
                </a:moveTo>
                <a:cubicBezTo>
                  <a:pt x="127695" y="16014"/>
                  <a:pt x="123289" y="15061"/>
                  <a:pt x="119955" y="17205"/>
                </a:cubicBezTo>
                <a:cubicBezTo>
                  <a:pt x="116622" y="19348"/>
                  <a:pt x="115669" y="23753"/>
                  <a:pt x="117812" y="27087"/>
                </a:cubicBezTo>
                <a:cubicBezTo>
                  <a:pt x="121622" y="33010"/>
                  <a:pt x="123825" y="40065"/>
                  <a:pt x="123825" y="47625"/>
                </a:cubicBezTo>
                <a:cubicBezTo>
                  <a:pt x="123825" y="55185"/>
                  <a:pt x="121622" y="62240"/>
                  <a:pt x="117812" y="68163"/>
                </a:cubicBezTo>
                <a:cubicBezTo>
                  <a:pt x="115669" y="71497"/>
                  <a:pt x="116651" y="75902"/>
                  <a:pt x="119955" y="78045"/>
                </a:cubicBezTo>
                <a:cubicBezTo>
                  <a:pt x="123259" y="80189"/>
                  <a:pt x="127695" y="79206"/>
                  <a:pt x="129838" y="75902"/>
                </a:cubicBezTo>
                <a:cubicBezTo>
                  <a:pt x="135076" y="67747"/>
                  <a:pt x="138113" y="58043"/>
                  <a:pt x="138113" y="47625"/>
                </a:cubicBezTo>
                <a:cubicBezTo>
                  <a:pt x="138113" y="37207"/>
                  <a:pt x="135076" y="27503"/>
                  <a:pt x="129838" y="19348"/>
                </a:cubicBezTo>
                <a:close/>
              </a:path>
            </a:pathLst>
          </a:custGeom>
          <a:solidFill>
            <a:srgbClr val="6366F1"/>
          </a:solidFill>
          <a:ln/>
        </p:spPr>
      </p:sp>
      <p:sp>
        <p:nvSpPr>
          <p:cNvPr id="23" name="Text 21"/>
          <p:cNvSpPr/>
          <p:nvPr/>
        </p:nvSpPr>
        <p:spPr>
          <a:xfrm>
            <a:off x="775930" y="4328159"/>
            <a:ext cx="3009900"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Communication:</a:t>
            </a:r>
            <a:r>
              <a:rPr lang="en-US" sz="1200" dirty="0">
                <a:solidFill>
                  <a:srgbClr val="EFEFEF"/>
                </a:solidFill>
                <a:latin typeface="Liter" pitchFamily="34" charset="0"/>
                <a:ea typeface="Liter" pitchFamily="34" charset="-122"/>
                <a:cs typeface="Liter" pitchFamily="34" charset="-120"/>
              </a:rPr>
              <a:t> TV signals, internet, and phone calls</a:t>
            </a:r>
            <a:endParaRPr lang="en-US" sz="1600" dirty="0"/>
          </a:p>
        </p:txBody>
      </p:sp>
      <p:sp>
        <p:nvSpPr>
          <p:cNvPr id="24" name="Shape 22"/>
          <p:cNvSpPr/>
          <p:nvPr/>
        </p:nvSpPr>
        <p:spPr>
          <a:xfrm>
            <a:off x="3826193" y="4366259"/>
            <a:ext cx="152400" cy="152400"/>
          </a:xfrm>
          <a:custGeom>
            <a:avLst/>
            <a:gdLst/>
            <a:ahLst/>
            <a:cxnLst/>
            <a:rect l="l" t="t" r="r" b="b"/>
            <a:pathLst>
              <a:path w="152400" h="152400">
                <a:moveTo>
                  <a:pt x="104745" y="83344"/>
                </a:moveTo>
                <a:lnTo>
                  <a:pt x="47923" y="83344"/>
                </a:lnTo>
                <a:cubicBezTo>
                  <a:pt x="48786" y="102543"/>
                  <a:pt x="53042" y="120223"/>
                  <a:pt x="59085" y="133171"/>
                </a:cubicBezTo>
                <a:cubicBezTo>
                  <a:pt x="62478" y="140464"/>
                  <a:pt x="66139" y="145613"/>
                  <a:pt x="69533" y="148769"/>
                </a:cubicBezTo>
                <a:cubicBezTo>
                  <a:pt x="72866" y="151894"/>
                  <a:pt x="75158" y="152400"/>
                  <a:pt x="76349" y="152400"/>
                </a:cubicBezTo>
                <a:cubicBezTo>
                  <a:pt x="77539" y="152400"/>
                  <a:pt x="79831" y="151894"/>
                  <a:pt x="83165" y="148769"/>
                </a:cubicBezTo>
                <a:cubicBezTo>
                  <a:pt x="86558" y="145613"/>
                  <a:pt x="90220" y="140434"/>
                  <a:pt x="93613" y="133171"/>
                </a:cubicBezTo>
                <a:cubicBezTo>
                  <a:pt x="99655" y="120223"/>
                  <a:pt x="103912" y="102543"/>
                  <a:pt x="104775" y="83344"/>
                </a:cubicBezTo>
                <a:close/>
                <a:moveTo>
                  <a:pt x="47893" y="69056"/>
                </a:moveTo>
                <a:lnTo>
                  <a:pt x="104715" y="69056"/>
                </a:lnTo>
                <a:cubicBezTo>
                  <a:pt x="103882" y="49857"/>
                  <a:pt x="99626" y="32177"/>
                  <a:pt x="93583" y="19229"/>
                </a:cubicBezTo>
                <a:cubicBezTo>
                  <a:pt x="90190" y="11966"/>
                  <a:pt x="86529" y="6787"/>
                  <a:pt x="83135" y="3631"/>
                </a:cubicBezTo>
                <a:cubicBezTo>
                  <a:pt x="79802" y="506"/>
                  <a:pt x="77510" y="0"/>
                  <a:pt x="76319" y="0"/>
                </a:cubicBezTo>
                <a:cubicBezTo>
                  <a:pt x="75128" y="0"/>
                  <a:pt x="72836" y="506"/>
                  <a:pt x="69503" y="3631"/>
                </a:cubicBezTo>
                <a:cubicBezTo>
                  <a:pt x="66109" y="6787"/>
                  <a:pt x="62448" y="11966"/>
                  <a:pt x="59055" y="19229"/>
                </a:cubicBezTo>
                <a:cubicBezTo>
                  <a:pt x="53013" y="32177"/>
                  <a:pt x="48756" y="49857"/>
                  <a:pt x="47893" y="69056"/>
                </a:cubicBezTo>
                <a:close/>
                <a:moveTo>
                  <a:pt x="33605" y="69056"/>
                </a:moveTo>
                <a:cubicBezTo>
                  <a:pt x="34647" y="43577"/>
                  <a:pt x="41225" y="19913"/>
                  <a:pt x="50840" y="4376"/>
                </a:cubicBezTo>
                <a:cubicBezTo>
                  <a:pt x="23426" y="14079"/>
                  <a:pt x="3244" y="39052"/>
                  <a:pt x="446" y="69056"/>
                </a:cubicBezTo>
                <a:lnTo>
                  <a:pt x="33605" y="69056"/>
                </a:lnTo>
                <a:close/>
                <a:moveTo>
                  <a:pt x="446" y="83344"/>
                </a:moveTo>
                <a:cubicBezTo>
                  <a:pt x="3244" y="113348"/>
                  <a:pt x="23426" y="138321"/>
                  <a:pt x="50840" y="148024"/>
                </a:cubicBezTo>
                <a:cubicBezTo>
                  <a:pt x="41225" y="132487"/>
                  <a:pt x="34647" y="108823"/>
                  <a:pt x="33605" y="83344"/>
                </a:cubicBezTo>
                <a:lnTo>
                  <a:pt x="446" y="83344"/>
                </a:lnTo>
                <a:close/>
                <a:moveTo>
                  <a:pt x="119033" y="83344"/>
                </a:moveTo>
                <a:cubicBezTo>
                  <a:pt x="117991" y="108823"/>
                  <a:pt x="111413" y="132487"/>
                  <a:pt x="101798" y="148024"/>
                </a:cubicBezTo>
                <a:cubicBezTo>
                  <a:pt x="129213" y="138291"/>
                  <a:pt x="149394" y="113348"/>
                  <a:pt x="152192" y="83344"/>
                </a:cubicBezTo>
                <a:lnTo>
                  <a:pt x="119033" y="83344"/>
                </a:lnTo>
                <a:close/>
                <a:moveTo>
                  <a:pt x="152192" y="69056"/>
                </a:moveTo>
                <a:cubicBezTo>
                  <a:pt x="149394" y="39052"/>
                  <a:pt x="129213" y="14079"/>
                  <a:pt x="101798" y="4376"/>
                </a:cubicBezTo>
                <a:cubicBezTo>
                  <a:pt x="111413" y="19913"/>
                  <a:pt x="117991" y="43577"/>
                  <a:pt x="119033" y="69056"/>
                </a:cubicBezTo>
                <a:lnTo>
                  <a:pt x="152192" y="69056"/>
                </a:lnTo>
                <a:close/>
              </a:path>
            </a:pathLst>
          </a:custGeom>
          <a:solidFill>
            <a:srgbClr val="6366F1"/>
          </a:solidFill>
          <a:ln/>
        </p:spPr>
      </p:sp>
      <p:sp>
        <p:nvSpPr>
          <p:cNvPr id="25" name="Text 23"/>
          <p:cNvSpPr/>
          <p:nvPr/>
        </p:nvSpPr>
        <p:spPr>
          <a:xfrm>
            <a:off x="4062412" y="4328159"/>
            <a:ext cx="300037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Global Coverage:</a:t>
            </a:r>
            <a:r>
              <a:rPr lang="en-US" sz="1200" dirty="0">
                <a:solidFill>
                  <a:srgbClr val="EFEFEF"/>
                </a:solidFill>
                <a:latin typeface="Liter" pitchFamily="34" charset="0"/>
                <a:ea typeface="Liter" pitchFamily="34" charset="-122"/>
                <a:cs typeface="Liter" pitchFamily="34" charset="-120"/>
              </a:rPr>
              <a:t> Connect remote areas worldwide</a:t>
            </a:r>
            <a:endParaRPr lang="en-US" sz="1600" dirty="0"/>
          </a:p>
        </p:txBody>
      </p:sp>
      <p:sp>
        <p:nvSpPr>
          <p:cNvPr id="26" name="Shape 24"/>
          <p:cNvSpPr/>
          <p:nvPr/>
        </p:nvSpPr>
        <p:spPr>
          <a:xfrm>
            <a:off x="384810" y="5703569"/>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27" name="Text 25"/>
          <p:cNvSpPr/>
          <p:nvPr/>
        </p:nvSpPr>
        <p:spPr>
          <a:xfrm>
            <a:off x="541020" y="5859782"/>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Supermarket self-checkout machines use barcode scanners, and Google Maps uses satellites to show your location!</a:t>
            </a:r>
            <a:endParaRPr lang="en-US" sz="1600" dirty="0"/>
          </a:p>
        </p:txBody>
      </p:sp>
      <p:sp>
        <p:nvSpPr>
          <p:cNvPr id="28" name="Shape 26"/>
          <p:cNvSpPr/>
          <p:nvPr/>
        </p:nvSpPr>
        <p:spPr>
          <a:xfrm>
            <a:off x="7379970" y="384810"/>
            <a:ext cx="4427220" cy="4627245"/>
          </a:xfrm>
          <a:custGeom>
            <a:avLst/>
            <a:gdLst/>
            <a:ahLst/>
            <a:cxnLst/>
            <a:rect l="l" t="t" r="r" b="b"/>
            <a:pathLst>
              <a:path w="4427220" h="4627245">
                <a:moveTo>
                  <a:pt x="114311" y="0"/>
                </a:moveTo>
                <a:lnTo>
                  <a:pt x="4312909" y="0"/>
                </a:lnTo>
                <a:cubicBezTo>
                  <a:pt x="4376041" y="0"/>
                  <a:pt x="4427220" y="51179"/>
                  <a:pt x="4427220" y="114311"/>
                </a:cubicBezTo>
                <a:lnTo>
                  <a:pt x="4427220" y="4512934"/>
                </a:lnTo>
                <a:cubicBezTo>
                  <a:pt x="4427220" y="4576066"/>
                  <a:pt x="4376041" y="4627245"/>
                  <a:pt x="4312909" y="4627245"/>
                </a:cubicBezTo>
                <a:lnTo>
                  <a:pt x="114311" y="4627245"/>
                </a:lnTo>
                <a:cubicBezTo>
                  <a:pt x="51179" y="4627245"/>
                  <a:pt x="0" y="4576066"/>
                  <a:pt x="0" y="4512934"/>
                </a:cubicBezTo>
                <a:lnTo>
                  <a:pt x="0" y="114311"/>
                </a:lnTo>
                <a:cubicBezTo>
                  <a:pt x="0" y="51179"/>
                  <a:pt x="51179" y="0"/>
                  <a:pt x="114311" y="0"/>
                </a:cubicBezTo>
                <a:close/>
              </a:path>
            </a:pathLst>
          </a:custGeom>
          <a:solidFill>
            <a:srgbClr val="262626"/>
          </a:solidFill>
          <a:ln w="10160">
            <a:solidFill>
              <a:srgbClr val="333333"/>
            </a:solidFill>
            <a:prstDash val="solid"/>
          </a:ln>
        </p:spPr>
      </p:sp>
      <p:pic>
        <p:nvPicPr>
          <p:cNvPr id="29" name="Image 0" descr="https://kimi-web-img.moonshot.cn/img/www.advancednavigation.com/d5da2ef4c15f6ce2099076410dac0f9de102bb5b.jpg"/>
          <p:cNvPicPr>
            <a:picLocks noChangeAspect="1"/>
          </p:cNvPicPr>
          <p:nvPr/>
        </p:nvPicPr>
        <p:blipFill>
          <a:blip r:embed="rId3"/>
          <a:srcRect l="23071" r="23071"/>
          <a:stretch/>
        </p:blipFill>
        <p:spPr>
          <a:xfrm>
            <a:off x="7383780" y="388623"/>
            <a:ext cx="4419600" cy="4619625"/>
          </a:xfrm>
          <a:prstGeom prst="roundRect">
            <a:avLst>
              <a:gd name="adj" fmla="val 2586"/>
            </a:avLst>
          </a:prstGeom>
        </p:spPr>
      </p:pic>
      <p:sp>
        <p:nvSpPr>
          <p:cNvPr id="30" name="Shape 27"/>
          <p:cNvSpPr/>
          <p:nvPr/>
        </p:nvSpPr>
        <p:spPr>
          <a:xfrm>
            <a:off x="7379970" y="5170169"/>
            <a:ext cx="4427220" cy="1303020"/>
          </a:xfrm>
          <a:custGeom>
            <a:avLst/>
            <a:gdLst/>
            <a:ahLst/>
            <a:cxnLst/>
            <a:rect l="l" t="t" r="r" b="b"/>
            <a:pathLst>
              <a:path w="4427220" h="1303020">
                <a:moveTo>
                  <a:pt x="76201" y="0"/>
                </a:moveTo>
                <a:lnTo>
                  <a:pt x="4351019" y="0"/>
                </a:lnTo>
                <a:cubicBezTo>
                  <a:pt x="4393104" y="0"/>
                  <a:pt x="4427220" y="34116"/>
                  <a:pt x="4427220" y="76201"/>
                </a:cubicBezTo>
                <a:lnTo>
                  <a:pt x="4427220" y="1226819"/>
                </a:lnTo>
                <a:cubicBezTo>
                  <a:pt x="4427220" y="1268904"/>
                  <a:pt x="4393104" y="1303020"/>
                  <a:pt x="4351019" y="1303020"/>
                </a:cubicBezTo>
                <a:lnTo>
                  <a:pt x="76201" y="1303020"/>
                </a:lnTo>
                <a:cubicBezTo>
                  <a:pt x="34116" y="1303020"/>
                  <a:pt x="0" y="1268904"/>
                  <a:pt x="0" y="1226819"/>
                </a:cubicBezTo>
                <a:lnTo>
                  <a:pt x="0" y="76201"/>
                </a:lnTo>
                <a:cubicBezTo>
                  <a:pt x="0" y="34144"/>
                  <a:pt x="34144" y="0"/>
                  <a:pt x="76201" y="0"/>
                </a:cubicBezTo>
                <a:close/>
              </a:path>
            </a:pathLst>
          </a:custGeom>
          <a:solidFill>
            <a:srgbClr val="6366F1">
              <a:alpha val="10196"/>
            </a:srgbClr>
          </a:solidFill>
          <a:ln w="10160">
            <a:solidFill>
              <a:srgbClr val="6366F1">
                <a:alpha val="30196"/>
              </a:srgbClr>
            </a:solidFill>
            <a:prstDash val="solid"/>
          </a:ln>
        </p:spPr>
      </p:sp>
      <p:sp>
        <p:nvSpPr>
          <p:cNvPr id="31" name="Text 28"/>
          <p:cNvSpPr/>
          <p:nvPr/>
        </p:nvSpPr>
        <p:spPr>
          <a:xfrm>
            <a:off x="7536180" y="5326382"/>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32" name="Text 29"/>
          <p:cNvSpPr/>
          <p:nvPr/>
        </p:nvSpPr>
        <p:spPr>
          <a:xfrm>
            <a:off x="7536180" y="5631182"/>
            <a:ext cx="41910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Satellites are like eyes in the sky that watch over Earth. They help us navigate, predict weather, and stay connected no matter where we are.</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91919"/>
        </a:solidFill>
        <a:effectLst/>
      </p:bgPr>
    </p:bg>
    <p:spTree>
      <p:nvGrpSpPr>
        <p:cNvPr id="1" name=""/>
        <p:cNvGrpSpPr/>
        <p:nvPr/>
      </p:nvGrpSpPr>
      <p:grpSpPr>
        <a:xfrm>
          <a:off x="0" y="0"/>
          <a:ext cx="0" cy="0"/>
          <a:chOff x="0" y="0"/>
          <a:chExt cx="0" cy="0"/>
        </a:xfrm>
      </p:grpSpPr>
      <p:pic>
        <p:nvPicPr>
          <p:cNvPr id="2" name="Image 0" descr="https://kimi-web-img.moonshot.cn/img/media.geeksforgeeks.org/d9cd2d0759d6e085d333b7f94b1ade92585c8bb8.webp"/>
          <p:cNvPicPr>
            <a:picLocks noChangeAspect="1"/>
          </p:cNvPicPr>
          <p:nvPr/>
        </p:nvPicPr>
        <p:blipFill>
          <a:blip r:embed="rId3">
            <a:alphaModFix amt="20000"/>
          </a:blip>
          <a:srcRect t="4381" b="438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91919"/>
              </a:gs>
              <a:gs pos="50000">
                <a:srgbClr val="191919">
                  <a:alpha val="95000"/>
                </a:srgbClr>
              </a:gs>
              <a:gs pos="100000">
                <a:srgbClr val="191919">
                  <a:alpha val="70000"/>
                </a:srgbClr>
              </a:gs>
            </a:gsLst>
            <a:lin ang="0" scaled="1"/>
          </a:gradFill>
          <a:ln/>
        </p:spPr>
      </p:sp>
      <p:sp>
        <p:nvSpPr>
          <p:cNvPr id="4" name="Shape 1"/>
          <p:cNvSpPr/>
          <p:nvPr/>
        </p:nvSpPr>
        <p:spPr>
          <a:xfrm>
            <a:off x="384810" y="1601154"/>
            <a:ext cx="2207895" cy="426720"/>
          </a:xfrm>
          <a:custGeom>
            <a:avLst/>
            <a:gdLst/>
            <a:ahLst/>
            <a:cxnLst/>
            <a:rect l="l" t="t" r="r" b="b"/>
            <a:pathLst>
              <a:path w="2207895" h="426720">
                <a:moveTo>
                  <a:pt x="213360" y="0"/>
                </a:moveTo>
                <a:lnTo>
                  <a:pt x="1994535" y="0"/>
                </a:lnTo>
                <a:cubicBezTo>
                  <a:pt x="2112370" y="0"/>
                  <a:pt x="2207895" y="95525"/>
                  <a:pt x="2207895" y="213360"/>
                </a:cubicBezTo>
                <a:lnTo>
                  <a:pt x="2207895" y="213360"/>
                </a:lnTo>
                <a:cubicBezTo>
                  <a:pt x="2207895" y="331195"/>
                  <a:pt x="2112370" y="426720"/>
                  <a:pt x="1994535" y="426720"/>
                </a:cubicBezTo>
                <a:lnTo>
                  <a:pt x="213360" y="426720"/>
                </a:lnTo>
                <a:cubicBezTo>
                  <a:pt x="95603" y="426720"/>
                  <a:pt x="0" y="331117"/>
                  <a:pt x="0" y="213360"/>
                </a:cubicBezTo>
                <a:lnTo>
                  <a:pt x="0" y="213360"/>
                </a:lnTo>
                <a:cubicBezTo>
                  <a:pt x="0" y="95603"/>
                  <a:pt x="95603" y="0"/>
                  <a:pt x="213360" y="0"/>
                </a:cubicBezTo>
                <a:close/>
              </a:path>
            </a:pathLst>
          </a:custGeom>
          <a:solidFill>
            <a:srgbClr val="6366F1">
              <a:alpha val="20000"/>
            </a:srgbClr>
          </a:solidFill>
          <a:ln w="10160">
            <a:solidFill>
              <a:srgbClr val="6366F1">
                <a:alpha val="40000"/>
              </a:srgbClr>
            </a:solidFill>
            <a:prstDash val="solid"/>
          </a:ln>
        </p:spPr>
      </p:sp>
      <p:sp>
        <p:nvSpPr>
          <p:cNvPr id="5" name="Text 2"/>
          <p:cNvSpPr/>
          <p:nvPr/>
        </p:nvSpPr>
        <p:spPr>
          <a:xfrm>
            <a:off x="617220" y="1688785"/>
            <a:ext cx="1833086" cy="243840"/>
          </a:xfrm>
          <a:prstGeom prst="rect">
            <a:avLst/>
          </a:prstGeom>
          <a:noFill/>
          <a:ln/>
        </p:spPr>
        <p:txBody>
          <a:bodyPr wrap="square" lIns="0" tIns="0" rIns="0" bIns="0" rtlCol="0" anchor="ctr"/>
          <a:lstStyle/>
          <a:p>
            <a:pPr>
              <a:lnSpc>
                <a:spcPct val="130000"/>
              </a:lnSpc>
            </a:pPr>
            <a:r>
              <a:rPr lang="en-US" sz="1350" b="1" kern="0" spc="68" dirty="0">
                <a:solidFill>
                  <a:srgbClr val="6366F1"/>
                </a:solidFill>
                <a:latin typeface="Liter" pitchFamily="34" charset="0"/>
                <a:ea typeface="Liter" pitchFamily="34" charset="-122"/>
                <a:cs typeface="Liter" pitchFamily="34" charset="-120"/>
              </a:rPr>
              <a:t>LECTURE 2 • WEEK 1</a:t>
            </a:r>
            <a:endParaRPr lang="en-US" sz="1600" dirty="0"/>
          </a:p>
        </p:txBody>
      </p:sp>
      <p:sp>
        <p:nvSpPr>
          <p:cNvPr id="6" name="Text 3"/>
          <p:cNvSpPr/>
          <p:nvPr/>
        </p:nvSpPr>
        <p:spPr>
          <a:xfrm>
            <a:off x="381000" y="2260285"/>
            <a:ext cx="7658100" cy="1714500"/>
          </a:xfrm>
          <a:prstGeom prst="rect">
            <a:avLst/>
          </a:prstGeom>
          <a:noFill/>
          <a:ln/>
        </p:spPr>
        <p:txBody>
          <a:bodyPr wrap="square" lIns="0" tIns="0" rIns="0" bIns="0" rtlCol="0" anchor="ctr"/>
          <a:lstStyle/>
          <a:p>
            <a:pPr>
              <a:lnSpc>
                <a:spcPct val="100000"/>
              </a:lnSpc>
            </a:pPr>
            <a:r>
              <a:rPr lang="en-US" sz="5400" b="1" dirty="0">
                <a:solidFill>
                  <a:srgbClr val="EFEFEF"/>
                </a:solidFill>
                <a:latin typeface="Liter" pitchFamily="34" charset="0"/>
                <a:ea typeface="Liter" pitchFamily="34" charset="-122"/>
                <a:cs typeface="Liter" pitchFamily="34" charset="-120"/>
              </a:rPr>
              <a:t>Main Components</a:t>
            </a:r>
            <a:endParaRPr lang="en-US" sz="1600" dirty="0"/>
          </a:p>
          <a:p>
            <a:pPr>
              <a:lnSpc>
                <a:spcPct val="100000"/>
              </a:lnSpc>
            </a:pPr>
            <a:r>
              <a:rPr lang="en-US" sz="5400" b="1" dirty="0">
                <a:solidFill>
                  <a:srgbClr val="EFEFEF"/>
                </a:solidFill>
                <a:latin typeface="Liter" pitchFamily="34" charset="0"/>
                <a:ea typeface="Liter" pitchFamily="34" charset="-122"/>
                <a:cs typeface="Liter" pitchFamily="34" charset="-120"/>
              </a:rPr>
              <a:t>of </a:t>
            </a:r>
            <a:r>
              <a:rPr lang="en-US" sz="5400" b="1" dirty="0">
                <a:solidFill>
                  <a:srgbClr val="6366F1"/>
                </a:solidFill>
                <a:latin typeface="Liter" pitchFamily="34" charset="0"/>
                <a:ea typeface="Liter" pitchFamily="34" charset="-122"/>
                <a:cs typeface="Liter" pitchFamily="34" charset="-120"/>
              </a:rPr>
              <a:t>Computer Systems</a:t>
            </a:r>
            <a:endParaRPr lang="en-US" sz="1600" dirty="0"/>
          </a:p>
        </p:txBody>
      </p:sp>
      <p:sp>
        <p:nvSpPr>
          <p:cNvPr id="7" name="Text 4"/>
          <p:cNvSpPr/>
          <p:nvPr/>
        </p:nvSpPr>
        <p:spPr>
          <a:xfrm>
            <a:off x="381000" y="4203381"/>
            <a:ext cx="6515100" cy="371475"/>
          </a:xfrm>
          <a:prstGeom prst="rect">
            <a:avLst/>
          </a:prstGeom>
          <a:noFill/>
          <a:ln/>
        </p:spPr>
        <p:txBody>
          <a:bodyPr wrap="square" lIns="0" tIns="0" rIns="0" bIns="0" rtlCol="0" anchor="ctr"/>
          <a:lstStyle/>
          <a:p>
            <a:pPr>
              <a:lnSpc>
                <a:spcPct val="140000"/>
              </a:lnSpc>
            </a:pPr>
            <a:r>
              <a:rPr lang="en-US" sz="1800" dirty="0">
                <a:solidFill>
                  <a:srgbClr val="8F8F8F"/>
                </a:solidFill>
                <a:latin typeface="Liter" pitchFamily="34" charset="0"/>
                <a:ea typeface="Liter" pitchFamily="34" charset="-122"/>
                <a:cs typeface="Liter" pitchFamily="34" charset="-120"/>
              </a:rPr>
              <a:t>Breaking down the essential parts that make computers work</a:t>
            </a:r>
            <a:endParaRPr lang="en-US" sz="1600" dirty="0"/>
          </a:p>
        </p:txBody>
      </p:sp>
      <p:sp>
        <p:nvSpPr>
          <p:cNvPr id="8" name="Shape 5"/>
          <p:cNvSpPr/>
          <p:nvPr/>
        </p:nvSpPr>
        <p:spPr>
          <a:xfrm>
            <a:off x="381000" y="5127306"/>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6366F1"/>
          </a:solidFill>
          <a:ln/>
        </p:spPr>
      </p:sp>
      <p:sp>
        <p:nvSpPr>
          <p:cNvPr id="9" name="Text 6"/>
          <p:cNvSpPr/>
          <p:nvPr/>
        </p:nvSpPr>
        <p:spPr>
          <a:xfrm>
            <a:off x="1143000" y="5032056"/>
            <a:ext cx="6477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5 Topics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2.1</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Main Components Overview</a:t>
            </a:r>
            <a:endParaRPr lang="en-US" sz="1600" dirty="0"/>
          </a:p>
        </p:txBody>
      </p:sp>
      <p:sp>
        <p:nvSpPr>
          <p:cNvPr id="4" name="Shape 2"/>
          <p:cNvSpPr/>
          <p:nvPr/>
        </p:nvSpPr>
        <p:spPr>
          <a:xfrm>
            <a:off x="384810" y="1261110"/>
            <a:ext cx="5589270" cy="1417320"/>
          </a:xfrm>
          <a:custGeom>
            <a:avLst/>
            <a:gdLst/>
            <a:ahLst/>
            <a:cxnLst/>
            <a:rect l="l" t="t" r="r" b="b"/>
            <a:pathLst>
              <a:path w="5589270" h="1417320">
                <a:moveTo>
                  <a:pt x="114307" y="0"/>
                </a:moveTo>
                <a:lnTo>
                  <a:pt x="5474963" y="0"/>
                </a:lnTo>
                <a:cubicBezTo>
                  <a:pt x="5538051" y="0"/>
                  <a:pt x="5589270" y="51219"/>
                  <a:pt x="5589270" y="114307"/>
                </a:cubicBezTo>
                <a:lnTo>
                  <a:pt x="5589270" y="1303013"/>
                </a:lnTo>
                <a:cubicBezTo>
                  <a:pt x="5589270" y="1366101"/>
                  <a:pt x="5538051" y="1417320"/>
                  <a:pt x="5474963" y="1417320"/>
                </a:cubicBezTo>
                <a:lnTo>
                  <a:pt x="114307" y="1417320"/>
                </a:lnTo>
                <a:cubicBezTo>
                  <a:pt x="51219" y="1417320"/>
                  <a:pt x="0" y="1366101"/>
                  <a:pt x="0" y="1303013"/>
                </a:cubicBezTo>
                <a:lnTo>
                  <a:pt x="0" y="114307"/>
                </a:lnTo>
                <a:cubicBezTo>
                  <a:pt x="0" y="51219"/>
                  <a:pt x="51219" y="0"/>
                  <a:pt x="114307" y="0"/>
                </a:cubicBezTo>
                <a:close/>
              </a:path>
            </a:pathLst>
          </a:custGeom>
          <a:solidFill>
            <a:srgbClr val="262626"/>
          </a:solidFill>
          <a:ln w="10160">
            <a:solidFill>
              <a:srgbClr val="333333"/>
            </a:solidFill>
            <a:prstDash val="solid"/>
          </a:ln>
        </p:spPr>
      </p:sp>
      <p:sp>
        <p:nvSpPr>
          <p:cNvPr id="5" name="Shape 3"/>
          <p:cNvSpPr/>
          <p:nvPr/>
        </p:nvSpPr>
        <p:spPr>
          <a:xfrm>
            <a:off x="579120" y="14554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6" name="Shape 4"/>
          <p:cNvSpPr/>
          <p:nvPr/>
        </p:nvSpPr>
        <p:spPr>
          <a:xfrm>
            <a:off x="683895" y="1569718"/>
            <a:ext cx="171450" cy="152400"/>
          </a:xfrm>
          <a:custGeom>
            <a:avLst/>
            <a:gdLst/>
            <a:ahLst/>
            <a:cxnLst/>
            <a:rect l="l" t="t" r="r" b="b"/>
            <a:pathLst>
              <a:path w="171450" h="152400">
                <a:moveTo>
                  <a:pt x="19050" y="19050"/>
                </a:moveTo>
                <a:cubicBezTo>
                  <a:pt x="8543" y="19050"/>
                  <a:pt x="0" y="27593"/>
                  <a:pt x="0" y="38100"/>
                </a:cubicBezTo>
                <a:lnTo>
                  <a:pt x="0" y="114300"/>
                </a:lnTo>
                <a:cubicBezTo>
                  <a:pt x="0" y="124807"/>
                  <a:pt x="8543" y="133350"/>
                  <a:pt x="19050" y="133350"/>
                </a:cubicBezTo>
                <a:lnTo>
                  <a:pt x="152400" y="133350"/>
                </a:lnTo>
                <a:cubicBezTo>
                  <a:pt x="162907" y="133350"/>
                  <a:pt x="171450" y="124807"/>
                  <a:pt x="171450" y="114300"/>
                </a:cubicBezTo>
                <a:lnTo>
                  <a:pt x="171450" y="38100"/>
                </a:lnTo>
                <a:cubicBezTo>
                  <a:pt x="171450" y="27593"/>
                  <a:pt x="162907" y="19050"/>
                  <a:pt x="152400" y="19050"/>
                </a:cubicBezTo>
                <a:lnTo>
                  <a:pt x="19050" y="19050"/>
                </a:lnTo>
                <a:close/>
                <a:moveTo>
                  <a:pt x="23813" y="38100"/>
                </a:moveTo>
                <a:lnTo>
                  <a:pt x="33338" y="38100"/>
                </a:lnTo>
                <a:cubicBezTo>
                  <a:pt x="35957" y="38100"/>
                  <a:pt x="38100" y="40243"/>
                  <a:pt x="38100" y="42863"/>
                </a:cubicBezTo>
                <a:lnTo>
                  <a:pt x="38100" y="52388"/>
                </a:lnTo>
                <a:cubicBezTo>
                  <a:pt x="38100" y="55007"/>
                  <a:pt x="35957" y="57150"/>
                  <a:pt x="33338" y="57150"/>
                </a:cubicBezTo>
                <a:lnTo>
                  <a:pt x="23813" y="57150"/>
                </a:lnTo>
                <a:cubicBezTo>
                  <a:pt x="21193" y="57150"/>
                  <a:pt x="19050" y="55007"/>
                  <a:pt x="19050" y="52388"/>
                </a:cubicBezTo>
                <a:lnTo>
                  <a:pt x="19050" y="42863"/>
                </a:lnTo>
                <a:cubicBezTo>
                  <a:pt x="19050" y="40243"/>
                  <a:pt x="21193" y="38100"/>
                  <a:pt x="23813" y="38100"/>
                </a:cubicBezTo>
                <a:close/>
                <a:moveTo>
                  <a:pt x="19050" y="71438"/>
                </a:moveTo>
                <a:cubicBezTo>
                  <a:pt x="19050" y="68818"/>
                  <a:pt x="21193" y="66675"/>
                  <a:pt x="23813" y="66675"/>
                </a:cubicBezTo>
                <a:lnTo>
                  <a:pt x="33338" y="66675"/>
                </a:lnTo>
                <a:cubicBezTo>
                  <a:pt x="35957" y="66675"/>
                  <a:pt x="38100" y="68818"/>
                  <a:pt x="38100" y="71438"/>
                </a:cubicBezTo>
                <a:lnTo>
                  <a:pt x="38100" y="80962"/>
                </a:lnTo>
                <a:cubicBezTo>
                  <a:pt x="38100" y="83582"/>
                  <a:pt x="35957" y="85725"/>
                  <a:pt x="33338" y="85725"/>
                </a:cubicBezTo>
                <a:lnTo>
                  <a:pt x="23813" y="85725"/>
                </a:lnTo>
                <a:cubicBezTo>
                  <a:pt x="21193" y="85725"/>
                  <a:pt x="19050" y="83582"/>
                  <a:pt x="19050" y="80962"/>
                </a:cubicBezTo>
                <a:lnTo>
                  <a:pt x="19050" y="71438"/>
                </a:lnTo>
                <a:close/>
                <a:moveTo>
                  <a:pt x="52388" y="38100"/>
                </a:moveTo>
                <a:lnTo>
                  <a:pt x="61912" y="38100"/>
                </a:lnTo>
                <a:cubicBezTo>
                  <a:pt x="64532" y="38100"/>
                  <a:pt x="66675" y="40243"/>
                  <a:pt x="66675" y="42863"/>
                </a:cubicBezTo>
                <a:lnTo>
                  <a:pt x="66675" y="52388"/>
                </a:lnTo>
                <a:cubicBezTo>
                  <a:pt x="66675" y="55007"/>
                  <a:pt x="64532" y="57150"/>
                  <a:pt x="61912" y="57150"/>
                </a:cubicBezTo>
                <a:lnTo>
                  <a:pt x="52388" y="57150"/>
                </a:lnTo>
                <a:cubicBezTo>
                  <a:pt x="49768" y="57150"/>
                  <a:pt x="47625" y="55007"/>
                  <a:pt x="47625" y="52388"/>
                </a:cubicBezTo>
                <a:lnTo>
                  <a:pt x="47625" y="42863"/>
                </a:lnTo>
                <a:cubicBezTo>
                  <a:pt x="47625" y="40243"/>
                  <a:pt x="49768" y="38100"/>
                  <a:pt x="52388" y="38100"/>
                </a:cubicBezTo>
                <a:close/>
                <a:moveTo>
                  <a:pt x="47625" y="71438"/>
                </a:moveTo>
                <a:cubicBezTo>
                  <a:pt x="47625" y="68818"/>
                  <a:pt x="49768" y="66675"/>
                  <a:pt x="52388" y="66675"/>
                </a:cubicBezTo>
                <a:lnTo>
                  <a:pt x="61912" y="66675"/>
                </a:lnTo>
                <a:cubicBezTo>
                  <a:pt x="64532" y="66675"/>
                  <a:pt x="66675" y="68818"/>
                  <a:pt x="66675" y="71438"/>
                </a:cubicBezTo>
                <a:lnTo>
                  <a:pt x="66675" y="80962"/>
                </a:lnTo>
                <a:cubicBezTo>
                  <a:pt x="66675" y="83582"/>
                  <a:pt x="64532" y="85725"/>
                  <a:pt x="61912" y="85725"/>
                </a:cubicBezTo>
                <a:lnTo>
                  <a:pt x="52388" y="85725"/>
                </a:lnTo>
                <a:cubicBezTo>
                  <a:pt x="49768" y="85725"/>
                  <a:pt x="47625" y="83582"/>
                  <a:pt x="47625" y="80962"/>
                </a:cubicBezTo>
                <a:lnTo>
                  <a:pt x="47625" y="71438"/>
                </a:lnTo>
                <a:close/>
                <a:moveTo>
                  <a:pt x="52388" y="95250"/>
                </a:moveTo>
                <a:lnTo>
                  <a:pt x="119062" y="95250"/>
                </a:lnTo>
                <a:cubicBezTo>
                  <a:pt x="121682" y="95250"/>
                  <a:pt x="123825" y="97393"/>
                  <a:pt x="123825" y="100013"/>
                </a:cubicBezTo>
                <a:lnTo>
                  <a:pt x="123825" y="109537"/>
                </a:lnTo>
                <a:cubicBezTo>
                  <a:pt x="123825" y="112157"/>
                  <a:pt x="121682" y="114300"/>
                  <a:pt x="119062" y="114300"/>
                </a:cubicBezTo>
                <a:lnTo>
                  <a:pt x="52388" y="114300"/>
                </a:lnTo>
                <a:cubicBezTo>
                  <a:pt x="49768" y="114300"/>
                  <a:pt x="47625" y="112157"/>
                  <a:pt x="47625" y="109537"/>
                </a:cubicBezTo>
                <a:lnTo>
                  <a:pt x="47625" y="100013"/>
                </a:lnTo>
                <a:cubicBezTo>
                  <a:pt x="47625" y="97393"/>
                  <a:pt x="49768" y="95250"/>
                  <a:pt x="52388" y="95250"/>
                </a:cubicBezTo>
                <a:close/>
                <a:moveTo>
                  <a:pt x="76200" y="42863"/>
                </a:moveTo>
                <a:cubicBezTo>
                  <a:pt x="76200" y="40243"/>
                  <a:pt x="78343" y="38100"/>
                  <a:pt x="80962" y="38100"/>
                </a:cubicBezTo>
                <a:lnTo>
                  <a:pt x="90488" y="38100"/>
                </a:lnTo>
                <a:cubicBezTo>
                  <a:pt x="93107" y="38100"/>
                  <a:pt x="95250" y="40243"/>
                  <a:pt x="95250" y="42863"/>
                </a:cubicBezTo>
                <a:lnTo>
                  <a:pt x="95250" y="52388"/>
                </a:lnTo>
                <a:cubicBezTo>
                  <a:pt x="95250" y="55007"/>
                  <a:pt x="93107" y="57150"/>
                  <a:pt x="90488" y="57150"/>
                </a:cubicBezTo>
                <a:lnTo>
                  <a:pt x="80962" y="57150"/>
                </a:lnTo>
                <a:cubicBezTo>
                  <a:pt x="78343" y="57150"/>
                  <a:pt x="76200" y="55007"/>
                  <a:pt x="76200" y="52388"/>
                </a:cubicBezTo>
                <a:lnTo>
                  <a:pt x="76200" y="42863"/>
                </a:lnTo>
                <a:close/>
                <a:moveTo>
                  <a:pt x="80962" y="66675"/>
                </a:moveTo>
                <a:lnTo>
                  <a:pt x="90488" y="66675"/>
                </a:lnTo>
                <a:cubicBezTo>
                  <a:pt x="93107" y="66675"/>
                  <a:pt x="95250" y="68818"/>
                  <a:pt x="95250" y="71438"/>
                </a:cubicBezTo>
                <a:lnTo>
                  <a:pt x="95250" y="80962"/>
                </a:lnTo>
                <a:cubicBezTo>
                  <a:pt x="95250" y="83582"/>
                  <a:pt x="93107" y="85725"/>
                  <a:pt x="90488" y="85725"/>
                </a:cubicBezTo>
                <a:lnTo>
                  <a:pt x="80962" y="85725"/>
                </a:lnTo>
                <a:cubicBezTo>
                  <a:pt x="78343" y="85725"/>
                  <a:pt x="76200" y="83582"/>
                  <a:pt x="76200" y="80962"/>
                </a:cubicBezTo>
                <a:lnTo>
                  <a:pt x="76200" y="71438"/>
                </a:lnTo>
                <a:cubicBezTo>
                  <a:pt x="76200" y="68818"/>
                  <a:pt x="78343" y="66675"/>
                  <a:pt x="80962" y="66675"/>
                </a:cubicBezTo>
                <a:close/>
                <a:moveTo>
                  <a:pt x="104775" y="42863"/>
                </a:moveTo>
                <a:cubicBezTo>
                  <a:pt x="104775" y="40243"/>
                  <a:pt x="106918" y="38100"/>
                  <a:pt x="109537" y="38100"/>
                </a:cubicBezTo>
                <a:lnTo>
                  <a:pt x="119062" y="38100"/>
                </a:lnTo>
                <a:cubicBezTo>
                  <a:pt x="121682" y="38100"/>
                  <a:pt x="123825" y="40243"/>
                  <a:pt x="123825" y="42863"/>
                </a:cubicBezTo>
                <a:lnTo>
                  <a:pt x="123825" y="52388"/>
                </a:lnTo>
                <a:cubicBezTo>
                  <a:pt x="123825" y="55007"/>
                  <a:pt x="121682" y="57150"/>
                  <a:pt x="119062" y="57150"/>
                </a:cubicBezTo>
                <a:lnTo>
                  <a:pt x="109537" y="57150"/>
                </a:lnTo>
                <a:cubicBezTo>
                  <a:pt x="106918" y="57150"/>
                  <a:pt x="104775" y="55007"/>
                  <a:pt x="104775" y="52388"/>
                </a:cubicBezTo>
                <a:lnTo>
                  <a:pt x="104775" y="42863"/>
                </a:lnTo>
                <a:close/>
                <a:moveTo>
                  <a:pt x="109537" y="66675"/>
                </a:moveTo>
                <a:lnTo>
                  <a:pt x="119062" y="66675"/>
                </a:lnTo>
                <a:cubicBezTo>
                  <a:pt x="121682" y="66675"/>
                  <a:pt x="123825" y="68818"/>
                  <a:pt x="123825" y="71438"/>
                </a:cubicBezTo>
                <a:lnTo>
                  <a:pt x="123825" y="80962"/>
                </a:lnTo>
                <a:cubicBezTo>
                  <a:pt x="123825" y="83582"/>
                  <a:pt x="121682" y="85725"/>
                  <a:pt x="119062" y="85725"/>
                </a:cubicBezTo>
                <a:lnTo>
                  <a:pt x="109537" y="85725"/>
                </a:lnTo>
                <a:cubicBezTo>
                  <a:pt x="106918" y="85725"/>
                  <a:pt x="104775" y="83582"/>
                  <a:pt x="104775" y="80962"/>
                </a:cubicBezTo>
                <a:lnTo>
                  <a:pt x="104775" y="71438"/>
                </a:lnTo>
                <a:cubicBezTo>
                  <a:pt x="104775" y="68818"/>
                  <a:pt x="106918" y="66675"/>
                  <a:pt x="109537" y="66675"/>
                </a:cubicBezTo>
                <a:close/>
                <a:moveTo>
                  <a:pt x="133350" y="42863"/>
                </a:moveTo>
                <a:cubicBezTo>
                  <a:pt x="133350" y="40243"/>
                  <a:pt x="135493" y="38100"/>
                  <a:pt x="138113" y="38100"/>
                </a:cubicBezTo>
                <a:lnTo>
                  <a:pt x="147638" y="38100"/>
                </a:lnTo>
                <a:cubicBezTo>
                  <a:pt x="150257" y="38100"/>
                  <a:pt x="152400" y="40243"/>
                  <a:pt x="152400" y="42863"/>
                </a:cubicBezTo>
                <a:lnTo>
                  <a:pt x="152400" y="52388"/>
                </a:lnTo>
                <a:cubicBezTo>
                  <a:pt x="152400" y="55007"/>
                  <a:pt x="150257" y="57150"/>
                  <a:pt x="147638" y="57150"/>
                </a:cubicBezTo>
                <a:lnTo>
                  <a:pt x="138113" y="57150"/>
                </a:lnTo>
                <a:cubicBezTo>
                  <a:pt x="135493" y="57150"/>
                  <a:pt x="133350" y="55007"/>
                  <a:pt x="133350" y="52388"/>
                </a:cubicBezTo>
                <a:lnTo>
                  <a:pt x="133350" y="42863"/>
                </a:lnTo>
                <a:close/>
                <a:moveTo>
                  <a:pt x="138113" y="66675"/>
                </a:moveTo>
                <a:lnTo>
                  <a:pt x="147638" y="66675"/>
                </a:lnTo>
                <a:cubicBezTo>
                  <a:pt x="150257" y="66675"/>
                  <a:pt x="152400" y="68818"/>
                  <a:pt x="152400" y="71438"/>
                </a:cubicBezTo>
                <a:lnTo>
                  <a:pt x="152400" y="80962"/>
                </a:lnTo>
                <a:cubicBezTo>
                  <a:pt x="152400" y="83582"/>
                  <a:pt x="150257" y="85725"/>
                  <a:pt x="147638" y="85725"/>
                </a:cubicBezTo>
                <a:lnTo>
                  <a:pt x="138113" y="85725"/>
                </a:lnTo>
                <a:cubicBezTo>
                  <a:pt x="135493" y="85725"/>
                  <a:pt x="133350" y="83582"/>
                  <a:pt x="133350" y="80962"/>
                </a:cubicBezTo>
                <a:lnTo>
                  <a:pt x="133350" y="71438"/>
                </a:lnTo>
                <a:cubicBezTo>
                  <a:pt x="133350" y="68818"/>
                  <a:pt x="135493" y="66675"/>
                  <a:pt x="138113" y="66675"/>
                </a:cubicBezTo>
                <a:close/>
              </a:path>
            </a:pathLst>
          </a:custGeom>
          <a:solidFill>
            <a:srgbClr val="6366F1"/>
          </a:solidFill>
          <a:ln/>
        </p:spPr>
      </p:sp>
      <p:sp>
        <p:nvSpPr>
          <p:cNvPr id="7" name="Text 5"/>
          <p:cNvSpPr/>
          <p:nvPr/>
        </p:nvSpPr>
        <p:spPr>
          <a:xfrm>
            <a:off x="1074420" y="1512568"/>
            <a:ext cx="12382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Input Devices</a:t>
            </a:r>
            <a:endParaRPr lang="en-US" sz="1600" dirty="0"/>
          </a:p>
        </p:txBody>
      </p:sp>
      <p:sp>
        <p:nvSpPr>
          <p:cNvPr id="8" name="Text 6"/>
          <p:cNvSpPr/>
          <p:nvPr/>
        </p:nvSpPr>
        <p:spPr>
          <a:xfrm>
            <a:off x="579120" y="1950718"/>
            <a:ext cx="52768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Tools that send data and instructions into the computer</a:t>
            </a:r>
            <a:endParaRPr lang="en-US" sz="1600" dirty="0"/>
          </a:p>
        </p:txBody>
      </p:sp>
      <p:sp>
        <p:nvSpPr>
          <p:cNvPr id="9" name="Text 7"/>
          <p:cNvSpPr/>
          <p:nvPr/>
        </p:nvSpPr>
        <p:spPr>
          <a:xfrm>
            <a:off x="579120" y="2255518"/>
            <a:ext cx="5276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Examples:</a:t>
            </a:r>
            <a:r>
              <a:rPr lang="en-US" sz="1200" dirty="0">
                <a:solidFill>
                  <a:srgbClr val="EFEFEF"/>
                </a:solidFill>
                <a:latin typeface="Liter" pitchFamily="34" charset="0"/>
                <a:ea typeface="Liter" pitchFamily="34" charset="-122"/>
                <a:cs typeface="Liter" pitchFamily="34" charset="-120"/>
              </a:rPr>
              <a:t> Keyboard, mouse, microphone, scanner, webcam</a:t>
            </a:r>
            <a:endParaRPr lang="en-US" sz="1600" dirty="0"/>
          </a:p>
        </p:txBody>
      </p:sp>
      <p:sp>
        <p:nvSpPr>
          <p:cNvPr id="10" name="Shape 8"/>
          <p:cNvSpPr/>
          <p:nvPr/>
        </p:nvSpPr>
        <p:spPr>
          <a:xfrm>
            <a:off x="384810" y="2838456"/>
            <a:ext cx="5589270" cy="1417320"/>
          </a:xfrm>
          <a:custGeom>
            <a:avLst/>
            <a:gdLst/>
            <a:ahLst/>
            <a:cxnLst/>
            <a:rect l="l" t="t" r="r" b="b"/>
            <a:pathLst>
              <a:path w="5589270" h="1417320">
                <a:moveTo>
                  <a:pt x="114307" y="0"/>
                </a:moveTo>
                <a:lnTo>
                  <a:pt x="5474963" y="0"/>
                </a:lnTo>
                <a:cubicBezTo>
                  <a:pt x="5538051" y="0"/>
                  <a:pt x="5589270" y="51219"/>
                  <a:pt x="5589270" y="114307"/>
                </a:cubicBezTo>
                <a:lnTo>
                  <a:pt x="5589270" y="1303013"/>
                </a:lnTo>
                <a:cubicBezTo>
                  <a:pt x="5589270" y="1366101"/>
                  <a:pt x="5538051" y="1417320"/>
                  <a:pt x="5474963" y="1417320"/>
                </a:cubicBezTo>
                <a:lnTo>
                  <a:pt x="114307" y="1417320"/>
                </a:lnTo>
                <a:cubicBezTo>
                  <a:pt x="51219" y="1417320"/>
                  <a:pt x="0" y="1366101"/>
                  <a:pt x="0" y="1303013"/>
                </a:cubicBezTo>
                <a:lnTo>
                  <a:pt x="0" y="114307"/>
                </a:lnTo>
                <a:cubicBezTo>
                  <a:pt x="0" y="51219"/>
                  <a:pt x="51219" y="0"/>
                  <a:pt x="114307" y="0"/>
                </a:cubicBezTo>
                <a:close/>
              </a:path>
            </a:pathLst>
          </a:custGeom>
          <a:solidFill>
            <a:srgbClr val="262626"/>
          </a:solidFill>
          <a:ln w="10160">
            <a:solidFill>
              <a:srgbClr val="333333"/>
            </a:solidFill>
            <a:prstDash val="solid"/>
          </a:ln>
        </p:spPr>
      </p:sp>
      <p:sp>
        <p:nvSpPr>
          <p:cNvPr id="11" name="Shape 9"/>
          <p:cNvSpPr/>
          <p:nvPr/>
        </p:nvSpPr>
        <p:spPr>
          <a:xfrm>
            <a:off x="579120" y="3032764"/>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2" name="Shape 10"/>
          <p:cNvSpPr/>
          <p:nvPr/>
        </p:nvSpPr>
        <p:spPr>
          <a:xfrm>
            <a:off x="693420" y="3147064"/>
            <a:ext cx="152400" cy="152400"/>
          </a:xfrm>
          <a:custGeom>
            <a:avLst/>
            <a:gdLst/>
            <a:ahLst/>
            <a:cxnLst/>
            <a:rect l="l" t="t" r="r" b="b"/>
            <a:pathLst>
              <a:path w="152400" h="152400">
                <a:moveTo>
                  <a:pt x="52388" y="7144"/>
                </a:moveTo>
                <a:cubicBezTo>
                  <a:pt x="52388" y="3185"/>
                  <a:pt x="49203" y="0"/>
                  <a:pt x="45244" y="0"/>
                </a:cubicBezTo>
                <a:cubicBezTo>
                  <a:pt x="41285" y="0"/>
                  <a:pt x="38100" y="3185"/>
                  <a:pt x="38100" y="7144"/>
                </a:cubicBezTo>
                <a:lnTo>
                  <a:pt x="38100" y="19050"/>
                </a:lnTo>
                <a:cubicBezTo>
                  <a:pt x="27593" y="19050"/>
                  <a:pt x="19050" y="27593"/>
                  <a:pt x="19050" y="38100"/>
                </a:cubicBezTo>
                <a:lnTo>
                  <a:pt x="7144" y="38100"/>
                </a:lnTo>
                <a:cubicBezTo>
                  <a:pt x="3185" y="38100"/>
                  <a:pt x="0" y="41285"/>
                  <a:pt x="0" y="45244"/>
                </a:cubicBezTo>
                <a:cubicBezTo>
                  <a:pt x="0" y="49203"/>
                  <a:pt x="3185" y="52388"/>
                  <a:pt x="7144" y="52388"/>
                </a:cubicBezTo>
                <a:lnTo>
                  <a:pt x="19050" y="52388"/>
                </a:lnTo>
                <a:lnTo>
                  <a:pt x="19050" y="69056"/>
                </a:lnTo>
                <a:lnTo>
                  <a:pt x="7144" y="69056"/>
                </a:lnTo>
                <a:cubicBezTo>
                  <a:pt x="3185" y="69056"/>
                  <a:pt x="0" y="72241"/>
                  <a:pt x="0" y="76200"/>
                </a:cubicBezTo>
                <a:cubicBezTo>
                  <a:pt x="0" y="80159"/>
                  <a:pt x="3185" y="83344"/>
                  <a:pt x="7144" y="83344"/>
                </a:cubicBezTo>
                <a:lnTo>
                  <a:pt x="19050" y="83344"/>
                </a:lnTo>
                <a:lnTo>
                  <a:pt x="19050" y="100013"/>
                </a:lnTo>
                <a:lnTo>
                  <a:pt x="7144" y="100013"/>
                </a:lnTo>
                <a:cubicBezTo>
                  <a:pt x="3185" y="100013"/>
                  <a:pt x="0" y="103197"/>
                  <a:pt x="0" y="107156"/>
                </a:cubicBezTo>
                <a:cubicBezTo>
                  <a:pt x="0" y="111115"/>
                  <a:pt x="3185" y="114300"/>
                  <a:pt x="7144" y="114300"/>
                </a:cubicBezTo>
                <a:lnTo>
                  <a:pt x="19050" y="114300"/>
                </a:lnTo>
                <a:cubicBezTo>
                  <a:pt x="19050" y="124807"/>
                  <a:pt x="27593" y="133350"/>
                  <a:pt x="38100" y="133350"/>
                </a:cubicBezTo>
                <a:lnTo>
                  <a:pt x="38100" y="145256"/>
                </a:lnTo>
                <a:cubicBezTo>
                  <a:pt x="38100" y="149215"/>
                  <a:pt x="41285" y="152400"/>
                  <a:pt x="45244" y="152400"/>
                </a:cubicBezTo>
                <a:cubicBezTo>
                  <a:pt x="49203" y="152400"/>
                  <a:pt x="52388" y="149215"/>
                  <a:pt x="52388" y="145256"/>
                </a:cubicBezTo>
                <a:lnTo>
                  <a:pt x="52388" y="133350"/>
                </a:lnTo>
                <a:lnTo>
                  <a:pt x="69056" y="133350"/>
                </a:lnTo>
                <a:lnTo>
                  <a:pt x="69056" y="145256"/>
                </a:lnTo>
                <a:cubicBezTo>
                  <a:pt x="69056" y="149215"/>
                  <a:pt x="72241" y="152400"/>
                  <a:pt x="76200" y="152400"/>
                </a:cubicBezTo>
                <a:cubicBezTo>
                  <a:pt x="80159" y="152400"/>
                  <a:pt x="83344" y="149215"/>
                  <a:pt x="83344" y="145256"/>
                </a:cubicBezTo>
                <a:lnTo>
                  <a:pt x="83344" y="133350"/>
                </a:lnTo>
                <a:lnTo>
                  <a:pt x="100013" y="133350"/>
                </a:lnTo>
                <a:lnTo>
                  <a:pt x="100013" y="145256"/>
                </a:lnTo>
                <a:cubicBezTo>
                  <a:pt x="100013" y="149215"/>
                  <a:pt x="103197" y="152400"/>
                  <a:pt x="107156" y="152400"/>
                </a:cubicBezTo>
                <a:cubicBezTo>
                  <a:pt x="111115" y="152400"/>
                  <a:pt x="114300" y="149215"/>
                  <a:pt x="114300" y="145256"/>
                </a:cubicBezTo>
                <a:lnTo>
                  <a:pt x="114300" y="133350"/>
                </a:lnTo>
                <a:cubicBezTo>
                  <a:pt x="124807" y="133350"/>
                  <a:pt x="133350" y="124807"/>
                  <a:pt x="133350" y="114300"/>
                </a:cubicBezTo>
                <a:lnTo>
                  <a:pt x="145256" y="114300"/>
                </a:lnTo>
                <a:cubicBezTo>
                  <a:pt x="149215" y="114300"/>
                  <a:pt x="152400" y="111115"/>
                  <a:pt x="152400" y="107156"/>
                </a:cubicBezTo>
                <a:cubicBezTo>
                  <a:pt x="152400" y="103197"/>
                  <a:pt x="149215" y="100013"/>
                  <a:pt x="145256" y="100013"/>
                </a:cubicBezTo>
                <a:lnTo>
                  <a:pt x="133350" y="100013"/>
                </a:lnTo>
                <a:lnTo>
                  <a:pt x="133350" y="83344"/>
                </a:lnTo>
                <a:lnTo>
                  <a:pt x="145256" y="83344"/>
                </a:lnTo>
                <a:cubicBezTo>
                  <a:pt x="149215" y="83344"/>
                  <a:pt x="152400" y="80159"/>
                  <a:pt x="152400" y="76200"/>
                </a:cubicBezTo>
                <a:cubicBezTo>
                  <a:pt x="152400" y="72241"/>
                  <a:pt x="149215" y="69056"/>
                  <a:pt x="145256" y="69056"/>
                </a:cubicBezTo>
                <a:lnTo>
                  <a:pt x="133350" y="69056"/>
                </a:lnTo>
                <a:lnTo>
                  <a:pt x="133350" y="52388"/>
                </a:lnTo>
                <a:lnTo>
                  <a:pt x="145256" y="52388"/>
                </a:lnTo>
                <a:cubicBezTo>
                  <a:pt x="149215" y="52388"/>
                  <a:pt x="152400" y="49203"/>
                  <a:pt x="152400" y="45244"/>
                </a:cubicBezTo>
                <a:cubicBezTo>
                  <a:pt x="152400" y="41285"/>
                  <a:pt x="149215" y="38100"/>
                  <a:pt x="145256" y="38100"/>
                </a:cubicBezTo>
                <a:lnTo>
                  <a:pt x="133350" y="38100"/>
                </a:lnTo>
                <a:cubicBezTo>
                  <a:pt x="133350" y="27593"/>
                  <a:pt x="124807" y="19050"/>
                  <a:pt x="114300" y="19050"/>
                </a:cubicBezTo>
                <a:lnTo>
                  <a:pt x="114300" y="7144"/>
                </a:lnTo>
                <a:cubicBezTo>
                  <a:pt x="114300" y="3185"/>
                  <a:pt x="111115" y="0"/>
                  <a:pt x="107156" y="0"/>
                </a:cubicBezTo>
                <a:cubicBezTo>
                  <a:pt x="103197" y="0"/>
                  <a:pt x="100013" y="3185"/>
                  <a:pt x="100013" y="7144"/>
                </a:cubicBezTo>
                <a:lnTo>
                  <a:pt x="100013" y="19050"/>
                </a:lnTo>
                <a:lnTo>
                  <a:pt x="83344" y="19050"/>
                </a:lnTo>
                <a:lnTo>
                  <a:pt x="83344" y="7144"/>
                </a:lnTo>
                <a:cubicBezTo>
                  <a:pt x="83344" y="3185"/>
                  <a:pt x="80159" y="0"/>
                  <a:pt x="76200" y="0"/>
                </a:cubicBezTo>
                <a:cubicBezTo>
                  <a:pt x="72241" y="0"/>
                  <a:pt x="69056" y="3185"/>
                  <a:pt x="69056" y="7144"/>
                </a:cubicBezTo>
                <a:lnTo>
                  <a:pt x="69056" y="19050"/>
                </a:lnTo>
                <a:lnTo>
                  <a:pt x="52388" y="19050"/>
                </a:lnTo>
                <a:lnTo>
                  <a:pt x="52388" y="7144"/>
                </a:lnTo>
                <a:close/>
                <a:moveTo>
                  <a:pt x="47625" y="38100"/>
                </a:moveTo>
                <a:lnTo>
                  <a:pt x="104775" y="38100"/>
                </a:lnTo>
                <a:cubicBezTo>
                  <a:pt x="110044" y="38100"/>
                  <a:pt x="114300" y="42356"/>
                  <a:pt x="114300" y="47625"/>
                </a:cubicBezTo>
                <a:lnTo>
                  <a:pt x="114300" y="104775"/>
                </a:lnTo>
                <a:cubicBezTo>
                  <a:pt x="114300" y="110044"/>
                  <a:pt x="110044" y="114300"/>
                  <a:pt x="104775" y="114300"/>
                </a:cubicBezTo>
                <a:lnTo>
                  <a:pt x="47625" y="114300"/>
                </a:lnTo>
                <a:cubicBezTo>
                  <a:pt x="42356" y="114300"/>
                  <a:pt x="38100" y="110044"/>
                  <a:pt x="38100" y="104775"/>
                </a:cubicBezTo>
                <a:lnTo>
                  <a:pt x="38100" y="47625"/>
                </a:lnTo>
                <a:cubicBezTo>
                  <a:pt x="38100" y="42356"/>
                  <a:pt x="42356" y="38100"/>
                  <a:pt x="47625" y="38100"/>
                </a:cubicBezTo>
                <a:close/>
                <a:moveTo>
                  <a:pt x="52388" y="52388"/>
                </a:moveTo>
                <a:lnTo>
                  <a:pt x="52388" y="100013"/>
                </a:lnTo>
                <a:lnTo>
                  <a:pt x="100013" y="100013"/>
                </a:lnTo>
                <a:lnTo>
                  <a:pt x="100013" y="52388"/>
                </a:lnTo>
                <a:lnTo>
                  <a:pt x="52388" y="52388"/>
                </a:lnTo>
                <a:close/>
              </a:path>
            </a:pathLst>
          </a:custGeom>
          <a:solidFill>
            <a:srgbClr val="6366F1"/>
          </a:solidFill>
          <a:ln/>
        </p:spPr>
      </p:sp>
      <p:sp>
        <p:nvSpPr>
          <p:cNvPr id="13" name="Text 11"/>
          <p:cNvSpPr/>
          <p:nvPr/>
        </p:nvSpPr>
        <p:spPr>
          <a:xfrm>
            <a:off x="1074420" y="3089914"/>
            <a:ext cx="19907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Processing Unit (CPU)</a:t>
            </a:r>
            <a:endParaRPr lang="en-US" sz="1600" dirty="0"/>
          </a:p>
        </p:txBody>
      </p:sp>
      <p:sp>
        <p:nvSpPr>
          <p:cNvPr id="14" name="Text 12"/>
          <p:cNvSpPr/>
          <p:nvPr/>
        </p:nvSpPr>
        <p:spPr>
          <a:xfrm>
            <a:off x="579120" y="3528064"/>
            <a:ext cx="52768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The "brain" that processes instructions and performs calculations</a:t>
            </a:r>
            <a:endParaRPr lang="en-US" sz="1600" dirty="0"/>
          </a:p>
        </p:txBody>
      </p:sp>
      <p:sp>
        <p:nvSpPr>
          <p:cNvPr id="15" name="Text 13"/>
          <p:cNvSpPr/>
          <p:nvPr/>
        </p:nvSpPr>
        <p:spPr>
          <a:xfrm>
            <a:off x="579120" y="3832864"/>
            <a:ext cx="5276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Analogy:</a:t>
            </a:r>
            <a:r>
              <a:rPr lang="en-US" sz="1200" dirty="0">
                <a:solidFill>
                  <a:srgbClr val="EFEFEF"/>
                </a:solidFill>
                <a:latin typeface="Liter" pitchFamily="34" charset="0"/>
                <a:ea typeface="Liter" pitchFamily="34" charset="-122"/>
                <a:cs typeface="Liter" pitchFamily="34" charset="-120"/>
              </a:rPr>
              <a:t> Like a chef following a recipe step by step</a:t>
            </a:r>
            <a:endParaRPr lang="en-US" sz="1600" dirty="0"/>
          </a:p>
        </p:txBody>
      </p:sp>
      <p:sp>
        <p:nvSpPr>
          <p:cNvPr id="16" name="Shape 14"/>
          <p:cNvSpPr/>
          <p:nvPr/>
        </p:nvSpPr>
        <p:spPr>
          <a:xfrm>
            <a:off x="384810" y="4415792"/>
            <a:ext cx="5589270" cy="1417320"/>
          </a:xfrm>
          <a:custGeom>
            <a:avLst/>
            <a:gdLst/>
            <a:ahLst/>
            <a:cxnLst/>
            <a:rect l="l" t="t" r="r" b="b"/>
            <a:pathLst>
              <a:path w="5589270" h="1417320">
                <a:moveTo>
                  <a:pt x="114307" y="0"/>
                </a:moveTo>
                <a:lnTo>
                  <a:pt x="5474963" y="0"/>
                </a:lnTo>
                <a:cubicBezTo>
                  <a:pt x="5538051" y="0"/>
                  <a:pt x="5589270" y="51219"/>
                  <a:pt x="5589270" y="114307"/>
                </a:cubicBezTo>
                <a:lnTo>
                  <a:pt x="5589270" y="1303013"/>
                </a:lnTo>
                <a:cubicBezTo>
                  <a:pt x="5589270" y="1366101"/>
                  <a:pt x="5538051" y="1417320"/>
                  <a:pt x="5474963" y="1417320"/>
                </a:cubicBezTo>
                <a:lnTo>
                  <a:pt x="114307" y="1417320"/>
                </a:lnTo>
                <a:cubicBezTo>
                  <a:pt x="51219" y="1417320"/>
                  <a:pt x="0" y="1366101"/>
                  <a:pt x="0" y="1303013"/>
                </a:cubicBezTo>
                <a:lnTo>
                  <a:pt x="0" y="114307"/>
                </a:lnTo>
                <a:cubicBezTo>
                  <a:pt x="0" y="51219"/>
                  <a:pt x="51219" y="0"/>
                  <a:pt x="114307" y="0"/>
                </a:cubicBezTo>
                <a:close/>
              </a:path>
            </a:pathLst>
          </a:custGeom>
          <a:solidFill>
            <a:srgbClr val="262626"/>
          </a:solidFill>
          <a:ln w="10160">
            <a:solidFill>
              <a:srgbClr val="333333"/>
            </a:solidFill>
            <a:prstDash val="solid"/>
          </a:ln>
        </p:spPr>
      </p:sp>
      <p:sp>
        <p:nvSpPr>
          <p:cNvPr id="17" name="Shape 15"/>
          <p:cNvSpPr/>
          <p:nvPr/>
        </p:nvSpPr>
        <p:spPr>
          <a:xfrm>
            <a:off x="579120" y="46101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8" name="Shape 16"/>
          <p:cNvSpPr/>
          <p:nvPr/>
        </p:nvSpPr>
        <p:spPr>
          <a:xfrm>
            <a:off x="702945" y="4724400"/>
            <a:ext cx="133350" cy="152400"/>
          </a:xfrm>
          <a:custGeom>
            <a:avLst/>
            <a:gdLst/>
            <a:ahLst/>
            <a:cxnLst/>
            <a:rect l="l" t="t" r="r" b="b"/>
            <a:pathLst>
              <a:path w="133350" h="152400">
                <a:moveTo>
                  <a:pt x="19050" y="9525"/>
                </a:moveTo>
                <a:cubicBezTo>
                  <a:pt x="8543" y="9525"/>
                  <a:pt x="0" y="18068"/>
                  <a:pt x="0" y="28575"/>
                </a:cubicBezTo>
                <a:lnTo>
                  <a:pt x="0" y="77420"/>
                </a:lnTo>
                <a:cubicBezTo>
                  <a:pt x="5388" y="73640"/>
                  <a:pt x="11966" y="71438"/>
                  <a:pt x="19050" y="71438"/>
                </a:cubicBezTo>
                <a:lnTo>
                  <a:pt x="114300" y="71438"/>
                </a:lnTo>
                <a:cubicBezTo>
                  <a:pt x="121384" y="71438"/>
                  <a:pt x="127962" y="73640"/>
                  <a:pt x="133350" y="77420"/>
                </a:cubicBezTo>
                <a:lnTo>
                  <a:pt x="133350" y="28575"/>
                </a:lnTo>
                <a:cubicBezTo>
                  <a:pt x="133350" y="18068"/>
                  <a:pt x="124807" y="9525"/>
                  <a:pt x="114300" y="9525"/>
                </a:cubicBezTo>
                <a:lnTo>
                  <a:pt x="19050" y="9525"/>
                </a:lnTo>
                <a:close/>
                <a:moveTo>
                  <a:pt x="133350" y="104775"/>
                </a:moveTo>
                <a:cubicBezTo>
                  <a:pt x="133350" y="94268"/>
                  <a:pt x="124807" y="85725"/>
                  <a:pt x="114300" y="85725"/>
                </a:cubicBezTo>
                <a:lnTo>
                  <a:pt x="19050" y="85725"/>
                </a:lnTo>
                <a:cubicBezTo>
                  <a:pt x="8543" y="85725"/>
                  <a:pt x="0" y="94268"/>
                  <a:pt x="0" y="104775"/>
                </a:cubicBezTo>
                <a:lnTo>
                  <a:pt x="0" y="123825"/>
                </a:lnTo>
                <a:cubicBezTo>
                  <a:pt x="0" y="134332"/>
                  <a:pt x="8543" y="142875"/>
                  <a:pt x="19050" y="142875"/>
                </a:cubicBezTo>
                <a:lnTo>
                  <a:pt x="114300" y="142875"/>
                </a:lnTo>
                <a:cubicBezTo>
                  <a:pt x="124807" y="142875"/>
                  <a:pt x="133350" y="134332"/>
                  <a:pt x="133350" y="123825"/>
                </a:cubicBezTo>
                <a:lnTo>
                  <a:pt x="133350" y="104775"/>
                </a:lnTo>
                <a:close/>
                <a:moveTo>
                  <a:pt x="66675" y="114300"/>
                </a:moveTo>
                <a:cubicBezTo>
                  <a:pt x="66675" y="109043"/>
                  <a:pt x="70943" y="104775"/>
                  <a:pt x="76200" y="104775"/>
                </a:cubicBezTo>
                <a:cubicBezTo>
                  <a:pt x="81457" y="104775"/>
                  <a:pt x="85725" y="109043"/>
                  <a:pt x="85725" y="114300"/>
                </a:cubicBezTo>
                <a:cubicBezTo>
                  <a:pt x="85725" y="119557"/>
                  <a:pt x="81457" y="123825"/>
                  <a:pt x="76200" y="123825"/>
                </a:cubicBezTo>
                <a:cubicBezTo>
                  <a:pt x="70943" y="123825"/>
                  <a:pt x="66675" y="119557"/>
                  <a:pt x="66675" y="114300"/>
                </a:cubicBezTo>
                <a:close/>
                <a:moveTo>
                  <a:pt x="104775" y="104775"/>
                </a:moveTo>
                <a:cubicBezTo>
                  <a:pt x="110032" y="104775"/>
                  <a:pt x="114300" y="109043"/>
                  <a:pt x="114300" y="114300"/>
                </a:cubicBezTo>
                <a:cubicBezTo>
                  <a:pt x="114300" y="119557"/>
                  <a:pt x="110032" y="123825"/>
                  <a:pt x="104775" y="123825"/>
                </a:cubicBezTo>
                <a:cubicBezTo>
                  <a:pt x="99518" y="123825"/>
                  <a:pt x="95250" y="119557"/>
                  <a:pt x="95250" y="114300"/>
                </a:cubicBezTo>
                <a:cubicBezTo>
                  <a:pt x="95250" y="109043"/>
                  <a:pt x="99518" y="104775"/>
                  <a:pt x="104775" y="104775"/>
                </a:cubicBezTo>
                <a:close/>
              </a:path>
            </a:pathLst>
          </a:custGeom>
          <a:solidFill>
            <a:srgbClr val="6366F1"/>
          </a:solidFill>
          <a:ln/>
        </p:spPr>
      </p:sp>
      <p:sp>
        <p:nvSpPr>
          <p:cNvPr id="19" name="Text 17"/>
          <p:cNvSpPr/>
          <p:nvPr/>
        </p:nvSpPr>
        <p:spPr>
          <a:xfrm>
            <a:off x="1074420" y="4667250"/>
            <a:ext cx="14668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Storage Devices</a:t>
            </a:r>
            <a:endParaRPr lang="en-US" sz="1600" dirty="0"/>
          </a:p>
        </p:txBody>
      </p:sp>
      <p:sp>
        <p:nvSpPr>
          <p:cNvPr id="20" name="Text 18"/>
          <p:cNvSpPr/>
          <p:nvPr/>
        </p:nvSpPr>
        <p:spPr>
          <a:xfrm>
            <a:off x="579120" y="5105400"/>
            <a:ext cx="52768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Hardware that saves data permanently for later use</a:t>
            </a:r>
            <a:endParaRPr lang="en-US" sz="1600" dirty="0"/>
          </a:p>
        </p:txBody>
      </p:sp>
      <p:sp>
        <p:nvSpPr>
          <p:cNvPr id="21" name="Text 19"/>
          <p:cNvSpPr/>
          <p:nvPr/>
        </p:nvSpPr>
        <p:spPr>
          <a:xfrm>
            <a:off x="579120" y="5410200"/>
            <a:ext cx="5276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Examples:</a:t>
            </a:r>
            <a:r>
              <a:rPr lang="en-US" sz="1200" dirty="0">
                <a:solidFill>
                  <a:srgbClr val="EFEFEF"/>
                </a:solidFill>
                <a:latin typeface="Liter" pitchFamily="34" charset="0"/>
                <a:ea typeface="Liter" pitchFamily="34" charset="-122"/>
                <a:cs typeface="Liter" pitchFamily="34" charset="-120"/>
              </a:rPr>
              <a:t> Hard drive, SSD, USB flash drive, cloud storage</a:t>
            </a:r>
            <a:endParaRPr lang="en-US" sz="1600" dirty="0"/>
          </a:p>
        </p:txBody>
      </p:sp>
      <p:sp>
        <p:nvSpPr>
          <p:cNvPr id="22" name="Shape 20"/>
          <p:cNvSpPr/>
          <p:nvPr/>
        </p:nvSpPr>
        <p:spPr>
          <a:xfrm>
            <a:off x="6214110" y="1261110"/>
            <a:ext cx="5589270" cy="2884170"/>
          </a:xfrm>
          <a:custGeom>
            <a:avLst/>
            <a:gdLst/>
            <a:ahLst/>
            <a:cxnLst/>
            <a:rect l="l" t="t" r="r" b="b"/>
            <a:pathLst>
              <a:path w="5589270" h="2884170">
                <a:moveTo>
                  <a:pt x="114300" y="0"/>
                </a:moveTo>
                <a:lnTo>
                  <a:pt x="5474970" y="0"/>
                </a:lnTo>
                <a:cubicBezTo>
                  <a:pt x="5538096" y="0"/>
                  <a:pt x="5589270" y="51174"/>
                  <a:pt x="5589270" y="114300"/>
                </a:cubicBezTo>
                <a:lnTo>
                  <a:pt x="5589270" y="2769870"/>
                </a:lnTo>
                <a:cubicBezTo>
                  <a:pt x="5589270" y="2832996"/>
                  <a:pt x="5538096" y="2884170"/>
                  <a:pt x="5474970" y="2884170"/>
                </a:cubicBezTo>
                <a:lnTo>
                  <a:pt x="114300" y="2884170"/>
                </a:lnTo>
                <a:cubicBezTo>
                  <a:pt x="51174" y="2884170"/>
                  <a:pt x="0" y="2832996"/>
                  <a:pt x="0" y="2769870"/>
                </a:cubicBezTo>
                <a:lnTo>
                  <a:pt x="0" y="114300"/>
                </a:lnTo>
                <a:cubicBezTo>
                  <a:pt x="0" y="51216"/>
                  <a:pt x="51216" y="0"/>
                  <a:pt x="114300" y="0"/>
                </a:cubicBezTo>
                <a:close/>
              </a:path>
            </a:pathLst>
          </a:custGeom>
          <a:solidFill>
            <a:srgbClr val="262626"/>
          </a:solidFill>
          <a:ln w="10160">
            <a:solidFill>
              <a:srgbClr val="333333"/>
            </a:solidFill>
            <a:prstDash val="solid"/>
          </a:ln>
        </p:spPr>
      </p:sp>
      <p:sp>
        <p:nvSpPr>
          <p:cNvPr id="23" name="Shape 21"/>
          <p:cNvSpPr/>
          <p:nvPr/>
        </p:nvSpPr>
        <p:spPr>
          <a:xfrm>
            <a:off x="8553331" y="1882146"/>
            <a:ext cx="914400" cy="914400"/>
          </a:xfrm>
          <a:custGeom>
            <a:avLst/>
            <a:gdLst/>
            <a:ahLst/>
            <a:cxnLst/>
            <a:rect l="l" t="t" r="r" b="b"/>
            <a:pathLst>
              <a:path w="914400" h="914400">
                <a:moveTo>
                  <a:pt x="114300" y="57150"/>
                </a:moveTo>
                <a:cubicBezTo>
                  <a:pt x="51256" y="57150"/>
                  <a:pt x="0" y="108406"/>
                  <a:pt x="0" y="171450"/>
                </a:cubicBezTo>
                <a:lnTo>
                  <a:pt x="0" y="628650"/>
                </a:lnTo>
                <a:cubicBezTo>
                  <a:pt x="0" y="691694"/>
                  <a:pt x="51256" y="742950"/>
                  <a:pt x="114300" y="742950"/>
                </a:cubicBezTo>
                <a:lnTo>
                  <a:pt x="371475" y="742950"/>
                </a:lnTo>
                <a:lnTo>
                  <a:pt x="342900" y="828675"/>
                </a:lnTo>
                <a:lnTo>
                  <a:pt x="214313" y="828675"/>
                </a:lnTo>
                <a:cubicBezTo>
                  <a:pt x="190560" y="828675"/>
                  <a:pt x="171450" y="847785"/>
                  <a:pt x="171450" y="871538"/>
                </a:cubicBezTo>
                <a:cubicBezTo>
                  <a:pt x="171450" y="895290"/>
                  <a:pt x="190560" y="914400"/>
                  <a:pt x="214313" y="914400"/>
                </a:cubicBezTo>
                <a:lnTo>
                  <a:pt x="700088" y="914400"/>
                </a:lnTo>
                <a:cubicBezTo>
                  <a:pt x="723840" y="914400"/>
                  <a:pt x="742950" y="895290"/>
                  <a:pt x="742950" y="871538"/>
                </a:cubicBezTo>
                <a:cubicBezTo>
                  <a:pt x="742950" y="847785"/>
                  <a:pt x="723840" y="828675"/>
                  <a:pt x="700088" y="828675"/>
                </a:cubicBezTo>
                <a:lnTo>
                  <a:pt x="571500" y="828675"/>
                </a:lnTo>
                <a:lnTo>
                  <a:pt x="542925" y="742950"/>
                </a:lnTo>
                <a:lnTo>
                  <a:pt x="800100" y="742950"/>
                </a:lnTo>
                <a:cubicBezTo>
                  <a:pt x="863144" y="742950"/>
                  <a:pt x="914400" y="691694"/>
                  <a:pt x="914400" y="628650"/>
                </a:cubicBezTo>
                <a:lnTo>
                  <a:pt x="914400" y="171450"/>
                </a:lnTo>
                <a:cubicBezTo>
                  <a:pt x="914400" y="108406"/>
                  <a:pt x="863144" y="57150"/>
                  <a:pt x="800100" y="57150"/>
                </a:cubicBezTo>
                <a:lnTo>
                  <a:pt x="114300" y="57150"/>
                </a:lnTo>
                <a:close/>
                <a:moveTo>
                  <a:pt x="171450" y="171450"/>
                </a:moveTo>
                <a:lnTo>
                  <a:pt x="742950" y="171450"/>
                </a:lnTo>
                <a:cubicBezTo>
                  <a:pt x="774561" y="171450"/>
                  <a:pt x="800100" y="196989"/>
                  <a:pt x="800100" y="228600"/>
                </a:cubicBezTo>
                <a:lnTo>
                  <a:pt x="800100" y="514350"/>
                </a:lnTo>
                <a:cubicBezTo>
                  <a:pt x="800100" y="545961"/>
                  <a:pt x="774561" y="571500"/>
                  <a:pt x="742950" y="571500"/>
                </a:cubicBezTo>
                <a:lnTo>
                  <a:pt x="171450" y="571500"/>
                </a:lnTo>
                <a:cubicBezTo>
                  <a:pt x="139839" y="571500"/>
                  <a:pt x="114300" y="545961"/>
                  <a:pt x="114300" y="514350"/>
                </a:cubicBezTo>
                <a:lnTo>
                  <a:pt x="114300" y="228600"/>
                </a:lnTo>
                <a:cubicBezTo>
                  <a:pt x="114300" y="196989"/>
                  <a:pt x="139839" y="171450"/>
                  <a:pt x="171450" y="171450"/>
                </a:cubicBezTo>
                <a:close/>
              </a:path>
            </a:pathLst>
          </a:custGeom>
          <a:solidFill>
            <a:srgbClr val="6366F1"/>
          </a:solidFill>
          <a:ln/>
        </p:spPr>
      </p:sp>
      <p:sp>
        <p:nvSpPr>
          <p:cNvPr id="24" name="Text 22"/>
          <p:cNvSpPr/>
          <p:nvPr/>
        </p:nvSpPr>
        <p:spPr>
          <a:xfrm>
            <a:off x="7782163" y="2948946"/>
            <a:ext cx="245745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Computer System</a:t>
            </a:r>
            <a:endParaRPr lang="en-US" sz="1600" dirty="0"/>
          </a:p>
        </p:txBody>
      </p:sp>
      <p:sp>
        <p:nvSpPr>
          <p:cNvPr id="25" name="Text 23"/>
          <p:cNvSpPr/>
          <p:nvPr/>
        </p:nvSpPr>
        <p:spPr>
          <a:xfrm>
            <a:off x="7791688" y="3291846"/>
            <a:ext cx="2438400"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Input → Process → Store → Output</a:t>
            </a:r>
            <a:endParaRPr lang="en-US" sz="1600" dirty="0"/>
          </a:p>
        </p:txBody>
      </p:sp>
      <p:sp>
        <p:nvSpPr>
          <p:cNvPr id="26" name="Shape 24"/>
          <p:cNvSpPr/>
          <p:nvPr/>
        </p:nvSpPr>
        <p:spPr>
          <a:xfrm>
            <a:off x="6214110" y="4301492"/>
            <a:ext cx="5589270" cy="1531620"/>
          </a:xfrm>
          <a:custGeom>
            <a:avLst/>
            <a:gdLst/>
            <a:ahLst/>
            <a:cxnLst/>
            <a:rect l="l" t="t" r="r" b="b"/>
            <a:pathLst>
              <a:path w="5589270" h="1531620">
                <a:moveTo>
                  <a:pt x="76198" y="0"/>
                </a:moveTo>
                <a:lnTo>
                  <a:pt x="5513072" y="0"/>
                </a:lnTo>
                <a:cubicBezTo>
                  <a:pt x="5555155" y="0"/>
                  <a:pt x="5589270" y="34115"/>
                  <a:pt x="5589270" y="76198"/>
                </a:cubicBezTo>
                <a:lnTo>
                  <a:pt x="5589270" y="1455422"/>
                </a:lnTo>
                <a:cubicBezTo>
                  <a:pt x="5589270" y="1497505"/>
                  <a:pt x="5555155" y="1531620"/>
                  <a:pt x="551307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27" name="Text 25"/>
          <p:cNvSpPr/>
          <p:nvPr/>
        </p:nvSpPr>
        <p:spPr>
          <a:xfrm>
            <a:off x="6370320" y="4457700"/>
            <a:ext cx="535305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When you type a document (input), the CPU processes it, saves it to the hard drive (storage), and displays it on screen (output)!</a:t>
            </a:r>
            <a:endParaRPr lang="en-US" sz="1600" dirty="0"/>
          </a:p>
        </p:txBody>
      </p:sp>
      <p:sp>
        <p:nvSpPr>
          <p:cNvPr id="28" name="Text 26"/>
          <p:cNvSpPr/>
          <p:nvPr/>
        </p:nvSpPr>
        <p:spPr>
          <a:xfrm>
            <a:off x="6370320" y="4991100"/>
            <a:ext cx="5353050" cy="6858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Think of a computer like a factory: raw materials (input) go in, workers process them (CPU), products are stored in a warehouse (storage), and finished goods are shipped out (output).</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384810" y="384810"/>
            <a:ext cx="4427220" cy="4627245"/>
          </a:xfrm>
          <a:custGeom>
            <a:avLst/>
            <a:gdLst/>
            <a:ahLst/>
            <a:cxnLst/>
            <a:rect l="l" t="t" r="r" b="b"/>
            <a:pathLst>
              <a:path w="4427220" h="4627245">
                <a:moveTo>
                  <a:pt x="114311" y="0"/>
                </a:moveTo>
                <a:lnTo>
                  <a:pt x="4312909" y="0"/>
                </a:lnTo>
                <a:cubicBezTo>
                  <a:pt x="4376041" y="0"/>
                  <a:pt x="4427220" y="51179"/>
                  <a:pt x="4427220" y="114311"/>
                </a:cubicBezTo>
                <a:lnTo>
                  <a:pt x="4427220" y="4512934"/>
                </a:lnTo>
                <a:cubicBezTo>
                  <a:pt x="4427220" y="4576066"/>
                  <a:pt x="4376041" y="4627245"/>
                  <a:pt x="4312909" y="4627245"/>
                </a:cubicBezTo>
                <a:lnTo>
                  <a:pt x="114311" y="4627245"/>
                </a:lnTo>
                <a:cubicBezTo>
                  <a:pt x="51179" y="4627245"/>
                  <a:pt x="0" y="4576066"/>
                  <a:pt x="0" y="4512934"/>
                </a:cubicBezTo>
                <a:lnTo>
                  <a:pt x="0" y="114311"/>
                </a:lnTo>
                <a:cubicBezTo>
                  <a:pt x="0" y="51179"/>
                  <a:pt x="51179" y="0"/>
                  <a:pt x="114311" y="0"/>
                </a:cubicBezTo>
                <a:close/>
              </a:path>
            </a:pathLst>
          </a:custGeom>
          <a:solidFill>
            <a:srgbClr val="262626"/>
          </a:solidFill>
          <a:ln w="10160">
            <a:solidFill>
              <a:srgbClr val="333333"/>
            </a:solidFill>
            <a:prstDash val="solid"/>
          </a:ln>
        </p:spPr>
      </p:sp>
      <p:pic>
        <p:nvPicPr>
          <p:cNvPr id="3" name="Image 0" descr="https://kimi-web-img.moonshot.cn/img/www.carnegiecyberacademy.com/bcf70becc111e4b404dfc6453358d3f0839473db.gif"/>
          <p:cNvPicPr>
            <a:picLocks noChangeAspect="1"/>
          </p:cNvPicPr>
          <p:nvPr/>
        </p:nvPicPr>
        <p:blipFill>
          <a:blip r:embed="rId3"/>
          <a:srcRect l="14437" r="14437"/>
          <a:stretch/>
        </p:blipFill>
        <p:spPr>
          <a:xfrm>
            <a:off x="388620" y="388618"/>
            <a:ext cx="4419600" cy="4619625"/>
          </a:xfrm>
          <a:prstGeom prst="roundRect">
            <a:avLst>
              <a:gd name="adj" fmla="val 2586"/>
            </a:avLst>
          </a:prstGeom>
        </p:spPr>
      </p:pic>
      <p:sp>
        <p:nvSpPr>
          <p:cNvPr id="4" name="Shape 1"/>
          <p:cNvSpPr/>
          <p:nvPr/>
        </p:nvSpPr>
        <p:spPr>
          <a:xfrm>
            <a:off x="384810" y="5170174"/>
            <a:ext cx="4427220" cy="1303020"/>
          </a:xfrm>
          <a:custGeom>
            <a:avLst/>
            <a:gdLst/>
            <a:ahLst/>
            <a:cxnLst/>
            <a:rect l="l" t="t" r="r" b="b"/>
            <a:pathLst>
              <a:path w="4427220" h="1303020">
                <a:moveTo>
                  <a:pt x="76201" y="0"/>
                </a:moveTo>
                <a:lnTo>
                  <a:pt x="4351019" y="0"/>
                </a:lnTo>
                <a:cubicBezTo>
                  <a:pt x="4393104" y="0"/>
                  <a:pt x="4427220" y="34116"/>
                  <a:pt x="4427220" y="76201"/>
                </a:cubicBezTo>
                <a:lnTo>
                  <a:pt x="4427220" y="1226819"/>
                </a:lnTo>
                <a:cubicBezTo>
                  <a:pt x="4427220" y="1268904"/>
                  <a:pt x="4393104" y="1303020"/>
                  <a:pt x="4351019" y="1303020"/>
                </a:cubicBezTo>
                <a:lnTo>
                  <a:pt x="76201" y="1303020"/>
                </a:lnTo>
                <a:cubicBezTo>
                  <a:pt x="34116" y="1303020"/>
                  <a:pt x="0" y="1268904"/>
                  <a:pt x="0" y="1226819"/>
                </a:cubicBezTo>
                <a:lnTo>
                  <a:pt x="0" y="76201"/>
                </a:lnTo>
                <a:cubicBezTo>
                  <a:pt x="0" y="34144"/>
                  <a:pt x="34144" y="0"/>
                  <a:pt x="76201" y="0"/>
                </a:cubicBezTo>
                <a:close/>
              </a:path>
            </a:pathLst>
          </a:custGeom>
          <a:solidFill>
            <a:srgbClr val="6366F1">
              <a:alpha val="10196"/>
            </a:srgbClr>
          </a:solidFill>
          <a:ln w="10160">
            <a:solidFill>
              <a:srgbClr val="6366F1">
                <a:alpha val="30196"/>
              </a:srgbClr>
            </a:solidFill>
            <a:prstDash val="solid"/>
          </a:ln>
        </p:spPr>
      </p:sp>
      <p:sp>
        <p:nvSpPr>
          <p:cNvPr id="5" name="Text 2"/>
          <p:cNvSpPr/>
          <p:nvPr/>
        </p:nvSpPr>
        <p:spPr>
          <a:xfrm>
            <a:off x="541020" y="5326382"/>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6" name="Text 3"/>
          <p:cNvSpPr/>
          <p:nvPr/>
        </p:nvSpPr>
        <p:spPr>
          <a:xfrm>
            <a:off x="541020" y="5631182"/>
            <a:ext cx="41910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Physical components are the parts you can touch and see. They work together like the organs in a body, each with a specific job to keep the system running.</a:t>
            </a:r>
            <a:endParaRPr lang="en-US" sz="1600" dirty="0"/>
          </a:p>
        </p:txBody>
      </p:sp>
      <p:sp>
        <p:nvSpPr>
          <p:cNvPr id="7" name="Text 4"/>
          <p:cNvSpPr/>
          <p:nvPr/>
        </p:nvSpPr>
        <p:spPr>
          <a:xfrm>
            <a:off x="504444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2.2</a:t>
            </a:r>
            <a:endParaRPr lang="en-US" sz="1600" dirty="0"/>
          </a:p>
        </p:txBody>
      </p:sp>
      <p:sp>
        <p:nvSpPr>
          <p:cNvPr id="8" name="Text 5"/>
          <p:cNvSpPr/>
          <p:nvPr/>
        </p:nvSpPr>
        <p:spPr>
          <a:xfrm>
            <a:off x="504444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Physical Components</a:t>
            </a:r>
            <a:endParaRPr lang="en-US" sz="1600" dirty="0"/>
          </a:p>
        </p:txBody>
      </p:sp>
      <p:sp>
        <p:nvSpPr>
          <p:cNvPr id="9" name="Shape 6"/>
          <p:cNvSpPr/>
          <p:nvPr/>
        </p:nvSpPr>
        <p:spPr>
          <a:xfrm>
            <a:off x="504444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0" name="Shape 7"/>
          <p:cNvSpPr/>
          <p:nvPr/>
        </p:nvSpPr>
        <p:spPr>
          <a:xfrm>
            <a:off x="5132547" y="1457325"/>
            <a:ext cx="133350" cy="133350"/>
          </a:xfrm>
          <a:custGeom>
            <a:avLst/>
            <a:gdLst/>
            <a:ahLst/>
            <a:cxnLst/>
            <a:rect l="l" t="t" r="r" b="b"/>
            <a:pathLst>
              <a:path w="133350" h="133350">
                <a:moveTo>
                  <a:pt x="75009" y="8334"/>
                </a:moveTo>
                <a:cubicBezTo>
                  <a:pt x="75009" y="3724"/>
                  <a:pt x="71285" y="0"/>
                  <a:pt x="66675" y="0"/>
                </a:cubicBezTo>
                <a:cubicBezTo>
                  <a:pt x="62065" y="0"/>
                  <a:pt x="58341" y="3724"/>
                  <a:pt x="58341" y="8334"/>
                </a:cubicBezTo>
                <a:lnTo>
                  <a:pt x="58341" y="62508"/>
                </a:lnTo>
                <a:cubicBezTo>
                  <a:pt x="58341" y="64800"/>
                  <a:pt x="56465" y="66675"/>
                  <a:pt x="54173" y="66675"/>
                </a:cubicBezTo>
                <a:cubicBezTo>
                  <a:pt x="51881" y="66675"/>
                  <a:pt x="50006" y="64800"/>
                  <a:pt x="50006" y="62508"/>
                </a:cubicBezTo>
                <a:lnTo>
                  <a:pt x="50006" y="16669"/>
                </a:lnTo>
                <a:cubicBezTo>
                  <a:pt x="50006" y="12059"/>
                  <a:pt x="46282" y="8334"/>
                  <a:pt x="41672" y="8334"/>
                </a:cubicBezTo>
                <a:cubicBezTo>
                  <a:pt x="37062" y="8334"/>
                  <a:pt x="33337" y="12059"/>
                  <a:pt x="33337" y="16669"/>
                </a:cubicBezTo>
                <a:lnTo>
                  <a:pt x="33337" y="87511"/>
                </a:lnTo>
                <a:cubicBezTo>
                  <a:pt x="33337" y="87902"/>
                  <a:pt x="33337" y="88318"/>
                  <a:pt x="33364" y="88709"/>
                </a:cubicBezTo>
                <a:lnTo>
                  <a:pt x="17606" y="73707"/>
                </a:lnTo>
                <a:cubicBezTo>
                  <a:pt x="13439" y="69748"/>
                  <a:pt x="6850" y="69905"/>
                  <a:pt x="2865" y="74072"/>
                </a:cubicBezTo>
                <a:cubicBezTo>
                  <a:pt x="-1120" y="78239"/>
                  <a:pt x="-938" y="84828"/>
                  <a:pt x="3230" y="88813"/>
                </a:cubicBezTo>
                <a:lnTo>
                  <a:pt x="32504" y="116681"/>
                </a:lnTo>
                <a:cubicBezTo>
                  <a:pt x="43729" y="127386"/>
                  <a:pt x="58653" y="133350"/>
                  <a:pt x="74176" y="133350"/>
                </a:cubicBezTo>
                <a:lnTo>
                  <a:pt x="79177" y="133350"/>
                </a:lnTo>
                <a:cubicBezTo>
                  <a:pt x="104492" y="133350"/>
                  <a:pt x="125016" y="112827"/>
                  <a:pt x="125016" y="87511"/>
                </a:cubicBezTo>
                <a:lnTo>
                  <a:pt x="125016" y="33337"/>
                </a:lnTo>
                <a:cubicBezTo>
                  <a:pt x="125016" y="28728"/>
                  <a:pt x="121291" y="25003"/>
                  <a:pt x="116681" y="25003"/>
                </a:cubicBezTo>
                <a:cubicBezTo>
                  <a:pt x="112071" y="25003"/>
                  <a:pt x="108347" y="28728"/>
                  <a:pt x="108347" y="33337"/>
                </a:cubicBezTo>
                <a:lnTo>
                  <a:pt x="108347" y="62508"/>
                </a:lnTo>
                <a:cubicBezTo>
                  <a:pt x="108347" y="64800"/>
                  <a:pt x="106472" y="66675"/>
                  <a:pt x="104180" y="66675"/>
                </a:cubicBezTo>
                <a:cubicBezTo>
                  <a:pt x="101888" y="66675"/>
                  <a:pt x="100013" y="64800"/>
                  <a:pt x="100013" y="62508"/>
                </a:cubicBezTo>
                <a:lnTo>
                  <a:pt x="100013" y="16669"/>
                </a:lnTo>
                <a:cubicBezTo>
                  <a:pt x="100013" y="12059"/>
                  <a:pt x="96288" y="8334"/>
                  <a:pt x="91678" y="8334"/>
                </a:cubicBezTo>
                <a:cubicBezTo>
                  <a:pt x="87068" y="8334"/>
                  <a:pt x="83344" y="12059"/>
                  <a:pt x="83344" y="16669"/>
                </a:cubicBezTo>
                <a:lnTo>
                  <a:pt x="83344" y="62508"/>
                </a:lnTo>
                <a:cubicBezTo>
                  <a:pt x="83344" y="64800"/>
                  <a:pt x="81469" y="66675"/>
                  <a:pt x="79177" y="66675"/>
                </a:cubicBezTo>
                <a:cubicBezTo>
                  <a:pt x="76885" y="66675"/>
                  <a:pt x="75009" y="64800"/>
                  <a:pt x="75009" y="62508"/>
                </a:cubicBezTo>
                <a:lnTo>
                  <a:pt x="75009" y="8334"/>
                </a:lnTo>
                <a:close/>
              </a:path>
            </a:pathLst>
          </a:custGeom>
          <a:solidFill>
            <a:srgbClr val="6366F1"/>
          </a:solidFill>
          <a:ln/>
        </p:spPr>
      </p:sp>
      <p:sp>
        <p:nvSpPr>
          <p:cNvPr id="11" name="Text 8"/>
          <p:cNvSpPr/>
          <p:nvPr/>
        </p:nvSpPr>
        <p:spPr>
          <a:xfrm>
            <a:off x="5463540" y="13335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Hardware vs Software</a:t>
            </a:r>
            <a:endParaRPr lang="en-US" sz="1600" dirty="0"/>
          </a:p>
        </p:txBody>
      </p:sp>
      <p:sp>
        <p:nvSpPr>
          <p:cNvPr id="12" name="Text 9"/>
          <p:cNvSpPr/>
          <p:nvPr/>
        </p:nvSpPr>
        <p:spPr>
          <a:xfrm>
            <a:off x="5463540" y="16002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Hardware = physical parts you can touch. Software = programs and instructions you cannot touch</a:t>
            </a:r>
            <a:endParaRPr lang="en-US" sz="1600" dirty="0"/>
          </a:p>
        </p:txBody>
      </p:sp>
      <p:sp>
        <p:nvSpPr>
          <p:cNvPr id="13" name="Shape 10"/>
          <p:cNvSpPr/>
          <p:nvPr/>
        </p:nvSpPr>
        <p:spPr>
          <a:xfrm>
            <a:off x="5044440" y="2209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4" name="Shape 11"/>
          <p:cNvSpPr/>
          <p:nvPr/>
        </p:nvSpPr>
        <p:spPr>
          <a:xfrm>
            <a:off x="5140881" y="2295525"/>
            <a:ext cx="116681" cy="133350"/>
          </a:xfrm>
          <a:custGeom>
            <a:avLst/>
            <a:gdLst/>
            <a:ahLst/>
            <a:cxnLst/>
            <a:rect l="l" t="t" r="r" b="b"/>
            <a:pathLst>
              <a:path w="116681" h="133350">
                <a:moveTo>
                  <a:pt x="33337" y="-8334"/>
                </a:moveTo>
                <a:cubicBezTo>
                  <a:pt x="37947" y="-8334"/>
                  <a:pt x="41672" y="-4610"/>
                  <a:pt x="41672" y="0"/>
                </a:cubicBezTo>
                <a:lnTo>
                  <a:pt x="41672" y="25003"/>
                </a:lnTo>
                <a:lnTo>
                  <a:pt x="75009" y="25003"/>
                </a:lnTo>
                <a:lnTo>
                  <a:pt x="75009" y="0"/>
                </a:lnTo>
                <a:cubicBezTo>
                  <a:pt x="75009" y="-4610"/>
                  <a:pt x="78734" y="-8334"/>
                  <a:pt x="83344" y="-8334"/>
                </a:cubicBezTo>
                <a:cubicBezTo>
                  <a:pt x="87954" y="-8334"/>
                  <a:pt x="91678" y="-4610"/>
                  <a:pt x="91678" y="0"/>
                </a:cubicBezTo>
                <a:lnTo>
                  <a:pt x="91678" y="25003"/>
                </a:lnTo>
                <a:lnTo>
                  <a:pt x="108347" y="25003"/>
                </a:lnTo>
                <a:cubicBezTo>
                  <a:pt x="112957" y="25003"/>
                  <a:pt x="116681" y="28728"/>
                  <a:pt x="116681" y="33337"/>
                </a:cubicBezTo>
                <a:cubicBezTo>
                  <a:pt x="116681" y="37947"/>
                  <a:pt x="112957" y="41672"/>
                  <a:pt x="108347" y="41672"/>
                </a:cubicBezTo>
                <a:lnTo>
                  <a:pt x="108347" y="58341"/>
                </a:lnTo>
                <a:cubicBezTo>
                  <a:pt x="108347" y="83109"/>
                  <a:pt x="90324" y="103685"/>
                  <a:pt x="66675" y="107644"/>
                </a:cubicBezTo>
                <a:lnTo>
                  <a:pt x="66675" y="125016"/>
                </a:lnTo>
                <a:cubicBezTo>
                  <a:pt x="66675" y="129626"/>
                  <a:pt x="62951" y="133350"/>
                  <a:pt x="58341" y="133350"/>
                </a:cubicBezTo>
                <a:cubicBezTo>
                  <a:pt x="53731" y="133350"/>
                  <a:pt x="50006" y="129626"/>
                  <a:pt x="50006" y="125016"/>
                </a:cubicBezTo>
                <a:lnTo>
                  <a:pt x="50006" y="107644"/>
                </a:lnTo>
                <a:cubicBezTo>
                  <a:pt x="26357" y="103685"/>
                  <a:pt x="8334" y="83109"/>
                  <a:pt x="8334" y="58341"/>
                </a:cubicBezTo>
                <a:lnTo>
                  <a:pt x="8334" y="41672"/>
                </a:lnTo>
                <a:cubicBezTo>
                  <a:pt x="3724" y="41672"/>
                  <a:pt x="0" y="37947"/>
                  <a:pt x="0" y="33337"/>
                </a:cubicBezTo>
                <a:cubicBezTo>
                  <a:pt x="0" y="28728"/>
                  <a:pt x="3724" y="25003"/>
                  <a:pt x="8334" y="25003"/>
                </a:cubicBezTo>
                <a:lnTo>
                  <a:pt x="25003" y="25003"/>
                </a:lnTo>
                <a:lnTo>
                  <a:pt x="25003" y="0"/>
                </a:lnTo>
                <a:cubicBezTo>
                  <a:pt x="25003" y="-4610"/>
                  <a:pt x="28728" y="-8334"/>
                  <a:pt x="33337" y="-8334"/>
                </a:cubicBezTo>
                <a:close/>
              </a:path>
            </a:pathLst>
          </a:custGeom>
          <a:solidFill>
            <a:srgbClr val="6366F1"/>
          </a:solidFill>
          <a:ln/>
        </p:spPr>
      </p:sp>
      <p:sp>
        <p:nvSpPr>
          <p:cNvPr id="15" name="Text 12"/>
          <p:cNvSpPr/>
          <p:nvPr/>
        </p:nvSpPr>
        <p:spPr>
          <a:xfrm>
            <a:off x="5463540" y="21717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Input Devices</a:t>
            </a:r>
            <a:endParaRPr lang="en-US" sz="1600" dirty="0"/>
          </a:p>
        </p:txBody>
      </p:sp>
      <p:sp>
        <p:nvSpPr>
          <p:cNvPr id="16" name="Text 13"/>
          <p:cNvSpPr/>
          <p:nvPr/>
        </p:nvSpPr>
        <p:spPr>
          <a:xfrm>
            <a:off x="5463540" y="24384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Keyboard, mouse, scanner, microphone, webcam, touchscreen - devices that send data to the computer</a:t>
            </a:r>
            <a:endParaRPr lang="en-US" sz="1600" dirty="0"/>
          </a:p>
        </p:txBody>
      </p:sp>
      <p:sp>
        <p:nvSpPr>
          <p:cNvPr id="17" name="Shape 14"/>
          <p:cNvSpPr/>
          <p:nvPr/>
        </p:nvSpPr>
        <p:spPr>
          <a:xfrm>
            <a:off x="5044440" y="3048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8" name="Shape 15"/>
          <p:cNvSpPr/>
          <p:nvPr/>
        </p:nvSpPr>
        <p:spPr>
          <a:xfrm>
            <a:off x="5124212" y="3133725"/>
            <a:ext cx="150019" cy="133350"/>
          </a:xfrm>
          <a:custGeom>
            <a:avLst/>
            <a:gdLst/>
            <a:ahLst/>
            <a:cxnLst/>
            <a:rect l="l" t="t" r="r" b="b"/>
            <a:pathLst>
              <a:path w="150019" h="133350">
                <a:moveTo>
                  <a:pt x="16669" y="25003"/>
                </a:moveTo>
                <a:lnTo>
                  <a:pt x="16669" y="87511"/>
                </a:lnTo>
                <a:lnTo>
                  <a:pt x="133350" y="87511"/>
                </a:lnTo>
                <a:lnTo>
                  <a:pt x="133350" y="25003"/>
                </a:lnTo>
                <a:lnTo>
                  <a:pt x="16669" y="25003"/>
                </a:lnTo>
                <a:close/>
                <a:moveTo>
                  <a:pt x="0" y="25003"/>
                </a:moveTo>
                <a:cubicBezTo>
                  <a:pt x="0" y="15809"/>
                  <a:pt x="7475" y="8334"/>
                  <a:pt x="16669" y="8334"/>
                </a:cubicBezTo>
                <a:lnTo>
                  <a:pt x="133350" y="8334"/>
                </a:lnTo>
                <a:cubicBezTo>
                  <a:pt x="142544" y="8334"/>
                  <a:pt x="150019" y="15809"/>
                  <a:pt x="150019" y="25003"/>
                </a:cubicBezTo>
                <a:lnTo>
                  <a:pt x="150019" y="87511"/>
                </a:lnTo>
                <a:cubicBezTo>
                  <a:pt x="150019" y="96705"/>
                  <a:pt x="142544" y="104180"/>
                  <a:pt x="133350" y="104180"/>
                </a:cubicBezTo>
                <a:lnTo>
                  <a:pt x="16669" y="104180"/>
                </a:lnTo>
                <a:cubicBezTo>
                  <a:pt x="7475" y="104180"/>
                  <a:pt x="0" y="96705"/>
                  <a:pt x="0" y="87511"/>
                </a:cubicBezTo>
                <a:lnTo>
                  <a:pt x="0" y="25003"/>
                </a:lnTo>
                <a:close/>
                <a:moveTo>
                  <a:pt x="41672" y="116681"/>
                </a:moveTo>
                <a:lnTo>
                  <a:pt x="108347" y="116681"/>
                </a:lnTo>
                <a:cubicBezTo>
                  <a:pt x="112957" y="116681"/>
                  <a:pt x="116681" y="120406"/>
                  <a:pt x="116681" y="125016"/>
                </a:cubicBezTo>
                <a:cubicBezTo>
                  <a:pt x="116681" y="129626"/>
                  <a:pt x="112957" y="133350"/>
                  <a:pt x="108347" y="133350"/>
                </a:cubicBezTo>
                <a:lnTo>
                  <a:pt x="41672" y="133350"/>
                </a:lnTo>
                <a:cubicBezTo>
                  <a:pt x="37062" y="133350"/>
                  <a:pt x="33337" y="129626"/>
                  <a:pt x="33337" y="125016"/>
                </a:cubicBezTo>
                <a:cubicBezTo>
                  <a:pt x="33337" y="120406"/>
                  <a:pt x="37062" y="116681"/>
                  <a:pt x="41672" y="116681"/>
                </a:cubicBezTo>
                <a:close/>
              </a:path>
            </a:pathLst>
          </a:custGeom>
          <a:solidFill>
            <a:srgbClr val="6366F1"/>
          </a:solidFill>
          <a:ln/>
        </p:spPr>
      </p:sp>
      <p:sp>
        <p:nvSpPr>
          <p:cNvPr id="19" name="Text 16"/>
          <p:cNvSpPr/>
          <p:nvPr/>
        </p:nvSpPr>
        <p:spPr>
          <a:xfrm>
            <a:off x="5463540" y="3009900"/>
            <a:ext cx="63055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Output Devices</a:t>
            </a:r>
            <a:endParaRPr lang="en-US" sz="1600" dirty="0"/>
          </a:p>
        </p:txBody>
      </p:sp>
      <p:sp>
        <p:nvSpPr>
          <p:cNvPr id="20" name="Text 17"/>
          <p:cNvSpPr/>
          <p:nvPr/>
        </p:nvSpPr>
        <p:spPr>
          <a:xfrm>
            <a:off x="5463540" y="3276600"/>
            <a:ext cx="63055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Monitor, printer, speakers, projector - devices that show or produce results from the computer</a:t>
            </a:r>
            <a:endParaRPr lang="en-US" sz="1600" dirty="0"/>
          </a:p>
        </p:txBody>
      </p:sp>
      <p:sp>
        <p:nvSpPr>
          <p:cNvPr id="21" name="Shape 18"/>
          <p:cNvSpPr/>
          <p:nvPr/>
        </p:nvSpPr>
        <p:spPr>
          <a:xfrm>
            <a:off x="5044440" y="3657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2" name="Shape 19"/>
          <p:cNvSpPr/>
          <p:nvPr/>
        </p:nvSpPr>
        <p:spPr>
          <a:xfrm>
            <a:off x="5132547" y="3743325"/>
            <a:ext cx="133350" cy="133350"/>
          </a:xfrm>
          <a:custGeom>
            <a:avLst/>
            <a:gdLst/>
            <a:ahLst/>
            <a:cxnLst/>
            <a:rect l="l" t="t" r="r" b="b"/>
            <a:pathLst>
              <a:path w="133350" h="133350">
                <a:moveTo>
                  <a:pt x="45839" y="6251"/>
                </a:moveTo>
                <a:cubicBezTo>
                  <a:pt x="45839" y="2787"/>
                  <a:pt x="43052" y="0"/>
                  <a:pt x="39588" y="0"/>
                </a:cubicBezTo>
                <a:cubicBezTo>
                  <a:pt x="36124" y="0"/>
                  <a:pt x="33337" y="2787"/>
                  <a:pt x="33337" y="6251"/>
                </a:cubicBezTo>
                <a:lnTo>
                  <a:pt x="33337" y="16669"/>
                </a:lnTo>
                <a:cubicBezTo>
                  <a:pt x="24144" y="16669"/>
                  <a:pt x="16669" y="24144"/>
                  <a:pt x="16669" y="33337"/>
                </a:cubicBezTo>
                <a:lnTo>
                  <a:pt x="6251" y="33337"/>
                </a:lnTo>
                <a:cubicBezTo>
                  <a:pt x="2787" y="33337"/>
                  <a:pt x="0" y="36124"/>
                  <a:pt x="0" y="39588"/>
                </a:cubicBezTo>
                <a:cubicBezTo>
                  <a:pt x="0" y="43052"/>
                  <a:pt x="2787" y="45839"/>
                  <a:pt x="6251" y="45839"/>
                </a:cubicBezTo>
                <a:lnTo>
                  <a:pt x="16669" y="45839"/>
                </a:lnTo>
                <a:lnTo>
                  <a:pt x="16669" y="60424"/>
                </a:lnTo>
                <a:lnTo>
                  <a:pt x="6251" y="60424"/>
                </a:lnTo>
                <a:cubicBezTo>
                  <a:pt x="2787" y="60424"/>
                  <a:pt x="0" y="63211"/>
                  <a:pt x="0" y="66675"/>
                </a:cubicBezTo>
                <a:cubicBezTo>
                  <a:pt x="0" y="70139"/>
                  <a:pt x="2787" y="72926"/>
                  <a:pt x="6251" y="72926"/>
                </a:cubicBezTo>
                <a:lnTo>
                  <a:pt x="16669" y="72926"/>
                </a:lnTo>
                <a:lnTo>
                  <a:pt x="16669" y="87511"/>
                </a:lnTo>
                <a:lnTo>
                  <a:pt x="6251" y="87511"/>
                </a:lnTo>
                <a:cubicBezTo>
                  <a:pt x="2787" y="87511"/>
                  <a:pt x="0" y="90298"/>
                  <a:pt x="0" y="93762"/>
                </a:cubicBezTo>
                <a:cubicBezTo>
                  <a:pt x="0" y="97226"/>
                  <a:pt x="2787" y="100013"/>
                  <a:pt x="6251" y="100013"/>
                </a:cubicBezTo>
                <a:lnTo>
                  <a:pt x="16669" y="100013"/>
                </a:lnTo>
                <a:cubicBezTo>
                  <a:pt x="16669" y="109206"/>
                  <a:pt x="24144" y="116681"/>
                  <a:pt x="33337" y="116681"/>
                </a:cubicBezTo>
                <a:lnTo>
                  <a:pt x="33337" y="127099"/>
                </a:lnTo>
                <a:cubicBezTo>
                  <a:pt x="33337" y="130563"/>
                  <a:pt x="36124" y="133350"/>
                  <a:pt x="39588" y="133350"/>
                </a:cubicBezTo>
                <a:cubicBezTo>
                  <a:pt x="43052" y="133350"/>
                  <a:pt x="45839" y="130563"/>
                  <a:pt x="45839" y="127099"/>
                </a:cubicBezTo>
                <a:lnTo>
                  <a:pt x="45839" y="116681"/>
                </a:lnTo>
                <a:lnTo>
                  <a:pt x="60424" y="116681"/>
                </a:lnTo>
                <a:lnTo>
                  <a:pt x="60424" y="127099"/>
                </a:lnTo>
                <a:cubicBezTo>
                  <a:pt x="60424" y="130563"/>
                  <a:pt x="63211" y="133350"/>
                  <a:pt x="66675" y="133350"/>
                </a:cubicBezTo>
                <a:cubicBezTo>
                  <a:pt x="70139" y="133350"/>
                  <a:pt x="72926" y="130563"/>
                  <a:pt x="72926" y="127099"/>
                </a:cubicBezTo>
                <a:lnTo>
                  <a:pt x="72926" y="116681"/>
                </a:lnTo>
                <a:lnTo>
                  <a:pt x="87511" y="116681"/>
                </a:lnTo>
                <a:lnTo>
                  <a:pt x="87511" y="127099"/>
                </a:lnTo>
                <a:cubicBezTo>
                  <a:pt x="87511" y="130563"/>
                  <a:pt x="90298" y="133350"/>
                  <a:pt x="93762" y="133350"/>
                </a:cubicBezTo>
                <a:cubicBezTo>
                  <a:pt x="97226" y="133350"/>
                  <a:pt x="100013" y="130563"/>
                  <a:pt x="100013" y="127099"/>
                </a:cubicBezTo>
                <a:lnTo>
                  <a:pt x="100013" y="116681"/>
                </a:lnTo>
                <a:cubicBezTo>
                  <a:pt x="109206" y="116681"/>
                  <a:pt x="116681" y="109206"/>
                  <a:pt x="116681" y="100013"/>
                </a:cubicBezTo>
                <a:lnTo>
                  <a:pt x="127099" y="100013"/>
                </a:lnTo>
                <a:cubicBezTo>
                  <a:pt x="130563" y="100013"/>
                  <a:pt x="133350" y="97226"/>
                  <a:pt x="133350" y="93762"/>
                </a:cubicBezTo>
                <a:cubicBezTo>
                  <a:pt x="133350" y="90298"/>
                  <a:pt x="130563" y="87511"/>
                  <a:pt x="127099" y="87511"/>
                </a:cubicBezTo>
                <a:lnTo>
                  <a:pt x="116681" y="87511"/>
                </a:lnTo>
                <a:lnTo>
                  <a:pt x="116681" y="72926"/>
                </a:lnTo>
                <a:lnTo>
                  <a:pt x="127099" y="72926"/>
                </a:lnTo>
                <a:cubicBezTo>
                  <a:pt x="130563" y="72926"/>
                  <a:pt x="133350" y="70139"/>
                  <a:pt x="133350" y="66675"/>
                </a:cubicBezTo>
                <a:cubicBezTo>
                  <a:pt x="133350" y="63211"/>
                  <a:pt x="130563" y="60424"/>
                  <a:pt x="127099" y="60424"/>
                </a:cubicBezTo>
                <a:lnTo>
                  <a:pt x="116681" y="60424"/>
                </a:lnTo>
                <a:lnTo>
                  <a:pt x="116681" y="45839"/>
                </a:lnTo>
                <a:lnTo>
                  <a:pt x="127099" y="45839"/>
                </a:lnTo>
                <a:cubicBezTo>
                  <a:pt x="130563" y="45839"/>
                  <a:pt x="133350" y="43052"/>
                  <a:pt x="133350" y="39588"/>
                </a:cubicBezTo>
                <a:cubicBezTo>
                  <a:pt x="133350" y="36124"/>
                  <a:pt x="130563" y="33337"/>
                  <a:pt x="127099" y="33337"/>
                </a:cubicBezTo>
                <a:lnTo>
                  <a:pt x="116681" y="33337"/>
                </a:lnTo>
                <a:cubicBezTo>
                  <a:pt x="116681" y="24144"/>
                  <a:pt x="109206" y="16669"/>
                  <a:pt x="100013" y="16669"/>
                </a:cubicBezTo>
                <a:lnTo>
                  <a:pt x="100013" y="6251"/>
                </a:lnTo>
                <a:cubicBezTo>
                  <a:pt x="100013" y="2787"/>
                  <a:pt x="97226" y="0"/>
                  <a:pt x="93762" y="0"/>
                </a:cubicBezTo>
                <a:cubicBezTo>
                  <a:pt x="90298" y="0"/>
                  <a:pt x="87511" y="2787"/>
                  <a:pt x="87511" y="6251"/>
                </a:cubicBezTo>
                <a:lnTo>
                  <a:pt x="87511" y="16669"/>
                </a:lnTo>
                <a:lnTo>
                  <a:pt x="72926" y="16669"/>
                </a:lnTo>
                <a:lnTo>
                  <a:pt x="72926" y="6251"/>
                </a:lnTo>
                <a:cubicBezTo>
                  <a:pt x="72926" y="2787"/>
                  <a:pt x="70139" y="0"/>
                  <a:pt x="66675" y="0"/>
                </a:cubicBezTo>
                <a:cubicBezTo>
                  <a:pt x="63211" y="0"/>
                  <a:pt x="60424" y="2787"/>
                  <a:pt x="60424" y="6251"/>
                </a:cubicBezTo>
                <a:lnTo>
                  <a:pt x="60424" y="16669"/>
                </a:lnTo>
                <a:lnTo>
                  <a:pt x="45839" y="16669"/>
                </a:lnTo>
                <a:lnTo>
                  <a:pt x="45839" y="6251"/>
                </a:lnTo>
                <a:close/>
                <a:moveTo>
                  <a:pt x="41672" y="33337"/>
                </a:moveTo>
                <a:lnTo>
                  <a:pt x="91678" y="33337"/>
                </a:lnTo>
                <a:cubicBezTo>
                  <a:pt x="96288" y="33337"/>
                  <a:pt x="100013" y="37062"/>
                  <a:pt x="100013" y="41672"/>
                </a:cubicBezTo>
                <a:lnTo>
                  <a:pt x="100013" y="91678"/>
                </a:lnTo>
                <a:cubicBezTo>
                  <a:pt x="100013" y="96288"/>
                  <a:pt x="96288" y="100013"/>
                  <a:pt x="91678" y="100013"/>
                </a:cubicBezTo>
                <a:lnTo>
                  <a:pt x="41672" y="100013"/>
                </a:lnTo>
                <a:cubicBezTo>
                  <a:pt x="37062" y="100013"/>
                  <a:pt x="33337" y="96288"/>
                  <a:pt x="33337" y="91678"/>
                </a:cubicBezTo>
                <a:lnTo>
                  <a:pt x="33337" y="41672"/>
                </a:lnTo>
                <a:cubicBezTo>
                  <a:pt x="33337" y="37062"/>
                  <a:pt x="37062" y="33337"/>
                  <a:pt x="41672" y="33337"/>
                </a:cubicBezTo>
                <a:close/>
                <a:moveTo>
                  <a:pt x="45839" y="45839"/>
                </a:moveTo>
                <a:lnTo>
                  <a:pt x="45839" y="87511"/>
                </a:lnTo>
                <a:lnTo>
                  <a:pt x="87511" y="87511"/>
                </a:lnTo>
                <a:lnTo>
                  <a:pt x="87511" y="45839"/>
                </a:lnTo>
                <a:lnTo>
                  <a:pt x="45839" y="45839"/>
                </a:lnTo>
                <a:close/>
              </a:path>
            </a:pathLst>
          </a:custGeom>
          <a:solidFill>
            <a:srgbClr val="6366F1"/>
          </a:solidFill>
          <a:ln/>
        </p:spPr>
      </p:sp>
      <p:sp>
        <p:nvSpPr>
          <p:cNvPr id="23" name="Text 20"/>
          <p:cNvSpPr/>
          <p:nvPr/>
        </p:nvSpPr>
        <p:spPr>
          <a:xfrm>
            <a:off x="5463540" y="3619500"/>
            <a:ext cx="55911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Internal Components</a:t>
            </a:r>
            <a:endParaRPr lang="en-US" sz="1600" dirty="0"/>
          </a:p>
        </p:txBody>
      </p:sp>
      <p:sp>
        <p:nvSpPr>
          <p:cNvPr id="24" name="Text 21"/>
          <p:cNvSpPr/>
          <p:nvPr/>
        </p:nvSpPr>
        <p:spPr>
          <a:xfrm>
            <a:off x="5463540" y="3886200"/>
            <a:ext cx="55911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CPU, RAM, motherboard, power supply, hard drive - parts inside the computer case</a:t>
            </a:r>
            <a:endParaRPr lang="en-US" sz="1600" dirty="0"/>
          </a:p>
        </p:txBody>
      </p:sp>
      <p:sp>
        <p:nvSpPr>
          <p:cNvPr id="25" name="Shape 22"/>
          <p:cNvSpPr/>
          <p:nvPr/>
        </p:nvSpPr>
        <p:spPr>
          <a:xfrm>
            <a:off x="5044440" y="42672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6" name="Shape 23"/>
          <p:cNvSpPr/>
          <p:nvPr/>
        </p:nvSpPr>
        <p:spPr>
          <a:xfrm>
            <a:off x="5132547" y="4352925"/>
            <a:ext cx="133350" cy="133350"/>
          </a:xfrm>
          <a:custGeom>
            <a:avLst/>
            <a:gdLst/>
            <a:ahLst/>
            <a:cxnLst/>
            <a:rect l="l" t="t" r="r" b="b"/>
            <a:pathLst>
              <a:path w="133350" h="133350">
                <a:moveTo>
                  <a:pt x="17164" y="59513"/>
                </a:moveTo>
                <a:cubicBezTo>
                  <a:pt x="20628" y="35291"/>
                  <a:pt x="41490" y="16669"/>
                  <a:pt x="66675" y="16669"/>
                </a:cubicBezTo>
                <a:cubicBezTo>
                  <a:pt x="80479" y="16669"/>
                  <a:pt x="92980" y="22268"/>
                  <a:pt x="102044" y="31306"/>
                </a:cubicBezTo>
                <a:cubicBezTo>
                  <a:pt x="102096" y="31358"/>
                  <a:pt x="102148" y="31410"/>
                  <a:pt x="102200" y="31462"/>
                </a:cubicBezTo>
                <a:lnTo>
                  <a:pt x="104180" y="33337"/>
                </a:lnTo>
                <a:lnTo>
                  <a:pt x="91704" y="33337"/>
                </a:lnTo>
                <a:cubicBezTo>
                  <a:pt x="87094" y="33337"/>
                  <a:pt x="83370" y="37062"/>
                  <a:pt x="83370" y="41672"/>
                </a:cubicBezTo>
                <a:cubicBezTo>
                  <a:pt x="83370" y="46282"/>
                  <a:pt x="87094" y="50006"/>
                  <a:pt x="91704" y="50006"/>
                </a:cubicBezTo>
                <a:lnTo>
                  <a:pt x="125042" y="50006"/>
                </a:lnTo>
                <a:cubicBezTo>
                  <a:pt x="129652" y="50006"/>
                  <a:pt x="133376" y="46282"/>
                  <a:pt x="133376" y="41672"/>
                </a:cubicBezTo>
                <a:lnTo>
                  <a:pt x="133376" y="8334"/>
                </a:lnTo>
                <a:cubicBezTo>
                  <a:pt x="133376" y="3724"/>
                  <a:pt x="129652" y="0"/>
                  <a:pt x="125042" y="0"/>
                </a:cubicBezTo>
                <a:cubicBezTo>
                  <a:pt x="120432" y="0"/>
                  <a:pt x="116707" y="3724"/>
                  <a:pt x="116707" y="8334"/>
                </a:cubicBezTo>
                <a:lnTo>
                  <a:pt x="116707" y="22242"/>
                </a:lnTo>
                <a:lnTo>
                  <a:pt x="113764" y="19456"/>
                </a:lnTo>
                <a:cubicBezTo>
                  <a:pt x="101705" y="7449"/>
                  <a:pt x="85037" y="0"/>
                  <a:pt x="66675" y="0"/>
                </a:cubicBezTo>
                <a:cubicBezTo>
                  <a:pt x="33077" y="0"/>
                  <a:pt x="5287" y="24847"/>
                  <a:pt x="677" y="57169"/>
                </a:cubicBezTo>
                <a:cubicBezTo>
                  <a:pt x="26" y="61726"/>
                  <a:pt x="3177" y="65946"/>
                  <a:pt x="7735" y="66597"/>
                </a:cubicBezTo>
                <a:cubicBezTo>
                  <a:pt x="12293" y="67248"/>
                  <a:pt x="16512" y="64071"/>
                  <a:pt x="17164" y="59539"/>
                </a:cubicBezTo>
                <a:close/>
                <a:moveTo>
                  <a:pt x="132673" y="76181"/>
                </a:moveTo>
                <a:cubicBezTo>
                  <a:pt x="133324" y="71624"/>
                  <a:pt x="130146" y="67404"/>
                  <a:pt x="125615" y="66753"/>
                </a:cubicBezTo>
                <a:cubicBezTo>
                  <a:pt x="121083" y="66102"/>
                  <a:pt x="116838" y="69279"/>
                  <a:pt x="116186" y="73811"/>
                </a:cubicBezTo>
                <a:cubicBezTo>
                  <a:pt x="112722" y="98033"/>
                  <a:pt x="91860" y="116655"/>
                  <a:pt x="66675" y="116655"/>
                </a:cubicBezTo>
                <a:cubicBezTo>
                  <a:pt x="52871" y="116655"/>
                  <a:pt x="40370" y="111056"/>
                  <a:pt x="31306" y="102018"/>
                </a:cubicBezTo>
                <a:cubicBezTo>
                  <a:pt x="31254" y="101966"/>
                  <a:pt x="31202" y="101914"/>
                  <a:pt x="31150" y="101862"/>
                </a:cubicBezTo>
                <a:lnTo>
                  <a:pt x="29170" y="99986"/>
                </a:lnTo>
                <a:lnTo>
                  <a:pt x="41646" y="99986"/>
                </a:lnTo>
                <a:cubicBezTo>
                  <a:pt x="46256" y="99986"/>
                  <a:pt x="49980" y="96262"/>
                  <a:pt x="49980" y="91652"/>
                </a:cubicBezTo>
                <a:cubicBezTo>
                  <a:pt x="49980" y="87042"/>
                  <a:pt x="46256" y="83318"/>
                  <a:pt x="41646" y="83318"/>
                </a:cubicBezTo>
                <a:lnTo>
                  <a:pt x="8334" y="83344"/>
                </a:lnTo>
                <a:cubicBezTo>
                  <a:pt x="6121" y="83344"/>
                  <a:pt x="3985" y="84229"/>
                  <a:pt x="2422" y="85818"/>
                </a:cubicBezTo>
                <a:cubicBezTo>
                  <a:pt x="859" y="87407"/>
                  <a:pt x="-26" y="89516"/>
                  <a:pt x="0" y="91756"/>
                </a:cubicBezTo>
                <a:lnTo>
                  <a:pt x="260" y="124833"/>
                </a:lnTo>
                <a:cubicBezTo>
                  <a:pt x="286" y="129443"/>
                  <a:pt x="4063" y="133142"/>
                  <a:pt x="8673" y="133090"/>
                </a:cubicBezTo>
                <a:cubicBezTo>
                  <a:pt x="13283" y="133037"/>
                  <a:pt x="16981" y="129287"/>
                  <a:pt x="16929" y="124677"/>
                </a:cubicBezTo>
                <a:lnTo>
                  <a:pt x="16825" y="111264"/>
                </a:lnTo>
                <a:lnTo>
                  <a:pt x="19612" y="113894"/>
                </a:lnTo>
                <a:cubicBezTo>
                  <a:pt x="31671" y="125901"/>
                  <a:pt x="48313" y="133350"/>
                  <a:pt x="66675" y="133350"/>
                </a:cubicBezTo>
                <a:cubicBezTo>
                  <a:pt x="100273" y="133350"/>
                  <a:pt x="128063" y="108503"/>
                  <a:pt x="132673" y="76181"/>
                </a:cubicBezTo>
                <a:close/>
              </a:path>
            </a:pathLst>
          </a:custGeom>
          <a:solidFill>
            <a:srgbClr val="6366F1"/>
          </a:solidFill>
          <a:ln/>
        </p:spPr>
      </p:sp>
      <p:sp>
        <p:nvSpPr>
          <p:cNvPr id="27" name="Text 24"/>
          <p:cNvSpPr/>
          <p:nvPr/>
        </p:nvSpPr>
        <p:spPr>
          <a:xfrm>
            <a:off x="5463540" y="4229100"/>
            <a:ext cx="6029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Peripherals</a:t>
            </a:r>
            <a:endParaRPr lang="en-US" sz="1600" dirty="0"/>
          </a:p>
        </p:txBody>
      </p:sp>
      <p:sp>
        <p:nvSpPr>
          <p:cNvPr id="28" name="Text 25"/>
          <p:cNvSpPr/>
          <p:nvPr/>
        </p:nvSpPr>
        <p:spPr>
          <a:xfrm>
            <a:off x="5463540" y="4495800"/>
            <a:ext cx="60293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External devices connected to the computer: USB drives, external hard disks, headphones</a:t>
            </a:r>
            <a:endParaRPr lang="en-US" sz="1600" dirty="0"/>
          </a:p>
        </p:txBody>
      </p:sp>
      <p:sp>
        <p:nvSpPr>
          <p:cNvPr id="29" name="Shape 26"/>
          <p:cNvSpPr/>
          <p:nvPr/>
        </p:nvSpPr>
        <p:spPr>
          <a:xfrm>
            <a:off x="5048250" y="5703574"/>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30" name="Text 27"/>
          <p:cNvSpPr/>
          <p:nvPr/>
        </p:nvSpPr>
        <p:spPr>
          <a:xfrm>
            <a:off x="5204460" y="5859782"/>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Your computer setup at home - the monitor, keyboard, mouse, and the tower case containing the CPU and other parts are all physical components!</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49341" y="349341"/>
            <a:ext cx="11563186" cy="209605"/>
          </a:xfrm>
          <a:prstGeom prst="rect">
            <a:avLst/>
          </a:prstGeom>
          <a:noFill/>
          <a:ln/>
        </p:spPr>
        <p:txBody>
          <a:bodyPr wrap="square" lIns="0" tIns="0" rIns="0" bIns="0" rtlCol="0" anchor="ctr"/>
          <a:lstStyle/>
          <a:p>
            <a:pPr>
              <a:lnSpc>
                <a:spcPct val="130000"/>
              </a:lnSpc>
            </a:pPr>
            <a:r>
              <a:rPr lang="en-US" sz="1100" b="1" kern="0" spc="55" dirty="0">
                <a:solidFill>
                  <a:srgbClr val="6366F1"/>
                </a:solidFill>
                <a:latin typeface="Liter" pitchFamily="34" charset="0"/>
                <a:ea typeface="Liter" pitchFamily="34" charset="-122"/>
                <a:cs typeface="Liter" pitchFamily="34" charset="-120"/>
              </a:rPr>
              <a:t>LECTURE 2.3</a:t>
            </a:r>
            <a:endParaRPr lang="en-US" sz="1600" dirty="0"/>
          </a:p>
        </p:txBody>
      </p:sp>
      <p:sp>
        <p:nvSpPr>
          <p:cNvPr id="3" name="Text 1"/>
          <p:cNvSpPr/>
          <p:nvPr/>
        </p:nvSpPr>
        <p:spPr>
          <a:xfrm>
            <a:off x="349341" y="628814"/>
            <a:ext cx="11650521" cy="349341"/>
          </a:xfrm>
          <a:prstGeom prst="rect">
            <a:avLst/>
          </a:prstGeom>
          <a:noFill/>
          <a:ln/>
        </p:spPr>
        <p:txBody>
          <a:bodyPr wrap="square" lIns="0" tIns="0" rIns="0" bIns="0" rtlCol="0" anchor="ctr"/>
          <a:lstStyle/>
          <a:p>
            <a:pPr>
              <a:lnSpc>
                <a:spcPct val="90000"/>
              </a:lnSpc>
            </a:pPr>
            <a:r>
              <a:rPr lang="en-US" sz="2476" b="1" dirty="0">
                <a:solidFill>
                  <a:srgbClr val="EFEFEF"/>
                </a:solidFill>
                <a:latin typeface="Liter" pitchFamily="34" charset="0"/>
                <a:ea typeface="Liter" pitchFamily="34" charset="-122"/>
                <a:cs typeface="Liter" pitchFamily="34" charset="-120"/>
              </a:rPr>
              <a:t>Computer-Based Systems</a:t>
            </a:r>
            <a:endParaRPr lang="en-US" sz="1600" dirty="0"/>
          </a:p>
        </p:txBody>
      </p:sp>
      <p:sp>
        <p:nvSpPr>
          <p:cNvPr id="4" name="Shape 2"/>
          <p:cNvSpPr/>
          <p:nvPr/>
        </p:nvSpPr>
        <p:spPr>
          <a:xfrm>
            <a:off x="352834" y="1156319"/>
            <a:ext cx="5631377" cy="2661978"/>
          </a:xfrm>
          <a:custGeom>
            <a:avLst/>
            <a:gdLst/>
            <a:ahLst/>
            <a:cxnLst/>
            <a:rect l="l" t="t" r="r" b="b"/>
            <a:pathLst>
              <a:path w="5631377" h="2661978">
                <a:moveTo>
                  <a:pt x="104802" y="0"/>
                </a:moveTo>
                <a:lnTo>
                  <a:pt x="5526574" y="0"/>
                </a:lnTo>
                <a:cubicBezTo>
                  <a:pt x="5584455" y="0"/>
                  <a:pt x="5631377" y="46921"/>
                  <a:pt x="5631377" y="104802"/>
                </a:cubicBezTo>
                <a:lnTo>
                  <a:pt x="5631377" y="2557176"/>
                </a:lnTo>
                <a:cubicBezTo>
                  <a:pt x="5631377" y="2615057"/>
                  <a:pt x="5584455" y="2661978"/>
                  <a:pt x="5526574" y="2661978"/>
                </a:cubicBezTo>
                <a:lnTo>
                  <a:pt x="104802" y="2661978"/>
                </a:lnTo>
                <a:cubicBezTo>
                  <a:pt x="46921" y="2661978"/>
                  <a:pt x="0" y="2615057"/>
                  <a:pt x="0" y="2557176"/>
                </a:cubicBezTo>
                <a:lnTo>
                  <a:pt x="0" y="104802"/>
                </a:lnTo>
                <a:cubicBezTo>
                  <a:pt x="0" y="46960"/>
                  <a:pt x="46960" y="0"/>
                  <a:pt x="104802" y="0"/>
                </a:cubicBezTo>
                <a:close/>
              </a:path>
            </a:pathLst>
          </a:custGeom>
          <a:solidFill>
            <a:srgbClr val="262626"/>
          </a:solidFill>
          <a:ln w="10160">
            <a:solidFill>
              <a:srgbClr val="333333"/>
            </a:solidFill>
            <a:prstDash val="solid"/>
          </a:ln>
        </p:spPr>
      </p:sp>
      <p:sp>
        <p:nvSpPr>
          <p:cNvPr id="5" name="Shape 3"/>
          <p:cNvSpPr/>
          <p:nvPr/>
        </p:nvSpPr>
        <p:spPr>
          <a:xfrm>
            <a:off x="530998" y="1334481"/>
            <a:ext cx="349341" cy="349341"/>
          </a:xfrm>
          <a:custGeom>
            <a:avLst/>
            <a:gdLst/>
            <a:ahLst/>
            <a:cxnLst/>
            <a:rect l="l" t="t" r="r" b="b"/>
            <a:pathLst>
              <a:path w="349341" h="349341">
                <a:moveTo>
                  <a:pt x="69868" y="0"/>
                </a:moveTo>
                <a:lnTo>
                  <a:pt x="279473" y="0"/>
                </a:lnTo>
                <a:cubicBezTo>
                  <a:pt x="318034" y="0"/>
                  <a:pt x="349341" y="31307"/>
                  <a:pt x="349341" y="69868"/>
                </a:cubicBezTo>
                <a:lnTo>
                  <a:pt x="349341" y="279473"/>
                </a:lnTo>
                <a:cubicBezTo>
                  <a:pt x="349341" y="318034"/>
                  <a:pt x="318034" y="349341"/>
                  <a:pt x="279473" y="349341"/>
                </a:cubicBezTo>
                <a:lnTo>
                  <a:pt x="69868" y="349341"/>
                </a:lnTo>
                <a:cubicBezTo>
                  <a:pt x="31307" y="349341"/>
                  <a:pt x="0" y="318034"/>
                  <a:pt x="0" y="279473"/>
                </a:cubicBezTo>
                <a:lnTo>
                  <a:pt x="0" y="69868"/>
                </a:lnTo>
                <a:cubicBezTo>
                  <a:pt x="0" y="31307"/>
                  <a:pt x="31307" y="0"/>
                  <a:pt x="69868" y="0"/>
                </a:cubicBezTo>
                <a:close/>
              </a:path>
            </a:pathLst>
          </a:custGeom>
          <a:solidFill>
            <a:srgbClr val="6366F1">
              <a:alpha val="20000"/>
            </a:srgbClr>
          </a:solidFill>
          <a:ln/>
        </p:spPr>
      </p:sp>
      <p:sp>
        <p:nvSpPr>
          <p:cNvPr id="6" name="Shape 4"/>
          <p:cNvSpPr/>
          <p:nvPr/>
        </p:nvSpPr>
        <p:spPr>
          <a:xfrm>
            <a:off x="618334" y="1439283"/>
            <a:ext cx="174670" cy="139736"/>
          </a:xfrm>
          <a:custGeom>
            <a:avLst/>
            <a:gdLst/>
            <a:ahLst/>
            <a:cxnLst/>
            <a:rect l="l" t="t" r="r" b="b"/>
            <a:pathLst>
              <a:path w="174670" h="139736">
                <a:moveTo>
                  <a:pt x="113509" y="57450"/>
                </a:moveTo>
                <a:cubicBezTo>
                  <a:pt x="116838" y="56550"/>
                  <a:pt x="120332" y="58133"/>
                  <a:pt x="121833" y="61217"/>
                </a:cubicBezTo>
                <a:lnTo>
                  <a:pt x="126909" y="71478"/>
                </a:lnTo>
                <a:cubicBezTo>
                  <a:pt x="129720" y="71861"/>
                  <a:pt x="132477" y="72625"/>
                  <a:pt x="135069" y="73689"/>
                </a:cubicBezTo>
                <a:lnTo>
                  <a:pt x="144622" y="67330"/>
                </a:lnTo>
                <a:cubicBezTo>
                  <a:pt x="147487" y="65420"/>
                  <a:pt x="151281" y="65802"/>
                  <a:pt x="153710" y="68231"/>
                </a:cubicBezTo>
                <a:lnTo>
                  <a:pt x="158950" y="73471"/>
                </a:lnTo>
                <a:cubicBezTo>
                  <a:pt x="161379" y="75900"/>
                  <a:pt x="161761" y="79721"/>
                  <a:pt x="159851" y="82559"/>
                </a:cubicBezTo>
                <a:lnTo>
                  <a:pt x="153492" y="92084"/>
                </a:lnTo>
                <a:cubicBezTo>
                  <a:pt x="154010" y="93367"/>
                  <a:pt x="154474" y="94704"/>
                  <a:pt x="154856" y="96096"/>
                </a:cubicBezTo>
                <a:cubicBezTo>
                  <a:pt x="155238" y="97488"/>
                  <a:pt x="155484" y="98853"/>
                  <a:pt x="155675" y="100244"/>
                </a:cubicBezTo>
                <a:lnTo>
                  <a:pt x="165964" y="105321"/>
                </a:lnTo>
                <a:cubicBezTo>
                  <a:pt x="169048" y="106849"/>
                  <a:pt x="170631" y="110343"/>
                  <a:pt x="169731" y="113645"/>
                </a:cubicBezTo>
                <a:lnTo>
                  <a:pt x="167820" y="120796"/>
                </a:lnTo>
                <a:cubicBezTo>
                  <a:pt x="166919" y="124098"/>
                  <a:pt x="163835" y="126336"/>
                  <a:pt x="160397" y="126118"/>
                </a:cubicBezTo>
                <a:lnTo>
                  <a:pt x="148934" y="125381"/>
                </a:lnTo>
                <a:cubicBezTo>
                  <a:pt x="147214" y="127591"/>
                  <a:pt x="145222" y="129638"/>
                  <a:pt x="142957" y="131385"/>
                </a:cubicBezTo>
                <a:lnTo>
                  <a:pt x="143694" y="142820"/>
                </a:lnTo>
                <a:cubicBezTo>
                  <a:pt x="143912" y="146259"/>
                  <a:pt x="141674" y="149371"/>
                  <a:pt x="138372" y="150244"/>
                </a:cubicBezTo>
                <a:lnTo>
                  <a:pt x="131221" y="152154"/>
                </a:lnTo>
                <a:cubicBezTo>
                  <a:pt x="127892" y="153055"/>
                  <a:pt x="124425" y="151472"/>
                  <a:pt x="122897" y="148388"/>
                </a:cubicBezTo>
                <a:lnTo>
                  <a:pt x="117821" y="138126"/>
                </a:lnTo>
                <a:cubicBezTo>
                  <a:pt x="115010" y="137744"/>
                  <a:pt x="112253" y="136980"/>
                  <a:pt x="109660" y="135915"/>
                </a:cubicBezTo>
                <a:lnTo>
                  <a:pt x="100108" y="142275"/>
                </a:lnTo>
                <a:cubicBezTo>
                  <a:pt x="97242" y="144185"/>
                  <a:pt x="93449" y="143803"/>
                  <a:pt x="91020" y="141374"/>
                </a:cubicBezTo>
                <a:lnTo>
                  <a:pt x="85780" y="136134"/>
                </a:lnTo>
                <a:cubicBezTo>
                  <a:pt x="83351" y="133705"/>
                  <a:pt x="82968" y="129911"/>
                  <a:pt x="84879" y="127045"/>
                </a:cubicBezTo>
                <a:lnTo>
                  <a:pt x="91238" y="117493"/>
                </a:lnTo>
                <a:cubicBezTo>
                  <a:pt x="90719" y="116210"/>
                  <a:pt x="90256" y="114873"/>
                  <a:pt x="89873" y="113481"/>
                </a:cubicBezTo>
                <a:cubicBezTo>
                  <a:pt x="89491" y="112089"/>
                  <a:pt x="89246" y="110697"/>
                  <a:pt x="89055" y="109333"/>
                </a:cubicBezTo>
                <a:lnTo>
                  <a:pt x="78765" y="104256"/>
                </a:lnTo>
                <a:cubicBezTo>
                  <a:pt x="75681" y="102728"/>
                  <a:pt x="74126" y="99235"/>
                  <a:pt x="74999" y="95932"/>
                </a:cubicBezTo>
                <a:lnTo>
                  <a:pt x="76910" y="88782"/>
                </a:lnTo>
                <a:cubicBezTo>
                  <a:pt x="77810" y="85479"/>
                  <a:pt x="80894" y="83241"/>
                  <a:pt x="84333" y="83460"/>
                </a:cubicBezTo>
                <a:lnTo>
                  <a:pt x="95769" y="84197"/>
                </a:lnTo>
                <a:cubicBezTo>
                  <a:pt x="97488" y="81986"/>
                  <a:pt x="99480" y="79939"/>
                  <a:pt x="101746" y="78192"/>
                </a:cubicBezTo>
                <a:lnTo>
                  <a:pt x="101009" y="66784"/>
                </a:lnTo>
                <a:cubicBezTo>
                  <a:pt x="100790" y="63345"/>
                  <a:pt x="103028" y="60234"/>
                  <a:pt x="106331" y="59361"/>
                </a:cubicBezTo>
                <a:lnTo>
                  <a:pt x="113481" y="57450"/>
                </a:lnTo>
                <a:close/>
                <a:moveTo>
                  <a:pt x="122379" y="92794"/>
                </a:moveTo>
                <a:cubicBezTo>
                  <a:pt x="115751" y="92801"/>
                  <a:pt x="110376" y="98188"/>
                  <a:pt x="110384" y="104816"/>
                </a:cubicBezTo>
                <a:cubicBezTo>
                  <a:pt x="110391" y="111444"/>
                  <a:pt x="115778" y="116818"/>
                  <a:pt x="122406" y="116811"/>
                </a:cubicBezTo>
                <a:cubicBezTo>
                  <a:pt x="129034" y="116803"/>
                  <a:pt x="134408" y="111416"/>
                  <a:pt x="134401" y="104789"/>
                </a:cubicBezTo>
                <a:cubicBezTo>
                  <a:pt x="134393" y="98161"/>
                  <a:pt x="129006" y="92786"/>
                  <a:pt x="122379" y="92794"/>
                </a:cubicBezTo>
                <a:close/>
                <a:moveTo>
                  <a:pt x="61380" y="-12418"/>
                </a:moveTo>
                <a:lnTo>
                  <a:pt x="68531" y="-10508"/>
                </a:lnTo>
                <a:cubicBezTo>
                  <a:pt x="71833" y="-9607"/>
                  <a:pt x="74071" y="-6496"/>
                  <a:pt x="73853" y="-3084"/>
                </a:cubicBezTo>
                <a:lnTo>
                  <a:pt x="73116" y="8324"/>
                </a:lnTo>
                <a:cubicBezTo>
                  <a:pt x="75381" y="10071"/>
                  <a:pt x="77374" y="12090"/>
                  <a:pt x="79093" y="14328"/>
                </a:cubicBezTo>
                <a:lnTo>
                  <a:pt x="90556" y="13592"/>
                </a:lnTo>
                <a:cubicBezTo>
                  <a:pt x="93967" y="13373"/>
                  <a:pt x="97079" y="15611"/>
                  <a:pt x="97979" y="18914"/>
                </a:cubicBezTo>
                <a:lnTo>
                  <a:pt x="99890" y="26064"/>
                </a:lnTo>
                <a:cubicBezTo>
                  <a:pt x="100763" y="29366"/>
                  <a:pt x="99207" y="32860"/>
                  <a:pt x="96123" y="34388"/>
                </a:cubicBezTo>
                <a:lnTo>
                  <a:pt x="85834" y="39465"/>
                </a:lnTo>
                <a:cubicBezTo>
                  <a:pt x="85643" y="40857"/>
                  <a:pt x="85370" y="42248"/>
                  <a:pt x="85015" y="43613"/>
                </a:cubicBezTo>
                <a:cubicBezTo>
                  <a:pt x="84661" y="44978"/>
                  <a:pt x="84169" y="46342"/>
                  <a:pt x="83651" y="47625"/>
                </a:cubicBezTo>
                <a:lnTo>
                  <a:pt x="90010" y="57177"/>
                </a:lnTo>
                <a:cubicBezTo>
                  <a:pt x="91920" y="60043"/>
                  <a:pt x="91538" y="63837"/>
                  <a:pt x="89109" y="66266"/>
                </a:cubicBezTo>
                <a:lnTo>
                  <a:pt x="83869" y="71506"/>
                </a:lnTo>
                <a:cubicBezTo>
                  <a:pt x="81440" y="73935"/>
                  <a:pt x="77646" y="74317"/>
                  <a:pt x="74781" y="72406"/>
                </a:cubicBezTo>
                <a:lnTo>
                  <a:pt x="65229" y="66047"/>
                </a:lnTo>
                <a:cubicBezTo>
                  <a:pt x="62636" y="67112"/>
                  <a:pt x="59879" y="67876"/>
                  <a:pt x="57068" y="68258"/>
                </a:cubicBezTo>
                <a:lnTo>
                  <a:pt x="51992" y="78520"/>
                </a:lnTo>
                <a:cubicBezTo>
                  <a:pt x="50463" y="81604"/>
                  <a:pt x="46970" y="83160"/>
                  <a:pt x="43668" y="82286"/>
                </a:cubicBezTo>
                <a:lnTo>
                  <a:pt x="36517" y="80376"/>
                </a:lnTo>
                <a:cubicBezTo>
                  <a:pt x="33187" y="79475"/>
                  <a:pt x="30977" y="76364"/>
                  <a:pt x="31195" y="72952"/>
                </a:cubicBezTo>
                <a:lnTo>
                  <a:pt x="31932" y="61517"/>
                </a:lnTo>
                <a:cubicBezTo>
                  <a:pt x="29667" y="59770"/>
                  <a:pt x="27674" y="57750"/>
                  <a:pt x="25955" y="55512"/>
                </a:cubicBezTo>
                <a:lnTo>
                  <a:pt x="14492" y="56249"/>
                </a:lnTo>
                <a:cubicBezTo>
                  <a:pt x="11081" y="56468"/>
                  <a:pt x="7969" y="54230"/>
                  <a:pt x="7069" y="50927"/>
                </a:cubicBezTo>
                <a:lnTo>
                  <a:pt x="5158" y="43777"/>
                </a:lnTo>
                <a:cubicBezTo>
                  <a:pt x="4285" y="40474"/>
                  <a:pt x="5841" y="36981"/>
                  <a:pt x="8925" y="35453"/>
                </a:cubicBezTo>
                <a:lnTo>
                  <a:pt x="19214" y="30376"/>
                </a:lnTo>
                <a:cubicBezTo>
                  <a:pt x="19405" y="28984"/>
                  <a:pt x="19678" y="27620"/>
                  <a:pt x="20033" y="26228"/>
                </a:cubicBezTo>
                <a:cubicBezTo>
                  <a:pt x="20415" y="24836"/>
                  <a:pt x="20851" y="23499"/>
                  <a:pt x="21397" y="22216"/>
                </a:cubicBezTo>
                <a:lnTo>
                  <a:pt x="15038" y="12691"/>
                </a:lnTo>
                <a:cubicBezTo>
                  <a:pt x="13128" y="9825"/>
                  <a:pt x="13510" y="6032"/>
                  <a:pt x="15939" y="3603"/>
                </a:cubicBezTo>
                <a:lnTo>
                  <a:pt x="21179" y="-1638"/>
                </a:lnTo>
                <a:cubicBezTo>
                  <a:pt x="23608" y="-4067"/>
                  <a:pt x="27401" y="-4449"/>
                  <a:pt x="30267" y="-2538"/>
                </a:cubicBezTo>
                <a:lnTo>
                  <a:pt x="39819" y="3821"/>
                </a:lnTo>
                <a:cubicBezTo>
                  <a:pt x="42412" y="2757"/>
                  <a:pt x="45169" y="1992"/>
                  <a:pt x="47980" y="1610"/>
                </a:cubicBezTo>
                <a:lnTo>
                  <a:pt x="53056" y="-8652"/>
                </a:lnTo>
                <a:cubicBezTo>
                  <a:pt x="54585" y="-11736"/>
                  <a:pt x="58051" y="-13291"/>
                  <a:pt x="61380" y="-12418"/>
                </a:cubicBezTo>
                <a:close/>
                <a:moveTo>
                  <a:pt x="52510" y="22926"/>
                </a:moveTo>
                <a:cubicBezTo>
                  <a:pt x="45883" y="22926"/>
                  <a:pt x="40502" y="28306"/>
                  <a:pt x="40502" y="34934"/>
                </a:cubicBezTo>
                <a:cubicBezTo>
                  <a:pt x="40502" y="41562"/>
                  <a:pt x="45883" y="46943"/>
                  <a:pt x="52510" y="46943"/>
                </a:cubicBezTo>
                <a:cubicBezTo>
                  <a:pt x="59138" y="46943"/>
                  <a:pt x="64519" y="41562"/>
                  <a:pt x="64519" y="34934"/>
                </a:cubicBezTo>
                <a:cubicBezTo>
                  <a:pt x="64519" y="28306"/>
                  <a:pt x="59138" y="22926"/>
                  <a:pt x="52510" y="22926"/>
                </a:cubicBezTo>
                <a:close/>
              </a:path>
            </a:pathLst>
          </a:custGeom>
          <a:solidFill>
            <a:srgbClr val="6366F1"/>
          </a:solidFill>
          <a:ln/>
        </p:spPr>
      </p:sp>
      <p:sp>
        <p:nvSpPr>
          <p:cNvPr id="7" name="Text 5"/>
          <p:cNvSpPr/>
          <p:nvPr/>
        </p:nvSpPr>
        <p:spPr>
          <a:xfrm>
            <a:off x="985142" y="1386882"/>
            <a:ext cx="2855862" cy="244539"/>
          </a:xfrm>
          <a:prstGeom prst="rect">
            <a:avLst/>
          </a:prstGeom>
          <a:noFill/>
          <a:ln/>
        </p:spPr>
        <p:txBody>
          <a:bodyPr wrap="square" lIns="0" tIns="0" rIns="0" bIns="0" rtlCol="0" anchor="ctr"/>
          <a:lstStyle/>
          <a:p>
            <a:pPr>
              <a:lnSpc>
                <a:spcPct val="120000"/>
              </a:lnSpc>
            </a:pPr>
            <a:r>
              <a:rPr lang="en-US" sz="1375" b="1" dirty="0">
                <a:solidFill>
                  <a:srgbClr val="EFEFEF"/>
                </a:solidFill>
                <a:latin typeface="Liter" pitchFamily="34" charset="0"/>
                <a:ea typeface="Liter" pitchFamily="34" charset="-122"/>
                <a:cs typeface="Liter" pitchFamily="34" charset="-120"/>
              </a:rPr>
              <a:t>What is a Computer-Based System?</a:t>
            </a:r>
            <a:endParaRPr lang="en-US" sz="1600" dirty="0"/>
          </a:p>
        </p:txBody>
      </p:sp>
      <p:sp>
        <p:nvSpPr>
          <p:cNvPr id="8" name="Text 6"/>
          <p:cNvSpPr/>
          <p:nvPr/>
        </p:nvSpPr>
        <p:spPr>
          <a:xfrm>
            <a:off x="530998" y="1788624"/>
            <a:ext cx="5344917" cy="419209"/>
          </a:xfrm>
          <a:prstGeom prst="rect">
            <a:avLst/>
          </a:prstGeom>
          <a:noFill/>
          <a:ln/>
        </p:spPr>
        <p:txBody>
          <a:bodyPr wrap="square" lIns="0" tIns="0" rIns="0" bIns="0" rtlCol="0" anchor="ctr"/>
          <a:lstStyle/>
          <a:p>
            <a:pPr>
              <a:lnSpc>
                <a:spcPct val="130000"/>
              </a:lnSpc>
            </a:pPr>
            <a:r>
              <a:rPr lang="en-US" sz="1100" dirty="0">
                <a:solidFill>
                  <a:srgbClr val="EFEFEF"/>
                </a:solidFill>
                <a:latin typeface="Liter" pitchFamily="34" charset="0"/>
                <a:ea typeface="Liter" pitchFamily="34" charset="-122"/>
                <a:cs typeface="Liter" pitchFamily="34" charset="-120"/>
              </a:rPr>
              <a:t>A complete setup that uses computers to solve real-world problems. It includes hardware, software, data, people, and procedures working together.</a:t>
            </a:r>
            <a:endParaRPr lang="en-US" sz="1600" dirty="0"/>
          </a:p>
        </p:txBody>
      </p:sp>
      <p:sp>
        <p:nvSpPr>
          <p:cNvPr id="9" name="Shape 7"/>
          <p:cNvSpPr/>
          <p:nvPr/>
        </p:nvSpPr>
        <p:spPr>
          <a:xfrm>
            <a:off x="557199" y="2347570"/>
            <a:ext cx="122269" cy="139736"/>
          </a:xfrm>
          <a:custGeom>
            <a:avLst/>
            <a:gdLst/>
            <a:ahLst/>
            <a:cxnLst/>
            <a:rect l="l" t="t" r="r" b="b"/>
            <a:pathLst>
              <a:path w="122269" h="139736">
                <a:moveTo>
                  <a:pt x="118667" y="19132"/>
                </a:moveTo>
                <a:cubicBezTo>
                  <a:pt x="122570" y="21970"/>
                  <a:pt x="123443" y="27429"/>
                  <a:pt x="120605" y="31332"/>
                </a:cubicBezTo>
                <a:lnTo>
                  <a:pt x="50736" y="127400"/>
                </a:lnTo>
                <a:cubicBezTo>
                  <a:pt x="49235" y="129474"/>
                  <a:pt x="46915" y="130757"/>
                  <a:pt x="44350" y="130976"/>
                </a:cubicBezTo>
                <a:cubicBezTo>
                  <a:pt x="41784" y="131194"/>
                  <a:pt x="39301" y="130239"/>
                  <a:pt x="37500" y="128437"/>
                </a:cubicBezTo>
                <a:lnTo>
                  <a:pt x="2565" y="93503"/>
                </a:lnTo>
                <a:cubicBezTo>
                  <a:pt x="-846" y="90092"/>
                  <a:pt x="-846" y="84551"/>
                  <a:pt x="2565" y="81140"/>
                </a:cubicBezTo>
                <a:cubicBezTo>
                  <a:pt x="5977" y="77728"/>
                  <a:pt x="11517" y="77728"/>
                  <a:pt x="14929" y="81140"/>
                </a:cubicBezTo>
                <a:lnTo>
                  <a:pt x="42631" y="108842"/>
                </a:lnTo>
                <a:lnTo>
                  <a:pt x="106494" y="21042"/>
                </a:lnTo>
                <a:cubicBezTo>
                  <a:pt x="109333" y="17140"/>
                  <a:pt x="114791" y="16266"/>
                  <a:pt x="118694" y="19105"/>
                </a:cubicBezTo>
                <a:close/>
              </a:path>
            </a:pathLst>
          </a:custGeom>
          <a:solidFill>
            <a:srgbClr val="6366F1"/>
          </a:solidFill>
          <a:ln/>
        </p:spPr>
      </p:sp>
      <p:sp>
        <p:nvSpPr>
          <p:cNvPr id="10" name="Text 8"/>
          <p:cNvSpPr/>
          <p:nvPr/>
        </p:nvSpPr>
        <p:spPr>
          <a:xfrm>
            <a:off x="775537" y="2312636"/>
            <a:ext cx="1938842"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Hardware:</a:t>
            </a:r>
            <a:r>
              <a:rPr lang="en-US" sz="1100" dirty="0">
                <a:solidFill>
                  <a:srgbClr val="EFEFEF"/>
                </a:solidFill>
                <a:latin typeface="Liter" pitchFamily="34" charset="0"/>
                <a:ea typeface="Liter" pitchFamily="34" charset="-122"/>
                <a:cs typeface="Liter" pitchFamily="34" charset="-120"/>
              </a:rPr>
              <a:t> Physical equipment</a:t>
            </a:r>
            <a:endParaRPr lang="en-US" sz="1600" dirty="0"/>
          </a:p>
        </p:txBody>
      </p:sp>
      <p:sp>
        <p:nvSpPr>
          <p:cNvPr id="11" name="Shape 9"/>
          <p:cNvSpPr/>
          <p:nvPr/>
        </p:nvSpPr>
        <p:spPr>
          <a:xfrm>
            <a:off x="557199" y="2627042"/>
            <a:ext cx="122269" cy="139736"/>
          </a:xfrm>
          <a:custGeom>
            <a:avLst/>
            <a:gdLst/>
            <a:ahLst/>
            <a:cxnLst/>
            <a:rect l="l" t="t" r="r" b="b"/>
            <a:pathLst>
              <a:path w="122269" h="139736">
                <a:moveTo>
                  <a:pt x="118667" y="19132"/>
                </a:moveTo>
                <a:cubicBezTo>
                  <a:pt x="122570" y="21970"/>
                  <a:pt x="123443" y="27429"/>
                  <a:pt x="120605" y="31332"/>
                </a:cubicBezTo>
                <a:lnTo>
                  <a:pt x="50736" y="127400"/>
                </a:lnTo>
                <a:cubicBezTo>
                  <a:pt x="49235" y="129474"/>
                  <a:pt x="46915" y="130757"/>
                  <a:pt x="44350" y="130976"/>
                </a:cubicBezTo>
                <a:cubicBezTo>
                  <a:pt x="41784" y="131194"/>
                  <a:pt x="39301" y="130239"/>
                  <a:pt x="37500" y="128437"/>
                </a:cubicBezTo>
                <a:lnTo>
                  <a:pt x="2565" y="93503"/>
                </a:lnTo>
                <a:cubicBezTo>
                  <a:pt x="-846" y="90092"/>
                  <a:pt x="-846" y="84551"/>
                  <a:pt x="2565" y="81140"/>
                </a:cubicBezTo>
                <a:cubicBezTo>
                  <a:pt x="5977" y="77728"/>
                  <a:pt x="11517" y="77728"/>
                  <a:pt x="14929" y="81140"/>
                </a:cubicBezTo>
                <a:lnTo>
                  <a:pt x="42631" y="108842"/>
                </a:lnTo>
                <a:lnTo>
                  <a:pt x="106494" y="21042"/>
                </a:lnTo>
                <a:cubicBezTo>
                  <a:pt x="109333" y="17140"/>
                  <a:pt x="114791" y="16266"/>
                  <a:pt x="118694" y="19105"/>
                </a:cubicBezTo>
                <a:close/>
              </a:path>
            </a:pathLst>
          </a:custGeom>
          <a:solidFill>
            <a:srgbClr val="6366F1"/>
          </a:solidFill>
          <a:ln/>
        </p:spPr>
      </p:sp>
      <p:sp>
        <p:nvSpPr>
          <p:cNvPr id="12" name="Text 10"/>
          <p:cNvSpPr/>
          <p:nvPr/>
        </p:nvSpPr>
        <p:spPr>
          <a:xfrm>
            <a:off x="775537" y="2592108"/>
            <a:ext cx="2323117"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Software:</a:t>
            </a:r>
            <a:r>
              <a:rPr lang="en-US" sz="1100" dirty="0">
                <a:solidFill>
                  <a:srgbClr val="EFEFEF"/>
                </a:solidFill>
                <a:latin typeface="Liter" pitchFamily="34" charset="0"/>
                <a:ea typeface="Liter" pitchFamily="34" charset="-122"/>
                <a:cs typeface="Liter" pitchFamily="34" charset="-120"/>
              </a:rPr>
              <a:t> Programs and applications</a:t>
            </a:r>
            <a:endParaRPr lang="en-US" sz="1600" dirty="0"/>
          </a:p>
        </p:txBody>
      </p:sp>
      <p:sp>
        <p:nvSpPr>
          <p:cNvPr id="13" name="Shape 11"/>
          <p:cNvSpPr/>
          <p:nvPr/>
        </p:nvSpPr>
        <p:spPr>
          <a:xfrm>
            <a:off x="557199" y="2906515"/>
            <a:ext cx="122269" cy="139736"/>
          </a:xfrm>
          <a:custGeom>
            <a:avLst/>
            <a:gdLst/>
            <a:ahLst/>
            <a:cxnLst/>
            <a:rect l="l" t="t" r="r" b="b"/>
            <a:pathLst>
              <a:path w="122269" h="139736">
                <a:moveTo>
                  <a:pt x="118667" y="19132"/>
                </a:moveTo>
                <a:cubicBezTo>
                  <a:pt x="122570" y="21970"/>
                  <a:pt x="123443" y="27429"/>
                  <a:pt x="120605" y="31332"/>
                </a:cubicBezTo>
                <a:lnTo>
                  <a:pt x="50736" y="127400"/>
                </a:lnTo>
                <a:cubicBezTo>
                  <a:pt x="49235" y="129474"/>
                  <a:pt x="46915" y="130757"/>
                  <a:pt x="44350" y="130976"/>
                </a:cubicBezTo>
                <a:cubicBezTo>
                  <a:pt x="41784" y="131194"/>
                  <a:pt x="39301" y="130239"/>
                  <a:pt x="37500" y="128437"/>
                </a:cubicBezTo>
                <a:lnTo>
                  <a:pt x="2565" y="93503"/>
                </a:lnTo>
                <a:cubicBezTo>
                  <a:pt x="-846" y="90092"/>
                  <a:pt x="-846" y="84551"/>
                  <a:pt x="2565" y="81140"/>
                </a:cubicBezTo>
                <a:cubicBezTo>
                  <a:pt x="5977" y="77728"/>
                  <a:pt x="11517" y="77728"/>
                  <a:pt x="14929" y="81140"/>
                </a:cubicBezTo>
                <a:lnTo>
                  <a:pt x="42631" y="108842"/>
                </a:lnTo>
                <a:lnTo>
                  <a:pt x="106494" y="21042"/>
                </a:lnTo>
                <a:cubicBezTo>
                  <a:pt x="109333" y="17140"/>
                  <a:pt x="114791" y="16266"/>
                  <a:pt x="118694" y="19105"/>
                </a:cubicBezTo>
                <a:close/>
              </a:path>
            </a:pathLst>
          </a:custGeom>
          <a:solidFill>
            <a:srgbClr val="6366F1"/>
          </a:solidFill>
          <a:ln/>
        </p:spPr>
      </p:sp>
      <p:sp>
        <p:nvSpPr>
          <p:cNvPr id="14" name="Text 12"/>
          <p:cNvSpPr/>
          <p:nvPr/>
        </p:nvSpPr>
        <p:spPr>
          <a:xfrm>
            <a:off x="775537" y="2871581"/>
            <a:ext cx="1807840"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Data:</a:t>
            </a:r>
            <a:r>
              <a:rPr lang="en-US" sz="1100" dirty="0">
                <a:solidFill>
                  <a:srgbClr val="EFEFEF"/>
                </a:solidFill>
                <a:latin typeface="Liter" pitchFamily="34" charset="0"/>
                <a:ea typeface="Liter" pitchFamily="34" charset="-122"/>
                <a:cs typeface="Liter" pitchFamily="34" charset="-120"/>
              </a:rPr>
              <a:t> Information to process</a:t>
            </a:r>
            <a:endParaRPr lang="en-US" sz="1600" dirty="0"/>
          </a:p>
        </p:txBody>
      </p:sp>
      <p:sp>
        <p:nvSpPr>
          <p:cNvPr id="15" name="Shape 13"/>
          <p:cNvSpPr/>
          <p:nvPr/>
        </p:nvSpPr>
        <p:spPr>
          <a:xfrm>
            <a:off x="557199" y="3185988"/>
            <a:ext cx="122269" cy="139736"/>
          </a:xfrm>
          <a:custGeom>
            <a:avLst/>
            <a:gdLst/>
            <a:ahLst/>
            <a:cxnLst/>
            <a:rect l="l" t="t" r="r" b="b"/>
            <a:pathLst>
              <a:path w="122269" h="139736">
                <a:moveTo>
                  <a:pt x="118667" y="19132"/>
                </a:moveTo>
                <a:cubicBezTo>
                  <a:pt x="122570" y="21970"/>
                  <a:pt x="123443" y="27429"/>
                  <a:pt x="120605" y="31332"/>
                </a:cubicBezTo>
                <a:lnTo>
                  <a:pt x="50736" y="127400"/>
                </a:lnTo>
                <a:cubicBezTo>
                  <a:pt x="49235" y="129474"/>
                  <a:pt x="46915" y="130757"/>
                  <a:pt x="44350" y="130976"/>
                </a:cubicBezTo>
                <a:cubicBezTo>
                  <a:pt x="41784" y="131194"/>
                  <a:pt x="39301" y="130239"/>
                  <a:pt x="37500" y="128437"/>
                </a:cubicBezTo>
                <a:lnTo>
                  <a:pt x="2565" y="93503"/>
                </a:lnTo>
                <a:cubicBezTo>
                  <a:pt x="-846" y="90092"/>
                  <a:pt x="-846" y="84551"/>
                  <a:pt x="2565" y="81140"/>
                </a:cubicBezTo>
                <a:cubicBezTo>
                  <a:pt x="5977" y="77728"/>
                  <a:pt x="11517" y="77728"/>
                  <a:pt x="14929" y="81140"/>
                </a:cubicBezTo>
                <a:lnTo>
                  <a:pt x="42631" y="108842"/>
                </a:lnTo>
                <a:lnTo>
                  <a:pt x="106494" y="21042"/>
                </a:lnTo>
                <a:cubicBezTo>
                  <a:pt x="109333" y="17140"/>
                  <a:pt x="114791" y="16266"/>
                  <a:pt x="118694" y="19105"/>
                </a:cubicBezTo>
                <a:close/>
              </a:path>
            </a:pathLst>
          </a:custGeom>
          <a:solidFill>
            <a:srgbClr val="6366F1"/>
          </a:solidFill>
          <a:ln/>
        </p:spPr>
      </p:sp>
      <p:sp>
        <p:nvSpPr>
          <p:cNvPr id="16" name="Text 14"/>
          <p:cNvSpPr/>
          <p:nvPr/>
        </p:nvSpPr>
        <p:spPr>
          <a:xfrm>
            <a:off x="775537" y="3151054"/>
            <a:ext cx="1790372"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People:</a:t>
            </a:r>
            <a:r>
              <a:rPr lang="en-US" sz="1100" dirty="0">
                <a:solidFill>
                  <a:srgbClr val="EFEFEF"/>
                </a:solidFill>
                <a:latin typeface="Liter" pitchFamily="34" charset="0"/>
                <a:ea typeface="Liter" pitchFamily="34" charset="-122"/>
                <a:cs typeface="Liter" pitchFamily="34" charset="-120"/>
              </a:rPr>
              <a:t> Users and operators</a:t>
            </a:r>
            <a:endParaRPr lang="en-US" sz="1600" dirty="0"/>
          </a:p>
        </p:txBody>
      </p:sp>
      <p:sp>
        <p:nvSpPr>
          <p:cNvPr id="17" name="Shape 15"/>
          <p:cNvSpPr/>
          <p:nvPr/>
        </p:nvSpPr>
        <p:spPr>
          <a:xfrm>
            <a:off x="557199" y="3465461"/>
            <a:ext cx="122269" cy="139736"/>
          </a:xfrm>
          <a:custGeom>
            <a:avLst/>
            <a:gdLst/>
            <a:ahLst/>
            <a:cxnLst/>
            <a:rect l="l" t="t" r="r" b="b"/>
            <a:pathLst>
              <a:path w="122269" h="139736">
                <a:moveTo>
                  <a:pt x="118667" y="19132"/>
                </a:moveTo>
                <a:cubicBezTo>
                  <a:pt x="122570" y="21970"/>
                  <a:pt x="123443" y="27429"/>
                  <a:pt x="120605" y="31332"/>
                </a:cubicBezTo>
                <a:lnTo>
                  <a:pt x="50736" y="127400"/>
                </a:lnTo>
                <a:cubicBezTo>
                  <a:pt x="49235" y="129474"/>
                  <a:pt x="46915" y="130757"/>
                  <a:pt x="44350" y="130976"/>
                </a:cubicBezTo>
                <a:cubicBezTo>
                  <a:pt x="41784" y="131194"/>
                  <a:pt x="39301" y="130239"/>
                  <a:pt x="37500" y="128437"/>
                </a:cubicBezTo>
                <a:lnTo>
                  <a:pt x="2565" y="93503"/>
                </a:lnTo>
                <a:cubicBezTo>
                  <a:pt x="-846" y="90092"/>
                  <a:pt x="-846" y="84551"/>
                  <a:pt x="2565" y="81140"/>
                </a:cubicBezTo>
                <a:cubicBezTo>
                  <a:pt x="5977" y="77728"/>
                  <a:pt x="11517" y="77728"/>
                  <a:pt x="14929" y="81140"/>
                </a:cubicBezTo>
                <a:lnTo>
                  <a:pt x="42631" y="108842"/>
                </a:lnTo>
                <a:lnTo>
                  <a:pt x="106494" y="21042"/>
                </a:lnTo>
                <a:cubicBezTo>
                  <a:pt x="109333" y="17140"/>
                  <a:pt x="114791" y="16266"/>
                  <a:pt x="118694" y="19105"/>
                </a:cubicBezTo>
                <a:close/>
              </a:path>
            </a:pathLst>
          </a:custGeom>
          <a:solidFill>
            <a:srgbClr val="6366F1"/>
          </a:solidFill>
          <a:ln/>
        </p:spPr>
      </p:sp>
      <p:sp>
        <p:nvSpPr>
          <p:cNvPr id="18" name="Text 16"/>
          <p:cNvSpPr/>
          <p:nvPr/>
        </p:nvSpPr>
        <p:spPr>
          <a:xfrm>
            <a:off x="775537" y="3430527"/>
            <a:ext cx="2008711"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Procedures:</a:t>
            </a:r>
            <a:r>
              <a:rPr lang="en-US" sz="1100" dirty="0">
                <a:solidFill>
                  <a:srgbClr val="EFEFEF"/>
                </a:solidFill>
                <a:latin typeface="Liter" pitchFamily="34" charset="0"/>
                <a:ea typeface="Liter" pitchFamily="34" charset="-122"/>
                <a:cs typeface="Liter" pitchFamily="34" charset="-120"/>
              </a:rPr>
              <a:t> Rules and methods</a:t>
            </a:r>
            <a:endParaRPr lang="en-US" sz="1600" dirty="0"/>
          </a:p>
        </p:txBody>
      </p:sp>
      <p:sp>
        <p:nvSpPr>
          <p:cNvPr id="19" name="Shape 17"/>
          <p:cNvSpPr/>
          <p:nvPr/>
        </p:nvSpPr>
        <p:spPr>
          <a:xfrm>
            <a:off x="6202331" y="1156319"/>
            <a:ext cx="5631377" cy="3430528"/>
          </a:xfrm>
          <a:custGeom>
            <a:avLst/>
            <a:gdLst/>
            <a:ahLst/>
            <a:cxnLst/>
            <a:rect l="l" t="t" r="r" b="b"/>
            <a:pathLst>
              <a:path w="5631377" h="3430528">
                <a:moveTo>
                  <a:pt x="104803" y="0"/>
                </a:moveTo>
                <a:lnTo>
                  <a:pt x="5526574" y="0"/>
                </a:lnTo>
                <a:cubicBezTo>
                  <a:pt x="5584455" y="0"/>
                  <a:pt x="5631377" y="46922"/>
                  <a:pt x="5631377" y="104803"/>
                </a:cubicBezTo>
                <a:lnTo>
                  <a:pt x="5631377" y="3325726"/>
                </a:lnTo>
                <a:cubicBezTo>
                  <a:pt x="5631377" y="3383607"/>
                  <a:pt x="5584455" y="3430528"/>
                  <a:pt x="5526574" y="3430528"/>
                </a:cubicBezTo>
                <a:lnTo>
                  <a:pt x="104803" y="3430528"/>
                </a:lnTo>
                <a:cubicBezTo>
                  <a:pt x="46922" y="3430528"/>
                  <a:pt x="0" y="3383607"/>
                  <a:pt x="0" y="3325726"/>
                </a:cubicBezTo>
                <a:lnTo>
                  <a:pt x="0" y="104803"/>
                </a:lnTo>
                <a:cubicBezTo>
                  <a:pt x="0" y="46960"/>
                  <a:pt x="46960" y="0"/>
                  <a:pt x="104803" y="0"/>
                </a:cubicBezTo>
                <a:close/>
              </a:path>
            </a:pathLst>
          </a:custGeom>
          <a:solidFill>
            <a:srgbClr val="262626"/>
          </a:solidFill>
          <a:ln w="10160">
            <a:solidFill>
              <a:srgbClr val="333333"/>
            </a:solidFill>
            <a:prstDash val="solid"/>
          </a:ln>
        </p:spPr>
      </p:sp>
      <p:sp>
        <p:nvSpPr>
          <p:cNvPr id="20" name="Shape 18"/>
          <p:cNvSpPr/>
          <p:nvPr/>
        </p:nvSpPr>
        <p:spPr>
          <a:xfrm>
            <a:off x="8756778" y="1369415"/>
            <a:ext cx="524011" cy="524011"/>
          </a:xfrm>
          <a:custGeom>
            <a:avLst/>
            <a:gdLst/>
            <a:ahLst/>
            <a:cxnLst/>
            <a:rect l="l" t="t" r="r" b="b"/>
            <a:pathLst>
              <a:path w="524011" h="524011">
                <a:moveTo>
                  <a:pt x="0" y="81877"/>
                </a:moveTo>
                <a:cubicBezTo>
                  <a:pt x="0" y="54755"/>
                  <a:pt x="22004" y="32751"/>
                  <a:pt x="49126" y="32751"/>
                </a:cubicBezTo>
                <a:lnTo>
                  <a:pt x="147378" y="32751"/>
                </a:lnTo>
                <a:cubicBezTo>
                  <a:pt x="174500" y="32751"/>
                  <a:pt x="196504" y="54755"/>
                  <a:pt x="196504" y="81877"/>
                </a:cubicBezTo>
                <a:lnTo>
                  <a:pt x="196504" y="98252"/>
                </a:lnTo>
                <a:lnTo>
                  <a:pt x="327507" y="98252"/>
                </a:lnTo>
                <a:lnTo>
                  <a:pt x="327507" y="81877"/>
                </a:lnTo>
                <a:cubicBezTo>
                  <a:pt x="327507" y="54755"/>
                  <a:pt x="349512" y="32751"/>
                  <a:pt x="376633" y="32751"/>
                </a:cubicBezTo>
                <a:lnTo>
                  <a:pt x="474885" y="32751"/>
                </a:lnTo>
                <a:cubicBezTo>
                  <a:pt x="502007" y="32751"/>
                  <a:pt x="524011" y="54755"/>
                  <a:pt x="524011" y="81877"/>
                </a:cubicBezTo>
                <a:lnTo>
                  <a:pt x="524011" y="180129"/>
                </a:lnTo>
                <a:cubicBezTo>
                  <a:pt x="524011" y="207251"/>
                  <a:pt x="502007" y="229255"/>
                  <a:pt x="474885" y="229255"/>
                </a:cubicBezTo>
                <a:lnTo>
                  <a:pt x="376633" y="229255"/>
                </a:lnTo>
                <a:cubicBezTo>
                  <a:pt x="349512" y="229255"/>
                  <a:pt x="327507" y="207251"/>
                  <a:pt x="327507" y="180129"/>
                </a:cubicBezTo>
                <a:lnTo>
                  <a:pt x="327507" y="163754"/>
                </a:lnTo>
                <a:lnTo>
                  <a:pt x="196504" y="163754"/>
                </a:lnTo>
                <a:lnTo>
                  <a:pt x="196504" y="180129"/>
                </a:lnTo>
                <a:cubicBezTo>
                  <a:pt x="196504" y="187600"/>
                  <a:pt x="194764" y="194764"/>
                  <a:pt x="191796" y="201110"/>
                </a:cubicBezTo>
                <a:lnTo>
                  <a:pt x="262006" y="294756"/>
                </a:lnTo>
                <a:lnTo>
                  <a:pt x="343883" y="294756"/>
                </a:lnTo>
                <a:cubicBezTo>
                  <a:pt x="371004" y="294756"/>
                  <a:pt x="393009" y="316761"/>
                  <a:pt x="393009" y="343883"/>
                </a:cubicBezTo>
                <a:lnTo>
                  <a:pt x="393009" y="442135"/>
                </a:lnTo>
                <a:cubicBezTo>
                  <a:pt x="393009" y="469256"/>
                  <a:pt x="371004" y="491261"/>
                  <a:pt x="343883" y="491261"/>
                </a:cubicBezTo>
                <a:lnTo>
                  <a:pt x="245630" y="491261"/>
                </a:lnTo>
                <a:cubicBezTo>
                  <a:pt x="218509" y="491261"/>
                  <a:pt x="196504" y="469256"/>
                  <a:pt x="196504" y="442135"/>
                </a:cubicBezTo>
                <a:lnTo>
                  <a:pt x="196504" y="343883"/>
                </a:lnTo>
                <a:cubicBezTo>
                  <a:pt x="196504" y="336411"/>
                  <a:pt x="198244" y="329247"/>
                  <a:pt x="201212" y="322902"/>
                </a:cubicBezTo>
                <a:lnTo>
                  <a:pt x="131003" y="229255"/>
                </a:lnTo>
                <a:lnTo>
                  <a:pt x="49126" y="229255"/>
                </a:lnTo>
                <a:cubicBezTo>
                  <a:pt x="22004" y="229255"/>
                  <a:pt x="0" y="207251"/>
                  <a:pt x="0" y="180129"/>
                </a:cubicBezTo>
                <a:lnTo>
                  <a:pt x="0" y="81877"/>
                </a:lnTo>
                <a:close/>
              </a:path>
            </a:pathLst>
          </a:custGeom>
          <a:solidFill>
            <a:srgbClr val="6366F1"/>
          </a:solidFill>
          <a:ln/>
        </p:spPr>
      </p:sp>
      <p:sp>
        <p:nvSpPr>
          <p:cNvPr id="21" name="Text 19"/>
          <p:cNvSpPr/>
          <p:nvPr/>
        </p:nvSpPr>
        <p:spPr>
          <a:xfrm>
            <a:off x="6371761" y="1998229"/>
            <a:ext cx="5292516" cy="244539"/>
          </a:xfrm>
          <a:prstGeom prst="rect">
            <a:avLst/>
          </a:prstGeom>
          <a:noFill/>
          <a:ln/>
        </p:spPr>
        <p:txBody>
          <a:bodyPr wrap="square" lIns="0" tIns="0" rIns="0" bIns="0" rtlCol="0" anchor="ctr"/>
          <a:lstStyle/>
          <a:p>
            <a:pPr algn="ctr">
              <a:lnSpc>
                <a:spcPct val="120000"/>
              </a:lnSpc>
            </a:pPr>
            <a:r>
              <a:rPr lang="en-US" sz="1375" b="1" dirty="0">
                <a:solidFill>
                  <a:srgbClr val="EFEFEF"/>
                </a:solidFill>
                <a:latin typeface="Liter" pitchFamily="34" charset="0"/>
                <a:ea typeface="Liter" pitchFamily="34" charset="-122"/>
                <a:cs typeface="Liter" pitchFamily="34" charset="-120"/>
              </a:rPr>
              <a:t>System Components</a:t>
            </a:r>
            <a:endParaRPr lang="en-US" sz="1600" dirty="0"/>
          </a:p>
        </p:txBody>
      </p:sp>
      <p:sp>
        <p:nvSpPr>
          <p:cNvPr id="22" name="Shape 20"/>
          <p:cNvSpPr/>
          <p:nvPr/>
        </p:nvSpPr>
        <p:spPr>
          <a:xfrm>
            <a:off x="6415429" y="2382504"/>
            <a:ext cx="5205181" cy="593880"/>
          </a:xfrm>
          <a:custGeom>
            <a:avLst/>
            <a:gdLst/>
            <a:ahLst/>
            <a:cxnLst/>
            <a:rect l="l" t="t" r="r" b="b"/>
            <a:pathLst>
              <a:path w="5205181" h="593880">
                <a:moveTo>
                  <a:pt x="69870" y="0"/>
                </a:moveTo>
                <a:lnTo>
                  <a:pt x="5135311" y="0"/>
                </a:lnTo>
                <a:cubicBezTo>
                  <a:pt x="5173899" y="0"/>
                  <a:pt x="5205181" y="31282"/>
                  <a:pt x="5205181" y="69870"/>
                </a:cubicBezTo>
                <a:lnTo>
                  <a:pt x="5205181" y="524010"/>
                </a:lnTo>
                <a:cubicBezTo>
                  <a:pt x="5205181" y="562598"/>
                  <a:pt x="5173899" y="593880"/>
                  <a:pt x="5135311" y="593880"/>
                </a:cubicBezTo>
                <a:lnTo>
                  <a:pt x="69870" y="593880"/>
                </a:lnTo>
                <a:cubicBezTo>
                  <a:pt x="31282" y="593880"/>
                  <a:pt x="0" y="562598"/>
                  <a:pt x="0" y="524010"/>
                </a:cubicBezTo>
                <a:lnTo>
                  <a:pt x="0" y="69870"/>
                </a:lnTo>
                <a:cubicBezTo>
                  <a:pt x="0" y="31308"/>
                  <a:pt x="31308" y="0"/>
                  <a:pt x="69870" y="0"/>
                </a:cubicBezTo>
                <a:close/>
              </a:path>
            </a:pathLst>
          </a:custGeom>
          <a:solidFill>
            <a:srgbClr val="191919"/>
          </a:solidFill>
          <a:ln/>
        </p:spPr>
      </p:sp>
      <p:sp>
        <p:nvSpPr>
          <p:cNvPr id="23" name="Shape 21"/>
          <p:cNvSpPr/>
          <p:nvPr/>
        </p:nvSpPr>
        <p:spPr>
          <a:xfrm>
            <a:off x="6520231" y="2539707"/>
            <a:ext cx="279473" cy="279473"/>
          </a:xfrm>
          <a:custGeom>
            <a:avLst/>
            <a:gdLst/>
            <a:ahLst/>
            <a:cxnLst/>
            <a:rect l="l" t="t" r="r" b="b"/>
            <a:pathLst>
              <a:path w="279473" h="279473">
                <a:moveTo>
                  <a:pt x="69868" y="0"/>
                </a:moveTo>
                <a:lnTo>
                  <a:pt x="209605" y="0"/>
                </a:lnTo>
                <a:cubicBezTo>
                  <a:pt x="248166" y="0"/>
                  <a:pt x="279473" y="31307"/>
                  <a:pt x="279473" y="69868"/>
                </a:cubicBezTo>
                <a:lnTo>
                  <a:pt x="279473" y="209605"/>
                </a:lnTo>
                <a:cubicBezTo>
                  <a:pt x="279473" y="248166"/>
                  <a:pt x="248166" y="279473"/>
                  <a:pt x="209605" y="279473"/>
                </a:cubicBezTo>
                <a:lnTo>
                  <a:pt x="69868" y="279473"/>
                </a:lnTo>
                <a:cubicBezTo>
                  <a:pt x="31307" y="279473"/>
                  <a:pt x="0" y="248166"/>
                  <a:pt x="0" y="209605"/>
                </a:cubicBezTo>
                <a:lnTo>
                  <a:pt x="0" y="69868"/>
                </a:lnTo>
                <a:cubicBezTo>
                  <a:pt x="0" y="31307"/>
                  <a:pt x="31307" y="0"/>
                  <a:pt x="69868" y="0"/>
                </a:cubicBezTo>
                <a:close/>
              </a:path>
            </a:pathLst>
          </a:custGeom>
          <a:solidFill>
            <a:srgbClr val="6366F1">
              <a:alpha val="20000"/>
            </a:srgbClr>
          </a:solidFill>
          <a:ln/>
        </p:spPr>
      </p:sp>
      <p:sp>
        <p:nvSpPr>
          <p:cNvPr id="24" name="Shape 22"/>
          <p:cNvSpPr/>
          <p:nvPr/>
        </p:nvSpPr>
        <p:spPr>
          <a:xfrm>
            <a:off x="6590099" y="2609575"/>
            <a:ext cx="139736" cy="139736"/>
          </a:xfrm>
          <a:custGeom>
            <a:avLst/>
            <a:gdLst/>
            <a:ahLst/>
            <a:cxnLst/>
            <a:rect l="l" t="t" r="r" b="b"/>
            <a:pathLst>
              <a:path w="139736" h="139736">
                <a:moveTo>
                  <a:pt x="17467" y="8734"/>
                </a:moveTo>
                <a:cubicBezTo>
                  <a:pt x="7833" y="8734"/>
                  <a:pt x="0" y="16566"/>
                  <a:pt x="0" y="26201"/>
                </a:cubicBezTo>
                <a:lnTo>
                  <a:pt x="0" y="96069"/>
                </a:lnTo>
                <a:cubicBezTo>
                  <a:pt x="0" y="105703"/>
                  <a:pt x="7833" y="113536"/>
                  <a:pt x="17467" y="113536"/>
                </a:cubicBezTo>
                <a:lnTo>
                  <a:pt x="56768" y="113536"/>
                </a:lnTo>
                <a:lnTo>
                  <a:pt x="52401" y="126636"/>
                </a:lnTo>
                <a:lnTo>
                  <a:pt x="32751" y="126636"/>
                </a:lnTo>
                <a:cubicBezTo>
                  <a:pt x="29121" y="126636"/>
                  <a:pt x="26201" y="129556"/>
                  <a:pt x="26201" y="133186"/>
                </a:cubicBezTo>
                <a:cubicBezTo>
                  <a:pt x="26201" y="136816"/>
                  <a:pt x="29121" y="139736"/>
                  <a:pt x="32751" y="139736"/>
                </a:cubicBezTo>
                <a:lnTo>
                  <a:pt x="106986" y="139736"/>
                </a:lnTo>
                <a:cubicBezTo>
                  <a:pt x="110616" y="139736"/>
                  <a:pt x="113536" y="136816"/>
                  <a:pt x="113536" y="133186"/>
                </a:cubicBezTo>
                <a:cubicBezTo>
                  <a:pt x="113536" y="129556"/>
                  <a:pt x="110616" y="126636"/>
                  <a:pt x="106986" y="126636"/>
                </a:cubicBezTo>
                <a:lnTo>
                  <a:pt x="87335" y="126636"/>
                </a:lnTo>
                <a:lnTo>
                  <a:pt x="82968" y="113536"/>
                </a:lnTo>
                <a:lnTo>
                  <a:pt x="122269" y="113536"/>
                </a:lnTo>
                <a:cubicBezTo>
                  <a:pt x="131904" y="113536"/>
                  <a:pt x="139736" y="105703"/>
                  <a:pt x="139736" y="96069"/>
                </a:cubicBezTo>
                <a:lnTo>
                  <a:pt x="139736" y="26201"/>
                </a:lnTo>
                <a:cubicBezTo>
                  <a:pt x="139736" y="16566"/>
                  <a:pt x="131904" y="8734"/>
                  <a:pt x="122269" y="8734"/>
                </a:cubicBezTo>
                <a:lnTo>
                  <a:pt x="17467" y="8734"/>
                </a:lnTo>
                <a:close/>
                <a:moveTo>
                  <a:pt x="26201" y="26201"/>
                </a:moveTo>
                <a:lnTo>
                  <a:pt x="113536" y="26201"/>
                </a:lnTo>
                <a:cubicBezTo>
                  <a:pt x="118367" y="26201"/>
                  <a:pt x="122269" y="30103"/>
                  <a:pt x="122269" y="34934"/>
                </a:cubicBezTo>
                <a:lnTo>
                  <a:pt x="122269" y="78602"/>
                </a:lnTo>
                <a:cubicBezTo>
                  <a:pt x="122269" y="83432"/>
                  <a:pt x="118367" y="87335"/>
                  <a:pt x="113536" y="87335"/>
                </a:cubicBezTo>
                <a:lnTo>
                  <a:pt x="26201" y="87335"/>
                </a:lnTo>
                <a:cubicBezTo>
                  <a:pt x="21370" y="87335"/>
                  <a:pt x="17467" y="83432"/>
                  <a:pt x="17467" y="78602"/>
                </a:cubicBezTo>
                <a:lnTo>
                  <a:pt x="17467" y="34934"/>
                </a:lnTo>
                <a:cubicBezTo>
                  <a:pt x="17467" y="30103"/>
                  <a:pt x="21370" y="26201"/>
                  <a:pt x="26201" y="26201"/>
                </a:cubicBezTo>
                <a:close/>
              </a:path>
            </a:pathLst>
          </a:custGeom>
          <a:solidFill>
            <a:srgbClr val="6366F1"/>
          </a:solidFill>
          <a:ln/>
        </p:spPr>
      </p:sp>
      <p:sp>
        <p:nvSpPr>
          <p:cNvPr id="25" name="Text 23"/>
          <p:cNvSpPr/>
          <p:nvPr/>
        </p:nvSpPr>
        <p:spPr>
          <a:xfrm>
            <a:off x="6904506" y="2487306"/>
            <a:ext cx="1615702"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Hardware</a:t>
            </a:r>
            <a:endParaRPr lang="en-US" sz="1600" dirty="0"/>
          </a:p>
        </p:txBody>
      </p:sp>
      <p:sp>
        <p:nvSpPr>
          <p:cNvPr id="26" name="Text 24"/>
          <p:cNvSpPr/>
          <p:nvPr/>
        </p:nvSpPr>
        <p:spPr>
          <a:xfrm>
            <a:off x="6904506" y="2696911"/>
            <a:ext cx="1606968" cy="174670"/>
          </a:xfrm>
          <a:prstGeom prst="rect">
            <a:avLst/>
          </a:prstGeom>
          <a:noFill/>
          <a:ln/>
        </p:spPr>
        <p:txBody>
          <a:bodyPr wrap="square" lIns="0" tIns="0" rIns="0" bIns="0" rtlCol="0" anchor="ctr"/>
          <a:lstStyle/>
          <a:p>
            <a:pPr>
              <a:lnSpc>
                <a:spcPct val="120000"/>
              </a:lnSpc>
            </a:pPr>
            <a:r>
              <a:rPr lang="en-US" sz="963" dirty="0">
                <a:solidFill>
                  <a:srgbClr val="8F8F8F"/>
                </a:solidFill>
                <a:latin typeface="Liter" pitchFamily="34" charset="0"/>
                <a:ea typeface="Liter" pitchFamily="34" charset="-122"/>
                <a:cs typeface="Liter" pitchFamily="34" charset="-120"/>
              </a:rPr>
              <a:t>Computers, servers, network</a:t>
            </a:r>
            <a:endParaRPr lang="en-US" sz="1600" dirty="0"/>
          </a:p>
        </p:txBody>
      </p:sp>
      <p:sp>
        <p:nvSpPr>
          <p:cNvPr id="27" name="Shape 25"/>
          <p:cNvSpPr/>
          <p:nvPr/>
        </p:nvSpPr>
        <p:spPr>
          <a:xfrm>
            <a:off x="6415429" y="3081186"/>
            <a:ext cx="5205181" cy="593880"/>
          </a:xfrm>
          <a:custGeom>
            <a:avLst/>
            <a:gdLst/>
            <a:ahLst/>
            <a:cxnLst/>
            <a:rect l="l" t="t" r="r" b="b"/>
            <a:pathLst>
              <a:path w="5205181" h="593880">
                <a:moveTo>
                  <a:pt x="69870" y="0"/>
                </a:moveTo>
                <a:lnTo>
                  <a:pt x="5135311" y="0"/>
                </a:lnTo>
                <a:cubicBezTo>
                  <a:pt x="5173899" y="0"/>
                  <a:pt x="5205181" y="31282"/>
                  <a:pt x="5205181" y="69870"/>
                </a:cubicBezTo>
                <a:lnTo>
                  <a:pt x="5205181" y="524010"/>
                </a:lnTo>
                <a:cubicBezTo>
                  <a:pt x="5205181" y="562598"/>
                  <a:pt x="5173899" y="593880"/>
                  <a:pt x="5135311" y="593880"/>
                </a:cubicBezTo>
                <a:lnTo>
                  <a:pt x="69870" y="593880"/>
                </a:lnTo>
                <a:cubicBezTo>
                  <a:pt x="31282" y="593880"/>
                  <a:pt x="0" y="562598"/>
                  <a:pt x="0" y="524010"/>
                </a:cubicBezTo>
                <a:lnTo>
                  <a:pt x="0" y="69870"/>
                </a:lnTo>
                <a:cubicBezTo>
                  <a:pt x="0" y="31308"/>
                  <a:pt x="31308" y="0"/>
                  <a:pt x="69870" y="0"/>
                </a:cubicBezTo>
                <a:close/>
              </a:path>
            </a:pathLst>
          </a:custGeom>
          <a:solidFill>
            <a:srgbClr val="191919"/>
          </a:solidFill>
          <a:ln/>
        </p:spPr>
      </p:sp>
      <p:sp>
        <p:nvSpPr>
          <p:cNvPr id="28" name="Shape 26"/>
          <p:cNvSpPr/>
          <p:nvPr/>
        </p:nvSpPr>
        <p:spPr>
          <a:xfrm>
            <a:off x="6520231" y="3238389"/>
            <a:ext cx="279473" cy="279473"/>
          </a:xfrm>
          <a:custGeom>
            <a:avLst/>
            <a:gdLst/>
            <a:ahLst/>
            <a:cxnLst/>
            <a:rect l="l" t="t" r="r" b="b"/>
            <a:pathLst>
              <a:path w="279473" h="279473">
                <a:moveTo>
                  <a:pt x="69868" y="0"/>
                </a:moveTo>
                <a:lnTo>
                  <a:pt x="209605" y="0"/>
                </a:lnTo>
                <a:cubicBezTo>
                  <a:pt x="248166" y="0"/>
                  <a:pt x="279473" y="31307"/>
                  <a:pt x="279473" y="69868"/>
                </a:cubicBezTo>
                <a:lnTo>
                  <a:pt x="279473" y="209605"/>
                </a:lnTo>
                <a:cubicBezTo>
                  <a:pt x="279473" y="248166"/>
                  <a:pt x="248166" y="279473"/>
                  <a:pt x="209605" y="279473"/>
                </a:cubicBezTo>
                <a:lnTo>
                  <a:pt x="69868" y="279473"/>
                </a:lnTo>
                <a:cubicBezTo>
                  <a:pt x="31307" y="279473"/>
                  <a:pt x="0" y="248166"/>
                  <a:pt x="0" y="209605"/>
                </a:cubicBezTo>
                <a:lnTo>
                  <a:pt x="0" y="69868"/>
                </a:lnTo>
                <a:cubicBezTo>
                  <a:pt x="0" y="31307"/>
                  <a:pt x="31307" y="0"/>
                  <a:pt x="69868" y="0"/>
                </a:cubicBezTo>
                <a:close/>
              </a:path>
            </a:pathLst>
          </a:custGeom>
          <a:solidFill>
            <a:srgbClr val="6366F1">
              <a:alpha val="20000"/>
            </a:srgbClr>
          </a:solidFill>
          <a:ln/>
        </p:spPr>
      </p:sp>
      <p:sp>
        <p:nvSpPr>
          <p:cNvPr id="29" name="Shape 27"/>
          <p:cNvSpPr/>
          <p:nvPr/>
        </p:nvSpPr>
        <p:spPr>
          <a:xfrm>
            <a:off x="6581366" y="3308257"/>
            <a:ext cx="157203" cy="139736"/>
          </a:xfrm>
          <a:custGeom>
            <a:avLst/>
            <a:gdLst/>
            <a:ahLst/>
            <a:cxnLst/>
            <a:rect l="l" t="t" r="r" b="b"/>
            <a:pathLst>
              <a:path w="157203" h="139736">
                <a:moveTo>
                  <a:pt x="98470" y="328"/>
                </a:moveTo>
                <a:cubicBezTo>
                  <a:pt x="93831" y="-1010"/>
                  <a:pt x="89000" y="1692"/>
                  <a:pt x="87663" y="6332"/>
                </a:cubicBezTo>
                <a:lnTo>
                  <a:pt x="52729" y="128601"/>
                </a:lnTo>
                <a:cubicBezTo>
                  <a:pt x="51391" y="133241"/>
                  <a:pt x="54093" y="138072"/>
                  <a:pt x="58733" y="139409"/>
                </a:cubicBezTo>
                <a:cubicBezTo>
                  <a:pt x="63373" y="140746"/>
                  <a:pt x="68203" y="138044"/>
                  <a:pt x="69541" y="133405"/>
                </a:cubicBezTo>
                <a:lnTo>
                  <a:pt x="104475" y="11135"/>
                </a:lnTo>
                <a:cubicBezTo>
                  <a:pt x="105812" y="6496"/>
                  <a:pt x="103110" y="1665"/>
                  <a:pt x="98470" y="328"/>
                </a:cubicBezTo>
                <a:close/>
                <a:moveTo>
                  <a:pt x="116101" y="37472"/>
                </a:moveTo>
                <a:cubicBezTo>
                  <a:pt x="112690" y="40884"/>
                  <a:pt x="112690" y="46424"/>
                  <a:pt x="116101" y="49836"/>
                </a:cubicBezTo>
                <a:lnTo>
                  <a:pt x="136134" y="69868"/>
                </a:lnTo>
                <a:lnTo>
                  <a:pt x="116101" y="89901"/>
                </a:lnTo>
                <a:cubicBezTo>
                  <a:pt x="112690" y="93312"/>
                  <a:pt x="112690" y="98853"/>
                  <a:pt x="116101" y="102264"/>
                </a:cubicBezTo>
                <a:cubicBezTo>
                  <a:pt x="119513" y="105676"/>
                  <a:pt x="125053" y="105676"/>
                  <a:pt x="128465" y="102264"/>
                </a:cubicBezTo>
                <a:lnTo>
                  <a:pt x="154665" y="76064"/>
                </a:lnTo>
                <a:cubicBezTo>
                  <a:pt x="158077" y="72652"/>
                  <a:pt x="158077" y="67112"/>
                  <a:pt x="154665" y="63700"/>
                </a:cubicBezTo>
                <a:lnTo>
                  <a:pt x="128465" y="37500"/>
                </a:lnTo>
                <a:cubicBezTo>
                  <a:pt x="125053" y="34088"/>
                  <a:pt x="119513" y="34088"/>
                  <a:pt x="116101" y="37500"/>
                </a:cubicBezTo>
                <a:close/>
                <a:moveTo>
                  <a:pt x="41129" y="37472"/>
                </a:moveTo>
                <a:cubicBezTo>
                  <a:pt x="37718" y="34061"/>
                  <a:pt x="32178" y="34061"/>
                  <a:pt x="28766" y="37472"/>
                </a:cubicBezTo>
                <a:lnTo>
                  <a:pt x="2565" y="63673"/>
                </a:lnTo>
                <a:cubicBezTo>
                  <a:pt x="-846" y="67084"/>
                  <a:pt x="-846" y="72625"/>
                  <a:pt x="2565" y="76036"/>
                </a:cubicBezTo>
                <a:lnTo>
                  <a:pt x="28766" y="102237"/>
                </a:lnTo>
                <a:cubicBezTo>
                  <a:pt x="32178" y="105648"/>
                  <a:pt x="37718" y="105648"/>
                  <a:pt x="41129" y="102237"/>
                </a:cubicBezTo>
                <a:cubicBezTo>
                  <a:pt x="44541" y="98825"/>
                  <a:pt x="44541" y="93285"/>
                  <a:pt x="41129" y="89873"/>
                </a:cubicBezTo>
                <a:lnTo>
                  <a:pt x="21097" y="69868"/>
                </a:lnTo>
                <a:lnTo>
                  <a:pt x="41102" y="49836"/>
                </a:lnTo>
                <a:cubicBezTo>
                  <a:pt x="44514" y="46424"/>
                  <a:pt x="44514" y="40884"/>
                  <a:pt x="41102" y="37472"/>
                </a:cubicBezTo>
                <a:close/>
              </a:path>
            </a:pathLst>
          </a:custGeom>
          <a:solidFill>
            <a:srgbClr val="6366F1"/>
          </a:solidFill>
          <a:ln/>
        </p:spPr>
      </p:sp>
      <p:sp>
        <p:nvSpPr>
          <p:cNvPr id="30" name="Text 28"/>
          <p:cNvSpPr/>
          <p:nvPr/>
        </p:nvSpPr>
        <p:spPr>
          <a:xfrm>
            <a:off x="6904506" y="3185988"/>
            <a:ext cx="1790372"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Software</a:t>
            </a:r>
            <a:endParaRPr lang="en-US" sz="1600" dirty="0"/>
          </a:p>
        </p:txBody>
      </p:sp>
      <p:sp>
        <p:nvSpPr>
          <p:cNvPr id="31" name="Text 29"/>
          <p:cNvSpPr/>
          <p:nvPr/>
        </p:nvSpPr>
        <p:spPr>
          <a:xfrm>
            <a:off x="6904506" y="3395593"/>
            <a:ext cx="1781639" cy="174670"/>
          </a:xfrm>
          <a:prstGeom prst="rect">
            <a:avLst/>
          </a:prstGeom>
          <a:noFill/>
          <a:ln/>
        </p:spPr>
        <p:txBody>
          <a:bodyPr wrap="square" lIns="0" tIns="0" rIns="0" bIns="0" rtlCol="0" anchor="ctr"/>
          <a:lstStyle/>
          <a:p>
            <a:pPr>
              <a:lnSpc>
                <a:spcPct val="120000"/>
              </a:lnSpc>
            </a:pPr>
            <a:r>
              <a:rPr lang="en-US" sz="963" dirty="0">
                <a:solidFill>
                  <a:srgbClr val="8F8F8F"/>
                </a:solidFill>
                <a:latin typeface="Liter" pitchFamily="34" charset="0"/>
                <a:ea typeface="Liter" pitchFamily="34" charset="-122"/>
                <a:cs typeface="Liter" pitchFamily="34" charset="-120"/>
              </a:rPr>
              <a:t>Applications, operating systems</a:t>
            </a:r>
            <a:endParaRPr lang="en-US" sz="1600" dirty="0"/>
          </a:p>
        </p:txBody>
      </p:sp>
      <p:sp>
        <p:nvSpPr>
          <p:cNvPr id="32" name="Shape 30"/>
          <p:cNvSpPr/>
          <p:nvPr/>
        </p:nvSpPr>
        <p:spPr>
          <a:xfrm>
            <a:off x="6415429" y="3779868"/>
            <a:ext cx="5205181" cy="593880"/>
          </a:xfrm>
          <a:custGeom>
            <a:avLst/>
            <a:gdLst/>
            <a:ahLst/>
            <a:cxnLst/>
            <a:rect l="l" t="t" r="r" b="b"/>
            <a:pathLst>
              <a:path w="5205181" h="593880">
                <a:moveTo>
                  <a:pt x="69870" y="0"/>
                </a:moveTo>
                <a:lnTo>
                  <a:pt x="5135311" y="0"/>
                </a:lnTo>
                <a:cubicBezTo>
                  <a:pt x="5173899" y="0"/>
                  <a:pt x="5205181" y="31282"/>
                  <a:pt x="5205181" y="69870"/>
                </a:cubicBezTo>
                <a:lnTo>
                  <a:pt x="5205181" y="524010"/>
                </a:lnTo>
                <a:cubicBezTo>
                  <a:pt x="5205181" y="562598"/>
                  <a:pt x="5173899" y="593880"/>
                  <a:pt x="5135311" y="593880"/>
                </a:cubicBezTo>
                <a:lnTo>
                  <a:pt x="69870" y="593880"/>
                </a:lnTo>
                <a:cubicBezTo>
                  <a:pt x="31282" y="593880"/>
                  <a:pt x="0" y="562598"/>
                  <a:pt x="0" y="524010"/>
                </a:cubicBezTo>
                <a:lnTo>
                  <a:pt x="0" y="69870"/>
                </a:lnTo>
                <a:cubicBezTo>
                  <a:pt x="0" y="31308"/>
                  <a:pt x="31308" y="0"/>
                  <a:pt x="69870" y="0"/>
                </a:cubicBezTo>
                <a:close/>
              </a:path>
            </a:pathLst>
          </a:custGeom>
          <a:solidFill>
            <a:srgbClr val="191919"/>
          </a:solidFill>
          <a:ln/>
        </p:spPr>
      </p:sp>
      <p:sp>
        <p:nvSpPr>
          <p:cNvPr id="33" name="Shape 31"/>
          <p:cNvSpPr/>
          <p:nvPr/>
        </p:nvSpPr>
        <p:spPr>
          <a:xfrm>
            <a:off x="6520231" y="3937071"/>
            <a:ext cx="279473" cy="279473"/>
          </a:xfrm>
          <a:custGeom>
            <a:avLst/>
            <a:gdLst/>
            <a:ahLst/>
            <a:cxnLst/>
            <a:rect l="l" t="t" r="r" b="b"/>
            <a:pathLst>
              <a:path w="279473" h="279473">
                <a:moveTo>
                  <a:pt x="69868" y="0"/>
                </a:moveTo>
                <a:lnTo>
                  <a:pt x="209605" y="0"/>
                </a:lnTo>
                <a:cubicBezTo>
                  <a:pt x="248166" y="0"/>
                  <a:pt x="279473" y="31307"/>
                  <a:pt x="279473" y="69868"/>
                </a:cubicBezTo>
                <a:lnTo>
                  <a:pt x="279473" y="209605"/>
                </a:lnTo>
                <a:cubicBezTo>
                  <a:pt x="279473" y="248166"/>
                  <a:pt x="248166" y="279473"/>
                  <a:pt x="209605" y="279473"/>
                </a:cubicBezTo>
                <a:lnTo>
                  <a:pt x="69868" y="279473"/>
                </a:lnTo>
                <a:cubicBezTo>
                  <a:pt x="31307" y="279473"/>
                  <a:pt x="0" y="248166"/>
                  <a:pt x="0" y="209605"/>
                </a:cubicBezTo>
                <a:lnTo>
                  <a:pt x="0" y="69868"/>
                </a:lnTo>
                <a:cubicBezTo>
                  <a:pt x="0" y="31307"/>
                  <a:pt x="31307" y="0"/>
                  <a:pt x="69868" y="0"/>
                </a:cubicBezTo>
                <a:close/>
              </a:path>
            </a:pathLst>
          </a:custGeom>
          <a:solidFill>
            <a:srgbClr val="6366F1">
              <a:alpha val="20000"/>
            </a:srgbClr>
          </a:solidFill>
          <a:ln/>
        </p:spPr>
      </p:sp>
      <p:sp>
        <p:nvSpPr>
          <p:cNvPr id="34" name="Shape 32"/>
          <p:cNvSpPr/>
          <p:nvPr/>
        </p:nvSpPr>
        <p:spPr>
          <a:xfrm>
            <a:off x="6598833" y="4006939"/>
            <a:ext cx="122269" cy="139736"/>
          </a:xfrm>
          <a:custGeom>
            <a:avLst/>
            <a:gdLst/>
            <a:ahLst/>
            <a:cxnLst/>
            <a:rect l="l" t="t" r="r" b="b"/>
            <a:pathLst>
              <a:path w="122269" h="139736">
                <a:moveTo>
                  <a:pt x="122269" y="56167"/>
                </a:moveTo>
                <a:cubicBezTo>
                  <a:pt x="118230" y="58842"/>
                  <a:pt x="113590" y="60998"/>
                  <a:pt x="108760" y="62718"/>
                </a:cubicBezTo>
                <a:cubicBezTo>
                  <a:pt x="95932" y="67303"/>
                  <a:pt x="79093" y="69868"/>
                  <a:pt x="61135" y="69868"/>
                </a:cubicBezTo>
                <a:cubicBezTo>
                  <a:pt x="43176" y="69868"/>
                  <a:pt x="26310" y="67275"/>
                  <a:pt x="13510" y="62718"/>
                </a:cubicBezTo>
                <a:cubicBezTo>
                  <a:pt x="8706" y="60998"/>
                  <a:pt x="4039" y="58842"/>
                  <a:pt x="0" y="56167"/>
                </a:cubicBezTo>
                <a:lnTo>
                  <a:pt x="0" y="78602"/>
                </a:lnTo>
                <a:cubicBezTo>
                  <a:pt x="0" y="90665"/>
                  <a:pt x="27374" y="100436"/>
                  <a:pt x="61135" y="100436"/>
                </a:cubicBezTo>
                <a:cubicBezTo>
                  <a:pt x="94895" y="100436"/>
                  <a:pt x="122269" y="90665"/>
                  <a:pt x="122269" y="78602"/>
                </a:cubicBezTo>
                <a:lnTo>
                  <a:pt x="122269" y="56167"/>
                </a:lnTo>
                <a:close/>
                <a:moveTo>
                  <a:pt x="122269" y="34934"/>
                </a:moveTo>
                <a:lnTo>
                  <a:pt x="122269" y="21834"/>
                </a:lnTo>
                <a:cubicBezTo>
                  <a:pt x="122269" y="9771"/>
                  <a:pt x="94895" y="0"/>
                  <a:pt x="61135" y="0"/>
                </a:cubicBezTo>
                <a:cubicBezTo>
                  <a:pt x="27374" y="0"/>
                  <a:pt x="0" y="9771"/>
                  <a:pt x="0" y="21834"/>
                </a:cubicBezTo>
                <a:lnTo>
                  <a:pt x="0" y="34934"/>
                </a:lnTo>
                <a:cubicBezTo>
                  <a:pt x="0" y="46997"/>
                  <a:pt x="27374" y="56768"/>
                  <a:pt x="61135" y="56768"/>
                </a:cubicBezTo>
                <a:cubicBezTo>
                  <a:pt x="94895" y="56768"/>
                  <a:pt x="122269" y="46997"/>
                  <a:pt x="122269" y="34934"/>
                </a:cubicBezTo>
                <a:close/>
                <a:moveTo>
                  <a:pt x="108760" y="106385"/>
                </a:moveTo>
                <a:cubicBezTo>
                  <a:pt x="95960" y="110943"/>
                  <a:pt x="79120" y="113536"/>
                  <a:pt x="61135" y="113536"/>
                </a:cubicBezTo>
                <a:cubicBezTo>
                  <a:pt x="43149" y="113536"/>
                  <a:pt x="26310" y="110943"/>
                  <a:pt x="13510" y="106385"/>
                </a:cubicBezTo>
                <a:cubicBezTo>
                  <a:pt x="8706" y="104666"/>
                  <a:pt x="4039" y="102510"/>
                  <a:pt x="0" y="99835"/>
                </a:cubicBezTo>
                <a:lnTo>
                  <a:pt x="0" y="117903"/>
                </a:lnTo>
                <a:cubicBezTo>
                  <a:pt x="0" y="129966"/>
                  <a:pt x="27374" y="139736"/>
                  <a:pt x="61135" y="139736"/>
                </a:cubicBezTo>
                <a:cubicBezTo>
                  <a:pt x="94895" y="139736"/>
                  <a:pt x="122269" y="129966"/>
                  <a:pt x="122269" y="117903"/>
                </a:cubicBezTo>
                <a:lnTo>
                  <a:pt x="122269" y="99835"/>
                </a:lnTo>
                <a:cubicBezTo>
                  <a:pt x="118230" y="102510"/>
                  <a:pt x="113590" y="104666"/>
                  <a:pt x="108760" y="106385"/>
                </a:cubicBezTo>
                <a:close/>
              </a:path>
            </a:pathLst>
          </a:custGeom>
          <a:solidFill>
            <a:srgbClr val="6366F1"/>
          </a:solidFill>
          <a:ln/>
        </p:spPr>
      </p:sp>
      <p:sp>
        <p:nvSpPr>
          <p:cNvPr id="35" name="Text 33"/>
          <p:cNvSpPr/>
          <p:nvPr/>
        </p:nvSpPr>
        <p:spPr>
          <a:xfrm>
            <a:off x="6904506" y="3884670"/>
            <a:ext cx="1554567" cy="209605"/>
          </a:xfrm>
          <a:prstGeom prst="rect">
            <a:avLst/>
          </a:prstGeom>
          <a:noFill/>
          <a:ln/>
        </p:spPr>
        <p:txBody>
          <a:bodyPr wrap="square" lIns="0" tIns="0" rIns="0" bIns="0" rtlCol="0" anchor="ctr"/>
          <a:lstStyle/>
          <a:p>
            <a:pPr>
              <a:lnSpc>
                <a:spcPct val="130000"/>
              </a:lnSpc>
            </a:pPr>
            <a:r>
              <a:rPr lang="en-US" sz="1100" b="1" dirty="0">
                <a:solidFill>
                  <a:srgbClr val="EFEFEF"/>
                </a:solidFill>
                <a:latin typeface="Liter" pitchFamily="34" charset="0"/>
                <a:ea typeface="Liter" pitchFamily="34" charset="-122"/>
                <a:cs typeface="Liter" pitchFamily="34" charset="-120"/>
              </a:rPr>
              <a:t>Data</a:t>
            </a:r>
            <a:endParaRPr lang="en-US" sz="1600" dirty="0"/>
          </a:p>
        </p:txBody>
      </p:sp>
      <p:sp>
        <p:nvSpPr>
          <p:cNvPr id="36" name="Text 34"/>
          <p:cNvSpPr/>
          <p:nvPr/>
        </p:nvSpPr>
        <p:spPr>
          <a:xfrm>
            <a:off x="6904506" y="4094275"/>
            <a:ext cx="1545834" cy="174670"/>
          </a:xfrm>
          <a:prstGeom prst="rect">
            <a:avLst/>
          </a:prstGeom>
          <a:noFill/>
          <a:ln/>
        </p:spPr>
        <p:txBody>
          <a:bodyPr wrap="square" lIns="0" tIns="0" rIns="0" bIns="0" rtlCol="0" anchor="ctr"/>
          <a:lstStyle/>
          <a:p>
            <a:pPr>
              <a:lnSpc>
                <a:spcPct val="120000"/>
              </a:lnSpc>
            </a:pPr>
            <a:r>
              <a:rPr lang="en-US" sz="963" dirty="0">
                <a:solidFill>
                  <a:srgbClr val="8F8F8F"/>
                </a:solidFill>
                <a:latin typeface="Liter" pitchFamily="34" charset="0"/>
                <a:ea typeface="Liter" pitchFamily="34" charset="-122"/>
                <a:cs typeface="Liter" pitchFamily="34" charset="-120"/>
              </a:rPr>
              <a:t>Customer info, transactions</a:t>
            </a:r>
            <a:endParaRPr lang="en-US" sz="1600" dirty="0"/>
          </a:p>
        </p:txBody>
      </p:sp>
      <p:sp>
        <p:nvSpPr>
          <p:cNvPr id="37" name="Shape 35"/>
          <p:cNvSpPr/>
          <p:nvPr/>
        </p:nvSpPr>
        <p:spPr>
          <a:xfrm>
            <a:off x="6202331" y="4733575"/>
            <a:ext cx="5631377" cy="915273"/>
          </a:xfrm>
          <a:custGeom>
            <a:avLst/>
            <a:gdLst/>
            <a:ahLst/>
            <a:cxnLst/>
            <a:rect l="l" t="t" r="r" b="b"/>
            <a:pathLst>
              <a:path w="5631377" h="915273">
                <a:moveTo>
                  <a:pt x="69872" y="0"/>
                </a:moveTo>
                <a:lnTo>
                  <a:pt x="5561505" y="0"/>
                </a:lnTo>
                <a:cubicBezTo>
                  <a:pt x="5600094" y="0"/>
                  <a:pt x="5631377" y="31283"/>
                  <a:pt x="5631377" y="69872"/>
                </a:cubicBezTo>
                <a:lnTo>
                  <a:pt x="5631377" y="845401"/>
                </a:lnTo>
                <a:cubicBezTo>
                  <a:pt x="5631377" y="883991"/>
                  <a:pt x="5600094" y="915273"/>
                  <a:pt x="5561505" y="915273"/>
                </a:cubicBezTo>
                <a:lnTo>
                  <a:pt x="69872" y="915273"/>
                </a:lnTo>
                <a:cubicBezTo>
                  <a:pt x="31283" y="915273"/>
                  <a:pt x="0" y="883991"/>
                  <a:pt x="0" y="845401"/>
                </a:cubicBezTo>
                <a:lnTo>
                  <a:pt x="0" y="69872"/>
                </a:lnTo>
                <a:cubicBezTo>
                  <a:pt x="0" y="31283"/>
                  <a:pt x="31283" y="0"/>
                  <a:pt x="69872" y="0"/>
                </a:cubicBezTo>
                <a:close/>
              </a:path>
            </a:pathLst>
          </a:custGeom>
          <a:solidFill>
            <a:srgbClr val="6366F1">
              <a:alpha val="10196"/>
            </a:srgbClr>
          </a:solidFill>
          <a:ln w="10160">
            <a:solidFill>
              <a:srgbClr val="6366F1">
                <a:alpha val="30196"/>
              </a:srgbClr>
            </a:solidFill>
            <a:prstDash val="solid"/>
          </a:ln>
        </p:spPr>
      </p:sp>
      <p:sp>
        <p:nvSpPr>
          <p:cNvPr id="38" name="Text 36"/>
          <p:cNvSpPr/>
          <p:nvPr/>
        </p:nvSpPr>
        <p:spPr>
          <a:xfrm>
            <a:off x="6345561" y="4876803"/>
            <a:ext cx="5414785" cy="628814"/>
          </a:xfrm>
          <a:prstGeom prst="rect">
            <a:avLst/>
          </a:prstGeom>
          <a:noFill/>
          <a:ln/>
        </p:spPr>
        <p:txBody>
          <a:bodyPr wrap="square" lIns="0" tIns="0" rIns="0" bIns="0" rtlCol="0" anchor="ctr"/>
          <a:lstStyle/>
          <a:p>
            <a:pPr>
              <a:lnSpc>
                <a:spcPct val="130000"/>
              </a:lnSpc>
            </a:pPr>
            <a:r>
              <a:rPr lang="en-US" sz="1100" b="1" dirty="0">
                <a:solidFill>
                  <a:srgbClr val="6366F1"/>
                </a:solidFill>
                <a:latin typeface="Liter" pitchFamily="34" charset="0"/>
                <a:ea typeface="Liter" pitchFamily="34" charset="-122"/>
                <a:cs typeface="Liter" pitchFamily="34" charset="-120"/>
              </a:rPr>
              <a:t>Example:</a:t>
            </a:r>
            <a:r>
              <a:rPr lang="en-US" sz="1100" dirty="0">
                <a:solidFill>
                  <a:srgbClr val="EFEFEF"/>
                </a:solidFill>
                <a:latin typeface="Liter" pitchFamily="34" charset="0"/>
                <a:ea typeface="Liter" pitchFamily="34" charset="-122"/>
                <a:cs typeface="Liter" pitchFamily="34" charset="-120"/>
              </a:rPr>
              <a:t> An ATM machine is a computer-based system: it has hardware (screen, card reader), software (banking app), data (account info), and procedures (enter PIN, withdraw cash)!</a:t>
            </a:r>
            <a:endParaRPr lang="en-US" sz="1600" dirty="0"/>
          </a:p>
        </p:txBody>
      </p:sp>
      <p:sp>
        <p:nvSpPr>
          <p:cNvPr id="39" name="Shape 37"/>
          <p:cNvSpPr/>
          <p:nvPr/>
        </p:nvSpPr>
        <p:spPr>
          <a:xfrm>
            <a:off x="352834" y="5795568"/>
            <a:ext cx="11482838" cy="705669"/>
          </a:xfrm>
          <a:custGeom>
            <a:avLst/>
            <a:gdLst/>
            <a:ahLst/>
            <a:cxnLst/>
            <a:rect l="l" t="t" r="r" b="b"/>
            <a:pathLst>
              <a:path w="11482838" h="705669">
                <a:moveTo>
                  <a:pt x="69868" y="0"/>
                </a:moveTo>
                <a:lnTo>
                  <a:pt x="11412970" y="0"/>
                </a:lnTo>
                <a:cubicBezTo>
                  <a:pt x="11451557" y="0"/>
                  <a:pt x="11482838" y="31281"/>
                  <a:pt x="11482838" y="69868"/>
                </a:cubicBezTo>
                <a:lnTo>
                  <a:pt x="11482838" y="635801"/>
                </a:lnTo>
                <a:cubicBezTo>
                  <a:pt x="11482838" y="674388"/>
                  <a:pt x="11451557" y="705669"/>
                  <a:pt x="11412970" y="705669"/>
                </a:cubicBezTo>
                <a:lnTo>
                  <a:pt x="69868" y="705669"/>
                </a:lnTo>
                <a:cubicBezTo>
                  <a:pt x="31307" y="705669"/>
                  <a:pt x="0" y="674362"/>
                  <a:pt x="0" y="635801"/>
                </a:cubicBezTo>
                <a:lnTo>
                  <a:pt x="0" y="69868"/>
                </a:lnTo>
                <a:cubicBezTo>
                  <a:pt x="0" y="31281"/>
                  <a:pt x="31281" y="0"/>
                  <a:pt x="69868" y="0"/>
                </a:cubicBezTo>
                <a:close/>
              </a:path>
            </a:pathLst>
          </a:custGeom>
          <a:solidFill>
            <a:srgbClr val="262626"/>
          </a:solidFill>
          <a:ln w="10160">
            <a:solidFill>
              <a:srgbClr val="333333"/>
            </a:solidFill>
            <a:prstDash val="solid"/>
          </a:ln>
        </p:spPr>
      </p:sp>
      <p:sp>
        <p:nvSpPr>
          <p:cNvPr id="40" name="Text 38"/>
          <p:cNvSpPr/>
          <p:nvPr/>
        </p:nvSpPr>
        <p:spPr>
          <a:xfrm>
            <a:off x="496064" y="5938797"/>
            <a:ext cx="11266246" cy="419209"/>
          </a:xfrm>
          <a:prstGeom prst="rect">
            <a:avLst/>
          </a:prstGeom>
          <a:noFill/>
          <a:ln/>
        </p:spPr>
        <p:txBody>
          <a:bodyPr wrap="square" lIns="0" tIns="0" rIns="0" bIns="0" rtlCol="0" anchor="ctr"/>
          <a:lstStyle/>
          <a:p>
            <a:pPr>
              <a:lnSpc>
                <a:spcPct val="130000"/>
              </a:lnSpc>
            </a:pPr>
            <a:r>
              <a:rPr lang="en-US" sz="1100" b="1" dirty="0">
                <a:solidFill>
                  <a:srgbClr val="6366F1"/>
                </a:solidFill>
                <a:latin typeface="Liter" pitchFamily="34" charset="0"/>
                <a:ea typeface="Liter" pitchFamily="34" charset="-122"/>
                <a:cs typeface="Liter" pitchFamily="34" charset="-120"/>
              </a:rPr>
              <a:t>Explanation:</a:t>
            </a:r>
            <a:r>
              <a:rPr lang="en-US" sz="1100" dirty="0">
                <a:solidFill>
                  <a:srgbClr val="EFEFEF"/>
                </a:solidFill>
                <a:latin typeface="Liter" pitchFamily="34" charset="0"/>
                <a:ea typeface="Liter" pitchFamily="34" charset="-122"/>
                <a:cs typeface="Liter" pitchFamily="34" charset="-120"/>
              </a:rPr>
              <a:t> A computer-based system is like a restaurant kitchen. The hardware is the stove and fridge, software is the recipes, data is the ingredients, people are the chefs, and procedures are the cooking rules. All must work together to serve a meal!</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2.4</a:t>
            </a:r>
            <a:endParaRPr lang="en-US" sz="1600" dirty="0"/>
          </a:p>
        </p:txBody>
      </p:sp>
      <p:sp>
        <p:nvSpPr>
          <p:cNvPr id="3" name="Text 1"/>
          <p:cNvSpPr/>
          <p:nvPr/>
        </p:nvSpPr>
        <p:spPr>
          <a:xfrm>
            <a:off x="38100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Software and Programs</a:t>
            </a:r>
            <a:endParaRPr lang="en-US" sz="1600" dirty="0"/>
          </a:p>
        </p:txBody>
      </p:sp>
      <p:sp>
        <p:nvSpPr>
          <p:cNvPr id="4" name="Shape 2"/>
          <p:cNvSpPr/>
          <p:nvPr/>
        </p:nvSpPr>
        <p:spPr>
          <a:xfrm>
            <a:off x="384810" y="1337310"/>
            <a:ext cx="6760845" cy="1150620"/>
          </a:xfrm>
          <a:custGeom>
            <a:avLst/>
            <a:gdLst/>
            <a:ahLst/>
            <a:cxnLst/>
            <a:rect l="l" t="t" r="r" b="b"/>
            <a:pathLst>
              <a:path w="6760845" h="1150620">
                <a:moveTo>
                  <a:pt x="114303" y="0"/>
                </a:moveTo>
                <a:lnTo>
                  <a:pt x="6646542" y="0"/>
                </a:lnTo>
                <a:cubicBezTo>
                  <a:pt x="6709670" y="0"/>
                  <a:pt x="6760845" y="51175"/>
                  <a:pt x="6760845" y="114303"/>
                </a:cubicBezTo>
                <a:lnTo>
                  <a:pt x="6760845" y="1036317"/>
                </a:lnTo>
                <a:cubicBezTo>
                  <a:pt x="6760845" y="1099445"/>
                  <a:pt x="6709670" y="1150620"/>
                  <a:pt x="6646542" y="1150620"/>
                </a:cubicBezTo>
                <a:lnTo>
                  <a:pt x="114303" y="1150620"/>
                </a:lnTo>
                <a:cubicBezTo>
                  <a:pt x="51175" y="1150620"/>
                  <a:pt x="0" y="1099445"/>
                  <a:pt x="0" y="1036317"/>
                </a:cubicBezTo>
                <a:lnTo>
                  <a:pt x="0" y="114303"/>
                </a:lnTo>
                <a:cubicBezTo>
                  <a:pt x="0" y="51217"/>
                  <a:pt x="51217" y="0"/>
                  <a:pt x="114303" y="0"/>
                </a:cubicBezTo>
                <a:close/>
              </a:path>
            </a:pathLst>
          </a:custGeom>
          <a:solidFill>
            <a:srgbClr val="262626"/>
          </a:solidFill>
          <a:ln w="10160">
            <a:solidFill>
              <a:srgbClr val="333333"/>
            </a:solidFill>
            <a:prstDash val="solid"/>
          </a:ln>
        </p:spPr>
      </p:sp>
      <p:sp>
        <p:nvSpPr>
          <p:cNvPr id="5" name="Shape 3"/>
          <p:cNvSpPr/>
          <p:nvPr/>
        </p:nvSpPr>
        <p:spPr>
          <a:xfrm>
            <a:off x="564832" y="1531618"/>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3" y="86320"/>
                  <a:pt x="74414" y="86320"/>
                </a:cubicBezTo>
                <a:cubicBezTo>
                  <a:pt x="69466" y="86320"/>
                  <a:pt x="65484" y="82339"/>
                  <a:pt x="65484" y="77391"/>
                </a:cubicBezTo>
                <a:cubicBezTo>
                  <a:pt x="65484" y="60945"/>
                  <a:pt x="78804" y="47625"/>
                  <a:pt x="95250" y="47625"/>
                </a:cubicBezTo>
                <a:cubicBezTo>
                  <a:pt x="111696" y="47625"/>
                  <a:pt x="125016" y="60945"/>
                  <a:pt x="125016" y="77391"/>
                </a:cubicBezTo>
                <a:cubicBezTo>
                  <a:pt x="125016" y="94952"/>
                  <a:pt x="111621" y="102394"/>
                  <a:pt x="104180" y="105110"/>
                </a:cubicBezTo>
                <a:lnTo>
                  <a:pt x="104180" y="106524"/>
                </a:lnTo>
                <a:cubicBezTo>
                  <a:pt x="104180" y="111472"/>
                  <a:pt x="100199" y="115453"/>
                  <a:pt x="95250" y="115453"/>
                </a:cubicBezTo>
                <a:cubicBezTo>
                  <a:pt x="90301" y="115453"/>
                  <a:pt x="86320" y="111472"/>
                  <a:pt x="86320" y="106524"/>
                </a:cubicBezTo>
                <a:lnTo>
                  <a:pt x="86320" y="103510"/>
                </a:lnTo>
                <a:cubicBezTo>
                  <a:pt x="86320" y="95883"/>
                  <a:pt x="91827" y="90413"/>
                  <a:pt x="97520" y="88553"/>
                </a:cubicBezTo>
                <a:cubicBezTo>
                  <a:pt x="99901" y="87771"/>
                  <a:pt x="102431" y="86506"/>
                  <a:pt x="104291" y="84720"/>
                </a:cubicBezTo>
                <a:cubicBezTo>
                  <a:pt x="105891" y="83158"/>
                  <a:pt x="107156" y="81000"/>
                  <a:pt x="107156" y="77428"/>
                </a:cubicBezTo>
                <a:cubicBezTo>
                  <a:pt x="107156" y="70842"/>
                  <a:pt x="101836" y="65522"/>
                  <a:pt x="95250" y="65522"/>
                </a:cubicBezTo>
                <a:close/>
                <a:moveTo>
                  <a:pt x="83344" y="136922"/>
                </a:moveTo>
                <a:cubicBezTo>
                  <a:pt x="83344" y="130351"/>
                  <a:pt x="88679" y="125016"/>
                  <a:pt x="95250" y="125016"/>
                </a:cubicBezTo>
                <a:cubicBezTo>
                  <a:pt x="101821" y="125016"/>
                  <a:pt x="107156" y="130351"/>
                  <a:pt x="107156" y="136922"/>
                </a:cubicBezTo>
                <a:cubicBezTo>
                  <a:pt x="107156" y="143493"/>
                  <a:pt x="101821" y="148828"/>
                  <a:pt x="95250" y="148828"/>
                </a:cubicBezTo>
                <a:cubicBezTo>
                  <a:pt x="88679" y="148828"/>
                  <a:pt x="83344" y="143493"/>
                  <a:pt x="83344" y="136922"/>
                </a:cubicBezTo>
                <a:close/>
              </a:path>
            </a:pathLst>
          </a:custGeom>
          <a:solidFill>
            <a:srgbClr val="6366F1"/>
          </a:solidFill>
          <a:ln/>
        </p:spPr>
      </p:sp>
      <p:sp>
        <p:nvSpPr>
          <p:cNvPr id="6" name="Text 4"/>
          <p:cNvSpPr/>
          <p:nvPr/>
        </p:nvSpPr>
        <p:spPr>
          <a:xfrm>
            <a:off x="893445" y="1493518"/>
            <a:ext cx="1466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What is Software?</a:t>
            </a:r>
            <a:endParaRPr lang="en-US" sz="1600" dirty="0"/>
          </a:p>
        </p:txBody>
      </p:sp>
      <p:sp>
        <p:nvSpPr>
          <p:cNvPr id="7" name="Text 5"/>
          <p:cNvSpPr/>
          <p:nvPr/>
        </p:nvSpPr>
        <p:spPr>
          <a:xfrm>
            <a:off x="541020" y="1874518"/>
            <a:ext cx="65246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Software is a set of instructions that tells the computer what to do. Unlike hardware, you cannot touch software - it exists as code and programs.</a:t>
            </a:r>
            <a:endParaRPr lang="en-US" sz="1600" dirty="0"/>
          </a:p>
        </p:txBody>
      </p:sp>
      <p:sp>
        <p:nvSpPr>
          <p:cNvPr id="8" name="Shape 6"/>
          <p:cNvSpPr/>
          <p:nvPr/>
        </p:nvSpPr>
        <p:spPr>
          <a:xfrm>
            <a:off x="384810" y="2647956"/>
            <a:ext cx="3303270" cy="2293620"/>
          </a:xfrm>
          <a:custGeom>
            <a:avLst/>
            <a:gdLst/>
            <a:ahLst/>
            <a:cxnLst/>
            <a:rect l="l" t="t" r="r" b="b"/>
            <a:pathLst>
              <a:path w="3303270" h="2293620">
                <a:moveTo>
                  <a:pt x="114291" y="0"/>
                </a:moveTo>
                <a:lnTo>
                  <a:pt x="3188979" y="0"/>
                </a:lnTo>
                <a:cubicBezTo>
                  <a:pt x="3252100" y="0"/>
                  <a:pt x="3303270" y="51170"/>
                  <a:pt x="3303270" y="114291"/>
                </a:cubicBezTo>
                <a:lnTo>
                  <a:pt x="3303270" y="2179329"/>
                </a:lnTo>
                <a:cubicBezTo>
                  <a:pt x="3303270" y="2242450"/>
                  <a:pt x="3252100" y="2293620"/>
                  <a:pt x="3188979" y="2293620"/>
                </a:cubicBezTo>
                <a:lnTo>
                  <a:pt x="114291" y="2293620"/>
                </a:lnTo>
                <a:cubicBezTo>
                  <a:pt x="51170" y="2293620"/>
                  <a:pt x="0" y="2242450"/>
                  <a:pt x="0" y="2179329"/>
                </a:cubicBezTo>
                <a:lnTo>
                  <a:pt x="0" y="114291"/>
                </a:lnTo>
                <a:cubicBezTo>
                  <a:pt x="0" y="51212"/>
                  <a:pt x="51212" y="0"/>
                  <a:pt x="114291" y="0"/>
                </a:cubicBezTo>
                <a:close/>
              </a:path>
            </a:pathLst>
          </a:custGeom>
          <a:solidFill>
            <a:srgbClr val="262626"/>
          </a:solidFill>
          <a:ln w="10160">
            <a:solidFill>
              <a:srgbClr val="333333"/>
            </a:solidFill>
            <a:prstDash val="solid"/>
          </a:ln>
        </p:spPr>
      </p:sp>
      <p:sp>
        <p:nvSpPr>
          <p:cNvPr id="9" name="Shape 7"/>
          <p:cNvSpPr/>
          <p:nvPr/>
        </p:nvSpPr>
        <p:spPr>
          <a:xfrm>
            <a:off x="576739" y="2842264"/>
            <a:ext cx="166688" cy="190500"/>
          </a:xfrm>
          <a:custGeom>
            <a:avLst/>
            <a:gdLst/>
            <a:ahLst/>
            <a:cxnLst/>
            <a:rect l="l" t="t" r="r" b="b"/>
            <a:pathLst>
              <a:path w="166688" h="190500">
                <a:moveTo>
                  <a:pt x="0" y="34863"/>
                </a:moveTo>
                <a:lnTo>
                  <a:pt x="68312" y="25450"/>
                </a:lnTo>
                <a:lnTo>
                  <a:pt x="68312" y="91455"/>
                </a:lnTo>
                <a:lnTo>
                  <a:pt x="0" y="91455"/>
                </a:lnTo>
                <a:lnTo>
                  <a:pt x="0" y="34863"/>
                </a:lnTo>
                <a:close/>
                <a:moveTo>
                  <a:pt x="0" y="155637"/>
                </a:moveTo>
                <a:lnTo>
                  <a:pt x="68312" y="165050"/>
                </a:lnTo>
                <a:lnTo>
                  <a:pt x="68312" y="99864"/>
                </a:lnTo>
                <a:lnTo>
                  <a:pt x="0" y="99864"/>
                </a:lnTo>
                <a:lnTo>
                  <a:pt x="0" y="155637"/>
                </a:lnTo>
                <a:close/>
                <a:moveTo>
                  <a:pt x="75828" y="166055"/>
                </a:moveTo>
                <a:lnTo>
                  <a:pt x="166688" y="178594"/>
                </a:lnTo>
                <a:lnTo>
                  <a:pt x="166688" y="99864"/>
                </a:lnTo>
                <a:lnTo>
                  <a:pt x="75828" y="99864"/>
                </a:lnTo>
                <a:lnTo>
                  <a:pt x="75828" y="166055"/>
                </a:lnTo>
                <a:close/>
                <a:moveTo>
                  <a:pt x="75828" y="24445"/>
                </a:moveTo>
                <a:lnTo>
                  <a:pt x="75828" y="91455"/>
                </a:lnTo>
                <a:lnTo>
                  <a:pt x="166688" y="91455"/>
                </a:lnTo>
                <a:lnTo>
                  <a:pt x="166688" y="11906"/>
                </a:lnTo>
                <a:lnTo>
                  <a:pt x="75828" y="24445"/>
                </a:lnTo>
                <a:close/>
              </a:path>
            </a:pathLst>
          </a:custGeom>
          <a:solidFill>
            <a:srgbClr val="6366F1"/>
          </a:solidFill>
          <a:ln/>
        </p:spPr>
      </p:sp>
      <p:sp>
        <p:nvSpPr>
          <p:cNvPr id="10" name="Text 8"/>
          <p:cNvSpPr/>
          <p:nvPr/>
        </p:nvSpPr>
        <p:spPr>
          <a:xfrm>
            <a:off x="893445" y="2804164"/>
            <a:ext cx="138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System Software</a:t>
            </a:r>
            <a:endParaRPr lang="en-US" sz="1600" dirty="0"/>
          </a:p>
        </p:txBody>
      </p:sp>
      <p:sp>
        <p:nvSpPr>
          <p:cNvPr id="11" name="Shape 9"/>
          <p:cNvSpPr/>
          <p:nvPr/>
        </p:nvSpPr>
        <p:spPr>
          <a:xfrm>
            <a:off x="558879" y="3223264"/>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2" name="Text 10"/>
          <p:cNvSpPr/>
          <p:nvPr/>
        </p:nvSpPr>
        <p:spPr>
          <a:xfrm>
            <a:off x="767834" y="3185164"/>
            <a:ext cx="28384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Operating Systems (Windows, macOS, Linux)</a:t>
            </a:r>
            <a:endParaRPr lang="en-US" sz="1600" dirty="0"/>
          </a:p>
        </p:txBody>
      </p:sp>
      <p:sp>
        <p:nvSpPr>
          <p:cNvPr id="13" name="Shape 11"/>
          <p:cNvSpPr/>
          <p:nvPr/>
        </p:nvSpPr>
        <p:spPr>
          <a:xfrm>
            <a:off x="568404" y="3756664"/>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4" name="Text 12"/>
          <p:cNvSpPr/>
          <p:nvPr/>
        </p:nvSpPr>
        <p:spPr>
          <a:xfrm>
            <a:off x="783908" y="3718564"/>
            <a:ext cx="10287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Device drivers</a:t>
            </a:r>
            <a:endParaRPr lang="en-US" sz="1600" dirty="0"/>
          </a:p>
        </p:txBody>
      </p:sp>
      <p:sp>
        <p:nvSpPr>
          <p:cNvPr id="15" name="Shape 13"/>
          <p:cNvSpPr/>
          <p:nvPr/>
        </p:nvSpPr>
        <p:spPr>
          <a:xfrm>
            <a:off x="568404" y="4061464"/>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6" name="Text 14"/>
          <p:cNvSpPr/>
          <p:nvPr/>
        </p:nvSpPr>
        <p:spPr>
          <a:xfrm>
            <a:off x="783908" y="4023364"/>
            <a:ext cx="115252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Utility programs</a:t>
            </a:r>
            <a:endParaRPr lang="en-US" sz="1600" dirty="0"/>
          </a:p>
        </p:txBody>
      </p:sp>
      <p:sp>
        <p:nvSpPr>
          <p:cNvPr id="17" name="Text 15"/>
          <p:cNvSpPr/>
          <p:nvPr/>
        </p:nvSpPr>
        <p:spPr>
          <a:xfrm>
            <a:off x="541020" y="4328164"/>
            <a:ext cx="30670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Manages hardware and provides platform for applications</a:t>
            </a:r>
            <a:endParaRPr lang="en-US" sz="1600" dirty="0"/>
          </a:p>
        </p:txBody>
      </p:sp>
      <p:sp>
        <p:nvSpPr>
          <p:cNvPr id="18" name="Shape 16"/>
          <p:cNvSpPr/>
          <p:nvPr/>
        </p:nvSpPr>
        <p:spPr>
          <a:xfrm>
            <a:off x="3844290" y="2647956"/>
            <a:ext cx="3303270" cy="2293620"/>
          </a:xfrm>
          <a:custGeom>
            <a:avLst/>
            <a:gdLst/>
            <a:ahLst/>
            <a:cxnLst/>
            <a:rect l="l" t="t" r="r" b="b"/>
            <a:pathLst>
              <a:path w="3303270" h="2293620">
                <a:moveTo>
                  <a:pt x="114291" y="0"/>
                </a:moveTo>
                <a:lnTo>
                  <a:pt x="3188979" y="0"/>
                </a:lnTo>
                <a:cubicBezTo>
                  <a:pt x="3252100" y="0"/>
                  <a:pt x="3303270" y="51170"/>
                  <a:pt x="3303270" y="114291"/>
                </a:cubicBezTo>
                <a:lnTo>
                  <a:pt x="3303270" y="2179329"/>
                </a:lnTo>
                <a:cubicBezTo>
                  <a:pt x="3303270" y="2242450"/>
                  <a:pt x="3252100" y="2293620"/>
                  <a:pt x="3188979" y="2293620"/>
                </a:cubicBezTo>
                <a:lnTo>
                  <a:pt x="114291" y="2293620"/>
                </a:lnTo>
                <a:cubicBezTo>
                  <a:pt x="51170" y="2293620"/>
                  <a:pt x="0" y="2242450"/>
                  <a:pt x="0" y="2179329"/>
                </a:cubicBezTo>
                <a:lnTo>
                  <a:pt x="0" y="114291"/>
                </a:lnTo>
                <a:cubicBezTo>
                  <a:pt x="0" y="51212"/>
                  <a:pt x="51212" y="0"/>
                  <a:pt x="114291" y="0"/>
                </a:cubicBezTo>
                <a:close/>
              </a:path>
            </a:pathLst>
          </a:custGeom>
          <a:solidFill>
            <a:srgbClr val="262626"/>
          </a:solidFill>
          <a:ln w="10160">
            <a:solidFill>
              <a:srgbClr val="333333"/>
            </a:solidFill>
            <a:prstDash val="solid"/>
          </a:ln>
        </p:spPr>
      </p:sp>
      <p:sp>
        <p:nvSpPr>
          <p:cNvPr id="19" name="Shape 17"/>
          <p:cNvSpPr/>
          <p:nvPr/>
        </p:nvSpPr>
        <p:spPr>
          <a:xfrm>
            <a:off x="4036219" y="2842264"/>
            <a:ext cx="166688" cy="190500"/>
          </a:xfrm>
          <a:custGeom>
            <a:avLst/>
            <a:gdLst/>
            <a:ahLst/>
            <a:cxnLst/>
            <a:rect l="l" t="t" r="r" b="b"/>
            <a:pathLst>
              <a:path w="166688" h="190500">
                <a:moveTo>
                  <a:pt x="142875" y="35719"/>
                </a:moveTo>
                <a:lnTo>
                  <a:pt x="95250" y="35719"/>
                </a:lnTo>
                <a:lnTo>
                  <a:pt x="95250" y="83344"/>
                </a:lnTo>
                <a:lnTo>
                  <a:pt x="142875" y="83344"/>
                </a:lnTo>
                <a:lnTo>
                  <a:pt x="142875" y="35719"/>
                </a:lnTo>
                <a:close/>
                <a:moveTo>
                  <a:pt x="166688" y="83344"/>
                </a:moveTo>
                <a:lnTo>
                  <a:pt x="166688" y="154781"/>
                </a:lnTo>
                <a:cubicBezTo>
                  <a:pt x="166688" y="167915"/>
                  <a:pt x="156009" y="178594"/>
                  <a:pt x="142875" y="178594"/>
                </a:cubicBezTo>
                <a:lnTo>
                  <a:pt x="23812" y="178594"/>
                </a:lnTo>
                <a:cubicBezTo>
                  <a:pt x="10678" y="178594"/>
                  <a:pt x="0" y="167915"/>
                  <a:pt x="0" y="154781"/>
                </a:cubicBezTo>
                <a:lnTo>
                  <a:pt x="0" y="35719"/>
                </a:lnTo>
                <a:cubicBezTo>
                  <a:pt x="0" y="22585"/>
                  <a:pt x="10678" y="11906"/>
                  <a:pt x="23812" y="11906"/>
                </a:cubicBezTo>
                <a:lnTo>
                  <a:pt x="142875" y="11906"/>
                </a:lnTo>
                <a:cubicBezTo>
                  <a:pt x="156009" y="11906"/>
                  <a:pt x="166688" y="22585"/>
                  <a:pt x="166688" y="35719"/>
                </a:cubicBezTo>
                <a:lnTo>
                  <a:pt x="166688" y="83344"/>
                </a:lnTo>
                <a:close/>
                <a:moveTo>
                  <a:pt x="23812" y="107156"/>
                </a:moveTo>
                <a:lnTo>
                  <a:pt x="23812" y="154781"/>
                </a:lnTo>
                <a:lnTo>
                  <a:pt x="71438" y="154781"/>
                </a:lnTo>
                <a:lnTo>
                  <a:pt x="71438" y="107156"/>
                </a:lnTo>
                <a:lnTo>
                  <a:pt x="23812" y="107156"/>
                </a:lnTo>
                <a:close/>
                <a:moveTo>
                  <a:pt x="71438" y="83344"/>
                </a:moveTo>
                <a:lnTo>
                  <a:pt x="71438" y="35719"/>
                </a:lnTo>
                <a:lnTo>
                  <a:pt x="23812" y="35719"/>
                </a:lnTo>
                <a:lnTo>
                  <a:pt x="23812" y="83344"/>
                </a:lnTo>
                <a:lnTo>
                  <a:pt x="71438" y="83344"/>
                </a:lnTo>
                <a:close/>
                <a:moveTo>
                  <a:pt x="95250" y="107156"/>
                </a:moveTo>
                <a:lnTo>
                  <a:pt x="95250" y="154781"/>
                </a:lnTo>
                <a:lnTo>
                  <a:pt x="142875" y="154781"/>
                </a:lnTo>
                <a:lnTo>
                  <a:pt x="142875" y="107156"/>
                </a:lnTo>
                <a:lnTo>
                  <a:pt x="95250" y="107156"/>
                </a:lnTo>
                <a:close/>
              </a:path>
            </a:pathLst>
          </a:custGeom>
          <a:solidFill>
            <a:srgbClr val="6366F1"/>
          </a:solidFill>
          <a:ln/>
        </p:spPr>
      </p:sp>
      <p:sp>
        <p:nvSpPr>
          <p:cNvPr id="20" name="Text 18"/>
          <p:cNvSpPr/>
          <p:nvPr/>
        </p:nvSpPr>
        <p:spPr>
          <a:xfrm>
            <a:off x="4352925" y="2804164"/>
            <a:ext cx="16668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Application Software</a:t>
            </a:r>
            <a:endParaRPr lang="en-US" sz="1600" dirty="0"/>
          </a:p>
        </p:txBody>
      </p:sp>
      <p:sp>
        <p:nvSpPr>
          <p:cNvPr id="21" name="Shape 19"/>
          <p:cNvSpPr/>
          <p:nvPr/>
        </p:nvSpPr>
        <p:spPr>
          <a:xfrm>
            <a:off x="4027884" y="3223264"/>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2" name="Text 20"/>
          <p:cNvSpPr/>
          <p:nvPr/>
        </p:nvSpPr>
        <p:spPr>
          <a:xfrm>
            <a:off x="4243388" y="3185164"/>
            <a:ext cx="24384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Word processors (Microsoft Word)</a:t>
            </a:r>
            <a:endParaRPr lang="en-US" sz="1600" dirty="0"/>
          </a:p>
        </p:txBody>
      </p:sp>
      <p:sp>
        <p:nvSpPr>
          <p:cNvPr id="23" name="Shape 21"/>
          <p:cNvSpPr/>
          <p:nvPr/>
        </p:nvSpPr>
        <p:spPr>
          <a:xfrm>
            <a:off x="4027884" y="3528064"/>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4" name="Text 22"/>
          <p:cNvSpPr/>
          <p:nvPr/>
        </p:nvSpPr>
        <p:spPr>
          <a:xfrm>
            <a:off x="4243388" y="3489964"/>
            <a:ext cx="22669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Web browsers (Chrome, Firefox)</a:t>
            </a:r>
            <a:endParaRPr lang="en-US" sz="1600" dirty="0"/>
          </a:p>
        </p:txBody>
      </p:sp>
      <p:sp>
        <p:nvSpPr>
          <p:cNvPr id="25" name="Shape 23"/>
          <p:cNvSpPr/>
          <p:nvPr/>
        </p:nvSpPr>
        <p:spPr>
          <a:xfrm>
            <a:off x="4027884" y="3832864"/>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6" name="Text 24"/>
          <p:cNvSpPr/>
          <p:nvPr/>
        </p:nvSpPr>
        <p:spPr>
          <a:xfrm>
            <a:off x="4243388" y="3794764"/>
            <a:ext cx="18954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Games, photo editors, apps</a:t>
            </a:r>
            <a:endParaRPr lang="en-US" sz="1600" dirty="0"/>
          </a:p>
        </p:txBody>
      </p:sp>
      <p:sp>
        <p:nvSpPr>
          <p:cNvPr id="27" name="Text 25"/>
          <p:cNvSpPr/>
          <p:nvPr/>
        </p:nvSpPr>
        <p:spPr>
          <a:xfrm>
            <a:off x="4000500" y="4099564"/>
            <a:ext cx="30670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Programs that help users perform specific tasks</a:t>
            </a:r>
            <a:endParaRPr lang="en-US" sz="1600" dirty="0"/>
          </a:p>
        </p:txBody>
      </p:sp>
      <p:sp>
        <p:nvSpPr>
          <p:cNvPr id="28" name="Shape 26"/>
          <p:cNvSpPr/>
          <p:nvPr/>
        </p:nvSpPr>
        <p:spPr>
          <a:xfrm>
            <a:off x="384810" y="5703574"/>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29" name="Text 27"/>
          <p:cNvSpPr/>
          <p:nvPr/>
        </p:nvSpPr>
        <p:spPr>
          <a:xfrm>
            <a:off x="541020" y="5859782"/>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Microsoft Word is application software for writing documents, while Windows is system software that runs the computer!</a:t>
            </a:r>
            <a:endParaRPr lang="en-US" sz="1600" dirty="0"/>
          </a:p>
        </p:txBody>
      </p:sp>
      <p:sp>
        <p:nvSpPr>
          <p:cNvPr id="30" name="Shape 28"/>
          <p:cNvSpPr/>
          <p:nvPr/>
        </p:nvSpPr>
        <p:spPr>
          <a:xfrm>
            <a:off x="7379970" y="384810"/>
            <a:ext cx="4427220" cy="4398645"/>
          </a:xfrm>
          <a:custGeom>
            <a:avLst/>
            <a:gdLst/>
            <a:ahLst/>
            <a:cxnLst/>
            <a:rect l="l" t="t" r="r" b="b"/>
            <a:pathLst>
              <a:path w="4427220" h="4398645">
                <a:moveTo>
                  <a:pt x="114321" y="0"/>
                </a:moveTo>
                <a:lnTo>
                  <a:pt x="4312899" y="0"/>
                </a:lnTo>
                <a:cubicBezTo>
                  <a:pt x="4376037" y="0"/>
                  <a:pt x="4427220" y="51183"/>
                  <a:pt x="4427220" y="114321"/>
                </a:cubicBezTo>
                <a:lnTo>
                  <a:pt x="4427220" y="4284324"/>
                </a:lnTo>
                <a:cubicBezTo>
                  <a:pt x="4427220" y="4347462"/>
                  <a:pt x="4376037" y="4398645"/>
                  <a:pt x="4312899" y="4398645"/>
                </a:cubicBezTo>
                <a:lnTo>
                  <a:pt x="114321" y="4398645"/>
                </a:lnTo>
                <a:cubicBezTo>
                  <a:pt x="51183" y="4398645"/>
                  <a:pt x="0" y="4347462"/>
                  <a:pt x="0" y="4284324"/>
                </a:cubicBezTo>
                <a:lnTo>
                  <a:pt x="0" y="114321"/>
                </a:lnTo>
                <a:cubicBezTo>
                  <a:pt x="0" y="51225"/>
                  <a:pt x="51225" y="0"/>
                  <a:pt x="114321" y="0"/>
                </a:cubicBezTo>
                <a:close/>
              </a:path>
            </a:pathLst>
          </a:custGeom>
          <a:solidFill>
            <a:srgbClr val="262626"/>
          </a:solidFill>
          <a:ln w="10160">
            <a:solidFill>
              <a:srgbClr val="333333"/>
            </a:solidFill>
            <a:prstDash val="solid"/>
          </a:ln>
        </p:spPr>
      </p:sp>
      <p:sp>
        <p:nvSpPr>
          <p:cNvPr id="31" name="Shape 29"/>
          <p:cNvSpPr/>
          <p:nvPr/>
        </p:nvSpPr>
        <p:spPr>
          <a:xfrm>
            <a:off x="9022080" y="1764032"/>
            <a:ext cx="1143000" cy="914400"/>
          </a:xfrm>
          <a:custGeom>
            <a:avLst/>
            <a:gdLst/>
            <a:ahLst/>
            <a:cxnLst/>
            <a:rect l="l" t="t" r="r" b="b"/>
            <a:pathLst>
              <a:path w="1143000" h="914400">
                <a:moveTo>
                  <a:pt x="114300" y="171450"/>
                </a:moveTo>
                <a:cubicBezTo>
                  <a:pt x="114300" y="108406"/>
                  <a:pt x="165556" y="57150"/>
                  <a:pt x="228600" y="57150"/>
                </a:cubicBezTo>
                <a:lnTo>
                  <a:pt x="914400" y="57150"/>
                </a:lnTo>
                <a:cubicBezTo>
                  <a:pt x="977444" y="57150"/>
                  <a:pt x="1028700" y="108406"/>
                  <a:pt x="1028700" y="171450"/>
                </a:cubicBezTo>
                <a:lnTo>
                  <a:pt x="1028700" y="600075"/>
                </a:lnTo>
                <a:lnTo>
                  <a:pt x="914400" y="600075"/>
                </a:lnTo>
                <a:lnTo>
                  <a:pt x="914400" y="171450"/>
                </a:lnTo>
                <a:lnTo>
                  <a:pt x="228600" y="171450"/>
                </a:lnTo>
                <a:lnTo>
                  <a:pt x="228600" y="600075"/>
                </a:lnTo>
                <a:lnTo>
                  <a:pt x="114300" y="600075"/>
                </a:lnTo>
                <a:lnTo>
                  <a:pt x="114300" y="171450"/>
                </a:lnTo>
                <a:close/>
                <a:moveTo>
                  <a:pt x="0" y="720090"/>
                </a:moveTo>
                <a:cubicBezTo>
                  <a:pt x="0" y="701159"/>
                  <a:pt x="15359" y="685800"/>
                  <a:pt x="34290" y="685800"/>
                </a:cubicBezTo>
                <a:lnTo>
                  <a:pt x="1108710" y="685800"/>
                </a:lnTo>
                <a:cubicBezTo>
                  <a:pt x="1127641" y="685800"/>
                  <a:pt x="1143000" y="701159"/>
                  <a:pt x="1143000" y="720090"/>
                </a:cubicBezTo>
                <a:cubicBezTo>
                  <a:pt x="1143000" y="795814"/>
                  <a:pt x="1081564" y="857250"/>
                  <a:pt x="1005840" y="857250"/>
                </a:cubicBezTo>
                <a:lnTo>
                  <a:pt x="137160" y="857250"/>
                </a:lnTo>
                <a:cubicBezTo>
                  <a:pt x="61436" y="857250"/>
                  <a:pt x="0" y="795814"/>
                  <a:pt x="0" y="720090"/>
                </a:cubicBezTo>
                <a:close/>
                <a:moveTo>
                  <a:pt x="501848" y="373261"/>
                </a:moveTo>
                <a:lnTo>
                  <a:pt x="446484" y="428625"/>
                </a:lnTo>
                <a:lnTo>
                  <a:pt x="501848" y="483989"/>
                </a:lnTo>
                <a:cubicBezTo>
                  <a:pt x="518636" y="500777"/>
                  <a:pt x="518636" y="527923"/>
                  <a:pt x="501848" y="544532"/>
                </a:cubicBezTo>
                <a:cubicBezTo>
                  <a:pt x="485061" y="561142"/>
                  <a:pt x="457914" y="561320"/>
                  <a:pt x="441305" y="544532"/>
                </a:cubicBezTo>
                <a:lnTo>
                  <a:pt x="355580" y="458807"/>
                </a:lnTo>
                <a:cubicBezTo>
                  <a:pt x="338792" y="442020"/>
                  <a:pt x="338792" y="414873"/>
                  <a:pt x="355580" y="398264"/>
                </a:cubicBezTo>
                <a:lnTo>
                  <a:pt x="441305" y="312539"/>
                </a:lnTo>
                <a:cubicBezTo>
                  <a:pt x="458093" y="295751"/>
                  <a:pt x="485239" y="295751"/>
                  <a:pt x="501848" y="312539"/>
                </a:cubicBezTo>
                <a:cubicBezTo>
                  <a:pt x="518458" y="329327"/>
                  <a:pt x="518636" y="356473"/>
                  <a:pt x="501848" y="373082"/>
                </a:cubicBezTo>
                <a:close/>
                <a:moveTo>
                  <a:pt x="701873" y="312539"/>
                </a:moveTo>
                <a:lnTo>
                  <a:pt x="787598" y="398264"/>
                </a:lnTo>
                <a:cubicBezTo>
                  <a:pt x="804386" y="415052"/>
                  <a:pt x="804386" y="442198"/>
                  <a:pt x="787598" y="458807"/>
                </a:cubicBezTo>
                <a:lnTo>
                  <a:pt x="701873" y="544532"/>
                </a:lnTo>
                <a:cubicBezTo>
                  <a:pt x="685086" y="561320"/>
                  <a:pt x="657939" y="561320"/>
                  <a:pt x="641330" y="544532"/>
                </a:cubicBezTo>
                <a:cubicBezTo>
                  <a:pt x="624721" y="527745"/>
                  <a:pt x="624542" y="500598"/>
                  <a:pt x="641330" y="483989"/>
                </a:cubicBezTo>
                <a:lnTo>
                  <a:pt x="696694" y="428625"/>
                </a:lnTo>
                <a:lnTo>
                  <a:pt x="641330" y="373261"/>
                </a:lnTo>
                <a:cubicBezTo>
                  <a:pt x="624542" y="356473"/>
                  <a:pt x="624542" y="329327"/>
                  <a:pt x="641330" y="312718"/>
                </a:cubicBezTo>
                <a:cubicBezTo>
                  <a:pt x="658118" y="296108"/>
                  <a:pt x="685264" y="295930"/>
                  <a:pt x="701873" y="312718"/>
                </a:cubicBezTo>
                <a:close/>
              </a:path>
            </a:pathLst>
          </a:custGeom>
          <a:solidFill>
            <a:srgbClr val="6366F1"/>
          </a:solidFill>
          <a:ln/>
        </p:spPr>
      </p:sp>
      <p:sp>
        <p:nvSpPr>
          <p:cNvPr id="32" name="Text 30"/>
          <p:cNvSpPr/>
          <p:nvPr/>
        </p:nvSpPr>
        <p:spPr>
          <a:xfrm>
            <a:off x="7894677" y="2830832"/>
            <a:ext cx="3400425"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Software Layers</a:t>
            </a:r>
            <a:endParaRPr lang="en-US" sz="1600" dirty="0"/>
          </a:p>
        </p:txBody>
      </p:sp>
      <p:sp>
        <p:nvSpPr>
          <p:cNvPr id="33" name="Text 31"/>
          <p:cNvSpPr/>
          <p:nvPr/>
        </p:nvSpPr>
        <p:spPr>
          <a:xfrm>
            <a:off x="7904202" y="3173732"/>
            <a:ext cx="3381375"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System Software → Application Software → User</a:t>
            </a:r>
            <a:endParaRPr lang="en-US" sz="1600" dirty="0"/>
          </a:p>
        </p:txBody>
      </p:sp>
      <p:sp>
        <p:nvSpPr>
          <p:cNvPr id="34" name="Shape 32"/>
          <p:cNvSpPr/>
          <p:nvPr/>
        </p:nvSpPr>
        <p:spPr>
          <a:xfrm>
            <a:off x="7379970" y="4941574"/>
            <a:ext cx="4427220" cy="1531620"/>
          </a:xfrm>
          <a:custGeom>
            <a:avLst/>
            <a:gdLst/>
            <a:ahLst/>
            <a:cxnLst/>
            <a:rect l="l" t="t" r="r" b="b"/>
            <a:pathLst>
              <a:path w="4427220" h="1531620">
                <a:moveTo>
                  <a:pt x="76198" y="0"/>
                </a:moveTo>
                <a:lnTo>
                  <a:pt x="4351022" y="0"/>
                </a:lnTo>
                <a:cubicBezTo>
                  <a:pt x="4393105" y="0"/>
                  <a:pt x="4427220" y="34115"/>
                  <a:pt x="4427220" y="76198"/>
                </a:cubicBezTo>
                <a:lnTo>
                  <a:pt x="4427220" y="1455422"/>
                </a:lnTo>
                <a:cubicBezTo>
                  <a:pt x="4427220" y="1497505"/>
                  <a:pt x="4393105" y="1531620"/>
                  <a:pt x="435102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35" name="Text 33"/>
          <p:cNvSpPr/>
          <p:nvPr/>
        </p:nvSpPr>
        <p:spPr>
          <a:xfrm>
            <a:off x="7536180" y="5097782"/>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36" name="Text 34"/>
          <p:cNvSpPr/>
          <p:nvPr/>
        </p:nvSpPr>
        <p:spPr>
          <a:xfrm>
            <a:off x="7536180" y="5402582"/>
            <a:ext cx="41910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Think of software like a car's controls. System software is the engine and steering system (makes the car work), while application software is the GPS or radio (helps you do specific things).</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2.5</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Communication Technologies</a:t>
            </a:r>
            <a:endParaRPr lang="en-US" sz="1600" dirty="0"/>
          </a:p>
        </p:txBody>
      </p:sp>
      <p:sp>
        <p:nvSpPr>
          <p:cNvPr id="4" name="Shape 2"/>
          <p:cNvSpPr/>
          <p:nvPr/>
        </p:nvSpPr>
        <p:spPr>
          <a:xfrm>
            <a:off x="381000" y="12573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5" name="Shape 3"/>
          <p:cNvSpPr/>
          <p:nvPr/>
        </p:nvSpPr>
        <p:spPr>
          <a:xfrm>
            <a:off x="485775" y="1371600"/>
            <a:ext cx="171450" cy="152400"/>
          </a:xfrm>
          <a:custGeom>
            <a:avLst/>
            <a:gdLst/>
            <a:ahLst/>
            <a:cxnLst/>
            <a:rect l="l" t="t" r="r" b="b"/>
            <a:pathLst>
              <a:path w="171450" h="152400">
                <a:moveTo>
                  <a:pt x="73819" y="26194"/>
                </a:moveTo>
                <a:lnTo>
                  <a:pt x="97631" y="26194"/>
                </a:lnTo>
                <a:lnTo>
                  <a:pt x="97631" y="40481"/>
                </a:lnTo>
                <a:lnTo>
                  <a:pt x="73819" y="40481"/>
                </a:lnTo>
                <a:lnTo>
                  <a:pt x="73819" y="26194"/>
                </a:lnTo>
                <a:close/>
                <a:moveTo>
                  <a:pt x="71438" y="9525"/>
                </a:moveTo>
                <a:cubicBezTo>
                  <a:pt x="63550" y="9525"/>
                  <a:pt x="57150" y="15925"/>
                  <a:pt x="57150" y="23813"/>
                </a:cubicBezTo>
                <a:lnTo>
                  <a:pt x="57150" y="42863"/>
                </a:lnTo>
                <a:cubicBezTo>
                  <a:pt x="57150" y="50750"/>
                  <a:pt x="63550" y="57150"/>
                  <a:pt x="71438" y="57150"/>
                </a:cubicBezTo>
                <a:lnTo>
                  <a:pt x="76200" y="57150"/>
                </a:lnTo>
                <a:lnTo>
                  <a:pt x="76200" y="66675"/>
                </a:lnTo>
                <a:lnTo>
                  <a:pt x="9525" y="66675"/>
                </a:lnTo>
                <a:cubicBezTo>
                  <a:pt x="4256" y="66675"/>
                  <a:pt x="0" y="70931"/>
                  <a:pt x="0" y="76200"/>
                </a:cubicBezTo>
                <a:cubicBezTo>
                  <a:pt x="0" y="81469"/>
                  <a:pt x="4256" y="85725"/>
                  <a:pt x="9525" y="85725"/>
                </a:cubicBezTo>
                <a:lnTo>
                  <a:pt x="38100" y="85725"/>
                </a:lnTo>
                <a:lnTo>
                  <a:pt x="38100" y="95250"/>
                </a:lnTo>
                <a:lnTo>
                  <a:pt x="33338" y="95250"/>
                </a:lnTo>
                <a:cubicBezTo>
                  <a:pt x="25450" y="95250"/>
                  <a:pt x="19050" y="101650"/>
                  <a:pt x="19050" y="109537"/>
                </a:cubicBezTo>
                <a:lnTo>
                  <a:pt x="19050" y="128588"/>
                </a:lnTo>
                <a:cubicBezTo>
                  <a:pt x="19050" y="136475"/>
                  <a:pt x="25450" y="142875"/>
                  <a:pt x="33338" y="142875"/>
                </a:cubicBezTo>
                <a:lnTo>
                  <a:pt x="61912" y="142875"/>
                </a:lnTo>
                <a:cubicBezTo>
                  <a:pt x="69800" y="142875"/>
                  <a:pt x="76200" y="136475"/>
                  <a:pt x="76200" y="128588"/>
                </a:cubicBezTo>
                <a:lnTo>
                  <a:pt x="76200" y="109537"/>
                </a:lnTo>
                <a:cubicBezTo>
                  <a:pt x="76200" y="101650"/>
                  <a:pt x="69800" y="95250"/>
                  <a:pt x="61912" y="95250"/>
                </a:cubicBezTo>
                <a:lnTo>
                  <a:pt x="57150" y="95250"/>
                </a:lnTo>
                <a:lnTo>
                  <a:pt x="57150" y="85725"/>
                </a:lnTo>
                <a:lnTo>
                  <a:pt x="114300" y="85725"/>
                </a:lnTo>
                <a:lnTo>
                  <a:pt x="114300" y="95250"/>
                </a:lnTo>
                <a:lnTo>
                  <a:pt x="109537" y="95250"/>
                </a:lnTo>
                <a:cubicBezTo>
                  <a:pt x="101650" y="95250"/>
                  <a:pt x="95250" y="101650"/>
                  <a:pt x="95250" y="109537"/>
                </a:cubicBezTo>
                <a:lnTo>
                  <a:pt x="95250" y="128588"/>
                </a:lnTo>
                <a:cubicBezTo>
                  <a:pt x="95250" y="136475"/>
                  <a:pt x="101650" y="142875"/>
                  <a:pt x="109537" y="142875"/>
                </a:cubicBezTo>
                <a:lnTo>
                  <a:pt x="138113" y="142875"/>
                </a:lnTo>
                <a:cubicBezTo>
                  <a:pt x="146000" y="142875"/>
                  <a:pt x="152400" y="136475"/>
                  <a:pt x="152400" y="128588"/>
                </a:cubicBezTo>
                <a:lnTo>
                  <a:pt x="152400" y="109537"/>
                </a:lnTo>
                <a:cubicBezTo>
                  <a:pt x="152400" y="101650"/>
                  <a:pt x="146000" y="95250"/>
                  <a:pt x="138113" y="95250"/>
                </a:cubicBezTo>
                <a:lnTo>
                  <a:pt x="133350" y="95250"/>
                </a:lnTo>
                <a:lnTo>
                  <a:pt x="133350" y="85725"/>
                </a:lnTo>
                <a:lnTo>
                  <a:pt x="161925" y="85725"/>
                </a:lnTo>
                <a:cubicBezTo>
                  <a:pt x="167194" y="85725"/>
                  <a:pt x="171450" y="81469"/>
                  <a:pt x="171450" y="76200"/>
                </a:cubicBezTo>
                <a:cubicBezTo>
                  <a:pt x="171450" y="70931"/>
                  <a:pt x="167194" y="66675"/>
                  <a:pt x="161925" y="66675"/>
                </a:cubicBezTo>
                <a:lnTo>
                  <a:pt x="95250" y="66675"/>
                </a:lnTo>
                <a:lnTo>
                  <a:pt x="95250" y="57150"/>
                </a:lnTo>
                <a:lnTo>
                  <a:pt x="100013" y="57150"/>
                </a:lnTo>
                <a:cubicBezTo>
                  <a:pt x="107900" y="57150"/>
                  <a:pt x="114300" y="50750"/>
                  <a:pt x="114300" y="42863"/>
                </a:cubicBezTo>
                <a:lnTo>
                  <a:pt x="114300" y="23813"/>
                </a:lnTo>
                <a:cubicBezTo>
                  <a:pt x="114300" y="15925"/>
                  <a:pt x="107900" y="9525"/>
                  <a:pt x="100013" y="9525"/>
                </a:cubicBezTo>
                <a:lnTo>
                  <a:pt x="71438" y="9525"/>
                </a:lnTo>
                <a:close/>
                <a:moveTo>
                  <a:pt x="133350" y="111919"/>
                </a:moveTo>
                <a:lnTo>
                  <a:pt x="135731" y="111919"/>
                </a:lnTo>
                <a:lnTo>
                  <a:pt x="135731" y="126206"/>
                </a:lnTo>
                <a:lnTo>
                  <a:pt x="111919" y="126206"/>
                </a:lnTo>
                <a:lnTo>
                  <a:pt x="111919" y="111919"/>
                </a:lnTo>
                <a:lnTo>
                  <a:pt x="133350" y="111919"/>
                </a:lnTo>
                <a:close/>
                <a:moveTo>
                  <a:pt x="57150" y="111919"/>
                </a:moveTo>
                <a:lnTo>
                  <a:pt x="59531" y="111919"/>
                </a:lnTo>
                <a:lnTo>
                  <a:pt x="59531" y="126206"/>
                </a:lnTo>
                <a:lnTo>
                  <a:pt x="35719" y="126206"/>
                </a:lnTo>
                <a:lnTo>
                  <a:pt x="35719" y="111919"/>
                </a:lnTo>
                <a:lnTo>
                  <a:pt x="57150" y="111919"/>
                </a:lnTo>
                <a:close/>
              </a:path>
            </a:pathLst>
          </a:custGeom>
          <a:solidFill>
            <a:srgbClr val="6366F1"/>
          </a:solidFill>
          <a:ln/>
        </p:spPr>
      </p:sp>
      <p:sp>
        <p:nvSpPr>
          <p:cNvPr id="6" name="Text 4"/>
          <p:cNvSpPr/>
          <p:nvPr/>
        </p:nvSpPr>
        <p:spPr>
          <a:xfrm>
            <a:off x="876300" y="12573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Computer Networks</a:t>
            </a:r>
            <a:endParaRPr lang="en-US" sz="1600" dirty="0"/>
          </a:p>
        </p:txBody>
      </p:sp>
      <p:sp>
        <p:nvSpPr>
          <p:cNvPr id="7" name="Text 5"/>
          <p:cNvSpPr/>
          <p:nvPr/>
        </p:nvSpPr>
        <p:spPr>
          <a:xfrm>
            <a:off x="876300" y="15621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Connect multiple computers together to share files, printers, and internet access</a:t>
            </a:r>
            <a:endParaRPr lang="en-US" sz="1600" dirty="0"/>
          </a:p>
        </p:txBody>
      </p:sp>
      <p:sp>
        <p:nvSpPr>
          <p:cNvPr id="8" name="Shape 6"/>
          <p:cNvSpPr/>
          <p:nvPr/>
        </p:nvSpPr>
        <p:spPr>
          <a:xfrm>
            <a:off x="381000" y="21717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9" name="Shape 7"/>
          <p:cNvSpPr/>
          <p:nvPr/>
        </p:nvSpPr>
        <p:spPr>
          <a:xfrm>
            <a:off x="495300" y="2286000"/>
            <a:ext cx="152400" cy="152400"/>
          </a:xfrm>
          <a:custGeom>
            <a:avLst/>
            <a:gdLst/>
            <a:ahLst/>
            <a:cxnLst/>
            <a:rect l="l" t="t" r="r" b="b"/>
            <a:pathLst>
              <a:path w="152400" h="152400">
                <a:moveTo>
                  <a:pt x="104745" y="83344"/>
                </a:moveTo>
                <a:lnTo>
                  <a:pt x="47923" y="83344"/>
                </a:lnTo>
                <a:cubicBezTo>
                  <a:pt x="48786" y="102543"/>
                  <a:pt x="53042" y="120223"/>
                  <a:pt x="59085" y="133171"/>
                </a:cubicBezTo>
                <a:cubicBezTo>
                  <a:pt x="62478" y="140464"/>
                  <a:pt x="66139" y="145613"/>
                  <a:pt x="69533" y="148769"/>
                </a:cubicBezTo>
                <a:cubicBezTo>
                  <a:pt x="72866" y="151894"/>
                  <a:pt x="75158" y="152400"/>
                  <a:pt x="76349" y="152400"/>
                </a:cubicBezTo>
                <a:cubicBezTo>
                  <a:pt x="77539" y="152400"/>
                  <a:pt x="79831" y="151894"/>
                  <a:pt x="83165" y="148769"/>
                </a:cubicBezTo>
                <a:cubicBezTo>
                  <a:pt x="86558" y="145613"/>
                  <a:pt x="90220" y="140434"/>
                  <a:pt x="93613" y="133171"/>
                </a:cubicBezTo>
                <a:cubicBezTo>
                  <a:pt x="99655" y="120223"/>
                  <a:pt x="103912" y="102543"/>
                  <a:pt x="104775" y="83344"/>
                </a:cubicBezTo>
                <a:close/>
                <a:moveTo>
                  <a:pt x="47893" y="69056"/>
                </a:moveTo>
                <a:lnTo>
                  <a:pt x="104715" y="69056"/>
                </a:lnTo>
                <a:cubicBezTo>
                  <a:pt x="103882" y="49857"/>
                  <a:pt x="99626" y="32177"/>
                  <a:pt x="93583" y="19229"/>
                </a:cubicBezTo>
                <a:cubicBezTo>
                  <a:pt x="90190" y="11966"/>
                  <a:pt x="86529" y="6787"/>
                  <a:pt x="83135" y="3631"/>
                </a:cubicBezTo>
                <a:cubicBezTo>
                  <a:pt x="79802" y="506"/>
                  <a:pt x="77510" y="0"/>
                  <a:pt x="76319" y="0"/>
                </a:cubicBezTo>
                <a:cubicBezTo>
                  <a:pt x="75128" y="0"/>
                  <a:pt x="72836" y="506"/>
                  <a:pt x="69503" y="3631"/>
                </a:cubicBezTo>
                <a:cubicBezTo>
                  <a:pt x="66109" y="6787"/>
                  <a:pt x="62448" y="11966"/>
                  <a:pt x="59055" y="19229"/>
                </a:cubicBezTo>
                <a:cubicBezTo>
                  <a:pt x="53013" y="32177"/>
                  <a:pt x="48756" y="49857"/>
                  <a:pt x="47893" y="69056"/>
                </a:cubicBezTo>
                <a:close/>
                <a:moveTo>
                  <a:pt x="33605" y="69056"/>
                </a:moveTo>
                <a:cubicBezTo>
                  <a:pt x="34647" y="43577"/>
                  <a:pt x="41225" y="19913"/>
                  <a:pt x="50840" y="4376"/>
                </a:cubicBezTo>
                <a:cubicBezTo>
                  <a:pt x="23426" y="14079"/>
                  <a:pt x="3244" y="39052"/>
                  <a:pt x="446" y="69056"/>
                </a:cubicBezTo>
                <a:lnTo>
                  <a:pt x="33605" y="69056"/>
                </a:lnTo>
                <a:close/>
                <a:moveTo>
                  <a:pt x="446" y="83344"/>
                </a:moveTo>
                <a:cubicBezTo>
                  <a:pt x="3244" y="113348"/>
                  <a:pt x="23426" y="138321"/>
                  <a:pt x="50840" y="148024"/>
                </a:cubicBezTo>
                <a:cubicBezTo>
                  <a:pt x="41225" y="132487"/>
                  <a:pt x="34647" y="108823"/>
                  <a:pt x="33605" y="83344"/>
                </a:cubicBezTo>
                <a:lnTo>
                  <a:pt x="446" y="83344"/>
                </a:lnTo>
                <a:close/>
                <a:moveTo>
                  <a:pt x="119033" y="83344"/>
                </a:moveTo>
                <a:cubicBezTo>
                  <a:pt x="117991" y="108823"/>
                  <a:pt x="111413" y="132487"/>
                  <a:pt x="101798" y="148024"/>
                </a:cubicBezTo>
                <a:cubicBezTo>
                  <a:pt x="129213" y="138291"/>
                  <a:pt x="149394" y="113348"/>
                  <a:pt x="152192" y="83344"/>
                </a:cubicBezTo>
                <a:lnTo>
                  <a:pt x="119033" y="83344"/>
                </a:lnTo>
                <a:close/>
                <a:moveTo>
                  <a:pt x="152192" y="69056"/>
                </a:moveTo>
                <a:cubicBezTo>
                  <a:pt x="149394" y="39052"/>
                  <a:pt x="129213" y="14079"/>
                  <a:pt x="101798" y="4376"/>
                </a:cubicBezTo>
                <a:cubicBezTo>
                  <a:pt x="111413" y="19913"/>
                  <a:pt x="117991" y="43577"/>
                  <a:pt x="119033" y="69056"/>
                </a:cubicBezTo>
                <a:lnTo>
                  <a:pt x="152192" y="69056"/>
                </a:lnTo>
                <a:close/>
              </a:path>
            </a:pathLst>
          </a:custGeom>
          <a:solidFill>
            <a:srgbClr val="6366F1"/>
          </a:solidFill>
          <a:ln/>
        </p:spPr>
      </p:sp>
      <p:sp>
        <p:nvSpPr>
          <p:cNvPr id="10" name="Text 8"/>
          <p:cNvSpPr/>
          <p:nvPr/>
        </p:nvSpPr>
        <p:spPr>
          <a:xfrm>
            <a:off x="876300" y="21717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The Internet</a:t>
            </a:r>
            <a:endParaRPr lang="en-US" sz="1600" dirty="0"/>
          </a:p>
        </p:txBody>
      </p:sp>
      <p:sp>
        <p:nvSpPr>
          <p:cNvPr id="11" name="Text 9"/>
          <p:cNvSpPr/>
          <p:nvPr/>
        </p:nvSpPr>
        <p:spPr>
          <a:xfrm>
            <a:off x="876300" y="24765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 global network connecting billions of devices, enabling access to websites, email, and online services</a:t>
            </a:r>
            <a:endParaRPr lang="en-US" sz="1600" dirty="0"/>
          </a:p>
        </p:txBody>
      </p:sp>
      <p:sp>
        <p:nvSpPr>
          <p:cNvPr id="12" name="Shape 10"/>
          <p:cNvSpPr/>
          <p:nvPr/>
        </p:nvSpPr>
        <p:spPr>
          <a:xfrm>
            <a:off x="381000" y="30861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3" name="Shape 11"/>
          <p:cNvSpPr/>
          <p:nvPr/>
        </p:nvSpPr>
        <p:spPr>
          <a:xfrm>
            <a:off x="485775" y="3200400"/>
            <a:ext cx="171450" cy="152400"/>
          </a:xfrm>
          <a:custGeom>
            <a:avLst/>
            <a:gdLst/>
            <a:ahLst/>
            <a:cxnLst/>
            <a:rect l="l" t="t" r="r" b="b"/>
            <a:pathLst>
              <a:path w="171450" h="152400">
                <a:moveTo>
                  <a:pt x="85725" y="28575"/>
                </a:moveTo>
                <a:cubicBezTo>
                  <a:pt x="58668" y="28575"/>
                  <a:pt x="34171" y="39291"/>
                  <a:pt x="16163" y="56733"/>
                </a:cubicBezTo>
                <a:cubicBezTo>
                  <a:pt x="12383" y="60394"/>
                  <a:pt x="6340" y="60305"/>
                  <a:pt x="2709" y="56525"/>
                </a:cubicBezTo>
                <a:cubicBezTo>
                  <a:pt x="-923" y="52745"/>
                  <a:pt x="-863" y="46702"/>
                  <a:pt x="2917" y="43071"/>
                </a:cubicBezTo>
                <a:cubicBezTo>
                  <a:pt x="24319" y="22294"/>
                  <a:pt x="53548" y="9525"/>
                  <a:pt x="85725" y="9525"/>
                </a:cubicBezTo>
                <a:cubicBezTo>
                  <a:pt x="117902" y="9525"/>
                  <a:pt x="147131" y="22294"/>
                  <a:pt x="168563" y="43071"/>
                </a:cubicBezTo>
                <a:cubicBezTo>
                  <a:pt x="172343" y="46732"/>
                  <a:pt x="172432" y="52774"/>
                  <a:pt x="168771" y="56525"/>
                </a:cubicBezTo>
                <a:cubicBezTo>
                  <a:pt x="165110" y="60275"/>
                  <a:pt x="159068" y="60394"/>
                  <a:pt x="155317" y="56733"/>
                </a:cubicBezTo>
                <a:cubicBezTo>
                  <a:pt x="137279" y="39291"/>
                  <a:pt x="112782" y="28575"/>
                  <a:pt x="85725" y="28575"/>
                </a:cubicBezTo>
                <a:close/>
                <a:moveTo>
                  <a:pt x="71438" y="128588"/>
                </a:moveTo>
                <a:cubicBezTo>
                  <a:pt x="71438" y="120702"/>
                  <a:pt x="77840" y="114300"/>
                  <a:pt x="85725" y="114300"/>
                </a:cubicBezTo>
                <a:cubicBezTo>
                  <a:pt x="93610" y="114300"/>
                  <a:pt x="100013" y="120702"/>
                  <a:pt x="100013" y="128588"/>
                </a:cubicBezTo>
                <a:cubicBezTo>
                  <a:pt x="100013" y="136473"/>
                  <a:pt x="93610" y="142875"/>
                  <a:pt x="85725" y="142875"/>
                </a:cubicBezTo>
                <a:cubicBezTo>
                  <a:pt x="77840" y="142875"/>
                  <a:pt x="71438" y="136473"/>
                  <a:pt x="71438" y="128588"/>
                </a:cubicBezTo>
                <a:close/>
                <a:moveTo>
                  <a:pt x="50006" y="97095"/>
                </a:moveTo>
                <a:cubicBezTo>
                  <a:pt x="46524" y="101054"/>
                  <a:pt x="40511" y="101411"/>
                  <a:pt x="36552" y="97929"/>
                </a:cubicBezTo>
                <a:cubicBezTo>
                  <a:pt x="32593" y="94446"/>
                  <a:pt x="32236" y="88434"/>
                  <a:pt x="35719" y="84475"/>
                </a:cubicBezTo>
                <a:cubicBezTo>
                  <a:pt x="47923" y="70664"/>
                  <a:pt x="65812" y="61912"/>
                  <a:pt x="85725" y="61912"/>
                </a:cubicBezTo>
                <a:cubicBezTo>
                  <a:pt x="105638" y="61912"/>
                  <a:pt x="123527" y="70664"/>
                  <a:pt x="135731" y="84475"/>
                </a:cubicBezTo>
                <a:cubicBezTo>
                  <a:pt x="139214" y="88434"/>
                  <a:pt x="138827" y="94446"/>
                  <a:pt x="134898" y="97929"/>
                </a:cubicBezTo>
                <a:cubicBezTo>
                  <a:pt x="130969" y="101411"/>
                  <a:pt x="124926" y="101025"/>
                  <a:pt x="121444" y="97095"/>
                </a:cubicBezTo>
                <a:cubicBezTo>
                  <a:pt x="112693" y="87184"/>
                  <a:pt x="99953" y="80962"/>
                  <a:pt x="85725" y="80962"/>
                </a:cubicBezTo>
                <a:cubicBezTo>
                  <a:pt x="71497" y="80962"/>
                  <a:pt x="58757" y="87184"/>
                  <a:pt x="50006" y="97095"/>
                </a:cubicBezTo>
                <a:close/>
              </a:path>
            </a:pathLst>
          </a:custGeom>
          <a:solidFill>
            <a:srgbClr val="6366F1"/>
          </a:solidFill>
          <a:ln/>
        </p:spPr>
      </p:sp>
      <p:sp>
        <p:nvSpPr>
          <p:cNvPr id="14" name="Text 12"/>
          <p:cNvSpPr/>
          <p:nvPr/>
        </p:nvSpPr>
        <p:spPr>
          <a:xfrm>
            <a:off x="876300" y="30861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Wireless Technologies</a:t>
            </a:r>
            <a:endParaRPr lang="en-US" sz="1600" dirty="0"/>
          </a:p>
        </p:txBody>
      </p:sp>
      <p:sp>
        <p:nvSpPr>
          <p:cNvPr id="15" name="Text 13"/>
          <p:cNvSpPr/>
          <p:nvPr/>
        </p:nvSpPr>
        <p:spPr>
          <a:xfrm>
            <a:off x="876300" y="33909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Wi-Fi, Bluetooth, and cellular networks (4G/5G) allow devices to connect without cables</a:t>
            </a:r>
            <a:endParaRPr lang="en-US" sz="1600" dirty="0"/>
          </a:p>
        </p:txBody>
      </p:sp>
      <p:sp>
        <p:nvSpPr>
          <p:cNvPr id="16" name="Shape 14"/>
          <p:cNvSpPr/>
          <p:nvPr/>
        </p:nvSpPr>
        <p:spPr>
          <a:xfrm>
            <a:off x="381000" y="40005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7" name="Shape 15"/>
          <p:cNvSpPr/>
          <p:nvPr/>
        </p:nvSpPr>
        <p:spPr>
          <a:xfrm>
            <a:off x="495300" y="4114800"/>
            <a:ext cx="152400" cy="152400"/>
          </a:xfrm>
          <a:custGeom>
            <a:avLst/>
            <a:gdLst/>
            <a:ahLst/>
            <a:cxnLst/>
            <a:rect l="l" t="t" r="r" b="b"/>
            <a:pathLst>
              <a:path w="152400" h="152400">
                <a:moveTo>
                  <a:pt x="14288" y="19050"/>
                </a:moveTo>
                <a:cubicBezTo>
                  <a:pt x="6400" y="19050"/>
                  <a:pt x="0" y="25450"/>
                  <a:pt x="0" y="33338"/>
                </a:cubicBezTo>
                <a:cubicBezTo>
                  <a:pt x="0" y="37832"/>
                  <a:pt x="2113" y="42059"/>
                  <a:pt x="5715" y="44768"/>
                </a:cubicBezTo>
                <a:lnTo>
                  <a:pt x="67628" y="91202"/>
                </a:lnTo>
                <a:cubicBezTo>
                  <a:pt x="72717" y="95012"/>
                  <a:pt x="79683" y="95012"/>
                  <a:pt x="84773" y="91202"/>
                </a:cubicBezTo>
                <a:lnTo>
                  <a:pt x="146685" y="44767"/>
                </a:lnTo>
                <a:cubicBezTo>
                  <a:pt x="150287" y="42059"/>
                  <a:pt x="152400" y="37832"/>
                  <a:pt x="152400" y="33337"/>
                </a:cubicBezTo>
                <a:cubicBezTo>
                  <a:pt x="152400" y="25450"/>
                  <a:pt x="146000" y="19050"/>
                  <a:pt x="138113" y="19050"/>
                </a:cubicBezTo>
                <a:lnTo>
                  <a:pt x="14288" y="19050"/>
                </a:lnTo>
                <a:close/>
                <a:moveTo>
                  <a:pt x="0" y="58341"/>
                </a:moveTo>
                <a:lnTo>
                  <a:pt x="0" y="114300"/>
                </a:lnTo>
                <a:cubicBezTo>
                  <a:pt x="0" y="124807"/>
                  <a:pt x="8543" y="133350"/>
                  <a:pt x="19050" y="133350"/>
                </a:cubicBezTo>
                <a:lnTo>
                  <a:pt x="133350" y="133350"/>
                </a:lnTo>
                <a:cubicBezTo>
                  <a:pt x="143857" y="133350"/>
                  <a:pt x="152400" y="124807"/>
                  <a:pt x="152400" y="114300"/>
                </a:cubicBezTo>
                <a:lnTo>
                  <a:pt x="152400" y="58341"/>
                </a:lnTo>
                <a:lnTo>
                  <a:pt x="93345" y="102632"/>
                </a:lnTo>
                <a:cubicBezTo>
                  <a:pt x="83195" y="110252"/>
                  <a:pt x="69205" y="110252"/>
                  <a:pt x="59055" y="102632"/>
                </a:cubicBezTo>
                <a:lnTo>
                  <a:pt x="0" y="58341"/>
                </a:lnTo>
                <a:close/>
              </a:path>
            </a:pathLst>
          </a:custGeom>
          <a:solidFill>
            <a:srgbClr val="6366F1"/>
          </a:solidFill>
          <a:ln/>
        </p:spPr>
      </p:sp>
      <p:sp>
        <p:nvSpPr>
          <p:cNvPr id="18" name="Text 16"/>
          <p:cNvSpPr/>
          <p:nvPr/>
        </p:nvSpPr>
        <p:spPr>
          <a:xfrm>
            <a:off x="876300" y="4000500"/>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Email and Messaging</a:t>
            </a:r>
            <a:endParaRPr lang="en-US" sz="1600" dirty="0"/>
          </a:p>
        </p:txBody>
      </p:sp>
      <p:sp>
        <p:nvSpPr>
          <p:cNvPr id="19" name="Text 17"/>
          <p:cNvSpPr/>
          <p:nvPr/>
        </p:nvSpPr>
        <p:spPr>
          <a:xfrm>
            <a:off x="876300" y="4305300"/>
            <a:ext cx="43434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Send text, images, and files instantly to anyone around the world</a:t>
            </a:r>
            <a:endParaRPr lang="en-US" sz="1600" dirty="0"/>
          </a:p>
        </p:txBody>
      </p:sp>
      <p:sp>
        <p:nvSpPr>
          <p:cNvPr id="20" name="Shape 18"/>
          <p:cNvSpPr/>
          <p:nvPr/>
        </p:nvSpPr>
        <p:spPr>
          <a:xfrm>
            <a:off x="381000" y="46863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21" name="Shape 19"/>
          <p:cNvSpPr/>
          <p:nvPr/>
        </p:nvSpPr>
        <p:spPr>
          <a:xfrm>
            <a:off x="485775" y="4800600"/>
            <a:ext cx="171450" cy="152400"/>
          </a:xfrm>
          <a:custGeom>
            <a:avLst/>
            <a:gdLst/>
            <a:ahLst/>
            <a:cxnLst/>
            <a:rect l="l" t="t" r="r" b="b"/>
            <a:pathLst>
              <a:path w="171450" h="152400">
                <a:moveTo>
                  <a:pt x="0" y="100013"/>
                </a:moveTo>
                <a:cubicBezTo>
                  <a:pt x="0" y="123676"/>
                  <a:pt x="19199" y="142875"/>
                  <a:pt x="42863" y="142875"/>
                </a:cubicBezTo>
                <a:lnTo>
                  <a:pt x="133350" y="142875"/>
                </a:lnTo>
                <a:cubicBezTo>
                  <a:pt x="154394" y="142875"/>
                  <a:pt x="171450" y="125819"/>
                  <a:pt x="171450" y="104775"/>
                </a:cubicBezTo>
                <a:cubicBezTo>
                  <a:pt x="171450" y="89416"/>
                  <a:pt x="162371" y="76170"/>
                  <a:pt x="149275" y="70158"/>
                </a:cubicBezTo>
                <a:cubicBezTo>
                  <a:pt x="151269" y="66258"/>
                  <a:pt x="152400" y="61823"/>
                  <a:pt x="152400" y="57150"/>
                </a:cubicBezTo>
                <a:cubicBezTo>
                  <a:pt x="152400" y="41374"/>
                  <a:pt x="139601" y="28575"/>
                  <a:pt x="123825" y="28575"/>
                </a:cubicBezTo>
                <a:cubicBezTo>
                  <a:pt x="118556" y="28575"/>
                  <a:pt x="113645" y="30004"/>
                  <a:pt x="109418" y="32474"/>
                </a:cubicBezTo>
                <a:cubicBezTo>
                  <a:pt x="102245" y="18842"/>
                  <a:pt x="87928" y="9525"/>
                  <a:pt x="71438" y="9525"/>
                </a:cubicBezTo>
                <a:cubicBezTo>
                  <a:pt x="47774" y="9525"/>
                  <a:pt x="28575" y="28724"/>
                  <a:pt x="28575" y="52388"/>
                </a:cubicBezTo>
                <a:cubicBezTo>
                  <a:pt x="28575" y="54769"/>
                  <a:pt x="28783" y="57120"/>
                  <a:pt x="29141" y="59382"/>
                </a:cubicBezTo>
                <a:cubicBezTo>
                  <a:pt x="12204" y="65097"/>
                  <a:pt x="0" y="81141"/>
                  <a:pt x="0" y="100013"/>
                </a:cubicBezTo>
                <a:close/>
              </a:path>
            </a:pathLst>
          </a:custGeom>
          <a:solidFill>
            <a:srgbClr val="6366F1"/>
          </a:solidFill>
          <a:ln/>
        </p:spPr>
      </p:sp>
      <p:sp>
        <p:nvSpPr>
          <p:cNvPr id="22" name="Text 20"/>
          <p:cNvSpPr/>
          <p:nvPr/>
        </p:nvSpPr>
        <p:spPr>
          <a:xfrm>
            <a:off x="876300" y="4686300"/>
            <a:ext cx="51530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Cloud Services</a:t>
            </a:r>
            <a:endParaRPr lang="en-US" sz="1600" dirty="0"/>
          </a:p>
        </p:txBody>
      </p:sp>
      <p:sp>
        <p:nvSpPr>
          <p:cNvPr id="23" name="Text 21"/>
          <p:cNvSpPr/>
          <p:nvPr/>
        </p:nvSpPr>
        <p:spPr>
          <a:xfrm>
            <a:off x="876300" y="4991100"/>
            <a:ext cx="51435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Store files and run applications on remote servers accessible from anywhere</a:t>
            </a:r>
            <a:endParaRPr lang="en-US" sz="1600" dirty="0"/>
          </a:p>
        </p:txBody>
      </p:sp>
      <p:sp>
        <p:nvSpPr>
          <p:cNvPr id="24" name="Shape 22"/>
          <p:cNvSpPr/>
          <p:nvPr/>
        </p:nvSpPr>
        <p:spPr>
          <a:xfrm>
            <a:off x="6214110" y="1261110"/>
            <a:ext cx="5589270" cy="2265045"/>
          </a:xfrm>
          <a:custGeom>
            <a:avLst/>
            <a:gdLst/>
            <a:ahLst/>
            <a:cxnLst/>
            <a:rect l="l" t="t" r="r" b="b"/>
            <a:pathLst>
              <a:path w="5589270" h="2265045">
                <a:moveTo>
                  <a:pt x="114294" y="0"/>
                </a:moveTo>
                <a:lnTo>
                  <a:pt x="5474976" y="0"/>
                </a:lnTo>
                <a:cubicBezTo>
                  <a:pt x="5538099" y="0"/>
                  <a:pt x="5589270" y="51171"/>
                  <a:pt x="5589270" y="114294"/>
                </a:cubicBezTo>
                <a:lnTo>
                  <a:pt x="5589270" y="2150751"/>
                </a:lnTo>
                <a:cubicBezTo>
                  <a:pt x="5589270" y="2213874"/>
                  <a:pt x="5538099" y="2265045"/>
                  <a:pt x="5474976" y="2265045"/>
                </a:cubicBezTo>
                <a:lnTo>
                  <a:pt x="114294" y="2265045"/>
                </a:lnTo>
                <a:cubicBezTo>
                  <a:pt x="51171" y="2265045"/>
                  <a:pt x="0" y="2213874"/>
                  <a:pt x="0" y="2150751"/>
                </a:cubicBezTo>
                <a:lnTo>
                  <a:pt x="0" y="114294"/>
                </a:lnTo>
                <a:cubicBezTo>
                  <a:pt x="0" y="51171"/>
                  <a:pt x="51171" y="0"/>
                  <a:pt x="114294" y="0"/>
                </a:cubicBezTo>
                <a:close/>
              </a:path>
            </a:pathLst>
          </a:custGeom>
          <a:solidFill>
            <a:srgbClr val="262626"/>
          </a:solidFill>
          <a:ln w="10160">
            <a:solidFill>
              <a:srgbClr val="333333"/>
            </a:solidFill>
            <a:prstDash val="solid"/>
          </a:ln>
        </p:spPr>
      </p:sp>
      <p:sp>
        <p:nvSpPr>
          <p:cNvPr id="25" name="Shape 23"/>
          <p:cNvSpPr/>
          <p:nvPr/>
        </p:nvSpPr>
        <p:spPr>
          <a:xfrm>
            <a:off x="8553331" y="1573532"/>
            <a:ext cx="914400" cy="914400"/>
          </a:xfrm>
          <a:custGeom>
            <a:avLst/>
            <a:gdLst/>
            <a:ahLst/>
            <a:cxnLst/>
            <a:rect l="l" t="t" r="r" b="b"/>
            <a:pathLst>
              <a:path w="914400" h="914400">
                <a:moveTo>
                  <a:pt x="897612" y="268962"/>
                </a:moveTo>
                <a:lnTo>
                  <a:pt x="726162" y="440412"/>
                </a:lnTo>
                <a:cubicBezTo>
                  <a:pt x="709732" y="456843"/>
                  <a:pt x="685264" y="461665"/>
                  <a:pt x="663833" y="452735"/>
                </a:cubicBezTo>
                <a:cubicBezTo>
                  <a:pt x="642402" y="443805"/>
                  <a:pt x="628650" y="423089"/>
                  <a:pt x="628650" y="400050"/>
                </a:cubicBezTo>
                <a:lnTo>
                  <a:pt x="628650" y="285750"/>
                </a:lnTo>
                <a:lnTo>
                  <a:pt x="57150" y="285750"/>
                </a:lnTo>
                <a:cubicBezTo>
                  <a:pt x="25539" y="285750"/>
                  <a:pt x="0" y="260211"/>
                  <a:pt x="0" y="228600"/>
                </a:cubicBezTo>
                <a:cubicBezTo>
                  <a:pt x="0" y="196989"/>
                  <a:pt x="25539" y="171450"/>
                  <a:pt x="57150" y="171450"/>
                </a:cubicBezTo>
                <a:lnTo>
                  <a:pt x="628650" y="171450"/>
                </a:lnTo>
                <a:lnTo>
                  <a:pt x="628650" y="57150"/>
                </a:lnTo>
                <a:cubicBezTo>
                  <a:pt x="628650" y="34111"/>
                  <a:pt x="642580" y="13216"/>
                  <a:pt x="664012" y="4286"/>
                </a:cubicBezTo>
                <a:cubicBezTo>
                  <a:pt x="685443" y="-4643"/>
                  <a:pt x="709910" y="357"/>
                  <a:pt x="726341" y="16609"/>
                </a:cubicBezTo>
                <a:lnTo>
                  <a:pt x="897791" y="188059"/>
                </a:lnTo>
                <a:cubicBezTo>
                  <a:pt x="920115" y="210383"/>
                  <a:pt x="920115" y="246638"/>
                  <a:pt x="897791" y="268962"/>
                </a:cubicBezTo>
                <a:close/>
                <a:moveTo>
                  <a:pt x="188059" y="897612"/>
                </a:moveTo>
                <a:lnTo>
                  <a:pt x="16609" y="726162"/>
                </a:lnTo>
                <a:cubicBezTo>
                  <a:pt x="-5715" y="703838"/>
                  <a:pt x="-5715" y="667583"/>
                  <a:pt x="16609" y="645259"/>
                </a:cubicBezTo>
                <a:lnTo>
                  <a:pt x="188059" y="473809"/>
                </a:lnTo>
                <a:cubicBezTo>
                  <a:pt x="204490" y="457379"/>
                  <a:pt x="228957" y="452557"/>
                  <a:pt x="250388" y="461486"/>
                </a:cubicBezTo>
                <a:cubicBezTo>
                  <a:pt x="271820" y="470416"/>
                  <a:pt x="285750" y="491311"/>
                  <a:pt x="285750" y="514350"/>
                </a:cubicBezTo>
                <a:lnTo>
                  <a:pt x="285750" y="628650"/>
                </a:lnTo>
                <a:lnTo>
                  <a:pt x="857250" y="628650"/>
                </a:lnTo>
                <a:cubicBezTo>
                  <a:pt x="888861" y="628650"/>
                  <a:pt x="914400" y="654189"/>
                  <a:pt x="914400" y="685800"/>
                </a:cubicBezTo>
                <a:cubicBezTo>
                  <a:pt x="914400" y="717411"/>
                  <a:pt x="888861" y="742950"/>
                  <a:pt x="857250" y="742950"/>
                </a:cubicBezTo>
                <a:lnTo>
                  <a:pt x="285750" y="742950"/>
                </a:lnTo>
                <a:lnTo>
                  <a:pt x="285750" y="857250"/>
                </a:lnTo>
                <a:cubicBezTo>
                  <a:pt x="285750" y="880289"/>
                  <a:pt x="271820" y="901184"/>
                  <a:pt x="250388" y="910114"/>
                </a:cubicBezTo>
                <a:cubicBezTo>
                  <a:pt x="228957" y="919043"/>
                  <a:pt x="204490" y="914043"/>
                  <a:pt x="188059" y="897791"/>
                </a:cubicBezTo>
                <a:close/>
              </a:path>
            </a:pathLst>
          </a:custGeom>
          <a:solidFill>
            <a:srgbClr val="6366F1"/>
          </a:solidFill>
          <a:ln/>
        </p:spPr>
      </p:sp>
      <p:sp>
        <p:nvSpPr>
          <p:cNvPr id="26" name="Text 24"/>
          <p:cNvSpPr/>
          <p:nvPr/>
        </p:nvSpPr>
        <p:spPr>
          <a:xfrm>
            <a:off x="7477244" y="2640332"/>
            <a:ext cx="306705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Data Flow</a:t>
            </a:r>
            <a:endParaRPr lang="en-US" sz="1600" dirty="0"/>
          </a:p>
        </p:txBody>
      </p:sp>
      <p:sp>
        <p:nvSpPr>
          <p:cNvPr id="27" name="Text 25"/>
          <p:cNvSpPr/>
          <p:nvPr/>
        </p:nvSpPr>
        <p:spPr>
          <a:xfrm>
            <a:off x="7486769" y="2983232"/>
            <a:ext cx="3048000"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Device → Network → Internet → Destination</a:t>
            </a:r>
            <a:endParaRPr lang="en-US" sz="1600" dirty="0"/>
          </a:p>
        </p:txBody>
      </p:sp>
      <p:sp>
        <p:nvSpPr>
          <p:cNvPr id="28" name="Shape 26"/>
          <p:cNvSpPr/>
          <p:nvPr/>
        </p:nvSpPr>
        <p:spPr>
          <a:xfrm>
            <a:off x="6214110" y="3684274"/>
            <a:ext cx="5589270" cy="1531620"/>
          </a:xfrm>
          <a:custGeom>
            <a:avLst/>
            <a:gdLst/>
            <a:ahLst/>
            <a:cxnLst/>
            <a:rect l="l" t="t" r="r" b="b"/>
            <a:pathLst>
              <a:path w="5589270" h="1531620">
                <a:moveTo>
                  <a:pt x="76198" y="0"/>
                </a:moveTo>
                <a:lnTo>
                  <a:pt x="5513072" y="0"/>
                </a:lnTo>
                <a:cubicBezTo>
                  <a:pt x="5555155" y="0"/>
                  <a:pt x="5589270" y="34115"/>
                  <a:pt x="5589270" y="76198"/>
                </a:cubicBezTo>
                <a:lnTo>
                  <a:pt x="5589270" y="1455422"/>
                </a:lnTo>
                <a:cubicBezTo>
                  <a:pt x="5589270" y="1497505"/>
                  <a:pt x="5555155" y="1531620"/>
                  <a:pt x="551307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29" name="Text 27"/>
          <p:cNvSpPr/>
          <p:nvPr/>
        </p:nvSpPr>
        <p:spPr>
          <a:xfrm>
            <a:off x="6370320" y="3840482"/>
            <a:ext cx="535305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When you send a WhatsApp message, it travels through Wi-Fi → internet → your friend's phone in seconds!</a:t>
            </a:r>
            <a:endParaRPr lang="en-US" sz="1600" dirty="0"/>
          </a:p>
        </p:txBody>
      </p:sp>
      <p:sp>
        <p:nvSpPr>
          <p:cNvPr id="30" name="Text 28"/>
          <p:cNvSpPr/>
          <p:nvPr/>
        </p:nvSpPr>
        <p:spPr>
          <a:xfrm>
            <a:off x="6370320" y="4373882"/>
            <a:ext cx="5353050" cy="6858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Communication technologies are like a postal system for digital data. Instead of physical letters, they deliver electronic messages, files, and information instantly across the world.</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91919"/>
        </a:solidFill>
        <a:effectLst/>
      </p:bgPr>
    </p:bg>
    <p:spTree>
      <p:nvGrpSpPr>
        <p:cNvPr id="1" name=""/>
        <p:cNvGrpSpPr/>
        <p:nvPr/>
      </p:nvGrpSpPr>
      <p:grpSpPr>
        <a:xfrm>
          <a:off x="0" y="0"/>
          <a:ext cx="0" cy="0"/>
          <a:chOff x="0" y="0"/>
          <a:chExt cx="0" cy="0"/>
        </a:xfrm>
      </p:grpSpPr>
      <p:pic>
        <p:nvPicPr>
          <p:cNvPr id="2" name="Image 0" descr="https://kimi-web-img.moonshot.cn/img/ms.codes/c8ed8dfcab96ec8108f358b0653bacb3dea8ccf6.jpg"/>
          <p:cNvPicPr>
            <a:picLocks noChangeAspect="1"/>
          </p:cNvPicPr>
          <p:nvPr/>
        </p:nvPicPr>
        <p:blipFill>
          <a:blip r:embed="rId3">
            <a:alphaModFix amt="20000"/>
          </a:blip>
          <a:src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91919"/>
              </a:gs>
              <a:gs pos="50000">
                <a:srgbClr val="191919">
                  <a:alpha val="95000"/>
                </a:srgbClr>
              </a:gs>
              <a:gs pos="100000">
                <a:srgbClr val="191919">
                  <a:alpha val="70000"/>
                </a:srgbClr>
              </a:gs>
            </a:gsLst>
            <a:lin ang="0" scaled="1"/>
          </a:gradFill>
          <a:ln/>
        </p:spPr>
      </p:sp>
      <p:sp>
        <p:nvSpPr>
          <p:cNvPr id="4" name="Shape 1"/>
          <p:cNvSpPr/>
          <p:nvPr/>
        </p:nvSpPr>
        <p:spPr>
          <a:xfrm>
            <a:off x="384810" y="1172529"/>
            <a:ext cx="2245995" cy="426720"/>
          </a:xfrm>
          <a:custGeom>
            <a:avLst/>
            <a:gdLst/>
            <a:ahLst/>
            <a:cxnLst/>
            <a:rect l="l" t="t" r="r" b="b"/>
            <a:pathLst>
              <a:path w="2245995" h="426720">
                <a:moveTo>
                  <a:pt x="213360" y="0"/>
                </a:moveTo>
                <a:lnTo>
                  <a:pt x="2032635" y="0"/>
                </a:lnTo>
                <a:cubicBezTo>
                  <a:pt x="2150470" y="0"/>
                  <a:pt x="2245995" y="95525"/>
                  <a:pt x="2245995" y="213360"/>
                </a:cubicBezTo>
                <a:lnTo>
                  <a:pt x="2245995" y="213360"/>
                </a:lnTo>
                <a:cubicBezTo>
                  <a:pt x="2245995" y="331195"/>
                  <a:pt x="2150470" y="426720"/>
                  <a:pt x="2032635" y="426720"/>
                </a:cubicBezTo>
                <a:lnTo>
                  <a:pt x="213360" y="426720"/>
                </a:lnTo>
                <a:cubicBezTo>
                  <a:pt x="95603" y="426720"/>
                  <a:pt x="0" y="331117"/>
                  <a:pt x="0" y="213360"/>
                </a:cubicBezTo>
                <a:lnTo>
                  <a:pt x="0" y="213360"/>
                </a:lnTo>
                <a:cubicBezTo>
                  <a:pt x="0" y="95603"/>
                  <a:pt x="95603" y="0"/>
                  <a:pt x="213360" y="0"/>
                </a:cubicBezTo>
                <a:close/>
              </a:path>
            </a:pathLst>
          </a:custGeom>
          <a:solidFill>
            <a:srgbClr val="6366F1">
              <a:alpha val="20000"/>
            </a:srgbClr>
          </a:solidFill>
          <a:ln w="10160">
            <a:solidFill>
              <a:srgbClr val="6366F1">
                <a:alpha val="40000"/>
              </a:srgbClr>
            </a:solidFill>
            <a:prstDash val="solid"/>
          </a:ln>
        </p:spPr>
      </p:sp>
      <p:sp>
        <p:nvSpPr>
          <p:cNvPr id="5" name="Text 2"/>
          <p:cNvSpPr/>
          <p:nvPr/>
        </p:nvSpPr>
        <p:spPr>
          <a:xfrm>
            <a:off x="617220" y="1260156"/>
            <a:ext cx="1865590" cy="243840"/>
          </a:xfrm>
          <a:prstGeom prst="rect">
            <a:avLst/>
          </a:prstGeom>
          <a:noFill/>
          <a:ln/>
        </p:spPr>
        <p:txBody>
          <a:bodyPr wrap="square" lIns="0" tIns="0" rIns="0" bIns="0" rtlCol="0" anchor="ctr"/>
          <a:lstStyle/>
          <a:p>
            <a:pPr>
              <a:lnSpc>
                <a:spcPct val="130000"/>
              </a:lnSpc>
            </a:pPr>
            <a:r>
              <a:rPr lang="en-US" sz="1350" b="1" kern="0" spc="68" dirty="0">
                <a:solidFill>
                  <a:srgbClr val="6366F1"/>
                </a:solidFill>
                <a:latin typeface="Liter" pitchFamily="34" charset="0"/>
                <a:ea typeface="Liter" pitchFamily="34" charset="-122"/>
                <a:cs typeface="Liter" pitchFamily="34" charset="-120"/>
              </a:rPr>
              <a:t>LECTURE 3 • WEEK 2</a:t>
            </a:r>
            <a:endParaRPr lang="en-US" sz="1600" dirty="0"/>
          </a:p>
        </p:txBody>
      </p:sp>
      <p:sp>
        <p:nvSpPr>
          <p:cNvPr id="6" name="Text 3"/>
          <p:cNvSpPr/>
          <p:nvPr/>
        </p:nvSpPr>
        <p:spPr>
          <a:xfrm>
            <a:off x="381000" y="1831656"/>
            <a:ext cx="7658100" cy="2571750"/>
          </a:xfrm>
          <a:prstGeom prst="rect">
            <a:avLst/>
          </a:prstGeom>
          <a:noFill/>
          <a:ln/>
        </p:spPr>
        <p:txBody>
          <a:bodyPr wrap="square" lIns="0" tIns="0" rIns="0" bIns="0" rtlCol="0" anchor="ctr"/>
          <a:lstStyle/>
          <a:p>
            <a:pPr>
              <a:lnSpc>
                <a:spcPct val="100000"/>
              </a:lnSpc>
            </a:pPr>
            <a:r>
              <a:rPr lang="en-US" sz="5400" b="1" dirty="0">
                <a:solidFill>
                  <a:srgbClr val="EFEFEF"/>
                </a:solidFill>
                <a:latin typeface="Liter" pitchFamily="34" charset="0"/>
                <a:ea typeface="Liter" pitchFamily="34" charset="-122"/>
                <a:cs typeface="Liter" pitchFamily="34" charset="-120"/>
              </a:rPr>
              <a:t>Physical Components</a:t>
            </a:r>
            <a:endParaRPr lang="en-US" sz="1600" dirty="0"/>
          </a:p>
          <a:p>
            <a:pPr>
              <a:lnSpc>
                <a:spcPct val="100000"/>
              </a:lnSpc>
            </a:pPr>
            <a:r>
              <a:rPr lang="en-US" sz="5400" b="1" dirty="0">
                <a:solidFill>
                  <a:srgbClr val="EFEFEF"/>
                </a:solidFill>
                <a:latin typeface="Liter" pitchFamily="34" charset="0"/>
                <a:ea typeface="Liter" pitchFamily="34" charset="-122"/>
                <a:cs typeface="Liter" pitchFamily="34" charset="-120"/>
              </a:rPr>
              <a:t>and </a:t>
            </a:r>
            <a:r>
              <a:rPr lang="en-US" sz="5400" b="1" dirty="0">
                <a:solidFill>
                  <a:srgbClr val="6366F1"/>
                </a:solidFill>
                <a:latin typeface="Liter" pitchFamily="34" charset="0"/>
                <a:ea typeface="Liter" pitchFamily="34" charset="-122"/>
                <a:cs typeface="Liter" pitchFamily="34" charset="-120"/>
              </a:rPr>
              <a:t>Types of Computers</a:t>
            </a:r>
            <a:endParaRPr lang="en-US" sz="1600" dirty="0"/>
          </a:p>
        </p:txBody>
      </p:sp>
      <p:sp>
        <p:nvSpPr>
          <p:cNvPr id="7" name="Text 4"/>
          <p:cNvSpPr/>
          <p:nvPr/>
        </p:nvSpPr>
        <p:spPr>
          <a:xfrm>
            <a:off x="381000" y="4632006"/>
            <a:ext cx="6515100" cy="371475"/>
          </a:xfrm>
          <a:prstGeom prst="rect">
            <a:avLst/>
          </a:prstGeom>
          <a:noFill/>
          <a:ln/>
        </p:spPr>
        <p:txBody>
          <a:bodyPr wrap="square" lIns="0" tIns="0" rIns="0" bIns="0" rtlCol="0" anchor="ctr"/>
          <a:lstStyle/>
          <a:p>
            <a:pPr>
              <a:lnSpc>
                <a:spcPct val="140000"/>
              </a:lnSpc>
            </a:pPr>
            <a:r>
              <a:rPr lang="en-US" sz="1800" dirty="0">
                <a:solidFill>
                  <a:srgbClr val="8F8F8F"/>
                </a:solidFill>
                <a:latin typeface="Liter" pitchFamily="34" charset="0"/>
                <a:ea typeface="Liter" pitchFamily="34" charset="-122"/>
                <a:cs typeface="Liter" pitchFamily="34" charset="-120"/>
              </a:rPr>
              <a:t>Exploring the different machines that power our digital world</a:t>
            </a:r>
            <a:endParaRPr lang="en-US" sz="1600" dirty="0"/>
          </a:p>
        </p:txBody>
      </p:sp>
      <p:sp>
        <p:nvSpPr>
          <p:cNvPr id="8" name="Shape 5"/>
          <p:cNvSpPr/>
          <p:nvPr/>
        </p:nvSpPr>
        <p:spPr>
          <a:xfrm>
            <a:off x="381000" y="5555931"/>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6366F1"/>
          </a:solidFill>
          <a:ln/>
        </p:spPr>
      </p:sp>
      <p:sp>
        <p:nvSpPr>
          <p:cNvPr id="9" name="Text 6"/>
          <p:cNvSpPr/>
          <p:nvPr/>
        </p:nvSpPr>
        <p:spPr>
          <a:xfrm>
            <a:off x="1143000" y="5460681"/>
            <a:ext cx="6477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5 Topics</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3.1</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Physical Components of Computer Systems</a:t>
            </a:r>
            <a:endParaRPr lang="en-US" sz="1600" dirty="0"/>
          </a:p>
        </p:txBody>
      </p:sp>
      <p:sp>
        <p:nvSpPr>
          <p:cNvPr id="4" name="Shape 2"/>
          <p:cNvSpPr/>
          <p:nvPr/>
        </p:nvSpPr>
        <p:spPr>
          <a:xfrm>
            <a:off x="384810" y="1261110"/>
            <a:ext cx="3674745" cy="1874520"/>
          </a:xfrm>
          <a:custGeom>
            <a:avLst/>
            <a:gdLst/>
            <a:ahLst/>
            <a:cxnLst/>
            <a:rect l="l" t="t" r="r" b="b"/>
            <a:pathLst>
              <a:path w="3674745" h="1874520">
                <a:moveTo>
                  <a:pt x="114308" y="0"/>
                </a:moveTo>
                <a:lnTo>
                  <a:pt x="3560437" y="0"/>
                </a:lnTo>
                <a:cubicBezTo>
                  <a:pt x="3623567" y="0"/>
                  <a:pt x="3674745" y="51178"/>
                  <a:pt x="3674745" y="114308"/>
                </a:cubicBezTo>
                <a:lnTo>
                  <a:pt x="3674745" y="1760212"/>
                </a:lnTo>
                <a:cubicBezTo>
                  <a:pt x="3674745" y="1823342"/>
                  <a:pt x="3623567" y="1874520"/>
                  <a:pt x="3560437" y="1874520"/>
                </a:cubicBezTo>
                <a:lnTo>
                  <a:pt x="114308" y="1874520"/>
                </a:lnTo>
                <a:cubicBezTo>
                  <a:pt x="51178" y="1874520"/>
                  <a:pt x="0" y="1823342"/>
                  <a:pt x="0" y="1760212"/>
                </a:cubicBezTo>
                <a:lnTo>
                  <a:pt x="0" y="114308"/>
                </a:lnTo>
                <a:cubicBezTo>
                  <a:pt x="0" y="51220"/>
                  <a:pt x="51220" y="0"/>
                  <a:pt x="114308" y="0"/>
                </a:cubicBezTo>
                <a:close/>
              </a:path>
            </a:pathLst>
          </a:custGeom>
          <a:solidFill>
            <a:srgbClr val="262626"/>
          </a:solidFill>
          <a:ln w="10160">
            <a:solidFill>
              <a:srgbClr val="333333"/>
            </a:solidFill>
            <a:prstDash val="solid"/>
          </a:ln>
        </p:spPr>
      </p:sp>
      <p:sp>
        <p:nvSpPr>
          <p:cNvPr id="5" name="Shape 3"/>
          <p:cNvSpPr/>
          <p:nvPr/>
        </p:nvSpPr>
        <p:spPr>
          <a:xfrm>
            <a:off x="579120" y="14554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6" name="Shape 4"/>
          <p:cNvSpPr/>
          <p:nvPr/>
        </p:nvSpPr>
        <p:spPr>
          <a:xfrm>
            <a:off x="693420" y="1569718"/>
            <a:ext cx="152400" cy="152400"/>
          </a:xfrm>
          <a:custGeom>
            <a:avLst/>
            <a:gdLst/>
            <a:ahLst/>
            <a:cxnLst/>
            <a:rect l="l" t="t" r="r" b="b"/>
            <a:pathLst>
              <a:path w="152400" h="152400">
                <a:moveTo>
                  <a:pt x="52388" y="7144"/>
                </a:moveTo>
                <a:cubicBezTo>
                  <a:pt x="52388" y="3185"/>
                  <a:pt x="49203" y="0"/>
                  <a:pt x="45244" y="0"/>
                </a:cubicBezTo>
                <a:cubicBezTo>
                  <a:pt x="41285" y="0"/>
                  <a:pt x="38100" y="3185"/>
                  <a:pt x="38100" y="7144"/>
                </a:cubicBezTo>
                <a:lnTo>
                  <a:pt x="38100" y="19050"/>
                </a:lnTo>
                <a:cubicBezTo>
                  <a:pt x="27593" y="19050"/>
                  <a:pt x="19050" y="27593"/>
                  <a:pt x="19050" y="38100"/>
                </a:cubicBezTo>
                <a:lnTo>
                  <a:pt x="7144" y="38100"/>
                </a:lnTo>
                <a:cubicBezTo>
                  <a:pt x="3185" y="38100"/>
                  <a:pt x="0" y="41285"/>
                  <a:pt x="0" y="45244"/>
                </a:cubicBezTo>
                <a:cubicBezTo>
                  <a:pt x="0" y="49203"/>
                  <a:pt x="3185" y="52388"/>
                  <a:pt x="7144" y="52388"/>
                </a:cubicBezTo>
                <a:lnTo>
                  <a:pt x="19050" y="52388"/>
                </a:lnTo>
                <a:lnTo>
                  <a:pt x="19050" y="69056"/>
                </a:lnTo>
                <a:lnTo>
                  <a:pt x="7144" y="69056"/>
                </a:lnTo>
                <a:cubicBezTo>
                  <a:pt x="3185" y="69056"/>
                  <a:pt x="0" y="72241"/>
                  <a:pt x="0" y="76200"/>
                </a:cubicBezTo>
                <a:cubicBezTo>
                  <a:pt x="0" y="80159"/>
                  <a:pt x="3185" y="83344"/>
                  <a:pt x="7144" y="83344"/>
                </a:cubicBezTo>
                <a:lnTo>
                  <a:pt x="19050" y="83344"/>
                </a:lnTo>
                <a:lnTo>
                  <a:pt x="19050" y="100013"/>
                </a:lnTo>
                <a:lnTo>
                  <a:pt x="7144" y="100013"/>
                </a:lnTo>
                <a:cubicBezTo>
                  <a:pt x="3185" y="100013"/>
                  <a:pt x="0" y="103197"/>
                  <a:pt x="0" y="107156"/>
                </a:cubicBezTo>
                <a:cubicBezTo>
                  <a:pt x="0" y="111115"/>
                  <a:pt x="3185" y="114300"/>
                  <a:pt x="7144" y="114300"/>
                </a:cubicBezTo>
                <a:lnTo>
                  <a:pt x="19050" y="114300"/>
                </a:lnTo>
                <a:cubicBezTo>
                  <a:pt x="19050" y="124807"/>
                  <a:pt x="27593" y="133350"/>
                  <a:pt x="38100" y="133350"/>
                </a:cubicBezTo>
                <a:lnTo>
                  <a:pt x="38100" y="145256"/>
                </a:lnTo>
                <a:cubicBezTo>
                  <a:pt x="38100" y="149215"/>
                  <a:pt x="41285" y="152400"/>
                  <a:pt x="45244" y="152400"/>
                </a:cubicBezTo>
                <a:cubicBezTo>
                  <a:pt x="49203" y="152400"/>
                  <a:pt x="52388" y="149215"/>
                  <a:pt x="52388" y="145256"/>
                </a:cubicBezTo>
                <a:lnTo>
                  <a:pt x="52388" y="133350"/>
                </a:lnTo>
                <a:lnTo>
                  <a:pt x="69056" y="133350"/>
                </a:lnTo>
                <a:lnTo>
                  <a:pt x="69056" y="145256"/>
                </a:lnTo>
                <a:cubicBezTo>
                  <a:pt x="69056" y="149215"/>
                  <a:pt x="72241" y="152400"/>
                  <a:pt x="76200" y="152400"/>
                </a:cubicBezTo>
                <a:cubicBezTo>
                  <a:pt x="80159" y="152400"/>
                  <a:pt x="83344" y="149215"/>
                  <a:pt x="83344" y="145256"/>
                </a:cubicBezTo>
                <a:lnTo>
                  <a:pt x="83344" y="133350"/>
                </a:lnTo>
                <a:lnTo>
                  <a:pt x="100013" y="133350"/>
                </a:lnTo>
                <a:lnTo>
                  <a:pt x="100013" y="145256"/>
                </a:lnTo>
                <a:cubicBezTo>
                  <a:pt x="100013" y="149215"/>
                  <a:pt x="103197" y="152400"/>
                  <a:pt x="107156" y="152400"/>
                </a:cubicBezTo>
                <a:cubicBezTo>
                  <a:pt x="111115" y="152400"/>
                  <a:pt x="114300" y="149215"/>
                  <a:pt x="114300" y="145256"/>
                </a:cubicBezTo>
                <a:lnTo>
                  <a:pt x="114300" y="133350"/>
                </a:lnTo>
                <a:cubicBezTo>
                  <a:pt x="124807" y="133350"/>
                  <a:pt x="133350" y="124807"/>
                  <a:pt x="133350" y="114300"/>
                </a:cubicBezTo>
                <a:lnTo>
                  <a:pt x="145256" y="114300"/>
                </a:lnTo>
                <a:cubicBezTo>
                  <a:pt x="149215" y="114300"/>
                  <a:pt x="152400" y="111115"/>
                  <a:pt x="152400" y="107156"/>
                </a:cubicBezTo>
                <a:cubicBezTo>
                  <a:pt x="152400" y="103197"/>
                  <a:pt x="149215" y="100013"/>
                  <a:pt x="145256" y="100013"/>
                </a:cubicBezTo>
                <a:lnTo>
                  <a:pt x="133350" y="100013"/>
                </a:lnTo>
                <a:lnTo>
                  <a:pt x="133350" y="83344"/>
                </a:lnTo>
                <a:lnTo>
                  <a:pt x="145256" y="83344"/>
                </a:lnTo>
                <a:cubicBezTo>
                  <a:pt x="149215" y="83344"/>
                  <a:pt x="152400" y="80159"/>
                  <a:pt x="152400" y="76200"/>
                </a:cubicBezTo>
                <a:cubicBezTo>
                  <a:pt x="152400" y="72241"/>
                  <a:pt x="149215" y="69056"/>
                  <a:pt x="145256" y="69056"/>
                </a:cubicBezTo>
                <a:lnTo>
                  <a:pt x="133350" y="69056"/>
                </a:lnTo>
                <a:lnTo>
                  <a:pt x="133350" y="52388"/>
                </a:lnTo>
                <a:lnTo>
                  <a:pt x="145256" y="52388"/>
                </a:lnTo>
                <a:cubicBezTo>
                  <a:pt x="149215" y="52388"/>
                  <a:pt x="152400" y="49203"/>
                  <a:pt x="152400" y="45244"/>
                </a:cubicBezTo>
                <a:cubicBezTo>
                  <a:pt x="152400" y="41285"/>
                  <a:pt x="149215" y="38100"/>
                  <a:pt x="145256" y="38100"/>
                </a:cubicBezTo>
                <a:lnTo>
                  <a:pt x="133350" y="38100"/>
                </a:lnTo>
                <a:cubicBezTo>
                  <a:pt x="133350" y="27593"/>
                  <a:pt x="124807" y="19050"/>
                  <a:pt x="114300" y="19050"/>
                </a:cubicBezTo>
                <a:lnTo>
                  <a:pt x="114300" y="7144"/>
                </a:lnTo>
                <a:cubicBezTo>
                  <a:pt x="114300" y="3185"/>
                  <a:pt x="111115" y="0"/>
                  <a:pt x="107156" y="0"/>
                </a:cubicBezTo>
                <a:cubicBezTo>
                  <a:pt x="103197" y="0"/>
                  <a:pt x="100013" y="3185"/>
                  <a:pt x="100013" y="7144"/>
                </a:cubicBezTo>
                <a:lnTo>
                  <a:pt x="100013" y="19050"/>
                </a:lnTo>
                <a:lnTo>
                  <a:pt x="83344" y="19050"/>
                </a:lnTo>
                <a:lnTo>
                  <a:pt x="83344" y="7144"/>
                </a:lnTo>
                <a:cubicBezTo>
                  <a:pt x="83344" y="3185"/>
                  <a:pt x="80159" y="0"/>
                  <a:pt x="76200" y="0"/>
                </a:cubicBezTo>
                <a:cubicBezTo>
                  <a:pt x="72241" y="0"/>
                  <a:pt x="69056" y="3185"/>
                  <a:pt x="69056" y="7144"/>
                </a:cubicBezTo>
                <a:lnTo>
                  <a:pt x="69056" y="19050"/>
                </a:lnTo>
                <a:lnTo>
                  <a:pt x="52388" y="19050"/>
                </a:lnTo>
                <a:lnTo>
                  <a:pt x="52388" y="7144"/>
                </a:lnTo>
                <a:close/>
                <a:moveTo>
                  <a:pt x="47625" y="38100"/>
                </a:moveTo>
                <a:lnTo>
                  <a:pt x="104775" y="38100"/>
                </a:lnTo>
                <a:cubicBezTo>
                  <a:pt x="110044" y="38100"/>
                  <a:pt x="114300" y="42356"/>
                  <a:pt x="114300" y="47625"/>
                </a:cubicBezTo>
                <a:lnTo>
                  <a:pt x="114300" y="104775"/>
                </a:lnTo>
                <a:cubicBezTo>
                  <a:pt x="114300" y="110044"/>
                  <a:pt x="110044" y="114300"/>
                  <a:pt x="104775" y="114300"/>
                </a:cubicBezTo>
                <a:lnTo>
                  <a:pt x="47625" y="114300"/>
                </a:lnTo>
                <a:cubicBezTo>
                  <a:pt x="42356" y="114300"/>
                  <a:pt x="38100" y="110044"/>
                  <a:pt x="38100" y="104775"/>
                </a:cubicBezTo>
                <a:lnTo>
                  <a:pt x="38100" y="47625"/>
                </a:lnTo>
                <a:cubicBezTo>
                  <a:pt x="38100" y="42356"/>
                  <a:pt x="42356" y="38100"/>
                  <a:pt x="47625" y="38100"/>
                </a:cubicBezTo>
                <a:close/>
                <a:moveTo>
                  <a:pt x="52388" y="52388"/>
                </a:moveTo>
                <a:lnTo>
                  <a:pt x="52388" y="100013"/>
                </a:lnTo>
                <a:lnTo>
                  <a:pt x="100013" y="100013"/>
                </a:lnTo>
                <a:lnTo>
                  <a:pt x="100013" y="52388"/>
                </a:lnTo>
                <a:lnTo>
                  <a:pt x="52388" y="52388"/>
                </a:lnTo>
                <a:close/>
              </a:path>
            </a:pathLst>
          </a:custGeom>
          <a:solidFill>
            <a:srgbClr val="6366F1"/>
          </a:solidFill>
          <a:ln/>
        </p:spPr>
      </p:sp>
      <p:sp>
        <p:nvSpPr>
          <p:cNvPr id="7" name="Text 5"/>
          <p:cNvSpPr/>
          <p:nvPr/>
        </p:nvSpPr>
        <p:spPr>
          <a:xfrm>
            <a:off x="1074420" y="1512568"/>
            <a:ext cx="10763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Motherboard</a:t>
            </a:r>
            <a:endParaRPr lang="en-US" sz="1600" dirty="0"/>
          </a:p>
        </p:txBody>
      </p:sp>
      <p:sp>
        <p:nvSpPr>
          <p:cNvPr id="8" name="Text 6"/>
          <p:cNvSpPr/>
          <p:nvPr/>
        </p:nvSpPr>
        <p:spPr>
          <a:xfrm>
            <a:off x="579120" y="1950718"/>
            <a:ext cx="3362325"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The main circuit board that connects all components together</a:t>
            </a:r>
            <a:endParaRPr lang="en-US" sz="1600" dirty="0"/>
          </a:p>
        </p:txBody>
      </p:sp>
      <p:sp>
        <p:nvSpPr>
          <p:cNvPr id="9" name="Text 7"/>
          <p:cNvSpPr/>
          <p:nvPr/>
        </p:nvSpPr>
        <p:spPr>
          <a:xfrm>
            <a:off x="579120" y="2484118"/>
            <a:ext cx="33623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Analogy:</a:t>
            </a:r>
            <a:r>
              <a:rPr lang="en-US" sz="1200" dirty="0">
                <a:solidFill>
                  <a:srgbClr val="EFEFEF"/>
                </a:solidFill>
                <a:latin typeface="Liter" pitchFamily="34" charset="0"/>
                <a:ea typeface="Liter" pitchFamily="34" charset="-122"/>
                <a:cs typeface="Liter" pitchFamily="34" charset="-120"/>
              </a:rPr>
              <a:t> Like a city's highway system connecting all neighborhoods</a:t>
            </a:r>
            <a:endParaRPr lang="en-US" sz="1600" dirty="0"/>
          </a:p>
        </p:txBody>
      </p:sp>
      <p:sp>
        <p:nvSpPr>
          <p:cNvPr id="10" name="Shape 8"/>
          <p:cNvSpPr/>
          <p:nvPr/>
        </p:nvSpPr>
        <p:spPr>
          <a:xfrm>
            <a:off x="4258270" y="1261110"/>
            <a:ext cx="3674745" cy="1874520"/>
          </a:xfrm>
          <a:custGeom>
            <a:avLst/>
            <a:gdLst/>
            <a:ahLst/>
            <a:cxnLst/>
            <a:rect l="l" t="t" r="r" b="b"/>
            <a:pathLst>
              <a:path w="3674745" h="1874520">
                <a:moveTo>
                  <a:pt x="114308" y="0"/>
                </a:moveTo>
                <a:lnTo>
                  <a:pt x="3560437" y="0"/>
                </a:lnTo>
                <a:cubicBezTo>
                  <a:pt x="3623567" y="0"/>
                  <a:pt x="3674745" y="51178"/>
                  <a:pt x="3674745" y="114308"/>
                </a:cubicBezTo>
                <a:lnTo>
                  <a:pt x="3674745" y="1760212"/>
                </a:lnTo>
                <a:cubicBezTo>
                  <a:pt x="3674745" y="1823342"/>
                  <a:pt x="3623567" y="1874520"/>
                  <a:pt x="3560437" y="1874520"/>
                </a:cubicBezTo>
                <a:lnTo>
                  <a:pt x="114308" y="1874520"/>
                </a:lnTo>
                <a:cubicBezTo>
                  <a:pt x="51178" y="1874520"/>
                  <a:pt x="0" y="1823342"/>
                  <a:pt x="0" y="1760212"/>
                </a:cubicBezTo>
                <a:lnTo>
                  <a:pt x="0" y="114308"/>
                </a:lnTo>
                <a:cubicBezTo>
                  <a:pt x="0" y="51220"/>
                  <a:pt x="51220" y="0"/>
                  <a:pt x="114308" y="0"/>
                </a:cubicBezTo>
                <a:close/>
              </a:path>
            </a:pathLst>
          </a:custGeom>
          <a:solidFill>
            <a:srgbClr val="262626"/>
          </a:solidFill>
          <a:ln w="10160">
            <a:solidFill>
              <a:srgbClr val="333333"/>
            </a:solidFill>
            <a:prstDash val="solid"/>
          </a:ln>
        </p:spPr>
      </p:sp>
      <p:sp>
        <p:nvSpPr>
          <p:cNvPr id="11" name="Shape 9"/>
          <p:cNvSpPr/>
          <p:nvPr/>
        </p:nvSpPr>
        <p:spPr>
          <a:xfrm>
            <a:off x="4452580" y="14554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2" name="Shape 10"/>
          <p:cNvSpPr/>
          <p:nvPr/>
        </p:nvSpPr>
        <p:spPr>
          <a:xfrm>
            <a:off x="4576405" y="1569718"/>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6366F1"/>
          </a:solidFill>
          <a:ln/>
        </p:spPr>
      </p:sp>
      <p:sp>
        <p:nvSpPr>
          <p:cNvPr id="13" name="Text 11"/>
          <p:cNvSpPr/>
          <p:nvPr/>
        </p:nvSpPr>
        <p:spPr>
          <a:xfrm>
            <a:off x="4947881" y="1512568"/>
            <a:ext cx="11239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Power Supply</a:t>
            </a:r>
            <a:endParaRPr lang="en-US" sz="1600" dirty="0"/>
          </a:p>
        </p:txBody>
      </p:sp>
      <p:sp>
        <p:nvSpPr>
          <p:cNvPr id="14" name="Text 12"/>
          <p:cNvSpPr/>
          <p:nvPr/>
        </p:nvSpPr>
        <p:spPr>
          <a:xfrm>
            <a:off x="4452580" y="1950718"/>
            <a:ext cx="3362325"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Converts electricity from the wall to power all computer parts</a:t>
            </a:r>
            <a:endParaRPr lang="en-US" sz="1600" dirty="0"/>
          </a:p>
        </p:txBody>
      </p:sp>
      <p:sp>
        <p:nvSpPr>
          <p:cNvPr id="15" name="Text 13"/>
          <p:cNvSpPr/>
          <p:nvPr/>
        </p:nvSpPr>
        <p:spPr>
          <a:xfrm>
            <a:off x="4452580" y="2484118"/>
            <a:ext cx="33623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Analogy:</a:t>
            </a:r>
            <a:r>
              <a:rPr lang="en-US" sz="1200" dirty="0">
                <a:solidFill>
                  <a:srgbClr val="EFEFEF"/>
                </a:solidFill>
                <a:latin typeface="Liter" pitchFamily="34" charset="0"/>
                <a:ea typeface="Liter" pitchFamily="34" charset="-122"/>
                <a:cs typeface="Liter" pitchFamily="34" charset="-120"/>
              </a:rPr>
              <a:t> Like a heart pumping blood to all body organs</a:t>
            </a:r>
            <a:endParaRPr lang="en-US" sz="1600" dirty="0"/>
          </a:p>
        </p:txBody>
      </p:sp>
      <p:sp>
        <p:nvSpPr>
          <p:cNvPr id="16" name="Shape 14"/>
          <p:cNvSpPr/>
          <p:nvPr/>
        </p:nvSpPr>
        <p:spPr>
          <a:xfrm>
            <a:off x="8131731" y="1261110"/>
            <a:ext cx="3674745" cy="1874520"/>
          </a:xfrm>
          <a:custGeom>
            <a:avLst/>
            <a:gdLst/>
            <a:ahLst/>
            <a:cxnLst/>
            <a:rect l="l" t="t" r="r" b="b"/>
            <a:pathLst>
              <a:path w="3674745" h="1874520">
                <a:moveTo>
                  <a:pt x="114308" y="0"/>
                </a:moveTo>
                <a:lnTo>
                  <a:pt x="3560437" y="0"/>
                </a:lnTo>
                <a:cubicBezTo>
                  <a:pt x="3623567" y="0"/>
                  <a:pt x="3674745" y="51178"/>
                  <a:pt x="3674745" y="114308"/>
                </a:cubicBezTo>
                <a:lnTo>
                  <a:pt x="3674745" y="1760212"/>
                </a:lnTo>
                <a:cubicBezTo>
                  <a:pt x="3674745" y="1823342"/>
                  <a:pt x="3623567" y="1874520"/>
                  <a:pt x="3560437" y="1874520"/>
                </a:cubicBezTo>
                <a:lnTo>
                  <a:pt x="114308" y="1874520"/>
                </a:lnTo>
                <a:cubicBezTo>
                  <a:pt x="51178" y="1874520"/>
                  <a:pt x="0" y="1823342"/>
                  <a:pt x="0" y="1760212"/>
                </a:cubicBezTo>
                <a:lnTo>
                  <a:pt x="0" y="114308"/>
                </a:lnTo>
                <a:cubicBezTo>
                  <a:pt x="0" y="51220"/>
                  <a:pt x="51220" y="0"/>
                  <a:pt x="114308" y="0"/>
                </a:cubicBezTo>
                <a:close/>
              </a:path>
            </a:pathLst>
          </a:custGeom>
          <a:solidFill>
            <a:srgbClr val="262626"/>
          </a:solidFill>
          <a:ln w="10160">
            <a:solidFill>
              <a:srgbClr val="333333"/>
            </a:solidFill>
            <a:prstDash val="solid"/>
          </a:ln>
        </p:spPr>
      </p:sp>
      <p:sp>
        <p:nvSpPr>
          <p:cNvPr id="17" name="Shape 15"/>
          <p:cNvSpPr/>
          <p:nvPr/>
        </p:nvSpPr>
        <p:spPr>
          <a:xfrm>
            <a:off x="8326041" y="14554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8" name="Shape 16"/>
          <p:cNvSpPr/>
          <p:nvPr/>
        </p:nvSpPr>
        <p:spPr>
          <a:xfrm>
            <a:off x="8449866" y="1569718"/>
            <a:ext cx="133350" cy="152400"/>
          </a:xfrm>
          <a:custGeom>
            <a:avLst/>
            <a:gdLst/>
            <a:ahLst/>
            <a:cxnLst/>
            <a:rect l="l" t="t" r="r" b="b"/>
            <a:pathLst>
              <a:path w="133350" h="152400">
                <a:moveTo>
                  <a:pt x="19050" y="9525"/>
                </a:moveTo>
                <a:cubicBezTo>
                  <a:pt x="8543" y="9525"/>
                  <a:pt x="0" y="18068"/>
                  <a:pt x="0" y="28575"/>
                </a:cubicBezTo>
                <a:lnTo>
                  <a:pt x="0" y="77420"/>
                </a:lnTo>
                <a:cubicBezTo>
                  <a:pt x="5388" y="73640"/>
                  <a:pt x="11966" y="71438"/>
                  <a:pt x="19050" y="71438"/>
                </a:cubicBezTo>
                <a:lnTo>
                  <a:pt x="114300" y="71438"/>
                </a:lnTo>
                <a:cubicBezTo>
                  <a:pt x="121384" y="71438"/>
                  <a:pt x="127962" y="73640"/>
                  <a:pt x="133350" y="77420"/>
                </a:cubicBezTo>
                <a:lnTo>
                  <a:pt x="133350" y="28575"/>
                </a:lnTo>
                <a:cubicBezTo>
                  <a:pt x="133350" y="18068"/>
                  <a:pt x="124807" y="9525"/>
                  <a:pt x="114300" y="9525"/>
                </a:cubicBezTo>
                <a:lnTo>
                  <a:pt x="19050" y="9525"/>
                </a:lnTo>
                <a:close/>
                <a:moveTo>
                  <a:pt x="133350" y="104775"/>
                </a:moveTo>
                <a:cubicBezTo>
                  <a:pt x="133350" y="94268"/>
                  <a:pt x="124807" y="85725"/>
                  <a:pt x="114300" y="85725"/>
                </a:cubicBezTo>
                <a:lnTo>
                  <a:pt x="19050" y="85725"/>
                </a:lnTo>
                <a:cubicBezTo>
                  <a:pt x="8543" y="85725"/>
                  <a:pt x="0" y="94268"/>
                  <a:pt x="0" y="104775"/>
                </a:cubicBezTo>
                <a:lnTo>
                  <a:pt x="0" y="123825"/>
                </a:lnTo>
                <a:cubicBezTo>
                  <a:pt x="0" y="134332"/>
                  <a:pt x="8543" y="142875"/>
                  <a:pt x="19050" y="142875"/>
                </a:cubicBezTo>
                <a:lnTo>
                  <a:pt x="114300" y="142875"/>
                </a:lnTo>
                <a:cubicBezTo>
                  <a:pt x="124807" y="142875"/>
                  <a:pt x="133350" y="134332"/>
                  <a:pt x="133350" y="123825"/>
                </a:cubicBezTo>
                <a:lnTo>
                  <a:pt x="133350" y="104775"/>
                </a:lnTo>
                <a:close/>
                <a:moveTo>
                  <a:pt x="66675" y="114300"/>
                </a:moveTo>
                <a:cubicBezTo>
                  <a:pt x="66675" y="109043"/>
                  <a:pt x="70943" y="104775"/>
                  <a:pt x="76200" y="104775"/>
                </a:cubicBezTo>
                <a:cubicBezTo>
                  <a:pt x="81457" y="104775"/>
                  <a:pt x="85725" y="109043"/>
                  <a:pt x="85725" y="114300"/>
                </a:cubicBezTo>
                <a:cubicBezTo>
                  <a:pt x="85725" y="119557"/>
                  <a:pt x="81457" y="123825"/>
                  <a:pt x="76200" y="123825"/>
                </a:cubicBezTo>
                <a:cubicBezTo>
                  <a:pt x="70943" y="123825"/>
                  <a:pt x="66675" y="119557"/>
                  <a:pt x="66675" y="114300"/>
                </a:cubicBezTo>
                <a:close/>
                <a:moveTo>
                  <a:pt x="104775" y="104775"/>
                </a:moveTo>
                <a:cubicBezTo>
                  <a:pt x="110032" y="104775"/>
                  <a:pt x="114300" y="109043"/>
                  <a:pt x="114300" y="114300"/>
                </a:cubicBezTo>
                <a:cubicBezTo>
                  <a:pt x="114300" y="119557"/>
                  <a:pt x="110032" y="123825"/>
                  <a:pt x="104775" y="123825"/>
                </a:cubicBezTo>
                <a:cubicBezTo>
                  <a:pt x="99518" y="123825"/>
                  <a:pt x="95250" y="119557"/>
                  <a:pt x="95250" y="114300"/>
                </a:cubicBezTo>
                <a:cubicBezTo>
                  <a:pt x="95250" y="109043"/>
                  <a:pt x="99518" y="104775"/>
                  <a:pt x="104775" y="104775"/>
                </a:cubicBezTo>
                <a:close/>
              </a:path>
            </a:pathLst>
          </a:custGeom>
          <a:solidFill>
            <a:srgbClr val="6366F1"/>
          </a:solidFill>
          <a:ln/>
        </p:spPr>
      </p:sp>
      <p:sp>
        <p:nvSpPr>
          <p:cNvPr id="19" name="Text 17"/>
          <p:cNvSpPr/>
          <p:nvPr/>
        </p:nvSpPr>
        <p:spPr>
          <a:xfrm>
            <a:off x="8821341" y="1512568"/>
            <a:ext cx="12001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Storage Drives</a:t>
            </a:r>
            <a:endParaRPr lang="en-US" sz="1600" dirty="0"/>
          </a:p>
        </p:txBody>
      </p:sp>
      <p:sp>
        <p:nvSpPr>
          <p:cNvPr id="20" name="Text 18"/>
          <p:cNvSpPr/>
          <p:nvPr/>
        </p:nvSpPr>
        <p:spPr>
          <a:xfrm>
            <a:off x="8326041" y="1950718"/>
            <a:ext cx="3362325"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Hard Disk Drives (HDD) and Solid State Drives (SSD) store data permanently</a:t>
            </a:r>
            <a:endParaRPr lang="en-US" sz="1600" dirty="0"/>
          </a:p>
        </p:txBody>
      </p:sp>
      <p:sp>
        <p:nvSpPr>
          <p:cNvPr id="21" name="Text 19"/>
          <p:cNvSpPr/>
          <p:nvPr/>
        </p:nvSpPr>
        <p:spPr>
          <a:xfrm>
            <a:off x="8326041" y="2484118"/>
            <a:ext cx="3362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Capacity:</a:t>
            </a:r>
            <a:r>
              <a:rPr lang="en-US" sz="1200" dirty="0">
                <a:solidFill>
                  <a:srgbClr val="EFEFEF"/>
                </a:solidFill>
                <a:latin typeface="Liter" pitchFamily="34" charset="0"/>
                <a:ea typeface="Liter" pitchFamily="34" charset="-122"/>
                <a:cs typeface="Liter" pitchFamily="34" charset="-120"/>
              </a:rPr>
              <a:t> 256GB to several terabytes</a:t>
            </a:r>
            <a:endParaRPr lang="en-US" sz="1600" dirty="0"/>
          </a:p>
        </p:txBody>
      </p:sp>
      <p:sp>
        <p:nvSpPr>
          <p:cNvPr id="22" name="Shape 20"/>
          <p:cNvSpPr/>
          <p:nvPr/>
        </p:nvSpPr>
        <p:spPr>
          <a:xfrm>
            <a:off x="384810" y="3333756"/>
            <a:ext cx="3674745" cy="1874520"/>
          </a:xfrm>
          <a:custGeom>
            <a:avLst/>
            <a:gdLst/>
            <a:ahLst/>
            <a:cxnLst/>
            <a:rect l="l" t="t" r="r" b="b"/>
            <a:pathLst>
              <a:path w="3674745" h="1874520">
                <a:moveTo>
                  <a:pt x="114308" y="0"/>
                </a:moveTo>
                <a:lnTo>
                  <a:pt x="3560437" y="0"/>
                </a:lnTo>
                <a:cubicBezTo>
                  <a:pt x="3623567" y="0"/>
                  <a:pt x="3674745" y="51178"/>
                  <a:pt x="3674745" y="114308"/>
                </a:cubicBezTo>
                <a:lnTo>
                  <a:pt x="3674745" y="1760212"/>
                </a:lnTo>
                <a:cubicBezTo>
                  <a:pt x="3674745" y="1823342"/>
                  <a:pt x="3623567" y="1874520"/>
                  <a:pt x="3560437" y="1874520"/>
                </a:cubicBezTo>
                <a:lnTo>
                  <a:pt x="114308" y="1874520"/>
                </a:lnTo>
                <a:cubicBezTo>
                  <a:pt x="51178" y="1874520"/>
                  <a:pt x="0" y="1823342"/>
                  <a:pt x="0" y="1760212"/>
                </a:cubicBezTo>
                <a:lnTo>
                  <a:pt x="0" y="114308"/>
                </a:lnTo>
                <a:cubicBezTo>
                  <a:pt x="0" y="51220"/>
                  <a:pt x="51220" y="0"/>
                  <a:pt x="114308" y="0"/>
                </a:cubicBezTo>
                <a:close/>
              </a:path>
            </a:pathLst>
          </a:custGeom>
          <a:solidFill>
            <a:srgbClr val="262626"/>
          </a:solidFill>
          <a:ln w="10160">
            <a:solidFill>
              <a:srgbClr val="333333"/>
            </a:solidFill>
            <a:prstDash val="solid"/>
          </a:ln>
        </p:spPr>
      </p:sp>
      <p:sp>
        <p:nvSpPr>
          <p:cNvPr id="23" name="Shape 21"/>
          <p:cNvSpPr/>
          <p:nvPr/>
        </p:nvSpPr>
        <p:spPr>
          <a:xfrm>
            <a:off x="579120" y="3528064"/>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24" name="Shape 22"/>
          <p:cNvSpPr/>
          <p:nvPr/>
        </p:nvSpPr>
        <p:spPr>
          <a:xfrm>
            <a:off x="693420" y="3642364"/>
            <a:ext cx="152400" cy="152400"/>
          </a:xfrm>
          <a:custGeom>
            <a:avLst/>
            <a:gdLst/>
            <a:ahLst/>
            <a:cxnLst/>
            <a:rect l="l" t="t" r="r" b="b"/>
            <a:pathLst>
              <a:path w="152400" h="152400">
                <a:moveTo>
                  <a:pt x="19050" y="19050"/>
                </a:moveTo>
                <a:cubicBezTo>
                  <a:pt x="8543" y="19050"/>
                  <a:pt x="0" y="27593"/>
                  <a:pt x="0" y="38100"/>
                </a:cubicBezTo>
                <a:lnTo>
                  <a:pt x="0" y="40303"/>
                </a:lnTo>
                <a:cubicBezTo>
                  <a:pt x="0" y="42327"/>
                  <a:pt x="1310" y="44053"/>
                  <a:pt x="3006" y="45154"/>
                </a:cubicBezTo>
                <a:cubicBezTo>
                  <a:pt x="6935" y="47714"/>
                  <a:pt x="9525" y="52120"/>
                  <a:pt x="9525" y="57150"/>
                </a:cubicBezTo>
                <a:cubicBezTo>
                  <a:pt x="9525" y="62180"/>
                  <a:pt x="6935" y="66586"/>
                  <a:pt x="3006" y="69146"/>
                </a:cubicBezTo>
                <a:cubicBezTo>
                  <a:pt x="1310" y="70247"/>
                  <a:pt x="0" y="71973"/>
                  <a:pt x="0" y="73997"/>
                </a:cubicBezTo>
                <a:lnTo>
                  <a:pt x="0" y="90488"/>
                </a:lnTo>
                <a:lnTo>
                  <a:pt x="152400" y="90488"/>
                </a:lnTo>
                <a:lnTo>
                  <a:pt x="152400" y="73997"/>
                </a:lnTo>
                <a:cubicBezTo>
                  <a:pt x="152400" y="71973"/>
                  <a:pt x="151090" y="70247"/>
                  <a:pt x="149394" y="69146"/>
                </a:cubicBezTo>
                <a:cubicBezTo>
                  <a:pt x="145465" y="66586"/>
                  <a:pt x="142875" y="62180"/>
                  <a:pt x="142875" y="57150"/>
                </a:cubicBezTo>
                <a:cubicBezTo>
                  <a:pt x="142875" y="52120"/>
                  <a:pt x="145465" y="47714"/>
                  <a:pt x="149394" y="45154"/>
                </a:cubicBezTo>
                <a:cubicBezTo>
                  <a:pt x="151090" y="44053"/>
                  <a:pt x="152400" y="42327"/>
                  <a:pt x="152400" y="40303"/>
                </a:cubicBezTo>
                <a:lnTo>
                  <a:pt x="152400" y="38100"/>
                </a:lnTo>
                <a:cubicBezTo>
                  <a:pt x="152400" y="27593"/>
                  <a:pt x="143857" y="19050"/>
                  <a:pt x="133350" y="19050"/>
                </a:cubicBezTo>
                <a:lnTo>
                  <a:pt x="19050" y="19050"/>
                </a:lnTo>
                <a:close/>
                <a:moveTo>
                  <a:pt x="152400" y="123825"/>
                </a:moveTo>
                <a:lnTo>
                  <a:pt x="152400" y="104775"/>
                </a:lnTo>
                <a:lnTo>
                  <a:pt x="0" y="104775"/>
                </a:lnTo>
                <a:lnTo>
                  <a:pt x="0" y="123825"/>
                </a:lnTo>
                <a:cubicBezTo>
                  <a:pt x="0" y="129094"/>
                  <a:pt x="4256" y="133350"/>
                  <a:pt x="9525" y="133350"/>
                </a:cubicBezTo>
                <a:lnTo>
                  <a:pt x="28575" y="133350"/>
                </a:lnTo>
                <a:lnTo>
                  <a:pt x="28575" y="126206"/>
                </a:lnTo>
                <a:cubicBezTo>
                  <a:pt x="28575" y="122247"/>
                  <a:pt x="31760" y="119062"/>
                  <a:pt x="35719" y="119062"/>
                </a:cubicBezTo>
                <a:cubicBezTo>
                  <a:pt x="39678" y="119062"/>
                  <a:pt x="42863" y="122247"/>
                  <a:pt x="42863" y="126206"/>
                </a:cubicBezTo>
                <a:lnTo>
                  <a:pt x="42863" y="133350"/>
                </a:lnTo>
                <a:lnTo>
                  <a:pt x="69056" y="133350"/>
                </a:lnTo>
                <a:lnTo>
                  <a:pt x="69056" y="126206"/>
                </a:lnTo>
                <a:cubicBezTo>
                  <a:pt x="69056" y="122247"/>
                  <a:pt x="72241" y="119062"/>
                  <a:pt x="76200" y="119062"/>
                </a:cubicBezTo>
                <a:cubicBezTo>
                  <a:pt x="80159" y="119062"/>
                  <a:pt x="83344" y="122247"/>
                  <a:pt x="83344" y="126206"/>
                </a:cubicBezTo>
                <a:lnTo>
                  <a:pt x="83344" y="133350"/>
                </a:lnTo>
                <a:lnTo>
                  <a:pt x="109537" y="133350"/>
                </a:lnTo>
                <a:lnTo>
                  <a:pt x="109537" y="126206"/>
                </a:lnTo>
                <a:cubicBezTo>
                  <a:pt x="109537" y="122247"/>
                  <a:pt x="112722" y="119062"/>
                  <a:pt x="116681" y="119062"/>
                </a:cubicBezTo>
                <a:cubicBezTo>
                  <a:pt x="120640" y="119062"/>
                  <a:pt x="123825" y="122247"/>
                  <a:pt x="123825" y="126206"/>
                </a:cubicBezTo>
                <a:lnTo>
                  <a:pt x="123825" y="133350"/>
                </a:lnTo>
                <a:lnTo>
                  <a:pt x="142875" y="133350"/>
                </a:lnTo>
                <a:cubicBezTo>
                  <a:pt x="148144" y="133350"/>
                  <a:pt x="152400" y="129094"/>
                  <a:pt x="152400" y="123825"/>
                </a:cubicBezTo>
                <a:close/>
                <a:moveTo>
                  <a:pt x="47625" y="47625"/>
                </a:moveTo>
                <a:lnTo>
                  <a:pt x="47625" y="66675"/>
                </a:lnTo>
                <a:cubicBezTo>
                  <a:pt x="47625" y="71944"/>
                  <a:pt x="43369" y="76200"/>
                  <a:pt x="38100" y="76200"/>
                </a:cubicBezTo>
                <a:cubicBezTo>
                  <a:pt x="32831" y="76200"/>
                  <a:pt x="28575" y="71944"/>
                  <a:pt x="28575" y="66675"/>
                </a:cubicBezTo>
                <a:lnTo>
                  <a:pt x="28575" y="47625"/>
                </a:lnTo>
                <a:cubicBezTo>
                  <a:pt x="28575" y="42356"/>
                  <a:pt x="32831" y="38100"/>
                  <a:pt x="38100" y="38100"/>
                </a:cubicBezTo>
                <a:cubicBezTo>
                  <a:pt x="43369" y="38100"/>
                  <a:pt x="47625" y="42356"/>
                  <a:pt x="47625" y="47625"/>
                </a:cubicBezTo>
                <a:close/>
                <a:moveTo>
                  <a:pt x="85725" y="47625"/>
                </a:moveTo>
                <a:lnTo>
                  <a:pt x="85725" y="66675"/>
                </a:lnTo>
                <a:cubicBezTo>
                  <a:pt x="85725" y="71944"/>
                  <a:pt x="81469" y="76200"/>
                  <a:pt x="76200" y="76200"/>
                </a:cubicBezTo>
                <a:cubicBezTo>
                  <a:pt x="70931" y="76200"/>
                  <a:pt x="66675" y="71944"/>
                  <a:pt x="66675" y="66675"/>
                </a:cubicBezTo>
                <a:lnTo>
                  <a:pt x="66675" y="47625"/>
                </a:lnTo>
                <a:cubicBezTo>
                  <a:pt x="66675" y="42356"/>
                  <a:pt x="70931" y="38100"/>
                  <a:pt x="76200" y="38100"/>
                </a:cubicBezTo>
                <a:cubicBezTo>
                  <a:pt x="81469" y="38100"/>
                  <a:pt x="85725" y="42356"/>
                  <a:pt x="85725" y="47625"/>
                </a:cubicBezTo>
                <a:close/>
                <a:moveTo>
                  <a:pt x="123825" y="47625"/>
                </a:moveTo>
                <a:lnTo>
                  <a:pt x="123825" y="66675"/>
                </a:lnTo>
                <a:cubicBezTo>
                  <a:pt x="123825" y="71944"/>
                  <a:pt x="119569" y="76200"/>
                  <a:pt x="114300" y="76200"/>
                </a:cubicBezTo>
                <a:cubicBezTo>
                  <a:pt x="109031" y="76200"/>
                  <a:pt x="104775" y="71944"/>
                  <a:pt x="104775" y="66675"/>
                </a:cubicBezTo>
                <a:lnTo>
                  <a:pt x="104775" y="47625"/>
                </a:lnTo>
                <a:cubicBezTo>
                  <a:pt x="104775" y="42356"/>
                  <a:pt x="109031" y="38100"/>
                  <a:pt x="114300" y="38100"/>
                </a:cubicBezTo>
                <a:cubicBezTo>
                  <a:pt x="119569" y="38100"/>
                  <a:pt x="123825" y="42356"/>
                  <a:pt x="123825" y="47625"/>
                </a:cubicBezTo>
                <a:close/>
              </a:path>
            </a:pathLst>
          </a:custGeom>
          <a:solidFill>
            <a:srgbClr val="6366F1"/>
          </a:solidFill>
          <a:ln/>
        </p:spPr>
      </p:sp>
      <p:sp>
        <p:nvSpPr>
          <p:cNvPr id="25" name="Text 23"/>
          <p:cNvSpPr/>
          <p:nvPr/>
        </p:nvSpPr>
        <p:spPr>
          <a:xfrm>
            <a:off x="1074420" y="3585214"/>
            <a:ext cx="11525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RAM Modules</a:t>
            </a:r>
            <a:endParaRPr lang="en-US" sz="1600" dirty="0"/>
          </a:p>
        </p:txBody>
      </p:sp>
      <p:sp>
        <p:nvSpPr>
          <p:cNvPr id="26" name="Text 24"/>
          <p:cNvSpPr/>
          <p:nvPr/>
        </p:nvSpPr>
        <p:spPr>
          <a:xfrm>
            <a:off x="579120" y="4023364"/>
            <a:ext cx="3362325"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Temporary memory that stores active programs and data while computer is on</a:t>
            </a:r>
            <a:endParaRPr lang="en-US" sz="1600" dirty="0"/>
          </a:p>
        </p:txBody>
      </p:sp>
      <p:sp>
        <p:nvSpPr>
          <p:cNvPr id="27" name="Text 25"/>
          <p:cNvSpPr/>
          <p:nvPr/>
        </p:nvSpPr>
        <p:spPr>
          <a:xfrm>
            <a:off x="579120" y="4556764"/>
            <a:ext cx="3362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Speed:</a:t>
            </a:r>
            <a:r>
              <a:rPr lang="en-US" sz="1200" dirty="0">
                <a:solidFill>
                  <a:srgbClr val="EFEFEF"/>
                </a:solidFill>
                <a:latin typeface="Liter" pitchFamily="34" charset="0"/>
                <a:ea typeface="Liter" pitchFamily="34" charset="-122"/>
                <a:cs typeface="Liter" pitchFamily="34" charset="-120"/>
              </a:rPr>
              <a:t> Much faster than storage drives</a:t>
            </a:r>
            <a:endParaRPr lang="en-US" sz="1600" dirty="0"/>
          </a:p>
        </p:txBody>
      </p:sp>
      <p:sp>
        <p:nvSpPr>
          <p:cNvPr id="28" name="Shape 26"/>
          <p:cNvSpPr/>
          <p:nvPr/>
        </p:nvSpPr>
        <p:spPr>
          <a:xfrm>
            <a:off x="4258270" y="3333756"/>
            <a:ext cx="3674745" cy="1874520"/>
          </a:xfrm>
          <a:custGeom>
            <a:avLst/>
            <a:gdLst/>
            <a:ahLst/>
            <a:cxnLst/>
            <a:rect l="l" t="t" r="r" b="b"/>
            <a:pathLst>
              <a:path w="3674745" h="1874520">
                <a:moveTo>
                  <a:pt x="114308" y="0"/>
                </a:moveTo>
                <a:lnTo>
                  <a:pt x="3560437" y="0"/>
                </a:lnTo>
                <a:cubicBezTo>
                  <a:pt x="3623567" y="0"/>
                  <a:pt x="3674745" y="51178"/>
                  <a:pt x="3674745" y="114308"/>
                </a:cubicBezTo>
                <a:lnTo>
                  <a:pt x="3674745" y="1760212"/>
                </a:lnTo>
                <a:cubicBezTo>
                  <a:pt x="3674745" y="1823342"/>
                  <a:pt x="3623567" y="1874520"/>
                  <a:pt x="3560437" y="1874520"/>
                </a:cubicBezTo>
                <a:lnTo>
                  <a:pt x="114308" y="1874520"/>
                </a:lnTo>
                <a:cubicBezTo>
                  <a:pt x="51178" y="1874520"/>
                  <a:pt x="0" y="1823342"/>
                  <a:pt x="0" y="1760212"/>
                </a:cubicBezTo>
                <a:lnTo>
                  <a:pt x="0" y="114308"/>
                </a:lnTo>
                <a:cubicBezTo>
                  <a:pt x="0" y="51220"/>
                  <a:pt x="51220" y="0"/>
                  <a:pt x="114308" y="0"/>
                </a:cubicBezTo>
                <a:close/>
              </a:path>
            </a:pathLst>
          </a:custGeom>
          <a:solidFill>
            <a:srgbClr val="262626"/>
          </a:solidFill>
          <a:ln w="10160">
            <a:solidFill>
              <a:srgbClr val="333333"/>
            </a:solidFill>
            <a:prstDash val="solid"/>
          </a:ln>
        </p:spPr>
      </p:sp>
      <p:sp>
        <p:nvSpPr>
          <p:cNvPr id="29" name="Shape 27"/>
          <p:cNvSpPr/>
          <p:nvPr/>
        </p:nvSpPr>
        <p:spPr>
          <a:xfrm>
            <a:off x="4452580" y="3528064"/>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30" name="Shape 28"/>
          <p:cNvSpPr/>
          <p:nvPr/>
        </p:nvSpPr>
        <p:spPr>
          <a:xfrm>
            <a:off x="4566880" y="3642364"/>
            <a:ext cx="152400" cy="152400"/>
          </a:xfrm>
          <a:custGeom>
            <a:avLst/>
            <a:gdLst/>
            <a:ahLst/>
            <a:cxnLst/>
            <a:rect l="l" t="t" r="r" b="b"/>
            <a:pathLst>
              <a:path w="152400" h="152400">
                <a:moveTo>
                  <a:pt x="47625" y="42863"/>
                </a:moveTo>
                <a:cubicBezTo>
                  <a:pt x="47625" y="19199"/>
                  <a:pt x="66824" y="0"/>
                  <a:pt x="90488" y="0"/>
                </a:cubicBezTo>
                <a:cubicBezTo>
                  <a:pt x="93107" y="0"/>
                  <a:pt x="95250" y="2143"/>
                  <a:pt x="95250" y="4763"/>
                </a:cubicBezTo>
                <a:lnTo>
                  <a:pt x="95250" y="50066"/>
                </a:lnTo>
                <a:cubicBezTo>
                  <a:pt x="99715" y="48488"/>
                  <a:pt x="104537" y="47625"/>
                  <a:pt x="109537" y="47625"/>
                </a:cubicBezTo>
                <a:cubicBezTo>
                  <a:pt x="133201" y="47625"/>
                  <a:pt x="152400" y="66824"/>
                  <a:pt x="152400" y="90488"/>
                </a:cubicBezTo>
                <a:cubicBezTo>
                  <a:pt x="152400" y="93107"/>
                  <a:pt x="150257" y="95250"/>
                  <a:pt x="147638" y="95250"/>
                </a:cubicBezTo>
                <a:lnTo>
                  <a:pt x="102334" y="95250"/>
                </a:lnTo>
                <a:cubicBezTo>
                  <a:pt x="103912" y="99715"/>
                  <a:pt x="104775" y="104537"/>
                  <a:pt x="104775" y="109537"/>
                </a:cubicBezTo>
                <a:cubicBezTo>
                  <a:pt x="104775" y="133201"/>
                  <a:pt x="85576" y="152400"/>
                  <a:pt x="61912" y="152400"/>
                </a:cubicBezTo>
                <a:cubicBezTo>
                  <a:pt x="59293" y="152400"/>
                  <a:pt x="57150" y="150257"/>
                  <a:pt x="57150" y="147638"/>
                </a:cubicBezTo>
                <a:lnTo>
                  <a:pt x="57150" y="102334"/>
                </a:lnTo>
                <a:cubicBezTo>
                  <a:pt x="52685" y="103912"/>
                  <a:pt x="47863" y="104775"/>
                  <a:pt x="42863" y="104775"/>
                </a:cubicBezTo>
                <a:cubicBezTo>
                  <a:pt x="19199" y="104775"/>
                  <a:pt x="0" y="85576"/>
                  <a:pt x="0" y="61912"/>
                </a:cubicBezTo>
                <a:cubicBezTo>
                  <a:pt x="0" y="59293"/>
                  <a:pt x="2143" y="57150"/>
                  <a:pt x="4763" y="57150"/>
                </a:cubicBezTo>
                <a:lnTo>
                  <a:pt x="50066" y="57150"/>
                </a:lnTo>
                <a:cubicBezTo>
                  <a:pt x="48488" y="52685"/>
                  <a:pt x="47625" y="47863"/>
                  <a:pt x="47625" y="42863"/>
                </a:cubicBezTo>
                <a:close/>
                <a:moveTo>
                  <a:pt x="76200" y="85725"/>
                </a:moveTo>
                <a:cubicBezTo>
                  <a:pt x="81457" y="85725"/>
                  <a:pt x="85725" y="81457"/>
                  <a:pt x="85725" y="76200"/>
                </a:cubicBezTo>
                <a:cubicBezTo>
                  <a:pt x="85725" y="70943"/>
                  <a:pt x="81457" y="66675"/>
                  <a:pt x="76200" y="66675"/>
                </a:cubicBezTo>
                <a:cubicBezTo>
                  <a:pt x="70943" y="66675"/>
                  <a:pt x="66675" y="70943"/>
                  <a:pt x="66675" y="76200"/>
                </a:cubicBezTo>
                <a:cubicBezTo>
                  <a:pt x="66675" y="81457"/>
                  <a:pt x="70943" y="85725"/>
                  <a:pt x="76200" y="85725"/>
                </a:cubicBezTo>
                <a:close/>
              </a:path>
            </a:pathLst>
          </a:custGeom>
          <a:solidFill>
            <a:srgbClr val="6366F1"/>
          </a:solidFill>
          <a:ln/>
        </p:spPr>
      </p:sp>
      <p:sp>
        <p:nvSpPr>
          <p:cNvPr id="31" name="Text 29"/>
          <p:cNvSpPr/>
          <p:nvPr/>
        </p:nvSpPr>
        <p:spPr>
          <a:xfrm>
            <a:off x="4947881" y="3585214"/>
            <a:ext cx="12763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Cooling System</a:t>
            </a:r>
            <a:endParaRPr lang="en-US" sz="1600" dirty="0"/>
          </a:p>
        </p:txBody>
      </p:sp>
      <p:sp>
        <p:nvSpPr>
          <p:cNvPr id="32" name="Text 30"/>
          <p:cNvSpPr/>
          <p:nvPr/>
        </p:nvSpPr>
        <p:spPr>
          <a:xfrm>
            <a:off x="4452580" y="4023364"/>
            <a:ext cx="3362325"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Fans and heat sinks prevent overheating by dissipating heat from CPU and components</a:t>
            </a:r>
            <a:endParaRPr lang="en-US" sz="1600" dirty="0"/>
          </a:p>
        </p:txBody>
      </p:sp>
      <p:sp>
        <p:nvSpPr>
          <p:cNvPr id="33" name="Text 31"/>
          <p:cNvSpPr/>
          <p:nvPr/>
        </p:nvSpPr>
        <p:spPr>
          <a:xfrm>
            <a:off x="4452580" y="4556764"/>
            <a:ext cx="3362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Importance:</a:t>
            </a:r>
            <a:r>
              <a:rPr lang="en-US" sz="1200" dirty="0">
                <a:solidFill>
                  <a:srgbClr val="EFEFEF"/>
                </a:solidFill>
                <a:latin typeface="Liter" pitchFamily="34" charset="0"/>
                <a:ea typeface="Liter" pitchFamily="34" charset="-122"/>
                <a:cs typeface="Liter" pitchFamily="34" charset="-120"/>
              </a:rPr>
              <a:t> Keeps system stable and reliable</a:t>
            </a:r>
            <a:endParaRPr lang="en-US" sz="1600" dirty="0"/>
          </a:p>
        </p:txBody>
      </p:sp>
      <p:sp>
        <p:nvSpPr>
          <p:cNvPr id="34" name="Shape 32"/>
          <p:cNvSpPr/>
          <p:nvPr/>
        </p:nvSpPr>
        <p:spPr>
          <a:xfrm>
            <a:off x="8131731" y="3333756"/>
            <a:ext cx="3674745" cy="1874520"/>
          </a:xfrm>
          <a:custGeom>
            <a:avLst/>
            <a:gdLst/>
            <a:ahLst/>
            <a:cxnLst/>
            <a:rect l="l" t="t" r="r" b="b"/>
            <a:pathLst>
              <a:path w="3674745" h="1874520">
                <a:moveTo>
                  <a:pt x="114308" y="0"/>
                </a:moveTo>
                <a:lnTo>
                  <a:pt x="3560437" y="0"/>
                </a:lnTo>
                <a:cubicBezTo>
                  <a:pt x="3623567" y="0"/>
                  <a:pt x="3674745" y="51178"/>
                  <a:pt x="3674745" y="114308"/>
                </a:cubicBezTo>
                <a:lnTo>
                  <a:pt x="3674745" y="1760212"/>
                </a:lnTo>
                <a:cubicBezTo>
                  <a:pt x="3674745" y="1823342"/>
                  <a:pt x="3623567" y="1874520"/>
                  <a:pt x="3560437" y="1874520"/>
                </a:cubicBezTo>
                <a:lnTo>
                  <a:pt x="114308" y="1874520"/>
                </a:lnTo>
                <a:cubicBezTo>
                  <a:pt x="51178" y="1874520"/>
                  <a:pt x="0" y="1823342"/>
                  <a:pt x="0" y="1760212"/>
                </a:cubicBezTo>
                <a:lnTo>
                  <a:pt x="0" y="114308"/>
                </a:lnTo>
                <a:cubicBezTo>
                  <a:pt x="0" y="51220"/>
                  <a:pt x="51220" y="0"/>
                  <a:pt x="114308" y="0"/>
                </a:cubicBezTo>
                <a:close/>
              </a:path>
            </a:pathLst>
          </a:custGeom>
          <a:solidFill>
            <a:srgbClr val="262626"/>
          </a:solidFill>
          <a:ln w="10160">
            <a:solidFill>
              <a:srgbClr val="333333"/>
            </a:solidFill>
            <a:prstDash val="solid"/>
          </a:ln>
        </p:spPr>
      </p:sp>
      <p:sp>
        <p:nvSpPr>
          <p:cNvPr id="35" name="Shape 33"/>
          <p:cNvSpPr/>
          <p:nvPr/>
        </p:nvSpPr>
        <p:spPr>
          <a:xfrm>
            <a:off x="8326041" y="3528064"/>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36" name="Shape 34"/>
          <p:cNvSpPr/>
          <p:nvPr/>
        </p:nvSpPr>
        <p:spPr>
          <a:xfrm>
            <a:off x="8449866" y="3642364"/>
            <a:ext cx="133350" cy="152400"/>
          </a:xfrm>
          <a:custGeom>
            <a:avLst/>
            <a:gdLst/>
            <a:ahLst/>
            <a:cxnLst/>
            <a:rect l="l" t="t" r="r" b="b"/>
            <a:pathLst>
              <a:path w="133350" h="152400">
                <a:moveTo>
                  <a:pt x="38100" y="-9525"/>
                </a:moveTo>
                <a:cubicBezTo>
                  <a:pt x="43369" y="-9525"/>
                  <a:pt x="47625" y="-5269"/>
                  <a:pt x="47625" y="0"/>
                </a:cubicBezTo>
                <a:lnTo>
                  <a:pt x="47625" y="28575"/>
                </a:lnTo>
                <a:lnTo>
                  <a:pt x="85725" y="28575"/>
                </a:lnTo>
                <a:lnTo>
                  <a:pt x="85725" y="0"/>
                </a:lnTo>
                <a:cubicBezTo>
                  <a:pt x="85725" y="-5269"/>
                  <a:pt x="89981" y="-9525"/>
                  <a:pt x="95250" y="-9525"/>
                </a:cubicBezTo>
                <a:cubicBezTo>
                  <a:pt x="100519" y="-9525"/>
                  <a:pt x="104775" y="-5269"/>
                  <a:pt x="104775" y="0"/>
                </a:cubicBezTo>
                <a:lnTo>
                  <a:pt x="104775" y="28575"/>
                </a:lnTo>
                <a:lnTo>
                  <a:pt x="123825" y="28575"/>
                </a:lnTo>
                <a:cubicBezTo>
                  <a:pt x="129094" y="28575"/>
                  <a:pt x="133350" y="32831"/>
                  <a:pt x="133350" y="38100"/>
                </a:cubicBezTo>
                <a:cubicBezTo>
                  <a:pt x="133350" y="43369"/>
                  <a:pt x="129094" y="47625"/>
                  <a:pt x="123825" y="47625"/>
                </a:cubicBezTo>
                <a:lnTo>
                  <a:pt x="123825" y="66675"/>
                </a:lnTo>
                <a:cubicBezTo>
                  <a:pt x="123825" y="94982"/>
                  <a:pt x="103227" y="118497"/>
                  <a:pt x="76200" y="123021"/>
                </a:cubicBezTo>
                <a:lnTo>
                  <a:pt x="76200" y="142875"/>
                </a:lnTo>
                <a:cubicBezTo>
                  <a:pt x="76200" y="148144"/>
                  <a:pt x="71944" y="152400"/>
                  <a:pt x="66675" y="152400"/>
                </a:cubicBezTo>
                <a:cubicBezTo>
                  <a:pt x="61406" y="152400"/>
                  <a:pt x="57150" y="148144"/>
                  <a:pt x="57150" y="142875"/>
                </a:cubicBezTo>
                <a:lnTo>
                  <a:pt x="57150" y="123021"/>
                </a:lnTo>
                <a:cubicBezTo>
                  <a:pt x="30123" y="118497"/>
                  <a:pt x="9525" y="94982"/>
                  <a:pt x="9525" y="66675"/>
                </a:cubicBezTo>
                <a:lnTo>
                  <a:pt x="9525" y="47625"/>
                </a:lnTo>
                <a:cubicBezTo>
                  <a:pt x="4256" y="47625"/>
                  <a:pt x="0" y="43369"/>
                  <a:pt x="0" y="38100"/>
                </a:cubicBezTo>
                <a:cubicBezTo>
                  <a:pt x="0" y="32831"/>
                  <a:pt x="4256" y="28575"/>
                  <a:pt x="9525" y="28575"/>
                </a:cubicBezTo>
                <a:lnTo>
                  <a:pt x="28575" y="28575"/>
                </a:lnTo>
                <a:lnTo>
                  <a:pt x="28575" y="0"/>
                </a:lnTo>
                <a:cubicBezTo>
                  <a:pt x="28575" y="-5269"/>
                  <a:pt x="32831" y="-9525"/>
                  <a:pt x="38100" y="-9525"/>
                </a:cubicBezTo>
                <a:close/>
              </a:path>
            </a:pathLst>
          </a:custGeom>
          <a:solidFill>
            <a:srgbClr val="6366F1"/>
          </a:solidFill>
          <a:ln/>
        </p:spPr>
      </p:sp>
      <p:sp>
        <p:nvSpPr>
          <p:cNvPr id="37" name="Text 35"/>
          <p:cNvSpPr/>
          <p:nvPr/>
        </p:nvSpPr>
        <p:spPr>
          <a:xfrm>
            <a:off x="8821341" y="3585214"/>
            <a:ext cx="13525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Expansion Cards</a:t>
            </a:r>
            <a:endParaRPr lang="en-US" sz="1600" dirty="0"/>
          </a:p>
        </p:txBody>
      </p:sp>
      <p:sp>
        <p:nvSpPr>
          <p:cNvPr id="38" name="Text 36"/>
          <p:cNvSpPr/>
          <p:nvPr/>
        </p:nvSpPr>
        <p:spPr>
          <a:xfrm>
            <a:off x="8326041" y="4023364"/>
            <a:ext cx="3362325"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Graphics cards, sound cards, and network cards add extra capabilities to the computer</a:t>
            </a:r>
            <a:endParaRPr lang="en-US" sz="1600" dirty="0"/>
          </a:p>
        </p:txBody>
      </p:sp>
      <p:sp>
        <p:nvSpPr>
          <p:cNvPr id="39" name="Text 37"/>
          <p:cNvSpPr/>
          <p:nvPr/>
        </p:nvSpPr>
        <p:spPr>
          <a:xfrm>
            <a:off x="8326041" y="4556764"/>
            <a:ext cx="3362325" cy="4572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Gaming requires powerful graphics cards</a:t>
            </a:r>
            <a:endParaRPr lang="en-US" sz="1600" dirty="0"/>
          </a:p>
        </p:txBody>
      </p:sp>
      <p:sp>
        <p:nvSpPr>
          <p:cNvPr id="40" name="Shape 38"/>
          <p:cNvSpPr/>
          <p:nvPr/>
        </p:nvSpPr>
        <p:spPr>
          <a:xfrm>
            <a:off x="384810" y="5368292"/>
            <a:ext cx="11418570" cy="769620"/>
          </a:xfrm>
          <a:custGeom>
            <a:avLst/>
            <a:gdLst/>
            <a:ahLst/>
            <a:cxnLst/>
            <a:rect l="l" t="t" r="r" b="b"/>
            <a:pathLst>
              <a:path w="11418570" h="769620">
                <a:moveTo>
                  <a:pt x="76200" y="0"/>
                </a:moveTo>
                <a:lnTo>
                  <a:pt x="11342370" y="0"/>
                </a:lnTo>
                <a:cubicBezTo>
                  <a:pt x="11384454" y="0"/>
                  <a:pt x="11418570" y="34116"/>
                  <a:pt x="11418570" y="76200"/>
                </a:cubicBezTo>
                <a:lnTo>
                  <a:pt x="11418570" y="693420"/>
                </a:lnTo>
                <a:cubicBezTo>
                  <a:pt x="11418570" y="735504"/>
                  <a:pt x="11384454" y="769620"/>
                  <a:pt x="11342370"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41" name="Text 39"/>
          <p:cNvSpPr/>
          <p:nvPr/>
        </p:nvSpPr>
        <p:spPr>
          <a:xfrm>
            <a:off x="541020" y="5524500"/>
            <a:ext cx="1118235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When you open a game, the CPU processes graphics, RAM stores game data temporarily, the graphics card renders images, and the cooling system keeps everything from overheating!</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384810" y="384810"/>
            <a:ext cx="4427220" cy="4398645"/>
          </a:xfrm>
          <a:custGeom>
            <a:avLst/>
            <a:gdLst/>
            <a:ahLst/>
            <a:cxnLst/>
            <a:rect l="l" t="t" r="r" b="b"/>
            <a:pathLst>
              <a:path w="4427220" h="4398645">
                <a:moveTo>
                  <a:pt x="114321" y="0"/>
                </a:moveTo>
                <a:lnTo>
                  <a:pt x="4312899" y="0"/>
                </a:lnTo>
                <a:cubicBezTo>
                  <a:pt x="4376037" y="0"/>
                  <a:pt x="4427220" y="51183"/>
                  <a:pt x="4427220" y="114321"/>
                </a:cubicBezTo>
                <a:lnTo>
                  <a:pt x="4427220" y="4284324"/>
                </a:lnTo>
                <a:cubicBezTo>
                  <a:pt x="4427220" y="4347462"/>
                  <a:pt x="4376037" y="4398645"/>
                  <a:pt x="4312899" y="4398645"/>
                </a:cubicBezTo>
                <a:lnTo>
                  <a:pt x="114321" y="4398645"/>
                </a:lnTo>
                <a:cubicBezTo>
                  <a:pt x="51183" y="4398645"/>
                  <a:pt x="0" y="4347462"/>
                  <a:pt x="0" y="4284324"/>
                </a:cubicBezTo>
                <a:lnTo>
                  <a:pt x="0" y="114321"/>
                </a:lnTo>
                <a:cubicBezTo>
                  <a:pt x="0" y="51225"/>
                  <a:pt x="51225" y="0"/>
                  <a:pt x="114321" y="0"/>
                </a:cubicBezTo>
                <a:close/>
              </a:path>
            </a:pathLst>
          </a:custGeom>
          <a:solidFill>
            <a:srgbClr val="262626"/>
          </a:solidFill>
          <a:ln w="10160">
            <a:solidFill>
              <a:srgbClr val="333333"/>
            </a:solidFill>
            <a:prstDash val="solid"/>
          </a:ln>
        </p:spPr>
      </p:sp>
      <p:sp>
        <p:nvSpPr>
          <p:cNvPr id="3" name="Shape 1"/>
          <p:cNvSpPr/>
          <p:nvPr/>
        </p:nvSpPr>
        <p:spPr>
          <a:xfrm>
            <a:off x="2141101" y="1764032"/>
            <a:ext cx="914400" cy="914400"/>
          </a:xfrm>
          <a:custGeom>
            <a:avLst/>
            <a:gdLst/>
            <a:ahLst/>
            <a:cxnLst/>
            <a:rect l="l" t="t" r="r" b="b"/>
            <a:pathLst>
              <a:path w="914400" h="914400">
                <a:moveTo>
                  <a:pt x="114300" y="57150"/>
                </a:moveTo>
                <a:cubicBezTo>
                  <a:pt x="51256" y="57150"/>
                  <a:pt x="0" y="108406"/>
                  <a:pt x="0" y="171450"/>
                </a:cubicBezTo>
                <a:lnTo>
                  <a:pt x="0" y="628650"/>
                </a:lnTo>
                <a:cubicBezTo>
                  <a:pt x="0" y="691694"/>
                  <a:pt x="51256" y="742950"/>
                  <a:pt x="114300" y="742950"/>
                </a:cubicBezTo>
                <a:lnTo>
                  <a:pt x="371475" y="742950"/>
                </a:lnTo>
                <a:lnTo>
                  <a:pt x="342900" y="828675"/>
                </a:lnTo>
                <a:lnTo>
                  <a:pt x="214313" y="828675"/>
                </a:lnTo>
                <a:cubicBezTo>
                  <a:pt x="190560" y="828675"/>
                  <a:pt x="171450" y="847785"/>
                  <a:pt x="171450" y="871538"/>
                </a:cubicBezTo>
                <a:cubicBezTo>
                  <a:pt x="171450" y="895290"/>
                  <a:pt x="190560" y="914400"/>
                  <a:pt x="214313" y="914400"/>
                </a:cubicBezTo>
                <a:lnTo>
                  <a:pt x="700088" y="914400"/>
                </a:lnTo>
                <a:cubicBezTo>
                  <a:pt x="723840" y="914400"/>
                  <a:pt x="742950" y="895290"/>
                  <a:pt x="742950" y="871538"/>
                </a:cubicBezTo>
                <a:cubicBezTo>
                  <a:pt x="742950" y="847785"/>
                  <a:pt x="723840" y="828675"/>
                  <a:pt x="700088" y="828675"/>
                </a:cubicBezTo>
                <a:lnTo>
                  <a:pt x="571500" y="828675"/>
                </a:lnTo>
                <a:lnTo>
                  <a:pt x="542925" y="742950"/>
                </a:lnTo>
                <a:lnTo>
                  <a:pt x="800100" y="742950"/>
                </a:lnTo>
                <a:cubicBezTo>
                  <a:pt x="863144" y="742950"/>
                  <a:pt x="914400" y="691694"/>
                  <a:pt x="914400" y="628650"/>
                </a:cubicBezTo>
                <a:lnTo>
                  <a:pt x="914400" y="171450"/>
                </a:lnTo>
                <a:cubicBezTo>
                  <a:pt x="914400" y="108406"/>
                  <a:pt x="863144" y="57150"/>
                  <a:pt x="800100" y="57150"/>
                </a:cubicBezTo>
                <a:lnTo>
                  <a:pt x="114300" y="57150"/>
                </a:lnTo>
                <a:close/>
                <a:moveTo>
                  <a:pt x="171450" y="171450"/>
                </a:moveTo>
                <a:lnTo>
                  <a:pt x="742950" y="171450"/>
                </a:lnTo>
                <a:cubicBezTo>
                  <a:pt x="774561" y="171450"/>
                  <a:pt x="800100" y="196989"/>
                  <a:pt x="800100" y="228600"/>
                </a:cubicBezTo>
                <a:lnTo>
                  <a:pt x="800100" y="514350"/>
                </a:lnTo>
                <a:cubicBezTo>
                  <a:pt x="800100" y="545961"/>
                  <a:pt x="774561" y="571500"/>
                  <a:pt x="742950" y="571500"/>
                </a:cubicBezTo>
                <a:lnTo>
                  <a:pt x="171450" y="571500"/>
                </a:lnTo>
                <a:cubicBezTo>
                  <a:pt x="139839" y="571500"/>
                  <a:pt x="114300" y="545961"/>
                  <a:pt x="114300" y="514350"/>
                </a:cubicBezTo>
                <a:lnTo>
                  <a:pt x="114300" y="228600"/>
                </a:lnTo>
                <a:cubicBezTo>
                  <a:pt x="114300" y="196989"/>
                  <a:pt x="139839" y="171450"/>
                  <a:pt x="171450" y="171450"/>
                </a:cubicBezTo>
                <a:close/>
              </a:path>
            </a:pathLst>
          </a:custGeom>
          <a:solidFill>
            <a:srgbClr val="6366F1"/>
          </a:solidFill>
          <a:ln/>
        </p:spPr>
      </p:sp>
      <p:sp>
        <p:nvSpPr>
          <p:cNvPr id="4" name="Text 2"/>
          <p:cNvSpPr/>
          <p:nvPr/>
        </p:nvSpPr>
        <p:spPr>
          <a:xfrm>
            <a:off x="1674019" y="2830832"/>
            <a:ext cx="184785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Desktop Computer</a:t>
            </a:r>
            <a:endParaRPr lang="en-US" sz="1600" dirty="0"/>
          </a:p>
        </p:txBody>
      </p:sp>
      <p:sp>
        <p:nvSpPr>
          <p:cNvPr id="5" name="Text 3"/>
          <p:cNvSpPr/>
          <p:nvPr/>
        </p:nvSpPr>
        <p:spPr>
          <a:xfrm>
            <a:off x="1683544" y="3173732"/>
            <a:ext cx="1828800"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Powerful and upgradeable</a:t>
            </a:r>
            <a:endParaRPr lang="en-US" sz="1600" dirty="0"/>
          </a:p>
        </p:txBody>
      </p:sp>
      <p:sp>
        <p:nvSpPr>
          <p:cNvPr id="6" name="Shape 4"/>
          <p:cNvSpPr/>
          <p:nvPr/>
        </p:nvSpPr>
        <p:spPr>
          <a:xfrm>
            <a:off x="384810" y="4941574"/>
            <a:ext cx="4427220" cy="1531620"/>
          </a:xfrm>
          <a:custGeom>
            <a:avLst/>
            <a:gdLst/>
            <a:ahLst/>
            <a:cxnLst/>
            <a:rect l="l" t="t" r="r" b="b"/>
            <a:pathLst>
              <a:path w="4427220" h="1531620">
                <a:moveTo>
                  <a:pt x="76198" y="0"/>
                </a:moveTo>
                <a:lnTo>
                  <a:pt x="4351022" y="0"/>
                </a:lnTo>
                <a:cubicBezTo>
                  <a:pt x="4393105" y="0"/>
                  <a:pt x="4427220" y="34115"/>
                  <a:pt x="4427220" y="76198"/>
                </a:cubicBezTo>
                <a:lnTo>
                  <a:pt x="4427220" y="1455422"/>
                </a:lnTo>
                <a:cubicBezTo>
                  <a:pt x="4427220" y="1497505"/>
                  <a:pt x="4393105" y="1531620"/>
                  <a:pt x="435102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7" name="Text 5"/>
          <p:cNvSpPr/>
          <p:nvPr/>
        </p:nvSpPr>
        <p:spPr>
          <a:xfrm>
            <a:off x="541020" y="5097782"/>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8" name="Text 6"/>
          <p:cNvSpPr/>
          <p:nvPr/>
        </p:nvSpPr>
        <p:spPr>
          <a:xfrm>
            <a:off x="541020" y="5402582"/>
            <a:ext cx="41910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Desktop computers are like powerful workstations. They offer the best performance for the price and can be customized with better parts over time, making them ideal for demanding tasks.</a:t>
            </a:r>
            <a:endParaRPr lang="en-US" sz="1600" dirty="0"/>
          </a:p>
        </p:txBody>
      </p:sp>
      <p:sp>
        <p:nvSpPr>
          <p:cNvPr id="9" name="Text 7"/>
          <p:cNvSpPr/>
          <p:nvPr/>
        </p:nvSpPr>
        <p:spPr>
          <a:xfrm>
            <a:off x="504444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3.2</a:t>
            </a:r>
            <a:endParaRPr lang="en-US" sz="1600" dirty="0"/>
          </a:p>
        </p:txBody>
      </p:sp>
      <p:sp>
        <p:nvSpPr>
          <p:cNvPr id="10" name="Text 8"/>
          <p:cNvSpPr/>
          <p:nvPr/>
        </p:nvSpPr>
        <p:spPr>
          <a:xfrm>
            <a:off x="504444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Desktop Computers</a:t>
            </a:r>
            <a:endParaRPr lang="en-US" sz="1600" dirty="0"/>
          </a:p>
        </p:txBody>
      </p:sp>
      <p:sp>
        <p:nvSpPr>
          <p:cNvPr id="11" name="Shape 9"/>
          <p:cNvSpPr/>
          <p:nvPr/>
        </p:nvSpPr>
        <p:spPr>
          <a:xfrm>
            <a:off x="504444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2" name="Shape 10"/>
          <p:cNvSpPr/>
          <p:nvPr/>
        </p:nvSpPr>
        <p:spPr>
          <a:xfrm>
            <a:off x="5140881" y="1457325"/>
            <a:ext cx="116681" cy="133350"/>
          </a:xfrm>
          <a:custGeom>
            <a:avLst/>
            <a:gdLst/>
            <a:ahLst/>
            <a:cxnLst/>
            <a:rect l="l" t="t" r="r" b="b"/>
            <a:pathLst>
              <a:path w="116681" h="133350">
                <a:moveTo>
                  <a:pt x="96210" y="33337"/>
                </a:moveTo>
                <a:lnTo>
                  <a:pt x="87277" y="20836"/>
                </a:lnTo>
                <a:lnTo>
                  <a:pt x="29431" y="20836"/>
                </a:lnTo>
                <a:lnTo>
                  <a:pt x="20497" y="33337"/>
                </a:lnTo>
                <a:lnTo>
                  <a:pt x="96210" y="33337"/>
                </a:lnTo>
                <a:close/>
                <a:moveTo>
                  <a:pt x="0" y="38677"/>
                </a:moveTo>
                <a:cubicBezTo>
                  <a:pt x="0" y="35213"/>
                  <a:pt x="1094" y="31827"/>
                  <a:pt x="3099" y="28988"/>
                </a:cubicBezTo>
                <a:lnTo>
                  <a:pt x="15861" y="11147"/>
                </a:lnTo>
                <a:cubicBezTo>
                  <a:pt x="18987" y="6772"/>
                  <a:pt x="24039" y="4167"/>
                  <a:pt x="29405" y="4167"/>
                </a:cubicBezTo>
                <a:lnTo>
                  <a:pt x="87250" y="4167"/>
                </a:lnTo>
                <a:cubicBezTo>
                  <a:pt x="92642" y="4167"/>
                  <a:pt x="97695" y="6772"/>
                  <a:pt x="100820" y="11147"/>
                </a:cubicBezTo>
                <a:lnTo>
                  <a:pt x="113556" y="28988"/>
                </a:lnTo>
                <a:cubicBezTo>
                  <a:pt x="115587" y="31827"/>
                  <a:pt x="116655" y="35213"/>
                  <a:pt x="116655" y="38677"/>
                </a:cubicBezTo>
                <a:lnTo>
                  <a:pt x="116681" y="108347"/>
                </a:lnTo>
                <a:cubicBezTo>
                  <a:pt x="116681" y="117541"/>
                  <a:pt x="109206" y="125016"/>
                  <a:pt x="100013" y="125016"/>
                </a:cubicBezTo>
                <a:lnTo>
                  <a:pt x="16669" y="125016"/>
                </a:lnTo>
                <a:cubicBezTo>
                  <a:pt x="7475" y="125016"/>
                  <a:pt x="0" y="117541"/>
                  <a:pt x="0" y="108347"/>
                </a:cubicBezTo>
                <a:lnTo>
                  <a:pt x="0" y="38677"/>
                </a:lnTo>
                <a:close/>
              </a:path>
            </a:pathLst>
          </a:custGeom>
          <a:solidFill>
            <a:srgbClr val="6366F1"/>
          </a:solidFill>
          <a:ln/>
        </p:spPr>
      </p:sp>
      <p:sp>
        <p:nvSpPr>
          <p:cNvPr id="13" name="Text 11"/>
          <p:cNvSpPr/>
          <p:nvPr/>
        </p:nvSpPr>
        <p:spPr>
          <a:xfrm>
            <a:off x="5463540" y="13335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What They Are</a:t>
            </a:r>
            <a:endParaRPr lang="en-US" sz="1600" dirty="0"/>
          </a:p>
        </p:txBody>
      </p:sp>
      <p:sp>
        <p:nvSpPr>
          <p:cNvPr id="14" name="Text 12"/>
          <p:cNvSpPr/>
          <p:nvPr/>
        </p:nvSpPr>
        <p:spPr>
          <a:xfrm>
            <a:off x="5463540" y="16002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Personal computers designed to stay in one place, consisting of a tower case, monitor, keyboard, and mouse</a:t>
            </a:r>
            <a:endParaRPr lang="en-US" sz="1600" dirty="0"/>
          </a:p>
        </p:txBody>
      </p:sp>
      <p:sp>
        <p:nvSpPr>
          <p:cNvPr id="15" name="Shape 13"/>
          <p:cNvSpPr/>
          <p:nvPr/>
        </p:nvSpPr>
        <p:spPr>
          <a:xfrm>
            <a:off x="5044440" y="2209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6" name="Shape 14"/>
          <p:cNvSpPr/>
          <p:nvPr/>
        </p:nvSpPr>
        <p:spPr>
          <a:xfrm>
            <a:off x="5140881" y="2295525"/>
            <a:ext cx="116681" cy="133350"/>
          </a:xfrm>
          <a:custGeom>
            <a:avLst/>
            <a:gdLst/>
            <a:ahLst/>
            <a:cxnLst/>
            <a:rect l="l" t="t" r="r" b="b"/>
            <a:pathLst>
              <a:path w="116681" h="133350">
                <a:moveTo>
                  <a:pt x="88240" y="-2578"/>
                </a:moveTo>
                <a:cubicBezTo>
                  <a:pt x="91340" y="-339"/>
                  <a:pt x="92486" y="3724"/>
                  <a:pt x="91079" y="7267"/>
                </a:cubicBezTo>
                <a:lnTo>
                  <a:pt x="70660" y="58341"/>
                </a:lnTo>
                <a:lnTo>
                  <a:pt x="108347" y="58341"/>
                </a:lnTo>
                <a:cubicBezTo>
                  <a:pt x="111863" y="58341"/>
                  <a:pt x="114988" y="60528"/>
                  <a:pt x="116186" y="63836"/>
                </a:cubicBezTo>
                <a:cubicBezTo>
                  <a:pt x="117384" y="67144"/>
                  <a:pt x="116369" y="70842"/>
                  <a:pt x="113686" y="73082"/>
                </a:cubicBezTo>
                <a:lnTo>
                  <a:pt x="38677" y="135590"/>
                </a:lnTo>
                <a:cubicBezTo>
                  <a:pt x="35734" y="138038"/>
                  <a:pt x="31540" y="138168"/>
                  <a:pt x="28441" y="135928"/>
                </a:cubicBezTo>
                <a:cubicBezTo>
                  <a:pt x="25342" y="133689"/>
                  <a:pt x="24196" y="129626"/>
                  <a:pt x="25602" y="126083"/>
                </a:cubicBezTo>
                <a:lnTo>
                  <a:pt x="46021" y="75009"/>
                </a:lnTo>
                <a:lnTo>
                  <a:pt x="8334" y="75009"/>
                </a:lnTo>
                <a:cubicBezTo>
                  <a:pt x="4818" y="75009"/>
                  <a:pt x="1693" y="72822"/>
                  <a:pt x="495" y="69514"/>
                </a:cubicBezTo>
                <a:cubicBezTo>
                  <a:pt x="-703" y="66206"/>
                  <a:pt x="313" y="62508"/>
                  <a:pt x="2995" y="60268"/>
                </a:cubicBezTo>
                <a:lnTo>
                  <a:pt x="78005" y="-2240"/>
                </a:lnTo>
                <a:cubicBezTo>
                  <a:pt x="80948" y="-4688"/>
                  <a:pt x="85141" y="-4818"/>
                  <a:pt x="88240" y="-2578"/>
                </a:cubicBezTo>
                <a:close/>
              </a:path>
            </a:pathLst>
          </a:custGeom>
          <a:solidFill>
            <a:srgbClr val="6366F1"/>
          </a:solidFill>
          <a:ln/>
        </p:spPr>
      </p:sp>
      <p:sp>
        <p:nvSpPr>
          <p:cNvPr id="17" name="Text 15"/>
          <p:cNvSpPr/>
          <p:nvPr/>
        </p:nvSpPr>
        <p:spPr>
          <a:xfrm>
            <a:off x="5463540" y="21717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Powerful Performance</a:t>
            </a:r>
            <a:endParaRPr lang="en-US" sz="1600" dirty="0"/>
          </a:p>
        </p:txBody>
      </p:sp>
      <p:sp>
        <p:nvSpPr>
          <p:cNvPr id="18" name="Text 16"/>
          <p:cNvSpPr/>
          <p:nvPr/>
        </p:nvSpPr>
        <p:spPr>
          <a:xfrm>
            <a:off x="5463540" y="24384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Can handle demanding tasks like video editing, gaming, and software development with high-speed processors</a:t>
            </a:r>
            <a:endParaRPr lang="en-US" sz="1600" dirty="0"/>
          </a:p>
        </p:txBody>
      </p:sp>
      <p:sp>
        <p:nvSpPr>
          <p:cNvPr id="19" name="Shape 17"/>
          <p:cNvSpPr/>
          <p:nvPr/>
        </p:nvSpPr>
        <p:spPr>
          <a:xfrm>
            <a:off x="5044440" y="3048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0" name="Shape 18"/>
          <p:cNvSpPr/>
          <p:nvPr/>
        </p:nvSpPr>
        <p:spPr>
          <a:xfrm>
            <a:off x="5124212" y="3133725"/>
            <a:ext cx="150019" cy="133350"/>
          </a:xfrm>
          <a:custGeom>
            <a:avLst/>
            <a:gdLst/>
            <a:ahLst/>
            <a:cxnLst/>
            <a:rect l="l" t="t" r="r" b="b"/>
            <a:pathLst>
              <a:path w="150019" h="133350">
                <a:moveTo>
                  <a:pt x="132673" y="25680"/>
                </a:moveTo>
                <a:cubicBezTo>
                  <a:pt x="134652" y="23701"/>
                  <a:pt x="137960" y="24196"/>
                  <a:pt x="138950" y="26800"/>
                </a:cubicBezTo>
                <a:cubicBezTo>
                  <a:pt x="140721" y="31410"/>
                  <a:pt x="141684" y="36437"/>
                  <a:pt x="141684" y="41672"/>
                </a:cubicBezTo>
                <a:cubicBezTo>
                  <a:pt x="141684" y="64696"/>
                  <a:pt x="123036" y="83344"/>
                  <a:pt x="100013" y="83344"/>
                </a:cubicBezTo>
                <a:cubicBezTo>
                  <a:pt x="95455" y="83344"/>
                  <a:pt x="91053" y="82614"/>
                  <a:pt x="86938" y="81260"/>
                </a:cubicBezTo>
                <a:lnTo>
                  <a:pt x="38260" y="129938"/>
                </a:lnTo>
                <a:cubicBezTo>
                  <a:pt x="30941" y="137257"/>
                  <a:pt x="19065" y="137257"/>
                  <a:pt x="11746" y="129938"/>
                </a:cubicBezTo>
                <a:cubicBezTo>
                  <a:pt x="4428" y="122619"/>
                  <a:pt x="4428" y="110743"/>
                  <a:pt x="11746" y="103424"/>
                </a:cubicBezTo>
                <a:lnTo>
                  <a:pt x="60424" y="54746"/>
                </a:lnTo>
                <a:cubicBezTo>
                  <a:pt x="59070" y="50631"/>
                  <a:pt x="58341" y="46256"/>
                  <a:pt x="58341" y="41672"/>
                </a:cubicBezTo>
                <a:cubicBezTo>
                  <a:pt x="58341" y="18648"/>
                  <a:pt x="76989" y="0"/>
                  <a:pt x="100013" y="0"/>
                </a:cubicBezTo>
                <a:cubicBezTo>
                  <a:pt x="105248" y="0"/>
                  <a:pt x="110274" y="964"/>
                  <a:pt x="114884" y="2735"/>
                </a:cubicBezTo>
                <a:cubicBezTo>
                  <a:pt x="117489" y="3724"/>
                  <a:pt x="117957" y="7032"/>
                  <a:pt x="116004" y="9012"/>
                </a:cubicBezTo>
                <a:lnTo>
                  <a:pt x="92902" y="32113"/>
                </a:lnTo>
                <a:cubicBezTo>
                  <a:pt x="92121" y="32895"/>
                  <a:pt x="91678" y="33963"/>
                  <a:pt x="91678" y="35056"/>
                </a:cubicBezTo>
                <a:lnTo>
                  <a:pt x="91678" y="45839"/>
                </a:lnTo>
                <a:cubicBezTo>
                  <a:pt x="91678" y="48131"/>
                  <a:pt x="93553" y="50006"/>
                  <a:pt x="95845" y="50006"/>
                </a:cubicBezTo>
                <a:lnTo>
                  <a:pt x="106628" y="50006"/>
                </a:lnTo>
                <a:cubicBezTo>
                  <a:pt x="107722" y="50006"/>
                  <a:pt x="108790" y="49563"/>
                  <a:pt x="109571" y="48782"/>
                </a:cubicBezTo>
                <a:lnTo>
                  <a:pt x="132673" y="25680"/>
                </a:lnTo>
                <a:close/>
              </a:path>
            </a:pathLst>
          </a:custGeom>
          <a:solidFill>
            <a:srgbClr val="6366F1"/>
          </a:solidFill>
          <a:ln/>
        </p:spPr>
      </p:sp>
      <p:sp>
        <p:nvSpPr>
          <p:cNvPr id="21" name="Text 19"/>
          <p:cNvSpPr/>
          <p:nvPr/>
        </p:nvSpPr>
        <p:spPr>
          <a:xfrm>
            <a:off x="5463540" y="3009900"/>
            <a:ext cx="58483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Easy to Upgrade</a:t>
            </a:r>
            <a:endParaRPr lang="en-US" sz="1600" dirty="0"/>
          </a:p>
        </p:txBody>
      </p:sp>
      <p:sp>
        <p:nvSpPr>
          <p:cNvPr id="22" name="Text 20"/>
          <p:cNvSpPr/>
          <p:nvPr/>
        </p:nvSpPr>
        <p:spPr>
          <a:xfrm>
            <a:off x="5463540" y="3276600"/>
            <a:ext cx="58483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Add more RAM, replace graphics cards, or install larger storage drives as needs change</a:t>
            </a:r>
            <a:endParaRPr lang="en-US" sz="1600" dirty="0"/>
          </a:p>
        </p:txBody>
      </p:sp>
      <p:sp>
        <p:nvSpPr>
          <p:cNvPr id="23" name="Shape 21"/>
          <p:cNvSpPr/>
          <p:nvPr/>
        </p:nvSpPr>
        <p:spPr>
          <a:xfrm>
            <a:off x="5044440" y="3657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4" name="Shape 22"/>
          <p:cNvSpPr/>
          <p:nvPr/>
        </p:nvSpPr>
        <p:spPr>
          <a:xfrm>
            <a:off x="5157550" y="3743325"/>
            <a:ext cx="83344" cy="133350"/>
          </a:xfrm>
          <a:custGeom>
            <a:avLst/>
            <a:gdLst/>
            <a:ahLst/>
            <a:cxnLst/>
            <a:rect l="l" t="t" r="r" b="b"/>
            <a:pathLst>
              <a:path w="83344" h="133350">
                <a:moveTo>
                  <a:pt x="35421" y="6251"/>
                </a:moveTo>
                <a:cubicBezTo>
                  <a:pt x="35421" y="2787"/>
                  <a:pt x="38208" y="0"/>
                  <a:pt x="41672" y="0"/>
                </a:cubicBezTo>
                <a:cubicBezTo>
                  <a:pt x="45136" y="0"/>
                  <a:pt x="47923" y="2787"/>
                  <a:pt x="47923" y="6251"/>
                </a:cubicBezTo>
                <a:lnTo>
                  <a:pt x="47923" y="16669"/>
                </a:lnTo>
                <a:lnTo>
                  <a:pt x="62508" y="16669"/>
                </a:lnTo>
                <a:cubicBezTo>
                  <a:pt x="67118" y="16669"/>
                  <a:pt x="70842" y="20393"/>
                  <a:pt x="70842" y="25003"/>
                </a:cubicBezTo>
                <a:cubicBezTo>
                  <a:pt x="70842" y="29613"/>
                  <a:pt x="67118" y="33337"/>
                  <a:pt x="62508" y="33337"/>
                </a:cubicBezTo>
                <a:lnTo>
                  <a:pt x="32582" y="33337"/>
                </a:lnTo>
                <a:cubicBezTo>
                  <a:pt x="26097" y="33337"/>
                  <a:pt x="20836" y="38599"/>
                  <a:pt x="20836" y="45084"/>
                </a:cubicBezTo>
                <a:cubicBezTo>
                  <a:pt x="20836" y="50944"/>
                  <a:pt x="25133" y="55892"/>
                  <a:pt x="30915" y="56726"/>
                </a:cubicBezTo>
                <a:lnTo>
                  <a:pt x="54772" y="60138"/>
                </a:lnTo>
                <a:cubicBezTo>
                  <a:pt x="68785" y="62143"/>
                  <a:pt x="79177" y="74124"/>
                  <a:pt x="79177" y="88266"/>
                </a:cubicBezTo>
                <a:cubicBezTo>
                  <a:pt x="79177" y="103971"/>
                  <a:pt x="66441" y="116681"/>
                  <a:pt x="50762" y="116681"/>
                </a:cubicBezTo>
                <a:lnTo>
                  <a:pt x="47923" y="116681"/>
                </a:lnTo>
                <a:lnTo>
                  <a:pt x="47923" y="127099"/>
                </a:lnTo>
                <a:cubicBezTo>
                  <a:pt x="47923" y="130563"/>
                  <a:pt x="45136" y="133350"/>
                  <a:pt x="41672" y="133350"/>
                </a:cubicBezTo>
                <a:cubicBezTo>
                  <a:pt x="38208" y="133350"/>
                  <a:pt x="35421" y="130563"/>
                  <a:pt x="35421" y="127099"/>
                </a:cubicBezTo>
                <a:lnTo>
                  <a:pt x="35421" y="116681"/>
                </a:lnTo>
                <a:lnTo>
                  <a:pt x="16669" y="116681"/>
                </a:lnTo>
                <a:cubicBezTo>
                  <a:pt x="12059" y="116681"/>
                  <a:pt x="8334" y="112957"/>
                  <a:pt x="8334" y="108347"/>
                </a:cubicBezTo>
                <a:cubicBezTo>
                  <a:pt x="8334" y="103737"/>
                  <a:pt x="12059" y="100013"/>
                  <a:pt x="16669" y="100013"/>
                </a:cubicBezTo>
                <a:lnTo>
                  <a:pt x="50762" y="100013"/>
                </a:lnTo>
                <a:cubicBezTo>
                  <a:pt x="57247" y="100013"/>
                  <a:pt x="62508" y="94751"/>
                  <a:pt x="62508" y="88266"/>
                </a:cubicBezTo>
                <a:cubicBezTo>
                  <a:pt x="62508" y="82406"/>
                  <a:pt x="58210" y="77458"/>
                  <a:pt x="52428" y="76624"/>
                </a:cubicBezTo>
                <a:lnTo>
                  <a:pt x="28571" y="73212"/>
                </a:lnTo>
                <a:cubicBezTo>
                  <a:pt x="14559" y="71233"/>
                  <a:pt x="4167" y="59226"/>
                  <a:pt x="4167" y="45084"/>
                </a:cubicBezTo>
                <a:cubicBezTo>
                  <a:pt x="4167" y="29405"/>
                  <a:pt x="16903" y="16669"/>
                  <a:pt x="32582" y="16669"/>
                </a:cubicBezTo>
                <a:lnTo>
                  <a:pt x="35421" y="16669"/>
                </a:lnTo>
                <a:lnTo>
                  <a:pt x="35421" y="6251"/>
                </a:lnTo>
                <a:close/>
              </a:path>
            </a:pathLst>
          </a:custGeom>
          <a:solidFill>
            <a:srgbClr val="6366F1"/>
          </a:solidFill>
          <a:ln/>
        </p:spPr>
      </p:sp>
      <p:sp>
        <p:nvSpPr>
          <p:cNvPr id="25" name="Text 23"/>
          <p:cNvSpPr/>
          <p:nvPr/>
        </p:nvSpPr>
        <p:spPr>
          <a:xfrm>
            <a:off x="5463540" y="3619500"/>
            <a:ext cx="49053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Cost-Effective</a:t>
            </a:r>
            <a:endParaRPr lang="en-US" sz="1600" dirty="0"/>
          </a:p>
        </p:txBody>
      </p:sp>
      <p:sp>
        <p:nvSpPr>
          <p:cNvPr id="26" name="Text 24"/>
          <p:cNvSpPr/>
          <p:nvPr/>
        </p:nvSpPr>
        <p:spPr>
          <a:xfrm>
            <a:off x="5463540" y="3886200"/>
            <a:ext cx="49053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Offer the best performance per dollar compared to other computer types</a:t>
            </a:r>
            <a:endParaRPr lang="en-US" sz="1600" dirty="0"/>
          </a:p>
        </p:txBody>
      </p:sp>
      <p:sp>
        <p:nvSpPr>
          <p:cNvPr id="27" name="Shape 25"/>
          <p:cNvSpPr/>
          <p:nvPr/>
        </p:nvSpPr>
        <p:spPr>
          <a:xfrm>
            <a:off x="5044440" y="42672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8" name="Shape 26"/>
          <p:cNvSpPr/>
          <p:nvPr/>
        </p:nvSpPr>
        <p:spPr>
          <a:xfrm>
            <a:off x="5149215" y="4352925"/>
            <a:ext cx="100013" cy="133350"/>
          </a:xfrm>
          <a:custGeom>
            <a:avLst/>
            <a:gdLst/>
            <a:ahLst/>
            <a:cxnLst/>
            <a:rect l="l" t="t" r="r" b="b"/>
            <a:pathLst>
              <a:path w="100013" h="133350">
                <a:moveTo>
                  <a:pt x="16669" y="0"/>
                </a:moveTo>
                <a:cubicBezTo>
                  <a:pt x="7475" y="0"/>
                  <a:pt x="0" y="7475"/>
                  <a:pt x="0" y="16669"/>
                </a:cubicBezTo>
                <a:lnTo>
                  <a:pt x="0" y="116681"/>
                </a:lnTo>
                <a:cubicBezTo>
                  <a:pt x="0" y="125875"/>
                  <a:pt x="7475" y="133350"/>
                  <a:pt x="16669" y="133350"/>
                </a:cubicBezTo>
                <a:lnTo>
                  <a:pt x="83344" y="133350"/>
                </a:lnTo>
                <a:cubicBezTo>
                  <a:pt x="92538" y="133350"/>
                  <a:pt x="100013" y="125875"/>
                  <a:pt x="100013" y="116681"/>
                </a:cubicBezTo>
                <a:lnTo>
                  <a:pt x="100013" y="16669"/>
                </a:lnTo>
                <a:cubicBezTo>
                  <a:pt x="100013" y="7475"/>
                  <a:pt x="92538" y="0"/>
                  <a:pt x="83344" y="0"/>
                </a:cubicBezTo>
                <a:lnTo>
                  <a:pt x="16669" y="0"/>
                </a:lnTo>
                <a:close/>
                <a:moveTo>
                  <a:pt x="45839" y="91678"/>
                </a:moveTo>
                <a:lnTo>
                  <a:pt x="54173" y="91678"/>
                </a:lnTo>
                <a:cubicBezTo>
                  <a:pt x="58783" y="91678"/>
                  <a:pt x="62508" y="95403"/>
                  <a:pt x="62508" y="100013"/>
                </a:cubicBezTo>
                <a:lnTo>
                  <a:pt x="62508" y="120848"/>
                </a:lnTo>
                <a:lnTo>
                  <a:pt x="37505" y="120848"/>
                </a:lnTo>
                <a:lnTo>
                  <a:pt x="37505" y="100013"/>
                </a:lnTo>
                <a:cubicBezTo>
                  <a:pt x="37505" y="95403"/>
                  <a:pt x="41229" y="91678"/>
                  <a:pt x="45839" y="91678"/>
                </a:cubicBezTo>
                <a:close/>
                <a:moveTo>
                  <a:pt x="25003" y="29170"/>
                </a:moveTo>
                <a:cubicBezTo>
                  <a:pt x="25003" y="26878"/>
                  <a:pt x="26878" y="25003"/>
                  <a:pt x="29170" y="25003"/>
                </a:cubicBezTo>
                <a:lnTo>
                  <a:pt x="37505" y="25003"/>
                </a:lnTo>
                <a:cubicBezTo>
                  <a:pt x="39797" y="25003"/>
                  <a:pt x="41672" y="26878"/>
                  <a:pt x="41672" y="29170"/>
                </a:cubicBezTo>
                <a:lnTo>
                  <a:pt x="41672" y="37505"/>
                </a:lnTo>
                <a:cubicBezTo>
                  <a:pt x="41672" y="39797"/>
                  <a:pt x="39797" y="41672"/>
                  <a:pt x="37505" y="41672"/>
                </a:cubicBezTo>
                <a:lnTo>
                  <a:pt x="29170" y="41672"/>
                </a:lnTo>
                <a:cubicBezTo>
                  <a:pt x="26878" y="41672"/>
                  <a:pt x="25003" y="39797"/>
                  <a:pt x="25003" y="37505"/>
                </a:cubicBezTo>
                <a:lnTo>
                  <a:pt x="25003" y="29170"/>
                </a:lnTo>
                <a:close/>
                <a:moveTo>
                  <a:pt x="62508" y="25003"/>
                </a:moveTo>
                <a:lnTo>
                  <a:pt x="70842" y="25003"/>
                </a:lnTo>
                <a:cubicBezTo>
                  <a:pt x="73134" y="25003"/>
                  <a:pt x="75009" y="26878"/>
                  <a:pt x="75009" y="29170"/>
                </a:cubicBezTo>
                <a:lnTo>
                  <a:pt x="75009" y="37505"/>
                </a:lnTo>
                <a:cubicBezTo>
                  <a:pt x="75009" y="39797"/>
                  <a:pt x="73134" y="41672"/>
                  <a:pt x="70842" y="41672"/>
                </a:cubicBezTo>
                <a:lnTo>
                  <a:pt x="62508" y="41672"/>
                </a:lnTo>
                <a:cubicBezTo>
                  <a:pt x="60216" y="41672"/>
                  <a:pt x="58341" y="39797"/>
                  <a:pt x="58341" y="37505"/>
                </a:cubicBezTo>
                <a:lnTo>
                  <a:pt x="58341" y="29170"/>
                </a:lnTo>
                <a:cubicBezTo>
                  <a:pt x="58341" y="26878"/>
                  <a:pt x="60216" y="25003"/>
                  <a:pt x="62508" y="25003"/>
                </a:cubicBezTo>
                <a:close/>
                <a:moveTo>
                  <a:pt x="25003" y="62508"/>
                </a:moveTo>
                <a:cubicBezTo>
                  <a:pt x="25003" y="60216"/>
                  <a:pt x="26878" y="58341"/>
                  <a:pt x="29170" y="58341"/>
                </a:cubicBezTo>
                <a:lnTo>
                  <a:pt x="37505" y="58341"/>
                </a:lnTo>
                <a:cubicBezTo>
                  <a:pt x="39797" y="58341"/>
                  <a:pt x="41672" y="60216"/>
                  <a:pt x="41672" y="62508"/>
                </a:cubicBezTo>
                <a:lnTo>
                  <a:pt x="41672" y="70842"/>
                </a:lnTo>
                <a:cubicBezTo>
                  <a:pt x="41672" y="73134"/>
                  <a:pt x="39797" y="75009"/>
                  <a:pt x="37505" y="75009"/>
                </a:cubicBezTo>
                <a:lnTo>
                  <a:pt x="29170" y="75009"/>
                </a:lnTo>
                <a:cubicBezTo>
                  <a:pt x="26878" y="75009"/>
                  <a:pt x="25003" y="73134"/>
                  <a:pt x="25003" y="70842"/>
                </a:cubicBezTo>
                <a:lnTo>
                  <a:pt x="25003" y="62508"/>
                </a:lnTo>
                <a:close/>
                <a:moveTo>
                  <a:pt x="62508" y="58341"/>
                </a:moveTo>
                <a:lnTo>
                  <a:pt x="70842" y="58341"/>
                </a:lnTo>
                <a:cubicBezTo>
                  <a:pt x="73134" y="58341"/>
                  <a:pt x="75009" y="60216"/>
                  <a:pt x="75009" y="62508"/>
                </a:cubicBezTo>
                <a:lnTo>
                  <a:pt x="75009" y="70842"/>
                </a:lnTo>
                <a:cubicBezTo>
                  <a:pt x="75009" y="73134"/>
                  <a:pt x="73134" y="75009"/>
                  <a:pt x="70842" y="75009"/>
                </a:cubicBezTo>
                <a:lnTo>
                  <a:pt x="62508" y="75009"/>
                </a:lnTo>
                <a:cubicBezTo>
                  <a:pt x="60216" y="75009"/>
                  <a:pt x="58341" y="73134"/>
                  <a:pt x="58341" y="70842"/>
                </a:cubicBezTo>
                <a:lnTo>
                  <a:pt x="58341" y="62508"/>
                </a:lnTo>
                <a:cubicBezTo>
                  <a:pt x="58341" y="60216"/>
                  <a:pt x="60216" y="58341"/>
                  <a:pt x="62508" y="58341"/>
                </a:cubicBezTo>
                <a:close/>
              </a:path>
            </a:pathLst>
          </a:custGeom>
          <a:solidFill>
            <a:srgbClr val="6366F1"/>
          </a:solidFill>
          <a:ln/>
        </p:spPr>
      </p:sp>
      <p:sp>
        <p:nvSpPr>
          <p:cNvPr id="29" name="Text 27"/>
          <p:cNvSpPr/>
          <p:nvPr/>
        </p:nvSpPr>
        <p:spPr>
          <a:xfrm>
            <a:off x="5463540" y="4229100"/>
            <a:ext cx="40957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Common Uses</a:t>
            </a:r>
            <a:endParaRPr lang="en-US" sz="1600" dirty="0"/>
          </a:p>
        </p:txBody>
      </p:sp>
      <p:sp>
        <p:nvSpPr>
          <p:cNvPr id="30" name="Text 28"/>
          <p:cNvSpPr/>
          <p:nvPr/>
        </p:nvSpPr>
        <p:spPr>
          <a:xfrm>
            <a:off x="5463540" y="4495800"/>
            <a:ext cx="40957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Offices, schools, homes, gaming centers, and design studios</a:t>
            </a:r>
            <a:endParaRPr lang="en-US" sz="1600" dirty="0"/>
          </a:p>
        </p:txBody>
      </p:sp>
      <p:sp>
        <p:nvSpPr>
          <p:cNvPr id="31" name="Shape 29"/>
          <p:cNvSpPr/>
          <p:nvPr/>
        </p:nvSpPr>
        <p:spPr>
          <a:xfrm>
            <a:off x="5048250" y="5703574"/>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32" name="Text 30"/>
          <p:cNvSpPr/>
          <p:nvPr/>
        </p:nvSpPr>
        <p:spPr>
          <a:xfrm>
            <a:off x="5204460" y="5859782"/>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The computer in your school's computer lab with a separate monitor, keyboard, and tower case is a desktop computer!</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3.3</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Mobile Computers</a:t>
            </a:r>
            <a:endParaRPr lang="en-US" sz="1600" dirty="0"/>
          </a:p>
        </p:txBody>
      </p:sp>
      <p:sp>
        <p:nvSpPr>
          <p:cNvPr id="4" name="Shape 2"/>
          <p:cNvSpPr/>
          <p:nvPr/>
        </p:nvSpPr>
        <p:spPr>
          <a:xfrm>
            <a:off x="384810" y="1261110"/>
            <a:ext cx="3674745" cy="2179320"/>
          </a:xfrm>
          <a:custGeom>
            <a:avLst/>
            <a:gdLst/>
            <a:ahLst/>
            <a:cxnLst/>
            <a:rect l="l" t="t" r="r" b="b"/>
            <a:pathLst>
              <a:path w="3674745" h="2179320">
                <a:moveTo>
                  <a:pt x="114305" y="0"/>
                </a:moveTo>
                <a:lnTo>
                  <a:pt x="3560440" y="0"/>
                </a:lnTo>
                <a:cubicBezTo>
                  <a:pt x="3623569" y="0"/>
                  <a:pt x="3674745" y="51176"/>
                  <a:pt x="3674745" y="114305"/>
                </a:cubicBezTo>
                <a:lnTo>
                  <a:pt x="3674745" y="2065015"/>
                </a:lnTo>
                <a:cubicBezTo>
                  <a:pt x="3674745" y="2128144"/>
                  <a:pt x="3623569" y="2179320"/>
                  <a:pt x="3560440" y="2179320"/>
                </a:cubicBezTo>
                <a:lnTo>
                  <a:pt x="114305" y="2179320"/>
                </a:lnTo>
                <a:cubicBezTo>
                  <a:pt x="51176" y="2179320"/>
                  <a:pt x="0" y="2128144"/>
                  <a:pt x="0" y="2065015"/>
                </a:cubicBezTo>
                <a:lnTo>
                  <a:pt x="0" y="114305"/>
                </a:lnTo>
                <a:cubicBezTo>
                  <a:pt x="0" y="51176"/>
                  <a:pt x="51176" y="0"/>
                  <a:pt x="114305" y="0"/>
                </a:cubicBezTo>
                <a:close/>
              </a:path>
            </a:pathLst>
          </a:custGeom>
          <a:solidFill>
            <a:srgbClr val="262626"/>
          </a:solidFill>
          <a:ln w="10160">
            <a:solidFill>
              <a:srgbClr val="333333"/>
            </a:solidFill>
            <a:prstDash val="solid"/>
          </a:ln>
        </p:spPr>
      </p:sp>
      <p:sp>
        <p:nvSpPr>
          <p:cNvPr id="5" name="Shape 3"/>
          <p:cNvSpPr/>
          <p:nvPr/>
        </p:nvSpPr>
        <p:spPr>
          <a:xfrm>
            <a:off x="579120" y="14554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6" name="Shape 4"/>
          <p:cNvSpPr/>
          <p:nvPr/>
        </p:nvSpPr>
        <p:spPr>
          <a:xfrm>
            <a:off x="674370" y="1569718"/>
            <a:ext cx="190500" cy="152400"/>
          </a:xfrm>
          <a:custGeom>
            <a:avLst/>
            <a:gdLst/>
            <a:ahLst/>
            <a:cxnLst/>
            <a:rect l="l" t="t" r="r" b="b"/>
            <a:pathLst>
              <a:path w="190500" h="152400">
                <a:moveTo>
                  <a:pt x="38100" y="9525"/>
                </a:moveTo>
                <a:cubicBezTo>
                  <a:pt x="27593" y="9525"/>
                  <a:pt x="19050" y="18068"/>
                  <a:pt x="19050" y="28575"/>
                </a:cubicBezTo>
                <a:lnTo>
                  <a:pt x="19050" y="100013"/>
                </a:lnTo>
                <a:lnTo>
                  <a:pt x="38100" y="100013"/>
                </a:lnTo>
                <a:lnTo>
                  <a:pt x="38100" y="28575"/>
                </a:lnTo>
                <a:lnTo>
                  <a:pt x="152400" y="28575"/>
                </a:lnTo>
                <a:lnTo>
                  <a:pt x="152400" y="100013"/>
                </a:lnTo>
                <a:lnTo>
                  <a:pt x="171450" y="100013"/>
                </a:lnTo>
                <a:lnTo>
                  <a:pt x="171450" y="28575"/>
                </a:lnTo>
                <a:cubicBezTo>
                  <a:pt x="171450" y="18068"/>
                  <a:pt x="162907" y="9525"/>
                  <a:pt x="152400" y="9525"/>
                </a:cubicBezTo>
                <a:lnTo>
                  <a:pt x="38100" y="9525"/>
                </a:lnTo>
                <a:close/>
                <a:moveTo>
                  <a:pt x="5715" y="114300"/>
                </a:moveTo>
                <a:cubicBezTo>
                  <a:pt x="2560" y="114300"/>
                  <a:pt x="0" y="116860"/>
                  <a:pt x="0" y="120015"/>
                </a:cubicBezTo>
                <a:cubicBezTo>
                  <a:pt x="0" y="132636"/>
                  <a:pt x="10239" y="142875"/>
                  <a:pt x="22860" y="142875"/>
                </a:cubicBezTo>
                <a:lnTo>
                  <a:pt x="167640" y="142875"/>
                </a:lnTo>
                <a:cubicBezTo>
                  <a:pt x="180261" y="142875"/>
                  <a:pt x="190500" y="132636"/>
                  <a:pt x="190500" y="120015"/>
                </a:cubicBezTo>
                <a:cubicBezTo>
                  <a:pt x="190500" y="116860"/>
                  <a:pt x="187940" y="114300"/>
                  <a:pt x="184785" y="114300"/>
                </a:cubicBezTo>
                <a:lnTo>
                  <a:pt x="5715" y="114300"/>
                </a:lnTo>
                <a:close/>
              </a:path>
            </a:pathLst>
          </a:custGeom>
          <a:solidFill>
            <a:srgbClr val="6366F1"/>
          </a:solidFill>
          <a:ln/>
        </p:spPr>
      </p:sp>
      <p:sp>
        <p:nvSpPr>
          <p:cNvPr id="7" name="Text 5"/>
          <p:cNvSpPr/>
          <p:nvPr/>
        </p:nvSpPr>
        <p:spPr>
          <a:xfrm>
            <a:off x="1074420" y="1512568"/>
            <a:ext cx="704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Laptops</a:t>
            </a:r>
            <a:endParaRPr lang="en-US" sz="1600" dirty="0"/>
          </a:p>
        </p:txBody>
      </p:sp>
      <p:sp>
        <p:nvSpPr>
          <p:cNvPr id="8" name="Shape 6"/>
          <p:cNvSpPr/>
          <p:nvPr/>
        </p:nvSpPr>
        <p:spPr>
          <a:xfrm>
            <a:off x="592217" y="19888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9" name="Text 7"/>
          <p:cNvSpPr/>
          <p:nvPr/>
        </p:nvSpPr>
        <p:spPr>
          <a:xfrm>
            <a:off x="798552" y="1950718"/>
            <a:ext cx="31432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Portable computers with built-in screen and keyboard</a:t>
            </a:r>
            <a:endParaRPr lang="en-US" sz="1600" dirty="0"/>
          </a:p>
        </p:txBody>
      </p:sp>
      <p:sp>
        <p:nvSpPr>
          <p:cNvPr id="10" name="Shape 8"/>
          <p:cNvSpPr/>
          <p:nvPr/>
        </p:nvSpPr>
        <p:spPr>
          <a:xfrm>
            <a:off x="606504" y="25222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1" name="Text 9"/>
          <p:cNvSpPr/>
          <p:nvPr/>
        </p:nvSpPr>
        <p:spPr>
          <a:xfrm>
            <a:off x="822008" y="2484118"/>
            <a:ext cx="23907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Battery-powered for use anywhere</a:t>
            </a:r>
            <a:endParaRPr lang="en-US" sz="1600" dirty="0"/>
          </a:p>
        </p:txBody>
      </p:sp>
      <p:sp>
        <p:nvSpPr>
          <p:cNvPr id="12" name="Shape 10"/>
          <p:cNvSpPr/>
          <p:nvPr/>
        </p:nvSpPr>
        <p:spPr>
          <a:xfrm>
            <a:off x="606504" y="28270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3" name="Text 11"/>
          <p:cNvSpPr/>
          <p:nvPr/>
        </p:nvSpPr>
        <p:spPr>
          <a:xfrm>
            <a:off x="822008" y="2788918"/>
            <a:ext cx="31051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Ideal for students and professionals on the go</a:t>
            </a:r>
            <a:endParaRPr lang="en-US" sz="1600" dirty="0"/>
          </a:p>
        </p:txBody>
      </p:sp>
      <p:sp>
        <p:nvSpPr>
          <p:cNvPr id="14" name="Shape 12"/>
          <p:cNvSpPr/>
          <p:nvPr/>
        </p:nvSpPr>
        <p:spPr>
          <a:xfrm>
            <a:off x="4258270" y="1261110"/>
            <a:ext cx="3674745" cy="2179320"/>
          </a:xfrm>
          <a:custGeom>
            <a:avLst/>
            <a:gdLst/>
            <a:ahLst/>
            <a:cxnLst/>
            <a:rect l="l" t="t" r="r" b="b"/>
            <a:pathLst>
              <a:path w="3674745" h="2179320">
                <a:moveTo>
                  <a:pt x="114305" y="0"/>
                </a:moveTo>
                <a:lnTo>
                  <a:pt x="3560440" y="0"/>
                </a:lnTo>
                <a:cubicBezTo>
                  <a:pt x="3623569" y="0"/>
                  <a:pt x="3674745" y="51176"/>
                  <a:pt x="3674745" y="114305"/>
                </a:cubicBezTo>
                <a:lnTo>
                  <a:pt x="3674745" y="2065015"/>
                </a:lnTo>
                <a:cubicBezTo>
                  <a:pt x="3674745" y="2128144"/>
                  <a:pt x="3623569" y="2179320"/>
                  <a:pt x="3560440" y="2179320"/>
                </a:cubicBezTo>
                <a:lnTo>
                  <a:pt x="114305" y="2179320"/>
                </a:lnTo>
                <a:cubicBezTo>
                  <a:pt x="51176" y="2179320"/>
                  <a:pt x="0" y="2128144"/>
                  <a:pt x="0" y="2065015"/>
                </a:cubicBezTo>
                <a:lnTo>
                  <a:pt x="0" y="114305"/>
                </a:lnTo>
                <a:cubicBezTo>
                  <a:pt x="0" y="51176"/>
                  <a:pt x="51176" y="0"/>
                  <a:pt x="114305" y="0"/>
                </a:cubicBezTo>
                <a:close/>
              </a:path>
            </a:pathLst>
          </a:custGeom>
          <a:solidFill>
            <a:srgbClr val="262626"/>
          </a:solidFill>
          <a:ln w="10160">
            <a:solidFill>
              <a:srgbClr val="333333"/>
            </a:solidFill>
            <a:prstDash val="solid"/>
          </a:ln>
        </p:spPr>
      </p:sp>
      <p:sp>
        <p:nvSpPr>
          <p:cNvPr id="15" name="Shape 13"/>
          <p:cNvSpPr/>
          <p:nvPr/>
        </p:nvSpPr>
        <p:spPr>
          <a:xfrm>
            <a:off x="4452580" y="14554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6" name="Shape 14"/>
          <p:cNvSpPr/>
          <p:nvPr/>
        </p:nvSpPr>
        <p:spPr>
          <a:xfrm>
            <a:off x="4576405" y="1569718"/>
            <a:ext cx="133350" cy="152400"/>
          </a:xfrm>
          <a:custGeom>
            <a:avLst/>
            <a:gdLst/>
            <a:ahLst/>
            <a:cxnLst/>
            <a:rect l="l" t="t" r="r" b="b"/>
            <a:pathLst>
              <a:path w="133350" h="152400">
                <a:moveTo>
                  <a:pt x="0" y="19050"/>
                </a:moveTo>
                <a:cubicBezTo>
                  <a:pt x="0" y="8543"/>
                  <a:pt x="8543" y="0"/>
                  <a:pt x="19050" y="0"/>
                </a:cubicBezTo>
                <a:lnTo>
                  <a:pt x="114300" y="0"/>
                </a:lnTo>
                <a:cubicBezTo>
                  <a:pt x="124807" y="0"/>
                  <a:pt x="133350" y="8543"/>
                  <a:pt x="133350" y="19050"/>
                </a:cubicBezTo>
                <a:lnTo>
                  <a:pt x="133350" y="133350"/>
                </a:lnTo>
                <a:cubicBezTo>
                  <a:pt x="133350" y="143857"/>
                  <a:pt x="124807" y="152400"/>
                  <a:pt x="114300" y="152400"/>
                </a:cubicBezTo>
                <a:lnTo>
                  <a:pt x="19050" y="152400"/>
                </a:lnTo>
                <a:cubicBezTo>
                  <a:pt x="8543" y="152400"/>
                  <a:pt x="0" y="143857"/>
                  <a:pt x="0" y="133350"/>
                </a:cubicBezTo>
                <a:lnTo>
                  <a:pt x="0" y="19050"/>
                </a:lnTo>
                <a:close/>
                <a:moveTo>
                  <a:pt x="76200" y="128588"/>
                </a:moveTo>
                <a:cubicBezTo>
                  <a:pt x="76200" y="123331"/>
                  <a:pt x="71932" y="119062"/>
                  <a:pt x="66675" y="119062"/>
                </a:cubicBezTo>
                <a:cubicBezTo>
                  <a:pt x="61418" y="119062"/>
                  <a:pt x="57150" y="123331"/>
                  <a:pt x="57150" y="128588"/>
                </a:cubicBezTo>
                <a:cubicBezTo>
                  <a:pt x="57150" y="133844"/>
                  <a:pt x="61418" y="138113"/>
                  <a:pt x="66675" y="138113"/>
                </a:cubicBezTo>
                <a:cubicBezTo>
                  <a:pt x="71932" y="138113"/>
                  <a:pt x="76200" y="133844"/>
                  <a:pt x="76200" y="128588"/>
                </a:cubicBezTo>
                <a:close/>
                <a:moveTo>
                  <a:pt x="114300" y="19050"/>
                </a:moveTo>
                <a:lnTo>
                  <a:pt x="19050" y="19050"/>
                </a:lnTo>
                <a:lnTo>
                  <a:pt x="19050" y="104775"/>
                </a:lnTo>
                <a:lnTo>
                  <a:pt x="114300" y="104775"/>
                </a:lnTo>
                <a:lnTo>
                  <a:pt x="114300" y="19050"/>
                </a:lnTo>
                <a:close/>
              </a:path>
            </a:pathLst>
          </a:custGeom>
          <a:solidFill>
            <a:srgbClr val="6366F1"/>
          </a:solidFill>
          <a:ln/>
        </p:spPr>
      </p:sp>
      <p:sp>
        <p:nvSpPr>
          <p:cNvPr id="17" name="Text 15"/>
          <p:cNvSpPr/>
          <p:nvPr/>
        </p:nvSpPr>
        <p:spPr>
          <a:xfrm>
            <a:off x="4947881" y="1512568"/>
            <a:ext cx="6477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Tablets</a:t>
            </a:r>
            <a:endParaRPr lang="en-US" sz="1600" dirty="0"/>
          </a:p>
        </p:txBody>
      </p:sp>
      <p:sp>
        <p:nvSpPr>
          <p:cNvPr id="18" name="Shape 16"/>
          <p:cNvSpPr/>
          <p:nvPr/>
        </p:nvSpPr>
        <p:spPr>
          <a:xfrm>
            <a:off x="4479965" y="19888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19" name="Text 17"/>
          <p:cNvSpPr/>
          <p:nvPr/>
        </p:nvSpPr>
        <p:spPr>
          <a:xfrm>
            <a:off x="4695468" y="1950718"/>
            <a:ext cx="28860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Touchscreen devices, lightweight and thin</a:t>
            </a:r>
            <a:endParaRPr lang="en-US" sz="1600" dirty="0"/>
          </a:p>
        </p:txBody>
      </p:sp>
      <p:sp>
        <p:nvSpPr>
          <p:cNvPr id="20" name="Shape 18"/>
          <p:cNvSpPr/>
          <p:nvPr/>
        </p:nvSpPr>
        <p:spPr>
          <a:xfrm>
            <a:off x="4479965" y="22936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1" name="Text 19"/>
          <p:cNvSpPr/>
          <p:nvPr/>
        </p:nvSpPr>
        <p:spPr>
          <a:xfrm>
            <a:off x="4695468" y="2255518"/>
            <a:ext cx="26574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Great for reading, browsing, and media</a:t>
            </a:r>
            <a:endParaRPr lang="en-US" sz="1600" dirty="0"/>
          </a:p>
        </p:txBody>
      </p:sp>
      <p:sp>
        <p:nvSpPr>
          <p:cNvPr id="22" name="Shape 20"/>
          <p:cNvSpPr/>
          <p:nvPr/>
        </p:nvSpPr>
        <p:spPr>
          <a:xfrm>
            <a:off x="4479965" y="25984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3" name="Text 21"/>
          <p:cNvSpPr/>
          <p:nvPr/>
        </p:nvSpPr>
        <p:spPr>
          <a:xfrm>
            <a:off x="4695468" y="2560318"/>
            <a:ext cx="29527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iPads, Android tablets, and Surface devices</a:t>
            </a:r>
            <a:endParaRPr lang="en-US" sz="1600" dirty="0"/>
          </a:p>
        </p:txBody>
      </p:sp>
      <p:sp>
        <p:nvSpPr>
          <p:cNvPr id="24" name="Shape 22"/>
          <p:cNvSpPr/>
          <p:nvPr/>
        </p:nvSpPr>
        <p:spPr>
          <a:xfrm>
            <a:off x="8131731" y="1261110"/>
            <a:ext cx="3674745" cy="2179320"/>
          </a:xfrm>
          <a:custGeom>
            <a:avLst/>
            <a:gdLst/>
            <a:ahLst/>
            <a:cxnLst/>
            <a:rect l="l" t="t" r="r" b="b"/>
            <a:pathLst>
              <a:path w="3674745" h="2179320">
                <a:moveTo>
                  <a:pt x="114305" y="0"/>
                </a:moveTo>
                <a:lnTo>
                  <a:pt x="3560440" y="0"/>
                </a:lnTo>
                <a:cubicBezTo>
                  <a:pt x="3623569" y="0"/>
                  <a:pt x="3674745" y="51176"/>
                  <a:pt x="3674745" y="114305"/>
                </a:cubicBezTo>
                <a:lnTo>
                  <a:pt x="3674745" y="2065015"/>
                </a:lnTo>
                <a:cubicBezTo>
                  <a:pt x="3674745" y="2128144"/>
                  <a:pt x="3623569" y="2179320"/>
                  <a:pt x="3560440" y="2179320"/>
                </a:cubicBezTo>
                <a:lnTo>
                  <a:pt x="114305" y="2179320"/>
                </a:lnTo>
                <a:cubicBezTo>
                  <a:pt x="51176" y="2179320"/>
                  <a:pt x="0" y="2128144"/>
                  <a:pt x="0" y="2065015"/>
                </a:cubicBezTo>
                <a:lnTo>
                  <a:pt x="0" y="114305"/>
                </a:lnTo>
                <a:cubicBezTo>
                  <a:pt x="0" y="51176"/>
                  <a:pt x="51176" y="0"/>
                  <a:pt x="114305" y="0"/>
                </a:cubicBezTo>
                <a:close/>
              </a:path>
            </a:pathLst>
          </a:custGeom>
          <a:solidFill>
            <a:srgbClr val="262626"/>
          </a:solidFill>
          <a:ln w="10160">
            <a:solidFill>
              <a:srgbClr val="333333"/>
            </a:solidFill>
            <a:prstDash val="solid"/>
          </a:ln>
        </p:spPr>
      </p:sp>
      <p:sp>
        <p:nvSpPr>
          <p:cNvPr id="25" name="Shape 23"/>
          <p:cNvSpPr/>
          <p:nvPr/>
        </p:nvSpPr>
        <p:spPr>
          <a:xfrm>
            <a:off x="8326041" y="14554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26" name="Shape 24"/>
          <p:cNvSpPr/>
          <p:nvPr/>
        </p:nvSpPr>
        <p:spPr>
          <a:xfrm>
            <a:off x="8459391" y="1569718"/>
            <a:ext cx="114300" cy="152400"/>
          </a:xfrm>
          <a:custGeom>
            <a:avLst/>
            <a:gdLst/>
            <a:ahLst/>
            <a:cxnLst/>
            <a:rect l="l" t="t" r="r" b="b"/>
            <a:pathLst>
              <a:path w="114300" h="152400">
                <a:moveTo>
                  <a:pt x="4763" y="19050"/>
                </a:moveTo>
                <a:cubicBezTo>
                  <a:pt x="4763" y="8543"/>
                  <a:pt x="13305" y="0"/>
                  <a:pt x="23813" y="0"/>
                </a:cubicBezTo>
                <a:lnTo>
                  <a:pt x="90488" y="0"/>
                </a:lnTo>
                <a:cubicBezTo>
                  <a:pt x="100995" y="0"/>
                  <a:pt x="109537" y="8543"/>
                  <a:pt x="109537" y="19050"/>
                </a:cubicBezTo>
                <a:lnTo>
                  <a:pt x="109537" y="133350"/>
                </a:lnTo>
                <a:cubicBezTo>
                  <a:pt x="109537" y="143857"/>
                  <a:pt x="100995" y="152400"/>
                  <a:pt x="90488" y="152400"/>
                </a:cubicBezTo>
                <a:lnTo>
                  <a:pt x="23813" y="152400"/>
                </a:lnTo>
                <a:cubicBezTo>
                  <a:pt x="13305" y="152400"/>
                  <a:pt x="4763" y="143857"/>
                  <a:pt x="4763" y="133350"/>
                </a:cubicBezTo>
                <a:lnTo>
                  <a:pt x="4763" y="19050"/>
                </a:lnTo>
                <a:close/>
                <a:moveTo>
                  <a:pt x="23813" y="19050"/>
                </a:moveTo>
                <a:lnTo>
                  <a:pt x="23813" y="109537"/>
                </a:lnTo>
                <a:lnTo>
                  <a:pt x="90488" y="109537"/>
                </a:lnTo>
                <a:lnTo>
                  <a:pt x="90488" y="19050"/>
                </a:lnTo>
                <a:lnTo>
                  <a:pt x="23813" y="19050"/>
                </a:lnTo>
                <a:close/>
                <a:moveTo>
                  <a:pt x="57150" y="140494"/>
                </a:moveTo>
                <a:cubicBezTo>
                  <a:pt x="62419" y="140494"/>
                  <a:pt x="66675" y="136237"/>
                  <a:pt x="66675" y="130969"/>
                </a:cubicBezTo>
                <a:cubicBezTo>
                  <a:pt x="66675" y="125700"/>
                  <a:pt x="62419" y="121444"/>
                  <a:pt x="57150" y="121444"/>
                </a:cubicBezTo>
                <a:cubicBezTo>
                  <a:pt x="51881" y="121444"/>
                  <a:pt x="47625" y="125700"/>
                  <a:pt x="47625" y="130969"/>
                </a:cubicBezTo>
                <a:cubicBezTo>
                  <a:pt x="47625" y="136237"/>
                  <a:pt x="51881" y="140494"/>
                  <a:pt x="57150" y="140494"/>
                </a:cubicBezTo>
                <a:close/>
              </a:path>
            </a:pathLst>
          </a:custGeom>
          <a:solidFill>
            <a:srgbClr val="6366F1"/>
          </a:solidFill>
          <a:ln/>
        </p:spPr>
      </p:sp>
      <p:sp>
        <p:nvSpPr>
          <p:cNvPr id="27" name="Text 25"/>
          <p:cNvSpPr/>
          <p:nvPr/>
        </p:nvSpPr>
        <p:spPr>
          <a:xfrm>
            <a:off x="8821341" y="1512568"/>
            <a:ext cx="10953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Smartphones</a:t>
            </a:r>
            <a:endParaRPr lang="en-US" sz="1600" dirty="0"/>
          </a:p>
        </p:txBody>
      </p:sp>
      <p:sp>
        <p:nvSpPr>
          <p:cNvPr id="28" name="Shape 26"/>
          <p:cNvSpPr/>
          <p:nvPr/>
        </p:nvSpPr>
        <p:spPr>
          <a:xfrm>
            <a:off x="8348663" y="19888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29" name="Text 27"/>
          <p:cNvSpPr/>
          <p:nvPr/>
        </p:nvSpPr>
        <p:spPr>
          <a:xfrm>
            <a:off x="8561070" y="1950718"/>
            <a:ext cx="31242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Pocket-sized computers with phone capabilities</a:t>
            </a:r>
            <a:endParaRPr lang="en-US" sz="1600" dirty="0"/>
          </a:p>
        </p:txBody>
      </p:sp>
      <p:sp>
        <p:nvSpPr>
          <p:cNvPr id="30" name="Shape 28"/>
          <p:cNvSpPr/>
          <p:nvPr/>
        </p:nvSpPr>
        <p:spPr>
          <a:xfrm>
            <a:off x="8348663" y="25222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31" name="Text 29"/>
          <p:cNvSpPr/>
          <p:nvPr/>
        </p:nvSpPr>
        <p:spPr>
          <a:xfrm>
            <a:off x="8561070" y="2484118"/>
            <a:ext cx="31242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Apps for every need: social, work, entertainment</a:t>
            </a:r>
            <a:endParaRPr lang="en-US" sz="1600" dirty="0"/>
          </a:p>
        </p:txBody>
      </p:sp>
      <p:sp>
        <p:nvSpPr>
          <p:cNvPr id="32" name="Shape 30"/>
          <p:cNvSpPr/>
          <p:nvPr/>
        </p:nvSpPr>
        <p:spPr>
          <a:xfrm>
            <a:off x="8353425" y="305561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6366F1"/>
          </a:solidFill>
          <a:ln/>
        </p:spPr>
      </p:sp>
      <p:sp>
        <p:nvSpPr>
          <p:cNvPr id="33" name="Text 31"/>
          <p:cNvSpPr/>
          <p:nvPr/>
        </p:nvSpPr>
        <p:spPr>
          <a:xfrm>
            <a:off x="8568928" y="3017518"/>
            <a:ext cx="240982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Cameras, GPS, and sensors built-in</a:t>
            </a:r>
            <a:endParaRPr lang="en-US" sz="1600" dirty="0"/>
          </a:p>
        </p:txBody>
      </p:sp>
      <p:sp>
        <p:nvSpPr>
          <p:cNvPr id="34" name="Shape 32"/>
          <p:cNvSpPr/>
          <p:nvPr/>
        </p:nvSpPr>
        <p:spPr>
          <a:xfrm>
            <a:off x="384810" y="3600456"/>
            <a:ext cx="5608320" cy="1645920"/>
          </a:xfrm>
          <a:custGeom>
            <a:avLst/>
            <a:gdLst/>
            <a:ahLst/>
            <a:cxnLst/>
            <a:rect l="l" t="t" r="r" b="b"/>
            <a:pathLst>
              <a:path w="5608320" h="1645920">
                <a:moveTo>
                  <a:pt x="76206" y="0"/>
                </a:moveTo>
                <a:lnTo>
                  <a:pt x="5532114" y="0"/>
                </a:lnTo>
                <a:cubicBezTo>
                  <a:pt x="5574201" y="0"/>
                  <a:pt x="5608320" y="34119"/>
                  <a:pt x="5608320" y="76206"/>
                </a:cubicBezTo>
                <a:lnTo>
                  <a:pt x="5608320" y="1569714"/>
                </a:lnTo>
                <a:cubicBezTo>
                  <a:pt x="5608320" y="1611801"/>
                  <a:pt x="5574201" y="1645920"/>
                  <a:pt x="5532114" y="1645920"/>
                </a:cubicBezTo>
                <a:lnTo>
                  <a:pt x="76206" y="1645920"/>
                </a:lnTo>
                <a:cubicBezTo>
                  <a:pt x="34119" y="1645920"/>
                  <a:pt x="0" y="1611801"/>
                  <a:pt x="0" y="1569714"/>
                </a:cubicBezTo>
                <a:lnTo>
                  <a:pt x="0" y="76206"/>
                </a:lnTo>
                <a:cubicBezTo>
                  <a:pt x="0" y="34147"/>
                  <a:pt x="34147" y="0"/>
                  <a:pt x="76206" y="0"/>
                </a:cubicBezTo>
                <a:close/>
              </a:path>
            </a:pathLst>
          </a:custGeom>
          <a:solidFill>
            <a:srgbClr val="6366F1">
              <a:alpha val="10196"/>
            </a:srgbClr>
          </a:solidFill>
          <a:ln w="10160">
            <a:solidFill>
              <a:srgbClr val="6366F1">
                <a:alpha val="30196"/>
              </a:srgbClr>
            </a:solidFill>
            <a:prstDash val="solid"/>
          </a:ln>
        </p:spPr>
      </p:sp>
      <p:sp>
        <p:nvSpPr>
          <p:cNvPr id="35" name="Text 33"/>
          <p:cNvSpPr/>
          <p:nvPr/>
        </p:nvSpPr>
        <p:spPr>
          <a:xfrm>
            <a:off x="541020" y="3756664"/>
            <a:ext cx="53721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Advantages of Mobile Computers</a:t>
            </a:r>
            <a:endParaRPr lang="en-US" sz="1600" dirty="0"/>
          </a:p>
        </p:txBody>
      </p:sp>
      <p:sp>
        <p:nvSpPr>
          <p:cNvPr id="36" name="Text 34"/>
          <p:cNvSpPr/>
          <p:nvPr/>
        </p:nvSpPr>
        <p:spPr>
          <a:xfrm>
            <a:off x="541020" y="4061464"/>
            <a:ext cx="53721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 Work from anywhere</a:t>
            </a:r>
            <a:endParaRPr lang="en-US" sz="1600" dirty="0"/>
          </a:p>
        </p:txBody>
      </p:sp>
      <p:sp>
        <p:nvSpPr>
          <p:cNvPr id="37" name="Text 35"/>
          <p:cNvSpPr/>
          <p:nvPr/>
        </p:nvSpPr>
        <p:spPr>
          <a:xfrm>
            <a:off x="541020" y="4328164"/>
            <a:ext cx="53721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 Stay connected on the go</a:t>
            </a:r>
            <a:endParaRPr lang="en-US" sz="1600" dirty="0"/>
          </a:p>
        </p:txBody>
      </p:sp>
      <p:sp>
        <p:nvSpPr>
          <p:cNvPr id="38" name="Text 36"/>
          <p:cNvSpPr/>
          <p:nvPr/>
        </p:nvSpPr>
        <p:spPr>
          <a:xfrm>
            <a:off x="541020" y="4594864"/>
            <a:ext cx="53721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 Lightweight and convenient</a:t>
            </a:r>
            <a:endParaRPr lang="en-US" sz="1600" dirty="0"/>
          </a:p>
        </p:txBody>
      </p:sp>
      <p:sp>
        <p:nvSpPr>
          <p:cNvPr id="39" name="Text 37"/>
          <p:cNvSpPr/>
          <p:nvPr/>
        </p:nvSpPr>
        <p:spPr>
          <a:xfrm>
            <a:off x="541020" y="4861564"/>
            <a:ext cx="53721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 Long battery life</a:t>
            </a:r>
            <a:endParaRPr lang="en-US" sz="1600" dirty="0"/>
          </a:p>
        </p:txBody>
      </p:sp>
      <p:sp>
        <p:nvSpPr>
          <p:cNvPr id="40" name="Shape 38"/>
          <p:cNvSpPr/>
          <p:nvPr/>
        </p:nvSpPr>
        <p:spPr>
          <a:xfrm>
            <a:off x="6195060" y="3600456"/>
            <a:ext cx="5608320" cy="1645920"/>
          </a:xfrm>
          <a:custGeom>
            <a:avLst/>
            <a:gdLst/>
            <a:ahLst/>
            <a:cxnLst/>
            <a:rect l="l" t="t" r="r" b="b"/>
            <a:pathLst>
              <a:path w="5608320" h="1645920">
                <a:moveTo>
                  <a:pt x="76206" y="0"/>
                </a:moveTo>
                <a:lnTo>
                  <a:pt x="5532114" y="0"/>
                </a:lnTo>
                <a:cubicBezTo>
                  <a:pt x="5574201" y="0"/>
                  <a:pt x="5608320" y="34119"/>
                  <a:pt x="5608320" y="76206"/>
                </a:cubicBezTo>
                <a:lnTo>
                  <a:pt x="5608320" y="1569714"/>
                </a:lnTo>
                <a:cubicBezTo>
                  <a:pt x="5608320" y="1611801"/>
                  <a:pt x="5574201" y="1645920"/>
                  <a:pt x="5532114" y="1645920"/>
                </a:cubicBezTo>
                <a:lnTo>
                  <a:pt x="76206" y="1645920"/>
                </a:lnTo>
                <a:cubicBezTo>
                  <a:pt x="34119" y="1645920"/>
                  <a:pt x="0" y="1611801"/>
                  <a:pt x="0" y="1569714"/>
                </a:cubicBezTo>
                <a:lnTo>
                  <a:pt x="0" y="76206"/>
                </a:lnTo>
                <a:cubicBezTo>
                  <a:pt x="0" y="34147"/>
                  <a:pt x="34147" y="0"/>
                  <a:pt x="76206" y="0"/>
                </a:cubicBezTo>
                <a:close/>
              </a:path>
            </a:pathLst>
          </a:custGeom>
          <a:solidFill>
            <a:srgbClr val="262626"/>
          </a:solidFill>
          <a:ln w="10160">
            <a:solidFill>
              <a:srgbClr val="333333"/>
            </a:solidFill>
            <a:prstDash val="solid"/>
          </a:ln>
        </p:spPr>
      </p:sp>
      <p:sp>
        <p:nvSpPr>
          <p:cNvPr id="41" name="Text 39"/>
          <p:cNvSpPr/>
          <p:nvPr/>
        </p:nvSpPr>
        <p:spPr>
          <a:xfrm>
            <a:off x="6351270" y="3756664"/>
            <a:ext cx="537210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Using your smartphone to check email on the bus, or a student taking notes on a laptop in class - these are mobile computers in action!</a:t>
            </a:r>
            <a:endParaRPr lang="en-US" sz="1600" dirty="0"/>
          </a:p>
        </p:txBody>
      </p:sp>
      <p:sp>
        <p:nvSpPr>
          <p:cNvPr id="42" name="Text 40"/>
          <p:cNvSpPr/>
          <p:nvPr/>
        </p:nvSpPr>
        <p:spPr>
          <a:xfrm>
            <a:off x="6351270" y="4290064"/>
            <a:ext cx="53721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Mobile computers are like digital Swiss Army knives - they pack powerful computing into portable devices that fit our mobile lifestyles.</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3.4</a:t>
            </a:r>
            <a:endParaRPr lang="en-US" sz="1600" dirty="0"/>
          </a:p>
        </p:txBody>
      </p:sp>
      <p:sp>
        <p:nvSpPr>
          <p:cNvPr id="3" name="Text 1"/>
          <p:cNvSpPr/>
          <p:nvPr/>
        </p:nvSpPr>
        <p:spPr>
          <a:xfrm>
            <a:off x="38100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Mainframes</a:t>
            </a:r>
            <a:endParaRPr lang="en-US" sz="1600" dirty="0"/>
          </a:p>
        </p:txBody>
      </p:sp>
      <p:sp>
        <p:nvSpPr>
          <p:cNvPr id="4" name="Shape 2"/>
          <p:cNvSpPr/>
          <p:nvPr/>
        </p:nvSpPr>
        <p:spPr>
          <a:xfrm>
            <a:off x="38100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5" name="Shape 3"/>
          <p:cNvSpPr/>
          <p:nvPr/>
        </p:nvSpPr>
        <p:spPr>
          <a:xfrm>
            <a:off x="477441" y="1457325"/>
            <a:ext cx="116681" cy="133350"/>
          </a:xfrm>
          <a:custGeom>
            <a:avLst/>
            <a:gdLst/>
            <a:ahLst/>
            <a:cxnLst/>
            <a:rect l="l" t="t" r="r" b="b"/>
            <a:pathLst>
              <a:path w="116681" h="133350">
                <a:moveTo>
                  <a:pt x="16669" y="8334"/>
                </a:moveTo>
                <a:cubicBezTo>
                  <a:pt x="7475" y="8334"/>
                  <a:pt x="0" y="15809"/>
                  <a:pt x="0" y="25003"/>
                </a:cubicBezTo>
                <a:lnTo>
                  <a:pt x="0" y="41672"/>
                </a:lnTo>
                <a:cubicBezTo>
                  <a:pt x="0" y="50866"/>
                  <a:pt x="7475" y="58341"/>
                  <a:pt x="16669" y="58341"/>
                </a:cubicBezTo>
                <a:lnTo>
                  <a:pt x="100013" y="58341"/>
                </a:lnTo>
                <a:cubicBezTo>
                  <a:pt x="109206" y="58341"/>
                  <a:pt x="116681" y="50866"/>
                  <a:pt x="116681" y="41672"/>
                </a:cubicBezTo>
                <a:lnTo>
                  <a:pt x="116681" y="25003"/>
                </a:lnTo>
                <a:cubicBezTo>
                  <a:pt x="116681" y="15809"/>
                  <a:pt x="109206" y="8334"/>
                  <a:pt x="100013" y="8334"/>
                </a:cubicBezTo>
                <a:lnTo>
                  <a:pt x="16669" y="8334"/>
                </a:lnTo>
                <a:close/>
                <a:moveTo>
                  <a:pt x="72926" y="27087"/>
                </a:moveTo>
                <a:cubicBezTo>
                  <a:pt x="76376" y="27087"/>
                  <a:pt x="79177" y="29888"/>
                  <a:pt x="79177" y="33337"/>
                </a:cubicBezTo>
                <a:cubicBezTo>
                  <a:pt x="79177" y="36787"/>
                  <a:pt x="76376" y="39588"/>
                  <a:pt x="72926" y="39588"/>
                </a:cubicBezTo>
                <a:cubicBezTo>
                  <a:pt x="69476" y="39588"/>
                  <a:pt x="66675" y="36787"/>
                  <a:pt x="66675" y="33337"/>
                </a:cubicBezTo>
                <a:cubicBezTo>
                  <a:pt x="66675" y="29888"/>
                  <a:pt x="69476" y="27087"/>
                  <a:pt x="72926" y="27087"/>
                </a:cubicBezTo>
                <a:close/>
                <a:moveTo>
                  <a:pt x="87511" y="33337"/>
                </a:moveTo>
                <a:cubicBezTo>
                  <a:pt x="87511" y="29888"/>
                  <a:pt x="90312" y="27087"/>
                  <a:pt x="93762" y="27087"/>
                </a:cubicBezTo>
                <a:cubicBezTo>
                  <a:pt x="97212" y="27087"/>
                  <a:pt x="100013" y="29888"/>
                  <a:pt x="100013" y="33337"/>
                </a:cubicBezTo>
                <a:cubicBezTo>
                  <a:pt x="100013" y="36787"/>
                  <a:pt x="97212" y="39588"/>
                  <a:pt x="93762" y="39588"/>
                </a:cubicBezTo>
                <a:cubicBezTo>
                  <a:pt x="90312" y="39588"/>
                  <a:pt x="87511" y="36787"/>
                  <a:pt x="87511" y="33337"/>
                </a:cubicBezTo>
                <a:close/>
                <a:moveTo>
                  <a:pt x="16669" y="75009"/>
                </a:moveTo>
                <a:cubicBezTo>
                  <a:pt x="7475" y="75009"/>
                  <a:pt x="0" y="82484"/>
                  <a:pt x="0" y="91678"/>
                </a:cubicBezTo>
                <a:lnTo>
                  <a:pt x="0" y="108347"/>
                </a:lnTo>
                <a:cubicBezTo>
                  <a:pt x="0" y="117541"/>
                  <a:pt x="7475" y="125016"/>
                  <a:pt x="16669" y="125016"/>
                </a:cubicBezTo>
                <a:lnTo>
                  <a:pt x="100013" y="125016"/>
                </a:lnTo>
                <a:cubicBezTo>
                  <a:pt x="109206" y="125016"/>
                  <a:pt x="116681" y="117541"/>
                  <a:pt x="116681" y="108347"/>
                </a:cubicBezTo>
                <a:lnTo>
                  <a:pt x="116681" y="91678"/>
                </a:lnTo>
                <a:cubicBezTo>
                  <a:pt x="116681" y="82484"/>
                  <a:pt x="109206" y="75009"/>
                  <a:pt x="100013" y="75009"/>
                </a:cubicBezTo>
                <a:lnTo>
                  <a:pt x="16669" y="75009"/>
                </a:lnTo>
                <a:close/>
                <a:moveTo>
                  <a:pt x="72926" y="93762"/>
                </a:moveTo>
                <a:cubicBezTo>
                  <a:pt x="76376" y="93762"/>
                  <a:pt x="79177" y="96563"/>
                  <a:pt x="79177" y="100013"/>
                </a:cubicBezTo>
                <a:cubicBezTo>
                  <a:pt x="79177" y="103462"/>
                  <a:pt x="76376" y="106263"/>
                  <a:pt x="72926" y="106263"/>
                </a:cubicBezTo>
                <a:cubicBezTo>
                  <a:pt x="69476" y="106263"/>
                  <a:pt x="66675" y="103462"/>
                  <a:pt x="66675" y="100013"/>
                </a:cubicBezTo>
                <a:cubicBezTo>
                  <a:pt x="66675" y="96563"/>
                  <a:pt x="69476" y="93762"/>
                  <a:pt x="72926" y="93762"/>
                </a:cubicBezTo>
                <a:close/>
                <a:moveTo>
                  <a:pt x="87511" y="100013"/>
                </a:moveTo>
                <a:cubicBezTo>
                  <a:pt x="87511" y="96563"/>
                  <a:pt x="90312" y="93762"/>
                  <a:pt x="93762" y="93762"/>
                </a:cubicBezTo>
                <a:cubicBezTo>
                  <a:pt x="97212" y="93762"/>
                  <a:pt x="100013" y="96563"/>
                  <a:pt x="100013" y="100013"/>
                </a:cubicBezTo>
                <a:cubicBezTo>
                  <a:pt x="100013" y="103462"/>
                  <a:pt x="97212" y="106263"/>
                  <a:pt x="93762" y="106263"/>
                </a:cubicBezTo>
                <a:cubicBezTo>
                  <a:pt x="90312" y="106263"/>
                  <a:pt x="87511" y="103462"/>
                  <a:pt x="87511" y="100013"/>
                </a:cubicBezTo>
                <a:close/>
              </a:path>
            </a:pathLst>
          </a:custGeom>
          <a:solidFill>
            <a:srgbClr val="6366F1"/>
          </a:solidFill>
          <a:ln/>
        </p:spPr>
      </p:sp>
      <p:sp>
        <p:nvSpPr>
          <p:cNvPr id="6" name="Text 4"/>
          <p:cNvSpPr/>
          <p:nvPr/>
        </p:nvSpPr>
        <p:spPr>
          <a:xfrm>
            <a:off x="800100" y="13335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What They Are</a:t>
            </a:r>
            <a:endParaRPr lang="en-US" sz="1600" dirty="0"/>
          </a:p>
        </p:txBody>
      </p:sp>
      <p:sp>
        <p:nvSpPr>
          <p:cNvPr id="7" name="Text 5"/>
          <p:cNvSpPr/>
          <p:nvPr/>
        </p:nvSpPr>
        <p:spPr>
          <a:xfrm>
            <a:off x="800100" y="16002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Massive, powerful computers used by large organizations to process enormous amounts of data</a:t>
            </a:r>
            <a:endParaRPr lang="en-US" sz="1600" dirty="0"/>
          </a:p>
        </p:txBody>
      </p:sp>
      <p:sp>
        <p:nvSpPr>
          <p:cNvPr id="8" name="Shape 6"/>
          <p:cNvSpPr/>
          <p:nvPr/>
        </p:nvSpPr>
        <p:spPr>
          <a:xfrm>
            <a:off x="381000" y="2209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9" name="Shape 7"/>
          <p:cNvSpPr/>
          <p:nvPr/>
        </p:nvSpPr>
        <p:spPr>
          <a:xfrm>
            <a:off x="469106" y="2295525"/>
            <a:ext cx="133350" cy="133350"/>
          </a:xfrm>
          <a:custGeom>
            <a:avLst/>
            <a:gdLst/>
            <a:ahLst/>
            <a:cxnLst/>
            <a:rect l="l" t="t" r="r" b="b"/>
            <a:pathLst>
              <a:path w="133350" h="133350">
                <a:moveTo>
                  <a:pt x="0" y="66675"/>
                </a:moveTo>
                <a:cubicBezTo>
                  <a:pt x="0" y="29876"/>
                  <a:pt x="29876" y="0"/>
                  <a:pt x="66675" y="0"/>
                </a:cubicBezTo>
                <a:cubicBezTo>
                  <a:pt x="103474" y="0"/>
                  <a:pt x="133350" y="29876"/>
                  <a:pt x="133350" y="66675"/>
                </a:cubicBezTo>
                <a:cubicBezTo>
                  <a:pt x="133350" y="103474"/>
                  <a:pt x="103474" y="133350"/>
                  <a:pt x="66675" y="133350"/>
                </a:cubicBezTo>
                <a:cubicBezTo>
                  <a:pt x="29876" y="133350"/>
                  <a:pt x="0" y="103474"/>
                  <a:pt x="0" y="66675"/>
                </a:cubicBezTo>
                <a:close/>
                <a:moveTo>
                  <a:pt x="75009" y="25003"/>
                </a:moveTo>
                <a:cubicBezTo>
                  <a:pt x="75009" y="20403"/>
                  <a:pt x="71275" y="16669"/>
                  <a:pt x="66675" y="16669"/>
                </a:cubicBezTo>
                <a:cubicBezTo>
                  <a:pt x="62075" y="16669"/>
                  <a:pt x="58341" y="20403"/>
                  <a:pt x="58341" y="25003"/>
                </a:cubicBezTo>
                <a:cubicBezTo>
                  <a:pt x="58341" y="29603"/>
                  <a:pt x="62075" y="33337"/>
                  <a:pt x="66675" y="33337"/>
                </a:cubicBezTo>
                <a:cubicBezTo>
                  <a:pt x="71275" y="33337"/>
                  <a:pt x="75009" y="29603"/>
                  <a:pt x="75009" y="25003"/>
                </a:cubicBezTo>
                <a:close/>
                <a:moveTo>
                  <a:pt x="66675" y="108347"/>
                </a:moveTo>
                <a:cubicBezTo>
                  <a:pt x="75869" y="108347"/>
                  <a:pt x="83344" y="100872"/>
                  <a:pt x="83344" y="91678"/>
                </a:cubicBezTo>
                <a:cubicBezTo>
                  <a:pt x="83344" y="87459"/>
                  <a:pt x="81781" y="83578"/>
                  <a:pt x="79177" y="80661"/>
                </a:cubicBezTo>
                <a:lnTo>
                  <a:pt x="97278" y="44485"/>
                </a:lnTo>
                <a:cubicBezTo>
                  <a:pt x="98814" y="41385"/>
                  <a:pt x="97564" y="37635"/>
                  <a:pt x="94491" y="36098"/>
                </a:cubicBezTo>
                <a:cubicBezTo>
                  <a:pt x="91418" y="34562"/>
                  <a:pt x="87641" y="35812"/>
                  <a:pt x="86105" y="38885"/>
                </a:cubicBezTo>
                <a:lnTo>
                  <a:pt x="68003" y="75061"/>
                </a:lnTo>
                <a:cubicBezTo>
                  <a:pt x="67561" y="75035"/>
                  <a:pt x="67118" y="75009"/>
                  <a:pt x="66675" y="75009"/>
                </a:cubicBezTo>
                <a:cubicBezTo>
                  <a:pt x="57481" y="75009"/>
                  <a:pt x="50006" y="82484"/>
                  <a:pt x="50006" y="91678"/>
                </a:cubicBezTo>
                <a:cubicBezTo>
                  <a:pt x="50006" y="100872"/>
                  <a:pt x="57481" y="108347"/>
                  <a:pt x="66675" y="108347"/>
                </a:cubicBezTo>
                <a:close/>
                <a:moveTo>
                  <a:pt x="45839" y="37505"/>
                </a:moveTo>
                <a:cubicBezTo>
                  <a:pt x="45839" y="32905"/>
                  <a:pt x="42105" y="29170"/>
                  <a:pt x="37505" y="29170"/>
                </a:cubicBezTo>
                <a:cubicBezTo>
                  <a:pt x="32905" y="29170"/>
                  <a:pt x="29170" y="32905"/>
                  <a:pt x="29170" y="37505"/>
                </a:cubicBezTo>
                <a:cubicBezTo>
                  <a:pt x="29170" y="42105"/>
                  <a:pt x="32905" y="45839"/>
                  <a:pt x="37505" y="45839"/>
                </a:cubicBezTo>
                <a:cubicBezTo>
                  <a:pt x="42105" y="45839"/>
                  <a:pt x="45839" y="42105"/>
                  <a:pt x="45839" y="37505"/>
                </a:cubicBezTo>
                <a:close/>
                <a:moveTo>
                  <a:pt x="25003" y="75009"/>
                </a:moveTo>
                <a:cubicBezTo>
                  <a:pt x="29603" y="75009"/>
                  <a:pt x="33337" y="71275"/>
                  <a:pt x="33337" y="66675"/>
                </a:cubicBezTo>
                <a:cubicBezTo>
                  <a:pt x="33337" y="62075"/>
                  <a:pt x="29603" y="58341"/>
                  <a:pt x="25003" y="58341"/>
                </a:cubicBezTo>
                <a:cubicBezTo>
                  <a:pt x="20403" y="58341"/>
                  <a:pt x="16669" y="62075"/>
                  <a:pt x="16669" y="66675"/>
                </a:cubicBezTo>
                <a:cubicBezTo>
                  <a:pt x="16669" y="71275"/>
                  <a:pt x="20403" y="75009"/>
                  <a:pt x="25003" y="75009"/>
                </a:cubicBezTo>
                <a:close/>
                <a:moveTo>
                  <a:pt x="116681" y="66675"/>
                </a:moveTo>
                <a:cubicBezTo>
                  <a:pt x="116681" y="62075"/>
                  <a:pt x="112947" y="58341"/>
                  <a:pt x="108347" y="58341"/>
                </a:cubicBezTo>
                <a:cubicBezTo>
                  <a:pt x="103747" y="58341"/>
                  <a:pt x="100013" y="62075"/>
                  <a:pt x="100013" y="66675"/>
                </a:cubicBezTo>
                <a:cubicBezTo>
                  <a:pt x="100013" y="71275"/>
                  <a:pt x="103747" y="75009"/>
                  <a:pt x="108347" y="75009"/>
                </a:cubicBezTo>
                <a:cubicBezTo>
                  <a:pt x="112947" y="75009"/>
                  <a:pt x="116681" y="71275"/>
                  <a:pt x="116681" y="66675"/>
                </a:cubicBezTo>
                <a:close/>
              </a:path>
            </a:pathLst>
          </a:custGeom>
          <a:solidFill>
            <a:srgbClr val="6366F1"/>
          </a:solidFill>
          <a:ln/>
        </p:spPr>
      </p:sp>
      <p:sp>
        <p:nvSpPr>
          <p:cNvPr id="10" name="Text 8"/>
          <p:cNvSpPr/>
          <p:nvPr/>
        </p:nvSpPr>
        <p:spPr>
          <a:xfrm>
            <a:off x="800100" y="2171700"/>
            <a:ext cx="55340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High Performance</a:t>
            </a:r>
            <a:endParaRPr lang="en-US" sz="1600" dirty="0"/>
          </a:p>
        </p:txBody>
      </p:sp>
      <p:sp>
        <p:nvSpPr>
          <p:cNvPr id="11" name="Text 9"/>
          <p:cNvSpPr/>
          <p:nvPr/>
        </p:nvSpPr>
        <p:spPr>
          <a:xfrm>
            <a:off x="800100" y="2438400"/>
            <a:ext cx="55340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Can process millions of transactions per second with extreme reliability and speed</a:t>
            </a:r>
            <a:endParaRPr lang="en-US" sz="1600" dirty="0"/>
          </a:p>
        </p:txBody>
      </p:sp>
      <p:sp>
        <p:nvSpPr>
          <p:cNvPr id="12" name="Shape 10"/>
          <p:cNvSpPr/>
          <p:nvPr/>
        </p:nvSpPr>
        <p:spPr>
          <a:xfrm>
            <a:off x="381000" y="28194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3" name="Shape 11"/>
          <p:cNvSpPr/>
          <p:nvPr/>
        </p:nvSpPr>
        <p:spPr>
          <a:xfrm>
            <a:off x="469106" y="2905125"/>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6366F1"/>
          </a:solidFill>
          <a:ln/>
        </p:spPr>
      </p:sp>
      <p:sp>
        <p:nvSpPr>
          <p:cNvPr id="14" name="Text 12"/>
          <p:cNvSpPr/>
          <p:nvPr/>
        </p:nvSpPr>
        <p:spPr>
          <a:xfrm>
            <a:off x="800100" y="2781300"/>
            <a:ext cx="54483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Reliability</a:t>
            </a:r>
            <a:endParaRPr lang="en-US" sz="1600" dirty="0"/>
          </a:p>
        </p:txBody>
      </p:sp>
      <p:sp>
        <p:nvSpPr>
          <p:cNvPr id="15" name="Text 13"/>
          <p:cNvSpPr/>
          <p:nvPr/>
        </p:nvSpPr>
        <p:spPr>
          <a:xfrm>
            <a:off x="800100" y="3048000"/>
            <a:ext cx="54483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Designed to run 24/7 without stopping, with backup systems to prevent data loss</a:t>
            </a:r>
            <a:endParaRPr lang="en-US" sz="1600" dirty="0"/>
          </a:p>
        </p:txBody>
      </p:sp>
      <p:sp>
        <p:nvSpPr>
          <p:cNvPr id="16" name="Shape 14"/>
          <p:cNvSpPr/>
          <p:nvPr/>
        </p:nvSpPr>
        <p:spPr>
          <a:xfrm>
            <a:off x="381000" y="3429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7" name="Shape 15"/>
          <p:cNvSpPr/>
          <p:nvPr/>
        </p:nvSpPr>
        <p:spPr>
          <a:xfrm>
            <a:off x="452438" y="3514725"/>
            <a:ext cx="166688" cy="133350"/>
          </a:xfrm>
          <a:custGeom>
            <a:avLst/>
            <a:gdLst/>
            <a:ahLst/>
            <a:cxnLst/>
            <a:rect l="l" t="t" r="r" b="b"/>
            <a:pathLst>
              <a:path w="166688" h="133350">
                <a:moveTo>
                  <a:pt x="83344" y="4167"/>
                </a:moveTo>
                <a:cubicBezTo>
                  <a:pt x="98293" y="4167"/>
                  <a:pt x="110430" y="16304"/>
                  <a:pt x="110430" y="31254"/>
                </a:cubicBezTo>
                <a:cubicBezTo>
                  <a:pt x="110430" y="46203"/>
                  <a:pt x="98293" y="58341"/>
                  <a:pt x="83344" y="58341"/>
                </a:cubicBezTo>
                <a:cubicBezTo>
                  <a:pt x="68394" y="58341"/>
                  <a:pt x="56257" y="46203"/>
                  <a:pt x="56257" y="31254"/>
                </a:cubicBezTo>
                <a:cubicBezTo>
                  <a:pt x="56257" y="16304"/>
                  <a:pt x="68394" y="4167"/>
                  <a:pt x="83344" y="4167"/>
                </a:cubicBezTo>
                <a:close/>
                <a:moveTo>
                  <a:pt x="25003" y="22920"/>
                </a:moveTo>
                <a:cubicBezTo>
                  <a:pt x="35353" y="22920"/>
                  <a:pt x="43755" y="31322"/>
                  <a:pt x="43755" y="41672"/>
                </a:cubicBezTo>
                <a:cubicBezTo>
                  <a:pt x="43755" y="52022"/>
                  <a:pt x="35353" y="60424"/>
                  <a:pt x="25003" y="60424"/>
                </a:cubicBezTo>
                <a:cubicBezTo>
                  <a:pt x="14653" y="60424"/>
                  <a:pt x="6251" y="52022"/>
                  <a:pt x="6251" y="41672"/>
                </a:cubicBezTo>
                <a:cubicBezTo>
                  <a:pt x="6251" y="31322"/>
                  <a:pt x="14653" y="22920"/>
                  <a:pt x="25003" y="22920"/>
                </a:cubicBezTo>
                <a:close/>
                <a:moveTo>
                  <a:pt x="0" y="108347"/>
                </a:moveTo>
                <a:cubicBezTo>
                  <a:pt x="0" y="89933"/>
                  <a:pt x="14924" y="75009"/>
                  <a:pt x="33337" y="75009"/>
                </a:cubicBezTo>
                <a:cubicBezTo>
                  <a:pt x="36671" y="75009"/>
                  <a:pt x="39901" y="75504"/>
                  <a:pt x="42948" y="76416"/>
                </a:cubicBezTo>
                <a:cubicBezTo>
                  <a:pt x="34379" y="86000"/>
                  <a:pt x="29170" y="98658"/>
                  <a:pt x="29170" y="112514"/>
                </a:cubicBezTo>
                <a:lnTo>
                  <a:pt x="29170" y="116681"/>
                </a:lnTo>
                <a:cubicBezTo>
                  <a:pt x="29170" y="119650"/>
                  <a:pt x="29795" y="122463"/>
                  <a:pt x="30915" y="125016"/>
                </a:cubicBezTo>
                <a:lnTo>
                  <a:pt x="8334" y="125016"/>
                </a:lnTo>
                <a:cubicBezTo>
                  <a:pt x="3724" y="125016"/>
                  <a:pt x="0" y="121291"/>
                  <a:pt x="0" y="116681"/>
                </a:cubicBezTo>
                <a:lnTo>
                  <a:pt x="0" y="108347"/>
                </a:lnTo>
                <a:close/>
                <a:moveTo>
                  <a:pt x="135772" y="125016"/>
                </a:moveTo>
                <a:cubicBezTo>
                  <a:pt x="136892" y="122463"/>
                  <a:pt x="137517" y="119650"/>
                  <a:pt x="137517" y="116681"/>
                </a:cubicBezTo>
                <a:lnTo>
                  <a:pt x="137517" y="112514"/>
                </a:lnTo>
                <a:cubicBezTo>
                  <a:pt x="137517" y="98658"/>
                  <a:pt x="132308" y="86000"/>
                  <a:pt x="123739" y="76416"/>
                </a:cubicBezTo>
                <a:cubicBezTo>
                  <a:pt x="126787" y="75504"/>
                  <a:pt x="130016" y="75009"/>
                  <a:pt x="133350" y="75009"/>
                </a:cubicBezTo>
                <a:cubicBezTo>
                  <a:pt x="151764" y="75009"/>
                  <a:pt x="166688" y="89933"/>
                  <a:pt x="166688" y="108347"/>
                </a:cubicBezTo>
                <a:lnTo>
                  <a:pt x="166688" y="116681"/>
                </a:lnTo>
                <a:cubicBezTo>
                  <a:pt x="166688" y="121291"/>
                  <a:pt x="162963" y="125016"/>
                  <a:pt x="158353" y="125016"/>
                </a:cubicBezTo>
                <a:lnTo>
                  <a:pt x="135772" y="125016"/>
                </a:lnTo>
                <a:close/>
                <a:moveTo>
                  <a:pt x="122932" y="41672"/>
                </a:moveTo>
                <a:cubicBezTo>
                  <a:pt x="122932" y="31322"/>
                  <a:pt x="131335" y="22920"/>
                  <a:pt x="141684" y="22920"/>
                </a:cubicBezTo>
                <a:cubicBezTo>
                  <a:pt x="152034" y="22920"/>
                  <a:pt x="160437" y="31322"/>
                  <a:pt x="160437" y="41672"/>
                </a:cubicBezTo>
                <a:cubicBezTo>
                  <a:pt x="160437" y="52022"/>
                  <a:pt x="152034" y="60424"/>
                  <a:pt x="141684" y="60424"/>
                </a:cubicBezTo>
                <a:cubicBezTo>
                  <a:pt x="131335" y="60424"/>
                  <a:pt x="122932" y="52022"/>
                  <a:pt x="122932" y="41672"/>
                </a:cubicBezTo>
                <a:close/>
                <a:moveTo>
                  <a:pt x="41672" y="112514"/>
                </a:moveTo>
                <a:cubicBezTo>
                  <a:pt x="41672" y="89490"/>
                  <a:pt x="60320" y="70842"/>
                  <a:pt x="83344" y="70842"/>
                </a:cubicBezTo>
                <a:cubicBezTo>
                  <a:pt x="106367" y="70842"/>
                  <a:pt x="125016" y="89490"/>
                  <a:pt x="125016" y="112514"/>
                </a:cubicBezTo>
                <a:lnTo>
                  <a:pt x="125016" y="116681"/>
                </a:lnTo>
                <a:cubicBezTo>
                  <a:pt x="125016" y="121291"/>
                  <a:pt x="121291" y="125016"/>
                  <a:pt x="116681" y="125016"/>
                </a:cubicBezTo>
                <a:lnTo>
                  <a:pt x="50006" y="125016"/>
                </a:lnTo>
                <a:cubicBezTo>
                  <a:pt x="45396" y="125016"/>
                  <a:pt x="41672" y="121291"/>
                  <a:pt x="41672" y="116681"/>
                </a:cubicBezTo>
                <a:lnTo>
                  <a:pt x="41672" y="112514"/>
                </a:lnTo>
                <a:close/>
              </a:path>
            </a:pathLst>
          </a:custGeom>
          <a:solidFill>
            <a:srgbClr val="6366F1"/>
          </a:solidFill>
          <a:ln/>
        </p:spPr>
      </p:sp>
      <p:sp>
        <p:nvSpPr>
          <p:cNvPr id="18" name="Text 16"/>
          <p:cNvSpPr/>
          <p:nvPr/>
        </p:nvSpPr>
        <p:spPr>
          <a:xfrm>
            <a:off x="800100" y="3390900"/>
            <a:ext cx="54578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Multi-User Support</a:t>
            </a:r>
            <a:endParaRPr lang="en-US" sz="1600" dirty="0"/>
          </a:p>
        </p:txBody>
      </p:sp>
      <p:sp>
        <p:nvSpPr>
          <p:cNvPr id="19" name="Text 17"/>
          <p:cNvSpPr/>
          <p:nvPr/>
        </p:nvSpPr>
        <p:spPr>
          <a:xfrm>
            <a:off x="800100" y="3657600"/>
            <a:ext cx="54578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Thousands of users can access the system simultaneously without slowing down</a:t>
            </a:r>
            <a:endParaRPr lang="en-US" sz="1600" dirty="0"/>
          </a:p>
        </p:txBody>
      </p:sp>
      <p:sp>
        <p:nvSpPr>
          <p:cNvPr id="20" name="Shape 18"/>
          <p:cNvSpPr/>
          <p:nvPr/>
        </p:nvSpPr>
        <p:spPr>
          <a:xfrm>
            <a:off x="381000" y="4038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1" name="Shape 19"/>
          <p:cNvSpPr/>
          <p:nvPr/>
        </p:nvSpPr>
        <p:spPr>
          <a:xfrm>
            <a:off x="485775" y="4124325"/>
            <a:ext cx="100013" cy="133350"/>
          </a:xfrm>
          <a:custGeom>
            <a:avLst/>
            <a:gdLst/>
            <a:ahLst/>
            <a:cxnLst/>
            <a:rect l="l" t="t" r="r" b="b"/>
            <a:pathLst>
              <a:path w="100013" h="133350">
                <a:moveTo>
                  <a:pt x="16669" y="0"/>
                </a:moveTo>
                <a:cubicBezTo>
                  <a:pt x="7475" y="0"/>
                  <a:pt x="0" y="7475"/>
                  <a:pt x="0" y="16669"/>
                </a:cubicBezTo>
                <a:lnTo>
                  <a:pt x="0" y="116681"/>
                </a:lnTo>
                <a:cubicBezTo>
                  <a:pt x="0" y="125875"/>
                  <a:pt x="7475" y="133350"/>
                  <a:pt x="16669" y="133350"/>
                </a:cubicBezTo>
                <a:lnTo>
                  <a:pt x="83344" y="133350"/>
                </a:lnTo>
                <a:cubicBezTo>
                  <a:pt x="92538" y="133350"/>
                  <a:pt x="100013" y="125875"/>
                  <a:pt x="100013" y="116681"/>
                </a:cubicBezTo>
                <a:lnTo>
                  <a:pt x="100013" y="16669"/>
                </a:lnTo>
                <a:cubicBezTo>
                  <a:pt x="100013" y="7475"/>
                  <a:pt x="92538" y="0"/>
                  <a:pt x="83344" y="0"/>
                </a:cubicBezTo>
                <a:lnTo>
                  <a:pt x="16669" y="0"/>
                </a:lnTo>
                <a:close/>
                <a:moveTo>
                  <a:pt x="45839" y="91678"/>
                </a:moveTo>
                <a:lnTo>
                  <a:pt x="54173" y="91678"/>
                </a:lnTo>
                <a:cubicBezTo>
                  <a:pt x="58783" y="91678"/>
                  <a:pt x="62508" y="95403"/>
                  <a:pt x="62508" y="100013"/>
                </a:cubicBezTo>
                <a:lnTo>
                  <a:pt x="62508" y="120848"/>
                </a:lnTo>
                <a:lnTo>
                  <a:pt x="37505" y="120848"/>
                </a:lnTo>
                <a:lnTo>
                  <a:pt x="37505" y="100013"/>
                </a:lnTo>
                <a:cubicBezTo>
                  <a:pt x="37505" y="95403"/>
                  <a:pt x="41229" y="91678"/>
                  <a:pt x="45839" y="91678"/>
                </a:cubicBezTo>
                <a:close/>
                <a:moveTo>
                  <a:pt x="25003" y="29170"/>
                </a:moveTo>
                <a:cubicBezTo>
                  <a:pt x="25003" y="26878"/>
                  <a:pt x="26878" y="25003"/>
                  <a:pt x="29170" y="25003"/>
                </a:cubicBezTo>
                <a:lnTo>
                  <a:pt x="37505" y="25003"/>
                </a:lnTo>
                <a:cubicBezTo>
                  <a:pt x="39797" y="25003"/>
                  <a:pt x="41672" y="26878"/>
                  <a:pt x="41672" y="29170"/>
                </a:cubicBezTo>
                <a:lnTo>
                  <a:pt x="41672" y="37505"/>
                </a:lnTo>
                <a:cubicBezTo>
                  <a:pt x="41672" y="39797"/>
                  <a:pt x="39797" y="41672"/>
                  <a:pt x="37505" y="41672"/>
                </a:cubicBezTo>
                <a:lnTo>
                  <a:pt x="29170" y="41672"/>
                </a:lnTo>
                <a:cubicBezTo>
                  <a:pt x="26878" y="41672"/>
                  <a:pt x="25003" y="39797"/>
                  <a:pt x="25003" y="37505"/>
                </a:cubicBezTo>
                <a:lnTo>
                  <a:pt x="25003" y="29170"/>
                </a:lnTo>
                <a:close/>
                <a:moveTo>
                  <a:pt x="62508" y="25003"/>
                </a:moveTo>
                <a:lnTo>
                  <a:pt x="70842" y="25003"/>
                </a:lnTo>
                <a:cubicBezTo>
                  <a:pt x="73134" y="25003"/>
                  <a:pt x="75009" y="26878"/>
                  <a:pt x="75009" y="29170"/>
                </a:cubicBezTo>
                <a:lnTo>
                  <a:pt x="75009" y="37505"/>
                </a:lnTo>
                <a:cubicBezTo>
                  <a:pt x="75009" y="39797"/>
                  <a:pt x="73134" y="41672"/>
                  <a:pt x="70842" y="41672"/>
                </a:cubicBezTo>
                <a:lnTo>
                  <a:pt x="62508" y="41672"/>
                </a:lnTo>
                <a:cubicBezTo>
                  <a:pt x="60216" y="41672"/>
                  <a:pt x="58341" y="39797"/>
                  <a:pt x="58341" y="37505"/>
                </a:cubicBezTo>
                <a:lnTo>
                  <a:pt x="58341" y="29170"/>
                </a:lnTo>
                <a:cubicBezTo>
                  <a:pt x="58341" y="26878"/>
                  <a:pt x="60216" y="25003"/>
                  <a:pt x="62508" y="25003"/>
                </a:cubicBezTo>
                <a:close/>
                <a:moveTo>
                  <a:pt x="25003" y="62508"/>
                </a:moveTo>
                <a:cubicBezTo>
                  <a:pt x="25003" y="60216"/>
                  <a:pt x="26878" y="58341"/>
                  <a:pt x="29170" y="58341"/>
                </a:cubicBezTo>
                <a:lnTo>
                  <a:pt x="37505" y="58341"/>
                </a:lnTo>
                <a:cubicBezTo>
                  <a:pt x="39797" y="58341"/>
                  <a:pt x="41672" y="60216"/>
                  <a:pt x="41672" y="62508"/>
                </a:cubicBezTo>
                <a:lnTo>
                  <a:pt x="41672" y="70842"/>
                </a:lnTo>
                <a:cubicBezTo>
                  <a:pt x="41672" y="73134"/>
                  <a:pt x="39797" y="75009"/>
                  <a:pt x="37505" y="75009"/>
                </a:cubicBezTo>
                <a:lnTo>
                  <a:pt x="29170" y="75009"/>
                </a:lnTo>
                <a:cubicBezTo>
                  <a:pt x="26878" y="75009"/>
                  <a:pt x="25003" y="73134"/>
                  <a:pt x="25003" y="70842"/>
                </a:cubicBezTo>
                <a:lnTo>
                  <a:pt x="25003" y="62508"/>
                </a:lnTo>
                <a:close/>
                <a:moveTo>
                  <a:pt x="62508" y="58341"/>
                </a:moveTo>
                <a:lnTo>
                  <a:pt x="70842" y="58341"/>
                </a:lnTo>
                <a:cubicBezTo>
                  <a:pt x="73134" y="58341"/>
                  <a:pt x="75009" y="60216"/>
                  <a:pt x="75009" y="62508"/>
                </a:cubicBezTo>
                <a:lnTo>
                  <a:pt x="75009" y="70842"/>
                </a:lnTo>
                <a:cubicBezTo>
                  <a:pt x="75009" y="73134"/>
                  <a:pt x="73134" y="75009"/>
                  <a:pt x="70842" y="75009"/>
                </a:cubicBezTo>
                <a:lnTo>
                  <a:pt x="62508" y="75009"/>
                </a:lnTo>
                <a:cubicBezTo>
                  <a:pt x="60216" y="75009"/>
                  <a:pt x="58341" y="73134"/>
                  <a:pt x="58341" y="70842"/>
                </a:cubicBezTo>
                <a:lnTo>
                  <a:pt x="58341" y="62508"/>
                </a:lnTo>
                <a:cubicBezTo>
                  <a:pt x="58341" y="60216"/>
                  <a:pt x="60216" y="58341"/>
                  <a:pt x="62508" y="58341"/>
                </a:cubicBezTo>
                <a:close/>
              </a:path>
            </a:pathLst>
          </a:custGeom>
          <a:solidFill>
            <a:srgbClr val="6366F1"/>
          </a:solidFill>
          <a:ln/>
        </p:spPr>
      </p:sp>
      <p:sp>
        <p:nvSpPr>
          <p:cNvPr id="22" name="Text 20"/>
          <p:cNvSpPr/>
          <p:nvPr/>
        </p:nvSpPr>
        <p:spPr>
          <a:xfrm>
            <a:off x="800100" y="4000500"/>
            <a:ext cx="47815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Who Uses Them</a:t>
            </a:r>
            <a:endParaRPr lang="en-US" sz="1600" dirty="0"/>
          </a:p>
        </p:txBody>
      </p:sp>
      <p:sp>
        <p:nvSpPr>
          <p:cNvPr id="23" name="Text 21"/>
          <p:cNvSpPr/>
          <p:nvPr/>
        </p:nvSpPr>
        <p:spPr>
          <a:xfrm>
            <a:off x="800100" y="4267200"/>
            <a:ext cx="47815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Banks, airlines, government agencies, hospitals, and large corporations</a:t>
            </a:r>
            <a:endParaRPr lang="en-US" sz="1600" dirty="0"/>
          </a:p>
        </p:txBody>
      </p:sp>
      <p:sp>
        <p:nvSpPr>
          <p:cNvPr id="24" name="Shape 22"/>
          <p:cNvSpPr/>
          <p:nvPr/>
        </p:nvSpPr>
        <p:spPr>
          <a:xfrm>
            <a:off x="384810" y="5703574"/>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25" name="Text 23"/>
          <p:cNvSpPr/>
          <p:nvPr/>
        </p:nvSpPr>
        <p:spPr>
          <a:xfrm>
            <a:off x="541020" y="5859782"/>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When you withdraw money from an ATM, the bank's mainframe processes your request, checks your balance, and updates your account in milliseconds!</a:t>
            </a:r>
            <a:endParaRPr lang="en-US" sz="1600" dirty="0"/>
          </a:p>
        </p:txBody>
      </p:sp>
      <p:sp>
        <p:nvSpPr>
          <p:cNvPr id="26" name="Shape 24"/>
          <p:cNvSpPr/>
          <p:nvPr/>
        </p:nvSpPr>
        <p:spPr>
          <a:xfrm>
            <a:off x="7379970" y="384810"/>
            <a:ext cx="4427220" cy="4398645"/>
          </a:xfrm>
          <a:custGeom>
            <a:avLst/>
            <a:gdLst/>
            <a:ahLst/>
            <a:cxnLst/>
            <a:rect l="l" t="t" r="r" b="b"/>
            <a:pathLst>
              <a:path w="4427220" h="4398645">
                <a:moveTo>
                  <a:pt x="114321" y="0"/>
                </a:moveTo>
                <a:lnTo>
                  <a:pt x="4312899" y="0"/>
                </a:lnTo>
                <a:cubicBezTo>
                  <a:pt x="4376037" y="0"/>
                  <a:pt x="4427220" y="51183"/>
                  <a:pt x="4427220" y="114321"/>
                </a:cubicBezTo>
                <a:lnTo>
                  <a:pt x="4427220" y="4284324"/>
                </a:lnTo>
                <a:cubicBezTo>
                  <a:pt x="4427220" y="4347462"/>
                  <a:pt x="4376037" y="4398645"/>
                  <a:pt x="4312899" y="4398645"/>
                </a:cubicBezTo>
                <a:lnTo>
                  <a:pt x="114321" y="4398645"/>
                </a:lnTo>
                <a:cubicBezTo>
                  <a:pt x="51183" y="4398645"/>
                  <a:pt x="0" y="4347462"/>
                  <a:pt x="0" y="4284324"/>
                </a:cubicBezTo>
                <a:lnTo>
                  <a:pt x="0" y="114321"/>
                </a:lnTo>
                <a:cubicBezTo>
                  <a:pt x="0" y="51225"/>
                  <a:pt x="51225" y="0"/>
                  <a:pt x="114321" y="0"/>
                </a:cubicBezTo>
                <a:close/>
              </a:path>
            </a:pathLst>
          </a:custGeom>
          <a:solidFill>
            <a:srgbClr val="262626"/>
          </a:solidFill>
          <a:ln w="10160">
            <a:solidFill>
              <a:srgbClr val="333333"/>
            </a:solidFill>
            <a:prstDash val="solid"/>
          </a:ln>
        </p:spPr>
      </p:sp>
      <p:sp>
        <p:nvSpPr>
          <p:cNvPr id="27" name="Shape 25"/>
          <p:cNvSpPr/>
          <p:nvPr/>
        </p:nvSpPr>
        <p:spPr>
          <a:xfrm>
            <a:off x="9193530" y="1764032"/>
            <a:ext cx="800100" cy="914400"/>
          </a:xfrm>
          <a:custGeom>
            <a:avLst/>
            <a:gdLst/>
            <a:ahLst/>
            <a:cxnLst/>
            <a:rect l="l" t="t" r="r" b="b"/>
            <a:pathLst>
              <a:path w="800100" h="914400">
                <a:moveTo>
                  <a:pt x="800100" y="367546"/>
                </a:moveTo>
                <a:cubicBezTo>
                  <a:pt x="773668" y="385048"/>
                  <a:pt x="743307" y="399157"/>
                  <a:pt x="711696" y="410408"/>
                </a:cubicBezTo>
                <a:cubicBezTo>
                  <a:pt x="627757" y="440412"/>
                  <a:pt x="517565" y="457200"/>
                  <a:pt x="400050" y="457200"/>
                </a:cubicBezTo>
                <a:cubicBezTo>
                  <a:pt x="282535" y="457200"/>
                  <a:pt x="172164" y="440234"/>
                  <a:pt x="88404" y="410408"/>
                </a:cubicBezTo>
                <a:cubicBezTo>
                  <a:pt x="56971" y="399157"/>
                  <a:pt x="26432" y="385048"/>
                  <a:pt x="0" y="367546"/>
                </a:cubicBezTo>
                <a:lnTo>
                  <a:pt x="0" y="514350"/>
                </a:lnTo>
                <a:cubicBezTo>
                  <a:pt x="0" y="593288"/>
                  <a:pt x="179130" y="657225"/>
                  <a:pt x="400050" y="657225"/>
                </a:cubicBezTo>
                <a:cubicBezTo>
                  <a:pt x="620970" y="657225"/>
                  <a:pt x="800100" y="593288"/>
                  <a:pt x="800100" y="514350"/>
                </a:cubicBezTo>
                <a:lnTo>
                  <a:pt x="800100" y="367546"/>
                </a:lnTo>
                <a:close/>
                <a:moveTo>
                  <a:pt x="800100" y="228600"/>
                </a:moveTo>
                <a:lnTo>
                  <a:pt x="800100" y="142875"/>
                </a:lnTo>
                <a:cubicBezTo>
                  <a:pt x="800100" y="63937"/>
                  <a:pt x="620970" y="0"/>
                  <a:pt x="400050" y="0"/>
                </a:cubicBezTo>
                <a:cubicBezTo>
                  <a:pt x="179130" y="0"/>
                  <a:pt x="0" y="63937"/>
                  <a:pt x="0" y="142875"/>
                </a:cubicBezTo>
                <a:lnTo>
                  <a:pt x="0" y="228600"/>
                </a:lnTo>
                <a:cubicBezTo>
                  <a:pt x="0" y="307538"/>
                  <a:pt x="179130" y="371475"/>
                  <a:pt x="400050" y="371475"/>
                </a:cubicBezTo>
                <a:cubicBezTo>
                  <a:pt x="620970" y="371475"/>
                  <a:pt x="800100" y="307538"/>
                  <a:pt x="800100" y="228600"/>
                </a:cubicBezTo>
                <a:close/>
                <a:moveTo>
                  <a:pt x="711696" y="696158"/>
                </a:moveTo>
                <a:cubicBezTo>
                  <a:pt x="627936" y="725984"/>
                  <a:pt x="517743" y="742950"/>
                  <a:pt x="400050" y="742950"/>
                </a:cubicBezTo>
                <a:cubicBezTo>
                  <a:pt x="282357" y="742950"/>
                  <a:pt x="172164" y="725984"/>
                  <a:pt x="88404" y="696158"/>
                </a:cubicBezTo>
                <a:cubicBezTo>
                  <a:pt x="56971" y="684907"/>
                  <a:pt x="26432" y="670798"/>
                  <a:pt x="0" y="653296"/>
                </a:cubicBezTo>
                <a:lnTo>
                  <a:pt x="0" y="771525"/>
                </a:lnTo>
                <a:cubicBezTo>
                  <a:pt x="0" y="850463"/>
                  <a:pt x="179130" y="914400"/>
                  <a:pt x="400050" y="914400"/>
                </a:cubicBezTo>
                <a:cubicBezTo>
                  <a:pt x="620970" y="914400"/>
                  <a:pt x="800100" y="850463"/>
                  <a:pt x="800100" y="771525"/>
                </a:cubicBezTo>
                <a:lnTo>
                  <a:pt x="800100" y="653296"/>
                </a:lnTo>
                <a:cubicBezTo>
                  <a:pt x="773668" y="670798"/>
                  <a:pt x="743307" y="684907"/>
                  <a:pt x="711696" y="696158"/>
                </a:cubicBezTo>
                <a:close/>
              </a:path>
            </a:pathLst>
          </a:custGeom>
          <a:solidFill>
            <a:srgbClr val="6366F1"/>
          </a:solidFill>
          <a:ln/>
        </p:spPr>
      </p:sp>
      <p:sp>
        <p:nvSpPr>
          <p:cNvPr id="28" name="Text 26"/>
          <p:cNvSpPr/>
          <p:nvPr/>
        </p:nvSpPr>
        <p:spPr>
          <a:xfrm>
            <a:off x="8648224" y="2830832"/>
            <a:ext cx="1895475"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Mainframe Computer</a:t>
            </a:r>
            <a:endParaRPr lang="en-US" sz="1600" dirty="0"/>
          </a:p>
        </p:txBody>
      </p:sp>
      <p:sp>
        <p:nvSpPr>
          <p:cNvPr id="29" name="Text 27"/>
          <p:cNvSpPr/>
          <p:nvPr/>
        </p:nvSpPr>
        <p:spPr>
          <a:xfrm>
            <a:off x="8657749" y="3173732"/>
            <a:ext cx="1876425"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Room-sized powerhouse</a:t>
            </a:r>
            <a:endParaRPr lang="en-US" sz="1600" dirty="0"/>
          </a:p>
        </p:txBody>
      </p:sp>
      <p:sp>
        <p:nvSpPr>
          <p:cNvPr id="30" name="Shape 28"/>
          <p:cNvSpPr/>
          <p:nvPr/>
        </p:nvSpPr>
        <p:spPr>
          <a:xfrm>
            <a:off x="7379970" y="4941574"/>
            <a:ext cx="4427220" cy="1531620"/>
          </a:xfrm>
          <a:custGeom>
            <a:avLst/>
            <a:gdLst/>
            <a:ahLst/>
            <a:cxnLst/>
            <a:rect l="l" t="t" r="r" b="b"/>
            <a:pathLst>
              <a:path w="4427220" h="1531620">
                <a:moveTo>
                  <a:pt x="76198" y="0"/>
                </a:moveTo>
                <a:lnTo>
                  <a:pt x="4351022" y="0"/>
                </a:lnTo>
                <a:cubicBezTo>
                  <a:pt x="4393105" y="0"/>
                  <a:pt x="4427220" y="34115"/>
                  <a:pt x="4427220" y="76198"/>
                </a:cubicBezTo>
                <a:lnTo>
                  <a:pt x="4427220" y="1455422"/>
                </a:lnTo>
                <a:cubicBezTo>
                  <a:pt x="4427220" y="1497505"/>
                  <a:pt x="4393105" y="1531620"/>
                  <a:pt x="435102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31" name="Text 29"/>
          <p:cNvSpPr/>
          <p:nvPr/>
        </p:nvSpPr>
        <p:spPr>
          <a:xfrm>
            <a:off x="7536180" y="5097782"/>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32" name="Text 30"/>
          <p:cNvSpPr/>
          <p:nvPr/>
        </p:nvSpPr>
        <p:spPr>
          <a:xfrm>
            <a:off x="7536180" y="5402582"/>
            <a:ext cx="41910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Mainframes are like super-powered office managers. While a desktop handles one person's work, a mainframe manages millions of transactions for thousands of people simultaneously, never taking a break!</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3.5</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Comparing Types of Computers</a:t>
            </a:r>
            <a:endParaRPr lang="en-US" sz="1600" dirty="0"/>
          </a:p>
        </p:txBody>
      </p:sp>
      <p:sp>
        <p:nvSpPr>
          <p:cNvPr id="4" name="Shape 2"/>
          <p:cNvSpPr/>
          <p:nvPr/>
        </p:nvSpPr>
        <p:spPr>
          <a:xfrm>
            <a:off x="384810" y="1261110"/>
            <a:ext cx="11418570" cy="3274695"/>
          </a:xfrm>
          <a:custGeom>
            <a:avLst/>
            <a:gdLst/>
            <a:ahLst/>
            <a:cxnLst/>
            <a:rect l="l" t="t" r="r" b="b"/>
            <a:pathLst>
              <a:path w="11418570" h="3274695">
                <a:moveTo>
                  <a:pt x="114287" y="0"/>
                </a:moveTo>
                <a:lnTo>
                  <a:pt x="11304283" y="0"/>
                </a:lnTo>
                <a:cubicBezTo>
                  <a:pt x="11367402" y="0"/>
                  <a:pt x="11418570" y="51168"/>
                  <a:pt x="11418570" y="114287"/>
                </a:cubicBezTo>
                <a:lnTo>
                  <a:pt x="11418570" y="3160408"/>
                </a:lnTo>
                <a:cubicBezTo>
                  <a:pt x="11418570" y="3223527"/>
                  <a:pt x="11367402" y="3274695"/>
                  <a:pt x="11304283" y="3274695"/>
                </a:cubicBezTo>
                <a:lnTo>
                  <a:pt x="114287" y="3274695"/>
                </a:lnTo>
                <a:cubicBezTo>
                  <a:pt x="51168" y="3274695"/>
                  <a:pt x="0" y="3223527"/>
                  <a:pt x="0" y="3160408"/>
                </a:cubicBezTo>
                <a:lnTo>
                  <a:pt x="0" y="114287"/>
                </a:lnTo>
                <a:cubicBezTo>
                  <a:pt x="0" y="51168"/>
                  <a:pt x="51168" y="0"/>
                  <a:pt x="114287" y="0"/>
                </a:cubicBezTo>
                <a:close/>
              </a:path>
            </a:pathLst>
          </a:custGeom>
          <a:solidFill>
            <a:srgbClr val="262626"/>
          </a:solidFill>
          <a:ln w="10160">
            <a:solidFill>
              <a:srgbClr val="333333"/>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88620" y="1264918"/>
          <a:ext cx="11410950" cy="3267075"/>
        </p:xfrm>
        <a:graphic>
          <a:graphicData uri="http://schemas.openxmlformats.org/drawingml/2006/table">
            <a:tbl>
              <a:tblPr/>
              <a:tblGrid>
                <a:gridCol w="2122303">
                  <a:extLst>
                    <a:ext uri="{9D8B030D-6E8A-4147-A177-3AD203B41FA5}">
                      <a16:colId xmlns:a16="http://schemas.microsoft.com/office/drawing/2014/main" val="20000"/>
                    </a:ext>
                  </a:extLst>
                </a:gridCol>
                <a:gridCol w="3511794">
                  <a:extLst>
                    <a:ext uri="{9D8B030D-6E8A-4147-A177-3AD203B41FA5}">
                      <a16:colId xmlns:a16="http://schemas.microsoft.com/office/drawing/2014/main" val="20001"/>
                    </a:ext>
                  </a:extLst>
                </a:gridCol>
                <a:gridCol w="2988356">
                  <a:extLst>
                    <a:ext uri="{9D8B030D-6E8A-4147-A177-3AD203B41FA5}">
                      <a16:colId xmlns:a16="http://schemas.microsoft.com/office/drawing/2014/main" val="20002"/>
                    </a:ext>
                  </a:extLst>
                </a:gridCol>
                <a:gridCol w="2788497">
                  <a:extLst>
                    <a:ext uri="{9D8B030D-6E8A-4147-A177-3AD203B41FA5}">
                      <a16:colId xmlns:a16="http://schemas.microsoft.com/office/drawing/2014/main" val="20003"/>
                    </a:ext>
                  </a:extLst>
                </a:gridCol>
              </a:tblGrid>
              <a:tr h="544513">
                <a:tc>
                  <a:txBody>
                    <a:bodyPr/>
                    <a:lstStyle/>
                    <a:p>
                      <a:pPr algn="l"/>
                      <a:r>
                        <a:rPr lang="en-US" sz="1300" b="1" u="none" dirty="0">
                          <a:solidFill>
                            <a:srgbClr val="EFEFEF"/>
                          </a:solidFill>
                          <a:latin typeface="微软雅黑" pitchFamily="34" charset="0"/>
                          <a:ea typeface="微软雅黑" pitchFamily="34" charset="-122"/>
                          <a:cs typeface="微软雅黑" pitchFamily="34" charset="-120"/>
                        </a:rPr>
                        <a:t>Feature</a:t>
                      </a:r>
                      <a:endParaRPr lang="en-US" sz="13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0" cap="flat" cmpd="sng" algn="ctr">
                      <a:noFill/>
                    </a:lnB>
                    <a:solidFill>
                      <a:srgbClr val="6366F1">
                        <a:alpha val="20000"/>
                      </a:srgbClr>
                    </a:solidFill>
                  </a:tcPr>
                </a:tc>
                <a:tc>
                  <a:txBody>
                    <a:bodyPr/>
                    <a:lstStyle/>
                    <a:p>
                      <a:pPr algn="l"/>
                      <a:r>
                        <a:rPr lang="en-US" sz="1300" b="1" u="none" dirty="0">
                          <a:solidFill>
                            <a:srgbClr val="EFEFEF"/>
                          </a:solidFill>
                          <a:latin typeface="微软雅黑" pitchFamily="34" charset="0"/>
                          <a:ea typeface="微软雅黑" pitchFamily="34" charset="-122"/>
                          <a:cs typeface="微软雅黑" pitchFamily="34" charset="-120"/>
                        </a:rPr>
                        <a:t>Desktop</a:t>
                      </a:r>
                      <a:endParaRPr lang="en-US" sz="13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0" cap="flat" cmpd="sng" algn="ctr">
                      <a:noFill/>
                    </a:lnB>
                    <a:solidFill>
                      <a:srgbClr val="6366F1">
                        <a:alpha val="20000"/>
                      </a:srgbClr>
                    </a:solidFill>
                  </a:tcPr>
                </a:tc>
                <a:tc>
                  <a:txBody>
                    <a:bodyPr/>
                    <a:lstStyle/>
                    <a:p>
                      <a:pPr algn="l"/>
                      <a:r>
                        <a:rPr lang="en-US" sz="1300" b="1" u="none" dirty="0">
                          <a:solidFill>
                            <a:srgbClr val="EFEFEF"/>
                          </a:solidFill>
                          <a:latin typeface="微软雅黑" pitchFamily="34" charset="0"/>
                          <a:ea typeface="微软雅黑" pitchFamily="34" charset="-122"/>
                          <a:cs typeface="微软雅黑" pitchFamily="34" charset="-120"/>
                        </a:rPr>
                        <a:t>Mobile</a:t>
                      </a:r>
                      <a:endParaRPr lang="en-US" sz="13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0" cap="flat" cmpd="sng" algn="ctr">
                      <a:noFill/>
                    </a:lnB>
                    <a:solidFill>
                      <a:srgbClr val="6366F1">
                        <a:alpha val="20000"/>
                      </a:srgbClr>
                    </a:solidFill>
                  </a:tcPr>
                </a:tc>
                <a:tc>
                  <a:txBody>
                    <a:bodyPr/>
                    <a:lstStyle/>
                    <a:p>
                      <a:pPr algn="l"/>
                      <a:r>
                        <a:rPr lang="en-US" sz="1300" b="1" u="none" dirty="0">
                          <a:solidFill>
                            <a:srgbClr val="EFEFEF"/>
                          </a:solidFill>
                          <a:latin typeface="微软雅黑" pitchFamily="34" charset="0"/>
                          <a:ea typeface="微软雅黑" pitchFamily="34" charset="-122"/>
                          <a:cs typeface="微软雅黑" pitchFamily="34" charset="-120"/>
                        </a:rPr>
                        <a:t>Mainframe</a:t>
                      </a:r>
                      <a:endParaRPr lang="en-US" sz="13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0" cap="flat" cmpd="sng" algn="ctr">
                      <a:noFill/>
                    </a:lnB>
                    <a:solidFill>
                      <a:srgbClr val="6366F1">
                        <a:alpha val="20000"/>
                      </a:srgbClr>
                    </a:solidFill>
                  </a:tcPr>
                </a:tc>
                <a:extLst>
                  <a:ext uri="{0D108BD9-81ED-4DB2-BD59-A6C34878D82A}">
                    <a16:rowId xmlns:a16="http://schemas.microsoft.com/office/drawing/2014/main" val="10000"/>
                  </a:ext>
                </a:extLst>
              </a:tr>
              <a:tr h="544513">
                <a:tc>
                  <a:txBody>
                    <a:bodyPr/>
                    <a:lstStyle/>
                    <a:p>
                      <a:r>
                        <a:rPr lang="en-US" sz="1200" b="1" u="none" dirty="0">
                          <a:solidFill>
                            <a:srgbClr val="EFEFEF"/>
                          </a:solidFill>
                          <a:latin typeface="微软雅黑" pitchFamily="34" charset="0"/>
                          <a:ea typeface="微软雅黑" pitchFamily="34" charset="-122"/>
                          <a:cs typeface="微软雅黑" pitchFamily="34" charset="-120"/>
                        </a:rPr>
                        <a:t>Portability</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Not portable</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Highly portable</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Not portable</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0" cap="flat" cmpd="sng" algn="ctr">
                      <a:noFill/>
                    </a:lnT>
                    <a:lnB w="10160" cap="flat" cmpd="sng" algn="ctr">
                      <a:solidFill>
                        <a:srgbClr val="333333"/>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544513">
                <a:tc>
                  <a:txBody>
                    <a:bodyPr/>
                    <a:lstStyle/>
                    <a:p>
                      <a:r>
                        <a:rPr lang="en-US" sz="1200" b="1" u="none" dirty="0">
                          <a:solidFill>
                            <a:srgbClr val="EFEFEF"/>
                          </a:solidFill>
                          <a:latin typeface="微软雅黑" pitchFamily="34" charset="0"/>
                          <a:ea typeface="微软雅黑" pitchFamily="34" charset="-122"/>
                          <a:cs typeface="微软雅黑" pitchFamily="34" charset="-120"/>
                        </a:rPr>
                        <a:t>Power</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High</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Moderate</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Extremely high</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544513">
                <a:tc>
                  <a:txBody>
                    <a:bodyPr/>
                    <a:lstStyle/>
                    <a:p>
                      <a:r>
                        <a:rPr lang="en-US" sz="1200" b="1" u="none" dirty="0">
                          <a:solidFill>
                            <a:srgbClr val="EFEFEF"/>
                          </a:solidFill>
                          <a:latin typeface="微软雅黑" pitchFamily="34" charset="0"/>
                          <a:ea typeface="微软雅黑" pitchFamily="34" charset="-122"/>
                          <a:cs typeface="微软雅黑" pitchFamily="34" charset="-120"/>
                        </a:rPr>
                        <a:t>Cost</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$500-$2000</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$200-$2500</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$100,000+</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544513">
                <a:tc>
                  <a:txBody>
                    <a:bodyPr/>
                    <a:lstStyle/>
                    <a:p>
                      <a:r>
                        <a:rPr lang="en-US" sz="1200" b="1" u="none" dirty="0">
                          <a:solidFill>
                            <a:srgbClr val="EFEFEF"/>
                          </a:solidFill>
                          <a:latin typeface="微软雅黑" pitchFamily="34" charset="0"/>
                          <a:ea typeface="微软雅黑" pitchFamily="34" charset="-122"/>
                          <a:cs typeface="微软雅黑" pitchFamily="34" charset="-120"/>
                        </a:rPr>
                        <a:t>Users</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1 person</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1 person</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Thousands</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10160" cap="flat" cmpd="sng" algn="ctr">
                      <a:solidFill>
                        <a:srgbClr val="333333"/>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544513">
                <a:tc>
                  <a:txBody>
                    <a:bodyPr/>
                    <a:lstStyle/>
                    <a:p>
                      <a:r>
                        <a:rPr lang="en-US" sz="1200" b="1" u="none" dirty="0">
                          <a:solidFill>
                            <a:srgbClr val="EFEFEF"/>
                          </a:solidFill>
                          <a:latin typeface="微软雅黑" pitchFamily="34" charset="0"/>
                          <a:ea typeface="微软雅黑" pitchFamily="34" charset="-122"/>
                          <a:cs typeface="微软雅黑" pitchFamily="34" charset="-120"/>
                        </a:rPr>
                        <a:t>Best For</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Gaming, office work</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Travel, flexibility</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8F8F8F"/>
                          </a:solidFill>
                          <a:latin typeface="微软雅黑" pitchFamily="34" charset="0"/>
                          <a:ea typeface="微软雅黑" pitchFamily="34" charset="-122"/>
                          <a:cs typeface="微软雅黑" pitchFamily="34" charset="-120"/>
                        </a:rPr>
                        <a:t>Banks, airlines</a:t>
                      </a:r>
                      <a:endParaRPr lang="en-US" sz="1200" dirty="0">
                        <a:latin typeface="微软雅黑" charset="0"/>
                        <a:ea typeface="微软雅黑" charset="0"/>
                        <a:cs typeface="微软雅黑" charset="0"/>
                      </a:endParaRPr>
                    </a:p>
                  </a:txBody>
                  <a:tcPr marL="152400" marR="152400" marT="152400" marB="152400" anchor="ctr">
                    <a:lnL w="0" cap="flat" cmpd="sng" algn="ctr">
                      <a:noFill/>
                    </a:lnL>
                    <a:lnR w="0" cap="flat" cmpd="sng" algn="ctr">
                      <a:noFill/>
                    </a:lnR>
                    <a:lnT w="10160" cap="flat" cmpd="sng" algn="ctr">
                      <a:solidFill>
                        <a:srgbClr val="333333"/>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5"/>
                  </a:ext>
                </a:extLst>
              </a:tr>
            </a:tbl>
          </a:graphicData>
        </a:graphic>
      </p:graphicFrame>
      <p:sp>
        <p:nvSpPr>
          <p:cNvPr id="6" name="Shape 3"/>
          <p:cNvSpPr/>
          <p:nvPr/>
        </p:nvSpPr>
        <p:spPr>
          <a:xfrm>
            <a:off x="384810" y="4697737"/>
            <a:ext cx="5608320" cy="1760220"/>
          </a:xfrm>
          <a:custGeom>
            <a:avLst/>
            <a:gdLst/>
            <a:ahLst/>
            <a:cxnLst/>
            <a:rect l="l" t="t" r="r" b="b"/>
            <a:pathLst>
              <a:path w="5608320" h="1760220">
                <a:moveTo>
                  <a:pt x="76200" y="0"/>
                </a:moveTo>
                <a:lnTo>
                  <a:pt x="5532120" y="0"/>
                </a:lnTo>
                <a:cubicBezTo>
                  <a:pt x="5574204" y="0"/>
                  <a:pt x="5608320" y="34116"/>
                  <a:pt x="5608320" y="76200"/>
                </a:cubicBezTo>
                <a:lnTo>
                  <a:pt x="5608320" y="1684020"/>
                </a:lnTo>
                <a:cubicBezTo>
                  <a:pt x="5608320" y="1726104"/>
                  <a:pt x="5574204" y="1760220"/>
                  <a:pt x="5532120" y="1760220"/>
                </a:cubicBezTo>
                <a:lnTo>
                  <a:pt x="76200" y="1760220"/>
                </a:lnTo>
                <a:cubicBezTo>
                  <a:pt x="34116" y="1760220"/>
                  <a:pt x="0" y="1726104"/>
                  <a:pt x="0" y="1684020"/>
                </a:cubicBezTo>
                <a:lnTo>
                  <a:pt x="0" y="76200"/>
                </a:lnTo>
                <a:cubicBezTo>
                  <a:pt x="0" y="34144"/>
                  <a:pt x="34144" y="0"/>
                  <a:pt x="76200" y="0"/>
                </a:cubicBezTo>
                <a:close/>
              </a:path>
            </a:pathLst>
          </a:custGeom>
          <a:solidFill>
            <a:srgbClr val="6366F1">
              <a:alpha val="10196"/>
            </a:srgbClr>
          </a:solidFill>
          <a:ln w="10160">
            <a:solidFill>
              <a:srgbClr val="6366F1">
                <a:alpha val="30196"/>
              </a:srgbClr>
            </a:solidFill>
            <a:prstDash val="solid"/>
          </a:ln>
        </p:spPr>
      </p:sp>
      <p:sp>
        <p:nvSpPr>
          <p:cNvPr id="7" name="Text 4"/>
          <p:cNvSpPr/>
          <p:nvPr/>
        </p:nvSpPr>
        <p:spPr>
          <a:xfrm>
            <a:off x="541020" y="4853936"/>
            <a:ext cx="53721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Which One Should You Choose?</a:t>
            </a:r>
            <a:endParaRPr lang="en-US" sz="1600" dirty="0"/>
          </a:p>
        </p:txBody>
      </p:sp>
      <p:sp>
        <p:nvSpPr>
          <p:cNvPr id="8" name="Text 5"/>
          <p:cNvSpPr/>
          <p:nvPr/>
        </p:nvSpPr>
        <p:spPr>
          <a:xfrm>
            <a:off x="541020" y="5158736"/>
            <a:ext cx="53721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Desktop:</a:t>
            </a:r>
            <a:r>
              <a:rPr lang="en-US" sz="1200" dirty="0">
                <a:solidFill>
                  <a:srgbClr val="EFEFEF"/>
                </a:solidFill>
                <a:latin typeface="Liter" pitchFamily="34" charset="0"/>
                <a:ea typeface="Liter" pitchFamily="34" charset="-122"/>
                <a:cs typeface="Liter" pitchFamily="34" charset="-120"/>
              </a:rPr>
              <a:t> Best for power users, gamers, and office work</a:t>
            </a:r>
            <a:endParaRPr lang="en-US" sz="1600" dirty="0"/>
          </a:p>
        </p:txBody>
      </p:sp>
      <p:sp>
        <p:nvSpPr>
          <p:cNvPr id="9" name="Text 6"/>
          <p:cNvSpPr/>
          <p:nvPr/>
        </p:nvSpPr>
        <p:spPr>
          <a:xfrm>
            <a:off x="541020" y="5463536"/>
            <a:ext cx="53721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Mobile:</a:t>
            </a:r>
            <a:r>
              <a:rPr lang="en-US" sz="1200" dirty="0">
                <a:solidFill>
                  <a:srgbClr val="EFEFEF"/>
                </a:solidFill>
                <a:latin typeface="Liter" pitchFamily="34" charset="0"/>
                <a:ea typeface="Liter" pitchFamily="34" charset="-122"/>
                <a:cs typeface="Liter" pitchFamily="34" charset="-120"/>
              </a:rPr>
              <a:t> Perfect for students, travelers, and casual use</a:t>
            </a:r>
            <a:endParaRPr lang="en-US" sz="1600" dirty="0"/>
          </a:p>
        </p:txBody>
      </p:sp>
      <p:sp>
        <p:nvSpPr>
          <p:cNvPr id="10" name="Text 7"/>
          <p:cNvSpPr/>
          <p:nvPr/>
        </p:nvSpPr>
        <p:spPr>
          <a:xfrm>
            <a:off x="541020" y="5768336"/>
            <a:ext cx="53721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Mainframe:</a:t>
            </a:r>
            <a:r>
              <a:rPr lang="en-US" sz="1200" dirty="0">
                <a:solidFill>
                  <a:srgbClr val="EFEFEF"/>
                </a:solidFill>
                <a:latin typeface="Liter" pitchFamily="34" charset="0"/>
                <a:ea typeface="Liter" pitchFamily="34" charset="-122"/>
                <a:cs typeface="Liter" pitchFamily="34" charset="-120"/>
              </a:rPr>
              <a:t> Essential for large organizations handling massive data</a:t>
            </a:r>
            <a:endParaRPr lang="en-US" sz="1600" dirty="0"/>
          </a:p>
        </p:txBody>
      </p:sp>
      <p:sp>
        <p:nvSpPr>
          <p:cNvPr id="11" name="Shape 8"/>
          <p:cNvSpPr/>
          <p:nvPr/>
        </p:nvSpPr>
        <p:spPr>
          <a:xfrm>
            <a:off x="6195060" y="4697737"/>
            <a:ext cx="5608320" cy="1760220"/>
          </a:xfrm>
          <a:custGeom>
            <a:avLst/>
            <a:gdLst/>
            <a:ahLst/>
            <a:cxnLst/>
            <a:rect l="l" t="t" r="r" b="b"/>
            <a:pathLst>
              <a:path w="5608320" h="1760220">
                <a:moveTo>
                  <a:pt x="76200" y="0"/>
                </a:moveTo>
                <a:lnTo>
                  <a:pt x="5532120" y="0"/>
                </a:lnTo>
                <a:cubicBezTo>
                  <a:pt x="5574204" y="0"/>
                  <a:pt x="5608320" y="34116"/>
                  <a:pt x="5608320" y="76200"/>
                </a:cubicBezTo>
                <a:lnTo>
                  <a:pt x="5608320" y="1684020"/>
                </a:lnTo>
                <a:cubicBezTo>
                  <a:pt x="5608320" y="1726104"/>
                  <a:pt x="5574204" y="1760220"/>
                  <a:pt x="5532120" y="1760220"/>
                </a:cubicBezTo>
                <a:lnTo>
                  <a:pt x="76200" y="1760220"/>
                </a:lnTo>
                <a:cubicBezTo>
                  <a:pt x="34116" y="1760220"/>
                  <a:pt x="0" y="1726104"/>
                  <a:pt x="0" y="16840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12" name="Text 9"/>
          <p:cNvSpPr/>
          <p:nvPr/>
        </p:nvSpPr>
        <p:spPr>
          <a:xfrm>
            <a:off x="6351270" y="4853936"/>
            <a:ext cx="5372100" cy="6858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A graphic designer uses a powerful desktop, a student uses a laptop for classes, and your bank uses a mainframe to process all customer transactions!</a:t>
            </a:r>
            <a:endParaRPr lang="en-US" sz="1600" dirty="0"/>
          </a:p>
        </p:txBody>
      </p:sp>
      <p:sp>
        <p:nvSpPr>
          <p:cNvPr id="13" name="Text 10"/>
          <p:cNvSpPr/>
          <p:nvPr/>
        </p:nvSpPr>
        <p:spPr>
          <a:xfrm>
            <a:off x="6351270" y="5615936"/>
            <a:ext cx="5372100" cy="6858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Think of computers like vehicles: desktops are trucks (powerful but stationary), mobile devices are cars (versatile and portable), and mainframes are trains (handle massive loads for many people).</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91919"/>
        </a:solidFill>
        <a:effectLst/>
      </p:bgPr>
    </p:bg>
    <p:spTree>
      <p:nvGrpSpPr>
        <p:cNvPr id="1" name=""/>
        <p:cNvGrpSpPr/>
        <p:nvPr/>
      </p:nvGrpSpPr>
      <p:grpSpPr>
        <a:xfrm>
          <a:off x="0" y="0"/>
          <a:ext cx="0" cy="0"/>
          <a:chOff x="0" y="0"/>
          <a:chExt cx="0" cy="0"/>
        </a:xfrm>
      </p:grpSpPr>
      <p:pic>
        <p:nvPicPr>
          <p:cNvPr id="2" name="Image 0" descr="https://kimi-web-img.moonshot.cn/img/study.com/dbc4d83b923fca8711daaedde58af97c604530af.jpg"/>
          <p:cNvPicPr>
            <a:picLocks noChangeAspect="1"/>
          </p:cNvPicPr>
          <p:nvPr/>
        </p:nvPicPr>
        <p:blipFill>
          <a:blip r:embed="rId3">
            <a:alphaModFix amt="20000"/>
          </a:blip>
          <a:src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91919"/>
              </a:gs>
              <a:gs pos="50000">
                <a:srgbClr val="191919">
                  <a:alpha val="95000"/>
                </a:srgbClr>
              </a:gs>
              <a:gs pos="100000">
                <a:srgbClr val="191919">
                  <a:alpha val="70000"/>
                </a:srgbClr>
              </a:gs>
            </a:gsLst>
            <a:lin ang="0" scaled="1"/>
          </a:gradFill>
          <a:ln/>
        </p:spPr>
      </p:sp>
      <p:sp>
        <p:nvSpPr>
          <p:cNvPr id="4" name="Shape 1"/>
          <p:cNvSpPr/>
          <p:nvPr/>
        </p:nvSpPr>
        <p:spPr>
          <a:xfrm>
            <a:off x="384810" y="1601164"/>
            <a:ext cx="2245995" cy="426720"/>
          </a:xfrm>
          <a:custGeom>
            <a:avLst/>
            <a:gdLst/>
            <a:ahLst/>
            <a:cxnLst/>
            <a:rect l="l" t="t" r="r" b="b"/>
            <a:pathLst>
              <a:path w="2245995" h="426720">
                <a:moveTo>
                  <a:pt x="213360" y="0"/>
                </a:moveTo>
                <a:lnTo>
                  <a:pt x="2032635" y="0"/>
                </a:lnTo>
                <a:cubicBezTo>
                  <a:pt x="2150470" y="0"/>
                  <a:pt x="2245995" y="95525"/>
                  <a:pt x="2245995" y="213360"/>
                </a:cubicBezTo>
                <a:lnTo>
                  <a:pt x="2245995" y="213360"/>
                </a:lnTo>
                <a:cubicBezTo>
                  <a:pt x="2245995" y="331195"/>
                  <a:pt x="2150470" y="426720"/>
                  <a:pt x="2032635" y="426720"/>
                </a:cubicBezTo>
                <a:lnTo>
                  <a:pt x="213360" y="426720"/>
                </a:lnTo>
                <a:cubicBezTo>
                  <a:pt x="95603" y="426720"/>
                  <a:pt x="0" y="331117"/>
                  <a:pt x="0" y="213360"/>
                </a:cubicBezTo>
                <a:lnTo>
                  <a:pt x="0" y="213360"/>
                </a:lnTo>
                <a:cubicBezTo>
                  <a:pt x="0" y="95603"/>
                  <a:pt x="95603" y="0"/>
                  <a:pt x="213360" y="0"/>
                </a:cubicBezTo>
                <a:close/>
              </a:path>
            </a:pathLst>
          </a:custGeom>
          <a:solidFill>
            <a:srgbClr val="6366F1">
              <a:alpha val="20000"/>
            </a:srgbClr>
          </a:solidFill>
          <a:ln w="10160">
            <a:solidFill>
              <a:srgbClr val="6366F1">
                <a:alpha val="40000"/>
              </a:srgbClr>
            </a:solidFill>
            <a:prstDash val="solid"/>
          </a:ln>
        </p:spPr>
      </p:sp>
      <p:sp>
        <p:nvSpPr>
          <p:cNvPr id="5" name="Text 2"/>
          <p:cNvSpPr/>
          <p:nvPr/>
        </p:nvSpPr>
        <p:spPr>
          <a:xfrm>
            <a:off x="617220" y="1688790"/>
            <a:ext cx="1865471" cy="243840"/>
          </a:xfrm>
          <a:prstGeom prst="rect">
            <a:avLst/>
          </a:prstGeom>
          <a:noFill/>
          <a:ln/>
        </p:spPr>
        <p:txBody>
          <a:bodyPr wrap="square" lIns="0" tIns="0" rIns="0" bIns="0" rtlCol="0" anchor="ctr"/>
          <a:lstStyle/>
          <a:p>
            <a:pPr>
              <a:lnSpc>
                <a:spcPct val="130000"/>
              </a:lnSpc>
            </a:pPr>
            <a:r>
              <a:rPr lang="en-US" sz="1350" b="1" kern="0" spc="68" dirty="0">
                <a:solidFill>
                  <a:srgbClr val="6366F1"/>
                </a:solidFill>
                <a:latin typeface="Liter" pitchFamily="34" charset="0"/>
                <a:ea typeface="Liter" pitchFamily="34" charset="-122"/>
                <a:cs typeface="Liter" pitchFamily="34" charset="-120"/>
              </a:rPr>
              <a:t>LECTURE 4 • WEEK 2</a:t>
            </a:r>
            <a:endParaRPr lang="en-US" sz="1600" dirty="0"/>
          </a:p>
        </p:txBody>
      </p:sp>
      <p:sp>
        <p:nvSpPr>
          <p:cNvPr id="6" name="Text 3"/>
          <p:cNvSpPr/>
          <p:nvPr/>
        </p:nvSpPr>
        <p:spPr>
          <a:xfrm>
            <a:off x="381000" y="2260290"/>
            <a:ext cx="7658100" cy="1714500"/>
          </a:xfrm>
          <a:prstGeom prst="rect">
            <a:avLst/>
          </a:prstGeom>
          <a:noFill/>
          <a:ln/>
        </p:spPr>
        <p:txBody>
          <a:bodyPr wrap="square" lIns="0" tIns="0" rIns="0" bIns="0" rtlCol="0" anchor="ctr"/>
          <a:lstStyle/>
          <a:p>
            <a:pPr>
              <a:lnSpc>
                <a:spcPct val="100000"/>
              </a:lnSpc>
            </a:pPr>
            <a:r>
              <a:rPr lang="en-US" sz="5400" b="1" dirty="0">
                <a:solidFill>
                  <a:srgbClr val="EFEFEF"/>
                </a:solidFill>
                <a:latin typeface="Liter" pitchFamily="34" charset="0"/>
                <a:ea typeface="Liter" pitchFamily="34" charset="-122"/>
                <a:cs typeface="Liter" pitchFamily="34" charset="-120"/>
              </a:rPr>
              <a:t>CPU and</a:t>
            </a:r>
            <a:endParaRPr lang="en-US" sz="1600" dirty="0"/>
          </a:p>
          <a:p>
            <a:pPr>
              <a:lnSpc>
                <a:spcPct val="100000"/>
              </a:lnSpc>
            </a:pPr>
            <a:r>
              <a:rPr lang="en-US" sz="5400" b="1" dirty="0">
                <a:solidFill>
                  <a:srgbClr val="6366F1"/>
                </a:solidFill>
                <a:latin typeface="Liter" pitchFamily="34" charset="0"/>
                <a:ea typeface="Liter" pitchFamily="34" charset="-122"/>
                <a:cs typeface="Liter" pitchFamily="34" charset="-120"/>
              </a:rPr>
              <a:t>Memory Concepts</a:t>
            </a:r>
            <a:endParaRPr lang="en-US" sz="1600" dirty="0"/>
          </a:p>
        </p:txBody>
      </p:sp>
      <p:sp>
        <p:nvSpPr>
          <p:cNvPr id="7" name="Text 4"/>
          <p:cNvSpPr/>
          <p:nvPr/>
        </p:nvSpPr>
        <p:spPr>
          <a:xfrm>
            <a:off x="381000" y="4203390"/>
            <a:ext cx="6515100" cy="371475"/>
          </a:xfrm>
          <a:prstGeom prst="rect">
            <a:avLst/>
          </a:prstGeom>
          <a:noFill/>
          <a:ln/>
        </p:spPr>
        <p:txBody>
          <a:bodyPr wrap="square" lIns="0" tIns="0" rIns="0" bIns="0" rtlCol="0" anchor="ctr"/>
          <a:lstStyle/>
          <a:p>
            <a:pPr>
              <a:lnSpc>
                <a:spcPct val="140000"/>
              </a:lnSpc>
            </a:pPr>
            <a:r>
              <a:rPr lang="en-US" sz="1800" dirty="0">
                <a:solidFill>
                  <a:srgbClr val="8F8F8F"/>
                </a:solidFill>
                <a:latin typeface="Liter" pitchFamily="34" charset="0"/>
                <a:ea typeface="Liter" pitchFamily="34" charset="-122"/>
                <a:cs typeface="Liter" pitchFamily="34" charset="-120"/>
              </a:rPr>
              <a:t>Understanding the brain and memory of computers</a:t>
            </a:r>
            <a:endParaRPr lang="en-US" sz="1600" dirty="0"/>
          </a:p>
        </p:txBody>
      </p:sp>
      <p:sp>
        <p:nvSpPr>
          <p:cNvPr id="8" name="Shape 5"/>
          <p:cNvSpPr/>
          <p:nvPr/>
        </p:nvSpPr>
        <p:spPr>
          <a:xfrm>
            <a:off x="381000" y="5127315"/>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6366F1"/>
          </a:solidFill>
          <a:ln/>
        </p:spPr>
      </p:sp>
      <p:sp>
        <p:nvSpPr>
          <p:cNvPr id="9" name="Text 6"/>
          <p:cNvSpPr/>
          <p:nvPr/>
        </p:nvSpPr>
        <p:spPr>
          <a:xfrm>
            <a:off x="1143000" y="5032065"/>
            <a:ext cx="6572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6 Topics</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4.1</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Central Processing Unit (CPU)</a:t>
            </a:r>
            <a:endParaRPr lang="en-US" sz="1600" dirty="0"/>
          </a:p>
        </p:txBody>
      </p:sp>
      <p:sp>
        <p:nvSpPr>
          <p:cNvPr id="4" name="Shape 2"/>
          <p:cNvSpPr/>
          <p:nvPr/>
        </p:nvSpPr>
        <p:spPr>
          <a:xfrm>
            <a:off x="384810" y="1261110"/>
            <a:ext cx="5589270" cy="1912620"/>
          </a:xfrm>
          <a:custGeom>
            <a:avLst/>
            <a:gdLst/>
            <a:ahLst/>
            <a:cxnLst/>
            <a:rect l="l" t="t" r="r" b="b"/>
            <a:pathLst>
              <a:path w="5589270" h="1912620">
                <a:moveTo>
                  <a:pt x="114298" y="0"/>
                </a:moveTo>
                <a:lnTo>
                  <a:pt x="5474972" y="0"/>
                </a:lnTo>
                <a:cubicBezTo>
                  <a:pt x="5538097" y="0"/>
                  <a:pt x="5589270" y="51173"/>
                  <a:pt x="5589270" y="114298"/>
                </a:cubicBezTo>
                <a:lnTo>
                  <a:pt x="5589270" y="1798322"/>
                </a:lnTo>
                <a:cubicBezTo>
                  <a:pt x="5589270" y="1861447"/>
                  <a:pt x="5538097" y="1912620"/>
                  <a:pt x="5474972" y="1912620"/>
                </a:cubicBezTo>
                <a:lnTo>
                  <a:pt x="114298" y="1912620"/>
                </a:lnTo>
                <a:cubicBezTo>
                  <a:pt x="51173" y="1912620"/>
                  <a:pt x="0" y="1861447"/>
                  <a:pt x="0" y="1798322"/>
                </a:cubicBezTo>
                <a:lnTo>
                  <a:pt x="0" y="114298"/>
                </a:lnTo>
                <a:cubicBezTo>
                  <a:pt x="0" y="51215"/>
                  <a:pt x="51215" y="0"/>
                  <a:pt x="114298" y="0"/>
                </a:cubicBezTo>
                <a:close/>
              </a:path>
            </a:pathLst>
          </a:custGeom>
          <a:solidFill>
            <a:srgbClr val="262626"/>
          </a:solidFill>
          <a:ln w="10160">
            <a:solidFill>
              <a:srgbClr val="333333"/>
            </a:solidFill>
            <a:prstDash val="solid"/>
          </a:ln>
        </p:spPr>
      </p:sp>
      <p:sp>
        <p:nvSpPr>
          <p:cNvPr id="5" name="Shape 3"/>
          <p:cNvSpPr/>
          <p:nvPr/>
        </p:nvSpPr>
        <p:spPr>
          <a:xfrm>
            <a:off x="579120" y="1455427"/>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6" name="Shape 4"/>
          <p:cNvSpPr/>
          <p:nvPr/>
        </p:nvSpPr>
        <p:spPr>
          <a:xfrm>
            <a:off x="693420" y="1569727"/>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6366F1"/>
          </a:solidFill>
          <a:ln/>
        </p:spPr>
      </p:sp>
      <p:sp>
        <p:nvSpPr>
          <p:cNvPr id="7" name="Text 5"/>
          <p:cNvSpPr/>
          <p:nvPr/>
        </p:nvSpPr>
        <p:spPr>
          <a:xfrm>
            <a:off x="1074420" y="1512577"/>
            <a:ext cx="15525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What is the CPU?</a:t>
            </a:r>
            <a:endParaRPr lang="en-US" sz="1600" dirty="0"/>
          </a:p>
        </p:txBody>
      </p:sp>
      <p:sp>
        <p:nvSpPr>
          <p:cNvPr id="8" name="Text 6"/>
          <p:cNvSpPr/>
          <p:nvPr/>
        </p:nvSpPr>
        <p:spPr>
          <a:xfrm>
            <a:off x="579120" y="1950727"/>
            <a:ext cx="52768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 CPU is the "brain" of the computer. It executes instructions, performs calculations, and coordinates all other components.</a:t>
            </a:r>
            <a:endParaRPr lang="en-US" sz="1600" dirty="0"/>
          </a:p>
        </p:txBody>
      </p:sp>
      <p:sp>
        <p:nvSpPr>
          <p:cNvPr id="9" name="Text 7"/>
          <p:cNvSpPr/>
          <p:nvPr/>
        </p:nvSpPr>
        <p:spPr>
          <a:xfrm>
            <a:off x="579120" y="2522227"/>
            <a:ext cx="5276850" cy="457200"/>
          </a:xfrm>
          <a:prstGeom prst="rect">
            <a:avLst/>
          </a:prstGeom>
          <a:noFill/>
          <a:ln/>
        </p:spPr>
        <p:txBody>
          <a:bodyPr wrap="square" lIns="0" tIns="0" rIns="0" bIns="0" rtlCol="0" anchor="ctr"/>
          <a:lstStyle/>
          <a:p>
            <a:pPr>
              <a:lnSpc>
                <a:spcPct val="130000"/>
              </a:lnSpc>
            </a:pPr>
            <a:r>
              <a:rPr lang="en-US" sz="1200" b="1" dirty="0">
                <a:solidFill>
                  <a:srgbClr val="8F8F8F"/>
                </a:solidFill>
                <a:latin typeface="Liter" pitchFamily="34" charset="0"/>
                <a:ea typeface="Liter" pitchFamily="34" charset="-122"/>
                <a:cs typeface="Liter" pitchFamily="34" charset="-120"/>
              </a:rPr>
              <a:t>Analogy:</a:t>
            </a:r>
            <a:r>
              <a:rPr lang="en-US" sz="1200" dirty="0">
                <a:solidFill>
                  <a:srgbClr val="8F8F8F"/>
                </a:solidFill>
                <a:latin typeface="Liter" pitchFamily="34" charset="0"/>
                <a:ea typeface="Liter" pitchFamily="34" charset="-122"/>
                <a:cs typeface="Liter" pitchFamily="34" charset="-120"/>
              </a:rPr>
              <a:t> Like a chef in a kitchen who reads recipes, prepares ingredients, and creates dishes</a:t>
            </a:r>
            <a:endParaRPr lang="en-US" sz="1600" dirty="0"/>
          </a:p>
        </p:txBody>
      </p:sp>
      <p:sp>
        <p:nvSpPr>
          <p:cNvPr id="10" name="Shape 8"/>
          <p:cNvSpPr/>
          <p:nvPr/>
        </p:nvSpPr>
        <p:spPr>
          <a:xfrm>
            <a:off x="384810" y="3333746"/>
            <a:ext cx="5589270" cy="1798320"/>
          </a:xfrm>
          <a:custGeom>
            <a:avLst/>
            <a:gdLst/>
            <a:ahLst/>
            <a:cxnLst/>
            <a:rect l="l" t="t" r="r" b="b"/>
            <a:pathLst>
              <a:path w="5589270" h="1798320">
                <a:moveTo>
                  <a:pt x="114301" y="0"/>
                </a:moveTo>
                <a:lnTo>
                  <a:pt x="5474969" y="0"/>
                </a:lnTo>
                <a:cubicBezTo>
                  <a:pt x="5538096" y="0"/>
                  <a:pt x="5589270" y="51174"/>
                  <a:pt x="5589270" y="114301"/>
                </a:cubicBezTo>
                <a:lnTo>
                  <a:pt x="5589270" y="1684019"/>
                </a:lnTo>
                <a:cubicBezTo>
                  <a:pt x="5589270" y="1747103"/>
                  <a:pt x="5538053" y="1798320"/>
                  <a:pt x="5474969" y="1798320"/>
                </a:cubicBezTo>
                <a:lnTo>
                  <a:pt x="114301" y="1798320"/>
                </a:lnTo>
                <a:cubicBezTo>
                  <a:pt x="51174" y="1798320"/>
                  <a:pt x="0" y="1747146"/>
                  <a:pt x="0" y="1684019"/>
                </a:cubicBezTo>
                <a:lnTo>
                  <a:pt x="0" y="114301"/>
                </a:lnTo>
                <a:cubicBezTo>
                  <a:pt x="0" y="51174"/>
                  <a:pt x="51174" y="0"/>
                  <a:pt x="114301" y="0"/>
                </a:cubicBezTo>
                <a:close/>
              </a:path>
            </a:pathLst>
          </a:custGeom>
          <a:solidFill>
            <a:srgbClr val="262626"/>
          </a:solidFill>
          <a:ln w="10160">
            <a:solidFill>
              <a:srgbClr val="333333"/>
            </a:solidFill>
            <a:prstDash val="solid"/>
          </a:ln>
        </p:spPr>
      </p:sp>
      <p:sp>
        <p:nvSpPr>
          <p:cNvPr id="11" name="Shape 9"/>
          <p:cNvSpPr/>
          <p:nvPr/>
        </p:nvSpPr>
        <p:spPr>
          <a:xfrm>
            <a:off x="579120" y="3528064"/>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2" name="Shape 10"/>
          <p:cNvSpPr/>
          <p:nvPr/>
        </p:nvSpPr>
        <p:spPr>
          <a:xfrm>
            <a:off x="674370" y="3642364"/>
            <a:ext cx="190500" cy="152400"/>
          </a:xfrm>
          <a:custGeom>
            <a:avLst/>
            <a:gdLst/>
            <a:ahLst/>
            <a:cxnLst/>
            <a:rect l="l" t="t" r="r" b="b"/>
            <a:pathLst>
              <a:path w="190500" h="152400">
                <a:moveTo>
                  <a:pt x="123795" y="62657"/>
                </a:moveTo>
                <a:cubicBezTo>
                  <a:pt x="127427" y="61674"/>
                  <a:pt x="131237" y="63401"/>
                  <a:pt x="132874" y="66764"/>
                </a:cubicBezTo>
                <a:lnTo>
                  <a:pt x="138410" y="77956"/>
                </a:lnTo>
                <a:cubicBezTo>
                  <a:pt x="141476" y="78373"/>
                  <a:pt x="144482" y="79206"/>
                  <a:pt x="147310" y="80367"/>
                </a:cubicBezTo>
                <a:lnTo>
                  <a:pt x="157728" y="73432"/>
                </a:lnTo>
                <a:cubicBezTo>
                  <a:pt x="160853" y="71348"/>
                  <a:pt x="164991" y="71765"/>
                  <a:pt x="167640" y="74414"/>
                </a:cubicBezTo>
                <a:lnTo>
                  <a:pt x="173355" y="80129"/>
                </a:lnTo>
                <a:cubicBezTo>
                  <a:pt x="176004" y="82778"/>
                  <a:pt x="176421" y="86945"/>
                  <a:pt x="174337" y="90041"/>
                </a:cubicBezTo>
                <a:lnTo>
                  <a:pt x="167402" y="100429"/>
                </a:lnTo>
                <a:cubicBezTo>
                  <a:pt x="167967" y="101828"/>
                  <a:pt x="168473" y="103287"/>
                  <a:pt x="168890" y="104805"/>
                </a:cubicBezTo>
                <a:cubicBezTo>
                  <a:pt x="169307" y="106323"/>
                  <a:pt x="169575" y="107811"/>
                  <a:pt x="169783" y="109329"/>
                </a:cubicBezTo>
                <a:lnTo>
                  <a:pt x="181005" y="114866"/>
                </a:lnTo>
                <a:cubicBezTo>
                  <a:pt x="184368" y="116532"/>
                  <a:pt x="186095" y="120342"/>
                  <a:pt x="185112" y="123944"/>
                </a:cubicBezTo>
                <a:lnTo>
                  <a:pt x="183029" y="131743"/>
                </a:lnTo>
                <a:cubicBezTo>
                  <a:pt x="182047" y="135344"/>
                  <a:pt x="178683" y="137785"/>
                  <a:pt x="174933" y="137547"/>
                </a:cubicBezTo>
                <a:lnTo>
                  <a:pt x="162431" y="136743"/>
                </a:lnTo>
                <a:cubicBezTo>
                  <a:pt x="160556" y="139154"/>
                  <a:pt x="158383" y="141387"/>
                  <a:pt x="155912" y="143292"/>
                </a:cubicBezTo>
                <a:lnTo>
                  <a:pt x="156716" y="155764"/>
                </a:lnTo>
                <a:cubicBezTo>
                  <a:pt x="156954" y="159514"/>
                  <a:pt x="154513" y="162907"/>
                  <a:pt x="150912" y="163860"/>
                </a:cubicBezTo>
                <a:lnTo>
                  <a:pt x="143113" y="165943"/>
                </a:lnTo>
                <a:cubicBezTo>
                  <a:pt x="139482" y="166926"/>
                  <a:pt x="135701" y="165199"/>
                  <a:pt x="134035" y="161836"/>
                </a:cubicBezTo>
                <a:lnTo>
                  <a:pt x="128498" y="150644"/>
                </a:lnTo>
                <a:cubicBezTo>
                  <a:pt x="125432" y="150227"/>
                  <a:pt x="122426" y="149394"/>
                  <a:pt x="119598" y="148233"/>
                </a:cubicBezTo>
                <a:lnTo>
                  <a:pt x="109180" y="155168"/>
                </a:lnTo>
                <a:cubicBezTo>
                  <a:pt x="106055" y="157252"/>
                  <a:pt x="101918" y="156835"/>
                  <a:pt x="99268" y="154186"/>
                </a:cubicBezTo>
                <a:lnTo>
                  <a:pt x="93553" y="148471"/>
                </a:lnTo>
                <a:cubicBezTo>
                  <a:pt x="90904" y="145822"/>
                  <a:pt x="90488" y="141684"/>
                  <a:pt x="92571" y="138559"/>
                </a:cubicBezTo>
                <a:lnTo>
                  <a:pt x="99506" y="128141"/>
                </a:lnTo>
                <a:cubicBezTo>
                  <a:pt x="98941" y="126742"/>
                  <a:pt x="98435" y="125284"/>
                  <a:pt x="98018" y="123765"/>
                </a:cubicBezTo>
                <a:cubicBezTo>
                  <a:pt x="97601" y="122247"/>
                  <a:pt x="97334" y="120729"/>
                  <a:pt x="97125" y="119241"/>
                </a:cubicBezTo>
                <a:lnTo>
                  <a:pt x="85904" y="113705"/>
                </a:lnTo>
                <a:cubicBezTo>
                  <a:pt x="82540" y="112038"/>
                  <a:pt x="80843" y="108228"/>
                  <a:pt x="81796" y="104626"/>
                </a:cubicBezTo>
                <a:lnTo>
                  <a:pt x="83880" y="96828"/>
                </a:lnTo>
                <a:cubicBezTo>
                  <a:pt x="84862" y="93226"/>
                  <a:pt x="88225" y="90785"/>
                  <a:pt x="91976" y="91023"/>
                </a:cubicBezTo>
                <a:lnTo>
                  <a:pt x="104448" y="91827"/>
                </a:lnTo>
                <a:cubicBezTo>
                  <a:pt x="106323" y="89416"/>
                  <a:pt x="108496" y="87184"/>
                  <a:pt x="110966" y="85279"/>
                </a:cubicBezTo>
                <a:lnTo>
                  <a:pt x="110163" y="72836"/>
                </a:lnTo>
                <a:cubicBezTo>
                  <a:pt x="109924" y="69086"/>
                  <a:pt x="112365" y="65693"/>
                  <a:pt x="115967" y="64740"/>
                </a:cubicBezTo>
                <a:lnTo>
                  <a:pt x="123765" y="62657"/>
                </a:lnTo>
                <a:close/>
                <a:moveTo>
                  <a:pt x="133469" y="101203"/>
                </a:moveTo>
                <a:cubicBezTo>
                  <a:pt x="126241" y="101211"/>
                  <a:pt x="120379" y="107087"/>
                  <a:pt x="120387" y="114315"/>
                </a:cubicBezTo>
                <a:cubicBezTo>
                  <a:pt x="120395" y="121543"/>
                  <a:pt x="126270" y="127405"/>
                  <a:pt x="133499" y="127397"/>
                </a:cubicBezTo>
                <a:cubicBezTo>
                  <a:pt x="140727" y="127389"/>
                  <a:pt x="146589" y="121513"/>
                  <a:pt x="146581" y="114285"/>
                </a:cubicBezTo>
                <a:cubicBezTo>
                  <a:pt x="146573" y="107057"/>
                  <a:pt x="140697" y="101195"/>
                  <a:pt x="133469" y="101203"/>
                </a:cubicBezTo>
                <a:close/>
                <a:moveTo>
                  <a:pt x="66943" y="-13543"/>
                </a:moveTo>
                <a:lnTo>
                  <a:pt x="74741" y="-11460"/>
                </a:lnTo>
                <a:cubicBezTo>
                  <a:pt x="78343" y="-10477"/>
                  <a:pt x="80784" y="-7084"/>
                  <a:pt x="80546" y="-3364"/>
                </a:cubicBezTo>
                <a:lnTo>
                  <a:pt x="79742" y="9079"/>
                </a:lnTo>
                <a:cubicBezTo>
                  <a:pt x="82213" y="10984"/>
                  <a:pt x="84386" y="13186"/>
                  <a:pt x="86261" y="15627"/>
                </a:cubicBezTo>
                <a:lnTo>
                  <a:pt x="98762" y="14823"/>
                </a:lnTo>
                <a:cubicBezTo>
                  <a:pt x="102483" y="14585"/>
                  <a:pt x="105876" y="17026"/>
                  <a:pt x="106859" y="20628"/>
                </a:cubicBezTo>
                <a:lnTo>
                  <a:pt x="108942" y="28426"/>
                </a:lnTo>
                <a:cubicBezTo>
                  <a:pt x="109895" y="32028"/>
                  <a:pt x="108198" y="35838"/>
                  <a:pt x="104835" y="37505"/>
                </a:cubicBezTo>
                <a:lnTo>
                  <a:pt x="93613" y="43041"/>
                </a:lnTo>
                <a:cubicBezTo>
                  <a:pt x="93405" y="44559"/>
                  <a:pt x="93107" y="46077"/>
                  <a:pt x="92720" y="47565"/>
                </a:cubicBezTo>
                <a:cubicBezTo>
                  <a:pt x="92333" y="49054"/>
                  <a:pt x="91797" y="50542"/>
                  <a:pt x="91232" y="51941"/>
                </a:cubicBezTo>
                <a:lnTo>
                  <a:pt x="98167" y="62359"/>
                </a:lnTo>
                <a:cubicBezTo>
                  <a:pt x="100251" y="65484"/>
                  <a:pt x="99834" y="69622"/>
                  <a:pt x="97185" y="72271"/>
                </a:cubicBezTo>
                <a:lnTo>
                  <a:pt x="91470" y="77986"/>
                </a:lnTo>
                <a:cubicBezTo>
                  <a:pt x="88821" y="80635"/>
                  <a:pt x="84683" y="81052"/>
                  <a:pt x="81558" y="78968"/>
                </a:cubicBezTo>
                <a:lnTo>
                  <a:pt x="71140" y="72033"/>
                </a:lnTo>
                <a:cubicBezTo>
                  <a:pt x="68312" y="73194"/>
                  <a:pt x="65306" y="74027"/>
                  <a:pt x="62240" y="74444"/>
                </a:cubicBezTo>
                <a:lnTo>
                  <a:pt x="56704" y="85636"/>
                </a:lnTo>
                <a:cubicBezTo>
                  <a:pt x="55037" y="88999"/>
                  <a:pt x="51227" y="90696"/>
                  <a:pt x="47625" y="89743"/>
                </a:cubicBezTo>
                <a:lnTo>
                  <a:pt x="39826" y="87660"/>
                </a:lnTo>
                <a:cubicBezTo>
                  <a:pt x="36195" y="86678"/>
                  <a:pt x="33784" y="83284"/>
                  <a:pt x="34022" y="79564"/>
                </a:cubicBezTo>
                <a:lnTo>
                  <a:pt x="34826" y="67092"/>
                </a:lnTo>
                <a:cubicBezTo>
                  <a:pt x="32355" y="65187"/>
                  <a:pt x="30182" y="62984"/>
                  <a:pt x="28307" y="60543"/>
                </a:cubicBezTo>
                <a:lnTo>
                  <a:pt x="15806" y="61347"/>
                </a:lnTo>
                <a:cubicBezTo>
                  <a:pt x="12085" y="61585"/>
                  <a:pt x="8692" y="59144"/>
                  <a:pt x="7709" y="55543"/>
                </a:cubicBezTo>
                <a:lnTo>
                  <a:pt x="5626" y="47744"/>
                </a:lnTo>
                <a:cubicBezTo>
                  <a:pt x="4673" y="44142"/>
                  <a:pt x="6370" y="40332"/>
                  <a:pt x="9733" y="38666"/>
                </a:cubicBezTo>
                <a:lnTo>
                  <a:pt x="20955" y="33129"/>
                </a:lnTo>
                <a:cubicBezTo>
                  <a:pt x="21163" y="31611"/>
                  <a:pt x="21461" y="30123"/>
                  <a:pt x="21848" y="28605"/>
                </a:cubicBezTo>
                <a:cubicBezTo>
                  <a:pt x="22265" y="27087"/>
                  <a:pt x="22741" y="25628"/>
                  <a:pt x="23336" y="24229"/>
                </a:cubicBezTo>
                <a:lnTo>
                  <a:pt x="16401" y="13841"/>
                </a:lnTo>
                <a:cubicBezTo>
                  <a:pt x="14317" y="10716"/>
                  <a:pt x="14734" y="6578"/>
                  <a:pt x="17383" y="3929"/>
                </a:cubicBezTo>
                <a:lnTo>
                  <a:pt x="23098" y="-1786"/>
                </a:lnTo>
                <a:cubicBezTo>
                  <a:pt x="25747" y="-4435"/>
                  <a:pt x="29885" y="-4852"/>
                  <a:pt x="33010" y="-2768"/>
                </a:cubicBezTo>
                <a:lnTo>
                  <a:pt x="43428" y="4167"/>
                </a:lnTo>
                <a:cubicBezTo>
                  <a:pt x="46256" y="3006"/>
                  <a:pt x="49262" y="2173"/>
                  <a:pt x="52328" y="1756"/>
                </a:cubicBezTo>
                <a:lnTo>
                  <a:pt x="57864" y="-9436"/>
                </a:lnTo>
                <a:cubicBezTo>
                  <a:pt x="59531" y="-12799"/>
                  <a:pt x="63311" y="-14496"/>
                  <a:pt x="66943" y="-13543"/>
                </a:cubicBezTo>
                <a:close/>
                <a:moveTo>
                  <a:pt x="57269" y="25003"/>
                </a:moveTo>
                <a:cubicBezTo>
                  <a:pt x="50041" y="25003"/>
                  <a:pt x="44172" y="30872"/>
                  <a:pt x="44172" y="38100"/>
                </a:cubicBezTo>
                <a:cubicBezTo>
                  <a:pt x="44172" y="45328"/>
                  <a:pt x="50041" y="51197"/>
                  <a:pt x="57269" y="51197"/>
                </a:cubicBezTo>
                <a:cubicBezTo>
                  <a:pt x="64497" y="51197"/>
                  <a:pt x="70366" y="45328"/>
                  <a:pt x="70366" y="38100"/>
                </a:cubicBezTo>
                <a:cubicBezTo>
                  <a:pt x="70366" y="30872"/>
                  <a:pt x="64497" y="25003"/>
                  <a:pt x="57269" y="25003"/>
                </a:cubicBezTo>
                <a:close/>
              </a:path>
            </a:pathLst>
          </a:custGeom>
          <a:solidFill>
            <a:srgbClr val="6366F1"/>
          </a:solidFill>
          <a:ln/>
        </p:spPr>
      </p:sp>
      <p:sp>
        <p:nvSpPr>
          <p:cNvPr id="13" name="Text 11"/>
          <p:cNvSpPr/>
          <p:nvPr/>
        </p:nvSpPr>
        <p:spPr>
          <a:xfrm>
            <a:off x="1074420" y="3585214"/>
            <a:ext cx="20574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Main CPU Components</a:t>
            </a:r>
            <a:endParaRPr lang="en-US" sz="1600" dirty="0"/>
          </a:p>
        </p:txBody>
      </p:sp>
      <p:sp>
        <p:nvSpPr>
          <p:cNvPr id="14" name="Shape 12"/>
          <p:cNvSpPr/>
          <p:nvPr/>
        </p:nvSpPr>
        <p:spPr>
          <a:xfrm>
            <a:off x="607695" y="40614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6366F1"/>
          </a:solidFill>
          <a:ln/>
        </p:spPr>
      </p:sp>
      <p:sp>
        <p:nvSpPr>
          <p:cNvPr id="15" name="Text 13"/>
          <p:cNvSpPr/>
          <p:nvPr/>
        </p:nvSpPr>
        <p:spPr>
          <a:xfrm>
            <a:off x="845820" y="4023364"/>
            <a:ext cx="40576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Control Unit (CU):</a:t>
            </a:r>
            <a:r>
              <a:rPr lang="en-US" sz="1200" dirty="0">
                <a:solidFill>
                  <a:srgbClr val="EFEFEF"/>
                </a:solidFill>
                <a:latin typeface="Liter" pitchFamily="34" charset="0"/>
                <a:ea typeface="Liter" pitchFamily="34" charset="-122"/>
                <a:cs typeface="Liter" pitchFamily="34" charset="-120"/>
              </a:rPr>
              <a:t> Directs operations, like a traffic controller</a:t>
            </a:r>
            <a:endParaRPr lang="en-US" sz="1600" dirty="0"/>
          </a:p>
        </p:txBody>
      </p:sp>
      <p:sp>
        <p:nvSpPr>
          <p:cNvPr id="16" name="Shape 14"/>
          <p:cNvSpPr/>
          <p:nvPr/>
        </p:nvSpPr>
        <p:spPr>
          <a:xfrm>
            <a:off x="607695" y="44043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6366F1"/>
          </a:solidFill>
          <a:ln/>
        </p:spPr>
      </p:sp>
      <p:sp>
        <p:nvSpPr>
          <p:cNvPr id="17" name="Text 15"/>
          <p:cNvSpPr/>
          <p:nvPr/>
        </p:nvSpPr>
        <p:spPr>
          <a:xfrm>
            <a:off x="845820" y="4366264"/>
            <a:ext cx="44958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Arithmetic Logic Unit (ALU):</a:t>
            </a:r>
            <a:r>
              <a:rPr lang="en-US" sz="1200" dirty="0">
                <a:solidFill>
                  <a:srgbClr val="EFEFEF"/>
                </a:solidFill>
                <a:latin typeface="Liter" pitchFamily="34" charset="0"/>
                <a:ea typeface="Liter" pitchFamily="34" charset="-122"/>
                <a:cs typeface="Liter" pitchFamily="34" charset="-120"/>
              </a:rPr>
              <a:t> Performs math and logical operations</a:t>
            </a:r>
            <a:endParaRPr lang="en-US" sz="1600" dirty="0"/>
          </a:p>
        </p:txBody>
      </p:sp>
      <p:sp>
        <p:nvSpPr>
          <p:cNvPr id="18" name="Shape 16"/>
          <p:cNvSpPr/>
          <p:nvPr/>
        </p:nvSpPr>
        <p:spPr>
          <a:xfrm>
            <a:off x="607695" y="47472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6366F1"/>
          </a:solidFill>
          <a:ln/>
        </p:spPr>
      </p:sp>
      <p:sp>
        <p:nvSpPr>
          <p:cNvPr id="19" name="Text 17"/>
          <p:cNvSpPr/>
          <p:nvPr/>
        </p:nvSpPr>
        <p:spPr>
          <a:xfrm>
            <a:off x="845820" y="4709164"/>
            <a:ext cx="37242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Registers:</a:t>
            </a:r>
            <a:r>
              <a:rPr lang="en-US" sz="1200" dirty="0">
                <a:solidFill>
                  <a:srgbClr val="EFEFEF"/>
                </a:solidFill>
                <a:latin typeface="Liter" pitchFamily="34" charset="0"/>
                <a:ea typeface="Liter" pitchFamily="34" charset="-122"/>
                <a:cs typeface="Liter" pitchFamily="34" charset="-120"/>
              </a:rPr>
              <a:t> Tiny, super-fast memory storage inside CPU</a:t>
            </a:r>
            <a:endParaRPr lang="en-US" sz="1600" dirty="0"/>
          </a:p>
        </p:txBody>
      </p:sp>
      <p:sp>
        <p:nvSpPr>
          <p:cNvPr id="20" name="Shape 18"/>
          <p:cNvSpPr/>
          <p:nvPr/>
        </p:nvSpPr>
        <p:spPr>
          <a:xfrm>
            <a:off x="6214110" y="1261110"/>
            <a:ext cx="5589270" cy="2407920"/>
          </a:xfrm>
          <a:custGeom>
            <a:avLst/>
            <a:gdLst/>
            <a:ahLst/>
            <a:cxnLst/>
            <a:rect l="l" t="t" r="r" b="b"/>
            <a:pathLst>
              <a:path w="5589270" h="2407920">
                <a:moveTo>
                  <a:pt x="114304" y="0"/>
                </a:moveTo>
                <a:lnTo>
                  <a:pt x="5474966" y="0"/>
                </a:lnTo>
                <a:cubicBezTo>
                  <a:pt x="5538094" y="0"/>
                  <a:pt x="5589270" y="51176"/>
                  <a:pt x="5589270" y="114304"/>
                </a:cubicBezTo>
                <a:lnTo>
                  <a:pt x="5589270" y="2293616"/>
                </a:lnTo>
                <a:cubicBezTo>
                  <a:pt x="5589270" y="2356744"/>
                  <a:pt x="5538094" y="2407920"/>
                  <a:pt x="5474966" y="2407920"/>
                </a:cubicBezTo>
                <a:lnTo>
                  <a:pt x="114304" y="2407920"/>
                </a:lnTo>
                <a:cubicBezTo>
                  <a:pt x="51176" y="2407920"/>
                  <a:pt x="0" y="2356744"/>
                  <a:pt x="0" y="2293616"/>
                </a:cubicBezTo>
                <a:lnTo>
                  <a:pt x="0" y="114304"/>
                </a:lnTo>
                <a:cubicBezTo>
                  <a:pt x="0" y="51218"/>
                  <a:pt x="51218" y="0"/>
                  <a:pt x="114304" y="0"/>
                </a:cubicBezTo>
                <a:close/>
              </a:path>
            </a:pathLst>
          </a:custGeom>
          <a:solidFill>
            <a:srgbClr val="262626"/>
          </a:solidFill>
          <a:ln w="10160">
            <a:solidFill>
              <a:srgbClr val="333333"/>
            </a:solidFill>
            <a:prstDash val="solid"/>
          </a:ln>
        </p:spPr>
      </p:sp>
      <p:sp>
        <p:nvSpPr>
          <p:cNvPr id="21" name="Shape 19"/>
          <p:cNvSpPr/>
          <p:nvPr/>
        </p:nvSpPr>
        <p:spPr>
          <a:xfrm>
            <a:off x="8553331" y="1645927"/>
            <a:ext cx="914400" cy="914400"/>
          </a:xfrm>
          <a:custGeom>
            <a:avLst/>
            <a:gdLst/>
            <a:ahLst/>
            <a:cxnLst/>
            <a:rect l="l" t="t" r="r" b="b"/>
            <a:pathLst>
              <a:path w="914400" h="914400">
                <a:moveTo>
                  <a:pt x="314325" y="42863"/>
                </a:moveTo>
                <a:cubicBezTo>
                  <a:pt x="314325" y="19110"/>
                  <a:pt x="295215" y="0"/>
                  <a:pt x="271463" y="0"/>
                </a:cubicBezTo>
                <a:cubicBezTo>
                  <a:pt x="247710" y="0"/>
                  <a:pt x="228600" y="19110"/>
                  <a:pt x="228600" y="42863"/>
                </a:cubicBezTo>
                <a:lnTo>
                  <a:pt x="228600" y="114300"/>
                </a:lnTo>
                <a:cubicBezTo>
                  <a:pt x="165556" y="114300"/>
                  <a:pt x="114300" y="165556"/>
                  <a:pt x="114300" y="228600"/>
                </a:cubicBezTo>
                <a:lnTo>
                  <a:pt x="42863" y="228600"/>
                </a:lnTo>
                <a:cubicBezTo>
                  <a:pt x="19110" y="228600"/>
                  <a:pt x="0" y="247710"/>
                  <a:pt x="0" y="271463"/>
                </a:cubicBezTo>
                <a:cubicBezTo>
                  <a:pt x="0" y="295215"/>
                  <a:pt x="19110" y="314325"/>
                  <a:pt x="42863" y="314325"/>
                </a:cubicBezTo>
                <a:lnTo>
                  <a:pt x="114300" y="314325"/>
                </a:lnTo>
                <a:lnTo>
                  <a:pt x="114300" y="414338"/>
                </a:lnTo>
                <a:lnTo>
                  <a:pt x="42863" y="414338"/>
                </a:lnTo>
                <a:cubicBezTo>
                  <a:pt x="19110" y="414338"/>
                  <a:pt x="0" y="433447"/>
                  <a:pt x="0" y="457200"/>
                </a:cubicBezTo>
                <a:cubicBezTo>
                  <a:pt x="0" y="480953"/>
                  <a:pt x="19110" y="500063"/>
                  <a:pt x="42863" y="500063"/>
                </a:cubicBezTo>
                <a:lnTo>
                  <a:pt x="114300" y="500063"/>
                </a:lnTo>
                <a:lnTo>
                  <a:pt x="114300" y="600075"/>
                </a:lnTo>
                <a:lnTo>
                  <a:pt x="42863" y="600075"/>
                </a:lnTo>
                <a:cubicBezTo>
                  <a:pt x="19110" y="600075"/>
                  <a:pt x="0" y="619185"/>
                  <a:pt x="0" y="642938"/>
                </a:cubicBezTo>
                <a:cubicBezTo>
                  <a:pt x="0" y="666690"/>
                  <a:pt x="19110" y="685800"/>
                  <a:pt x="42863" y="685800"/>
                </a:cubicBezTo>
                <a:lnTo>
                  <a:pt x="114300" y="685800"/>
                </a:lnTo>
                <a:cubicBezTo>
                  <a:pt x="114300" y="748844"/>
                  <a:pt x="165556" y="800100"/>
                  <a:pt x="228600" y="800100"/>
                </a:cubicBezTo>
                <a:lnTo>
                  <a:pt x="228600" y="871538"/>
                </a:lnTo>
                <a:cubicBezTo>
                  <a:pt x="228600" y="895290"/>
                  <a:pt x="247710" y="914400"/>
                  <a:pt x="271463" y="914400"/>
                </a:cubicBezTo>
                <a:cubicBezTo>
                  <a:pt x="295215" y="914400"/>
                  <a:pt x="314325" y="895290"/>
                  <a:pt x="314325" y="871538"/>
                </a:cubicBezTo>
                <a:lnTo>
                  <a:pt x="314325" y="800100"/>
                </a:lnTo>
                <a:lnTo>
                  <a:pt x="414338" y="800100"/>
                </a:lnTo>
                <a:lnTo>
                  <a:pt x="414338" y="871538"/>
                </a:lnTo>
                <a:cubicBezTo>
                  <a:pt x="414338" y="895290"/>
                  <a:pt x="433447" y="914400"/>
                  <a:pt x="457200" y="914400"/>
                </a:cubicBezTo>
                <a:cubicBezTo>
                  <a:pt x="480953" y="914400"/>
                  <a:pt x="500063" y="895290"/>
                  <a:pt x="500063" y="871538"/>
                </a:cubicBezTo>
                <a:lnTo>
                  <a:pt x="500063" y="800100"/>
                </a:lnTo>
                <a:lnTo>
                  <a:pt x="600075" y="800100"/>
                </a:lnTo>
                <a:lnTo>
                  <a:pt x="600075" y="871538"/>
                </a:lnTo>
                <a:cubicBezTo>
                  <a:pt x="600075" y="895290"/>
                  <a:pt x="619185" y="914400"/>
                  <a:pt x="642938" y="914400"/>
                </a:cubicBezTo>
                <a:cubicBezTo>
                  <a:pt x="666690" y="914400"/>
                  <a:pt x="685800" y="895290"/>
                  <a:pt x="685800" y="871538"/>
                </a:cubicBezTo>
                <a:lnTo>
                  <a:pt x="685800" y="800100"/>
                </a:lnTo>
                <a:cubicBezTo>
                  <a:pt x="748844" y="800100"/>
                  <a:pt x="800100" y="748844"/>
                  <a:pt x="800100" y="685800"/>
                </a:cubicBezTo>
                <a:lnTo>
                  <a:pt x="871538" y="685800"/>
                </a:lnTo>
                <a:cubicBezTo>
                  <a:pt x="895290" y="685800"/>
                  <a:pt x="914400" y="666690"/>
                  <a:pt x="914400" y="642938"/>
                </a:cubicBezTo>
                <a:cubicBezTo>
                  <a:pt x="914400" y="619185"/>
                  <a:pt x="895290" y="600075"/>
                  <a:pt x="871538" y="600075"/>
                </a:cubicBezTo>
                <a:lnTo>
                  <a:pt x="800100" y="600075"/>
                </a:lnTo>
                <a:lnTo>
                  <a:pt x="800100" y="500063"/>
                </a:lnTo>
                <a:lnTo>
                  <a:pt x="871538" y="500063"/>
                </a:lnTo>
                <a:cubicBezTo>
                  <a:pt x="895290" y="500063"/>
                  <a:pt x="914400" y="480953"/>
                  <a:pt x="914400" y="457200"/>
                </a:cubicBezTo>
                <a:cubicBezTo>
                  <a:pt x="914400" y="433447"/>
                  <a:pt x="895290" y="414338"/>
                  <a:pt x="871538" y="414338"/>
                </a:cubicBezTo>
                <a:lnTo>
                  <a:pt x="800100" y="414338"/>
                </a:lnTo>
                <a:lnTo>
                  <a:pt x="800100" y="314325"/>
                </a:lnTo>
                <a:lnTo>
                  <a:pt x="871538" y="314325"/>
                </a:lnTo>
                <a:cubicBezTo>
                  <a:pt x="895290" y="314325"/>
                  <a:pt x="914400" y="295215"/>
                  <a:pt x="914400" y="271463"/>
                </a:cubicBezTo>
                <a:cubicBezTo>
                  <a:pt x="914400" y="247710"/>
                  <a:pt x="895290" y="228600"/>
                  <a:pt x="871538" y="228600"/>
                </a:cubicBezTo>
                <a:lnTo>
                  <a:pt x="800100" y="228600"/>
                </a:lnTo>
                <a:cubicBezTo>
                  <a:pt x="800100" y="165556"/>
                  <a:pt x="748844" y="114300"/>
                  <a:pt x="685800" y="114300"/>
                </a:cubicBezTo>
                <a:lnTo>
                  <a:pt x="685800" y="42863"/>
                </a:lnTo>
                <a:cubicBezTo>
                  <a:pt x="685800" y="19110"/>
                  <a:pt x="666690" y="0"/>
                  <a:pt x="642938" y="0"/>
                </a:cubicBezTo>
                <a:cubicBezTo>
                  <a:pt x="619185" y="0"/>
                  <a:pt x="600075" y="19110"/>
                  <a:pt x="600075" y="42863"/>
                </a:cubicBezTo>
                <a:lnTo>
                  <a:pt x="600075" y="114300"/>
                </a:lnTo>
                <a:lnTo>
                  <a:pt x="500063" y="114300"/>
                </a:lnTo>
                <a:lnTo>
                  <a:pt x="500063" y="42863"/>
                </a:lnTo>
                <a:cubicBezTo>
                  <a:pt x="500063" y="19110"/>
                  <a:pt x="480953" y="0"/>
                  <a:pt x="457200" y="0"/>
                </a:cubicBezTo>
                <a:cubicBezTo>
                  <a:pt x="433447" y="0"/>
                  <a:pt x="414338" y="19110"/>
                  <a:pt x="414338" y="42863"/>
                </a:cubicBezTo>
                <a:lnTo>
                  <a:pt x="414338" y="114300"/>
                </a:lnTo>
                <a:lnTo>
                  <a:pt x="314325" y="114300"/>
                </a:lnTo>
                <a:lnTo>
                  <a:pt x="314325" y="42863"/>
                </a:lnTo>
                <a:close/>
                <a:moveTo>
                  <a:pt x="285750" y="228600"/>
                </a:moveTo>
                <a:lnTo>
                  <a:pt x="628650" y="228600"/>
                </a:lnTo>
                <a:cubicBezTo>
                  <a:pt x="660261" y="228600"/>
                  <a:pt x="685800" y="254139"/>
                  <a:pt x="685800" y="285750"/>
                </a:cubicBezTo>
                <a:lnTo>
                  <a:pt x="685800" y="628650"/>
                </a:lnTo>
                <a:cubicBezTo>
                  <a:pt x="685800" y="660261"/>
                  <a:pt x="660261" y="685800"/>
                  <a:pt x="628650" y="685800"/>
                </a:cubicBezTo>
                <a:lnTo>
                  <a:pt x="285750" y="685800"/>
                </a:lnTo>
                <a:cubicBezTo>
                  <a:pt x="254139" y="685800"/>
                  <a:pt x="228600" y="660261"/>
                  <a:pt x="228600" y="628650"/>
                </a:cubicBezTo>
                <a:lnTo>
                  <a:pt x="228600" y="285750"/>
                </a:lnTo>
                <a:cubicBezTo>
                  <a:pt x="228600" y="254139"/>
                  <a:pt x="254139" y="228600"/>
                  <a:pt x="285750" y="228600"/>
                </a:cubicBezTo>
                <a:close/>
                <a:moveTo>
                  <a:pt x="314325" y="314325"/>
                </a:moveTo>
                <a:lnTo>
                  <a:pt x="314325" y="600075"/>
                </a:lnTo>
                <a:lnTo>
                  <a:pt x="600075" y="600075"/>
                </a:lnTo>
                <a:lnTo>
                  <a:pt x="600075" y="314325"/>
                </a:lnTo>
                <a:lnTo>
                  <a:pt x="314325" y="314325"/>
                </a:lnTo>
                <a:close/>
              </a:path>
            </a:pathLst>
          </a:custGeom>
          <a:solidFill>
            <a:srgbClr val="6366F1"/>
          </a:solidFill>
          <a:ln/>
        </p:spPr>
      </p:sp>
      <p:sp>
        <p:nvSpPr>
          <p:cNvPr id="22" name="Text 20"/>
          <p:cNvSpPr/>
          <p:nvPr/>
        </p:nvSpPr>
        <p:spPr>
          <a:xfrm>
            <a:off x="8059579" y="2712727"/>
            <a:ext cx="190500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CPU Chip</a:t>
            </a:r>
            <a:endParaRPr lang="en-US" sz="1600" dirty="0"/>
          </a:p>
        </p:txBody>
      </p:sp>
      <p:sp>
        <p:nvSpPr>
          <p:cNvPr id="23" name="Text 21"/>
          <p:cNvSpPr/>
          <p:nvPr/>
        </p:nvSpPr>
        <p:spPr>
          <a:xfrm>
            <a:off x="8069104" y="3055627"/>
            <a:ext cx="1885950"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The brain of your computer</a:t>
            </a:r>
            <a:endParaRPr lang="en-US" sz="1600" dirty="0"/>
          </a:p>
        </p:txBody>
      </p:sp>
      <p:sp>
        <p:nvSpPr>
          <p:cNvPr id="24" name="Shape 22"/>
          <p:cNvSpPr/>
          <p:nvPr/>
        </p:nvSpPr>
        <p:spPr>
          <a:xfrm>
            <a:off x="6214110" y="3829046"/>
            <a:ext cx="5589270" cy="1303020"/>
          </a:xfrm>
          <a:custGeom>
            <a:avLst/>
            <a:gdLst/>
            <a:ahLst/>
            <a:cxnLst/>
            <a:rect l="l" t="t" r="r" b="b"/>
            <a:pathLst>
              <a:path w="5589270" h="1303020">
                <a:moveTo>
                  <a:pt x="76201" y="0"/>
                </a:moveTo>
                <a:lnTo>
                  <a:pt x="5513069" y="0"/>
                </a:lnTo>
                <a:cubicBezTo>
                  <a:pt x="5555154" y="0"/>
                  <a:pt x="5589270" y="34116"/>
                  <a:pt x="5589270" y="76201"/>
                </a:cubicBezTo>
                <a:lnTo>
                  <a:pt x="5589270" y="1226819"/>
                </a:lnTo>
                <a:cubicBezTo>
                  <a:pt x="5589270" y="1268904"/>
                  <a:pt x="5555154" y="1303020"/>
                  <a:pt x="5513069" y="1303020"/>
                </a:cubicBezTo>
                <a:lnTo>
                  <a:pt x="76201" y="1303020"/>
                </a:lnTo>
                <a:cubicBezTo>
                  <a:pt x="34116" y="1303020"/>
                  <a:pt x="0" y="1268904"/>
                  <a:pt x="0" y="1226819"/>
                </a:cubicBezTo>
                <a:lnTo>
                  <a:pt x="0" y="76201"/>
                </a:lnTo>
                <a:cubicBezTo>
                  <a:pt x="0" y="34144"/>
                  <a:pt x="34144" y="0"/>
                  <a:pt x="76201" y="0"/>
                </a:cubicBezTo>
                <a:close/>
              </a:path>
            </a:pathLst>
          </a:custGeom>
          <a:solidFill>
            <a:srgbClr val="6366F1">
              <a:alpha val="10196"/>
            </a:srgbClr>
          </a:solidFill>
          <a:ln w="10160">
            <a:solidFill>
              <a:srgbClr val="6366F1">
                <a:alpha val="30196"/>
              </a:srgbClr>
            </a:solidFill>
            <a:prstDash val="solid"/>
          </a:ln>
        </p:spPr>
      </p:sp>
      <p:sp>
        <p:nvSpPr>
          <p:cNvPr id="25" name="Text 23"/>
          <p:cNvSpPr/>
          <p:nvPr/>
        </p:nvSpPr>
        <p:spPr>
          <a:xfrm>
            <a:off x="6370320" y="3985264"/>
            <a:ext cx="535305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When you click a button, the CPU processes that action in milliseconds, updating the screen and performing calculations!</a:t>
            </a:r>
            <a:endParaRPr lang="en-US" sz="1600" dirty="0"/>
          </a:p>
        </p:txBody>
      </p:sp>
      <p:sp>
        <p:nvSpPr>
          <p:cNvPr id="26" name="Text 24"/>
          <p:cNvSpPr/>
          <p:nvPr/>
        </p:nvSpPr>
        <p:spPr>
          <a:xfrm>
            <a:off x="6370320" y="4518664"/>
            <a:ext cx="53530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The CPU speed is measured in GHz (gigahertz). A 3 GHz CPU performs 3 billion cycles per second - that's incredibly fast!</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42472" y="342472"/>
            <a:ext cx="6892247" cy="205483"/>
          </a:xfrm>
          <a:prstGeom prst="rect">
            <a:avLst/>
          </a:prstGeom>
          <a:noFill/>
          <a:ln/>
        </p:spPr>
        <p:txBody>
          <a:bodyPr wrap="square" lIns="0" tIns="0" rIns="0" bIns="0" rtlCol="0" anchor="ctr"/>
          <a:lstStyle/>
          <a:p>
            <a:pPr>
              <a:lnSpc>
                <a:spcPct val="130000"/>
              </a:lnSpc>
            </a:pPr>
            <a:r>
              <a:rPr lang="en-US" sz="1079" b="1" kern="0" spc="54" dirty="0">
                <a:solidFill>
                  <a:srgbClr val="6366F1"/>
                </a:solidFill>
                <a:latin typeface="Liter" pitchFamily="34" charset="0"/>
                <a:ea typeface="Liter" pitchFamily="34" charset="-122"/>
                <a:cs typeface="Liter" pitchFamily="34" charset="-120"/>
              </a:rPr>
              <a:t>LECTURE 4.2</a:t>
            </a:r>
            <a:endParaRPr lang="en-US" sz="1600" dirty="0"/>
          </a:p>
        </p:txBody>
      </p:sp>
      <p:sp>
        <p:nvSpPr>
          <p:cNvPr id="3" name="Text 1"/>
          <p:cNvSpPr/>
          <p:nvPr/>
        </p:nvSpPr>
        <p:spPr>
          <a:xfrm>
            <a:off x="342472" y="616449"/>
            <a:ext cx="6977865" cy="342472"/>
          </a:xfrm>
          <a:prstGeom prst="rect">
            <a:avLst/>
          </a:prstGeom>
          <a:noFill/>
          <a:ln/>
        </p:spPr>
        <p:txBody>
          <a:bodyPr wrap="square" lIns="0" tIns="0" rIns="0" bIns="0" rtlCol="0" anchor="ctr"/>
          <a:lstStyle/>
          <a:p>
            <a:pPr>
              <a:lnSpc>
                <a:spcPct val="90000"/>
              </a:lnSpc>
            </a:pPr>
            <a:r>
              <a:rPr lang="en-US" sz="2427" b="1" dirty="0">
                <a:solidFill>
                  <a:srgbClr val="EFEFEF"/>
                </a:solidFill>
                <a:latin typeface="Liter" pitchFamily="34" charset="0"/>
                <a:ea typeface="Liter" pitchFamily="34" charset="-122"/>
                <a:cs typeface="Liter" pitchFamily="34" charset="-120"/>
              </a:rPr>
              <a:t>Role of CPU in Processing Instructions</a:t>
            </a:r>
            <a:endParaRPr lang="en-US" sz="1600" dirty="0"/>
          </a:p>
        </p:txBody>
      </p:sp>
      <p:sp>
        <p:nvSpPr>
          <p:cNvPr id="4" name="Shape 2"/>
          <p:cNvSpPr/>
          <p:nvPr/>
        </p:nvSpPr>
        <p:spPr>
          <a:xfrm>
            <a:off x="345897" y="1202076"/>
            <a:ext cx="6813479" cy="3054849"/>
          </a:xfrm>
          <a:custGeom>
            <a:avLst/>
            <a:gdLst/>
            <a:ahLst/>
            <a:cxnLst/>
            <a:rect l="l" t="t" r="r" b="b"/>
            <a:pathLst>
              <a:path w="6813479" h="3054849">
                <a:moveTo>
                  <a:pt x="102735" y="0"/>
                </a:moveTo>
                <a:lnTo>
                  <a:pt x="6710744" y="0"/>
                </a:lnTo>
                <a:cubicBezTo>
                  <a:pt x="6767483" y="0"/>
                  <a:pt x="6813479" y="45996"/>
                  <a:pt x="6813479" y="102735"/>
                </a:cubicBezTo>
                <a:lnTo>
                  <a:pt x="6813479" y="2952115"/>
                </a:lnTo>
                <a:cubicBezTo>
                  <a:pt x="6813479" y="3008854"/>
                  <a:pt x="6767483" y="3054849"/>
                  <a:pt x="6710744" y="3054849"/>
                </a:cubicBezTo>
                <a:lnTo>
                  <a:pt x="102735" y="3054849"/>
                </a:lnTo>
                <a:cubicBezTo>
                  <a:pt x="45996" y="3054849"/>
                  <a:pt x="0" y="3008854"/>
                  <a:pt x="0" y="2952115"/>
                </a:cubicBezTo>
                <a:lnTo>
                  <a:pt x="0" y="102735"/>
                </a:lnTo>
                <a:cubicBezTo>
                  <a:pt x="0" y="46034"/>
                  <a:pt x="46034" y="0"/>
                  <a:pt x="102735" y="0"/>
                </a:cubicBezTo>
                <a:close/>
              </a:path>
            </a:pathLst>
          </a:custGeom>
          <a:solidFill>
            <a:srgbClr val="262626"/>
          </a:solidFill>
          <a:ln w="10160">
            <a:solidFill>
              <a:srgbClr val="333333"/>
            </a:solidFill>
            <a:prstDash val="solid"/>
          </a:ln>
        </p:spPr>
      </p:sp>
      <p:sp>
        <p:nvSpPr>
          <p:cNvPr id="5" name="Text 3"/>
          <p:cNvSpPr/>
          <p:nvPr/>
        </p:nvSpPr>
        <p:spPr>
          <a:xfrm>
            <a:off x="520557" y="1376744"/>
            <a:ext cx="6549775" cy="239730"/>
          </a:xfrm>
          <a:prstGeom prst="rect">
            <a:avLst/>
          </a:prstGeom>
          <a:noFill/>
          <a:ln/>
        </p:spPr>
        <p:txBody>
          <a:bodyPr wrap="square" lIns="0" tIns="0" rIns="0" bIns="0" rtlCol="0" anchor="ctr"/>
          <a:lstStyle/>
          <a:p>
            <a:pPr>
              <a:lnSpc>
                <a:spcPct val="120000"/>
              </a:lnSpc>
            </a:pPr>
            <a:r>
              <a:rPr lang="en-US" sz="1348" b="1" dirty="0">
                <a:solidFill>
                  <a:srgbClr val="EFEFEF"/>
                </a:solidFill>
                <a:latin typeface="Liter" pitchFamily="34" charset="0"/>
                <a:ea typeface="Liter" pitchFamily="34" charset="-122"/>
                <a:cs typeface="Liter" pitchFamily="34" charset="-120"/>
              </a:rPr>
              <a:t>The Fetch-Decode-Execute Cycle</a:t>
            </a:r>
            <a:endParaRPr lang="en-US" sz="1600" dirty="0"/>
          </a:p>
        </p:txBody>
      </p:sp>
      <p:sp>
        <p:nvSpPr>
          <p:cNvPr id="6" name="Shape 4"/>
          <p:cNvSpPr/>
          <p:nvPr/>
        </p:nvSpPr>
        <p:spPr>
          <a:xfrm>
            <a:off x="520557" y="1753463"/>
            <a:ext cx="410966" cy="410966"/>
          </a:xfrm>
          <a:custGeom>
            <a:avLst/>
            <a:gdLst/>
            <a:ahLst/>
            <a:cxnLst/>
            <a:rect l="l" t="t" r="r" b="b"/>
            <a:pathLst>
              <a:path w="410966" h="410966">
                <a:moveTo>
                  <a:pt x="102742" y="0"/>
                </a:moveTo>
                <a:lnTo>
                  <a:pt x="308225" y="0"/>
                </a:lnTo>
                <a:cubicBezTo>
                  <a:pt x="364967" y="0"/>
                  <a:pt x="410966" y="45999"/>
                  <a:pt x="410966" y="102742"/>
                </a:cubicBezTo>
                <a:lnTo>
                  <a:pt x="410966" y="308225"/>
                </a:lnTo>
                <a:cubicBezTo>
                  <a:pt x="410966" y="364967"/>
                  <a:pt x="364967" y="410966"/>
                  <a:pt x="308225" y="410966"/>
                </a:cubicBezTo>
                <a:lnTo>
                  <a:pt x="102742" y="410966"/>
                </a:lnTo>
                <a:cubicBezTo>
                  <a:pt x="45999" y="410966"/>
                  <a:pt x="0" y="364967"/>
                  <a:pt x="0" y="308225"/>
                </a:cubicBezTo>
                <a:lnTo>
                  <a:pt x="0" y="102742"/>
                </a:lnTo>
                <a:cubicBezTo>
                  <a:pt x="0" y="45999"/>
                  <a:pt x="45999" y="0"/>
                  <a:pt x="102742" y="0"/>
                </a:cubicBezTo>
                <a:close/>
              </a:path>
            </a:pathLst>
          </a:custGeom>
          <a:solidFill>
            <a:srgbClr val="6366F1">
              <a:alpha val="20000"/>
            </a:srgbClr>
          </a:solidFill>
          <a:ln/>
        </p:spPr>
      </p:sp>
      <p:sp>
        <p:nvSpPr>
          <p:cNvPr id="7" name="Text 5"/>
          <p:cNvSpPr/>
          <p:nvPr/>
        </p:nvSpPr>
        <p:spPr>
          <a:xfrm>
            <a:off x="684944" y="1821957"/>
            <a:ext cx="188360" cy="273978"/>
          </a:xfrm>
          <a:prstGeom prst="rect">
            <a:avLst/>
          </a:prstGeom>
          <a:noFill/>
          <a:ln/>
        </p:spPr>
        <p:txBody>
          <a:bodyPr wrap="square" lIns="0" tIns="0" rIns="0" bIns="0" rtlCol="0" anchor="ctr"/>
          <a:lstStyle/>
          <a:p>
            <a:pPr>
              <a:lnSpc>
                <a:spcPct val="110000"/>
              </a:lnSpc>
            </a:pPr>
            <a:r>
              <a:rPr lang="en-US" sz="1618" b="1" dirty="0">
                <a:solidFill>
                  <a:srgbClr val="6366F1"/>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068512" y="1753463"/>
            <a:ext cx="2859640" cy="239730"/>
          </a:xfrm>
          <a:prstGeom prst="rect">
            <a:avLst/>
          </a:prstGeom>
          <a:noFill/>
          <a:ln/>
        </p:spPr>
        <p:txBody>
          <a:bodyPr wrap="square" lIns="0" tIns="0" rIns="0" bIns="0" rtlCol="0" anchor="ctr"/>
          <a:lstStyle/>
          <a:p>
            <a:pPr>
              <a:lnSpc>
                <a:spcPct val="130000"/>
              </a:lnSpc>
            </a:pPr>
            <a:r>
              <a:rPr lang="en-US" sz="1213" b="1" dirty="0">
                <a:solidFill>
                  <a:srgbClr val="EFEFEF"/>
                </a:solidFill>
                <a:latin typeface="Liter" pitchFamily="34" charset="0"/>
                <a:ea typeface="Liter" pitchFamily="34" charset="-122"/>
                <a:cs typeface="Liter" pitchFamily="34" charset="-120"/>
              </a:rPr>
              <a:t>Fetch</a:t>
            </a:r>
            <a:endParaRPr lang="en-US" sz="1600" dirty="0"/>
          </a:p>
        </p:txBody>
      </p:sp>
      <p:sp>
        <p:nvSpPr>
          <p:cNvPr id="9" name="Text 7"/>
          <p:cNvSpPr/>
          <p:nvPr/>
        </p:nvSpPr>
        <p:spPr>
          <a:xfrm>
            <a:off x="1068512" y="2027440"/>
            <a:ext cx="2851079" cy="205483"/>
          </a:xfrm>
          <a:prstGeom prst="rect">
            <a:avLst/>
          </a:prstGeom>
          <a:noFill/>
          <a:ln/>
        </p:spPr>
        <p:txBody>
          <a:bodyPr wrap="square" lIns="0" tIns="0" rIns="0" bIns="0" rtlCol="0" anchor="ctr"/>
          <a:lstStyle/>
          <a:p>
            <a:pPr>
              <a:lnSpc>
                <a:spcPct val="130000"/>
              </a:lnSpc>
            </a:pPr>
            <a:r>
              <a:rPr lang="en-US" sz="1079" dirty="0">
                <a:solidFill>
                  <a:srgbClr val="8F8F8F"/>
                </a:solidFill>
                <a:latin typeface="Liter" pitchFamily="34" charset="0"/>
                <a:ea typeface="Liter" pitchFamily="34" charset="-122"/>
                <a:cs typeface="Liter" pitchFamily="34" charset="-120"/>
              </a:rPr>
              <a:t>CPU retrieves instruction from memory (RAM)</a:t>
            </a:r>
            <a:endParaRPr lang="en-US" sz="1600" dirty="0"/>
          </a:p>
        </p:txBody>
      </p:sp>
      <p:sp>
        <p:nvSpPr>
          <p:cNvPr id="10" name="Shape 8"/>
          <p:cNvSpPr/>
          <p:nvPr/>
        </p:nvSpPr>
        <p:spPr>
          <a:xfrm>
            <a:off x="520557" y="2369912"/>
            <a:ext cx="410966" cy="410966"/>
          </a:xfrm>
          <a:custGeom>
            <a:avLst/>
            <a:gdLst/>
            <a:ahLst/>
            <a:cxnLst/>
            <a:rect l="l" t="t" r="r" b="b"/>
            <a:pathLst>
              <a:path w="410966" h="410966">
                <a:moveTo>
                  <a:pt x="102742" y="0"/>
                </a:moveTo>
                <a:lnTo>
                  <a:pt x="308225" y="0"/>
                </a:lnTo>
                <a:cubicBezTo>
                  <a:pt x="364967" y="0"/>
                  <a:pt x="410966" y="45999"/>
                  <a:pt x="410966" y="102742"/>
                </a:cubicBezTo>
                <a:lnTo>
                  <a:pt x="410966" y="308225"/>
                </a:lnTo>
                <a:cubicBezTo>
                  <a:pt x="410966" y="364967"/>
                  <a:pt x="364967" y="410966"/>
                  <a:pt x="308225" y="410966"/>
                </a:cubicBezTo>
                <a:lnTo>
                  <a:pt x="102742" y="410966"/>
                </a:lnTo>
                <a:cubicBezTo>
                  <a:pt x="45999" y="410966"/>
                  <a:pt x="0" y="364967"/>
                  <a:pt x="0" y="308225"/>
                </a:cubicBezTo>
                <a:lnTo>
                  <a:pt x="0" y="102742"/>
                </a:lnTo>
                <a:cubicBezTo>
                  <a:pt x="0" y="45999"/>
                  <a:pt x="45999" y="0"/>
                  <a:pt x="102742" y="0"/>
                </a:cubicBezTo>
                <a:close/>
              </a:path>
            </a:pathLst>
          </a:custGeom>
          <a:solidFill>
            <a:srgbClr val="6366F1">
              <a:alpha val="20000"/>
            </a:srgbClr>
          </a:solidFill>
          <a:ln/>
        </p:spPr>
      </p:sp>
      <p:sp>
        <p:nvSpPr>
          <p:cNvPr id="11" name="Text 9"/>
          <p:cNvSpPr/>
          <p:nvPr/>
        </p:nvSpPr>
        <p:spPr>
          <a:xfrm>
            <a:off x="666322" y="2438407"/>
            <a:ext cx="222607" cy="273978"/>
          </a:xfrm>
          <a:prstGeom prst="rect">
            <a:avLst/>
          </a:prstGeom>
          <a:noFill/>
          <a:ln/>
        </p:spPr>
        <p:txBody>
          <a:bodyPr wrap="square" lIns="0" tIns="0" rIns="0" bIns="0" rtlCol="0" anchor="ctr"/>
          <a:lstStyle/>
          <a:p>
            <a:pPr>
              <a:lnSpc>
                <a:spcPct val="110000"/>
              </a:lnSpc>
            </a:pPr>
            <a:r>
              <a:rPr lang="en-US" sz="1618" b="1" dirty="0">
                <a:solidFill>
                  <a:srgbClr val="6366F1"/>
                </a:solidFill>
                <a:latin typeface="Liter" pitchFamily="34" charset="0"/>
                <a:ea typeface="Liter" pitchFamily="34" charset="-122"/>
                <a:cs typeface="Liter" pitchFamily="34" charset="-120"/>
              </a:rPr>
              <a:t>2</a:t>
            </a:r>
            <a:endParaRPr lang="en-US" sz="1600" dirty="0"/>
          </a:p>
        </p:txBody>
      </p:sp>
      <p:sp>
        <p:nvSpPr>
          <p:cNvPr id="12" name="Text 10"/>
          <p:cNvSpPr/>
          <p:nvPr/>
        </p:nvSpPr>
        <p:spPr>
          <a:xfrm>
            <a:off x="1068512" y="2369912"/>
            <a:ext cx="2782584" cy="239730"/>
          </a:xfrm>
          <a:prstGeom prst="rect">
            <a:avLst/>
          </a:prstGeom>
          <a:noFill/>
          <a:ln/>
        </p:spPr>
        <p:txBody>
          <a:bodyPr wrap="square" lIns="0" tIns="0" rIns="0" bIns="0" rtlCol="0" anchor="ctr"/>
          <a:lstStyle/>
          <a:p>
            <a:pPr>
              <a:lnSpc>
                <a:spcPct val="130000"/>
              </a:lnSpc>
            </a:pPr>
            <a:r>
              <a:rPr lang="en-US" sz="1213" b="1" dirty="0">
                <a:solidFill>
                  <a:srgbClr val="EFEFEF"/>
                </a:solidFill>
                <a:latin typeface="Liter" pitchFamily="34" charset="0"/>
                <a:ea typeface="Liter" pitchFamily="34" charset="-122"/>
                <a:cs typeface="Liter" pitchFamily="34" charset="-120"/>
              </a:rPr>
              <a:t>Decode</a:t>
            </a:r>
            <a:endParaRPr lang="en-US" sz="1600" dirty="0"/>
          </a:p>
        </p:txBody>
      </p:sp>
      <p:sp>
        <p:nvSpPr>
          <p:cNvPr id="13" name="Text 11"/>
          <p:cNvSpPr/>
          <p:nvPr/>
        </p:nvSpPr>
        <p:spPr>
          <a:xfrm>
            <a:off x="1068512" y="2643890"/>
            <a:ext cx="2774022" cy="205483"/>
          </a:xfrm>
          <a:prstGeom prst="rect">
            <a:avLst/>
          </a:prstGeom>
          <a:noFill/>
          <a:ln/>
        </p:spPr>
        <p:txBody>
          <a:bodyPr wrap="square" lIns="0" tIns="0" rIns="0" bIns="0" rtlCol="0" anchor="ctr"/>
          <a:lstStyle/>
          <a:p>
            <a:pPr>
              <a:lnSpc>
                <a:spcPct val="130000"/>
              </a:lnSpc>
            </a:pPr>
            <a:r>
              <a:rPr lang="en-US" sz="1079" dirty="0">
                <a:solidFill>
                  <a:srgbClr val="8F8F8F"/>
                </a:solidFill>
                <a:latin typeface="Liter" pitchFamily="34" charset="0"/>
                <a:ea typeface="Liter" pitchFamily="34" charset="-122"/>
                <a:cs typeface="Liter" pitchFamily="34" charset="-120"/>
              </a:rPr>
              <a:t>CPU understands what the instruction means</a:t>
            </a:r>
            <a:endParaRPr lang="en-US" sz="1600" dirty="0"/>
          </a:p>
        </p:txBody>
      </p:sp>
      <p:sp>
        <p:nvSpPr>
          <p:cNvPr id="14" name="Shape 12"/>
          <p:cNvSpPr/>
          <p:nvPr/>
        </p:nvSpPr>
        <p:spPr>
          <a:xfrm>
            <a:off x="520557" y="2986362"/>
            <a:ext cx="410966" cy="410966"/>
          </a:xfrm>
          <a:custGeom>
            <a:avLst/>
            <a:gdLst/>
            <a:ahLst/>
            <a:cxnLst/>
            <a:rect l="l" t="t" r="r" b="b"/>
            <a:pathLst>
              <a:path w="410966" h="410966">
                <a:moveTo>
                  <a:pt x="102742" y="0"/>
                </a:moveTo>
                <a:lnTo>
                  <a:pt x="308225" y="0"/>
                </a:lnTo>
                <a:cubicBezTo>
                  <a:pt x="364967" y="0"/>
                  <a:pt x="410966" y="45999"/>
                  <a:pt x="410966" y="102742"/>
                </a:cubicBezTo>
                <a:lnTo>
                  <a:pt x="410966" y="308225"/>
                </a:lnTo>
                <a:cubicBezTo>
                  <a:pt x="410966" y="364967"/>
                  <a:pt x="364967" y="410966"/>
                  <a:pt x="308225" y="410966"/>
                </a:cubicBezTo>
                <a:lnTo>
                  <a:pt x="102742" y="410966"/>
                </a:lnTo>
                <a:cubicBezTo>
                  <a:pt x="45999" y="410966"/>
                  <a:pt x="0" y="364967"/>
                  <a:pt x="0" y="308225"/>
                </a:cubicBezTo>
                <a:lnTo>
                  <a:pt x="0" y="102742"/>
                </a:lnTo>
                <a:cubicBezTo>
                  <a:pt x="0" y="45999"/>
                  <a:pt x="45999" y="0"/>
                  <a:pt x="102742" y="0"/>
                </a:cubicBezTo>
                <a:close/>
              </a:path>
            </a:pathLst>
          </a:custGeom>
          <a:solidFill>
            <a:srgbClr val="6366F1">
              <a:alpha val="20000"/>
            </a:srgbClr>
          </a:solidFill>
          <a:ln/>
        </p:spPr>
      </p:sp>
      <p:sp>
        <p:nvSpPr>
          <p:cNvPr id="15" name="Text 13"/>
          <p:cNvSpPr/>
          <p:nvPr/>
        </p:nvSpPr>
        <p:spPr>
          <a:xfrm>
            <a:off x="665359" y="3054856"/>
            <a:ext cx="222607" cy="273978"/>
          </a:xfrm>
          <a:prstGeom prst="rect">
            <a:avLst/>
          </a:prstGeom>
          <a:noFill/>
          <a:ln/>
        </p:spPr>
        <p:txBody>
          <a:bodyPr wrap="square" lIns="0" tIns="0" rIns="0" bIns="0" rtlCol="0" anchor="ctr"/>
          <a:lstStyle/>
          <a:p>
            <a:pPr>
              <a:lnSpc>
                <a:spcPct val="110000"/>
              </a:lnSpc>
            </a:pPr>
            <a:r>
              <a:rPr lang="en-US" sz="1618" b="1" dirty="0">
                <a:solidFill>
                  <a:srgbClr val="6366F1"/>
                </a:solidFill>
                <a:latin typeface="Liter" pitchFamily="34" charset="0"/>
                <a:ea typeface="Liter" pitchFamily="34" charset="-122"/>
                <a:cs typeface="Liter" pitchFamily="34" charset="-120"/>
              </a:rPr>
              <a:t>3</a:t>
            </a:r>
            <a:endParaRPr lang="en-US" sz="1600" dirty="0"/>
          </a:p>
        </p:txBody>
      </p:sp>
      <p:sp>
        <p:nvSpPr>
          <p:cNvPr id="16" name="Text 14"/>
          <p:cNvSpPr/>
          <p:nvPr/>
        </p:nvSpPr>
        <p:spPr>
          <a:xfrm>
            <a:off x="1068512" y="2986362"/>
            <a:ext cx="3030876" cy="239730"/>
          </a:xfrm>
          <a:prstGeom prst="rect">
            <a:avLst/>
          </a:prstGeom>
          <a:noFill/>
          <a:ln/>
        </p:spPr>
        <p:txBody>
          <a:bodyPr wrap="square" lIns="0" tIns="0" rIns="0" bIns="0" rtlCol="0" anchor="ctr"/>
          <a:lstStyle/>
          <a:p>
            <a:pPr>
              <a:lnSpc>
                <a:spcPct val="130000"/>
              </a:lnSpc>
            </a:pPr>
            <a:r>
              <a:rPr lang="en-US" sz="1213" b="1" dirty="0">
                <a:solidFill>
                  <a:srgbClr val="EFEFEF"/>
                </a:solidFill>
                <a:latin typeface="Liter" pitchFamily="34" charset="0"/>
                <a:ea typeface="Liter" pitchFamily="34" charset="-122"/>
                <a:cs typeface="Liter" pitchFamily="34" charset="-120"/>
              </a:rPr>
              <a:t>Execute</a:t>
            </a:r>
            <a:endParaRPr lang="en-US" sz="1600" dirty="0"/>
          </a:p>
        </p:txBody>
      </p:sp>
      <p:sp>
        <p:nvSpPr>
          <p:cNvPr id="17" name="Text 15"/>
          <p:cNvSpPr/>
          <p:nvPr/>
        </p:nvSpPr>
        <p:spPr>
          <a:xfrm>
            <a:off x="1068512" y="3260339"/>
            <a:ext cx="3022315" cy="205483"/>
          </a:xfrm>
          <a:prstGeom prst="rect">
            <a:avLst/>
          </a:prstGeom>
          <a:noFill/>
          <a:ln/>
        </p:spPr>
        <p:txBody>
          <a:bodyPr wrap="square" lIns="0" tIns="0" rIns="0" bIns="0" rtlCol="0" anchor="ctr"/>
          <a:lstStyle/>
          <a:p>
            <a:pPr>
              <a:lnSpc>
                <a:spcPct val="130000"/>
              </a:lnSpc>
            </a:pPr>
            <a:r>
              <a:rPr lang="en-US" sz="1079" dirty="0">
                <a:solidFill>
                  <a:srgbClr val="8F8F8F"/>
                </a:solidFill>
                <a:latin typeface="Liter" pitchFamily="34" charset="0"/>
                <a:ea typeface="Liter" pitchFamily="34" charset="-122"/>
                <a:cs typeface="Liter" pitchFamily="34" charset="-120"/>
              </a:rPr>
              <a:t>CPU performs the action (calculation, data move)</a:t>
            </a:r>
            <a:endParaRPr lang="en-US" sz="1600" dirty="0"/>
          </a:p>
        </p:txBody>
      </p:sp>
      <p:sp>
        <p:nvSpPr>
          <p:cNvPr id="18" name="Shape 16"/>
          <p:cNvSpPr/>
          <p:nvPr/>
        </p:nvSpPr>
        <p:spPr>
          <a:xfrm>
            <a:off x="520557" y="3602811"/>
            <a:ext cx="410966" cy="410966"/>
          </a:xfrm>
          <a:custGeom>
            <a:avLst/>
            <a:gdLst/>
            <a:ahLst/>
            <a:cxnLst/>
            <a:rect l="l" t="t" r="r" b="b"/>
            <a:pathLst>
              <a:path w="410966" h="410966">
                <a:moveTo>
                  <a:pt x="102742" y="0"/>
                </a:moveTo>
                <a:lnTo>
                  <a:pt x="308225" y="0"/>
                </a:lnTo>
                <a:cubicBezTo>
                  <a:pt x="364967" y="0"/>
                  <a:pt x="410966" y="45999"/>
                  <a:pt x="410966" y="102742"/>
                </a:cubicBezTo>
                <a:lnTo>
                  <a:pt x="410966" y="308225"/>
                </a:lnTo>
                <a:cubicBezTo>
                  <a:pt x="410966" y="364967"/>
                  <a:pt x="364967" y="410966"/>
                  <a:pt x="308225" y="410966"/>
                </a:cubicBezTo>
                <a:lnTo>
                  <a:pt x="102742" y="410966"/>
                </a:lnTo>
                <a:cubicBezTo>
                  <a:pt x="45999" y="410966"/>
                  <a:pt x="0" y="364967"/>
                  <a:pt x="0" y="308225"/>
                </a:cubicBezTo>
                <a:lnTo>
                  <a:pt x="0" y="102742"/>
                </a:lnTo>
                <a:cubicBezTo>
                  <a:pt x="0" y="45999"/>
                  <a:pt x="45999" y="0"/>
                  <a:pt x="102742" y="0"/>
                </a:cubicBezTo>
                <a:close/>
              </a:path>
            </a:pathLst>
          </a:custGeom>
          <a:solidFill>
            <a:srgbClr val="6366F1">
              <a:alpha val="20000"/>
            </a:srgbClr>
          </a:solidFill>
          <a:ln/>
        </p:spPr>
      </p:sp>
      <p:sp>
        <p:nvSpPr>
          <p:cNvPr id="19" name="Text 17"/>
          <p:cNvSpPr/>
          <p:nvPr/>
        </p:nvSpPr>
        <p:spPr>
          <a:xfrm>
            <a:off x="665466" y="3671306"/>
            <a:ext cx="222607" cy="273978"/>
          </a:xfrm>
          <a:prstGeom prst="rect">
            <a:avLst/>
          </a:prstGeom>
          <a:noFill/>
          <a:ln/>
        </p:spPr>
        <p:txBody>
          <a:bodyPr wrap="square" lIns="0" tIns="0" rIns="0" bIns="0" rtlCol="0" anchor="ctr"/>
          <a:lstStyle/>
          <a:p>
            <a:pPr>
              <a:lnSpc>
                <a:spcPct val="110000"/>
              </a:lnSpc>
            </a:pPr>
            <a:r>
              <a:rPr lang="en-US" sz="1618" b="1" dirty="0">
                <a:solidFill>
                  <a:srgbClr val="6366F1"/>
                </a:solidFill>
                <a:latin typeface="Liter" pitchFamily="34" charset="0"/>
                <a:ea typeface="Liter" pitchFamily="34" charset="-122"/>
                <a:cs typeface="Liter" pitchFamily="34" charset="-120"/>
              </a:rPr>
              <a:t>4</a:t>
            </a:r>
            <a:endParaRPr lang="en-US" sz="1600" dirty="0"/>
          </a:p>
        </p:txBody>
      </p:sp>
      <p:sp>
        <p:nvSpPr>
          <p:cNvPr id="20" name="Text 18"/>
          <p:cNvSpPr/>
          <p:nvPr/>
        </p:nvSpPr>
        <p:spPr>
          <a:xfrm>
            <a:off x="1068512" y="3602811"/>
            <a:ext cx="2311685" cy="239730"/>
          </a:xfrm>
          <a:prstGeom prst="rect">
            <a:avLst/>
          </a:prstGeom>
          <a:noFill/>
          <a:ln/>
        </p:spPr>
        <p:txBody>
          <a:bodyPr wrap="square" lIns="0" tIns="0" rIns="0" bIns="0" rtlCol="0" anchor="ctr"/>
          <a:lstStyle/>
          <a:p>
            <a:pPr>
              <a:lnSpc>
                <a:spcPct val="130000"/>
              </a:lnSpc>
            </a:pPr>
            <a:r>
              <a:rPr lang="en-US" sz="1213" b="1" dirty="0">
                <a:solidFill>
                  <a:srgbClr val="EFEFEF"/>
                </a:solidFill>
                <a:latin typeface="Liter" pitchFamily="34" charset="0"/>
                <a:ea typeface="Liter" pitchFamily="34" charset="-122"/>
                <a:cs typeface="Liter" pitchFamily="34" charset="-120"/>
              </a:rPr>
              <a:t>Store</a:t>
            </a:r>
            <a:endParaRPr lang="en-US" sz="1600" dirty="0"/>
          </a:p>
        </p:txBody>
      </p:sp>
      <p:sp>
        <p:nvSpPr>
          <p:cNvPr id="21" name="Text 19"/>
          <p:cNvSpPr/>
          <p:nvPr/>
        </p:nvSpPr>
        <p:spPr>
          <a:xfrm>
            <a:off x="1068512" y="3876789"/>
            <a:ext cx="2303124" cy="205483"/>
          </a:xfrm>
          <a:prstGeom prst="rect">
            <a:avLst/>
          </a:prstGeom>
          <a:noFill/>
          <a:ln/>
        </p:spPr>
        <p:txBody>
          <a:bodyPr wrap="square" lIns="0" tIns="0" rIns="0" bIns="0" rtlCol="0" anchor="ctr"/>
          <a:lstStyle/>
          <a:p>
            <a:pPr>
              <a:lnSpc>
                <a:spcPct val="130000"/>
              </a:lnSpc>
            </a:pPr>
            <a:r>
              <a:rPr lang="en-US" sz="1079" dirty="0">
                <a:solidFill>
                  <a:srgbClr val="8F8F8F"/>
                </a:solidFill>
                <a:latin typeface="Liter" pitchFamily="34" charset="0"/>
                <a:ea typeface="Liter" pitchFamily="34" charset="-122"/>
                <a:cs typeface="Liter" pitchFamily="34" charset="-120"/>
              </a:rPr>
              <a:t>CPU saves the result back to memory</a:t>
            </a:r>
            <a:endParaRPr lang="en-US" sz="1600" dirty="0"/>
          </a:p>
        </p:txBody>
      </p:sp>
      <p:sp>
        <p:nvSpPr>
          <p:cNvPr id="22" name="Shape 20"/>
          <p:cNvSpPr/>
          <p:nvPr/>
        </p:nvSpPr>
        <p:spPr>
          <a:xfrm>
            <a:off x="345897" y="4400761"/>
            <a:ext cx="6813479" cy="1616467"/>
          </a:xfrm>
          <a:custGeom>
            <a:avLst/>
            <a:gdLst/>
            <a:ahLst/>
            <a:cxnLst/>
            <a:rect l="l" t="t" r="r" b="b"/>
            <a:pathLst>
              <a:path w="6813479" h="1616467">
                <a:moveTo>
                  <a:pt x="102743" y="0"/>
                </a:moveTo>
                <a:lnTo>
                  <a:pt x="6710736" y="0"/>
                </a:lnTo>
                <a:cubicBezTo>
                  <a:pt x="6767479" y="0"/>
                  <a:pt x="6813479" y="45999"/>
                  <a:pt x="6813479" y="102743"/>
                </a:cubicBezTo>
                <a:lnTo>
                  <a:pt x="6813479" y="1513725"/>
                </a:lnTo>
                <a:cubicBezTo>
                  <a:pt x="6813479" y="1570468"/>
                  <a:pt x="6767479" y="1616467"/>
                  <a:pt x="6710736" y="1616467"/>
                </a:cubicBezTo>
                <a:lnTo>
                  <a:pt x="102743" y="1616467"/>
                </a:lnTo>
                <a:cubicBezTo>
                  <a:pt x="45999" y="1616467"/>
                  <a:pt x="0" y="1570468"/>
                  <a:pt x="0" y="1513725"/>
                </a:cubicBezTo>
                <a:lnTo>
                  <a:pt x="0" y="102743"/>
                </a:lnTo>
                <a:cubicBezTo>
                  <a:pt x="0" y="46037"/>
                  <a:pt x="46037" y="0"/>
                  <a:pt x="102743" y="0"/>
                </a:cubicBezTo>
                <a:close/>
              </a:path>
            </a:pathLst>
          </a:custGeom>
          <a:solidFill>
            <a:srgbClr val="262626"/>
          </a:solidFill>
          <a:ln w="10160">
            <a:solidFill>
              <a:srgbClr val="333333"/>
            </a:solidFill>
            <a:prstDash val="solid"/>
          </a:ln>
        </p:spPr>
      </p:sp>
      <p:sp>
        <p:nvSpPr>
          <p:cNvPr id="23" name="Text 21"/>
          <p:cNvSpPr/>
          <p:nvPr/>
        </p:nvSpPr>
        <p:spPr>
          <a:xfrm>
            <a:off x="486310" y="4541181"/>
            <a:ext cx="6609708" cy="239730"/>
          </a:xfrm>
          <a:prstGeom prst="rect">
            <a:avLst/>
          </a:prstGeom>
          <a:noFill/>
          <a:ln/>
        </p:spPr>
        <p:txBody>
          <a:bodyPr wrap="square" lIns="0" tIns="0" rIns="0" bIns="0" rtlCol="0" anchor="ctr"/>
          <a:lstStyle/>
          <a:p>
            <a:pPr>
              <a:lnSpc>
                <a:spcPct val="130000"/>
              </a:lnSpc>
            </a:pPr>
            <a:r>
              <a:rPr lang="en-US" sz="1213" b="1" dirty="0">
                <a:solidFill>
                  <a:srgbClr val="EFEFEF"/>
                </a:solidFill>
                <a:latin typeface="Liter" pitchFamily="34" charset="0"/>
                <a:ea typeface="Liter" pitchFamily="34" charset="-122"/>
                <a:cs typeface="Liter" pitchFamily="34" charset="-120"/>
              </a:rPr>
              <a:t>Input-Process-Output Model</a:t>
            </a:r>
            <a:endParaRPr lang="en-US" sz="1600" dirty="0"/>
          </a:p>
        </p:txBody>
      </p:sp>
      <p:sp>
        <p:nvSpPr>
          <p:cNvPr id="24" name="Shape 22"/>
          <p:cNvSpPr/>
          <p:nvPr/>
        </p:nvSpPr>
        <p:spPr>
          <a:xfrm>
            <a:off x="644596" y="4883653"/>
            <a:ext cx="547955" cy="547955"/>
          </a:xfrm>
          <a:custGeom>
            <a:avLst/>
            <a:gdLst/>
            <a:ahLst/>
            <a:cxnLst/>
            <a:rect l="l" t="t" r="r" b="b"/>
            <a:pathLst>
              <a:path w="547955" h="547955">
                <a:moveTo>
                  <a:pt x="102742" y="0"/>
                </a:moveTo>
                <a:lnTo>
                  <a:pt x="445213" y="0"/>
                </a:lnTo>
                <a:cubicBezTo>
                  <a:pt x="501956" y="0"/>
                  <a:pt x="547955" y="45999"/>
                  <a:pt x="547955" y="102742"/>
                </a:cubicBezTo>
                <a:lnTo>
                  <a:pt x="547955" y="445213"/>
                </a:lnTo>
                <a:cubicBezTo>
                  <a:pt x="547955" y="501956"/>
                  <a:pt x="501956" y="547955"/>
                  <a:pt x="445213" y="547955"/>
                </a:cubicBezTo>
                <a:lnTo>
                  <a:pt x="102742" y="547955"/>
                </a:lnTo>
                <a:cubicBezTo>
                  <a:pt x="45999" y="547955"/>
                  <a:pt x="0" y="501956"/>
                  <a:pt x="0" y="445213"/>
                </a:cubicBezTo>
                <a:lnTo>
                  <a:pt x="0" y="102742"/>
                </a:lnTo>
                <a:cubicBezTo>
                  <a:pt x="0" y="45999"/>
                  <a:pt x="45999" y="0"/>
                  <a:pt x="102742" y="0"/>
                </a:cubicBezTo>
                <a:close/>
              </a:path>
            </a:pathLst>
          </a:custGeom>
          <a:solidFill>
            <a:srgbClr val="6366F1">
              <a:alpha val="20000"/>
            </a:srgbClr>
          </a:solidFill>
          <a:ln/>
        </p:spPr>
      </p:sp>
      <p:sp>
        <p:nvSpPr>
          <p:cNvPr id="25" name="Shape 23"/>
          <p:cNvSpPr/>
          <p:nvPr/>
        </p:nvSpPr>
        <p:spPr>
          <a:xfrm>
            <a:off x="802990" y="5054889"/>
            <a:ext cx="231169" cy="205483"/>
          </a:xfrm>
          <a:custGeom>
            <a:avLst/>
            <a:gdLst/>
            <a:ahLst/>
            <a:cxnLst/>
            <a:rect l="l" t="t" r="r" b="b"/>
            <a:pathLst>
              <a:path w="231169" h="205483">
                <a:moveTo>
                  <a:pt x="25685" y="25685"/>
                </a:moveTo>
                <a:cubicBezTo>
                  <a:pt x="11518" y="25685"/>
                  <a:pt x="0" y="37204"/>
                  <a:pt x="0" y="51371"/>
                </a:cubicBezTo>
                <a:lnTo>
                  <a:pt x="0" y="154112"/>
                </a:lnTo>
                <a:cubicBezTo>
                  <a:pt x="0" y="168279"/>
                  <a:pt x="11518" y="179798"/>
                  <a:pt x="25685" y="179798"/>
                </a:cubicBezTo>
                <a:lnTo>
                  <a:pt x="205483" y="179798"/>
                </a:lnTo>
                <a:cubicBezTo>
                  <a:pt x="219650" y="179798"/>
                  <a:pt x="231169" y="168279"/>
                  <a:pt x="231169" y="154112"/>
                </a:cubicBezTo>
                <a:lnTo>
                  <a:pt x="231169" y="51371"/>
                </a:lnTo>
                <a:cubicBezTo>
                  <a:pt x="231169" y="37204"/>
                  <a:pt x="219650" y="25685"/>
                  <a:pt x="205483" y="25685"/>
                </a:cubicBezTo>
                <a:lnTo>
                  <a:pt x="25685" y="25685"/>
                </a:lnTo>
                <a:close/>
                <a:moveTo>
                  <a:pt x="32107" y="51371"/>
                </a:moveTo>
                <a:lnTo>
                  <a:pt x="44949" y="51371"/>
                </a:lnTo>
                <a:cubicBezTo>
                  <a:pt x="48481" y="51371"/>
                  <a:pt x="51371" y="54260"/>
                  <a:pt x="51371" y="57792"/>
                </a:cubicBezTo>
                <a:lnTo>
                  <a:pt x="51371" y="70635"/>
                </a:lnTo>
                <a:cubicBezTo>
                  <a:pt x="51371" y="74167"/>
                  <a:pt x="48481" y="77056"/>
                  <a:pt x="44949" y="77056"/>
                </a:cubicBezTo>
                <a:lnTo>
                  <a:pt x="32107" y="77056"/>
                </a:lnTo>
                <a:cubicBezTo>
                  <a:pt x="28575" y="77056"/>
                  <a:pt x="25685" y="74167"/>
                  <a:pt x="25685" y="70635"/>
                </a:cubicBezTo>
                <a:lnTo>
                  <a:pt x="25685" y="57792"/>
                </a:lnTo>
                <a:cubicBezTo>
                  <a:pt x="25685" y="54260"/>
                  <a:pt x="28575" y="51371"/>
                  <a:pt x="32107" y="51371"/>
                </a:cubicBezTo>
                <a:close/>
                <a:moveTo>
                  <a:pt x="25685" y="96320"/>
                </a:moveTo>
                <a:cubicBezTo>
                  <a:pt x="25685" y="92788"/>
                  <a:pt x="28575" y="89899"/>
                  <a:pt x="32107" y="89899"/>
                </a:cubicBezTo>
                <a:lnTo>
                  <a:pt x="44949" y="89899"/>
                </a:lnTo>
                <a:cubicBezTo>
                  <a:pt x="48481" y="89899"/>
                  <a:pt x="51371" y="92788"/>
                  <a:pt x="51371" y="96320"/>
                </a:cubicBezTo>
                <a:lnTo>
                  <a:pt x="51371" y="109163"/>
                </a:lnTo>
                <a:cubicBezTo>
                  <a:pt x="51371" y="112695"/>
                  <a:pt x="48481" y="115584"/>
                  <a:pt x="44949" y="115584"/>
                </a:cubicBezTo>
                <a:lnTo>
                  <a:pt x="32107" y="115584"/>
                </a:lnTo>
                <a:cubicBezTo>
                  <a:pt x="28575" y="115584"/>
                  <a:pt x="25685" y="112695"/>
                  <a:pt x="25685" y="109163"/>
                </a:cubicBezTo>
                <a:lnTo>
                  <a:pt x="25685" y="96320"/>
                </a:lnTo>
                <a:close/>
                <a:moveTo>
                  <a:pt x="70635" y="51371"/>
                </a:moveTo>
                <a:lnTo>
                  <a:pt x="83478" y="51371"/>
                </a:lnTo>
                <a:cubicBezTo>
                  <a:pt x="87009" y="51371"/>
                  <a:pt x="89899" y="54260"/>
                  <a:pt x="89899" y="57792"/>
                </a:cubicBezTo>
                <a:lnTo>
                  <a:pt x="89899" y="70635"/>
                </a:lnTo>
                <a:cubicBezTo>
                  <a:pt x="89899" y="74167"/>
                  <a:pt x="87009" y="77056"/>
                  <a:pt x="83478" y="77056"/>
                </a:cubicBezTo>
                <a:lnTo>
                  <a:pt x="70635" y="77056"/>
                </a:lnTo>
                <a:cubicBezTo>
                  <a:pt x="67103" y="77056"/>
                  <a:pt x="64213" y="74167"/>
                  <a:pt x="64213" y="70635"/>
                </a:cubicBezTo>
                <a:lnTo>
                  <a:pt x="64213" y="57792"/>
                </a:lnTo>
                <a:cubicBezTo>
                  <a:pt x="64213" y="54260"/>
                  <a:pt x="67103" y="51371"/>
                  <a:pt x="70635" y="51371"/>
                </a:cubicBezTo>
                <a:close/>
                <a:moveTo>
                  <a:pt x="64213" y="96320"/>
                </a:moveTo>
                <a:cubicBezTo>
                  <a:pt x="64213" y="92788"/>
                  <a:pt x="67103" y="89899"/>
                  <a:pt x="70635" y="89899"/>
                </a:cubicBezTo>
                <a:lnTo>
                  <a:pt x="83478" y="89899"/>
                </a:lnTo>
                <a:cubicBezTo>
                  <a:pt x="87009" y="89899"/>
                  <a:pt x="89899" y="92788"/>
                  <a:pt x="89899" y="96320"/>
                </a:cubicBezTo>
                <a:lnTo>
                  <a:pt x="89899" y="109163"/>
                </a:lnTo>
                <a:cubicBezTo>
                  <a:pt x="89899" y="112695"/>
                  <a:pt x="87009" y="115584"/>
                  <a:pt x="83478" y="115584"/>
                </a:cubicBezTo>
                <a:lnTo>
                  <a:pt x="70635" y="115584"/>
                </a:lnTo>
                <a:cubicBezTo>
                  <a:pt x="67103" y="115584"/>
                  <a:pt x="64213" y="112695"/>
                  <a:pt x="64213" y="109163"/>
                </a:cubicBezTo>
                <a:lnTo>
                  <a:pt x="64213" y="96320"/>
                </a:lnTo>
                <a:close/>
                <a:moveTo>
                  <a:pt x="70635" y="128427"/>
                </a:moveTo>
                <a:lnTo>
                  <a:pt x="160534" y="128427"/>
                </a:lnTo>
                <a:cubicBezTo>
                  <a:pt x="164065" y="128427"/>
                  <a:pt x="166955" y="131317"/>
                  <a:pt x="166955" y="134848"/>
                </a:cubicBezTo>
                <a:lnTo>
                  <a:pt x="166955" y="147691"/>
                </a:lnTo>
                <a:cubicBezTo>
                  <a:pt x="166955" y="151223"/>
                  <a:pt x="164065" y="154112"/>
                  <a:pt x="160534" y="154112"/>
                </a:cubicBezTo>
                <a:lnTo>
                  <a:pt x="70635" y="154112"/>
                </a:lnTo>
                <a:cubicBezTo>
                  <a:pt x="67103" y="154112"/>
                  <a:pt x="64213" y="151223"/>
                  <a:pt x="64213" y="147691"/>
                </a:cubicBezTo>
                <a:lnTo>
                  <a:pt x="64213" y="134848"/>
                </a:lnTo>
                <a:cubicBezTo>
                  <a:pt x="64213" y="131317"/>
                  <a:pt x="67103" y="128427"/>
                  <a:pt x="70635" y="128427"/>
                </a:cubicBezTo>
                <a:close/>
                <a:moveTo>
                  <a:pt x="102742" y="57792"/>
                </a:moveTo>
                <a:cubicBezTo>
                  <a:pt x="102742" y="54260"/>
                  <a:pt x="105631" y="51371"/>
                  <a:pt x="109163" y="51371"/>
                </a:cubicBezTo>
                <a:lnTo>
                  <a:pt x="122006" y="51371"/>
                </a:lnTo>
                <a:cubicBezTo>
                  <a:pt x="125537" y="51371"/>
                  <a:pt x="128427" y="54260"/>
                  <a:pt x="128427" y="57792"/>
                </a:cubicBezTo>
                <a:lnTo>
                  <a:pt x="128427" y="70635"/>
                </a:lnTo>
                <a:cubicBezTo>
                  <a:pt x="128427" y="74167"/>
                  <a:pt x="125537" y="77056"/>
                  <a:pt x="122006" y="77056"/>
                </a:cubicBezTo>
                <a:lnTo>
                  <a:pt x="109163" y="77056"/>
                </a:lnTo>
                <a:cubicBezTo>
                  <a:pt x="105631" y="77056"/>
                  <a:pt x="102742" y="74167"/>
                  <a:pt x="102742" y="70635"/>
                </a:cubicBezTo>
                <a:lnTo>
                  <a:pt x="102742" y="57792"/>
                </a:lnTo>
                <a:close/>
                <a:moveTo>
                  <a:pt x="109163" y="89899"/>
                </a:moveTo>
                <a:lnTo>
                  <a:pt x="122006" y="89899"/>
                </a:lnTo>
                <a:cubicBezTo>
                  <a:pt x="125537" y="89899"/>
                  <a:pt x="128427" y="92788"/>
                  <a:pt x="128427" y="96320"/>
                </a:cubicBezTo>
                <a:lnTo>
                  <a:pt x="128427" y="109163"/>
                </a:lnTo>
                <a:cubicBezTo>
                  <a:pt x="128427" y="112695"/>
                  <a:pt x="125537" y="115584"/>
                  <a:pt x="122006" y="115584"/>
                </a:cubicBezTo>
                <a:lnTo>
                  <a:pt x="109163" y="115584"/>
                </a:lnTo>
                <a:cubicBezTo>
                  <a:pt x="105631" y="115584"/>
                  <a:pt x="102742" y="112695"/>
                  <a:pt x="102742" y="109163"/>
                </a:cubicBezTo>
                <a:lnTo>
                  <a:pt x="102742" y="96320"/>
                </a:lnTo>
                <a:cubicBezTo>
                  <a:pt x="102742" y="92788"/>
                  <a:pt x="105631" y="89899"/>
                  <a:pt x="109163" y="89899"/>
                </a:cubicBezTo>
                <a:close/>
                <a:moveTo>
                  <a:pt x="141270" y="57792"/>
                </a:moveTo>
                <a:cubicBezTo>
                  <a:pt x="141270" y="54260"/>
                  <a:pt x="144159" y="51371"/>
                  <a:pt x="147691" y="51371"/>
                </a:cubicBezTo>
                <a:lnTo>
                  <a:pt x="160534" y="51371"/>
                </a:lnTo>
                <a:cubicBezTo>
                  <a:pt x="164065" y="51371"/>
                  <a:pt x="166955" y="54260"/>
                  <a:pt x="166955" y="57792"/>
                </a:cubicBezTo>
                <a:lnTo>
                  <a:pt x="166955" y="70635"/>
                </a:lnTo>
                <a:cubicBezTo>
                  <a:pt x="166955" y="74167"/>
                  <a:pt x="164065" y="77056"/>
                  <a:pt x="160534" y="77056"/>
                </a:cubicBezTo>
                <a:lnTo>
                  <a:pt x="147691" y="77056"/>
                </a:lnTo>
                <a:cubicBezTo>
                  <a:pt x="144159" y="77056"/>
                  <a:pt x="141270" y="74167"/>
                  <a:pt x="141270" y="70635"/>
                </a:cubicBezTo>
                <a:lnTo>
                  <a:pt x="141270" y="57792"/>
                </a:lnTo>
                <a:close/>
                <a:moveTo>
                  <a:pt x="147691" y="89899"/>
                </a:moveTo>
                <a:lnTo>
                  <a:pt x="160534" y="89899"/>
                </a:lnTo>
                <a:cubicBezTo>
                  <a:pt x="164065" y="89899"/>
                  <a:pt x="166955" y="92788"/>
                  <a:pt x="166955" y="96320"/>
                </a:cubicBezTo>
                <a:lnTo>
                  <a:pt x="166955" y="109163"/>
                </a:lnTo>
                <a:cubicBezTo>
                  <a:pt x="166955" y="112695"/>
                  <a:pt x="164065" y="115584"/>
                  <a:pt x="160534" y="115584"/>
                </a:cubicBezTo>
                <a:lnTo>
                  <a:pt x="147691" y="115584"/>
                </a:lnTo>
                <a:cubicBezTo>
                  <a:pt x="144159" y="115584"/>
                  <a:pt x="141270" y="112695"/>
                  <a:pt x="141270" y="109163"/>
                </a:cubicBezTo>
                <a:lnTo>
                  <a:pt x="141270" y="96320"/>
                </a:lnTo>
                <a:cubicBezTo>
                  <a:pt x="141270" y="92788"/>
                  <a:pt x="144159" y="89899"/>
                  <a:pt x="147691" y="89899"/>
                </a:cubicBezTo>
                <a:close/>
                <a:moveTo>
                  <a:pt x="179798" y="57792"/>
                </a:moveTo>
                <a:cubicBezTo>
                  <a:pt x="179798" y="54260"/>
                  <a:pt x="182687" y="51371"/>
                  <a:pt x="186219" y="51371"/>
                </a:cubicBezTo>
                <a:lnTo>
                  <a:pt x="199062" y="51371"/>
                </a:lnTo>
                <a:cubicBezTo>
                  <a:pt x="202594" y="51371"/>
                  <a:pt x="205483" y="54260"/>
                  <a:pt x="205483" y="57792"/>
                </a:cubicBezTo>
                <a:lnTo>
                  <a:pt x="205483" y="70635"/>
                </a:lnTo>
                <a:cubicBezTo>
                  <a:pt x="205483" y="74167"/>
                  <a:pt x="202594" y="77056"/>
                  <a:pt x="199062" y="77056"/>
                </a:cubicBezTo>
                <a:lnTo>
                  <a:pt x="186219" y="77056"/>
                </a:lnTo>
                <a:cubicBezTo>
                  <a:pt x="182687" y="77056"/>
                  <a:pt x="179798" y="74167"/>
                  <a:pt x="179798" y="70635"/>
                </a:cubicBezTo>
                <a:lnTo>
                  <a:pt x="179798" y="57792"/>
                </a:lnTo>
                <a:close/>
                <a:moveTo>
                  <a:pt x="186219" y="89899"/>
                </a:moveTo>
                <a:lnTo>
                  <a:pt x="199062" y="89899"/>
                </a:lnTo>
                <a:cubicBezTo>
                  <a:pt x="202594" y="89899"/>
                  <a:pt x="205483" y="92788"/>
                  <a:pt x="205483" y="96320"/>
                </a:cubicBezTo>
                <a:lnTo>
                  <a:pt x="205483" y="109163"/>
                </a:lnTo>
                <a:cubicBezTo>
                  <a:pt x="205483" y="112695"/>
                  <a:pt x="202594" y="115584"/>
                  <a:pt x="199062" y="115584"/>
                </a:cubicBezTo>
                <a:lnTo>
                  <a:pt x="186219" y="115584"/>
                </a:lnTo>
                <a:cubicBezTo>
                  <a:pt x="182687" y="115584"/>
                  <a:pt x="179798" y="112695"/>
                  <a:pt x="179798" y="109163"/>
                </a:cubicBezTo>
                <a:lnTo>
                  <a:pt x="179798" y="96320"/>
                </a:lnTo>
                <a:cubicBezTo>
                  <a:pt x="179798" y="92788"/>
                  <a:pt x="182687" y="89899"/>
                  <a:pt x="186219" y="89899"/>
                </a:cubicBezTo>
                <a:close/>
              </a:path>
            </a:pathLst>
          </a:custGeom>
          <a:solidFill>
            <a:srgbClr val="6366F1"/>
          </a:solidFill>
          <a:ln/>
        </p:spPr>
      </p:sp>
      <p:sp>
        <p:nvSpPr>
          <p:cNvPr id="26" name="Text 24"/>
          <p:cNvSpPr/>
          <p:nvPr/>
        </p:nvSpPr>
        <p:spPr>
          <a:xfrm>
            <a:off x="452063" y="5500102"/>
            <a:ext cx="933236" cy="205483"/>
          </a:xfrm>
          <a:prstGeom prst="rect">
            <a:avLst/>
          </a:prstGeom>
          <a:noFill/>
          <a:ln/>
        </p:spPr>
        <p:txBody>
          <a:bodyPr wrap="square" lIns="0" tIns="0" rIns="0" bIns="0" rtlCol="0" anchor="ctr"/>
          <a:lstStyle/>
          <a:p>
            <a:pPr algn="ctr">
              <a:lnSpc>
                <a:spcPct val="130000"/>
              </a:lnSpc>
            </a:pPr>
            <a:r>
              <a:rPr lang="en-US" sz="1079" b="1" dirty="0">
                <a:solidFill>
                  <a:srgbClr val="EFEFEF"/>
                </a:solidFill>
                <a:latin typeface="Liter" pitchFamily="34" charset="0"/>
                <a:ea typeface="Liter" pitchFamily="34" charset="-122"/>
                <a:cs typeface="Liter" pitchFamily="34" charset="-120"/>
              </a:rPr>
              <a:t>Input</a:t>
            </a:r>
            <a:endParaRPr lang="en-US" sz="1600" dirty="0"/>
          </a:p>
        </p:txBody>
      </p:sp>
      <p:sp>
        <p:nvSpPr>
          <p:cNvPr id="27" name="Text 25"/>
          <p:cNvSpPr/>
          <p:nvPr/>
        </p:nvSpPr>
        <p:spPr>
          <a:xfrm>
            <a:off x="456344" y="5705585"/>
            <a:ext cx="924674" cy="171236"/>
          </a:xfrm>
          <a:prstGeom prst="rect">
            <a:avLst/>
          </a:prstGeom>
          <a:noFill/>
          <a:ln/>
        </p:spPr>
        <p:txBody>
          <a:bodyPr wrap="square" lIns="0" tIns="0" rIns="0" bIns="0" rtlCol="0" anchor="ctr"/>
          <a:lstStyle/>
          <a:p>
            <a:pPr algn="ctr">
              <a:lnSpc>
                <a:spcPct val="120000"/>
              </a:lnSpc>
            </a:pPr>
            <a:r>
              <a:rPr lang="en-US" sz="944" dirty="0">
                <a:solidFill>
                  <a:srgbClr val="8F8F8F"/>
                </a:solidFill>
                <a:latin typeface="Liter" pitchFamily="34" charset="0"/>
                <a:ea typeface="Liter" pitchFamily="34" charset="-122"/>
                <a:cs typeface="Liter" pitchFamily="34" charset="-120"/>
              </a:rPr>
              <a:t>Type, click, scan</a:t>
            </a:r>
            <a:endParaRPr lang="en-US" sz="1600" dirty="0"/>
          </a:p>
        </p:txBody>
      </p:sp>
      <p:sp>
        <p:nvSpPr>
          <p:cNvPr id="28" name="Shape 26"/>
          <p:cNvSpPr/>
          <p:nvPr/>
        </p:nvSpPr>
        <p:spPr>
          <a:xfrm>
            <a:off x="2382748" y="5277495"/>
            <a:ext cx="205483" cy="205483"/>
          </a:xfrm>
          <a:custGeom>
            <a:avLst/>
            <a:gdLst/>
            <a:ahLst/>
            <a:cxnLst/>
            <a:rect l="l" t="t" r="r" b="b"/>
            <a:pathLst>
              <a:path w="205483" h="205483">
                <a:moveTo>
                  <a:pt x="201711" y="111812"/>
                </a:moveTo>
                <a:cubicBezTo>
                  <a:pt x="206727" y="106795"/>
                  <a:pt x="206727" y="98648"/>
                  <a:pt x="201711" y="93631"/>
                </a:cubicBezTo>
                <a:lnTo>
                  <a:pt x="137497" y="29418"/>
                </a:lnTo>
                <a:cubicBezTo>
                  <a:pt x="132480" y="24401"/>
                  <a:pt x="124333" y="24401"/>
                  <a:pt x="119317" y="29418"/>
                </a:cubicBezTo>
                <a:cubicBezTo>
                  <a:pt x="114300" y="34434"/>
                  <a:pt x="114300" y="42582"/>
                  <a:pt x="119317" y="47598"/>
                </a:cubicBezTo>
                <a:lnTo>
                  <a:pt x="161617" y="89899"/>
                </a:lnTo>
                <a:lnTo>
                  <a:pt x="12843" y="89899"/>
                </a:lnTo>
                <a:cubicBezTo>
                  <a:pt x="5739" y="89899"/>
                  <a:pt x="0" y="95638"/>
                  <a:pt x="0" y="102742"/>
                </a:cubicBezTo>
                <a:cubicBezTo>
                  <a:pt x="0" y="109845"/>
                  <a:pt x="5739" y="115584"/>
                  <a:pt x="12843" y="115584"/>
                </a:cubicBezTo>
                <a:lnTo>
                  <a:pt x="161617" y="115584"/>
                </a:lnTo>
                <a:lnTo>
                  <a:pt x="119317" y="157885"/>
                </a:lnTo>
                <a:cubicBezTo>
                  <a:pt x="114300" y="162902"/>
                  <a:pt x="114300" y="171049"/>
                  <a:pt x="119317" y="176065"/>
                </a:cubicBezTo>
                <a:cubicBezTo>
                  <a:pt x="124333" y="181082"/>
                  <a:pt x="132480" y="181082"/>
                  <a:pt x="137497" y="176065"/>
                </a:cubicBezTo>
                <a:lnTo>
                  <a:pt x="201711" y="111852"/>
                </a:lnTo>
                <a:close/>
              </a:path>
            </a:pathLst>
          </a:custGeom>
          <a:solidFill>
            <a:srgbClr val="6366F1"/>
          </a:solidFill>
          <a:ln/>
        </p:spPr>
      </p:sp>
      <p:sp>
        <p:nvSpPr>
          <p:cNvPr id="29" name="Shape 27"/>
          <p:cNvSpPr/>
          <p:nvPr/>
        </p:nvSpPr>
        <p:spPr>
          <a:xfrm>
            <a:off x="3637801" y="4883653"/>
            <a:ext cx="547955" cy="547955"/>
          </a:xfrm>
          <a:custGeom>
            <a:avLst/>
            <a:gdLst/>
            <a:ahLst/>
            <a:cxnLst/>
            <a:rect l="l" t="t" r="r" b="b"/>
            <a:pathLst>
              <a:path w="547955" h="547955">
                <a:moveTo>
                  <a:pt x="102742" y="0"/>
                </a:moveTo>
                <a:lnTo>
                  <a:pt x="445213" y="0"/>
                </a:lnTo>
                <a:cubicBezTo>
                  <a:pt x="501956" y="0"/>
                  <a:pt x="547955" y="45999"/>
                  <a:pt x="547955" y="102742"/>
                </a:cubicBezTo>
                <a:lnTo>
                  <a:pt x="547955" y="445213"/>
                </a:lnTo>
                <a:cubicBezTo>
                  <a:pt x="547955" y="501956"/>
                  <a:pt x="501956" y="547955"/>
                  <a:pt x="445213" y="547955"/>
                </a:cubicBezTo>
                <a:lnTo>
                  <a:pt x="102742" y="547955"/>
                </a:lnTo>
                <a:cubicBezTo>
                  <a:pt x="45999" y="547955"/>
                  <a:pt x="0" y="501956"/>
                  <a:pt x="0" y="445213"/>
                </a:cubicBezTo>
                <a:lnTo>
                  <a:pt x="0" y="102742"/>
                </a:lnTo>
                <a:cubicBezTo>
                  <a:pt x="0" y="45999"/>
                  <a:pt x="45999" y="0"/>
                  <a:pt x="102742" y="0"/>
                </a:cubicBezTo>
                <a:close/>
              </a:path>
            </a:pathLst>
          </a:custGeom>
          <a:solidFill>
            <a:srgbClr val="6366F1">
              <a:alpha val="20000"/>
            </a:srgbClr>
          </a:solidFill>
          <a:ln/>
        </p:spPr>
      </p:sp>
      <p:sp>
        <p:nvSpPr>
          <p:cNvPr id="30" name="Shape 28"/>
          <p:cNvSpPr/>
          <p:nvPr/>
        </p:nvSpPr>
        <p:spPr>
          <a:xfrm>
            <a:off x="3809037" y="5054889"/>
            <a:ext cx="205483" cy="205483"/>
          </a:xfrm>
          <a:custGeom>
            <a:avLst/>
            <a:gdLst/>
            <a:ahLst/>
            <a:cxnLst/>
            <a:rect l="l" t="t" r="r" b="b"/>
            <a:pathLst>
              <a:path w="205483" h="205483">
                <a:moveTo>
                  <a:pt x="70635" y="9632"/>
                </a:moveTo>
                <a:cubicBezTo>
                  <a:pt x="70635" y="4294"/>
                  <a:pt x="66341" y="0"/>
                  <a:pt x="61003" y="0"/>
                </a:cubicBezTo>
                <a:cubicBezTo>
                  <a:pt x="55665" y="0"/>
                  <a:pt x="51371" y="4294"/>
                  <a:pt x="51371" y="9632"/>
                </a:cubicBezTo>
                <a:lnTo>
                  <a:pt x="51371" y="25685"/>
                </a:lnTo>
                <a:cubicBezTo>
                  <a:pt x="37204" y="25685"/>
                  <a:pt x="25685" y="37204"/>
                  <a:pt x="25685" y="51371"/>
                </a:cubicBezTo>
                <a:lnTo>
                  <a:pt x="9632" y="51371"/>
                </a:lnTo>
                <a:cubicBezTo>
                  <a:pt x="4294" y="51371"/>
                  <a:pt x="0" y="55665"/>
                  <a:pt x="0" y="61003"/>
                </a:cubicBezTo>
                <a:cubicBezTo>
                  <a:pt x="0" y="66341"/>
                  <a:pt x="4294" y="70635"/>
                  <a:pt x="9632" y="70635"/>
                </a:cubicBezTo>
                <a:lnTo>
                  <a:pt x="25685" y="70635"/>
                </a:lnTo>
                <a:lnTo>
                  <a:pt x="25685" y="93110"/>
                </a:lnTo>
                <a:lnTo>
                  <a:pt x="9632" y="93110"/>
                </a:lnTo>
                <a:cubicBezTo>
                  <a:pt x="4294" y="93110"/>
                  <a:pt x="0" y="97404"/>
                  <a:pt x="0" y="102742"/>
                </a:cubicBezTo>
                <a:cubicBezTo>
                  <a:pt x="0" y="108079"/>
                  <a:pt x="4294" y="112374"/>
                  <a:pt x="9632" y="112374"/>
                </a:cubicBezTo>
                <a:lnTo>
                  <a:pt x="25685" y="112374"/>
                </a:lnTo>
                <a:lnTo>
                  <a:pt x="25685" y="134848"/>
                </a:lnTo>
                <a:lnTo>
                  <a:pt x="9632" y="134848"/>
                </a:lnTo>
                <a:cubicBezTo>
                  <a:pt x="4294" y="134848"/>
                  <a:pt x="0" y="139143"/>
                  <a:pt x="0" y="144480"/>
                </a:cubicBezTo>
                <a:cubicBezTo>
                  <a:pt x="0" y="149818"/>
                  <a:pt x="4294" y="154112"/>
                  <a:pt x="9632" y="154112"/>
                </a:cubicBezTo>
                <a:lnTo>
                  <a:pt x="25685" y="154112"/>
                </a:lnTo>
                <a:cubicBezTo>
                  <a:pt x="25685" y="168279"/>
                  <a:pt x="37204" y="179798"/>
                  <a:pt x="51371" y="179798"/>
                </a:cubicBezTo>
                <a:lnTo>
                  <a:pt x="51371" y="195851"/>
                </a:lnTo>
                <a:cubicBezTo>
                  <a:pt x="51371" y="201189"/>
                  <a:pt x="55665" y="205483"/>
                  <a:pt x="61003" y="205483"/>
                </a:cubicBezTo>
                <a:cubicBezTo>
                  <a:pt x="66341" y="205483"/>
                  <a:pt x="70635" y="201189"/>
                  <a:pt x="70635" y="195851"/>
                </a:cubicBezTo>
                <a:lnTo>
                  <a:pt x="70635" y="179798"/>
                </a:lnTo>
                <a:lnTo>
                  <a:pt x="93110" y="179798"/>
                </a:lnTo>
                <a:lnTo>
                  <a:pt x="93110" y="195851"/>
                </a:lnTo>
                <a:cubicBezTo>
                  <a:pt x="93110" y="201189"/>
                  <a:pt x="97404" y="205483"/>
                  <a:pt x="102742" y="205483"/>
                </a:cubicBezTo>
                <a:cubicBezTo>
                  <a:pt x="108079" y="205483"/>
                  <a:pt x="112374" y="201189"/>
                  <a:pt x="112374" y="195851"/>
                </a:cubicBezTo>
                <a:lnTo>
                  <a:pt x="112374" y="179798"/>
                </a:lnTo>
                <a:lnTo>
                  <a:pt x="134848" y="179798"/>
                </a:lnTo>
                <a:lnTo>
                  <a:pt x="134848" y="195851"/>
                </a:lnTo>
                <a:cubicBezTo>
                  <a:pt x="134848" y="201189"/>
                  <a:pt x="139143" y="205483"/>
                  <a:pt x="144480" y="205483"/>
                </a:cubicBezTo>
                <a:cubicBezTo>
                  <a:pt x="149818" y="205483"/>
                  <a:pt x="154112" y="201189"/>
                  <a:pt x="154112" y="195851"/>
                </a:cubicBezTo>
                <a:lnTo>
                  <a:pt x="154112" y="179798"/>
                </a:lnTo>
                <a:cubicBezTo>
                  <a:pt x="168279" y="179798"/>
                  <a:pt x="179798" y="168279"/>
                  <a:pt x="179798" y="154112"/>
                </a:cubicBezTo>
                <a:lnTo>
                  <a:pt x="195851" y="154112"/>
                </a:lnTo>
                <a:cubicBezTo>
                  <a:pt x="201189" y="154112"/>
                  <a:pt x="205483" y="149818"/>
                  <a:pt x="205483" y="144480"/>
                </a:cubicBezTo>
                <a:cubicBezTo>
                  <a:pt x="205483" y="139143"/>
                  <a:pt x="201189" y="134848"/>
                  <a:pt x="195851" y="134848"/>
                </a:cubicBezTo>
                <a:lnTo>
                  <a:pt x="179798" y="134848"/>
                </a:lnTo>
                <a:lnTo>
                  <a:pt x="179798" y="112374"/>
                </a:lnTo>
                <a:lnTo>
                  <a:pt x="195851" y="112374"/>
                </a:lnTo>
                <a:cubicBezTo>
                  <a:pt x="201189" y="112374"/>
                  <a:pt x="205483" y="108079"/>
                  <a:pt x="205483" y="102742"/>
                </a:cubicBezTo>
                <a:cubicBezTo>
                  <a:pt x="205483" y="97404"/>
                  <a:pt x="201189" y="93110"/>
                  <a:pt x="195851" y="93110"/>
                </a:cubicBezTo>
                <a:lnTo>
                  <a:pt x="179798" y="93110"/>
                </a:lnTo>
                <a:lnTo>
                  <a:pt x="179798" y="70635"/>
                </a:lnTo>
                <a:lnTo>
                  <a:pt x="195851" y="70635"/>
                </a:lnTo>
                <a:cubicBezTo>
                  <a:pt x="201189" y="70635"/>
                  <a:pt x="205483" y="66341"/>
                  <a:pt x="205483" y="61003"/>
                </a:cubicBezTo>
                <a:cubicBezTo>
                  <a:pt x="205483" y="55665"/>
                  <a:pt x="201189" y="51371"/>
                  <a:pt x="195851" y="51371"/>
                </a:cubicBezTo>
                <a:lnTo>
                  <a:pt x="179798" y="51371"/>
                </a:lnTo>
                <a:cubicBezTo>
                  <a:pt x="179798" y="37204"/>
                  <a:pt x="168279" y="25685"/>
                  <a:pt x="154112" y="25685"/>
                </a:cubicBezTo>
                <a:lnTo>
                  <a:pt x="154112" y="9632"/>
                </a:lnTo>
                <a:cubicBezTo>
                  <a:pt x="154112" y="4294"/>
                  <a:pt x="149818" y="0"/>
                  <a:pt x="144480" y="0"/>
                </a:cubicBezTo>
                <a:cubicBezTo>
                  <a:pt x="139143" y="0"/>
                  <a:pt x="134848" y="4294"/>
                  <a:pt x="134848" y="9632"/>
                </a:cubicBezTo>
                <a:lnTo>
                  <a:pt x="134848" y="25685"/>
                </a:lnTo>
                <a:lnTo>
                  <a:pt x="112374" y="25685"/>
                </a:lnTo>
                <a:lnTo>
                  <a:pt x="112374" y="9632"/>
                </a:lnTo>
                <a:cubicBezTo>
                  <a:pt x="112374" y="4294"/>
                  <a:pt x="108079" y="0"/>
                  <a:pt x="102742" y="0"/>
                </a:cubicBezTo>
                <a:cubicBezTo>
                  <a:pt x="97404" y="0"/>
                  <a:pt x="93110" y="4294"/>
                  <a:pt x="93110" y="9632"/>
                </a:cubicBezTo>
                <a:lnTo>
                  <a:pt x="93110" y="25685"/>
                </a:lnTo>
                <a:lnTo>
                  <a:pt x="70635" y="25685"/>
                </a:lnTo>
                <a:lnTo>
                  <a:pt x="70635" y="9632"/>
                </a:lnTo>
                <a:close/>
                <a:moveTo>
                  <a:pt x="64213" y="51371"/>
                </a:moveTo>
                <a:lnTo>
                  <a:pt x="141270" y="51371"/>
                </a:lnTo>
                <a:cubicBezTo>
                  <a:pt x="148373" y="51371"/>
                  <a:pt x="154112" y="57110"/>
                  <a:pt x="154112" y="64213"/>
                </a:cubicBezTo>
                <a:lnTo>
                  <a:pt x="154112" y="141270"/>
                </a:lnTo>
                <a:cubicBezTo>
                  <a:pt x="154112" y="148373"/>
                  <a:pt x="148373" y="154112"/>
                  <a:pt x="141270" y="154112"/>
                </a:cubicBezTo>
                <a:lnTo>
                  <a:pt x="64213" y="154112"/>
                </a:lnTo>
                <a:cubicBezTo>
                  <a:pt x="57110" y="154112"/>
                  <a:pt x="51371" y="148373"/>
                  <a:pt x="51371" y="141270"/>
                </a:cubicBezTo>
                <a:lnTo>
                  <a:pt x="51371" y="64213"/>
                </a:lnTo>
                <a:cubicBezTo>
                  <a:pt x="51371" y="57110"/>
                  <a:pt x="57110" y="51371"/>
                  <a:pt x="64213" y="51371"/>
                </a:cubicBezTo>
                <a:close/>
                <a:moveTo>
                  <a:pt x="70635" y="70635"/>
                </a:moveTo>
                <a:lnTo>
                  <a:pt x="70635" y="134848"/>
                </a:lnTo>
                <a:lnTo>
                  <a:pt x="134848" y="134848"/>
                </a:lnTo>
                <a:lnTo>
                  <a:pt x="134848" y="70635"/>
                </a:lnTo>
                <a:lnTo>
                  <a:pt x="70635" y="70635"/>
                </a:lnTo>
                <a:close/>
              </a:path>
            </a:pathLst>
          </a:custGeom>
          <a:solidFill>
            <a:srgbClr val="6366F1"/>
          </a:solidFill>
          <a:ln/>
        </p:spPr>
      </p:sp>
      <p:sp>
        <p:nvSpPr>
          <p:cNvPr id="31" name="Text 29"/>
          <p:cNvSpPr/>
          <p:nvPr/>
        </p:nvSpPr>
        <p:spPr>
          <a:xfrm>
            <a:off x="3585788" y="5500102"/>
            <a:ext cx="650697" cy="205483"/>
          </a:xfrm>
          <a:prstGeom prst="rect">
            <a:avLst/>
          </a:prstGeom>
          <a:noFill/>
          <a:ln/>
        </p:spPr>
        <p:txBody>
          <a:bodyPr wrap="square" lIns="0" tIns="0" rIns="0" bIns="0" rtlCol="0" anchor="ctr"/>
          <a:lstStyle/>
          <a:p>
            <a:pPr algn="ctr">
              <a:lnSpc>
                <a:spcPct val="130000"/>
              </a:lnSpc>
            </a:pPr>
            <a:r>
              <a:rPr lang="en-US" sz="1079" b="1" dirty="0">
                <a:solidFill>
                  <a:srgbClr val="EFEFEF"/>
                </a:solidFill>
                <a:latin typeface="Liter" pitchFamily="34" charset="0"/>
                <a:ea typeface="Liter" pitchFamily="34" charset="-122"/>
                <a:cs typeface="Liter" pitchFamily="34" charset="-120"/>
              </a:rPr>
              <a:t>Process</a:t>
            </a:r>
            <a:endParaRPr lang="en-US" sz="1600" dirty="0"/>
          </a:p>
        </p:txBody>
      </p:sp>
      <p:sp>
        <p:nvSpPr>
          <p:cNvPr id="32" name="Text 30"/>
          <p:cNvSpPr/>
          <p:nvPr/>
        </p:nvSpPr>
        <p:spPr>
          <a:xfrm>
            <a:off x="3590069" y="5705585"/>
            <a:ext cx="642135" cy="171236"/>
          </a:xfrm>
          <a:prstGeom prst="rect">
            <a:avLst/>
          </a:prstGeom>
          <a:noFill/>
          <a:ln/>
        </p:spPr>
        <p:txBody>
          <a:bodyPr wrap="square" lIns="0" tIns="0" rIns="0" bIns="0" rtlCol="0" anchor="ctr"/>
          <a:lstStyle/>
          <a:p>
            <a:pPr algn="ctr">
              <a:lnSpc>
                <a:spcPct val="120000"/>
              </a:lnSpc>
            </a:pPr>
            <a:r>
              <a:rPr lang="en-US" sz="944" dirty="0">
                <a:solidFill>
                  <a:srgbClr val="8F8F8F"/>
                </a:solidFill>
                <a:latin typeface="Liter" pitchFamily="34" charset="0"/>
                <a:ea typeface="Liter" pitchFamily="34" charset="-122"/>
                <a:cs typeface="Liter" pitchFamily="34" charset="-120"/>
              </a:rPr>
              <a:t>CPU works</a:t>
            </a:r>
            <a:endParaRPr lang="en-US" sz="1600" dirty="0"/>
          </a:p>
        </p:txBody>
      </p:sp>
      <p:sp>
        <p:nvSpPr>
          <p:cNvPr id="33" name="Shape 31"/>
          <p:cNvSpPr/>
          <p:nvPr/>
        </p:nvSpPr>
        <p:spPr>
          <a:xfrm>
            <a:off x="5235432" y="5277495"/>
            <a:ext cx="205483" cy="205483"/>
          </a:xfrm>
          <a:custGeom>
            <a:avLst/>
            <a:gdLst/>
            <a:ahLst/>
            <a:cxnLst/>
            <a:rect l="l" t="t" r="r" b="b"/>
            <a:pathLst>
              <a:path w="205483" h="205483">
                <a:moveTo>
                  <a:pt x="201711" y="111812"/>
                </a:moveTo>
                <a:cubicBezTo>
                  <a:pt x="206727" y="106795"/>
                  <a:pt x="206727" y="98648"/>
                  <a:pt x="201711" y="93631"/>
                </a:cubicBezTo>
                <a:lnTo>
                  <a:pt x="137497" y="29418"/>
                </a:lnTo>
                <a:cubicBezTo>
                  <a:pt x="132480" y="24401"/>
                  <a:pt x="124333" y="24401"/>
                  <a:pt x="119317" y="29418"/>
                </a:cubicBezTo>
                <a:cubicBezTo>
                  <a:pt x="114300" y="34434"/>
                  <a:pt x="114300" y="42582"/>
                  <a:pt x="119317" y="47598"/>
                </a:cubicBezTo>
                <a:lnTo>
                  <a:pt x="161617" y="89899"/>
                </a:lnTo>
                <a:lnTo>
                  <a:pt x="12843" y="89899"/>
                </a:lnTo>
                <a:cubicBezTo>
                  <a:pt x="5739" y="89899"/>
                  <a:pt x="0" y="95638"/>
                  <a:pt x="0" y="102742"/>
                </a:cubicBezTo>
                <a:cubicBezTo>
                  <a:pt x="0" y="109845"/>
                  <a:pt x="5739" y="115584"/>
                  <a:pt x="12843" y="115584"/>
                </a:cubicBezTo>
                <a:lnTo>
                  <a:pt x="161617" y="115584"/>
                </a:lnTo>
                <a:lnTo>
                  <a:pt x="119317" y="157885"/>
                </a:lnTo>
                <a:cubicBezTo>
                  <a:pt x="114300" y="162902"/>
                  <a:pt x="114300" y="171049"/>
                  <a:pt x="119317" y="176065"/>
                </a:cubicBezTo>
                <a:cubicBezTo>
                  <a:pt x="124333" y="181082"/>
                  <a:pt x="132480" y="181082"/>
                  <a:pt x="137497" y="176065"/>
                </a:cubicBezTo>
                <a:lnTo>
                  <a:pt x="201711" y="111852"/>
                </a:lnTo>
                <a:close/>
              </a:path>
            </a:pathLst>
          </a:custGeom>
          <a:solidFill>
            <a:srgbClr val="6366F1"/>
          </a:solidFill>
          <a:ln/>
        </p:spPr>
      </p:sp>
      <p:sp>
        <p:nvSpPr>
          <p:cNvPr id="34" name="Shape 32"/>
          <p:cNvSpPr/>
          <p:nvPr/>
        </p:nvSpPr>
        <p:spPr>
          <a:xfrm>
            <a:off x="6472719" y="4883653"/>
            <a:ext cx="547955" cy="547955"/>
          </a:xfrm>
          <a:custGeom>
            <a:avLst/>
            <a:gdLst/>
            <a:ahLst/>
            <a:cxnLst/>
            <a:rect l="l" t="t" r="r" b="b"/>
            <a:pathLst>
              <a:path w="547955" h="547955">
                <a:moveTo>
                  <a:pt x="102742" y="0"/>
                </a:moveTo>
                <a:lnTo>
                  <a:pt x="445213" y="0"/>
                </a:lnTo>
                <a:cubicBezTo>
                  <a:pt x="501956" y="0"/>
                  <a:pt x="547955" y="45999"/>
                  <a:pt x="547955" y="102742"/>
                </a:cubicBezTo>
                <a:lnTo>
                  <a:pt x="547955" y="445213"/>
                </a:lnTo>
                <a:cubicBezTo>
                  <a:pt x="547955" y="501956"/>
                  <a:pt x="501956" y="547955"/>
                  <a:pt x="445213" y="547955"/>
                </a:cubicBezTo>
                <a:lnTo>
                  <a:pt x="102742" y="547955"/>
                </a:lnTo>
                <a:cubicBezTo>
                  <a:pt x="45999" y="547955"/>
                  <a:pt x="0" y="501956"/>
                  <a:pt x="0" y="445213"/>
                </a:cubicBezTo>
                <a:lnTo>
                  <a:pt x="0" y="102742"/>
                </a:lnTo>
                <a:cubicBezTo>
                  <a:pt x="0" y="45999"/>
                  <a:pt x="45999" y="0"/>
                  <a:pt x="102742" y="0"/>
                </a:cubicBezTo>
                <a:close/>
              </a:path>
            </a:pathLst>
          </a:custGeom>
          <a:solidFill>
            <a:srgbClr val="6366F1">
              <a:alpha val="20000"/>
            </a:srgbClr>
          </a:solidFill>
          <a:ln/>
        </p:spPr>
      </p:sp>
      <p:sp>
        <p:nvSpPr>
          <p:cNvPr id="35" name="Shape 33"/>
          <p:cNvSpPr/>
          <p:nvPr/>
        </p:nvSpPr>
        <p:spPr>
          <a:xfrm>
            <a:off x="6643955" y="5054889"/>
            <a:ext cx="205483" cy="205483"/>
          </a:xfrm>
          <a:custGeom>
            <a:avLst/>
            <a:gdLst/>
            <a:ahLst/>
            <a:cxnLst/>
            <a:rect l="l" t="t" r="r" b="b"/>
            <a:pathLst>
              <a:path w="205483" h="205483">
                <a:moveTo>
                  <a:pt x="25685" y="12843"/>
                </a:moveTo>
                <a:cubicBezTo>
                  <a:pt x="11518" y="12843"/>
                  <a:pt x="0" y="24361"/>
                  <a:pt x="0" y="38528"/>
                </a:cubicBezTo>
                <a:lnTo>
                  <a:pt x="0" y="141270"/>
                </a:lnTo>
                <a:cubicBezTo>
                  <a:pt x="0" y="155437"/>
                  <a:pt x="11518" y="166955"/>
                  <a:pt x="25685" y="166955"/>
                </a:cubicBezTo>
                <a:lnTo>
                  <a:pt x="83478" y="166955"/>
                </a:lnTo>
                <a:lnTo>
                  <a:pt x="77056" y="186219"/>
                </a:lnTo>
                <a:lnTo>
                  <a:pt x="48160" y="186219"/>
                </a:lnTo>
                <a:cubicBezTo>
                  <a:pt x="42822" y="186219"/>
                  <a:pt x="38528" y="190513"/>
                  <a:pt x="38528" y="195851"/>
                </a:cubicBezTo>
                <a:cubicBezTo>
                  <a:pt x="38528" y="201189"/>
                  <a:pt x="42822" y="205483"/>
                  <a:pt x="48160" y="205483"/>
                </a:cubicBezTo>
                <a:lnTo>
                  <a:pt x="157323" y="205483"/>
                </a:lnTo>
                <a:cubicBezTo>
                  <a:pt x="162661" y="205483"/>
                  <a:pt x="166955" y="201189"/>
                  <a:pt x="166955" y="195851"/>
                </a:cubicBezTo>
                <a:cubicBezTo>
                  <a:pt x="166955" y="190513"/>
                  <a:pt x="162661" y="186219"/>
                  <a:pt x="157323" y="186219"/>
                </a:cubicBezTo>
                <a:lnTo>
                  <a:pt x="128427" y="186219"/>
                </a:lnTo>
                <a:lnTo>
                  <a:pt x="122006" y="166955"/>
                </a:lnTo>
                <a:lnTo>
                  <a:pt x="179798" y="166955"/>
                </a:lnTo>
                <a:cubicBezTo>
                  <a:pt x="193965" y="166955"/>
                  <a:pt x="205483" y="155437"/>
                  <a:pt x="205483" y="141270"/>
                </a:cubicBezTo>
                <a:lnTo>
                  <a:pt x="205483" y="38528"/>
                </a:lnTo>
                <a:cubicBezTo>
                  <a:pt x="205483" y="24361"/>
                  <a:pt x="193965" y="12843"/>
                  <a:pt x="179798" y="12843"/>
                </a:cubicBezTo>
                <a:lnTo>
                  <a:pt x="25685" y="12843"/>
                </a:lnTo>
                <a:close/>
                <a:moveTo>
                  <a:pt x="38528" y="38528"/>
                </a:moveTo>
                <a:lnTo>
                  <a:pt x="166955" y="38528"/>
                </a:lnTo>
                <a:cubicBezTo>
                  <a:pt x="174059" y="38528"/>
                  <a:pt x="179798" y="44267"/>
                  <a:pt x="179798" y="51371"/>
                </a:cubicBezTo>
                <a:lnTo>
                  <a:pt x="179798" y="115584"/>
                </a:lnTo>
                <a:cubicBezTo>
                  <a:pt x="179798" y="122688"/>
                  <a:pt x="174059" y="128427"/>
                  <a:pt x="166955" y="128427"/>
                </a:cubicBezTo>
                <a:lnTo>
                  <a:pt x="38528" y="128427"/>
                </a:lnTo>
                <a:cubicBezTo>
                  <a:pt x="31424" y="128427"/>
                  <a:pt x="25685" y="122688"/>
                  <a:pt x="25685" y="115584"/>
                </a:cubicBezTo>
                <a:lnTo>
                  <a:pt x="25685" y="51371"/>
                </a:lnTo>
                <a:cubicBezTo>
                  <a:pt x="25685" y="44267"/>
                  <a:pt x="31424" y="38528"/>
                  <a:pt x="38528" y="38528"/>
                </a:cubicBezTo>
                <a:close/>
              </a:path>
            </a:pathLst>
          </a:custGeom>
          <a:solidFill>
            <a:srgbClr val="6366F1"/>
          </a:solidFill>
          <a:ln/>
        </p:spPr>
      </p:sp>
      <p:sp>
        <p:nvSpPr>
          <p:cNvPr id="36" name="Text 34"/>
          <p:cNvSpPr/>
          <p:nvPr/>
        </p:nvSpPr>
        <p:spPr>
          <a:xfrm>
            <a:off x="6438472" y="5500102"/>
            <a:ext cx="616449" cy="205483"/>
          </a:xfrm>
          <a:prstGeom prst="rect">
            <a:avLst/>
          </a:prstGeom>
          <a:noFill/>
          <a:ln/>
        </p:spPr>
        <p:txBody>
          <a:bodyPr wrap="square" lIns="0" tIns="0" rIns="0" bIns="0" rtlCol="0" anchor="ctr"/>
          <a:lstStyle/>
          <a:p>
            <a:pPr algn="ctr">
              <a:lnSpc>
                <a:spcPct val="130000"/>
              </a:lnSpc>
            </a:pPr>
            <a:r>
              <a:rPr lang="en-US" sz="1079" b="1" dirty="0">
                <a:solidFill>
                  <a:srgbClr val="EFEFEF"/>
                </a:solidFill>
                <a:latin typeface="Liter" pitchFamily="34" charset="0"/>
                <a:ea typeface="Liter" pitchFamily="34" charset="-122"/>
                <a:cs typeface="Liter" pitchFamily="34" charset="-120"/>
              </a:rPr>
              <a:t>Output</a:t>
            </a:r>
            <a:endParaRPr lang="en-US" sz="1600" dirty="0"/>
          </a:p>
        </p:txBody>
      </p:sp>
      <p:sp>
        <p:nvSpPr>
          <p:cNvPr id="37" name="Text 35"/>
          <p:cNvSpPr/>
          <p:nvPr/>
        </p:nvSpPr>
        <p:spPr>
          <a:xfrm>
            <a:off x="6442753" y="5705585"/>
            <a:ext cx="607888" cy="171236"/>
          </a:xfrm>
          <a:prstGeom prst="rect">
            <a:avLst/>
          </a:prstGeom>
          <a:noFill/>
          <a:ln/>
        </p:spPr>
        <p:txBody>
          <a:bodyPr wrap="square" lIns="0" tIns="0" rIns="0" bIns="0" rtlCol="0" anchor="ctr"/>
          <a:lstStyle/>
          <a:p>
            <a:pPr algn="ctr">
              <a:lnSpc>
                <a:spcPct val="120000"/>
              </a:lnSpc>
            </a:pPr>
            <a:r>
              <a:rPr lang="en-US" sz="944" dirty="0">
                <a:solidFill>
                  <a:srgbClr val="8F8F8F"/>
                </a:solidFill>
                <a:latin typeface="Liter" pitchFamily="34" charset="0"/>
                <a:ea typeface="Liter" pitchFamily="34" charset="-122"/>
                <a:cs typeface="Liter" pitchFamily="34" charset="-120"/>
              </a:rPr>
              <a:t>See result</a:t>
            </a:r>
            <a:endParaRPr lang="en-US" sz="1600" dirty="0"/>
          </a:p>
        </p:txBody>
      </p:sp>
      <p:sp>
        <p:nvSpPr>
          <p:cNvPr id="38" name="Shape 36"/>
          <p:cNvSpPr/>
          <p:nvPr/>
        </p:nvSpPr>
        <p:spPr>
          <a:xfrm>
            <a:off x="345897" y="6161080"/>
            <a:ext cx="6813479" cy="691793"/>
          </a:xfrm>
          <a:custGeom>
            <a:avLst/>
            <a:gdLst/>
            <a:ahLst/>
            <a:cxnLst/>
            <a:rect l="l" t="t" r="r" b="b"/>
            <a:pathLst>
              <a:path w="6813479" h="691793">
                <a:moveTo>
                  <a:pt x="68494" y="0"/>
                </a:moveTo>
                <a:lnTo>
                  <a:pt x="6744984" y="0"/>
                </a:lnTo>
                <a:cubicBezTo>
                  <a:pt x="6782813" y="0"/>
                  <a:pt x="6813479" y="30666"/>
                  <a:pt x="6813479" y="68494"/>
                </a:cubicBezTo>
                <a:lnTo>
                  <a:pt x="6813479" y="623299"/>
                </a:lnTo>
                <a:cubicBezTo>
                  <a:pt x="6813479" y="661127"/>
                  <a:pt x="6782813" y="691793"/>
                  <a:pt x="6744984" y="691793"/>
                </a:cubicBezTo>
                <a:lnTo>
                  <a:pt x="68494" y="691793"/>
                </a:lnTo>
                <a:cubicBezTo>
                  <a:pt x="30666" y="691793"/>
                  <a:pt x="0" y="661127"/>
                  <a:pt x="0" y="623299"/>
                </a:cubicBezTo>
                <a:lnTo>
                  <a:pt x="0" y="68494"/>
                </a:lnTo>
                <a:cubicBezTo>
                  <a:pt x="0" y="30691"/>
                  <a:pt x="30691" y="0"/>
                  <a:pt x="68494" y="0"/>
                </a:cubicBezTo>
                <a:close/>
              </a:path>
            </a:pathLst>
          </a:custGeom>
          <a:solidFill>
            <a:srgbClr val="262626"/>
          </a:solidFill>
          <a:ln w="10160">
            <a:solidFill>
              <a:srgbClr val="333333"/>
            </a:solidFill>
            <a:prstDash val="solid"/>
          </a:ln>
        </p:spPr>
      </p:sp>
      <p:sp>
        <p:nvSpPr>
          <p:cNvPr id="39" name="Text 37"/>
          <p:cNvSpPr/>
          <p:nvPr/>
        </p:nvSpPr>
        <p:spPr>
          <a:xfrm>
            <a:off x="486310" y="6301483"/>
            <a:ext cx="6601146" cy="410966"/>
          </a:xfrm>
          <a:prstGeom prst="rect">
            <a:avLst/>
          </a:prstGeom>
          <a:noFill/>
          <a:ln/>
        </p:spPr>
        <p:txBody>
          <a:bodyPr wrap="square" lIns="0" tIns="0" rIns="0" bIns="0" rtlCol="0" anchor="ctr"/>
          <a:lstStyle/>
          <a:p>
            <a:pPr>
              <a:lnSpc>
                <a:spcPct val="130000"/>
              </a:lnSpc>
            </a:pPr>
            <a:r>
              <a:rPr lang="en-US" sz="1079" b="1" dirty="0">
                <a:solidFill>
                  <a:srgbClr val="6366F1"/>
                </a:solidFill>
                <a:latin typeface="Liter" pitchFamily="34" charset="0"/>
                <a:ea typeface="Liter" pitchFamily="34" charset="-122"/>
                <a:cs typeface="Liter" pitchFamily="34" charset="-120"/>
              </a:rPr>
              <a:t>Real-World Example:</a:t>
            </a:r>
            <a:r>
              <a:rPr lang="en-US" sz="1079" dirty="0">
                <a:solidFill>
                  <a:srgbClr val="EFEFEF"/>
                </a:solidFill>
                <a:latin typeface="Liter" pitchFamily="34" charset="0"/>
                <a:ea typeface="Liter" pitchFamily="34" charset="-122"/>
                <a:cs typeface="Liter" pitchFamily="34" charset="-120"/>
              </a:rPr>
              <a:t> When you press a key (input), the CPU fetches the key code, decodes which letter it is, displays it on screen (output) - all in less than a millisecond!</a:t>
            </a:r>
            <a:endParaRPr lang="en-US" sz="1600" dirty="0"/>
          </a:p>
        </p:txBody>
      </p:sp>
      <p:sp>
        <p:nvSpPr>
          <p:cNvPr id="40" name="Shape 38"/>
          <p:cNvSpPr/>
          <p:nvPr/>
        </p:nvSpPr>
        <p:spPr>
          <a:xfrm>
            <a:off x="7373420" y="345897"/>
            <a:ext cx="4476108" cy="4989816"/>
          </a:xfrm>
          <a:custGeom>
            <a:avLst/>
            <a:gdLst/>
            <a:ahLst/>
            <a:cxnLst/>
            <a:rect l="l" t="t" r="r" b="b"/>
            <a:pathLst>
              <a:path w="4476108" h="4989816">
                <a:moveTo>
                  <a:pt x="102727" y="0"/>
                </a:moveTo>
                <a:lnTo>
                  <a:pt x="4373381" y="0"/>
                </a:lnTo>
                <a:cubicBezTo>
                  <a:pt x="4430116" y="0"/>
                  <a:pt x="4476108" y="45992"/>
                  <a:pt x="4476108" y="102727"/>
                </a:cubicBezTo>
                <a:lnTo>
                  <a:pt x="4476108" y="4887089"/>
                </a:lnTo>
                <a:cubicBezTo>
                  <a:pt x="4476108" y="4943823"/>
                  <a:pt x="4430116" y="4989816"/>
                  <a:pt x="4373381" y="4989816"/>
                </a:cubicBezTo>
                <a:lnTo>
                  <a:pt x="102727" y="4989816"/>
                </a:lnTo>
                <a:cubicBezTo>
                  <a:pt x="45992" y="4989816"/>
                  <a:pt x="0" y="4943823"/>
                  <a:pt x="0" y="4887089"/>
                </a:cubicBezTo>
                <a:lnTo>
                  <a:pt x="0" y="102727"/>
                </a:lnTo>
                <a:cubicBezTo>
                  <a:pt x="0" y="46030"/>
                  <a:pt x="46030" y="0"/>
                  <a:pt x="102727" y="0"/>
                </a:cubicBezTo>
                <a:close/>
              </a:path>
            </a:pathLst>
          </a:custGeom>
          <a:solidFill>
            <a:srgbClr val="262626"/>
          </a:solidFill>
          <a:ln w="10160">
            <a:solidFill>
              <a:srgbClr val="333333"/>
            </a:solidFill>
            <a:prstDash val="solid"/>
          </a:ln>
        </p:spPr>
      </p:sp>
      <p:sp>
        <p:nvSpPr>
          <p:cNvPr id="41" name="Shape 39"/>
          <p:cNvSpPr/>
          <p:nvPr/>
        </p:nvSpPr>
        <p:spPr>
          <a:xfrm>
            <a:off x="9198689" y="2102774"/>
            <a:ext cx="821933" cy="821933"/>
          </a:xfrm>
          <a:custGeom>
            <a:avLst/>
            <a:gdLst/>
            <a:ahLst/>
            <a:cxnLst/>
            <a:rect l="l" t="t" r="r" b="b"/>
            <a:pathLst>
              <a:path w="821933" h="821933">
                <a:moveTo>
                  <a:pt x="770722" y="308225"/>
                </a:moveTo>
                <a:lnTo>
                  <a:pt x="783404" y="308225"/>
                </a:lnTo>
                <a:cubicBezTo>
                  <a:pt x="804755" y="308225"/>
                  <a:pt x="821933" y="291048"/>
                  <a:pt x="821933" y="269697"/>
                </a:cubicBezTo>
                <a:lnTo>
                  <a:pt x="821933" y="38528"/>
                </a:lnTo>
                <a:cubicBezTo>
                  <a:pt x="821933" y="22956"/>
                  <a:pt x="812622" y="8829"/>
                  <a:pt x="798174" y="2890"/>
                </a:cubicBezTo>
                <a:cubicBezTo>
                  <a:pt x="783726" y="-3050"/>
                  <a:pt x="767191" y="321"/>
                  <a:pt x="756114" y="11237"/>
                </a:cubicBezTo>
                <a:lnTo>
                  <a:pt x="673118" y="94394"/>
                </a:lnTo>
                <a:cubicBezTo>
                  <a:pt x="602001" y="35478"/>
                  <a:pt x="510497" y="0"/>
                  <a:pt x="410966" y="0"/>
                </a:cubicBezTo>
                <a:cubicBezTo>
                  <a:pt x="203878" y="0"/>
                  <a:pt x="32588" y="153149"/>
                  <a:pt x="4174" y="352371"/>
                </a:cubicBezTo>
                <a:cubicBezTo>
                  <a:pt x="161" y="380465"/>
                  <a:pt x="19585" y="406471"/>
                  <a:pt x="47679" y="410485"/>
                </a:cubicBezTo>
                <a:cubicBezTo>
                  <a:pt x="75772" y="414498"/>
                  <a:pt x="101778" y="394913"/>
                  <a:pt x="105792" y="366980"/>
                </a:cubicBezTo>
                <a:cubicBezTo>
                  <a:pt x="127143" y="217523"/>
                  <a:pt x="255730" y="102742"/>
                  <a:pt x="410966" y="102742"/>
                </a:cubicBezTo>
                <a:cubicBezTo>
                  <a:pt x="482243" y="102742"/>
                  <a:pt x="547741" y="126822"/>
                  <a:pt x="599914" y="167437"/>
                </a:cubicBezTo>
                <a:lnTo>
                  <a:pt x="524945" y="242406"/>
                </a:lnTo>
                <a:cubicBezTo>
                  <a:pt x="513868" y="253483"/>
                  <a:pt x="510658" y="270018"/>
                  <a:pt x="516597" y="284466"/>
                </a:cubicBezTo>
                <a:cubicBezTo>
                  <a:pt x="522537" y="298914"/>
                  <a:pt x="536664" y="308225"/>
                  <a:pt x="552236" y="308225"/>
                </a:cubicBezTo>
                <a:lnTo>
                  <a:pt x="770722" y="308225"/>
                </a:lnTo>
                <a:close/>
                <a:moveTo>
                  <a:pt x="817919" y="469561"/>
                </a:moveTo>
                <a:cubicBezTo>
                  <a:pt x="821933" y="441468"/>
                  <a:pt x="802347" y="415461"/>
                  <a:pt x="774415" y="411448"/>
                </a:cubicBezTo>
                <a:cubicBezTo>
                  <a:pt x="746482" y="407435"/>
                  <a:pt x="720315" y="427020"/>
                  <a:pt x="716301" y="454953"/>
                </a:cubicBezTo>
                <a:cubicBezTo>
                  <a:pt x="694950" y="604249"/>
                  <a:pt x="566363" y="719030"/>
                  <a:pt x="411127" y="719030"/>
                </a:cubicBezTo>
                <a:cubicBezTo>
                  <a:pt x="339850" y="719030"/>
                  <a:pt x="274352" y="694950"/>
                  <a:pt x="222179" y="654335"/>
                </a:cubicBezTo>
                <a:lnTo>
                  <a:pt x="296987" y="579527"/>
                </a:lnTo>
                <a:cubicBezTo>
                  <a:pt x="308064" y="568450"/>
                  <a:pt x="311275" y="551915"/>
                  <a:pt x="305335" y="537467"/>
                </a:cubicBezTo>
                <a:cubicBezTo>
                  <a:pt x="299395" y="523019"/>
                  <a:pt x="285268" y="513708"/>
                  <a:pt x="269697" y="513708"/>
                </a:cubicBezTo>
                <a:lnTo>
                  <a:pt x="38528" y="513708"/>
                </a:lnTo>
                <a:cubicBezTo>
                  <a:pt x="17177" y="513708"/>
                  <a:pt x="0" y="530885"/>
                  <a:pt x="0" y="552236"/>
                </a:cubicBezTo>
                <a:lnTo>
                  <a:pt x="0" y="783404"/>
                </a:lnTo>
                <a:cubicBezTo>
                  <a:pt x="0" y="798976"/>
                  <a:pt x="9311" y="813103"/>
                  <a:pt x="23759" y="819043"/>
                </a:cubicBezTo>
                <a:cubicBezTo>
                  <a:pt x="38207" y="824983"/>
                  <a:pt x="54742" y="821612"/>
                  <a:pt x="65819" y="810695"/>
                </a:cubicBezTo>
                <a:lnTo>
                  <a:pt x="148975" y="727539"/>
                </a:lnTo>
                <a:cubicBezTo>
                  <a:pt x="219931" y="786455"/>
                  <a:pt x="311435" y="821933"/>
                  <a:pt x="410966" y="821933"/>
                </a:cubicBezTo>
                <a:cubicBezTo>
                  <a:pt x="618055" y="821933"/>
                  <a:pt x="789344" y="668783"/>
                  <a:pt x="817759" y="469561"/>
                </a:cubicBezTo>
                <a:close/>
              </a:path>
            </a:pathLst>
          </a:custGeom>
          <a:solidFill>
            <a:srgbClr val="6366F1"/>
          </a:solidFill>
          <a:ln/>
        </p:spPr>
      </p:sp>
      <p:sp>
        <p:nvSpPr>
          <p:cNvPr id="42" name="Text 40"/>
          <p:cNvSpPr/>
          <p:nvPr/>
        </p:nvSpPr>
        <p:spPr>
          <a:xfrm>
            <a:off x="8463765" y="3061696"/>
            <a:ext cx="2294562" cy="239730"/>
          </a:xfrm>
          <a:prstGeom prst="rect">
            <a:avLst/>
          </a:prstGeom>
          <a:noFill/>
          <a:ln/>
        </p:spPr>
        <p:txBody>
          <a:bodyPr wrap="square" lIns="0" tIns="0" rIns="0" bIns="0" rtlCol="0" anchor="ctr"/>
          <a:lstStyle/>
          <a:p>
            <a:pPr algn="ctr">
              <a:lnSpc>
                <a:spcPct val="120000"/>
              </a:lnSpc>
            </a:pPr>
            <a:r>
              <a:rPr lang="en-US" sz="1348" b="1" dirty="0">
                <a:solidFill>
                  <a:srgbClr val="EFEFEF"/>
                </a:solidFill>
                <a:latin typeface="Liter" pitchFamily="34" charset="0"/>
                <a:ea typeface="Liter" pitchFamily="34" charset="-122"/>
                <a:cs typeface="Liter" pitchFamily="34" charset="-120"/>
              </a:rPr>
              <a:t>Processing Cycle</a:t>
            </a:r>
            <a:endParaRPr lang="en-US" sz="1600" dirty="0"/>
          </a:p>
        </p:txBody>
      </p:sp>
      <p:sp>
        <p:nvSpPr>
          <p:cNvPr id="43" name="Text 41"/>
          <p:cNvSpPr/>
          <p:nvPr/>
        </p:nvSpPr>
        <p:spPr>
          <a:xfrm>
            <a:off x="8472327" y="3369920"/>
            <a:ext cx="2277438" cy="205483"/>
          </a:xfrm>
          <a:prstGeom prst="rect">
            <a:avLst/>
          </a:prstGeom>
          <a:noFill/>
          <a:ln/>
        </p:spPr>
        <p:txBody>
          <a:bodyPr wrap="square" lIns="0" tIns="0" rIns="0" bIns="0" rtlCol="0" anchor="ctr"/>
          <a:lstStyle/>
          <a:p>
            <a:pPr algn="ctr">
              <a:lnSpc>
                <a:spcPct val="130000"/>
              </a:lnSpc>
            </a:pPr>
            <a:r>
              <a:rPr lang="en-US" sz="1079" dirty="0">
                <a:solidFill>
                  <a:srgbClr val="8F8F8F"/>
                </a:solidFill>
                <a:latin typeface="Liter" pitchFamily="34" charset="0"/>
                <a:ea typeface="Liter" pitchFamily="34" charset="-122"/>
                <a:cs typeface="Liter" pitchFamily="34" charset="-120"/>
              </a:rPr>
              <a:t>Fetch → Decode → Execute → Store</a:t>
            </a:r>
            <a:endParaRPr lang="en-US" sz="1600" dirty="0"/>
          </a:p>
        </p:txBody>
      </p:sp>
      <p:sp>
        <p:nvSpPr>
          <p:cNvPr id="44" name="Shape 42"/>
          <p:cNvSpPr/>
          <p:nvPr/>
        </p:nvSpPr>
        <p:spPr>
          <a:xfrm>
            <a:off x="7373420" y="5476136"/>
            <a:ext cx="4476108" cy="1376737"/>
          </a:xfrm>
          <a:custGeom>
            <a:avLst/>
            <a:gdLst/>
            <a:ahLst/>
            <a:cxnLst/>
            <a:rect l="l" t="t" r="r" b="b"/>
            <a:pathLst>
              <a:path w="4476108" h="1376737">
                <a:moveTo>
                  <a:pt x="68493" y="0"/>
                </a:moveTo>
                <a:lnTo>
                  <a:pt x="4407615" y="0"/>
                </a:lnTo>
                <a:cubicBezTo>
                  <a:pt x="4445443" y="0"/>
                  <a:pt x="4476108" y="30665"/>
                  <a:pt x="4476108" y="68493"/>
                </a:cubicBezTo>
                <a:lnTo>
                  <a:pt x="4476108" y="1308244"/>
                </a:lnTo>
                <a:cubicBezTo>
                  <a:pt x="4476108" y="1346072"/>
                  <a:pt x="4445443" y="1376737"/>
                  <a:pt x="4407615" y="1376737"/>
                </a:cubicBezTo>
                <a:lnTo>
                  <a:pt x="68493" y="1376737"/>
                </a:lnTo>
                <a:cubicBezTo>
                  <a:pt x="30665" y="1376737"/>
                  <a:pt x="0" y="1346072"/>
                  <a:pt x="0" y="1308244"/>
                </a:cubicBezTo>
                <a:lnTo>
                  <a:pt x="0" y="68493"/>
                </a:lnTo>
                <a:cubicBezTo>
                  <a:pt x="0" y="30665"/>
                  <a:pt x="30665" y="0"/>
                  <a:pt x="68493" y="0"/>
                </a:cubicBezTo>
                <a:close/>
              </a:path>
            </a:pathLst>
          </a:custGeom>
          <a:solidFill>
            <a:srgbClr val="6366F1">
              <a:alpha val="10196"/>
            </a:srgbClr>
          </a:solidFill>
          <a:ln w="10160">
            <a:solidFill>
              <a:srgbClr val="6366F1">
                <a:alpha val="30196"/>
              </a:srgbClr>
            </a:solidFill>
            <a:prstDash val="solid"/>
          </a:ln>
        </p:spPr>
      </p:sp>
      <p:sp>
        <p:nvSpPr>
          <p:cNvPr id="45" name="Text 43"/>
          <p:cNvSpPr/>
          <p:nvPr/>
        </p:nvSpPr>
        <p:spPr>
          <a:xfrm>
            <a:off x="7513834" y="5616539"/>
            <a:ext cx="4263775" cy="205483"/>
          </a:xfrm>
          <a:prstGeom prst="rect">
            <a:avLst/>
          </a:prstGeom>
          <a:noFill/>
          <a:ln/>
        </p:spPr>
        <p:txBody>
          <a:bodyPr wrap="square" lIns="0" tIns="0" rIns="0" bIns="0" rtlCol="0" anchor="ctr"/>
          <a:lstStyle/>
          <a:p>
            <a:pPr>
              <a:lnSpc>
                <a:spcPct val="130000"/>
              </a:lnSpc>
            </a:pPr>
            <a:r>
              <a:rPr lang="en-US" sz="1079" b="1" dirty="0">
                <a:solidFill>
                  <a:srgbClr val="6366F1"/>
                </a:solidFill>
                <a:latin typeface="Liter" pitchFamily="34" charset="0"/>
                <a:ea typeface="Liter" pitchFamily="34" charset="-122"/>
                <a:cs typeface="Liter" pitchFamily="34" charset="-120"/>
              </a:rPr>
              <a:t>Explanation</a:t>
            </a:r>
            <a:endParaRPr lang="en-US" sz="1600" dirty="0"/>
          </a:p>
        </p:txBody>
      </p:sp>
      <p:sp>
        <p:nvSpPr>
          <p:cNvPr id="46" name="Text 44"/>
          <p:cNvSpPr/>
          <p:nvPr/>
        </p:nvSpPr>
        <p:spPr>
          <a:xfrm>
            <a:off x="7513834" y="5890517"/>
            <a:ext cx="4263775" cy="821933"/>
          </a:xfrm>
          <a:prstGeom prst="rect">
            <a:avLst/>
          </a:prstGeom>
          <a:noFill/>
          <a:ln/>
        </p:spPr>
        <p:txBody>
          <a:bodyPr wrap="square" lIns="0" tIns="0" rIns="0" bIns="0" rtlCol="0" anchor="ctr"/>
          <a:lstStyle/>
          <a:p>
            <a:pPr>
              <a:lnSpc>
                <a:spcPct val="130000"/>
              </a:lnSpc>
            </a:pPr>
            <a:r>
              <a:rPr lang="en-US" sz="1079" dirty="0">
                <a:solidFill>
                  <a:srgbClr val="EFEFEF"/>
                </a:solidFill>
                <a:latin typeface="Liter" pitchFamily="34" charset="0"/>
                <a:ea typeface="Liter" pitchFamily="34" charset="-122"/>
                <a:cs typeface="Liter" pitchFamily="34" charset="-120"/>
              </a:rPr>
              <a:t>The CPU works like a super-fast factory worker. It reads instructions (fetch), understands them (decode), does the work (execute), and puts away the finished product (store) - repeating this billions of times per second!</a:t>
            </a:r>
            <a:endParaRPr lang="en-US" sz="16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4.3</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Internal Memory Overview</a:t>
            </a:r>
            <a:endParaRPr lang="en-US" sz="1600" dirty="0"/>
          </a:p>
        </p:txBody>
      </p:sp>
      <p:sp>
        <p:nvSpPr>
          <p:cNvPr id="4" name="Shape 2"/>
          <p:cNvSpPr/>
          <p:nvPr/>
        </p:nvSpPr>
        <p:spPr>
          <a:xfrm>
            <a:off x="384810" y="1261110"/>
            <a:ext cx="5589270" cy="2141220"/>
          </a:xfrm>
          <a:custGeom>
            <a:avLst/>
            <a:gdLst/>
            <a:ahLst/>
            <a:cxnLst/>
            <a:rect l="l" t="t" r="r" b="b"/>
            <a:pathLst>
              <a:path w="5589270" h="2141220">
                <a:moveTo>
                  <a:pt x="114298" y="0"/>
                </a:moveTo>
                <a:lnTo>
                  <a:pt x="5474972" y="0"/>
                </a:lnTo>
                <a:cubicBezTo>
                  <a:pt x="5538097" y="0"/>
                  <a:pt x="5589270" y="51173"/>
                  <a:pt x="5589270" y="114298"/>
                </a:cubicBezTo>
                <a:lnTo>
                  <a:pt x="5589270" y="2026922"/>
                </a:lnTo>
                <a:cubicBezTo>
                  <a:pt x="5589270" y="2090047"/>
                  <a:pt x="5538097" y="2141220"/>
                  <a:pt x="5474972" y="2141220"/>
                </a:cubicBezTo>
                <a:lnTo>
                  <a:pt x="114298" y="2141220"/>
                </a:lnTo>
                <a:cubicBezTo>
                  <a:pt x="51173" y="2141220"/>
                  <a:pt x="0" y="2090047"/>
                  <a:pt x="0" y="2026922"/>
                </a:cubicBezTo>
                <a:lnTo>
                  <a:pt x="0" y="114298"/>
                </a:lnTo>
                <a:cubicBezTo>
                  <a:pt x="0" y="51173"/>
                  <a:pt x="51173" y="0"/>
                  <a:pt x="114298" y="0"/>
                </a:cubicBezTo>
                <a:close/>
              </a:path>
            </a:pathLst>
          </a:custGeom>
          <a:solidFill>
            <a:srgbClr val="262626"/>
          </a:solidFill>
          <a:ln w="10160">
            <a:solidFill>
              <a:srgbClr val="333333"/>
            </a:solidFill>
            <a:prstDash val="solid"/>
          </a:ln>
        </p:spPr>
      </p:sp>
      <p:sp>
        <p:nvSpPr>
          <p:cNvPr id="5" name="Shape 3"/>
          <p:cNvSpPr/>
          <p:nvPr/>
        </p:nvSpPr>
        <p:spPr>
          <a:xfrm>
            <a:off x="579120" y="1455427"/>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6" name="Shape 4"/>
          <p:cNvSpPr/>
          <p:nvPr/>
        </p:nvSpPr>
        <p:spPr>
          <a:xfrm>
            <a:off x="693420" y="1569727"/>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6366F1"/>
          </a:solidFill>
          <a:ln/>
        </p:spPr>
      </p:sp>
      <p:sp>
        <p:nvSpPr>
          <p:cNvPr id="7" name="Text 5"/>
          <p:cNvSpPr/>
          <p:nvPr/>
        </p:nvSpPr>
        <p:spPr>
          <a:xfrm>
            <a:off x="1074420" y="1512577"/>
            <a:ext cx="22383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What is Internal Memory?</a:t>
            </a:r>
            <a:endParaRPr lang="en-US" sz="1600" dirty="0"/>
          </a:p>
        </p:txBody>
      </p:sp>
      <p:sp>
        <p:nvSpPr>
          <p:cNvPr id="8" name="Text 6"/>
          <p:cNvSpPr/>
          <p:nvPr/>
        </p:nvSpPr>
        <p:spPr>
          <a:xfrm>
            <a:off x="579120" y="1950727"/>
            <a:ext cx="52768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Memory is where the computer stores data and instructions temporarily while working. It's like a workspace where the CPU keeps information it needs right now.</a:t>
            </a:r>
            <a:endParaRPr lang="en-US" sz="1600" dirty="0"/>
          </a:p>
        </p:txBody>
      </p:sp>
      <p:sp>
        <p:nvSpPr>
          <p:cNvPr id="9" name="Text 7"/>
          <p:cNvSpPr/>
          <p:nvPr/>
        </p:nvSpPr>
        <p:spPr>
          <a:xfrm>
            <a:off x="579120" y="2750827"/>
            <a:ext cx="5276850" cy="457200"/>
          </a:xfrm>
          <a:prstGeom prst="rect">
            <a:avLst/>
          </a:prstGeom>
          <a:noFill/>
          <a:ln/>
        </p:spPr>
        <p:txBody>
          <a:bodyPr wrap="square" lIns="0" tIns="0" rIns="0" bIns="0" rtlCol="0" anchor="ctr"/>
          <a:lstStyle/>
          <a:p>
            <a:pPr>
              <a:lnSpc>
                <a:spcPct val="130000"/>
              </a:lnSpc>
            </a:pPr>
            <a:r>
              <a:rPr lang="en-US" sz="1200" b="1" dirty="0">
                <a:solidFill>
                  <a:srgbClr val="8F8F8F"/>
                </a:solidFill>
                <a:latin typeface="Liter" pitchFamily="34" charset="0"/>
                <a:ea typeface="Liter" pitchFamily="34" charset="-122"/>
                <a:cs typeface="Liter" pitchFamily="34" charset="-120"/>
              </a:rPr>
              <a:t>Analogy:</a:t>
            </a:r>
            <a:r>
              <a:rPr lang="en-US" sz="1200" dirty="0">
                <a:solidFill>
                  <a:srgbClr val="8F8F8F"/>
                </a:solidFill>
                <a:latin typeface="Liter" pitchFamily="34" charset="0"/>
                <a:ea typeface="Liter" pitchFamily="34" charset="-122"/>
                <a:cs typeface="Liter" pitchFamily="34" charset="-120"/>
              </a:rPr>
              <a:t> Like your desk - you keep papers you're currently working on there, but file away completed work</a:t>
            </a:r>
            <a:endParaRPr lang="en-US" sz="1600" dirty="0"/>
          </a:p>
        </p:txBody>
      </p:sp>
      <p:sp>
        <p:nvSpPr>
          <p:cNvPr id="10" name="Shape 8"/>
          <p:cNvSpPr/>
          <p:nvPr/>
        </p:nvSpPr>
        <p:spPr>
          <a:xfrm>
            <a:off x="384810" y="3562346"/>
            <a:ext cx="5589270" cy="1798320"/>
          </a:xfrm>
          <a:custGeom>
            <a:avLst/>
            <a:gdLst/>
            <a:ahLst/>
            <a:cxnLst/>
            <a:rect l="l" t="t" r="r" b="b"/>
            <a:pathLst>
              <a:path w="5589270" h="1798320">
                <a:moveTo>
                  <a:pt x="114301" y="0"/>
                </a:moveTo>
                <a:lnTo>
                  <a:pt x="5474969" y="0"/>
                </a:lnTo>
                <a:cubicBezTo>
                  <a:pt x="5538096" y="0"/>
                  <a:pt x="5589270" y="51174"/>
                  <a:pt x="5589270" y="114301"/>
                </a:cubicBezTo>
                <a:lnTo>
                  <a:pt x="5589270" y="1684019"/>
                </a:lnTo>
                <a:cubicBezTo>
                  <a:pt x="5589270" y="1747103"/>
                  <a:pt x="5538053" y="1798320"/>
                  <a:pt x="5474969" y="1798320"/>
                </a:cubicBezTo>
                <a:lnTo>
                  <a:pt x="114301" y="1798320"/>
                </a:lnTo>
                <a:cubicBezTo>
                  <a:pt x="51174" y="1798320"/>
                  <a:pt x="0" y="1747146"/>
                  <a:pt x="0" y="1684019"/>
                </a:cubicBezTo>
                <a:lnTo>
                  <a:pt x="0" y="114301"/>
                </a:lnTo>
                <a:cubicBezTo>
                  <a:pt x="0" y="51174"/>
                  <a:pt x="51174" y="0"/>
                  <a:pt x="114301" y="0"/>
                </a:cubicBezTo>
                <a:close/>
              </a:path>
            </a:pathLst>
          </a:custGeom>
          <a:solidFill>
            <a:srgbClr val="262626"/>
          </a:solidFill>
          <a:ln w="10160">
            <a:solidFill>
              <a:srgbClr val="333333"/>
            </a:solidFill>
            <a:prstDash val="solid"/>
          </a:ln>
        </p:spPr>
      </p:sp>
      <p:sp>
        <p:nvSpPr>
          <p:cNvPr id="11" name="Shape 9"/>
          <p:cNvSpPr/>
          <p:nvPr/>
        </p:nvSpPr>
        <p:spPr>
          <a:xfrm>
            <a:off x="579120" y="3756664"/>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2" name="Shape 10"/>
          <p:cNvSpPr/>
          <p:nvPr/>
        </p:nvSpPr>
        <p:spPr>
          <a:xfrm>
            <a:off x="693420" y="3870964"/>
            <a:ext cx="152400" cy="152400"/>
          </a:xfrm>
          <a:custGeom>
            <a:avLst/>
            <a:gdLst/>
            <a:ahLst/>
            <a:cxnLst/>
            <a:rect l="l" t="t" r="r" b="b"/>
            <a:pathLst>
              <a:path w="152400" h="152400">
                <a:moveTo>
                  <a:pt x="69205" y="1548"/>
                </a:moveTo>
                <a:cubicBezTo>
                  <a:pt x="73640" y="-506"/>
                  <a:pt x="78760" y="-506"/>
                  <a:pt x="83195" y="1548"/>
                </a:cubicBezTo>
                <a:lnTo>
                  <a:pt x="148263" y="31611"/>
                </a:lnTo>
                <a:cubicBezTo>
                  <a:pt x="150793" y="32772"/>
                  <a:pt x="152400" y="35302"/>
                  <a:pt x="152400" y="38100"/>
                </a:cubicBezTo>
                <a:cubicBezTo>
                  <a:pt x="152400" y="40898"/>
                  <a:pt x="150793" y="43428"/>
                  <a:pt x="148263" y="44589"/>
                </a:cubicBezTo>
                <a:lnTo>
                  <a:pt x="83195" y="74652"/>
                </a:lnTo>
                <a:cubicBezTo>
                  <a:pt x="78760" y="76706"/>
                  <a:pt x="73640" y="76706"/>
                  <a:pt x="69205" y="74652"/>
                </a:cubicBezTo>
                <a:lnTo>
                  <a:pt x="4137" y="44589"/>
                </a:lnTo>
                <a:cubicBezTo>
                  <a:pt x="1607" y="43398"/>
                  <a:pt x="0" y="40868"/>
                  <a:pt x="0" y="38100"/>
                </a:cubicBezTo>
                <a:cubicBezTo>
                  <a:pt x="0" y="35332"/>
                  <a:pt x="1607" y="32772"/>
                  <a:pt x="4137" y="31611"/>
                </a:cubicBezTo>
                <a:lnTo>
                  <a:pt x="69205" y="1548"/>
                </a:lnTo>
                <a:close/>
                <a:moveTo>
                  <a:pt x="14317" y="65008"/>
                </a:moveTo>
                <a:lnTo>
                  <a:pt x="63222" y="87600"/>
                </a:lnTo>
                <a:cubicBezTo>
                  <a:pt x="71467" y="91410"/>
                  <a:pt x="80962" y="91410"/>
                  <a:pt x="89208" y="87600"/>
                </a:cubicBezTo>
                <a:lnTo>
                  <a:pt x="138113" y="65008"/>
                </a:lnTo>
                <a:lnTo>
                  <a:pt x="148263" y="69711"/>
                </a:lnTo>
                <a:cubicBezTo>
                  <a:pt x="150793" y="70872"/>
                  <a:pt x="152400" y="73402"/>
                  <a:pt x="152400" y="76200"/>
                </a:cubicBezTo>
                <a:cubicBezTo>
                  <a:pt x="152400" y="78998"/>
                  <a:pt x="150793" y="81528"/>
                  <a:pt x="148263" y="82689"/>
                </a:cubicBezTo>
                <a:lnTo>
                  <a:pt x="83195" y="112752"/>
                </a:lnTo>
                <a:cubicBezTo>
                  <a:pt x="78760" y="114806"/>
                  <a:pt x="73640" y="114806"/>
                  <a:pt x="69205" y="112752"/>
                </a:cubicBezTo>
                <a:lnTo>
                  <a:pt x="4137" y="82689"/>
                </a:lnTo>
                <a:cubicBezTo>
                  <a:pt x="1607" y="81498"/>
                  <a:pt x="0" y="78968"/>
                  <a:pt x="0" y="76200"/>
                </a:cubicBezTo>
                <a:cubicBezTo>
                  <a:pt x="0" y="73432"/>
                  <a:pt x="1607" y="70872"/>
                  <a:pt x="4137" y="69711"/>
                </a:cubicBezTo>
                <a:lnTo>
                  <a:pt x="14288" y="65008"/>
                </a:lnTo>
                <a:close/>
                <a:moveTo>
                  <a:pt x="4137" y="107811"/>
                </a:moveTo>
                <a:lnTo>
                  <a:pt x="14288" y="103108"/>
                </a:lnTo>
                <a:lnTo>
                  <a:pt x="63192" y="125700"/>
                </a:lnTo>
                <a:cubicBezTo>
                  <a:pt x="71438" y="129510"/>
                  <a:pt x="80933" y="129510"/>
                  <a:pt x="89178" y="125700"/>
                </a:cubicBezTo>
                <a:lnTo>
                  <a:pt x="138083" y="103108"/>
                </a:lnTo>
                <a:lnTo>
                  <a:pt x="148233" y="107811"/>
                </a:lnTo>
                <a:cubicBezTo>
                  <a:pt x="150763" y="108972"/>
                  <a:pt x="152370" y="111502"/>
                  <a:pt x="152370" y="114300"/>
                </a:cubicBezTo>
                <a:cubicBezTo>
                  <a:pt x="152370" y="117098"/>
                  <a:pt x="150763" y="119628"/>
                  <a:pt x="148233" y="120789"/>
                </a:cubicBezTo>
                <a:lnTo>
                  <a:pt x="83165" y="150852"/>
                </a:lnTo>
                <a:cubicBezTo>
                  <a:pt x="78730" y="152906"/>
                  <a:pt x="73610" y="152906"/>
                  <a:pt x="69175" y="150852"/>
                </a:cubicBezTo>
                <a:lnTo>
                  <a:pt x="4137" y="120789"/>
                </a:lnTo>
                <a:cubicBezTo>
                  <a:pt x="1607" y="119598"/>
                  <a:pt x="0" y="117068"/>
                  <a:pt x="0" y="114300"/>
                </a:cubicBezTo>
                <a:cubicBezTo>
                  <a:pt x="0" y="111532"/>
                  <a:pt x="1607" y="108972"/>
                  <a:pt x="4137" y="107811"/>
                </a:cubicBezTo>
                <a:close/>
              </a:path>
            </a:pathLst>
          </a:custGeom>
          <a:solidFill>
            <a:srgbClr val="6366F1"/>
          </a:solidFill>
          <a:ln/>
        </p:spPr>
      </p:sp>
      <p:sp>
        <p:nvSpPr>
          <p:cNvPr id="13" name="Text 11"/>
          <p:cNvSpPr/>
          <p:nvPr/>
        </p:nvSpPr>
        <p:spPr>
          <a:xfrm>
            <a:off x="1074420" y="3813814"/>
            <a:ext cx="22383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Types of Internal Memory</a:t>
            </a:r>
            <a:endParaRPr lang="en-US" sz="1600" dirty="0"/>
          </a:p>
        </p:txBody>
      </p:sp>
      <p:sp>
        <p:nvSpPr>
          <p:cNvPr id="14" name="Shape 12"/>
          <p:cNvSpPr/>
          <p:nvPr/>
        </p:nvSpPr>
        <p:spPr>
          <a:xfrm>
            <a:off x="607695" y="42900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6366F1"/>
          </a:solidFill>
          <a:ln/>
        </p:spPr>
      </p:sp>
      <p:sp>
        <p:nvSpPr>
          <p:cNvPr id="15" name="Text 13"/>
          <p:cNvSpPr/>
          <p:nvPr/>
        </p:nvSpPr>
        <p:spPr>
          <a:xfrm>
            <a:off x="845820" y="4251964"/>
            <a:ext cx="41719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RAM (Random Access Memory):</a:t>
            </a:r>
            <a:r>
              <a:rPr lang="en-US" sz="1200" dirty="0">
                <a:solidFill>
                  <a:srgbClr val="EFEFEF"/>
                </a:solidFill>
                <a:latin typeface="Liter" pitchFamily="34" charset="0"/>
                <a:ea typeface="Liter" pitchFamily="34" charset="-122"/>
                <a:cs typeface="Liter" pitchFamily="34" charset="-120"/>
              </a:rPr>
              <a:t> Temporary, volatile memory</a:t>
            </a:r>
            <a:endParaRPr lang="en-US" sz="1600" dirty="0"/>
          </a:p>
        </p:txBody>
      </p:sp>
      <p:sp>
        <p:nvSpPr>
          <p:cNvPr id="16" name="Shape 14"/>
          <p:cNvSpPr/>
          <p:nvPr/>
        </p:nvSpPr>
        <p:spPr>
          <a:xfrm>
            <a:off x="607695" y="46329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6366F1"/>
          </a:solidFill>
          <a:ln/>
        </p:spPr>
      </p:sp>
      <p:sp>
        <p:nvSpPr>
          <p:cNvPr id="17" name="Text 15"/>
          <p:cNvSpPr/>
          <p:nvPr/>
        </p:nvSpPr>
        <p:spPr>
          <a:xfrm>
            <a:off x="845820" y="4594864"/>
            <a:ext cx="4086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ROM (Read Only Memory):</a:t>
            </a:r>
            <a:r>
              <a:rPr lang="en-US" sz="1200" dirty="0">
                <a:solidFill>
                  <a:srgbClr val="EFEFEF"/>
                </a:solidFill>
                <a:latin typeface="Liter" pitchFamily="34" charset="0"/>
                <a:ea typeface="Liter" pitchFamily="34" charset="-122"/>
                <a:cs typeface="Liter" pitchFamily="34" charset="-120"/>
              </a:rPr>
              <a:t> Permanent, non-volatile memory</a:t>
            </a:r>
            <a:endParaRPr lang="en-US" sz="1600" dirty="0"/>
          </a:p>
        </p:txBody>
      </p:sp>
      <p:sp>
        <p:nvSpPr>
          <p:cNvPr id="18" name="Shape 16"/>
          <p:cNvSpPr/>
          <p:nvPr/>
        </p:nvSpPr>
        <p:spPr>
          <a:xfrm>
            <a:off x="607695" y="49758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6366F1"/>
          </a:solidFill>
          <a:ln/>
        </p:spPr>
      </p:sp>
      <p:sp>
        <p:nvSpPr>
          <p:cNvPr id="19" name="Text 17"/>
          <p:cNvSpPr/>
          <p:nvPr/>
        </p:nvSpPr>
        <p:spPr>
          <a:xfrm>
            <a:off x="845820" y="4937764"/>
            <a:ext cx="33813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Cache Memory:</a:t>
            </a:r>
            <a:r>
              <a:rPr lang="en-US" sz="1200" dirty="0">
                <a:solidFill>
                  <a:srgbClr val="EFEFEF"/>
                </a:solidFill>
                <a:latin typeface="Liter" pitchFamily="34" charset="0"/>
                <a:ea typeface="Liter" pitchFamily="34" charset="-122"/>
                <a:cs typeface="Liter" pitchFamily="34" charset="-120"/>
              </a:rPr>
              <a:t> Super-fast memory near the CPU</a:t>
            </a:r>
            <a:endParaRPr lang="en-US" sz="1600" dirty="0"/>
          </a:p>
        </p:txBody>
      </p:sp>
      <p:sp>
        <p:nvSpPr>
          <p:cNvPr id="20" name="Shape 18"/>
          <p:cNvSpPr/>
          <p:nvPr/>
        </p:nvSpPr>
        <p:spPr>
          <a:xfrm>
            <a:off x="6214110" y="1261110"/>
            <a:ext cx="5589270" cy="3741420"/>
          </a:xfrm>
          <a:custGeom>
            <a:avLst/>
            <a:gdLst/>
            <a:ahLst/>
            <a:cxnLst/>
            <a:rect l="l" t="t" r="r" b="b"/>
            <a:pathLst>
              <a:path w="5589270" h="3741420">
                <a:moveTo>
                  <a:pt x="114300" y="0"/>
                </a:moveTo>
                <a:lnTo>
                  <a:pt x="5474970" y="0"/>
                </a:lnTo>
                <a:cubicBezTo>
                  <a:pt x="5538096" y="0"/>
                  <a:pt x="5589270" y="51174"/>
                  <a:pt x="5589270" y="114300"/>
                </a:cubicBezTo>
                <a:lnTo>
                  <a:pt x="5589270" y="3627120"/>
                </a:lnTo>
                <a:cubicBezTo>
                  <a:pt x="5589270" y="3690246"/>
                  <a:pt x="5538096" y="3741420"/>
                  <a:pt x="5474970" y="3741420"/>
                </a:cubicBezTo>
                <a:lnTo>
                  <a:pt x="114300" y="3741420"/>
                </a:lnTo>
                <a:cubicBezTo>
                  <a:pt x="51174" y="3741420"/>
                  <a:pt x="0" y="3690246"/>
                  <a:pt x="0" y="3627120"/>
                </a:cubicBezTo>
                <a:lnTo>
                  <a:pt x="0" y="114300"/>
                </a:lnTo>
                <a:cubicBezTo>
                  <a:pt x="0" y="51216"/>
                  <a:pt x="51216" y="0"/>
                  <a:pt x="114300" y="0"/>
                </a:cubicBezTo>
                <a:close/>
              </a:path>
            </a:pathLst>
          </a:custGeom>
          <a:solidFill>
            <a:srgbClr val="262626"/>
          </a:solidFill>
          <a:ln w="10160">
            <a:solidFill>
              <a:srgbClr val="333333"/>
            </a:solidFill>
            <a:prstDash val="solid"/>
          </a:ln>
        </p:spPr>
      </p:sp>
      <p:sp>
        <p:nvSpPr>
          <p:cNvPr id="21" name="Shape 19"/>
          <p:cNvSpPr/>
          <p:nvPr/>
        </p:nvSpPr>
        <p:spPr>
          <a:xfrm>
            <a:off x="8724900" y="1493527"/>
            <a:ext cx="571500" cy="571500"/>
          </a:xfrm>
          <a:custGeom>
            <a:avLst/>
            <a:gdLst/>
            <a:ahLst/>
            <a:cxnLst/>
            <a:rect l="l" t="t" r="r" b="b"/>
            <a:pathLst>
              <a:path w="571500" h="571500">
                <a:moveTo>
                  <a:pt x="71438" y="71438"/>
                </a:moveTo>
                <a:cubicBezTo>
                  <a:pt x="32035" y="71438"/>
                  <a:pt x="0" y="103473"/>
                  <a:pt x="0" y="142875"/>
                </a:cubicBezTo>
                <a:lnTo>
                  <a:pt x="0" y="151135"/>
                </a:lnTo>
                <a:cubicBezTo>
                  <a:pt x="0" y="158725"/>
                  <a:pt x="4911" y="165199"/>
                  <a:pt x="11274" y="169329"/>
                </a:cubicBezTo>
                <a:cubicBezTo>
                  <a:pt x="26008" y="178929"/>
                  <a:pt x="35719" y="195449"/>
                  <a:pt x="35719" y="214313"/>
                </a:cubicBezTo>
                <a:cubicBezTo>
                  <a:pt x="35719" y="233176"/>
                  <a:pt x="26008" y="249696"/>
                  <a:pt x="11274" y="259296"/>
                </a:cubicBezTo>
                <a:cubicBezTo>
                  <a:pt x="4911" y="263426"/>
                  <a:pt x="0" y="269900"/>
                  <a:pt x="0" y="277490"/>
                </a:cubicBezTo>
                <a:lnTo>
                  <a:pt x="0" y="339328"/>
                </a:lnTo>
                <a:lnTo>
                  <a:pt x="571500" y="339328"/>
                </a:lnTo>
                <a:lnTo>
                  <a:pt x="571500" y="277490"/>
                </a:lnTo>
                <a:cubicBezTo>
                  <a:pt x="571500" y="269900"/>
                  <a:pt x="566589" y="263426"/>
                  <a:pt x="560226" y="259296"/>
                </a:cubicBezTo>
                <a:cubicBezTo>
                  <a:pt x="545492" y="249696"/>
                  <a:pt x="535781" y="233176"/>
                  <a:pt x="535781" y="214313"/>
                </a:cubicBezTo>
                <a:cubicBezTo>
                  <a:pt x="535781" y="195449"/>
                  <a:pt x="545492" y="178929"/>
                  <a:pt x="560226" y="169329"/>
                </a:cubicBezTo>
                <a:cubicBezTo>
                  <a:pt x="566589" y="165199"/>
                  <a:pt x="571500" y="158725"/>
                  <a:pt x="571500" y="151135"/>
                </a:cubicBezTo>
                <a:lnTo>
                  <a:pt x="571500" y="142875"/>
                </a:lnTo>
                <a:cubicBezTo>
                  <a:pt x="571500" y="103473"/>
                  <a:pt x="539465" y="71437"/>
                  <a:pt x="500063" y="71437"/>
                </a:cubicBezTo>
                <a:lnTo>
                  <a:pt x="71438" y="71438"/>
                </a:lnTo>
                <a:close/>
                <a:moveTo>
                  <a:pt x="571500" y="464344"/>
                </a:moveTo>
                <a:lnTo>
                  <a:pt x="571500" y="392906"/>
                </a:lnTo>
                <a:lnTo>
                  <a:pt x="0" y="392906"/>
                </a:lnTo>
                <a:lnTo>
                  <a:pt x="0" y="464344"/>
                </a:lnTo>
                <a:cubicBezTo>
                  <a:pt x="0" y="484101"/>
                  <a:pt x="15962" y="500063"/>
                  <a:pt x="35719" y="500063"/>
                </a:cubicBezTo>
                <a:lnTo>
                  <a:pt x="107156" y="500063"/>
                </a:lnTo>
                <a:lnTo>
                  <a:pt x="107156" y="473273"/>
                </a:lnTo>
                <a:cubicBezTo>
                  <a:pt x="107156" y="458428"/>
                  <a:pt x="119100" y="446484"/>
                  <a:pt x="133945" y="446484"/>
                </a:cubicBezTo>
                <a:cubicBezTo>
                  <a:pt x="148791" y="446484"/>
                  <a:pt x="160734" y="458428"/>
                  <a:pt x="160734" y="473273"/>
                </a:cubicBezTo>
                <a:lnTo>
                  <a:pt x="160734" y="500063"/>
                </a:lnTo>
                <a:lnTo>
                  <a:pt x="258961" y="500063"/>
                </a:lnTo>
                <a:lnTo>
                  <a:pt x="258961" y="473273"/>
                </a:lnTo>
                <a:cubicBezTo>
                  <a:pt x="258961" y="458428"/>
                  <a:pt x="270904" y="446484"/>
                  <a:pt x="285750" y="446484"/>
                </a:cubicBezTo>
                <a:cubicBezTo>
                  <a:pt x="300596" y="446484"/>
                  <a:pt x="312539" y="458428"/>
                  <a:pt x="312539" y="473273"/>
                </a:cubicBezTo>
                <a:lnTo>
                  <a:pt x="312539" y="500063"/>
                </a:lnTo>
                <a:lnTo>
                  <a:pt x="410766" y="500063"/>
                </a:lnTo>
                <a:lnTo>
                  <a:pt x="410766" y="473273"/>
                </a:lnTo>
                <a:cubicBezTo>
                  <a:pt x="410766" y="458428"/>
                  <a:pt x="422709" y="446484"/>
                  <a:pt x="437555" y="446484"/>
                </a:cubicBezTo>
                <a:cubicBezTo>
                  <a:pt x="452400" y="446484"/>
                  <a:pt x="464344" y="458428"/>
                  <a:pt x="464344" y="473273"/>
                </a:cubicBezTo>
                <a:lnTo>
                  <a:pt x="464344" y="500063"/>
                </a:lnTo>
                <a:lnTo>
                  <a:pt x="535781" y="500063"/>
                </a:lnTo>
                <a:cubicBezTo>
                  <a:pt x="555538" y="500063"/>
                  <a:pt x="571500" y="484101"/>
                  <a:pt x="571500" y="464344"/>
                </a:cubicBezTo>
                <a:close/>
                <a:moveTo>
                  <a:pt x="178594" y="178594"/>
                </a:moveTo>
                <a:lnTo>
                  <a:pt x="178594" y="250031"/>
                </a:lnTo>
                <a:cubicBezTo>
                  <a:pt x="178594" y="269788"/>
                  <a:pt x="162632" y="285750"/>
                  <a:pt x="142875" y="285750"/>
                </a:cubicBezTo>
                <a:cubicBezTo>
                  <a:pt x="123118" y="285750"/>
                  <a:pt x="107156" y="269788"/>
                  <a:pt x="107156" y="250031"/>
                </a:cubicBezTo>
                <a:lnTo>
                  <a:pt x="107156" y="178594"/>
                </a:lnTo>
                <a:cubicBezTo>
                  <a:pt x="107156" y="158837"/>
                  <a:pt x="123118" y="142875"/>
                  <a:pt x="142875" y="142875"/>
                </a:cubicBezTo>
                <a:cubicBezTo>
                  <a:pt x="162632" y="142875"/>
                  <a:pt x="178594" y="158837"/>
                  <a:pt x="178594" y="178594"/>
                </a:cubicBezTo>
                <a:close/>
                <a:moveTo>
                  <a:pt x="321469" y="178594"/>
                </a:moveTo>
                <a:lnTo>
                  <a:pt x="321469" y="250031"/>
                </a:lnTo>
                <a:cubicBezTo>
                  <a:pt x="321469" y="269788"/>
                  <a:pt x="305507" y="285750"/>
                  <a:pt x="285750" y="285750"/>
                </a:cubicBezTo>
                <a:cubicBezTo>
                  <a:pt x="265993" y="285750"/>
                  <a:pt x="250031" y="269788"/>
                  <a:pt x="250031" y="250031"/>
                </a:cubicBezTo>
                <a:lnTo>
                  <a:pt x="250031" y="178594"/>
                </a:lnTo>
                <a:cubicBezTo>
                  <a:pt x="250031" y="158837"/>
                  <a:pt x="265993" y="142875"/>
                  <a:pt x="285750" y="142875"/>
                </a:cubicBezTo>
                <a:cubicBezTo>
                  <a:pt x="305507" y="142875"/>
                  <a:pt x="321469" y="158837"/>
                  <a:pt x="321469" y="178594"/>
                </a:cubicBezTo>
                <a:close/>
                <a:moveTo>
                  <a:pt x="464344" y="178594"/>
                </a:moveTo>
                <a:lnTo>
                  <a:pt x="464344" y="250031"/>
                </a:lnTo>
                <a:cubicBezTo>
                  <a:pt x="464344" y="269788"/>
                  <a:pt x="448382" y="285750"/>
                  <a:pt x="428625" y="285750"/>
                </a:cubicBezTo>
                <a:cubicBezTo>
                  <a:pt x="408868" y="285750"/>
                  <a:pt x="392906" y="269788"/>
                  <a:pt x="392906" y="250031"/>
                </a:cubicBezTo>
                <a:lnTo>
                  <a:pt x="392906" y="178594"/>
                </a:lnTo>
                <a:cubicBezTo>
                  <a:pt x="392906" y="158837"/>
                  <a:pt x="408868" y="142875"/>
                  <a:pt x="428625" y="142875"/>
                </a:cubicBezTo>
                <a:cubicBezTo>
                  <a:pt x="448382" y="142875"/>
                  <a:pt x="464344" y="158837"/>
                  <a:pt x="464344" y="178594"/>
                </a:cubicBezTo>
                <a:close/>
              </a:path>
            </a:pathLst>
          </a:custGeom>
          <a:solidFill>
            <a:srgbClr val="6366F1"/>
          </a:solidFill>
          <a:ln/>
        </p:spPr>
      </p:sp>
      <p:sp>
        <p:nvSpPr>
          <p:cNvPr id="22" name="Text 20"/>
          <p:cNvSpPr/>
          <p:nvPr/>
        </p:nvSpPr>
        <p:spPr>
          <a:xfrm>
            <a:off x="6398895" y="2179327"/>
            <a:ext cx="521970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Memory Hierarchy</a:t>
            </a:r>
            <a:endParaRPr lang="en-US" sz="1600" dirty="0"/>
          </a:p>
        </p:txBody>
      </p:sp>
      <p:sp>
        <p:nvSpPr>
          <p:cNvPr id="23" name="Shape 21"/>
          <p:cNvSpPr/>
          <p:nvPr/>
        </p:nvSpPr>
        <p:spPr>
          <a:xfrm>
            <a:off x="6446520" y="2598427"/>
            <a:ext cx="5124450" cy="647700"/>
          </a:xfrm>
          <a:custGeom>
            <a:avLst/>
            <a:gdLst/>
            <a:ahLst/>
            <a:cxnLst/>
            <a:rect l="l" t="t" r="r" b="b"/>
            <a:pathLst>
              <a:path w="5124450" h="647700">
                <a:moveTo>
                  <a:pt x="76202" y="0"/>
                </a:moveTo>
                <a:lnTo>
                  <a:pt x="5048248" y="0"/>
                </a:lnTo>
                <a:cubicBezTo>
                  <a:pt x="5090333" y="0"/>
                  <a:pt x="5124450" y="34117"/>
                  <a:pt x="5124450" y="76202"/>
                </a:cubicBezTo>
                <a:lnTo>
                  <a:pt x="5124450" y="571498"/>
                </a:lnTo>
                <a:cubicBezTo>
                  <a:pt x="5124450" y="613583"/>
                  <a:pt x="5090333" y="647700"/>
                  <a:pt x="5048248" y="647700"/>
                </a:cubicBezTo>
                <a:lnTo>
                  <a:pt x="76202" y="647700"/>
                </a:lnTo>
                <a:cubicBezTo>
                  <a:pt x="34117" y="647700"/>
                  <a:pt x="0" y="613583"/>
                  <a:pt x="0" y="571498"/>
                </a:cubicBezTo>
                <a:lnTo>
                  <a:pt x="0" y="76202"/>
                </a:lnTo>
                <a:cubicBezTo>
                  <a:pt x="0" y="34117"/>
                  <a:pt x="34117" y="0"/>
                  <a:pt x="76202" y="0"/>
                </a:cubicBezTo>
                <a:close/>
              </a:path>
            </a:pathLst>
          </a:custGeom>
          <a:solidFill>
            <a:srgbClr val="191919"/>
          </a:solidFill>
          <a:ln/>
        </p:spPr>
      </p:sp>
      <p:sp>
        <p:nvSpPr>
          <p:cNvPr id="24" name="Shape 22"/>
          <p:cNvSpPr/>
          <p:nvPr/>
        </p:nvSpPr>
        <p:spPr>
          <a:xfrm>
            <a:off x="6560820" y="2769877"/>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5" name="Shape 23"/>
          <p:cNvSpPr/>
          <p:nvPr/>
        </p:nvSpPr>
        <p:spPr>
          <a:xfrm>
            <a:off x="6646545" y="2846077"/>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6366F1"/>
          </a:solidFill>
          <a:ln/>
        </p:spPr>
      </p:sp>
      <p:sp>
        <p:nvSpPr>
          <p:cNvPr id="26" name="Text 24"/>
          <p:cNvSpPr/>
          <p:nvPr/>
        </p:nvSpPr>
        <p:spPr>
          <a:xfrm>
            <a:off x="6979920" y="2712727"/>
            <a:ext cx="45529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Cache (Fastest)</a:t>
            </a:r>
            <a:endParaRPr lang="en-US" sz="1600" dirty="0"/>
          </a:p>
        </p:txBody>
      </p:sp>
      <p:sp>
        <p:nvSpPr>
          <p:cNvPr id="27" name="Text 25"/>
          <p:cNvSpPr/>
          <p:nvPr/>
        </p:nvSpPr>
        <p:spPr>
          <a:xfrm>
            <a:off x="6979920" y="2941327"/>
            <a:ext cx="4543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Smallest, nearest to CPU</a:t>
            </a:r>
            <a:endParaRPr lang="en-US" sz="1600" dirty="0"/>
          </a:p>
        </p:txBody>
      </p:sp>
      <p:sp>
        <p:nvSpPr>
          <p:cNvPr id="28" name="Shape 26"/>
          <p:cNvSpPr/>
          <p:nvPr/>
        </p:nvSpPr>
        <p:spPr>
          <a:xfrm>
            <a:off x="6446520" y="3360427"/>
            <a:ext cx="5124450" cy="647700"/>
          </a:xfrm>
          <a:custGeom>
            <a:avLst/>
            <a:gdLst/>
            <a:ahLst/>
            <a:cxnLst/>
            <a:rect l="l" t="t" r="r" b="b"/>
            <a:pathLst>
              <a:path w="5124450" h="647700">
                <a:moveTo>
                  <a:pt x="76202" y="0"/>
                </a:moveTo>
                <a:lnTo>
                  <a:pt x="5048248" y="0"/>
                </a:lnTo>
                <a:cubicBezTo>
                  <a:pt x="5090333" y="0"/>
                  <a:pt x="5124450" y="34117"/>
                  <a:pt x="5124450" y="76202"/>
                </a:cubicBezTo>
                <a:lnTo>
                  <a:pt x="5124450" y="571498"/>
                </a:lnTo>
                <a:cubicBezTo>
                  <a:pt x="5124450" y="613583"/>
                  <a:pt x="5090333" y="647700"/>
                  <a:pt x="5048248" y="647700"/>
                </a:cubicBezTo>
                <a:lnTo>
                  <a:pt x="76202" y="647700"/>
                </a:lnTo>
                <a:cubicBezTo>
                  <a:pt x="34117" y="647700"/>
                  <a:pt x="0" y="613583"/>
                  <a:pt x="0" y="571498"/>
                </a:cubicBezTo>
                <a:lnTo>
                  <a:pt x="0" y="76202"/>
                </a:lnTo>
                <a:cubicBezTo>
                  <a:pt x="0" y="34117"/>
                  <a:pt x="34117" y="0"/>
                  <a:pt x="76202" y="0"/>
                </a:cubicBezTo>
                <a:close/>
              </a:path>
            </a:pathLst>
          </a:custGeom>
          <a:solidFill>
            <a:srgbClr val="191919"/>
          </a:solidFill>
          <a:ln/>
        </p:spPr>
      </p:sp>
      <p:sp>
        <p:nvSpPr>
          <p:cNvPr id="29" name="Shape 27"/>
          <p:cNvSpPr/>
          <p:nvPr/>
        </p:nvSpPr>
        <p:spPr>
          <a:xfrm>
            <a:off x="6560820" y="3531877"/>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30" name="Shape 28"/>
          <p:cNvSpPr/>
          <p:nvPr/>
        </p:nvSpPr>
        <p:spPr>
          <a:xfrm>
            <a:off x="6637020" y="3608077"/>
            <a:ext cx="152400" cy="152400"/>
          </a:xfrm>
          <a:custGeom>
            <a:avLst/>
            <a:gdLst/>
            <a:ahLst/>
            <a:cxnLst/>
            <a:rect l="l" t="t" r="r" b="b"/>
            <a:pathLst>
              <a:path w="152400" h="152400">
                <a:moveTo>
                  <a:pt x="19616" y="68014"/>
                </a:moveTo>
                <a:cubicBezTo>
                  <a:pt x="23574" y="40332"/>
                  <a:pt x="47417" y="19050"/>
                  <a:pt x="76200" y="19050"/>
                </a:cubicBezTo>
                <a:cubicBezTo>
                  <a:pt x="91976" y="19050"/>
                  <a:pt x="106263" y="25450"/>
                  <a:pt x="116622" y="35778"/>
                </a:cubicBezTo>
                <a:cubicBezTo>
                  <a:pt x="116681" y="35838"/>
                  <a:pt x="116741" y="35897"/>
                  <a:pt x="116800" y="35957"/>
                </a:cubicBezTo>
                <a:lnTo>
                  <a:pt x="119063" y="38100"/>
                </a:lnTo>
                <a:lnTo>
                  <a:pt x="104805" y="38100"/>
                </a:lnTo>
                <a:cubicBezTo>
                  <a:pt x="99536" y="38100"/>
                  <a:pt x="95280" y="42356"/>
                  <a:pt x="95280" y="47625"/>
                </a:cubicBezTo>
                <a:cubicBezTo>
                  <a:pt x="95280" y="52894"/>
                  <a:pt x="99536" y="57150"/>
                  <a:pt x="104805" y="57150"/>
                </a:cubicBezTo>
                <a:lnTo>
                  <a:pt x="142905" y="57150"/>
                </a:lnTo>
                <a:cubicBezTo>
                  <a:pt x="148173" y="57150"/>
                  <a:pt x="152430" y="52894"/>
                  <a:pt x="152430" y="47625"/>
                </a:cubicBezTo>
                <a:lnTo>
                  <a:pt x="152430" y="9525"/>
                </a:lnTo>
                <a:cubicBezTo>
                  <a:pt x="152430" y="4256"/>
                  <a:pt x="148173" y="0"/>
                  <a:pt x="142905" y="0"/>
                </a:cubicBezTo>
                <a:cubicBezTo>
                  <a:pt x="137636" y="0"/>
                  <a:pt x="133380" y="4256"/>
                  <a:pt x="133380" y="9525"/>
                </a:cubicBezTo>
                <a:lnTo>
                  <a:pt x="133380" y="25420"/>
                </a:lnTo>
                <a:lnTo>
                  <a:pt x="130016" y="22235"/>
                </a:lnTo>
                <a:cubicBezTo>
                  <a:pt x="116235" y="8513"/>
                  <a:pt x="97185" y="0"/>
                  <a:pt x="76200" y="0"/>
                </a:cubicBezTo>
                <a:cubicBezTo>
                  <a:pt x="37802" y="0"/>
                  <a:pt x="6042" y="28396"/>
                  <a:pt x="774" y="65336"/>
                </a:cubicBezTo>
                <a:cubicBezTo>
                  <a:pt x="30" y="70545"/>
                  <a:pt x="3631" y="75367"/>
                  <a:pt x="8840" y="76111"/>
                </a:cubicBezTo>
                <a:cubicBezTo>
                  <a:pt x="14049" y="76855"/>
                  <a:pt x="18871" y="73223"/>
                  <a:pt x="19616" y="68044"/>
                </a:cubicBezTo>
                <a:close/>
                <a:moveTo>
                  <a:pt x="151626" y="87064"/>
                </a:moveTo>
                <a:cubicBezTo>
                  <a:pt x="152370" y="81855"/>
                  <a:pt x="148739" y="77033"/>
                  <a:pt x="143560" y="76289"/>
                </a:cubicBezTo>
                <a:cubicBezTo>
                  <a:pt x="138380" y="75545"/>
                  <a:pt x="133529" y="79177"/>
                  <a:pt x="132784" y="84356"/>
                </a:cubicBezTo>
                <a:cubicBezTo>
                  <a:pt x="128826" y="112038"/>
                  <a:pt x="104983" y="133320"/>
                  <a:pt x="76200" y="133320"/>
                </a:cubicBezTo>
                <a:cubicBezTo>
                  <a:pt x="60424" y="133320"/>
                  <a:pt x="46137" y="126921"/>
                  <a:pt x="35778" y="116592"/>
                </a:cubicBezTo>
                <a:cubicBezTo>
                  <a:pt x="35719" y="116532"/>
                  <a:pt x="35659" y="116473"/>
                  <a:pt x="35600" y="116413"/>
                </a:cubicBezTo>
                <a:lnTo>
                  <a:pt x="33337" y="114270"/>
                </a:lnTo>
                <a:lnTo>
                  <a:pt x="47595" y="114270"/>
                </a:lnTo>
                <a:cubicBezTo>
                  <a:pt x="52864" y="114270"/>
                  <a:pt x="57120" y="110014"/>
                  <a:pt x="57120" y="104745"/>
                </a:cubicBezTo>
                <a:cubicBezTo>
                  <a:pt x="57120" y="99477"/>
                  <a:pt x="52864" y="95220"/>
                  <a:pt x="47595" y="95220"/>
                </a:cubicBezTo>
                <a:lnTo>
                  <a:pt x="9525" y="95250"/>
                </a:lnTo>
                <a:cubicBezTo>
                  <a:pt x="6995" y="95250"/>
                  <a:pt x="4554" y="96262"/>
                  <a:pt x="2768" y="98078"/>
                </a:cubicBezTo>
                <a:cubicBezTo>
                  <a:pt x="982" y="99893"/>
                  <a:pt x="-30" y="102304"/>
                  <a:pt x="0" y="104864"/>
                </a:cubicBezTo>
                <a:lnTo>
                  <a:pt x="298" y="142667"/>
                </a:lnTo>
                <a:cubicBezTo>
                  <a:pt x="327" y="147935"/>
                  <a:pt x="4643" y="152162"/>
                  <a:pt x="9912" y="152102"/>
                </a:cubicBezTo>
                <a:cubicBezTo>
                  <a:pt x="15180" y="152043"/>
                  <a:pt x="19407" y="147757"/>
                  <a:pt x="19348" y="142488"/>
                </a:cubicBezTo>
                <a:lnTo>
                  <a:pt x="19229" y="127159"/>
                </a:lnTo>
                <a:lnTo>
                  <a:pt x="22414" y="130165"/>
                </a:lnTo>
                <a:cubicBezTo>
                  <a:pt x="36195" y="143887"/>
                  <a:pt x="55215" y="152400"/>
                  <a:pt x="76200" y="152400"/>
                </a:cubicBezTo>
                <a:cubicBezTo>
                  <a:pt x="114598" y="152400"/>
                  <a:pt x="146358" y="124004"/>
                  <a:pt x="151626" y="87064"/>
                </a:cubicBezTo>
                <a:close/>
              </a:path>
            </a:pathLst>
          </a:custGeom>
          <a:solidFill>
            <a:srgbClr val="6366F1"/>
          </a:solidFill>
          <a:ln/>
        </p:spPr>
      </p:sp>
      <p:sp>
        <p:nvSpPr>
          <p:cNvPr id="31" name="Text 29"/>
          <p:cNvSpPr/>
          <p:nvPr/>
        </p:nvSpPr>
        <p:spPr>
          <a:xfrm>
            <a:off x="6979920" y="3474727"/>
            <a:ext cx="45529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RAM (Fast)</a:t>
            </a:r>
            <a:endParaRPr lang="en-US" sz="1600" dirty="0"/>
          </a:p>
        </p:txBody>
      </p:sp>
      <p:sp>
        <p:nvSpPr>
          <p:cNvPr id="32" name="Text 30"/>
          <p:cNvSpPr/>
          <p:nvPr/>
        </p:nvSpPr>
        <p:spPr>
          <a:xfrm>
            <a:off x="6979920" y="3703327"/>
            <a:ext cx="4543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Temporary workspace</a:t>
            </a:r>
            <a:endParaRPr lang="en-US" sz="1600" dirty="0"/>
          </a:p>
        </p:txBody>
      </p:sp>
      <p:sp>
        <p:nvSpPr>
          <p:cNvPr id="33" name="Shape 31"/>
          <p:cNvSpPr/>
          <p:nvPr/>
        </p:nvSpPr>
        <p:spPr>
          <a:xfrm>
            <a:off x="6446520" y="4122427"/>
            <a:ext cx="5124450" cy="647700"/>
          </a:xfrm>
          <a:custGeom>
            <a:avLst/>
            <a:gdLst/>
            <a:ahLst/>
            <a:cxnLst/>
            <a:rect l="l" t="t" r="r" b="b"/>
            <a:pathLst>
              <a:path w="5124450" h="647700">
                <a:moveTo>
                  <a:pt x="76202" y="0"/>
                </a:moveTo>
                <a:lnTo>
                  <a:pt x="5048248" y="0"/>
                </a:lnTo>
                <a:cubicBezTo>
                  <a:pt x="5090333" y="0"/>
                  <a:pt x="5124450" y="34117"/>
                  <a:pt x="5124450" y="76202"/>
                </a:cubicBezTo>
                <a:lnTo>
                  <a:pt x="5124450" y="571498"/>
                </a:lnTo>
                <a:cubicBezTo>
                  <a:pt x="5124450" y="613583"/>
                  <a:pt x="5090333" y="647700"/>
                  <a:pt x="5048248" y="647700"/>
                </a:cubicBezTo>
                <a:lnTo>
                  <a:pt x="76202" y="647700"/>
                </a:lnTo>
                <a:cubicBezTo>
                  <a:pt x="34117" y="647700"/>
                  <a:pt x="0" y="613583"/>
                  <a:pt x="0" y="571498"/>
                </a:cubicBezTo>
                <a:lnTo>
                  <a:pt x="0" y="76202"/>
                </a:lnTo>
                <a:cubicBezTo>
                  <a:pt x="0" y="34117"/>
                  <a:pt x="34117" y="0"/>
                  <a:pt x="76202" y="0"/>
                </a:cubicBezTo>
                <a:close/>
              </a:path>
            </a:pathLst>
          </a:custGeom>
          <a:solidFill>
            <a:srgbClr val="191919"/>
          </a:solidFill>
          <a:ln/>
        </p:spPr>
      </p:sp>
      <p:sp>
        <p:nvSpPr>
          <p:cNvPr id="34" name="Shape 32"/>
          <p:cNvSpPr/>
          <p:nvPr/>
        </p:nvSpPr>
        <p:spPr>
          <a:xfrm>
            <a:off x="6560820" y="4293877"/>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35" name="Shape 33"/>
          <p:cNvSpPr/>
          <p:nvPr/>
        </p:nvSpPr>
        <p:spPr>
          <a:xfrm>
            <a:off x="6646545" y="4370077"/>
            <a:ext cx="133350" cy="152400"/>
          </a:xfrm>
          <a:custGeom>
            <a:avLst/>
            <a:gdLst/>
            <a:ahLst/>
            <a:cxnLst/>
            <a:rect l="l" t="t" r="r" b="b"/>
            <a:pathLst>
              <a:path w="133350" h="152400">
                <a:moveTo>
                  <a:pt x="19050" y="9525"/>
                </a:moveTo>
                <a:cubicBezTo>
                  <a:pt x="8543" y="9525"/>
                  <a:pt x="0" y="18068"/>
                  <a:pt x="0" y="28575"/>
                </a:cubicBezTo>
                <a:lnTo>
                  <a:pt x="0" y="77420"/>
                </a:lnTo>
                <a:cubicBezTo>
                  <a:pt x="5388" y="73640"/>
                  <a:pt x="11966" y="71438"/>
                  <a:pt x="19050" y="71438"/>
                </a:cubicBezTo>
                <a:lnTo>
                  <a:pt x="114300" y="71438"/>
                </a:lnTo>
                <a:cubicBezTo>
                  <a:pt x="121384" y="71438"/>
                  <a:pt x="127962" y="73640"/>
                  <a:pt x="133350" y="77420"/>
                </a:cubicBezTo>
                <a:lnTo>
                  <a:pt x="133350" y="28575"/>
                </a:lnTo>
                <a:cubicBezTo>
                  <a:pt x="133350" y="18068"/>
                  <a:pt x="124807" y="9525"/>
                  <a:pt x="114300" y="9525"/>
                </a:cubicBezTo>
                <a:lnTo>
                  <a:pt x="19050" y="9525"/>
                </a:lnTo>
                <a:close/>
                <a:moveTo>
                  <a:pt x="133350" y="104775"/>
                </a:moveTo>
                <a:cubicBezTo>
                  <a:pt x="133350" y="94268"/>
                  <a:pt x="124807" y="85725"/>
                  <a:pt x="114300" y="85725"/>
                </a:cubicBezTo>
                <a:lnTo>
                  <a:pt x="19050" y="85725"/>
                </a:lnTo>
                <a:cubicBezTo>
                  <a:pt x="8543" y="85725"/>
                  <a:pt x="0" y="94268"/>
                  <a:pt x="0" y="104775"/>
                </a:cubicBezTo>
                <a:lnTo>
                  <a:pt x="0" y="123825"/>
                </a:lnTo>
                <a:cubicBezTo>
                  <a:pt x="0" y="134332"/>
                  <a:pt x="8543" y="142875"/>
                  <a:pt x="19050" y="142875"/>
                </a:cubicBezTo>
                <a:lnTo>
                  <a:pt x="114300" y="142875"/>
                </a:lnTo>
                <a:cubicBezTo>
                  <a:pt x="124807" y="142875"/>
                  <a:pt x="133350" y="134332"/>
                  <a:pt x="133350" y="123825"/>
                </a:cubicBezTo>
                <a:lnTo>
                  <a:pt x="133350" y="104775"/>
                </a:lnTo>
                <a:close/>
                <a:moveTo>
                  <a:pt x="66675" y="114300"/>
                </a:moveTo>
                <a:cubicBezTo>
                  <a:pt x="66675" y="109043"/>
                  <a:pt x="70943" y="104775"/>
                  <a:pt x="76200" y="104775"/>
                </a:cubicBezTo>
                <a:cubicBezTo>
                  <a:pt x="81457" y="104775"/>
                  <a:pt x="85725" y="109043"/>
                  <a:pt x="85725" y="114300"/>
                </a:cubicBezTo>
                <a:cubicBezTo>
                  <a:pt x="85725" y="119557"/>
                  <a:pt x="81457" y="123825"/>
                  <a:pt x="76200" y="123825"/>
                </a:cubicBezTo>
                <a:cubicBezTo>
                  <a:pt x="70943" y="123825"/>
                  <a:pt x="66675" y="119557"/>
                  <a:pt x="66675" y="114300"/>
                </a:cubicBezTo>
                <a:close/>
                <a:moveTo>
                  <a:pt x="104775" y="104775"/>
                </a:moveTo>
                <a:cubicBezTo>
                  <a:pt x="110032" y="104775"/>
                  <a:pt x="114300" y="109043"/>
                  <a:pt x="114300" y="114300"/>
                </a:cubicBezTo>
                <a:cubicBezTo>
                  <a:pt x="114300" y="119557"/>
                  <a:pt x="110032" y="123825"/>
                  <a:pt x="104775" y="123825"/>
                </a:cubicBezTo>
                <a:cubicBezTo>
                  <a:pt x="99518" y="123825"/>
                  <a:pt x="95250" y="119557"/>
                  <a:pt x="95250" y="114300"/>
                </a:cubicBezTo>
                <a:cubicBezTo>
                  <a:pt x="95250" y="109043"/>
                  <a:pt x="99518" y="104775"/>
                  <a:pt x="104775" y="104775"/>
                </a:cubicBezTo>
                <a:close/>
              </a:path>
            </a:pathLst>
          </a:custGeom>
          <a:solidFill>
            <a:srgbClr val="6366F1"/>
          </a:solidFill>
          <a:ln/>
        </p:spPr>
      </p:sp>
      <p:sp>
        <p:nvSpPr>
          <p:cNvPr id="36" name="Text 34"/>
          <p:cNvSpPr/>
          <p:nvPr/>
        </p:nvSpPr>
        <p:spPr>
          <a:xfrm>
            <a:off x="6979920" y="4236727"/>
            <a:ext cx="45529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Storage (Slow)</a:t>
            </a:r>
            <a:endParaRPr lang="en-US" sz="1600" dirty="0"/>
          </a:p>
        </p:txBody>
      </p:sp>
      <p:sp>
        <p:nvSpPr>
          <p:cNvPr id="37" name="Text 35"/>
          <p:cNvSpPr/>
          <p:nvPr/>
        </p:nvSpPr>
        <p:spPr>
          <a:xfrm>
            <a:off x="6979920" y="4465327"/>
            <a:ext cx="4543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Permanent, large capacity</a:t>
            </a:r>
            <a:endParaRPr lang="en-US" sz="1600" dirty="0"/>
          </a:p>
        </p:txBody>
      </p:sp>
      <p:sp>
        <p:nvSpPr>
          <p:cNvPr id="38" name="Shape 36"/>
          <p:cNvSpPr/>
          <p:nvPr/>
        </p:nvSpPr>
        <p:spPr>
          <a:xfrm>
            <a:off x="6214110" y="5162546"/>
            <a:ext cx="5589270" cy="769620"/>
          </a:xfrm>
          <a:custGeom>
            <a:avLst/>
            <a:gdLst/>
            <a:ahLst/>
            <a:cxnLst/>
            <a:rect l="l" t="t" r="r" b="b"/>
            <a:pathLst>
              <a:path w="5589270" h="769620">
                <a:moveTo>
                  <a:pt x="76200" y="0"/>
                </a:moveTo>
                <a:lnTo>
                  <a:pt x="5513070" y="0"/>
                </a:lnTo>
                <a:cubicBezTo>
                  <a:pt x="5555154" y="0"/>
                  <a:pt x="5589270" y="34116"/>
                  <a:pt x="5589270" y="76200"/>
                </a:cubicBezTo>
                <a:lnTo>
                  <a:pt x="5589270" y="693420"/>
                </a:lnTo>
                <a:cubicBezTo>
                  <a:pt x="5589270" y="735504"/>
                  <a:pt x="5555154" y="769620"/>
                  <a:pt x="5513070" y="769620"/>
                </a:cubicBezTo>
                <a:lnTo>
                  <a:pt x="76200" y="769620"/>
                </a:lnTo>
                <a:cubicBezTo>
                  <a:pt x="34116" y="769620"/>
                  <a:pt x="0" y="735504"/>
                  <a:pt x="0" y="693420"/>
                </a:cubicBezTo>
                <a:lnTo>
                  <a:pt x="0" y="76200"/>
                </a:lnTo>
                <a:cubicBezTo>
                  <a:pt x="0" y="34144"/>
                  <a:pt x="34144" y="0"/>
                  <a:pt x="76200" y="0"/>
                </a:cubicBezTo>
                <a:close/>
              </a:path>
            </a:pathLst>
          </a:custGeom>
          <a:solidFill>
            <a:srgbClr val="6366F1">
              <a:alpha val="10196"/>
            </a:srgbClr>
          </a:solidFill>
          <a:ln w="10160">
            <a:solidFill>
              <a:srgbClr val="6366F1">
                <a:alpha val="30196"/>
              </a:srgbClr>
            </a:solidFill>
            <a:prstDash val="solid"/>
          </a:ln>
        </p:spPr>
      </p:sp>
      <p:sp>
        <p:nvSpPr>
          <p:cNvPr id="39" name="Text 37"/>
          <p:cNvSpPr/>
          <p:nvPr/>
        </p:nvSpPr>
        <p:spPr>
          <a:xfrm>
            <a:off x="6370320" y="5318764"/>
            <a:ext cx="535305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When you open multiple browser tabs, RAM stores the web pages so you can switch between them quickly!</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384810" y="384810"/>
            <a:ext cx="4427220" cy="4627245"/>
          </a:xfrm>
          <a:custGeom>
            <a:avLst/>
            <a:gdLst/>
            <a:ahLst/>
            <a:cxnLst/>
            <a:rect l="l" t="t" r="r" b="b"/>
            <a:pathLst>
              <a:path w="4427220" h="4627245">
                <a:moveTo>
                  <a:pt x="114311" y="0"/>
                </a:moveTo>
                <a:lnTo>
                  <a:pt x="4312909" y="0"/>
                </a:lnTo>
                <a:cubicBezTo>
                  <a:pt x="4376041" y="0"/>
                  <a:pt x="4427220" y="51179"/>
                  <a:pt x="4427220" y="114311"/>
                </a:cubicBezTo>
                <a:lnTo>
                  <a:pt x="4427220" y="4512934"/>
                </a:lnTo>
                <a:cubicBezTo>
                  <a:pt x="4427220" y="4576066"/>
                  <a:pt x="4376041" y="4627245"/>
                  <a:pt x="4312909" y="4627245"/>
                </a:cubicBezTo>
                <a:lnTo>
                  <a:pt x="114311" y="4627245"/>
                </a:lnTo>
                <a:cubicBezTo>
                  <a:pt x="51179" y="4627245"/>
                  <a:pt x="0" y="4576066"/>
                  <a:pt x="0" y="4512934"/>
                </a:cubicBezTo>
                <a:lnTo>
                  <a:pt x="0" y="114311"/>
                </a:lnTo>
                <a:cubicBezTo>
                  <a:pt x="0" y="51179"/>
                  <a:pt x="51179" y="0"/>
                  <a:pt x="114311" y="0"/>
                </a:cubicBezTo>
                <a:close/>
              </a:path>
            </a:pathLst>
          </a:custGeom>
          <a:solidFill>
            <a:srgbClr val="262626"/>
          </a:solidFill>
          <a:ln w="10160">
            <a:solidFill>
              <a:srgbClr val="333333"/>
            </a:solidFill>
            <a:prstDash val="solid"/>
          </a:ln>
        </p:spPr>
      </p:sp>
      <p:sp>
        <p:nvSpPr>
          <p:cNvPr id="3" name="Shape 1"/>
          <p:cNvSpPr/>
          <p:nvPr/>
        </p:nvSpPr>
        <p:spPr>
          <a:xfrm>
            <a:off x="2141220" y="1878341"/>
            <a:ext cx="914400" cy="914400"/>
          </a:xfrm>
          <a:custGeom>
            <a:avLst/>
            <a:gdLst/>
            <a:ahLst/>
            <a:cxnLst/>
            <a:rect l="l" t="t" r="r" b="b"/>
            <a:pathLst>
              <a:path w="914400" h="914400">
                <a:moveTo>
                  <a:pt x="228600" y="571500"/>
                </a:moveTo>
                <a:lnTo>
                  <a:pt x="43755" y="571500"/>
                </a:lnTo>
                <a:cubicBezTo>
                  <a:pt x="-714" y="571500"/>
                  <a:pt x="-28039" y="523101"/>
                  <a:pt x="-5179" y="484882"/>
                </a:cubicBezTo>
                <a:lnTo>
                  <a:pt x="89297" y="327362"/>
                </a:lnTo>
                <a:cubicBezTo>
                  <a:pt x="104835" y="301466"/>
                  <a:pt x="132695" y="285750"/>
                  <a:pt x="162877" y="285750"/>
                </a:cubicBezTo>
                <a:lnTo>
                  <a:pt x="332542" y="285750"/>
                </a:lnTo>
                <a:cubicBezTo>
                  <a:pt x="468451" y="55543"/>
                  <a:pt x="671155" y="43934"/>
                  <a:pt x="806708" y="63758"/>
                </a:cubicBezTo>
                <a:cubicBezTo>
                  <a:pt x="829568" y="67151"/>
                  <a:pt x="847427" y="85011"/>
                  <a:pt x="850642" y="107692"/>
                </a:cubicBezTo>
                <a:cubicBezTo>
                  <a:pt x="870466" y="243245"/>
                  <a:pt x="858857" y="445949"/>
                  <a:pt x="628650" y="581858"/>
                </a:cubicBezTo>
                <a:lnTo>
                  <a:pt x="628650" y="751523"/>
                </a:lnTo>
                <a:cubicBezTo>
                  <a:pt x="628650" y="781705"/>
                  <a:pt x="612934" y="809565"/>
                  <a:pt x="587038" y="825103"/>
                </a:cubicBezTo>
                <a:lnTo>
                  <a:pt x="429518" y="919579"/>
                </a:lnTo>
                <a:cubicBezTo>
                  <a:pt x="391478" y="942439"/>
                  <a:pt x="342900" y="914936"/>
                  <a:pt x="342900" y="870645"/>
                </a:cubicBezTo>
                <a:lnTo>
                  <a:pt x="342900" y="685800"/>
                </a:lnTo>
                <a:cubicBezTo>
                  <a:pt x="342900" y="622756"/>
                  <a:pt x="291644" y="571500"/>
                  <a:pt x="228600" y="571500"/>
                </a:cubicBezTo>
                <a:lnTo>
                  <a:pt x="228421" y="571500"/>
                </a:lnTo>
                <a:close/>
                <a:moveTo>
                  <a:pt x="714375" y="285750"/>
                </a:moveTo>
                <a:cubicBezTo>
                  <a:pt x="714375" y="238437"/>
                  <a:pt x="675963" y="200025"/>
                  <a:pt x="628650" y="200025"/>
                </a:cubicBezTo>
                <a:cubicBezTo>
                  <a:pt x="581337" y="200025"/>
                  <a:pt x="542925" y="238437"/>
                  <a:pt x="542925" y="285750"/>
                </a:cubicBezTo>
                <a:cubicBezTo>
                  <a:pt x="542925" y="333063"/>
                  <a:pt x="581337" y="371475"/>
                  <a:pt x="628650" y="371475"/>
                </a:cubicBezTo>
                <a:cubicBezTo>
                  <a:pt x="675963" y="371475"/>
                  <a:pt x="714375" y="333063"/>
                  <a:pt x="714375" y="285750"/>
                </a:cubicBezTo>
                <a:close/>
              </a:path>
            </a:pathLst>
          </a:custGeom>
          <a:solidFill>
            <a:srgbClr val="6366F1"/>
          </a:solidFill>
          <a:ln/>
        </p:spPr>
      </p:sp>
      <p:sp>
        <p:nvSpPr>
          <p:cNvPr id="4" name="Text 2"/>
          <p:cNvSpPr/>
          <p:nvPr/>
        </p:nvSpPr>
        <p:spPr>
          <a:xfrm>
            <a:off x="1911429" y="2945141"/>
            <a:ext cx="137160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Cache Memory</a:t>
            </a:r>
            <a:endParaRPr lang="en-US" sz="1600" dirty="0"/>
          </a:p>
        </p:txBody>
      </p:sp>
      <p:sp>
        <p:nvSpPr>
          <p:cNvPr id="5" name="Text 3"/>
          <p:cNvSpPr/>
          <p:nvPr/>
        </p:nvSpPr>
        <p:spPr>
          <a:xfrm>
            <a:off x="1920954" y="3288041"/>
            <a:ext cx="1352550"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Super-fast access</a:t>
            </a:r>
            <a:endParaRPr lang="en-US" sz="1600" dirty="0"/>
          </a:p>
        </p:txBody>
      </p:sp>
      <p:sp>
        <p:nvSpPr>
          <p:cNvPr id="6" name="Shape 4"/>
          <p:cNvSpPr/>
          <p:nvPr/>
        </p:nvSpPr>
        <p:spPr>
          <a:xfrm>
            <a:off x="384810" y="5170174"/>
            <a:ext cx="4427220" cy="1303020"/>
          </a:xfrm>
          <a:custGeom>
            <a:avLst/>
            <a:gdLst/>
            <a:ahLst/>
            <a:cxnLst/>
            <a:rect l="l" t="t" r="r" b="b"/>
            <a:pathLst>
              <a:path w="4427220" h="1303020">
                <a:moveTo>
                  <a:pt x="76201" y="0"/>
                </a:moveTo>
                <a:lnTo>
                  <a:pt x="4351019" y="0"/>
                </a:lnTo>
                <a:cubicBezTo>
                  <a:pt x="4393104" y="0"/>
                  <a:pt x="4427220" y="34116"/>
                  <a:pt x="4427220" y="76201"/>
                </a:cubicBezTo>
                <a:lnTo>
                  <a:pt x="4427220" y="1226819"/>
                </a:lnTo>
                <a:cubicBezTo>
                  <a:pt x="4427220" y="1268904"/>
                  <a:pt x="4393104" y="1303020"/>
                  <a:pt x="4351019" y="1303020"/>
                </a:cubicBezTo>
                <a:lnTo>
                  <a:pt x="76201" y="1303020"/>
                </a:lnTo>
                <a:cubicBezTo>
                  <a:pt x="34116" y="1303020"/>
                  <a:pt x="0" y="1268904"/>
                  <a:pt x="0" y="1226819"/>
                </a:cubicBezTo>
                <a:lnTo>
                  <a:pt x="0" y="76201"/>
                </a:lnTo>
                <a:cubicBezTo>
                  <a:pt x="0" y="34144"/>
                  <a:pt x="34144" y="0"/>
                  <a:pt x="76201" y="0"/>
                </a:cubicBezTo>
                <a:close/>
              </a:path>
            </a:pathLst>
          </a:custGeom>
          <a:solidFill>
            <a:srgbClr val="6366F1">
              <a:alpha val="10196"/>
            </a:srgbClr>
          </a:solidFill>
          <a:ln w="10160">
            <a:solidFill>
              <a:srgbClr val="6366F1">
                <a:alpha val="30196"/>
              </a:srgbClr>
            </a:solidFill>
            <a:prstDash val="solid"/>
          </a:ln>
        </p:spPr>
      </p:sp>
      <p:sp>
        <p:nvSpPr>
          <p:cNvPr id="7" name="Text 5"/>
          <p:cNvSpPr/>
          <p:nvPr/>
        </p:nvSpPr>
        <p:spPr>
          <a:xfrm>
            <a:off x="541020" y="5326391"/>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8" name="Text 6"/>
          <p:cNvSpPr/>
          <p:nvPr/>
        </p:nvSpPr>
        <p:spPr>
          <a:xfrm>
            <a:off x="541020" y="5631191"/>
            <a:ext cx="41910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Cache memory is like keeping your most-used tools on your desk instead of in a toolbox. The CPU can grab frequently used data instantly without searching through slower RAM.</a:t>
            </a:r>
            <a:endParaRPr lang="en-US" sz="1600" dirty="0"/>
          </a:p>
        </p:txBody>
      </p:sp>
      <p:sp>
        <p:nvSpPr>
          <p:cNvPr id="9" name="Text 7"/>
          <p:cNvSpPr/>
          <p:nvPr/>
        </p:nvSpPr>
        <p:spPr>
          <a:xfrm>
            <a:off x="504444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4.4</a:t>
            </a:r>
            <a:endParaRPr lang="en-US" sz="1600" dirty="0"/>
          </a:p>
        </p:txBody>
      </p:sp>
      <p:sp>
        <p:nvSpPr>
          <p:cNvPr id="10" name="Text 8"/>
          <p:cNvSpPr/>
          <p:nvPr/>
        </p:nvSpPr>
        <p:spPr>
          <a:xfrm>
            <a:off x="504444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Cache Memory</a:t>
            </a:r>
            <a:endParaRPr lang="en-US" sz="1600" dirty="0"/>
          </a:p>
        </p:txBody>
      </p:sp>
      <p:sp>
        <p:nvSpPr>
          <p:cNvPr id="11" name="Shape 9"/>
          <p:cNvSpPr/>
          <p:nvPr/>
        </p:nvSpPr>
        <p:spPr>
          <a:xfrm>
            <a:off x="504444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2" name="Shape 10"/>
          <p:cNvSpPr/>
          <p:nvPr/>
        </p:nvSpPr>
        <p:spPr>
          <a:xfrm>
            <a:off x="5132547" y="145732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6675" y="45839"/>
                </a:moveTo>
                <a:cubicBezTo>
                  <a:pt x="62065" y="45839"/>
                  <a:pt x="58341" y="49563"/>
                  <a:pt x="58341" y="54173"/>
                </a:cubicBezTo>
                <a:cubicBezTo>
                  <a:pt x="58341" y="57637"/>
                  <a:pt x="55554" y="60424"/>
                  <a:pt x="52090" y="60424"/>
                </a:cubicBezTo>
                <a:cubicBezTo>
                  <a:pt x="48626" y="60424"/>
                  <a:pt x="45839" y="57637"/>
                  <a:pt x="45839" y="54173"/>
                </a:cubicBezTo>
                <a:cubicBezTo>
                  <a:pt x="45839" y="42662"/>
                  <a:pt x="55163" y="33337"/>
                  <a:pt x="66675" y="33337"/>
                </a:cubicBezTo>
                <a:cubicBezTo>
                  <a:pt x="78187" y="33337"/>
                  <a:pt x="87511" y="42662"/>
                  <a:pt x="87511" y="54173"/>
                </a:cubicBezTo>
                <a:cubicBezTo>
                  <a:pt x="87511" y="66467"/>
                  <a:pt x="78135" y="71676"/>
                  <a:pt x="72926" y="73577"/>
                </a:cubicBezTo>
                <a:lnTo>
                  <a:pt x="72926" y="74567"/>
                </a:lnTo>
                <a:cubicBezTo>
                  <a:pt x="72926" y="78031"/>
                  <a:pt x="70139" y="80817"/>
                  <a:pt x="66675" y="80817"/>
                </a:cubicBezTo>
                <a:cubicBezTo>
                  <a:pt x="63211" y="80817"/>
                  <a:pt x="60424" y="78031"/>
                  <a:pt x="60424" y="74567"/>
                </a:cubicBezTo>
                <a:lnTo>
                  <a:pt x="60424" y="72457"/>
                </a:lnTo>
                <a:cubicBezTo>
                  <a:pt x="60424" y="67118"/>
                  <a:pt x="64279" y="63289"/>
                  <a:pt x="68264" y="61987"/>
                </a:cubicBezTo>
                <a:cubicBezTo>
                  <a:pt x="69931" y="61440"/>
                  <a:pt x="71702" y="60554"/>
                  <a:pt x="73004" y="59304"/>
                </a:cubicBezTo>
                <a:cubicBezTo>
                  <a:pt x="74124" y="58210"/>
                  <a:pt x="75009" y="56700"/>
                  <a:pt x="75009" y="54199"/>
                </a:cubicBezTo>
                <a:cubicBezTo>
                  <a:pt x="75009" y="49590"/>
                  <a:pt x="71285" y="45865"/>
                  <a:pt x="66675" y="45865"/>
                </a:cubicBezTo>
                <a:close/>
                <a:moveTo>
                  <a:pt x="58341" y="95845"/>
                </a:moveTo>
                <a:cubicBezTo>
                  <a:pt x="58341" y="91245"/>
                  <a:pt x="62075" y="87511"/>
                  <a:pt x="66675" y="87511"/>
                </a:cubicBezTo>
                <a:cubicBezTo>
                  <a:pt x="71275" y="87511"/>
                  <a:pt x="75009" y="91245"/>
                  <a:pt x="75009" y="95845"/>
                </a:cubicBezTo>
                <a:cubicBezTo>
                  <a:pt x="75009" y="100445"/>
                  <a:pt x="71275" y="104180"/>
                  <a:pt x="66675" y="104180"/>
                </a:cubicBezTo>
                <a:cubicBezTo>
                  <a:pt x="62075" y="104180"/>
                  <a:pt x="58341" y="100445"/>
                  <a:pt x="58341" y="95845"/>
                </a:cubicBezTo>
                <a:close/>
              </a:path>
            </a:pathLst>
          </a:custGeom>
          <a:solidFill>
            <a:srgbClr val="6366F1"/>
          </a:solidFill>
          <a:ln/>
        </p:spPr>
      </p:sp>
      <p:sp>
        <p:nvSpPr>
          <p:cNvPr id="13" name="Text 11"/>
          <p:cNvSpPr/>
          <p:nvPr/>
        </p:nvSpPr>
        <p:spPr>
          <a:xfrm>
            <a:off x="5463540" y="13335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What is Cache Memory?</a:t>
            </a:r>
            <a:endParaRPr lang="en-US" sz="1600" dirty="0"/>
          </a:p>
        </p:txBody>
      </p:sp>
      <p:sp>
        <p:nvSpPr>
          <p:cNvPr id="14" name="Text 12"/>
          <p:cNvSpPr/>
          <p:nvPr/>
        </p:nvSpPr>
        <p:spPr>
          <a:xfrm>
            <a:off x="5463540" y="16002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Super-fast memory located very close to the CPU that stores frequently used data and instructions</a:t>
            </a:r>
            <a:endParaRPr lang="en-US" sz="1600" dirty="0"/>
          </a:p>
        </p:txBody>
      </p:sp>
      <p:sp>
        <p:nvSpPr>
          <p:cNvPr id="15" name="Shape 13"/>
          <p:cNvSpPr/>
          <p:nvPr/>
        </p:nvSpPr>
        <p:spPr>
          <a:xfrm>
            <a:off x="5044440" y="2209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6" name="Shape 14"/>
          <p:cNvSpPr/>
          <p:nvPr/>
        </p:nvSpPr>
        <p:spPr>
          <a:xfrm>
            <a:off x="5132547" y="2295525"/>
            <a:ext cx="133350" cy="133350"/>
          </a:xfrm>
          <a:custGeom>
            <a:avLst/>
            <a:gdLst/>
            <a:ahLst/>
            <a:cxnLst/>
            <a:rect l="l" t="t" r="r" b="b"/>
            <a:pathLst>
              <a:path w="133350" h="133350">
                <a:moveTo>
                  <a:pt x="0" y="66675"/>
                </a:moveTo>
                <a:cubicBezTo>
                  <a:pt x="0" y="29876"/>
                  <a:pt x="29876" y="0"/>
                  <a:pt x="66675" y="0"/>
                </a:cubicBezTo>
                <a:cubicBezTo>
                  <a:pt x="103474" y="0"/>
                  <a:pt x="133350" y="29876"/>
                  <a:pt x="133350" y="66675"/>
                </a:cubicBezTo>
                <a:cubicBezTo>
                  <a:pt x="133350" y="103474"/>
                  <a:pt x="103474" y="133350"/>
                  <a:pt x="66675" y="133350"/>
                </a:cubicBezTo>
                <a:cubicBezTo>
                  <a:pt x="29876" y="133350"/>
                  <a:pt x="0" y="103474"/>
                  <a:pt x="0" y="66675"/>
                </a:cubicBezTo>
                <a:close/>
                <a:moveTo>
                  <a:pt x="75009" y="25003"/>
                </a:moveTo>
                <a:cubicBezTo>
                  <a:pt x="75009" y="20403"/>
                  <a:pt x="71275" y="16669"/>
                  <a:pt x="66675" y="16669"/>
                </a:cubicBezTo>
                <a:cubicBezTo>
                  <a:pt x="62075" y="16669"/>
                  <a:pt x="58341" y="20403"/>
                  <a:pt x="58341" y="25003"/>
                </a:cubicBezTo>
                <a:cubicBezTo>
                  <a:pt x="58341" y="29603"/>
                  <a:pt x="62075" y="33337"/>
                  <a:pt x="66675" y="33337"/>
                </a:cubicBezTo>
                <a:cubicBezTo>
                  <a:pt x="71275" y="33337"/>
                  <a:pt x="75009" y="29603"/>
                  <a:pt x="75009" y="25003"/>
                </a:cubicBezTo>
                <a:close/>
                <a:moveTo>
                  <a:pt x="66675" y="108347"/>
                </a:moveTo>
                <a:cubicBezTo>
                  <a:pt x="75869" y="108347"/>
                  <a:pt x="83344" y="100872"/>
                  <a:pt x="83344" y="91678"/>
                </a:cubicBezTo>
                <a:cubicBezTo>
                  <a:pt x="83344" y="87459"/>
                  <a:pt x="81781" y="83578"/>
                  <a:pt x="79177" y="80661"/>
                </a:cubicBezTo>
                <a:lnTo>
                  <a:pt x="97278" y="44485"/>
                </a:lnTo>
                <a:cubicBezTo>
                  <a:pt x="98814" y="41385"/>
                  <a:pt x="97564" y="37635"/>
                  <a:pt x="94491" y="36098"/>
                </a:cubicBezTo>
                <a:cubicBezTo>
                  <a:pt x="91418" y="34562"/>
                  <a:pt x="87641" y="35812"/>
                  <a:pt x="86105" y="38885"/>
                </a:cubicBezTo>
                <a:lnTo>
                  <a:pt x="68003" y="75061"/>
                </a:lnTo>
                <a:cubicBezTo>
                  <a:pt x="67561" y="75035"/>
                  <a:pt x="67118" y="75009"/>
                  <a:pt x="66675" y="75009"/>
                </a:cubicBezTo>
                <a:cubicBezTo>
                  <a:pt x="57481" y="75009"/>
                  <a:pt x="50006" y="82484"/>
                  <a:pt x="50006" y="91678"/>
                </a:cubicBezTo>
                <a:cubicBezTo>
                  <a:pt x="50006" y="100872"/>
                  <a:pt x="57481" y="108347"/>
                  <a:pt x="66675" y="108347"/>
                </a:cubicBezTo>
                <a:close/>
                <a:moveTo>
                  <a:pt x="45839" y="37505"/>
                </a:moveTo>
                <a:cubicBezTo>
                  <a:pt x="45839" y="32905"/>
                  <a:pt x="42105" y="29170"/>
                  <a:pt x="37505" y="29170"/>
                </a:cubicBezTo>
                <a:cubicBezTo>
                  <a:pt x="32905" y="29170"/>
                  <a:pt x="29170" y="32905"/>
                  <a:pt x="29170" y="37505"/>
                </a:cubicBezTo>
                <a:cubicBezTo>
                  <a:pt x="29170" y="42105"/>
                  <a:pt x="32905" y="45839"/>
                  <a:pt x="37505" y="45839"/>
                </a:cubicBezTo>
                <a:cubicBezTo>
                  <a:pt x="42105" y="45839"/>
                  <a:pt x="45839" y="42105"/>
                  <a:pt x="45839" y="37505"/>
                </a:cubicBezTo>
                <a:close/>
                <a:moveTo>
                  <a:pt x="25003" y="75009"/>
                </a:moveTo>
                <a:cubicBezTo>
                  <a:pt x="29603" y="75009"/>
                  <a:pt x="33337" y="71275"/>
                  <a:pt x="33337" y="66675"/>
                </a:cubicBezTo>
                <a:cubicBezTo>
                  <a:pt x="33337" y="62075"/>
                  <a:pt x="29603" y="58341"/>
                  <a:pt x="25003" y="58341"/>
                </a:cubicBezTo>
                <a:cubicBezTo>
                  <a:pt x="20403" y="58341"/>
                  <a:pt x="16669" y="62075"/>
                  <a:pt x="16669" y="66675"/>
                </a:cubicBezTo>
                <a:cubicBezTo>
                  <a:pt x="16669" y="71275"/>
                  <a:pt x="20403" y="75009"/>
                  <a:pt x="25003" y="75009"/>
                </a:cubicBezTo>
                <a:close/>
                <a:moveTo>
                  <a:pt x="116681" y="66675"/>
                </a:moveTo>
                <a:cubicBezTo>
                  <a:pt x="116681" y="62075"/>
                  <a:pt x="112947" y="58341"/>
                  <a:pt x="108347" y="58341"/>
                </a:cubicBezTo>
                <a:cubicBezTo>
                  <a:pt x="103747" y="58341"/>
                  <a:pt x="100013" y="62075"/>
                  <a:pt x="100013" y="66675"/>
                </a:cubicBezTo>
                <a:cubicBezTo>
                  <a:pt x="100013" y="71275"/>
                  <a:pt x="103747" y="75009"/>
                  <a:pt x="108347" y="75009"/>
                </a:cubicBezTo>
                <a:cubicBezTo>
                  <a:pt x="112947" y="75009"/>
                  <a:pt x="116681" y="71275"/>
                  <a:pt x="116681" y="66675"/>
                </a:cubicBezTo>
                <a:close/>
              </a:path>
            </a:pathLst>
          </a:custGeom>
          <a:solidFill>
            <a:srgbClr val="6366F1"/>
          </a:solidFill>
          <a:ln/>
        </p:spPr>
      </p:sp>
      <p:sp>
        <p:nvSpPr>
          <p:cNvPr id="17" name="Text 15"/>
          <p:cNvSpPr/>
          <p:nvPr/>
        </p:nvSpPr>
        <p:spPr>
          <a:xfrm>
            <a:off x="5463540" y="2171700"/>
            <a:ext cx="61817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Why is it Fast?</a:t>
            </a:r>
            <a:endParaRPr lang="en-US" sz="1600" dirty="0"/>
          </a:p>
        </p:txBody>
      </p:sp>
      <p:sp>
        <p:nvSpPr>
          <p:cNvPr id="18" name="Text 16"/>
          <p:cNvSpPr/>
          <p:nvPr/>
        </p:nvSpPr>
        <p:spPr>
          <a:xfrm>
            <a:off x="5463540" y="2438400"/>
            <a:ext cx="6181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Cache is built directly into or very near the CPU chip, so data travels a much shorter distance</a:t>
            </a:r>
            <a:endParaRPr lang="en-US" sz="1600" dirty="0"/>
          </a:p>
        </p:txBody>
      </p:sp>
      <p:sp>
        <p:nvSpPr>
          <p:cNvPr id="19" name="Shape 17"/>
          <p:cNvSpPr/>
          <p:nvPr/>
        </p:nvSpPr>
        <p:spPr>
          <a:xfrm>
            <a:off x="5044440" y="28194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0" name="Shape 18"/>
          <p:cNvSpPr/>
          <p:nvPr/>
        </p:nvSpPr>
        <p:spPr>
          <a:xfrm>
            <a:off x="5132547" y="2905125"/>
            <a:ext cx="133350" cy="133350"/>
          </a:xfrm>
          <a:custGeom>
            <a:avLst/>
            <a:gdLst/>
            <a:ahLst/>
            <a:cxnLst/>
            <a:rect l="l" t="t" r="r" b="b"/>
            <a:pathLst>
              <a:path w="133350" h="133350">
                <a:moveTo>
                  <a:pt x="60554" y="1354"/>
                </a:moveTo>
                <a:cubicBezTo>
                  <a:pt x="64435" y="-443"/>
                  <a:pt x="68915" y="-443"/>
                  <a:pt x="72796" y="1354"/>
                </a:cubicBezTo>
                <a:lnTo>
                  <a:pt x="129730" y="27660"/>
                </a:lnTo>
                <a:cubicBezTo>
                  <a:pt x="131944" y="28675"/>
                  <a:pt x="133350" y="30889"/>
                  <a:pt x="133350" y="33337"/>
                </a:cubicBezTo>
                <a:cubicBezTo>
                  <a:pt x="133350" y="35786"/>
                  <a:pt x="131944" y="38000"/>
                  <a:pt x="129730" y="39015"/>
                </a:cubicBezTo>
                <a:lnTo>
                  <a:pt x="72796" y="65321"/>
                </a:lnTo>
                <a:cubicBezTo>
                  <a:pt x="68915" y="67118"/>
                  <a:pt x="64435" y="67118"/>
                  <a:pt x="60554" y="65321"/>
                </a:cubicBezTo>
                <a:lnTo>
                  <a:pt x="3620" y="39015"/>
                </a:lnTo>
                <a:cubicBezTo>
                  <a:pt x="1406" y="37973"/>
                  <a:pt x="0" y="35760"/>
                  <a:pt x="0" y="33337"/>
                </a:cubicBezTo>
                <a:cubicBezTo>
                  <a:pt x="0" y="30915"/>
                  <a:pt x="1406" y="28675"/>
                  <a:pt x="3620" y="27660"/>
                </a:cubicBezTo>
                <a:lnTo>
                  <a:pt x="60554" y="1354"/>
                </a:lnTo>
                <a:close/>
                <a:moveTo>
                  <a:pt x="12528" y="56882"/>
                </a:moveTo>
                <a:lnTo>
                  <a:pt x="55319" y="76650"/>
                </a:lnTo>
                <a:cubicBezTo>
                  <a:pt x="62534" y="79984"/>
                  <a:pt x="70842" y="79984"/>
                  <a:pt x="78057" y="76650"/>
                </a:cubicBezTo>
                <a:lnTo>
                  <a:pt x="120848" y="56882"/>
                </a:lnTo>
                <a:lnTo>
                  <a:pt x="129730" y="60997"/>
                </a:lnTo>
                <a:cubicBezTo>
                  <a:pt x="131944" y="62013"/>
                  <a:pt x="133350" y="64227"/>
                  <a:pt x="133350" y="66675"/>
                </a:cubicBezTo>
                <a:cubicBezTo>
                  <a:pt x="133350" y="69123"/>
                  <a:pt x="131944" y="71337"/>
                  <a:pt x="129730" y="72353"/>
                </a:cubicBezTo>
                <a:lnTo>
                  <a:pt x="72796" y="98658"/>
                </a:lnTo>
                <a:cubicBezTo>
                  <a:pt x="68915" y="100455"/>
                  <a:pt x="64435" y="100455"/>
                  <a:pt x="60554" y="98658"/>
                </a:cubicBezTo>
                <a:lnTo>
                  <a:pt x="3620" y="72353"/>
                </a:lnTo>
                <a:cubicBezTo>
                  <a:pt x="1406" y="71311"/>
                  <a:pt x="0" y="69097"/>
                  <a:pt x="0" y="66675"/>
                </a:cubicBezTo>
                <a:cubicBezTo>
                  <a:pt x="0" y="64253"/>
                  <a:pt x="1406" y="62013"/>
                  <a:pt x="3620" y="60997"/>
                </a:cubicBezTo>
                <a:lnTo>
                  <a:pt x="12502" y="56882"/>
                </a:lnTo>
                <a:close/>
                <a:moveTo>
                  <a:pt x="3620" y="94335"/>
                </a:moveTo>
                <a:lnTo>
                  <a:pt x="12502" y="90220"/>
                </a:lnTo>
                <a:lnTo>
                  <a:pt x="55293" y="109988"/>
                </a:lnTo>
                <a:cubicBezTo>
                  <a:pt x="62508" y="113321"/>
                  <a:pt x="70816" y="113321"/>
                  <a:pt x="78031" y="109988"/>
                </a:cubicBezTo>
                <a:lnTo>
                  <a:pt x="120822" y="90220"/>
                </a:lnTo>
                <a:lnTo>
                  <a:pt x="129704" y="94335"/>
                </a:lnTo>
                <a:cubicBezTo>
                  <a:pt x="131918" y="95350"/>
                  <a:pt x="133324" y="97564"/>
                  <a:pt x="133324" y="100013"/>
                </a:cubicBezTo>
                <a:cubicBezTo>
                  <a:pt x="133324" y="102461"/>
                  <a:pt x="131918" y="104675"/>
                  <a:pt x="129704" y="105690"/>
                </a:cubicBezTo>
                <a:lnTo>
                  <a:pt x="72770" y="131996"/>
                </a:lnTo>
                <a:cubicBezTo>
                  <a:pt x="68889" y="133793"/>
                  <a:pt x="64409" y="133793"/>
                  <a:pt x="60528" y="131996"/>
                </a:cubicBezTo>
                <a:lnTo>
                  <a:pt x="3620" y="105690"/>
                </a:lnTo>
                <a:cubicBezTo>
                  <a:pt x="1406" y="104648"/>
                  <a:pt x="0" y="102435"/>
                  <a:pt x="0" y="100013"/>
                </a:cubicBezTo>
                <a:cubicBezTo>
                  <a:pt x="0" y="97590"/>
                  <a:pt x="1406" y="95350"/>
                  <a:pt x="3620" y="94335"/>
                </a:cubicBezTo>
                <a:close/>
              </a:path>
            </a:pathLst>
          </a:custGeom>
          <a:solidFill>
            <a:srgbClr val="6366F1"/>
          </a:solidFill>
          <a:ln/>
        </p:spPr>
      </p:sp>
      <p:sp>
        <p:nvSpPr>
          <p:cNvPr id="21" name="Text 19"/>
          <p:cNvSpPr/>
          <p:nvPr/>
        </p:nvSpPr>
        <p:spPr>
          <a:xfrm>
            <a:off x="5463540" y="27813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Cache Levels</a:t>
            </a:r>
            <a:endParaRPr lang="en-US" sz="1600" dirty="0"/>
          </a:p>
        </p:txBody>
      </p:sp>
      <p:sp>
        <p:nvSpPr>
          <p:cNvPr id="22" name="Text 20"/>
          <p:cNvSpPr/>
          <p:nvPr/>
        </p:nvSpPr>
        <p:spPr>
          <a:xfrm>
            <a:off x="5463540" y="30480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L1 (fastest, smallest), L2 (medium), L3 (larger, shared). Like having small, medium, and large notebooks</a:t>
            </a:r>
            <a:endParaRPr lang="en-US" sz="1600" dirty="0"/>
          </a:p>
        </p:txBody>
      </p:sp>
      <p:sp>
        <p:nvSpPr>
          <p:cNvPr id="23" name="Shape 21"/>
          <p:cNvSpPr/>
          <p:nvPr/>
        </p:nvSpPr>
        <p:spPr>
          <a:xfrm>
            <a:off x="5044440" y="3657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4" name="Shape 22"/>
          <p:cNvSpPr/>
          <p:nvPr/>
        </p:nvSpPr>
        <p:spPr>
          <a:xfrm>
            <a:off x="5132547" y="3743325"/>
            <a:ext cx="133350" cy="133350"/>
          </a:xfrm>
          <a:custGeom>
            <a:avLst/>
            <a:gdLst/>
            <a:ahLst/>
            <a:cxnLst/>
            <a:rect l="l" t="t" r="r" b="b"/>
            <a:pathLst>
              <a:path w="133350" h="133350">
                <a:moveTo>
                  <a:pt x="16669" y="16669"/>
                </a:moveTo>
                <a:cubicBezTo>
                  <a:pt x="16669" y="12059"/>
                  <a:pt x="12944" y="8334"/>
                  <a:pt x="8334" y="8334"/>
                </a:cubicBezTo>
                <a:cubicBezTo>
                  <a:pt x="3724" y="8334"/>
                  <a:pt x="0" y="12059"/>
                  <a:pt x="0" y="16669"/>
                </a:cubicBezTo>
                <a:lnTo>
                  <a:pt x="0" y="104180"/>
                </a:lnTo>
                <a:cubicBezTo>
                  <a:pt x="0" y="115692"/>
                  <a:pt x="9324" y="125016"/>
                  <a:pt x="20836" y="125016"/>
                </a:cubicBezTo>
                <a:lnTo>
                  <a:pt x="125016" y="125016"/>
                </a:lnTo>
                <a:cubicBezTo>
                  <a:pt x="129626" y="125016"/>
                  <a:pt x="133350" y="121291"/>
                  <a:pt x="133350" y="116681"/>
                </a:cubicBezTo>
                <a:cubicBezTo>
                  <a:pt x="133350" y="112071"/>
                  <a:pt x="129626" y="108347"/>
                  <a:pt x="125016" y="108347"/>
                </a:cubicBezTo>
                <a:lnTo>
                  <a:pt x="20836" y="108347"/>
                </a:lnTo>
                <a:cubicBezTo>
                  <a:pt x="18544" y="108347"/>
                  <a:pt x="16669" y="106472"/>
                  <a:pt x="16669" y="104180"/>
                </a:cubicBezTo>
                <a:lnTo>
                  <a:pt x="16669" y="16669"/>
                </a:lnTo>
                <a:close/>
                <a:moveTo>
                  <a:pt x="122567" y="39224"/>
                </a:moveTo>
                <a:cubicBezTo>
                  <a:pt x="125823" y="35968"/>
                  <a:pt x="125823" y="30681"/>
                  <a:pt x="122567" y="27425"/>
                </a:cubicBezTo>
                <a:cubicBezTo>
                  <a:pt x="119312" y="24170"/>
                  <a:pt x="114025" y="24170"/>
                  <a:pt x="110769" y="27425"/>
                </a:cubicBezTo>
                <a:lnTo>
                  <a:pt x="83344" y="54877"/>
                </a:lnTo>
                <a:lnTo>
                  <a:pt x="68394" y="39953"/>
                </a:lnTo>
                <a:cubicBezTo>
                  <a:pt x="65138" y="36697"/>
                  <a:pt x="59851" y="36697"/>
                  <a:pt x="56596" y="39953"/>
                </a:cubicBezTo>
                <a:lnTo>
                  <a:pt x="31592" y="64956"/>
                </a:lnTo>
                <a:cubicBezTo>
                  <a:pt x="28337" y="68212"/>
                  <a:pt x="28337" y="73499"/>
                  <a:pt x="31592" y="76754"/>
                </a:cubicBezTo>
                <a:cubicBezTo>
                  <a:pt x="34848" y="80010"/>
                  <a:pt x="40135" y="80010"/>
                  <a:pt x="43391" y="76754"/>
                </a:cubicBezTo>
                <a:lnTo>
                  <a:pt x="62508" y="57637"/>
                </a:lnTo>
                <a:lnTo>
                  <a:pt x="77458" y="72587"/>
                </a:lnTo>
                <a:cubicBezTo>
                  <a:pt x="80713" y="75843"/>
                  <a:pt x="86000" y="75843"/>
                  <a:pt x="89256" y="72587"/>
                </a:cubicBezTo>
                <a:lnTo>
                  <a:pt x="122593" y="39250"/>
                </a:lnTo>
                <a:close/>
              </a:path>
            </a:pathLst>
          </a:custGeom>
          <a:solidFill>
            <a:srgbClr val="6366F1"/>
          </a:solidFill>
          <a:ln/>
        </p:spPr>
      </p:sp>
      <p:sp>
        <p:nvSpPr>
          <p:cNvPr id="25" name="Text 23"/>
          <p:cNvSpPr/>
          <p:nvPr/>
        </p:nvSpPr>
        <p:spPr>
          <a:xfrm>
            <a:off x="5463540" y="3619500"/>
            <a:ext cx="57816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Performance Boost</a:t>
            </a:r>
            <a:endParaRPr lang="en-US" sz="1600" dirty="0"/>
          </a:p>
        </p:txBody>
      </p:sp>
      <p:sp>
        <p:nvSpPr>
          <p:cNvPr id="26" name="Text 24"/>
          <p:cNvSpPr/>
          <p:nvPr/>
        </p:nvSpPr>
        <p:spPr>
          <a:xfrm>
            <a:off x="5463540" y="3886200"/>
            <a:ext cx="57816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Reduces the time CPU waits for data, making programs run faster and more efficiently</a:t>
            </a:r>
            <a:endParaRPr lang="en-US" sz="1600" dirty="0"/>
          </a:p>
        </p:txBody>
      </p:sp>
      <p:sp>
        <p:nvSpPr>
          <p:cNvPr id="27" name="Shape 25"/>
          <p:cNvSpPr/>
          <p:nvPr/>
        </p:nvSpPr>
        <p:spPr>
          <a:xfrm>
            <a:off x="5044440" y="42672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8" name="Shape 26"/>
          <p:cNvSpPr/>
          <p:nvPr/>
        </p:nvSpPr>
        <p:spPr>
          <a:xfrm>
            <a:off x="5157550" y="4352925"/>
            <a:ext cx="83344" cy="133350"/>
          </a:xfrm>
          <a:custGeom>
            <a:avLst/>
            <a:gdLst/>
            <a:ahLst/>
            <a:cxnLst/>
            <a:rect l="l" t="t" r="r" b="b"/>
            <a:pathLst>
              <a:path w="83344" h="133350">
                <a:moveTo>
                  <a:pt x="35421" y="6251"/>
                </a:moveTo>
                <a:cubicBezTo>
                  <a:pt x="35421" y="2787"/>
                  <a:pt x="38208" y="0"/>
                  <a:pt x="41672" y="0"/>
                </a:cubicBezTo>
                <a:cubicBezTo>
                  <a:pt x="45136" y="0"/>
                  <a:pt x="47923" y="2787"/>
                  <a:pt x="47923" y="6251"/>
                </a:cubicBezTo>
                <a:lnTo>
                  <a:pt x="47923" y="16669"/>
                </a:lnTo>
                <a:lnTo>
                  <a:pt x="62508" y="16669"/>
                </a:lnTo>
                <a:cubicBezTo>
                  <a:pt x="67118" y="16669"/>
                  <a:pt x="70842" y="20393"/>
                  <a:pt x="70842" y="25003"/>
                </a:cubicBezTo>
                <a:cubicBezTo>
                  <a:pt x="70842" y="29613"/>
                  <a:pt x="67118" y="33337"/>
                  <a:pt x="62508" y="33337"/>
                </a:cubicBezTo>
                <a:lnTo>
                  <a:pt x="32582" y="33337"/>
                </a:lnTo>
                <a:cubicBezTo>
                  <a:pt x="26097" y="33337"/>
                  <a:pt x="20836" y="38599"/>
                  <a:pt x="20836" y="45084"/>
                </a:cubicBezTo>
                <a:cubicBezTo>
                  <a:pt x="20836" y="50944"/>
                  <a:pt x="25133" y="55892"/>
                  <a:pt x="30915" y="56726"/>
                </a:cubicBezTo>
                <a:lnTo>
                  <a:pt x="54772" y="60138"/>
                </a:lnTo>
                <a:cubicBezTo>
                  <a:pt x="68785" y="62143"/>
                  <a:pt x="79177" y="74124"/>
                  <a:pt x="79177" y="88266"/>
                </a:cubicBezTo>
                <a:cubicBezTo>
                  <a:pt x="79177" y="103971"/>
                  <a:pt x="66441" y="116681"/>
                  <a:pt x="50762" y="116681"/>
                </a:cubicBezTo>
                <a:lnTo>
                  <a:pt x="47923" y="116681"/>
                </a:lnTo>
                <a:lnTo>
                  <a:pt x="47923" y="127099"/>
                </a:lnTo>
                <a:cubicBezTo>
                  <a:pt x="47923" y="130563"/>
                  <a:pt x="45136" y="133350"/>
                  <a:pt x="41672" y="133350"/>
                </a:cubicBezTo>
                <a:cubicBezTo>
                  <a:pt x="38208" y="133350"/>
                  <a:pt x="35421" y="130563"/>
                  <a:pt x="35421" y="127099"/>
                </a:cubicBezTo>
                <a:lnTo>
                  <a:pt x="35421" y="116681"/>
                </a:lnTo>
                <a:lnTo>
                  <a:pt x="16669" y="116681"/>
                </a:lnTo>
                <a:cubicBezTo>
                  <a:pt x="12059" y="116681"/>
                  <a:pt x="8334" y="112957"/>
                  <a:pt x="8334" y="108347"/>
                </a:cubicBezTo>
                <a:cubicBezTo>
                  <a:pt x="8334" y="103737"/>
                  <a:pt x="12059" y="100013"/>
                  <a:pt x="16669" y="100013"/>
                </a:cubicBezTo>
                <a:lnTo>
                  <a:pt x="50762" y="100013"/>
                </a:lnTo>
                <a:cubicBezTo>
                  <a:pt x="57247" y="100013"/>
                  <a:pt x="62508" y="94751"/>
                  <a:pt x="62508" y="88266"/>
                </a:cubicBezTo>
                <a:cubicBezTo>
                  <a:pt x="62508" y="82406"/>
                  <a:pt x="58210" y="77458"/>
                  <a:pt x="52428" y="76624"/>
                </a:cubicBezTo>
                <a:lnTo>
                  <a:pt x="28571" y="73212"/>
                </a:lnTo>
                <a:cubicBezTo>
                  <a:pt x="14559" y="71233"/>
                  <a:pt x="4167" y="59226"/>
                  <a:pt x="4167" y="45084"/>
                </a:cubicBezTo>
                <a:cubicBezTo>
                  <a:pt x="4167" y="29405"/>
                  <a:pt x="16903" y="16669"/>
                  <a:pt x="32582" y="16669"/>
                </a:cubicBezTo>
                <a:lnTo>
                  <a:pt x="35421" y="16669"/>
                </a:lnTo>
                <a:lnTo>
                  <a:pt x="35421" y="6251"/>
                </a:lnTo>
                <a:close/>
              </a:path>
            </a:pathLst>
          </a:custGeom>
          <a:solidFill>
            <a:srgbClr val="6366F1"/>
          </a:solidFill>
          <a:ln/>
        </p:spPr>
      </p:sp>
      <p:sp>
        <p:nvSpPr>
          <p:cNvPr id="29" name="Text 27"/>
          <p:cNvSpPr/>
          <p:nvPr/>
        </p:nvSpPr>
        <p:spPr>
          <a:xfrm>
            <a:off x="5463540" y="4229100"/>
            <a:ext cx="54768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Cost</a:t>
            </a:r>
            <a:endParaRPr lang="en-US" sz="1600" dirty="0"/>
          </a:p>
        </p:txBody>
      </p:sp>
      <p:sp>
        <p:nvSpPr>
          <p:cNvPr id="30" name="Text 28"/>
          <p:cNvSpPr/>
          <p:nvPr/>
        </p:nvSpPr>
        <p:spPr>
          <a:xfrm>
            <a:off x="5463540" y="4495800"/>
            <a:ext cx="54768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More expensive than RAM, so computers have smaller amounts (KB to MB range)</a:t>
            </a:r>
            <a:endParaRPr lang="en-US" sz="1600" dirty="0"/>
          </a:p>
        </p:txBody>
      </p:sp>
      <p:sp>
        <p:nvSpPr>
          <p:cNvPr id="31" name="Shape 29"/>
          <p:cNvSpPr/>
          <p:nvPr/>
        </p:nvSpPr>
        <p:spPr>
          <a:xfrm>
            <a:off x="5048250" y="5703574"/>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32" name="Text 30"/>
          <p:cNvSpPr/>
          <p:nvPr/>
        </p:nvSpPr>
        <p:spPr>
          <a:xfrm>
            <a:off x="5204460" y="5859791"/>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When you visit the same website daily, your browser caches images so they load instantly instead of downloading each time!</a:t>
            </a:r>
            <a:endParaRPr lang="en-US" sz="16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4.5</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RAM: Random Access Memory</a:t>
            </a:r>
            <a:endParaRPr lang="en-US" sz="1600" dirty="0"/>
          </a:p>
        </p:txBody>
      </p:sp>
      <p:sp>
        <p:nvSpPr>
          <p:cNvPr id="4" name="Shape 2"/>
          <p:cNvSpPr/>
          <p:nvPr/>
        </p:nvSpPr>
        <p:spPr>
          <a:xfrm>
            <a:off x="381000" y="12573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5" name="Shape 3"/>
          <p:cNvSpPr/>
          <p:nvPr/>
        </p:nvSpPr>
        <p:spPr>
          <a:xfrm>
            <a:off x="495300" y="13716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6366F1"/>
          </a:solidFill>
          <a:ln/>
        </p:spPr>
      </p:sp>
      <p:sp>
        <p:nvSpPr>
          <p:cNvPr id="6" name="Text 4"/>
          <p:cNvSpPr/>
          <p:nvPr/>
        </p:nvSpPr>
        <p:spPr>
          <a:xfrm>
            <a:off x="876300" y="12573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What is RAM?</a:t>
            </a:r>
            <a:endParaRPr lang="en-US" sz="1600" dirty="0"/>
          </a:p>
        </p:txBody>
      </p:sp>
      <p:sp>
        <p:nvSpPr>
          <p:cNvPr id="7" name="Text 5"/>
          <p:cNvSpPr/>
          <p:nvPr/>
        </p:nvSpPr>
        <p:spPr>
          <a:xfrm>
            <a:off x="876300" y="15621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Temporary memory that stores active programs and data while the computer is running. It's volatile - data disappears when power is off.</a:t>
            </a:r>
            <a:endParaRPr lang="en-US" sz="1600" dirty="0"/>
          </a:p>
        </p:txBody>
      </p:sp>
      <p:sp>
        <p:nvSpPr>
          <p:cNvPr id="8" name="Shape 6"/>
          <p:cNvSpPr/>
          <p:nvPr/>
        </p:nvSpPr>
        <p:spPr>
          <a:xfrm>
            <a:off x="381000" y="21717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9" name="Shape 7"/>
          <p:cNvSpPr/>
          <p:nvPr/>
        </p:nvSpPr>
        <p:spPr>
          <a:xfrm>
            <a:off x="495300" y="2286000"/>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6366F1"/>
          </a:solidFill>
          <a:ln/>
        </p:spPr>
      </p:sp>
      <p:sp>
        <p:nvSpPr>
          <p:cNvPr id="10" name="Text 8"/>
          <p:cNvSpPr/>
          <p:nvPr/>
        </p:nvSpPr>
        <p:spPr>
          <a:xfrm>
            <a:off x="876300" y="21717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Analogy: Short-Term Memory</a:t>
            </a:r>
            <a:endParaRPr lang="en-US" sz="1600" dirty="0"/>
          </a:p>
        </p:txBody>
      </p:sp>
      <p:sp>
        <p:nvSpPr>
          <p:cNvPr id="11" name="Text 9"/>
          <p:cNvSpPr/>
          <p:nvPr/>
        </p:nvSpPr>
        <p:spPr>
          <a:xfrm>
            <a:off x="876300" y="24765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Like your brain remembering a phone number temporarily. RAM holds information the CPU needs right now.</a:t>
            </a:r>
            <a:endParaRPr lang="en-US" sz="1600" dirty="0"/>
          </a:p>
        </p:txBody>
      </p:sp>
      <p:sp>
        <p:nvSpPr>
          <p:cNvPr id="12" name="Shape 10"/>
          <p:cNvSpPr/>
          <p:nvPr/>
        </p:nvSpPr>
        <p:spPr>
          <a:xfrm>
            <a:off x="381000" y="30861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3" name="Shape 11"/>
          <p:cNvSpPr/>
          <p:nvPr/>
        </p:nvSpPr>
        <p:spPr>
          <a:xfrm>
            <a:off x="495300" y="3200400"/>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76200" y="123825"/>
                </a:moveTo>
                <a:cubicBezTo>
                  <a:pt x="86707" y="123825"/>
                  <a:pt x="95250" y="115282"/>
                  <a:pt x="95250" y="104775"/>
                </a:cubicBezTo>
                <a:cubicBezTo>
                  <a:pt x="95250" y="99953"/>
                  <a:pt x="93464" y="95518"/>
                  <a:pt x="90488" y="92184"/>
                </a:cubicBezTo>
                <a:lnTo>
                  <a:pt x="111175" y="50840"/>
                </a:lnTo>
                <a:cubicBezTo>
                  <a:pt x="112931" y="47298"/>
                  <a:pt x="111502" y="43011"/>
                  <a:pt x="107990" y="41255"/>
                </a:cubicBezTo>
                <a:cubicBezTo>
                  <a:pt x="104477" y="39499"/>
                  <a:pt x="100161" y="40928"/>
                  <a:pt x="98405" y="44440"/>
                </a:cubicBezTo>
                <a:lnTo>
                  <a:pt x="77718" y="85785"/>
                </a:lnTo>
                <a:cubicBezTo>
                  <a:pt x="77212" y="85755"/>
                  <a:pt x="76706" y="85725"/>
                  <a:pt x="76200" y="85725"/>
                </a:cubicBezTo>
                <a:cubicBezTo>
                  <a:pt x="65693" y="85725"/>
                  <a:pt x="57150" y="94268"/>
                  <a:pt x="57150" y="104775"/>
                </a:cubicBezTo>
                <a:cubicBezTo>
                  <a:pt x="57150" y="115282"/>
                  <a:pt x="65693" y="123825"/>
                  <a:pt x="76200" y="123825"/>
                </a:cubicBezTo>
                <a:close/>
                <a:moveTo>
                  <a:pt x="52388" y="42863"/>
                </a:moveTo>
                <a:cubicBezTo>
                  <a:pt x="52388" y="37606"/>
                  <a:pt x="48119" y="33338"/>
                  <a:pt x="42863" y="33338"/>
                </a:cubicBezTo>
                <a:cubicBezTo>
                  <a:pt x="37606" y="33338"/>
                  <a:pt x="33338" y="37606"/>
                  <a:pt x="33338" y="42863"/>
                </a:cubicBezTo>
                <a:cubicBezTo>
                  <a:pt x="33338" y="48119"/>
                  <a:pt x="37606" y="52388"/>
                  <a:pt x="42863" y="52388"/>
                </a:cubicBezTo>
                <a:cubicBezTo>
                  <a:pt x="48119" y="52388"/>
                  <a:pt x="52388" y="48119"/>
                  <a:pt x="52388" y="42863"/>
                </a:cubicBezTo>
                <a:close/>
                <a:moveTo>
                  <a:pt x="28575" y="85725"/>
                </a:moveTo>
                <a:cubicBezTo>
                  <a:pt x="33832" y="85725"/>
                  <a:pt x="38100" y="81457"/>
                  <a:pt x="38100" y="76200"/>
                </a:cubicBezTo>
                <a:cubicBezTo>
                  <a:pt x="38100" y="70943"/>
                  <a:pt x="33832" y="66675"/>
                  <a:pt x="28575" y="66675"/>
                </a:cubicBezTo>
                <a:cubicBezTo>
                  <a:pt x="23318" y="66675"/>
                  <a:pt x="19050" y="70943"/>
                  <a:pt x="19050" y="76200"/>
                </a:cubicBezTo>
                <a:cubicBezTo>
                  <a:pt x="19050" y="81457"/>
                  <a:pt x="23318" y="85725"/>
                  <a:pt x="28575" y="85725"/>
                </a:cubicBezTo>
                <a:close/>
                <a:moveTo>
                  <a:pt x="133350" y="76200"/>
                </a:moveTo>
                <a:cubicBezTo>
                  <a:pt x="133350" y="70943"/>
                  <a:pt x="129082" y="66675"/>
                  <a:pt x="123825" y="66675"/>
                </a:cubicBezTo>
                <a:cubicBezTo>
                  <a:pt x="118568" y="66675"/>
                  <a:pt x="114300" y="70943"/>
                  <a:pt x="114300" y="76200"/>
                </a:cubicBezTo>
                <a:cubicBezTo>
                  <a:pt x="114300" y="81457"/>
                  <a:pt x="118568" y="85725"/>
                  <a:pt x="123825" y="85725"/>
                </a:cubicBezTo>
                <a:cubicBezTo>
                  <a:pt x="129082" y="85725"/>
                  <a:pt x="133350" y="81457"/>
                  <a:pt x="133350" y="76200"/>
                </a:cubicBezTo>
                <a:close/>
              </a:path>
            </a:pathLst>
          </a:custGeom>
          <a:solidFill>
            <a:srgbClr val="6366F1"/>
          </a:solidFill>
          <a:ln/>
        </p:spPr>
      </p:sp>
      <p:sp>
        <p:nvSpPr>
          <p:cNvPr id="14" name="Text 12"/>
          <p:cNvSpPr/>
          <p:nvPr/>
        </p:nvSpPr>
        <p:spPr>
          <a:xfrm>
            <a:off x="876300" y="30861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Speed Matters</a:t>
            </a:r>
            <a:endParaRPr lang="en-US" sz="1600" dirty="0"/>
          </a:p>
        </p:txBody>
      </p:sp>
      <p:sp>
        <p:nvSpPr>
          <p:cNvPr id="15" name="Text 13"/>
          <p:cNvSpPr/>
          <p:nvPr/>
        </p:nvSpPr>
        <p:spPr>
          <a:xfrm>
            <a:off x="876300" y="33909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More RAM means better multitasking. You can run more programs simultaneously without slowdown.</a:t>
            </a:r>
            <a:endParaRPr lang="en-US" sz="1600" dirty="0"/>
          </a:p>
        </p:txBody>
      </p:sp>
      <p:sp>
        <p:nvSpPr>
          <p:cNvPr id="16" name="Shape 14"/>
          <p:cNvSpPr/>
          <p:nvPr/>
        </p:nvSpPr>
        <p:spPr>
          <a:xfrm>
            <a:off x="381000" y="40005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17" name="Shape 15"/>
          <p:cNvSpPr/>
          <p:nvPr/>
        </p:nvSpPr>
        <p:spPr>
          <a:xfrm>
            <a:off x="485775" y="4114800"/>
            <a:ext cx="171450" cy="152400"/>
          </a:xfrm>
          <a:custGeom>
            <a:avLst/>
            <a:gdLst/>
            <a:ahLst/>
            <a:cxnLst/>
            <a:rect l="l" t="t" r="r" b="b"/>
            <a:pathLst>
              <a:path w="171450" h="152400">
                <a:moveTo>
                  <a:pt x="62240" y="153650"/>
                </a:moveTo>
                <a:cubicBezTo>
                  <a:pt x="56674" y="159216"/>
                  <a:pt x="47625" y="159216"/>
                  <a:pt x="42029" y="153650"/>
                </a:cubicBezTo>
                <a:lnTo>
                  <a:pt x="8364" y="119985"/>
                </a:lnTo>
                <a:cubicBezTo>
                  <a:pt x="2798" y="114419"/>
                  <a:pt x="2798" y="105370"/>
                  <a:pt x="8364" y="99774"/>
                </a:cubicBezTo>
                <a:lnTo>
                  <a:pt x="13424" y="94714"/>
                </a:lnTo>
                <a:lnTo>
                  <a:pt x="35302" y="116592"/>
                </a:lnTo>
                <a:cubicBezTo>
                  <a:pt x="38100" y="119390"/>
                  <a:pt x="42624" y="119390"/>
                  <a:pt x="45393" y="116592"/>
                </a:cubicBezTo>
                <a:cubicBezTo>
                  <a:pt x="48161" y="113794"/>
                  <a:pt x="48191" y="109270"/>
                  <a:pt x="45393" y="106501"/>
                </a:cubicBezTo>
                <a:lnTo>
                  <a:pt x="23515" y="84624"/>
                </a:lnTo>
                <a:lnTo>
                  <a:pt x="33605" y="74533"/>
                </a:lnTo>
                <a:lnTo>
                  <a:pt x="48756" y="89684"/>
                </a:lnTo>
                <a:cubicBezTo>
                  <a:pt x="51554" y="92482"/>
                  <a:pt x="56078" y="92482"/>
                  <a:pt x="58847" y="89684"/>
                </a:cubicBezTo>
                <a:cubicBezTo>
                  <a:pt x="61615" y="86886"/>
                  <a:pt x="61645" y="82361"/>
                  <a:pt x="58847" y="79593"/>
                </a:cubicBezTo>
                <a:lnTo>
                  <a:pt x="43696" y="64443"/>
                </a:lnTo>
                <a:lnTo>
                  <a:pt x="53786" y="54352"/>
                </a:lnTo>
                <a:lnTo>
                  <a:pt x="75664" y="76230"/>
                </a:lnTo>
                <a:cubicBezTo>
                  <a:pt x="78462" y="79028"/>
                  <a:pt x="82987" y="79028"/>
                  <a:pt x="85755" y="76230"/>
                </a:cubicBezTo>
                <a:cubicBezTo>
                  <a:pt x="88523" y="73432"/>
                  <a:pt x="88553" y="68907"/>
                  <a:pt x="85755" y="66139"/>
                </a:cubicBezTo>
                <a:lnTo>
                  <a:pt x="63877" y="44261"/>
                </a:lnTo>
                <a:lnTo>
                  <a:pt x="73968" y="34171"/>
                </a:lnTo>
                <a:lnTo>
                  <a:pt x="89118" y="49322"/>
                </a:lnTo>
                <a:cubicBezTo>
                  <a:pt x="91916" y="52120"/>
                  <a:pt x="96441" y="52120"/>
                  <a:pt x="99209" y="49322"/>
                </a:cubicBezTo>
                <a:cubicBezTo>
                  <a:pt x="101977" y="46524"/>
                  <a:pt x="102007" y="41999"/>
                  <a:pt x="99209" y="39231"/>
                </a:cubicBezTo>
                <a:lnTo>
                  <a:pt x="84058" y="24080"/>
                </a:lnTo>
                <a:lnTo>
                  <a:pt x="94149" y="13990"/>
                </a:lnTo>
                <a:lnTo>
                  <a:pt x="116026" y="35868"/>
                </a:lnTo>
                <a:cubicBezTo>
                  <a:pt x="118824" y="38666"/>
                  <a:pt x="123349" y="38666"/>
                  <a:pt x="126117" y="35868"/>
                </a:cubicBezTo>
                <a:cubicBezTo>
                  <a:pt x="128885" y="33070"/>
                  <a:pt x="128915" y="28545"/>
                  <a:pt x="126117" y="25777"/>
                </a:cubicBezTo>
                <a:lnTo>
                  <a:pt x="104239" y="3899"/>
                </a:lnTo>
                <a:lnTo>
                  <a:pt x="109299" y="-1161"/>
                </a:lnTo>
                <a:cubicBezTo>
                  <a:pt x="114866" y="-6727"/>
                  <a:pt x="123914" y="-6727"/>
                  <a:pt x="129510" y="-1161"/>
                </a:cubicBezTo>
                <a:lnTo>
                  <a:pt x="163264" y="32415"/>
                </a:lnTo>
                <a:cubicBezTo>
                  <a:pt x="168831" y="37981"/>
                  <a:pt x="168831" y="47030"/>
                  <a:pt x="163264" y="52626"/>
                </a:cubicBezTo>
                <a:lnTo>
                  <a:pt x="62240" y="153650"/>
                </a:lnTo>
                <a:close/>
              </a:path>
            </a:pathLst>
          </a:custGeom>
          <a:solidFill>
            <a:srgbClr val="6366F1"/>
          </a:solidFill>
          <a:ln/>
        </p:spPr>
      </p:sp>
      <p:sp>
        <p:nvSpPr>
          <p:cNvPr id="18" name="Text 16"/>
          <p:cNvSpPr/>
          <p:nvPr/>
        </p:nvSpPr>
        <p:spPr>
          <a:xfrm>
            <a:off x="876300" y="40005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Capacity</a:t>
            </a:r>
            <a:endParaRPr lang="en-US" sz="1600" dirty="0"/>
          </a:p>
        </p:txBody>
      </p:sp>
      <p:sp>
        <p:nvSpPr>
          <p:cNvPr id="19" name="Text 17"/>
          <p:cNvSpPr/>
          <p:nvPr/>
        </p:nvSpPr>
        <p:spPr>
          <a:xfrm>
            <a:off x="876300" y="43053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Measured in GB (gigabytes). Common sizes: 4GB, 8GB, 16GB, 32GB. More is better for demanding tasks.</a:t>
            </a:r>
            <a:endParaRPr lang="en-US" sz="1600" dirty="0"/>
          </a:p>
        </p:txBody>
      </p:sp>
      <p:sp>
        <p:nvSpPr>
          <p:cNvPr id="20" name="Shape 18"/>
          <p:cNvSpPr/>
          <p:nvPr/>
        </p:nvSpPr>
        <p:spPr>
          <a:xfrm>
            <a:off x="381000" y="49149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366F1">
              <a:alpha val="20000"/>
            </a:srgbClr>
          </a:solidFill>
          <a:ln/>
        </p:spPr>
      </p:sp>
      <p:sp>
        <p:nvSpPr>
          <p:cNvPr id="21" name="Shape 19"/>
          <p:cNvSpPr/>
          <p:nvPr/>
        </p:nvSpPr>
        <p:spPr>
          <a:xfrm>
            <a:off x="495300" y="5029200"/>
            <a:ext cx="152400" cy="152400"/>
          </a:xfrm>
          <a:custGeom>
            <a:avLst/>
            <a:gdLst/>
            <a:ahLst/>
            <a:cxnLst/>
            <a:rect l="l" t="t" r="r" b="b"/>
            <a:pathLst>
              <a:path w="152400" h="152400">
                <a:moveTo>
                  <a:pt x="85725" y="0"/>
                </a:moveTo>
                <a:cubicBezTo>
                  <a:pt x="85725" y="-5269"/>
                  <a:pt x="81469" y="-9525"/>
                  <a:pt x="76200" y="-9525"/>
                </a:cubicBezTo>
                <a:cubicBezTo>
                  <a:pt x="70931" y="-9525"/>
                  <a:pt x="66675" y="-5269"/>
                  <a:pt x="66675" y="0"/>
                </a:cubicBezTo>
                <a:lnTo>
                  <a:pt x="66675" y="76200"/>
                </a:lnTo>
                <a:cubicBezTo>
                  <a:pt x="66675" y="81469"/>
                  <a:pt x="70931" y="85725"/>
                  <a:pt x="76200" y="85725"/>
                </a:cubicBezTo>
                <a:cubicBezTo>
                  <a:pt x="81469" y="85725"/>
                  <a:pt x="85725" y="81469"/>
                  <a:pt x="85725" y="76200"/>
                </a:cubicBezTo>
                <a:lnTo>
                  <a:pt x="85725" y="0"/>
                </a:lnTo>
                <a:close/>
                <a:moveTo>
                  <a:pt x="43547" y="29289"/>
                </a:moveTo>
                <a:cubicBezTo>
                  <a:pt x="47863" y="26283"/>
                  <a:pt x="48905" y="20330"/>
                  <a:pt x="45899" y="16014"/>
                </a:cubicBezTo>
                <a:cubicBezTo>
                  <a:pt x="42892" y="11698"/>
                  <a:pt x="36939" y="10656"/>
                  <a:pt x="32623" y="13662"/>
                </a:cubicBezTo>
                <a:cubicBezTo>
                  <a:pt x="12918" y="27414"/>
                  <a:pt x="0" y="50304"/>
                  <a:pt x="0" y="76200"/>
                </a:cubicBezTo>
                <a:cubicBezTo>
                  <a:pt x="0" y="118289"/>
                  <a:pt x="34111" y="152400"/>
                  <a:pt x="76200" y="152400"/>
                </a:cubicBezTo>
                <a:cubicBezTo>
                  <a:pt x="118289" y="152400"/>
                  <a:pt x="152400" y="118289"/>
                  <a:pt x="152400" y="76200"/>
                </a:cubicBezTo>
                <a:cubicBezTo>
                  <a:pt x="152400" y="50304"/>
                  <a:pt x="139482" y="27414"/>
                  <a:pt x="119747" y="13662"/>
                </a:cubicBezTo>
                <a:cubicBezTo>
                  <a:pt x="115431" y="10656"/>
                  <a:pt x="109508" y="11698"/>
                  <a:pt x="106472" y="16014"/>
                </a:cubicBezTo>
                <a:cubicBezTo>
                  <a:pt x="103436" y="20330"/>
                  <a:pt x="104507" y="26253"/>
                  <a:pt x="108823" y="29289"/>
                </a:cubicBezTo>
                <a:cubicBezTo>
                  <a:pt x="123646" y="39648"/>
                  <a:pt x="133320" y="56793"/>
                  <a:pt x="133320" y="76200"/>
                </a:cubicBezTo>
                <a:cubicBezTo>
                  <a:pt x="133320" y="107752"/>
                  <a:pt x="107722" y="133350"/>
                  <a:pt x="76170" y="133350"/>
                </a:cubicBezTo>
                <a:cubicBezTo>
                  <a:pt x="44619" y="133350"/>
                  <a:pt x="19050" y="107752"/>
                  <a:pt x="19050" y="76200"/>
                </a:cubicBezTo>
                <a:cubicBezTo>
                  <a:pt x="19050" y="56793"/>
                  <a:pt x="28724" y="39618"/>
                  <a:pt x="43547" y="29289"/>
                </a:cubicBezTo>
                <a:close/>
              </a:path>
            </a:pathLst>
          </a:custGeom>
          <a:solidFill>
            <a:srgbClr val="6366F1"/>
          </a:solidFill>
          <a:ln/>
        </p:spPr>
      </p:sp>
      <p:sp>
        <p:nvSpPr>
          <p:cNvPr id="22" name="Text 20"/>
          <p:cNvSpPr/>
          <p:nvPr/>
        </p:nvSpPr>
        <p:spPr>
          <a:xfrm>
            <a:off x="876300" y="4914900"/>
            <a:ext cx="51911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Volatility</a:t>
            </a:r>
            <a:endParaRPr lang="en-US" sz="1600" dirty="0"/>
          </a:p>
        </p:txBody>
      </p:sp>
      <p:sp>
        <p:nvSpPr>
          <p:cNvPr id="23" name="Text 21"/>
          <p:cNvSpPr/>
          <p:nvPr/>
        </p:nvSpPr>
        <p:spPr>
          <a:xfrm>
            <a:off x="876300" y="5219700"/>
            <a:ext cx="518160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When you turn off the computer, RAM clears completely. That's why you must save files to storage!</a:t>
            </a:r>
            <a:endParaRPr lang="en-US" sz="1600" dirty="0"/>
          </a:p>
        </p:txBody>
      </p:sp>
      <p:sp>
        <p:nvSpPr>
          <p:cNvPr id="24" name="Shape 22"/>
          <p:cNvSpPr/>
          <p:nvPr/>
        </p:nvSpPr>
        <p:spPr>
          <a:xfrm>
            <a:off x="6214110" y="1261110"/>
            <a:ext cx="5589270" cy="2722245"/>
          </a:xfrm>
          <a:custGeom>
            <a:avLst/>
            <a:gdLst/>
            <a:ahLst/>
            <a:cxnLst/>
            <a:rect l="l" t="t" r="r" b="b"/>
            <a:pathLst>
              <a:path w="5589270" h="2722245">
                <a:moveTo>
                  <a:pt x="114307" y="0"/>
                </a:moveTo>
                <a:lnTo>
                  <a:pt x="5474963" y="0"/>
                </a:lnTo>
                <a:cubicBezTo>
                  <a:pt x="5538093" y="0"/>
                  <a:pt x="5589270" y="51177"/>
                  <a:pt x="5589270" y="114307"/>
                </a:cubicBezTo>
                <a:lnTo>
                  <a:pt x="5589270" y="2607938"/>
                </a:lnTo>
                <a:cubicBezTo>
                  <a:pt x="5589270" y="2671068"/>
                  <a:pt x="5538093" y="2722245"/>
                  <a:pt x="5474963" y="2722245"/>
                </a:cubicBezTo>
                <a:lnTo>
                  <a:pt x="114307" y="2722245"/>
                </a:lnTo>
                <a:cubicBezTo>
                  <a:pt x="51177" y="2722245"/>
                  <a:pt x="0" y="2671068"/>
                  <a:pt x="0" y="2607938"/>
                </a:cubicBezTo>
                <a:lnTo>
                  <a:pt x="0" y="114307"/>
                </a:lnTo>
                <a:cubicBezTo>
                  <a:pt x="0" y="51219"/>
                  <a:pt x="51219" y="0"/>
                  <a:pt x="114307" y="0"/>
                </a:cubicBezTo>
                <a:close/>
              </a:path>
            </a:pathLst>
          </a:custGeom>
          <a:solidFill>
            <a:srgbClr val="262626"/>
          </a:solidFill>
          <a:ln w="10160">
            <a:solidFill>
              <a:srgbClr val="333333"/>
            </a:solidFill>
            <a:prstDash val="solid"/>
          </a:ln>
        </p:spPr>
      </p:sp>
      <p:sp>
        <p:nvSpPr>
          <p:cNvPr id="25" name="Shape 23"/>
          <p:cNvSpPr/>
          <p:nvPr/>
        </p:nvSpPr>
        <p:spPr>
          <a:xfrm>
            <a:off x="8553331" y="1802141"/>
            <a:ext cx="914400" cy="914400"/>
          </a:xfrm>
          <a:custGeom>
            <a:avLst/>
            <a:gdLst/>
            <a:ahLst/>
            <a:cxnLst/>
            <a:rect l="l" t="t" r="r" b="b"/>
            <a:pathLst>
              <a:path w="914400" h="914400">
                <a:moveTo>
                  <a:pt x="114300" y="114300"/>
                </a:moveTo>
                <a:cubicBezTo>
                  <a:pt x="51256" y="114300"/>
                  <a:pt x="0" y="165556"/>
                  <a:pt x="0" y="228600"/>
                </a:cubicBezTo>
                <a:lnTo>
                  <a:pt x="0" y="241816"/>
                </a:lnTo>
                <a:cubicBezTo>
                  <a:pt x="0" y="253960"/>
                  <a:pt x="7858" y="264319"/>
                  <a:pt x="18038" y="270927"/>
                </a:cubicBezTo>
                <a:cubicBezTo>
                  <a:pt x="41612" y="286286"/>
                  <a:pt x="57150" y="312718"/>
                  <a:pt x="57150" y="342900"/>
                </a:cubicBezTo>
                <a:cubicBezTo>
                  <a:pt x="57150" y="373082"/>
                  <a:pt x="41612" y="399514"/>
                  <a:pt x="18038" y="414873"/>
                </a:cubicBezTo>
                <a:cubicBezTo>
                  <a:pt x="7858" y="421481"/>
                  <a:pt x="0" y="431840"/>
                  <a:pt x="0" y="443984"/>
                </a:cubicBezTo>
                <a:lnTo>
                  <a:pt x="0" y="542925"/>
                </a:lnTo>
                <a:lnTo>
                  <a:pt x="914400" y="542925"/>
                </a:lnTo>
                <a:lnTo>
                  <a:pt x="914400" y="443984"/>
                </a:lnTo>
                <a:cubicBezTo>
                  <a:pt x="914400" y="431840"/>
                  <a:pt x="906542" y="421481"/>
                  <a:pt x="896362" y="414873"/>
                </a:cubicBezTo>
                <a:cubicBezTo>
                  <a:pt x="872788" y="399514"/>
                  <a:pt x="857250" y="373082"/>
                  <a:pt x="857250" y="342900"/>
                </a:cubicBezTo>
                <a:cubicBezTo>
                  <a:pt x="857250" y="312718"/>
                  <a:pt x="872788" y="286286"/>
                  <a:pt x="896362" y="270927"/>
                </a:cubicBezTo>
                <a:cubicBezTo>
                  <a:pt x="906542" y="264319"/>
                  <a:pt x="914400" y="253960"/>
                  <a:pt x="914400" y="241816"/>
                </a:cubicBezTo>
                <a:lnTo>
                  <a:pt x="914400" y="228600"/>
                </a:lnTo>
                <a:cubicBezTo>
                  <a:pt x="914400" y="165556"/>
                  <a:pt x="863144" y="114300"/>
                  <a:pt x="800100" y="114300"/>
                </a:cubicBezTo>
                <a:lnTo>
                  <a:pt x="114300" y="114300"/>
                </a:lnTo>
                <a:close/>
                <a:moveTo>
                  <a:pt x="914400" y="742950"/>
                </a:moveTo>
                <a:lnTo>
                  <a:pt x="914400" y="628650"/>
                </a:lnTo>
                <a:lnTo>
                  <a:pt x="0" y="628650"/>
                </a:lnTo>
                <a:lnTo>
                  <a:pt x="0" y="742950"/>
                </a:lnTo>
                <a:cubicBezTo>
                  <a:pt x="0" y="774561"/>
                  <a:pt x="25539" y="800100"/>
                  <a:pt x="57150" y="800100"/>
                </a:cubicBezTo>
                <a:lnTo>
                  <a:pt x="171450" y="800100"/>
                </a:lnTo>
                <a:lnTo>
                  <a:pt x="171450" y="757238"/>
                </a:lnTo>
                <a:cubicBezTo>
                  <a:pt x="171450" y="733485"/>
                  <a:pt x="190560" y="714375"/>
                  <a:pt x="214313" y="714375"/>
                </a:cubicBezTo>
                <a:cubicBezTo>
                  <a:pt x="238065" y="714375"/>
                  <a:pt x="257175" y="733485"/>
                  <a:pt x="257175" y="757238"/>
                </a:cubicBezTo>
                <a:lnTo>
                  <a:pt x="257175" y="800100"/>
                </a:lnTo>
                <a:lnTo>
                  <a:pt x="414338" y="800100"/>
                </a:lnTo>
                <a:lnTo>
                  <a:pt x="414338" y="757238"/>
                </a:lnTo>
                <a:cubicBezTo>
                  <a:pt x="414338" y="733485"/>
                  <a:pt x="433447" y="714375"/>
                  <a:pt x="457200" y="714375"/>
                </a:cubicBezTo>
                <a:cubicBezTo>
                  <a:pt x="480953" y="714375"/>
                  <a:pt x="500063" y="733485"/>
                  <a:pt x="500063" y="757238"/>
                </a:cubicBezTo>
                <a:lnTo>
                  <a:pt x="500063" y="800100"/>
                </a:lnTo>
                <a:lnTo>
                  <a:pt x="657225" y="800100"/>
                </a:lnTo>
                <a:lnTo>
                  <a:pt x="657225" y="757238"/>
                </a:lnTo>
                <a:cubicBezTo>
                  <a:pt x="657225" y="733485"/>
                  <a:pt x="676335" y="714375"/>
                  <a:pt x="700088" y="714375"/>
                </a:cubicBezTo>
                <a:cubicBezTo>
                  <a:pt x="723840" y="714375"/>
                  <a:pt x="742950" y="733485"/>
                  <a:pt x="742950" y="757238"/>
                </a:cubicBezTo>
                <a:lnTo>
                  <a:pt x="742950" y="800100"/>
                </a:lnTo>
                <a:lnTo>
                  <a:pt x="857250" y="800100"/>
                </a:lnTo>
                <a:cubicBezTo>
                  <a:pt x="888861" y="800100"/>
                  <a:pt x="914400" y="774561"/>
                  <a:pt x="914400" y="742950"/>
                </a:cubicBezTo>
                <a:close/>
                <a:moveTo>
                  <a:pt x="285750" y="285750"/>
                </a:moveTo>
                <a:lnTo>
                  <a:pt x="285750" y="400050"/>
                </a:lnTo>
                <a:cubicBezTo>
                  <a:pt x="285750" y="431661"/>
                  <a:pt x="260211" y="457200"/>
                  <a:pt x="228600" y="457200"/>
                </a:cubicBezTo>
                <a:cubicBezTo>
                  <a:pt x="196989" y="457200"/>
                  <a:pt x="171450" y="431661"/>
                  <a:pt x="171450" y="400050"/>
                </a:cubicBezTo>
                <a:lnTo>
                  <a:pt x="171450" y="285750"/>
                </a:lnTo>
                <a:cubicBezTo>
                  <a:pt x="171450" y="254139"/>
                  <a:pt x="196989" y="228600"/>
                  <a:pt x="228600" y="228600"/>
                </a:cubicBezTo>
                <a:cubicBezTo>
                  <a:pt x="260211" y="228600"/>
                  <a:pt x="285750" y="254139"/>
                  <a:pt x="285750" y="285750"/>
                </a:cubicBezTo>
                <a:close/>
                <a:moveTo>
                  <a:pt x="514350" y="285750"/>
                </a:moveTo>
                <a:lnTo>
                  <a:pt x="514350" y="400050"/>
                </a:lnTo>
                <a:cubicBezTo>
                  <a:pt x="514350" y="431661"/>
                  <a:pt x="488811" y="457200"/>
                  <a:pt x="457200" y="457200"/>
                </a:cubicBezTo>
                <a:cubicBezTo>
                  <a:pt x="425589" y="457200"/>
                  <a:pt x="400050" y="431661"/>
                  <a:pt x="400050" y="400050"/>
                </a:cubicBezTo>
                <a:lnTo>
                  <a:pt x="400050" y="285750"/>
                </a:lnTo>
                <a:cubicBezTo>
                  <a:pt x="400050" y="254139"/>
                  <a:pt x="425589" y="228600"/>
                  <a:pt x="457200" y="228600"/>
                </a:cubicBezTo>
                <a:cubicBezTo>
                  <a:pt x="488811" y="228600"/>
                  <a:pt x="514350" y="254139"/>
                  <a:pt x="514350" y="285750"/>
                </a:cubicBezTo>
                <a:close/>
                <a:moveTo>
                  <a:pt x="742950" y="285750"/>
                </a:moveTo>
                <a:lnTo>
                  <a:pt x="742950" y="400050"/>
                </a:lnTo>
                <a:cubicBezTo>
                  <a:pt x="742950" y="431661"/>
                  <a:pt x="717411" y="457200"/>
                  <a:pt x="685800" y="457200"/>
                </a:cubicBezTo>
                <a:cubicBezTo>
                  <a:pt x="654189" y="457200"/>
                  <a:pt x="628650" y="431661"/>
                  <a:pt x="628650" y="400050"/>
                </a:cubicBezTo>
                <a:lnTo>
                  <a:pt x="628650" y="285750"/>
                </a:lnTo>
                <a:cubicBezTo>
                  <a:pt x="628650" y="254139"/>
                  <a:pt x="654189" y="228600"/>
                  <a:pt x="685800" y="228600"/>
                </a:cubicBezTo>
                <a:cubicBezTo>
                  <a:pt x="717411" y="228600"/>
                  <a:pt x="742950" y="254139"/>
                  <a:pt x="742950" y="285750"/>
                </a:cubicBezTo>
                <a:close/>
              </a:path>
            </a:pathLst>
          </a:custGeom>
          <a:solidFill>
            <a:srgbClr val="6366F1"/>
          </a:solidFill>
          <a:ln/>
        </p:spPr>
      </p:sp>
      <p:sp>
        <p:nvSpPr>
          <p:cNvPr id="26" name="Text 24"/>
          <p:cNvSpPr/>
          <p:nvPr/>
        </p:nvSpPr>
        <p:spPr>
          <a:xfrm>
            <a:off x="8212693" y="2868941"/>
            <a:ext cx="160020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RAM Module</a:t>
            </a:r>
            <a:endParaRPr lang="en-US" sz="1600" dirty="0"/>
          </a:p>
        </p:txBody>
      </p:sp>
      <p:sp>
        <p:nvSpPr>
          <p:cNvPr id="27" name="Text 25"/>
          <p:cNvSpPr/>
          <p:nvPr/>
        </p:nvSpPr>
        <p:spPr>
          <a:xfrm>
            <a:off x="8222218" y="3211841"/>
            <a:ext cx="1581150"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Temporary workspace</a:t>
            </a:r>
            <a:endParaRPr lang="en-US" sz="1600" dirty="0"/>
          </a:p>
        </p:txBody>
      </p:sp>
      <p:sp>
        <p:nvSpPr>
          <p:cNvPr id="28" name="Shape 26"/>
          <p:cNvSpPr/>
          <p:nvPr/>
        </p:nvSpPr>
        <p:spPr>
          <a:xfrm>
            <a:off x="6214110" y="4141474"/>
            <a:ext cx="5589270" cy="1531620"/>
          </a:xfrm>
          <a:custGeom>
            <a:avLst/>
            <a:gdLst/>
            <a:ahLst/>
            <a:cxnLst/>
            <a:rect l="l" t="t" r="r" b="b"/>
            <a:pathLst>
              <a:path w="5589270" h="1531620">
                <a:moveTo>
                  <a:pt x="76198" y="0"/>
                </a:moveTo>
                <a:lnTo>
                  <a:pt x="5513072" y="0"/>
                </a:lnTo>
                <a:cubicBezTo>
                  <a:pt x="5555155" y="0"/>
                  <a:pt x="5589270" y="34115"/>
                  <a:pt x="5589270" y="76198"/>
                </a:cubicBezTo>
                <a:lnTo>
                  <a:pt x="5589270" y="1455422"/>
                </a:lnTo>
                <a:cubicBezTo>
                  <a:pt x="5589270" y="1497505"/>
                  <a:pt x="5555155" y="1531620"/>
                  <a:pt x="551307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29" name="Text 27"/>
          <p:cNvSpPr/>
          <p:nvPr/>
        </p:nvSpPr>
        <p:spPr>
          <a:xfrm>
            <a:off x="6370320" y="4297691"/>
            <a:ext cx="5353050"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Example:</a:t>
            </a:r>
            <a:r>
              <a:rPr lang="en-US" sz="1200" dirty="0">
                <a:solidFill>
                  <a:srgbClr val="EFEFEF"/>
                </a:solidFill>
                <a:latin typeface="Liter" pitchFamily="34" charset="0"/>
                <a:ea typeface="Liter" pitchFamily="34" charset="-122"/>
                <a:cs typeface="Liter" pitchFamily="34" charset="-120"/>
              </a:rPr>
              <a:t> Opening 20 browser tabs uses RAM. If RAM is full, the computer slows down because it can't hold all that data!</a:t>
            </a:r>
            <a:endParaRPr lang="en-US" sz="1600" dirty="0"/>
          </a:p>
        </p:txBody>
      </p:sp>
      <p:sp>
        <p:nvSpPr>
          <p:cNvPr id="30" name="Text 28"/>
          <p:cNvSpPr/>
          <p:nvPr/>
        </p:nvSpPr>
        <p:spPr>
          <a:xfrm>
            <a:off x="6370320" y="4831091"/>
            <a:ext cx="5353050" cy="6858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Think of RAM as your desk space. A bigger desk lets you spread out more papers and work on multiple projects at once without constantly filing and retrieving.</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381000" y="381000"/>
            <a:ext cx="6838950" cy="228600"/>
          </a:xfrm>
          <a:prstGeom prst="rect">
            <a:avLst/>
          </a:prstGeom>
          <a:noFill/>
          <a:ln/>
        </p:spPr>
        <p:txBody>
          <a:bodyPr wrap="square" lIns="0" tIns="0" rIns="0" bIns="0" rtlCol="0" anchor="ctr"/>
          <a:lstStyle/>
          <a:p>
            <a:pPr>
              <a:lnSpc>
                <a:spcPct val="130000"/>
              </a:lnSpc>
            </a:pPr>
            <a:r>
              <a:rPr lang="en-US" sz="1200" b="1" kern="0" spc="60" dirty="0">
                <a:solidFill>
                  <a:srgbClr val="6366F1"/>
                </a:solidFill>
                <a:latin typeface="Liter" pitchFamily="34" charset="0"/>
                <a:ea typeface="Liter" pitchFamily="34" charset="-122"/>
                <a:cs typeface="Liter" pitchFamily="34" charset="-120"/>
              </a:rPr>
              <a:t>LECTURE 4.6</a:t>
            </a:r>
            <a:endParaRPr lang="en-US" sz="1600" dirty="0"/>
          </a:p>
        </p:txBody>
      </p:sp>
      <p:sp>
        <p:nvSpPr>
          <p:cNvPr id="3" name="Text 1"/>
          <p:cNvSpPr/>
          <p:nvPr/>
        </p:nvSpPr>
        <p:spPr>
          <a:xfrm>
            <a:off x="381000" y="685800"/>
            <a:ext cx="6934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ROM: Read Only Memory</a:t>
            </a:r>
            <a:endParaRPr lang="en-US" sz="1600" dirty="0"/>
          </a:p>
        </p:txBody>
      </p:sp>
      <p:sp>
        <p:nvSpPr>
          <p:cNvPr id="4" name="Shape 2"/>
          <p:cNvSpPr/>
          <p:nvPr/>
        </p:nvSpPr>
        <p:spPr>
          <a:xfrm>
            <a:off x="381000" y="1371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5" name="Shape 3"/>
          <p:cNvSpPr/>
          <p:nvPr/>
        </p:nvSpPr>
        <p:spPr>
          <a:xfrm>
            <a:off x="469106" y="145732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6675" y="45839"/>
                </a:moveTo>
                <a:cubicBezTo>
                  <a:pt x="62065" y="45839"/>
                  <a:pt x="58341" y="49563"/>
                  <a:pt x="58341" y="54173"/>
                </a:cubicBezTo>
                <a:cubicBezTo>
                  <a:pt x="58341" y="57637"/>
                  <a:pt x="55554" y="60424"/>
                  <a:pt x="52090" y="60424"/>
                </a:cubicBezTo>
                <a:cubicBezTo>
                  <a:pt x="48626" y="60424"/>
                  <a:pt x="45839" y="57637"/>
                  <a:pt x="45839" y="54173"/>
                </a:cubicBezTo>
                <a:cubicBezTo>
                  <a:pt x="45839" y="42662"/>
                  <a:pt x="55163" y="33337"/>
                  <a:pt x="66675" y="33337"/>
                </a:cubicBezTo>
                <a:cubicBezTo>
                  <a:pt x="78187" y="33337"/>
                  <a:pt x="87511" y="42662"/>
                  <a:pt x="87511" y="54173"/>
                </a:cubicBezTo>
                <a:cubicBezTo>
                  <a:pt x="87511" y="66467"/>
                  <a:pt x="78135" y="71676"/>
                  <a:pt x="72926" y="73577"/>
                </a:cubicBezTo>
                <a:lnTo>
                  <a:pt x="72926" y="74567"/>
                </a:lnTo>
                <a:cubicBezTo>
                  <a:pt x="72926" y="78031"/>
                  <a:pt x="70139" y="80817"/>
                  <a:pt x="66675" y="80817"/>
                </a:cubicBezTo>
                <a:cubicBezTo>
                  <a:pt x="63211" y="80817"/>
                  <a:pt x="60424" y="78031"/>
                  <a:pt x="60424" y="74567"/>
                </a:cubicBezTo>
                <a:lnTo>
                  <a:pt x="60424" y="72457"/>
                </a:lnTo>
                <a:cubicBezTo>
                  <a:pt x="60424" y="67118"/>
                  <a:pt x="64279" y="63289"/>
                  <a:pt x="68264" y="61987"/>
                </a:cubicBezTo>
                <a:cubicBezTo>
                  <a:pt x="69931" y="61440"/>
                  <a:pt x="71702" y="60554"/>
                  <a:pt x="73004" y="59304"/>
                </a:cubicBezTo>
                <a:cubicBezTo>
                  <a:pt x="74124" y="58210"/>
                  <a:pt x="75009" y="56700"/>
                  <a:pt x="75009" y="54199"/>
                </a:cubicBezTo>
                <a:cubicBezTo>
                  <a:pt x="75009" y="49590"/>
                  <a:pt x="71285" y="45865"/>
                  <a:pt x="66675" y="45865"/>
                </a:cubicBezTo>
                <a:close/>
                <a:moveTo>
                  <a:pt x="58341" y="95845"/>
                </a:moveTo>
                <a:cubicBezTo>
                  <a:pt x="58341" y="91245"/>
                  <a:pt x="62075" y="87511"/>
                  <a:pt x="66675" y="87511"/>
                </a:cubicBezTo>
                <a:cubicBezTo>
                  <a:pt x="71275" y="87511"/>
                  <a:pt x="75009" y="91245"/>
                  <a:pt x="75009" y="95845"/>
                </a:cubicBezTo>
                <a:cubicBezTo>
                  <a:pt x="75009" y="100445"/>
                  <a:pt x="71275" y="104180"/>
                  <a:pt x="66675" y="104180"/>
                </a:cubicBezTo>
                <a:cubicBezTo>
                  <a:pt x="62075" y="104180"/>
                  <a:pt x="58341" y="100445"/>
                  <a:pt x="58341" y="95845"/>
                </a:cubicBezTo>
                <a:close/>
              </a:path>
            </a:pathLst>
          </a:custGeom>
          <a:solidFill>
            <a:srgbClr val="6366F1"/>
          </a:solidFill>
          <a:ln/>
        </p:spPr>
      </p:sp>
      <p:sp>
        <p:nvSpPr>
          <p:cNvPr id="6" name="Text 4"/>
          <p:cNvSpPr/>
          <p:nvPr/>
        </p:nvSpPr>
        <p:spPr>
          <a:xfrm>
            <a:off x="800100" y="13335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What is ROM?</a:t>
            </a:r>
            <a:endParaRPr lang="en-US" sz="1600" dirty="0"/>
          </a:p>
        </p:txBody>
      </p:sp>
      <p:sp>
        <p:nvSpPr>
          <p:cNvPr id="7" name="Text 5"/>
          <p:cNvSpPr/>
          <p:nvPr/>
        </p:nvSpPr>
        <p:spPr>
          <a:xfrm>
            <a:off x="800100" y="16002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Permanent memory that stores essential instructions for starting the computer. Data cannot be easily changed or deleted.</a:t>
            </a:r>
            <a:endParaRPr lang="en-US" sz="1600" dirty="0"/>
          </a:p>
        </p:txBody>
      </p:sp>
      <p:sp>
        <p:nvSpPr>
          <p:cNvPr id="8" name="Shape 6"/>
          <p:cNvSpPr/>
          <p:nvPr/>
        </p:nvSpPr>
        <p:spPr>
          <a:xfrm>
            <a:off x="381000" y="2209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9" name="Shape 7"/>
          <p:cNvSpPr/>
          <p:nvPr/>
        </p:nvSpPr>
        <p:spPr>
          <a:xfrm>
            <a:off x="469106" y="2295525"/>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6366F1"/>
          </a:solidFill>
          <a:ln/>
        </p:spPr>
      </p:sp>
      <p:sp>
        <p:nvSpPr>
          <p:cNvPr id="10" name="Text 8"/>
          <p:cNvSpPr/>
          <p:nvPr/>
        </p:nvSpPr>
        <p:spPr>
          <a:xfrm>
            <a:off x="800100" y="21717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Non-Volatile</a:t>
            </a:r>
            <a:endParaRPr lang="en-US" sz="1600" dirty="0"/>
          </a:p>
        </p:txBody>
      </p:sp>
      <p:sp>
        <p:nvSpPr>
          <p:cNvPr id="11" name="Text 9"/>
          <p:cNvSpPr/>
          <p:nvPr/>
        </p:nvSpPr>
        <p:spPr>
          <a:xfrm>
            <a:off x="800100" y="24384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ROM keeps its data even when the computer is turned off. It's like permanent instructions written in stone.</a:t>
            </a:r>
            <a:endParaRPr lang="en-US" sz="1600" dirty="0"/>
          </a:p>
        </p:txBody>
      </p:sp>
      <p:sp>
        <p:nvSpPr>
          <p:cNvPr id="12" name="Shape 10"/>
          <p:cNvSpPr/>
          <p:nvPr/>
        </p:nvSpPr>
        <p:spPr>
          <a:xfrm>
            <a:off x="381000" y="3048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3" name="Shape 11"/>
          <p:cNvSpPr/>
          <p:nvPr/>
        </p:nvSpPr>
        <p:spPr>
          <a:xfrm>
            <a:off x="469106" y="3133725"/>
            <a:ext cx="133350" cy="133350"/>
          </a:xfrm>
          <a:custGeom>
            <a:avLst/>
            <a:gdLst/>
            <a:ahLst/>
            <a:cxnLst/>
            <a:rect l="l" t="t" r="r" b="b"/>
            <a:pathLst>
              <a:path w="133350" h="133350">
                <a:moveTo>
                  <a:pt x="0" y="66675"/>
                </a:moveTo>
                <a:cubicBezTo>
                  <a:pt x="0" y="29876"/>
                  <a:pt x="29876" y="0"/>
                  <a:pt x="66675" y="0"/>
                </a:cubicBezTo>
                <a:cubicBezTo>
                  <a:pt x="103474" y="0"/>
                  <a:pt x="133350" y="29876"/>
                  <a:pt x="133350" y="66675"/>
                </a:cubicBezTo>
                <a:cubicBezTo>
                  <a:pt x="133350" y="103474"/>
                  <a:pt x="103474" y="133350"/>
                  <a:pt x="66675" y="133350"/>
                </a:cubicBezTo>
                <a:cubicBezTo>
                  <a:pt x="29876" y="133350"/>
                  <a:pt x="0" y="103474"/>
                  <a:pt x="0" y="66675"/>
                </a:cubicBezTo>
                <a:close/>
                <a:moveTo>
                  <a:pt x="49043" y="38312"/>
                </a:moveTo>
                <a:cubicBezTo>
                  <a:pt x="47063" y="39406"/>
                  <a:pt x="45839" y="41516"/>
                  <a:pt x="45839" y="43755"/>
                </a:cubicBezTo>
                <a:lnTo>
                  <a:pt x="45839" y="89595"/>
                </a:lnTo>
                <a:cubicBezTo>
                  <a:pt x="45839" y="91860"/>
                  <a:pt x="47063" y="93944"/>
                  <a:pt x="49043" y="95038"/>
                </a:cubicBezTo>
                <a:cubicBezTo>
                  <a:pt x="51022" y="96132"/>
                  <a:pt x="53418" y="96106"/>
                  <a:pt x="55372" y="94908"/>
                </a:cubicBezTo>
                <a:lnTo>
                  <a:pt x="92876" y="71988"/>
                </a:lnTo>
                <a:cubicBezTo>
                  <a:pt x="94725" y="70842"/>
                  <a:pt x="95871" y="68837"/>
                  <a:pt x="95871" y="66649"/>
                </a:cubicBezTo>
                <a:cubicBezTo>
                  <a:pt x="95871" y="64461"/>
                  <a:pt x="94725" y="62456"/>
                  <a:pt x="92876" y="61310"/>
                </a:cubicBezTo>
                <a:lnTo>
                  <a:pt x="55372" y="38390"/>
                </a:lnTo>
                <a:cubicBezTo>
                  <a:pt x="53444" y="37218"/>
                  <a:pt x="51022" y="37166"/>
                  <a:pt x="49043" y="38260"/>
                </a:cubicBezTo>
                <a:close/>
              </a:path>
            </a:pathLst>
          </a:custGeom>
          <a:solidFill>
            <a:srgbClr val="6366F1"/>
          </a:solidFill>
          <a:ln/>
        </p:spPr>
      </p:sp>
      <p:sp>
        <p:nvSpPr>
          <p:cNvPr id="14" name="Text 12"/>
          <p:cNvSpPr/>
          <p:nvPr/>
        </p:nvSpPr>
        <p:spPr>
          <a:xfrm>
            <a:off x="800100" y="30099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Boot Instructions</a:t>
            </a:r>
            <a:endParaRPr lang="en-US" sz="1600" dirty="0"/>
          </a:p>
        </p:txBody>
      </p:sp>
      <p:sp>
        <p:nvSpPr>
          <p:cNvPr id="15" name="Text 13"/>
          <p:cNvSpPr/>
          <p:nvPr/>
        </p:nvSpPr>
        <p:spPr>
          <a:xfrm>
            <a:off x="800100" y="32766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Stores BIOS/UEFI - the program that wakes up the computer, checks hardware, and loads the operating system</a:t>
            </a:r>
            <a:endParaRPr lang="en-US" sz="1600" dirty="0"/>
          </a:p>
        </p:txBody>
      </p:sp>
      <p:sp>
        <p:nvSpPr>
          <p:cNvPr id="16" name="Shape 14"/>
          <p:cNvSpPr/>
          <p:nvPr/>
        </p:nvSpPr>
        <p:spPr>
          <a:xfrm>
            <a:off x="381000" y="38862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17" name="Shape 15"/>
          <p:cNvSpPr/>
          <p:nvPr/>
        </p:nvSpPr>
        <p:spPr>
          <a:xfrm>
            <a:off x="485775" y="3971925"/>
            <a:ext cx="100013" cy="133350"/>
          </a:xfrm>
          <a:custGeom>
            <a:avLst/>
            <a:gdLst/>
            <a:ahLst/>
            <a:cxnLst/>
            <a:rect l="l" t="t" r="r" b="b"/>
            <a:pathLst>
              <a:path w="100013" h="133350">
                <a:moveTo>
                  <a:pt x="33337" y="25003"/>
                </a:moveTo>
                <a:lnTo>
                  <a:pt x="33337" y="41672"/>
                </a:lnTo>
                <a:lnTo>
                  <a:pt x="66675" y="41672"/>
                </a:lnTo>
                <a:lnTo>
                  <a:pt x="66675" y="25003"/>
                </a:lnTo>
                <a:cubicBezTo>
                  <a:pt x="66675" y="15809"/>
                  <a:pt x="59200" y="8334"/>
                  <a:pt x="50006" y="8334"/>
                </a:cubicBezTo>
                <a:cubicBezTo>
                  <a:pt x="40812" y="8334"/>
                  <a:pt x="33337" y="15809"/>
                  <a:pt x="33337" y="25003"/>
                </a:cubicBezTo>
                <a:close/>
                <a:moveTo>
                  <a:pt x="16669" y="41672"/>
                </a:moveTo>
                <a:lnTo>
                  <a:pt x="16669" y="25003"/>
                </a:lnTo>
                <a:cubicBezTo>
                  <a:pt x="16669" y="6589"/>
                  <a:pt x="31592" y="-8334"/>
                  <a:pt x="50006" y="-8334"/>
                </a:cubicBezTo>
                <a:cubicBezTo>
                  <a:pt x="68420" y="-8334"/>
                  <a:pt x="83344" y="6589"/>
                  <a:pt x="83344" y="25003"/>
                </a:cubicBezTo>
                <a:lnTo>
                  <a:pt x="83344" y="41672"/>
                </a:lnTo>
                <a:cubicBezTo>
                  <a:pt x="92538" y="41672"/>
                  <a:pt x="100013" y="49147"/>
                  <a:pt x="100013" y="58341"/>
                </a:cubicBezTo>
                <a:lnTo>
                  <a:pt x="100013" y="116681"/>
                </a:lnTo>
                <a:cubicBezTo>
                  <a:pt x="100013" y="125875"/>
                  <a:pt x="92538" y="133350"/>
                  <a:pt x="83344" y="133350"/>
                </a:cubicBezTo>
                <a:lnTo>
                  <a:pt x="16669" y="133350"/>
                </a:lnTo>
                <a:cubicBezTo>
                  <a:pt x="7475" y="133350"/>
                  <a:pt x="0" y="125875"/>
                  <a:pt x="0" y="116681"/>
                </a:cubicBezTo>
                <a:lnTo>
                  <a:pt x="0" y="58341"/>
                </a:lnTo>
                <a:cubicBezTo>
                  <a:pt x="0" y="49147"/>
                  <a:pt x="7475" y="41672"/>
                  <a:pt x="16669" y="41672"/>
                </a:cubicBezTo>
                <a:close/>
              </a:path>
            </a:pathLst>
          </a:custGeom>
          <a:solidFill>
            <a:srgbClr val="6366F1"/>
          </a:solidFill>
          <a:ln/>
        </p:spPr>
      </p:sp>
      <p:sp>
        <p:nvSpPr>
          <p:cNvPr id="18" name="Text 16"/>
          <p:cNvSpPr/>
          <p:nvPr/>
        </p:nvSpPr>
        <p:spPr>
          <a:xfrm>
            <a:off x="800100" y="3848100"/>
            <a:ext cx="60198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Read-Only</a:t>
            </a:r>
            <a:endParaRPr lang="en-US" sz="1600" dirty="0"/>
          </a:p>
        </p:txBody>
      </p:sp>
      <p:sp>
        <p:nvSpPr>
          <p:cNvPr id="19" name="Text 17"/>
          <p:cNvSpPr/>
          <p:nvPr/>
        </p:nvSpPr>
        <p:spPr>
          <a:xfrm>
            <a:off x="800100" y="4114800"/>
            <a:ext cx="60198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Normal users cannot write to ROM. It's factory-programmed with critical system software</a:t>
            </a:r>
            <a:endParaRPr lang="en-US" sz="1600" dirty="0"/>
          </a:p>
        </p:txBody>
      </p:sp>
      <p:sp>
        <p:nvSpPr>
          <p:cNvPr id="20" name="Shape 18"/>
          <p:cNvSpPr/>
          <p:nvPr/>
        </p:nvSpPr>
        <p:spPr>
          <a:xfrm>
            <a:off x="381000" y="44958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6366F1">
              <a:alpha val="20000"/>
            </a:srgbClr>
          </a:solidFill>
          <a:ln/>
        </p:spPr>
      </p:sp>
      <p:sp>
        <p:nvSpPr>
          <p:cNvPr id="21" name="Shape 19"/>
          <p:cNvSpPr/>
          <p:nvPr/>
        </p:nvSpPr>
        <p:spPr>
          <a:xfrm>
            <a:off x="469106" y="4581525"/>
            <a:ext cx="133350" cy="133350"/>
          </a:xfrm>
          <a:custGeom>
            <a:avLst/>
            <a:gdLst/>
            <a:ahLst/>
            <a:cxnLst/>
            <a:rect l="l" t="t" r="r" b="b"/>
            <a:pathLst>
              <a:path w="133350" h="133350">
                <a:moveTo>
                  <a:pt x="45839" y="6251"/>
                </a:moveTo>
                <a:cubicBezTo>
                  <a:pt x="45839" y="2787"/>
                  <a:pt x="43052" y="0"/>
                  <a:pt x="39588" y="0"/>
                </a:cubicBezTo>
                <a:cubicBezTo>
                  <a:pt x="36124" y="0"/>
                  <a:pt x="33337" y="2787"/>
                  <a:pt x="33337" y="6251"/>
                </a:cubicBezTo>
                <a:lnTo>
                  <a:pt x="33337" y="16669"/>
                </a:lnTo>
                <a:cubicBezTo>
                  <a:pt x="24144" y="16669"/>
                  <a:pt x="16669" y="24144"/>
                  <a:pt x="16669" y="33337"/>
                </a:cubicBezTo>
                <a:lnTo>
                  <a:pt x="6251" y="33337"/>
                </a:lnTo>
                <a:cubicBezTo>
                  <a:pt x="2787" y="33337"/>
                  <a:pt x="0" y="36124"/>
                  <a:pt x="0" y="39588"/>
                </a:cubicBezTo>
                <a:cubicBezTo>
                  <a:pt x="0" y="43052"/>
                  <a:pt x="2787" y="45839"/>
                  <a:pt x="6251" y="45839"/>
                </a:cubicBezTo>
                <a:lnTo>
                  <a:pt x="16669" y="45839"/>
                </a:lnTo>
                <a:lnTo>
                  <a:pt x="16669" y="60424"/>
                </a:lnTo>
                <a:lnTo>
                  <a:pt x="6251" y="60424"/>
                </a:lnTo>
                <a:cubicBezTo>
                  <a:pt x="2787" y="60424"/>
                  <a:pt x="0" y="63211"/>
                  <a:pt x="0" y="66675"/>
                </a:cubicBezTo>
                <a:cubicBezTo>
                  <a:pt x="0" y="70139"/>
                  <a:pt x="2787" y="72926"/>
                  <a:pt x="6251" y="72926"/>
                </a:cubicBezTo>
                <a:lnTo>
                  <a:pt x="16669" y="72926"/>
                </a:lnTo>
                <a:lnTo>
                  <a:pt x="16669" y="87511"/>
                </a:lnTo>
                <a:lnTo>
                  <a:pt x="6251" y="87511"/>
                </a:lnTo>
                <a:cubicBezTo>
                  <a:pt x="2787" y="87511"/>
                  <a:pt x="0" y="90298"/>
                  <a:pt x="0" y="93762"/>
                </a:cubicBezTo>
                <a:cubicBezTo>
                  <a:pt x="0" y="97226"/>
                  <a:pt x="2787" y="100013"/>
                  <a:pt x="6251" y="100013"/>
                </a:cubicBezTo>
                <a:lnTo>
                  <a:pt x="16669" y="100013"/>
                </a:lnTo>
                <a:cubicBezTo>
                  <a:pt x="16669" y="109206"/>
                  <a:pt x="24144" y="116681"/>
                  <a:pt x="33337" y="116681"/>
                </a:cubicBezTo>
                <a:lnTo>
                  <a:pt x="33337" y="127099"/>
                </a:lnTo>
                <a:cubicBezTo>
                  <a:pt x="33337" y="130563"/>
                  <a:pt x="36124" y="133350"/>
                  <a:pt x="39588" y="133350"/>
                </a:cubicBezTo>
                <a:cubicBezTo>
                  <a:pt x="43052" y="133350"/>
                  <a:pt x="45839" y="130563"/>
                  <a:pt x="45839" y="127099"/>
                </a:cubicBezTo>
                <a:lnTo>
                  <a:pt x="45839" y="116681"/>
                </a:lnTo>
                <a:lnTo>
                  <a:pt x="60424" y="116681"/>
                </a:lnTo>
                <a:lnTo>
                  <a:pt x="60424" y="127099"/>
                </a:lnTo>
                <a:cubicBezTo>
                  <a:pt x="60424" y="130563"/>
                  <a:pt x="63211" y="133350"/>
                  <a:pt x="66675" y="133350"/>
                </a:cubicBezTo>
                <a:cubicBezTo>
                  <a:pt x="70139" y="133350"/>
                  <a:pt x="72926" y="130563"/>
                  <a:pt x="72926" y="127099"/>
                </a:cubicBezTo>
                <a:lnTo>
                  <a:pt x="72926" y="116681"/>
                </a:lnTo>
                <a:lnTo>
                  <a:pt x="87511" y="116681"/>
                </a:lnTo>
                <a:lnTo>
                  <a:pt x="87511" y="127099"/>
                </a:lnTo>
                <a:cubicBezTo>
                  <a:pt x="87511" y="130563"/>
                  <a:pt x="90298" y="133350"/>
                  <a:pt x="93762" y="133350"/>
                </a:cubicBezTo>
                <a:cubicBezTo>
                  <a:pt x="97226" y="133350"/>
                  <a:pt x="100013" y="130563"/>
                  <a:pt x="100013" y="127099"/>
                </a:cubicBezTo>
                <a:lnTo>
                  <a:pt x="100013" y="116681"/>
                </a:lnTo>
                <a:cubicBezTo>
                  <a:pt x="109206" y="116681"/>
                  <a:pt x="116681" y="109206"/>
                  <a:pt x="116681" y="100013"/>
                </a:cubicBezTo>
                <a:lnTo>
                  <a:pt x="127099" y="100013"/>
                </a:lnTo>
                <a:cubicBezTo>
                  <a:pt x="130563" y="100013"/>
                  <a:pt x="133350" y="97226"/>
                  <a:pt x="133350" y="93762"/>
                </a:cubicBezTo>
                <a:cubicBezTo>
                  <a:pt x="133350" y="90298"/>
                  <a:pt x="130563" y="87511"/>
                  <a:pt x="127099" y="87511"/>
                </a:cubicBezTo>
                <a:lnTo>
                  <a:pt x="116681" y="87511"/>
                </a:lnTo>
                <a:lnTo>
                  <a:pt x="116681" y="72926"/>
                </a:lnTo>
                <a:lnTo>
                  <a:pt x="127099" y="72926"/>
                </a:lnTo>
                <a:cubicBezTo>
                  <a:pt x="130563" y="72926"/>
                  <a:pt x="133350" y="70139"/>
                  <a:pt x="133350" y="66675"/>
                </a:cubicBezTo>
                <a:cubicBezTo>
                  <a:pt x="133350" y="63211"/>
                  <a:pt x="130563" y="60424"/>
                  <a:pt x="127099" y="60424"/>
                </a:cubicBezTo>
                <a:lnTo>
                  <a:pt x="116681" y="60424"/>
                </a:lnTo>
                <a:lnTo>
                  <a:pt x="116681" y="45839"/>
                </a:lnTo>
                <a:lnTo>
                  <a:pt x="127099" y="45839"/>
                </a:lnTo>
                <a:cubicBezTo>
                  <a:pt x="130563" y="45839"/>
                  <a:pt x="133350" y="43052"/>
                  <a:pt x="133350" y="39588"/>
                </a:cubicBezTo>
                <a:cubicBezTo>
                  <a:pt x="133350" y="36124"/>
                  <a:pt x="130563" y="33337"/>
                  <a:pt x="127099" y="33337"/>
                </a:cubicBezTo>
                <a:lnTo>
                  <a:pt x="116681" y="33337"/>
                </a:lnTo>
                <a:cubicBezTo>
                  <a:pt x="116681" y="24144"/>
                  <a:pt x="109206" y="16669"/>
                  <a:pt x="100013" y="16669"/>
                </a:cubicBezTo>
                <a:lnTo>
                  <a:pt x="100013" y="6251"/>
                </a:lnTo>
                <a:cubicBezTo>
                  <a:pt x="100013" y="2787"/>
                  <a:pt x="97226" y="0"/>
                  <a:pt x="93762" y="0"/>
                </a:cubicBezTo>
                <a:cubicBezTo>
                  <a:pt x="90298" y="0"/>
                  <a:pt x="87511" y="2787"/>
                  <a:pt x="87511" y="6251"/>
                </a:cubicBezTo>
                <a:lnTo>
                  <a:pt x="87511" y="16669"/>
                </a:lnTo>
                <a:lnTo>
                  <a:pt x="72926" y="16669"/>
                </a:lnTo>
                <a:lnTo>
                  <a:pt x="72926" y="6251"/>
                </a:lnTo>
                <a:cubicBezTo>
                  <a:pt x="72926" y="2787"/>
                  <a:pt x="70139" y="0"/>
                  <a:pt x="66675" y="0"/>
                </a:cubicBezTo>
                <a:cubicBezTo>
                  <a:pt x="63211" y="0"/>
                  <a:pt x="60424" y="2787"/>
                  <a:pt x="60424" y="6251"/>
                </a:cubicBezTo>
                <a:lnTo>
                  <a:pt x="60424" y="16669"/>
                </a:lnTo>
                <a:lnTo>
                  <a:pt x="45839" y="16669"/>
                </a:lnTo>
                <a:lnTo>
                  <a:pt x="45839" y="6251"/>
                </a:lnTo>
                <a:close/>
                <a:moveTo>
                  <a:pt x="41672" y="33337"/>
                </a:moveTo>
                <a:lnTo>
                  <a:pt x="91678" y="33337"/>
                </a:lnTo>
                <a:cubicBezTo>
                  <a:pt x="96288" y="33337"/>
                  <a:pt x="100013" y="37062"/>
                  <a:pt x="100013" y="41672"/>
                </a:cubicBezTo>
                <a:lnTo>
                  <a:pt x="100013" y="91678"/>
                </a:lnTo>
                <a:cubicBezTo>
                  <a:pt x="100013" y="96288"/>
                  <a:pt x="96288" y="100013"/>
                  <a:pt x="91678" y="100013"/>
                </a:cubicBezTo>
                <a:lnTo>
                  <a:pt x="41672" y="100013"/>
                </a:lnTo>
                <a:cubicBezTo>
                  <a:pt x="37062" y="100013"/>
                  <a:pt x="33337" y="96288"/>
                  <a:pt x="33337" y="91678"/>
                </a:cubicBezTo>
                <a:lnTo>
                  <a:pt x="33337" y="41672"/>
                </a:lnTo>
                <a:cubicBezTo>
                  <a:pt x="33337" y="37062"/>
                  <a:pt x="37062" y="33337"/>
                  <a:pt x="41672" y="33337"/>
                </a:cubicBezTo>
                <a:close/>
                <a:moveTo>
                  <a:pt x="45839" y="45839"/>
                </a:moveTo>
                <a:lnTo>
                  <a:pt x="45839" y="87511"/>
                </a:lnTo>
                <a:lnTo>
                  <a:pt x="87511" y="87511"/>
                </a:lnTo>
                <a:lnTo>
                  <a:pt x="87511" y="45839"/>
                </a:lnTo>
                <a:lnTo>
                  <a:pt x="45839" y="45839"/>
                </a:lnTo>
                <a:close/>
              </a:path>
            </a:pathLst>
          </a:custGeom>
          <a:solidFill>
            <a:srgbClr val="6366F1"/>
          </a:solidFill>
          <a:ln/>
        </p:spPr>
      </p:sp>
      <p:sp>
        <p:nvSpPr>
          <p:cNvPr id="22" name="Text 20"/>
          <p:cNvSpPr/>
          <p:nvPr/>
        </p:nvSpPr>
        <p:spPr>
          <a:xfrm>
            <a:off x="800100" y="4457700"/>
            <a:ext cx="6419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Types of ROM</a:t>
            </a:r>
            <a:endParaRPr lang="en-US" sz="1600" dirty="0"/>
          </a:p>
        </p:txBody>
      </p:sp>
      <p:sp>
        <p:nvSpPr>
          <p:cNvPr id="23" name="Text 21"/>
          <p:cNvSpPr/>
          <p:nvPr/>
        </p:nvSpPr>
        <p:spPr>
          <a:xfrm>
            <a:off x="800100" y="4724400"/>
            <a:ext cx="6419850"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PROM (programmable once), EPROM (erasable with UV light), EEPROM (electrically erasable, like flash memory)</a:t>
            </a:r>
            <a:endParaRPr lang="en-US" sz="1600" dirty="0"/>
          </a:p>
        </p:txBody>
      </p:sp>
      <p:sp>
        <p:nvSpPr>
          <p:cNvPr id="24" name="Shape 22"/>
          <p:cNvSpPr/>
          <p:nvPr/>
        </p:nvSpPr>
        <p:spPr>
          <a:xfrm>
            <a:off x="384810" y="5703574"/>
            <a:ext cx="6760845" cy="769620"/>
          </a:xfrm>
          <a:custGeom>
            <a:avLst/>
            <a:gdLst/>
            <a:ahLst/>
            <a:cxnLst/>
            <a:rect l="l" t="t" r="r" b="b"/>
            <a:pathLst>
              <a:path w="6760845" h="769620">
                <a:moveTo>
                  <a:pt x="76200" y="0"/>
                </a:moveTo>
                <a:lnTo>
                  <a:pt x="6684645" y="0"/>
                </a:lnTo>
                <a:cubicBezTo>
                  <a:pt x="6726729" y="0"/>
                  <a:pt x="6760845" y="34116"/>
                  <a:pt x="6760845" y="76200"/>
                </a:cubicBezTo>
                <a:lnTo>
                  <a:pt x="6760845" y="693420"/>
                </a:lnTo>
                <a:cubicBezTo>
                  <a:pt x="6760845" y="735504"/>
                  <a:pt x="6726729" y="769620"/>
                  <a:pt x="6684645" y="769620"/>
                </a:cubicBezTo>
                <a:lnTo>
                  <a:pt x="76200" y="769620"/>
                </a:lnTo>
                <a:cubicBezTo>
                  <a:pt x="34116" y="769620"/>
                  <a:pt x="0" y="735504"/>
                  <a:pt x="0" y="693420"/>
                </a:cubicBezTo>
                <a:lnTo>
                  <a:pt x="0" y="76200"/>
                </a:lnTo>
                <a:cubicBezTo>
                  <a:pt x="0" y="34144"/>
                  <a:pt x="34144" y="0"/>
                  <a:pt x="76200" y="0"/>
                </a:cubicBezTo>
                <a:close/>
              </a:path>
            </a:pathLst>
          </a:custGeom>
          <a:solidFill>
            <a:srgbClr val="262626"/>
          </a:solidFill>
          <a:ln w="10160">
            <a:solidFill>
              <a:srgbClr val="333333"/>
            </a:solidFill>
            <a:prstDash val="solid"/>
          </a:ln>
        </p:spPr>
      </p:sp>
      <p:sp>
        <p:nvSpPr>
          <p:cNvPr id="25" name="Text 23"/>
          <p:cNvSpPr/>
          <p:nvPr/>
        </p:nvSpPr>
        <p:spPr>
          <a:xfrm>
            <a:off x="541020" y="5859791"/>
            <a:ext cx="6524625" cy="4572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Real-World Example:</a:t>
            </a:r>
            <a:r>
              <a:rPr lang="en-US" sz="1200" dirty="0">
                <a:solidFill>
                  <a:srgbClr val="EFEFEF"/>
                </a:solidFill>
                <a:latin typeface="Liter" pitchFamily="34" charset="0"/>
                <a:ea typeface="Liter" pitchFamily="34" charset="-122"/>
                <a:cs typeface="Liter" pitchFamily="34" charset="-120"/>
              </a:rPr>
              <a:t> When you press the power button, ROM tells the computer how to wake up, test its parts, and start Windows or macOS!</a:t>
            </a:r>
            <a:endParaRPr lang="en-US" sz="1600" dirty="0"/>
          </a:p>
        </p:txBody>
      </p:sp>
      <p:sp>
        <p:nvSpPr>
          <p:cNvPr id="26" name="Shape 24"/>
          <p:cNvSpPr/>
          <p:nvPr/>
        </p:nvSpPr>
        <p:spPr>
          <a:xfrm>
            <a:off x="7379970" y="384810"/>
            <a:ext cx="4427220" cy="4398645"/>
          </a:xfrm>
          <a:custGeom>
            <a:avLst/>
            <a:gdLst/>
            <a:ahLst/>
            <a:cxnLst/>
            <a:rect l="l" t="t" r="r" b="b"/>
            <a:pathLst>
              <a:path w="4427220" h="4398645">
                <a:moveTo>
                  <a:pt x="114321" y="0"/>
                </a:moveTo>
                <a:lnTo>
                  <a:pt x="4312899" y="0"/>
                </a:lnTo>
                <a:cubicBezTo>
                  <a:pt x="4376037" y="0"/>
                  <a:pt x="4427220" y="51183"/>
                  <a:pt x="4427220" y="114321"/>
                </a:cubicBezTo>
                <a:lnTo>
                  <a:pt x="4427220" y="4284324"/>
                </a:lnTo>
                <a:cubicBezTo>
                  <a:pt x="4427220" y="4347462"/>
                  <a:pt x="4376037" y="4398645"/>
                  <a:pt x="4312899" y="4398645"/>
                </a:cubicBezTo>
                <a:lnTo>
                  <a:pt x="114321" y="4398645"/>
                </a:lnTo>
                <a:cubicBezTo>
                  <a:pt x="51183" y="4398645"/>
                  <a:pt x="0" y="4347462"/>
                  <a:pt x="0" y="4284324"/>
                </a:cubicBezTo>
                <a:lnTo>
                  <a:pt x="0" y="114321"/>
                </a:lnTo>
                <a:cubicBezTo>
                  <a:pt x="0" y="51225"/>
                  <a:pt x="51225" y="0"/>
                  <a:pt x="114321" y="0"/>
                </a:cubicBezTo>
                <a:close/>
              </a:path>
            </a:pathLst>
          </a:custGeom>
          <a:solidFill>
            <a:srgbClr val="262626"/>
          </a:solidFill>
          <a:ln w="10160">
            <a:solidFill>
              <a:srgbClr val="333333"/>
            </a:solidFill>
            <a:prstDash val="solid"/>
          </a:ln>
        </p:spPr>
      </p:sp>
      <p:sp>
        <p:nvSpPr>
          <p:cNvPr id="27" name="Shape 25"/>
          <p:cNvSpPr/>
          <p:nvPr/>
        </p:nvSpPr>
        <p:spPr>
          <a:xfrm>
            <a:off x="9250680" y="1764041"/>
            <a:ext cx="685800" cy="914400"/>
          </a:xfrm>
          <a:custGeom>
            <a:avLst/>
            <a:gdLst/>
            <a:ahLst/>
            <a:cxnLst/>
            <a:rect l="l" t="t" r="r" b="b"/>
            <a:pathLst>
              <a:path w="685800" h="914400">
                <a:moveTo>
                  <a:pt x="228600" y="171450"/>
                </a:moveTo>
                <a:lnTo>
                  <a:pt x="228600" y="285750"/>
                </a:lnTo>
                <a:lnTo>
                  <a:pt x="457200" y="285750"/>
                </a:lnTo>
                <a:lnTo>
                  <a:pt x="457200" y="171450"/>
                </a:lnTo>
                <a:cubicBezTo>
                  <a:pt x="457200" y="108406"/>
                  <a:pt x="405944" y="57150"/>
                  <a:pt x="342900" y="57150"/>
                </a:cubicBezTo>
                <a:cubicBezTo>
                  <a:pt x="279856" y="57150"/>
                  <a:pt x="228600" y="108406"/>
                  <a:pt x="228600" y="171450"/>
                </a:cubicBezTo>
                <a:close/>
                <a:moveTo>
                  <a:pt x="114300" y="285750"/>
                </a:moveTo>
                <a:lnTo>
                  <a:pt x="114300" y="171450"/>
                </a:lnTo>
                <a:cubicBezTo>
                  <a:pt x="114300" y="45184"/>
                  <a:pt x="216634" y="-57150"/>
                  <a:pt x="342900" y="-57150"/>
                </a:cubicBezTo>
                <a:cubicBezTo>
                  <a:pt x="469166" y="-57150"/>
                  <a:pt x="571500" y="45184"/>
                  <a:pt x="571500" y="171450"/>
                </a:cubicBezTo>
                <a:lnTo>
                  <a:pt x="571500" y="285750"/>
                </a:lnTo>
                <a:cubicBezTo>
                  <a:pt x="634544" y="285750"/>
                  <a:pt x="685800" y="337006"/>
                  <a:pt x="685800" y="400050"/>
                </a:cubicBezTo>
                <a:lnTo>
                  <a:pt x="685800" y="800100"/>
                </a:lnTo>
                <a:cubicBezTo>
                  <a:pt x="685800" y="863144"/>
                  <a:pt x="634544" y="914400"/>
                  <a:pt x="571500" y="914400"/>
                </a:cubicBezTo>
                <a:lnTo>
                  <a:pt x="114300" y="914400"/>
                </a:lnTo>
                <a:cubicBezTo>
                  <a:pt x="51256" y="914400"/>
                  <a:pt x="0" y="863144"/>
                  <a:pt x="0" y="800100"/>
                </a:cubicBezTo>
                <a:lnTo>
                  <a:pt x="0" y="400050"/>
                </a:lnTo>
                <a:cubicBezTo>
                  <a:pt x="0" y="337006"/>
                  <a:pt x="51256" y="285750"/>
                  <a:pt x="114300" y="285750"/>
                </a:cubicBezTo>
                <a:close/>
              </a:path>
            </a:pathLst>
          </a:custGeom>
          <a:solidFill>
            <a:srgbClr val="6366F1"/>
          </a:solidFill>
          <a:ln/>
        </p:spPr>
      </p:sp>
      <p:sp>
        <p:nvSpPr>
          <p:cNvPr id="28" name="Text 26"/>
          <p:cNvSpPr/>
          <p:nvPr/>
        </p:nvSpPr>
        <p:spPr>
          <a:xfrm>
            <a:off x="8766572" y="2830841"/>
            <a:ext cx="1657350" cy="266700"/>
          </a:xfrm>
          <a:prstGeom prst="rect">
            <a:avLst/>
          </a:prstGeom>
          <a:noFill/>
          <a:ln/>
        </p:spPr>
        <p:txBody>
          <a:bodyPr wrap="square" lIns="0" tIns="0" rIns="0" bIns="0" rtlCol="0" anchor="ctr"/>
          <a:lstStyle/>
          <a:p>
            <a:pPr algn="ctr">
              <a:lnSpc>
                <a:spcPct val="120000"/>
              </a:lnSpc>
            </a:pPr>
            <a:r>
              <a:rPr lang="en-US" sz="1500" b="1" dirty="0">
                <a:solidFill>
                  <a:srgbClr val="EFEFEF"/>
                </a:solidFill>
                <a:latin typeface="Liter" pitchFamily="34" charset="0"/>
                <a:ea typeface="Liter" pitchFamily="34" charset="-122"/>
                <a:cs typeface="Liter" pitchFamily="34" charset="-120"/>
              </a:rPr>
              <a:t>ROM Chip</a:t>
            </a:r>
            <a:endParaRPr lang="en-US" sz="1600" dirty="0"/>
          </a:p>
        </p:txBody>
      </p:sp>
      <p:sp>
        <p:nvSpPr>
          <p:cNvPr id="29" name="Text 27"/>
          <p:cNvSpPr/>
          <p:nvPr/>
        </p:nvSpPr>
        <p:spPr>
          <a:xfrm>
            <a:off x="8776097" y="3173741"/>
            <a:ext cx="1638300" cy="228600"/>
          </a:xfrm>
          <a:prstGeom prst="rect">
            <a:avLst/>
          </a:prstGeom>
          <a:noFill/>
          <a:ln/>
        </p:spPr>
        <p:txBody>
          <a:bodyPr wrap="square" lIns="0" tIns="0" rIns="0" bIns="0" rtlCol="0" anchor="ctr"/>
          <a:lstStyle/>
          <a:p>
            <a:pPr algn="ctr">
              <a:lnSpc>
                <a:spcPct val="130000"/>
              </a:lnSpc>
            </a:pPr>
            <a:r>
              <a:rPr lang="en-US" sz="1200" dirty="0">
                <a:solidFill>
                  <a:srgbClr val="8F8F8F"/>
                </a:solidFill>
                <a:latin typeface="Liter" pitchFamily="34" charset="0"/>
                <a:ea typeface="Liter" pitchFamily="34" charset="-122"/>
                <a:cs typeface="Liter" pitchFamily="34" charset="-120"/>
              </a:rPr>
              <a:t>Permanent instructions</a:t>
            </a:r>
            <a:endParaRPr lang="en-US" sz="1600" dirty="0"/>
          </a:p>
        </p:txBody>
      </p:sp>
      <p:sp>
        <p:nvSpPr>
          <p:cNvPr id="30" name="Shape 28"/>
          <p:cNvSpPr/>
          <p:nvPr/>
        </p:nvSpPr>
        <p:spPr>
          <a:xfrm>
            <a:off x="7379970" y="4941574"/>
            <a:ext cx="4427220" cy="1531620"/>
          </a:xfrm>
          <a:custGeom>
            <a:avLst/>
            <a:gdLst/>
            <a:ahLst/>
            <a:cxnLst/>
            <a:rect l="l" t="t" r="r" b="b"/>
            <a:pathLst>
              <a:path w="4427220" h="1531620">
                <a:moveTo>
                  <a:pt x="76198" y="0"/>
                </a:moveTo>
                <a:lnTo>
                  <a:pt x="4351022" y="0"/>
                </a:lnTo>
                <a:cubicBezTo>
                  <a:pt x="4393105" y="0"/>
                  <a:pt x="4427220" y="34115"/>
                  <a:pt x="4427220" y="76198"/>
                </a:cubicBezTo>
                <a:lnTo>
                  <a:pt x="4427220" y="1455422"/>
                </a:lnTo>
                <a:cubicBezTo>
                  <a:pt x="4427220" y="1497505"/>
                  <a:pt x="4393105" y="1531620"/>
                  <a:pt x="4351022" y="1531620"/>
                </a:cubicBezTo>
                <a:lnTo>
                  <a:pt x="76198" y="1531620"/>
                </a:lnTo>
                <a:cubicBezTo>
                  <a:pt x="34115" y="1531620"/>
                  <a:pt x="0" y="1497505"/>
                  <a:pt x="0" y="1455422"/>
                </a:cubicBezTo>
                <a:lnTo>
                  <a:pt x="0" y="76198"/>
                </a:lnTo>
                <a:cubicBezTo>
                  <a:pt x="0" y="34115"/>
                  <a:pt x="34115" y="0"/>
                  <a:pt x="76198" y="0"/>
                </a:cubicBezTo>
                <a:close/>
              </a:path>
            </a:pathLst>
          </a:custGeom>
          <a:solidFill>
            <a:srgbClr val="6366F1">
              <a:alpha val="10196"/>
            </a:srgbClr>
          </a:solidFill>
          <a:ln w="10160">
            <a:solidFill>
              <a:srgbClr val="6366F1">
                <a:alpha val="30196"/>
              </a:srgbClr>
            </a:solidFill>
            <a:prstDash val="solid"/>
          </a:ln>
        </p:spPr>
      </p:sp>
      <p:sp>
        <p:nvSpPr>
          <p:cNvPr id="31" name="Text 29"/>
          <p:cNvSpPr/>
          <p:nvPr/>
        </p:nvSpPr>
        <p:spPr>
          <a:xfrm>
            <a:off x="7536180" y="5097791"/>
            <a:ext cx="419100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Explanation</a:t>
            </a:r>
            <a:endParaRPr lang="en-US" sz="1600" dirty="0"/>
          </a:p>
        </p:txBody>
      </p:sp>
      <p:sp>
        <p:nvSpPr>
          <p:cNvPr id="32" name="Text 30"/>
          <p:cNvSpPr/>
          <p:nvPr/>
        </p:nvSpPr>
        <p:spPr>
          <a:xfrm>
            <a:off x="7536180" y="5402591"/>
            <a:ext cx="41910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ROM is like the instruction manual that comes with a toy - it's already written, you can't change it, and it tells you how to get started. Every time you turn on your computer, ROM reads this "manual" to know what to do first.</a:t>
            </a:r>
            <a:endParaRPr lang="en-US"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6251"/>
          </a:xfrm>
          <a:custGeom>
            <a:avLst/>
            <a:gdLst/>
            <a:ahLst/>
            <a:cxnLst/>
            <a:rect l="l" t="t" r="r" b="b"/>
            <a:pathLst>
              <a:path w="12192000" h="6856251">
                <a:moveTo>
                  <a:pt x="0" y="0"/>
                </a:moveTo>
                <a:lnTo>
                  <a:pt x="12192000" y="0"/>
                </a:lnTo>
                <a:lnTo>
                  <a:pt x="12192000" y="6856251"/>
                </a:lnTo>
                <a:lnTo>
                  <a:pt x="0" y="6856251"/>
                </a:lnTo>
                <a:lnTo>
                  <a:pt x="0" y="0"/>
                </a:lnTo>
                <a:close/>
              </a:path>
            </a:pathLst>
          </a:custGeom>
          <a:gradFill flip="none" rotWithShape="1">
            <a:gsLst>
              <a:gs pos="0">
                <a:srgbClr val="6366F1">
                  <a:alpha val="10000"/>
                </a:srgbClr>
              </a:gs>
              <a:gs pos="50000">
                <a:srgbClr val="191919"/>
              </a:gs>
              <a:gs pos="100000">
                <a:srgbClr val="191919"/>
              </a:gs>
            </a:gsLst>
            <a:lin ang="2700000" scaled="1"/>
          </a:gradFill>
          <a:ln/>
        </p:spPr>
      </p:sp>
      <p:sp>
        <p:nvSpPr>
          <p:cNvPr id="3" name="Shape 1"/>
          <p:cNvSpPr/>
          <p:nvPr/>
        </p:nvSpPr>
        <p:spPr>
          <a:xfrm>
            <a:off x="4965885" y="-67979"/>
            <a:ext cx="2255567" cy="417905"/>
          </a:xfrm>
          <a:custGeom>
            <a:avLst/>
            <a:gdLst/>
            <a:ahLst/>
            <a:cxnLst/>
            <a:rect l="l" t="t" r="r" b="b"/>
            <a:pathLst>
              <a:path w="2255567" h="417905">
                <a:moveTo>
                  <a:pt x="208952" y="0"/>
                </a:moveTo>
                <a:lnTo>
                  <a:pt x="2046614" y="0"/>
                </a:lnTo>
                <a:cubicBezTo>
                  <a:pt x="2162015" y="0"/>
                  <a:pt x="2255567" y="93551"/>
                  <a:pt x="2255567" y="208952"/>
                </a:cubicBezTo>
                <a:lnTo>
                  <a:pt x="2255567" y="208952"/>
                </a:lnTo>
                <a:cubicBezTo>
                  <a:pt x="2255567" y="324354"/>
                  <a:pt x="2162015" y="417905"/>
                  <a:pt x="2046614" y="417905"/>
                </a:cubicBezTo>
                <a:lnTo>
                  <a:pt x="208952" y="417905"/>
                </a:lnTo>
                <a:cubicBezTo>
                  <a:pt x="93551" y="417905"/>
                  <a:pt x="0" y="324354"/>
                  <a:pt x="0" y="208952"/>
                </a:cubicBezTo>
                <a:lnTo>
                  <a:pt x="0" y="208952"/>
                </a:lnTo>
                <a:cubicBezTo>
                  <a:pt x="0" y="93551"/>
                  <a:pt x="93551" y="0"/>
                  <a:pt x="208952" y="0"/>
                </a:cubicBezTo>
                <a:close/>
              </a:path>
            </a:pathLst>
          </a:custGeom>
          <a:solidFill>
            <a:srgbClr val="6366F1">
              <a:alpha val="20000"/>
            </a:srgbClr>
          </a:solidFill>
          <a:ln w="10160">
            <a:solidFill>
              <a:srgbClr val="6366F1">
                <a:alpha val="40000"/>
              </a:srgbClr>
            </a:solidFill>
            <a:prstDash val="solid"/>
          </a:ln>
        </p:spPr>
      </p:sp>
      <p:sp>
        <p:nvSpPr>
          <p:cNvPr id="4" name="Text 2"/>
          <p:cNvSpPr/>
          <p:nvPr/>
        </p:nvSpPr>
        <p:spPr>
          <a:xfrm>
            <a:off x="5151516" y="17837"/>
            <a:ext cx="1885819" cy="238803"/>
          </a:xfrm>
          <a:prstGeom prst="rect">
            <a:avLst/>
          </a:prstGeom>
          <a:noFill/>
          <a:ln/>
        </p:spPr>
        <p:txBody>
          <a:bodyPr wrap="square" lIns="0" tIns="0" rIns="0" bIns="0" rtlCol="0" anchor="ctr"/>
          <a:lstStyle/>
          <a:p>
            <a:pPr algn="ctr">
              <a:lnSpc>
                <a:spcPct val="130000"/>
              </a:lnSpc>
            </a:pPr>
            <a:r>
              <a:rPr lang="en-US" sz="1322" b="1" kern="0" spc="66" dirty="0">
                <a:solidFill>
                  <a:srgbClr val="6366F1"/>
                </a:solidFill>
                <a:latin typeface="Liter" pitchFamily="34" charset="0"/>
                <a:ea typeface="Liter" pitchFamily="34" charset="-122"/>
                <a:cs typeface="Liter" pitchFamily="34" charset="-120"/>
              </a:rPr>
              <a:t>CONGRATULATIONS!</a:t>
            </a:r>
            <a:endParaRPr lang="en-US" sz="1600" dirty="0"/>
          </a:p>
        </p:txBody>
      </p:sp>
      <p:sp>
        <p:nvSpPr>
          <p:cNvPr id="5" name="Text 3"/>
          <p:cNvSpPr/>
          <p:nvPr/>
        </p:nvSpPr>
        <p:spPr>
          <a:xfrm>
            <a:off x="233206" y="577531"/>
            <a:ext cx="11725588" cy="559694"/>
          </a:xfrm>
          <a:prstGeom prst="rect">
            <a:avLst/>
          </a:prstGeom>
          <a:noFill/>
          <a:ln/>
        </p:spPr>
        <p:txBody>
          <a:bodyPr wrap="square" lIns="0" tIns="0" rIns="0" bIns="0" rtlCol="0" anchor="ctr"/>
          <a:lstStyle/>
          <a:p>
            <a:pPr algn="ctr">
              <a:lnSpc>
                <a:spcPct val="80000"/>
              </a:lnSpc>
            </a:pPr>
            <a:r>
              <a:rPr lang="en-US" sz="4407" b="1" dirty="0">
                <a:solidFill>
                  <a:srgbClr val="EFEFEF"/>
                </a:solidFill>
                <a:latin typeface="Liter" pitchFamily="34" charset="0"/>
                <a:ea typeface="Liter" pitchFamily="34" charset="-122"/>
                <a:cs typeface="Liter" pitchFamily="34" charset="-120"/>
              </a:rPr>
              <a:t>What You've Learned</a:t>
            </a:r>
            <a:endParaRPr lang="en-US" sz="1600" dirty="0"/>
          </a:p>
        </p:txBody>
      </p:sp>
      <p:sp>
        <p:nvSpPr>
          <p:cNvPr id="6" name="Text 4"/>
          <p:cNvSpPr/>
          <p:nvPr/>
        </p:nvSpPr>
        <p:spPr>
          <a:xfrm>
            <a:off x="317160" y="1286476"/>
            <a:ext cx="11557680" cy="298503"/>
          </a:xfrm>
          <a:prstGeom prst="rect">
            <a:avLst/>
          </a:prstGeom>
          <a:noFill/>
          <a:ln/>
        </p:spPr>
        <p:txBody>
          <a:bodyPr wrap="square" lIns="0" tIns="0" rIns="0" bIns="0" rtlCol="0" anchor="ctr"/>
          <a:lstStyle/>
          <a:p>
            <a:pPr algn="ctr">
              <a:lnSpc>
                <a:spcPct val="110000"/>
              </a:lnSpc>
            </a:pPr>
            <a:r>
              <a:rPr lang="en-US" sz="1763" dirty="0">
                <a:solidFill>
                  <a:srgbClr val="8F8F8F"/>
                </a:solidFill>
                <a:latin typeface="Liter" pitchFamily="34" charset="0"/>
                <a:ea typeface="Liter" pitchFamily="34" charset="-122"/>
                <a:cs typeface="Liter" pitchFamily="34" charset="-120"/>
              </a:rPr>
              <a:t>Your journey through the world of ICT</a:t>
            </a:r>
            <a:endParaRPr lang="en-US" sz="1600" dirty="0"/>
          </a:p>
        </p:txBody>
      </p:sp>
      <p:sp>
        <p:nvSpPr>
          <p:cNvPr id="7" name="Shape 5"/>
          <p:cNvSpPr/>
          <p:nvPr/>
        </p:nvSpPr>
        <p:spPr>
          <a:xfrm>
            <a:off x="1322044" y="1887105"/>
            <a:ext cx="4671579" cy="1313415"/>
          </a:xfrm>
          <a:custGeom>
            <a:avLst/>
            <a:gdLst/>
            <a:ahLst/>
            <a:cxnLst/>
            <a:rect l="l" t="t" r="r" b="b"/>
            <a:pathLst>
              <a:path w="4671579" h="1313415">
                <a:moveTo>
                  <a:pt x="111942" y="0"/>
                </a:moveTo>
                <a:lnTo>
                  <a:pt x="4559637" y="0"/>
                </a:lnTo>
                <a:cubicBezTo>
                  <a:pt x="4621461" y="0"/>
                  <a:pt x="4671579" y="50118"/>
                  <a:pt x="4671579" y="111942"/>
                </a:cubicBezTo>
                <a:lnTo>
                  <a:pt x="4671579" y="1201473"/>
                </a:lnTo>
                <a:cubicBezTo>
                  <a:pt x="4671579" y="1263297"/>
                  <a:pt x="4621461" y="1313415"/>
                  <a:pt x="4559637" y="1313415"/>
                </a:cubicBezTo>
                <a:lnTo>
                  <a:pt x="111942" y="1313415"/>
                </a:lnTo>
                <a:cubicBezTo>
                  <a:pt x="50160" y="1313415"/>
                  <a:pt x="0" y="1263255"/>
                  <a:pt x="0" y="1201473"/>
                </a:cubicBezTo>
                <a:lnTo>
                  <a:pt x="0" y="111942"/>
                </a:lnTo>
                <a:cubicBezTo>
                  <a:pt x="0" y="50160"/>
                  <a:pt x="50160" y="0"/>
                  <a:pt x="111942" y="0"/>
                </a:cubicBezTo>
                <a:close/>
              </a:path>
            </a:pathLst>
          </a:custGeom>
          <a:solidFill>
            <a:srgbClr val="262626"/>
          </a:solidFill>
          <a:ln w="10160">
            <a:solidFill>
              <a:srgbClr val="333333"/>
            </a:solidFill>
            <a:prstDash val="solid"/>
          </a:ln>
        </p:spPr>
      </p:sp>
      <p:sp>
        <p:nvSpPr>
          <p:cNvPr id="8" name="Shape 6"/>
          <p:cNvSpPr/>
          <p:nvPr/>
        </p:nvSpPr>
        <p:spPr>
          <a:xfrm>
            <a:off x="1512340" y="2077408"/>
            <a:ext cx="373129" cy="373129"/>
          </a:xfrm>
          <a:custGeom>
            <a:avLst/>
            <a:gdLst/>
            <a:ahLst/>
            <a:cxnLst/>
            <a:rect l="l" t="t" r="r" b="b"/>
            <a:pathLst>
              <a:path w="373129" h="373129">
                <a:moveTo>
                  <a:pt x="74626" y="0"/>
                </a:moveTo>
                <a:lnTo>
                  <a:pt x="298503" y="0"/>
                </a:lnTo>
                <a:cubicBezTo>
                  <a:pt x="339718" y="0"/>
                  <a:pt x="373129" y="33411"/>
                  <a:pt x="373129" y="74626"/>
                </a:cubicBezTo>
                <a:lnTo>
                  <a:pt x="373129" y="298503"/>
                </a:lnTo>
                <a:cubicBezTo>
                  <a:pt x="373129" y="339718"/>
                  <a:pt x="339718" y="373129"/>
                  <a:pt x="298503" y="373129"/>
                </a:cubicBezTo>
                <a:lnTo>
                  <a:pt x="74626" y="373129"/>
                </a:lnTo>
                <a:cubicBezTo>
                  <a:pt x="33411" y="373129"/>
                  <a:pt x="0" y="339718"/>
                  <a:pt x="0" y="298503"/>
                </a:cubicBezTo>
                <a:lnTo>
                  <a:pt x="0" y="74626"/>
                </a:lnTo>
                <a:cubicBezTo>
                  <a:pt x="0" y="33411"/>
                  <a:pt x="33411" y="0"/>
                  <a:pt x="74626" y="0"/>
                </a:cubicBezTo>
                <a:close/>
              </a:path>
            </a:pathLst>
          </a:custGeom>
          <a:solidFill>
            <a:srgbClr val="6366F1">
              <a:alpha val="20000"/>
            </a:srgbClr>
          </a:solidFill>
          <a:ln/>
        </p:spPr>
      </p:sp>
      <p:sp>
        <p:nvSpPr>
          <p:cNvPr id="9" name="Shape 7"/>
          <p:cNvSpPr/>
          <p:nvPr/>
        </p:nvSpPr>
        <p:spPr>
          <a:xfrm>
            <a:off x="1624279" y="2189347"/>
            <a:ext cx="149252" cy="149252"/>
          </a:xfrm>
          <a:custGeom>
            <a:avLst/>
            <a:gdLst/>
            <a:ahLst/>
            <a:cxnLst/>
            <a:rect l="l" t="t" r="r" b="b"/>
            <a:pathLst>
              <a:path w="149252" h="149252">
                <a:moveTo>
                  <a:pt x="74626" y="149252"/>
                </a:moveTo>
                <a:cubicBezTo>
                  <a:pt x="115813" y="149252"/>
                  <a:pt x="149252" y="115813"/>
                  <a:pt x="149252" y="74626"/>
                </a:cubicBezTo>
                <a:cubicBezTo>
                  <a:pt x="149252" y="33439"/>
                  <a:pt x="115813" y="0"/>
                  <a:pt x="74626" y="0"/>
                </a:cubicBezTo>
                <a:cubicBezTo>
                  <a:pt x="33439" y="0"/>
                  <a:pt x="0" y="33439"/>
                  <a:pt x="0" y="74626"/>
                </a:cubicBezTo>
                <a:cubicBezTo>
                  <a:pt x="0" y="115813"/>
                  <a:pt x="33439" y="149252"/>
                  <a:pt x="74626" y="149252"/>
                </a:cubicBezTo>
                <a:close/>
                <a:moveTo>
                  <a:pt x="99229" y="62004"/>
                </a:moveTo>
                <a:lnTo>
                  <a:pt x="75908" y="99317"/>
                </a:lnTo>
                <a:cubicBezTo>
                  <a:pt x="74684" y="101270"/>
                  <a:pt x="72585" y="102494"/>
                  <a:pt x="70282" y="102611"/>
                </a:cubicBezTo>
                <a:cubicBezTo>
                  <a:pt x="67979" y="102727"/>
                  <a:pt x="65764" y="101678"/>
                  <a:pt x="64394" y="99812"/>
                </a:cubicBezTo>
                <a:lnTo>
                  <a:pt x="50402" y="81156"/>
                </a:lnTo>
                <a:cubicBezTo>
                  <a:pt x="48070" y="78066"/>
                  <a:pt x="48711" y="73693"/>
                  <a:pt x="51801" y="71361"/>
                </a:cubicBezTo>
                <a:cubicBezTo>
                  <a:pt x="54891" y="69029"/>
                  <a:pt x="59263" y="69670"/>
                  <a:pt x="61595" y="72760"/>
                </a:cubicBezTo>
                <a:lnTo>
                  <a:pt x="69466" y="83254"/>
                </a:lnTo>
                <a:lnTo>
                  <a:pt x="87365" y="54599"/>
                </a:lnTo>
                <a:cubicBezTo>
                  <a:pt x="89405" y="51334"/>
                  <a:pt x="93720" y="50314"/>
                  <a:pt x="97014" y="52384"/>
                </a:cubicBezTo>
                <a:cubicBezTo>
                  <a:pt x="100308" y="54454"/>
                  <a:pt x="101299" y="58739"/>
                  <a:pt x="99229" y="62033"/>
                </a:cubicBezTo>
                <a:close/>
              </a:path>
            </a:pathLst>
          </a:custGeom>
          <a:solidFill>
            <a:srgbClr val="6366F1"/>
          </a:solidFill>
          <a:ln/>
        </p:spPr>
      </p:sp>
      <p:sp>
        <p:nvSpPr>
          <p:cNvPr id="10" name="Text 8"/>
          <p:cNvSpPr/>
          <p:nvPr/>
        </p:nvSpPr>
        <p:spPr>
          <a:xfrm>
            <a:off x="1997408" y="2133378"/>
            <a:ext cx="1231327" cy="261191"/>
          </a:xfrm>
          <a:prstGeom prst="rect">
            <a:avLst/>
          </a:prstGeom>
          <a:noFill/>
          <a:ln/>
        </p:spPr>
        <p:txBody>
          <a:bodyPr wrap="square" lIns="0" tIns="0" rIns="0" bIns="0" rtlCol="0" anchor="ctr"/>
          <a:lstStyle/>
          <a:p>
            <a:pPr>
              <a:lnSpc>
                <a:spcPct val="130000"/>
              </a:lnSpc>
            </a:pPr>
            <a:r>
              <a:rPr lang="en-US" sz="1322" b="1" dirty="0">
                <a:solidFill>
                  <a:srgbClr val="EFEFEF"/>
                </a:solidFill>
                <a:latin typeface="Liter" pitchFamily="34" charset="0"/>
                <a:ea typeface="Liter" pitchFamily="34" charset="-122"/>
                <a:cs typeface="Liter" pitchFamily="34" charset="-120"/>
              </a:rPr>
              <a:t>ICT in Daily Life</a:t>
            </a:r>
            <a:endParaRPr lang="en-US" sz="1600" dirty="0"/>
          </a:p>
        </p:txBody>
      </p:sp>
      <p:sp>
        <p:nvSpPr>
          <p:cNvPr id="11" name="Text 9"/>
          <p:cNvSpPr/>
          <p:nvPr/>
        </p:nvSpPr>
        <p:spPr>
          <a:xfrm>
            <a:off x="1512340" y="2562476"/>
            <a:ext cx="4365613" cy="447755"/>
          </a:xfrm>
          <a:prstGeom prst="rect">
            <a:avLst/>
          </a:prstGeom>
          <a:noFill/>
          <a:ln/>
        </p:spPr>
        <p:txBody>
          <a:bodyPr wrap="square" lIns="0" tIns="0" rIns="0" bIns="0" rtlCol="0" anchor="ctr"/>
          <a:lstStyle/>
          <a:p>
            <a:pPr>
              <a:lnSpc>
                <a:spcPct val="130000"/>
              </a:lnSpc>
            </a:pPr>
            <a:r>
              <a:rPr lang="en-US" sz="1175" dirty="0">
                <a:solidFill>
                  <a:srgbClr val="8F8F8F"/>
                </a:solidFill>
                <a:latin typeface="Liter" pitchFamily="34" charset="0"/>
                <a:ea typeface="Liter" pitchFamily="34" charset="-122"/>
                <a:cs typeface="Liter" pitchFamily="34" charset="-120"/>
              </a:rPr>
              <a:t>Understand how technology impacts communication, work, shopping, banking, and entertainment</a:t>
            </a:r>
            <a:endParaRPr lang="en-US" sz="1600" dirty="0"/>
          </a:p>
        </p:txBody>
      </p:sp>
      <p:sp>
        <p:nvSpPr>
          <p:cNvPr id="12" name="Shape 10"/>
          <p:cNvSpPr/>
          <p:nvPr/>
        </p:nvSpPr>
        <p:spPr>
          <a:xfrm>
            <a:off x="6191381" y="1887105"/>
            <a:ext cx="4671579" cy="1313415"/>
          </a:xfrm>
          <a:custGeom>
            <a:avLst/>
            <a:gdLst/>
            <a:ahLst/>
            <a:cxnLst/>
            <a:rect l="l" t="t" r="r" b="b"/>
            <a:pathLst>
              <a:path w="4671579" h="1313415">
                <a:moveTo>
                  <a:pt x="111942" y="0"/>
                </a:moveTo>
                <a:lnTo>
                  <a:pt x="4559637" y="0"/>
                </a:lnTo>
                <a:cubicBezTo>
                  <a:pt x="4621461" y="0"/>
                  <a:pt x="4671579" y="50118"/>
                  <a:pt x="4671579" y="111942"/>
                </a:cubicBezTo>
                <a:lnTo>
                  <a:pt x="4671579" y="1201473"/>
                </a:lnTo>
                <a:cubicBezTo>
                  <a:pt x="4671579" y="1263297"/>
                  <a:pt x="4621461" y="1313415"/>
                  <a:pt x="4559637" y="1313415"/>
                </a:cubicBezTo>
                <a:lnTo>
                  <a:pt x="111942" y="1313415"/>
                </a:lnTo>
                <a:cubicBezTo>
                  <a:pt x="50160" y="1313415"/>
                  <a:pt x="0" y="1263255"/>
                  <a:pt x="0" y="1201473"/>
                </a:cubicBezTo>
                <a:lnTo>
                  <a:pt x="0" y="111942"/>
                </a:lnTo>
                <a:cubicBezTo>
                  <a:pt x="0" y="50160"/>
                  <a:pt x="50160" y="0"/>
                  <a:pt x="111942" y="0"/>
                </a:cubicBezTo>
                <a:close/>
              </a:path>
            </a:pathLst>
          </a:custGeom>
          <a:solidFill>
            <a:srgbClr val="262626"/>
          </a:solidFill>
          <a:ln w="10160">
            <a:solidFill>
              <a:srgbClr val="333333"/>
            </a:solidFill>
            <a:prstDash val="solid"/>
          </a:ln>
        </p:spPr>
      </p:sp>
      <p:sp>
        <p:nvSpPr>
          <p:cNvPr id="13" name="Shape 11"/>
          <p:cNvSpPr/>
          <p:nvPr/>
        </p:nvSpPr>
        <p:spPr>
          <a:xfrm>
            <a:off x="6381677" y="2077408"/>
            <a:ext cx="373129" cy="373129"/>
          </a:xfrm>
          <a:custGeom>
            <a:avLst/>
            <a:gdLst/>
            <a:ahLst/>
            <a:cxnLst/>
            <a:rect l="l" t="t" r="r" b="b"/>
            <a:pathLst>
              <a:path w="373129" h="373129">
                <a:moveTo>
                  <a:pt x="74626" y="0"/>
                </a:moveTo>
                <a:lnTo>
                  <a:pt x="298503" y="0"/>
                </a:lnTo>
                <a:cubicBezTo>
                  <a:pt x="339718" y="0"/>
                  <a:pt x="373129" y="33411"/>
                  <a:pt x="373129" y="74626"/>
                </a:cubicBezTo>
                <a:lnTo>
                  <a:pt x="373129" y="298503"/>
                </a:lnTo>
                <a:cubicBezTo>
                  <a:pt x="373129" y="339718"/>
                  <a:pt x="339718" y="373129"/>
                  <a:pt x="298503" y="373129"/>
                </a:cubicBezTo>
                <a:lnTo>
                  <a:pt x="74626" y="373129"/>
                </a:lnTo>
                <a:cubicBezTo>
                  <a:pt x="33411" y="373129"/>
                  <a:pt x="0" y="339718"/>
                  <a:pt x="0" y="298503"/>
                </a:cubicBezTo>
                <a:lnTo>
                  <a:pt x="0" y="74626"/>
                </a:lnTo>
                <a:cubicBezTo>
                  <a:pt x="0" y="33411"/>
                  <a:pt x="33411" y="0"/>
                  <a:pt x="74626" y="0"/>
                </a:cubicBezTo>
                <a:close/>
              </a:path>
            </a:pathLst>
          </a:custGeom>
          <a:solidFill>
            <a:srgbClr val="6366F1">
              <a:alpha val="20000"/>
            </a:srgbClr>
          </a:solidFill>
          <a:ln/>
        </p:spPr>
      </p:sp>
      <p:sp>
        <p:nvSpPr>
          <p:cNvPr id="14" name="Shape 12"/>
          <p:cNvSpPr/>
          <p:nvPr/>
        </p:nvSpPr>
        <p:spPr>
          <a:xfrm>
            <a:off x="6493616" y="2189347"/>
            <a:ext cx="149252" cy="149252"/>
          </a:xfrm>
          <a:custGeom>
            <a:avLst/>
            <a:gdLst/>
            <a:ahLst/>
            <a:cxnLst/>
            <a:rect l="l" t="t" r="r" b="b"/>
            <a:pathLst>
              <a:path w="149252" h="149252">
                <a:moveTo>
                  <a:pt x="74626" y="149252"/>
                </a:moveTo>
                <a:cubicBezTo>
                  <a:pt x="115813" y="149252"/>
                  <a:pt x="149252" y="115813"/>
                  <a:pt x="149252" y="74626"/>
                </a:cubicBezTo>
                <a:cubicBezTo>
                  <a:pt x="149252" y="33439"/>
                  <a:pt x="115813" y="0"/>
                  <a:pt x="74626" y="0"/>
                </a:cubicBezTo>
                <a:cubicBezTo>
                  <a:pt x="33439" y="0"/>
                  <a:pt x="0" y="33439"/>
                  <a:pt x="0" y="74626"/>
                </a:cubicBezTo>
                <a:cubicBezTo>
                  <a:pt x="0" y="115813"/>
                  <a:pt x="33439" y="149252"/>
                  <a:pt x="74626" y="149252"/>
                </a:cubicBezTo>
                <a:close/>
                <a:moveTo>
                  <a:pt x="99229" y="62004"/>
                </a:moveTo>
                <a:lnTo>
                  <a:pt x="75908" y="99317"/>
                </a:lnTo>
                <a:cubicBezTo>
                  <a:pt x="74684" y="101270"/>
                  <a:pt x="72585" y="102494"/>
                  <a:pt x="70282" y="102611"/>
                </a:cubicBezTo>
                <a:cubicBezTo>
                  <a:pt x="67979" y="102727"/>
                  <a:pt x="65764" y="101678"/>
                  <a:pt x="64394" y="99812"/>
                </a:cubicBezTo>
                <a:lnTo>
                  <a:pt x="50402" y="81156"/>
                </a:lnTo>
                <a:cubicBezTo>
                  <a:pt x="48070" y="78066"/>
                  <a:pt x="48711" y="73693"/>
                  <a:pt x="51801" y="71361"/>
                </a:cubicBezTo>
                <a:cubicBezTo>
                  <a:pt x="54891" y="69029"/>
                  <a:pt x="59263" y="69670"/>
                  <a:pt x="61595" y="72760"/>
                </a:cubicBezTo>
                <a:lnTo>
                  <a:pt x="69466" y="83254"/>
                </a:lnTo>
                <a:lnTo>
                  <a:pt x="87365" y="54599"/>
                </a:lnTo>
                <a:cubicBezTo>
                  <a:pt x="89405" y="51334"/>
                  <a:pt x="93720" y="50314"/>
                  <a:pt x="97014" y="52384"/>
                </a:cubicBezTo>
                <a:cubicBezTo>
                  <a:pt x="100308" y="54454"/>
                  <a:pt x="101299" y="58739"/>
                  <a:pt x="99229" y="62033"/>
                </a:cubicBezTo>
                <a:close/>
              </a:path>
            </a:pathLst>
          </a:custGeom>
          <a:solidFill>
            <a:srgbClr val="6366F1"/>
          </a:solidFill>
          <a:ln/>
        </p:spPr>
      </p:sp>
      <p:sp>
        <p:nvSpPr>
          <p:cNvPr id="15" name="Text 13"/>
          <p:cNvSpPr/>
          <p:nvPr/>
        </p:nvSpPr>
        <p:spPr>
          <a:xfrm>
            <a:off x="6866745" y="2133378"/>
            <a:ext cx="2033555" cy="261191"/>
          </a:xfrm>
          <a:prstGeom prst="rect">
            <a:avLst/>
          </a:prstGeom>
          <a:noFill/>
          <a:ln/>
        </p:spPr>
        <p:txBody>
          <a:bodyPr wrap="square" lIns="0" tIns="0" rIns="0" bIns="0" rtlCol="0" anchor="ctr"/>
          <a:lstStyle/>
          <a:p>
            <a:pPr>
              <a:lnSpc>
                <a:spcPct val="130000"/>
              </a:lnSpc>
            </a:pPr>
            <a:r>
              <a:rPr lang="en-US" sz="1322" b="1" dirty="0">
                <a:solidFill>
                  <a:srgbClr val="EFEFEF"/>
                </a:solidFill>
                <a:latin typeface="Liter" pitchFamily="34" charset="0"/>
                <a:ea typeface="Liter" pitchFamily="34" charset="-122"/>
                <a:cs typeface="Liter" pitchFamily="34" charset="-120"/>
              </a:rPr>
              <a:t>Computer-Based Systems</a:t>
            </a:r>
            <a:endParaRPr lang="en-US" sz="1600" dirty="0"/>
          </a:p>
        </p:txBody>
      </p:sp>
      <p:sp>
        <p:nvSpPr>
          <p:cNvPr id="16" name="Text 14"/>
          <p:cNvSpPr/>
          <p:nvPr/>
        </p:nvSpPr>
        <p:spPr>
          <a:xfrm>
            <a:off x="6381677" y="2562476"/>
            <a:ext cx="4365613" cy="447755"/>
          </a:xfrm>
          <a:prstGeom prst="rect">
            <a:avLst/>
          </a:prstGeom>
          <a:noFill/>
          <a:ln/>
        </p:spPr>
        <p:txBody>
          <a:bodyPr wrap="square" lIns="0" tIns="0" rIns="0" bIns="0" rtlCol="0" anchor="ctr"/>
          <a:lstStyle/>
          <a:p>
            <a:pPr>
              <a:lnSpc>
                <a:spcPct val="130000"/>
              </a:lnSpc>
            </a:pPr>
            <a:r>
              <a:rPr lang="en-US" sz="1175" dirty="0">
                <a:solidFill>
                  <a:srgbClr val="8F8F8F"/>
                </a:solidFill>
                <a:latin typeface="Liter" pitchFamily="34" charset="0"/>
                <a:ea typeface="Liter" pitchFamily="34" charset="-122"/>
                <a:cs typeface="Liter" pitchFamily="34" charset="-120"/>
              </a:rPr>
              <a:t>Recognize different systems used in schools, hospitals, banks, retail, and security</a:t>
            </a:r>
            <a:endParaRPr lang="en-US" sz="1600" dirty="0"/>
          </a:p>
        </p:txBody>
      </p:sp>
      <p:sp>
        <p:nvSpPr>
          <p:cNvPr id="17" name="Shape 15"/>
          <p:cNvSpPr/>
          <p:nvPr/>
        </p:nvSpPr>
        <p:spPr>
          <a:xfrm>
            <a:off x="1322044" y="3394544"/>
            <a:ext cx="4671579" cy="1313415"/>
          </a:xfrm>
          <a:custGeom>
            <a:avLst/>
            <a:gdLst/>
            <a:ahLst/>
            <a:cxnLst/>
            <a:rect l="l" t="t" r="r" b="b"/>
            <a:pathLst>
              <a:path w="4671579" h="1313415">
                <a:moveTo>
                  <a:pt x="111942" y="0"/>
                </a:moveTo>
                <a:lnTo>
                  <a:pt x="4559637" y="0"/>
                </a:lnTo>
                <a:cubicBezTo>
                  <a:pt x="4621461" y="0"/>
                  <a:pt x="4671579" y="50118"/>
                  <a:pt x="4671579" y="111942"/>
                </a:cubicBezTo>
                <a:lnTo>
                  <a:pt x="4671579" y="1201473"/>
                </a:lnTo>
                <a:cubicBezTo>
                  <a:pt x="4671579" y="1263297"/>
                  <a:pt x="4621461" y="1313415"/>
                  <a:pt x="4559637" y="1313415"/>
                </a:cubicBezTo>
                <a:lnTo>
                  <a:pt x="111942" y="1313415"/>
                </a:lnTo>
                <a:cubicBezTo>
                  <a:pt x="50160" y="1313415"/>
                  <a:pt x="0" y="1263255"/>
                  <a:pt x="0" y="1201473"/>
                </a:cubicBezTo>
                <a:lnTo>
                  <a:pt x="0" y="111942"/>
                </a:lnTo>
                <a:cubicBezTo>
                  <a:pt x="0" y="50160"/>
                  <a:pt x="50160" y="0"/>
                  <a:pt x="111942" y="0"/>
                </a:cubicBezTo>
                <a:close/>
              </a:path>
            </a:pathLst>
          </a:custGeom>
          <a:solidFill>
            <a:srgbClr val="262626"/>
          </a:solidFill>
          <a:ln w="10160">
            <a:solidFill>
              <a:srgbClr val="333333"/>
            </a:solidFill>
            <a:prstDash val="solid"/>
          </a:ln>
        </p:spPr>
      </p:sp>
      <p:sp>
        <p:nvSpPr>
          <p:cNvPr id="18" name="Shape 16"/>
          <p:cNvSpPr/>
          <p:nvPr/>
        </p:nvSpPr>
        <p:spPr>
          <a:xfrm>
            <a:off x="1512340" y="3584847"/>
            <a:ext cx="373129" cy="373129"/>
          </a:xfrm>
          <a:custGeom>
            <a:avLst/>
            <a:gdLst/>
            <a:ahLst/>
            <a:cxnLst/>
            <a:rect l="l" t="t" r="r" b="b"/>
            <a:pathLst>
              <a:path w="373129" h="373129">
                <a:moveTo>
                  <a:pt x="74626" y="0"/>
                </a:moveTo>
                <a:lnTo>
                  <a:pt x="298503" y="0"/>
                </a:lnTo>
                <a:cubicBezTo>
                  <a:pt x="339718" y="0"/>
                  <a:pt x="373129" y="33411"/>
                  <a:pt x="373129" y="74626"/>
                </a:cubicBezTo>
                <a:lnTo>
                  <a:pt x="373129" y="298503"/>
                </a:lnTo>
                <a:cubicBezTo>
                  <a:pt x="373129" y="339718"/>
                  <a:pt x="339718" y="373129"/>
                  <a:pt x="298503" y="373129"/>
                </a:cubicBezTo>
                <a:lnTo>
                  <a:pt x="74626" y="373129"/>
                </a:lnTo>
                <a:cubicBezTo>
                  <a:pt x="33411" y="373129"/>
                  <a:pt x="0" y="339718"/>
                  <a:pt x="0" y="298503"/>
                </a:cubicBezTo>
                <a:lnTo>
                  <a:pt x="0" y="74626"/>
                </a:lnTo>
                <a:cubicBezTo>
                  <a:pt x="0" y="33411"/>
                  <a:pt x="33411" y="0"/>
                  <a:pt x="74626" y="0"/>
                </a:cubicBezTo>
                <a:close/>
              </a:path>
            </a:pathLst>
          </a:custGeom>
          <a:solidFill>
            <a:srgbClr val="6366F1">
              <a:alpha val="20000"/>
            </a:srgbClr>
          </a:solidFill>
          <a:ln/>
        </p:spPr>
      </p:sp>
      <p:sp>
        <p:nvSpPr>
          <p:cNvPr id="19" name="Shape 17"/>
          <p:cNvSpPr/>
          <p:nvPr/>
        </p:nvSpPr>
        <p:spPr>
          <a:xfrm>
            <a:off x="1624279" y="3696786"/>
            <a:ext cx="149252" cy="149252"/>
          </a:xfrm>
          <a:custGeom>
            <a:avLst/>
            <a:gdLst/>
            <a:ahLst/>
            <a:cxnLst/>
            <a:rect l="l" t="t" r="r" b="b"/>
            <a:pathLst>
              <a:path w="149252" h="149252">
                <a:moveTo>
                  <a:pt x="74626" y="149252"/>
                </a:moveTo>
                <a:cubicBezTo>
                  <a:pt x="115813" y="149252"/>
                  <a:pt x="149252" y="115813"/>
                  <a:pt x="149252" y="74626"/>
                </a:cubicBezTo>
                <a:cubicBezTo>
                  <a:pt x="149252" y="33439"/>
                  <a:pt x="115813" y="0"/>
                  <a:pt x="74626" y="0"/>
                </a:cubicBezTo>
                <a:cubicBezTo>
                  <a:pt x="33439" y="0"/>
                  <a:pt x="0" y="33439"/>
                  <a:pt x="0" y="74626"/>
                </a:cubicBezTo>
                <a:cubicBezTo>
                  <a:pt x="0" y="115813"/>
                  <a:pt x="33439" y="149252"/>
                  <a:pt x="74626" y="149252"/>
                </a:cubicBezTo>
                <a:close/>
                <a:moveTo>
                  <a:pt x="99229" y="62004"/>
                </a:moveTo>
                <a:lnTo>
                  <a:pt x="75908" y="99317"/>
                </a:lnTo>
                <a:cubicBezTo>
                  <a:pt x="74684" y="101270"/>
                  <a:pt x="72585" y="102494"/>
                  <a:pt x="70282" y="102611"/>
                </a:cubicBezTo>
                <a:cubicBezTo>
                  <a:pt x="67979" y="102727"/>
                  <a:pt x="65764" y="101678"/>
                  <a:pt x="64394" y="99812"/>
                </a:cubicBezTo>
                <a:lnTo>
                  <a:pt x="50402" y="81156"/>
                </a:lnTo>
                <a:cubicBezTo>
                  <a:pt x="48070" y="78066"/>
                  <a:pt x="48711" y="73693"/>
                  <a:pt x="51801" y="71361"/>
                </a:cubicBezTo>
                <a:cubicBezTo>
                  <a:pt x="54891" y="69029"/>
                  <a:pt x="59263" y="69670"/>
                  <a:pt x="61595" y="72760"/>
                </a:cubicBezTo>
                <a:lnTo>
                  <a:pt x="69466" y="83254"/>
                </a:lnTo>
                <a:lnTo>
                  <a:pt x="87365" y="54599"/>
                </a:lnTo>
                <a:cubicBezTo>
                  <a:pt x="89405" y="51334"/>
                  <a:pt x="93720" y="50314"/>
                  <a:pt x="97014" y="52384"/>
                </a:cubicBezTo>
                <a:cubicBezTo>
                  <a:pt x="100308" y="54454"/>
                  <a:pt x="101299" y="58739"/>
                  <a:pt x="99229" y="62033"/>
                </a:cubicBezTo>
                <a:close/>
              </a:path>
            </a:pathLst>
          </a:custGeom>
          <a:solidFill>
            <a:srgbClr val="6366F1"/>
          </a:solidFill>
          <a:ln/>
        </p:spPr>
      </p:sp>
      <p:sp>
        <p:nvSpPr>
          <p:cNvPr id="20" name="Text 18"/>
          <p:cNvSpPr/>
          <p:nvPr/>
        </p:nvSpPr>
        <p:spPr>
          <a:xfrm>
            <a:off x="1997408" y="3640816"/>
            <a:ext cx="1819005" cy="261191"/>
          </a:xfrm>
          <a:prstGeom prst="rect">
            <a:avLst/>
          </a:prstGeom>
          <a:noFill/>
          <a:ln/>
        </p:spPr>
        <p:txBody>
          <a:bodyPr wrap="square" lIns="0" tIns="0" rIns="0" bIns="0" rtlCol="0" anchor="ctr"/>
          <a:lstStyle/>
          <a:p>
            <a:pPr>
              <a:lnSpc>
                <a:spcPct val="130000"/>
              </a:lnSpc>
            </a:pPr>
            <a:r>
              <a:rPr lang="en-US" sz="1322" b="1" dirty="0">
                <a:solidFill>
                  <a:srgbClr val="EFEFEF"/>
                </a:solidFill>
                <a:latin typeface="Liter" pitchFamily="34" charset="0"/>
                <a:ea typeface="Liter" pitchFamily="34" charset="-122"/>
                <a:cs typeface="Liter" pitchFamily="34" charset="-120"/>
              </a:rPr>
              <a:t>Computer Components</a:t>
            </a:r>
            <a:endParaRPr lang="en-US" sz="1600" dirty="0"/>
          </a:p>
        </p:txBody>
      </p:sp>
      <p:sp>
        <p:nvSpPr>
          <p:cNvPr id="21" name="Text 19"/>
          <p:cNvSpPr/>
          <p:nvPr/>
        </p:nvSpPr>
        <p:spPr>
          <a:xfrm>
            <a:off x="1512340" y="4069915"/>
            <a:ext cx="4365613" cy="447755"/>
          </a:xfrm>
          <a:prstGeom prst="rect">
            <a:avLst/>
          </a:prstGeom>
          <a:noFill/>
          <a:ln/>
        </p:spPr>
        <p:txBody>
          <a:bodyPr wrap="square" lIns="0" tIns="0" rIns="0" bIns="0" rtlCol="0" anchor="ctr"/>
          <a:lstStyle/>
          <a:p>
            <a:pPr>
              <a:lnSpc>
                <a:spcPct val="130000"/>
              </a:lnSpc>
            </a:pPr>
            <a:r>
              <a:rPr lang="en-US" sz="1175" dirty="0">
                <a:solidFill>
                  <a:srgbClr val="8F8F8F"/>
                </a:solidFill>
                <a:latin typeface="Liter" pitchFamily="34" charset="0"/>
                <a:ea typeface="Liter" pitchFamily="34" charset="-122"/>
                <a:cs typeface="Liter" pitchFamily="34" charset="-120"/>
              </a:rPr>
              <a:t>Identify hardware, software, input/output devices, and communication technologies</a:t>
            </a:r>
            <a:endParaRPr lang="en-US" sz="1600" dirty="0"/>
          </a:p>
        </p:txBody>
      </p:sp>
      <p:sp>
        <p:nvSpPr>
          <p:cNvPr id="22" name="Shape 20"/>
          <p:cNvSpPr/>
          <p:nvPr/>
        </p:nvSpPr>
        <p:spPr>
          <a:xfrm>
            <a:off x="6191381" y="3394544"/>
            <a:ext cx="4671579" cy="1313415"/>
          </a:xfrm>
          <a:custGeom>
            <a:avLst/>
            <a:gdLst/>
            <a:ahLst/>
            <a:cxnLst/>
            <a:rect l="l" t="t" r="r" b="b"/>
            <a:pathLst>
              <a:path w="4671579" h="1313415">
                <a:moveTo>
                  <a:pt x="111942" y="0"/>
                </a:moveTo>
                <a:lnTo>
                  <a:pt x="4559637" y="0"/>
                </a:lnTo>
                <a:cubicBezTo>
                  <a:pt x="4621461" y="0"/>
                  <a:pt x="4671579" y="50118"/>
                  <a:pt x="4671579" y="111942"/>
                </a:cubicBezTo>
                <a:lnTo>
                  <a:pt x="4671579" y="1201473"/>
                </a:lnTo>
                <a:cubicBezTo>
                  <a:pt x="4671579" y="1263297"/>
                  <a:pt x="4621461" y="1313415"/>
                  <a:pt x="4559637" y="1313415"/>
                </a:cubicBezTo>
                <a:lnTo>
                  <a:pt x="111942" y="1313415"/>
                </a:lnTo>
                <a:cubicBezTo>
                  <a:pt x="50160" y="1313415"/>
                  <a:pt x="0" y="1263255"/>
                  <a:pt x="0" y="1201473"/>
                </a:cubicBezTo>
                <a:lnTo>
                  <a:pt x="0" y="111942"/>
                </a:lnTo>
                <a:cubicBezTo>
                  <a:pt x="0" y="50160"/>
                  <a:pt x="50160" y="0"/>
                  <a:pt x="111942" y="0"/>
                </a:cubicBezTo>
                <a:close/>
              </a:path>
            </a:pathLst>
          </a:custGeom>
          <a:solidFill>
            <a:srgbClr val="262626"/>
          </a:solidFill>
          <a:ln w="10160">
            <a:solidFill>
              <a:srgbClr val="333333"/>
            </a:solidFill>
            <a:prstDash val="solid"/>
          </a:ln>
        </p:spPr>
      </p:sp>
      <p:sp>
        <p:nvSpPr>
          <p:cNvPr id="23" name="Shape 21"/>
          <p:cNvSpPr/>
          <p:nvPr/>
        </p:nvSpPr>
        <p:spPr>
          <a:xfrm>
            <a:off x="6381677" y="3584847"/>
            <a:ext cx="373129" cy="373129"/>
          </a:xfrm>
          <a:custGeom>
            <a:avLst/>
            <a:gdLst/>
            <a:ahLst/>
            <a:cxnLst/>
            <a:rect l="l" t="t" r="r" b="b"/>
            <a:pathLst>
              <a:path w="373129" h="373129">
                <a:moveTo>
                  <a:pt x="74626" y="0"/>
                </a:moveTo>
                <a:lnTo>
                  <a:pt x="298503" y="0"/>
                </a:lnTo>
                <a:cubicBezTo>
                  <a:pt x="339718" y="0"/>
                  <a:pt x="373129" y="33411"/>
                  <a:pt x="373129" y="74626"/>
                </a:cubicBezTo>
                <a:lnTo>
                  <a:pt x="373129" y="298503"/>
                </a:lnTo>
                <a:cubicBezTo>
                  <a:pt x="373129" y="339718"/>
                  <a:pt x="339718" y="373129"/>
                  <a:pt x="298503" y="373129"/>
                </a:cubicBezTo>
                <a:lnTo>
                  <a:pt x="74626" y="373129"/>
                </a:lnTo>
                <a:cubicBezTo>
                  <a:pt x="33411" y="373129"/>
                  <a:pt x="0" y="339718"/>
                  <a:pt x="0" y="298503"/>
                </a:cubicBezTo>
                <a:lnTo>
                  <a:pt x="0" y="74626"/>
                </a:lnTo>
                <a:cubicBezTo>
                  <a:pt x="0" y="33411"/>
                  <a:pt x="33411" y="0"/>
                  <a:pt x="74626" y="0"/>
                </a:cubicBezTo>
                <a:close/>
              </a:path>
            </a:pathLst>
          </a:custGeom>
          <a:solidFill>
            <a:srgbClr val="6366F1">
              <a:alpha val="20000"/>
            </a:srgbClr>
          </a:solidFill>
          <a:ln/>
        </p:spPr>
      </p:sp>
      <p:sp>
        <p:nvSpPr>
          <p:cNvPr id="24" name="Shape 22"/>
          <p:cNvSpPr/>
          <p:nvPr/>
        </p:nvSpPr>
        <p:spPr>
          <a:xfrm>
            <a:off x="6493616" y="3696786"/>
            <a:ext cx="149252" cy="149252"/>
          </a:xfrm>
          <a:custGeom>
            <a:avLst/>
            <a:gdLst/>
            <a:ahLst/>
            <a:cxnLst/>
            <a:rect l="l" t="t" r="r" b="b"/>
            <a:pathLst>
              <a:path w="149252" h="149252">
                <a:moveTo>
                  <a:pt x="74626" y="149252"/>
                </a:moveTo>
                <a:cubicBezTo>
                  <a:pt x="115813" y="149252"/>
                  <a:pt x="149252" y="115813"/>
                  <a:pt x="149252" y="74626"/>
                </a:cubicBezTo>
                <a:cubicBezTo>
                  <a:pt x="149252" y="33439"/>
                  <a:pt x="115813" y="0"/>
                  <a:pt x="74626" y="0"/>
                </a:cubicBezTo>
                <a:cubicBezTo>
                  <a:pt x="33439" y="0"/>
                  <a:pt x="0" y="33439"/>
                  <a:pt x="0" y="74626"/>
                </a:cubicBezTo>
                <a:cubicBezTo>
                  <a:pt x="0" y="115813"/>
                  <a:pt x="33439" y="149252"/>
                  <a:pt x="74626" y="149252"/>
                </a:cubicBezTo>
                <a:close/>
                <a:moveTo>
                  <a:pt x="99229" y="62004"/>
                </a:moveTo>
                <a:lnTo>
                  <a:pt x="75908" y="99317"/>
                </a:lnTo>
                <a:cubicBezTo>
                  <a:pt x="74684" y="101270"/>
                  <a:pt x="72585" y="102494"/>
                  <a:pt x="70282" y="102611"/>
                </a:cubicBezTo>
                <a:cubicBezTo>
                  <a:pt x="67979" y="102727"/>
                  <a:pt x="65764" y="101678"/>
                  <a:pt x="64394" y="99812"/>
                </a:cubicBezTo>
                <a:lnTo>
                  <a:pt x="50402" y="81156"/>
                </a:lnTo>
                <a:cubicBezTo>
                  <a:pt x="48070" y="78066"/>
                  <a:pt x="48711" y="73693"/>
                  <a:pt x="51801" y="71361"/>
                </a:cubicBezTo>
                <a:cubicBezTo>
                  <a:pt x="54891" y="69029"/>
                  <a:pt x="59263" y="69670"/>
                  <a:pt x="61595" y="72760"/>
                </a:cubicBezTo>
                <a:lnTo>
                  <a:pt x="69466" y="83254"/>
                </a:lnTo>
                <a:lnTo>
                  <a:pt x="87365" y="54599"/>
                </a:lnTo>
                <a:cubicBezTo>
                  <a:pt x="89405" y="51334"/>
                  <a:pt x="93720" y="50314"/>
                  <a:pt x="97014" y="52384"/>
                </a:cubicBezTo>
                <a:cubicBezTo>
                  <a:pt x="100308" y="54454"/>
                  <a:pt x="101299" y="58739"/>
                  <a:pt x="99229" y="62033"/>
                </a:cubicBezTo>
                <a:close/>
              </a:path>
            </a:pathLst>
          </a:custGeom>
          <a:solidFill>
            <a:srgbClr val="6366F1"/>
          </a:solidFill>
          <a:ln/>
        </p:spPr>
      </p:sp>
      <p:sp>
        <p:nvSpPr>
          <p:cNvPr id="25" name="Text 23"/>
          <p:cNvSpPr/>
          <p:nvPr/>
        </p:nvSpPr>
        <p:spPr>
          <a:xfrm>
            <a:off x="6866745" y="3640816"/>
            <a:ext cx="1585800" cy="261191"/>
          </a:xfrm>
          <a:prstGeom prst="rect">
            <a:avLst/>
          </a:prstGeom>
          <a:noFill/>
          <a:ln/>
        </p:spPr>
        <p:txBody>
          <a:bodyPr wrap="square" lIns="0" tIns="0" rIns="0" bIns="0" rtlCol="0" anchor="ctr"/>
          <a:lstStyle/>
          <a:p>
            <a:pPr>
              <a:lnSpc>
                <a:spcPct val="130000"/>
              </a:lnSpc>
            </a:pPr>
            <a:r>
              <a:rPr lang="en-US" sz="1322" b="1" dirty="0">
                <a:solidFill>
                  <a:srgbClr val="EFEFEF"/>
                </a:solidFill>
                <a:latin typeface="Liter" pitchFamily="34" charset="0"/>
                <a:ea typeface="Liter" pitchFamily="34" charset="-122"/>
                <a:cs typeface="Liter" pitchFamily="34" charset="-120"/>
              </a:rPr>
              <a:t>Types of Computers</a:t>
            </a:r>
            <a:endParaRPr lang="en-US" sz="1600" dirty="0"/>
          </a:p>
        </p:txBody>
      </p:sp>
      <p:sp>
        <p:nvSpPr>
          <p:cNvPr id="26" name="Text 24"/>
          <p:cNvSpPr/>
          <p:nvPr/>
        </p:nvSpPr>
        <p:spPr>
          <a:xfrm>
            <a:off x="6381677" y="4069915"/>
            <a:ext cx="4365613" cy="447755"/>
          </a:xfrm>
          <a:prstGeom prst="rect">
            <a:avLst/>
          </a:prstGeom>
          <a:noFill/>
          <a:ln/>
        </p:spPr>
        <p:txBody>
          <a:bodyPr wrap="square" lIns="0" tIns="0" rIns="0" bIns="0" rtlCol="0" anchor="ctr"/>
          <a:lstStyle/>
          <a:p>
            <a:pPr>
              <a:lnSpc>
                <a:spcPct val="130000"/>
              </a:lnSpc>
            </a:pPr>
            <a:r>
              <a:rPr lang="en-US" sz="1175" dirty="0">
                <a:solidFill>
                  <a:srgbClr val="8F8F8F"/>
                </a:solidFill>
                <a:latin typeface="Liter" pitchFamily="34" charset="0"/>
                <a:ea typeface="Liter" pitchFamily="34" charset="-122"/>
                <a:cs typeface="Liter" pitchFamily="34" charset="-120"/>
              </a:rPr>
              <a:t>Distinguish between desktops, mobile devices, and mainframes and their uses</a:t>
            </a:r>
            <a:endParaRPr lang="en-US" sz="1600" dirty="0"/>
          </a:p>
        </p:txBody>
      </p:sp>
      <p:sp>
        <p:nvSpPr>
          <p:cNvPr id="27" name="Shape 25"/>
          <p:cNvSpPr/>
          <p:nvPr/>
        </p:nvSpPr>
        <p:spPr>
          <a:xfrm>
            <a:off x="1322044" y="4901983"/>
            <a:ext cx="9540916" cy="1089538"/>
          </a:xfrm>
          <a:custGeom>
            <a:avLst/>
            <a:gdLst/>
            <a:ahLst/>
            <a:cxnLst/>
            <a:rect l="l" t="t" r="r" b="b"/>
            <a:pathLst>
              <a:path w="9540916" h="1089538">
                <a:moveTo>
                  <a:pt x="111939" y="0"/>
                </a:moveTo>
                <a:lnTo>
                  <a:pt x="9428977" y="0"/>
                </a:lnTo>
                <a:cubicBezTo>
                  <a:pt x="9490799" y="0"/>
                  <a:pt x="9540916" y="50117"/>
                  <a:pt x="9540916" y="111939"/>
                </a:cubicBezTo>
                <a:lnTo>
                  <a:pt x="9540916" y="977598"/>
                </a:lnTo>
                <a:cubicBezTo>
                  <a:pt x="9540916" y="1039421"/>
                  <a:pt x="9490799" y="1089538"/>
                  <a:pt x="9428977" y="1089538"/>
                </a:cubicBezTo>
                <a:lnTo>
                  <a:pt x="111939" y="1089538"/>
                </a:lnTo>
                <a:cubicBezTo>
                  <a:pt x="50117" y="1089538"/>
                  <a:pt x="0" y="1039421"/>
                  <a:pt x="0" y="977598"/>
                </a:cubicBezTo>
                <a:lnTo>
                  <a:pt x="0" y="111939"/>
                </a:lnTo>
                <a:cubicBezTo>
                  <a:pt x="0" y="50117"/>
                  <a:pt x="50117" y="0"/>
                  <a:pt x="111939" y="0"/>
                </a:cubicBezTo>
                <a:close/>
              </a:path>
            </a:pathLst>
          </a:custGeom>
          <a:solidFill>
            <a:srgbClr val="262626"/>
          </a:solidFill>
          <a:ln w="10160">
            <a:solidFill>
              <a:srgbClr val="333333"/>
            </a:solidFill>
            <a:prstDash val="solid"/>
          </a:ln>
        </p:spPr>
      </p:sp>
      <p:sp>
        <p:nvSpPr>
          <p:cNvPr id="28" name="Shape 26"/>
          <p:cNvSpPr/>
          <p:nvPr/>
        </p:nvSpPr>
        <p:spPr>
          <a:xfrm>
            <a:off x="1512340" y="5092286"/>
            <a:ext cx="373129" cy="373129"/>
          </a:xfrm>
          <a:custGeom>
            <a:avLst/>
            <a:gdLst/>
            <a:ahLst/>
            <a:cxnLst/>
            <a:rect l="l" t="t" r="r" b="b"/>
            <a:pathLst>
              <a:path w="373129" h="373129">
                <a:moveTo>
                  <a:pt x="74626" y="0"/>
                </a:moveTo>
                <a:lnTo>
                  <a:pt x="298503" y="0"/>
                </a:lnTo>
                <a:cubicBezTo>
                  <a:pt x="339718" y="0"/>
                  <a:pt x="373129" y="33411"/>
                  <a:pt x="373129" y="74626"/>
                </a:cubicBezTo>
                <a:lnTo>
                  <a:pt x="373129" y="298503"/>
                </a:lnTo>
                <a:cubicBezTo>
                  <a:pt x="373129" y="339718"/>
                  <a:pt x="339718" y="373129"/>
                  <a:pt x="298503" y="373129"/>
                </a:cubicBezTo>
                <a:lnTo>
                  <a:pt x="74626" y="373129"/>
                </a:lnTo>
                <a:cubicBezTo>
                  <a:pt x="33411" y="373129"/>
                  <a:pt x="0" y="339718"/>
                  <a:pt x="0" y="298503"/>
                </a:cubicBezTo>
                <a:lnTo>
                  <a:pt x="0" y="74626"/>
                </a:lnTo>
                <a:cubicBezTo>
                  <a:pt x="0" y="33411"/>
                  <a:pt x="33411" y="0"/>
                  <a:pt x="74626" y="0"/>
                </a:cubicBezTo>
                <a:close/>
              </a:path>
            </a:pathLst>
          </a:custGeom>
          <a:solidFill>
            <a:srgbClr val="6366F1">
              <a:alpha val="20000"/>
            </a:srgbClr>
          </a:solidFill>
          <a:ln/>
        </p:spPr>
      </p:sp>
      <p:sp>
        <p:nvSpPr>
          <p:cNvPr id="29" name="Shape 27"/>
          <p:cNvSpPr/>
          <p:nvPr/>
        </p:nvSpPr>
        <p:spPr>
          <a:xfrm>
            <a:off x="1624279" y="5204225"/>
            <a:ext cx="149252" cy="149252"/>
          </a:xfrm>
          <a:custGeom>
            <a:avLst/>
            <a:gdLst/>
            <a:ahLst/>
            <a:cxnLst/>
            <a:rect l="l" t="t" r="r" b="b"/>
            <a:pathLst>
              <a:path w="149252" h="149252">
                <a:moveTo>
                  <a:pt x="74626" y="149252"/>
                </a:moveTo>
                <a:cubicBezTo>
                  <a:pt x="115813" y="149252"/>
                  <a:pt x="149252" y="115813"/>
                  <a:pt x="149252" y="74626"/>
                </a:cubicBezTo>
                <a:cubicBezTo>
                  <a:pt x="149252" y="33439"/>
                  <a:pt x="115813" y="0"/>
                  <a:pt x="74626" y="0"/>
                </a:cubicBezTo>
                <a:cubicBezTo>
                  <a:pt x="33439" y="0"/>
                  <a:pt x="0" y="33439"/>
                  <a:pt x="0" y="74626"/>
                </a:cubicBezTo>
                <a:cubicBezTo>
                  <a:pt x="0" y="115813"/>
                  <a:pt x="33439" y="149252"/>
                  <a:pt x="74626" y="149252"/>
                </a:cubicBezTo>
                <a:close/>
                <a:moveTo>
                  <a:pt x="99229" y="62004"/>
                </a:moveTo>
                <a:lnTo>
                  <a:pt x="75908" y="99317"/>
                </a:lnTo>
                <a:cubicBezTo>
                  <a:pt x="74684" y="101270"/>
                  <a:pt x="72585" y="102494"/>
                  <a:pt x="70282" y="102611"/>
                </a:cubicBezTo>
                <a:cubicBezTo>
                  <a:pt x="67979" y="102727"/>
                  <a:pt x="65764" y="101678"/>
                  <a:pt x="64394" y="99812"/>
                </a:cubicBezTo>
                <a:lnTo>
                  <a:pt x="50402" y="81156"/>
                </a:lnTo>
                <a:cubicBezTo>
                  <a:pt x="48070" y="78066"/>
                  <a:pt x="48711" y="73693"/>
                  <a:pt x="51801" y="71361"/>
                </a:cubicBezTo>
                <a:cubicBezTo>
                  <a:pt x="54891" y="69029"/>
                  <a:pt x="59263" y="69670"/>
                  <a:pt x="61595" y="72760"/>
                </a:cubicBezTo>
                <a:lnTo>
                  <a:pt x="69466" y="83254"/>
                </a:lnTo>
                <a:lnTo>
                  <a:pt x="87365" y="54599"/>
                </a:lnTo>
                <a:cubicBezTo>
                  <a:pt x="89405" y="51334"/>
                  <a:pt x="93720" y="50314"/>
                  <a:pt x="97014" y="52384"/>
                </a:cubicBezTo>
                <a:cubicBezTo>
                  <a:pt x="100308" y="54454"/>
                  <a:pt x="101299" y="58739"/>
                  <a:pt x="99229" y="62033"/>
                </a:cubicBezTo>
                <a:close/>
              </a:path>
            </a:pathLst>
          </a:custGeom>
          <a:solidFill>
            <a:srgbClr val="6366F1"/>
          </a:solidFill>
          <a:ln/>
        </p:spPr>
      </p:sp>
      <p:sp>
        <p:nvSpPr>
          <p:cNvPr id="30" name="Text 28"/>
          <p:cNvSpPr/>
          <p:nvPr/>
        </p:nvSpPr>
        <p:spPr>
          <a:xfrm>
            <a:off x="1997408" y="5148255"/>
            <a:ext cx="1380578" cy="261191"/>
          </a:xfrm>
          <a:prstGeom prst="rect">
            <a:avLst/>
          </a:prstGeom>
          <a:noFill/>
          <a:ln/>
        </p:spPr>
        <p:txBody>
          <a:bodyPr wrap="square" lIns="0" tIns="0" rIns="0" bIns="0" rtlCol="0" anchor="ctr"/>
          <a:lstStyle/>
          <a:p>
            <a:pPr>
              <a:lnSpc>
                <a:spcPct val="130000"/>
              </a:lnSpc>
            </a:pPr>
            <a:r>
              <a:rPr lang="en-US" sz="1322" b="1" dirty="0">
                <a:solidFill>
                  <a:srgbClr val="EFEFEF"/>
                </a:solidFill>
                <a:latin typeface="Liter" pitchFamily="34" charset="0"/>
                <a:ea typeface="Liter" pitchFamily="34" charset="-122"/>
                <a:cs typeface="Liter" pitchFamily="34" charset="-120"/>
              </a:rPr>
              <a:t>CPU and Memory</a:t>
            </a:r>
            <a:endParaRPr lang="en-US" sz="1600" dirty="0"/>
          </a:p>
        </p:txBody>
      </p:sp>
      <p:sp>
        <p:nvSpPr>
          <p:cNvPr id="31" name="Text 29"/>
          <p:cNvSpPr/>
          <p:nvPr/>
        </p:nvSpPr>
        <p:spPr>
          <a:xfrm>
            <a:off x="1512340" y="5577354"/>
            <a:ext cx="9234950" cy="223878"/>
          </a:xfrm>
          <a:prstGeom prst="rect">
            <a:avLst/>
          </a:prstGeom>
          <a:noFill/>
          <a:ln/>
        </p:spPr>
        <p:txBody>
          <a:bodyPr wrap="square" lIns="0" tIns="0" rIns="0" bIns="0" rtlCol="0" anchor="ctr"/>
          <a:lstStyle/>
          <a:p>
            <a:pPr>
              <a:lnSpc>
                <a:spcPct val="130000"/>
              </a:lnSpc>
            </a:pPr>
            <a:r>
              <a:rPr lang="en-US" sz="1175" dirty="0">
                <a:solidFill>
                  <a:srgbClr val="8F8F8F"/>
                </a:solidFill>
                <a:latin typeface="Liter" pitchFamily="34" charset="0"/>
                <a:ea typeface="Liter" pitchFamily="34" charset="-122"/>
                <a:cs typeface="Liter" pitchFamily="34" charset="-120"/>
              </a:rPr>
              <a:t>Understand how the CPU processes instructions, the role of cache, RAM, and ROM, and how they work together</a:t>
            </a:r>
            <a:endParaRPr lang="en-US" sz="1600" dirty="0"/>
          </a:p>
        </p:txBody>
      </p:sp>
      <p:sp>
        <p:nvSpPr>
          <p:cNvPr id="32" name="Text 30"/>
          <p:cNvSpPr/>
          <p:nvPr/>
        </p:nvSpPr>
        <p:spPr>
          <a:xfrm>
            <a:off x="317160" y="6293769"/>
            <a:ext cx="11557680" cy="298503"/>
          </a:xfrm>
          <a:prstGeom prst="rect">
            <a:avLst/>
          </a:prstGeom>
          <a:noFill/>
          <a:ln/>
        </p:spPr>
        <p:txBody>
          <a:bodyPr wrap="square" lIns="0" tIns="0" rIns="0" bIns="0" rtlCol="0" anchor="ctr"/>
          <a:lstStyle/>
          <a:p>
            <a:pPr algn="ctr">
              <a:lnSpc>
                <a:spcPct val="110000"/>
              </a:lnSpc>
            </a:pPr>
            <a:r>
              <a:rPr lang="en-US" sz="1763" b="1" dirty="0">
                <a:solidFill>
                  <a:srgbClr val="6366F1"/>
                </a:solidFill>
                <a:latin typeface="Liter" pitchFamily="34" charset="0"/>
                <a:ea typeface="Liter" pitchFamily="34" charset="-122"/>
                <a:cs typeface="Liter" pitchFamily="34" charset="-120"/>
              </a:rPr>
              <a:t>Keep Exploring the World of Technology!</a:t>
            </a:r>
            <a:endParaRPr lang="en-US" sz="1600" dirty="0"/>
          </a:p>
        </p:txBody>
      </p:sp>
      <p:sp>
        <p:nvSpPr>
          <p:cNvPr id="33" name="Text 31"/>
          <p:cNvSpPr/>
          <p:nvPr/>
        </p:nvSpPr>
        <p:spPr>
          <a:xfrm>
            <a:off x="331152" y="6666771"/>
            <a:ext cx="11529695" cy="261191"/>
          </a:xfrm>
          <a:prstGeom prst="rect">
            <a:avLst/>
          </a:prstGeom>
          <a:noFill/>
          <a:ln/>
        </p:spPr>
        <p:txBody>
          <a:bodyPr wrap="square" lIns="0" tIns="0" rIns="0" bIns="0" rtlCol="0" anchor="ctr"/>
          <a:lstStyle/>
          <a:p>
            <a:pPr algn="ctr">
              <a:lnSpc>
                <a:spcPct val="130000"/>
              </a:lnSpc>
            </a:pPr>
            <a:r>
              <a:rPr lang="en-US" sz="1322" dirty="0">
                <a:solidFill>
                  <a:srgbClr val="8F8F8F"/>
                </a:solidFill>
                <a:latin typeface="Liter" pitchFamily="34" charset="0"/>
                <a:ea typeface="Liter" pitchFamily="34" charset="-122"/>
                <a:cs typeface="Liter" pitchFamily="34" charset="-120"/>
              </a:rPr>
              <a:t>The digital world is full of exciting opportunities to learn and grow.</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3820</Words>
  <Application>Microsoft Office PowerPoint</Application>
  <PresentationFormat>Widescreen</PresentationFormat>
  <Paragraphs>500</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Liter</vt:lpstr>
      <vt:lpstr>Calibri</vt:lpstr>
      <vt:lpstr>微软雅黑</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Information and Communication Technologies (ICT)</dc:title>
  <dc:subject>Applications of Information and Communication Technologies (ICT)</dc:subject>
  <dc:creator>Kimi</dc:creator>
  <cp:lastModifiedBy>Lenovo</cp:lastModifiedBy>
  <cp:revision>2</cp:revision>
  <dcterms:created xsi:type="dcterms:W3CDTF">2026-04-19T07:31:44Z</dcterms:created>
  <dcterms:modified xsi:type="dcterms:W3CDTF">2026-04-19T07:32:39Z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{"Label":"Applications of Information and Communication Technologies (ICT)","ContentProducer":"001191110108MACG2KBH8F10000","ProduceID":"19da49e1-8872-8ff0-8000-0000b31d0eb6","ReservedCode1":"","ContentPropagator":"001191110108MACG2KBH8F20000","PropagateI</vt:lpwstr>
  </property>
</Properties>
</file>