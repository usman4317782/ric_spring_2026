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nnzusjvv7vxa/mnt/agents/output/ict-week2/images/10_Computer_Hardware_Background_Images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3E">
                  <a:alpha val="95000"/>
                </a:srgbClr>
              </a:gs>
              <a:gs pos="55000">
                <a:srgbClr val="1B3A3E">
                  <a:alpha val="82000"/>
                </a:srgbClr>
              </a:gs>
              <a:gs pos="100000">
                <a:srgbClr val="1B3A3E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 — COURSE MATERIAL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ICT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4508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Components of Computer Systems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CPU, Memory, and Computer Types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812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3 &amp; 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C4802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990600"/>
            <a:ext cx="635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762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22500"/>
            <a:ext cx="71120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222500"/>
            <a:ext cx="76200" cy="2921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7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3: Types of Computers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7084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the physical components of computer systems. Learn about desktop computers, mobile devices, and mainframe systems — their characteristics, components, and use cases.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222500"/>
            <a:ext cx="71120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1" name="Shape 9"/>
          <p:cNvSpPr/>
          <p:nvPr/>
        </p:nvSpPr>
        <p:spPr>
          <a:xfrm>
            <a:off x="8382000" y="2222500"/>
            <a:ext cx="76200" cy="2921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2476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2004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4: CPU and Internal Memory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0" y="37084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the central processing unit, its role in executing instructions, and the internal memory hierarchy including cache, ROM, and RAM.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58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TOPICS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032500"/>
            <a:ext cx="1473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Desktop, Mobile, and Mainframe Computer Types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 Processing Unit (CPU) — ALU, Control Unit, Registers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Fetch-Decode-Execute Instruction Cycle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Internal Memory — Cache, ROM, and RAM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Characteristics and Differences of ROM and RAM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8" name="Text 1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nnzusjvv7vxa/mnt/agents/output/ict-week2/images/2_Minimal_Desk_Setup_Tour_2023_Complete.pn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3E">
                  <a:alpha val="13000"/>
                </a:srgbClr>
              </a:gs>
              <a:gs pos="40000">
                <a:srgbClr val="1B3A3E">
                  <a:alpha val="69000"/>
                </a:srgbClr>
              </a:gs>
              <a:gs pos="100000">
                <a:srgbClr val="1B3A3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482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5270500"/>
            <a:ext cx="1079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2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 Components of Computer Systems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16000" y="6159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Computers — Desktop, Mobile, and Mainframes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6794500"/>
            <a:ext cx="1016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C4802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Computer System?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computer system consists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hardware components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software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work together to process data and produce information.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048500" cy="3048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28194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429000"/>
            <a:ext cx="641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tangible, physical parts of a computer that can be seen and touched. Includes the system unit, input devices (keyboard, mouse), output devices (monitor, printer), and storage devices (hard drive, SSD).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2540000"/>
            <a:ext cx="7048500" cy="3048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8734425" y="279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8194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3429000"/>
            <a:ext cx="641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programs, applications, and instructions that tell the hardware what to do. Includes operating systems (Windows, macOS, Linux) and application software (Word, Excel, browsers).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969000"/>
            <a:ext cx="76200" cy="1651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Physical Components Matter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413500"/>
            <a:ext cx="1397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hardware is essential because physical components determine the computer's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suitability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different tasks. The right hardware ensures efficient processing, adequate storage, and reliable operation.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Computers — An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Computers come in various sizes and capabilities, each designed for different purposes and users.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699000" cy="393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048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 Computers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5306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regular use at a single location. Offer the best performance and upgradeability among personal computers. Ideal for office work, gaming, and professional applications.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095500"/>
            <a:ext cx="4699000" cy="393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2349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127000" y="31750"/>
                </a:moveTo>
                <a:cubicBezTo>
                  <a:pt x="91976" y="31750"/>
                  <a:pt x="63500" y="60226"/>
                  <a:pt x="63500" y="95250"/>
                </a:cubicBezTo>
                <a:lnTo>
                  <a:pt x="63500" y="333375"/>
                </a:lnTo>
                <a:lnTo>
                  <a:pt x="127000" y="333375"/>
                </a:lnTo>
                <a:lnTo>
                  <a:pt x="127000" y="95250"/>
                </a:lnTo>
                <a:lnTo>
                  <a:pt x="508000" y="95250"/>
                </a:lnTo>
                <a:lnTo>
                  <a:pt x="508000" y="333375"/>
                </a:lnTo>
                <a:lnTo>
                  <a:pt x="571500" y="333375"/>
                </a:lnTo>
                <a:lnTo>
                  <a:pt x="571500" y="95250"/>
                </a:lnTo>
                <a:cubicBezTo>
                  <a:pt x="571500" y="60226"/>
                  <a:pt x="543024" y="31750"/>
                  <a:pt x="508000" y="31750"/>
                </a:cubicBezTo>
                <a:lnTo>
                  <a:pt x="127000" y="31750"/>
                </a:lnTo>
                <a:close/>
                <a:moveTo>
                  <a:pt x="19050" y="381000"/>
                </a:moveTo>
                <a:cubicBezTo>
                  <a:pt x="8533" y="381000"/>
                  <a:pt x="0" y="389533"/>
                  <a:pt x="0" y="400050"/>
                </a:cubicBezTo>
                <a:cubicBezTo>
                  <a:pt x="0" y="442119"/>
                  <a:pt x="34131" y="476250"/>
                  <a:pt x="76200" y="476250"/>
                </a:cubicBezTo>
                <a:lnTo>
                  <a:pt x="558800" y="476250"/>
                </a:lnTo>
                <a:cubicBezTo>
                  <a:pt x="600869" y="476250"/>
                  <a:pt x="635000" y="442119"/>
                  <a:pt x="635000" y="400050"/>
                </a:cubicBezTo>
                <a:cubicBezTo>
                  <a:pt x="635000" y="389533"/>
                  <a:pt x="626467" y="381000"/>
                  <a:pt x="615950" y="381000"/>
                </a:cubicBezTo>
                <a:lnTo>
                  <a:pt x="19050" y="381000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048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Computers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35306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Portable devices including laptops, tablets, and smartphones. Balance computing power with mobility. Battery-powered for use anywhere.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095500"/>
            <a:ext cx="4699000" cy="393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44250" y="2349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3048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Mainframe Computers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35306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Powerful systems used by large organizations for bulk data processing. Support thousands of users with extreme reliability and security.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413500"/>
            <a:ext cx="76200" cy="1270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64135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Balancing Factors: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computer type balances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power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portability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consumption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differently. Understanding these trade-offs helps in selecting the right computer for specific needs.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 Computers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812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computers are personal computing devices designed for use at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location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They consist of a separate system unit, monitor, keyboard, and mouse.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92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4036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powerful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processing among personal computers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customizable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easy to upgrade RAM, GPU, storage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2926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Cost-effective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best performance per dollar spent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portable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requires external power supply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30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778500"/>
            <a:ext cx="812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Office work and productivity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Gaming and graphic design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Programming and scientific computing</a:t>
            </a:r>
            <a:endParaRPr lang="en-US" sz="1600" dirty="0"/>
          </a:p>
        </p:txBody>
      </p:sp>
      <p:pic>
        <p:nvPicPr>
          <p:cNvPr id="10" name="Image 0" descr="https://kimi-img.moonshot.cn/pub/slides/okc/cnnzusjvv7vxa/mnt/agents/output/ict-week2/images/2_Minimal_Desk_Setup_Tour_2023_Complete.png">    </p:cNvPr>
          <p:cNvPicPr>
            <a:picLocks noChangeAspect="1"/>
          </p:cNvPicPr>
          <p:nvPr/>
        </p:nvPicPr>
        <p:blipFill>
          <a:blip r:embed="rId1"/>
          <a:srcRect l="0" r="0" t="6944" b="6944"/>
          <a:stretch/>
        </p:blipFill>
        <p:spPr>
          <a:xfrm>
            <a:off x="9398000" y="1460500"/>
            <a:ext cx="6096000" cy="3937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98000" y="5524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desktop workstation setup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2000" y="7112000"/>
            <a:ext cx="76200" cy="1079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3" name="Text 10"/>
          <p:cNvSpPr/>
          <p:nvPr/>
        </p:nvSpPr>
        <p:spPr>
          <a:xfrm>
            <a:off x="1079500" y="7112000"/>
            <a:ext cx="1397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Factors: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Tower (traditional upright case), All-in-One (monitor with built-in computer), Mini PC (compact, space-saving), and Workstation (high-performance for professional use).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 Computer Components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4699000" cy="2159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5" name="Shape 3"/>
          <p:cNvSpPr/>
          <p:nvPr/>
        </p:nvSpPr>
        <p:spPr>
          <a:xfrm>
            <a:off x="1039812" y="1651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74886" y="95250"/>
                </a:moveTo>
                <a:lnTo>
                  <a:pt x="249362" y="59531"/>
                </a:lnTo>
                <a:lnTo>
                  <a:pt x="84088" y="59531"/>
                </a:lnTo>
                <a:lnTo>
                  <a:pt x="58564" y="95250"/>
                </a:lnTo>
                <a:lnTo>
                  <a:pt x="274886" y="95250"/>
                </a:lnTo>
                <a:close/>
                <a:moveTo>
                  <a:pt x="0" y="110505"/>
                </a:moveTo>
                <a:cubicBezTo>
                  <a:pt x="0" y="100608"/>
                  <a:pt x="3125" y="90934"/>
                  <a:pt x="8855" y="82823"/>
                </a:cubicBezTo>
                <a:lnTo>
                  <a:pt x="45318" y="31849"/>
                </a:lnTo>
                <a:cubicBezTo>
                  <a:pt x="54248" y="19348"/>
                  <a:pt x="68684" y="11906"/>
                  <a:pt x="84013" y="11906"/>
                </a:cubicBezTo>
                <a:lnTo>
                  <a:pt x="249287" y="11906"/>
                </a:lnTo>
                <a:cubicBezTo>
                  <a:pt x="264691" y="11906"/>
                  <a:pt x="279127" y="19348"/>
                  <a:pt x="288057" y="31849"/>
                </a:cubicBezTo>
                <a:lnTo>
                  <a:pt x="324445" y="82823"/>
                </a:lnTo>
                <a:cubicBezTo>
                  <a:pt x="330250" y="90934"/>
                  <a:pt x="333301" y="100608"/>
                  <a:pt x="333301" y="110505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110505"/>
                </a:ln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651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Unit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95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Houses the motherboard, CPU, RAM, power supply, and storage drives in a protective case.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460500"/>
            <a:ext cx="4699000" cy="2159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9" name="Shape 7"/>
          <p:cNvSpPr/>
          <p:nvPr/>
        </p:nvSpPr>
        <p:spPr>
          <a:xfrm>
            <a:off x="6032500" y="165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33375" y="71438"/>
                </a:moveTo>
                <a:lnTo>
                  <a:pt x="333375" y="261938"/>
                </a:lnTo>
                <a:lnTo>
                  <a:pt x="47625" y="261938"/>
                </a:lnTo>
                <a:lnTo>
                  <a:pt x="47625" y="71438"/>
                </a:lnTo>
                <a:lnTo>
                  <a:pt x="333375" y="71438"/>
                </a:lnTo>
                <a:close/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261938"/>
                </a:lnTo>
                <a:cubicBezTo>
                  <a:pt x="0" y="288206"/>
                  <a:pt x="21357" y="309563"/>
                  <a:pt x="47625" y="309563"/>
                </a:cubicBezTo>
                <a:lnTo>
                  <a:pt x="154781" y="309563"/>
                </a:lnTo>
                <a:lnTo>
                  <a:pt x="142875" y="345281"/>
                </a:lnTo>
                <a:lnTo>
                  <a:pt x="89297" y="345281"/>
                </a:lnTo>
                <a:cubicBezTo>
                  <a:pt x="79400" y="345281"/>
                  <a:pt x="71438" y="353244"/>
                  <a:pt x="71438" y="363141"/>
                </a:cubicBezTo>
                <a:cubicBezTo>
                  <a:pt x="71438" y="373038"/>
                  <a:pt x="79400" y="381000"/>
                  <a:pt x="89297" y="381000"/>
                </a:cubicBezTo>
                <a:lnTo>
                  <a:pt x="291703" y="381000"/>
                </a:lnTo>
                <a:cubicBezTo>
                  <a:pt x="301600" y="381000"/>
                  <a:pt x="309563" y="373038"/>
                  <a:pt x="309563" y="363141"/>
                </a:cubicBezTo>
                <a:cubicBezTo>
                  <a:pt x="309563" y="353244"/>
                  <a:pt x="301600" y="345281"/>
                  <a:pt x="291703" y="345281"/>
                </a:cubicBezTo>
                <a:lnTo>
                  <a:pt x="238125" y="345281"/>
                </a:lnTo>
                <a:lnTo>
                  <a:pt x="226219" y="309563"/>
                </a:lnTo>
                <a:lnTo>
                  <a:pt x="333375" y="309563"/>
                </a:lnTo>
                <a:cubicBezTo>
                  <a:pt x="359643" y="309563"/>
                  <a:pt x="381000" y="288206"/>
                  <a:pt x="381000" y="261938"/>
                </a:cubicBezTo>
                <a:lnTo>
                  <a:pt x="381000" y="71438"/>
                </a:lnTo>
                <a:cubicBezTo>
                  <a:pt x="381000" y="45169"/>
                  <a:pt x="359643" y="23812"/>
                  <a:pt x="333375" y="23812"/>
                </a:cubicBezTo>
                <a:lnTo>
                  <a:pt x="47625" y="23812"/>
                </a:ln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0" name="Text 8"/>
          <p:cNvSpPr/>
          <p:nvPr/>
        </p:nvSpPr>
        <p:spPr>
          <a:xfrm>
            <a:off x="6540500" y="1651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095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Displays visual output. Types include LCD, LED, and OLED in various sizes and resolutions.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460500"/>
            <a:ext cx="4699000" cy="2159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25188" y="1651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7625" y="47625"/>
                </a:moveTo>
                <a:cubicBezTo>
                  <a:pt x="21357" y="47625"/>
                  <a:pt x="0" y="68982"/>
                  <a:pt x="0" y="95250"/>
                </a:cubicBezTo>
                <a:lnTo>
                  <a:pt x="0" y="285750"/>
                </a:lnTo>
                <a:cubicBezTo>
                  <a:pt x="0" y="312018"/>
                  <a:pt x="21357" y="333375"/>
                  <a:pt x="47625" y="333375"/>
                </a:cubicBezTo>
                <a:lnTo>
                  <a:pt x="381000" y="333375"/>
                </a:lnTo>
                <a:cubicBezTo>
                  <a:pt x="407268" y="333375"/>
                  <a:pt x="428625" y="312018"/>
                  <a:pt x="428625" y="285750"/>
                </a:cubicBezTo>
                <a:lnTo>
                  <a:pt x="428625" y="95250"/>
                </a:lnTo>
                <a:cubicBezTo>
                  <a:pt x="428625" y="68982"/>
                  <a:pt x="407268" y="47625"/>
                  <a:pt x="381000" y="47625"/>
                </a:cubicBezTo>
                <a:lnTo>
                  <a:pt x="47625" y="47625"/>
                </a:lnTo>
                <a:close/>
                <a:moveTo>
                  <a:pt x="59531" y="95250"/>
                </a:moveTo>
                <a:lnTo>
                  <a:pt x="83344" y="95250"/>
                </a:lnTo>
                <a:cubicBezTo>
                  <a:pt x="89892" y="95250"/>
                  <a:pt x="95250" y="100608"/>
                  <a:pt x="95250" y="107156"/>
                </a:cubicBezTo>
                <a:lnTo>
                  <a:pt x="95250" y="130969"/>
                </a:lnTo>
                <a:cubicBezTo>
                  <a:pt x="95250" y="137517"/>
                  <a:pt x="89892" y="142875"/>
                  <a:pt x="83344" y="142875"/>
                </a:cubicBezTo>
                <a:lnTo>
                  <a:pt x="59531" y="142875"/>
                </a:lnTo>
                <a:cubicBezTo>
                  <a:pt x="52983" y="142875"/>
                  <a:pt x="47625" y="137517"/>
                  <a:pt x="47625" y="130969"/>
                </a:cubicBezTo>
                <a:lnTo>
                  <a:pt x="47625" y="107156"/>
                </a:lnTo>
                <a:cubicBezTo>
                  <a:pt x="47625" y="100608"/>
                  <a:pt x="52983" y="95250"/>
                  <a:pt x="59531" y="95250"/>
                </a:cubicBezTo>
                <a:close/>
                <a:moveTo>
                  <a:pt x="47625" y="178594"/>
                </a:moveTo>
                <a:cubicBezTo>
                  <a:pt x="47625" y="172045"/>
                  <a:pt x="52983" y="166688"/>
                  <a:pt x="59531" y="166688"/>
                </a:cubicBezTo>
                <a:lnTo>
                  <a:pt x="83344" y="166688"/>
                </a:lnTo>
                <a:cubicBezTo>
                  <a:pt x="89892" y="166688"/>
                  <a:pt x="95250" y="172045"/>
                  <a:pt x="95250" y="178594"/>
                </a:cubicBezTo>
                <a:lnTo>
                  <a:pt x="95250" y="202406"/>
                </a:lnTo>
                <a:cubicBezTo>
                  <a:pt x="95250" y="208955"/>
                  <a:pt x="89892" y="214313"/>
                  <a:pt x="83344" y="214313"/>
                </a:cubicBezTo>
                <a:lnTo>
                  <a:pt x="59531" y="214313"/>
                </a:lnTo>
                <a:cubicBezTo>
                  <a:pt x="52983" y="214313"/>
                  <a:pt x="47625" y="208955"/>
                  <a:pt x="47625" y="202406"/>
                </a:cubicBezTo>
                <a:lnTo>
                  <a:pt x="47625" y="178594"/>
                </a:lnTo>
                <a:close/>
                <a:moveTo>
                  <a:pt x="130969" y="95250"/>
                </a:moveTo>
                <a:lnTo>
                  <a:pt x="154781" y="95250"/>
                </a:lnTo>
                <a:cubicBezTo>
                  <a:pt x="161330" y="95250"/>
                  <a:pt x="166688" y="100608"/>
                  <a:pt x="166688" y="107156"/>
                </a:cubicBezTo>
                <a:lnTo>
                  <a:pt x="166688" y="130969"/>
                </a:lnTo>
                <a:cubicBezTo>
                  <a:pt x="166688" y="137517"/>
                  <a:pt x="161330" y="142875"/>
                  <a:pt x="154781" y="142875"/>
                </a:cubicBezTo>
                <a:lnTo>
                  <a:pt x="130969" y="142875"/>
                </a:lnTo>
                <a:cubicBezTo>
                  <a:pt x="124420" y="142875"/>
                  <a:pt x="119063" y="137517"/>
                  <a:pt x="119063" y="130969"/>
                </a:cubicBezTo>
                <a:lnTo>
                  <a:pt x="119063" y="107156"/>
                </a:lnTo>
                <a:cubicBezTo>
                  <a:pt x="119063" y="100608"/>
                  <a:pt x="124420" y="95250"/>
                  <a:pt x="130969" y="95250"/>
                </a:cubicBezTo>
                <a:close/>
                <a:moveTo>
                  <a:pt x="119063" y="178594"/>
                </a:moveTo>
                <a:cubicBezTo>
                  <a:pt x="119063" y="172045"/>
                  <a:pt x="124420" y="166688"/>
                  <a:pt x="130969" y="166688"/>
                </a:cubicBezTo>
                <a:lnTo>
                  <a:pt x="154781" y="166688"/>
                </a:lnTo>
                <a:cubicBezTo>
                  <a:pt x="161330" y="166688"/>
                  <a:pt x="166688" y="172045"/>
                  <a:pt x="166688" y="178594"/>
                </a:cubicBezTo>
                <a:lnTo>
                  <a:pt x="166688" y="202406"/>
                </a:lnTo>
                <a:cubicBezTo>
                  <a:pt x="166688" y="208955"/>
                  <a:pt x="161330" y="214313"/>
                  <a:pt x="154781" y="214313"/>
                </a:cubicBezTo>
                <a:lnTo>
                  <a:pt x="130969" y="214313"/>
                </a:lnTo>
                <a:cubicBezTo>
                  <a:pt x="124420" y="214313"/>
                  <a:pt x="119063" y="208955"/>
                  <a:pt x="119063" y="202406"/>
                </a:cubicBezTo>
                <a:lnTo>
                  <a:pt x="119063" y="178594"/>
                </a:lnTo>
                <a:close/>
                <a:moveTo>
                  <a:pt x="130969" y="238125"/>
                </a:moveTo>
                <a:lnTo>
                  <a:pt x="297656" y="238125"/>
                </a:lnTo>
                <a:cubicBezTo>
                  <a:pt x="304205" y="238125"/>
                  <a:pt x="309563" y="243483"/>
                  <a:pt x="309563" y="250031"/>
                </a:cubicBezTo>
                <a:lnTo>
                  <a:pt x="309563" y="273844"/>
                </a:lnTo>
                <a:cubicBezTo>
                  <a:pt x="309563" y="280392"/>
                  <a:pt x="304205" y="285750"/>
                  <a:pt x="297656" y="285750"/>
                </a:cubicBezTo>
                <a:lnTo>
                  <a:pt x="130969" y="285750"/>
                </a:lnTo>
                <a:cubicBezTo>
                  <a:pt x="124420" y="285750"/>
                  <a:pt x="119063" y="280392"/>
                  <a:pt x="119063" y="273844"/>
                </a:cubicBezTo>
                <a:lnTo>
                  <a:pt x="119063" y="250031"/>
                </a:lnTo>
                <a:cubicBezTo>
                  <a:pt x="119063" y="243483"/>
                  <a:pt x="124420" y="238125"/>
                  <a:pt x="130969" y="238125"/>
                </a:cubicBezTo>
                <a:close/>
                <a:moveTo>
                  <a:pt x="190500" y="107156"/>
                </a:moveTo>
                <a:cubicBezTo>
                  <a:pt x="190500" y="100608"/>
                  <a:pt x="195858" y="95250"/>
                  <a:pt x="202406" y="95250"/>
                </a:cubicBezTo>
                <a:lnTo>
                  <a:pt x="226219" y="95250"/>
                </a:lnTo>
                <a:cubicBezTo>
                  <a:pt x="232767" y="95250"/>
                  <a:pt x="238125" y="100608"/>
                  <a:pt x="238125" y="107156"/>
                </a:cubicBezTo>
                <a:lnTo>
                  <a:pt x="238125" y="130969"/>
                </a:lnTo>
                <a:cubicBezTo>
                  <a:pt x="238125" y="137517"/>
                  <a:pt x="232767" y="142875"/>
                  <a:pt x="226219" y="142875"/>
                </a:cubicBezTo>
                <a:lnTo>
                  <a:pt x="202406" y="142875"/>
                </a:lnTo>
                <a:cubicBezTo>
                  <a:pt x="195858" y="142875"/>
                  <a:pt x="190500" y="137517"/>
                  <a:pt x="190500" y="130969"/>
                </a:cubicBezTo>
                <a:lnTo>
                  <a:pt x="190500" y="107156"/>
                </a:lnTo>
                <a:close/>
                <a:moveTo>
                  <a:pt x="202406" y="166688"/>
                </a:moveTo>
                <a:lnTo>
                  <a:pt x="226219" y="166688"/>
                </a:lnTo>
                <a:cubicBezTo>
                  <a:pt x="232767" y="166688"/>
                  <a:pt x="238125" y="172045"/>
                  <a:pt x="238125" y="178594"/>
                </a:cubicBezTo>
                <a:lnTo>
                  <a:pt x="238125" y="202406"/>
                </a:lnTo>
                <a:cubicBezTo>
                  <a:pt x="238125" y="208955"/>
                  <a:pt x="232767" y="214313"/>
                  <a:pt x="226219" y="214313"/>
                </a:cubicBezTo>
                <a:lnTo>
                  <a:pt x="202406" y="214313"/>
                </a:lnTo>
                <a:cubicBezTo>
                  <a:pt x="195858" y="214313"/>
                  <a:pt x="190500" y="208955"/>
                  <a:pt x="190500" y="202406"/>
                </a:cubicBezTo>
                <a:lnTo>
                  <a:pt x="190500" y="178594"/>
                </a:lnTo>
                <a:cubicBezTo>
                  <a:pt x="190500" y="172045"/>
                  <a:pt x="195858" y="166688"/>
                  <a:pt x="202406" y="166688"/>
                </a:cubicBezTo>
                <a:close/>
                <a:moveTo>
                  <a:pt x="261938" y="107156"/>
                </a:moveTo>
                <a:cubicBezTo>
                  <a:pt x="261938" y="100608"/>
                  <a:pt x="267295" y="95250"/>
                  <a:pt x="273844" y="95250"/>
                </a:cubicBezTo>
                <a:lnTo>
                  <a:pt x="297656" y="95250"/>
                </a:lnTo>
                <a:cubicBezTo>
                  <a:pt x="304205" y="95250"/>
                  <a:pt x="309563" y="100608"/>
                  <a:pt x="309563" y="107156"/>
                </a:cubicBezTo>
                <a:lnTo>
                  <a:pt x="309563" y="130969"/>
                </a:lnTo>
                <a:cubicBezTo>
                  <a:pt x="309563" y="137517"/>
                  <a:pt x="304205" y="142875"/>
                  <a:pt x="297656" y="142875"/>
                </a:cubicBezTo>
                <a:lnTo>
                  <a:pt x="273844" y="142875"/>
                </a:lnTo>
                <a:cubicBezTo>
                  <a:pt x="267295" y="142875"/>
                  <a:pt x="261938" y="137517"/>
                  <a:pt x="261938" y="130969"/>
                </a:cubicBezTo>
                <a:lnTo>
                  <a:pt x="261938" y="107156"/>
                </a:lnTo>
                <a:close/>
                <a:moveTo>
                  <a:pt x="273844" y="166688"/>
                </a:moveTo>
                <a:lnTo>
                  <a:pt x="297656" y="166688"/>
                </a:lnTo>
                <a:cubicBezTo>
                  <a:pt x="304205" y="166688"/>
                  <a:pt x="309563" y="172045"/>
                  <a:pt x="309563" y="178594"/>
                </a:cubicBezTo>
                <a:lnTo>
                  <a:pt x="309563" y="202406"/>
                </a:lnTo>
                <a:cubicBezTo>
                  <a:pt x="309563" y="208955"/>
                  <a:pt x="304205" y="214313"/>
                  <a:pt x="297656" y="214313"/>
                </a:cubicBezTo>
                <a:lnTo>
                  <a:pt x="273844" y="214313"/>
                </a:lnTo>
                <a:cubicBezTo>
                  <a:pt x="267295" y="214313"/>
                  <a:pt x="261938" y="208955"/>
                  <a:pt x="261938" y="202406"/>
                </a:cubicBezTo>
                <a:lnTo>
                  <a:pt x="261938" y="178594"/>
                </a:lnTo>
                <a:cubicBezTo>
                  <a:pt x="261938" y="172045"/>
                  <a:pt x="267295" y="166688"/>
                  <a:pt x="273844" y="166688"/>
                </a:cubicBezTo>
                <a:close/>
                <a:moveTo>
                  <a:pt x="333375" y="107156"/>
                </a:moveTo>
                <a:cubicBezTo>
                  <a:pt x="333375" y="100608"/>
                  <a:pt x="338733" y="95250"/>
                  <a:pt x="345281" y="95250"/>
                </a:cubicBezTo>
                <a:lnTo>
                  <a:pt x="369094" y="95250"/>
                </a:lnTo>
                <a:cubicBezTo>
                  <a:pt x="375642" y="95250"/>
                  <a:pt x="381000" y="100608"/>
                  <a:pt x="381000" y="107156"/>
                </a:cubicBezTo>
                <a:lnTo>
                  <a:pt x="381000" y="130969"/>
                </a:lnTo>
                <a:cubicBezTo>
                  <a:pt x="381000" y="137517"/>
                  <a:pt x="375642" y="142875"/>
                  <a:pt x="369094" y="142875"/>
                </a:cubicBezTo>
                <a:lnTo>
                  <a:pt x="345281" y="142875"/>
                </a:lnTo>
                <a:cubicBezTo>
                  <a:pt x="338733" y="142875"/>
                  <a:pt x="333375" y="137517"/>
                  <a:pt x="333375" y="130969"/>
                </a:cubicBezTo>
                <a:lnTo>
                  <a:pt x="333375" y="107156"/>
                </a:lnTo>
                <a:close/>
                <a:moveTo>
                  <a:pt x="345281" y="166688"/>
                </a:moveTo>
                <a:lnTo>
                  <a:pt x="369094" y="166688"/>
                </a:lnTo>
                <a:cubicBezTo>
                  <a:pt x="375642" y="166688"/>
                  <a:pt x="381000" y="172045"/>
                  <a:pt x="381000" y="178594"/>
                </a:cubicBezTo>
                <a:lnTo>
                  <a:pt x="381000" y="202406"/>
                </a:lnTo>
                <a:cubicBezTo>
                  <a:pt x="381000" y="208955"/>
                  <a:pt x="375642" y="214313"/>
                  <a:pt x="369094" y="214313"/>
                </a:cubicBezTo>
                <a:lnTo>
                  <a:pt x="345281" y="214313"/>
                </a:lnTo>
                <a:cubicBezTo>
                  <a:pt x="338733" y="214313"/>
                  <a:pt x="333375" y="208955"/>
                  <a:pt x="333375" y="202406"/>
                </a:cubicBezTo>
                <a:lnTo>
                  <a:pt x="333375" y="178594"/>
                </a:lnTo>
                <a:cubicBezTo>
                  <a:pt x="333375" y="172045"/>
                  <a:pt x="338733" y="166688"/>
                  <a:pt x="345281" y="166688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1651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Keyboard &amp; Mouse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095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input devices for user interaction. Available in wired and wireless configurations.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873500"/>
            <a:ext cx="4699000" cy="2159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06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406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Motherboard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508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main circuit board connecting all components. Contains RAM slots, CPU socket, and expansion slots.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8500" y="3873500"/>
            <a:ext cx="4699000" cy="2159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1" name="Shape 19"/>
          <p:cNvSpPr/>
          <p:nvPr/>
        </p:nvSpPr>
        <p:spPr>
          <a:xfrm>
            <a:off x="6056313" y="4064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22" name="Text 20"/>
          <p:cNvSpPr/>
          <p:nvPr/>
        </p:nvSpPr>
        <p:spPr>
          <a:xfrm>
            <a:off x="6540500" y="406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Supply (PSU)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0" y="4508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AC power from the wall to DC power for all internal components. Rated in watts.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795000" y="3873500"/>
            <a:ext cx="4699000" cy="2159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72813" y="4064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93551"/>
                </a:lnTo>
                <a:cubicBezTo>
                  <a:pt x="13469" y="184100"/>
                  <a:pt x="29914" y="178594"/>
                  <a:pt x="47625" y="178594"/>
                </a:cubicBezTo>
                <a:lnTo>
                  <a:pt x="285750" y="178594"/>
                </a:lnTo>
                <a:cubicBezTo>
                  <a:pt x="303461" y="178594"/>
                  <a:pt x="319906" y="184100"/>
                  <a:pt x="333375" y="193551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333375" y="261938"/>
                </a:move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lose/>
                <a:moveTo>
                  <a:pt x="166688" y="285750"/>
                </a:moveTo>
                <a:cubicBezTo>
                  <a:pt x="166688" y="272608"/>
                  <a:pt x="177358" y="261938"/>
                  <a:pt x="190500" y="261938"/>
                </a:cubicBezTo>
                <a:cubicBezTo>
                  <a:pt x="203642" y="261938"/>
                  <a:pt x="214313" y="272608"/>
                  <a:pt x="214313" y="285750"/>
                </a:cubicBezTo>
                <a:cubicBezTo>
                  <a:pt x="214313" y="298892"/>
                  <a:pt x="203642" y="309563"/>
                  <a:pt x="190500" y="309563"/>
                </a:cubicBezTo>
                <a:cubicBezTo>
                  <a:pt x="177358" y="309563"/>
                  <a:pt x="166688" y="298892"/>
                  <a:pt x="166688" y="285750"/>
                </a:cubicBezTo>
                <a:close/>
                <a:moveTo>
                  <a:pt x="261938" y="261938"/>
                </a:moveTo>
                <a:cubicBezTo>
                  <a:pt x="275080" y="261938"/>
                  <a:pt x="285750" y="272608"/>
                  <a:pt x="285750" y="285750"/>
                </a:cubicBezTo>
                <a:cubicBezTo>
                  <a:pt x="285750" y="298892"/>
                  <a:pt x="275080" y="309563"/>
                  <a:pt x="261938" y="309563"/>
                </a:cubicBezTo>
                <a:cubicBezTo>
                  <a:pt x="248795" y="309563"/>
                  <a:pt x="238125" y="298892"/>
                  <a:pt x="238125" y="285750"/>
                </a:cubicBezTo>
                <a:cubicBezTo>
                  <a:pt x="238125" y="272608"/>
                  <a:pt x="248795" y="261938"/>
                  <a:pt x="261938" y="261938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57000" y="406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Drive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4508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HDDs use magnetic disks; SSDs use flash memory. Stores the OS, programs, and user files.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286500"/>
            <a:ext cx="4699000" cy="1968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6000" y="647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9063" y="107156"/>
                </a:moveTo>
                <a:cubicBezTo>
                  <a:pt x="119063" y="47997"/>
                  <a:pt x="167060" y="0"/>
                  <a:pt x="226219" y="0"/>
                </a:cubicBezTo>
                <a:cubicBezTo>
                  <a:pt x="232767" y="0"/>
                  <a:pt x="238125" y="5358"/>
                  <a:pt x="238125" y="11906"/>
                </a:cubicBezTo>
                <a:lnTo>
                  <a:pt x="238125" y="125164"/>
                </a:lnTo>
                <a:cubicBezTo>
                  <a:pt x="249287" y="121221"/>
                  <a:pt x="261342" y="119063"/>
                  <a:pt x="273844" y="119063"/>
                </a:cubicBezTo>
                <a:cubicBezTo>
                  <a:pt x="333003" y="119063"/>
                  <a:pt x="381000" y="167060"/>
                  <a:pt x="381000" y="226219"/>
                </a:cubicBezTo>
                <a:cubicBezTo>
                  <a:pt x="381000" y="232767"/>
                  <a:pt x="375642" y="238125"/>
                  <a:pt x="369094" y="238125"/>
                </a:cubicBezTo>
                <a:lnTo>
                  <a:pt x="255836" y="238125"/>
                </a:lnTo>
                <a:cubicBezTo>
                  <a:pt x="259779" y="249287"/>
                  <a:pt x="261938" y="261342"/>
                  <a:pt x="261938" y="273844"/>
                </a:cubicBezTo>
                <a:cubicBezTo>
                  <a:pt x="261938" y="333003"/>
                  <a:pt x="213940" y="381000"/>
                  <a:pt x="154781" y="381000"/>
                </a:cubicBezTo>
                <a:cubicBezTo>
                  <a:pt x="148233" y="381000"/>
                  <a:pt x="142875" y="375642"/>
                  <a:pt x="142875" y="369094"/>
                </a:cubicBezTo>
                <a:lnTo>
                  <a:pt x="142875" y="255836"/>
                </a:lnTo>
                <a:cubicBezTo>
                  <a:pt x="131713" y="259779"/>
                  <a:pt x="119658" y="261938"/>
                  <a:pt x="107156" y="261938"/>
                </a:cubicBezTo>
                <a:cubicBezTo>
                  <a:pt x="47997" y="261938"/>
                  <a:pt x="0" y="213940"/>
                  <a:pt x="0" y="154781"/>
                </a:cubicBezTo>
                <a:cubicBezTo>
                  <a:pt x="0" y="148233"/>
                  <a:pt x="5358" y="142875"/>
                  <a:pt x="11906" y="142875"/>
                </a:cubicBezTo>
                <a:lnTo>
                  <a:pt x="125164" y="142875"/>
                </a:lnTo>
                <a:cubicBezTo>
                  <a:pt x="121221" y="131713"/>
                  <a:pt x="119063" y="119658"/>
                  <a:pt x="119063" y="107156"/>
                </a:cubicBezTo>
                <a:close/>
                <a:moveTo>
                  <a:pt x="190500" y="214313"/>
                </a:moveTo>
                <a:cubicBezTo>
                  <a:pt x="203642" y="214313"/>
                  <a:pt x="214313" y="203642"/>
                  <a:pt x="214313" y="190500"/>
                </a:cubicBezTo>
                <a:cubicBezTo>
                  <a:pt x="214313" y="177358"/>
                  <a:pt x="203642" y="166688"/>
                  <a:pt x="190500" y="166688"/>
                </a:cubicBezTo>
                <a:cubicBezTo>
                  <a:pt x="177358" y="166688"/>
                  <a:pt x="166688" y="177358"/>
                  <a:pt x="166688" y="190500"/>
                </a:cubicBezTo>
                <a:cubicBezTo>
                  <a:pt x="166688" y="203642"/>
                  <a:pt x="177358" y="214313"/>
                  <a:pt x="190500" y="214313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30" name="Text 28"/>
          <p:cNvSpPr/>
          <p:nvPr/>
        </p:nvSpPr>
        <p:spPr>
          <a:xfrm>
            <a:off x="1524000" y="6477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 Card (GPU)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6000" y="6921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Renders images and video. Essential for gaming, video editing, and 3D applications.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Computers — Laptops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pic>
        <p:nvPicPr>
          <p:cNvPr id="4" name="Image 0" descr="https://kimi-img.moonshot.cn/pub/slides/okc/cnnzusjvv7vxa/mnt/agents/output/ict-week2/images/6_Modern_Technology_Devices_Laptop.png">    </p:cNvPr>
          <p:cNvPicPr>
            <a:picLocks noChangeAspect="1"/>
          </p:cNvPicPr>
          <p:nvPr/>
        </p:nvPicPr>
        <p:blipFill>
          <a:blip r:embed="rId1"/>
          <a:srcRect l="6620" r="6620" t="0" b="0"/>
          <a:stretch/>
        </p:blipFill>
        <p:spPr>
          <a:xfrm>
            <a:off x="762000" y="1460500"/>
            <a:ext cx="6096000" cy="393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5524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Laptop, tablet, and smartphone — mobile computing devices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66000" y="14605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Laptops (notebook computers) integrate all components — display, keyboard, trackpad, CPU, memory, and storage — into a single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compact portable unit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260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66000" y="3073400"/>
            <a:ext cx="812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Battery-powered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without external power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and compact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easy to transport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wireless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Wi-Fi and Bluetooth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performance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equivalent desktops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upgradeability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most parts soldered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6159500"/>
            <a:ext cx="76200" cy="1079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500" y="6159500"/>
            <a:ext cx="1397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for: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Students, business travelers, and professionals who need computing power on the go. Modern laptops range from ultralight notebooks (1-1.5 kg) to powerful gaming laptops with dedicated GPUs.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Text 9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Computers — Tablets &amp; Smartphones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75500" cy="355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5" name="Shape 3"/>
          <p:cNvSpPr/>
          <p:nvPr/>
        </p:nvSpPr>
        <p:spPr>
          <a:xfrm>
            <a:off x="1108075" y="171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342900" y="0"/>
                </a:lnTo>
                <a:cubicBezTo>
                  <a:pt x="374422" y="0"/>
                  <a:pt x="400050" y="25628"/>
                  <a:pt x="400050" y="57150"/>
                </a:cubicBezTo>
                <a:lnTo>
                  <a:pt x="400050" y="400050"/>
                </a:lnTo>
                <a:cubicBezTo>
                  <a:pt x="400050" y="431572"/>
                  <a:pt x="374422" y="457200"/>
                  <a:pt x="34290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228600" y="385763"/>
                </a:moveTo>
                <a:cubicBezTo>
                  <a:pt x="228600" y="369992"/>
                  <a:pt x="215796" y="357188"/>
                  <a:pt x="200025" y="357188"/>
                </a:cubicBezTo>
                <a:cubicBezTo>
                  <a:pt x="184254" y="357188"/>
                  <a:pt x="171450" y="369992"/>
                  <a:pt x="171450" y="385763"/>
                </a:cubicBezTo>
                <a:cubicBezTo>
                  <a:pt x="171450" y="401533"/>
                  <a:pt x="184254" y="414338"/>
                  <a:pt x="200025" y="414338"/>
                </a:cubicBezTo>
                <a:cubicBezTo>
                  <a:pt x="215796" y="414338"/>
                  <a:pt x="228600" y="401533"/>
                  <a:pt x="228600" y="385763"/>
                </a:cubicBezTo>
                <a:close/>
                <a:moveTo>
                  <a:pt x="342900" y="57150"/>
                </a:moveTo>
                <a:lnTo>
                  <a:pt x="57150" y="57150"/>
                </a:lnTo>
                <a:lnTo>
                  <a:pt x="57150" y="314325"/>
                </a:lnTo>
                <a:lnTo>
                  <a:pt x="342900" y="314325"/>
                </a:lnTo>
                <a:lnTo>
                  <a:pt x="342900" y="57150"/>
                </a:ln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7399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3495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Touchscreen-based interface — no physical keyboard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Screen size: 7 to 13 inches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Ideal for media consumption, reading, and light productivity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Longer battery life than laptops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Examples: Apple iPad, Samsung Galaxy Tab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460500"/>
            <a:ext cx="7175500" cy="355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9" name="Shape 7"/>
          <p:cNvSpPr/>
          <p:nvPr/>
        </p:nvSpPr>
        <p:spPr>
          <a:xfrm>
            <a:off x="8693150" y="1714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4288" y="57150"/>
                </a:moveTo>
                <a:cubicBezTo>
                  <a:pt x="14288" y="25628"/>
                  <a:pt x="39916" y="0"/>
                  <a:pt x="71438" y="0"/>
                </a:cubicBezTo>
                <a:lnTo>
                  <a:pt x="271463" y="0"/>
                </a:lnTo>
                <a:cubicBezTo>
                  <a:pt x="302984" y="0"/>
                  <a:pt x="328613" y="25628"/>
                  <a:pt x="328613" y="57150"/>
                </a:cubicBezTo>
                <a:lnTo>
                  <a:pt x="328613" y="400050"/>
                </a:lnTo>
                <a:cubicBezTo>
                  <a:pt x="328613" y="431572"/>
                  <a:pt x="302984" y="457200"/>
                  <a:pt x="271463" y="457200"/>
                </a:cubicBezTo>
                <a:lnTo>
                  <a:pt x="71438" y="457200"/>
                </a:lnTo>
                <a:cubicBezTo>
                  <a:pt x="39916" y="457200"/>
                  <a:pt x="14288" y="431572"/>
                  <a:pt x="14288" y="400050"/>
                </a:cubicBezTo>
                <a:lnTo>
                  <a:pt x="14288" y="57150"/>
                </a:lnTo>
                <a:close/>
                <a:moveTo>
                  <a:pt x="71438" y="57150"/>
                </a:moveTo>
                <a:lnTo>
                  <a:pt x="71438" y="328613"/>
                </a:lnTo>
                <a:lnTo>
                  <a:pt x="271463" y="328613"/>
                </a:lnTo>
                <a:lnTo>
                  <a:pt x="271463" y="57150"/>
                </a:lnTo>
                <a:lnTo>
                  <a:pt x="71438" y="57150"/>
                </a:lnTo>
                <a:close/>
                <a:moveTo>
                  <a:pt x="171450" y="421481"/>
                </a:moveTo>
                <a:cubicBezTo>
                  <a:pt x="187256" y="421481"/>
                  <a:pt x="200025" y="408712"/>
                  <a:pt x="200025" y="392906"/>
                </a:cubicBezTo>
                <a:cubicBezTo>
                  <a:pt x="200025" y="377101"/>
                  <a:pt x="187256" y="364331"/>
                  <a:pt x="171450" y="364331"/>
                </a:cubicBezTo>
                <a:cubicBezTo>
                  <a:pt x="155644" y="364331"/>
                  <a:pt x="142875" y="377101"/>
                  <a:pt x="142875" y="392906"/>
                </a:cubicBezTo>
                <a:cubicBezTo>
                  <a:pt x="142875" y="408712"/>
                  <a:pt x="155644" y="421481"/>
                  <a:pt x="171450" y="421481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17399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Smartphones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349500"/>
            <a:ext cx="6540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Pocket-sized with cellular connectivity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widely used computing device globally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communication, computing, camera, GPS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 mobile OS: iOS or Android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apps instead of traditional desktop software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397500"/>
            <a:ext cx="76200" cy="1270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Mobile Revolution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5842000"/>
            <a:ext cx="139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tablets and smartphones represent a shift toward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post-PC computing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They prioritize convenience, instant-on functionality, and app-based ecosystems over the flexibility of traditional desktop operating systems.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6" name="Text 1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Mainframe Computers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Mainframe computers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large, powerful, and expensive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computing systems used by large organizations for critical applications and bulk data processing.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3149600"/>
            <a:ext cx="812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millions of instructions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 second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thousands of simultaneous users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99.999% uptime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"five nines" reliability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 specialized OS: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z/OS, z/VM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 vast data with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security</a:t>
            </a:r>
            <a:endParaRPr lang="en-US" sz="1600" dirty="0"/>
          </a:p>
        </p:txBody>
      </p:sp>
      <p:pic>
        <p:nvPicPr>
          <p:cNvPr id="7" name="Image 0" descr="https://kimi-img.moonshot.cn/pub/slides/okc/cnnzusjvv7vxa/mnt/agents/output/ict-week2/images/1_Micro_data_centre_vs_server_room.png">    </p:cNvPr>
          <p:cNvPicPr>
            <a:picLocks noChangeAspect="1"/>
          </p:cNvPicPr>
          <p:nvPr/>
        </p:nvPicPr>
        <p:blipFill>
          <a:blip r:embed="rId1"/>
          <a:srcRect l="19032" r="19032" t="0" b="0"/>
          <a:stretch/>
        </p:blipFill>
        <p:spPr>
          <a:xfrm>
            <a:off x="9398000" y="1460500"/>
            <a:ext cx="6096000" cy="3937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98000" y="5524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Enterprise data center with server racks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2000" y="6159500"/>
            <a:ext cx="76200" cy="1079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0" name="Text 7"/>
          <p:cNvSpPr/>
          <p:nvPr/>
        </p:nvSpPr>
        <p:spPr>
          <a:xfrm>
            <a:off x="1079500" y="6159500"/>
            <a:ext cx="1397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Mainframes have evolved from room-sized machines of the 1960s to modern compact systems. Today's mainframes use advanced virtualization, enabling multiple operating systems to run simultaneously on a single physical machine.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Text 9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Mainframe Applications &amp;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22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699000" cy="139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095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Banking &amp; Finance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14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ATM withdrawals, credit card payments, millions of daily transactions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05000"/>
            <a:ext cx="4699000" cy="139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2095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514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data management, claims processing, risk assessment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905000"/>
            <a:ext cx="4699000" cy="139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26775" y="2095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88900" y="44450"/>
                </a:moveTo>
                <a:cubicBezTo>
                  <a:pt x="88900" y="19933"/>
                  <a:pt x="108833" y="0"/>
                  <a:pt x="133350" y="0"/>
                </a:cubicBezTo>
                <a:lnTo>
                  <a:pt x="266700" y="0"/>
                </a:lnTo>
                <a:cubicBezTo>
                  <a:pt x="291217" y="0"/>
                  <a:pt x="311150" y="19933"/>
                  <a:pt x="311150" y="44450"/>
                </a:cubicBezTo>
                <a:lnTo>
                  <a:pt x="311150" y="88900"/>
                </a:lnTo>
                <a:lnTo>
                  <a:pt x="355600" y="88900"/>
                </a:lnTo>
                <a:cubicBezTo>
                  <a:pt x="380117" y="88900"/>
                  <a:pt x="400050" y="108833"/>
                  <a:pt x="400050" y="133350"/>
                </a:cubicBezTo>
                <a:lnTo>
                  <a:pt x="400050" y="311150"/>
                </a:lnTo>
                <a:cubicBezTo>
                  <a:pt x="400050" y="335667"/>
                  <a:pt x="380117" y="355600"/>
                  <a:pt x="35560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33350"/>
                </a:lnTo>
                <a:cubicBezTo>
                  <a:pt x="0" y="108833"/>
                  <a:pt x="19933" y="88900"/>
                  <a:pt x="44450" y="88900"/>
                </a:cubicBezTo>
                <a:lnTo>
                  <a:pt x="88900" y="88900"/>
                </a:lnTo>
                <a:lnTo>
                  <a:pt x="88900" y="44450"/>
                </a:lnTo>
                <a:close/>
                <a:moveTo>
                  <a:pt x="188913" y="244475"/>
                </a:moveTo>
                <a:cubicBezTo>
                  <a:pt x="176619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233363" y="322263"/>
                </a:lnTo>
                <a:lnTo>
                  <a:pt x="233363" y="266700"/>
                </a:lnTo>
                <a:cubicBezTo>
                  <a:pt x="233363" y="254407"/>
                  <a:pt x="223431" y="244475"/>
                  <a:pt x="211138" y="244475"/>
                </a:cubicBezTo>
                <a:lnTo>
                  <a:pt x="188913" y="244475"/>
                </a:lnTo>
                <a:close/>
                <a:moveTo>
                  <a:pt x="88900" y="255587"/>
                </a:moveTo>
                <a:lnTo>
                  <a:pt x="88900" y="233363"/>
                </a:lnTo>
                <a:cubicBezTo>
                  <a:pt x="88900" y="227251"/>
                  <a:pt x="83899" y="222250"/>
                  <a:pt x="77788" y="222250"/>
                </a:cubicBezTo>
                <a:lnTo>
                  <a:pt x="55563" y="222250"/>
                </a:lnTo>
                <a:cubicBezTo>
                  <a:pt x="49451" y="222250"/>
                  <a:pt x="44450" y="227251"/>
                  <a:pt x="44450" y="233363"/>
                </a:cubicBezTo>
                <a:lnTo>
                  <a:pt x="44450" y="255587"/>
                </a:lnTo>
                <a:cubicBezTo>
                  <a:pt x="44450" y="261699"/>
                  <a:pt x="49451" y="266700"/>
                  <a:pt x="55563" y="266700"/>
                </a:cubicBezTo>
                <a:lnTo>
                  <a:pt x="77788" y="266700"/>
                </a:lnTo>
                <a:cubicBezTo>
                  <a:pt x="83899" y="266700"/>
                  <a:pt x="88900" y="261699"/>
                  <a:pt x="88900" y="255587"/>
                </a:cubicBezTo>
                <a:close/>
                <a:moveTo>
                  <a:pt x="77788" y="177800"/>
                </a:moveTo>
                <a:cubicBezTo>
                  <a:pt x="83899" y="177800"/>
                  <a:pt x="88900" y="172799"/>
                  <a:pt x="88900" y="166688"/>
                </a:cubicBezTo>
                <a:lnTo>
                  <a:pt x="88900" y="144463"/>
                </a:lnTo>
                <a:cubicBezTo>
                  <a:pt x="88900" y="138351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38351"/>
                  <a:pt x="44450" y="144463"/>
                </a:cubicBezTo>
                <a:lnTo>
                  <a:pt x="44450" y="166688"/>
                </a:lnTo>
                <a:cubicBezTo>
                  <a:pt x="44450" y="172799"/>
                  <a:pt x="49451" y="177800"/>
                  <a:pt x="55563" y="177800"/>
                </a:cubicBezTo>
                <a:lnTo>
                  <a:pt x="77788" y="177800"/>
                </a:lnTo>
                <a:close/>
                <a:moveTo>
                  <a:pt x="355600" y="255587"/>
                </a:moveTo>
                <a:lnTo>
                  <a:pt x="355600" y="233363"/>
                </a:lnTo>
                <a:cubicBezTo>
                  <a:pt x="355600" y="227251"/>
                  <a:pt x="350599" y="222250"/>
                  <a:pt x="344488" y="222250"/>
                </a:cubicBezTo>
                <a:lnTo>
                  <a:pt x="322263" y="222250"/>
                </a:lnTo>
                <a:cubicBezTo>
                  <a:pt x="316151" y="222250"/>
                  <a:pt x="311150" y="227251"/>
                  <a:pt x="311150" y="233363"/>
                </a:cubicBezTo>
                <a:lnTo>
                  <a:pt x="311150" y="255587"/>
                </a:lnTo>
                <a:cubicBezTo>
                  <a:pt x="311150" y="261699"/>
                  <a:pt x="316151" y="266700"/>
                  <a:pt x="322263" y="266700"/>
                </a:cubicBezTo>
                <a:lnTo>
                  <a:pt x="344488" y="266700"/>
                </a:lnTo>
                <a:cubicBezTo>
                  <a:pt x="350599" y="266700"/>
                  <a:pt x="355600" y="261699"/>
                  <a:pt x="355600" y="255587"/>
                </a:cubicBezTo>
                <a:close/>
                <a:moveTo>
                  <a:pt x="344488" y="177800"/>
                </a:moveTo>
                <a:cubicBezTo>
                  <a:pt x="350599" y="177800"/>
                  <a:pt x="355600" y="172799"/>
                  <a:pt x="355600" y="166688"/>
                </a:cubicBezTo>
                <a:lnTo>
                  <a:pt x="355600" y="144463"/>
                </a:lnTo>
                <a:cubicBezTo>
                  <a:pt x="355600" y="138351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38351"/>
                  <a:pt x="311150" y="144463"/>
                </a:cubicBezTo>
                <a:lnTo>
                  <a:pt x="311150" y="166688"/>
                </a:lnTo>
                <a:cubicBezTo>
                  <a:pt x="311150" y="172799"/>
                  <a:pt x="316151" y="177800"/>
                  <a:pt x="322263" y="177800"/>
                </a:cubicBezTo>
                <a:lnTo>
                  <a:pt x="344488" y="177800"/>
                </a:lnTo>
                <a:close/>
                <a:moveTo>
                  <a:pt x="183356" y="72231"/>
                </a:moveTo>
                <a:lnTo>
                  <a:pt x="183356" y="94456"/>
                </a:lnTo>
                <a:lnTo>
                  <a:pt x="161131" y="94456"/>
                </a:lnTo>
                <a:cubicBezTo>
                  <a:pt x="155019" y="94456"/>
                  <a:pt x="150019" y="99457"/>
                  <a:pt x="150019" y="105569"/>
                </a:cubicBezTo>
                <a:lnTo>
                  <a:pt x="150019" y="116681"/>
                </a:lnTo>
                <a:cubicBezTo>
                  <a:pt x="150019" y="122793"/>
                  <a:pt x="155019" y="127794"/>
                  <a:pt x="161131" y="127794"/>
                </a:cubicBezTo>
                <a:lnTo>
                  <a:pt x="183356" y="127794"/>
                </a:lnTo>
                <a:lnTo>
                  <a:pt x="183356" y="150019"/>
                </a:lnTo>
                <a:cubicBezTo>
                  <a:pt x="183356" y="156131"/>
                  <a:pt x="188357" y="161131"/>
                  <a:pt x="194469" y="161131"/>
                </a:cubicBezTo>
                <a:lnTo>
                  <a:pt x="205581" y="161131"/>
                </a:lnTo>
                <a:cubicBezTo>
                  <a:pt x="211693" y="161131"/>
                  <a:pt x="216694" y="156131"/>
                  <a:pt x="216694" y="150019"/>
                </a:cubicBezTo>
                <a:lnTo>
                  <a:pt x="216694" y="127794"/>
                </a:lnTo>
                <a:lnTo>
                  <a:pt x="238919" y="127794"/>
                </a:lnTo>
                <a:cubicBezTo>
                  <a:pt x="245031" y="127794"/>
                  <a:pt x="250031" y="122793"/>
                  <a:pt x="250031" y="116681"/>
                </a:cubicBezTo>
                <a:lnTo>
                  <a:pt x="250031" y="105569"/>
                </a:lnTo>
                <a:cubicBezTo>
                  <a:pt x="250031" y="99457"/>
                  <a:pt x="245031" y="94456"/>
                  <a:pt x="238919" y="94456"/>
                </a:cubicBezTo>
                <a:lnTo>
                  <a:pt x="216694" y="94456"/>
                </a:lnTo>
                <a:lnTo>
                  <a:pt x="216694" y="72231"/>
                </a:lnTo>
                <a:cubicBezTo>
                  <a:pt x="216694" y="66119"/>
                  <a:pt x="211693" y="61119"/>
                  <a:pt x="205581" y="61119"/>
                </a:cubicBezTo>
                <a:lnTo>
                  <a:pt x="194469" y="61119"/>
                </a:lnTo>
                <a:cubicBezTo>
                  <a:pt x="188357" y="61119"/>
                  <a:pt x="183356" y="66119"/>
                  <a:pt x="183356" y="72231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2095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514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records, medical billing, pharmaceutical tracking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556000"/>
            <a:ext cx="4699000" cy="139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5785" y="3542"/>
                </a:moveTo>
                <a:cubicBezTo>
                  <a:pt x="173077" y="-1181"/>
                  <a:pt x="182523" y="-1181"/>
                  <a:pt x="189815" y="3542"/>
                </a:cubicBezTo>
                <a:lnTo>
                  <a:pt x="345390" y="103555"/>
                </a:lnTo>
                <a:cubicBezTo>
                  <a:pt x="353655" y="108903"/>
                  <a:pt x="357475" y="119043"/>
                  <a:pt x="354697" y="128488"/>
                </a:cubicBezTo>
                <a:cubicBezTo>
                  <a:pt x="351919" y="137934"/>
                  <a:pt x="343237" y="144463"/>
                  <a:pt x="333375" y="144463"/>
                </a:cubicBezTo>
                <a:lnTo>
                  <a:pt x="311150" y="144463"/>
                </a:lnTo>
                <a:lnTo>
                  <a:pt x="311150" y="288925"/>
                </a:lnTo>
                <a:lnTo>
                  <a:pt x="346710" y="315595"/>
                </a:lnTo>
                <a:cubicBezTo>
                  <a:pt x="352336" y="319762"/>
                  <a:pt x="355600" y="326360"/>
                  <a:pt x="355600" y="333375"/>
                </a:cubicBezTo>
                <a:cubicBezTo>
                  <a:pt x="355600" y="345668"/>
                  <a:pt x="345668" y="355600"/>
                  <a:pt x="333375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ubicBezTo>
                  <a:pt x="0" y="326360"/>
                  <a:pt x="3264" y="319762"/>
                  <a:pt x="8890" y="315595"/>
                </a:cubicBezTo>
                <a:lnTo>
                  <a:pt x="44450" y="288925"/>
                </a:lnTo>
                <a:lnTo>
                  <a:pt x="44450" y="288925"/>
                </a:lnTo>
                <a:lnTo>
                  <a:pt x="44450" y="144463"/>
                </a:lnTo>
                <a:lnTo>
                  <a:pt x="22225" y="144463"/>
                </a:lnTo>
                <a:cubicBezTo>
                  <a:pt x="12363" y="144463"/>
                  <a:pt x="3681" y="137934"/>
                  <a:pt x="903" y="128488"/>
                </a:cubicBezTo>
                <a:cubicBezTo>
                  <a:pt x="-1875" y="119043"/>
                  <a:pt x="1945" y="108833"/>
                  <a:pt x="10210" y="103555"/>
                </a:cubicBezTo>
                <a:lnTo>
                  <a:pt x="165785" y="3542"/>
                </a:lnTo>
                <a:close/>
                <a:moveTo>
                  <a:pt x="233363" y="144463"/>
                </a:moveTo>
                <a:lnTo>
                  <a:pt x="233363" y="288925"/>
                </a:lnTo>
                <a:lnTo>
                  <a:pt x="277813" y="288925"/>
                </a:lnTo>
                <a:lnTo>
                  <a:pt x="277813" y="144463"/>
                </a:lnTo>
                <a:lnTo>
                  <a:pt x="233363" y="144463"/>
                </a:lnTo>
                <a:close/>
                <a:moveTo>
                  <a:pt x="155575" y="288925"/>
                </a:moveTo>
                <a:lnTo>
                  <a:pt x="200025" y="288925"/>
                </a:lnTo>
                <a:lnTo>
                  <a:pt x="200025" y="144463"/>
                </a:lnTo>
                <a:lnTo>
                  <a:pt x="155575" y="144463"/>
                </a:lnTo>
                <a:lnTo>
                  <a:pt x="155575" y="288925"/>
                </a:lnTo>
                <a:close/>
                <a:moveTo>
                  <a:pt x="77788" y="144463"/>
                </a:moveTo>
                <a:lnTo>
                  <a:pt x="77788" y="288925"/>
                </a:lnTo>
                <a:lnTo>
                  <a:pt x="122238" y="288925"/>
                </a:lnTo>
                <a:lnTo>
                  <a:pt x="122238" y="144463"/>
                </a:lnTo>
                <a:lnTo>
                  <a:pt x="77788" y="144463"/>
                </a:ln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3746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165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 processing, social security, census data management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3556000"/>
            <a:ext cx="4699000" cy="1397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Shape 20"/>
          <p:cNvSpPr/>
          <p:nvPr/>
        </p:nvSpPr>
        <p:spPr>
          <a:xfrm>
            <a:off x="6010275" y="374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61156" y="138906"/>
                </a:moveTo>
                <a:cubicBezTo>
                  <a:pt x="382617" y="138906"/>
                  <a:pt x="400050" y="156339"/>
                  <a:pt x="400050" y="177800"/>
                </a:cubicBezTo>
                <a:cubicBezTo>
                  <a:pt x="400050" y="199261"/>
                  <a:pt x="382617" y="216694"/>
                  <a:pt x="361156" y="216694"/>
                </a:cubicBezTo>
                <a:lnTo>
                  <a:pt x="272742" y="216694"/>
                </a:lnTo>
                <a:lnTo>
                  <a:pt x="162173" y="337264"/>
                </a:lnTo>
                <a:cubicBezTo>
                  <a:pt x="157936" y="341848"/>
                  <a:pt x="152033" y="344488"/>
                  <a:pt x="145782" y="344488"/>
                </a:cubicBezTo>
                <a:lnTo>
                  <a:pt x="115431" y="344488"/>
                </a:lnTo>
                <a:cubicBezTo>
                  <a:pt x="107861" y="344488"/>
                  <a:pt x="102513" y="337056"/>
                  <a:pt x="104874" y="329833"/>
                </a:cubicBezTo>
                <a:lnTo>
                  <a:pt x="142587" y="216694"/>
                </a:lnTo>
                <a:lnTo>
                  <a:pt x="73343" y="216694"/>
                </a:lnTo>
                <a:lnTo>
                  <a:pt x="36671" y="262533"/>
                </a:lnTo>
                <a:cubicBezTo>
                  <a:pt x="34588" y="265172"/>
                  <a:pt x="31393" y="266700"/>
                  <a:pt x="27990" y="266700"/>
                </a:cubicBezTo>
                <a:lnTo>
                  <a:pt x="14238" y="266700"/>
                </a:lnTo>
                <a:cubicBezTo>
                  <a:pt x="7015" y="266700"/>
                  <a:pt x="1736" y="259894"/>
                  <a:pt x="3473" y="252879"/>
                </a:cubicBezTo>
                <a:lnTo>
                  <a:pt x="22225" y="177800"/>
                </a:lnTo>
                <a:lnTo>
                  <a:pt x="3473" y="102721"/>
                </a:lnTo>
                <a:cubicBezTo>
                  <a:pt x="1667" y="95706"/>
                  <a:pt x="7015" y="88900"/>
                  <a:pt x="14238" y="88900"/>
                </a:cubicBezTo>
                <a:lnTo>
                  <a:pt x="27990" y="88900"/>
                </a:lnTo>
                <a:cubicBezTo>
                  <a:pt x="31393" y="88900"/>
                  <a:pt x="34588" y="90428"/>
                  <a:pt x="36671" y="93067"/>
                </a:cubicBezTo>
                <a:lnTo>
                  <a:pt x="73343" y="138906"/>
                </a:lnTo>
                <a:lnTo>
                  <a:pt x="142587" y="138906"/>
                </a:lnTo>
                <a:lnTo>
                  <a:pt x="104874" y="25767"/>
                </a:lnTo>
                <a:cubicBezTo>
                  <a:pt x="102513" y="18544"/>
                  <a:pt x="107861" y="11112"/>
                  <a:pt x="115431" y="11112"/>
                </a:cubicBezTo>
                <a:lnTo>
                  <a:pt x="145782" y="11112"/>
                </a:lnTo>
                <a:cubicBezTo>
                  <a:pt x="152033" y="11112"/>
                  <a:pt x="157936" y="13752"/>
                  <a:pt x="162173" y="18336"/>
                </a:cubicBezTo>
                <a:lnTo>
                  <a:pt x="272742" y="138906"/>
                </a:lnTo>
                <a:lnTo>
                  <a:pt x="361156" y="138906"/>
                </a:ln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23" name="Text 21"/>
          <p:cNvSpPr/>
          <p:nvPr/>
        </p:nvSpPr>
        <p:spPr>
          <a:xfrm>
            <a:off x="6515100" y="3746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Airlines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41656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Reservation systems, flight scheduling, baggage tracking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Technical Features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740400"/>
            <a:ext cx="1473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redundancy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duplicate components ensure fault tolerance; if one fails, another takes over instantly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Hot-swappable components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parts can be replaced without shutting down the system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encryption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hardware-level security features protect sensitive data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Virtualization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multiple operating systems run simultaneously on one physical machine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processing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handles massive workloads by distributing tasks across processors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Computer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5461000"/>
        </p:xfrm>
        <a:graphic>
          <a:graphicData uri="http://schemas.openxmlformats.org/drawingml/2006/table">
            <a:tbl>
              <a:tblPr/>
              <a:tblGrid>
                <a:gridCol w="2455333"/>
                <a:gridCol w="2455333"/>
                <a:gridCol w="2455333"/>
                <a:gridCol w="2455333"/>
                <a:gridCol w="2455333"/>
                <a:gridCol w="2455333"/>
              </a:tblGrid>
              <a:tr h="66193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Desktop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Laptop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Mainframe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8019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Medium-High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Low-Med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8019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Portability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Very 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8019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Cost 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 - $$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$$ - $$$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$$ - $$$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$$ - $$$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$$$$$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8019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Use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 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Mobile work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Communication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Enterprise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80196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Upgradeable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Modular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7892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Power 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 Outlet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Battery/AC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Battery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Battery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 Power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7175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single computer type is best for all situations. The optimal choice depends on balancing performance needs, mobility requirements, budget constraints, and the specific tasks to be performed.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7" name="Text 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Lecture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158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systems consist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hardware components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work with software to process data and produce meaningful output.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85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5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285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computers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offer the best performance and upgradeability for fixed-location use, making them ideal for demanding tasks.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12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12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412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computers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(laptops, tablets, smartphones) prioritize portability with varying levels of computing power for different needs.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39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539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Mainframe computers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extreme processing power and reliability for enterprise-level applications requiring 99.999% uptime.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66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66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66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choice of computer type depends on balancing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performance, portability, cost, and specific use case requirements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nnzusjvv7vxa/mnt/agents/output/ict-week2/images/4_4k_Close_Macro_Computer_Processor.png">    </p:cNvPr>
          <p:cNvPicPr>
            <a:picLocks noChangeAspect="1"/>
          </p:cNvPicPr>
          <p:nvPr/>
        </p:nvPicPr>
        <p:blipFill>
          <a:blip r:embed="rId1"/>
          <a:srcRect l="0" r="0" t="78" b="7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3E">
                  <a:alpha val="13000"/>
                </a:srgbClr>
              </a:gs>
              <a:gs pos="40000">
                <a:srgbClr val="1B3A3E">
                  <a:alpha val="69000"/>
                </a:srgbClr>
              </a:gs>
              <a:gs pos="100000">
                <a:srgbClr val="1B3A3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482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2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and Internal Memory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16000" y="6159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Central Processing Unit, Cache, ROM, and RAM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6794500"/>
            <a:ext cx="1016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C4802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Central Processing Unit?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270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7780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130969" y="61119"/>
                </a:moveTo>
                <a:cubicBezTo>
                  <a:pt x="130969" y="27394"/>
                  <a:pt x="158363" y="0"/>
                  <a:pt x="192088" y="0"/>
                </a:cubicBezTo>
                <a:lnTo>
                  <a:pt x="218281" y="0"/>
                </a:lnTo>
                <a:cubicBezTo>
                  <a:pt x="237599" y="0"/>
                  <a:pt x="253206" y="15607"/>
                  <a:pt x="253206" y="34925"/>
                </a:cubicBezTo>
                <a:lnTo>
                  <a:pt x="253206" y="523875"/>
                </a:lnTo>
                <a:cubicBezTo>
                  <a:pt x="253206" y="543193"/>
                  <a:pt x="237599" y="558800"/>
                  <a:pt x="218281" y="558800"/>
                </a:cubicBezTo>
                <a:lnTo>
                  <a:pt x="183356" y="558800"/>
                </a:lnTo>
                <a:cubicBezTo>
                  <a:pt x="150832" y="558800"/>
                  <a:pt x="123438" y="536535"/>
                  <a:pt x="115689" y="506413"/>
                </a:cubicBezTo>
                <a:cubicBezTo>
                  <a:pt x="114925" y="506413"/>
                  <a:pt x="114270" y="506413"/>
                  <a:pt x="113506" y="506413"/>
                </a:cubicBezTo>
                <a:cubicBezTo>
                  <a:pt x="65266" y="506413"/>
                  <a:pt x="26194" y="467340"/>
                  <a:pt x="26194" y="419100"/>
                </a:cubicBezTo>
                <a:cubicBezTo>
                  <a:pt x="26194" y="399455"/>
                  <a:pt x="32742" y="381337"/>
                  <a:pt x="43656" y="366713"/>
                </a:cubicBezTo>
                <a:cubicBezTo>
                  <a:pt x="22483" y="350778"/>
                  <a:pt x="8731" y="325457"/>
                  <a:pt x="8731" y="296863"/>
                </a:cubicBezTo>
                <a:cubicBezTo>
                  <a:pt x="8731" y="263138"/>
                  <a:pt x="27940" y="233779"/>
                  <a:pt x="55880" y="219264"/>
                </a:cubicBezTo>
                <a:cubicBezTo>
                  <a:pt x="48131" y="206167"/>
                  <a:pt x="43656" y="190887"/>
                  <a:pt x="43656" y="174625"/>
                </a:cubicBezTo>
                <a:cubicBezTo>
                  <a:pt x="43656" y="126385"/>
                  <a:pt x="82729" y="87313"/>
                  <a:pt x="130969" y="87313"/>
                </a:cubicBezTo>
                <a:lnTo>
                  <a:pt x="130969" y="61119"/>
                </a:lnTo>
                <a:close/>
                <a:moveTo>
                  <a:pt x="427831" y="61119"/>
                </a:moveTo>
                <a:lnTo>
                  <a:pt x="427831" y="87313"/>
                </a:lnTo>
                <a:cubicBezTo>
                  <a:pt x="476071" y="87313"/>
                  <a:pt x="515144" y="126385"/>
                  <a:pt x="515144" y="174625"/>
                </a:cubicBezTo>
                <a:cubicBezTo>
                  <a:pt x="515144" y="190996"/>
                  <a:pt x="510669" y="206276"/>
                  <a:pt x="502920" y="219264"/>
                </a:cubicBezTo>
                <a:cubicBezTo>
                  <a:pt x="530969" y="233779"/>
                  <a:pt x="550069" y="263029"/>
                  <a:pt x="550069" y="296863"/>
                </a:cubicBezTo>
                <a:cubicBezTo>
                  <a:pt x="550069" y="325457"/>
                  <a:pt x="536317" y="350778"/>
                  <a:pt x="515144" y="366713"/>
                </a:cubicBezTo>
                <a:cubicBezTo>
                  <a:pt x="526058" y="381337"/>
                  <a:pt x="532606" y="399455"/>
                  <a:pt x="532606" y="419100"/>
                </a:cubicBezTo>
                <a:cubicBezTo>
                  <a:pt x="532606" y="467340"/>
                  <a:pt x="493534" y="506413"/>
                  <a:pt x="445294" y="506413"/>
                </a:cubicBezTo>
                <a:cubicBezTo>
                  <a:pt x="444530" y="506413"/>
                  <a:pt x="443875" y="506413"/>
                  <a:pt x="443111" y="506413"/>
                </a:cubicBezTo>
                <a:cubicBezTo>
                  <a:pt x="435362" y="536535"/>
                  <a:pt x="407968" y="558800"/>
                  <a:pt x="375444" y="558800"/>
                </a:cubicBezTo>
                <a:lnTo>
                  <a:pt x="340519" y="558800"/>
                </a:lnTo>
                <a:cubicBezTo>
                  <a:pt x="321201" y="558800"/>
                  <a:pt x="305594" y="543193"/>
                  <a:pt x="305594" y="523875"/>
                </a:cubicBezTo>
                <a:lnTo>
                  <a:pt x="305594" y="34925"/>
                </a:lnTo>
                <a:cubicBezTo>
                  <a:pt x="305594" y="15607"/>
                  <a:pt x="321201" y="0"/>
                  <a:pt x="340519" y="0"/>
                </a:cubicBezTo>
                <a:lnTo>
                  <a:pt x="366713" y="0"/>
                </a:lnTo>
                <a:cubicBezTo>
                  <a:pt x="400437" y="0"/>
                  <a:pt x="427831" y="27394"/>
                  <a:pt x="427831" y="61119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6" name="Text 4"/>
          <p:cNvSpPr/>
          <p:nvPr/>
        </p:nvSpPr>
        <p:spPr>
          <a:xfrm>
            <a:off x="1968500" y="1651000"/>
            <a:ext cx="1308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CPU is the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"brain" of the computer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primary component responsible for interpreting and executing instructions from the computer's memory.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CPU performs arithmetic calculations, makes logical decisions, and coordinates the activities of all other hardware components in the system.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699000"/>
            <a:ext cx="812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Measured in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gigahertz (GHz)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billions of cycles per second. A 3.0 GHz CPU performs 3 billion cycles each second. Modern CPUs execute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billions of instructions per second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223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667500"/>
            <a:ext cx="812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Performs arithmetic and logical operations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Fetches, decodes, and executes program instructions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Controls data flow between components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Manages input/output operations</a:t>
            </a:r>
            <a:endParaRPr lang="en-US" sz="1600" dirty="0"/>
          </a:p>
        </p:txBody>
      </p:sp>
      <p:pic>
        <p:nvPicPr>
          <p:cNvPr id="12" name="Image 0" descr="https://kimi-img.moonshot.cn/pub/slides/okc/cnnzusjvv7vxa/mnt/agents/output/ict-week2/images/6_Macro_Close_Cpu_Processor_Chip_Pins.png">    </p:cNvPr>
          <p:cNvPicPr>
            <a:picLocks noChangeAspect="1"/>
          </p:cNvPicPr>
          <p:nvPr/>
        </p:nvPicPr>
        <p:blipFill>
          <a:blip r:embed="rId1"/>
          <a:srcRect l="0" r="0" t="9479" b="9479"/>
          <a:stretch/>
        </p:blipFill>
        <p:spPr>
          <a:xfrm>
            <a:off x="9398000" y="3048000"/>
            <a:ext cx="6096000" cy="3556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98000" y="67310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modern CPU processor with contact pins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Components — ALU &amp; Control Unit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CPU contains three primary functional units that work together to process instructions: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75500" cy="3175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95500"/>
            <a:ext cx="76200" cy="3175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7" name="Shape 5"/>
          <p:cNvSpPr/>
          <p:nvPr/>
        </p:nvSpPr>
        <p:spPr>
          <a:xfrm>
            <a:off x="1136650" y="2349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85725" y="57150"/>
                </a:moveTo>
                <a:lnTo>
                  <a:pt x="257175" y="57150"/>
                </a:lnTo>
                <a:cubicBezTo>
                  <a:pt x="272981" y="57150"/>
                  <a:pt x="285750" y="69919"/>
                  <a:pt x="285750" y="85725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85725" y="142875"/>
                </a:lnTo>
                <a:cubicBezTo>
                  <a:pt x="69919" y="142875"/>
                  <a:pt x="57150" y="130106"/>
                  <a:pt x="57150" y="114300"/>
                </a:cubicBezTo>
                <a:lnTo>
                  <a:pt x="57150" y="85725"/>
                </a:lnTo>
                <a:cubicBezTo>
                  <a:pt x="57150" y="69919"/>
                  <a:pt x="69919" y="57150"/>
                  <a:pt x="85725" y="57150"/>
                </a:cubicBezTo>
                <a:close/>
                <a:moveTo>
                  <a:pt x="100013" y="207169"/>
                </a:moveTo>
                <a:cubicBezTo>
                  <a:pt x="100013" y="218997"/>
                  <a:pt x="90409" y="228600"/>
                  <a:pt x="78581" y="228600"/>
                </a:cubicBezTo>
                <a:cubicBezTo>
                  <a:pt x="66753" y="228600"/>
                  <a:pt x="57150" y="218997"/>
                  <a:pt x="57150" y="207169"/>
                </a:cubicBezTo>
                <a:cubicBezTo>
                  <a:pt x="57150" y="195341"/>
                  <a:pt x="66753" y="185738"/>
                  <a:pt x="78581" y="185738"/>
                </a:cubicBezTo>
                <a:cubicBezTo>
                  <a:pt x="90409" y="185738"/>
                  <a:pt x="100013" y="195341"/>
                  <a:pt x="100013" y="207169"/>
                </a:cubicBezTo>
                <a:close/>
                <a:moveTo>
                  <a:pt x="171450" y="228600"/>
                </a:moveTo>
                <a:cubicBezTo>
                  <a:pt x="159622" y="228600"/>
                  <a:pt x="150019" y="218997"/>
                  <a:pt x="150019" y="207169"/>
                </a:cubicBezTo>
                <a:cubicBezTo>
                  <a:pt x="150019" y="195341"/>
                  <a:pt x="159622" y="185738"/>
                  <a:pt x="171450" y="185738"/>
                </a:cubicBezTo>
                <a:cubicBezTo>
                  <a:pt x="183278" y="185738"/>
                  <a:pt x="192881" y="195341"/>
                  <a:pt x="192881" y="207169"/>
                </a:cubicBezTo>
                <a:cubicBezTo>
                  <a:pt x="192881" y="218997"/>
                  <a:pt x="183278" y="228600"/>
                  <a:pt x="171450" y="228600"/>
                </a:cubicBezTo>
                <a:close/>
                <a:moveTo>
                  <a:pt x="285750" y="207169"/>
                </a:moveTo>
                <a:cubicBezTo>
                  <a:pt x="285750" y="218997"/>
                  <a:pt x="276147" y="228600"/>
                  <a:pt x="264319" y="228600"/>
                </a:cubicBezTo>
                <a:cubicBezTo>
                  <a:pt x="252491" y="228600"/>
                  <a:pt x="242888" y="218997"/>
                  <a:pt x="242888" y="207169"/>
                </a:cubicBezTo>
                <a:cubicBezTo>
                  <a:pt x="242888" y="195341"/>
                  <a:pt x="252491" y="185738"/>
                  <a:pt x="264319" y="185738"/>
                </a:cubicBezTo>
                <a:cubicBezTo>
                  <a:pt x="276147" y="185738"/>
                  <a:pt x="285750" y="195341"/>
                  <a:pt x="285750" y="207169"/>
                </a:cubicBezTo>
                <a:close/>
                <a:moveTo>
                  <a:pt x="78581" y="314325"/>
                </a:moveTo>
                <a:cubicBezTo>
                  <a:pt x="66753" y="314325"/>
                  <a:pt x="57150" y="304722"/>
                  <a:pt x="57150" y="292894"/>
                </a:cubicBezTo>
                <a:cubicBezTo>
                  <a:pt x="57150" y="281066"/>
                  <a:pt x="66753" y="271463"/>
                  <a:pt x="78581" y="271463"/>
                </a:cubicBezTo>
                <a:cubicBezTo>
                  <a:pt x="90409" y="271463"/>
                  <a:pt x="100013" y="281066"/>
                  <a:pt x="100013" y="292894"/>
                </a:cubicBezTo>
                <a:cubicBezTo>
                  <a:pt x="100013" y="304722"/>
                  <a:pt x="90409" y="314325"/>
                  <a:pt x="78581" y="314325"/>
                </a:cubicBezTo>
                <a:close/>
                <a:moveTo>
                  <a:pt x="192881" y="292894"/>
                </a:moveTo>
                <a:cubicBezTo>
                  <a:pt x="192881" y="304722"/>
                  <a:pt x="183278" y="314325"/>
                  <a:pt x="171450" y="314325"/>
                </a:cubicBezTo>
                <a:cubicBezTo>
                  <a:pt x="159622" y="314325"/>
                  <a:pt x="150019" y="304722"/>
                  <a:pt x="150019" y="292894"/>
                </a:cubicBezTo>
                <a:cubicBezTo>
                  <a:pt x="150019" y="281066"/>
                  <a:pt x="159622" y="271463"/>
                  <a:pt x="171450" y="271463"/>
                </a:cubicBezTo>
                <a:cubicBezTo>
                  <a:pt x="183278" y="271463"/>
                  <a:pt x="192881" y="281066"/>
                  <a:pt x="192881" y="292894"/>
                </a:cubicBezTo>
                <a:close/>
                <a:moveTo>
                  <a:pt x="264319" y="314325"/>
                </a:moveTo>
                <a:cubicBezTo>
                  <a:pt x="252491" y="314325"/>
                  <a:pt x="242888" y="304722"/>
                  <a:pt x="242888" y="292894"/>
                </a:cubicBezTo>
                <a:cubicBezTo>
                  <a:pt x="242888" y="281066"/>
                  <a:pt x="252491" y="271463"/>
                  <a:pt x="264319" y="271463"/>
                </a:cubicBezTo>
                <a:cubicBezTo>
                  <a:pt x="276147" y="271463"/>
                  <a:pt x="285750" y="281066"/>
                  <a:pt x="285750" y="292894"/>
                </a:cubicBezTo>
                <a:cubicBezTo>
                  <a:pt x="285750" y="304722"/>
                  <a:pt x="276147" y="314325"/>
                  <a:pt x="264319" y="314325"/>
                </a:cubicBezTo>
                <a:close/>
                <a:moveTo>
                  <a:pt x="57150" y="378619"/>
                </a:moveTo>
                <a:cubicBezTo>
                  <a:pt x="57150" y="366742"/>
                  <a:pt x="66705" y="357188"/>
                  <a:pt x="78581" y="357188"/>
                </a:cubicBezTo>
                <a:lnTo>
                  <a:pt x="178594" y="357188"/>
                </a:lnTo>
                <a:cubicBezTo>
                  <a:pt x="190470" y="357188"/>
                  <a:pt x="200025" y="366742"/>
                  <a:pt x="200025" y="378619"/>
                </a:cubicBezTo>
                <a:cubicBezTo>
                  <a:pt x="200025" y="390495"/>
                  <a:pt x="190470" y="400050"/>
                  <a:pt x="178594" y="400050"/>
                </a:cubicBezTo>
                <a:lnTo>
                  <a:pt x="78581" y="400050"/>
                </a:lnTo>
                <a:cubicBezTo>
                  <a:pt x="66705" y="400050"/>
                  <a:pt x="57150" y="390495"/>
                  <a:pt x="57150" y="378619"/>
                </a:cubicBezTo>
                <a:close/>
                <a:moveTo>
                  <a:pt x="264319" y="357188"/>
                </a:moveTo>
                <a:cubicBezTo>
                  <a:pt x="276195" y="357188"/>
                  <a:pt x="285750" y="366742"/>
                  <a:pt x="285750" y="378619"/>
                </a:cubicBezTo>
                <a:cubicBezTo>
                  <a:pt x="285750" y="390495"/>
                  <a:pt x="276195" y="400050"/>
                  <a:pt x="264319" y="400050"/>
                </a:cubicBezTo>
                <a:cubicBezTo>
                  <a:pt x="252442" y="400050"/>
                  <a:pt x="242888" y="390495"/>
                  <a:pt x="242888" y="378619"/>
                </a:cubicBezTo>
                <a:cubicBezTo>
                  <a:pt x="242888" y="366742"/>
                  <a:pt x="252442" y="357188"/>
                  <a:pt x="264319" y="357188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3749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Arithmetic Logic Unit (ALU)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984500"/>
            <a:ext cx="6540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Performs all mathematical operations: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Addition, subtraction, multiplication, division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Logical comparisons: AND, OR, NOT, XOR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Comparison operations (equal, greater than)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2095500"/>
            <a:ext cx="7175500" cy="3175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2095500"/>
            <a:ext cx="76200" cy="3175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2" name="Shape 10"/>
          <p:cNvSpPr/>
          <p:nvPr/>
        </p:nvSpPr>
        <p:spPr>
          <a:xfrm>
            <a:off x="8721725" y="23495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57150" y="-28575"/>
                </a:moveTo>
                <a:cubicBezTo>
                  <a:pt x="25628" y="-28575"/>
                  <a:pt x="0" y="-2947"/>
                  <a:pt x="0" y="28575"/>
                </a:cubicBezTo>
                <a:lnTo>
                  <a:pt x="0" y="342900"/>
                </a:lnTo>
                <a:cubicBezTo>
                  <a:pt x="0" y="421838"/>
                  <a:pt x="63937" y="485775"/>
                  <a:pt x="142875" y="485775"/>
                </a:cubicBezTo>
                <a:cubicBezTo>
                  <a:pt x="221813" y="485775"/>
                  <a:pt x="285750" y="421838"/>
                  <a:pt x="285750" y="342900"/>
                </a:cubicBezTo>
                <a:lnTo>
                  <a:pt x="285750" y="28575"/>
                </a:lnTo>
                <a:cubicBezTo>
                  <a:pt x="285750" y="-2947"/>
                  <a:pt x="260122" y="-28575"/>
                  <a:pt x="228600" y="-28575"/>
                </a:cubicBezTo>
                <a:lnTo>
                  <a:pt x="57150" y="-28575"/>
                </a:lnTo>
                <a:close/>
                <a:moveTo>
                  <a:pt x="142875" y="321469"/>
                </a:moveTo>
                <a:cubicBezTo>
                  <a:pt x="170468" y="321469"/>
                  <a:pt x="192881" y="343882"/>
                  <a:pt x="192881" y="371475"/>
                </a:cubicBezTo>
                <a:cubicBezTo>
                  <a:pt x="192881" y="399068"/>
                  <a:pt x="170468" y="421481"/>
                  <a:pt x="142875" y="421481"/>
                </a:cubicBezTo>
                <a:cubicBezTo>
                  <a:pt x="115282" y="421481"/>
                  <a:pt x="92869" y="399068"/>
                  <a:pt x="92869" y="371475"/>
                </a:cubicBezTo>
                <a:cubicBezTo>
                  <a:pt x="92869" y="343882"/>
                  <a:pt x="115282" y="321469"/>
                  <a:pt x="142875" y="321469"/>
                </a:cubicBezTo>
                <a:close/>
                <a:moveTo>
                  <a:pt x="192881" y="228600"/>
                </a:moveTo>
                <a:cubicBezTo>
                  <a:pt x="192881" y="256199"/>
                  <a:pt x="170474" y="278606"/>
                  <a:pt x="142875" y="278606"/>
                </a:cubicBezTo>
                <a:cubicBezTo>
                  <a:pt x="115276" y="278606"/>
                  <a:pt x="92869" y="256199"/>
                  <a:pt x="92869" y="228600"/>
                </a:cubicBezTo>
                <a:cubicBezTo>
                  <a:pt x="92869" y="201001"/>
                  <a:pt x="115276" y="178594"/>
                  <a:pt x="142875" y="178594"/>
                </a:cubicBezTo>
                <a:cubicBezTo>
                  <a:pt x="170474" y="178594"/>
                  <a:pt x="192881" y="201001"/>
                  <a:pt x="192881" y="228600"/>
                </a:cubicBezTo>
                <a:close/>
                <a:moveTo>
                  <a:pt x="142875" y="135731"/>
                </a:moveTo>
                <a:cubicBezTo>
                  <a:pt x="115276" y="135731"/>
                  <a:pt x="92869" y="113324"/>
                  <a:pt x="92869" y="85725"/>
                </a:cubicBezTo>
                <a:cubicBezTo>
                  <a:pt x="92869" y="58126"/>
                  <a:pt x="115276" y="35719"/>
                  <a:pt x="142875" y="35719"/>
                </a:cubicBezTo>
                <a:cubicBezTo>
                  <a:pt x="170474" y="35719"/>
                  <a:pt x="192881" y="58126"/>
                  <a:pt x="192881" y="85725"/>
                </a:cubicBezTo>
                <a:cubicBezTo>
                  <a:pt x="192881" y="113324"/>
                  <a:pt x="170474" y="135731"/>
                  <a:pt x="142875" y="135731"/>
                </a:cubicBezTo>
                <a:close/>
              </a:path>
            </a:pathLst>
          </a:custGeom>
          <a:solidFill>
            <a:srgbClr val="1B3A3E"/>
          </a:solidFill>
          <a:ln/>
        </p:spPr>
      </p:sp>
      <p:sp>
        <p:nvSpPr>
          <p:cNvPr id="13" name="Text 11"/>
          <p:cNvSpPr/>
          <p:nvPr/>
        </p:nvSpPr>
        <p:spPr>
          <a:xfrm>
            <a:off x="9271000" y="23749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Unit (CU)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2984500"/>
            <a:ext cx="6540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Directs and coordinates all CPU operations: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Fetches instructions from memory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Decodes instructions into commands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Generates control signals for execution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588000"/>
            <a:ext cx="14732000" cy="1270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590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584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Unit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261100"/>
            <a:ext cx="1346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the flow of data between the CPU, internal memory (RAM), and other system components via the system bus.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7175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Together: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ALU and Control Unit operate in a continuous cycle. The CU fetches and decodes instructions, then directs the ALU to perform the required calculations, creating a seamless processing pipeline.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Components — Registers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Registers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small, ultra-fast storage locations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inside the CPU that hold data and instructions being processed. They provide the fastest data access in the entire computer 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7175500" cy="1333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413000"/>
            <a:ext cx="76200" cy="1333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514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Counter (PC)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8956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the memory address of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instruction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 executed. Automatically increments after each fetch.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2413000"/>
            <a:ext cx="7175500" cy="1333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8318500" y="2413000"/>
            <a:ext cx="76200" cy="1333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514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Instruction Register (IR)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8956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Holds the instruction currently being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decoded and executed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the Control Unit.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000500"/>
            <a:ext cx="7175500" cy="1333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000500"/>
            <a:ext cx="76200" cy="1333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4102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Address Register (MAR)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44831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memory location currently being accessed by the CPU.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4000500"/>
            <a:ext cx="7175500" cy="1333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Shape 16"/>
          <p:cNvSpPr/>
          <p:nvPr/>
        </p:nvSpPr>
        <p:spPr>
          <a:xfrm>
            <a:off x="8318500" y="4000500"/>
            <a:ext cx="76200" cy="1333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4102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Data Register (MDR)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44831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being transferred to or from memory. Also called Memory Buffer Register (MBR).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588000"/>
            <a:ext cx="7175500" cy="1333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588000"/>
            <a:ext cx="76200" cy="1333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5689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Accumulator (ACC)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60706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arithmetic and logical operations performed by the ALU.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18500" y="5588000"/>
            <a:ext cx="7175500" cy="13335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5778500"/>
            <a:ext cx="654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Hierarchy: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Registers are the fastest storage in a computer — faster than cache, RAM, and all other memory types.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CPU Processes Instructions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CPU transforms user input into meaningful output through a continuous processing cycle: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2159000" cy="1016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184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03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2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302000" y="2159000"/>
            <a:ext cx="2159000" cy="1016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10" name="Text 8"/>
          <p:cNvSpPr/>
          <p:nvPr/>
        </p:nvSpPr>
        <p:spPr>
          <a:xfrm>
            <a:off x="3302000" y="2184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02000" y="2603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Fetch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6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842000" y="2159000"/>
            <a:ext cx="2159000" cy="1016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14" name="Text 12"/>
          <p:cNvSpPr/>
          <p:nvPr/>
        </p:nvSpPr>
        <p:spPr>
          <a:xfrm>
            <a:off x="5842000" y="2184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2603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382000" y="2159000"/>
            <a:ext cx="2159000" cy="1016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2184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2603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54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922000" y="2159000"/>
            <a:ext cx="2159000" cy="1016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22" name="Text 20"/>
          <p:cNvSpPr/>
          <p:nvPr/>
        </p:nvSpPr>
        <p:spPr>
          <a:xfrm>
            <a:off x="10922000" y="21844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22000" y="2603500"/>
            <a:ext cx="215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08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3462000" y="2159000"/>
            <a:ext cx="20320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26" name="Text 24"/>
          <p:cNvSpPr/>
          <p:nvPr/>
        </p:nvSpPr>
        <p:spPr>
          <a:xfrm>
            <a:off x="13462000" y="21844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62000" y="26035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34925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enters data via input devices — keyboard, mouse, touchscreen, microphone, or scanner.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78500" y="34925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Fetch: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CPU retrieves the next instruction from memory using the Program Counter address.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95000" y="34925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Decode: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 Unit interprets the instruction, identifying the operation and data needed.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50800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ALU performs the calculation or the Control Unit moves data as instructed.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78500" y="50800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Results are saved to memory (RAM) or a register for later use.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95000" y="50800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Results are displayed via output devices — monitor, printer, or speakers.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794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Cycle: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process repeats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billions of times per second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enabling the computer to perform complex tasks from simple calculations to rendering 3D graphics and running artificial intelligence models.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36" name="Text 3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Fetch-Decode-Execute 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instruction cycle is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process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which the CPU executes every program instruction: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4699000" cy="355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159000"/>
            <a:ext cx="4699000" cy="762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1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476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Fetch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4127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Control Unit retrieves the next instruction from the memory address in 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Counter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instruction is loaded into the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Instruction Register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the PC is incremented.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61000" y="3810000"/>
            <a:ext cx="3810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842000" y="2159000"/>
            <a:ext cx="4699000" cy="355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2000" y="2159000"/>
            <a:ext cx="4699000" cy="762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241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21500" y="2476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3048000"/>
            <a:ext cx="4127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Control Unit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binary instruction in the IR.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identifies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opcode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(what operation) and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operands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(data/registers involved), then generates control signals.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41000" y="3810000"/>
            <a:ext cx="3810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0922000" y="2159000"/>
            <a:ext cx="4572000" cy="3556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2000" y="2159000"/>
            <a:ext cx="4572000" cy="762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9" name="Text 17"/>
          <p:cNvSpPr/>
          <p:nvPr/>
        </p:nvSpPr>
        <p:spPr>
          <a:xfrm>
            <a:off x="11176000" y="2413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01500" y="2476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76000" y="3048000"/>
            <a:ext cx="406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ALU performs the operation or data is moved between registers and memory.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are stored in the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Accumulator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written back to memory.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159500"/>
            <a:ext cx="14732000" cy="1270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4900" y="6477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Pipelining in Modern CPUs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1000" y="6756400"/>
            <a:ext cx="134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CPUs overlap these stages — while one instruction executes, the next is decoded and a third is fetched, dramatically increasing throughput.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Memory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memory (primary memory) refers to storage components the CPU can access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stores data and instructions the computer is currently using.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41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Memory Hierarchy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2921000" cy="1016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3048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Fastest / Smallest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83000" y="3365500"/>
            <a:ext cx="3175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00500" y="2921000"/>
            <a:ext cx="2921000" cy="1016000"/>
          </a:xfrm>
          <a:prstGeom prst="rect">
            <a:avLst/>
          </a:prstGeom>
          <a:solidFill>
            <a:srgbClr val="2A5A5F"/>
          </a:solidFill>
          <a:ln/>
        </p:spPr>
      </p:sp>
      <p:sp>
        <p:nvSpPr>
          <p:cNvPr id="10" name="Text 8"/>
          <p:cNvSpPr/>
          <p:nvPr/>
        </p:nvSpPr>
        <p:spPr>
          <a:xfrm>
            <a:off x="4000500" y="3048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(L1-L3)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Very Fast / Small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21500" y="3365500"/>
            <a:ext cx="317500" cy="0"/>
          </a:xfrm>
          <a:prstGeom prst="straightConnector1">
            <a:avLst/>
          </a:prstGeom>
          <a:noFill/>
          <a:ln w="25400">
            <a:solidFill>
              <a:srgbClr val="C4802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239000" y="2921000"/>
            <a:ext cx="29210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3" name="Text 11"/>
          <p:cNvSpPr/>
          <p:nvPr/>
        </p:nvSpPr>
        <p:spPr>
          <a:xfrm>
            <a:off x="7239000" y="3048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/ Medium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0" y="3365500"/>
            <a:ext cx="317500" cy="0"/>
          </a:xfrm>
          <a:prstGeom prst="straightConnector1">
            <a:avLst/>
          </a:prstGeom>
          <a:noFill/>
          <a:ln w="25400">
            <a:solidFill>
              <a:srgbClr val="7A8B7F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477500" y="2921000"/>
            <a:ext cx="2921000" cy="1016000"/>
          </a:xfrm>
          <a:prstGeom prst="rect">
            <a:avLst/>
          </a:prstGeom>
          <a:solidFill>
            <a:srgbClr val="7A8B7F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0" y="3048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(HDD/SSD)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 / Largest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398500" y="2921000"/>
            <a:ext cx="2095500" cy="101600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398500" y="3048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Slowest / Huge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64500" y="4064000"/>
            <a:ext cx="0" cy="381000"/>
          </a:xfrm>
          <a:prstGeom prst="straightConnector1">
            <a:avLst/>
          </a:prstGeom>
          <a:noFill/>
          <a:ln w="25400">
            <a:solidFill>
              <a:srgbClr val="7A8B7F"/>
            </a:solidFill>
            <a:prstDash val="solid"/>
            <a:headEnd type="arrow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540000" y="4127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 Speed 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0000" y="4127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Increasing Capacity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Internal Memory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270500"/>
            <a:ext cx="4699000" cy="1524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8225" y="552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" y="5524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Memory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5969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Ultra-fast buffer between CPU and RAM. Stores frequently accessed data.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78500" y="5270500"/>
            <a:ext cx="4699000" cy="1524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8" name="Shape 26"/>
          <p:cNvSpPr/>
          <p:nvPr/>
        </p:nvSpPr>
        <p:spPr>
          <a:xfrm>
            <a:off x="6076950" y="5524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29" name="Text 27"/>
          <p:cNvSpPr/>
          <p:nvPr/>
        </p:nvSpPr>
        <p:spPr>
          <a:xfrm>
            <a:off x="6515100" y="5524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2500" y="5969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Non-volatile memory storing permanent boot instructions and firmware.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795000" y="5270500"/>
            <a:ext cx="4699000" cy="1524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49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94040"/>
                </a:lnTo>
                <a:cubicBezTo>
                  <a:pt x="0" y="98762"/>
                  <a:pt x="3056" y="102791"/>
                  <a:pt x="7015" y="105360"/>
                </a:cubicBezTo>
                <a:cubicBezTo>
                  <a:pt x="16183" y="111333"/>
                  <a:pt x="22225" y="121612"/>
                  <a:pt x="22225" y="133350"/>
                </a:cubicBezTo>
                <a:cubicBezTo>
                  <a:pt x="22225" y="145088"/>
                  <a:pt x="16183" y="155367"/>
                  <a:pt x="7015" y="161340"/>
                </a:cubicBezTo>
                <a:cubicBezTo>
                  <a:pt x="3056" y="163909"/>
                  <a:pt x="0" y="167938"/>
                  <a:pt x="0" y="172660"/>
                </a:cubicBezTo>
                <a:lnTo>
                  <a:pt x="0" y="211138"/>
                </a:lnTo>
                <a:lnTo>
                  <a:pt x="355600" y="211138"/>
                </a:lnTo>
                <a:lnTo>
                  <a:pt x="355600" y="172660"/>
                </a:lnTo>
                <a:cubicBezTo>
                  <a:pt x="355600" y="167938"/>
                  <a:pt x="352544" y="163909"/>
                  <a:pt x="348585" y="161340"/>
                </a:cubicBezTo>
                <a:cubicBezTo>
                  <a:pt x="339417" y="155367"/>
                  <a:pt x="333375" y="145088"/>
                  <a:pt x="333375" y="133350"/>
                </a:cubicBezTo>
                <a:cubicBezTo>
                  <a:pt x="333375" y="121612"/>
                  <a:pt x="339417" y="111333"/>
                  <a:pt x="348585" y="105360"/>
                </a:cubicBezTo>
                <a:cubicBezTo>
                  <a:pt x="352544" y="102791"/>
                  <a:pt x="355600" y="98762"/>
                  <a:pt x="355600" y="94040"/>
                </a:cubicBez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lose/>
                <a:moveTo>
                  <a:pt x="355600" y="288925"/>
                </a:moveTo>
                <a:lnTo>
                  <a:pt x="355600" y="244475"/>
                </a:lnTo>
                <a:lnTo>
                  <a:pt x="0" y="244475"/>
                </a:lnTo>
                <a:lnTo>
                  <a:pt x="0" y="288925"/>
                </a:lnTo>
                <a:cubicBezTo>
                  <a:pt x="0" y="301218"/>
                  <a:pt x="9932" y="311150"/>
                  <a:pt x="22225" y="311150"/>
                </a:cubicBezTo>
                <a:lnTo>
                  <a:pt x="66675" y="311150"/>
                </a:lnTo>
                <a:lnTo>
                  <a:pt x="66675" y="294481"/>
                </a:lnTo>
                <a:cubicBezTo>
                  <a:pt x="66675" y="285244"/>
                  <a:pt x="74106" y="277813"/>
                  <a:pt x="83344" y="277813"/>
                </a:cubicBezTo>
                <a:cubicBezTo>
                  <a:pt x="92581" y="277813"/>
                  <a:pt x="100013" y="285244"/>
                  <a:pt x="100013" y="294481"/>
                </a:cubicBezTo>
                <a:lnTo>
                  <a:pt x="100013" y="311150"/>
                </a:lnTo>
                <a:lnTo>
                  <a:pt x="161131" y="311150"/>
                </a:lnTo>
                <a:lnTo>
                  <a:pt x="161131" y="294481"/>
                </a:lnTo>
                <a:cubicBezTo>
                  <a:pt x="161131" y="285244"/>
                  <a:pt x="168563" y="277813"/>
                  <a:pt x="177800" y="277813"/>
                </a:cubicBezTo>
                <a:cubicBezTo>
                  <a:pt x="187037" y="277813"/>
                  <a:pt x="194469" y="285244"/>
                  <a:pt x="194469" y="294481"/>
                </a:cubicBezTo>
                <a:lnTo>
                  <a:pt x="194469" y="311150"/>
                </a:lnTo>
                <a:lnTo>
                  <a:pt x="255587" y="311150"/>
                </a:lnTo>
                <a:lnTo>
                  <a:pt x="255587" y="294481"/>
                </a:lnTo>
                <a:cubicBezTo>
                  <a:pt x="255587" y="285244"/>
                  <a:pt x="263019" y="277813"/>
                  <a:pt x="272256" y="277813"/>
                </a:cubicBezTo>
                <a:cubicBezTo>
                  <a:pt x="281494" y="277813"/>
                  <a:pt x="288925" y="285244"/>
                  <a:pt x="288925" y="294481"/>
                </a:cubicBezTo>
                <a:lnTo>
                  <a:pt x="288925" y="311150"/>
                </a:ln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lose/>
                <a:moveTo>
                  <a:pt x="111125" y="111125"/>
                </a:moveTo>
                <a:lnTo>
                  <a:pt x="111125" y="155575"/>
                </a:lnTo>
                <a:cubicBezTo>
                  <a:pt x="111125" y="167868"/>
                  <a:pt x="101193" y="177800"/>
                  <a:pt x="88900" y="177800"/>
                </a:cubicBezTo>
                <a:cubicBezTo>
                  <a:pt x="76607" y="177800"/>
                  <a:pt x="66675" y="167868"/>
                  <a:pt x="66675" y="155575"/>
                </a:cubicBezTo>
                <a:lnTo>
                  <a:pt x="66675" y="111125"/>
                </a:lnTo>
                <a:cubicBezTo>
                  <a:pt x="66675" y="98832"/>
                  <a:pt x="76607" y="88900"/>
                  <a:pt x="88900" y="88900"/>
                </a:cubicBezTo>
                <a:cubicBezTo>
                  <a:pt x="101193" y="88900"/>
                  <a:pt x="111125" y="98832"/>
                  <a:pt x="111125" y="111125"/>
                </a:cubicBezTo>
                <a:close/>
                <a:moveTo>
                  <a:pt x="200025" y="111125"/>
                </a:moveTo>
                <a:lnTo>
                  <a:pt x="200025" y="155575"/>
                </a:lnTo>
                <a:cubicBezTo>
                  <a:pt x="200025" y="167868"/>
                  <a:pt x="190093" y="177800"/>
                  <a:pt x="177800" y="177800"/>
                </a:cubicBezTo>
                <a:cubicBezTo>
                  <a:pt x="165507" y="177800"/>
                  <a:pt x="155575" y="167868"/>
                  <a:pt x="155575" y="155575"/>
                </a:cubicBezTo>
                <a:lnTo>
                  <a:pt x="155575" y="111125"/>
                </a:lnTo>
                <a:cubicBezTo>
                  <a:pt x="155575" y="98832"/>
                  <a:pt x="165507" y="88900"/>
                  <a:pt x="177800" y="88900"/>
                </a:cubicBezTo>
                <a:cubicBezTo>
                  <a:pt x="190093" y="88900"/>
                  <a:pt x="200025" y="98832"/>
                  <a:pt x="200025" y="111125"/>
                </a:cubicBezTo>
                <a:close/>
                <a:moveTo>
                  <a:pt x="288925" y="111125"/>
                </a:moveTo>
                <a:lnTo>
                  <a:pt x="288925" y="155575"/>
                </a:lnTo>
                <a:cubicBezTo>
                  <a:pt x="288925" y="167868"/>
                  <a:pt x="278993" y="177800"/>
                  <a:pt x="266700" y="177800"/>
                </a:cubicBezTo>
                <a:cubicBezTo>
                  <a:pt x="254407" y="177800"/>
                  <a:pt x="244475" y="167868"/>
                  <a:pt x="244475" y="155575"/>
                </a:cubicBezTo>
                <a:lnTo>
                  <a:pt x="244475" y="111125"/>
                </a:lnTo>
                <a:cubicBezTo>
                  <a:pt x="244475" y="98832"/>
                  <a:pt x="254407" y="88900"/>
                  <a:pt x="266700" y="88900"/>
                </a:cubicBezTo>
                <a:cubicBezTo>
                  <a:pt x="278993" y="88900"/>
                  <a:pt x="288925" y="98832"/>
                  <a:pt x="288925" y="111125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33" name="Text 31"/>
          <p:cNvSpPr/>
          <p:nvPr/>
        </p:nvSpPr>
        <p:spPr>
          <a:xfrm>
            <a:off x="11531600" y="5524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49000" y="5969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Volatile working memory holding active programs and data. Fast read/write access.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7112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Impact: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Internal memory directly impacts system performance. Faster memory with adequate capacity ensures the CPU is not left waiting for data, maximizing overall system responsiveness.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Memory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memory is a small amount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extremely fast memory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located close to or inside the CPU. It stores frequently accessed data to reduce waiting time for RAM.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476500"/>
            <a:ext cx="4699000" cy="2794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667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 Cache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111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0C4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CACHE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556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Size: 32-64 KB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Fastest cache level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Inside the CPU core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 I-Cache and D-Cache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476500"/>
            <a:ext cx="4699000" cy="2794000"/>
          </a:xfrm>
          <a:prstGeom prst="rect">
            <a:avLst/>
          </a:prstGeom>
          <a:solidFill>
            <a:srgbClr val="2A5A5F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2667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 Cache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3111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B0C4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CACHE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556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Size: 256 KB - 1 MB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Slightly slower than L1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Per-core or shared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Unified (instructions + data)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476500"/>
            <a:ext cx="4699000" cy="2794000"/>
          </a:xfrm>
          <a:prstGeom prst="rect">
            <a:avLst/>
          </a:prstGeom>
          <a:solidFill>
            <a:srgbClr val="7A8B7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667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L3 Cache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3111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5D0C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TERTIARY CACHE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3556000"/>
            <a:ext cx="4191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D0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Size: 4-64 MB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D0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Shared across all cores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D0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Slower than L1/L2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D0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Still faster than RAM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651500"/>
            <a:ext cx="76200" cy="1270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Cache Works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6070600"/>
            <a:ext cx="1397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the CPU needs data, it checks cache first. 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instant access; a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miss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slower RAM access. Modern CPUs achieve 95%+ hit rates through predictive algorithms.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ROM — Read-Only Memory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143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5" name="Shape 3"/>
          <p:cNvSpPr/>
          <p:nvPr/>
        </p:nvSpPr>
        <p:spPr>
          <a:xfrm>
            <a:off x="1136650" y="1714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165100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 Memory (ROM)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non-volatile internal memory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permanently stores instructions essential for starting the computer. Data is written during manufacturing.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ROM Stores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429000"/>
            <a:ext cx="4699000" cy="165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0"/>
                </a:moveTo>
                <a:cubicBezTo>
                  <a:pt x="200025" y="-12293"/>
                  <a:pt x="190093" y="-22225"/>
                  <a:pt x="177800" y="-22225"/>
                </a:cubicBezTo>
                <a:cubicBezTo>
                  <a:pt x="165507" y="-22225"/>
                  <a:pt x="155575" y="-12293"/>
                  <a:pt x="155575" y="0"/>
                </a:cubicBezTo>
                <a:lnTo>
                  <a:pt x="155575" y="177800"/>
                </a:lnTo>
                <a:cubicBezTo>
                  <a:pt x="155575" y="190093"/>
                  <a:pt x="165507" y="200025"/>
                  <a:pt x="177800" y="200025"/>
                </a:cubicBezTo>
                <a:cubicBezTo>
                  <a:pt x="190093" y="200025"/>
                  <a:pt x="200025" y="190093"/>
                  <a:pt x="200025" y="177800"/>
                </a:cubicBezTo>
                <a:lnTo>
                  <a:pt x="200025" y="0"/>
                </a:lnTo>
                <a:close/>
                <a:moveTo>
                  <a:pt x="101610" y="68342"/>
                </a:moveTo>
                <a:cubicBezTo>
                  <a:pt x="111681" y="61327"/>
                  <a:pt x="114111" y="47436"/>
                  <a:pt x="107097" y="37366"/>
                </a:cubicBezTo>
                <a:cubicBezTo>
                  <a:pt x="100082" y="27295"/>
                  <a:pt x="86191" y="24864"/>
                  <a:pt x="76121" y="31879"/>
                </a:cubicBezTo>
                <a:cubicBezTo>
                  <a:pt x="30143" y="63966"/>
                  <a:pt x="0" y="117376"/>
                  <a:pt x="0" y="177800"/>
                </a:cubicBezTo>
                <a:cubicBezTo>
                  <a:pt x="0" y="276007"/>
                  <a:pt x="79593" y="355600"/>
                  <a:pt x="177800" y="355600"/>
                </a:cubicBezTo>
                <a:cubicBezTo>
                  <a:pt x="276007" y="355600"/>
                  <a:pt x="355600" y="276007"/>
                  <a:pt x="355600" y="177800"/>
                </a:cubicBezTo>
                <a:cubicBezTo>
                  <a:pt x="355600" y="117376"/>
                  <a:pt x="325457" y="63966"/>
                  <a:pt x="279410" y="31879"/>
                </a:cubicBezTo>
                <a:cubicBezTo>
                  <a:pt x="269339" y="24864"/>
                  <a:pt x="255518" y="27295"/>
                  <a:pt x="248434" y="37366"/>
                </a:cubicBezTo>
                <a:cubicBezTo>
                  <a:pt x="241350" y="47436"/>
                  <a:pt x="243850" y="61258"/>
                  <a:pt x="253921" y="68342"/>
                </a:cubicBezTo>
                <a:cubicBezTo>
                  <a:pt x="288508" y="92512"/>
                  <a:pt x="311081" y="132517"/>
                  <a:pt x="311081" y="177800"/>
                </a:cubicBezTo>
                <a:cubicBezTo>
                  <a:pt x="311081" y="251420"/>
                  <a:pt x="251351" y="311150"/>
                  <a:pt x="177731" y="311150"/>
                </a:cubicBezTo>
                <a:cubicBezTo>
                  <a:pt x="104110" y="311150"/>
                  <a:pt x="44450" y="251420"/>
                  <a:pt x="44450" y="177800"/>
                </a:cubicBezTo>
                <a:cubicBezTo>
                  <a:pt x="44450" y="132517"/>
                  <a:pt x="67022" y="92442"/>
                  <a:pt x="101610" y="68342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3619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Boot-up Instructions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064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BIOS/UEFI — the first code executed when the computer starts. Initializes hardware.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3429000"/>
            <a:ext cx="4699000" cy="165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3619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Firmware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4064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Low-level software embedded in hardware devices to control their operation.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3429000"/>
            <a:ext cx="4699000" cy="165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04550" y="3619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88856" y="146199"/>
                </a:moveTo>
                <a:cubicBezTo>
                  <a:pt x="297329" y="143907"/>
                  <a:pt x="306219" y="147935"/>
                  <a:pt x="310039" y="155783"/>
                </a:cubicBezTo>
                <a:lnTo>
                  <a:pt x="322957" y="181898"/>
                </a:lnTo>
                <a:cubicBezTo>
                  <a:pt x="330111" y="182870"/>
                  <a:pt x="337125" y="184815"/>
                  <a:pt x="343724" y="187523"/>
                </a:cubicBezTo>
                <a:lnTo>
                  <a:pt x="368032" y="171341"/>
                </a:lnTo>
                <a:cubicBezTo>
                  <a:pt x="375325" y="166479"/>
                  <a:pt x="384979" y="167451"/>
                  <a:pt x="391160" y="173633"/>
                </a:cubicBezTo>
                <a:lnTo>
                  <a:pt x="404495" y="186968"/>
                </a:lnTo>
                <a:cubicBezTo>
                  <a:pt x="410676" y="193149"/>
                  <a:pt x="411649" y="202873"/>
                  <a:pt x="406787" y="210096"/>
                </a:cubicBezTo>
                <a:lnTo>
                  <a:pt x="390604" y="234335"/>
                </a:lnTo>
                <a:cubicBezTo>
                  <a:pt x="391924" y="237599"/>
                  <a:pt x="393105" y="241002"/>
                  <a:pt x="394077" y="244544"/>
                </a:cubicBezTo>
                <a:cubicBezTo>
                  <a:pt x="395049" y="248087"/>
                  <a:pt x="395674" y="251559"/>
                  <a:pt x="396161" y="255101"/>
                </a:cubicBezTo>
                <a:lnTo>
                  <a:pt x="422344" y="268020"/>
                </a:lnTo>
                <a:cubicBezTo>
                  <a:pt x="430193" y="271909"/>
                  <a:pt x="434221" y="280799"/>
                  <a:pt x="431929" y="289203"/>
                </a:cubicBezTo>
                <a:lnTo>
                  <a:pt x="427067" y="307400"/>
                </a:lnTo>
                <a:cubicBezTo>
                  <a:pt x="424775" y="315803"/>
                  <a:pt x="416927" y="321499"/>
                  <a:pt x="408176" y="320943"/>
                </a:cubicBezTo>
                <a:lnTo>
                  <a:pt x="379006" y="319068"/>
                </a:lnTo>
                <a:cubicBezTo>
                  <a:pt x="374630" y="324693"/>
                  <a:pt x="369560" y="329902"/>
                  <a:pt x="363795" y="334347"/>
                </a:cubicBezTo>
                <a:lnTo>
                  <a:pt x="365671" y="363448"/>
                </a:lnTo>
                <a:cubicBezTo>
                  <a:pt x="366226" y="372199"/>
                  <a:pt x="360531" y="380117"/>
                  <a:pt x="352127" y="382339"/>
                </a:cubicBezTo>
                <a:lnTo>
                  <a:pt x="333931" y="387201"/>
                </a:lnTo>
                <a:cubicBezTo>
                  <a:pt x="325457" y="389493"/>
                  <a:pt x="316637" y="385465"/>
                  <a:pt x="312747" y="377617"/>
                </a:cubicBezTo>
                <a:lnTo>
                  <a:pt x="299829" y="351502"/>
                </a:lnTo>
                <a:cubicBezTo>
                  <a:pt x="292675" y="350530"/>
                  <a:pt x="285661" y="348585"/>
                  <a:pt x="279063" y="345877"/>
                </a:cubicBezTo>
                <a:lnTo>
                  <a:pt x="254754" y="362059"/>
                </a:lnTo>
                <a:cubicBezTo>
                  <a:pt x="247461" y="366921"/>
                  <a:pt x="237808" y="365949"/>
                  <a:pt x="231626" y="359767"/>
                </a:cubicBezTo>
                <a:lnTo>
                  <a:pt x="218291" y="346432"/>
                </a:lnTo>
                <a:cubicBezTo>
                  <a:pt x="212110" y="340251"/>
                  <a:pt x="211138" y="330597"/>
                  <a:pt x="215999" y="323304"/>
                </a:cubicBezTo>
                <a:lnTo>
                  <a:pt x="232182" y="298996"/>
                </a:lnTo>
                <a:cubicBezTo>
                  <a:pt x="230862" y="295731"/>
                  <a:pt x="229681" y="292328"/>
                  <a:pt x="228709" y="288786"/>
                </a:cubicBezTo>
                <a:cubicBezTo>
                  <a:pt x="227737" y="285244"/>
                  <a:pt x="227112" y="281702"/>
                  <a:pt x="226626" y="278229"/>
                </a:cubicBezTo>
                <a:lnTo>
                  <a:pt x="200442" y="265311"/>
                </a:lnTo>
                <a:cubicBezTo>
                  <a:pt x="192594" y="261422"/>
                  <a:pt x="188635" y="252532"/>
                  <a:pt x="190857" y="244128"/>
                </a:cubicBezTo>
                <a:lnTo>
                  <a:pt x="195719" y="225931"/>
                </a:lnTo>
                <a:cubicBezTo>
                  <a:pt x="198011" y="217527"/>
                  <a:pt x="205859" y="211832"/>
                  <a:pt x="214610" y="212388"/>
                </a:cubicBezTo>
                <a:lnTo>
                  <a:pt x="243711" y="214263"/>
                </a:lnTo>
                <a:cubicBezTo>
                  <a:pt x="248087" y="208637"/>
                  <a:pt x="253157" y="203428"/>
                  <a:pt x="258921" y="198983"/>
                </a:cubicBezTo>
                <a:lnTo>
                  <a:pt x="257046" y="169952"/>
                </a:lnTo>
                <a:cubicBezTo>
                  <a:pt x="256490" y="161201"/>
                  <a:pt x="262186" y="153283"/>
                  <a:pt x="270589" y="151061"/>
                </a:cubicBezTo>
                <a:lnTo>
                  <a:pt x="288786" y="146199"/>
                </a:lnTo>
                <a:close/>
                <a:moveTo>
                  <a:pt x="311428" y="236141"/>
                </a:moveTo>
                <a:cubicBezTo>
                  <a:pt x="294562" y="236160"/>
                  <a:pt x="280884" y="249869"/>
                  <a:pt x="280903" y="266735"/>
                </a:cubicBezTo>
                <a:cubicBezTo>
                  <a:pt x="280922" y="283601"/>
                  <a:pt x="294631" y="297279"/>
                  <a:pt x="311497" y="297259"/>
                </a:cubicBezTo>
                <a:cubicBezTo>
                  <a:pt x="328363" y="297240"/>
                  <a:pt x="342041" y="283531"/>
                  <a:pt x="342022" y="266665"/>
                </a:cubicBezTo>
                <a:cubicBezTo>
                  <a:pt x="342003" y="249799"/>
                  <a:pt x="328294" y="236121"/>
                  <a:pt x="311428" y="236141"/>
                </a:cubicBezTo>
                <a:close/>
                <a:moveTo>
                  <a:pt x="156200" y="-31601"/>
                </a:moveTo>
                <a:lnTo>
                  <a:pt x="174397" y="-26739"/>
                </a:lnTo>
                <a:cubicBezTo>
                  <a:pt x="182801" y="-24448"/>
                  <a:pt x="188496" y="-16530"/>
                  <a:pt x="187940" y="-7848"/>
                </a:cubicBezTo>
                <a:lnTo>
                  <a:pt x="186065" y="21183"/>
                </a:lnTo>
                <a:cubicBezTo>
                  <a:pt x="191830" y="25628"/>
                  <a:pt x="196900" y="30768"/>
                  <a:pt x="201275" y="36463"/>
                </a:cubicBezTo>
                <a:lnTo>
                  <a:pt x="230445" y="34588"/>
                </a:lnTo>
                <a:cubicBezTo>
                  <a:pt x="239127" y="34032"/>
                  <a:pt x="247045" y="39727"/>
                  <a:pt x="249337" y="48131"/>
                </a:cubicBezTo>
                <a:lnTo>
                  <a:pt x="254198" y="66328"/>
                </a:lnTo>
                <a:cubicBezTo>
                  <a:pt x="256421" y="74732"/>
                  <a:pt x="252462" y="83622"/>
                  <a:pt x="244614" y="87511"/>
                </a:cubicBezTo>
                <a:lnTo>
                  <a:pt x="218430" y="100429"/>
                </a:lnTo>
                <a:cubicBezTo>
                  <a:pt x="217944" y="103971"/>
                  <a:pt x="217249" y="107513"/>
                  <a:pt x="216346" y="110986"/>
                </a:cubicBezTo>
                <a:cubicBezTo>
                  <a:pt x="215444" y="114459"/>
                  <a:pt x="214193" y="117931"/>
                  <a:pt x="212874" y="121196"/>
                </a:cubicBezTo>
                <a:lnTo>
                  <a:pt x="229056" y="145504"/>
                </a:lnTo>
                <a:cubicBezTo>
                  <a:pt x="233918" y="152797"/>
                  <a:pt x="232946" y="162451"/>
                  <a:pt x="226764" y="168632"/>
                </a:cubicBezTo>
                <a:lnTo>
                  <a:pt x="213429" y="181967"/>
                </a:lnTo>
                <a:cubicBezTo>
                  <a:pt x="207248" y="188149"/>
                  <a:pt x="197594" y="189121"/>
                  <a:pt x="190302" y="184259"/>
                </a:cubicBezTo>
                <a:lnTo>
                  <a:pt x="165993" y="168077"/>
                </a:lnTo>
                <a:cubicBezTo>
                  <a:pt x="159395" y="170785"/>
                  <a:pt x="152380" y="172730"/>
                  <a:pt x="145226" y="173702"/>
                </a:cubicBezTo>
                <a:lnTo>
                  <a:pt x="132308" y="199817"/>
                </a:lnTo>
                <a:cubicBezTo>
                  <a:pt x="128419" y="207665"/>
                  <a:pt x="119529" y="211624"/>
                  <a:pt x="111125" y="209401"/>
                </a:cubicBezTo>
                <a:lnTo>
                  <a:pt x="92928" y="204539"/>
                </a:lnTo>
                <a:cubicBezTo>
                  <a:pt x="84455" y="202248"/>
                  <a:pt x="78829" y="194330"/>
                  <a:pt x="79385" y="185648"/>
                </a:cubicBezTo>
                <a:lnTo>
                  <a:pt x="81260" y="156547"/>
                </a:lnTo>
                <a:cubicBezTo>
                  <a:pt x="75496" y="152102"/>
                  <a:pt x="70425" y="146963"/>
                  <a:pt x="66050" y="141268"/>
                </a:cubicBezTo>
                <a:lnTo>
                  <a:pt x="36880" y="143143"/>
                </a:lnTo>
                <a:cubicBezTo>
                  <a:pt x="28198" y="143699"/>
                  <a:pt x="20280" y="138003"/>
                  <a:pt x="17988" y="129600"/>
                </a:cubicBezTo>
                <a:lnTo>
                  <a:pt x="13127" y="111403"/>
                </a:lnTo>
                <a:cubicBezTo>
                  <a:pt x="10904" y="102999"/>
                  <a:pt x="14863" y="94109"/>
                  <a:pt x="22711" y="90220"/>
                </a:cubicBezTo>
                <a:lnTo>
                  <a:pt x="48895" y="77301"/>
                </a:lnTo>
                <a:cubicBezTo>
                  <a:pt x="49381" y="73759"/>
                  <a:pt x="50076" y="70287"/>
                  <a:pt x="50979" y="66744"/>
                </a:cubicBezTo>
                <a:cubicBezTo>
                  <a:pt x="51951" y="63202"/>
                  <a:pt x="53062" y="59799"/>
                  <a:pt x="54451" y="56535"/>
                </a:cubicBezTo>
                <a:lnTo>
                  <a:pt x="38269" y="32296"/>
                </a:lnTo>
                <a:cubicBezTo>
                  <a:pt x="33407" y="25003"/>
                  <a:pt x="34379" y="15349"/>
                  <a:pt x="40561" y="9168"/>
                </a:cubicBezTo>
                <a:lnTo>
                  <a:pt x="53896" y="-4167"/>
                </a:lnTo>
                <a:cubicBezTo>
                  <a:pt x="60077" y="-10349"/>
                  <a:pt x="69731" y="-11321"/>
                  <a:pt x="77024" y="-6459"/>
                </a:cubicBezTo>
                <a:lnTo>
                  <a:pt x="101332" y="9723"/>
                </a:lnTo>
                <a:cubicBezTo>
                  <a:pt x="107930" y="7015"/>
                  <a:pt x="114945" y="5070"/>
                  <a:pt x="122099" y="4098"/>
                </a:cubicBezTo>
                <a:lnTo>
                  <a:pt x="135017" y="-22017"/>
                </a:lnTo>
                <a:cubicBezTo>
                  <a:pt x="138906" y="-29865"/>
                  <a:pt x="147727" y="-33824"/>
                  <a:pt x="156200" y="-31601"/>
                </a:cubicBezTo>
                <a:close/>
                <a:moveTo>
                  <a:pt x="133628" y="58341"/>
                </a:moveTo>
                <a:cubicBezTo>
                  <a:pt x="116762" y="58341"/>
                  <a:pt x="103068" y="72034"/>
                  <a:pt x="103068" y="88900"/>
                </a:cubicBezTo>
                <a:cubicBezTo>
                  <a:pt x="103068" y="105766"/>
                  <a:pt x="116762" y="119459"/>
                  <a:pt x="133628" y="119459"/>
                </a:cubicBezTo>
                <a:cubicBezTo>
                  <a:pt x="150494" y="119459"/>
                  <a:pt x="164187" y="105766"/>
                  <a:pt x="164187" y="88900"/>
                </a:cubicBezTo>
                <a:cubicBezTo>
                  <a:pt x="164187" y="72034"/>
                  <a:pt x="150494" y="58341"/>
                  <a:pt x="133628" y="58341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1600" y="3619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Initialization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4064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Routines that check hardware and load the operating system into RAM.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 of ROM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867400"/>
            <a:ext cx="1473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Non-volatile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persists without power; contents retained when computer is off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cannot be modified or erased through normal computer operations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immune to computer viruses and accidental data deletion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Permanent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is written during the chip manufacturing process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without ROM, the computer cannot boot or initialize hardware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ROM Characteristics &amp;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22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ROM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30400"/>
            <a:ext cx="7175500" cy="1206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30400"/>
            <a:ext cx="76200" cy="1206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00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Mask ROM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3876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written during chip fabrication. Cannot be changed. Used for mass-produced devices.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930400"/>
            <a:ext cx="7175500" cy="1206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8318500" y="1930400"/>
            <a:ext cx="76200" cy="1206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006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3876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Programmable ROM — can be programmed once by the user using a special device.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327400"/>
            <a:ext cx="7175500" cy="1206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327400"/>
            <a:ext cx="76200" cy="1206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3403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EPROM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3784600"/>
            <a:ext cx="654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Erasable PROM — can be erased with ultraviolet light and reprogrammed.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3327400"/>
            <a:ext cx="7175500" cy="12065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Shape 16"/>
          <p:cNvSpPr/>
          <p:nvPr/>
        </p:nvSpPr>
        <p:spPr>
          <a:xfrm>
            <a:off x="8318500" y="3327400"/>
            <a:ext cx="76200" cy="12065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3403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EEPROM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3784600"/>
            <a:ext cx="654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Electrically Erasable PROM — erased and reprogrammed electrically, byte by byte.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787900"/>
            <a:ext cx="14732000" cy="1397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4900" y="5143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23" name="Text 21"/>
          <p:cNvSpPr/>
          <p:nvPr/>
        </p:nvSpPr>
        <p:spPr>
          <a:xfrm>
            <a:off x="1651000" y="501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Flash Memory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51000" y="5435600"/>
            <a:ext cx="134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modern type of EEPROM used in SSDs, USB drives, and memory cards. Allows block-level erasure and rewriting — the foundation of modern solid-state storage.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54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ROM Technology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9850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ROM technology has evolved from completely fixed (Mask ROM) to increasingly flexible forms. Modern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 memory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bridges the gap between ROM and RAM — it is non-volatile like ROM but can be rewritten like RAM, enabling USB drives, SSDs, and memory cards that transformed portable storage.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— Random Access Memory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14732000" cy="1143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5" name="Shape 3"/>
          <p:cNvSpPr/>
          <p:nvPr/>
        </p:nvSpPr>
        <p:spPr>
          <a:xfrm>
            <a:off x="1079500" y="1739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120908"/>
                </a:lnTo>
                <a:cubicBezTo>
                  <a:pt x="0" y="126980"/>
                  <a:pt x="3929" y="132159"/>
                  <a:pt x="9019" y="135463"/>
                </a:cubicBezTo>
                <a:cubicBezTo>
                  <a:pt x="20806" y="143143"/>
                  <a:pt x="28575" y="156359"/>
                  <a:pt x="28575" y="171450"/>
                </a:cubicBezTo>
                <a:cubicBezTo>
                  <a:pt x="28575" y="186541"/>
                  <a:pt x="20806" y="199757"/>
                  <a:pt x="9019" y="207437"/>
                </a:cubicBezTo>
                <a:cubicBezTo>
                  <a:pt x="3929" y="210741"/>
                  <a:pt x="0" y="215920"/>
                  <a:pt x="0" y="221992"/>
                </a:cubicBezTo>
                <a:lnTo>
                  <a:pt x="0" y="271463"/>
                </a:lnTo>
                <a:lnTo>
                  <a:pt x="457200" y="271463"/>
                </a:lnTo>
                <a:lnTo>
                  <a:pt x="457200" y="221992"/>
                </a:lnTo>
                <a:cubicBezTo>
                  <a:pt x="457200" y="215920"/>
                  <a:pt x="453271" y="210741"/>
                  <a:pt x="448181" y="207437"/>
                </a:cubicBezTo>
                <a:cubicBezTo>
                  <a:pt x="436394" y="199757"/>
                  <a:pt x="428625" y="186541"/>
                  <a:pt x="428625" y="171450"/>
                </a:cubicBezTo>
                <a:cubicBezTo>
                  <a:pt x="428625" y="156359"/>
                  <a:pt x="436394" y="143143"/>
                  <a:pt x="448181" y="135463"/>
                </a:cubicBezTo>
                <a:cubicBezTo>
                  <a:pt x="453271" y="132159"/>
                  <a:pt x="457200" y="126980"/>
                  <a:pt x="457200" y="120908"/>
                </a:cubicBezTo>
                <a:lnTo>
                  <a:pt x="457200" y="114300"/>
                </a:lnTo>
                <a:cubicBezTo>
                  <a:pt x="457200" y="82778"/>
                  <a:pt x="431572" y="57150"/>
                  <a:pt x="400050" y="57150"/>
                </a:cubicBezTo>
                <a:lnTo>
                  <a:pt x="57150" y="57150"/>
                </a:lnTo>
                <a:close/>
                <a:moveTo>
                  <a:pt x="457200" y="371475"/>
                </a:moveTo>
                <a:lnTo>
                  <a:pt x="457200" y="314325"/>
                </a:lnTo>
                <a:lnTo>
                  <a:pt x="0" y="314325"/>
                </a:lnTo>
                <a:lnTo>
                  <a:pt x="0" y="371475"/>
                </a:lnTo>
                <a:cubicBezTo>
                  <a:pt x="0" y="387281"/>
                  <a:pt x="12769" y="400050"/>
                  <a:pt x="28575" y="400050"/>
                </a:cubicBezTo>
                <a:lnTo>
                  <a:pt x="85725" y="400050"/>
                </a:lnTo>
                <a:lnTo>
                  <a:pt x="85725" y="378619"/>
                </a:lnTo>
                <a:cubicBezTo>
                  <a:pt x="85725" y="366742"/>
                  <a:pt x="95280" y="357188"/>
                  <a:pt x="107156" y="357188"/>
                </a:cubicBezTo>
                <a:cubicBezTo>
                  <a:pt x="119033" y="357188"/>
                  <a:pt x="128588" y="366742"/>
                  <a:pt x="128588" y="378619"/>
                </a:cubicBezTo>
                <a:lnTo>
                  <a:pt x="128588" y="400050"/>
                </a:lnTo>
                <a:lnTo>
                  <a:pt x="207169" y="400050"/>
                </a:lnTo>
                <a:lnTo>
                  <a:pt x="207169" y="378619"/>
                </a:lnTo>
                <a:cubicBezTo>
                  <a:pt x="207169" y="366742"/>
                  <a:pt x="216724" y="357188"/>
                  <a:pt x="228600" y="357188"/>
                </a:cubicBezTo>
                <a:cubicBezTo>
                  <a:pt x="240476" y="357188"/>
                  <a:pt x="250031" y="366742"/>
                  <a:pt x="250031" y="378619"/>
                </a:cubicBezTo>
                <a:lnTo>
                  <a:pt x="250031" y="400050"/>
                </a:lnTo>
                <a:lnTo>
                  <a:pt x="328613" y="400050"/>
                </a:lnTo>
                <a:lnTo>
                  <a:pt x="328613" y="378619"/>
                </a:lnTo>
                <a:cubicBezTo>
                  <a:pt x="328613" y="366742"/>
                  <a:pt x="338167" y="357188"/>
                  <a:pt x="350044" y="357188"/>
                </a:cubicBezTo>
                <a:cubicBezTo>
                  <a:pt x="361920" y="357188"/>
                  <a:pt x="371475" y="366742"/>
                  <a:pt x="371475" y="378619"/>
                </a:cubicBezTo>
                <a:lnTo>
                  <a:pt x="371475" y="400050"/>
                </a:ln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lose/>
                <a:moveTo>
                  <a:pt x="142875" y="142875"/>
                </a:moveTo>
                <a:lnTo>
                  <a:pt x="142875" y="200025"/>
                </a:lnTo>
                <a:cubicBezTo>
                  <a:pt x="142875" y="215831"/>
                  <a:pt x="130106" y="228600"/>
                  <a:pt x="114300" y="228600"/>
                </a:cubicBezTo>
                <a:cubicBezTo>
                  <a:pt x="98494" y="228600"/>
                  <a:pt x="85725" y="215831"/>
                  <a:pt x="85725" y="200025"/>
                </a:cubicBezTo>
                <a:lnTo>
                  <a:pt x="85725" y="142875"/>
                </a:lnTo>
                <a:cubicBezTo>
                  <a:pt x="85725" y="127069"/>
                  <a:pt x="98494" y="114300"/>
                  <a:pt x="114300" y="114300"/>
                </a:cubicBezTo>
                <a:cubicBezTo>
                  <a:pt x="130106" y="114300"/>
                  <a:pt x="142875" y="127069"/>
                  <a:pt x="142875" y="142875"/>
                </a:cubicBezTo>
                <a:close/>
                <a:moveTo>
                  <a:pt x="257175" y="142875"/>
                </a:moveTo>
                <a:lnTo>
                  <a:pt x="257175" y="200025"/>
                </a:lnTo>
                <a:cubicBezTo>
                  <a:pt x="257175" y="215831"/>
                  <a:pt x="244406" y="228600"/>
                  <a:pt x="228600" y="228600"/>
                </a:cubicBezTo>
                <a:cubicBezTo>
                  <a:pt x="212794" y="228600"/>
                  <a:pt x="200025" y="215831"/>
                  <a:pt x="200025" y="200025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71475" y="142875"/>
                </a:moveTo>
                <a:lnTo>
                  <a:pt x="371475" y="200025"/>
                </a:lnTo>
                <a:cubicBezTo>
                  <a:pt x="371475" y="215831"/>
                  <a:pt x="358706" y="228600"/>
                  <a:pt x="342900" y="228600"/>
                </a:cubicBezTo>
                <a:cubicBezTo>
                  <a:pt x="327094" y="228600"/>
                  <a:pt x="314325" y="215831"/>
                  <a:pt x="314325" y="200025"/>
                </a:cubicBezTo>
                <a:lnTo>
                  <a:pt x="314325" y="142875"/>
                </a:lnTo>
                <a:cubicBezTo>
                  <a:pt x="314325" y="127069"/>
                  <a:pt x="327094" y="114300"/>
                  <a:pt x="342900" y="114300"/>
                </a:cubicBezTo>
                <a:cubicBezTo>
                  <a:pt x="358706" y="114300"/>
                  <a:pt x="371475" y="127069"/>
                  <a:pt x="371475" y="142875"/>
                </a:cubicBezTo>
                <a:close/>
              </a:path>
            </a:pathLst>
          </a:custGeom>
          <a:solidFill>
            <a:srgbClr val="C4802F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165100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 is the computer's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working memory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volatile memory that temporarily stores programs, data, and instructions the CPU is actively using.</a:t>
            </a:r>
            <a:endParaRPr lang="en-US" sz="1600" dirty="0"/>
          </a:p>
        </p:txBody>
      </p:sp>
      <p:pic>
        <p:nvPicPr>
          <p:cNvPr id="7" name="Image 0" descr="https://kimi-img.moonshot.cn/pub/slides/okc/cnnzusjvv7vxa/mnt/agents/output/ict-week2/images/7_7_534_Random_Access_Memory_Ram_Royalty.png">    </p:cNvPr>
          <p:cNvPicPr>
            <a:picLocks noChangeAspect="1"/>
          </p:cNvPicPr>
          <p:nvPr/>
        </p:nvPicPr>
        <p:blipFill>
          <a:blip r:embed="rId1"/>
          <a:srcRect l="0" r="0" t="12374" b="12374"/>
          <a:stretch/>
        </p:blipFill>
        <p:spPr>
          <a:xfrm>
            <a:off x="762000" y="2921000"/>
            <a:ext cx="6096000" cy="330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2000" y="63500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RAM memory modules (DIMMs)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66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66000" y="3403600"/>
            <a:ext cx="812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Volatile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data lost when power is turned off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Read/Write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can be read and written constantly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much faster than secondary storage (HDD/SSD)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Access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CPU accesses any location directly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7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Capacity Matters</a:t>
            </a:r>
            <a:pPr>
              <a:lnSpc>
                <a:spcPct val="17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more RAM = better multitasking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6921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2" name="Text 9"/>
          <p:cNvSpPr/>
          <p:nvPr/>
        </p:nvSpPr>
        <p:spPr>
          <a:xfrm>
            <a:off x="1079500" y="692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Capacity Impact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9500" y="73406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 capacity directly affects multitasking. More RAM allows more applications to run simultaneously without swapping to slower storage, maintaining smooth performance.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Characteristics &amp;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1755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76200" cy="2921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SRAM (Static RAM)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095500"/>
            <a:ext cx="6540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flip-flop circuits (transistors)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Faster but more expensive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Does not need refreshing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Lower density (takes more space)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for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memory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18500" y="1460500"/>
            <a:ext cx="7175500" cy="2921000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9" name="Shape 7"/>
          <p:cNvSpPr/>
          <p:nvPr/>
        </p:nvSpPr>
        <p:spPr>
          <a:xfrm>
            <a:off x="8318500" y="1460500"/>
            <a:ext cx="76200" cy="2921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58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DRAM (Dynamic RAM)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095500"/>
            <a:ext cx="6540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capacitors to store data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Slower but cheaper than SRAM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periodic refreshing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density (more capacity)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0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as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699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Evolution: SDRAM and DDR Generations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07000"/>
          <a:ext cx="14732000" cy="2540000"/>
        </p:xfrm>
        <a:graphic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  <a:gridCol w="3683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DDR3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DDR4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DDR5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800-2133 MT/s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1600-3200 MT/s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3200-6400 MT/s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Voltage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1.5V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1.2V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1.1V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 Capacity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 GB/module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 GB/module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64 GB/module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7A8B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DDR generation offers increased speed, reduced power consumption, and higher capacity per module.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6" name="Text 1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ROM vs RAM — Key Differences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5461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2E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3E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Volatility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Non-volatile — retains data without power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Volatile — loses data when power is off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Read/Write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Primarily read-only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Both read and write operations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Stores boot instructions and firmware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Stores active programs and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Slower read access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Faster read/write access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Capacity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— typically MBs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 — typically GBs (4-128 GB)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Modifiability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Cannot be modified (or difficult)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Freely modified during operation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 motherboard as chips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A2A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Removable modules (DIMMs)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solidFill>
            <a:srgbClr val="1B3A3E"/>
          </a:solidFill>
          <a:ln/>
        </p:spPr>
      </p:sp>
      <p:sp>
        <p:nvSpPr>
          <p:cNvPr id="6" name="Text 3"/>
          <p:cNvSpPr/>
          <p:nvPr/>
        </p:nvSpPr>
        <p:spPr>
          <a:xfrm>
            <a:off x="1079500" y="73025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Together, ROM and RAM are essential partners: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ROM provides the permanent instructions to start the system, while RAM provides the flexible workspace for active computing.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8" name="Text 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Lecture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158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is the brain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computer, executing instructions through the Fetch-Decode-Execute cycle at billions of cycles per second.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85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5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285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components —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ALU, Control Unit, and Registers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work together to process data, decode instructions, and produce output.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12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12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412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memory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ultra-fast temporary storage (L1, L2, L3) to bridge the speed gap between the CPU and RAM.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39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539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non-volatile memory storing permanent boot instructions and firmware essential for system startup.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667500"/>
            <a:ext cx="76200" cy="1016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667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667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volatile working memory that temporarily holds active programs and data, directly impacting system performance and multitasking capability.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A8B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nnzusjvv7vxa/mnt/agents/output/ict-week2/images/10_Computer_Hardware_Background_Images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3A3E">
                  <a:alpha val="91000"/>
                </a:srgbClr>
              </a:gs>
              <a:gs pos="50000">
                <a:srgbClr val="1B3A3E">
                  <a:alpha val="82000"/>
                </a:srgbClr>
              </a:gs>
              <a:gs pos="100000">
                <a:srgbClr val="1B3A3E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400" kern="0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 SUMMARY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254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5F2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Next Steps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1016000" y="3492500"/>
            <a:ext cx="1016000" cy="381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3810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F5F2E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components determine a computer's capabilities, performance, and purpose. The CPU and memory work together as the heart of every computing system.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5461000"/>
            <a:ext cx="4318000" cy="1270000"/>
          </a:xfrm>
          <a:prstGeom prst="rect">
            <a:avLst/>
          </a:prstGeom>
          <a:solidFill>
            <a:srgbClr val="FFFFFF">
              <a:alpha val="9412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70000" y="558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COVERED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70000" y="59690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Computers: Desktop, Mobile, Mainframes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88000" y="5461000"/>
            <a:ext cx="4318000" cy="1270000"/>
          </a:xfrm>
          <a:prstGeom prst="rect">
            <a:avLst/>
          </a:prstGeom>
          <a:solidFill>
            <a:srgbClr val="FFFFFF">
              <a:alpha val="9412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842000" y="558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80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 COVERED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42000" y="5969000"/>
            <a:ext cx="381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B0C4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CPU, Internal Memory: Cache, ROM, and RAM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6000" y="7175500"/>
            <a:ext cx="8890000" cy="762000"/>
          </a:xfrm>
          <a:prstGeom prst="rect">
            <a:avLst/>
          </a:prstGeom>
          <a:solidFill>
            <a:srgbClr val="C4802F"/>
          </a:solidFill>
          <a:ln/>
        </p:spPr>
      </p:sp>
      <p:sp>
        <p:nvSpPr>
          <p:cNvPr id="15" name="Text 12"/>
          <p:cNvSpPr/>
          <p:nvPr/>
        </p:nvSpPr>
        <p:spPr>
          <a:xfrm>
            <a:off x="1270000" y="73025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3: Software Components and Operating Systems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C4802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Information and Communication Technologies - Week 2</dc:title>
  <dc:subject>Applications of Information and Communication Technologies - Week 2</dc:subject>
  <dc:creator>Kimi</dc:creator>
  <cp:lastModifiedBy>Kimi</cp:lastModifiedBy>
  <cp:revision>1</cp:revision>
  <dcterms:created xsi:type="dcterms:W3CDTF">2026-05-25T08:55:29Z</dcterms:created>
  <dcterms:modified xsi:type="dcterms:W3CDTF">2026-05-25T08:55:29Z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{"Label":"Applications of Information and Communication Technologies - Week 2","ContentProducer":"001191110108MACG2KBH8F10000","ProduceID":"19e5e436-6092-85e2-8000-00005231d455","ReservedCode1":"","ContentPropagator":"001191110108MACG2KBH8F20000","PropagateID":"19e5e436-6092-85e2-8000-00005231d455","ReservedCode2":""}</vt:lpwstr>
  </property>
</Properties>
</file>