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6256000" cy="9144000"/>
  <p:notesSz cx="9144000" cy="16256000"/>
  <p:embeddedFontLst>
    <p:embeddedFont>
      <p:font typeface="Quattrocento Sans" charset="-122" pitchFamily="34"/>
      <p:regular r:id="rId36"/>
    </p:embeddedFont>
    <p:embeddedFont>
      <p:font typeface="Liter" charset="-122" pitchFamily="34"/>
      <p:regular r:id="rId3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font" Target="fonts/font1.fntdata"/><Relationship Id="rId3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ndqamqta5jpyk/mnt/agents/output/week8_dns/images/9_Server_room_hosting_many_servers.png">    </p:cNvPr>
          <p:cNvPicPr>
            <a:picLocks noChangeAspect="1"/>
          </p:cNvPicPr>
          <p:nvPr/>
        </p:nvPicPr>
        <p:blipFill>
          <a:blip r:embed="rId1"/>
          <a:srcRect l="180" r="180"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E2328">
                  <a:alpha val="94000"/>
                </a:srgbClr>
              </a:gs>
              <a:gs pos="55000">
                <a:srgbClr val="1E2328">
                  <a:alpha val="80000"/>
                </a:srgbClr>
              </a:gs>
              <a:gs pos="100000">
                <a:srgbClr val="1E2328">
                  <a:alpha val="38000"/>
                </a:srgbClr>
              </a:gs>
            </a:gsLst>
            <a:lin ang="0" scaled="1"/>
          </a:gradFill>
          <a:ln w="12700">
            <a:solidFill>
              <a:srgbClr val="333333"/>
            </a:solidFill>
            <a:prstDash val="solid"/>
          </a:ln>
        </p:spPr>
      </p:sp>
      <p:sp>
        <p:nvSpPr>
          <p:cNvPr id="4" name="Shape 1"/>
          <p:cNvSpPr/>
          <p:nvPr/>
        </p:nvSpPr>
        <p:spPr>
          <a:xfrm>
            <a:off x="1016000" y="3302000"/>
            <a:ext cx="1016000" cy="50800"/>
          </a:xfrm>
          <a:prstGeom prst="rect">
            <a:avLst/>
          </a:prstGeom>
          <a:solidFill>
            <a:srgbClr val="C9893B"/>
          </a:solidFill>
          <a:ln/>
        </p:spPr>
      </p:sp>
      <p:sp>
        <p:nvSpPr>
          <p:cNvPr id="5" name="Text 2"/>
          <p:cNvSpPr/>
          <p:nvPr/>
        </p:nvSpPr>
        <p:spPr>
          <a:xfrm>
            <a:off x="1016000" y="2540000"/>
            <a:ext cx="6350000" cy="381000"/>
          </a:xfrm>
          <a:prstGeom prst="rect">
            <a:avLst/>
          </a:prstGeom>
          <a:noFill/>
          <a:ln/>
        </p:spPr>
        <p:txBody>
          <a:bodyPr wrap="none" lIns="0" tIns="0" rIns="0" bIns="0" rtlCol="0" anchor="ctr"/>
          <a:lstStyle/>
          <a:p>
            <a:pPr>
              <a:lnSpc>
                <a:spcPct val="100000"/>
              </a:lnSpc>
            </a:pPr>
            <a:r>
              <a:rPr lang="en-US" sz="1400" b="1" spc="300" kern="0" dirty="0">
                <a:solidFill>
                  <a:srgbClr val="C9893B"/>
                </a:solidFill>
                <a:latin typeface="Quattrocento Sans" pitchFamily="34" charset="0"/>
                <a:ea typeface="Quattrocento Sans" pitchFamily="34" charset="-122"/>
                <a:cs typeface="Quattrocento Sans" pitchFamily="34" charset="-120"/>
              </a:rPr>
              <a:t>ICT WEEK 8</a:t>
            </a:r>
            <a:endParaRPr lang="en-US" sz="1600" dirty="0"/>
          </a:p>
        </p:txBody>
      </p:sp>
      <p:sp>
        <p:nvSpPr>
          <p:cNvPr id="6" name="Text 3"/>
          <p:cNvSpPr/>
          <p:nvPr/>
        </p:nvSpPr>
        <p:spPr>
          <a:xfrm>
            <a:off x="1016000" y="3556000"/>
            <a:ext cx="8255000" cy="1524000"/>
          </a:xfrm>
          <a:prstGeom prst="rect">
            <a:avLst/>
          </a:prstGeom>
          <a:noFill/>
          <a:ln/>
        </p:spPr>
        <p:txBody>
          <a:bodyPr wrap="square" lIns="0" tIns="0" rIns="0" bIns="0" rtlCol="0" anchor="ctr"/>
          <a:lstStyle/>
          <a:p>
            <a:pPr>
              <a:lnSpc>
                <a:spcPct val="120000"/>
              </a:lnSpc>
            </a:pPr>
            <a:r>
              <a:rPr lang="en-US" sz="4400" b="1" dirty="0">
                <a:solidFill>
                  <a:srgbClr val="FFFFFF"/>
                </a:solidFill>
                <a:latin typeface="Liter" pitchFamily="34" charset="0"/>
                <a:ea typeface="Liter" pitchFamily="34" charset="-122"/>
                <a:cs typeface="Liter" pitchFamily="34" charset="-120"/>
              </a:rPr>
              <a:t>Applications of Information and Communication Technologies</a:t>
            </a:r>
            <a:endParaRPr lang="en-US" sz="4000" dirty="0"/>
          </a:p>
        </p:txBody>
      </p:sp>
      <p:sp>
        <p:nvSpPr>
          <p:cNvPr id="7" name="Text 4"/>
          <p:cNvSpPr/>
          <p:nvPr/>
        </p:nvSpPr>
        <p:spPr>
          <a:xfrm>
            <a:off x="1016000" y="5334000"/>
            <a:ext cx="7620000" cy="508000"/>
          </a:xfrm>
          <a:prstGeom prst="rect">
            <a:avLst/>
          </a:prstGeom>
          <a:noFill/>
          <a:ln/>
        </p:spPr>
        <p:txBody>
          <a:bodyPr wrap="none" lIns="0" tIns="0" rIns="0" bIns="0" rtlCol="0" anchor="ctr"/>
          <a:lstStyle/>
          <a:p>
            <a:pPr>
              <a:lnSpc>
                <a:spcPct val="100000"/>
              </a:lnSpc>
            </a:pPr>
            <a:r>
              <a:rPr lang="en-US" sz="2200" dirty="0">
                <a:solidFill>
                  <a:srgbClr val="FFFFFF">
                    <a:alpha val="80000"/>
                  </a:srgbClr>
                </a:solidFill>
                <a:latin typeface="Quattrocento Sans" pitchFamily="34" charset="0"/>
                <a:ea typeface="Quattrocento Sans" pitchFamily="34" charset="-122"/>
                <a:cs typeface="Quattrocento Sans" pitchFamily="34" charset="-120"/>
              </a:rPr>
              <a:t>The Domain Name System &amp; Revision</a:t>
            </a:r>
            <a:endParaRPr lang="en-US" sz="1600" dirty="0"/>
          </a:p>
        </p:txBody>
      </p:sp>
      <p:sp>
        <p:nvSpPr>
          <p:cNvPr id="8" name="Shape 5"/>
          <p:cNvSpPr/>
          <p:nvPr/>
        </p:nvSpPr>
        <p:spPr>
          <a:xfrm>
            <a:off x="1016000" y="8128000"/>
            <a:ext cx="2540000" cy="25400"/>
          </a:xfrm>
          <a:prstGeom prst="rect">
            <a:avLst/>
          </a:prstGeom>
          <a:solidFill>
            <a:srgbClr val="FFFFFF">
              <a:alpha val="25098"/>
            </a:srgbClr>
          </a:solidFill>
          <a:ln/>
        </p:spPr>
      </p:sp>
      <p:sp>
        <p:nvSpPr>
          <p:cNvPr id="9" name="Text 6"/>
          <p:cNvSpPr/>
          <p:nvPr/>
        </p:nvSpPr>
        <p:spPr>
          <a:xfrm>
            <a:off x="1016000" y="8331200"/>
            <a:ext cx="5080000" cy="304800"/>
          </a:xfrm>
          <a:prstGeom prst="rect">
            <a:avLst/>
          </a:prstGeom>
          <a:noFill/>
          <a:ln/>
        </p:spPr>
        <p:txBody>
          <a:bodyPr wrap="none" lIns="0" tIns="0" rIns="0" bIns="0" rtlCol="0" anchor="ctr"/>
          <a:lstStyle/>
          <a:p>
            <a:pPr>
              <a:lnSpc>
                <a:spcPct val="100000"/>
              </a:lnSpc>
            </a:pPr>
            <a:r>
              <a:rPr lang="en-US" sz="1300" dirty="0">
                <a:solidFill>
                  <a:srgbClr val="FFFFFF">
                    <a:alpha val="50196"/>
                  </a:srgbClr>
                </a:solidFill>
                <a:latin typeface="Quattrocento Sans" pitchFamily="34" charset="0"/>
                <a:ea typeface="Quattrocento Sans" pitchFamily="34" charset="-122"/>
                <a:cs typeface="Quattrocento Sans" pitchFamily="34" charset="-120"/>
              </a:rPr>
              <a:t>Lectures 15 &amp; 16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508000"/>
            <a:ext cx="2540000" cy="2794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889000"/>
            <a:ext cx="5080000" cy="635000"/>
          </a:xfrm>
          <a:prstGeom prst="rect">
            <a:avLst/>
          </a:prstGeom>
          <a:noFill/>
          <a:ln/>
        </p:spPr>
        <p:txBody>
          <a:bodyPr wrap="none" lIns="0" tIns="0" rIns="0" bIns="0" rtlCol="0" anchor="ctr"/>
          <a:lstStyle/>
          <a:p>
            <a:pPr>
              <a:lnSpc>
                <a:spcPct val="100000"/>
              </a:lnSpc>
            </a:pPr>
            <a:r>
              <a:rPr lang="en-US" sz="3600" b="1" dirty="0">
                <a:solidFill>
                  <a:srgbClr val="2D3E50"/>
                </a:solidFill>
                <a:latin typeface="Liter" pitchFamily="34" charset="0"/>
                <a:ea typeface="Liter" pitchFamily="34" charset="-122"/>
                <a:cs typeface="Liter" pitchFamily="34" charset="-120"/>
              </a:rPr>
              <a:t>Contents</a:t>
            </a:r>
            <a:endParaRPr lang="en-US" sz="1600" dirty="0"/>
          </a:p>
        </p:txBody>
      </p:sp>
      <p:sp>
        <p:nvSpPr>
          <p:cNvPr id="4" name="Shape 2"/>
          <p:cNvSpPr/>
          <p:nvPr/>
        </p:nvSpPr>
        <p:spPr>
          <a:xfrm>
            <a:off x="762000" y="1625600"/>
            <a:ext cx="762000" cy="50800"/>
          </a:xfrm>
          <a:prstGeom prst="rect">
            <a:avLst/>
          </a:prstGeom>
          <a:solidFill>
            <a:srgbClr val="C9893B"/>
          </a:solidFill>
          <a:ln/>
        </p:spPr>
      </p:sp>
      <p:sp>
        <p:nvSpPr>
          <p:cNvPr id="5" name="Shape 3"/>
          <p:cNvSpPr/>
          <p:nvPr/>
        </p:nvSpPr>
        <p:spPr>
          <a:xfrm>
            <a:off x="762000" y="2286000"/>
            <a:ext cx="7112000" cy="5334000"/>
          </a:xfrm>
          <a:prstGeom prst="rect">
            <a:avLst/>
          </a:prstGeom>
          <a:solidFill>
            <a:srgbClr val="E8E4DE"/>
          </a:solidFill>
          <a:ln/>
        </p:spPr>
      </p:sp>
      <p:sp>
        <p:nvSpPr>
          <p:cNvPr id="6" name="Shape 4"/>
          <p:cNvSpPr/>
          <p:nvPr/>
        </p:nvSpPr>
        <p:spPr>
          <a:xfrm>
            <a:off x="762000" y="2286000"/>
            <a:ext cx="76200" cy="5334000"/>
          </a:xfrm>
          <a:prstGeom prst="rect">
            <a:avLst/>
          </a:prstGeom>
          <a:solidFill>
            <a:srgbClr val="C9893B"/>
          </a:solidFill>
          <a:ln/>
        </p:spPr>
      </p:sp>
      <p:sp>
        <p:nvSpPr>
          <p:cNvPr id="7" name="Text 5"/>
          <p:cNvSpPr/>
          <p:nvPr/>
        </p:nvSpPr>
        <p:spPr>
          <a:xfrm>
            <a:off x="1270000" y="2794000"/>
            <a:ext cx="1524000" cy="889000"/>
          </a:xfrm>
          <a:prstGeom prst="rect">
            <a:avLst/>
          </a:prstGeom>
          <a:noFill/>
          <a:ln/>
        </p:spPr>
        <p:txBody>
          <a:bodyPr wrap="none" lIns="0" tIns="0" rIns="0" bIns="0" rtlCol="0" anchor="ctr"/>
          <a:lstStyle/>
          <a:p>
            <a:pPr>
              <a:lnSpc>
                <a:spcPct val="100000"/>
              </a:lnSpc>
            </a:pPr>
            <a:r>
              <a:rPr lang="en-US" sz="5600" b="1" dirty="0">
                <a:solidFill>
                  <a:srgbClr val="C9893B"/>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1270000" y="3810000"/>
            <a:ext cx="6096000" cy="457200"/>
          </a:xfrm>
          <a:prstGeom prst="rect">
            <a:avLst/>
          </a:prstGeom>
          <a:noFill/>
          <a:ln/>
        </p:spPr>
        <p:txBody>
          <a:bodyPr wrap="none" lIns="0" tIns="0" rIns="0" bIns="0" rtlCol="0" anchor="ctr"/>
          <a:lstStyle/>
          <a:p>
            <a:pPr>
              <a:lnSpc>
                <a:spcPct val="100000"/>
              </a:lnSpc>
            </a:pPr>
            <a:r>
              <a:rPr lang="en-US" sz="2400" b="1" dirty="0">
                <a:solidFill>
                  <a:srgbClr val="2D3E50"/>
                </a:solidFill>
                <a:latin typeface="Liter" pitchFamily="34" charset="0"/>
                <a:ea typeface="Liter" pitchFamily="34" charset="-122"/>
                <a:cs typeface="Liter" pitchFamily="34" charset="-120"/>
              </a:rPr>
              <a:t>Lecture 15</a:t>
            </a:r>
            <a:endParaRPr lang="en-US" sz="1600" dirty="0"/>
          </a:p>
        </p:txBody>
      </p:sp>
      <p:sp>
        <p:nvSpPr>
          <p:cNvPr id="9" name="Text 7"/>
          <p:cNvSpPr/>
          <p:nvPr/>
        </p:nvSpPr>
        <p:spPr>
          <a:xfrm>
            <a:off x="1270000" y="4394200"/>
            <a:ext cx="6096000" cy="1016000"/>
          </a:xfrm>
          <a:prstGeom prst="rect">
            <a:avLst/>
          </a:prstGeom>
          <a:noFill/>
          <a:ln/>
        </p:spPr>
        <p:txBody>
          <a:bodyPr wrap="square" lIns="0" tIns="0" rIns="0" bIns="0" rtlCol="0" anchor="ctr"/>
          <a:lstStyle/>
          <a:p>
            <a:pPr>
              <a:lnSpc>
                <a:spcPct val="150000"/>
              </a:lnSpc>
            </a:pPr>
            <a:r>
              <a:rPr lang="en-US" sz="1800" dirty="0">
                <a:solidFill>
                  <a:srgbClr val="1E2328"/>
                </a:solidFill>
                <a:latin typeface="Quattrocento Sans" pitchFamily="34" charset="0"/>
                <a:ea typeface="Quattrocento Sans" pitchFamily="34" charset="-122"/>
                <a:cs typeface="Quattrocento Sans" pitchFamily="34" charset="-120"/>
              </a:rPr>
              <a:t>The Domain Name System</a:t>
            </a:r>
            <a:endParaRPr lang="en-US" sz="1600" dirty="0"/>
          </a:p>
          <a:p>
            <a:pPr>
              <a:lnSpc>
                <a:spcPct val="150000"/>
              </a:lnSpc>
            </a:pPr>
            <a:r>
              <a:rPr lang="en-US" sz="1500" dirty="0">
                <a:solidFill>
                  <a:srgbClr val="6B7B8D"/>
                </a:solidFill>
                <a:latin typeface="Quattrocento Sans" pitchFamily="34" charset="0"/>
                <a:ea typeface="Quattrocento Sans" pitchFamily="34" charset="-122"/>
                <a:cs typeface="Quattrocento Sans" pitchFamily="34" charset="-120"/>
              </a:rPr>
              <a:t>DNS hierarchy, resolution, records, and server types</a:t>
            </a:r>
            <a:endParaRPr lang="en-US" sz="1600" dirty="0"/>
          </a:p>
        </p:txBody>
      </p:sp>
      <p:sp>
        <p:nvSpPr>
          <p:cNvPr id="10" name="Shape 8"/>
          <p:cNvSpPr/>
          <p:nvPr/>
        </p:nvSpPr>
        <p:spPr>
          <a:xfrm>
            <a:off x="1241425" y="5588000"/>
            <a:ext cx="514350" cy="457200"/>
          </a:xfrm>
          <a:custGeom>
            <a:avLst/>
            <a:gdLst/>
            <a:ahLst/>
            <a:cxnLst/>
            <a:rect l="l" t="t" r="r" b="b"/>
            <a:pathLst>
              <a:path w="514350" h="457200">
                <a:moveTo>
                  <a:pt x="221456" y="78581"/>
                </a:moveTo>
                <a:lnTo>
                  <a:pt x="292894" y="78581"/>
                </a:lnTo>
                <a:lnTo>
                  <a:pt x="292894" y="121444"/>
                </a:lnTo>
                <a:lnTo>
                  <a:pt x="221456" y="121444"/>
                </a:lnTo>
                <a:lnTo>
                  <a:pt x="221456" y="78581"/>
                </a:lnTo>
                <a:close/>
                <a:moveTo>
                  <a:pt x="214313" y="28575"/>
                </a:moveTo>
                <a:cubicBezTo>
                  <a:pt x="190649" y="28575"/>
                  <a:pt x="171450" y="47774"/>
                  <a:pt x="171450" y="71438"/>
                </a:cubicBezTo>
                <a:lnTo>
                  <a:pt x="171450" y="128588"/>
                </a:lnTo>
                <a:cubicBezTo>
                  <a:pt x="171450" y="152251"/>
                  <a:pt x="190649" y="171450"/>
                  <a:pt x="214313" y="171450"/>
                </a:cubicBezTo>
                <a:lnTo>
                  <a:pt x="228600" y="171450"/>
                </a:lnTo>
                <a:lnTo>
                  <a:pt x="228600" y="200025"/>
                </a:lnTo>
                <a:lnTo>
                  <a:pt x="28575" y="200025"/>
                </a:lnTo>
                <a:cubicBezTo>
                  <a:pt x="12769" y="200025"/>
                  <a:pt x="0" y="212794"/>
                  <a:pt x="0" y="228600"/>
                </a:cubicBezTo>
                <a:cubicBezTo>
                  <a:pt x="0" y="244406"/>
                  <a:pt x="12769" y="257175"/>
                  <a:pt x="28575" y="257175"/>
                </a:cubicBezTo>
                <a:lnTo>
                  <a:pt x="114300" y="257175"/>
                </a:lnTo>
                <a:lnTo>
                  <a:pt x="114300" y="285750"/>
                </a:lnTo>
                <a:lnTo>
                  <a:pt x="100013" y="285750"/>
                </a:lnTo>
                <a:cubicBezTo>
                  <a:pt x="76349" y="285750"/>
                  <a:pt x="57150" y="304949"/>
                  <a:pt x="57150" y="328613"/>
                </a:cubicBezTo>
                <a:lnTo>
                  <a:pt x="57150" y="385763"/>
                </a:lnTo>
                <a:cubicBezTo>
                  <a:pt x="57150" y="409426"/>
                  <a:pt x="76349" y="428625"/>
                  <a:pt x="100013" y="428625"/>
                </a:cubicBezTo>
                <a:lnTo>
                  <a:pt x="185738" y="428625"/>
                </a:lnTo>
                <a:cubicBezTo>
                  <a:pt x="209401" y="428625"/>
                  <a:pt x="228600" y="409426"/>
                  <a:pt x="228600" y="385763"/>
                </a:cubicBezTo>
                <a:lnTo>
                  <a:pt x="228600" y="328613"/>
                </a:lnTo>
                <a:cubicBezTo>
                  <a:pt x="228600" y="304949"/>
                  <a:pt x="209401" y="285750"/>
                  <a:pt x="185738" y="285750"/>
                </a:cubicBezTo>
                <a:lnTo>
                  <a:pt x="171450" y="285750"/>
                </a:lnTo>
                <a:lnTo>
                  <a:pt x="171450" y="257175"/>
                </a:lnTo>
                <a:lnTo>
                  <a:pt x="342900" y="257175"/>
                </a:lnTo>
                <a:lnTo>
                  <a:pt x="342900" y="285750"/>
                </a:lnTo>
                <a:lnTo>
                  <a:pt x="328613" y="285750"/>
                </a:lnTo>
                <a:cubicBezTo>
                  <a:pt x="304949" y="285750"/>
                  <a:pt x="285750" y="304949"/>
                  <a:pt x="285750" y="328613"/>
                </a:cubicBezTo>
                <a:lnTo>
                  <a:pt x="285750" y="385763"/>
                </a:lnTo>
                <a:cubicBezTo>
                  <a:pt x="285750" y="409426"/>
                  <a:pt x="304949" y="428625"/>
                  <a:pt x="328613" y="428625"/>
                </a:cubicBezTo>
                <a:lnTo>
                  <a:pt x="414338" y="428625"/>
                </a:lnTo>
                <a:cubicBezTo>
                  <a:pt x="438001" y="428625"/>
                  <a:pt x="457200" y="409426"/>
                  <a:pt x="457200" y="385763"/>
                </a:cubicBezTo>
                <a:lnTo>
                  <a:pt x="457200" y="328613"/>
                </a:lnTo>
                <a:cubicBezTo>
                  <a:pt x="457200" y="304949"/>
                  <a:pt x="438001" y="285750"/>
                  <a:pt x="414338" y="285750"/>
                </a:cubicBezTo>
                <a:lnTo>
                  <a:pt x="400050" y="285750"/>
                </a:lnTo>
                <a:lnTo>
                  <a:pt x="400050" y="257175"/>
                </a:lnTo>
                <a:lnTo>
                  <a:pt x="485775" y="257175"/>
                </a:lnTo>
                <a:cubicBezTo>
                  <a:pt x="501581" y="257175"/>
                  <a:pt x="514350" y="244406"/>
                  <a:pt x="514350" y="228600"/>
                </a:cubicBezTo>
                <a:cubicBezTo>
                  <a:pt x="514350" y="212794"/>
                  <a:pt x="501581" y="200025"/>
                  <a:pt x="485775" y="200025"/>
                </a:cubicBezTo>
                <a:lnTo>
                  <a:pt x="285750" y="200025"/>
                </a:lnTo>
                <a:lnTo>
                  <a:pt x="285750" y="171450"/>
                </a:lnTo>
                <a:lnTo>
                  <a:pt x="300038" y="171450"/>
                </a:lnTo>
                <a:cubicBezTo>
                  <a:pt x="323701" y="171450"/>
                  <a:pt x="342900" y="152251"/>
                  <a:pt x="342900" y="128588"/>
                </a:cubicBezTo>
                <a:lnTo>
                  <a:pt x="342900" y="71438"/>
                </a:lnTo>
                <a:cubicBezTo>
                  <a:pt x="342900" y="47774"/>
                  <a:pt x="323701" y="28575"/>
                  <a:pt x="300038" y="28575"/>
                </a:cubicBezTo>
                <a:lnTo>
                  <a:pt x="214313" y="28575"/>
                </a:lnTo>
                <a:close/>
                <a:moveTo>
                  <a:pt x="400050" y="335756"/>
                </a:moveTo>
                <a:lnTo>
                  <a:pt x="407194" y="335756"/>
                </a:lnTo>
                <a:lnTo>
                  <a:pt x="407194" y="378619"/>
                </a:lnTo>
                <a:lnTo>
                  <a:pt x="335756" y="378619"/>
                </a:lnTo>
                <a:lnTo>
                  <a:pt x="335756" y="335756"/>
                </a:lnTo>
                <a:lnTo>
                  <a:pt x="400050" y="335756"/>
                </a:lnTo>
                <a:close/>
                <a:moveTo>
                  <a:pt x="171450" y="335756"/>
                </a:moveTo>
                <a:lnTo>
                  <a:pt x="178594" y="335756"/>
                </a:lnTo>
                <a:lnTo>
                  <a:pt x="178594" y="378619"/>
                </a:lnTo>
                <a:lnTo>
                  <a:pt x="107156" y="378619"/>
                </a:lnTo>
                <a:lnTo>
                  <a:pt x="107156" y="335756"/>
                </a:lnTo>
                <a:lnTo>
                  <a:pt x="171450" y="335756"/>
                </a:lnTo>
                <a:close/>
              </a:path>
            </a:pathLst>
          </a:custGeom>
          <a:solidFill>
            <a:srgbClr val="2D3E50"/>
          </a:solidFill>
          <a:ln/>
        </p:spPr>
      </p:sp>
      <p:sp>
        <p:nvSpPr>
          <p:cNvPr id="11" name="Shape 9"/>
          <p:cNvSpPr/>
          <p:nvPr/>
        </p:nvSpPr>
        <p:spPr>
          <a:xfrm>
            <a:off x="8382000" y="2286000"/>
            <a:ext cx="7112000" cy="5334000"/>
          </a:xfrm>
          <a:prstGeom prst="rect">
            <a:avLst/>
          </a:prstGeom>
          <a:solidFill>
            <a:srgbClr val="E8E4DE"/>
          </a:solidFill>
          <a:ln/>
        </p:spPr>
      </p:sp>
      <p:sp>
        <p:nvSpPr>
          <p:cNvPr id="12" name="Shape 10"/>
          <p:cNvSpPr/>
          <p:nvPr/>
        </p:nvSpPr>
        <p:spPr>
          <a:xfrm>
            <a:off x="8382000" y="2286000"/>
            <a:ext cx="76200" cy="5334000"/>
          </a:xfrm>
          <a:prstGeom prst="rect">
            <a:avLst/>
          </a:prstGeom>
          <a:solidFill>
            <a:srgbClr val="2D3E50"/>
          </a:solidFill>
          <a:ln/>
        </p:spPr>
      </p:sp>
      <p:sp>
        <p:nvSpPr>
          <p:cNvPr id="13" name="Text 11"/>
          <p:cNvSpPr/>
          <p:nvPr/>
        </p:nvSpPr>
        <p:spPr>
          <a:xfrm>
            <a:off x="8890000" y="2794000"/>
            <a:ext cx="1524000" cy="889000"/>
          </a:xfrm>
          <a:prstGeom prst="rect">
            <a:avLst/>
          </a:prstGeom>
          <a:noFill/>
          <a:ln/>
        </p:spPr>
        <p:txBody>
          <a:bodyPr wrap="none" lIns="0" tIns="0" rIns="0" bIns="0" rtlCol="0" anchor="ctr"/>
          <a:lstStyle/>
          <a:p>
            <a:pPr>
              <a:lnSpc>
                <a:spcPct val="100000"/>
              </a:lnSpc>
            </a:pPr>
            <a:r>
              <a:rPr lang="en-US" sz="5600" b="1" dirty="0">
                <a:solidFill>
                  <a:srgbClr val="2D3E50"/>
                </a:solidFill>
                <a:latin typeface="Liter" pitchFamily="34" charset="0"/>
                <a:ea typeface="Liter" pitchFamily="34" charset="-122"/>
                <a:cs typeface="Liter" pitchFamily="34" charset="-120"/>
              </a:rPr>
              <a:t>02</a:t>
            </a:r>
            <a:endParaRPr lang="en-US" sz="1600" dirty="0"/>
          </a:p>
        </p:txBody>
      </p:sp>
      <p:sp>
        <p:nvSpPr>
          <p:cNvPr id="14" name="Text 12"/>
          <p:cNvSpPr/>
          <p:nvPr/>
        </p:nvSpPr>
        <p:spPr>
          <a:xfrm>
            <a:off x="8890000" y="3810000"/>
            <a:ext cx="6096000" cy="457200"/>
          </a:xfrm>
          <a:prstGeom prst="rect">
            <a:avLst/>
          </a:prstGeom>
          <a:noFill/>
          <a:ln/>
        </p:spPr>
        <p:txBody>
          <a:bodyPr wrap="none" lIns="0" tIns="0" rIns="0" bIns="0" rtlCol="0" anchor="ctr"/>
          <a:lstStyle/>
          <a:p>
            <a:pPr>
              <a:lnSpc>
                <a:spcPct val="100000"/>
              </a:lnSpc>
            </a:pPr>
            <a:r>
              <a:rPr lang="en-US" sz="2400" b="1" dirty="0">
                <a:solidFill>
                  <a:srgbClr val="2D3E50"/>
                </a:solidFill>
                <a:latin typeface="Liter" pitchFamily="34" charset="0"/>
                <a:ea typeface="Liter" pitchFamily="34" charset="-122"/>
                <a:cs typeface="Liter" pitchFamily="34" charset="-120"/>
              </a:rPr>
              <a:t>Lecture 16</a:t>
            </a:r>
            <a:endParaRPr lang="en-US" sz="1600" dirty="0"/>
          </a:p>
        </p:txBody>
      </p:sp>
      <p:sp>
        <p:nvSpPr>
          <p:cNvPr id="15" name="Text 13"/>
          <p:cNvSpPr/>
          <p:nvPr/>
        </p:nvSpPr>
        <p:spPr>
          <a:xfrm>
            <a:off x="8890000" y="4394200"/>
            <a:ext cx="6096000" cy="1016000"/>
          </a:xfrm>
          <a:prstGeom prst="rect">
            <a:avLst/>
          </a:prstGeom>
          <a:noFill/>
          <a:ln/>
        </p:spPr>
        <p:txBody>
          <a:bodyPr wrap="square" lIns="0" tIns="0" rIns="0" bIns="0" rtlCol="0" anchor="ctr"/>
          <a:lstStyle/>
          <a:p>
            <a:pPr>
              <a:lnSpc>
                <a:spcPct val="150000"/>
              </a:lnSpc>
            </a:pPr>
            <a:r>
              <a:rPr lang="en-US" sz="1800" dirty="0">
                <a:solidFill>
                  <a:srgbClr val="1E2328"/>
                </a:solidFill>
                <a:latin typeface="Quattrocento Sans" pitchFamily="34" charset="0"/>
                <a:ea typeface="Quattrocento Sans" pitchFamily="34" charset="-122"/>
                <a:cs typeface="Quattrocento Sans" pitchFamily="34" charset="-120"/>
              </a:rPr>
              <a:t>Revision</a:t>
            </a:r>
            <a:endParaRPr lang="en-US" sz="1600" dirty="0"/>
          </a:p>
          <a:p>
            <a:pPr>
              <a:lnSpc>
                <a:spcPct val="150000"/>
              </a:lnSpc>
            </a:pPr>
            <a:r>
              <a:rPr lang="en-US" sz="1500" dirty="0">
                <a:solidFill>
                  <a:srgbClr val="6B7B8D"/>
                </a:solidFill>
                <a:latin typeface="Quattrocento Sans" pitchFamily="34" charset="0"/>
                <a:ea typeface="Quattrocento Sans" pitchFamily="34" charset="-122"/>
                <a:cs typeface="Quattrocento Sans" pitchFamily="34" charset="-120"/>
              </a:rPr>
              <a:t>Key concepts review, summary, and practice questions</a:t>
            </a:r>
            <a:endParaRPr lang="en-US" sz="1600" dirty="0"/>
          </a:p>
        </p:txBody>
      </p:sp>
      <p:sp>
        <p:nvSpPr>
          <p:cNvPr id="16" name="Shape 14"/>
          <p:cNvSpPr/>
          <p:nvPr/>
        </p:nvSpPr>
        <p:spPr>
          <a:xfrm>
            <a:off x="8890000" y="5588000"/>
            <a:ext cx="457200" cy="457200"/>
          </a:xfrm>
          <a:custGeom>
            <a:avLst/>
            <a:gdLst/>
            <a:ahLst/>
            <a:cxnLst/>
            <a:rect l="l" t="t" r="r" b="b"/>
            <a:pathLst>
              <a:path w="457200" h="457200">
                <a:moveTo>
                  <a:pt x="228600" y="126176"/>
                </a:moveTo>
                <a:lnTo>
                  <a:pt x="228600" y="402372"/>
                </a:lnTo>
                <a:lnTo>
                  <a:pt x="229046" y="402193"/>
                </a:lnTo>
                <a:cubicBezTo>
                  <a:pt x="277803" y="381923"/>
                  <a:pt x="330131" y="371475"/>
                  <a:pt x="382905" y="371475"/>
                </a:cubicBezTo>
                <a:lnTo>
                  <a:pt x="400050" y="371475"/>
                </a:lnTo>
                <a:lnTo>
                  <a:pt x="400050" y="85725"/>
                </a:lnTo>
                <a:lnTo>
                  <a:pt x="382905" y="85725"/>
                </a:lnTo>
                <a:cubicBezTo>
                  <a:pt x="345222" y="85725"/>
                  <a:pt x="307806" y="93226"/>
                  <a:pt x="272981" y="107692"/>
                </a:cubicBezTo>
                <a:cubicBezTo>
                  <a:pt x="257979" y="113943"/>
                  <a:pt x="243155" y="120104"/>
                  <a:pt x="228600" y="126176"/>
                </a:cubicBezTo>
                <a:close/>
                <a:moveTo>
                  <a:pt x="206186" y="54918"/>
                </a:moveTo>
                <a:lnTo>
                  <a:pt x="228600" y="64294"/>
                </a:lnTo>
                <a:lnTo>
                  <a:pt x="251014" y="54918"/>
                </a:lnTo>
                <a:cubicBezTo>
                  <a:pt x="292804" y="37505"/>
                  <a:pt x="337631" y="28575"/>
                  <a:pt x="382905" y="28575"/>
                </a:cubicBezTo>
                <a:lnTo>
                  <a:pt x="414338" y="28575"/>
                </a:lnTo>
                <a:cubicBezTo>
                  <a:pt x="438001" y="28575"/>
                  <a:pt x="457200" y="47774"/>
                  <a:pt x="457200" y="71438"/>
                </a:cubicBezTo>
                <a:lnTo>
                  <a:pt x="457200" y="385763"/>
                </a:lnTo>
                <a:cubicBezTo>
                  <a:pt x="457200" y="409426"/>
                  <a:pt x="438001" y="428625"/>
                  <a:pt x="414338" y="428625"/>
                </a:cubicBezTo>
                <a:lnTo>
                  <a:pt x="382905" y="428625"/>
                </a:lnTo>
                <a:cubicBezTo>
                  <a:pt x="337631" y="428625"/>
                  <a:pt x="292804" y="437555"/>
                  <a:pt x="251014" y="454968"/>
                </a:cubicBezTo>
                <a:lnTo>
                  <a:pt x="239584" y="459700"/>
                </a:lnTo>
                <a:cubicBezTo>
                  <a:pt x="232529" y="462647"/>
                  <a:pt x="224671" y="462647"/>
                  <a:pt x="217616" y="459700"/>
                </a:cubicBezTo>
                <a:lnTo>
                  <a:pt x="206186" y="454968"/>
                </a:lnTo>
                <a:cubicBezTo>
                  <a:pt x="164396" y="437555"/>
                  <a:pt x="119569" y="428625"/>
                  <a:pt x="74295" y="428625"/>
                </a:cubicBezTo>
                <a:lnTo>
                  <a:pt x="42863" y="428625"/>
                </a:lnTo>
                <a:cubicBezTo>
                  <a:pt x="19199" y="428625"/>
                  <a:pt x="0" y="409426"/>
                  <a:pt x="0" y="385763"/>
                </a:cubicBezTo>
                <a:lnTo>
                  <a:pt x="0" y="71438"/>
                </a:lnTo>
                <a:cubicBezTo>
                  <a:pt x="0" y="47774"/>
                  <a:pt x="19199" y="28575"/>
                  <a:pt x="42863" y="28575"/>
                </a:cubicBezTo>
                <a:lnTo>
                  <a:pt x="74295" y="28575"/>
                </a:lnTo>
                <a:cubicBezTo>
                  <a:pt x="119569" y="28575"/>
                  <a:pt x="164396" y="37505"/>
                  <a:pt x="206186" y="54918"/>
                </a:cubicBezTo>
                <a:close/>
              </a:path>
            </a:pathLst>
          </a:custGeom>
          <a:solidFill>
            <a:srgbClr val="2D3E50"/>
          </a:solidFill>
          <a:ln/>
        </p:spPr>
      </p:sp>
      <p:sp>
        <p:nvSpPr>
          <p:cNvPr id="17" name="Shape 15"/>
          <p:cNvSpPr/>
          <p:nvPr/>
        </p:nvSpPr>
        <p:spPr>
          <a:xfrm>
            <a:off x="762000" y="8382000"/>
            <a:ext cx="14732000" cy="25400"/>
          </a:xfrm>
          <a:prstGeom prst="rect">
            <a:avLst/>
          </a:prstGeom>
          <a:solidFill>
            <a:srgbClr val="C9893B"/>
          </a:solidFill>
          <a:ln/>
        </p:spPr>
      </p:sp>
      <p:sp>
        <p:nvSpPr>
          <p:cNvPr id="18" name="Text 16"/>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02</a:t>
            </a:r>
            <a:endParaRPr lang="en-US" sz="14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ttps://kimi-img.moonshot.cn/pub/slides/okc/ndqamqta5jpyk/mnt/agents/output/week8_dns/images/2_Global_Network_Connection_Over_Dark.png">    </p:cNvPr>
          <p:cNvPicPr>
            <a:picLocks noChangeAspect="1"/>
          </p:cNvPicPr>
          <p:nvPr/>
        </p:nvPicPr>
        <p:blipFill>
          <a:blip r:embed="rId1"/>
          <a:srcRect l="0" r="0" t="7786" b="7786"/>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E2328">
                  <a:alpha val="91000"/>
                </a:srgbClr>
              </a:gs>
              <a:gs pos="50000">
                <a:srgbClr val="1E2328">
                  <a:alpha val="69000"/>
                </a:srgbClr>
              </a:gs>
              <a:gs pos="100000">
                <a:srgbClr val="1E2328">
                  <a:alpha val="38000"/>
                </a:srgbClr>
              </a:gs>
            </a:gsLst>
            <a:lin ang="5400000" scaled="1"/>
          </a:gradFill>
          <a:ln w="12700">
            <a:solidFill>
              <a:srgbClr val="333333"/>
            </a:solidFill>
            <a:prstDash val="solid"/>
          </a:ln>
        </p:spPr>
      </p:sp>
      <p:sp>
        <p:nvSpPr>
          <p:cNvPr id="4" name="Text 1"/>
          <p:cNvSpPr/>
          <p:nvPr/>
        </p:nvSpPr>
        <p:spPr>
          <a:xfrm>
            <a:off x="1016000" y="2540000"/>
            <a:ext cx="3810000" cy="355600"/>
          </a:xfrm>
          <a:prstGeom prst="rect">
            <a:avLst/>
          </a:prstGeom>
          <a:noFill/>
          <a:ln/>
        </p:spPr>
        <p:txBody>
          <a:bodyPr wrap="none" lIns="0" tIns="0" rIns="0" bIns="0" rtlCol="0" anchor="ctr"/>
          <a:lstStyle/>
          <a:p>
            <a:pPr>
              <a:lnSpc>
                <a:spcPct val="100000"/>
              </a:lnSpc>
            </a:pPr>
            <a:r>
              <a:rPr lang="en-US" sz="1400" b="1" spc="300" kern="0" dirty="0">
                <a:solidFill>
                  <a:srgbClr val="C9893B"/>
                </a:solidFill>
                <a:latin typeface="Quattrocento Sans" pitchFamily="34" charset="0"/>
                <a:ea typeface="Quattrocento Sans" pitchFamily="34" charset="-122"/>
                <a:cs typeface="Quattrocento Sans" pitchFamily="34" charset="-120"/>
              </a:rPr>
              <a:t>LECTURE 15</a:t>
            </a:r>
            <a:endParaRPr lang="en-US" sz="1600" dirty="0"/>
          </a:p>
        </p:txBody>
      </p:sp>
      <p:sp>
        <p:nvSpPr>
          <p:cNvPr id="5" name="Shape 2"/>
          <p:cNvSpPr/>
          <p:nvPr/>
        </p:nvSpPr>
        <p:spPr>
          <a:xfrm>
            <a:off x="1016000" y="3048000"/>
            <a:ext cx="1016000" cy="50800"/>
          </a:xfrm>
          <a:prstGeom prst="rect">
            <a:avLst/>
          </a:prstGeom>
          <a:solidFill>
            <a:srgbClr val="C9893B"/>
          </a:solidFill>
          <a:ln/>
        </p:spPr>
      </p:sp>
      <p:sp>
        <p:nvSpPr>
          <p:cNvPr id="6" name="Text 3"/>
          <p:cNvSpPr/>
          <p:nvPr/>
        </p:nvSpPr>
        <p:spPr>
          <a:xfrm>
            <a:off x="1016000" y="3365500"/>
            <a:ext cx="8890000" cy="762000"/>
          </a:xfrm>
          <a:prstGeom prst="rect">
            <a:avLst/>
          </a:prstGeom>
          <a:noFill/>
          <a:ln/>
        </p:spPr>
        <p:txBody>
          <a:bodyPr wrap="none" lIns="0" tIns="0" rIns="0" bIns="0" rtlCol="0" anchor="ctr"/>
          <a:lstStyle/>
          <a:p>
            <a:pPr>
              <a:lnSpc>
                <a:spcPct val="100000"/>
              </a:lnSpc>
            </a:pPr>
            <a:r>
              <a:rPr lang="en-US" sz="4400" b="1" dirty="0">
                <a:solidFill>
                  <a:srgbClr val="FFFFFF"/>
                </a:solidFill>
                <a:latin typeface="Liter" pitchFamily="34" charset="0"/>
                <a:ea typeface="Liter" pitchFamily="34" charset="-122"/>
                <a:cs typeface="Liter" pitchFamily="34" charset="-120"/>
              </a:rPr>
              <a:t>The Domain Name System</a:t>
            </a:r>
            <a:endParaRPr lang="en-US" sz="1600" dirty="0"/>
          </a:p>
        </p:txBody>
      </p:sp>
      <p:sp>
        <p:nvSpPr>
          <p:cNvPr id="7" name="Text 4"/>
          <p:cNvSpPr/>
          <p:nvPr/>
        </p:nvSpPr>
        <p:spPr>
          <a:xfrm>
            <a:off x="1016000" y="4318000"/>
            <a:ext cx="7620000" cy="1016000"/>
          </a:xfrm>
          <a:prstGeom prst="rect">
            <a:avLst/>
          </a:prstGeom>
          <a:noFill/>
          <a:ln/>
        </p:spPr>
        <p:txBody>
          <a:bodyPr wrap="square" lIns="0" tIns="0" rIns="0" bIns="0" rtlCol="0" anchor="ctr"/>
          <a:lstStyle/>
          <a:p>
            <a:pPr>
              <a:lnSpc>
                <a:spcPct val="16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Understanding how the Internet translates human-readable domain names into machine-readable IP addresses</a:t>
            </a:r>
            <a:endParaRPr lang="en-US" sz="1600" dirty="0"/>
          </a:p>
        </p:txBody>
      </p:sp>
      <p:sp>
        <p:nvSpPr>
          <p:cNvPr id="8" name="Shape 5"/>
          <p:cNvSpPr/>
          <p:nvPr/>
        </p:nvSpPr>
        <p:spPr>
          <a:xfrm>
            <a:off x="1016000" y="8128000"/>
            <a:ext cx="2540000" cy="25400"/>
          </a:xfrm>
          <a:prstGeom prst="rect">
            <a:avLst/>
          </a:prstGeom>
          <a:solidFill>
            <a:srgbClr val="FFFFFF">
              <a:alpha val="18824"/>
            </a:srgbClr>
          </a:solidFill>
          <a:ln/>
        </p:spPr>
      </p:sp>
      <p:sp>
        <p:nvSpPr>
          <p:cNvPr id="9" name="Text 6"/>
          <p:cNvSpPr/>
          <p:nvPr/>
        </p:nvSpPr>
        <p:spPr>
          <a:xfrm>
            <a:off x="14732000" y="8534400"/>
            <a:ext cx="762000" cy="254000"/>
          </a:xfrm>
          <a:prstGeom prst="rect">
            <a:avLst/>
          </a:prstGeom>
          <a:noFill/>
          <a:ln/>
        </p:spPr>
        <p:txBody>
          <a:bodyPr wrap="none" lIns="0" tIns="0" rIns="0" bIns="0" rtlCol="0" anchor="ctr"/>
          <a:lstStyle/>
          <a:p>
            <a:pPr algn="r">
              <a:lnSpc>
                <a:spcPct val="100000"/>
              </a:lnSpc>
            </a:pPr>
            <a:r>
              <a:rPr lang="en-US" sz="1400" dirty="0">
                <a:solidFill>
                  <a:srgbClr val="FFFFFF">
                    <a:alpha val="50196"/>
                  </a:srgbClr>
                </a:solidFill>
                <a:latin typeface="Quattrocento Sans" pitchFamily="34" charset="0"/>
                <a:ea typeface="Quattrocento Sans" pitchFamily="34" charset="-122"/>
                <a:cs typeface="Quattrocento Sans" pitchFamily="34" charset="-120"/>
              </a:rPr>
              <a:t>03</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762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What is DNS?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651000"/>
            <a:ext cx="8128000" cy="4064000"/>
          </a:xfrm>
          <a:prstGeom prst="rect">
            <a:avLst/>
          </a:prstGeom>
          <a:noFill/>
          <a:ln/>
        </p:spPr>
        <p:txBody>
          <a:bodyPr wrap="square" lIns="0" tIns="0" rIns="0" bIns="0" rtlCol="0" anchor="ctr"/>
          <a:lstStyle/>
          <a:p>
            <a:pPr>
              <a:lnSpc>
                <a:spcPct val="170000"/>
              </a:lnSpc>
            </a:pPr>
            <a:r>
              <a:rPr lang="en-US" sz="1800" dirty="0">
                <a:solidFill>
                  <a:srgbClr val="1E2328"/>
                </a:solidFill>
                <a:latin typeface="QuattrocentoSans" pitchFamily="34" charset="0"/>
                <a:ea typeface="QuattrocentoSans" pitchFamily="34" charset="-122"/>
                <a:cs typeface="QuattrocentoSans" pitchFamily="34" charset="-120"/>
              </a:rPr>
              <a:t>The </a:t>
            </a:r>
            <a:pPr>
              <a:lnSpc>
                <a:spcPct val="170000"/>
              </a:lnSpc>
            </a:pPr>
            <a:r>
              <a:rPr lang="en-US" sz="1800" b="1" dirty="0">
                <a:solidFill>
                  <a:srgbClr val="1E2328"/>
                </a:solidFill>
                <a:latin typeface="QuattrocentoSans" pitchFamily="34" charset="0"/>
                <a:ea typeface="QuattrocentoSans" pitchFamily="34" charset="-122"/>
                <a:cs typeface="QuattrocentoSans" pitchFamily="34" charset="-120"/>
              </a:rPr>
              <a:t>Domain Name System (DNS)</a:t>
            </a:r>
            <a:pPr>
              <a:lnSpc>
                <a:spcPct val="170000"/>
              </a:lnSpc>
            </a:pPr>
            <a:r>
              <a:rPr lang="en-US" sz="1800" dirty="0">
                <a:solidFill>
                  <a:srgbClr val="1E2328"/>
                </a:solidFill>
                <a:latin typeface="QuattrocentoSans" pitchFamily="34" charset="0"/>
                <a:ea typeface="QuattrocentoSans" pitchFamily="34" charset="-122"/>
                <a:cs typeface="QuattrocentoSans" pitchFamily="34" charset="-120"/>
              </a:rPr>
              <a:t> is a hierarchical, decentralized naming system that translates human-readable domain names (like </a:t>
            </a:r>
            <a:pPr>
              <a:lnSpc>
                <a:spcPct val="170000"/>
              </a:lnSpc>
            </a:pPr>
            <a:r>
              <a:rPr lang="en-US" sz="1800" dirty="0">
                <a:solidFill>
                  <a:srgbClr val="C9893B"/>
                </a:solidFill>
                <a:latin typeface="QuattrocentoSans" pitchFamily="34" charset="0"/>
                <a:ea typeface="QuattrocentoSans" pitchFamily="34" charset="-122"/>
                <a:cs typeface="QuattrocentoSans" pitchFamily="34" charset="-120"/>
              </a:rPr>
              <a:t>www.example.com</a:t>
            </a:r>
            <a:pPr>
              <a:lnSpc>
                <a:spcPct val="170000"/>
              </a:lnSpc>
            </a:pPr>
            <a:r>
              <a:rPr lang="en-US" sz="1800" dirty="0">
                <a:solidFill>
                  <a:srgbClr val="1E2328"/>
                </a:solidFill>
                <a:latin typeface="QuattrocentoSans" pitchFamily="34" charset="0"/>
                <a:ea typeface="QuattrocentoSans" pitchFamily="34" charset="-122"/>
                <a:cs typeface="QuattrocentoSans" pitchFamily="34" charset="-120"/>
              </a:rPr>
              <a:t>) into machine-readable IP addresses (like </a:t>
            </a:r>
            <a:pPr>
              <a:lnSpc>
                <a:spcPct val="170000"/>
              </a:lnSpc>
            </a:pPr>
            <a:r>
              <a:rPr lang="en-US" sz="1800" dirty="0">
                <a:solidFill>
                  <a:srgbClr val="C9893B"/>
                </a:solidFill>
                <a:latin typeface="QuattrocentoSans" pitchFamily="34" charset="0"/>
                <a:ea typeface="QuattrocentoSans" pitchFamily="34" charset="-122"/>
                <a:cs typeface="QuattrocentoSans" pitchFamily="34" charset="-120"/>
              </a:rPr>
              <a:t>192.168.1.1</a:t>
            </a:r>
            <a:pPr>
              <a:lnSpc>
                <a:spcPct val="170000"/>
              </a:lnSpc>
            </a:pPr>
            <a:r>
              <a:rPr lang="en-US" sz="1800" dirty="0">
                <a:solidFill>
                  <a:srgbClr val="1E2328"/>
                </a:solidFill>
                <a:latin typeface="QuattrocentoSans" pitchFamily="34" charset="0"/>
                <a:ea typeface="QuattrocentoSans" pitchFamily="34" charset="-122"/>
                <a:cs typeface="QuattrocentoSans" pitchFamily="34" charset="-120"/>
              </a:rPr>
              <a:t>).</a:t>
            </a:r>
            <a:endParaRPr lang="en-US" sz="1800" dirty="0"/>
          </a:p>
          <a:p>
            <a:pPr>
              <a:lnSpc>
                <a:spcPct val="170000"/>
              </a:lnSpc>
              <a:spcBef>
                <a:spcPts val="1000"/>
              </a:spcBef>
            </a:pPr>
            <a:r>
              <a:rPr lang="en-US" sz="1800" dirty="0">
                <a:solidFill>
                  <a:srgbClr val="1E2328"/>
                </a:solidFill>
                <a:latin typeface="QuattrocentoSans" pitchFamily="34" charset="0"/>
                <a:ea typeface="QuattrocentoSans" pitchFamily="34" charset="-122"/>
                <a:cs typeface="QuattrocentoSans" pitchFamily="34" charset="-120"/>
              </a:rPr>
              <a:t>Created by Paul Mockapetris in the 1980s, DNS operates like the </a:t>
            </a:r>
            <a:pPr>
              <a:lnSpc>
                <a:spcPct val="170000"/>
              </a:lnSpc>
              <a:spcBef>
                <a:spcPts val="1000"/>
              </a:spcBef>
            </a:pPr>
            <a:r>
              <a:rPr lang="en-US" sz="1800" b="1" dirty="0">
                <a:solidFill>
                  <a:srgbClr val="1E2328"/>
                </a:solidFill>
                <a:latin typeface="QuattrocentoSans" pitchFamily="34" charset="0"/>
                <a:ea typeface="QuattrocentoSans" pitchFamily="34" charset="-122"/>
                <a:cs typeface="QuattrocentoSans" pitchFamily="34" charset="-120"/>
              </a:rPr>
              <a:t>"phonebook of the Internet"</a:t>
            </a:r>
            <a:pPr>
              <a:lnSpc>
                <a:spcPct val="170000"/>
              </a:lnSpc>
              <a:spcBef>
                <a:spcPts val="1000"/>
              </a:spcBef>
            </a:pPr>
            <a:r>
              <a:rPr lang="en-US" sz="1800" dirty="0">
                <a:solidFill>
                  <a:srgbClr val="1E2328"/>
                </a:solidFill>
                <a:latin typeface="QuattrocentoSans" pitchFamily="34" charset="0"/>
                <a:ea typeface="QuattrocentoSans" pitchFamily="34" charset="-122"/>
                <a:cs typeface="QuattrocentoSans" pitchFamily="34" charset="-120"/>
              </a:rPr>
              <a:t> — eliminating the need for users to memorize numerical IP addresses.</a:t>
            </a:r>
            <a:endParaRPr lang="en-US" sz="1800" dirty="0"/>
          </a:p>
          <a:p>
            <a:pPr>
              <a:lnSpc>
                <a:spcPct val="170000"/>
              </a:lnSpc>
              <a:spcBef>
                <a:spcPts val="1000"/>
              </a:spcBef>
            </a:pPr>
            <a:r>
              <a:rPr lang="en-US" sz="1800" dirty="0">
                <a:solidFill>
                  <a:srgbClr val="1E2328"/>
                </a:solidFill>
                <a:latin typeface="QuattrocentoSans" pitchFamily="34" charset="0"/>
                <a:ea typeface="QuattrocentoSans" pitchFamily="34" charset="-122"/>
                <a:cs typeface="QuattrocentoSans" pitchFamily="34" charset="-120"/>
              </a:rPr>
              <a:t>DNS is essential for browsing the web, sending emails, and using online services. It is one of the core protocols of the Internet standard protocol suite.</a:t>
            </a:r>
            <a:endParaRPr lang="en-US" sz="1800" dirty="0"/>
          </a:p>
        </p:txBody>
      </p:sp>
      <p:sp>
        <p:nvSpPr>
          <p:cNvPr id="6" name="Shape 4"/>
          <p:cNvSpPr/>
          <p:nvPr/>
        </p:nvSpPr>
        <p:spPr>
          <a:xfrm>
            <a:off x="762000" y="5969000"/>
            <a:ext cx="8128000" cy="1270000"/>
          </a:xfrm>
          <a:prstGeom prst="rect">
            <a:avLst/>
          </a:prstGeom>
          <a:solidFill>
            <a:srgbClr val="E8E4DE"/>
          </a:solidFill>
          <a:ln/>
        </p:spPr>
      </p:sp>
      <p:sp>
        <p:nvSpPr>
          <p:cNvPr id="7" name="Shape 5"/>
          <p:cNvSpPr/>
          <p:nvPr/>
        </p:nvSpPr>
        <p:spPr>
          <a:xfrm>
            <a:off x="1143000" y="6299200"/>
            <a:ext cx="457200" cy="609600"/>
          </a:xfrm>
          <a:custGeom>
            <a:avLst/>
            <a:gdLst/>
            <a:ahLst/>
            <a:cxnLst/>
            <a:rect l="l" t="t" r="r" b="b"/>
            <a:pathLst>
              <a:path w="457200" h="609600">
                <a:moveTo>
                  <a:pt x="348734" y="457200"/>
                </a:moveTo>
                <a:cubicBezTo>
                  <a:pt x="357426" y="430649"/>
                  <a:pt x="374809" y="406598"/>
                  <a:pt x="394454" y="385882"/>
                </a:cubicBezTo>
                <a:cubicBezTo>
                  <a:pt x="433387" y="344924"/>
                  <a:pt x="457200" y="289560"/>
                  <a:pt x="457200" y="228600"/>
                </a:cubicBezTo>
                <a:cubicBezTo>
                  <a:pt x="457200" y="102394"/>
                  <a:pt x="354806" y="0"/>
                  <a:pt x="228600" y="0"/>
                </a:cubicBezTo>
                <a:cubicBezTo>
                  <a:pt x="102394" y="0"/>
                  <a:pt x="0" y="102394"/>
                  <a:pt x="0" y="228600"/>
                </a:cubicBezTo>
                <a:cubicBezTo>
                  <a:pt x="0" y="289560"/>
                  <a:pt x="23813" y="344924"/>
                  <a:pt x="62746" y="385882"/>
                </a:cubicBezTo>
                <a:cubicBezTo>
                  <a:pt x="82391" y="406598"/>
                  <a:pt x="99893" y="430649"/>
                  <a:pt x="108466" y="457200"/>
                </a:cubicBezTo>
                <a:lnTo>
                  <a:pt x="348615" y="457200"/>
                </a:lnTo>
                <a:close/>
                <a:moveTo>
                  <a:pt x="342900" y="514350"/>
                </a:moveTo>
                <a:lnTo>
                  <a:pt x="114300" y="514350"/>
                </a:lnTo>
                <a:lnTo>
                  <a:pt x="114300" y="533400"/>
                </a:lnTo>
                <a:cubicBezTo>
                  <a:pt x="114300" y="586026"/>
                  <a:pt x="156924" y="628650"/>
                  <a:pt x="209550" y="628650"/>
                </a:cubicBezTo>
                <a:lnTo>
                  <a:pt x="247650" y="628650"/>
                </a:lnTo>
                <a:cubicBezTo>
                  <a:pt x="300276" y="628650"/>
                  <a:pt x="342900" y="586026"/>
                  <a:pt x="342900" y="533400"/>
                </a:cubicBezTo>
                <a:lnTo>
                  <a:pt x="342900" y="514350"/>
                </a:lnTo>
                <a:close/>
                <a:moveTo>
                  <a:pt x="219075" y="133350"/>
                </a:moveTo>
                <a:cubicBezTo>
                  <a:pt x="171688" y="133350"/>
                  <a:pt x="133350" y="171688"/>
                  <a:pt x="133350" y="219075"/>
                </a:cubicBezTo>
                <a:cubicBezTo>
                  <a:pt x="133350" y="234910"/>
                  <a:pt x="120610" y="247650"/>
                  <a:pt x="104775" y="247650"/>
                </a:cubicBezTo>
                <a:cubicBezTo>
                  <a:pt x="88940" y="247650"/>
                  <a:pt x="76200" y="234910"/>
                  <a:pt x="76200" y="219075"/>
                </a:cubicBezTo>
                <a:cubicBezTo>
                  <a:pt x="76200" y="140137"/>
                  <a:pt x="140137" y="76200"/>
                  <a:pt x="219075" y="76200"/>
                </a:cubicBezTo>
                <a:cubicBezTo>
                  <a:pt x="234910" y="76200"/>
                  <a:pt x="247650" y="88940"/>
                  <a:pt x="247650" y="104775"/>
                </a:cubicBezTo>
                <a:cubicBezTo>
                  <a:pt x="247650" y="120610"/>
                  <a:pt x="234910" y="133350"/>
                  <a:pt x="219075" y="133350"/>
                </a:cubicBezTo>
                <a:close/>
              </a:path>
            </a:pathLst>
          </a:custGeom>
          <a:solidFill>
            <a:srgbClr val="C9893B"/>
          </a:solidFill>
          <a:ln/>
        </p:spPr>
      </p:sp>
      <p:sp>
        <p:nvSpPr>
          <p:cNvPr id="8" name="Text 6"/>
          <p:cNvSpPr/>
          <p:nvPr/>
        </p:nvSpPr>
        <p:spPr>
          <a:xfrm>
            <a:off x="1905000" y="6146800"/>
            <a:ext cx="6731000" cy="914400"/>
          </a:xfrm>
          <a:prstGeom prst="rect">
            <a:avLst/>
          </a:prstGeom>
          <a:noFill/>
          <a:ln/>
        </p:spPr>
        <p:txBody>
          <a:bodyPr wrap="square" lIns="0" tIns="0" rIns="0" bIns="0" rtlCol="0" anchor="ctr"/>
          <a:lstStyle/>
          <a:p>
            <a:pPr>
              <a:lnSpc>
                <a:spcPct val="150000"/>
              </a:lnSpc>
            </a:pPr>
            <a:r>
              <a:rPr lang="en-US" sz="1600" b="1" dirty="0">
                <a:solidFill>
                  <a:srgbClr val="1E2328"/>
                </a:solidFill>
                <a:latin typeface="Quattrocento Sans" pitchFamily="34" charset="0"/>
                <a:ea typeface="Quattrocento Sans" pitchFamily="34" charset="-122"/>
                <a:cs typeface="Quattrocento Sans" pitchFamily="34" charset="-120"/>
              </a:rPr>
              <a:t>Key Idea:</a:t>
            </a:r>
            <a:pPr>
              <a:lnSpc>
                <a:spcPct val="150000"/>
              </a:lnSpc>
            </a:pPr>
            <a:r>
              <a:rPr lang="en-US" sz="1600" dirty="0">
                <a:solidFill>
                  <a:srgbClr val="1E2328"/>
                </a:solidFill>
                <a:latin typeface="Quattrocento Sans" pitchFamily="34" charset="0"/>
                <a:ea typeface="Quattrocento Sans" pitchFamily="34" charset="-122"/>
                <a:cs typeface="Quattrocento Sans" pitchFamily="34" charset="-120"/>
              </a:rPr>
              <a:t> DNS bridges the gap between human-friendly names and machine-friendly numbers, making the Internet accessible to everyone.</a:t>
            </a:r>
            <a:endParaRPr lang="en-US" sz="1600" dirty="0"/>
          </a:p>
        </p:txBody>
      </p:sp>
      <p:sp>
        <p:nvSpPr>
          <p:cNvPr id="9" name="Shape 7"/>
          <p:cNvSpPr/>
          <p:nvPr/>
        </p:nvSpPr>
        <p:spPr>
          <a:xfrm>
            <a:off x="9398000" y="1651000"/>
            <a:ext cx="6096000" cy="5334000"/>
          </a:xfrm>
          <a:prstGeom prst="rect">
            <a:avLst/>
          </a:prstGeom>
          <a:solidFill>
            <a:srgbClr val="2D3E50"/>
          </a:solidFill>
          <a:ln/>
        </p:spPr>
      </p:sp>
      <p:sp>
        <p:nvSpPr>
          <p:cNvPr id="10" name="Text 8"/>
          <p:cNvSpPr/>
          <p:nvPr/>
        </p:nvSpPr>
        <p:spPr>
          <a:xfrm>
            <a:off x="9652000" y="1828800"/>
            <a:ext cx="5588000" cy="381000"/>
          </a:xfrm>
          <a:prstGeom prst="rect">
            <a:avLst/>
          </a:prstGeom>
          <a:noFill/>
          <a:ln/>
        </p:spPr>
        <p:txBody>
          <a:bodyPr wrap="none" lIns="0" tIns="0" rIns="0" bIns="0" rtlCol="0" anchor="ctr"/>
          <a:lstStyle/>
          <a:p>
            <a:pPr>
              <a:lnSpc>
                <a:spcPct val="100000"/>
              </a:lnSpc>
            </a:pPr>
            <a:r>
              <a:rPr lang="en-US" sz="1600" b="1" spc="100" kern="0" dirty="0">
                <a:solidFill>
                  <a:srgbClr val="FFFFFF"/>
                </a:solidFill>
                <a:latin typeface="Liter" pitchFamily="34" charset="0"/>
                <a:ea typeface="Liter" pitchFamily="34" charset="-122"/>
                <a:cs typeface="Liter" pitchFamily="34" charset="-120"/>
              </a:rPr>
              <a:t>DNS ANALOGY</a:t>
            </a:r>
            <a:endParaRPr lang="en-US" sz="1600" dirty="0"/>
          </a:p>
        </p:txBody>
      </p:sp>
      <p:sp>
        <p:nvSpPr>
          <p:cNvPr id="11" name="Shape 9"/>
          <p:cNvSpPr/>
          <p:nvPr/>
        </p:nvSpPr>
        <p:spPr>
          <a:xfrm>
            <a:off x="9652000" y="2260600"/>
            <a:ext cx="508000" cy="25400"/>
          </a:xfrm>
          <a:prstGeom prst="rect">
            <a:avLst/>
          </a:prstGeom>
          <a:solidFill>
            <a:srgbClr val="C9893B"/>
          </a:solidFill>
          <a:ln/>
        </p:spPr>
      </p:sp>
      <p:sp>
        <p:nvSpPr>
          <p:cNvPr id="12" name="Shape 10"/>
          <p:cNvSpPr/>
          <p:nvPr/>
        </p:nvSpPr>
        <p:spPr>
          <a:xfrm>
            <a:off x="11938000" y="2667000"/>
            <a:ext cx="1016000" cy="1016000"/>
          </a:xfrm>
          <a:custGeom>
            <a:avLst/>
            <a:gdLst/>
            <a:ahLst/>
            <a:cxnLst/>
            <a:rect l="l" t="t" r="r" b="b"/>
            <a:pathLst>
              <a:path w="1016000" h="1016000">
                <a:moveTo>
                  <a:pt x="190500" y="0"/>
                </a:moveTo>
                <a:cubicBezTo>
                  <a:pt x="120452" y="0"/>
                  <a:pt x="63500" y="56952"/>
                  <a:pt x="63500" y="127000"/>
                </a:cubicBezTo>
                <a:lnTo>
                  <a:pt x="63500" y="889000"/>
                </a:lnTo>
                <a:cubicBezTo>
                  <a:pt x="63500" y="959048"/>
                  <a:pt x="120452" y="1016000"/>
                  <a:pt x="190500" y="1016000"/>
                </a:cubicBezTo>
                <a:lnTo>
                  <a:pt x="762000" y="1016000"/>
                </a:lnTo>
                <a:cubicBezTo>
                  <a:pt x="832048" y="1016000"/>
                  <a:pt x="889000" y="959048"/>
                  <a:pt x="889000" y="889000"/>
                </a:cubicBezTo>
                <a:lnTo>
                  <a:pt x="889000" y="127000"/>
                </a:lnTo>
                <a:cubicBezTo>
                  <a:pt x="889000" y="56952"/>
                  <a:pt x="832048" y="0"/>
                  <a:pt x="762000" y="0"/>
                </a:cubicBezTo>
                <a:lnTo>
                  <a:pt x="190500" y="0"/>
                </a:lnTo>
                <a:close/>
                <a:moveTo>
                  <a:pt x="412750" y="571500"/>
                </a:moveTo>
                <a:lnTo>
                  <a:pt x="539750" y="571500"/>
                </a:lnTo>
                <a:cubicBezTo>
                  <a:pt x="627459" y="571500"/>
                  <a:pt x="698500" y="642541"/>
                  <a:pt x="698500" y="730250"/>
                </a:cubicBezTo>
                <a:cubicBezTo>
                  <a:pt x="698500" y="747713"/>
                  <a:pt x="684213" y="762000"/>
                  <a:pt x="666750" y="762000"/>
                </a:cubicBezTo>
                <a:lnTo>
                  <a:pt x="285750" y="762000"/>
                </a:lnTo>
                <a:cubicBezTo>
                  <a:pt x="268287" y="762000"/>
                  <a:pt x="254000" y="747713"/>
                  <a:pt x="254000" y="730250"/>
                </a:cubicBezTo>
                <a:cubicBezTo>
                  <a:pt x="254000" y="642541"/>
                  <a:pt x="325041" y="571500"/>
                  <a:pt x="412750" y="571500"/>
                </a:cubicBezTo>
                <a:close/>
                <a:moveTo>
                  <a:pt x="365125" y="381000"/>
                </a:moveTo>
                <a:cubicBezTo>
                  <a:pt x="365125" y="319668"/>
                  <a:pt x="414918" y="269875"/>
                  <a:pt x="476250" y="269875"/>
                </a:cubicBezTo>
                <a:cubicBezTo>
                  <a:pt x="537582" y="269875"/>
                  <a:pt x="587375" y="319668"/>
                  <a:pt x="587375" y="381000"/>
                </a:cubicBezTo>
                <a:cubicBezTo>
                  <a:pt x="587375" y="442332"/>
                  <a:pt x="537582" y="492125"/>
                  <a:pt x="476250" y="492125"/>
                </a:cubicBezTo>
                <a:cubicBezTo>
                  <a:pt x="414918" y="492125"/>
                  <a:pt x="365125" y="442332"/>
                  <a:pt x="365125" y="381000"/>
                </a:cubicBezTo>
                <a:close/>
                <a:moveTo>
                  <a:pt x="1016000" y="158750"/>
                </a:moveTo>
                <a:cubicBezTo>
                  <a:pt x="1016000" y="141288"/>
                  <a:pt x="1001713" y="127000"/>
                  <a:pt x="984250" y="127000"/>
                </a:cubicBezTo>
                <a:cubicBezTo>
                  <a:pt x="966788" y="127000"/>
                  <a:pt x="952500" y="141288"/>
                  <a:pt x="952500" y="158750"/>
                </a:cubicBezTo>
                <a:lnTo>
                  <a:pt x="952500" y="285750"/>
                </a:lnTo>
                <a:cubicBezTo>
                  <a:pt x="952500" y="303213"/>
                  <a:pt x="966788" y="317500"/>
                  <a:pt x="984250" y="317500"/>
                </a:cubicBezTo>
                <a:cubicBezTo>
                  <a:pt x="1001713" y="317500"/>
                  <a:pt x="1016000" y="303213"/>
                  <a:pt x="1016000" y="285750"/>
                </a:cubicBezTo>
                <a:lnTo>
                  <a:pt x="1016000" y="158750"/>
                </a:lnTo>
                <a:close/>
                <a:moveTo>
                  <a:pt x="1016000" y="412750"/>
                </a:moveTo>
                <a:cubicBezTo>
                  <a:pt x="1016000" y="395287"/>
                  <a:pt x="1001713" y="381000"/>
                  <a:pt x="984250" y="381000"/>
                </a:cubicBezTo>
                <a:cubicBezTo>
                  <a:pt x="966788" y="381000"/>
                  <a:pt x="952500" y="395287"/>
                  <a:pt x="952500" y="412750"/>
                </a:cubicBezTo>
                <a:lnTo>
                  <a:pt x="952500" y="539750"/>
                </a:lnTo>
                <a:cubicBezTo>
                  <a:pt x="952500" y="557213"/>
                  <a:pt x="966788" y="571500"/>
                  <a:pt x="984250" y="571500"/>
                </a:cubicBezTo>
                <a:cubicBezTo>
                  <a:pt x="1001713" y="571500"/>
                  <a:pt x="1016000" y="557213"/>
                  <a:pt x="1016000" y="539750"/>
                </a:cubicBezTo>
                <a:lnTo>
                  <a:pt x="1016000" y="412750"/>
                </a:lnTo>
                <a:close/>
                <a:moveTo>
                  <a:pt x="984250" y="635000"/>
                </a:moveTo>
                <a:cubicBezTo>
                  <a:pt x="966788" y="635000"/>
                  <a:pt x="952500" y="649288"/>
                  <a:pt x="952500" y="666750"/>
                </a:cubicBezTo>
                <a:lnTo>
                  <a:pt x="952500" y="793750"/>
                </a:lnTo>
                <a:cubicBezTo>
                  <a:pt x="952500" y="811213"/>
                  <a:pt x="966788" y="825500"/>
                  <a:pt x="984250" y="825500"/>
                </a:cubicBezTo>
                <a:cubicBezTo>
                  <a:pt x="1001713" y="825500"/>
                  <a:pt x="1016000" y="811213"/>
                  <a:pt x="1016000" y="793750"/>
                </a:cubicBezTo>
                <a:lnTo>
                  <a:pt x="1016000" y="666750"/>
                </a:lnTo>
                <a:cubicBezTo>
                  <a:pt x="1016000" y="649288"/>
                  <a:pt x="1001713" y="635000"/>
                  <a:pt x="984250" y="635000"/>
                </a:cubicBezTo>
                <a:close/>
              </a:path>
            </a:pathLst>
          </a:custGeom>
          <a:solidFill>
            <a:srgbClr val="FFFFFF">
              <a:alpha val="18824"/>
            </a:srgbClr>
          </a:solidFill>
          <a:ln/>
        </p:spPr>
      </p:sp>
      <p:sp>
        <p:nvSpPr>
          <p:cNvPr id="13" name="Text 11"/>
          <p:cNvSpPr/>
          <p:nvPr/>
        </p:nvSpPr>
        <p:spPr>
          <a:xfrm>
            <a:off x="9652000" y="3937000"/>
            <a:ext cx="5588000" cy="3556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Phonebook</a:t>
            </a:r>
            <a:endParaRPr lang="en-US" sz="1600" dirty="0"/>
          </a:p>
        </p:txBody>
      </p:sp>
      <p:sp>
        <p:nvSpPr>
          <p:cNvPr id="14" name="Text 12"/>
          <p:cNvSpPr/>
          <p:nvPr/>
        </p:nvSpPr>
        <p:spPr>
          <a:xfrm>
            <a:off x="9652000" y="4343400"/>
            <a:ext cx="5588000" cy="635000"/>
          </a:xfrm>
          <a:prstGeom prst="rect">
            <a:avLst/>
          </a:prstGeom>
          <a:noFill/>
          <a:ln/>
        </p:spPr>
        <p:txBody>
          <a:bodyPr wrap="square" lIns="0" tIns="0" rIns="0" bIns="0" rtlCol="0" anchor="t"/>
          <a:lstStyle/>
          <a:p>
            <a:pPr algn="ctr">
              <a:lnSpc>
                <a:spcPct val="14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Name → Phone Number</a:t>
            </a:r>
            <a:endParaRPr lang="en-US" sz="1600" dirty="0"/>
          </a:p>
        </p:txBody>
      </p:sp>
      <p:sp>
        <p:nvSpPr>
          <p:cNvPr id="15" name="Shape 13"/>
          <p:cNvSpPr/>
          <p:nvPr/>
        </p:nvSpPr>
        <p:spPr>
          <a:xfrm>
            <a:off x="12331700" y="5029200"/>
            <a:ext cx="228600" cy="304800"/>
          </a:xfrm>
          <a:custGeom>
            <a:avLst/>
            <a:gdLst/>
            <a:ahLst/>
            <a:cxnLst/>
            <a:rect l="l" t="t" r="r" b="b"/>
            <a:pathLst>
              <a:path w="228600" h="304800">
                <a:moveTo>
                  <a:pt x="100846" y="299204"/>
                </a:moveTo>
                <a:cubicBezTo>
                  <a:pt x="108287" y="306645"/>
                  <a:pt x="120372" y="306645"/>
                  <a:pt x="127814" y="299204"/>
                </a:cubicBezTo>
                <a:lnTo>
                  <a:pt x="223064" y="203954"/>
                </a:lnTo>
                <a:cubicBezTo>
                  <a:pt x="230505" y="196513"/>
                  <a:pt x="230505" y="184428"/>
                  <a:pt x="223064" y="176986"/>
                </a:cubicBezTo>
                <a:cubicBezTo>
                  <a:pt x="215622" y="169545"/>
                  <a:pt x="203537" y="169545"/>
                  <a:pt x="196096" y="176986"/>
                </a:cubicBezTo>
                <a:lnTo>
                  <a:pt x="133350" y="239732"/>
                </a:lnTo>
                <a:lnTo>
                  <a:pt x="133350" y="19050"/>
                </a:lnTo>
                <a:cubicBezTo>
                  <a:pt x="133350" y="8513"/>
                  <a:pt x="124837" y="0"/>
                  <a:pt x="114300" y="0"/>
                </a:cubicBezTo>
                <a:cubicBezTo>
                  <a:pt x="103763" y="0"/>
                  <a:pt x="95250" y="8513"/>
                  <a:pt x="95250" y="19050"/>
                </a:cubicBezTo>
                <a:lnTo>
                  <a:pt x="95250" y="239732"/>
                </a:lnTo>
                <a:lnTo>
                  <a:pt x="32504" y="176986"/>
                </a:lnTo>
                <a:cubicBezTo>
                  <a:pt x="25063" y="169545"/>
                  <a:pt x="12978" y="169545"/>
                  <a:pt x="5536" y="176986"/>
                </a:cubicBezTo>
                <a:cubicBezTo>
                  <a:pt x="-1905" y="184428"/>
                  <a:pt x="-1905" y="196513"/>
                  <a:pt x="5536" y="203954"/>
                </a:cubicBezTo>
                <a:lnTo>
                  <a:pt x="100786" y="299204"/>
                </a:lnTo>
                <a:close/>
              </a:path>
            </a:pathLst>
          </a:custGeom>
          <a:solidFill>
            <a:srgbClr val="C9893B"/>
          </a:solidFill>
          <a:ln/>
        </p:spPr>
      </p:sp>
      <p:sp>
        <p:nvSpPr>
          <p:cNvPr id="16" name="Text 14"/>
          <p:cNvSpPr/>
          <p:nvPr/>
        </p:nvSpPr>
        <p:spPr>
          <a:xfrm>
            <a:off x="9652000" y="5486400"/>
            <a:ext cx="5588000" cy="355600"/>
          </a:xfrm>
          <a:prstGeom prst="rect">
            <a:avLst/>
          </a:prstGeom>
          <a:noFill/>
          <a:ln/>
        </p:spPr>
        <p:txBody>
          <a:bodyPr wrap="none" lIns="0" tIns="0" rIns="0" bIns="0" rtlCol="0" anchor="ctr"/>
          <a:lstStyle/>
          <a:p>
            <a:pPr algn="ctr">
              <a:lnSpc>
                <a:spcPct val="100000"/>
              </a:lnSpc>
            </a:pPr>
            <a:r>
              <a:rPr lang="en-US" sz="1800" b="1" dirty="0">
                <a:solidFill>
                  <a:srgbClr val="C9893B"/>
                </a:solidFill>
                <a:latin typeface="Liter" pitchFamily="34" charset="0"/>
                <a:ea typeface="Liter" pitchFamily="34" charset="-122"/>
                <a:cs typeface="Liter" pitchFamily="34" charset="-120"/>
              </a:rPr>
              <a:t>DNS</a:t>
            </a:r>
            <a:endParaRPr lang="en-US" sz="1600" dirty="0"/>
          </a:p>
        </p:txBody>
      </p:sp>
      <p:sp>
        <p:nvSpPr>
          <p:cNvPr id="17" name="Text 15"/>
          <p:cNvSpPr/>
          <p:nvPr/>
        </p:nvSpPr>
        <p:spPr>
          <a:xfrm>
            <a:off x="9652000" y="5892800"/>
            <a:ext cx="5588000" cy="635000"/>
          </a:xfrm>
          <a:prstGeom prst="rect">
            <a:avLst/>
          </a:prstGeom>
          <a:noFill/>
          <a:ln/>
        </p:spPr>
        <p:txBody>
          <a:bodyPr wrap="square" lIns="0" tIns="0" rIns="0" bIns="0" rtlCol="0" anchor="t"/>
          <a:lstStyle/>
          <a:p>
            <a:pPr algn="ctr">
              <a:lnSpc>
                <a:spcPct val="14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Domain Name → IP Address</a:t>
            </a:r>
            <a:endParaRPr lang="en-US" sz="1600" dirty="0"/>
          </a:p>
        </p:txBody>
      </p:sp>
      <p:sp>
        <p:nvSpPr>
          <p:cNvPr id="18" name="Shape 16"/>
          <p:cNvSpPr/>
          <p:nvPr/>
        </p:nvSpPr>
        <p:spPr>
          <a:xfrm>
            <a:off x="762000" y="8382000"/>
            <a:ext cx="14732000" cy="25400"/>
          </a:xfrm>
          <a:prstGeom prst="rect">
            <a:avLst/>
          </a:prstGeom>
          <a:solidFill>
            <a:srgbClr val="C9893B"/>
          </a:solidFill>
          <a:ln/>
        </p:spPr>
      </p:sp>
      <p:sp>
        <p:nvSpPr>
          <p:cNvPr id="19" name="Text 17"/>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04</a:t>
            </a:r>
            <a:endParaRPr lang="en-US" sz="14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762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Why DNS is Needed</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587500"/>
            <a:ext cx="14732000" cy="825500"/>
          </a:xfrm>
          <a:prstGeom prst="rect">
            <a:avLst/>
          </a:prstGeom>
          <a:noFill/>
          <a:ln/>
        </p:spPr>
        <p:txBody>
          <a:bodyPr wrap="square" lIns="0" tIns="0" rIns="0" bIns="0" rtlCol="0" anchor="ctr"/>
          <a:lstStyle/>
          <a:p>
            <a:pPr>
              <a:lnSpc>
                <a:spcPct val="160000"/>
              </a:lnSpc>
            </a:pPr>
            <a:r>
              <a:rPr lang="en-US" sz="1800" dirty="0">
                <a:solidFill>
                  <a:srgbClr val="1E2328"/>
                </a:solidFill>
                <a:latin typeface="QuattrocentoSans" pitchFamily="34" charset="0"/>
                <a:ea typeface="QuattrocentoSans" pitchFamily="34" charset="-122"/>
                <a:cs typeface="QuattrocentoSans" pitchFamily="34" charset="-120"/>
              </a:rPr>
              <a:t>Every device on the Internet has a unique IP address. Humans cannot easily remember these numbers — DNS bridges this gap by allowing us to use memorable names instead.</a:t>
            </a:r>
            <a:endParaRPr lang="en-US" sz="1800" dirty="0"/>
          </a:p>
        </p:txBody>
      </p:sp>
      <p:sp>
        <p:nvSpPr>
          <p:cNvPr id="6" name="Shape 4"/>
          <p:cNvSpPr/>
          <p:nvPr/>
        </p:nvSpPr>
        <p:spPr>
          <a:xfrm>
            <a:off x="762000" y="2667000"/>
            <a:ext cx="4572000" cy="2540000"/>
          </a:xfrm>
          <a:prstGeom prst="rect">
            <a:avLst/>
          </a:prstGeom>
          <a:solidFill>
            <a:srgbClr val="E8E4DE"/>
          </a:solidFill>
          <a:ln/>
        </p:spPr>
      </p:sp>
      <p:sp>
        <p:nvSpPr>
          <p:cNvPr id="7" name="Shape 5"/>
          <p:cNvSpPr/>
          <p:nvPr/>
        </p:nvSpPr>
        <p:spPr>
          <a:xfrm>
            <a:off x="1066800" y="2921000"/>
            <a:ext cx="508000" cy="508000"/>
          </a:xfrm>
          <a:custGeom>
            <a:avLst/>
            <a:gdLst/>
            <a:ahLst/>
            <a:cxnLst/>
            <a:rect l="l" t="t" r="r" b="b"/>
            <a:pathLst>
              <a:path w="508000" h="508000">
                <a:moveTo>
                  <a:pt x="349151" y="277813"/>
                </a:moveTo>
                <a:lnTo>
                  <a:pt x="159742" y="277813"/>
                </a:lnTo>
                <a:cubicBezTo>
                  <a:pt x="162620" y="341809"/>
                  <a:pt x="176808" y="400745"/>
                  <a:pt x="196949" y="443905"/>
                </a:cubicBezTo>
                <a:cubicBezTo>
                  <a:pt x="208260" y="468213"/>
                  <a:pt x="220464" y="485378"/>
                  <a:pt x="231775" y="495895"/>
                </a:cubicBezTo>
                <a:cubicBezTo>
                  <a:pt x="242887" y="506313"/>
                  <a:pt x="250527" y="508000"/>
                  <a:pt x="254496" y="508000"/>
                </a:cubicBezTo>
                <a:cubicBezTo>
                  <a:pt x="258465" y="508000"/>
                  <a:pt x="266105" y="506313"/>
                  <a:pt x="277217" y="495895"/>
                </a:cubicBezTo>
                <a:cubicBezTo>
                  <a:pt x="288528" y="485378"/>
                  <a:pt x="300732" y="468114"/>
                  <a:pt x="312043" y="443905"/>
                </a:cubicBezTo>
                <a:cubicBezTo>
                  <a:pt x="332184" y="400745"/>
                  <a:pt x="346373" y="341809"/>
                  <a:pt x="349250" y="277813"/>
                </a:cubicBezTo>
                <a:close/>
                <a:moveTo>
                  <a:pt x="159643" y="230188"/>
                </a:moveTo>
                <a:lnTo>
                  <a:pt x="349052" y="230188"/>
                </a:lnTo>
                <a:cubicBezTo>
                  <a:pt x="346273" y="166191"/>
                  <a:pt x="332085" y="107255"/>
                  <a:pt x="311944" y="64095"/>
                </a:cubicBezTo>
                <a:cubicBezTo>
                  <a:pt x="300633" y="39886"/>
                  <a:pt x="288429" y="22622"/>
                  <a:pt x="277118" y="12105"/>
                </a:cubicBezTo>
                <a:cubicBezTo>
                  <a:pt x="266005" y="1687"/>
                  <a:pt x="258366" y="0"/>
                  <a:pt x="254397" y="0"/>
                </a:cubicBezTo>
                <a:cubicBezTo>
                  <a:pt x="250428" y="0"/>
                  <a:pt x="242788" y="1687"/>
                  <a:pt x="231676" y="12105"/>
                </a:cubicBezTo>
                <a:cubicBezTo>
                  <a:pt x="220365" y="22622"/>
                  <a:pt x="208161" y="39886"/>
                  <a:pt x="196850" y="64095"/>
                </a:cubicBezTo>
                <a:cubicBezTo>
                  <a:pt x="176709" y="107255"/>
                  <a:pt x="162520" y="166191"/>
                  <a:pt x="159643" y="230188"/>
                </a:cubicBezTo>
                <a:close/>
                <a:moveTo>
                  <a:pt x="112018" y="230188"/>
                </a:moveTo>
                <a:cubicBezTo>
                  <a:pt x="115491" y="145256"/>
                  <a:pt x="137418" y="66377"/>
                  <a:pt x="169466" y="14585"/>
                </a:cubicBezTo>
                <a:cubicBezTo>
                  <a:pt x="78085" y="46930"/>
                  <a:pt x="10815" y="130175"/>
                  <a:pt x="1488" y="230188"/>
                </a:cubicBezTo>
                <a:lnTo>
                  <a:pt x="112018" y="230188"/>
                </a:lnTo>
                <a:close/>
                <a:moveTo>
                  <a:pt x="1488" y="277813"/>
                </a:moveTo>
                <a:cubicBezTo>
                  <a:pt x="10815" y="377825"/>
                  <a:pt x="78085" y="461070"/>
                  <a:pt x="169466" y="493415"/>
                </a:cubicBezTo>
                <a:cubicBezTo>
                  <a:pt x="137418" y="441623"/>
                  <a:pt x="115491" y="362744"/>
                  <a:pt x="112018" y="277813"/>
                </a:cubicBezTo>
                <a:lnTo>
                  <a:pt x="1488" y="277813"/>
                </a:lnTo>
                <a:close/>
                <a:moveTo>
                  <a:pt x="396776" y="277813"/>
                </a:moveTo>
                <a:cubicBezTo>
                  <a:pt x="393303" y="362744"/>
                  <a:pt x="371376" y="441623"/>
                  <a:pt x="339328" y="493415"/>
                </a:cubicBezTo>
                <a:cubicBezTo>
                  <a:pt x="430709" y="460970"/>
                  <a:pt x="497979" y="377825"/>
                  <a:pt x="507305" y="277813"/>
                </a:cubicBezTo>
                <a:lnTo>
                  <a:pt x="396776" y="277813"/>
                </a:lnTo>
                <a:close/>
                <a:moveTo>
                  <a:pt x="507305" y="230188"/>
                </a:moveTo>
                <a:cubicBezTo>
                  <a:pt x="497979" y="130175"/>
                  <a:pt x="430709" y="46930"/>
                  <a:pt x="339328" y="14585"/>
                </a:cubicBezTo>
                <a:cubicBezTo>
                  <a:pt x="371376" y="66377"/>
                  <a:pt x="393303" y="145256"/>
                  <a:pt x="396776" y="230188"/>
                </a:cubicBezTo>
                <a:lnTo>
                  <a:pt x="507305" y="230188"/>
                </a:lnTo>
                <a:close/>
              </a:path>
            </a:pathLst>
          </a:custGeom>
          <a:solidFill>
            <a:srgbClr val="C9893B"/>
          </a:solidFill>
          <a:ln/>
        </p:spPr>
      </p:sp>
      <p:sp>
        <p:nvSpPr>
          <p:cNvPr id="8" name="Text 6"/>
          <p:cNvSpPr/>
          <p:nvPr/>
        </p:nvSpPr>
        <p:spPr>
          <a:xfrm>
            <a:off x="1066800" y="3556000"/>
            <a:ext cx="3962400" cy="355600"/>
          </a:xfrm>
          <a:prstGeom prst="rect">
            <a:avLst/>
          </a:prstGeom>
          <a:noFill/>
          <a:ln/>
        </p:spPr>
        <p:txBody>
          <a:bodyPr wrap="none" lIns="0" tIns="0" rIns="0" bIns="0" rtlCol="0" anchor="ctr"/>
          <a:lstStyle/>
          <a:p>
            <a:pPr>
              <a:lnSpc>
                <a:spcPct val="140000"/>
              </a:lnSpc>
            </a:pPr>
            <a:r>
              <a:rPr lang="en-US" sz="1800" b="1" dirty="0">
                <a:solidFill>
                  <a:srgbClr val="2D3E50"/>
                </a:solidFill>
                <a:latin typeface="Liter" pitchFamily="34" charset="0"/>
                <a:ea typeface="Liter" pitchFamily="34" charset="-122"/>
                <a:cs typeface="Liter" pitchFamily="34" charset="-120"/>
              </a:rPr>
              <a:t>Human-Friendly Names</a:t>
            </a:r>
            <a:endParaRPr lang="en-US" sz="2000" dirty="0"/>
          </a:p>
        </p:txBody>
      </p:sp>
      <p:sp>
        <p:nvSpPr>
          <p:cNvPr id="9" name="Text 7"/>
          <p:cNvSpPr/>
          <p:nvPr/>
        </p:nvSpPr>
        <p:spPr>
          <a:xfrm>
            <a:off x="1066800" y="3962400"/>
            <a:ext cx="3962400" cy="1016000"/>
          </a:xfrm>
          <a:prstGeom prst="rect">
            <a:avLst/>
          </a:prstGeom>
          <a:noFill/>
          <a:ln/>
        </p:spPr>
        <p:txBody>
          <a:bodyPr wrap="square" lIns="0" tIns="0" rIns="0" bIns="0" rtlCol="0" anchor="ctr"/>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Use </a:t>
            </a:r>
            <a:pPr>
              <a:lnSpc>
                <a:spcPct val="150000"/>
              </a:lnSpc>
            </a:pPr>
            <a:r>
              <a:rPr lang="en-US" sz="1500" dirty="0">
                <a:solidFill>
                  <a:srgbClr val="C9893B"/>
                </a:solidFill>
                <a:latin typeface="Quattrocento Sans" pitchFamily="34" charset="0"/>
                <a:ea typeface="Quattrocento Sans" pitchFamily="34" charset="-122"/>
                <a:cs typeface="Quattrocento Sans" pitchFamily="34" charset="-120"/>
              </a:rPr>
              <a:t>google.com</a:t>
            </a:r>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 instead of memorizing </a:t>
            </a:r>
            <a:pPr>
              <a:lnSpc>
                <a:spcPct val="150000"/>
              </a:lnSpc>
            </a:pPr>
            <a:r>
              <a:rPr lang="en-US" sz="1500" dirty="0">
                <a:solidFill>
                  <a:srgbClr val="C9893B"/>
                </a:solidFill>
                <a:latin typeface="Quattrocento Sans" pitchFamily="34" charset="0"/>
                <a:ea typeface="Quattrocento Sans" pitchFamily="34" charset="-122"/>
                <a:cs typeface="Quattrocento Sans" pitchFamily="34" charset="-120"/>
              </a:rPr>
              <a:t>142.250.80.46</a:t>
            </a:r>
            <a:endParaRPr lang="en-US" sz="1600" dirty="0"/>
          </a:p>
        </p:txBody>
      </p:sp>
      <p:sp>
        <p:nvSpPr>
          <p:cNvPr id="10" name="Shape 8"/>
          <p:cNvSpPr/>
          <p:nvPr/>
        </p:nvSpPr>
        <p:spPr>
          <a:xfrm>
            <a:off x="5842000" y="2667000"/>
            <a:ext cx="4572000" cy="2540000"/>
          </a:xfrm>
          <a:prstGeom prst="rect">
            <a:avLst/>
          </a:prstGeom>
          <a:solidFill>
            <a:srgbClr val="E8E4DE"/>
          </a:solidFill>
          <a:ln/>
        </p:spPr>
      </p:sp>
      <p:sp>
        <p:nvSpPr>
          <p:cNvPr id="11" name="Shape 9"/>
          <p:cNvSpPr/>
          <p:nvPr/>
        </p:nvSpPr>
        <p:spPr>
          <a:xfrm>
            <a:off x="6178550" y="2921000"/>
            <a:ext cx="444500" cy="508000"/>
          </a:xfrm>
          <a:custGeom>
            <a:avLst/>
            <a:gdLst/>
            <a:ahLst/>
            <a:cxnLst/>
            <a:rect l="l" t="t" r="r" b="b"/>
            <a:pathLst>
              <a:path w="444500" h="508000">
                <a:moveTo>
                  <a:pt x="63500" y="31750"/>
                </a:moveTo>
                <a:cubicBezTo>
                  <a:pt x="28476" y="31750"/>
                  <a:pt x="0" y="60226"/>
                  <a:pt x="0" y="95250"/>
                </a:cubicBezTo>
                <a:lnTo>
                  <a:pt x="0" y="158750"/>
                </a:lnTo>
                <a:cubicBezTo>
                  <a:pt x="0" y="193774"/>
                  <a:pt x="28476" y="222250"/>
                  <a:pt x="63500" y="222250"/>
                </a:cubicBezTo>
                <a:lnTo>
                  <a:pt x="381000" y="222250"/>
                </a:lnTo>
                <a:cubicBezTo>
                  <a:pt x="416024" y="222250"/>
                  <a:pt x="444500" y="193774"/>
                  <a:pt x="444500" y="158750"/>
                </a:cubicBezTo>
                <a:lnTo>
                  <a:pt x="444500" y="95250"/>
                </a:lnTo>
                <a:cubicBezTo>
                  <a:pt x="444500" y="60226"/>
                  <a:pt x="416024" y="31750"/>
                  <a:pt x="381000" y="31750"/>
                </a:cubicBezTo>
                <a:lnTo>
                  <a:pt x="63500" y="31750"/>
                </a:lnTo>
                <a:close/>
                <a:moveTo>
                  <a:pt x="277813" y="103188"/>
                </a:moveTo>
                <a:cubicBezTo>
                  <a:pt x="290955" y="103188"/>
                  <a:pt x="301625" y="113858"/>
                  <a:pt x="301625" y="127000"/>
                </a:cubicBezTo>
                <a:cubicBezTo>
                  <a:pt x="301625" y="140142"/>
                  <a:pt x="290955" y="150813"/>
                  <a:pt x="277813" y="150813"/>
                </a:cubicBezTo>
                <a:cubicBezTo>
                  <a:pt x="264670" y="150813"/>
                  <a:pt x="254000" y="140142"/>
                  <a:pt x="254000" y="127000"/>
                </a:cubicBezTo>
                <a:cubicBezTo>
                  <a:pt x="254000" y="113858"/>
                  <a:pt x="264670" y="103188"/>
                  <a:pt x="277813" y="103188"/>
                </a:cubicBezTo>
                <a:close/>
                <a:moveTo>
                  <a:pt x="333375" y="127000"/>
                </a:moveTo>
                <a:cubicBezTo>
                  <a:pt x="333375" y="113858"/>
                  <a:pt x="344045" y="103188"/>
                  <a:pt x="357188" y="103188"/>
                </a:cubicBezTo>
                <a:cubicBezTo>
                  <a:pt x="370330" y="103188"/>
                  <a:pt x="381000" y="113858"/>
                  <a:pt x="381000" y="127000"/>
                </a:cubicBezTo>
                <a:cubicBezTo>
                  <a:pt x="381000" y="140142"/>
                  <a:pt x="370330" y="150813"/>
                  <a:pt x="357188" y="150813"/>
                </a:cubicBezTo>
                <a:cubicBezTo>
                  <a:pt x="344045" y="150813"/>
                  <a:pt x="333375" y="140142"/>
                  <a:pt x="333375" y="127000"/>
                </a:cubicBezTo>
                <a:close/>
                <a:moveTo>
                  <a:pt x="63500" y="285750"/>
                </a:moveTo>
                <a:cubicBezTo>
                  <a:pt x="28476" y="285750"/>
                  <a:pt x="0" y="314226"/>
                  <a:pt x="0" y="349250"/>
                </a:cubicBezTo>
                <a:lnTo>
                  <a:pt x="0" y="412750"/>
                </a:lnTo>
                <a:cubicBezTo>
                  <a:pt x="0" y="447774"/>
                  <a:pt x="28476" y="476250"/>
                  <a:pt x="63500" y="476250"/>
                </a:cubicBezTo>
                <a:lnTo>
                  <a:pt x="381000" y="476250"/>
                </a:lnTo>
                <a:cubicBezTo>
                  <a:pt x="416024" y="476250"/>
                  <a:pt x="444500" y="447774"/>
                  <a:pt x="444500" y="412750"/>
                </a:cubicBezTo>
                <a:lnTo>
                  <a:pt x="444500" y="349250"/>
                </a:lnTo>
                <a:cubicBezTo>
                  <a:pt x="444500" y="314226"/>
                  <a:pt x="416024" y="285750"/>
                  <a:pt x="381000" y="285750"/>
                </a:cubicBezTo>
                <a:lnTo>
                  <a:pt x="63500" y="285750"/>
                </a:lnTo>
                <a:close/>
                <a:moveTo>
                  <a:pt x="277813" y="357188"/>
                </a:moveTo>
                <a:cubicBezTo>
                  <a:pt x="290955" y="357188"/>
                  <a:pt x="301625" y="367858"/>
                  <a:pt x="301625" y="381000"/>
                </a:cubicBezTo>
                <a:cubicBezTo>
                  <a:pt x="301625" y="394142"/>
                  <a:pt x="290955" y="404813"/>
                  <a:pt x="277813" y="404813"/>
                </a:cubicBezTo>
                <a:cubicBezTo>
                  <a:pt x="264670" y="404813"/>
                  <a:pt x="254000" y="394142"/>
                  <a:pt x="254000" y="381000"/>
                </a:cubicBezTo>
                <a:cubicBezTo>
                  <a:pt x="254000" y="367858"/>
                  <a:pt x="264670" y="357188"/>
                  <a:pt x="277813" y="357188"/>
                </a:cubicBezTo>
                <a:close/>
                <a:moveTo>
                  <a:pt x="333375" y="381000"/>
                </a:moveTo>
                <a:cubicBezTo>
                  <a:pt x="333375" y="367858"/>
                  <a:pt x="344045" y="357188"/>
                  <a:pt x="357188" y="357188"/>
                </a:cubicBezTo>
                <a:cubicBezTo>
                  <a:pt x="370330" y="357188"/>
                  <a:pt x="381000" y="367858"/>
                  <a:pt x="381000" y="381000"/>
                </a:cubicBezTo>
                <a:cubicBezTo>
                  <a:pt x="381000" y="394142"/>
                  <a:pt x="370330" y="404813"/>
                  <a:pt x="357188" y="404813"/>
                </a:cubicBezTo>
                <a:cubicBezTo>
                  <a:pt x="344045" y="404813"/>
                  <a:pt x="333375" y="394142"/>
                  <a:pt x="333375" y="381000"/>
                </a:cubicBezTo>
                <a:close/>
              </a:path>
            </a:pathLst>
          </a:custGeom>
          <a:solidFill>
            <a:srgbClr val="C9893B"/>
          </a:solidFill>
          <a:ln/>
        </p:spPr>
      </p:sp>
      <p:sp>
        <p:nvSpPr>
          <p:cNvPr id="12" name="Text 10"/>
          <p:cNvSpPr/>
          <p:nvPr/>
        </p:nvSpPr>
        <p:spPr>
          <a:xfrm>
            <a:off x="6146800" y="3556000"/>
            <a:ext cx="3962400" cy="355600"/>
          </a:xfrm>
          <a:prstGeom prst="rect">
            <a:avLst/>
          </a:prstGeom>
          <a:noFill/>
          <a:ln/>
        </p:spPr>
        <p:txBody>
          <a:bodyPr wrap="none" lIns="0" tIns="0" rIns="0" bIns="0" rtlCol="0" anchor="ctr"/>
          <a:lstStyle/>
          <a:p>
            <a:pPr>
              <a:lnSpc>
                <a:spcPct val="140000"/>
              </a:lnSpc>
            </a:pPr>
            <a:r>
              <a:rPr lang="en-US" sz="1800" b="1" dirty="0">
                <a:solidFill>
                  <a:srgbClr val="2D3E50"/>
                </a:solidFill>
                <a:latin typeface="Liter" pitchFamily="34" charset="0"/>
                <a:ea typeface="Liter" pitchFamily="34" charset="-122"/>
                <a:cs typeface="Liter" pitchFamily="34" charset="-120"/>
              </a:rPr>
              <a:t>Load Distribution</a:t>
            </a:r>
            <a:endParaRPr lang="en-US" sz="2000" dirty="0"/>
          </a:p>
        </p:txBody>
      </p:sp>
      <p:sp>
        <p:nvSpPr>
          <p:cNvPr id="13" name="Text 11"/>
          <p:cNvSpPr/>
          <p:nvPr/>
        </p:nvSpPr>
        <p:spPr>
          <a:xfrm>
            <a:off x="6146800" y="3962400"/>
            <a:ext cx="3962400" cy="1016000"/>
          </a:xfrm>
          <a:prstGeom prst="rect">
            <a:avLst/>
          </a:prstGeom>
          <a:noFill/>
          <a:ln/>
        </p:spPr>
        <p:txBody>
          <a:bodyPr wrap="square" lIns="0" tIns="0" rIns="0" bIns="0" rtlCol="0" anchor="ctr"/>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Spread traffic across multiple servers for better performance</a:t>
            </a:r>
            <a:endParaRPr lang="en-US" sz="1600" dirty="0"/>
          </a:p>
        </p:txBody>
      </p:sp>
      <p:sp>
        <p:nvSpPr>
          <p:cNvPr id="14" name="Shape 12"/>
          <p:cNvSpPr/>
          <p:nvPr/>
        </p:nvSpPr>
        <p:spPr>
          <a:xfrm>
            <a:off x="10922000" y="2667000"/>
            <a:ext cx="4572000" cy="2540000"/>
          </a:xfrm>
          <a:prstGeom prst="rect">
            <a:avLst/>
          </a:prstGeom>
          <a:solidFill>
            <a:srgbClr val="E8E4DE"/>
          </a:solidFill>
          <a:ln/>
        </p:spPr>
      </p:sp>
      <p:sp>
        <p:nvSpPr>
          <p:cNvPr id="15" name="Shape 13"/>
          <p:cNvSpPr/>
          <p:nvPr/>
        </p:nvSpPr>
        <p:spPr>
          <a:xfrm>
            <a:off x="11226800" y="2921000"/>
            <a:ext cx="508000" cy="508000"/>
          </a:xfrm>
          <a:custGeom>
            <a:avLst/>
            <a:gdLst/>
            <a:ahLst/>
            <a:cxnLst/>
            <a:rect l="l" t="t" r="r" b="b"/>
            <a:pathLst>
              <a:path w="508000" h="508000">
                <a:moveTo>
                  <a:pt x="47625" y="63500"/>
                </a:moveTo>
                <a:cubicBezTo>
                  <a:pt x="21332" y="63500"/>
                  <a:pt x="0" y="84832"/>
                  <a:pt x="0" y="111125"/>
                </a:cubicBezTo>
                <a:cubicBezTo>
                  <a:pt x="0" y="126107"/>
                  <a:pt x="7045" y="140196"/>
                  <a:pt x="19050" y="149225"/>
                </a:cubicBezTo>
                <a:lnTo>
                  <a:pt x="225425" y="304006"/>
                </a:lnTo>
                <a:cubicBezTo>
                  <a:pt x="242391" y="316706"/>
                  <a:pt x="265609" y="316706"/>
                  <a:pt x="282575" y="304006"/>
                </a:cubicBezTo>
                <a:lnTo>
                  <a:pt x="488950" y="149225"/>
                </a:lnTo>
                <a:cubicBezTo>
                  <a:pt x="500955" y="140196"/>
                  <a:pt x="508000" y="126107"/>
                  <a:pt x="508000" y="111125"/>
                </a:cubicBezTo>
                <a:cubicBezTo>
                  <a:pt x="508000" y="84832"/>
                  <a:pt x="486668" y="63500"/>
                  <a:pt x="460375" y="63500"/>
                </a:cubicBezTo>
                <a:lnTo>
                  <a:pt x="47625" y="63500"/>
                </a:lnTo>
                <a:close/>
                <a:moveTo>
                  <a:pt x="0" y="194469"/>
                </a:moveTo>
                <a:lnTo>
                  <a:pt x="0" y="381000"/>
                </a:lnTo>
                <a:cubicBezTo>
                  <a:pt x="0" y="416024"/>
                  <a:pt x="28476" y="444500"/>
                  <a:pt x="63500" y="444500"/>
                </a:cubicBezTo>
                <a:lnTo>
                  <a:pt x="444500" y="444500"/>
                </a:lnTo>
                <a:cubicBezTo>
                  <a:pt x="479524" y="444500"/>
                  <a:pt x="508000" y="416024"/>
                  <a:pt x="508000" y="381000"/>
                </a:cubicBezTo>
                <a:lnTo>
                  <a:pt x="508000" y="194469"/>
                </a:lnTo>
                <a:lnTo>
                  <a:pt x="311150" y="342106"/>
                </a:lnTo>
                <a:cubicBezTo>
                  <a:pt x="277316" y="367506"/>
                  <a:pt x="230684" y="367506"/>
                  <a:pt x="196850" y="342106"/>
                </a:cubicBezTo>
                <a:lnTo>
                  <a:pt x="0" y="194469"/>
                </a:lnTo>
                <a:close/>
              </a:path>
            </a:pathLst>
          </a:custGeom>
          <a:solidFill>
            <a:srgbClr val="C9893B"/>
          </a:solidFill>
          <a:ln/>
        </p:spPr>
      </p:sp>
      <p:sp>
        <p:nvSpPr>
          <p:cNvPr id="16" name="Text 14"/>
          <p:cNvSpPr/>
          <p:nvPr/>
        </p:nvSpPr>
        <p:spPr>
          <a:xfrm>
            <a:off x="11226800" y="3556000"/>
            <a:ext cx="3962400" cy="355600"/>
          </a:xfrm>
          <a:prstGeom prst="rect">
            <a:avLst/>
          </a:prstGeom>
          <a:noFill/>
          <a:ln/>
        </p:spPr>
        <p:txBody>
          <a:bodyPr wrap="none" lIns="0" tIns="0" rIns="0" bIns="0" rtlCol="0" anchor="ctr"/>
          <a:lstStyle/>
          <a:p>
            <a:pPr>
              <a:lnSpc>
                <a:spcPct val="140000"/>
              </a:lnSpc>
            </a:pPr>
            <a:r>
              <a:rPr lang="en-US" sz="1800" b="1" dirty="0">
                <a:solidFill>
                  <a:srgbClr val="2D3E50"/>
                </a:solidFill>
                <a:latin typeface="Liter" pitchFamily="34" charset="0"/>
                <a:ea typeface="Liter" pitchFamily="34" charset="-122"/>
                <a:cs typeface="Liter" pitchFamily="34" charset="-120"/>
              </a:rPr>
              <a:t>Email Routing</a:t>
            </a:r>
            <a:endParaRPr lang="en-US" sz="2000" dirty="0"/>
          </a:p>
        </p:txBody>
      </p:sp>
      <p:sp>
        <p:nvSpPr>
          <p:cNvPr id="17" name="Text 15"/>
          <p:cNvSpPr/>
          <p:nvPr/>
        </p:nvSpPr>
        <p:spPr>
          <a:xfrm>
            <a:off x="11226800" y="3962400"/>
            <a:ext cx="3962400" cy="1016000"/>
          </a:xfrm>
          <a:prstGeom prst="rect">
            <a:avLst/>
          </a:prstGeom>
          <a:noFill/>
          <a:ln/>
        </p:spPr>
        <p:txBody>
          <a:bodyPr wrap="square" lIns="0" tIns="0" rIns="0" bIns="0" rtlCol="0" anchor="ctr"/>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Direct emails to correct mail servers using MX records</a:t>
            </a:r>
            <a:endParaRPr lang="en-US" sz="1600" dirty="0"/>
          </a:p>
        </p:txBody>
      </p:sp>
      <p:sp>
        <p:nvSpPr>
          <p:cNvPr id="18" name="Text 16"/>
          <p:cNvSpPr/>
          <p:nvPr/>
        </p:nvSpPr>
        <p:spPr>
          <a:xfrm>
            <a:off x="762000" y="5588000"/>
            <a:ext cx="5080000" cy="3810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With vs. Without DNS</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62000" y="6096000"/>
          <a:ext cx="14732000" cy="2032000"/>
        </p:xfrm>
        <a:graphic>
          <a:graphicData uri="http://schemas.openxmlformats.org/drawingml/2006/table">
            <a:tbl>
              <a:tblPr/>
              <a:tblGrid>
                <a:gridCol w="3683000"/>
                <a:gridCol w="5524500"/>
                <a:gridCol w="5524500"/>
              </a:tblGrid>
              <a:tr h="50800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Aspect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With DNS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Without DNS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r>
              <a:tr h="7620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Accessing Websites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Type google.com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Type 142.250.80.46</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7620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Managing Services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Easy domain-based configuration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Manual IP management required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bl>
          </a:graphicData>
        </a:graphic>
      </p:graphicFrame>
      <p:sp>
        <p:nvSpPr>
          <p:cNvPr id="20" name="Shape 17"/>
          <p:cNvSpPr/>
          <p:nvPr/>
        </p:nvSpPr>
        <p:spPr>
          <a:xfrm>
            <a:off x="762000" y="8382000"/>
            <a:ext cx="14732000" cy="25400"/>
          </a:xfrm>
          <a:prstGeom prst="rect">
            <a:avLst/>
          </a:prstGeom>
          <a:solidFill>
            <a:srgbClr val="C9893B"/>
          </a:solidFill>
          <a:ln/>
        </p:spPr>
      </p:sp>
      <p:sp>
        <p:nvSpPr>
          <p:cNvPr id="21" name="Text 18"/>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05</a:t>
            </a:r>
            <a:endParaRPr lang="en-US" sz="14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DNS Namespace Hierarchy</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524000"/>
            <a:ext cx="14732000" cy="6985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DNS is organized as a hierarchical, inverted tree structure. This distributed design ensures no single entity controls the entire system.</a:t>
            </a:r>
            <a:endParaRPr lang="en-US" sz="1800" dirty="0"/>
          </a:p>
        </p:txBody>
      </p:sp>
      <p:sp>
        <p:nvSpPr>
          <p:cNvPr id="6" name="Shape 4"/>
          <p:cNvSpPr/>
          <p:nvPr/>
        </p:nvSpPr>
        <p:spPr>
          <a:xfrm>
            <a:off x="7112000" y="2413000"/>
            <a:ext cx="2032000" cy="635000"/>
          </a:xfrm>
          <a:prstGeom prst="rect">
            <a:avLst/>
          </a:prstGeom>
          <a:solidFill>
            <a:srgbClr val="2D3E50"/>
          </a:solidFill>
          <a:ln/>
        </p:spPr>
      </p:sp>
      <p:sp>
        <p:nvSpPr>
          <p:cNvPr id="7" name="Text 5"/>
          <p:cNvSpPr/>
          <p:nvPr/>
        </p:nvSpPr>
        <p:spPr>
          <a:xfrm>
            <a:off x="7112000" y="2413000"/>
            <a:ext cx="2032000" cy="6350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Root (.)</a:t>
            </a:r>
            <a:endParaRPr lang="en-US" sz="1600" dirty="0"/>
          </a:p>
        </p:txBody>
      </p:sp>
      <p:sp>
        <p:nvSpPr>
          <p:cNvPr id="8" name="Shape 6"/>
          <p:cNvSpPr/>
          <p:nvPr/>
        </p:nvSpPr>
        <p:spPr>
          <a:xfrm>
            <a:off x="8128000" y="3048000"/>
            <a:ext cx="0" cy="508000"/>
          </a:xfrm>
          <a:prstGeom prst="straightConnector1">
            <a:avLst/>
          </a:prstGeom>
          <a:noFill/>
          <a:ln w="25400">
            <a:solidFill>
              <a:srgbClr val="6B7B8D"/>
            </a:solidFill>
            <a:prstDash val="solid"/>
            <a:headEnd type="none"/>
            <a:tailEnd type="none"/>
          </a:ln>
        </p:spPr>
      </p:sp>
      <p:sp>
        <p:nvSpPr>
          <p:cNvPr id="9" name="Shape 7"/>
          <p:cNvSpPr/>
          <p:nvPr/>
        </p:nvSpPr>
        <p:spPr>
          <a:xfrm>
            <a:off x="2540000" y="3556000"/>
            <a:ext cx="11176000" cy="635000"/>
          </a:xfrm>
          <a:prstGeom prst="rect">
            <a:avLst/>
          </a:prstGeom>
          <a:solidFill>
            <a:srgbClr val="E8E4DE"/>
          </a:solidFill>
          <a:ln/>
        </p:spPr>
      </p:sp>
      <p:sp>
        <p:nvSpPr>
          <p:cNvPr id="10" name="Shape 8"/>
          <p:cNvSpPr/>
          <p:nvPr/>
        </p:nvSpPr>
        <p:spPr>
          <a:xfrm>
            <a:off x="2794000" y="3619500"/>
            <a:ext cx="2032000" cy="508000"/>
          </a:xfrm>
          <a:prstGeom prst="rect">
            <a:avLst/>
          </a:prstGeom>
          <a:solidFill>
            <a:srgbClr val="4A5D70"/>
          </a:solidFill>
          <a:ln/>
        </p:spPr>
      </p:sp>
      <p:sp>
        <p:nvSpPr>
          <p:cNvPr id="11" name="Text 9"/>
          <p:cNvSpPr/>
          <p:nvPr/>
        </p:nvSpPr>
        <p:spPr>
          <a:xfrm>
            <a:off x="2794000" y="3619500"/>
            <a:ext cx="2032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.com</a:t>
            </a:r>
            <a:endParaRPr lang="en-US" sz="1600" dirty="0"/>
          </a:p>
        </p:txBody>
      </p:sp>
      <p:sp>
        <p:nvSpPr>
          <p:cNvPr id="12" name="Shape 10"/>
          <p:cNvSpPr/>
          <p:nvPr/>
        </p:nvSpPr>
        <p:spPr>
          <a:xfrm>
            <a:off x="5080000" y="3619500"/>
            <a:ext cx="2032000" cy="508000"/>
          </a:xfrm>
          <a:prstGeom prst="rect">
            <a:avLst/>
          </a:prstGeom>
          <a:solidFill>
            <a:srgbClr val="4A5D70"/>
          </a:solidFill>
          <a:ln/>
        </p:spPr>
      </p:sp>
      <p:sp>
        <p:nvSpPr>
          <p:cNvPr id="13" name="Text 11"/>
          <p:cNvSpPr/>
          <p:nvPr/>
        </p:nvSpPr>
        <p:spPr>
          <a:xfrm>
            <a:off x="5080000" y="3619500"/>
            <a:ext cx="2032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.org</a:t>
            </a:r>
            <a:endParaRPr lang="en-US" sz="1600" dirty="0"/>
          </a:p>
        </p:txBody>
      </p:sp>
      <p:sp>
        <p:nvSpPr>
          <p:cNvPr id="14" name="Shape 12"/>
          <p:cNvSpPr/>
          <p:nvPr/>
        </p:nvSpPr>
        <p:spPr>
          <a:xfrm>
            <a:off x="7366000" y="3619500"/>
            <a:ext cx="2032000" cy="508000"/>
          </a:xfrm>
          <a:prstGeom prst="rect">
            <a:avLst/>
          </a:prstGeom>
          <a:solidFill>
            <a:srgbClr val="4A5D70"/>
          </a:solidFill>
          <a:ln/>
        </p:spPr>
      </p:sp>
      <p:sp>
        <p:nvSpPr>
          <p:cNvPr id="15" name="Text 13"/>
          <p:cNvSpPr/>
          <p:nvPr/>
        </p:nvSpPr>
        <p:spPr>
          <a:xfrm>
            <a:off x="7366000" y="3619500"/>
            <a:ext cx="2032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.net</a:t>
            </a:r>
            <a:endParaRPr lang="en-US" sz="1600" dirty="0"/>
          </a:p>
        </p:txBody>
      </p:sp>
      <p:sp>
        <p:nvSpPr>
          <p:cNvPr id="16" name="Shape 14"/>
          <p:cNvSpPr/>
          <p:nvPr/>
        </p:nvSpPr>
        <p:spPr>
          <a:xfrm>
            <a:off x="9652000" y="3619500"/>
            <a:ext cx="2032000" cy="508000"/>
          </a:xfrm>
          <a:prstGeom prst="rect">
            <a:avLst/>
          </a:prstGeom>
          <a:solidFill>
            <a:srgbClr val="4A5D70"/>
          </a:solidFill>
          <a:ln/>
        </p:spPr>
      </p:sp>
      <p:sp>
        <p:nvSpPr>
          <p:cNvPr id="17" name="Text 15"/>
          <p:cNvSpPr/>
          <p:nvPr/>
        </p:nvSpPr>
        <p:spPr>
          <a:xfrm>
            <a:off x="9652000" y="3619500"/>
            <a:ext cx="2032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.edu</a:t>
            </a:r>
            <a:endParaRPr lang="en-US" sz="1600" dirty="0"/>
          </a:p>
        </p:txBody>
      </p:sp>
      <p:sp>
        <p:nvSpPr>
          <p:cNvPr id="18" name="Shape 16"/>
          <p:cNvSpPr/>
          <p:nvPr/>
        </p:nvSpPr>
        <p:spPr>
          <a:xfrm>
            <a:off x="11938000" y="3619500"/>
            <a:ext cx="1524000" cy="508000"/>
          </a:xfrm>
          <a:prstGeom prst="rect">
            <a:avLst/>
          </a:prstGeom>
          <a:solidFill>
            <a:srgbClr val="4A5D70"/>
          </a:solidFill>
          <a:ln/>
        </p:spPr>
      </p:sp>
      <p:sp>
        <p:nvSpPr>
          <p:cNvPr id="19" name="Text 17"/>
          <p:cNvSpPr/>
          <p:nvPr/>
        </p:nvSpPr>
        <p:spPr>
          <a:xfrm>
            <a:off x="11938000" y="3619500"/>
            <a:ext cx="1524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a:t>
            </a:r>
            <a:endParaRPr lang="en-US" sz="1600" dirty="0"/>
          </a:p>
        </p:txBody>
      </p:sp>
      <p:sp>
        <p:nvSpPr>
          <p:cNvPr id="20" name="Text 18"/>
          <p:cNvSpPr/>
          <p:nvPr/>
        </p:nvSpPr>
        <p:spPr>
          <a:xfrm>
            <a:off x="762000" y="3657600"/>
            <a:ext cx="1651000" cy="381000"/>
          </a:xfrm>
          <a:prstGeom prst="rect">
            <a:avLst/>
          </a:prstGeom>
          <a:noFill/>
          <a:ln/>
        </p:spPr>
        <p:txBody>
          <a:bodyPr wrap="none" lIns="0" tIns="0" rIns="0" bIns="0" rtlCol="0" anchor="ctr"/>
          <a:lstStyle/>
          <a:p>
            <a:pPr algn="r">
              <a:lnSpc>
                <a:spcPct val="100000"/>
              </a:lnSpc>
            </a:pPr>
            <a:r>
              <a:rPr lang="en-US" sz="1400" dirty="0">
                <a:solidFill>
                  <a:srgbClr val="6B7B8D"/>
                </a:solidFill>
                <a:latin typeface="Quattrocento Sans" pitchFamily="34" charset="0"/>
                <a:ea typeface="Quattrocento Sans" pitchFamily="34" charset="-122"/>
                <a:cs typeface="Quattrocento Sans" pitchFamily="34" charset="-120"/>
              </a:rPr>
              <a:t>TLDs →</a:t>
            </a:r>
            <a:endParaRPr lang="en-US" sz="1600" dirty="0"/>
          </a:p>
        </p:txBody>
      </p:sp>
      <p:sp>
        <p:nvSpPr>
          <p:cNvPr id="21" name="Shape 19"/>
          <p:cNvSpPr/>
          <p:nvPr/>
        </p:nvSpPr>
        <p:spPr>
          <a:xfrm>
            <a:off x="8128000" y="4191000"/>
            <a:ext cx="0" cy="508000"/>
          </a:xfrm>
          <a:prstGeom prst="straightConnector1">
            <a:avLst/>
          </a:prstGeom>
          <a:noFill/>
          <a:ln w="25400">
            <a:solidFill>
              <a:srgbClr val="6B7B8D"/>
            </a:solidFill>
            <a:prstDash val="solid"/>
            <a:headEnd type="none"/>
            <a:tailEnd type="none"/>
          </a:ln>
        </p:spPr>
      </p:sp>
      <p:sp>
        <p:nvSpPr>
          <p:cNvPr id="22" name="Shape 20"/>
          <p:cNvSpPr/>
          <p:nvPr/>
        </p:nvSpPr>
        <p:spPr>
          <a:xfrm>
            <a:off x="3302000" y="4699000"/>
            <a:ext cx="9652000" cy="635000"/>
          </a:xfrm>
          <a:prstGeom prst="rect">
            <a:avLst/>
          </a:prstGeom>
          <a:solidFill>
            <a:srgbClr val="E8E4DE"/>
          </a:solidFill>
          <a:ln/>
        </p:spPr>
      </p:sp>
      <p:sp>
        <p:nvSpPr>
          <p:cNvPr id="23" name="Shape 21"/>
          <p:cNvSpPr/>
          <p:nvPr/>
        </p:nvSpPr>
        <p:spPr>
          <a:xfrm>
            <a:off x="3556000" y="4762500"/>
            <a:ext cx="2032000" cy="508000"/>
          </a:xfrm>
          <a:prstGeom prst="rect">
            <a:avLst/>
          </a:prstGeom>
          <a:solidFill>
            <a:srgbClr val="C9893B"/>
          </a:solidFill>
          <a:ln/>
        </p:spPr>
      </p:sp>
      <p:sp>
        <p:nvSpPr>
          <p:cNvPr id="24" name="Text 22"/>
          <p:cNvSpPr/>
          <p:nvPr/>
        </p:nvSpPr>
        <p:spPr>
          <a:xfrm>
            <a:off x="3556000" y="4762500"/>
            <a:ext cx="2032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google</a:t>
            </a:r>
            <a:endParaRPr lang="en-US" sz="1600" dirty="0"/>
          </a:p>
        </p:txBody>
      </p:sp>
      <p:sp>
        <p:nvSpPr>
          <p:cNvPr id="25" name="Shape 23"/>
          <p:cNvSpPr/>
          <p:nvPr/>
        </p:nvSpPr>
        <p:spPr>
          <a:xfrm>
            <a:off x="5842000" y="4762500"/>
            <a:ext cx="2032000" cy="508000"/>
          </a:xfrm>
          <a:prstGeom prst="rect">
            <a:avLst/>
          </a:prstGeom>
          <a:solidFill>
            <a:srgbClr val="C9893B"/>
          </a:solidFill>
          <a:ln/>
        </p:spPr>
      </p:sp>
      <p:sp>
        <p:nvSpPr>
          <p:cNvPr id="26" name="Text 24"/>
          <p:cNvSpPr/>
          <p:nvPr/>
        </p:nvSpPr>
        <p:spPr>
          <a:xfrm>
            <a:off x="5842000" y="4762500"/>
            <a:ext cx="2032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ibm</a:t>
            </a:r>
            <a:endParaRPr lang="en-US" sz="1600" dirty="0"/>
          </a:p>
        </p:txBody>
      </p:sp>
      <p:sp>
        <p:nvSpPr>
          <p:cNvPr id="27" name="Shape 25"/>
          <p:cNvSpPr/>
          <p:nvPr/>
        </p:nvSpPr>
        <p:spPr>
          <a:xfrm>
            <a:off x="8128000" y="4762500"/>
            <a:ext cx="2032000" cy="508000"/>
          </a:xfrm>
          <a:prstGeom prst="rect">
            <a:avLst/>
          </a:prstGeom>
          <a:solidFill>
            <a:srgbClr val="C9893B"/>
          </a:solidFill>
          <a:ln/>
        </p:spPr>
      </p:sp>
      <p:sp>
        <p:nvSpPr>
          <p:cNvPr id="28" name="Text 26"/>
          <p:cNvSpPr/>
          <p:nvPr/>
        </p:nvSpPr>
        <p:spPr>
          <a:xfrm>
            <a:off x="8128000" y="4762500"/>
            <a:ext cx="2032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example</a:t>
            </a:r>
            <a:endParaRPr lang="en-US" sz="1600" dirty="0"/>
          </a:p>
        </p:txBody>
      </p:sp>
      <p:sp>
        <p:nvSpPr>
          <p:cNvPr id="29" name="Shape 27"/>
          <p:cNvSpPr/>
          <p:nvPr/>
        </p:nvSpPr>
        <p:spPr>
          <a:xfrm>
            <a:off x="10414000" y="4762500"/>
            <a:ext cx="2032000" cy="508000"/>
          </a:xfrm>
          <a:prstGeom prst="rect">
            <a:avLst/>
          </a:prstGeom>
          <a:solidFill>
            <a:srgbClr val="C9893B"/>
          </a:solidFill>
          <a:ln/>
        </p:spPr>
      </p:sp>
      <p:sp>
        <p:nvSpPr>
          <p:cNvPr id="30" name="Text 28"/>
          <p:cNvSpPr/>
          <p:nvPr/>
        </p:nvSpPr>
        <p:spPr>
          <a:xfrm>
            <a:off x="10414000" y="4762500"/>
            <a:ext cx="2032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wikipedia</a:t>
            </a:r>
            <a:endParaRPr lang="en-US" sz="1600" dirty="0"/>
          </a:p>
        </p:txBody>
      </p:sp>
      <p:sp>
        <p:nvSpPr>
          <p:cNvPr id="31" name="Text 29"/>
          <p:cNvSpPr/>
          <p:nvPr/>
        </p:nvSpPr>
        <p:spPr>
          <a:xfrm>
            <a:off x="762000" y="4800600"/>
            <a:ext cx="2413000" cy="381000"/>
          </a:xfrm>
          <a:prstGeom prst="rect">
            <a:avLst/>
          </a:prstGeom>
          <a:noFill/>
          <a:ln/>
        </p:spPr>
        <p:txBody>
          <a:bodyPr wrap="none" lIns="0" tIns="0" rIns="0" bIns="0" rtlCol="0" anchor="ctr"/>
          <a:lstStyle/>
          <a:p>
            <a:pPr algn="r">
              <a:lnSpc>
                <a:spcPct val="100000"/>
              </a:lnSpc>
            </a:pPr>
            <a:r>
              <a:rPr lang="en-US" sz="1400" dirty="0">
                <a:solidFill>
                  <a:srgbClr val="6B7B8D"/>
                </a:solidFill>
                <a:latin typeface="Quattrocento Sans" pitchFamily="34" charset="0"/>
                <a:ea typeface="Quattrocento Sans" pitchFamily="34" charset="-122"/>
                <a:cs typeface="Quattrocento Sans" pitchFamily="34" charset="-120"/>
              </a:rPr>
              <a:t>2nd-Level →</a:t>
            </a:r>
            <a:endParaRPr lang="en-US" sz="1600" dirty="0"/>
          </a:p>
        </p:txBody>
      </p:sp>
      <p:sp>
        <p:nvSpPr>
          <p:cNvPr id="32" name="Shape 30"/>
          <p:cNvSpPr/>
          <p:nvPr/>
        </p:nvSpPr>
        <p:spPr>
          <a:xfrm>
            <a:off x="8128000" y="5334000"/>
            <a:ext cx="0" cy="508000"/>
          </a:xfrm>
          <a:prstGeom prst="straightConnector1">
            <a:avLst/>
          </a:prstGeom>
          <a:noFill/>
          <a:ln w="25400">
            <a:solidFill>
              <a:srgbClr val="6B7B8D"/>
            </a:solidFill>
            <a:prstDash val="solid"/>
            <a:headEnd type="none"/>
            <a:tailEnd type="none"/>
          </a:ln>
        </p:spPr>
      </p:sp>
      <p:sp>
        <p:nvSpPr>
          <p:cNvPr id="33" name="Shape 31"/>
          <p:cNvSpPr/>
          <p:nvPr/>
        </p:nvSpPr>
        <p:spPr>
          <a:xfrm>
            <a:off x="4318000" y="5842000"/>
            <a:ext cx="7620000" cy="635000"/>
          </a:xfrm>
          <a:prstGeom prst="rect">
            <a:avLst/>
          </a:prstGeom>
          <a:solidFill>
            <a:srgbClr val="E8E4DE"/>
          </a:solidFill>
          <a:ln/>
        </p:spPr>
      </p:sp>
      <p:sp>
        <p:nvSpPr>
          <p:cNvPr id="34" name="Shape 32"/>
          <p:cNvSpPr/>
          <p:nvPr/>
        </p:nvSpPr>
        <p:spPr>
          <a:xfrm>
            <a:off x="4572000" y="5905500"/>
            <a:ext cx="1651000" cy="508000"/>
          </a:xfrm>
          <a:prstGeom prst="rect">
            <a:avLst/>
          </a:prstGeom>
          <a:solidFill>
            <a:srgbClr val="6B7B8D"/>
          </a:solidFill>
          <a:ln/>
        </p:spPr>
      </p:sp>
      <p:sp>
        <p:nvSpPr>
          <p:cNvPr id="35" name="Text 33"/>
          <p:cNvSpPr/>
          <p:nvPr/>
        </p:nvSpPr>
        <p:spPr>
          <a:xfrm>
            <a:off x="4572000" y="5905500"/>
            <a:ext cx="1651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www</a:t>
            </a:r>
            <a:endParaRPr lang="en-US" sz="1600" dirty="0"/>
          </a:p>
        </p:txBody>
      </p:sp>
      <p:sp>
        <p:nvSpPr>
          <p:cNvPr id="36" name="Shape 34"/>
          <p:cNvSpPr/>
          <p:nvPr/>
        </p:nvSpPr>
        <p:spPr>
          <a:xfrm>
            <a:off x="6413500" y="5905500"/>
            <a:ext cx="1651000" cy="508000"/>
          </a:xfrm>
          <a:prstGeom prst="rect">
            <a:avLst/>
          </a:prstGeom>
          <a:solidFill>
            <a:srgbClr val="6B7B8D"/>
          </a:solidFill>
          <a:ln/>
        </p:spPr>
      </p:sp>
      <p:sp>
        <p:nvSpPr>
          <p:cNvPr id="37" name="Text 35"/>
          <p:cNvSpPr/>
          <p:nvPr/>
        </p:nvSpPr>
        <p:spPr>
          <a:xfrm>
            <a:off x="6413500" y="5905500"/>
            <a:ext cx="1651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mail</a:t>
            </a:r>
            <a:endParaRPr lang="en-US" sz="1600" dirty="0"/>
          </a:p>
        </p:txBody>
      </p:sp>
      <p:sp>
        <p:nvSpPr>
          <p:cNvPr id="38" name="Shape 36"/>
          <p:cNvSpPr/>
          <p:nvPr/>
        </p:nvSpPr>
        <p:spPr>
          <a:xfrm>
            <a:off x="8255000" y="5905500"/>
            <a:ext cx="1651000" cy="508000"/>
          </a:xfrm>
          <a:prstGeom prst="rect">
            <a:avLst/>
          </a:prstGeom>
          <a:solidFill>
            <a:srgbClr val="6B7B8D"/>
          </a:solidFill>
          <a:ln/>
        </p:spPr>
      </p:sp>
      <p:sp>
        <p:nvSpPr>
          <p:cNvPr id="39" name="Text 37"/>
          <p:cNvSpPr/>
          <p:nvPr/>
        </p:nvSpPr>
        <p:spPr>
          <a:xfrm>
            <a:off x="8255000" y="5905500"/>
            <a:ext cx="1651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blog</a:t>
            </a:r>
            <a:endParaRPr lang="en-US" sz="1600" dirty="0"/>
          </a:p>
        </p:txBody>
      </p:sp>
      <p:sp>
        <p:nvSpPr>
          <p:cNvPr id="40" name="Shape 38"/>
          <p:cNvSpPr/>
          <p:nvPr/>
        </p:nvSpPr>
        <p:spPr>
          <a:xfrm>
            <a:off x="10096500" y="5905500"/>
            <a:ext cx="1651000" cy="508000"/>
          </a:xfrm>
          <a:prstGeom prst="rect">
            <a:avLst/>
          </a:prstGeom>
          <a:solidFill>
            <a:srgbClr val="6B7B8D"/>
          </a:solidFill>
          <a:ln/>
        </p:spPr>
      </p:sp>
      <p:sp>
        <p:nvSpPr>
          <p:cNvPr id="41" name="Text 39"/>
          <p:cNvSpPr/>
          <p:nvPr/>
        </p:nvSpPr>
        <p:spPr>
          <a:xfrm>
            <a:off x="10096500" y="5905500"/>
            <a:ext cx="1651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ftp</a:t>
            </a:r>
            <a:endParaRPr lang="en-US" sz="1600" dirty="0"/>
          </a:p>
        </p:txBody>
      </p:sp>
      <p:sp>
        <p:nvSpPr>
          <p:cNvPr id="42" name="Text 40"/>
          <p:cNvSpPr/>
          <p:nvPr/>
        </p:nvSpPr>
        <p:spPr>
          <a:xfrm>
            <a:off x="762000" y="5943600"/>
            <a:ext cx="3429000" cy="381000"/>
          </a:xfrm>
          <a:prstGeom prst="rect">
            <a:avLst/>
          </a:prstGeom>
          <a:noFill/>
          <a:ln/>
        </p:spPr>
        <p:txBody>
          <a:bodyPr wrap="none" lIns="0" tIns="0" rIns="0" bIns="0" rtlCol="0" anchor="ctr"/>
          <a:lstStyle/>
          <a:p>
            <a:pPr algn="r">
              <a:lnSpc>
                <a:spcPct val="100000"/>
              </a:lnSpc>
            </a:pPr>
            <a:r>
              <a:rPr lang="en-US" sz="1400" dirty="0">
                <a:solidFill>
                  <a:srgbClr val="6B7B8D"/>
                </a:solidFill>
                <a:latin typeface="Quattrocento Sans" pitchFamily="34" charset="0"/>
                <a:ea typeface="Quattrocento Sans" pitchFamily="34" charset="-122"/>
                <a:cs typeface="Quattrocento Sans" pitchFamily="34" charset="-120"/>
              </a:rPr>
              <a:t>Subdomains →</a:t>
            </a:r>
            <a:endParaRPr lang="en-US" sz="1600" dirty="0"/>
          </a:p>
        </p:txBody>
      </p:sp>
      <p:sp>
        <p:nvSpPr>
          <p:cNvPr id="43" name="Shape 41"/>
          <p:cNvSpPr/>
          <p:nvPr/>
        </p:nvSpPr>
        <p:spPr>
          <a:xfrm>
            <a:off x="8128000" y="6477000"/>
            <a:ext cx="0" cy="508000"/>
          </a:xfrm>
          <a:prstGeom prst="straightConnector1">
            <a:avLst/>
          </a:prstGeom>
          <a:noFill/>
          <a:ln w="25400">
            <a:solidFill>
              <a:srgbClr val="6B7B8D"/>
            </a:solidFill>
            <a:prstDash val="solid"/>
            <a:headEnd type="none"/>
            <a:tailEnd type="none"/>
          </a:ln>
        </p:spPr>
      </p:sp>
      <p:sp>
        <p:nvSpPr>
          <p:cNvPr id="44" name="Shape 42"/>
          <p:cNvSpPr/>
          <p:nvPr/>
        </p:nvSpPr>
        <p:spPr>
          <a:xfrm>
            <a:off x="5334000" y="6985000"/>
            <a:ext cx="5588000" cy="635000"/>
          </a:xfrm>
          <a:prstGeom prst="rect">
            <a:avLst/>
          </a:prstGeom>
          <a:solidFill>
            <a:srgbClr val="E8E4DE"/>
          </a:solidFill>
          <a:ln/>
        </p:spPr>
      </p:sp>
      <p:sp>
        <p:nvSpPr>
          <p:cNvPr id="45" name="Shape 43"/>
          <p:cNvSpPr/>
          <p:nvPr/>
        </p:nvSpPr>
        <p:spPr>
          <a:xfrm>
            <a:off x="5588000" y="7048500"/>
            <a:ext cx="1524000" cy="508000"/>
          </a:xfrm>
          <a:prstGeom prst="rect">
            <a:avLst/>
          </a:prstGeom>
          <a:solidFill>
            <a:srgbClr val="9AA5B1"/>
          </a:solidFill>
          <a:ln/>
        </p:spPr>
      </p:sp>
      <p:sp>
        <p:nvSpPr>
          <p:cNvPr id="46" name="Text 44"/>
          <p:cNvSpPr/>
          <p:nvPr/>
        </p:nvSpPr>
        <p:spPr>
          <a:xfrm>
            <a:off x="5588000" y="7048500"/>
            <a:ext cx="1524000" cy="508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web1</a:t>
            </a:r>
            <a:endParaRPr lang="en-US" sz="1600" dirty="0"/>
          </a:p>
        </p:txBody>
      </p:sp>
      <p:sp>
        <p:nvSpPr>
          <p:cNvPr id="47" name="Shape 45"/>
          <p:cNvSpPr/>
          <p:nvPr/>
        </p:nvSpPr>
        <p:spPr>
          <a:xfrm>
            <a:off x="7302500" y="7048500"/>
            <a:ext cx="1524000" cy="508000"/>
          </a:xfrm>
          <a:prstGeom prst="rect">
            <a:avLst/>
          </a:prstGeom>
          <a:solidFill>
            <a:srgbClr val="9AA5B1"/>
          </a:solidFill>
          <a:ln/>
        </p:spPr>
      </p:sp>
      <p:sp>
        <p:nvSpPr>
          <p:cNvPr id="48" name="Text 46"/>
          <p:cNvSpPr/>
          <p:nvPr/>
        </p:nvSpPr>
        <p:spPr>
          <a:xfrm>
            <a:off x="7302500" y="7048500"/>
            <a:ext cx="1524000" cy="508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mailserver</a:t>
            </a:r>
            <a:endParaRPr lang="en-US" sz="1600" dirty="0"/>
          </a:p>
        </p:txBody>
      </p:sp>
      <p:sp>
        <p:nvSpPr>
          <p:cNvPr id="49" name="Text 47"/>
          <p:cNvSpPr/>
          <p:nvPr/>
        </p:nvSpPr>
        <p:spPr>
          <a:xfrm>
            <a:off x="762000" y="7086600"/>
            <a:ext cx="4445000" cy="381000"/>
          </a:xfrm>
          <a:prstGeom prst="rect">
            <a:avLst/>
          </a:prstGeom>
          <a:noFill/>
          <a:ln/>
        </p:spPr>
        <p:txBody>
          <a:bodyPr wrap="none" lIns="0" tIns="0" rIns="0" bIns="0" rtlCol="0" anchor="ctr"/>
          <a:lstStyle/>
          <a:p>
            <a:pPr algn="r">
              <a:lnSpc>
                <a:spcPct val="100000"/>
              </a:lnSpc>
            </a:pPr>
            <a:r>
              <a:rPr lang="en-US" sz="1400" dirty="0">
                <a:solidFill>
                  <a:srgbClr val="6B7B8D"/>
                </a:solidFill>
                <a:latin typeface="Quattrocento Sans" pitchFamily="34" charset="0"/>
                <a:ea typeface="Quattrocento Sans" pitchFamily="34" charset="-122"/>
                <a:cs typeface="Quattrocento Sans" pitchFamily="34" charset="-120"/>
              </a:rPr>
              <a:t>Hostnames →</a:t>
            </a:r>
            <a:endParaRPr lang="en-US" sz="1600" dirty="0"/>
          </a:p>
        </p:txBody>
      </p:sp>
      <p:sp>
        <p:nvSpPr>
          <p:cNvPr id="50" name="Text 48"/>
          <p:cNvSpPr/>
          <p:nvPr/>
        </p:nvSpPr>
        <p:spPr>
          <a:xfrm>
            <a:off x="762000" y="7874000"/>
            <a:ext cx="14732000" cy="355600"/>
          </a:xfrm>
          <a:prstGeom prst="rect">
            <a:avLst/>
          </a:prstGeom>
          <a:noFill/>
          <a:ln/>
        </p:spPr>
        <p:txBody>
          <a:bodyPr wrap="none" lIns="0" tIns="0" rIns="0" bIns="0" rtlCol="0" anchor="ctr"/>
          <a:lstStyle/>
          <a:p>
            <a:pPr algn="ctr">
              <a:lnSpc>
                <a:spcPct val="100000"/>
              </a:lnSpc>
            </a:pPr>
            <a:r>
              <a:rPr lang="en-US" sz="1500" dirty="0">
                <a:solidFill>
                  <a:srgbClr val="6B7B8D"/>
                </a:solidFill>
                <a:latin typeface="Quattrocento Sans" pitchFamily="34" charset="0"/>
                <a:ea typeface="Quattrocento Sans" pitchFamily="34" charset="-122"/>
                <a:cs typeface="Quattrocento Sans" pitchFamily="34" charset="-120"/>
              </a:rPr>
              <a:t>Example FQDN: </a:t>
            </a:r>
            <a:pPr algn="ctr">
              <a:lnSpc>
                <a:spcPct val="100000"/>
              </a:lnSpc>
            </a:pPr>
            <a:r>
              <a:rPr lang="en-US" sz="1500" b="1" dirty="0">
                <a:solidFill>
                  <a:srgbClr val="C9893B"/>
                </a:solidFill>
                <a:latin typeface="Quattrocento Sans" pitchFamily="34" charset="0"/>
                <a:ea typeface="Quattrocento Sans" pitchFamily="34" charset="-122"/>
                <a:cs typeface="Quattrocento Sans" pitchFamily="34" charset="-120"/>
              </a:rPr>
              <a:t>www.example.com.</a:t>
            </a:r>
            <a:pPr algn="ctr">
              <a:lnSpc>
                <a:spcPct val="100000"/>
              </a:lnSpc>
            </a:pPr>
            <a:r>
              <a:rPr lang="en-US" sz="1500" dirty="0">
                <a:solidFill>
                  <a:srgbClr val="6B7B8D"/>
                </a:solidFill>
                <a:latin typeface="Quattrocento Sans" pitchFamily="34" charset="0"/>
                <a:ea typeface="Quattrocento Sans" pitchFamily="34" charset="-122"/>
                <a:cs typeface="Quattrocento Sans" pitchFamily="34" charset="-120"/>
              </a:rPr>
              <a:t> (trailing dot = root)</a:t>
            </a:r>
            <a:endParaRPr lang="en-US" sz="1600" dirty="0"/>
          </a:p>
        </p:txBody>
      </p:sp>
      <p:sp>
        <p:nvSpPr>
          <p:cNvPr id="51" name="Shape 49"/>
          <p:cNvSpPr/>
          <p:nvPr/>
        </p:nvSpPr>
        <p:spPr>
          <a:xfrm>
            <a:off x="762000" y="8382000"/>
            <a:ext cx="14732000" cy="25400"/>
          </a:xfrm>
          <a:prstGeom prst="rect">
            <a:avLst/>
          </a:prstGeom>
          <a:solidFill>
            <a:srgbClr val="C9893B"/>
          </a:solidFill>
          <a:ln/>
        </p:spPr>
      </p:sp>
      <p:sp>
        <p:nvSpPr>
          <p:cNvPr id="52" name="Text 50"/>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06</a:t>
            </a:r>
            <a:endParaRPr lang="en-US" sz="14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762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Root Name Servers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587500"/>
            <a:ext cx="8128000" cy="3048000"/>
          </a:xfrm>
          <a:prstGeom prst="rect">
            <a:avLst/>
          </a:prstGeom>
          <a:noFill/>
          <a:ln/>
        </p:spPr>
        <p:txBody>
          <a:bodyPr wrap="square" lIns="0" tIns="0" rIns="0" bIns="0" rtlCol="0" anchor="ctr"/>
          <a:lstStyle/>
          <a:p>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Root name servers sit at the </a:t>
            </a:r>
            <a:pPr>
              <a:lnSpc>
                <a:spcPct val="165000"/>
              </a:lnSpc>
            </a:pPr>
            <a:r>
              <a:rPr lang="en-US" sz="1700" b="1" dirty="0">
                <a:solidFill>
                  <a:srgbClr val="1E2328"/>
                </a:solidFill>
                <a:latin typeface="QuattrocentoSans" pitchFamily="34" charset="0"/>
                <a:ea typeface="QuattrocentoSans" pitchFamily="34" charset="-122"/>
                <a:cs typeface="QuattrocentoSans" pitchFamily="34" charset="-120"/>
              </a:rPr>
              <a:t>top of the DNS hierarchy</a:t>
            </a:r>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 There are </a:t>
            </a:r>
            <a:pPr>
              <a:lnSpc>
                <a:spcPct val="165000"/>
              </a:lnSpc>
            </a:pPr>
            <a:r>
              <a:rPr lang="en-US" sz="1700" dirty="0">
                <a:solidFill>
                  <a:srgbClr val="C9893B"/>
                </a:solidFill>
                <a:latin typeface="QuattrocentoSans" pitchFamily="34" charset="0"/>
                <a:ea typeface="QuattrocentoSans" pitchFamily="34" charset="-122"/>
                <a:cs typeface="QuattrocentoSans" pitchFamily="34" charset="-120"/>
              </a:rPr>
              <a:t>13 root server "identities"</a:t>
            </a:r>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 labeled A through M (a.root-servers.net through m.root-servers.net).</a:t>
            </a:r>
            <a:endParaRPr lang="en-US" sz="1800" dirty="0"/>
          </a:p>
          <a:p>
            <a:pPr>
              <a:lnSpc>
                <a:spcPct val="165000"/>
              </a:lnSpc>
              <a:spcBef>
                <a:spcPts val="800"/>
              </a:spcBef>
            </a:pPr>
            <a:r>
              <a:rPr lang="en-US" sz="1700" dirty="0">
                <a:solidFill>
                  <a:srgbClr val="1E2328"/>
                </a:solidFill>
                <a:latin typeface="QuattrocentoSans" pitchFamily="34" charset="0"/>
                <a:ea typeface="QuattrocentoSans" pitchFamily="34" charset="-122"/>
                <a:cs typeface="QuattrocentoSans" pitchFamily="34" charset="-120"/>
              </a:rPr>
              <a:t>However, there are </a:t>
            </a:r>
            <a:pPr>
              <a:lnSpc>
                <a:spcPct val="165000"/>
              </a:lnSpc>
              <a:spcBef>
                <a:spcPts val="800"/>
              </a:spcBef>
            </a:pPr>
            <a:r>
              <a:rPr lang="en-US" sz="1700" b="1" dirty="0">
                <a:solidFill>
                  <a:srgbClr val="1E2328"/>
                </a:solidFill>
                <a:latin typeface="QuattrocentoSans" pitchFamily="34" charset="0"/>
                <a:ea typeface="QuattrocentoSans" pitchFamily="34" charset="-122"/>
                <a:cs typeface="QuattrocentoSans" pitchFamily="34" charset="-120"/>
              </a:rPr>
              <a:t>hundreds of physical servers</a:t>
            </a:r>
            <a:pPr>
              <a:lnSpc>
                <a:spcPct val="165000"/>
              </a:lnSpc>
              <a:spcBef>
                <a:spcPts val="800"/>
              </a:spcBef>
            </a:pPr>
            <a:r>
              <a:rPr lang="en-US" sz="1700" dirty="0">
                <a:solidFill>
                  <a:srgbClr val="1E2328"/>
                </a:solidFill>
                <a:latin typeface="QuattrocentoSans" pitchFamily="34" charset="0"/>
                <a:ea typeface="QuattrocentoSans" pitchFamily="34" charset="-122"/>
                <a:cs typeface="QuattrocentoSans" pitchFamily="34" charset="-120"/>
              </a:rPr>
              <a:t> worldwide using Anycast technology to ensure fast response times.</a:t>
            </a:r>
            <a:endParaRPr lang="en-US" sz="1800" dirty="0"/>
          </a:p>
          <a:p>
            <a:pPr>
              <a:lnSpc>
                <a:spcPct val="165000"/>
              </a:lnSpc>
              <a:spcBef>
                <a:spcPts val="800"/>
              </a:spcBef>
            </a:pPr>
            <a:r>
              <a:rPr lang="en-US" sz="1700" b="1" dirty="0">
                <a:solidFill>
                  <a:srgbClr val="1E2328"/>
                </a:solidFill>
                <a:latin typeface="QuattrocentoSans" pitchFamily="34" charset="0"/>
                <a:ea typeface="QuattrocentoSans" pitchFamily="34" charset="-122"/>
                <a:cs typeface="QuattrocentoSans" pitchFamily="34" charset="-120"/>
              </a:rPr>
              <a:t>Important:</a:t>
            </a:r>
            <a:pPr>
              <a:lnSpc>
                <a:spcPct val="165000"/>
              </a:lnSpc>
              <a:spcBef>
                <a:spcPts val="800"/>
              </a:spcBef>
            </a:pPr>
            <a:r>
              <a:rPr lang="en-US" sz="1700" dirty="0">
                <a:solidFill>
                  <a:srgbClr val="1E2328"/>
                </a:solidFill>
                <a:latin typeface="QuattrocentoSans" pitchFamily="34" charset="0"/>
                <a:ea typeface="QuattrocentoSans" pitchFamily="34" charset="-122"/>
                <a:cs typeface="QuattrocentoSans" pitchFamily="34" charset="-120"/>
              </a:rPr>
              <a:t> Root servers do </a:t>
            </a:r>
            <a:pPr>
              <a:lnSpc>
                <a:spcPct val="165000"/>
              </a:lnSpc>
              <a:spcBef>
                <a:spcPts val="800"/>
              </a:spcBef>
            </a:pPr>
            <a:r>
              <a:rPr lang="en-US" sz="1700" b="1" dirty="0">
                <a:solidFill>
                  <a:srgbClr val="1E2328"/>
                </a:solidFill>
                <a:latin typeface="QuattrocentoSans" pitchFamily="34" charset="0"/>
                <a:ea typeface="QuattrocentoSans" pitchFamily="34" charset="-122"/>
                <a:cs typeface="QuattrocentoSans" pitchFamily="34" charset="-120"/>
              </a:rPr>
              <a:t>NOT</a:t>
            </a:r>
            <a:pPr>
              <a:lnSpc>
                <a:spcPct val="165000"/>
              </a:lnSpc>
              <a:spcBef>
                <a:spcPts val="800"/>
              </a:spcBef>
            </a:pPr>
            <a:r>
              <a:rPr lang="en-US" sz="1700" dirty="0">
                <a:solidFill>
                  <a:srgbClr val="1E2328"/>
                </a:solidFill>
                <a:latin typeface="QuattrocentoSans" pitchFamily="34" charset="0"/>
                <a:ea typeface="QuattrocentoSans" pitchFamily="34" charset="-122"/>
                <a:cs typeface="QuattrocentoSans" pitchFamily="34" charset="-120"/>
              </a:rPr>
              <a:t> store IP addresses for domains. They only respond with a referral to the appropriate TLD name server.</a:t>
            </a:r>
            <a:endParaRPr lang="en-US" sz="1800" dirty="0"/>
          </a:p>
        </p:txBody>
      </p:sp>
      <p:sp>
        <p:nvSpPr>
          <p:cNvPr id="6" name="Shape 4"/>
          <p:cNvSpPr/>
          <p:nvPr/>
        </p:nvSpPr>
        <p:spPr>
          <a:xfrm>
            <a:off x="762000" y="4953000"/>
            <a:ext cx="8128000" cy="1270000"/>
          </a:xfrm>
          <a:prstGeom prst="rect">
            <a:avLst/>
          </a:prstGeom>
          <a:solidFill>
            <a:srgbClr val="2D3E50"/>
          </a:solidFill>
          <a:ln/>
        </p:spPr>
      </p:sp>
      <p:sp>
        <p:nvSpPr>
          <p:cNvPr id="7" name="Shape 5"/>
          <p:cNvSpPr/>
          <p:nvPr/>
        </p:nvSpPr>
        <p:spPr>
          <a:xfrm>
            <a:off x="1066800" y="5283200"/>
            <a:ext cx="609600" cy="609600"/>
          </a:xfrm>
          <a:custGeom>
            <a:avLst/>
            <a:gdLst/>
            <a:ahLst/>
            <a:cxnLst/>
            <a:rect l="l" t="t" r="r" b="b"/>
            <a:pathLst>
              <a:path w="609600" h="609600">
                <a:moveTo>
                  <a:pt x="304800" y="609600"/>
                </a:moveTo>
                <a:cubicBezTo>
                  <a:pt x="473024" y="609600"/>
                  <a:pt x="609600" y="473024"/>
                  <a:pt x="609600" y="304800"/>
                </a:cubicBezTo>
                <a:cubicBezTo>
                  <a:pt x="609600" y="136576"/>
                  <a:pt x="473024" y="0"/>
                  <a:pt x="304800" y="0"/>
                </a:cubicBezTo>
                <a:cubicBezTo>
                  <a:pt x="136576" y="0"/>
                  <a:pt x="0" y="136576"/>
                  <a:pt x="0" y="304800"/>
                </a:cubicBezTo>
                <a:cubicBezTo>
                  <a:pt x="0" y="473024"/>
                  <a:pt x="136576" y="609600"/>
                  <a:pt x="304800" y="609600"/>
                </a:cubicBezTo>
                <a:close/>
                <a:moveTo>
                  <a:pt x="266700" y="190500"/>
                </a:moveTo>
                <a:cubicBezTo>
                  <a:pt x="266700" y="169472"/>
                  <a:pt x="283772" y="152400"/>
                  <a:pt x="304800" y="152400"/>
                </a:cubicBezTo>
                <a:cubicBezTo>
                  <a:pt x="325828" y="152400"/>
                  <a:pt x="342900" y="169472"/>
                  <a:pt x="342900" y="190500"/>
                </a:cubicBezTo>
                <a:cubicBezTo>
                  <a:pt x="342900" y="211528"/>
                  <a:pt x="325828" y="228600"/>
                  <a:pt x="304800" y="228600"/>
                </a:cubicBezTo>
                <a:cubicBezTo>
                  <a:pt x="283772" y="228600"/>
                  <a:pt x="266700" y="211528"/>
                  <a:pt x="266700" y="190500"/>
                </a:cubicBezTo>
                <a:close/>
                <a:moveTo>
                  <a:pt x="257175" y="266700"/>
                </a:moveTo>
                <a:lnTo>
                  <a:pt x="314325" y="266700"/>
                </a:lnTo>
                <a:cubicBezTo>
                  <a:pt x="330160" y="266700"/>
                  <a:pt x="342900" y="279440"/>
                  <a:pt x="342900" y="295275"/>
                </a:cubicBezTo>
                <a:lnTo>
                  <a:pt x="342900" y="400050"/>
                </a:lnTo>
                <a:lnTo>
                  <a:pt x="352425" y="400050"/>
                </a:lnTo>
                <a:cubicBezTo>
                  <a:pt x="368260" y="400050"/>
                  <a:pt x="381000" y="412790"/>
                  <a:pt x="381000" y="428625"/>
                </a:cubicBezTo>
                <a:cubicBezTo>
                  <a:pt x="381000" y="444460"/>
                  <a:pt x="368260" y="457200"/>
                  <a:pt x="352425" y="457200"/>
                </a:cubicBezTo>
                <a:lnTo>
                  <a:pt x="257175" y="457200"/>
                </a:lnTo>
                <a:cubicBezTo>
                  <a:pt x="241340" y="457200"/>
                  <a:pt x="228600" y="444460"/>
                  <a:pt x="228600" y="428625"/>
                </a:cubicBezTo>
                <a:cubicBezTo>
                  <a:pt x="228600" y="412790"/>
                  <a:pt x="241340" y="400050"/>
                  <a:pt x="257175" y="400050"/>
                </a:cubicBezTo>
                <a:lnTo>
                  <a:pt x="285750" y="400050"/>
                </a:lnTo>
                <a:lnTo>
                  <a:pt x="285750" y="323850"/>
                </a:lnTo>
                <a:lnTo>
                  <a:pt x="257175" y="323850"/>
                </a:lnTo>
                <a:cubicBezTo>
                  <a:pt x="241340" y="323850"/>
                  <a:pt x="228600" y="311110"/>
                  <a:pt x="228600" y="295275"/>
                </a:cubicBezTo>
                <a:cubicBezTo>
                  <a:pt x="228600" y="279440"/>
                  <a:pt x="241340" y="266700"/>
                  <a:pt x="257175" y="266700"/>
                </a:cubicBezTo>
                <a:close/>
              </a:path>
            </a:pathLst>
          </a:custGeom>
          <a:solidFill>
            <a:srgbClr val="C9893B"/>
          </a:solidFill>
          <a:ln/>
        </p:spPr>
      </p:sp>
      <p:sp>
        <p:nvSpPr>
          <p:cNvPr id="8" name="Text 6"/>
          <p:cNvSpPr/>
          <p:nvPr/>
        </p:nvSpPr>
        <p:spPr>
          <a:xfrm>
            <a:off x="1905000" y="5130800"/>
            <a:ext cx="6731000" cy="914400"/>
          </a:xfrm>
          <a:prstGeom prst="rect">
            <a:avLst/>
          </a:prstGeom>
          <a:noFill/>
          <a:ln/>
        </p:spPr>
        <p:txBody>
          <a:bodyPr wrap="square" lIns="0" tIns="0" rIns="0" bIns="0" rtlCol="0" anchor="ctr"/>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Root Server Response:</a:t>
            </a:r>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"I don't know where example.com is, but here is the .com TLD server — ask them."</a:t>
            </a:r>
            <a:endParaRPr lang="en-US" sz="1600" dirty="0"/>
          </a:p>
        </p:txBody>
      </p:sp>
      <p:sp>
        <p:nvSpPr>
          <p:cNvPr id="9" name="Shape 7"/>
          <p:cNvSpPr/>
          <p:nvPr/>
        </p:nvSpPr>
        <p:spPr>
          <a:xfrm>
            <a:off x="9398000" y="1587500"/>
            <a:ext cx="6096000" cy="4635500"/>
          </a:xfrm>
          <a:prstGeom prst="rect">
            <a:avLst/>
          </a:prstGeom>
          <a:solidFill>
            <a:srgbClr val="E8E4DE"/>
          </a:solidFill>
          <a:ln/>
        </p:spPr>
      </p:sp>
      <p:sp>
        <p:nvSpPr>
          <p:cNvPr id="10" name="Text 8"/>
          <p:cNvSpPr/>
          <p:nvPr/>
        </p:nvSpPr>
        <p:spPr>
          <a:xfrm>
            <a:off x="9702800" y="1778000"/>
            <a:ext cx="5486400" cy="355600"/>
          </a:xfrm>
          <a:prstGeom prst="rect">
            <a:avLst/>
          </a:prstGeom>
          <a:noFill/>
          <a:ln/>
        </p:spPr>
        <p:txBody>
          <a:bodyPr wrap="none" lIns="0" tIns="0" rIns="0" bIns="0" rtlCol="0" anchor="ctr"/>
          <a:lstStyle/>
          <a:p>
            <a:pPr>
              <a:lnSpc>
                <a:spcPct val="140000"/>
              </a:lnSpc>
            </a:pPr>
            <a:r>
              <a:rPr lang="en-US" sz="1800" b="1" dirty="0">
                <a:solidFill>
                  <a:srgbClr val="2D3E50"/>
                </a:solidFill>
                <a:latin typeface="Liter" pitchFamily="34" charset="0"/>
                <a:ea typeface="Liter" pitchFamily="34" charset="-122"/>
                <a:cs typeface="Liter" pitchFamily="34" charset="-120"/>
              </a:rPr>
              <a:t>13 Root Server Identities</a:t>
            </a:r>
            <a:endParaRPr lang="en-US" sz="2000" dirty="0"/>
          </a:p>
        </p:txBody>
      </p:sp>
      <p:sp>
        <p:nvSpPr>
          <p:cNvPr id="11" name="Text 9"/>
          <p:cNvSpPr/>
          <p:nvPr/>
        </p:nvSpPr>
        <p:spPr>
          <a:xfrm>
            <a:off x="9702800" y="2222500"/>
            <a:ext cx="2667000" cy="3810000"/>
          </a:xfrm>
          <a:prstGeom prst="rect">
            <a:avLst/>
          </a:prstGeom>
          <a:noFill/>
          <a:ln/>
        </p:spPr>
        <p:txBody>
          <a:bodyPr wrap="square" lIns="0" tIns="0" rIns="0" bIns="0" rtlCol="0" anchor="ctr"/>
          <a:lstStyle/>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A</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a.root-servers.net</a:t>
            </a:r>
            <a:endParaRPr lang="en-US" sz="1600" dirty="0"/>
          </a:p>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B</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b.root-servers.net</a:t>
            </a:r>
            <a:endParaRPr lang="en-US" sz="1600" dirty="0"/>
          </a:p>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C</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c.root-servers.net</a:t>
            </a:r>
            <a:endParaRPr lang="en-US" sz="1600" dirty="0"/>
          </a:p>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D</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d.root-servers.net</a:t>
            </a:r>
            <a:endParaRPr lang="en-US" sz="1600" dirty="0"/>
          </a:p>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E</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e.root-servers.net</a:t>
            </a:r>
            <a:endParaRPr lang="en-US" sz="1600" dirty="0"/>
          </a:p>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F</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f.root-servers.net</a:t>
            </a:r>
            <a:endParaRPr lang="en-US" sz="1600" dirty="0"/>
          </a:p>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G</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g.root-servers.net</a:t>
            </a:r>
            <a:endParaRPr lang="en-US" sz="1600" dirty="0"/>
          </a:p>
        </p:txBody>
      </p:sp>
      <p:sp>
        <p:nvSpPr>
          <p:cNvPr id="12" name="Text 10"/>
          <p:cNvSpPr/>
          <p:nvPr/>
        </p:nvSpPr>
        <p:spPr>
          <a:xfrm>
            <a:off x="12573000" y="2222500"/>
            <a:ext cx="2667000" cy="3810000"/>
          </a:xfrm>
          <a:prstGeom prst="rect">
            <a:avLst/>
          </a:prstGeom>
          <a:noFill/>
          <a:ln/>
        </p:spPr>
        <p:txBody>
          <a:bodyPr wrap="square" lIns="0" tIns="0" rIns="0" bIns="0" rtlCol="0" anchor="ctr"/>
          <a:lstStyle/>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H</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h.root-servers.net</a:t>
            </a:r>
            <a:endParaRPr lang="en-US" sz="1600" dirty="0"/>
          </a:p>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I</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i.root-servers.net</a:t>
            </a:r>
            <a:endParaRPr lang="en-US" sz="1600" dirty="0"/>
          </a:p>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J</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j.root-servers.net</a:t>
            </a:r>
            <a:endParaRPr lang="en-US" sz="1600" dirty="0"/>
          </a:p>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K</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k.root-servers.net</a:t>
            </a:r>
            <a:endParaRPr lang="en-US" sz="1600" dirty="0"/>
          </a:p>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L</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l.root-servers.net</a:t>
            </a:r>
            <a:endParaRPr lang="en-US" sz="1600" dirty="0"/>
          </a:p>
          <a:p>
            <a:pPr>
              <a:lnSpc>
                <a:spcPct val="170000"/>
              </a:lnSpc>
            </a:pPr>
            <a:r>
              <a:rPr lang="en-US" sz="1400" dirty="0">
                <a:solidFill>
                  <a:srgbClr val="C9893B"/>
                </a:solidFill>
                <a:latin typeface="Quattrocento Sans" pitchFamily="34" charset="0"/>
                <a:ea typeface="Quattrocento Sans" pitchFamily="34" charset="-122"/>
                <a:cs typeface="Quattrocento Sans" pitchFamily="34" charset="-120"/>
              </a:rPr>
              <a:t>M</a:t>
            </a:r>
            <a:pPr>
              <a:lnSpc>
                <a:spcPct val="170000"/>
              </a:lnSpc>
            </a:pPr>
            <a:r>
              <a:rPr lang="en-US" sz="1400" dirty="0">
                <a:solidFill>
                  <a:srgbClr val="1E2328"/>
                </a:solidFill>
                <a:latin typeface="Quattrocento Sans" pitchFamily="34" charset="0"/>
                <a:ea typeface="Quattrocento Sans" pitchFamily="34" charset="-122"/>
                <a:cs typeface="Quattrocento Sans" pitchFamily="34" charset="-120"/>
              </a:rPr>
              <a:t> m.root-servers.net</a:t>
            </a:r>
            <a:endParaRPr lang="en-US" sz="1600" dirty="0"/>
          </a:p>
        </p:txBody>
      </p:sp>
      <p:sp>
        <p:nvSpPr>
          <p:cNvPr id="13" name="Shape 11"/>
          <p:cNvSpPr/>
          <p:nvPr/>
        </p:nvSpPr>
        <p:spPr>
          <a:xfrm>
            <a:off x="762000" y="8382000"/>
            <a:ext cx="14732000" cy="25400"/>
          </a:xfrm>
          <a:prstGeom prst="rect">
            <a:avLst/>
          </a:prstGeom>
          <a:solidFill>
            <a:srgbClr val="C9893B"/>
          </a:solidFill>
          <a:ln/>
        </p:spPr>
      </p:sp>
      <p:sp>
        <p:nvSpPr>
          <p:cNvPr id="14" name="Text 12"/>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07</a:t>
            </a:r>
            <a:endParaRPr lang="en-US" sz="14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Top-Level Domains (TLDs)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524000"/>
            <a:ext cx="14732000" cy="6985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TLDs are the extensions at the end of domain names, managed by TLD name servers. They represent the level directly below the root in the DNS hierarchy.</a:t>
            </a:r>
            <a:endParaRPr lang="en-US" sz="1800" dirty="0"/>
          </a:p>
        </p:txBody>
      </p:sp>
      <p:sp>
        <p:nvSpPr>
          <p:cNvPr id="6" name="Shape 4"/>
          <p:cNvSpPr/>
          <p:nvPr/>
        </p:nvSpPr>
        <p:spPr>
          <a:xfrm>
            <a:off x="762000" y="2413000"/>
            <a:ext cx="7112000" cy="3937000"/>
          </a:xfrm>
          <a:prstGeom prst="rect">
            <a:avLst/>
          </a:prstGeom>
          <a:solidFill>
            <a:srgbClr val="E8E4DE"/>
          </a:solidFill>
          <a:ln/>
        </p:spPr>
      </p:sp>
      <p:sp>
        <p:nvSpPr>
          <p:cNvPr id="7" name="Shape 5"/>
          <p:cNvSpPr/>
          <p:nvPr/>
        </p:nvSpPr>
        <p:spPr>
          <a:xfrm>
            <a:off x="762000" y="2413000"/>
            <a:ext cx="76200" cy="3937000"/>
          </a:xfrm>
          <a:prstGeom prst="rect">
            <a:avLst/>
          </a:prstGeom>
          <a:solidFill>
            <a:srgbClr val="C9893B"/>
          </a:solidFill>
          <a:ln/>
        </p:spPr>
      </p:sp>
      <p:sp>
        <p:nvSpPr>
          <p:cNvPr id="8" name="Text 6"/>
          <p:cNvSpPr/>
          <p:nvPr/>
        </p:nvSpPr>
        <p:spPr>
          <a:xfrm>
            <a:off x="1066800" y="2590800"/>
            <a:ext cx="6502400" cy="3810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Generic TLDs (gTLDs)</a:t>
            </a:r>
            <a:endParaRPr lang="en-US" sz="2000" dirty="0"/>
          </a:p>
        </p:txBody>
      </p:sp>
      <p:sp>
        <p:nvSpPr>
          <p:cNvPr id="9" name="Text 7"/>
          <p:cNvSpPr/>
          <p:nvPr/>
        </p:nvSpPr>
        <p:spPr>
          <a:xfrm>
            <a:off x="1066800" y="3048000"/>
            <a:ext cx="6502400" cy="355600"/>
          </a:xfrm>
          <a:prstGeom prst="rect">
            <a:avLst/>
          </a:prstGeom>
          <a:noFill/>
          <a:ln/>
        </p:spPr>
        <p:txBody>
          <a:bodyPr wrap="square" lIns="0" tIns="0" rIns="0" bIns="0" rtlCol="0" anchor="ctr"/>
          <a:lstStyle/>
          <a:p>
            <a:pPr>
              <a:lnSpc>
                <a:spcPct val="100000"/>
              </a:lnSpc>
            </a:pPr>
            <a:r>
              <a:rPr lang="en-US" sz="1400" dirty="0">
                <a:solidFill>
                  <a:srgbClr val="6B7B8D"/>
                </a:solidFill>
                <a:latin typeface="Quattrocento Sans" pitchFamily="34" charset="0"/>
                <a:ea typeface="Quattrocento Sans" pitchFamily="34" charset="-122"/>
                <a:cs typeface="Quattrocento Sans" pitchFamily="34" charset="-120"/>
              </a:rPr>
              <a:t>Used for general purposes, not tied to any country</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066800" y="3530600"/>
          <a:ext cx="6502400" cy="2540000"/>
        </p:xfrm>
        <a:graphic>
          <a:graphicData uri="http://schemas.openxmlformats.org/drawingml/2006/table">
            <a:tbl>
              <a:tblPr/>
              <a:tblGrid>
                <a:gridCol w="1300480"/>
                <a:gridCol w="2275840"/>
                <a:gridCol w="2926080"/>
              </a:tblGrid>
              <a:tr h="40640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TLD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Meaning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Usage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.com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Commercial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Businesses, general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.org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Organization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Non-profits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.net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Network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Network providers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.edu</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Education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Educational institutions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.gov</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Government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Government entities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.info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Information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Informational sites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bl>
          </a:graphicData>
        </a:graphic>
      </p:graphicFrame>
      <p:sp>
        <p:nvSpPr>
          <p:cNvPr id="11" name="Shape 8"/>
          <p:cNvSpPr/>
          <p:nvPr/>
        </p:nvSpPr>
        <p:spPr>
          <a:xfrm>
            <a:off x="8382000" y="2413000"/>
            <a:ext cx="7112000" cy="3937000"/>
          </a:xfrm>
          <a:prstGeom prst="rect">
            <a:avLst/>
          </a:prstGeom>
          <a:solidFill>
            <a:srgbClr val="E8E4DE"/>
          </a:solidFill>
          <a:ln/>
        </p:spPr>
      </p:sp>
      <p:sp>
        <p:nvSpPr>
          <p:cNvPr id="12" name="Shape 9"/>
          <p:cNvSpPr/>
          <p:nvPr/>
        </p:nvSpPr>
        <p:spPr>
          <a:xfrm>
            <a:off x="8382000" y="2413000"/>
            <a:ext cx="76200" cy="3937000"/>
          </a:xfrm>
          <a:prstGeom prst="rect">
            <a:avLst/>
          </a:prstGeom>
          <a:solidFill>
            <a:srgbClr val="2D3E50"/>
          </a:solidFill>
          <a:ln/>
        </p:spPr>
      </p:sp>
      <p:sp>
        <p:nvSpPr>
          <p:cNvPr id="13" name="Text 10"/>
          <p:cNvSpPr/>
          <p:nvPr/>
        </p:nvSpPr>
        <p:spPr>
          <a:xfrm>
            <a:off x="8686800" y="2590800"/>
            <a:ext cx="6502400" cy="3810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Country Code TLDs (ccTLDs)</a:t>
            </a:r>
            <a:endParaRPr lang="en-US" sz="2000" dirty="0"/>
          </a:p>
        </p:txBody>
      </p:sp>
      <p:sp>
        <p:nvSpPr>
          <p:cNvPr id="14" name="Text 11"/>
          <p:cNvSpPr/>
          <p:nvPr/>
        </p:nvSpPr>
        <p:spPr>
          <a:xfrm>
            <a:off x="8686800" y="3048000"/>
            <a:ext cx="6502400" cy="355600"/>
          </a:xfrm>
          <a:prstGeom prst="rect">
            <a:avLst/>
          </a:prstGeom>
          <a:noFill/>
          <a:ln/>
        </p:spPr>
        <p:txBody>
          <a:bodyPr wrap="square" lIns="0" tIns="0" rIns="0" bIns="0" rtlCol="0" anchor="ctr"/>
          <a:lstStyle/>
          <a:p>
            <a:pPr>
              <a:lnSpc>
                <a:spcPct val="100000"/>
              </a:lnSpc>
            </a:pPr>
            <a:r>
              <a:rPr lang="en-US" sz="1400" dirty="0">
                <a:solidFill>
                  <a:srgbClr val="6B7B8D"/>
                </a:solidFill>
                <a:latin typeface="Quattrocento Sans" pitchFamily="34" charset="0"/>
                <a:ea typeface="Quattrocento Sans" pitchFamily="34" charset="-122"/>
                <a:cs typeface="Quattrocento Sans" pitchFamily="34" charset="-120"/>
              </a:rPr>
              <a:t>Represent specific countries or geographic regions</a:t>
            </a:r>
            <a:endParaRPr lang="en-US" sz="16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8686800" y="3530600"/>
          <a:ext cx="6502400" cy="2540000"/>
        </p:xfrm>
        <a:graphic>
          <a:graphicData uri="http://schemas.openxmlformats.org/drawingml/2006/table">
            <a:tbl>
              <a:tblPr/>
              <a:tblGrid>
                <a:gridCol w="1300480"/>
                <a:gridCol w="2275840"/>
                <a:gridCol w="2926080"/>
              </a:tblGrid>
              <a:tr h="40640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TLD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Country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Managed By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.uk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United Kingdom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Nominet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.us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United States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Neustar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.jp</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Japan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JPRS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.de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Germany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DENIC</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.in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India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NIXI</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35560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.pk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Pakistan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PKNIC</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bl>
          </a:graphicData>
        </a:graphic>
      </p:graphicFrame>
      <p:sp>
        <p:nvSpPr>
          <p:cNvPr id="16" name="Text 12"/>
          <p:cNvSpPr/>
          <p:nvPr/>
        </p:nvSpPr>
        <p:spPr>
          <a:xfrm>
            <a:off x="762000" y="6667500"/>
            <a:ext cx="14732000" cy="762000"/>
          </a:xfrm>
          <a:prstGeom prst="rect">
            <a:avLst/>
          </a:prstGeom>
          <a:noFill/>
          <a:ln/>
        </p:spPr>
        <p:txBody>
          <a:bodyPr wrap="square" lIns="0" tIns="0" rIns="0" bIns="0" rtlCol="0" anchor="ctr"/>
          <a:lstStyle/>
          <a:p>
            <a:pPr>
              <a:lnSpc>
                <a:spcPct val="150000"/>
              </a:lnSpc>
            </a:pPr>
            <a:r>
              <a:rPr lang="en-US" sz="1600" b="1" dirty="0">
                <a:solidFill>
                  <a:srgbClr val="1E2328"/>
                </a:solidFill>
                <a:latin typeface="QuattrocentoSans" pitchFamily="34" charset="0"/>
                <a:ea typeface="QuattrocentoSans" pitchFamily="34" charset="-122"/>
                <a:cs typeface="QuattrocentoSans" pitchFamily="34" charset="-120"/>
              </a:rPr>
              <a:t>TLD Server Role:</a:t>
            </a:r>
            <a:pPr>
              <a:lnSpc>
                <a:spcPct val="150000"/>
              </a:lnSpc>
            </a:pPr>
            <a:r>
              <a:rPr lang="en-US" sz="1600" dirty="0">
                <a:solidFill>
                  <a:srgbClr val="1E2328"/>
                </a:solidFill>
                <a:latin typeface="QuattrocentoSans" pitchFamily="34" charset="0"/>
                <a:ea typeface="QuattrocentoSans" pitchFamily="34" charset="-122"/>
                <a:cs typeface="QuattrocentoSans" pitchFamily="34" charset="-120"/>
              </a:rPr>
              <a:t> TLD servers know which </a:t>
            </a:r>
            <a:pPr>
              <a:lnSpc>
                <a:spcPct val="150000"/>
              </a:lnSpc>
            </a:pPr>
            <a:r>
              <a:rPr lang="en-US" sz="1600" dirty="0">
                <a:solidFill>
                  <a:srgbClr val="C9893B"/>
                </a:solidFill>
                <a:latin typeface="QuattrocentoSans" pitchFamily="34" charset="0"/>
                <a:ea typeface="QuattrocentoSans" pitchFamily="34" charset="-122"/>
                <a:cs typeface="QuattrocentoSans" pitchFamily="34" charset="-120"/>
              </a:rPr>
              <a:t>authoritative name server</a:t>
            </a:r>
            <a:pPr>
              <a:lnSpc>
                <a:spcPct val="150000"/>
              </a:lnSpc>
            </a:pPr>
            <a:r>
              <a:rPr lang="en-US" sz="1600" dirty="0">
                <a:solidFill>
                  <a:srgbClr val="1E2328"/>
                </a:solidFill>
                <a:latin typeface="QuattrocentoSans" pitchFamily="34" charset="0"/>
                <a:ea typeface="QuattrocentoSans" pitchFamily="34" charset="-122"/>
                <a:cs typeface="QuattrocentoSans" pitchFamily="34" charset="-120"/>
              </a:rPr>
              <a:t> is responsible for each domain under their extension. They direct queries to the correct authoritative server.</a:t>
            </a:r>
            <a:endParaRPr lang="en-US" sz="1800" dirty="0"/>
          </a:p>
        </p:txBody>
      </p:sp>
      <p:sp>
        <p:nvSpPr>
          <p:cNvPr id="17" name="Shape 13"/>
          <p:cNvSpPr/>
          <p:nvPr/>
        </p:nvSpPr>
        <p:spPr>
          <a:xfrm>
            <a:off x="762000" y="8382000"/>
            <a:ext cx="14732000" cy="25400"/>
          </a:xfrm>
          <a:prstGeom prst="rect">
            <a:avLst/>
          </a:prstGeom>
          <a:solidFill>
            <a:srgbClr val="C9893B"/>
          </a:solidFill>
          <a:ln/>
        </p:spPr>
      </p:sp>
      <p:sp>
        <p:nvSpPr>
          <p:cNvPr id="18" name="Text 14"/>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08</a:t>
            </a:r>
            <a:endParaRPr lang="en-US" sz="14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1016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Second-Level Domains &amp; Subdomains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Shape 3"/>
          <p:cNvSpPr/>
          <p:nvPr/>
        </p:nvSpPr>
        <p:spPr>
          <a:xfrm>
            <a:off x="762000" y="1587500"/>
            <a:ext cx="7112000" cy="3048000"/>
          </a:xfrm>
          <a:prstGeom prst="rect">
            <a:avLst/>
          </a:prstGeom>
          <a:solidFill>
            <a:srgbClr val="E8E4DE"/>
          </a:solidFill>
          <a:ln/>
        </p:spPr>
      </p:sp>
      <p:sp>
        <p:nvSpPr>
          <p:cNvPr id="6" name="Shape 4"/>
          <p:cNvSpPr/>
          <p:nvPr/>
        </p:nvSpPr>
        <p:spPr>
          <a:xfrm>
            <a:off x="1066800" y="18415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178594" y="128588"/>
                </a:moveTo>
                <a:lnTo>
                  <a:pt x="250031" y="128588"/>
                </a:lnTo>
                <a:cubicBezTo>
                  <a:pt x="285571" y="128588"/>
                  <a:pt x="314325" y="157341"/>
                  <a:pt x="314325" y="192881"/>
                </a:cubicBezTo>
                <a:cubicBezTo>
                  <a:pt x="314325" y="218688"/>
                  <a:pt x="299145" y="240923"/>
                  <a:pt x="277178" y="251192"/>
                </a:cubicBezTo>
                <a:lnTo>
                  <a:pt x="304145" y="296108"/>
                </a:lnTo>
                <a:cubicBezTo>
                  <a:pt x="310217" y="306288"/>
                  <a:pt x="306913" y="319415"/>
                  <a:pt x="296823" y="325487"/>
                </a:cubicBezTo>
                <a:cubicBezTo>
                  <a:pt x="286732" y="331559"/>
                  <a:pt x="273516" y="328255"/>
                  <a:pt x="267444" y="318165"/>
                </a:cubicBezTo>
                <a:lnTo>
                  <a:pt x="230832" y="257175"/>
                </a:lnTo>
                <a:lnTo>
                  <a:pt x="200114" y="257175"/>
                </a:lnTo>
                <a:lnTo>
                  <a:pt x="200114" y="307181"/>
                </a:lnTo>
                <a:cubicBezTo>
                  <a:pt x="200114" y="319058"/>
                  <a:pt x="190560" y="328613"/>
                  <a:pt x="178683" y="328613"/>
                </a:cubicBezTo>
                <a:cubicBezTo>
                  <a:pt x="166807" y="328613"/>
                  <a:pt x="157252" y="319058"/>
                  <a:pt x="157252" y="307181"/>
                </a:cubicBezTo>
                <a:lnTo>
                  <a:pt x="157252" y="150019"/>
                </a:lnTo>
                <a:cubicBezTo>
                  <a:pt x="157252" y="138142"/>
                  <a:pt x="166807" y="128588"/>
                  <a:pt x="178683" y="128588"/>
                </a:cubicBezTo>
                <a:close/>
                <a:moveTo>
                  <a:pt x="242888" y="214313"/>
                </a:moveTo>
                <a:lnTo>
                  <a:pt x="250031" y="214313"/>
                </a:lnTo>
                <a:cubicBezTo>
                  <a:pt x="261908" y="214313"/>
                  <a:pt x="271463" y="204758"/>
                  <a:pt x="271463" y="192881"/>
                </a:cubicBezTo>
                <a:cubicBezTo>
                  <a:pt x="271463" y="181005"/>
                  <a:pt x="261908" y="171450"/>
                  <a:pt x="250031" y="171450"/>
                </a:cubicBezTo>
                <a:lnTo>
                  <a:pt x="200025" y="171450"/>
                </a:lnTo>
                <a:lnTo>
                  <a:pt x="200025" y="214313"/>
                </a:lnTo>
                <a:lnTo>
                  <a:pt x="242888" y="214313"/>
                </a:lnTo>
                <a:close/>
              </a:path>
            </a:pathLst>
          </a:custGeom>
          <a:solidFill>
            <a:srgbClr val="C9893B"/>
          </a:solidFill>
          <a:ln/>
        </p:spPr>
      </p:sp>
      <p:sp>
        <p:nvSpPr>
          <p:cNvPr id="7" name="Text 5"/>
          <p:cNvSpPr/>
          <p:nvPr/>
        </p:nvSpPr>
        <p:spPr>
          <a:xfrm>
            <a:off x="1701800" y="1841500"/>
            <a:ext cx="5842000" cy="3810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Second-Level Domain (SLD)</a:t>
            </a:r>
            <a:endParaRPr lang="en-US" sz="2000" dirty="0"/>
          </a:p>
        </p:txBody>
      </p:sp>
      <p:sp>
        <p:nvSpPr>
          <p:cNvPr id="8" name="Text 6"/>
          <p:cNvSpPr/>
          <p:nvPr/>
        </p:nvSpPr>
        <p:spPr>
          <a:xfrm>
            <a:off x="1066800" y="2413000"/>
            <a:ext cx="6502400" cy="19685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The main domain name </a:t>
            </a:r>
            <a:pPr>
              <a:lnSpc>
                <a:spcPct val="160000"/>
              </a:lnSpc>
            </a:pPr>
            <a:r>
              <a:rPr lang="en-US" sz="1600" b="1" dirty="0">
                <a:solidFill>
                  <a:srgbClr val="1E2328"/>
                </a:solidFill>
                <a:latin typeface="QuattrocentoSans" pitchFamily="34" charset="0"/>
                <a:ea typeface="QuattrocentoSans" pitchFamily="34" charset="-122"/>
                <a:cs typeface="QuattrocentoSans" pitchFamily="34" charset="-120"/>
              </a:rPr>
              <a:t>registered by an organization</a:t>
            </a:r>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a:t>
            </a:r>
            <a:endParaRPr lang="en-US" sz="1800" dirty="0"/>
          </a:p>
          <a:p>
            <a:pPr>
              <a:lnSpc>
                <a:spcPct val="160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Examples: </a:t>
            </a:r>
            <a:pPr>
              <a:lnSpc>
                <a:spcPct val="160000"/>
              </a:lnSpc>
              <a:spcBef>
                <a:spcPts val="600"/>
              </a:spcBef>
            </a:pPr>
            <a:r>
              <a:rPr lang="en-US" sz="1600" dirty="0">
                <a:solidFill>
                  <a:srgbClr val="C9893B"/>
                </a:solidFill>
                <a:latin typeface="QuattrocentoSans" pitchFamily="34" charset="0"/>
                <a:ea typeface="QuattrocentoSans" pitchFamily="34" charset="-122"/>
                <a:cs typeface="QuattrocentoSans" pitchFamily="34" charset="-120"/>
              </a:rPr>
              <a:t>google</a:t>
            </a:r>
            <a:pPr>
              <a:lnSpc>
                <a:spcPct val="160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 in google.com, </a:t>
            </a:r>
            <a:pPr>
              <a:lnSpc>
                <a:spcPct val="160000"/>
              </a:lnSpc>
              <a:spcBef>
                <a:spcPts val="600"/>
              </a:spcBef>
            </a:pPr>
            <a:r>
              <a:rPr lang="en-US" sz="1600" dirty="0">
                <a:solidFill>
                  <a:srgbClr val="C9893B"/>
                </a:solidFill>
                <a:latin typeface="QuattrocentoSans" pitchFamily="34" charset="0"/>
                <a:ea typeface="QuattrocentoSans" pitchFamily="34" charset="-122"/>
                <a:cs typeface="QuattrocentoSans" pitchFamily="34" charset="-120"/>
              </a:rPr>
              <a:t>ibm</a:t>
            </a:r>
            <a:pPr>
              <a:lnSpc>
                <a:spcPct val="160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 in ibm.com</a:t>
            </a:r>
            <a:endParaRPr lang="en-US" sz="1800" dirty="0"/>
          </a:p>
          <a:p>
            <a:pPr>
              <a:lnSpc>
                <a:spcPct val="160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This is the unique identifier under a TLD that an organization purchases from a domain registrar.</a:t>
            </a:r>
            <a:endParaRPr lang="en-US" sz="1800" dirty="0"/>
          </a:p>
        </p:txBody>
      </p:sp>
      <p:sp>
        <p:nvSpPr>
          <p:cNvPr id="9" name="Shape 7"/>
          <p:cNvSpPr/>
          <p:nvPr/>
        </p:nvSpPr>
        <p:spPr>
          <a:xfrm>
            <a:off x="8382000" y="1587500"/>
            <a:ext cx="7112000" cy="3048000"/>
          </a:xfrm>
          <a:prstGeom prst="rect">
            <a:avLst/>
          </a:prstGeom>
          <a:solidFill>
            <a:srgbClr val="E8E4DE"/>
          </a:solidFill>
          <a:ln/>
        </p:spPr>
      </p:sp>
      <p:sp>
        <p:nvSpPr>
          <p:cNvPr id="10" name="Shape 8"/>
          <p:cNvSpPr/>
          <p:nvPr/>
        </p:nvSpPr>
        <p:spPr>
          <a:xfrm>
            <a:off x="8686800" y="1841500"/>
            <a:ext cx="457200" cy="457200"/>
          </a:xfrm>
          <a:custGeom>
            <a:avLst/>
            <a:gdLst/>
            <a:ahLst/>
            <a:cxnLst/>
            <a:rect l="l" t="t" r="r" b="b"/>
            <a:pathLst>
              <a:path w="457200" h="457200">
                <a:moveTo>
                  <a:pt x="171450" y="57150"/>
                </a:moveTo>
                <a:cubicBezTo>
                  <a:pt x="171450" y="41344"/>
                  <a:pt x="184219" y="28575"/>
                  <a:pt x="200025" y="28575"/>
                </a:cubicBezTo>
                <a:lnTo>
                  <a:pt x="257175" y="28575"/>
                </a:lnTo>
                <a:cubicBezTo>
                  <a:pt x="272981" y="28575"/>
                  <a:pt x="285750" y="41344"/>
                  <a:pt x="285750" y="57150"/>
                </a:cubicBezTo>
                <a:lnTo>
                  <a:pt x="285750" y="114300"/>
                </a:lnTo>
                <a:cubicBezTo>
                  <a:pt x="285750" y="130106"/>
                  <a:pt x="272981" y="142875"/>
                  <a:pt x="257175" y="142875"/>
                </a:cubicBezTo>
                <a:lnTo>
                  <a:pt x="250031" y="142875"/>
                </a:lnTo>
                <a:lnTo>
                  <a:pt x="250031" y="200025"/>
                </a:lnTo>
                <a:lnTo>
                  <a:pt x="357188" y="200025"/>
                </a:lnTo>
                <a:cubicBezTo>
                  <a:pt x="392728" y="200025"/>
                  <a:pt x="421481" y="228779"/>
                  <a:pt x="421481" y="264319"/>
                </a:cubicBezTo>
                <a:lnTo>
                  <a:pt x="421481" y="314325"/>
                </a:lnTo>
                <a:lnTo>
                  <a:pt x="428625" y="314325"/>
                </a:lnTo>
                <a:cubicBezTo>
                  <a:pt x="444431" y="314325"/>
                  <a:pt x="457200" y="327094"/>
                  <a:pt x="457200" y="342900"/>
                </a:cubicBezTo>
                <a:lnTo>
                  <a:pt x="457200" y="400050"/>
                </a:lnTo>
                <a:cubicBezTo>
                  <a:pt x="457200" y="415856"/>
                  <a:pt x="444431" y="428625"/>
                  <a:pt x="428625" y="428625"/>
                </a:cubicBezTo>
                <a:lnTo>
                  <a:pt x="371475" y="428625"/>
                </a:lnTo>
                <a:cubicBezTo>
                  <a:pt x="355669" y="428625"/>
                  <a:pt x="342900" y="415856"/>
                  <a:pt x="342900" y="400050"/>
                </a:cubicBezTo>
                <a:lnTo>
                  <a:pt x="342900" y="342900"/>
                </a:lnTo>
                <a:cubicBezTo>
                  <a:pt x="342900" y="327094"/>
                  <a:pt x="355669" y="314325"/>
                  <a:pt x="371475" y="314325"/>
                </a:cubicBezTo>
                <a:lnTo>
                  <a:pt x="378619" y="314325"/>
                </a:lnTo>
                <a:lnTo>
                  <a:pt x="378619" y="264319"/>
                </a:lnTo>
                <a:cubicBezTo>
                  <a:pt x="378619" y="252442"/>
                  <a:pt x="369064" y="242888"/>
                  <a:pt x="357188" y="242888"/>
                </a:cubicBezTo>
                <a:lnTo>
                  <a:pt x="250031" y="242888"/>
                </a:lnTo>
                <a:lnTo>
                  <a:pt x="250031" y="314325"/>
                </a:lnTo>
                <a:lnTo>
                  <a:pt x="257175" y="314325"/>
                </a:lnTo>
                <a:cubicBezTo>
                  <a:pt x="272981" y="314325"/>
                  <a:pt x="285750" y="327094"/>
                  <a:pt x="285750" y="342900"/>
                </a:cubicBezTo>
                <a:lnTo>
                  <a:pt x="285750" y="400050"/>
                </a:lnTo>
                <a:cubicBezTo>
                  <a:pt x="285750" y="415856"/>
                  <a:pt x="272981" y="428625"/>
                  <a:pt x="257175" y="428625"/>
                </a:cubicBezTo>
                <a:lnTo>
                  <a:pt x="200025" y="428625"/>
                </a:lnTo>
                <a:cubicBezTo>
                  <a:pt x="184219" y="428625"/>
                  <a:pt x="171450" y="415856"/>
                  <a:pt x="171450" y="400050"/>
                </a:cubicBezTo>
                <a:lnTo>
                  <a:pt x="171450" y="342900"/>
                </a:lnTo>
                <a:cubicBezTo>
                  <a:pt x="171450" y="327094"/>
                  <a:pt x="184219" y="314325"/>
                  <a:pt x="200025" y="314325"/>
                </a:cubicBezTo>
                <a:lnTo>
                  <a:pt x="207169" y="314325"/>
                </a:lnTo>
                <a:lnTo>
                  <a:pt x="207169" y="242888"/>
                </a:lnTo>
                <a:lnTo>
                  <a:pt x="100013" y="242888"/>
                </a:lnTo>
                <a:cubicBezTo>
                  <a:pt x="88136" y="242888"/>
                  <a:pt x="78581" y="252442"/>
                  <a:pt x="78581" y="264319"/>
                </a:cubicBezTo>
                <a:lnTo>
                  <a:pt x="78581" y="314325"/>
                </a:lnTo>
                <a:lnTo>
                  <a:pt x="85725" y="314325"/>
                </a:lnTo>
                <a:cubicBezTo>
                  <a:pt x="101531" y="314325"/>
                  <a:pt x="114300" y="327094"/>
                  <a:pt x="114300" y="342900"/>
                </a:cubicBezTo>
                <a:lnTo>
                  <a:pt x="114300" y="400050"/>
                </a:lnTo>
                <a:cubicBezTo>
                  <a:pt x="114300" y="415856"/>
                  <a:pt x="101531" y="428625"/>
                  <a:pt x="85725" y="428625"/>
                </a:cubicBezTo>
                <a:lnTo>
                  <a:pt x="28575" y="428625"/>
                </a:lnTo>
                <a:cubicBezTo>
                  <a:pt x="12769" y="428625"/>
                  <a:pt x="0" y="415856"/>
                  <a:pt x="0" y="400050"/>
                </a:cubicBezTo>
                <a:lnTo>
                  <a:pt x="0" y="342900"/>
                </a:lnTo>
                <a:cubicBezTo>
                  <a:pt x="0" y="327094"/>
                  <a:pt x="12769" y="314325"/>
                  <a:pt x="28575" y="314325"/>
                </a:cubicBezTo>
                <a:lnTo>
                  <a:pt x="35719" y="314325"/>
                </a:lnTo>
                <a:lnTo>
                  <a:pt x="35719" y="264319"/>
                </a:lnTo>
                <a:cubicBezTo>
                  <a:pt x="35719" y="228779"/>
                  <a:pt x="64472" y="200025"/>
                  <a:pt x="100013" y="200025"/>
                </a:cubicBezTo>
                <a:lnTo>
                  <a:pt x="207169" y="200025"/>
                </a:lnTo>
                <a:lnTo>
                  <a:pt x="207169" y="142875"/>
                </a:lnTo>
                <a:lnTo>
                  <a:pt x="200025" y="142875"/>
                </a:lnTo>
                <a:cubicBezTo>
                  <a:pt x="184219" y="142875"/>
                  <a:pt x="171450" y="130106"/>
                  <a:pt x="171450" y="114300"/>
                </a:cubicBezTo>
                <a:lnTo>
                  <a:pt x="171450" y="57150"/>
                </a:lnTo>
                <a:close/>
              </a:path>
            </a:pathLst>
          </a:custGeom>
          <a:solidFill>
            <a:srgbClr val="2D3E50"/>
          </a:solidFill>
          <a:ln/>
        </p:spPr>
      </p:sp>
      <p:sp>
        <p:nvSpPr>
          <p:cNvPr id="11" name="Text 9"/>
          <p:cNvSpPr/>
          <p:nvPr/>
        </p:nvSpPr>
        <p:spPr>
          <a:xfrm>
            <a:off x="9321800" y="1841500"/>
            <a:ext cx="5842000" cy="3810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Subdomain</a:t>
            </a:r>
            <a:endParaRPr lang="en-US" sz="2000" dirty="0"/>
          </a:p>
        </p:txBody>
      </p:sp>
      <p:sp>
        <p:nvSpPr>
          <p:cNvPr id="12" name="Text 10"/>
          <p:cNvSpPr/>
          <p:nvPr/>
        </p:nvSpPr>
        <p:spPr>
          <a:xfrm>
            <a:off x="8686800" y="2413000"/>
            <a:ext cx="6502400" cy="19685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Extensions of the main domain used to </a:t>
            </a:r>
            <a:pPr>
              <a:lnSpc>
                <a:spcPct val="160000"/>
              </a:lnSpc>
            </a:pPr>
            <a:r>
              <a:rPr lang="en-US" sz="1600" b="1" dirty="0">
                <a:solidFill>
                  <a:srgbClr val="1E2328"/>
                </a:solidFill>
                <a:latin typeface="QuattrocentoSans" pitchFamily="34" charset="0"/>
                <a:ea typeface="QuattrocentoSans" pitchFamily="34" charset="-122"/>
                <a:cs typeface="QuattrocentoSans" pitchFamily="34" charset="-120"/>
              </a:rPr>
              <a:t>organize different services</a:t>
            </a:r>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a:t>
            </a:r>
            <a:endParaRPr lang="en-US" sz="1800" dirty="0"/>
          </a:p>
          <a:p>
            <a:pPr>
              <a:lnSpc>
                <a:spcPct val="160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Examples: </a:t>
            </a:r>
            <a:pPr>
              <a:lnSpc>
                <a:spcPct val="160000"/>
              </a:lnSpc>
              <a:spcBef>
                <a:spcPts val="600"/>
              </a:spcBef>
            </a:pPr>
            <a:r>
              <a:rPr lang="en-US" sz="1600" dirty="0">
                <a:solidFill>
                  <a:srgbClr val="C9893B"/>
                </a:solidFill>
                <a:latin typeface="QuattrocentoSans" pitchFamily="34" charset="0"/>
                <a:ea typeface="QuattrocentoSans" pitchFamily="34" charset="-122"/>
                <a:cs typeface="QuattrocentoSans" pitchFamily="34" charset="-120"/>
              </a:rPr>
              <a:t>www</a:t>
            </a:r>
            <a:pPr>
              <a:lnSpc>
                <a:spcPct val="160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 </a:t>
            </a:r>
            <a:pPr>
              <a:lnSpc>
                <a:spcPct val="160000"/>
              </a:lnSpc>
              <a:spcBef>
                <a:spcPts val="600"/>
              </a:spcBef>
            </a:pPr>
            <a:r>
              <a:rPr lang="en-US" sz="1600" dirty="0">
                <a:solidFill>
                  <a:srgbClr val="C9893B"/>
                </a:solidFill>
                <a:latin typeface="QuattrocentoSans" pitchFamily="34" charset="0"/>
                <a:ea typeface="QuattrocentoSans" pitchFamily="34" charset="-122"/>
                <a:cs typeface="QuattrocentoSans" pitchFamily="34" charset="-120"/>
              </a:rPr>
              <a:t>mail</a:t>
            </a:r>
            <a:pPr>
              <a:lnSpc>
                <a:spcPct val="160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 </a:t>
            </a:r>
            <a:pPr>
              <a:lnSpc>
                <a:spcPct val="160000"/>
              </a:lnSpc>
              <a:spcBef>
                <a:spcPts val="600"/>
              </a:spcBef>
            </a:pPr>
            <a:r>
              <a:rPr lang="en-US" sz="1600" dirty="0">
                <a:solidFill>
                  <a:srgbClr val="C9893B"/>
                </a:solidFill>
                <a:latin typeface="QuattrocentoSans" pitchFamily="34" charset="0"/>
                <a:ea typeface="QuattrocentoSans" pitchFamily="34" charset="-122"/>
                <a:cs typeface="QuattrocentoSans" pitchFamily="34" charset="-120"/>
              </a:rPr>
              <a:t>blog</a:t>
            </a:r>
            <a:pPr>
              <a:lnSpc>
                <a:spcPct val="160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 </a:t>
            </a:r>
            <a:pPr>
              <a:lnSpc>
                <a:spcPct val="160000"/>
              </a:lnSpc>
              <a:spcBef>
                <a:spcPts val="600"/>
              </a:spcBef>
            </a:pPr>
            <a:r>
              <a:rPr lang="en-US" sz="1600" dirty="0">
                <a:solidFill>
                  <a:srgbClr val="C9893B"/>
                </a:solidFill>
                <a:latin typeface="QuattrocentoSans" pitchFamily="34" charset="0"/>
                <a:ea typeface="QuattrocentoSans" pitchFamily="34" charset="-122"/>
                <a:cs typeface="QuattrocentoSans" pitchFamily="34" charset="-120"/>
              </a:rPr>
              <a:t>drive</a:t>
            </a:r>
            <a:endParaRPr lang="en-US" sz="1800" dirty="0"/>
          </a:p>
          <a:p>
            <a:pPr>
              <a:lnSpc>
                <a:spcPct val="160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Subdomains help structure websites and direct traffic to specific servers.</a:t>
            </a:r>
            <a:endParaRPr lang="en-US" sz="1800" dirty="0"/>
          </a:p>
        </p:txBody>
      </p:sp>
      <p:sp>
        <p:nvSpPr>
          <p:cNvPr id="13" name="Text 11"/>
          <p:cNvSpPr/>
          <p:nvPr/>
        </p:nvSpPr>
        <p:spPr>
          <a:xfrm>
            <a:off x="762000" y="5016500"/>
            <a:ext cx="5080000" cy="3810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Fully Qualified Domain Name (FQDN)</a:t>
            </a:r>
            <a:endParaRPr lang="en-US" sz="2000" dirty="0"/>
          </a:p>
        </p:txBody>
      </p:sp>
      <p:sp>
        <p:nvSpPr>
          <p:cNvPr id="14" name="Shape 12"/>
          <p:cNvSpPr/>
          <p:nvPr/>
        </p:nvSpPr>
        <p:spPr>
          <a:xfrm>
            <a:off x="762000" y="5524500"/>
            <a:ext cx="14732000" cy="1016000"/>
          </a:xfrm>
          <a:prstGeom prst="rect">
            <a:avLst/>
          </a:prstGeom>
          <a:solidFill>
            <a:srgbClr val="2D3E50"/>
          </a:solidFill>
          <a:ln/>
        </p:spPr>
      </p:sp>
      <p:sp>
        <p:nvSpPr>
          <p:cNvPr id="15" name="Text 13"/>
          <p:cNvSpPr/>
          <p:nvPr/>
        </p:nvSpPr>
        <p:spPr>
          <a:xfrm>
            <a:off x="1066800" y="5651500"/>
            <a:ext cx="14122400" cy="762000"/>
          </a:xfrm>
          <a:prstGeom prst="rect">
            <a:avLst/>
          </a:prstGeom>
          <a:noFill/>
          <a:ln/>
        </p:spPr>
        <p:txBody>
          <a:bodyPr wrap="square" lIns="0" tIns="0" rIns="0" bIns="0" rtlCol="0" anchor="ctr"/>
          <a:lstStyle/>
          <a:p>
            <a:pPr algn="ctr">
              <a:lnSpc>
                <a:spcPct val="150000"/>
              </a:lnSpc>
            </a:pPr>
            <a:r>
              <a:rPr lang="en-US" sz="1400" dirty="0">
                <a:solidFill>
                  <a:srgbClr val="FFFFFF">
                    <a:alpha val="60000"/>
                  </a:srgbClr>
                </a:solidFill>
                <a:latin typeface="Quattrocento Sans" pitchFamily="34" charset="0"/>
                <a:ea typeface="Quattrocento Sans" pitchFamily="34" charset="-122"/>
                <a:cs typeface="Quattrocento Sans" pitchFamily="34" charset="-120"/>
              </a:rPr>
              <a:t>www</a:t>
            </a:r>
            <a:pPr algn="ctr">
              <a:lnSpc>
                <a:spcPct val="150000"/>
              </a:lnSpc>
            </a:pPr>
            <a:r>
              <a:rPr lang="en-US" sz="2000" b="1" dirty="0">
                <a:solidFill>
                  <a:srgbClr val="C9893B"/>
                </a:solidFill>
                <a:latin typeface="Quattrocento Sans" pitchFamily="34" charset="0"/>
                <a:ea typeface="Quattrocento Sans" pitchFamily="34" charset="-122"/>
                <a:cs typeface="Quattrocento Sans" pitchFamily="34" charset="-120"/>
              </a:rPr>
              <a:t> . </a:t>
            </a:r>
            <a:pPr algn="ctr">
              <a:lnSpc>
                <a:spcPct val="150000"/>
              </a:lnSpc>
            </a:pPr>
            <a:r>
              <a:rPr lang="en-US" sz="1400" dirty="0">
                <a:solidFill>
                  <a:srgbClr val="FFFFFF">
                    <a:alpha val="60000"/>
                  </a:srgbClr>
                </a:solidFill>
                <a:latin typeface="Quattrocento Sans" pitchFamily="34" charset="0"/>
                <a:ea typeface="Quattrocento Sans" pitchFamily="34" charset="-122"/>
                <a:cs typeface="Quattrocento Sans" pitchFamily="34" charset="-120"/>
              </a:rPr>
              <a:t>example</a:t>
            </a:r>
            <a:pPr algn="ctr">
              <a:lnSpc>
                <a:spcPct val="150000"/>
              </a:lnSpc>
            </a:pPr>
            <a:r>
              <a:rPr lang="en-US" sz="2000" b="1" dirty="0">
                <a:solidFill>
                  <a:srgbClr val="C9893B"/>
                </a:solidFill>
                <a:latin typeface="Quattrocento Sans" pitchFamily="34" charset="0"/>
                <a:ea typeface="Quattrocento Sans" pitchFamily="34" charset="-122"/>
                <a:cs typeface="Quattrocento Sans" pitchFamily="34" charset="-120"/>
              </a:rPr>
              <a:t> . </a:t>
            </a:r>
            <a:pPr algn="ctr">
              <a:lnSpc>
                <a:spcPct val="150000"/>
              </a:lnSpc>
            </a:pPr>
            <a:r>
              <a:rPr lang="en-US" sz="1400" dirty="0">
                <a:solidFill>
                  <a:srgbClr val="FFFFFF">
                    <a:alpha val="60000"/>
                  </a:srgbClr>
                </a:solidFill>
                <a:latin typeface="Quattrocento Sans" pitchFamily="34" charset="0"/>
                <a:ea typeface="Quattrocento Sans" pitchFamily="34" charset="-122"/>
                <a:cs typeface="Quattrocento Sans" pitchFamily="34" charset="-120"/>
              </a:rPr>
              <a:t>com</a:t>
            </a:r>
            <a:pPr algn="ctr">
              <a:lnSpc>
                <a:spcPct val="150000"/>
              </a:lnSpc>
            </a:pPr>
            <a:r>
              <a:rPr lang="en-US" sz="2000" b="1" dirty="0">
                <a:solidFill>
                  <a:srgbClr val="C9893B"/>
                </a:solidFill>
                <a:latin typeface="Quattrocento Sans" pitchFamily="34" charset="0"/>
                <a:ea typeface="Quattrocento Sans" pitchFamily="34" charset="-122"/>
                <a:cs typeface="Quattrocento Sans" pitchFamily="34" charset="-120"/>
              </a:rPr>
              <a:t> . </a:t>
            </a:r>
            <a:pPr algn="ctr">
              <a:lnSpc>
                <a:spcPct val="150000"/>
              </a:lnSpc>
            </a:pPr>
            <a:r>
              <a:rPr lang="en-US" sz="1400" dirty="0">
                <a:solidFill>
                  <a:srgbClr val="FFFFFF">
                    <a:alpha val="60000"/>
                  </a:srgbClr>
                </a:solidFill>
                <a:latin typeface="Quattrocento Sans" pitchFamily="34" charset="0"/>
                <a:ea typeface="Quattrocento Sans" pitchFamily="34" charset="-122"/>
                <a:cs typeface="Quattrocento Sans" pitchFamily="34" charset="-120"/>
              </a:rPr>
              <a:t>(root)</a:t>
            </a:r>
            <a:endParaRPr lang="en-US" sz="1600" dirty="0"/>
          </a:p>
        </p:txBody>
      </p:sp>
      <p:sp>
        <p:nvSpPr>
          <p:cNvPr id="16" name="Text 14"/>
          <p:cNvSpPr/>
          <p:nvPr/>
        </p:nvSpPr>
        <p:spPr>
          <a:xfrm>
            <a:off x="762000" y="6731000"/>
            <a:ext cx="14732000" cy="1016000"/>
          </a:xfrm>
          <a:prstGeom prst="rect">
            <a:avLst/>
          </a:prstGeom>
          <a:noFill/>
          <a:ln/>
        </p:spPr>
        <p:txBody>
          <a:bodyPr wrap="square" lIns="0" tIns="0" rIns="0" bIns="0" rtlCol="0" anchor="t"/>
          <a:lstStyle/>
          <a:p>
            <a:pPr algn="ctr">
              <a:lnSpc>
                <a:spcPct val="160000"/>
              </a:lnSpc>
            </a:pPr>
            <a:r>
              <a:rPr lang="en-US" sz="1500" b="1" dirty="0">
                <a:solidFill>
                  <a:srgbClr val="1E2328"/>
                </a:solidFill>
                <a:latin typeface="Quattrocento Sans" pitchFamily="34" charset="0"/>
                <a:ea typeface="Quattrocento Sans" pitchFamily="34" charset="-122"/>
                <a:cs typeface="Quattrocento Sans" pitchFamily="34" charset="-120"/>
              </a:rPr>
              <a:t>Subdomain</a:t>
            </a:r>
            <a:pPr algn="ct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a:t>
            </a:r>
            <a:pPr algn="ctr">
              <a:lnSpc>
                <a:spcPct val="160000"/>
              </a:lnSpc>
            </a:pPr>
            <a:r>
              <a:rPr lang="en-US" sz="1500" dirty="0">
                <a:solidFill>
                  <a:srgbClr val="6B7B8D"/>
                </a:solidFill>
                <a:latin typeface="Quattrocento Sans" pitchFamily="34" charset="0"/>
                <a:ea typeface="Quattrocento Sans" pitchFamily="34" charset="-122"/>
                <a:cs typeface="Quattrocento Sans" pitchFamily="34" charset="-120"/>
              </a:rPr>
              <a:t>→</a:t>
            </a:r>
            <a:pPr algn="ct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a:t>
            </a:r>
            <a:pPr algn="ctr">
              <a:lnSpc>
                <a:spcPct val="160000"/>
              </a:lnSpc>
            </a:pPr>
            <a:r>
              <a:rPr lang="en-US" sz="1500" b="1" dirty="0">
                <a:solidFill>
                  <a:srgbClr val="1E2328"/>
                </a:solidFill>
                <a:latin typeface="Quattrocento Sans" pitchFamily="34" charset="0"/>
                <a:ea typeface="Quattrocento Sans" pitchFamily="34" charset="-122"/>
                <a:cs typeface="Quattrocento Sans" pitchFamily="34" charset="-120"/>
              </a:rPr>
              <a:t>Second-Level</a:t>
            </a:r>
            <a:pPr algn="ct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a:t>
            </a:r>
            <a:pPr algn="ctr">
              <a:lnSpc>
                <a:spcPct val="160000"/>
              </a:lnSpc>
            </a:pPr>
            <a:r>
              <a:rPr lang="en-US" sz="1500" dirty="0">
                <a:solidFill>
                  <a:srgbClr val="6B7B8D"/>
                </a:solidFill>
                <a:latin typeface="Quattrocento Sans" pitchFamily="34" charset="0"/>
                <a:ea typeface="Quattrocento Sans" pitchFamily="34" charset="-122"/>
                <a:cs typeface="Quattrocento Sans" pitchFamily="34" charset="-120"/>
              </a:rPr>
              <a:t>→</a:t>
            </a:r>
            <a:pPr algn="ct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a:t>
            </a:r>
            <a:pPr algn="ctr">
              <a:lnSpc>
                <a:spcPct val="160000"/>
              </a:lnSpc>
            </a:pPr>
            <a:r>
              <a:rPr lang="en-US" sz="1500" b="1" dirty="0">
                <a:solidFill>
                  <a:srgbClr val="1E2328"/>
                </a:solidFill>
                <a:latin typeface="Quattrocento Sans" pitchFamily="34" charset="0"/>
                <a:ea typeface="Quattrocento Sans" pitchFamily="34" charset="-122"/>
                <a:cs typeface="Quattrocento Sans" pitchFamily="34" charset="-120"/>
              </a:rPr>
              <a:t>TLD</a:t>
            </a:r>
            <a:pPr algn="ct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a:t>
            </a:r>
            <a:pPr algn="ctr">
              <a:lnSpc>
                <a:spcPct val="160000"/>
              </a:lnSpc>
            </a:pPr>
            <a:r>
              <a:rPr lang="en-US" sz="1500" dirty="0">
                <a:solidFill>
                  <a:srgbClr val="6B7B8D"/>
                </a:solidFill>
                <a:latin typeface="Quattrocento Sans" pitchFamily="34" charset="0"/>
                <a:ea typeface="Quattrocento Sans" pitchFamily="34" charset="-122"/>
                <a:cs typeface="Quattrocento Sans" pitchFamily="34" charset="-120"/>
              </a:rPr>
              <a:t>→</a:t>
            </a:r>
            <a:pPr algn="ct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a:t>
            </a:r>
            <a:pPr algn="ctr">
              <a:lnSpc>
                <a:spcPct val="160000"/>
              </a:lnSpc>
            </a:pPr>
            <a:r>
              <a:rPr lang="en-US" sz="1500" b="1" dirty="0">
                <a:solidFill>
                  <a:srgbClr val="1E2328"/>
                </a:solidFill>
                <a:latin typeface="Quattrocento Sans" pitchFamily="34" charset="0"/>
                <a:ea typeface="Quattrocento Sans" pitchFamily="34" charset="-122"/>
                <a:cs typeface="Quattrocento Sans" pitchFamily="34" charset="-120"/>
              </a:rPr>
              <a:t>Root</a:t>
            </a:r>
            <a:endParaRPr lang="en-US" sz="1600" dirty="0"/>
          </a:p>
          <a:p>
            <a:pPr algn="ctr">
              <a:lnSpc>
                <a:spcPct val="160000"/>
              </a:lnSpc>
            </a:pPr>
            <a:r>
              <a:rPr lang="en-US" sz="1500" dirty="0">
                <a:solidFill>
                  <a:srgbClr val="6B7B8D"/>
                </a:solidFill>
                <a:latin typeface="Quattrocento Sans" pitchFamily="34" charset="0"/>
                <a:ea typeface="Quattrocento Sans" pitchFamily="34" charset="-122"/>
                <a:cs typeface="Quattrocento Sans" pitchFamily="34" charset="-120"/>
              </a:rPr>
              <a:t>The trailing dot represents the root of the DNS hierarchy</a:t>
            </a:r>
            <a:endParaRPr lang="en-US" sz="1600" dirty="0"/>
          </a:p>
        </p:txBody>
      </p:sp>
      <p:sp>
        <p:nvSpPr>
          <p:cNvPr id="17" name="Shape 15"/>
          <p:cNvSpPr/>
          <p:nvPr/>
        </p:nvSpPr>
        <p:spPr>
          <a:xfrm>
            <a:off x="762000" y="8382000"/>
            <a:ext cx="14732000" cy="25400"/>
          </a:xfrm>
          <a:prstGeom prst="rect">
            <a:avLst/>
          </a:prstGeom>
          <a:solidFill>
            <a:srgbClr val="C9893B"/>
          </a:solidFill>
          <a:ln/>
        </p:spPr>
      </p:sp>
      <p:sp>
        <p:nvSpPr>
          <p:cNvPr id="18" name="Text 16"/>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09</a:t>
            </a:r>
            <a:endParaRPr lang="en-US" sz="14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762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Types of Domains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Shape 3"/>
          <p:cNvSpPr/>
          <p:nvPr/>
        </p:nvSpPr>
        <p:spPr>
          <a:xfrm>
            <a:off x="762000" y="1587500"/>
            <a:ext cx="4699000" cy="3302000"/>
          </a:xfrm>
          <a:prstGeom prst="rect">
            <a:avLst/>
          </a:prstGeom>
          <a:solidFill>
            <a:srgbClr val="E8E4DE"/>
          </a:solidFill>
          <a:ln/>
        </p:spPr>
      </p:sp>
      <p:sp>
        <p:nvSpPr>
          <p:cNvPr id="6" name="Shape 4"/>
          <p:cNvSpPr/>
          <p:nvPr/>
        </p:nvSpPr>
        <p:spPr>
          <a:xfrm>
            <a:off x="762000" y="1587500"/>
            <a:ext cx="4699000" cy="76200"/>
          </a:xfrm>
          <a:prstGeom prst="rect">
            <a:avLst/>
          </a:prstGeom>
          <a:solidFill>
            <a:srgbClr val="C9893B"/>
          </a:solidFill>
          <a:ln/>
        </p:spPr>
      </p:sp>
      <p:sp>
        <p:nvSpPr>
          <p:cNvPr id="7" name="Text 5"/>
          <p:cNvSpPr/>
          <p:nvPr/>
        </p:nvSpPr>
        <p:spPr>
          <a:xfrm>
            <a:off x="1016000" y="1841500"/>
            <a:ext cx="4191000" cy="355600"/>
          </a:xfrm>
          <a:prstGeom prst="rect">
            <a:avLst/>
          </a:prstGeom>
          <a:noFill/>
          <a:ln/>
        </p:spPr>
        <p:txBody>
          <a:bodyPr wrap="none" lIns="0" tIns="0" rIns="0" bIns="0" rtlCol="0" anchor="ctr"/>
          <a:lstStyle/>
          <a:p>
            <a:pPr>
              <a:lnSpc>
                <a:spcPct val="140000"/>
              </a:lnSpc>
            </a:pPr>
            <a:r>
              <a:rPr lang="en-US" sz="1800" b="1" dirty="0">
                <a:solidFill>
                  <a:srgbClr val="2D3E50"/>
                </a:solidFill>
                <a:latin typeface="Liter" pitchFamily="34" charset="0"/>
                <a:ea typeface="Liter" pitchFamily="34" charset="-122"/>
                <a:cs typeface="Liter" pitchFamily="34" charset="-120"/>
              </a:rPr>
              <a:t>Generic Domains (gTLDs)</a:t>
            </a:r>
            <a:endParaRPr lang="en-US" sz="2000" dirty="0"/>
          </a:p>
        </p:txBody>
      </p:sp>
      <p:sp>
        <p:nvSpPr>
          <p:cNvPr id="8" name="Text 6"/>
          <p:cNvSpPr/>
          <p:nvPr/>
        </p:nvSpPr>
        <p:spPr>
          <a:xfrm>
            <a:off x="1016000" y="2286000"/>
            <a:ext cx="4191000" cy="2413000"/>
          </a:xfrm>
          <a:prstGeom prst="rect">
            <a:avLst/>
          </a:prstGeom>
          <a:noFill/>
          <a:ln/>
        </p:spPr>
        <p:txBody>
          <a:bodyPr wrap="square" lIns="0" tIns="0" rIns="0" bIns="0" rtlCol="0" anchor="ctr"/>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Used for general purposes worldwide:</a:t>
            </a:r>
            <a:endParaRPr lang="en-US" sz="1600" dirty="0"/>
          </a:p>
          <a:p>
            <a:pPr>
              <a:lnSpc>
                <a:spcPct val="160000"/>
              </a:lnSpc>
              <a:spcBef>
                <a:spcPts val="400"/>
              </a:spcBef>
            </a:pPr>
            <a:r>
              <a:rPr lang="en-US" sz="1500" dirty="0">
                <a:solidFill>
                  <a:srgbClr val="C9893B"/>
                </a:solidFill>
                <a:latin typeface="Quattrocento Sans" pitchFamily="34" charset="0"/>
                <a:ea typeface="Quattrocento Sans" pitchFamily="34" charset="-122"/>
                <a:cs typeface="Quattrocento Sans" pitchFamily="34" charset="-120"/>
              </a:rPr>
              <a:t>.com</a:t>
            </a:r>
            <a:pPr>
              <a:lnSpc>
                <a:spcPct val="160000"/>
              </a:lnSpc>
              <a:spcBef>
                <a:spcPts val="400"/>
              </a:spcBef>
            </a:pPr>
            <a:r>
              <a:rPr lang="en-US" sz="1500" dirty="0">
                <a:solidFill>
                  <a:srgbClr val="1E2328"/>
                </a:solidFill>
                <a:latin typeface="Quattrocento Sans" pitchFamily="34" charset="0"/>
                <a:ea typeface="Quattrocento Sans" pitchFamily="34" charset="-122"/>
                <a:cs typeface="Quattrocento Sans" pitchFamily="34" charset="-120"/>
              </a:rPr>
              <a:t> — Commercial</a:t>
            </a:r>
            <a:endParaRPr lang="en-US" sz="1600" dirty="0"/>
          </a:p>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.org</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Organizations</a:t>
            </a:r>
            <a:endParaRPr lang="en-US" sz="1600" dirty="0"/>
          </a:p>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.net</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Networks</a:t>
            </a:r>
            <a:endParaRPr lang="en-US" sz="1600" dirty="0"/>
          </a:p>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.edu</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Education</a:t>
            </a:r>
            <a:endParaRPr lang="en-US" sz="1600" dirty="0"/>
          </a:p>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.gov</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Government</a:t>
            </a:r>
            <a:endParaRPr lang="en-US" sz="1600" dirty="0"/>
          </a:p>
        </p:txBody>
      </p:sp>
      <p:sp>
        <p:nvSpPr>
          <p:cNvPr id="9" name="Shape 7"/>
          <p:cNvSpPr/>
          <p:nvPr/>
        </p:nvSpPr>
        <p:spPr>
          <a:xfrm>
            <a:off x="5778500" y="1587500"/>
            <a:ext cx="4699000" cy="3302000"/>
          </a:xfrm>
          <a:prstGeom prst="rect">
            <a:avLst/>
          </a:prstGeom>
          <a:solidFill>
            <a:srgbClr val="E8E4DE"/>
          </a:solidFill>
          <a:ln/>
        </p:spPr>
      </p:sp>
      <p:sp>
        <p:nvSpPr>
          <p:cNvPr id="10" name="Shape 8"/>
          <p:cNvSpPr/>
          <p:nvPr/>
        </p:nvSpPr>
        <p:spPr>
          <a:xfrm>
            <a:off x="5778500" y="1587500"/>
            <a:ext cx="4699000" cy="76200"/>
          </a:xfrm>
          <a:prstGeom prst="rect">
            <a:avLst/>
          </a:prstGeom>
          <a:solidFill>
            <a:srgbClr val="2D3E50"/>
          </a:solidFill>
          <a:ln/>
        </p:spPr>
      </p:sp>
      <p:sp>
        <p:nvSpPr>
          <p:cNvPr id="11" name="Text 9"/>
          <p:cNvSpPr/>
          <p:nvPr/>
        </p:nvSpPr>
        <p:spPr>
          <a:xfrm>
            <a:off x="6032500" y="1841500"/>
            <a:ext cx="4191000" cy="355600"/>
          </a:xfrm>
          <a:prstGeom prst="rect">
            <a:avLst/>
          </a:prstGeom>
          <a:noFill/>
          <a:ln/>
        </p:spPr>
        <p:txBody>
          <a:bodyPr wrap="none" lIns="0" tIns="0" rIns="0" bIns="0" rtlCol="0" anchor="ctr"/>
          <a:lstStyle/>
          <a:p>
            <a:pPr>
              <a:lnSpc>
                <a:spcPct val="140000"/>
              </a:lnSpc>
            </a:pPr>
            <a:r>
              <a:rPr lang="en-US" sz="1800" b="1" dirty="0">
                <a:solidFill>
                  <a:srgbClr val="2D3E50"/>
                </a:solidFill>
                <a:latin typeface="Liter" pitchFamily="34" charset="0"/>
                <a:ea typeface="Liter" pitchFamily="34" charset="-122"/>
                <a:cs typeface="Liter" pitchFamily="34" charset="-120"/>
              </a:rPr>
              <a:t>Country Code (ccTLDs)</a:t>
            </a:r>
            <a:endParaRPr lang="en-US" sz="2000" dirty="0"/>
          </a:p>
        </p:txBody>
      </p:sp>
      <p:sp>
        <p:nvSpPr>
          <p:cNvPr id="12" name="Text 10"/>
          <p:cNvSpPr/>
          <p:nvPr/>
        </p:nvSpPr>
        <p:spPr>
          <a:xfrm>
            <a:off x="6032500" y="2286000"/>
            <a:ext cx="4191000" cy="2413000"/>
          </a:xfrm>
          <a:prstGeom prst="rect">
            <a:avLst/>
          </a:prstGeom>
          <a:noFill/>
          <a:ln/>
        </p:spPr>
        <p:txBody>
          <a:bodyPr wrap="square" lIns="0" tIns="0" rIns="0" bIns="0" rtlCol="0" anchor="ctr"/>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Represent specific countries:</a:t>
            </a:r>
            <a:endParaRPr lang="en-US" sz="1600" dirty="0"/>
          </a:p>
          <a:p>
            <a:pPr>
              <a:lnSpc>
                <a:spcPct val="160000"/>
              </a:lnSpc>
              <a:spcBef>
                <a:spcPts val="400"/>
              </a:spcBef>
            </a:pPr>
            <a:r>
              <a:rPr lang="en-US" sz="1500" dirty="0">
                <a:solidFill>
                  <a:srgbClr val="C9893B"/>
                </a:solidFill>
                <a:latin typeface="Quattrocento Sans" pitchFamily="34" charset="0"/>
                <a:ea typeface="Quattrocento Sans" pitchFamily="34" charset="-122"/>
                <a:cs typeface="Quattrocento Sans" pitchFamily="34" charset="-120"/>
              </a:rPr>
              <a:t>.uk</a:t>
            </a:r>
            <a:pPr>
              <a:lnSpc>
                <a:spcPct val="160000"/>
              </a:lnSpc>
              <a:spcBef>
                <a:spcPts val="400"/>
              </a:spcBef>
            </a:pPr>
            <a:r>
              <a:rPr lang="en-US" sz="1500" dirty="0">
                <a:solidFill>
                  <a:srgbClr val="1E2328"/>
                </a:solidFill>
                <a:latin typeface="Quattrocento Sans" pitchFamily="34" charset="0"/>
                <a:ea typeface="Quattrocento Sans" pitchFamily="34" charset="-122"/>
                <a:cs typeface="Quattrocento Sans" pitchFamily="34" charset="-120"/>
              </a:rPr>
              <a:t> — United Kingdom</a:t>
            </a:r>
            <a:endParaRPr lang="en-US" sz="1600" dirty="0"/>
          </a:p>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.us</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United States</a:t>
            </a:r>
            <a:endParaRPr lang="en-US" sz="1600" dirty="0"/>
          </a:p>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.jp</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Japan</a:t>
            </a:r>
            <a:endParaRPr lang="en-US" sz="1600" dirty="0"/>
          </a:p>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.de</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Germany</a:t>
            </a:r>
            <a:endParaRPr lang="en-US" sz="1600" dirty="0"/>
          </a:p>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.in</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India</a:t>
            </a:r>
            <a:endParaRPr lang="en-US" sz="1600" dirty="0"/>
          </a:p>
        </p:txBody>
      </p:sp>
      <p:sp>
        <p:nvSpPr>
          <p:cNvPr id="13" name="Shape 11"/>
          <p:cNvSpPr/>
          <p:nvPr/>
        </p:nvSpPr>
        <p:spPr>
          <a:xfrm>
            <a:off x="10795000" y="1587500"/>
            <a:ext cx="4699000" cy="3683000"/>
          </a:xfrm>
          <a:prstGeom prst="rect">
            <a:avLst/>
          </a:prstGeom>
          <a:solidFill>
            <a:srgbClr val="E8E4DE"/>
          </a:solidFill>
          <a:ln/>
        </p:spPr>
      </p:sp>
      <p:sp>
        <p:nvSpPr>
          <p:cNvPr id="14" name="Shape 12"/>
          <p:cNvSpPr/>
          <p:nvPr/>
        </p:nvSpPr>
        <p:spPr>
          <a:xfrm>
            <a:off x="10795000" y="1587500"/>
            <a:ext cx="4699000" cy="76200"/>
          </a:xfrm>
          <a:prstGeom prst="rect">
            <a:avLst/>
          </a:prstGeom>
          <a:solidFill>
            <a:srgbClr val="4A5D70"/>
          </a:solidFill>
          <a:ln/>
        </p:spPr>
      </p:sp>
      <p:sp>
        <p:nvSpPr>
          <p:cNvPr id="15" name="Text 13"/>
          <p:cNvSpPr/>
          <p:nvPr/>
        </p:nvSpPr>
        <p:spPr>
          <a:xfrm>
            <a:off x="11049000" y="1841500"/>
            <a:ext cx="4191000" cy="355600"/>
          </a:xfrm>
          <a:prstGeom prst="rect">
            <a:avLst/>
          </a:prstGeom>
          <a:noFill/>
          <a:ln/>
        </p:spPr>
        <p:txBody>
          <a:bodyPr wrap="none" lIns="0" tIns="0" rIns="0" bIns="0" rtlCol="0" anchor="ctr"/>
          <a:lstStyle/>
          <a:p>
            <a:pPr>
              <a:lnSpc>
                <a:spcPct val="140000"/>
              </a:lnSpc>
            </a:pPr>
            <a:r>
              <a:rPr lang="en-US" sz="1800" b="1" dirty="0">
                <a:solidFill>
                  <a:srgbClr val="2D3E50"/>
                </a:solidFill>
                <a:latin typeface="Liter" pitchFamily="34" charset="0"/>
                <a:ea typeface="Liter" pitchFamily="34" charset="-122"/>
                <a:cs typeface="Liter" pitchFamily="34" charset="-120"/>
              </a:rPr>
              <a:t>Specialized Domains</a:t>
            </a:r>
            <a:endParaRPr lang="en-US" sz="2000" dirty="0"/>
          </a:p>
        </p:txBody>
      </p:sp>
      <p:sp>
        <p:nvSpPr>
          <p:cNvPr id="16" name="Text 14"/>
          <p:cNvSpPr/>
          <p:nvPr/>
        </p:nvSpPr>
        <p:spPr>
          <a:xfrm>
            <a:off x="11049000" y="2286000"/>
            <a:ext cx="4191000" cy="2794000"/>
          </a:xfrm>
          <a:prstGeom prst="rect">
            <a:avLst/>
          </a:prstGeom>
          <a:noFill/>
          <a:ln/>
        </p:spPr>
        <p:txBody>
          <a:bodyPr wrap="square" lIns="0" tIns="0" rIns="0" bIns="0" rtlCol="0" anchor="ctr"/>
          <a:lstStyle/>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Reverse DNS</a:t>
            </a:r>
            <a:endParaRPr lang="en-US" sz="1600" dirty="0"/>
          </a:p>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Maps IP → domain (in-addr.arpa)</a:t>
            </a:r>
            <a:endParaRPr lang="en-US" sz="1600" dirty="0"/>
          </a:p>
          <a:p>
            <a:pPr>
              <a:lnSpc>
                <a:spcPct val="160000"/>
              </a:lnSpc>
              <a:spcBef>
                <a:spcPts val="600"/>
              </a:spcBef>
            </a:pPr>
            <a:r>
              <a:rPr lang="en-US" sz="1500" dirty="0">
                <a:solidFill>
                  <a:srgbClr val="C9893B"/>
                </a:solidFill>
                <a:latin typeface="Quattrocento Sans" pitchFamily="34" charset="0"/>
                <a:ea typeface="Quattrocento Sans" pitchFamily="34" charset="-122"/>
                <a:cs typeface="Quattrocento Sans" pitchFamily="34" charset="-120"/>
              </a:rPr>
              <a:t>IDN</a:t>
            </a:r>
            <a:endParaRPr lang="en-US" sz="1600" dirty="0"/>
          </a:p>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Internationalized domain names supporting non-ASCII characters</a:t>
            </a:r>
            <a:endParaRPr lang="en-US" sz="1600" dirty="0"/>
          </a:p>
          <a:p>
            <a:pPr>
              <a:lnSpc>
                <a:spcPct val="160000"/>
              </a:lnSpc>
              <a:spcBef>
                <a:spcPts val="600"/>
              </a:spcBef>
            </a:pPr>
            <a:r>
              <a:rPr lang="en-US" sz="1500" dirty="0">
                <a:solidFill>
                  <a:srgbClr val="C9893B"/>
                </a:solidFill>
                <a:latin typeface="Quattrocento Sans" pitchFamily="34" charset="0"/>
                <a:ea typeface="Quattrocento Sans" pitchFamily="34" charset="-122"/>
                <a:cs typeface="Quattrocento Sans" pitchFamily="34" charset="-120"/>
              </a:rPr>
              <a:t>Sponsored (sTLDs)</a:t>
            </a:r>
            <a:endParaRPr lang="en-US" sz="1600" dirty="0"/>
          </a:p>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.aero, .museum, .travel</a:t>
            </a:r>
            <a:endParaRPr lang="en-US" sz="1600" dirty="0"/>
          </a:p>
        </p:txBody>
      </p:sp>
      <p:sp>
        <p:nvSpPr>
          <p:cNvPr id="17" name="Text 15"/>
          <p:cNvSpPr/>
          <p:nvPr/>
        </p:nvSpPr>
        <p:spPr>
          <a:xfrm>
            <a:off x="762000" y="5397500"/>
            <a:ext cx="14732000" cy="1016000"/>
          </a:xfrm>
          <a:prstGeom prst="rect">
            <a:avLst/>
          </a:prstGeom>
          <a:noFill/>
          <a:ln/>
        </p:spPr>
        <p:txBody>
          <a:bodyPr wrap="square" lIns="0" tIns="0" rIns="0" bIns="0" rtlCol="0" anchor="ctr"/>
          <a:lstStyle/>
          <a:p>
            <a:pPr>
              <a:lnSpc>
                <a:spcPct val="160000"/>
              </a:lnSpc>
            </a:pPr>
            <a:r>
              <a:rPr lang="en-US" sz="1600" b="1" dirty="0">
                <a:solidFill>
                  <a:srgbClr val="1E2328"/>
                </a:solidFill>
                <a:latin typeface="QuattrocentoSans" pitchFamily="34" charset="0"/>
                <a:ea typeface="QuattrocentoSans" pitchFamily="34" charset="-122"/>
                <a:cs typeface="QuattrocentoSans" pitchFamily="34" charset="-120"/>
              </a:rPr>
              <a:t>Reverse DNS</a:t>
            </a:r>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 is particularly important for email security — many mail servers use reverse DNS checks to verify sender legitimacy and prevent spam. PTR (Pointer) records are used for this purpose.</a:t>
            </a:r>
            <a:endParaRPr lang="en-US" sz="1800" dirty="0"/>
          </a:p>
        </p:txBody>
      </p:sp>
      <p:sp>
        <p:nvSpPr>
          <p:cNvPr id="18" name="Shape 16"/>
          <p:cNvSpPr/>
          <p:nvPr/>
        </p:nvSpPr>
        <p:spPr>
          <a:xfrm>
            <a:off x="762000" y="8382000"/>
            <a:ext cx="14732000" cy="25400"/>
          </a:xfrm>
          <a:prstGeom prst="rect">
            <a:avLst/>
          </a:prstGeom>
          <a:solidFill>
            <a:srgbClr val="C9893B"/>
          </a:solidFill>
          <a:ln/>
        </p:spPr>
      </p:sp>
      <p:sp>
        <p:nvSpPr>
          <p:cNvPr id="19" name="Text 17"/>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10</a:t>
            </a:r>
            <a:endParaRPr lang="en-US" sz="14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How DNS Resolution Works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498600"/>
            <a:ext cx="14732000" cy="8255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DNS resolution converts a domain name into its IP address through multiple servers working together. The entire process typically completes in </a:t>
            </a:r>
            <a:pPr>
              <a:lnSpc>
                <a:spcPct val="160000"/>
              </a:lnSpc>
            </a:pPr>
            <a:r>
              <a:rPr lang="en-US" sz="1600" b="1" dirty="0">
                <a:solidFill>
                  <a:srgbClr val="C9893B"/>
                </a:solidFill>
                <a:latin typeface="QuattrocentoSans" pitchFamily="34" charset="0"/>
                <a:ea typeface="QuattrocentoSans" pitchFamily="34" charset="-122"/>
                <a:cs typeface="QuattrocentoSans" pitchFamily="34" charset="-120"/>
              </a:rPr>
              <a:t>under 50 milliseconds</a:t>
            </a:r>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a:t>
            </a:r>
            <a:endParaRPr lang="en-US" sz="1800" dirty="0"/>
          </a:p>
        </p:txBody>
      </p:sp>
      <p:sp>
        <p:nvSpPr>
          <p:cNvPr id="6" name="Shape 4"/>
          <p:cNvSpPr/>
          <p:nvPr/>
        </p:nvSpPr>
        <p:spPr>
          <a:xfrm>
            <a:off x="762000" y="2349500"/>
            <a:ext cx="457200" cy="457200"/>
          </a:xfrm>
          <a:prstGeom prst="ellipse">
            <a:avLst/>
          </a:prstGeom>
          <a:solidFill>
            <a:srgbClr val="C9893B"/>
          </a:solidFill>
          <a:ln/>
        </p:spPr>
      </p:sp>
      <p:sp>
        <p:nvSpPr>
          <p:cNvPr id="7" name="Text 5"/>
          <p:cNvSpPr/>
          <p:nvPr/>
        </p:nvSpPr>
        <p:spPr>
          <a:xfrm>
            <a:off x="762000" y="2349500"/>
            <a:ext cx="457200" cy="4572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397000" y="2349500"/>
            <a:ext cx="6223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User enters a domain name in the browser</a:t>
            </a:r>
            <a:endParaRPr lang="en-US" sz="1600" dirty="0"/>
          </a:p>
        </p:txBody>
      </p:sp>
      <p:sp>
        <p:nvSpPr>
          <p:cNvPr id="9" name="Shape 7"/>
          <p:cNvSpPr/>
          <p:nvPr/>
        </p:nvSpPr>
        <p:spPr>
          <a:xfrm>
            <a:off x="762000" y="2959100"/>
            <a:ext cx="457200" cy="457200"/>
          </a:xfrm>
          <a:prstGeom prst="ellipse">
            <a:avLst/>
          </a:prstGeom>
          <a:solidFill>
            <a:srgbClr val="C9893B"/>
          </a:solidFill>
          <a:ln/>
        </p:spPr>
      </p:sp>
      <p:sp>
        <p:nvSpPr>
          <p:cNvPr id="10" name="Text 8"/>
          <p:cNvSpPr/>
          <p:nvPr/>
        </p:nvSpPr>
        <p:spPr>
          <a:xfrm>
            <a:off x="762000" y="2959100"/>
            <a:ext cx="457200" cy="4572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2</a:t>
            </a:r>
            <a:endParaRPr lang="en-US" sz="1600" dirty="0"/>
          </a:p>
        </p:txBody>
      </p:sp>
      <p:sp>
        <p:nvSpPr>
          <p:cNvPr id="11" name="Text 9"/>
          <p:cNvSpPr/>
          <p:nvPr/>
        </p:nvSpPr>
        <p:spPr>
          <a:xfrm>
            <a:off x="1397000" y="2959100"/>
            <a:ext cx="6223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Browser checks local cache for stored IP</a:t>
            </a:r>
            <a:endParaRPr lang="en-US" sz="1600" dirty="0"/>
          </a:p>
        </p:txBody>
      </p:sp>
      <p:sp>
        <p:nvSpPr>
          <p:cNvPr id="12" name="Shape 10"/>
          <p:cNvSpPr/>
          <p:nvPr/>
        </p:nvSpPr>
        <p:spPr>
          <a:xfrm>
            <a:off x="762000" y="3568700"/>
            <a:ext cx="457200" cy="457200"/>
          </a:xfrm>
          <a:prstGeom prst="ellipse">
            <a:avLst/>
          </a:prstGeom>
          <a:solidFill>
            <a:srgbClr val="C9893B"/>
          </a:solidFill>
          <a:ln/>
        </p:spPr>
      </p:sp>
      <p:sp>
        <p:nvSpPr>
          <p:cNvPr id="13" name="Text 11"/>
          <p:cNvSpPr/>
          <p:nvPr/>
        </p:nvSpPr>
        <p:spPr>
          <a:xfrm>
            <a:off x="762000" y="3568700"/>
            <a:ext cx="457200" cy="4572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3</a:t>
            </a:r>
            <a:endParaRPr lang="en-US" sz="1600" dirty="0"/>
          </a:p>
        </p:txBody>
      </p:sp>
      <p:sp>
        <p:nvSpPr>
          <p:cNvPr id="14" name="Text 12"/>
          <p:cNvSpPr/>
          <p:nvPr/>
        </p:nvSpPr>
        <p:spPr>
          <a:xfrm>
            <a:off x="1397000" y="3568700"/>
            <a:ext cx="6223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OS checks its cache and hosts file</a:t>
            </a:r>
            <a:endParaRPr lang="en-US" sz="1600" dirty="0"/>
          </a:p>
        </p:txBody>
      </p:sp>
      <p:sp>
        <p:nvSpPr>
          <p:cNvPr id="15" name="Shape 13"/>
          <p:cNvSpPr/>
          <p:nvPr/>
        </p:nvSpPr>
        <p:spPr>
          <a:xfrm>
            <a:off x="762000" y="4178300"/>
            <a:ext cx="457200" cy="457200"/>
          </a:xfrm>
          <a:prstGeom prst="ellipse">
            <a:avLst/>
          </a:prstGeom>
          <a:solidFill>
            <a:srgbClr val="2D3E50"/>
          </a:solidFill>
          <a:ln/>
        </p:spPr>
      </p:sp>
      <p:sp>
        <p:nvSpPr>
          <p:cNvPr id="16" name="Text 14"/>
          <p:cNvSpPr/>
          <p:nvPr/>
        </p:nvSpPr>
        <p:spPr>
          <a:xfrm>
            <a:off x="762000" y="4178300"/>
            <a:ext cx="457200" cy="4572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4</a:t>
            </a:r>
            <a:endParaRPr lang="en-US" sz="1600" dirty="0"/>
          </a:p>
        </p:txBody>
      </p:sp>
      <p:sp>
        <p:nvSpPr>
          <p:cNvPr id="17" name="Text 15"/>
          <p:cNvSpPr/>
          <p:nvPr/>
        </p:nvSpPr>
        <p:spPr>
          <a:xfrm>
            <a:off x="1397000" y="4178300"/>
            <a:ext cx="6223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Query sent to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recursive DNS resolver</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(ISP)</a:t>
            </a:r>
            <a:endParaRPr lang="en-US" sz="1600" dirty="0"/>
          </a:p>
        </p:txBody>
      </p:sp>
      <p:sp>
        <p:nvSpPr>
          <p:cNvPr id="18" name="Shape 16"/>
          <p:cNvSpPr/>
          <p:nvPr/>
        </p:nvSpPr>
        <p:spPr>
          <a:xfrm>
            <a:off x="762000" y="4787900"/>
            <a:ext cx="457200" cy="457200"/>
          </a:xfrm>
          <a:prstGeom prst="ellipse">
            <a:avLst/>
          </a:prstGeom>
          <a:solidFill>
            <a:srgbClr val="2D3E50"/>
          </a:solidFill>
          <a:ln/>
        </p:spPr>
      </p:sp>
      <p:sp>
        <p:nvSpPr>
          <p:cNvPr id="19" name="Text 17"/>
          <p:cNvSpPr/>
          <p:nvPr/>
        </p:nvSpPr>
        <p:spPr>
          <a:xfrm>
            <a:off x="762000" y="4787900"/>
            <a:ext cx="457200" cy="4572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5</a:t>
            </a:r>
            <a:endParaRPr lang="en-US" sz="1600" dirty="0"/>
          </a:p>
        </p:txBody>
      </p:sp>
      <p:sp>
        <p:nvSpPr>
          <p:cNvPr id="20" name="Text 18"/>
          <p:cNvSpPr/>
          <p:nvPr/>
        </p:nvSpPr>
        <p:spPr>
          <a:xfrm>
            <a:off x="1397000" y="4787900"/>
            <a:ext cx="6223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Resolver queries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Root Server</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 gets TLD referral</a:t>
            </a:r>
            <a:endParaRPr lang="en-US" sz="1600" dirty="0"/>
          </a:p>
        </p:txBody>
      </p:sp>
      <p:sp>
        <p:nvSpPr>
          <p:cNvPr id="21" name="Shape 19"/>
          <p:cNvSpPr/>
          <p:nvPr/>
        </p:nvSpPr>
        <p:spPr>
          <a:xfrm>
            <a:off x="762000" y="5397500"/>
            <a:ext cx="457200" cy="457200"/>
          </a:xfrm>
          <a:prstGeom prst="ellipse">
            <a:avLst/>
          </a:prstGeom>
          <a:solidFill>
            <a:srgbClr val="2D3E50"/>
          </a:solidFill>
          <a:ln/>
        </p:spPr>
      </p:sp>
      <p:sp>
        <p:nvSpPr>
          <p:cNvPr id="22" name="Text 20"/>
          <p:cNvSpPr/>
          <p:nvPr/>
        </p:nvSpPr>
        <p:spPr>
          <a:xfrm>
            <a:off x="762000" y="5397500"/>
            <a:ext cx="457200" cy="4572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6</a:t>
            </a:r>
            <a:endParaRPr lang="en-US" sz="1600" dirty="0"/>
          </a:p>
        </p:txBody>
      </p:sp>
      <p:sp>
        <p:nvSpPr>
          <p:cNvPr id="23" name="Text 21"/>
          <p:cNvSpPr/>
          <p:nvPr/>
        </p:nvSpPr>
        <p:spPr>
          <a:xfrm>
            <a:off x="1397000" y="5397500"/>
            <a:ext cx="6223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Resolver queries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TLD Server</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 gets Authoritative referral</a:t>
            </a:r>
            <a:endParaRPr lang="en-US" sz="1600" dirty="0"/>
          </a:p>
        </p:txBody>
      </p:sp>
      <p:sp>
        <p:nvSpPr>
          <p:cNvPr id="24" name="Shape 22"/>
          <p:cNvSpPr/>
          <p:nvPr/>
        </p:nvSpPr>
        <p:spPr>
          <a:xfrm>
            <a:off x="762000" y="6007100"/>
            <a:ext cx="457200" cy="457200"/>
          </a:xfrm>
          <a:prstGeom prst="ellipse">
            <a:avLst/>
          </a:prstGeom>
          <a:solidFill>
            <a:srgbClr val="2D3E50"/>
          </a:solidFill>
          <a:ln/>
        </p:spPr>
      </p:sp>
      <p:sp>
        <p:nvSpPr>
          <p:cNvPr id="25" name="Text 23"/>
          <p:cNvSpPr/>
          <p:nvPr/>
        </p:nvSpPr>
        <p:spPr>
          <a:xfrm>
            <a:off x="762000" y="6007100"/>
            <a:ext cx="457200" cy="4572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7</a:t>
            </a:r>
            <a:endParaRPr lang="en-US" sz="1600" dirty="0"/>
          </a:p>
        </p:txBody>
      </p:sp>
      <p:sp>
        <p:nvSpPr>
          <p:cNvPr id="26" name="Text 24"/>
          <p:cNvSpPr/>
          <p:nvPr/>
        </p:nvSpPr>
        <p:spPr>
          <a:xfrm>
            <a:off x="1397000" y="6007100"/>
            <a:ext cx="6223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Resolver queries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Authoritative Server</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 gets IP</a:t>
            </a:r>
            <a:endParaRPr lang="en-US" sz="1600" dirty="0"/>
          </a:p>
        </p:txBody>
      </p:sp>
      <p:sp>
        <p:nvSpPr>
          <p:cNvPr id="27" name="Shape 25"/>
          <p:cNvSpPr/>
          <p:nvPr/>
        </p:nvSpPr>
        <p:spPr>
          <a:xfrm>
            <a:off x="762000" y="6616700"/>
            <a:ext cx="457200" cy="457200"/>
          </a:xfrm>
          <a:prstGeom prst="ellipse">
            <a:avLst/>
          </a:prstGeom>
          <a:solidFill>
            <a:srgbClr val="C9893B"/>
          </a:solidFill>
          <a:ln/>
        </p:spPr>
      </p:sp>
      <p:sp>
        <p:nvSpPr>
          <p:cNvPr id="28" name="Text 26"/>
          <p:cNvSpPr/>
          <p:nvPr/>
        </p:nvSpPr>
        <p:spPr>
          <a:xfrm>
            <a:off x="762000" y="6616700"/>
            <a:ext cx="457200" cy="4572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8</a:t>
            </a:r>
            <a:endParaRPr lang="en-US" sz="1600" dirty="0"/>
          </a:p>
        </p:txBody>
      </p:sp>
      <p:sp>
        <p:nvSpPr>
          <p:cNvPr id="29" name="Text 27"/>
          <p:cNvSpPr/>
          <p:nvPr/>
        </p:nvSpPr>
        <p:spPr>
          <a:xfrm>
            <a:off x="1397000" y="6616700"/>
            <a:ext cx="6223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Resolver </a:t>
            </a:r>
            <a:pPr>
              <a:lnSpc>
                <a:spcPct val="100000"/>
              </a:lnSpc>
            </a:pPr>
            <a:r>
              <a:rPr lang="en-US" sz="1600" b="1" dirty="0">
                <a:solidFill>
                  <a:srgbClr val="1E2328"/>
                </a:solidFill>
                <a:latin typeface="Quattrocento Sans" pitchFamily="34" charset="0"/>
                <a:ea typeface="Quattrocento Sans" pitchFamily="34" charset="-122"/>
                <a:cs typeface="Quattrocento Sans" pitchFamily="34" charset="-120"/>
              </a:rPr>
              <a:t>caches</a:t>
            </a:r>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 result and returns IP to browser</a:t>
            </a:r>
            <a:endParaRPr lang="en-US" sz="1600" dirty="0"/>
          </a:p>
        </p:txBody>
      </p:sp>
      <p:sp>
        <p:nvSpPr>
          <p:cNvPr id="30" name="Shape 28"/>
          <p:cNvSpPr/>
          <p:nvPr/>
        </p:nvSpPr>
        <p:spPr>
          <a:xfrm>
            <a:off x="762000" y="7226300"/>
            <a:ext cx="457200" cy="457200"/>
          </a:xfrm>
          <a:prstGeom prst="ellipse">
            <a:avLst/>
          </a:prstGeom>
          <a:solidFill>
            <a:srgbClr val="C9893B"/>
          </a:solidFill>
          <a:ln/>
        </p:spPr>
      </p:sp>
      <p:sp>
        <p:nvSpPr>
          <p:cNvPr id="31" name="Text 29"/>
          <p:cNvSpPr/>
          <p:nvPr/>
        </p:nvSpPr>
        <p:spPr>
          <a:xfrm>
            <a:off x="762000" y="7226300"/>
            <a:ext cx="457200" cy="4572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9</a:t>
            </a:r>
            <a:endParaRPr lang="en-US" sz="1600" dirty="0"/>
          </a:p>
        </p:txBody>
      </p:sp>
      <p:sp>
        <p:nvSpPr>
          <p:cNvPr id="32" name="Text 30"/>
          <p:cNvSpPr/>
          <p:nvPr/>
        </p:nvSpPr>
        <p:spPr>
          <a:xfrm>
            <a:off x="1397000" y="7226300"/>
            <a:ext cx="6223000" cy="457200"/>
          </a:xfrm>
          <a:prstGeom prst="rect">
            <a:avLst/>
          </a:prstGeom>
          <a:noFill/>
          <a:ln/>
        </p:spPr>
        <p:txBody>
          <a:bodyPr wrap="square" lIns="0" tIns="0" rIns="0" bIns="0" rtlCol="0" anchor="ctr"/>
          <a:lstStyle/>
          <a:p>
            <a:pPr>
              <a:lnSpc>
                <a:spcPct val="100000"/>
              </a:lnSpc>
            </a:pPr>
            <a:r>
              <a:rPr lang="en-US" sz="1600" dirty="0">
                <a:solidFill>
                  <a:srgbClr val="1E2328"/>
                </a:solidFill>
                <a:latin typeface="Quattrocento Sans" pitchFamily="34" charset="0"/>
                <a:ea typeface="Quattrocento Sans" pitchFamily="34" charset="-122"/>
                <a:cs typeface="Quattrocento Sans" pitchFamily="34" charset="-120"/>
              </a:rPr>
              <a:t>Browser connects to the website using the IP address</a:t>
            </a:r>
            <a:endParaRPr lang="en-US" sz="1600" dirty="0"/>
          </a:p>
        </p:txBody>
      </p:sp>
      <p:sp>
        <p:nvSpPr>
          <p:cNvPr id="33" name="Shape 31"/>
          <p:cNvSpPr/>
          <p:nvPr/>
        </p:nvSpPr>
        <p:spPr>
          <a:xfrm>
            <a:off x="8382000" y="2349500"/>
            <a:ext cx="7112000" cy="5334000"/>
          </a:xfrm>
          <a:prstGeom prst="rect">
            <a:avLst/>
          </a:prstGeom>
          <a:solidFill>
            <a:srgbClr val="2D3E50"/>
          </a:solidFill>
          <a:ln/>
        </p:spPr>
      </p:sp>
      <p:sp>
        <p:nvSpPr>
          <p:cNvPr id="34" name="Text 32"/>
          <p:cNvSpPr/>
          <p:nvPr/>
        </p:nvSpPr>
        <p:spPr>
          <a:xfrm>
            <a:off x="8686800" y="2540000"/>
            <a:ext cx="6502400" cy="330200"/>
          </a:xfrm>
          <a:prstGeom prst="rect">
            <a:avLst/>
          </a:prstGeom>
          <a:noFill/>
          <a:ln/>
        </p:spPr>
        <p:txBody>
          <a:bodyPr wrap="none" lIns="0" tIns="0" rIns="0" bIns="0" rtlCol="0" anchor="ctr"/>
          <a:lstStyle/>
          <a:p>
            <a:pPr>
              <a:lnSpc>
                <a:spcPct val="100000"/>
              </a:lnSpc>
            </a:pPr>
            <a:r>
              <a:rPr lang="en-US" sz="1600" b="1" spc="200" kern="0" dirty="0">
                <a:solidFill>
                  <a:srgbClr val="C9893B"/>
                </a:solidFill>
                <a:latin typeface="Liter" pitchFamily="34" charset="0"/>
                <a:ea typeface="Liter" pitchFamily="34" charset="-122"/>
                <a:cs typeface="Liter" pitchFamily="34" charset="-120"/>
              </a:rPr>
              <a:t>RESOLUTION PATH</a:t>
            </a:r>
            <a:endParaRPr lang="en-US" sz="1600" dirty="0"/>
          </a:p>
        </p:txBody>
      </p:sp>
      <p:sp>
        <p:nvSpPr>
          <p:cNvPr id="35" name="Shape 33"/>
          <p:cNvSpPr/>
          <p:nvPr/>
        </p:nvSpPr>
        <p:spPr>
          <a:xfrm>
            <a:off x="11049000" y="3175000"/>
            <a:ext cx="1778000" cy="558800"/>
          </a:xfrm>
          <a:prstGeom prst="rect">
            <a:avLst/>
          </a:prstGeom>
          <a:solidFill>
            <a:srgbClr val="C9893B"/>
          </a:solidFill>
          <a:ln/>
        </p:spPr>
      </p:sp>
      <p:sp>
        <p:nvSpPr>
          <p:cNvPr id="36" name="Text 34"/>
          <p:cNvSpPr/>
          <p:nvPr/>
        </p:nvSpPr>
        <p:spPr>
          <a:xfrm>
            <a:off x="11049000" y="3175000"/>
            <a:ext cx="1778000" cy="5588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User / Browser</a:t>
            </a:r>
            <a:endParaRPr lang="en-US" sz="1600" dirty="0"/>
          </a:p>
        </p:txBody>
      </p:sp>
      <p:sp>
        <p:nvSpPr>
          <p:cNvPr id="37" name="Shape 35"/>
          <p:cNvSpPr/>
          <p:nvPr/>
        </p:nvSpPr>
        <p:spPr>
          <a:xfrm>
            <a:off x="11938000" y="3733800"/>
            <a:ext cx="0" cy="381000"/>
          </a:xfrm>
          <a:prstGeom prst="straightConnector1">
            <a:avLst/>
          </a:prstGeom>
          <a:noFill/>
          <a:ln w="25400">
            <a:solidFill>
              <a:srgbClr val="FFFFFF">
                <a:alpha val="37647"/>
              </a:srgbClr>
            </a:solidFill>
            <a:prstDash val="solid"/>
            <a:headEnd type="none"/>
            <a:tailEnd type="arrow"/>
          </a:ln>
        </p:spPr>
      </p:sp>
      <p:sp>
        <p:nvSpPr>
          <p:cNvPr id="38" name="Shape 36"/>
          <p:cNvSpPr/>
          <p:nvPr/>
        </p:nvSpPr>
        <p:spPr>
          <a:xfrm>
            <a:off x="10795000" y="4114800"/>
            <a:ext cx="2286000" cy="558800"/>
          </a:xfrm>
          <a:prstGeom prst="rect">
            <a:avLst/>
          </a:prstGeom>
          <a:solidFill>
            <a:srgbClr val="4A5D70"/>
          </a:solidFill>
          <a:ln/>
        </p:spPr>
      </p:sp>
      <p:sp>
        <p:nvSpPr>
          <p:cNvPr id="39" name="Text 37"/>
          <p:cNvSpPr/>
          <p:nvPr/>
        </p:nvSpPr>
        <p:spPr>
          <a:xfrm>
            <a:off x="10795000" y="4114800"/>
            <a:ext cx="2286000" cy="5588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Recursive Resolver</a:t>
            </a:r>
            <a:endParaRPr lang="en-US" sz="1600" dirty="0"/>
          </a:p>
        </p:txBody>
      </p:sp>
      <p:sp>
        <p:nvSpPr>
          <p:cNvPr id="40" name="Shape 38"/>
          <p:cNvSpPr/>
          <p:nvPr/>
        </p:nvSpPr>
        <p:spPr>
          <a:xfrm>
            <a:off x="11938000" y="4673600"/>
            <a:ext cx="0" cy="381000"/>
          </a:xfrm>
          <a:prstGeom prst="straightConnector1">
            <a:avLst/>
          </a:prstGeom>
          <a:noFill/>
          <a:ln w="25400">
            <a:solidFill>
              <a:srgbClr val="FFFFFF">
                <a:alpha val="37647"/>
              </a:srgbClr>
            </a:solidFill>
            <a:prstDash val="solid"/>
            <a:headEnd type="none"/>
            <a:tailEnd type="arrow"/>
          </a:ln>
        </p:spPr>
      </p:sp>
      <p:sp>
        <p:nvSpPr>
          <p:cNvPr id="41" name="Shape 39"/>
          <p:cNvSpPr/>
          <p:nvPr/>
        </p:nvSpPr>
        <p:spPr>
          <a:xfrm>
            <a:off x="11049000" y="5054600"/>
            <a:ext cx="1778000" cy="457200"/>
          </a:xfrm>
          <a:prstGeom prst="rect">
            <a:avLst/>
          </a:prstGeom>
          <a:solidFill>
            <a:srgbClr val="4A5D70"/>
          </a:solidFill>
          <a:ln/>
        </p:spPr>
      </p:sp>
      <p:sp>
        <p:nvSpPr>
          <p:cNvPr id="42" name="Text 40"/>
          <p:cNvSpPr/>
          <p:nvPr/>
        </p:nvSpPr>
        <p:spPr>
          <a:xfrm>
            <a:off x="11049000" y="5054600"/>
            <a:ext cx="1778000" cy="457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Root Server</a:t>
            </a:r>
            <a:endParaRPr lang="en-US" sz="1600" dirty="0"/>
          </a:p>
        </p:txBody>
      </p:sp>
      <p:sp>
        <p:nvSpPr>
          <p:cNvPr id="43" name="Shape 41"/>
          <p:cNvSpPr/>
          <p:nvPr/>
        </p:nvSpPr>
        <p:spPr>
          <a:xfrm>
            <a:off x="11938000" y="5511800"/>
            <a:ext cx="0" cy="279400"/>
          </a:xfrm>
          <a:prstGeom prst="straightConnector1">
            <a:avLst/>
          </a:prstGeom>
          <a:noFill/>
          <a:ln w="25400">
            <a:solidFill>
              <a:srgbClr val="FFFFFF">
                <a:alpha val="37647"/>
              </a:srgbClr>
            </a:solidFill>
            <a:prstDash val="solid"/>
            <a:headEnd type="none"/>
            <a:tailEnd type="arrow"/>
          </a:ln>
        </p:spPr>
      </p:sp>
      <p:sp>
        <p:nvSpPr>
          <p:cNvPr id="44" name="Shape 42"/>
          <p:cNvSpPr/>
          <p:nvPr/>
        </p:nvSpPr>
        <p:spPr>
          <a:xfrm>
            <a:off x="11049000" y="5791200"/>
            <a:ext cx="1778000" cy="457200"/>
          </a:xfrm>
          <a:prstGeom prst="rect">
            <a:avLst/>
          </a:prstGeom>
          <a:solidFill>
            <a:srgbClr val="4A5D70"/>
          </a:solidFill>
          <a:ln/>
        </p:spPr>
      </p:sp>
      <p:sp>
        <p:nvSpPr>
          <p:cNvPr id="45" name="Text 43"/>
          <p:cNvSpPr/>
          <p:nvPr/>
        </p:nvSpPr>
        <p:spPr>
          <a:xfrm>
            <a:off x="11049000" y="5791200"/>
            <a:ext cx="1778000" cy="457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TLD Server</a:t>
            </a:r>
            <a:endParaRPr lang="en-US" sz="1600" dirty="0"/>
          </a:p>
        </p:txBody>
      </p:sp>
      <p:sp>
        <p:nvSpPr>
          <p:cNvPr id="46" name="Shape 44"/>
          <p:cNvSpPr/>
          <p:nvPr/>
        </p:nvSpPr>
        <p:spPr>
          <a:xfrm>
            <a:off x="11938000" y="6248400"/>
            <a:ext cx="0" cy="279400"/>
          </a:xfrm>
          <a:prstGeom prst="straightConnector1">
            <a:avLst/>
          </a:prstGeom>
          <a:noFill/>
          <a:ln w="25400">
            <a:solidFill>
              <a:srgbClr val="FFFFFF">
                <a:alpha val="37647"/>
              </a:srgbClr>
            </a:solidFill>
            <a:prstDash val="solid"/>
            <a:headEnd type="none"/>
            <a:tailEnd type="arrow"/>
          </a:ln>
        </p:spPr>
      </p:sp>
      <p:sp>
        <p:nvSpPr>
          <p:cNvPr id="47" name="Shape 45"/>
          <p:cNvSpPr/>
          <p:nvPr/>
        </p:nvSpPr>
        <p:spPr>
          <a:xfrm>
            <a:off x="10668000" y="6527800"/>
            <a:ext cx="2540000" cy="558800"/>
          </a:xfrm>
          <a:prstGeom prst="rect">
            <a:avLst/>
          </a:prstGeom>
          <a:solidFill>
            <a:srgbClr val="C9893B"/>
          </a:solidFill>
          <a:ln/>
        </p:spPr>
      </p:sp>
      <p:sp>
        <p:nvSpPr>
          <p:cNvPr id="48" name="Text 46"/>
          <p:cNvSpPr/>
          <p:nvPr/>
        </p:nvSpPr>
        <p:spPr>
          <a:xfrm>
            <a:off x="10668000" y="6527800"/>
            <a:ext cx="2540000" cy="5588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Authoritative Server</a:t>
            </a:r>
            <a:endParaRPr lang="en-US" sz="1600" dirty="0"/>
          </a:p>
        </p:txBody>
      </p:sp>
      <p:sp>
        <p:nvSpPr>
          <p:cNvPr id="49" name="Text 47"/>
          <p:cNvSpPr/>
          <p:nvPr/>
        </p:nvSpPr>
        <p:spPr>
          <a:xfrm>
            <a:off x="8890000" y="3302000"/>
            <a:ext cx="1778000" cy="3810000"/>
          </a:xfrm>
          <a:prstGeom prst="rect">
            <a:avLst/>
          </a:prstGeom>
          <a:noFill/>
          <a:ln/>
        </p:spPr>
        <p:txBody>
          <a:bodyPr wrap="square" lIns="0" tIns="0" rIns="0" bIns="0" rtlCol="0" anchor="t"/>
          <a:lstStyle/>
          <a:p>
            <a:pPr algn="r">
              <a:lnSpc>
                <a:spcPct val="220000"/>
              </a:lnSpc>
            </a:pPr>
            <a:r>
              <a:rPr lang="en-US" sz="1100" dirty="0">
                <a:solidFill>
                  <a:srgbClr val="FFFFFF">
                    <a:alpha val="50196"/>
                  </a:srgbClr>
                </a:solidFill>
                <a:latin typeface="Quattrocento Sans" pitchFamily="34" charset="0"/>
                <a:ea typeface="Quattrocento Sans" pitchFamily="34" charset="-122"/>
                <a:cs typeface="Quattrocento Sans" pitchFamily="34" charset="-120"/>
              </a:rPr>
              <a:t>Types domain name</a:t>
            </a:r>
            <a:endParaRPr lang="en-US" sz="1600" dirty="0"/>
          </a:p>
          <a:p>
            <a:pPr algn="r">
              <a:lnSpc>
                <a:spcPct val="220000"/>
              </a:lnSpc>
            </a:pPr>
            <a:r>
              <a:rPr lang="en-US" sz="1100" dirty="0">
                <a:solidFill>
                  <a:srgbClr val="FFFFFF">
                    <a:alpha val="50196"/>
                  </a:srgbClr>
                </a:solidFill>
                <a:latin typeface="Quattrocento Sans" pitchFamily="34" charset="0"/>
                <a:ea typeface="Quattrocento Sans" pitchFamily="34" charset="-122"/>
                <a:cs typeface="Quattrocento Sans" pitchFamily="34" charset="-120"/>
              </a:rPr>
              <a:t>Sends query</a:t>
            </a:r>
            <a:endParaRPr lang="en-US" sz="1600" dirty="0"/>
          </a:p>
          <a:p>
            <a:pPr algn="r">
              <a:lnSpc>
                <a:spcPct val="220000"/>
              </a:lnSpc>
            </a:pPr>
            <a:r>
              <a:rPr lang="en-US" sz="1100" dirty="0">
                <a:solidFill>
                  <a:srgbClr val="FFFFFF">
                    <a:alpha val="50196"/>
                  </a:srgbClr>
                </a:solidFill>
                <a:latin typeface="Quattrocento Sans" pitchFamily="34" charset="0"/>
                <a:ea typeface="Quattrocento Sans" pitchFamily="34" charset="-122"/>
                <a:cs typeface="Quattrocento Sans" pitchFamily="34" charset="-120"/>
              </a:rPr>
              <a:t>Queries hierarchy</a:t>
            </a:r>
            <a:endParaRPr lang="en-US" sz="1600" dirty="0"/>
          </a:p>
          <a:p>
            <a:pPr algn="r">
              <a:lnSpc>
                <a:spcPct val="220000"/>
              </a:lnSpc>
            </a:pPr>
            <a:r>
              <a:rPr lang="en-US" sz="1100" dirty="0">
                <a:solidFill>
                  <a:srgbClr val="FFFFFF">
                    <a:alpha val="50196"/>
                  </a:srgbClr>
                </a:solidFill>
                <a:latin typeface="Quattrocento Sans" pitchFamily="34" charset="0"/>
                <a:ea typeface="Quattrocento Sans" pitchFamily="34" charset="-122"/>
                <a:cs typeface="Quattrocento Sans" pitchFamily="34" charset="-120"/>
              </a:rPr>
              <a:t>Returns TLD referral</a:t>
            </a:r>
            <a:endParaRPr lang="en-US" sz="1600" dirty="0"/>
          </a:p>
          <a:p>
            <a:pPr algn="r">
              <a:lnSpc>
                <a:spcPct val="220000"/>
              </a:lnSpc>
            </a:pPr>
            <a:r>
              <a:rPr lang="en-US" sz="1100" dirty="0">
                <a:solidFill>
                  <a:srgbClr val="FFFFFF">
                    <a:alpha val="50196"/>
                  </a:srgbClr>
                </a:solidFill>
                <a:latin typeface="Quattrocento Sans" pitchFamily="34" charset="0"/>
                <a:ea typeface="Quattrocento Sans" pitchFamily="34" charset="-122"/>
                <a:cs typeface="Quattrocento Sans" pitchFamily="34" charset="-120"/>
              </a:rPr>
              <a:t>Returns auth referral</a:t>
            </a:r>
            <a:endParaRPr lang="en-US" sz="1600" dirty="0"/>
          </a:p>
          <a:p>
            <a:pPr algn="r">
              <a:lnSpc>
                <a:spcPct val="220000"/>
              </a:lnSpc>
            </a:pPr>
            <a:r>
              <a:rPr lang="en-US" sz="1100" dirty="0">
                <a:solidFill>
                  <a:srgbClr val="FFFFFF">
                    <a:alpha val="50196"/>
                  </a:srgbClr>
                </a:solidFill>
                <a:latin typeface="Quattrocento Sans" pitchFamily="34" charset="0"/>
                <a:ea typeface="Quattrocento Sans" pitchFamily="34" charset="-122"/>
                <a:cs typeface="Quattrocento Sans" pitchFamily="34" charset="-120"/>
              </a:rPr>
              <a:t>Returns IP address</a:t>
            </a:r>
            <a:endParaRPr lang="en-US" sz="1600" dirty="0"/>
          </a:p>
          <a:p>
            <a:pPr algn="r">
              <a:lnSpc>
                <a:spcPct val="220000"/>
              </a:lnSpc>
            </a:pPr>
            <a:r>
              <a:rPr lang="en-US" sz="1100" dirty="0">
                <a:solidFill>
                  <a:srgbClr val="FFFFFF">
                    <a:alpha val="50196"/>
                  </a:srgbClr>
                </a:solidFill>
                <a:latin typeface="Quattrocento Sans" pitchFamily="34" charset="0"/>
                <a:ea typeface="Quattrocento Sans" pitchFamily="34" charset="-122"/>
                <a:cs typeface="Quattrocento Sans" pitchFamily="34" charset="-120"/>
              </a:rPr>
              <a:t>Caches &amp; replies</a:t>
            </a:r>
            <a:endParaRPr lang="en-US" sz="1600" dirty="0"/>
          </a:p>
        </p:txBody>
      </p:sp>
      <p:sp>
        <p:nvSpPr>
          <p:cNvPr id="50" name="Shape 48"/>
          <p:cNvSpPr/>
          <p:nvPr/>
        </p:nvSpPr>
        <p:spPr>
          <a:xfrm>
            <a:off x="762000" y="8382000"/>
            <a:ext cx="14732000" cy="25400"/>
          </a:xfrm>
          <a:prstGeom prst="rect">
            <a:avLst/>
          </a:prstGeom>
          <a:solidFill>
            <a:srgbClr val="C9893B"/>
          </a:solidFill>
          <a:ln/>
        </p:spPr>
      </p:sp>
      <p:sp>
        <p:nvSpPr>
          <p:cNvPr id="51" name="Text 49"/>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11</a:t>
            </a:r>
            <a:endParaRPr lang="en-US" sz="14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Step-by-Step DNS Lookup</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Shape 3"/>
          <p:cNvSpPr/>
          <p:nvPr/>
        </p:nvSpPr>
        <p:spPr>
          <a:xfrm>
            <a:off x="762000" y="1587500"/>
            <a:ext cx="4699000" cy="1524000"/>
          </a:xfrm>
          <a:prstGeom prst="rect">
            <a:avLst/>
          </a:prstGeom>
          <a:solidFill>
            <a:srgbClr val="E8E4DE"/>
          </a:solidFill>
          <a:ln/>
        </p:spPr>
      </p:sp>
      <p:sp>
        <p:nvSpPr>
          <p:cNvPr id="6" name="Shape 4"/>
          <p:cNvSpPr/>
          <p:nvPr/>
        </p:nvSpPr>
        <p:spPr>
          <a:xfrm>
            <a:off x="762000" y="1587500"/>
            <a:ext cx="457200" cy="381000"/>
          </a:xfrm>
          <a:prstGeom prst="rect">
            <a:avLst/>
          </a:prstGeom>
          <a:solidFill>
            <a:srgbClr val="C9893B"/>
          </a:solidFill>
          <a:ln/>
        </p:spPr>
      </p:sp>
      <p:sp>
        <p:nvSpPr>
          <p:cNvPr id="7" name="Text 5"/>
          <p:cNvSpPr/>
          <p:nvPr/>
        </p:nvSpPr>
        <p:spPr>
          <a:xfrm>
            <a:off x="762000" y="1587500"/>
            <a:ext cx="457200" cy="381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371600" y="16510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Query Initiation</a:t>
            </a:r>
            <a:endParaRPr lang="en-US" sz="1600" dirty="0"/>
          </a:p>
        </p:txBody>
      </p:sp>
      <p:sp>
        <p:nvSpPr>
          <p:cNvPr id="9" name="Text 7"/>
          <p:cNvSpPr/>
          <p:nvPr/>
        </p:nvSpPr>
        <p:spPr>
          <a:xfrm>
            <a:off x="1016000" y="2057400"/>
            <a:ext cx="4191000" cy="863600"/>
          </a:xfrm>
          <a:prstGeom prst="rect">
            <a:avLst/>
          </a:prstGeom>
          <a:noFill/>
          <a:ln/>
        </p:spPr>
        <p:txBody>
          <a:bodyPr wrap="square" lIns="0" tIns="0" rIns="0" bIns="0" rtlCol="0" anchor="ctr"/>
          <a:lstStyle/>
          <a:p>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User types </a:t>
            </a:r>
            <a:pPr>
              <a:lnSpc>
                <a:spcPct val="150000"/>
              </a:lnSpc>
            </a:pPr>
            <a:r>
              <a:rPr lang="en-US" sz="1400" dirty="0">
                <a:solidFill>
                  <a:srgbClr val="C9893B"/>
                </a:solidFill>
                <a:latin typeface="Quattrocento Sans" pitchFamily="34" charset="0"/>
                <a:ea typeface="Quattrocento Sans" pitchFamily="34" charset="-122"/>
                <a:cs typeface="Quattrocento Sans" pitchFamily="34" charset="-120"/>
              </a:rPr>
              <a:t>www.example.com</a:t>
            </a:r>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 in browser. Browser first checks its local cache.</a:t>
            </a:r>
            <a:endParaRPr lang="en-US" sz="1600" dirty="0"/>
          </a:p>
        </p:txBody>
      </p:sp>
      <p:sp>
        <p:nvSpPr>
          <p:cNvPr id="10" name="Shape 8"/>
          <p:cNvSpPr/>
          <p:nvPr/>
        </p:nvSpPr>
        <p:spPr>
          <a:xfrm>
            <a:off x="5778500" y="1587500"/>
            <a:ext cx="4699000" cy="1524000"/>
          </a:xfrm>
          <a:prstGeom prst="rect">
            <a:avLst/>
          </a:prstGeom>
          <a:solidFill>
            <a:srgbClr val="E8E4DE"/>
          </a:solidFill>
          <a:ln/>
        </p:spPr>
      </p:sp>
      <p:sp>
        <p:nvSpPr>
          <p:cNvPr id="11" name="Shape 9"/>
          <p:cNvSpPr/>
          <p:nvPr/>
        </p:nvSpPr>
        <p:spPr>
          <a:xfrm>
            <a:off x="5778500" y="1587500"/>
            <a:ext cx="457200" cy="381000"/>
          </a:xfrm>
          <a:prstGeom prst="rect">
            <a:avLst/>
          </a:prstGeom>
          <a:solidFill>
            <a:srgbClr val="C9893B"/>
          </a:solidFill>
          <a:ln/>
        </p:spPr>
      </p:sp>
      <p:sp>
        <p:nvSpPr>
          <p:cNvPr id="12" name="Text 10"/>
          <p:cNvSpPr/>
          <p:nvPr/>
        </p:nvSpPr>
        <p:spPr>
          <a:xfrm>
            <a:off x="5778500" y="1587500"/>
            <a:ext cx="457200" cy="381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6388100" y="16510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Recursive Resolver</a:t>
            </a:r>
            <a:endParaRPr lang="en-US" sz="1600" dirty="0"/>
          </a:p>
        </p:txBody>
      </p:sp>
      <p:sp>
        <p:nvSpPr>
          <p:cNvPr id="14" name="Text 12"/>
          <p:cNvSpPr/>
          <p:nvPr/>
        </p:nvSpPr>
        <p:spPr>
          <a:xfrm>
            <a:off x="6032500" y="2057400"/>
            <a:ext cx="4191000" cy="863600"/>
          </a:xfrm>
          <a:prstGeom prst="rect">
            <a:avLst/>
          </a:prstGeom>
          <a:noFill/>
          <a:ln/>
        </p:spPr>
        <p:txBody>
          <a:bodyPr wrap="square" lIns="0" tIns="0" rIns="0" bIns="0" rtlCol="0" anchor="ctr"/>
          <a:lstStyle/>
          <a:p>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If not cached, request goes to ISP's </a:t>
            </a:r>
            <a:pPr>
              <a:lnSpc>
                <a:spcPct val="150000"/>
              </a:lnSpc>
            </a:pPr>
            <a:r>
              <a:rPr lang="en-US" sz="1400" b="1" dirty="0">
                <a:solidFill>
                  <a:srgbClr val="1E2328"/>
                </a:solidFill>
                <a:latin typeface="Quattrocento Sans" pitchFamily="34" charset="0"/>
                <a:ea typeface="Quattrocento Sans" pitchFamily="34" charset="-122"/>
                <a:cs typeface="Quattrocento Sans" pitchFamily="34" charset="-120"/>
              </a:rPr>
              <a:t>DNS resolver</a:t>
            </a:r>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 to begin the lookup process.</a:t>
            </a:r>
            <a:endParaRPr lang="en-US" sz="1600" dirty="0"/>
          </a:p>
        </p:txBody>
      </p:sp>
      <p:sp>
        <p:nvSpPr>
          <p:cNvPr id="15" name="Shape 13"/>
          <p:cNvSpPr/>
          <p:nvPr/>
        </p:nvSpPr>
        <p:spPr>
          <a:xfrm>
            <a:off x="10795000" y="1587500"/>
            <a:ext cx="4699000" cy="1524000"/>
          </a:xfrm>
          <a:prstGeom prst="rect">
            <a:avLst/>
          </a:prstGeom>
          <a:solidFill>
            <a:srgbClr val="E8E4DE"/>
          </a:solidFill>
          <a:ln/>
        </p:spPr>
      </p:sp>
      <p:sp>
        <p:nvSpPr>
          <p:cNvPr id="16" name="Shape 14"/>
          <p:cNvSpPr/>
          <p:nvPr/>
        </p:nvSpPr>
        <p:spPr>
          <a:xfrm>
            <a:off x="10795000" y="1587500"/>
            <a:ext cx="457200" cy="381000"/>
          </a:xfrm>
          <a:prstGeom prst="rect">
            <a:avLst/>
          </a:prstGeom>
          <a:solidFill>
            <a:srgbClr val="2D3E50"/>
          </a:solidFill>
          <a:ln/>
        </p:spPr>
      </p:sp>
      <p:sp>
        <p:nvSpPr>
          <p:cNvPr id="17" name="Text 15"/>
          <p:cNvSpPr/>
          <p:nvPr/>
        </p:nvSpPr>
        <p:spPr>
          <a:xfrm>
            <a:off x="10795000" y="1587500"/>
            <a:ext cx="457200" cy="381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11404600" y="16510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Root Server Query</a:t>
            </a:r>
            <a:endParaRPr lang="en-US" sz="1600" dirty="0"/>
          </a:p>
        </p:txBody>
      </p:sp>
      <p:sp>
        <p:nvSpPr>
          <p:cNvPr id="19" name="Text 17"/>
          <p:cNvSpPr/>
          <p:nvPr/>
        </p:nvSpPr>
        <p:spPr>
          <a:xfrm>
            <a:off x="11049000" y="2057400"/>
            <a:ext cx="4191000" cy="863600"/>
          </a:xfrm>
          <a:prstGeom prst="rect">
            <a:avLst/>
          </a:prstGeom>
          <a:noFill/>
          <a:ln/>
        </p:spPr>
        <p:txBody>
          <a:bodyPr wrap="square" lIns="0" tIns="0" rIns="0" bIns="0" rtlCol="0" anchor="ctr"/>
          <a:lstStyle/>
          <a:p>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Resolver asks Root: </a:t>
            </a:r>
            <a:pPr>
              <a:lnSpc>
                <a:spcPct val="150000"/>
              </a:lnSpc>
            </a:pPr>
            <a:r>
              <a:rPr lang="en-US" sz="1400" i="1" dirty="0">
                <a:solidFill>
                  <a:srgbClr val="1E2328"/>
                </a:solidFill>
                <a:latin typeface="Quattrocento Sans" pitchFamily="34" charset="0"/>
                <a:ea typeface="Quattrocento Sans" pitchFamily="34" charset="-122"/>
                <a:cs typeface="Quattrocento Sans" pitchFamily="34" charset="-120"/>
              </a:rPr>
              <a:t>"Who handles .com?"</a:t>
            </a:r>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 Root replies with </a:t>
            </a:r>
            <a:pPr>
              <a:lnSpc>
                <a:spcPct val="150000"/>
              </a:lnSpc>
            </a:pPr>
            <a:r>
              <a:rPr lang="en-US" sz="1400" b="1" dirty="0">
                <a:solidFill>
                  <a:srgbClr val="1E2328"/>
                </a:solidFill>
                <a:latin typeface="Quattrocento Sans" pitchFamily="34" charset="0"/>
                <a:ea typeface="Quattrocento Sans" pitchFamily="34" charset="-122"/>
                <a:cs typeface="Quattrocento Sans" pitchFamily="34" charset="-120"/>
              </a:rPr>
              <a:t>TLD server address</a:t>
            </a:r>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a:t>
            </a:r>
            <a:endParaRPr lang="en-US" sz="1600" dirty="0"/>
          </a:p>
        </p:txBody>
      </p:sp>
      <p:sp>
        <p:nvSpPr>
          <p:cNvPr id="20" name="Shape 18"/>
          <p:cNvSpPr/>
          <p:nvPr/>
        </p:nvSpPr>
        <p:spPr>
          <a:xfrm>
            <a:off x="762000" y="3365500"/>
            <a:ext cx="4699000" cy="1524000"/>
          </a:xfrm>
          <a:prstGeom prst="rect">
            <a:avLst/>
          </a:prstGeom>
          <a:solidFill>
            <a:srgbClr val="E8E4DE"/>
          </a:solidFill>
          <a:ln/>
        </p:spPr>
      </p:sp>
      <p:sp>
        <p:nvSpPr>
          <p:cNvPr id="21" name="Shape 19"/>
          <p:cNvSpPr/>
          <p:nvPr/>
        </p:nvSpPr>
        <p:spPr>
          <a:xfrm>
            <a:off x="762000" y="3365500"/>
            <a:ext cx="457200" cy="381000"/>
          </a:xfrm>
          <a:prstGeom prst="rect">
            <a:avLst/>
          </a:prstGeom>
          <a:solidFill>
            <a:srgbClr val="2D3E50"/>
          </a:solidFill>
          <a:ln/>
        </p:spPr>
      </p:sp>
      <p:sp>
        <p:nvSpPr>
          <p:cNvPr id="22" name="Text 20"/>
          <p:cNvSpPr/>
          <p:nvPr/>
        </p:nvSpPr>
        <p:spPr>
          <a:xfrm>
            <a:off x="762000" y="3365500"/>
            <a:ext cx="457200" cy="381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4</a:t>
            </a:r>
            <a:endParaRPr lang="en-US" sz="1600" dirty="0"/>
          </a:p>
        </p:txBody>
      </p:sp>
      <p:sp>
        <p:nvSpPr>
          <p:cNvPr id="23" name="Text 21"/>
          <p:cNvSpPr/>
          <p:nvPr/>
        </p:nvSpPr>
        <p:spPr>
          <a:xfrm>
            <a:off x="1371600" y="34290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TLD Server Query</a:t>
            </a:r>
            <a:endParaRPr lang="en-US" sz="1600" dirty="0"/>
          </a:p>
        </p:txBody>
      </p:sp>
      <p:sp>
        <p:nvSpPr>
          <p:cNvPr id="24" name="Text 22"/>
          <p:cNvSpPr/>
          <p:nvPr/>
        </p:nvSpPr>
        <p:spPr>
          <a:xfrm>
            <a:off x="1016000" y="3835400"/>
            <a:ext cx="4191000" cy="1016000"/>
          </a:xfrm>
          <a:prstGeom prst="rect">
            <a:avLst/>
          </a:prstGeom>
          <a:noFill/>
          <a:ln/>
        </p:spPr>
        <p:txBody>
          <a:bodyPr wrap="square" lIns="0" tIns="0" rIns="0" bIns="0" rtlCol="0" anchor="ctr"/>
          <a:lstStyle/>
          <a:p>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Resolver asks .com TLD: </a:t>
            </a:r>
            <a:pPr>
              <a:lnSpc>
                <a:spcPct val="150000"/>
              </a:lnSpc>
            </a:pPr>
            <a:r>
              <a:rPr lang="en-US" sz="1400" i="1" dirty="0">
                <a:solidFill>
                  <a:srgbClr val="1E2328"/>
                </a:solidFill>
                <a:latin typeface="Quattrocento Sans" pitchFamily="34" charset="0"/>
                <a:ea typeface="Quattrocento Sans" pitchFamily="34" charset="-122"/>
                <a:cs typeface="Quattrocento Sans" pitchFamily="34" charset="-120"/>
              </a:rPr>
              <a:t>"Who handles example.com?"</a:t>
            </a:r>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 TLD replies with </a:t>
            </a:r>
            <a:pPr>
              <a:lnSpc>
                <a:spcPct val="150000"/>
              </a:lnSpc>
            </a:pPr>
            <a:r>
              <a:rPr lang="en-US" sz="1400" b="1" dirty="0">
                <a:solidFill>
                  <a:srgbClr val="1E2328"/>
                </a:solidFill>
                <a:latin typeface="Quattrocento Sans" pitchFamily="34" charset="0"/>
                <a:ea typeface="Quattrocento Sans" pitchFamily="34" charset="-122"/>
                <a:cs typeface="Quattrocento Sans" pitchFamily="34" charset="-120"/>
              </a:rPr>
              <a:t>authoritative server</a:t>
            </a:r>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a:t>
            </a:r>
            <a:endParaRPr lang="en-US" sz="1600" dirty="0"/>
          </a:p>
        </p:txBody>
      </p:sp>
      <p:sp>
        <p:nvSpPr>
          <p:cNvPr id="25" name="Shape 23"/>
          <p:cNvSpPr/>
          <p:nvPr/>
        </p:nvSpPr>
        <p:spPr>
          <a:xfrm>
            <a:off x="5778500" y="3365500"/>
            <a:ext cx="4699000" cy="1524000"/>
          </a:xfrm>
          <a:prstGeom prst="rect">
            <a:avLst/>
          </a:prstGeom>
          <a:solidFill>
            <a:srgbClr val="E8E4DE"/>
          </a:solidFill>
          <a:ln/>
        </p:spPr>
      </p:sp>
      <p:sp>
        <p:nvSpPr>
          <p:cNvPr id="26" name="Shape 24"/>
          <p:cNvSpPr/>
          <p:nvPr/>
        </p:nvSpPr>
        <p:spPr>
          <a:xfrm>
            <a:off x="5778500" y="3365500"/>
            <a:ext cx="457200" cy="381000"/>
          </a:xfrm>
          <a:prstGeom prst="rect">
            <a:avLst/>
          </a:prstGeom>
          <a:solidFill>
            <a:srgbClr val="2D3E50"/>
          </a:solidFill>
          <a:ln/>
        </p:spPr>
      </p:sp>
      <p:sp>
        <p:nvSpPr>
          <p:cNvPr id="27" name="Text 25"/>
          <p:cNvSpPr/>
          <p:nvPr/>
        </p:nvSpPr>
        <p:spPr>
          <a:xfrm>
            <a:off x="5778500" y="3365500"/>
            <a:ext cx="457200" cy="381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5</a:t>
            </a:r>
            <a:endParaRPr lang="en-US" sz="1600" dirty="0"/>
          </a:p>
        </p:txBody>
      </p:sp>
      <p:sp>
        <p:nvSpPr>
          <p:cNvPr id="28" name="Text 26"/>
          <p:cNvSpPr/>
          <p:nvPr/>
        </p:nvSpPr>
        <p:spPr>
          <a:xfrm>
            <a:off x="6388100" y="34290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Authoritative Server</a:t>
            </a:r>
            <a:endParaRPr lang="en-US" sz="1600" dirty="0"/>
          </a:p>
        </p:txBody>
      </p:sp>
      <p:sp>
        <p:nvSpPr>
          <p:cNvPr id="29" name="Text 27"/>
          <p:cNvSpPr/>
          <p:nvPr/>
        </p:nvSpPr>
        <p:spPr>
          <a:xfrm>
            <a:off x="6032500" y="3835400"/>
            <a:ext cx="4191000" cy="863600"/>
          </a:xfrm>
          <a:prstGeom prst="rect">
            <a:avLst/>
          </a:prstGeom>
          <a:noFill/>
          <a:ln/>
        </p:spPr>
        <p:txBody>
          <a:bodyPr wrap="square" lIns="0" tIns="0" rIns="0" bIns="0" rtlCol="0" anchor="ctr"/>
          <a:lstStyle/>
          <a:p>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Resolver asks: </a:t>
            </a:r>
            <a:pPr>
              <a:lnSpc>
                <a:spcPct val="150000"/>
              </a:lnSpc>
            </a:pPr>
            <a:r>
              <a:rPr lang="en-US" sz="1400" i="1" dirty="0">
                <a:solidFill>
                  <a:srgbClr val="1E2328"/>
                </a:solidFill>
                <a:latin typeface="Quattrocento Sans" pitchFamily="34" charset="0"/>
                <a:ea typeface="Quattrocento Sans" pitchFamily="34" charset="-122"/>
                <a:cs typeface="Quattrocento Sans" pitchFamily="34" charset="-120"/>
              </a:rPr>
              <a:t>"What is the IP for www.example.com?"</a:t>
            </a:r>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 Server returns </a:t>
            </a:r>
            <a:pPr>
              <a:lnSpc>
                <a:spcPct val="150000"/>
              </a:lnSpc>
            </a:pPr>
            <a:r>
              <a:rPr lang="en-US" sz="1400" dirty="0">
                <a:solidFill>
                  <a:srgbClr val="C9893B"/>
                </a:solidFill>
                <a:latin typeface="Quattrocento Sans" pitchFamily="34" charset="0"/>
                <a:ea typeface="Quattrocento Sans" pitchFamily="34" charset="-122"/>
                <a:cs typeface="Quattrocento Sans" pitchFamily="34" charset="-120"/>
              </a:rPr>
              <a:t>93.184.216.34</a:t>
            </a:r>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a:t>
            </a:r>
            <a:endParaRPr lang="en-US" sz="1600" dirty="0"/>
          </a:p>
        </p:txBody>
      </p:sp>
      <p:sp>
        <p:nvSpPr>
          <p:cNvPr id="30" name="Shape 28"/>
          <p:cNvSpPr/>
          <p:nvPr/>
        </p:nvSpPr>
        <p:spPr>
          <a:xfrm>
            <a:off x="10795000" y="3365500"/>
            <a:ext cx="4699000" cy="1524000"/>
          </a:xfrm>
          <a:prstGeom prst="rect">
            <a:avLst/>
          </a:prstGeom>
          <a:solidFill>
            <a:srgbClr val="E8E4DE"/>
          </a:solidFill>
          <a:ln/>
        </p:spPr>
      </p:sp>
      <p:sp>
        <p:nvSpPr>
          <p:cNvPr id="31" name="Shape 29"/>
          <p:cNvSpPr/>
          <p:nvPr/>
        </p:nvSpPr>
        <p:spPr>
          <a:xfrm>
            <a:off x="10795000" y="3365500"/>
            <a:ext cx="457200" cy="381000"/>
          </a:xfrm>
          <a:prstGeom prst="rect">
            <a:avLst/>
          </a:prstGeom>
          <a:solidFill>
            <a:srgbClr val="C9893B"/>
          </a:solidFill>
          <a:ln/>
        </p:spPr>
      </p:sp>
      <p:sp>
        <p:nvSpPr>
          <p:cNvPr id="32" name="Text 30"/>
          <p:cNvSpPr/>
          <p:nvPr/>
        </p:nvSpPr>
        <p:spPr>
          <a:xfrm>
            <a:off x="10795000" y="3365500"/>
            <a:ext cx="457200" cy="381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6</a:t>
            </a:r>
            <a:endParaRPr lang="en-US" sz="1600" dirty="0"/>
          </a:p>
        </p:txBody>
      </p:sp>
      <p:sp>
        <p:nvSpPr>
          <p:cNvPr id="33" name="Text 31"/>
          <p:cNvSpPr/>
          <p:nvPr/>
        </p:nvSpPr>
        <p:spPr>
          <a:xfrm>
            <a:off x="11404600" y="34290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Connection Established</a:t>
            </a:r>
            <a:endParaRPr lang="en-US" sz="1600" dirty="0"/>
          </a:p>
        </p:txBody>
      </p:sp>
      <p:sp>
        <p:nvSpPr>
          <p:cNvPr id="34" name="Text 32"/>
          <p:cNvSpPr/>
          <p:nvPr/>
        </p:nvSpPr>
        <p:spPr>
          <a:xfrm>
            <a:off x="11049000" y="3835400"/>
            <a:ext cx="4191000" cy="863600"/>
          </a:xfrm>
          <a:prstGeom prst="rect">
            <a:avLst/>
          </a:prstGeom>
          <a:noFill/>
          <a:ln/>
        </p:spPr>
        <p:txBody>
          <a:bodyPr wrap="square" lIns="0" tIns="0" rIns="0" bIns="0" rtlCol="0" anchor="ctr"/>
          <a:lstStyle/>
          <a:p>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Browser receives IP and connects to the web server. The </a:t>
            </a:r>
            <a:pPr>
              <a:lnSpc>
                <a:spcPct val="150000"/>
              </a:lnSpc>
            </a:pPr>
            <a:r>
              <a:rPr lang="en-US" sz="1400" b="1" dirty="0">
                <a:solidFill>
                  <a:srgbClr val="1E2328"/>
                </a:solidFill>
                <a:latin typeface="Quattrocento Sans" pitchFamily="34" charset="0"/>
                <a:ea typeface="Quattrocento Sans" pitchFamily="34" charset="-122"/>
                <a:cs typeface="Quattrocento Sans" pitchFamily="34" charset="-120"/>
              </a:rPr>
              <a:t>website loads</a:t>
            </a:r>
            <a:pPr>
              <a:lnSpc>
                <a:spcPct val="150000"/>
              </a:lnSpc>
            </a:pPr>
            <a:r>
              <a:rPr lang="en-US" sz="1400" dirty="0">
                <a:solidFill>
                  <a:srgbClr val="1E2328"/>
                </a:solidFill>
                <a:latin typeface="Quattrocento Sans" pitchFamily="34" charset="0"/>
                <a:ea typeface="Quattrocento Sans" pitchFamily="34" charset="-122"/>
                <a:cs typeface="Quattrocento Sans" pitchFamily="34" charset="-120"/>
              </a:rPr>
              <a:t> for the user.</a:t>
            </a:r>
            <a:endParaRPr lang="en-US" sz="1600" dirty="0"/>
          </a:p>
        </p:txBody>
      </p:sp>
      <p:sp>
        <p:nvSpPr>
          <p:cNvPr id="35" name="Shape 33"/>
          <p:cNvSpPr/>
          <p:nvPr/>
        </p:nvSpPr>
        <p:spPr>
          <a:xfrm>
            <a:off x="762000" y="5270500"/>
            <a:ext cx="14732000" cy="2794000"/>
          </a:xfrm>
          <a:prstGeom prst="rect">
            <a:avLst/>
          </a:prstGeom>
          <a:solidFill>
            <a:srgbClr val="2D3E50"/>
          </a:solidFill>
          <a:ln/>
        </p:spPr>
      </p:sp>
      <p:sp>
        <p:nvSpPr>
          <p:cNvPr id="36" name="Text 34"/>
          <p:cNvSpPr/>
          <p:nvPr/>
        </p:nvSpPr>
        <p:spPr>
          <a:xfrm>
            <a:off x="1066800" y="5397500"/>
            <a:ext cx="5080000" cy="330200"/>
          </a:xfrm>
          <a:prstGeom prst="rect">
            <a:avLst/>
          </a:prstGeom>
          <a:noFill/>
          <a:ln/>
        </p:spPr>
        <p:txBody>
          <a:bodyPr wrap="none" lIns="0" tIns="0" rIns="0" bIns="0" rtlCol="0" anchor="ctr"/>
          <a:lstStyle/>
          <a:p>
            <a:pPr>
              <a:lnSpc>
                <a:spcPct val="100000"/>
              </a:lnSpc>
            </a:pPr>
            <a:r>
              <a:rPr lang="en-US" sz="1400" b="1" spc="200" kern="0" dirty="0">
                <a:solidFill>
                  <a:srgbClr val="C9893B"/>
                </a:solidFill>
                <a:latin typeface="Liter" pitchFamily="34" charset="0"/>
                <a:ea typeface="Liter" pitchFamily="34" charset="-122"/>
                <a:cs typeface="Liter" pitchFamily="34" charset="-120"/>
              </a:rPr>
              <a:t>COMPLETE QUERY FLOW</a:t>
            </a:r>
            <a:endParaRPr lang="en-US" sz="1600" dirty="0"/>
          </a:p>
        </p:txBody>
      </p:sp>
      <p:sp>
        <p:nvSpPr>
          <p:cNvPr id="37" name="Shape 35"/>
          <p:cNvSpPr/>
          <p:nvPr/>
        </p:nvSpPr>
        <p:spPr>
          <a:xfrm>
            <a:off x="1066800" y="5905500"/>
            <a:ext cx="1778000" cy="635000"/>
          </a:xfrm>
          <a:prstGeom prst="rect">
            <a:avLst/>
          </a:prstGeom>
          <a:solidFill>
            <a:srgbClr val="C9893B"/>
          </a:solidFill>
          <a:ln/>
        </p:spPr>
      </p:sp>
      <p:sp>
        <p:nvSpPr>
          <p:cNvPr id="38" name="Text 36"/>
          <p:cNvSpPr/>
          <p:nvPr/>
        </p:nvSpPr>
        <p:spPr>
          <a:xfrm>
            <a:off x="1066800" y="5905500"/>
            <a:ext cx="1778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USER</a:t>
            </a:r>
            <a:endParaRPr lang="en-US" sz="1600" dirty="0"/>
          </a:p>
        </p:txBody>
      </p:sp>
      <p:sp>
        <p:nvSpPr>
          <p:cNvPr id="39" name="Shape 37"/>
          <p:cNvSpPr/>
          <p:nvPr/>
        </p:nvSpPr>
        <p:spPr>
          <a:xfrm>
            <a:off x="2971800" y="6223000"/>
            <a:ext cx="635000" cy="0"/>
          </a:xfrm>
          <a:prstGeom prst="straightConnector1">
            <a:avLst/>
          </a:prstGeom>
          <a:noFill/>
          <a:ln w="25400">
            <a:solidFill>
              <a:srgbClr val="FFFFFF">
                <a:alpha val="37647"/>
              </a:srgbClr>
            </a:solidFill>
            <a:prstDash val="solid"/>
            <a:headEnd type="none"/>
            <a:tailEnd type="arrow"/>
          </a:ln>
        </p:spPr>
      </p:sp>
      <p:sp>
        <p:nvSpPr>
          <p:cNvPr id="40" name="Shape 38"/>
          <p:cNvSpPr/>
          <p:nvPr/>
        </p:nvSpPr>
        <p:spPr>
          <a:xfrm>
            <a:off x="3733800" y="5905500"/>
            <a:ext cx="1778000" cy="635000"/>
          </a:xfrm>
          <a:prstGeom prst="rect">
            <a:avLst/>
          </a:prstGeom>
          <a:solidFill>
            <a:srgbClr val="4A5D70"/>
          </a:solidFill>
          <a:ln/>
        </p:spPr>
      </p:sp>
      <p:sp>
        <p:nvSpPr>
          <p:cNvPr id="41" name="Text 39"/>
          <p:cNvSpPr/>
          <p:nvPr/>
        </p:nvSpPr>
        <p:spPr>
          <a:xfrm>
            <a:off x="3733800" y="5905500"/>
            <a:ext cx="1778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RESOLVER</a:t>
            </a:r>
            <a:endParaRPr lang="en-US" sz="1600" dirty="0"/>
          </a:p>
        </p:txBody>
      </p:sp>
      <p:sp>
        <p:nvSpPr>
          <p:cNvPr id="42" name="Shape 40"/>
          <p:cNvSpPr/>
          <p:nvPr/>
        </p:nvSpPr>
        <p:spPr>
          <a:xfrm>
            <a:off x="5638800" y="6223000"/>
            <a:ext cx="635000" cy="0"/>
          </a:xfrm>
          <a:prstGeom prst="straightConnector1">
            <a:avLst/>
          </a:prstGeom>
          <a:noFill/>
          <a:ln w="25400">
            <a:solidFill>
              <a:srgbClr val="FFFFFF">
                <a:alpha val="37647"/>
              </a:srgbClr>
            </a:solidFill>
            <a:prstDash val="solid"/>
            <a:headEnd type="none"/>
            <a:tailEnd type="arrow"/>
          </a:ln>
        </p:spPr>
      </p:sp>
      <p:sp>
        <p:nvSpPr>
          <p:cNvPr id="43" name="Shape 41"/>
          <p:cNvSpPr/>
          <p:nvPr/>
        </p:nvSpPr>
        <p:spPr>
          <a:xfrm>
            <a:off x="6400800" y="5905500"/>
            <a:ext cx="1524000" cy="635000"/>
          </a:xfrm>
          <a:prstGeom prst="rect">
            <a:avLst/>
          </a:prstGeom>
          <a:solidFill>
            <a:srgbClr val="4A5D70"/>
          </a:solidFill>
          <a:ln/>
        </p:spPr>
      </p:sp>
      <p:sp>
        <p:nvSpPr>
          <p:cNvPr id="44" name="Text 42"/>
          <p:cNvSpPr/>
          <p:nvPr/>
        </p:nvSpPr>
        <p:spPr>
          <a:xfrm>
            <a:off x="6400800" y="5905500"/>
            <a:ext cx="1524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ROOT</a:t>
            </a:r>
            <a:endParaRPr lang="en-US" sz="1600" dirty="0"/>
          </a:p>
        </p:txBody>
      </p:sp>
      <p:sp>
        <p:nvSpPr>
          <p:cNvPr id="45" name="Shape 43"/>
          <p:cNvSpPr/>
          <p:nvPr/>
        </p:nvSpPr>
        <p:spPr>
          <a:xfrm>
            <a:off x="8051800" y="6223000"/>
            <a:ext cx="635000" cy="0"/>
          </a:xfrm>
          <a:prstGeom prst="straightConnector1">
            <a:avLst/>
          </a:prstGeom>
          <a:noFill/>
          <a:ln w="25400">
            <a:solidFill>
              <a:srgbClr val="FFFFFF">
                <a:alpha val="37647"/>
              </a:srgbClr>
            </a:solidFill>
            <a:prstDash val="solid"/>
            <a:headEnd type="none"/>
            <a:tailEnd type="arrow"/>
          </a:ln>
        </p:spPr>
      </p:sp>
      <p:sp>
        <p:nvSpPr>
          <p:cNvPr id="46" name="Shape 44"/>
          <p:cNvSpPr/>
          <p:nvPr/>
        </p:nvSpPr>
        <p:spPr>
          <a:xfrm>
            <a:off x="8813800" y="5905500"/>
            <a:ext cx="1524000" cy="635000"/>
          </a:xfrm>
          <a:prstGeom prst="rect">
            <a:avLst/>
          </a:prstGeom>
          <a:solidFill>
            <a:srgbClr val="4A5D70"/>
          </a:solidFill>
          <a:ln/>
        </p:spPr>
      </p:sp>
      <p:sp>
        <p:nvSpPr>
          <p:cNvPr id="47" name="Text 45"/>
          <p:cNvSpPr/>
          <p:nvPr/>
        </p:nvSpPr>
        <p:spPr>
          <a:xfrm>
            <a:off x="8813800" y="5905500"/>
            <a:ext cx="1524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TLD</a:t>
            </a:r>
            <a:endParaRPr lang="en-US" sz="1600" dirty="0"/>
          </a:p>
        </p:txBody>
      </p:sp>
      <p:sp>
        <p:nvSpPr>
          <p:cNvPr id="48" name="Shape 46"/>
          <p:cNvSpPr/>
          <p:nvPr/>
        </p:nvSpPr>
        <p:spPr>
          <a:xfrm>
            <a:off x="10464800" y="6223000"/>
            <a:ext cx="635000" cy="0"/>
          </a:xfrm>
          <a:prstGeom prst="straightConnector1">
            <a:avLst/>
          </a:prstGeom>
          <a:noFill/>
          <a:ln w="25400">
            <a:solidFill>
              <a:srgbClr val="FFFFFF">
                <a:alpha val="37647"/>
              </a:srgbClr>
            </a:solidFill>
            <a:prstDash val="solid"/>
            <a:headEnd type="none"/>
            <a:tailEnd type="arrow"/>
          </a:ln>
        </p:spPr>
      </p:sp>
      <p:sp>
        <p:nvSpPr>
          <p:cNvPr id="49" name="Shape 47"/>
          <p:cNvSpPr/>
          <p:nvPr/>
        </p:nvSpPr>
        <p:spPr>
          <a:xfrm>
            <a:off x="11226800" y="5905500"/>
            <a:ext cx="2032000" cy="635000"/>
          </a:xfrm>
          <a:prstGeom prst="rect">
            <a:avLst/>
          </a:prstGeom>
          <a:solidFill>
            <a:srgbClr val="C9893B"/>
          </a:solidFill>
          <a:ln/>
        </p:spPr>
      </p:sp>
      <p:sp>
        <p:nvSpPr>
          <p:cNvPr id="50" name="Text 48"/>
          <p:cNvSpPr/>
          <p:nvPr/>
        </p:nvSpPr>
        <p:spPr>
          <a:xfrm>
            <a:off x="11226800" y="5905500"/>
            <a:ext cx="2032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AUTHORITATIVE</a:t>
            </a:r>
            <a:endParaRPr lang="en-US" sz="1600" dirty="0"/>
          </a:p>
        </p:txBody>
      </p:sp>
      <p:sp>
        <p:nvSpPr>
          <p:cNvPr id="51" name="Shape 49"/>
          <p:cNvSpPr/>
          <p:nvPr/>
        </p:nvSpPr>
        <p:spPr>
          <a:xfrm>
            <a:off x="13258800" y="6223000"/>
            <a:ext cx="635000" cy="0"/>
          </a:xfrm>
          <a:prstGeom prst="straightConnector1">
            <a:avLst/>
          </a:prstGeom>
          <a:noFill/>
          <a:ln w="25400">
            <a:solidFill>
              <a:srgbClr val="FFFFFF">
                <a:alpha val="37647"/>
              </a:srgbClr>
            </a:solidFill>
            <a:prstDash val="solid"/>
            <a:headEnd type="none"/>
            <a:tailEnd type="arrow"/>
          </a:ln>
        </p:spPr>
      </p:sp>
      <p:sp>
        <p:nvSpPr>
          <p:cNvPr id="52" name="Shape 50"/>
          <p:cNvSpPr/>
          <p:nvPr/>
        </p:nvSpPr>
        <p:spPr>
          <a:xfrm>
            <a:off x="14020800" y="5905500"/>
            <a:ext cx="1270000" cy="635000"/>
          </a:xfrm>
          <a:prstGeom prst="rect">
            <a:avLst/>
          </a:prstGeom>
          <a:solidFill>
            <a:srgbClr val="4A5D70"/>
          </a:solidFill>
          <a:ln/>
        </p:spPr>
      </p:sp>
      <p:sp>
        <p:nvSpPr>
          <p:cNvPr id="53" name="Text 51"/>
          <p:cNvSpPr/>
          <p:nvPr/>
        </p:nvSpPr>
        <p:spPr>
          <a:xfrm>
            <a:off x="14020800" y="5905500"/>
            <a:ext cx="1270000" cy="635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IP</a:t>
            </a:r>
            <a:endParaRPr lang="en-US" sz="1600" dirty="0"/>
          </a:p>
        </p:txBody>
      </p:sp>
      <p:sp>
        <p:nvSpPr>
          <p:cNvPr id="54" name="Shape 52"/>
          <p:cNvSpPr/>
          <p:nvPr/>
        </p:nvSpPr>
        <p:spPr>
          <a:xfrm>
            <a:off x="1066800" y="6794500"/>
            <a:ext cx="14224000" cy="0"/>
          </a:xfrm>
          <a:prstGeom prst="straightConnector1">
            <a:avLst/>
          </a:prstGeom>
          <a:noFill/>
          <a:ln w="25400">
            <a:solidFill>
              <a:srgbClr val="FFFFFF">
                <a:alpha val="25098"/>
              </a:srgbClr>
            </a:solidFill>
            <a:prstDash val="sysDot"/>
            <a:headEnd type="arrow"/>
            <a:tailEnd type="none"/>
          </a:ln>
        </p:spPr>
      </p:sp>
      <p:sp>
        <p:nvSpPr>
          <p:cNvPr id="55" name="Text 53"/>
          <p:cNvSpPr/>
          <p:nvPr/>
        </p:nvSpPr>
        <p:spPr>
          <a:xfrm>
            <a:off x="1066800" y="6921500"/>
            <a:ext cx="14224000" cy="304800"/>
          </a:xfrm>
          <a:prstGeom prst="rect">
            <a:avLst/>
          </a:prstGeom>
          <a:noFill/>
          <a:ln/>
        </p:spPr>
        <p:txBody>
          <a:bodyPr wrap="none" lIns="0" tIns="0" rIns="0" bIns="0" rtlCol="0" anchor="ctr"/>
          <a:lstStyle/>
          <a:p>
            <a:pPr algn="ctr">
              <a:lnSpc>
                <a:spcPct val="100000"/>
              </a:lnSpc>
            </a:pPr>
            <a:r>
              <a:rPr lang="en-US" sz="1200" dirty="0">
                <a:solidFill>
                  <a:srgbClr val="FFFFFF">
                    <a:alpha val="50196"/>
                  </a:srgbClr>
                </a:solidFill>
                <a:latin typeface="Quattrocento Sans" pitchFamily="34" charset="0"/>
                <a:ea typeface="Quattrocento Sans" pitchFamily="34" charset="-122"/>
                <a:cs typeface="Quattrocento Sans" pitchFamily="34" charset="-120"/>
              </a:rPr>
              <a:t>Response flows back: Authoritative → Resolver → Browser (with caching)</a:t>
            </a:r>
            <a:endParaRPr lang="en-US" sz="1600" dirty="0"/>
          </a:p>
        </p:txBody>
      </p:sp>
      <p:sp>
        <p:nvSpPr>
          <p:cNvPr id="56" name="Shape 54"/>
          <p:cNvSpPr/>
          <p:nvPr/>
        </p:nvSpPr>
        <p:spPr>
          <a:xfrm>
            <a:off x="762000" y="8382000"/>
            <a:ext cx="14732000" cy="25400"/>
          </a:xfrm>
          <a:prstGeom prst="rect">
            <a:avLst/>
          </a:prstGeom>
          <a:solidFill>
            <a:srgbClr val="C9893B"/>
          </a:solidFill>
          <a:ln/>
        </p:spPr>
      </p:sp>
      <p:sp>
        <p:nvSpPr>
          <p:cNvPr id="57" name="Text 55"/>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12</a:t>
            </a:r>
            <a:endParaRPr lang="en-US" sz="14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Recursive vs Iterative Queries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Shape 3"/>
          <p:cNvSpPr/>
          <p:nvPr/>
        </p:nvSpPr>
        <p:spPr>
          <a:xfrm>
            <a:off x="762000" y="1587500"/>
            <a:ext cx="7112000" cy="6223000"/>
          </a:xfrm>
          <a:prstGeom prst="rect">
            <a:avLst/>
          </a:prstGeom>
          <a:solidFill>
            <a:srgbClr val="E8E4DE"/>
          </a:solidFill>
          <a:ln/>
        </p:spPr>
      </p:sp>
      <p:sp>
        <p:nvSpPr>
          <p:cNvPr id="6" name="Shape 4"/>
          <p:cNvSpPr/>
          <p:nvPr/>
        </p:nvSpPr>
        <p:spPr>
          <a:xfrm>
            <a:off x="762000" y="1587500"/>
            <a:ext cx="7112000" cy="76200"/>
          </a:xfrm>
          <a:prstGeom prst="rect">
            <a:avLst/>
          </a:prstGeom>
          <a:solidFill>
            <a:srgbClr val="C9893B"/>
          </a:solidFill>
          <a:ln/>
        </p:spPr>
      </p:sp>
      <p:sp>
        <p:nvSpPr>
          <p:cNvPr id="7" name="Shape 5"/>
          <p:cNvSpPr/>
          <p:nvPr/>
        </p:nvSpPr>
        <p:spPr>
          <a:xfrm>
            <a:off x="1066800" y="1905000"/>
            <a:ext cx="508000" cy="508000"/>
          </a:xfrm>
          <a:custGeom>
            <a:avLst/>
            <a:gdLst/>
            <a:ahLst/>
            <a:cxnLst/>
            <a:rect l="l" t="t" r="r" b="b"/>
            <a:pathLst>
              <a:path w="508000" h="508000">
                <a:moveTo>
                  <a:pt x="65385" y="226715"/>
                </a:moveTo>
                <a:cubicBezTo>
                  <a:pt x="78581" y="134441"/>
                  <a:pt x="158055" y="63500"/>
                  <a:pt x="254000" y="63500"/>
                </a:cubicBezTo>
                <a:cubicBezTo>
                  <a:pt x="306586" y="63500"/>
                  <a:pt x="354211" y="84832"/>
                  <a:pt x="388739" y="119261"/>
                </a:cubicBezTo>
                <a:cubicBezTo>
                  <a:pt x="388938" y="119459"/>
                  <a:pt x="389136" y="119658"/>
                  <a:pt x="389334" y="119856"/>
                </a:cubicBezTo>
                <a:lnTo>
                  <a:pt x="396875" y="127000"/>
                </a:lnTo>
                <a:lnTo>
                  <a:pt x="349349" y="127000"/>
                </a:lnTo>
                <a:cubicBezTo>
                  <a:pt x="331788" y="127000"/>
                  <a:pt x="317599" y="141188"/>
                  <a:pt x="317599" y="158750"/>
                </a:cubicBezTo>
                <a:cubicBezTo>
                  <a:pt x="317599" y="176312"/>
                  <a:pt x="331788" y="190500"/>
                  <a:pt x="349349" y="190500"/>
                </a:cubicBezTo>
                <a:lnTo>
                  <a:pt x="476349" y="190500"/>
                </a:lnTo>
                <a:cubicBezTo>
                  <a:pt x="493911" y="190500"/>
                  <a:pt x="508099" y="176312"/>
                  <a:pt x="508099" y="158750"/>
                </a:cubicBezTo>
                <a:lnTo>
                  <a:pt x="508099" y="31750"/>
                </a:lnTo>
                <a:cubicBezTo>
                  <a:pt x="508099" y="14188"/>
                  <a:pt x="493911" y="0"/>
                  <a:pt x="476349" y="0"/>
                </a:cubicBezTo>
                <a:cubicBezTo>
                  <a:pt x="458788" y="0"/>
                  <a:pt x="444599" y="14188"/>
                  <a:pt x="444599" y="31750"/>
                </a:cubicBezTo>
                <a:lnTo>
                  <a:pt x="444599" y="84733"/>
                </a:lnTo>
                <a:lnTo>
                  <a:pt x="433388" y="74116"/>
                </a:lnTo>
                <a:cubicBezTo>
                  <a:pt x="387449" y="28377"/>
                  <a:pt x="323949" y="0"/>
                  <a:pt x="254000" y="0"/>
                </a:cubicBezTo>
                <a:cubicBezTo>
                  <a:pt x="126008" y="0"/>
                  <a:pt x="20141" y="94655"/>
                  <a:pt x="2580" y="217785"/>
                </a:cubicBezTo>
                <a:cubicBezTo>
                  <a:pt x="99" y="235148"/>
                  <a:pt x="12105" y="251222"/>
                  <a:pt x="29468" y="253702"/>
                </a:cubicBezTo>
                <a:cubicBezTo>
                  <a:pt x="46831" y="256183"/>
                  <a:pt x="62905" y="244078"/>
                  <a:pt x="65385" y="226814"/>
                </a:cubicBezTo>
                <a:close/>
                <a:moveTo>
                  <a:pt x="505420" y="290215"/>
                </a:moveTo>
                <a:cubicBezTo>
                  <a:pt x="507901" y="272852"/>
                  <a:pt x="495796" y="256778"/>
                  <a:pt x="478532" y="254298"/>
                </a:cubicBezTo>
                <a:cubicBezTo>
                  <a:pt x="461268" y="251817"/>
                  <a:pt x="445095" y="263922"/>
                  <a:pt x="442615" y="281186"/>
                </a:cubicBezTo>
                <a:cubicBezTo>
                  <a:pt x="429419" y="373459"/>
                  <a:pt x="349945" y="444401"/>
                  <a:pt x="254000" y="444401"/>
                </a:cubicBezTo>
                <a:cubicBezTo>
                  <a:pt x="201414" y="444401"/>
                  <a:pt x="153789" y="423069"/>
                  <a:pt x="119261" y="388640"/>
                </a:cubicBezTo>
                <a:cubicBezTo>
                  <a:pt x="119062" y="388441"/>
                  <a:pt x="118864" y="388243"/>
                  <a:pt x="118666" y="388045"/>
                </a:cubicBezTo>
                <a:lnTo>
                  <a:pt x="111125" y="380901"/>
                </a:lnTo>
                <a:lnTo>
                  <a:pt x="158651" y="380901"/>
                </a:lnTo>
                <a:cubicBezTo>
                  <a:pt x="176212" y="380901"/>
                  <a:pt x="190401" y="366713"/>
                  <a:pt x="190401" y="349151"/>
                </a:cubicBezTo>
                <a:cubicBezTo>
                  <a:pt x="190401" y="331589"/>
                  <a:pt x="176212" y="317401"/>
                  <a:pt x="158651" y="317401"/>
                </a:cubicBezTo>
                <a:lnTo>
                  <a:pt x="31750" y="317500"/>
                </a:lnTo>
                <a:cubicBezTo>
                  <a:pt x="23316" y="317500"/>
                  <a:pt x="15180" y="320873"/>
                  <a:pt x="9227" y="326926"/>
                </a:cubicBezTo>
                <a:cubicBezTo>
                  <a:pt x="3274" y="332978"/>
                  <a:pt x="-99" y="341015"/>
                  <a:pt x="0" y="349548"/>
                </a:cubicBezTo>
                <a:lnTo>
                  <a:pt x="992" y="475555"/>
                </a:lnTo>
                <a:cubicBezTo>
                  <a:pt x="1091" y="493117"/>
                  <a:pt x="15478" y="507206"/>
                  <a:pt x="33040" y="507008"/>
                </a:cubicBezTo>
                <a:cubicBezTo>
                  <a:pt x="50602" y="506809"/>
                  <a:pt x="64691" y="492522"/>
                  <a:pt x="64492" y="474960"/>
                </a:cubicBezTo>
                <a:lnTo>
                  <a:pt x="64095" y="423863"/>
                </a:lnTo>
                <a:lnTo>
                  <a:pt x="74712" y="433884"/>
                </a:lnTo>
                <a:cubicBezTo>
                  <a:pt x="120650" y="479623"/>
                  <a:pt x="184051" y="508000"/>
                  <a:pt x="254000" y="508000"/>
                </a:cubicBezTo>
                <a:cubicBezTo>
                  <a:pt x="381992" y="508000"/>
                  <a:pt x="487859" y="413345"/>
                  <a:pt x="505420" y="290215"/>
                </a:cubicBezTo>
                <a:close/>
              </a:path>
            </a:pathLst>
          </a:custGeom>
          <a:solidFill>
            <a:srgbClr val="C9893B"/>
          </a:solidFill>
          <a:ln/>
        </p:spPr>
      </p:sp>
      <p:sp>
        <p:nvSpPr>
          <p:cNvPr id="8" name="Text 6"/>
          <p:cNvSpPr/>
          <p:nvPr/>
        </p:nvSpPr>
        <p:spPr>
          <a:xfrm>
            <a:off x="1727200" y="1905000"/>
            <a:ext cx="5842000" cy="508000"/>
          </a:xfrm>
          <a:prstGeom prst="rect">
            <a:avLst/>
          </a:prstGeom>
          <a:noFill/>
          <a:ln/>
        </p:spPr>
        <p:txBody>
          <a:bodyPr wrap="none" lIns="0" tIns="0" rIns="0" bIns="0" rtlCol="0" anchor="ctr"/>
          <a:lstStyle/>
          <a:p>
            <a:pPr>
              <a:lnSpc>
                <a:spcPct val="140000"/>
              </a:lnSpc>
            </a:pPr>
            <a:r>
              <a:rPr lang="en-US" sz="2200" b="1" dirty="0">
                <a:solidFill>
                  <a:srgbClr val="2D3E50"/>
                </a:solidFill>
                <a:latin typeface="Liter" pitchFamily="34" charset="0"/>
                <a:ea typeface="Liter" pitchFamily="34" charset="-122"/>
                <a:cs typeface="Liter" pitchFamily="34" charset="-120"/>
              </a:rPr>
              <a:t>Recursive Query</a:t>
            </a:r>
            <a:endParaRPr lang="en-US" sz="2000" dirty="0"/>
          </a:p>
        </p:txBody>
      </p:sp>
      <p:sp>
        <p:nvSpPr>
          <p:cNvPr id="9" name="Text 7"/>
          <p:cNvSpPr/>
          <p:nvPr/>
        </p:nvSpPr>
        <p:spPr>
          <a:xfrm>
            <a:off x="1066800" y="2540000"/>
            <a:ext cx="6502400" cy="304800"/>
          </a:xfrm>
          <a:prstGeom prst="rect">
            <a:avLst/>
          </a:prstGeom>
          <a:noFill/>
          <a:ln/>
        </p:spPr>
        <p:txBody>
          <a:bodyPr wrap="square" lIns="0" tIns="0" rIns="0" bIns="0" rtlCol="0" anchor="ctr"/>
          <a:lstStyle/>
          <a:p>
            <a:pPr>
              <a:lnSpc>
                <a:spcPct val="100000"/>
              </a:lnSpc>
            </a:pPr>
            <a:r>
              <a:rPr lang="en-US" sz="1500" dirty="0">
                <a:solidFill>
                  <a:srgbClr val="6B7B8D"/>
                </a:solidFill>
                <a:latin typeface="Quattrocento Sans" pitchFamily="34" charset="0"/>
                <a:ea typeface="Quattrocento Sans" pitchFamily="34" charset="-122"/>
                <a:cs typeface="Quattrocento Sans" pitchFamily="34" charset="-120"/>
              </a:rPr>
              <a:t>"Find the complete answer for me"</a:t>
            </a:r>
            <a:endParaRPr lang="en-US" sz="1600" dirty="0"/>
          </a:p>
        </p:txBody>
      </p:sp>
      <p:sp>
        <p:nvSpPr>
          <p:cNvPr id="10" name="Text 8"/>
          <p:cNvSpPr/>
          <p:nvPr/>
        </p:nvSpPr>
        <p:spPr>
          <a:xfrm>
            <a:off x="1066800" y="3022600"/>
            <a:ext cx="6502400" cy="4572000"/>
          </a:xfrm>
          <a:prstGeom prst="rect">
            <a:avLst/>
          </a:prstGeom>
          <a:noFill/>
          <a:ln/>
        </p:spPr>
        <p:txBody>
          <a:bodyPr wrap="square" lIns="0" tIns="0" rIns="0" bIns="0" rtlCol="0" anchor="ctr"/>
          <a:lstStyle/>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The </a:t>
            </a:r>
            <a:pPr>
              <a:lnSpc>
                <a:spcPct val="165000"/>
              </a:lnSpc>
            </a:pPr>
            <a:r>
              <a:rPr lang="en-US" sz="1600" b="1" dirty="0">
                <a:solidFill>
                  <a:srgbClr val="1E2328"/>
                </a:solidFill>
                <a:latin typeface="Quattrocento Sans" pitchFamily="34" charset="0"/>
                <a:ea typeface="Quattrocento Sans" pitchFamily="34" charset="-122"/>
                <a:cs typeface="Quattrocento Sans" pitchFamily="34" charset="-120"/>
              </a:rPr>
              <a:t>resolver does all the work</a:t>
            </a:r>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 it queries other servers on behalf of the client until it finds the answer.</a:t>
            </a:r>
            <a:endParaRPr lang="en-US" sz="1600" dirty="0"/>
          </a:p>
          <a:p>
            <a:pPr>
              <a:lnSpc>
                <a:spcPct val="165000"/>
              </a:lnSpc>
              <a:spcBef>
                <a:spcPts val="1000"/>
              </a:spcBef>
            </a:pPr>
            <a:r>
              <a:rPr lang="en-US" sz="1600" b="1" dirty="0">
                <a:solidFill>
                  <a:srgbClr val="1E2328"/>
                </a:solidFill>
                <a:latin typeface="Quattrocento Sans" pitchFamily="34" charset="0"/>
                <a:ea typeface="Quattrocento Sans" pitchFamily="34" charset="-122"/>
                <a:cs typeface="Quattrocento Sans" pitchFamily="34" charset="-120"/>
              </a:rPr>
              <a:t>Key characteristics:</a:t>
            </a:r>
            <a:endParaRPr lang="en-US" sz="1600" dirty="0"/>
          </a:p>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Client sends only </a:t>
            </a:r>
            <a:pPr>
              <a:lnSpc>
                <a:spcPct val="165000"/>
              </a:lnSpc>
            </a:pPr>
            <a:r>
              <a:rPr lang="en-US" sz="1600" dirty="0">
                <a:solidFill>
                  <a:srgbClr val="C9893B"/>
                </a:solidFill>
                <a:latin typeface="Quattrocento Sans" pitchFamily="34" charset="0"/>
                <a:ea typeface="Quattrocento Sans" pitchFamily="34" charset="-122"/>
                <a:cs typeface="Quattrocento Sans" pitchFamily="34" charset="-120"/>
              </a:rPr>
              <a:t>ONE query</a:t>
            </a:r>
            <a:endParaRPr lang="en-US" sz="1600" dirty="0"/>
          </a:p>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Resolver performs the full lookup</a:t>
            </a:r>
            <a:endParaRPr lang="en-US" sz="1600" dirty="0"/>
          </a:p>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Client waits for the final answer</a:t>
            </a:r>
            <a:endParaRPr lang="en-US" sz="1600" dirty="0"/>
          </a:p>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Used between </a:t>
            </a:r>
            <a:pPr>
              <a:lnSpc>
                <a:spcPct val="165000"/>
              </a:lnSpc>
            </a:pPr>
            <a:r>
              <a:rPr lang="en-US" sz="1600" b="1" dirty="0">
                <a:solidFill>
                  <a:srgbClr val="1E2328"/>
                </a:solidFill>
                <a:latin typeface="Quattrocento Sans" pitchFamily="34" charset="0"/>
                <a:ea typeface="Quattrocento Sans" pitchFamily="34" charset="-122"/>
                <a:cs typeface="Quattrocento Sans" pitchFamily="34" charset="-120"/>
              </a:rPr>
              <a:t>client and resolver</a:t>
            </a:r>
            <a:endParaRPr lang="en-US" sz="1600" dirty="0"/>
          </a:p>
          <a:p>
            <a:pPr>
              <a:lnSpc>
                <a:spcPct val="165000"/>
              </a:lnSpc>
              <a:spcBef>
                <a:spcPts val="1000"/>
              </a:spcBef>
            </a:pPr>
            <a:r>
              <a:rPr lang="en-US" sz="1600" b="1" dirty="0">
                <a:solidFill>
                  <a:srgbClr val="1E2328"/>
                </a:solidFill>
                <a:latin typeface="Quattrocento Sans" pitchFamily="34" charset="0"/>
                <a:ea typeface="Quattrocento Sans" pitchFamily="34" charset="-122"/>
                <a:cs typeface="Quattrocento Sans" pitchFamily="34" charset="-120"/>
              </a:rPr>
              <a:t>Analogy:</a:t>
            </a:r>
            <a:pPr>
              <a:lnSpc>
                <a:spcPct val="165000"/>
              </a:lnSpc>
              <a:spcBef>
                <a:spcPts val="1000"/>
              </a:spcBef>
            </a:pPr>
            <a:r>
              <a:rPr lang="en-US" sz="1600" dirty="0">
                <a:solidFill>
                  <a:srgbClr val="1E2328"/>
                </a:solidFill>
                <a:latin typeface="Quattrocento Sans" pitchFamily="34" charset="0"/>
                <a:ea typeface="Quattrocento Sans" pitchFamily="34" charset="-122"/>
                <a:cs typeface="Quattrocento Sans" pitchFamily="34" charset="-120"/>
              </a:rPr>
              <a:t> Like asking a librarian to find a book — they search the entire library for you.</a:t>
            </a:r>
            <a:endParaRPr lang="en-US" sz="1600" dirty="0"/>
          </a:p>
        </p:txBody>
      </p:sp>
      <p:sp>
        <p:nvSpPr>
          <p:cNvPr id="11" name="Shape 9"/>
          <p:cNvSpPr/>
          <p:nvPr/>
        </p:nvSpPr>
        <p:spPr>
          <a:xfrm>
            <a:off x="8382000" y="1587500"/>
            <a:ext cx="7112000" cy="6223000"/>
          </a:xfrm>
          <a:prstGeom prst="rect">
            <a:avLst/>
          </a:prstGeom>
          <a:solidFill>
            <a:srgbClr val="E8E4DE"/>
          </a:solidFill>
          <a:ln/>
        </p:spPr>
      </p:sp>
      <p:sp>
        <p:nvSpPr>
          <p:cNvPr id="12" name="Shape 10"/>
          <p:cNvSpPr/>
          <p:nvPr/>
        </p:nvSpPr>
        <p:spPr>
          <a:xfrm>
            <a:off x="8382000" y="1587500"/>
            <a:ext cx="7112000" cy="76200"/>
          </a:xfrm>
          <a:prstGeom prst="rect">
            <a:avLst/>
          </a:prstGeom>
          <a:solidFill>
            <a:srgbClr val="2D3E50"/>
          </a:solidFill>
          <a:ln/>
        </p:spPr>
      </p:sp>
      <p:sp>
        <p:nvSpPr>
          <p:cNvPr id="13" name="Shape 11"/>
          <p:cNvSpPr/>
          <p:nvPr/>
        </p:nvSpPr>
        <p:spPr>
          <a:xfrm>
            <a:off x="8655050" y="1905000"/>
            <a:ext cx="571500" cy="508000"/>
          </a:xfrm>
          <a:custGeom>
            <a:avLst/>
            <a:gdLst/>
            <a:ahLst/>
            <a:cxnLst/>
            <a:rect l="l" t="t" r="r" b="b"/>
            <a:pathLst>
              <a:path w="571500" h="508000">
                <a:moveTo>
                  <a:pt x="562173" y="276423"/>
                </a:moveTo>
                <a:cubicBezTo>
                  <a:pt x="574576" y="264021"/>
                  <a:pt x="574576" y="243880"/>
                  <a:pt x="562173" y="231477"/>
                </a:cubicBezTo>
                <a:lnTo>
                  <a:pt x="435173" y="104477"/>
                </a:lnTo>
                <a:cubicBezTo>
                  <a:pt x="422771" y="92075"/>
                  <a:pt x="402630" y="92075"/>
                  <a:pt x="390227" y="104477"/>
                </a:cubicBezTo>
                <a:cubicBezTo>
                  <a:pt x="377825" y="116880"/>
                  <a:pt x="377825" y="137021"/>
                  <a:pt x="390227" y="149423"/>
                </a:cubicBezTo>
                <a:lnTo>
                  <a:pt x="463054" y="222250"/>
                </a:lnTo>
                <a:lnTo>
                  <a:pt x="31750" y="222250"/>
                </a:lnTo>
                <a:cubicBezTo>
                  <a:pt x="14188" y="222250"/>
                  <a:pt x="0" y="236438"/>
                  <a:pt x="0" y="254000"/>
                </a:cubicBezTo>
                <a:cubicBezTo>
                  <a:pt x="0" y="271562"/>
                  <a:pt x="14188" y="285750"/>
                  <a:pt x="31750" y="285750"/>
                </a:cubicBezTo>
                <a:lnTo>
                  <a:pt x="463054" y="285750"/>
                </a:lnTo>
                <a:lnTo>
                  <a:pt x="390227" y="358577"/>
                </a:lnTo>
                <a:cubicBezTo>
                  <a:pt x="377825" y="370979"/>
                  <a:pt x="377825" y="391120"/>
                  <a:pt x="390227" y="403523"/>
                </a:cubicBezTo>
                <a:cubicBezTo>
                  <a:pt x="402630" y="415925"/>
                  <a:pt x="422771" y="415925"/>
                  <a:pt x="435173" y="403523"/>
                </a:cubicBezTo>
                <a:lnTo>
                  <a:pt x="562173" y="276523"/>
                </a:lnTo>
                <a:close/>
              </a:path>
            </a:pathLst>
          </a:custGeom>
          <a:solidFill>
            <a:srgbClr val="2D3E50"/>
          </a:solidFill>
          <a:ln/>
        </p:spPr>
      </p:sp>
      <p:sp>
        <p:nvSpPr>
          <p:cNvPr id="14" name="Text 12"/>
          <p:cNvSpPr/>
          <p:nvPr/>
        </p:nvSpPr>
        <p:spPr>
          <a:xfrm>
            <a:off x="9347200" y="1905000"/>
            <a:ext cx="5842000" cy="508000"/>
          </a:xfrm>
          <a:prstGeom prst="rect">
            <a:avLst/>
          </a:prstGeom>
          <a:noFill/>
          <a:ln/>
        </p:spPr>
        <p:txBody>
          <a:bodyPr wrap="none" lIns="0" tIns="0" rIns="0" bIns="0" rtlCol="0" anchor="ctr"/>
          <a:lstStyle/>
          <a:p>
            <a:pPr>
              <a:lnSpc>
                <a:spcPct val="140000"/>
              </a:lnSpc>
            </a:pPr>
            <a:r>
              <a:rPr lang="en-US" sz="2200" b="1" dirty="0">
                <a:solidFill>
                  <a:srgbClr val="2D3E50"/>
                </a:solidFill>
                <a:latin typeface="Liter" pitchFamily="34" charset="0"/>
                <a:ea typeface="Liter" pitchFamily="34" charset="-122"/>
                <a:cs typeface="Liter" pitchFamily="34" charset="-120"/>
              </a:rPr>
              <a:t>Iterative Query</a:t>
            </a:r>
            <a:endParaRPr lang="en-US" sz="2000" dirty="0"/>
          </a:p>
        </p:txBody>
      </p:sp>
      <p:sp>
        <p:nvSpPr>
          <p:cNvPr id="15" name="Text 13"/>
          <p:cNvSpPr/>
          <p:nvPr/>
        </p:nvSpPr>
        <p:spPr>
          <a:xfrm>
            <a:off x="8686800" y="2540000"/>
            <a:ext cx="6502400" cy="304800"/>
          </a:xfrm>
          <a:prstGeom prst="rect">
            <a:avLst/>
          </a:prstGeom>
          <a:noFill/>
          <a:ln/>
        </p:spPr>
        <p:txBody>
          <a:bodyPr wrap="square" lIns="0" tIns="0" rIns="0" bIns="0" rtlCol="0" anchor="ctr"/>
          <a:lstStyle/>
          <a:p>
            <a:pPr>
              <a:lnSpc>
                <a:spcPct val="100000"/>
              </a:lnSpc>
            </a:pPr>
            <a:r>
              <a:rPr lang="en-US" sz="1500" dirty="0">
                <a:solidFill>
                  <a:srgbClr val="6B7B8D"/>
                </a:solidFill>
                <a:latin typeface="Quattrocento Sans" pitchFamily="34" charset="0"/>
                <a:ea typeface="Quattrocento Sans" pitchFamily="34" charset="-122"/>
                <a:cs typeface="Quattrocento Sans" pitchFamily="34" charset="-120"/>
              </a:rPr>
              <a:t>"Give me your best answer or a referral"</a:t>
            </a:r>
            <a:endParaRPr lang="en-US" sz="1600" dirty="0"/>
          </a:p>
        </p:txBody>
      </p:sp>
      <p:sp>
        <p:nvSpPr>
          <p:cNvPr id="16" name="Text 14"/>
          <p:cNvSpPr/>
          <p:nvPr/>
        </p:nvSpPr>
        <p:spPr>
          <a:xfrm>
            <a:off x="8686800" y="3022600"/>
            <a:ext cx="6502400" cy="4572000"/>
          </a:xfrm>
          <a:prstGeom prst="rect">
            <a:avLst/>
          </a:prstGeom>
          <a:noFill/>
          <a:ln/>
        </p:spPr>
        <p:txBody>
          <a:bodyPr wrap="square" lIns="0" tIns="0" rIns="0" bIns="0" rtlCol="0" anchor="ctr"/>
          <a:lstStyle/>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Each server returns the </a:t>
            </a:r>
            <a:pPr>
              <a:lnSpc>
                <a:spcPct val="165000"/>
              </a:lnSpc>
            </a:pPr>
            <a:r>
              <a:rPr lang="en-US" sz="1600" b="1" dirty="0">
                <a:solidFill>
                  <a:srgbClr val="1E2328"/>
                </a:solidFill>
                <a:latin typeface="Quattrocento Sans" pitchFamily="34" charset="0"/>
                <a:ea typeface="Quattrocento Sans" pitchFamily="34" charset="-122"/>
                <a:cs typeface="Quattrocento Sans" pitchFamily="34" charset="-120"/>
              </a:rPr>
              <a:t>best answer it has</a:t>
            </a:r>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or a referral to the next server in the hierarchy.</a:t>
            </a:r>
            <a:endParaRPr lang="en-US" sz="1600" dirty="0"/>
          </a:p>
          <a:p>
            <a:pPr>
              <a:lnSpc>
                <a:spcPct val="165000"/>
              </a:lnSpc>
              <a:spcBef>
                <a:spcPts val="1000"/>
              </a:spcBef>
            </a:pPr>
            <a:r>
              <a:rPr lang="en-US" sz="1600" b="1" dirty="0">
                <a:solidFill>
                  <a:srgbClr val="1E2328"/>
                </a:solidFill>
                <a:latin typeface="Quattrocento Sans" pitchFamily="34" charset="0"/>
                <a:ea typeface="Quattrocento Sans" pitchFamily="34" charset="-122"/>
                <a:cs typeface="Quattrocento Sans" pitchFamily="34" charset="-120"/>
              </a:rPr>
              <a:t>Key characteristics:</a:t>
            </a:r>
            <a:endParaRPr lang="en-US" sz="1600" dirty="0"/>
          </a:p>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Server returns answer </a:t>
            </a:r>
            <a:pPr>
              <a:lnSpc>
                <a:spcPct val="165000"/>
              </a:lnSpc>
            </a:pPr>
            <a:r>
              <a:rPr lang="en-US" sz="1600" dirty="0">
                <a:solidFill>
                  <a:srgbClr val="C9893B"/>
                </a:solidFill>
                <a:latin typeface="Quattrocento Sans" pitchFamily="34" charset="0"/>
                <a:ea typeface="Quattrocento Sans" pitchFamily="34" charset="-122"/>
                <a:cs typeface="Quattrocento Sans" pitchFamily="34" charset="-120"/>
              </a:rPr>
              <a:t>or referral</a:t>
            </a:r>
            <a:endParaRPr lang="en-US" sz="1600" dirty="0"/>
          </a:p>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Client (resolver) queries next server</a:t>
            </a:r>
            <a:endParaRPr lang="en-US" sz="1600" dirty="0"/>
          </a:p>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Step-by-step process driven by client</a:t>
            </a:r>
            <a:endParaRPr lang="en-US" sz="1600" dirty="0"/>
          </a:p>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Used between </a:t>
            </a:r>
            <a:pPr>
              <a:lnSpc>
                <a:spcPct val="165000"/>
              </a:lnSpc>
            </a:pPr>
            <a:r>
              <a:rPr lang="en-US" sz="1600" b="1" dirty="0">
                <a:solidFill>
                  <a:srgbClr val="1E2328"/>
                </a:solidFill>
                <a:latin typeface="Quattrocento Sans" pitchFamily="34" charset="0"/>
                <a:ea typeface="Quattrocento Sans" pitchFamily="34" charset="-122"/>
                <a:cs typeface="Quattrocento Sans" pitchFamily="34" charset="-120"/>
              </a:rPr>
              <a:t>resolver and hierarchy</a:t>
            </a:r>
            <a:endParaRPr lang="en-US" sz="1600" dirty="0"/>
          </a:p>
          <a:p>
            <a:pPr>
              <a:lnSpc>
                <a:spcPct val="165000"/>
              </a:lnSpc>
              <a:spcBef>
                <a:spcPts val="1000"/>
              </a:spcBef>
            </a:pPr>
            <a:r>
              <a:rPr lang="en-US" sz="1600" b="1" dirty="0">
                <a:solidFill>
                  <a:srgbClr val="1E2328"/>
                </a:solidFill>
                <a:latin typeface="Quattrocento Sans" pitchFamily="34" charset="0"/>
                <a:ea typeface="Quattrocento Sans" pitchFamily="34" charset="-122"/>
                <a:cs typeface="Quattrocento Sans" pitchFamily="34" charset="-120"/>
              </a:rPr>
              <a:t>Analogy:</a:t>
            </a:r>
            <a:pPr>
              <a:lnSpc>
                <a:spcPct val="165000"/>
              </a:lnSpc>
              <a:spcBef>
                <a:spcPts val="1000"/>
              </a:spcBef>
            </a:pPr>
            <a:r>
              <a:rPr lang="en-US" sz="1600" dirty="0">
                <a:solidFill>
                  <a:srgbClr val="1E2328"/>
                </a:solidFill>
                <a:latin typeface="Quattrocento Sans" pitchFamily="34" charset="0"/>
                <a:ea typeface="Quattrocento Sans" pitchFamily="34" charset="-122"/>
                <a:cs typeface="Quattrocento Sans" pitchFamily="34" charset="-120"/>
              </a:rPr>
              <a:t> Like asking for directions — each person points you to the next location.</a:t>
            </a:r>
            <a:endParaRPr lang="en-US" sz="1600" dirty="0"/>
          </a:p>
        </p:txBody>
      </p:sp>
      <p:sp>
        <p:nvSpPr>
          <p:cNvPr id="17" name="Shape 15"/>
          <p:cNvSpPr/>
          <p:nvPr/>
        </p:nvSpPr>
        <p:spPr>
          <a:xfrm>
            <a:off x="762000" y="8382000"/>
            <a:ext cx="14732000" cy="25400"/>
          </a:xfrm>
          <a:prstGeom prst="rect">
            <a:avLst/>
          </a:prstGeom>
          <a:solidFill>
            <a:srgbClr val="C9893B"/>
          </a:solidFill>
          <a:ln/>
        </p:spPr>
      </p:sp>
      <p:sp>
        <p:nvSpPr>
          <p:cNvPr id="18" name="Text 16"/>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13</a:t>
            </a:r>
            <a:endParaRPr lang="en-US" sz="14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DNS Query Types Summary</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498600"/>
            <a:ext cx="14732000" cy="6350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Three types of DNS queries work together for efficient resolution. Most real-world lookups use a combination of these approaches.</a:t>
            </a:r>
            <a:endParaRPr lang="en-US" sz="1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62000" y="2349500"/>
          <a:ext cx="14732000" cy="3937000"/>
        </p:xfrm>
        <a:graphic>
          <a:graphicData uri="http://schemas.openxmlformats.org/drawingml/2006/table">
            <a:tbl>
              <a:tblPr/>
              <a:tblGrid>
                <a:gridCol w="2651760"/>
                <a:gridCol w="4419600"/>
                <a:gridCol w="3977640"/>
                <a:gridCol w="3683000"/>
              </a:tblGrid>
              <a:tr h="54610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Query Type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How It Works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Used Between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Key Feature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r>
              <a:tr h="1143000">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Recursive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Resolver searches entire hierarchy and returns complete answer to client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Client and Resolver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Client sends only ONE query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1143000">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Iterative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Each server returns best answer or referral to next server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Resolver and DNS Hierarchy (Root, TLD, Auth)</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Step-by-step referral process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1104900">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Non-Recursive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Answer already in cache or server is authoritative; immediate response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Any cached query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No additional lookups needed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bl>
          </a:graphicData>
        </a:graphic>
      </p:graphicFrame>
      <p:sp>
        <p:nvSpPr>
          <p:cNvPr id="7" name="Shape 4"/>
          <p:cNvSpPr/>
          <p:nvPr/>
        </p:nvSpPr>
        <p:spPr>
          <a:xfrm>
            <a:off x="762000" y="6604000"/>
            <a:ext cx="14732000" cy="1270000"/>
          </a:xfrm>
          <a:prstGeom prst="rect">
            <a:avLst/>
          </a:prstGeom>
          <a:solidFill>
            <a:srgbClr val="2D3E50"/>
          </a:solidFill>
          <a:ln/>
        </p:spPr>
      </p:sp>
      <p:sp>
        <p:nvSpPr>
          <p:cNvPr id="8" name="Shape 5"/>
          <p:cNvSpPr/>
          <p:nvPr/>
        </p:nvSpPr>
        <p:spPr>
          <a:xfrm>
            <a:off x="1143000" y="6934200"/>
            <a:ext cx="457200" cy="609600"/>
          </a:xfrm>
          <a:custGeom>
            <a:avLst/>
            <a:gdLst/>
            <a:ahLst/>
            <a:cxnLst/>
            <a:rect l="l" t="t" r="r" b="b"/>
            <a:pathLst>
              <a:path w="457200" h="609600">
                <a:moveTo>
                  <a:pt x="348734" y="457200"/>
                </a:moveTo>
                <a:cubicBezTo>
                  <a:pt x="357426" y="430649"/>
                  <a:pt x="374809" y="406598"/>
                  <a:pt x="394454" y="385882"/>
                </a:cubicBezTo>
                <a:cubicBezTo>
                  <a:pt x="433387" y="344924"/>
                  <a:pt x="457200" y="289560"/>
                  <a:pt x="457200" y="228600"/>
                </a:cubicBezTo>
                <a:cubicBezTo>
                  <a:pt x="457200" y="102394"/>
                  <a:pt x="354806" y="0"/>
                  <a:pt x="228600" y="0"/>
                </a:cubicBezTo>
                <a:cubicBezTo>
                  <a:pt x="102394" y="0"/>
                  <a:pt x="0" y="102394"/>
                  <a:pt x="0" y="228600"/>
                </a:cubicBezTo>
                <a:cubicBezTo>
                  <a:pt x="0" y="289560"/>
                  <a:pt x="23813" y="344924"/>
                  <a:pt x="62746" y="385882"/>
                </a:cubicBezTo>
                <a:cubicBezTo>
                  <a:pt x="82391" y="406598"/>
                  <a:pt x="99893" y="430649"/>
                  <a:pt x="108466" y="457200"/>
                </a:cubicBezTo>
                <a:lnTo>
                  <a:pt x="348615" y="457200"/>
                </a:lnTo>
                <a:close/>
                <a:moveTo>
                  <a:pt x="342900" y="514350"/>
                </a:moveTo>
                <a:lnTo>
                  <a:pt x="114300" y="514350"/>
                </a:lnTo>
                <a:lnTo>
                  <a:pt x="114300" y="533400"/>
                </a:lnTo>
                <a:cubicBezTo>
                  <a:pt x="114300" y="586026"/>
                  <a:pt x="156924" y="628650"/>
                  <a:pt x="209550" y="628650"/>
                </a:cubicBezTo>
                <a:lnTo>
                  <a:pt x="247650" y="628650"/>
                </a:lnTo>
                <a:cubicBezTo>
                  <a:pt x="300276" y="628650"/>
                  <a:pt x="342900" y="586026"/>
                  <a:pt x="342900" y="533400"/>
                </a:cubicBezTo>
                <a:lnTo>
                  <a:pt x="342900" y="514350"/>
                </a:lnTo>
                <a:close/>
                <a:moveTo>
                  <a:pt x="219075" y="133350"/>
                </a:moveTo>
                <a:cubicBezTo>
                  <a:pt x="171688" y="133350"/>
                  <a:pt x="133350" y="171688"/>
                  <a:pt x="133350" y="219075"/>
                </a:cubicBezTo>
                <a:cubicBezTo>
                  <a:pt x="133350" y="234910"/>
                  <a:pt x="120610" y="247650"/>
                  <a:pt x="104775" y="247650"/>
                </a:cubicBezTo>
                <a:cubicBezTo>
                  <a:pt x="88940" y="247650"/>
                  <a:pt x="76200" y="234910"/>
                  <a:pt x="76200" y="219075"/>
                </a:cubicBezTo>
                <a:cubicBezTo>
                  <a:pt x="76200" y="140137"/>
                  <a:pt x="140137" y="76200"/>
                  <a:pt x="219075" y="76200"/>
                </a:cubicBezTo>
                <a:cubicBezTo>
                  <a:pt x="234910" y="76200"/>
                  <a:pt x="247650" y="88940"/>
                  <a:pt x="247650" y="104775"/>
                </a:cubicBezTo>
                <a:cubicBezTo>
                  <a:pt x="247650" y="120610"/>
                  <a:pt x="234910" y="133350"/>
                  <a:pt x="219075" y="133350"/>
                </a:cubicBezTo>
                <a:close/>
              </a:path>
            </a:pathLst>
          </a:custGeom>
          <a:solidFill>
            <a:srgbClr val="C9893B"/>
          </a:solidFill>
          <a:ln/>
        </p:spPr>
      </p:sp>
      <p:sp>
        <p:nvSpPr>
          <p:cNvPr id="9" name="Text 6"/>
          <p:cNvSpPr/>
          <p:nvPr/>
        </p:nvSpPr>
        <p:spPr>
          <a:xfrm>
            <a:off x="1905000" y="6781800"/>
            <a:ext cx="13309600" cy="914400"/>
          </a:xfrm>
          <a:prstGeom prst="rect">
            <a:avLst/>
          </a:prstGeom>
          <a:noFill/>
          <a:ln/>
        </p:spPr>
        <p:txBody>
          <a:bodyPr wrap="square" lIns="0" tIns="0" rIns="0" bIns="0" rtlCol="0" anchor="ctr"/>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Real-World Combination:</a:t>
            </a:r>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Most DNS lookups use recursive queries from client to resolver, and iterative queries from resolver to the DNS hierarchy (root, TLD, authoritative servers).</a:t>
            </a:r>
            <a:endParaRPr lang="en-US" sz="1600" dirty="0"/>
          </a:p>
        </p:txBody>
      </p:sp>
      <p:sp>
        <p:nvSpPr>
          <p:cNvPr id="10" name="Shape 7"/>
          <p:cNvSpPr/>
          <p:nvPr/>
        </p:nvSpPr>
        <p:spPr>
          <a:xfrm>
            <a:off x="762000" y="8382000"/>
            <a:ext cx="14732000" cy="25400"/>
          </a:xfrm>
          <a:prstGeom prst="rect">
            <a:avLst/>
          </a:prstGeom>
          <a:solidFill>
            <a:srgbClr val="C9893B"/>
          </a:solidFill>
          <a:ln/>
        </p:spPr>
      </p:sp>
      <p:sp>
        <p:nvSpPr>
          <p:cNvPr id="11" name="Text 8"/>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14</a:t>
            </a:r>
            <a:endParaRPr lang="en-US" sz="14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762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DNS Caching &amp; TTL</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587500"/>
            <a:ext cx="3810000" cy="3810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DNS Caching</a:t>
            </a:r>
            <a:endParaRPr lang="en-US" sz="2000" dirty="0"/>
          </a:p>
        </p:txBody>
      </p:sp>
      <p:sp>
        <p:nvSpPr>
          <p:cNvPr id="6" name="Text 4"/>
          <p:cNvSpPr/>
          <p:nvPr/>
        </p:nvSpPr>
        <p:spPr>
          <a:xfrm>
            <a:off x="762000" y="2095500"/>
            <a:ext cx="7112000" cy="2286000"/>
          </a:xfrm>
          <a:prstGeom prst="rect">
            <a:avLst/>
          </a:prstGeom>
          <a:noFill/>
          <a:ln/>
        </p:spPr>
        <p:txBody>
          <a:bodyPr wrap="square" lIns="0" tIns="0" rIns="0" bIns="0" rtlCol="0" anchor="ctr"/>
          <a:lstStyle/>
          <a:p>
            <a:pPr>
              <a:lnSpc>
                <a:spcPct val="165000"/>
              </a:lnSpc>
            </a:pPr>
            <a:r>
              <a:rPr lang="en-US" sz="1600" dirty="0">
                <a:solidFill>
                  <a:srgbClr val="1E2328"/>
                </a:solidFill>
                <a:latin typeface="QuattrocentoSans" pitchFamily="34" charset="0"/>
                <a:ea typeface="QuattrocentoSans" pitchFamily="34" charset="-122"/>
                <a:cs typeface="QuattrocentoSans" pitchFamily="34" charset="-120"/>
              </a:rPr>
              <a:t>DNS caching </a:t>
            </a:r>
            <a:pPr>
              <a:lnSpc>
                <a:spcPct val="165000"/>
              </a:lnSpc>
            </a:pPr>
            <a:r>
              <a:rPr lang="en-US" sz="1600" b="1" dirty="0">
                <a:solidFill>
                  <a:srgbClr val="1E2328"/>
                </a:solidFill>
                <a:latin typeface="QuattrocentoSans" pitchFamily="34" charset="0"/>
                <a:ea typeface="QuattrocentoSans" pitchFamily="34" charset="-122"/>
                <a:cs typeface="QuattrocentoSans" pitchFamily="34" charset="-120"/>
              </a:rPr>
              <a:t>temporarily stores</a:t>
            </a:r>
            <a:pPr>
              <a:lnSpc>
                <a:spcPct val="165000"/>
              </a:lnSpc>
            </a:pPr>
            <a:r>
              <a:rPr lang="en-US" sz="1600" dirty="0">
                <a:solidFill>
                  <a:srgbClr val="1E2328"/>
                </a:solidFill>
                <a:latin typeface="QuattrocentoSans" pitchFamily="34" charset="0"/>
                <a:ea typeface="QuattrocentoSans" pitchFamily="34" charset="-122"/>
                <a:cs typeface="QuattrocentoSans" pitchFamily="34" charset="-120"/>
              </a:rPr>
              <a:t> query results to reduce lookup time and server load. Caching occurs at multiple levels:</a:t>
            </a:r>
            <a:endParaRPr lang="en-US" sz="1800" dirty="0"/>
          </a:p>
          <a:p>
            <a:pPr>
              <a:lnSpc>
                <a:spcPct val="165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 </a:t>
            </a:r>
            <a:pPr>
              <a:lnSpc>
                <a:spcPct val="165000"/>
              </a:lnSpc>
              <a:spcBef>
                <a:spcPts val="600"/>
              </a:spcBef>
            </a:pPr>
            <a:r>
              <a:rPr lang="en-US" sz="1600" dirty="0">
                <a:solidFill>
                  <a:srgbClr val="C9893B"/>
                </a:solidFill>
                <a:latin typeface="QuattrocentoSans" pitchFamily="34" charset="0"/>
                <a:ea typeface="QuattrocentoSans" pitchFamily="34" charset="-122"/>
                <a:cs typeface="QuattrocentoSans" pitchFamily="34" charset="-120"/>
              </a:rPr>
              <a:t>Browser cache</a:t>
            </a:r>
            <a:pPr>
              <a:lnSpc>
                <a:spcPct val="165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 — fastest, first check</a:t>
            </a:r>
            <a:endParaRPr lang="en-US" sz="1800" dirty="0"/>
          </a:p>
          <a:p>
            <a:pPr>
              <a:lnSpc>
                <a:spcPct val="165000"/>
              </a:lnSpc>
            </a:pPr>
            <a:r>
              <a:rPr lang="en-US" sz="1600" dirty="0">
                <a:solidFill>
                  <a:srgbClr val="1E2328"/>
                </a:solidFill>
                <a:latin typeface="QuattrocentoSans" pitchFamily="34" charset="0"/>
                <a:ea typeface="QuattrocentoSans" pitchFamily="34" charset="-122"/>
                <a:cs typeface="QuattrocentoSans" pitchFamily="34" charset="-120"/>
              </a:rPr>
              <a:t>• </a:t>
            </a:r>
            <a:pPr>
              <a:lnSpc>
                <a:spcPct val="165000"/>
              </a:lnSpc>
            </a:pPr>
            <a:r>
              <a:rPr lang="en-US" sz="1600" dirty="0">
                <a:solidFill>
                  <a:srgbClr val="C9893B"/>
                </a:solidFill>
                <a:latin typeface="QuattrocentoSans" pitchFamily="34" charset="0"/>
                <a:ea typeface="QuattrocentoSans" pitchFamily="34" charset="-122"/>
                <a:cs typeface="QuattrocentoSans" pitchFamily="34" charset="-120"/>
              </a:rPr>
              <a:t>OS cache</a:t>
            </a:r>
            <a:pPr>
              <a:lnSpc>
                <a:spcPct val="165000"/>
              </a:lnSpc>
            </a:pPr>
            <a:r>
              <a:rPr lang="en-US" sz="1600" dirty="0">
                <a:solidFill>
                  <a:srgbClr val="1E2328"/>
                </a:solidFill>
                <a:latin typeface="QuattrocentoSans" pitchFamily="34" charset="0"/>
                <a:ea typeface="QuattrocentoSans" pitchFamily="34" charset="-122"/>
                <a:cs typeface="QuattrocentoSans" pitchFamily="34" charset="-120"/>
              </a:rPr>
              <a:t> — system-level storage</a:t>
            </a:r>
            <a:endParaRPr lang="en-US" sz="1800" dirty="0"/>
          </a:p>
          <a:p>
            <a:pPr>
              <a:lnSpc>
                <a:spcPct val="165000"/>
              </a:lnSpc>
            </a:pPr>
            <a:r>
              <a:rPr lang="en-US" sz="1600" dirty="0">
                <a:solidFill>
                  <a:srgbClr val="1E2328"/>
                </a:solidFill>
                <a:latin typeface="QuattrocentoSans" pitchFamily="34" charset="0"/>
                <a:ea typeface="QuattrocentoSans" pitchFamily="34" charset="-122"/>
                <a:cs typeface="QuattrocentoSans" pitchFamily="34" charset="-120"/>
              </a:rPr>
              <a:t>• </a:t>
            </a:r>
            <a:pPr>
              <a:lnSpc>
                <a:spcPct val="165000"/>
              </a:lnSpc>
            </a:pPr>
            <a:r>
              <a:rPr lang="en-US" sz="1600" dirty="0">
                <a:solidFill>
                  <a:srgbClr val="C9893B"/>
                </a:solidFill>
                <a:latin typeface="QuattrocentoSans" pitchFamily="34" charset="0"/>
                <a:ea typeface="QuattrocentoSans" pitchFamily="34" charset="-122"/>
                <a:cs typeface="QuattrocentoSans" pitchFamily="34" charset="-120"/>
              </a:rPr>
              <a:t>Resolver cache</a:t>
            </a:r>
            <a:pPr>
              <a:lnSpc>
                <a:spcPct val="165000"/>
              </a:lnSpc>
            </a:pPr>
            <a:r>
              <a:rPr lang="en-US" sz="1600" dirty="0">
                <a:solidFill>
                  <a:srgbClr val="1E2328"/>
                </a:solidFill>
                <a:latin typeface="QuattrocentoSans" pitchFamily="34" charset="0"/>
                <a:ea typeface="QuattrocentoSans" pitchFamily="34" charset="-122"/>
                <a:cs typeface="QuattrocentoSans" pitchFamily="34" charset="-120"/>
              </a:rPr>
              <a:t> — ISP-level caching</a:t>
            </a:r>
            <a:endParaRPr lang="en-US" sz="1800" dirty="0"/>
          </a:p>
        </p:txBody>
      </p:sp>
      <p:sp>
        <p:nvSpPr>
          <p:cNvPr id="7" name="Shape 5"/>
          <p:cNvSpPr/>
          <p:nvPr/>
        </p:nvSpPr>
        <p:spPr>
          <a:xfrm>
            <a:off x="762000" y="4572000"/>
            <a:ext cx="7112000" cy="1651000"/>
          </a:xfrm>
          <a:prstGeom prst="rect">
            <a:avLst/>
          </a:prstGeom>
          <a:solidFill>
            <a:srgbClr val="E8E4DE"/>
          </a:solidFill>
          <a:ln/>
        </p:spPr>
      </p:sp>
      <p:sp>
        <p:nvSpPr>
          <p:cNvPr id="8" name="Text 6"/>
          <p:cNvSpPr/>
          <p:nvPr/>
        </p:nvSpPr>
        <p:spPr>
          <a:xfrm>
            <a:off x="1066800" y="4673600"/>
            <a:ext cx="65024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Benefits of Caching</a:t>
            </a:r>
            <a:endParaRPr lang="en-US" sz="1600" dirty="0"/>
          </a:p>
        </p:txBody>
      </p:sp>
      <p:sp>
        <p:nvSpPr>
          <p:cNvPr id="9" name="Text 7"/>
          <p:cNvSpPr/>
          <p:nvPr/>
        </p:nvSpPr>
        <p:spPr>
          <a:xfrm>
            <a:off x="1066800" y="4978400"/>
            <a:ext cx="6502400" cy="1206500"/>
          </a:xfrm>
          <a:prstGeom prst="rect">
            <a:avLst/>
          </a:prstGeom>
          <a:noFill/>
          <a:ln/>
        </p:spPr>
        <p:txBody>
          <a:bodyPr wrap="square" lIns="0" tIns="0" rIns="0" bIns="0" rtlCol="0" anchor="ctr"/>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Faster page loads for returning visits</a:t>
            </a:r>
            <a:endParaRPr lang="en-US" sz="1600" dirty="0"/>
          </a:p>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Reduced network traffic and bandwidth</a:t>
            </a:r>
            <a:endParaRPr lang="en-US" sz="1600" dirty="0"/>
          </a:p>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Lower load on DNS infrastructure</a:t>
            </a:r>
            <a:endParaRPr lang="en-US" sz="1600" dirty="0"/>
          </a:p>
        </p:txBody>
      </p:sp>
      <p:sp>
        <p:nvSpPr>
          <p:cNvPr id="10" name="Text 8"/>
          <p:cNvSpPr/>
          <p:nvPr/>
        </p:nvSpPr>
        <p:spPr>
          <a:xfrm>
            <a:off x="8382000" y="1587500"/>
            <a:ext cx="3810000" cy="3810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TTL (Time-To-Live)</a:t>
            </a:r>
            <a:endParaRPr lang="en-US" sz="2000" dirty="0"/>
          </a:p>
        </p:txBody>
      </p:sp>
      <p:sp>
        <p:nvSpPr>
          <p:cNvPr id="11" name="Text 9"/>
          <p:cNvSpPr/>
          <p:nvPr/>
        </p:nvSpPr>
        <p:spPr>
          <a:xfrm>
            <a:off x="8382000" y="2095500"/>
            <a:ext cx="7112000" cy="2286000"/>
          </a:xfrm>
          <a:prstGeom prst="rect">
            <a:avLst/>
          </a:prstGeom>
          <a:noFill/>
          <a:ln/>
        </p:spPr>
        <p:txBody>
          <a:bodyPr wrap="square" lIns="0" tIns="0" rIns="0" bIns="0" rtlCol="0" anchor="ctr"/>
          <a:lstStyle/>
          <a:p>
            <a:pPr>
              <a:lnSpc>
                <a:spcPct val="165000"/>
              </a:lnSpc>
            </a:pPr>
            <a:r>
              <a:rPr lang="en-US" sz="1600" dirty="0">
                <a:solidFill>
                  <a:srgbClr val="1E2328"/>
                </a:solidFill>
                <a:latin typeface="QuattrocentoSans" pitchFamily="34" charset="0"/>
                <a:ea typeface="QuattrocentoSans" pitchFamily="34" charset="-122"/>
                <a:cs typeface="QuattrocentoSans" pitchFamily="34" charset="-120"/>
              </a:rPr>
              <a:t>Each DNS record has a </a:t>
            </a:r>
            <a:pPr>
              <a:lnSpc>
                <a:spcPct val="165000"/>
              </a:lnSpc>
            </a:pPr>
            <a:r>
              <a:rPr lang="en-US" sz="1600" b="1" dirty="0">
                <a:solidFill>
                  <a:srgbClr val="1E2328"/>
                </a:solidFill>
                <a:latin typeface="QuattrocentoSans" pitchFamily="34" charset="0"/>
                <a:ea typeface="QuattrocentoSans" pitchFamily="34" charset="-122"/>
                <a:cs typeface="QuattrocentoSans" pitchFamily="34" charset="-120"/>
              </a:rPr>
              <a:t>TTL value</a:t>
            </a:r>
            <a:pPr>
              <a:lnSpc>
                <a:spcPct val="165000"/>
              </a:lnSpc>
            </a:pPr>
            <a:r>
              <a:rPr lang="en-US" sz="1600" dirty="0">
                <a:solidFill>
                  <a:srgbClr val="1E2328"/>
                </a:solidFill>
                <a:latin typeface="QuattrocentoSans" pitchFamily="34" charset="0"/>
                <a:ea typeface="QuattrocentoSans" pitchFamily="34" charset="-122"/>
                <a:cs typeface="QuattrocentoSans" pitchFamily="34" charset="-120"/>
              </a:rPr>
              <a:t> (in seconds) set by the authoritative server. TTL defines how long a record remains valid in cache before requiring a fresh lookup.</a:t>
            </a:r>
            <a:endParaRPr lang="en-US" sz="1800" dirty="0"/>
          </a:p>
          <a:p>
            <a:pPr>
              <a:lnSpc>
                <a:spcPct val="165000"/>
              </a:lnSpc>
              <a:spcBef>
                <a:spcPts val="600"/>
              </a:spcBef>
            </a:pPr>
            <a:r>
              <a:rPr lang="en-US" sz="1600" b="1" dirty="0">
                <a:solidFill>
                  <a:srgbClr val="1E2328"/>
                </a:solidFill>
                <a:latin typeface="QuattrocentoSans" pitchFamily="34" charset="0"/>
                <a:ea typeface="QuattrocentoSans" pitchFamily="34" charset="-122"/>
                <a:cs typeface="QuattrocentoSans" pitchFamily="34" charset="-120"/>
              </a:rPr>
              <a:t>Example:</a:t>
            </a:r>
            <a:pPr>
              <a:lnSpc>
                <a:spcPct val="165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 TTL = </a:t>
            </a:r>
            <a:pPr>
              <a:lnSpc>
                <a:spcPct val="165000"/>
              </a:lnSpc>
              <a:spcBef>
                <a:spcPts val="600"/>
              </a:spcBef>
            </a:pPr>
            <a:r>
              <a:rPr lang="en-US" sz="1600" dirty="0">
                <a:solidFill>
                  <a:srgbClr val="C9893B"/>
                </a:solidFill>
                <a:latin typeface="QuattrocentoSans" pitchFamily="34" charset="0"/>
                <a:ea typeface="QuattrocentoSans" pitchFamily="34" charset="-122"/>
                <a:cs typeface="QuattrocentoSans" pitchFamily="34" charset="-120"/>
              </a:rPr>
              <a:t>3600 seconds</a:t>
            </a:r>
            <a:pPr>
              <a:lnSpc>
                <a:spcPct val="165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 = cached for 1 hour</a:t>
            </a:r>
            <a:endParaRPr lang="en-US" sz="1800" dirty="0"/>
          </a:p>
          <a:p>
            <a:pPr>
              <a:lnSpc>
                <a:spcPct val="165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After TTL expires, a </a:t>
            </a:r>
            <a:pPr>
              <a:lnSpc>
                <a:spcPct val="165000"/>
              </a:lnSpc>
              <a:spcBef>
                <a:spcPts val="600"/>
              </a:spcBef>
            </a:pPr>
            <a:r>
              <a:rPr lang="en-US" sz="1600" b="1" dirty="0">
                <a:solidFill>
                  <a:srgbClr val="1E2328"/>
                </a:solidFill>
                <a:latin typeface="QuattrocentoSans" pitchFamily="34" charset="0"/>
                <a:ea typeface="QuattrocentoSans" pitchFamily="34" charset="-122"/>
                <a:cs typeface="QuattrocentoSans" pitchFamily="34" charset="-120"/>
              </a:rPr>
              <a:t>new lookup</a:t>
            </a:r>
            <a:pPr>
              <a:lnSpc>
                <a:spcPct val="165000"/>
              </a:lnSpc>
              <a:spcBef>
                <a:spcPts val="600"/>
              </a:spcBef>
            </a:pPr>
            <a:r>
              <a:rPr lang="en-US" sz="1600" dirty="0">
                <a:solidFill>
                  <a:srgbClr val="1E2328"/>
                </a:solidFill>
                <a:latin typeface="QuattrocentoSans" pitchFamily="34" charset="0"/>
                <a:ea typeface="QuattrocentoSans" pitchFamily="34" charset="-122"/>
                <a:cs typeface="QuattrocentoSans" pitchFamily="34" charset="-120"/>
              </a:rPr>
              <a:t> is required.</a:t>
            </a:r>
            <a:endParaRPr lang="en-US" sz="1800" dirty="0"/>
          </a:p>
        </p:txBody>
      </p:sp>
      <p:sp>
        <p:nvSpPr>
          <p:cNvPr id="12" name="Shape 10"/>
          <p:cNvSpPr/>
          <p:nvPr/>
        </p:nvSpPr>
        <p:spPr>
          <a:xfrm>
            <a:off x="8382000" y="4572000"/>
            <a:ext cx="7112000" cy="1651000"/>
          </a:xfrm>
          <a:prstGeom prst="rect">
            <a:avLst/>
          </a:prstGeom>
          <a:solidFill>
            <a:srgbClr val="E8E4DE"/>
          </a:solidFill>
          <a:ln/>
        </p:spPr>
      </p:sp>
      <p:sp>
        <p:nvSpPr>
          <p:cNvPr id="13" name="Text 11"/>
          <p:cNvSpPr/>
          <p:nvPr/>
        </p:nvSpPr>
        <p:spPr>
          <a:xfrm>
            <a:off x="8686800" y="4724400"/>
            <a:ext cx="65024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TTL Trade-offs</a:t>
            </a:r>
            <a:endParaRPr lang="en-US" sz="1600" dirty="0"/>
          </a:p>
        </p:txBody>
      </p:sp>
      <p:sp>
        <p:nvSpPr>
          <p:cNvPr id="14" name="Text 12"/>
          <p:cNvSpPr/>
          <p:nvPr/>
        </p:nvSpPr>
        <p:spPr>
          <a:xfrm>
            <a:off x="8686800" y="5080000"/>
            <a:ext cx="6502400" cy="990600"/>
          </a:xfrm>
          <a:prstGeom prst="rect">
            <a:avLst/>
          </a:prstGeom>
          <a:noFill/>
          <a:ln/>
        </p:spPr>
        <p:txBody>
          <a:bodyPr wrap="square" lIns="0" tIns="0" rIns="0" bIns="0" rtlCol="0" anchor="ctr"/>
          <a:lstStyle/>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Short TTL</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faster updates, more queries</a:t>
            </a:r>
            <a:endParaRPr lang="en-US" sz="1600" dirty="0"/>
          </a:p>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Long TTL</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better performance, slower changes</a:t>
            </a:r>
            <a:endParaRPr lang="en-US" sz="1600" dirty="0"/>
          </a:p>
        </p:txBody>
      </p:sp>
      <p:sp>
        <p:nvSpPr>
          <p:cNvPr id="15" name="Shape 13"/>
          <p:cNvSpPr/>
          <p:nvPr/>
        </p:nvSpPr>
        <p:spPr>
          <a:xfrm>
            <a:off x="762000" y="6604000"/>
            <a:ext cx="14732000" cy="1397000"/>
          </a:xfrm>
          <a:prstGeom prst="rect">
            <a:avLst/>
          </a:prstGeom>
          <a:solidFill>
            <a:srgbClr val="2D3E50"/>
          </a:solidFill>
          <a:ln/>
        </p:spPr>
      </p:sp>
      <p:sp>
        <p:nvSpPr>
          <p:cNvPr id="16" name="Text 14"/>
          <p:cNvSpPr/>
          <p:nvPr/>
        </p:nvSpPr>
        <p:spPr>
          <a:xfrm>
            <a:off x="1066800" y="6756400"/>
            <a:ext cx="5080000" cy="304800"/>
          </a:xfrm>
          <a:prstGeom prst="rect">
            <a:avLst/>
          </a:prstGeom>
          <a:noFill/>
          <a:ln/>
        </p:spPr>
        <p:txBody>
          <a:bodyPr wrap="none" lIns="0" tIns="0" rIns="0" bIns="0" rtlCol="0" anchor="ctr"/>
          <a:lstStyle/>
          <a:p>
            <a:pPr>
              <a:lnSpc>
                <a:spcPct val="100000"/>
              </a:lnSpc>
            </a:pPr>
            <a:r>
              <a:rPr lang="en-US" sz="1600" b="1" dirty="0">
                <a:solidFill>
                  <a:srgbClr val="C9893B"/>
                </a:solidFill>
                <a:latin typeface="Liter" pitchFamily="34" charset="0"/>
                <a:ea typeface="Liter" pitchFamily="34" charset="-122"/>
                <a:cs typeface="Liter" pitchFamily="34" charset="-120"/>
              </a:rPr>
              <a:t>PRACTICAL EXAMPLE</a:t>
            </a:r>
            <a:endParaRPr lang="en-US" sz="1600" dirty="0"/>
          </a:p>
        </p:txBody>
      </p:sp>
      <p:sp>
        <p:nvSpPr>
          <p:cNvPr id="17" name="Text 15"/>
          <p:cNvSpPr/>
          <p:nvPr/>
        </p:nvSpPr>
        <p:spPr>
          <a:xfrm>
            <a:off x="1066800" y="7086600"/>
            <a:ext cx="14122400" cy="762000"/>
          </a:xfrm>
          <a:prstGeom prst="rect">
            <a:avLst/>
          </a:prstGeom>
          <a:noFill/>
          <a:ln/>
        </p:spPr>
        <p:txBody>
          <a:bodyPr wrap="square" lIns="0" tIns="0" rIns="0" bIns="0" rtlCol="0" anchor="ctr"/>
          <a:lstStyle/>
          <a:p>
            <a:pPr>
              <a:lnSpc>
                <a:spcPct val="150000"/>
              </a:lnSpc>
            </a:pPr>
            <a:r>
              <a:rPr lang="en-US" sz="1500" dirty="0">
                <a:solidFill>
                  <a:srgbClr val="FFFFFF"/>
                </a:solidFill>
                <a:latin typeface="Quattrocento Sans" pitchFamily="34" charset="0"/>
                <a:ea typeface="Quattrocento Sans" pitchFamily="34" charset="-122"/>
                <a:cs typeface="Quattrocento Sans" pitchFamily="34" charset="-120"/>
              </a:rPr>
              <a:t>If you change your website's hosting provider, you must wait for the old TTL to expire before all users see the new IP address. This is why DNS changes can take time to propagate globally.</a:t>
            </a:r>
            <a:endParaRPr lang="en-US" sz="1600" dirty="0"/>
          </a:p>
        </p:txBody>
      </p:sp>
      <p:sp>
        <p:nvSpPr>
          <p:cNvPr id="18" name="Shape 16"/>
          <p:cNvSpPr/>
          <p:nvPr/>
        </p:nvSpPr>
        <p:spPr>
          <a:xfrm>
            <a:off x="762000" y="8382000"/>
            <a:ext cx="14732000" cy="25400"/>
          </a:xfrm>
          <a:prstGeom prst="rect">
            <a:avLst/>
          </a:prstGeom>
          <a:solidFill>
            <a:srgbClr val="C9893B"/>
          </a:solidFill>
          <a:ln/>
        </p:spPr>
      </p:sp>
      <p:sp>
        <p:nvSpPr>
          <p:cNvPr id="19" name="Text 17"/>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15</a:t>
            </a:r>
            <a:endParaRPr lang="en-US" sz="14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DNS Record Types Overview</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498600"/>
            <a:ext cx="14732000" cy="6985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DNS records are text-based instructions stored in zone files on authoritative servers. Over </a:t>
            </a:r>
            <a:pPr>
              <a:lnSpc>
                <a:spcPct val="160000"/>
              </a:lnSpc>
            </a:pPr>
            <a:r>
              <a:rPr lang="en-US" sz="1600" b="1" dirty="0">
                <a:solidFill>
                  <a:srgbClr val="C9893B"/>
                </a:solidFill>
                <a:latin typeface="QuattrocentoSans" pitchFamily="34" charset="0"/>
                <a:ea typeface="QuattrocentoSans" pitchFamily="34" charset="-122"/>
                <a:cs typeface="QuattrocentoSans" pitchFamily="34" charset="-120"/>
              </a:rPr>
              <a:t>60 standardized record types</a:t>
            </a:r>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 exist. Here are the most essential ones:</a:t>
            </a:r>
            <a:endParaRPr lang="en-US" sz="1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62000" y="2413000"/>
          <a:ext cx="14732000" cy="4318000"/>
        </p:xfrm>
        <a:graphic>
          <a:graphicData uri="http://schemas.openxmlformats.org/drawingml/2006/table">
            <a:tbl>
              <a:tblPr/>
              <a:tblGrid>
                <a:gridCol w="1767840"/>
                <a:gridCol w="3241040"/>
                <a:gridCol w="9723120"/>
              </a:tblGrid>
              <a:tr h="434355">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Type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Full Name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Purpose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r>
              <a:tr h="485456">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Address Record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Maps domain to IPv4 address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485456">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AAAA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IPv6 Address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Maps domain to IPv6 address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485456">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CNAME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Canonical Name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Creates alias pointing one hostname to another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485456">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MX</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Mail Exchange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Specifies mail server for accepting email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485456">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Name Server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Specifies authoritative DNS server for domain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485456">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TXT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Text Record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Stores text info for verification and security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485456">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SOA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Start of Authority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Contains admin info about a DNS zone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485456">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PTR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Pointer Record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Maps IP address back to domain name (reverse DNS)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bl>
          </a:graphicData>
        </a:graphic>
      </p:graphicFrame>
      <p:sp>
        <p:nvSpPr>
          <p:cNvPr id="7" name="Text 4"/>
          <p:cNvSpPr/>
          <p:nvPr/>
        </p:nvSpPr>
        <p:spPr>
          <a:xfrm>
            <a:off x="762000" y="7048500"/>
            <a:ext cx="14732000" cy="698500"/>
          </a:xfrm>
          <a:prstGeom prst="rect">
            <a:avLst/>
          </a:prstGeom>
          <a:noFill/>
          <a:ln/>
        </p:spPr>
        <p:txBody>
          <a:bodyPr wrap="square" lIns="0" tIns="0" rIns="0" bIns="0" rtlCol="0" anchor="ctr"/>
          <a:lstStyle/>
          <a:p>
            <a:pPr>
              <a:lnSpc>
                <a:spcPct val="150000"/>
              </a:lnSpc>
            </a:pPr>
            <a:r>
              <a:rPr lang="en-US" sz="1500" dirty="0">
                <a:solidFill>
                  <a:srgbClr val="1E2328"/>
                </a:solidFill>
                <a:latin typeface="QuattrocentoSans" pitchFamily="34" charset="0"/>
                <a:ea typeface="QuattrocentoSans" pitchFamily="34" charset="-122"/>
                <a:cs typeface="QuattrocentoSans" pitchFamily="34" charset="-120"/>
              </a:rPr>
              <a:t>Understanding these record types is essential for domain management, troubleshooting network issues, and configuring web and email services.</a:t>
            </a:r>
            <a:endParaRPr lang="en-US" sz="1800" dirty="0"/>
          </a:p>
        </p:txBody>
      </p:sp>
      <p:sp>
        <p:nvSpPr>
          <p:cNvPr id="8" name="Shape 5"/>
          <p:cNvSpPr/>
          <p:nvPr/>
        </p:nvSpPr>
        <p:spPr>
          <a:xfrm>
            <a:off x="762000" y="8382000"/>
            <a:ext cx="14732000" cy="25400"/>
          </a:xfrm>
          <a:prstGeom prst="rect">
            <a:avLst/>
          </a:prstGeom>
          <a:solidFill>
            <a:srgbClr val="C9893B"/>
          </a:solidFill>
          <a:ln/>
        </p:spPr>
      </p:sp>
      <p:sp>
        <p:nvSpPr>
          <p:cNvPr id="9" name="Text 6"/>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16</a:t>
            </a:r>
            <a:endParaRPr lang="en-US" sz="14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A Record and AAAA Record</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Shape 3"/>
          <p:cNvSpPr/>
          <p:nvPr/>
        </p:nvSpPr>
        <p:spPr>
          <a:xfrm>
            <a:off x="762000" y="1587500"/>
            <a:ext cx="7112000" cy="3556000"/>
          </a:xfrm>
          <a:prstGeom prst="rect">
            <a:avLst/>
          </a:prstGeom>
          <a:solidFill>
            <a:srgbClr val="E8E4DE"/>
          </a:solidFill>
          <a:ln/>
        </p:spPr>
      </p:sp>
      <p:sp>
        <p:nvSpPr>
          <p:cNvPr id="6" name="Shape 4"/>
          <p:cNvSpPr/>
          <p:nvPr/>
        </p:nvSpPr>
        <p:spPr>
          <a:xfrm>
            <a:off x="762000" y="1587500"/>
            <a:ext cx="76200" cy="3556000"/>
          </a:xfrm>
          <a:prstGeom prst="rect">
            <a:avLst/>
          </a:prstGeom>
          <a:solidFill>
            <a:srgbClr val="C9893B"/>
          </a:solidFill>
          <a:ln/>
        </p:spPr>
      </p:sp>
      <p:sp>
        <p:nvSpPr>
          <p:cNvPr id="7" name="Shape 5"/>
          <p:cNvSpPr/>
          <p:nvPr/>
        </p:nvSpPr>
        <p:spPr>
          <a:xfrm>
            <a:off x="1066800" y="1841500"/>
            <a:ext cx="457200" cy="457200"/>
          </a:xfrm>
          <a:custGeom>
            <a:avLst/>
            <a:gdLst/>
            <a:ahLst/>
            <a:cxnLst/>
            <a:rect l="l" t="t" r="r" b="b"/>
            <a:pathLst>
              <a:path w="457200" h="457200">
                <a:moveTo>
                  <a:pt x="314236" y="250031"/>
                </a:moveTo>
                <a:lnTo>
                  <a:pt x="143768" y="250031"/>
                </a:lnTo>
                <a:cubicBezTo>
                  <a:pt x="146358" y="307628"/>
                  <a:pt x="159127" y="360670"/>
                  <a:pt x="177254" y="399514"/>
                </a:cubicBezTo>
                <a:cubicBezTo>
                  <a:pt x="187434" y="421392"/>
                  <a:pt x="198418" y="436840"/>
                  <a:pt x="208597" y="446306"/>
                </a:cubicBezTo>
                <a:cubicBezTo>
                  <a:pt x="218599" y="455682"/>
                  <a:pt x="225475" y="457200"/>
                  <a:pt x="229046" y="457200"/>
                </a:cubicBezTo>
                <a:cubicBezTo>
                  <a:pt x="232618" y="457200"/>
                  <a:pt x="239494" y="455682"/>
                  <a:pt x="249495" y="446306"/>
                </a:cubicBezTo>
                <a:cubicBezTo>
                  <a:pt x="259675" y="436840"/>
                  <a:pt x="270659" y="421303"/>
                  <a:pt x="280839" y="399514"/>
                </a:cubicBezTo>
                <a:cubicBezTo>
                  <a:pt x="298966" y="360670"/>
                  <a:pt x="311735" y="307628"/>
                  <a:pt x="314325" y="250031"/>
                </a:cubicBezTo>
                <a:close/>
                <a:moveTo>
                  <a:pt x="143679" y="207169"/>
                </a:moveTo>
                <a:lnTo>
                  <a:pt x="314146" y="207169"/>
                </a:lnTo>
                <a:cubicBezTo>
                  <a:pt x="311646" y="149572"/>
                  <a:pt x="298877" y="96530"/>
                  <a:pt x="280749" y="57686"/>
                </a:cubicBezTo>
                <a:cubicBezTo>
                  <a:pt x="270570" y="35897"/>
                  <a:pt x="259586" y="20360"/>
                  <a:pt x="249406" y="10894"/>
                </a:cubicBezTo>
                <a:cubicBezTo>
                  <a:pt x="239405" y="1518"/>
                  <a:pt x="232529" y="0"/>
                  <a:pt x="228957" y="0"/>
                </a:cubicBezTo>
                <a:cubicBezTo>
                  <a:pt x="225385" y="0"/>
                  <a:pt x="218509" y="1518"/>
                  <a:pt x="208508" y="10894"/>
                </a:cubicBezTo>
                <a:cubicBezTo>
                  <a:pt x="198328" y="20360"/>
                  <a:pt x="187345" y="35897"/>
                  <a:pt x="177165" y="57686"/>
                </a:cubicBezTo>
                <a:cubicBezTo>
                  <a:pt x="159038" y="96530"/>
                  <a:pt x="146268" y="149572"/>
                  <a:pt x="143679" y="207169"/>
                </a:cubicBezTo>
                <a:close/>
                <a:moveTo>
                  <a:pt x="100816" y="207169"/>
                </a:moveTo>
                <a:cubicBezTo>
                  <a:pt x="103942" y="130731"/>
                  <a:pt x="123676" y="59740"/>
                  <a:pt x="152519" y="13127"/>
                </a:cubicBezTo>
                <a:cubicBezTo>
                  <a:pt x="70277" y="42237"/>
                  <a:pt x="9733" y="117157"/>
                  <a:pt x="1339" y="207169"/>
                </a:cubicBezTo>
                <a:lnTo>
                  <a:pt x="100816" y="207169"/>
                </a:lnTo>
                <a:close/>
                <a:moveTo>
                  <a:pt x="1339" y="250031"/>
                </a:moveTo>
                <a:cubicBezTo>
                  <a:pt x="9733" y="340043"/>
                  <a:pt x="70277" y="414963"/>
                  <a:pt x="152519" y="444073"/>
                </a:cubicBezTo>
                <a:cubicBezTo>
                  <a:pt x="123676" y="397460"/>
                  <a:pt x="103942" y="326469"/>
                  <a:pt x="100816" y="250031"/>
                </a:cubicBezTo>
                <a:lnTo>
                  <a:pt x="1339" y="250031"/>
                </a:lnTo>
                <a:close/>
                <a:moveTo>
                  <a:pt x="357098" y="250031"/>
                </a:moveTo>
                <a:cubicBezTo>
                  <a:pt x="353973" y="326469"/>
                  <a:pt x="334238" y="397460"/>
                  <a:pt x="305395" y="444073"/>
                </a:cubicBezTo>
                <a:cubicBezTo>
                  <a:pt x="387638" y="414873"/>
                  <a:pt x="448181" y="340043"/>
                  <a:pt x="456575" y="250031"/>
                </a:cubicBezTo>
                <a:lnTo>
                  <a:pt x="357098" y="250031"/>
                </a:lnTo>
                <a:close/>
                <a:moveTo>
                  <a:pt x="456575" y="207169"/>
                </a:moveTo>
                <a:cubicBezTo>
                  <a:pt x="448181" y="117157"/>
                  <a:pt x="387638" y="42237"/>
                  <a:pt x="305395" y="13127"/>
                </a:cubicBezTo>
                <a:cubicBezTo>
                  <a:pt x="334238" y="59740"/>
                  <a:pt x="353973" y="130731"/>
                  <a:pt x="357098" y="207169"/>
                </a:cubicBezTo>
                <a:lnTo>
                  <a:pt x="456575" y="207169"/>
                </a:lnTo>
                <a:close/>
              </a:path>
            </a:pathLst>
          </a:custGeom>
          <a:solidFill>
            <a:srgbClr val="C9893B"/>
          </a:solidFill>
          <a:ln/>
        </p:spPr>
      </p:sp>
      <p:sp>
        <p:nvSpPr>
          <p:cNvPr id="8" name="Text 6"/>
          <p:cNvSpPr/>
          <p:nvPr/>
        </p:nvSpPr>
        <p:spPr>
          <a:xfrm>
            <a:off x="1701800" y="1841500"/>
            <a:ext cx="5842000" cy="4826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A Record (Address Record)</a:t>
            </a:r>
            <a:endParaRPr lang="en-US" sz="2000" dirty="0"/>
          </a:p>
        </p:txBody>
      </p:sp>
      <p:sp>
        <p:nvSpPr>
          <p:cNvPr id="9" name="Text 7"/>
          <p:cNvSpPr/>
          <p:nvPr/>
        </p:nvSpPr>
        <p:spPr>
          <a:xfrm>
            <a:off x="1066800" y="2476500"/>
            <a:ext cx="6502400" cy="2413000"/>
          </a:xfrm>
          <a:prstGeom prst="rect">
            <a:avLst/>
          </a:prstGeom>
          <a:noFill/>
          <a:ln/>
        </p:spPr>
        <p:txBody>
          <a:bodyPr wrap="square" lIns="0" tIns="0" rIns="0" bIns="0" rtlCol="0" anchor="ctr"/>
          <a:lstStyle/>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Maps a domain name to an </a:t>
            </a:r>
            <a:pPr>
              <a:lnSpc>
                <a:spcPct val="165000"/>
              </a:lnSpc>
            </a:pPr>
            <a:r>
              <a:rPr lang="en-US" sz="1600" b="1" dirty="0">
                <a:solidFill>
                  <a:srgbClr val="1E2328"/>
                </a:solidFill>
                <a:latin typeface="Quattrocento Sans" pitchFamily="34" charset="0"/>
                <a:ea typeface="Quattrocento Sans" pitchFamily="34" charset="-122"/>
                <a:cs typeface="Quattrocento Sans" pitchFamily="34" charset="-120"/>
              </a:rPr>
              <a:t>IPv4 address</a:t>
            </a:r>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a:t>
            </a:r>
            <a:endParaRPr lang="en-US" sz="1600" dirty="0"/>
          </a:p>
          <a:p>
            <a:pPr>
              <a:lnSpc>
                <a:spcPct val="165000"/>
              </a:lnSpc>
              <a:spcBef>
                <a:spcPts val="800"/>
              </a:spcBef>
            </a:pPr>
            <a:r>
              <a:rPr lang="en-US" sz="1600" dirty="0">
                <a:solidFill>
                  <a:srgbClr val="1E2328"/>
                </a:solidFill>
                <a:latin typeface="Quattrocento Sans" pitchFamily="34" charset="0"/>
                <a:ea typeface="Quattrocento Sans" pitchFamily="34" charset="-122"/>
                <a:cs typeface="Quattrocento Sans" pitchFamily="34" charset="-120"/>
              </a:rPr>
              <a:t>Example:</a:t>
            </a:r>
            <a:endParaRPr lang="en-US" sz="1600" dirty="0"/>
          </a:p>
          <a:p>
            <a:pPr>
              <a:lnSpc>
                <a:spcPct val="165000"/>
              </a:lnSpc>
            </a:pPr>
            <a:r>
              <a:rPr lang="en-US" sz="1800" b="1" dirty="0">
                <a:solidFill>
                  <a:srgbClr val="C9893B"/>
                </a:solidFill>
                <a:latin typeface="Quattrocento Sans" pitchFamily="34" charset="0"/>
                <a:ea typeface="Quattrocento Sans" pitchFamily="34" charset="-122"/>
                <a:cs typeface="Quattrocento Sans" pitchFamily="34" charset="-120"/>
              </a:rPr>
              <a:t>example.com → 93.184.216.34</a:t>
            </a:r>
            <a:endParaRPr lang="en-US" sz="1600" dirty="0"/>
          </a:p>
          <a:p>
            <a:pPr>
              <a:lnSpc>
                <a:spcPct val="165000"/>
              </a:lnSpc>
              <a:spcBef>
                <a:spcPts val="800"/>
              </a:spcBef>
            </a:pPr>
            <a:r>
              <a:rPr lang="en-US" sz="1600" dirty="0">
                <a:solidFill>
                  <a:srgbClr val="1E2328"/>
                </a:solidFill>
                <a:latin typeface="Quattrocento Sans" pitchFamily="34" charset="0"/>
                <a:ea typeface="Quattrocento Sans" pitchFamily="34" charset="-122"/>
                <a:cs typeface="Quattrocento Sans" pitchFamily="34" charset="-120"/>
              </a:rPr>
              <a:t>This is the most fundamental DNS record — it tells browsers exactly where to find your website on the Internet.</a:t>
            </a:r>
            <a:endParaRPr lang="en-US" sz="1600" dirty="0"/>
          </a:p>
        </p:txBody>
      </p:sp>
      <p:sp>
        <p:nvSpPr>
          <p:cNvPr id="10" name="Shape 8"/>
          <p:cNvSpPr/>
          <p:nvPr/>
        </p:nvSpPr>
        <p:spPr>
          <a:xfrm>
            <a:off x="8382000" y="1587500"/>
            <a:ext cx="7112000" cy="3556000"/>
          </a:xfrm>
          <a:prstGeom prst="rect">
            <a:avLst/>
          </a:prstGeom>
          <a:solidFill>
            <a:srgbClr val="E8E4DE"/>
          </a:solidFill>
          <a:ln/>
        </p:spPr>
      </p:sp>
      <p:sp>
        <p:nvSpPr>
          <p:cNvPr id="11" name="Shape 9"/>
          <p:cNvSpPr/>
          <p:nvPr/>
        </p:nvSpPr>
        <p:spPr>
          <a:xfrm>
            <a:off x="8382000" y="1587500"/>
            <a:ext cx="76200" cy="3556000"/>
          </a:xfrm>
          <a:prstGeom prst="rect">
            <a:avLst/>
          </a:prstGeom>
          <a:solidFill>
            <a:srgbClr val="2D3E50"/>
          </a:solidFill>
          <a:ln/>
        </p:spPr>
      </p:sp>
      <p:sp>
        <p:nvSpPr>
          <p:cNvPr id="12" name="Shape 10"/>
          <p:cNvSpPr/>
          <p:nvPr/>
        </p:nvSpPr>
        <p:spPr>
          <a:xfrm>
            <a:off x="8658225" y="1841500"/>
            <a:ext cx="514350" cy="457200"/>
          </a:xfrm>
          <a:custGeom>
            <a:avLst/>
            <a:gdLst/>
            <a:ahLst/>
            <a:cxnLst/>
            <a:rect l="l" t="t" r="r" b="b"/>
            <a:pathLst>
              <a:path w="514350" h="457200">
                <a:moveTo>
                  <a:pt x="221456" y="78581"/>
                </a:moveTo>
                <a:lnTo>
                  <a:pt x="292894" y="78581"/>
                </a:lnTo>
                <a:lnTo>
                  <a:pt x="292894" y="121444"/>
                </a:lnTo>
                <a:lnTo>
                  <a:pt x="221456" y="121444"/>
                </a:lnTo>
                <a:lnTo>
                  <a:pt x="221456" y="78581"/>
                </a:lnTo>
                <a:close/>
                <a:moveTo>
                  <a:pt x="214313" y="28575"/>
                </a:moveTo>
                <a:cubicBezTo>
                  <a:pt x="190649" y="28575"/>
                  <a:pt x="171450" y="47774"/>
                  <a:pt x="171450" y="71438"/>
                </a:cubicBezTo>
                <a:lnTo>
                  <a:pt x="171450" y="128588"/>
                </a:lnTo>
                <a:cubicBezTo>
                  <a:pt x="171450" y="152251"/>
                  <a:pt x="190649" y="171450"/>
                  <a:pt x="214313" y="171450"/>
                </a:cubicBezTo>
                <a:lnTo>
                  <a:pt x="228600" y="171450"/>
                </a:lnTo>
                <a:lnTo>
                  <a:pt x="228600" y="200025"/>
                </a:lnTo>
                <a:lnTo>
                  <a:pt x="28575" y="200025"/>
                </a:lnTo>
                <a:cubicBezTo>
                  <a:pt x="12769" y="200025"/>
                  <a:pt x="0" y="212794"/>
                  <a:pt x="0" y="228600"/>
                </a:cubicBezTo>
                <a:cubicBezTo>
                  <a:pt x="0" y="244406"/>
                  <a:pt x="12769" y="257175"/>
                  <a:pt x="28575" y="257175"/>
                </a:cubicBezTo>
                <a:lnTo>
                  <a:pt x="114300" y="257175"/>
                </a:lnTo>
                <a:lnTo>
                  <a:pt x="114300" y="285750"/>
                </a:lnTo>
                <a:lnTo>
                  <a:pt x="100013" y="285750"/>
                </a:lnTo>
                <a:cubicBezTo>
                  <a:pt x="76349" y="285750"/>
                  <a:pt x="57150" y="304949"/>
                  <a:pt x="57150" y="328613"/>
                </a:cubicBezTo>
                <a:lnTo>
                  <a:pt x="57150" y="385763"/>
                </a:lnTo>
                <a:cubicBezTo>
                  <a:pt x="57150" y="409426"/>
                  <a:pt x="76349" y="428625"/>
                  <a:pt x="100013" y="428625"/>
                </a:cubicBezTo>
                <a:lnTo>
                  <a:pt x="185738" y="428625"/>
                </a:lnTo>
                <a:cubicBezTo>
                  <a:pt x="209401" y="428625"/>
                  <a:pt x="228600" y="409426"/>
                  <a:pt x="228600" y="385763"/>
                </a:cubicBezTo>
                <a:lnTo>
                  <a:pt x="228600" y="328613"/>
                </a:lnTo>
                <a:cubicBezTo>
                  <a:pt x="228600" y="304949"/>
                  <a:pt x="209401" y="285750"/>
                  <a:pt x="185738" y="285750"/>
                </a:cubicBezTo>
                <a:lnTo>
                  <a:pt x="171450" y="285750"/>
                </a:lnTo>
                <a:lnTo>
                  <a:pt x="171450" y="257175"/>
                </a:lnTo>
                <a:lnTo>
                  <a:pt x="342900" y="257175"/>
                </a:lnTo>
                <a:lnTo>
                  <a:pt x="342900" y="285750"/>
                </a:lnTo>
                <a:lnTo>
                  <a:pt x="328613" y="285750"/>
                </a:lnTo>
                <a:cubicBezTo>
                  <a:pt x="304949" y="285750"/>
                  <a:pt x="285750" y="304949"/>
                  <a:pt x="285750" y="328613"/>
                </a:cubicBezTo>
                <a:lnTo>
                  <a:pt x="285750" y="385763"/>
                </a:lnTo>
                <a:cubicBezTo>
                  <a:pt x="285750" y="409426"/>
                  <a:pt x="304949" y="428625"/>
                  <a:pt x="328613" y="428625"/>
                </a:cubicBezTo>
                <a:lnTo>
                  <a:pt x="414338" y="428625"/>
                </a:lnTo>
                <a:cubicBezTo>
                  <a:pt x="438001" y="428625"/>
                  <a:pt x="457200" y="409426"/>
                  <a:pt x="457200" y="385763"/>
                </a:cubicBezTo>
                <a:lnTo>
                  <a:pt x="457200" y="328613"/>
                </a:lnTo>
                <a:cubicBezTo>
                  <a:pt x="457200" y="304949"/>
                  <a:pt x="438001" y="285750"/>
                  <a:pt x="414338" y="285750"/>
                </a:cubicBezTo>
                <a:lnTo>
                  <a:pt x="400050" y="285750"/>
                </a:lnTo>
                <a:lnTo>
                  <a:pt x="400050" y="257175"/>
                </a:lnTo>
                <a:lnTo>
                  <a:pt x="485775" y="257175"/>
                </a:lnTo>
                <a:cubicBezTo>
                  <a:pt x="501581" y="257175"/>
                  <a:pt x="514350" y="244406"/>
                  <a:pt x="514350" y="228600"/>
                </a:cubicBezTo>
                <a:cubicBezTo>
                  <a:pt x="514350" y="212794"/>
                  <a:pt x="501581" y="200025"/>
                  <a:pt x="485775" y="200025"/>
                </a:cubicBezTo>
                <a:lnTo>
                  <a:pt x="285750" y="200025"/>
                </a:lnTo>
                <a:lnTo>
                  <a:pt x="285750" y="171450"/>
                </a:lnTo>
                <a:lnTo>
                  <a:pt x="300038" y="171450"/>
                </a:lnTo>
                <a:cubicBezTo>
                  <a:pt x="323701" y="171450"/>
                  <a:pt x="342900" y="152251"/>
                  <a:pt x="342900" y="128588"/>
                </a:cubicBezTo>
                <a:lnTo>
                  <a:pt x="342900" y="71438"/>
                </a:lnTo>
                <a:cubicBezTo>
                  <a:pt x="342900" y="47774"/>
                  <a:pt x="323701" y="28575"/>
                  <a:pt x="300038" y="28575"/>
                </a:cubicBezTo>
                <a:lnTo>
                  <a:pt x="214313" y="28575"/>
                </a:lnTo>
                <a:close/>
                <a:moveTo>
                  <a:pt x="400050" y="335756"/>
                </a:moveTo>
                <a:lnTo>
                  <a:pt x="407194" y="335756"/>
                </a:lnTo>
                <a:lnTo>
                  <a:pt x="407194" y="378619"/>
                </a:lnTo>
                <a:lnTo>
                  <a:pt x="335756" y="378619"/>
                </a:lnTo>
                <a:lnTo>
                  <a:pt x="335756" y="335756"/>
                </a:lnTo>
                <a:lnTo>
                  <a:pt x="400050" y="335756"/>
                </a:lnTo>
                <a:close/>
                <a:moveTo>
                  <a:pt x="171450" y="335756"/>
                </a:moveTo>
                <a:lnTo>
                  <a:pt x="178594" y="335756"/>
                </a:lnTo>
                <a:lnTo>
                  <a:pt x="178594" y="378619"/>
                </a:lnTo>
                <a:lnTo>
                  <a:pt x="107156" y="378619"/>
                </a:lnTo>
                <a:lnTo>
                  <a:pt x="107156" y="335756"/>
                </a:lnTo>
                <a:lnTo>
                  <a:pt x="171450" y="335756"/>
                </a:lnTo>
                <a:close/>
              </a:path>
            </a:pathLst>
          </a:custGeom>
          <a:solidFill>
            <a:srgbClr val="2D3E50"/>
          </a:solidFill>
          <a:ln/>
        </p:spPr>
      </p:sp>
      <p:sp>
        <p:nvSpPr>
          <p:cNvPr id="13" name="Text 11"/>
          <p:cNvSpPr/>
          <p:nvPr/>
        </p:nvSpPr>
        <p:spPr>
          <a:xfrm>
            <a:off x="9321800" y="1841500"/>
            <a:ext cx="5842000" cy="4826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AAAA Record (IPv6 Address)</a:t>
            </a:r>
            <a:endParaRPr lang="en-US" sz="2000" dirty="0"/>
          </a:p>
        </p:txBody>
      </p:sp>
      <p:sp>
        <p:nvSpPr>
          <p:cNvPr id="14" name="Text 12"/>
          <p:cNvSpPr/>
          <p:nvPr/>
        </p:nvSpPr>
        <p:spPr>
          <a:xfrm>
            <a:off x="8686800" y="2476500"/>
            <a:ext cx="6502400" cy="2413000"/>
          </a:xfrm>
          <a:prstGeom prst="rect">
            <a:avLst/>
          </a:prstGeom>
          <a:noFill/>
          <a:ln/>
        </p:spPr>
        <p:txBody>
          <a:bodyPr wrap="square" lIns="0" tIns="0" rIns="0" bIns="0" rtlCol="0" anchor="ctr"/>
          <a:lstStyle/>
          <a:p>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Maps a domain name to an </a:t>
            </a:r>
            <a:pPr>
              <a:lnSpc>
                <a:spcPct val="165000"/>
              </a:lnSpc>
            </a:pPr>
            <a:r>
              <a:rPr lang="en-US" sz="1600" b="1" dirty="0">
                <a:solidFill>
                  <a:srgbClr val="1E2328"/>
                </a:solidFill>
                <a:latin typeface="Quattrocento Sans" pitchFamily="34" charset="0"/>
                <a:ea typeface="Quattrocento Sans" pitchFamily="34" charset="-122"/>
                <a:cs typeface="Quattrocento Sans" pitchFamily="34" charset="-120"/>
              </a:rPr>
              <a:t>IPv6 address</a:t>
            </a:r>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a:t>
            </a:r>
            <a:endParaRPr lang="en-US" sz="1600" dirty="0"/>
          </a:p>
          <a:p>
            <a:pPr>
              <a:lnSpc>
                <a:spcPct val="165000"/>
              </a:lnSpc>
              <a:spcBef>
                <a:spcPts val="800"/>
              </a:spcBef>
            </a:pPr>
            <a:r>
              <a:rPr lang="en-US" sz="1600" dirty="0">
                <a:solidFill>
                  <a:srgbClr val="1E2328"/>
                </a:solidFill>
                <a:latin typeface="Quattrocento Sans" pitchFamily="34" charset="0"/>
                <a:ea typeface="Quattrocento Sans" pitchFamily="34" charset="-122"/>
                <a:cs typeface="Quattrocento Sans" pitchFamily="34" charset="-120"/>
              </a:rPr>
              <a:t>Example:</a:t>
            </a:r>
            <a:endParaRPr lang="en-US" sz="1600" dirty="0"/>
          </a:p>
          <a:p>
            <a:pPr>
              <a:lnSpc>
                <a:spcPct val="165000"/>
              </a:lnSpc>
            </a:pPr>
            <a:r>
              <a:rPr lang="en-US" sz="1600" b="1" dirty="0">
                <a:solidFill>
                  <a:srgbClr val="2D3E50"/>
                </a:solidFill>
                <a:latin typeface="Quattrocento Sans" pitchFamily="34" charset="0"/>
                <a:ea typeface="Quattrocento Sans" pitchFamily="34" charset="-122"/>
                <a:cs typeface="Quattrocento Sans" pitchFamily="34" charset="-120"/>
              </a:rPr>
              <a:t>example.com → 2606:2800:220:1::c629:d7a2</a:t>
            </a:r>
            <a:endParaRPr lang="en-US" sz="1600" dirty="0"/>
          </a:p>
          <a:p>
            <a:pPr>
              <a:lnSpc>
                <a:spcPct val="165000"/>
              </a:lnSpc>
              <a:spcBef>
                <a:spcPts val="800"/>
              </a:spcBef>
            </a:pPr>
            <a:r>
              <a:rPr lang="en-US" sz="1600" dirty="0">
                <a:solidFill>
                  <a:srgbClr val="1E2328"/>
                </a:solidFill>
                <a:latin typeface="Quattrocento Sans" pitchFamily="34" charset="0"/>
                <a:ea typeface="Quattrocento Sans" pitchFamily="34" charset="-122"/>
                <a:cs typeface="Quattrocento Sans" pitchFamily="34" charset="-120"/>
              </a:rPr>
              <a:t>"AAAA" = 4x the size of A record. IPv6 uses 128-bit addresses vs 32-bit for IPv4.</a:t>
            </a:r>
            <a:endParaRPr lang="en-US" sz="1600" dirty="0"/>
          </a:p>
        </p:txBody>
      </p:sp>
      <p:sp>
        <p:nvSpPr>
          <p:cNvPr id="15" name="Shape 13"/>
          <p:cNvSpPr/>
          <p:nvPr/>
        </p:nvSpPr>
        <p:spPr>
          <a:xfrm>
            <a:off x="762000" y="5461000"/>
            <a:ext cx="14732000" cy="2540000"/>
          </a:xfrm>
          <a:prstGeom prst="rect">
            <a:avLst/>
          </a:prstGeom>
          <a:solidFill>
            <a:srgbClr val="2D3E50"/>
          </a:solidFill>
          <a:ln/>
        </p:spPr>
      </p:sp>
      <p:sp>
        <p:nvSpPr>
          <p:cNvPr id="16" name="Text 14"/>
          <p:cNvSpPr/>
          <p:nvPr/>
        </p:nvSpPr>
        <p:spPr>
          <a:xfrm>
            <a:off x="1066800" y="5638800"/>
            <a:ext cx="5080000" cy="330200"/>
          </a:xfrm>
          <a:prstGeom prst="rect">
            <a:avLst/>
          </a:prstGeom>
          <a:noFill/>
          <a:ln/>
        </p:spPr>
        <p:txBody>
          <a:bodyPr wrap="none" lIns="0" tIns="0" rIns="0" bIns="0" rtlCol="0" anchor="ctr"/>
          <a:lstStyle/>
          <a:p>
            <a:pPr>
              <a:lnSpc>
                <a:spcPct val="100000"/>
              </a:lnSpc>
            </a:pPr>
            <a:r>
              <a:rPr lang="en-US" sz="1600" b="1" spc="200" kern="0" dirty="0">
                <a:solidFill>
                  <a:srgbClr val="C9893B"/>
                </a:solidFill>
                <a:latin typeface="Liter" pitchFamily="34" charset="0"/>
                <a:ea typeface="Liter" pitchFamily="34" charset="-122"/>
                <a:cs typeface="Liter" pitchFamily="34" charset="-120"/>
              </a:rPr>
              <a:t>KEY DIFFERENCES</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066800" y="6096000"/>
          <a:ext cx="14122400" cy="1651000"/>
        </p:xfrm>
        <a:graphic>
          <a:graphicData uri="http://schemas.openxmlformats.org/drawingml/2006/table">
            <a:tbl>
              <a:tblPr/>
              <a:tblGrid>
                <a:gridCol w="3530600"/>
                <a:gridCol w="5295900"/>
                <a:gridCol w="5295900"/>
              </a:tblGrid>
              <a:tr h="491519">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Feature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A Record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AAAA Record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r>
              <a:tr h="57974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IP Version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IPv4 (32-bit)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IPv6 (128-bit)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579740">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Example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192.168.1.1</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2001:0db8::1</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bl>
          </a:graphicData>
        </a:graphic>
      </p:graphicFrame>
      <p:sp>
        <p:nvSpPr>
          <p:cNvPr id="18" name="Shape 15"/>
          <p:cNvSpPr/>
          <p:nvPr/>
        </p:nvSpPr>
        <p:spPr>
          <a:xfrm>
            <a:off x="762000" y="8382000"/>
            <a:ext cx="14732000" cy="25400"/>
          </a:xfrm>
          <a:prstGeom prst="rect">
            <a:avLst/>
          </a:prstGeom>
          <a:solidFill>
            <a:srgbClr val="C9893B"/>
          </a:solidFill>
          <a:ln/>
        </p:spPr>
      </p:sp>
      <p:sp>
        <p:nvSpPr>
          <p:cNvPr id="19" name="Text 16"/>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17</a:t>
            </a:r>
            <a:endParaRPr lang="en-US" sz="14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CNAME and MX Records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Shape 3"/>
          <p:cNvSpPr/>
          <p:nvPr/>
        </p:nvSpPr>
        <p:spPr>
          <a:xfrm>
            <a:off x="762000" y="1587500"/>
            <a:ext cx="7112000" cy="3556000"/>
          </a:xfrm>
          <a:prstGeom prst="rect">
            <a:avLst/>
          </a:prstGeom>
          <a:solidFill>
            <a:srgbClr val="E8E4DE"/>
          </a:solidFill>
          <a:ln/>
        </p:spPr>
      </p:sp>
      <p:sp>
        <p:nvSpPr>
          <p:cNvPr id="6" name="Shape 4"/>
          <p:cNvSpPr/>
          <p:nvPr/>
        </p:nvSpPr>
        <p:spPr>
          <a:xfrm>
            <a:off x="762000" y="1587500"/>
            <a:ext cx="76200" cy="3556000"/>
          </a:xfrm>
          <a:prstGeom prst="rect">
            <a:avLst/>
          </a:prstGeom>
          <a:solidFill>
            <a:srgbClr val="C9893B"/>
          </a:solidFill>
          <a:ln/>
        </p:spPr>
      </p:sp>
      <p:sp>
        <p:nvSpPr>
          <p:cNvPr id="7" name="Shape 5"/>
          <p:cNvSpPr/>
          <p:nvPr/>
        </p:nvSpPr>
        <p:spPr>
          <a:xfrm>
            <a:off x="1038225" y="1841500"/>
            <a:ext cx="514350" cy="457200"/>
          </a:xfrm>
          <a:custGeom>
            <a:avLst/>
            <a:gdLst/>
            <a:ahLst/>
            <a:cxnLst/>
            <a:rect l="l" t="t" r="r" b="b"/>
            <a:pathLst>
              <a:path w="514350" h="457200">
                <a:moveTo>
                  <a:pt x="374600" y="85725"/>
                </a:moveTo>
                <a:cubicBezTo>
                  <a:pt x="359777" y="85725"/>
                  <a:pt x="345400" y="89743"/>
                  <a:pt x="332809" y="97066"/>
                </a:cubicBezTo>
                <a:cubicBezTo>
                  <a:pt x="318701" y="82778"/>
                  <a:pt x="302270" y="70812"/>
                  <a:pt x="284143" y="61793"/>
                </a:cubicBezTo>
                <a:cubicBezTo>
                  <a:pt x="309324" y="40362"/>
                  <a:pt x="341382" y="28575"/>
                  <a:pt x="374600" y="28575"/>
                </a:cubicBezTo>
                <a:cubicBezTo>
                  <a:pt x="451753" y="28575"/>
                  <a:pt x="514350" y="91083"/>
                  <a:pt x="514350" y="168325"/>
                </a:cubicBezTo>
                <a:cubicBezTo>
                  <a:pt x="514350" y="205383"/>
                  <a:pt x="499616" y="240923"/>
                  <a:pt x="473452" y="267087"/>
                </a:cubicBezTo>
                <a:lnTo>
                  <a:pt x="409962" y="330577"/>
                </a:lnTo>
                <a:cubicBezTo>
                  <a:pt x="383798" y="356741"/>
                  <a:pt x="348258" y="371475"/>
                  <a:pt x="311200" y="371475"/>
                </a:cubicBezTo>
                <a:cubicBezTo>
                  <a:pt x="234047" y="371475"/>
                  <a:pt x="171450" y="308967"/>
                  <a:pt x="171450" y="231725"/>
                </a:cubicBezTo>
                <a:cubicBezTo>
                  <a:pt x="171450" y="230386"/>
                  <a:pt x="171450" y="229046"/>
                  <a:pt x="171539" y="227707"/>
                </a:cubicBezTo>
                <a:cubicBezTo>
                  <a:pt x="171986" y="211901"/>
                  <a:pt x="185112" y="199489"/>
                  <a:pt x="200918" y="199936"/>
                </a:cubicBezTo>
                <a:cubicBezTo>
                  <a:pt x="216724" y="200382"/>
                  <a:pt x="229136" y="213509"/>
                  <a:pt x="228689" y="229314"/>
                </a:cubicBezTo>
                <a:cubicBezTo>
                  <a:pt x="228689" y="230118"/>
                  <a:pt x="228689" y="230922"/>
                  <a:pt x="228689" y="231636"/>
                </a:cubicBezTo>
                <a:cubicBezTo>
                  <a:pt x="228689" y="277267"/>
                  <a:pt x="265658" y="314236"/>
                  <a:pt x="311289" y="314236"/>
                </a:cubicBezTo>
                <a:cubicBezTo>
                  <a:pt x="333167" y="314236"/>
                  <a:pt x="354151" y="305574"/>
                  <a:pt x="369689" y="290036"/>
                </a:cubicBezTo>
                <a:lnTo>
                  <a:pt x="433179" y="226546"/>
                </a:lnTo>
                <a:cubicBezTo>
                  <a:pt x="448628" y="211098"/>
                  <a:pt x="457379" y="190024"/>
                  <a:pt x="457379" y="168146"/>
                </a:cubicBezTo>
                <a:cubicBezTo>
                  <a:pt x="457379" y="122515"/>
                  <a:pt x="420410" y="85546"/>
                  <a:pt x="374779" y="85546"/>
                </a:cubicBezTo>
                <a:close/>
                <a:moveTo>
                  <a:pt x="245745" y="154751"/>
                </a:moveTo>
                <a:cubicBezTo>
                  <a:pt x="244048" y="154037"/>
                  <a:pt x="242352" y="153055"/>
                  <a:pt x="240834" y="151983"/>
                </a:cubicBezTo>
                <a:cubicBezTo>
                  <a:pt x="229582" y="146179"/>
                  <a:pt x="216724" y="142875"/>
                  <a:pt x="203240" y="142875"/>
                </a:cubicBezTo>
                <a:cubicBezTo>
                  <a:pt x="181362" y="142875"/>
                  <a:pt x="160377" y="151537"/>
                  <a:pt x="144840" y="167074"/>
                </a:cubicBezTo>
                <a:lnTo>
                  <a:pt x="81349" y="230565"/>
                </a:lnTo>
                <a:cubicBezTo>
                  <a:pt x="65901" y="246013"/>
                  <a:pt x="57150" y="267087"/>
                  <a:pt x="57150" y="288965"/>
                </a:cubicBezTo>
                <a:cubicBezTo>
                  <a:pt x="57150" y="334595"/>
                  <a:pt x="94119" y="371564"/>
                  <a:pt x="139750" y="371564"/>
                </a:cubicBezTo>
                <a:cubicBezTo>
                  <a:pt x="154484" y="371564"/>
                  <a:pt x="168860" y="367635"/>
                  <a:pt x="181451" y="360313"/>
                </a:cubicBezTo>
                <a:cubicBezTo>
                  <a:pt x="195560" y="374600"/>
                  <a:pt x="211991" y="386566"/>
                  <a:pt x="230207" y="395585"/>
                </a:cubicBezTo>
                <a:cubicBezTo>
                  <a:pt x="205026" y="416927"/>
                  <a:pt x="173057" y="428804"/>
                  <a:pt x="139750" y="428804"/>
                </a:cubicBezTo>
                <a:cubicBezTo>
                  <a:pt x="62597" y="428804"/>
                  <a:pt x="0" y="366296"/>
                  <a:pt x="0" y="289054"/>
                </a:cubicBezTo>
                <a:cubicBezTo>
                  <a:pt x="0" y="251996"/>
                  <a:pt x="14734" y="216456"/>
                  <a:pt x="40898" y="190292"/>
                </a:cubicBezTo>
                <a:lnTo>
                  <a:pt x="104388" y="126802"/>
                </a:lnTo>
                <a:cubicBezTo>
                  <a:pt x="130552" y="100638"/>
                  <a:pt x="166092" y="85904"/>
                  <a:pt x="203150" y="85904"/>
                </a:cubicBezTo>
                <a:cubicBezTo>
                  <a:pt x="280481" y="85904"/>
                  <a:pt x="342900" y="148947"/>
                  <a:pt x="342900" y="226010"/>
                </a:cubicBezTo>
                <a:cubicBezTo>
                  <a:pt x="342900" y="227171"/>
                  <a:pt x="342900" y="228332"/>
                  <a:pt x="342900" y="229493"/>
                </a:cubicBezTo>
                <a:cubicBezTo>
                  <a:pt x="342543" y="245299"/>
                  <a:pt x="329416" y="257711"/>
                  <a:pt x="313611" y="257354"/>
                </a:cubicBezTo>
                <a:cubicBezTo>
                  <a:pt x="297805" y="256996"/>
                  <a:pt x="285393" y="243870"/>
                  <a:pt x="285750" y="228064"/>
                </a:cubicBezTo>
                <a:cubicBezTo>
                  <a:pt x="285750" y="227350"/>
                  <a:pt x="285750" y="226725"/>
                  <a:pt x="285750" y="226010"/>
                </a:cubicBezTo>
                <a:cubicBezTo>
                  <a:pt x="285750" y="195917"/>
                  <a:pt x="269677" y="169485"/>
                  <a:pt x="245745" y="154930"/>
                </a:cubicBezTo>
                <a:close/>
              </a:path>
            </a:pathLst>
          </a:custGeom>
          <a:solidFill>
            <a:srgbClr val="C9893B"/>
          </a:solidFill>
          <a:ln/>
        </p:spPr>
      </p:sp>
      <p:sp>
        <p:nvSpPr>
          <p:cNvPr id="8" name="Text 6"/>
          <p:cNvSpPr/>
          <p:nvPr/>
        </p:nvSpPr>
        <p:spPr>
          <a:xfrm>
            <a:off x="1701800" y="1841500"/>
            <a:ext cx="5842000" cy="4826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CNAME Record</a:t>
            </a:r>
            <a:endParaRPr lang="en-US" sz="2000" dirty="0"/>
          </a:p>
        </p:txBody>
      </p:sp>
      <p:sp>
        <p:nvSpPr>
          <p:cNvPr id="9" name="Text 7"/>
          <p:cNvSpPr/>
          <p:nvPr/>
        </p:nvSpPr>
        <p:spPr>
          <a:xfrm>
            <a:off x="1701800" y="2362200"/>
            <a:ext cx="5842000" cy="279400"/>
          </a:xfrm>
          <a:prstGeom prst="rect">
            <a:avLst/>
          </a:prstGeom>
          <a:noFill/>
          <a:ln/>
        </p:spPr>
        <p:txBody>
          <a:bodyPr wrap="none" lIns="0" tIns="0" rIns="0" bIns="0" rtlCol="0" anchor="ctr"/>
          <a:lstStyle/>
          <a:p>
            <a:pPr>
              <a:lnSpc>
                <a:spcPct val="100000"/>
              </a:lnSpc>
            </a:pPr>
            <a:r>
              <a:rPr lang="en-US" sz="1400" dirty="0">
                <a:solidFill>
                  <a:srgbClr val="6B7B8D"/>
                </a:solidFill>
                <a:latin typeface="Quattrocento Sans" pitchFamily="34" charset="0"/>
                <a:ea typeface="Quattrocento Sans" pitchFamily="34" charset="-122"/>
                <a:cs typeface="Quattrocento Sans" pitchFamily="34" charset="-120"/>
              </a:rPr>
              <a:t>Canonical Name — creates an alias</a:t>
            </a:r>
            <a:endParaRPr lang="en-US" sz="1600" dirty="0"/>
          </a:p>
        </p:txBody>
      </p:sp>
      <p:sp>
        <p:nvSpPr>
          <p:cNvPr id="10" name="Text 8"/>
          <p:cNvSpPr/>
          <p:nvPr/>
        </p:nvSpPr>
        <p:spPr>
          <a:xfrm>
            <a:off x="1066800" y="2667000"/>
            <a:ext cx="6502400" cy="22860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Points one hostname to </a:t>
            </a:r>
            <a:pPr>
              <a:lnSpc>
                <a:spcPct val="160000"/>
              </a:lnSpc>
            </a:pPr>
            <a:r>
              <a:rPr lang="en-US" sz="1600" b="1" dirty="0">
                <a:solidFill>
                  <a:srgbClr val="1E2328"/>
                </a:solidFill>
                <a:latin typeface="Quattrocento Sans" pitchFamily="34" charset="0"/>
                <a:ea typeface="Quattrocento Sans" pitchFamily="34" charset="-122"/>
                <a:cs typeface="Quattrocento Sans" pitchFamily="34" charset="-120"/>
              </a:rPr>
              <a:t>another hostname</a:t>
            </a:r>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(not to an IP).</a:t>
            </a:r>
            <a:endParaRPr lang="en-US" sz="1600" dirty="0"/>
          </a:p>
          <a:p>
            <a:pPr>
              <a:lnSpc>
                <a:spcPct val="160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Example:</a:t>
            </a:r>
            <a:endParaRPr lang="en-US" sz="1600" dirty="0"/>
          </a:p>
          <a:p>
            <a:pPr>
              <a:lnSpc>
                <a:spcPct val="160000"/>
              </a:lnSpc>
            </a:pPr>
            <a:r>
              <a:rPr lang="en-US" sz="1600" b="1" dirty="0">
                <a:solidFill>
                  <a:srgbClr val="C9893B"/>
                </a:solidFill>
                <a:latin typeface="Quattrocento Sans" pitchFamily="34" charset="0"/>
                <a:ea typeface="Quattrocento Sans" pitchFamily="34" charset="-122"/>
                <a:cs typeface="Quattrocento Sans" pitchFamily="34" charset="-120"/>
              </a:rPr>
              <a:t>blog.example.com → example.com</a:t>
            </a:r>
            <a:endParaRPr lang="en-US" sz="1600" dirty="0"/>
          </a:p>
          <a:p>
            <a:pPr>
              <a:lnSpc>
                <a:spcPct val="160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Used for subdomains, CDN integration, and third-party services.</a:t>
            </a:r>
            <a:endParaRPr lang="en-US" sz="1600" dirty="0"/>
          </a:p>
          <a:p>
            <a:pPr>
              <a:lnSpc>
                <a:spcPct val="160000"/>
              </a:lnSpc>
              <a:spcBef>
                <a:spcPts val="400"/>
              </a:spcBef>
            </a:pPr>
            <a:r>
              <a:rPr lang="en-US" sz="1400" dirty="0">
                <a:solidFill>
                  <a:srgbClr val="6B7B8D"/>
                </a:solidFill>
                <a:latin typeface="Quattrocento Sans" pitchFamily="34" charset="0"/>
                <a:ea typeface="Quattrocento Sans" pitchFamily="34" charset="-122"/>
                <a:cs typeface="Quattrocento Sans" pitchFamily="34" charset="-120"/>
              </a:rPr>
              <a:t>Limit: Only one CNAME per hostname</a:t>
            </a:r>
            <a:endParaRPr lang="en-US" sz="1600" dirty="0"/>
          </a:p>
        </p:txBody>
      </p:sp>
      <p:sp>
        <p:nvSpPr>
          <p:cNvPr id="11" name="Shape 9"/>
          <p:cNvSpPr/>
          <p:nvPr/>
        </p:nvSpPr>
        <p:spPr>
          <a:xfrm>
            <a:off x="8382000" y="1587500"/>
            <a:ext cx="7112000" cy="3556000"/>
          </a:xfrm>
          <a:prstGeom prst="rect">
            <a:avLst/>
          </a:prstGeom>
          <a:solidFill>
            <a:srgbClr val="E8E4DE"/>
          </a:solidFill>
          <a:ln/>
        </p:spPr>
      </p:sp>
      <p:sp>
        <p:nvSpPr>
          <p:cNvPr id="12" name="Shape 10"/>
          <p:cNvSpPr/>
          <p:nvPr/>
        </p:nvSpPr>
        <p:spPr>
          <a:xfrm>
            <a:off x="8382000" y="1587500"/>
            <a:ext cx="76200" cy="3556000"/>
          </a:xfrm>
          <a:prstGeom prst="rect">
            <a:avLst/>
          </a:prstGeom>
          <a:solidFill>
            <a:srgbClr val="2D3E50"/>
          </a:solidFill>
          <a:ln/>
        </p:spPr>
      </p:sp>
      <p:sp>
        <p:nvSpPr>
          <p:cNvPr id="13" name="Shape 11"/>
          <p:cNvSpPr/>
          <p:nvPr/>
        </p:nvSpPr>
        <p:spPr>
          <a:xfrm>
            <a:off x="8686800" y="1841500"/>
            <a:ext cx="457200" cy="457200"/>
          </a:xfrm>
          <a:custGeom>
            <a:avLst/>
            <a:gdLst/>
            <a:ahLst/>
            <a:cxnLst/>
            <a:rect l="l" t="t" r="r" b="b"/>
            <a:pathLst>
              <a:path w="457200" h="457200">
                <a:moveTo>
                  <a:pt x="42863" y="57150"/>
                </a:moveTo>
                <a:cubicBezTo>
                  <a:pt x="19199" y="57150"/>
                  <a:pt x="0" y="76349"/>
                  <a:pt x="0" y="100013"/>
                </a:cubicBezTo>
                <a:cubicBezTo>
                  <a:pt x="0" y="113496"/>
                  <a:pt x="6340" y="126176"/>
                  <a:pt x="17145" y="134303"/>
                </a:cubicBezTo>
                <a:lnTo>
                  <a:pt x="202883" y="273606"/>
                </a:lnTo>
                <a:cubicBezTo>
                  <a:pt x="218152" y="285036"/>
                  <a:pt x="239048" y="285036"/>
                  <a:pt x="254318" y="273606"/>
                </a:cubicBezTo>
                <a:lnTo>
                  <a:pt x="440055" y="134302"/>
                </a:lnTo>
                <a:cubicBezTo>
                  <a:pt x="450860" y="126176"/>
                  <a:pt x="457200" y="113496"/>
                  <a:pt x="457200" y="100012"/>
                </a:cubicBezTo>
                <a:cubicBezTo>
                  <a:pt x="457200" y="76349"/>
                  <a:pt x="438001" y="57150"/>
                  <a:pt x="414338" y="57150"/>
                </a:cubicBezTo>
                <a:lnTo>
                  <a:pt x="42863" y="57150"/>
                </a:lnTo>
                <a:close/>
                <a:moveTo>
                  <a:pt x="0" y="175022"/>
                </a:moveTo>
                <a:lnTo>
                  <a:pt x="0" y="342900"/>
                </a:lnTo>
                <a:cubicBezTo>
                  <a:pt x="0" y="374422"/>
                  <a:pt x="25628" y="400050"/>
                  <a:pt x="57150" y="400050"/>
                </a:cubicBezTo>
                <a:lnTo>
                  <a:pt x="400050" y="400050"/>
                </a:lnTo>
                <a:cubicBezTo>
                  <a:pt x="431572" y="400050"/>
                  <a:pt x="457200" y="374422"/>
                  <a:pt x="457200" y="342900"/>
                </a:cubicBezTo>
                <a:lnTo>
                  <a:pt x="457200" y="175022"/>
                </a:lnTo>
                <a:lnTo>
                  <a:pt x="280035" y="307896"/>
                </a:lnTo>
                <a:cubicBezTo>
                  <a:pt x="249585" y="330756"/>
                  <a:pt x="207615" y="330756"/>
                  <a:pt x="177165" y="307896"/>
                </a:cubicBezTo>
                <a:lnTo>
                  <a:pt x="0" y="175022"/>
                </a:lnTo>
                <a:close/>
              </a:path>
            </a:pathLst>
          </a:custGeom>
          <a:solidFill>
            <a:srgbClr val="2D3E50"/>
          </a:solidFill>
          <a:ln/>
        </p:spPr>
      </p:sp>
      <p:sp>
        <p:nvSpPr>
          <p:cNvPr id="14" name="Text 12"/>
          <p:cNvSpPr/>
          <p:nvPr/>
        </p:nvSpPr>
        <p:spPr>
          <a:xfrm>
            <a:off x="9321800" y="1841500"/>
            <a:ext cx="5842000" cy="4826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MX Record</a:t>
            </a:r>
            <a:endParaRPr lang="en-US" sz="2000" dirty="0"/>
          </a:p>
        </p:txBody>
      </p:sp>
      <p:sp>
        <p:nvSpPr>
          <p:cNvPr id="15" name="Text 13"/>
          <p:cNvSpPr/>
          <p:nvPr/>
        </p:nvSpPr>
        <p:spPr>
          <a:xfrm>
            <a:off x="9321800" y="2362200"/>
            <a:ext cx="5842000" cy="279400"/>
          </a:xfrm>
          <a:prstGeom prst="rect">
            <a:avLst/>
          </a:prstGeom>
          <a:noFill/>
          <a:ln/>
        </p:spPr>
        <p:txBody>
          <a:bodyPr wrap="none" lIns="0" tIns="0" rIns="0" bIns="0" rtlCol="0" anchor="ctr"/>
          <a:lstStyle/>
          <a:p>
            <a:pPr>
              <a:lnSpc>
                <a:spcPct val="100000"/>
              </a:lnSpc>
            </a:pPr>
            <a:r>
              <a:rPr lang="en-US" sz="1400" dirty="0">
                <a:solidFill>
                  <a:srgbClr val="6B7B8D"/>
                </a:solidFill>
                <a:latin typeface="Quattrocento Sans" pitchFamily="34" charset="0"/>
                <a:ea typeface="Quattrocento Sans" pitchFamily="34" charset="-122"/>
                <a:cs typeface="Quattrocento Sans" pitchFamily="34" charset="-120"/>
              </a:rPr>
              <a:t>Mail Exchange — directs email</a:t>
            </a:r>
            <a:endParaRPr lang="en-US" sz="1600" dirty="0"/>
          </a:p>
        </p:txBody>
      </p:sp>
      <p:sp>
        <p:nvSpPr>
          <p:cNvPr id="16" name="Text 14"/>
          <p:cNvSpPr/>
          <p:nvPr/>
        </p:nvSpPr>
        <p:spPr>
          <a:xfrm>
            <a:off x="8686800" y="2667000"/>
            <a:ext cx="6502400" cy="22860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Specifies the </a:t>
            </a:r>
            <a:pPr>
              <a:lnSpc>
                <a:spcPct val="160000"/>
              </a:lnSpc>
            </a:pPr>
            <a:r>
              <a:rPr lang="en-US" sz="1600" b="1" dirty="0">
                <a:solidFill>
                  <a:srgbClr val="1E2328"/>
                </a:solidFill>
                <a:latin typeface="Quattrocento Sans" pitchFamily="34" charset="0"/>
                <a:ea typeface="Quattrocento Sans" pitchFamily="34" charset="-122"/>
                <a:cs typeface="Quattrocento Sans" pitchFamily="34" charset="-120"/>
              </a:rPr>
              <a:t>mail server</a:t>
            </a:r>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for accepting email on behalf of a domain.</a:t>
            </a:r>
            <a:endParaRPr lang="en-US" sz="1600" dirty="0"/>
          </a:p>
          <a:p>
            <a:pPr>
              <a:lnSpc>
                <a:spcPct val="160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Example:</a:t>
            </a:r>
            <a:endParaRPr lang="en-US" sz="1600" dirty="0"/>
          </a:p>
          <a:p>
            <a:pPr>
              <a:lnSpc>
                <a:spcPct val="160000"/>
              </a:lnSpc>
            </a:pPr>
            <a:r>
              <a:rPr lang="en-US" sz="1600" b="1" dirty="0">
                <a:solidFill>
                  <a:srgbClr val="2D3E50"/>
                </a:solidFill>
                <a:latin typeface="Quattrocento Sans" pitchFamily="34" charset="0"/>
                <a:ea typeface="Quattrocento Sans" pitchFamily="34" charset="-122"/>
                <a:cs typeface="Quattrocento Sans" pitchFamily="34" charset="-120"/>
              </a:rPr>
              <a:t>example.com → mail.example.com (priority 10)</a:t>
            </a:r>
            <a:endParaRPr lang="en-US" sz="1600" dirty="0"/>
          </a:p>
          <a:p>
            <a:pPr>
              <a:lnSpc>
                <a:spcPct val="160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Lower priority number = higher priority. Multiple MX records provide redundancy.</a:t>
            </a:r>
            <a:endParaRPr lang="en-US" sz="1600" dirty="0"/>
          </a:p>
        </p:txBody>
      </p:sp>
      <p:sp>
        <p:nvSpPr>
          <p:cNvPr id="17" name="Shape 15"/>
          <p:cNvSpPr/>
          <p:nvPr/>
        </p:nvSpPr>
        <p:spPr>
          <a:xfrm>
            <a:off x="762000" y="5461000"/>
            <a:ext cx="14732000" cy="2540000"/>
          </a:xfrm>
          <a:prstGeom prst="rect">
            <a:avLst/>
          </a:prstGeom>
          <a:solidFill>
            <a:srgbClr val="2D3E50"/>
          </a:solidFill>
          <a:ln/>
        </p:spPr>
      </p:sp>
      <p:sp>
        <p:nvSpPr>
          <p:cNvPr id="18" name="Text 16"/>
          <p:cNvSpPr/>
          <p:nvPr/>
        </p:nvSpPr>
        <p:spPr>
          <a:xfrm>
            <a:off x="1066800" y="5638800"/>
            <a:ext cx="5080000" cy="330200"/>
          </a:xfrm>
          <a:prstGeom prst="rect">
            <a:avLst/>
          </a:prstGeom>
          <a:noFill/>
          <a:ln/>
        </p:spPr>
        <p:txBody>
          <a:bodyPr wrap="none" lIns="0" tIns="0" rIns="0" bIns="0" rtlCol="0" anchor="ctr"/>
          <a:lstStyle/>
          <a:p>
            <a:pPr>
              <a:lnSpc>
                <a:spcPct val="100000"/>
              </a:lnSpc>
            </a:pPr>
            <a:r>
              <a:rPr lang="en-US" sz="1600" b="1" spc="200" kern="0" dirty="0">
                <a:solidFill>
                  <a:srgbClr val="C9893B"/>
                </a:solidFill>
                <a:latin typeface="Liter" pitchFamily="34" charset="0"/>
                <a:ea typeface="Liter" pitchFamily="34" charset="-122"/>
                <a:cs typeface="Liter" pitchFamily="34" charset="-120"/>
              </a:rPr>
              <a:t>REAL-WORLD USAGE</a:t>
            </a:r>
            <a:endParaRPr lang="en-US" sz="1600" dirty="0"/>
          </a:p>
        </p:txBody>
      </p:sp>
      <p:sp>
        <p:nvSpPr>
          <p:cNvPr id="19" name="Text 17"/>
          <p:cNvSpPr/>
          <p:nvPr/>
        </p:nvSpPr>
        <p:spPr>
          <a:xfrm>
            <a:off x="1066800" y="6096000"/>
            <a:ext cx="14122400" cy="1651000"/>
          </a:xfrm>
          <a:prstGeom prst="rect">
            <a:avLst/>
          </a:prstGeom>
          <a:noFill/>
          <a:ln/>
        </p:spPr>
        <p:txBody>
          <a:bodyPr wrap="square" lIns="0" tIns="0" rIns="0" bIns="0" rtlCol="0" anchor="ctr"/>
          <a:lstStyle/>
          <a:p>
            <a:pPr>
              <a:lnSpc>
                <a:spcPct val="160000"/>
              </a:lnSpc>
            </a:pPr>
            <a:r>
              <a:rPr lang="en-US" sz="1500" b="1" dirty="0">
                <a:solidFill>
                  <a:srgbClr val="FFFFFF"/>
                </a:solidFill>
                <a:latin typeface="Quattrocento Sans" pitchFamily="34" charset="0"/>
                <a:ea typeface="Quattrocento Sans" pitchFamily="34" charset="-122"/>
                <a:cs typeface="Quattrocento Sans" pitchFamily="34" charset="-120"/>
              </a:rPr>
              <a:t>CNAME use case:</a:t>
            </a:r>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A company uses blog.example.com as a CNAME pointing to their WordPress hosting (example.wordpress.com). When the hosting IP changes, only the hosting provider needs to update their A record — the CNAME continues working.</a:t>
            </a:r>
            <a:endParaRPr lang="en-US" sz="1600" dirty="0"/>
          </a:p>
          <a:p>
            <a:pPr>
              <a:lnSpc>
                <a:spcPct val="160000"/>
              </a:lnSpc>
              <a:spcBef>
                <a:spcPts val="800"/>
              </a:spcBef>
            </a:pPr>
            <a:r>
              <a:rPr lang="en-US" sz="1500" b="1" dirty="0">
                <a:solidFill>
                  <a:srgbClr val="FFFFFF"/>
                </a:solidFill>
                <a:latin typeface="Quattrocento Sans" pitchFamily="34" charset="0"/>
                <a:ea typeface="Quattrocento Sans" pitchFamily="34" charset="-122"/>
                <a:cs typeface="Quattrocento Sans" pitchFamily="34" charset="-120"/>
              </a:rPr>
              <a:t>MX use case:</a:t>
            </a:r>
            <a:pPr>
              <a:lnSpc>
                <a:spcPct val="160000"/>
              </a:lnSpc>
              <a:spcBef>
                <a:spcPts val="800"/>
              </a:spcBef>
            </a:pPr>
            <a:r>
              <a:rPr lang="en-US" sz="1500" dirty="0">
                <a:solidFill>
                  <a:srgbClr val="FFFFFF"/>
                </a:solidFill>
                <a:latin typeface="Quattrocento Sans" pitchFamily="34" charset="0"/>
                <a:ea typeface="Quattrocento Sans" pitchFamily="34" charset="-122"/>
                <a:cs typeface="Quattrocento Sans" pitchFamily="34" charset="-120"/>
              </a:rPr>
              <a:t> Google Workspace uses MX records to direct all email for @example.com to Google's mail servers, enabling professional email with the company's domain.</a:t>
            </a:r>
            <a:endParaRPr lang="en-US" sz="1600" dirty="0"/>
          </a:p>
        </p:txBody>
      </p:sp>
      <p:sp>
        <p:nvSpPr>
          <p:cNvPr id="20" name="Shape 18"/>
          <p:cNvSpPr/>
          <p:nvPr/>
        </p:nvSpPr>
        <p:spPr>
          <a:xfrm>
            <a:off x="762000" y="8382000"/>
            <a:ext cx="14732000" cy="25400"/>
          </a:xfrm>
          <a:prstGeom prst="rect">
            <a:avLst/>
          </a:prstGeom>
          <a:solidFill>
            <a:srgbClr val="C9893B"/>
          </a:solidFill>
          <a:ln/>
        </p:spPr>
      </p:sp>
      <p:sp>
        <p:nvSpPr>
          <p:cNvPr id="21" name="Text 19"/>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18</a:t>
            </a:r>
            <a:endParaRPr lang="en-US" sz="14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1016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NS, TXT, and SOA Records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Shape 3"/>
          <p:cNvSpPr/>
          <p:nvPr/>
        </p:nvSpPr>
        <p:spPr>
          <a:xfrm>
            <a:off x="762000" y="1587500"/>
            <a:ext cx="4699000" cy="3810000"/>
          </a:xfrm>
          <a:prstGeom prst="rect">
            <a:avLst/>
          </a:prstGeom>
          <a:solidFill>
            <a:srgbClr val="E8E4DE"/>
          </a:solidFill>
          <a:ln/>
        </p:spPr>
      </p:sp>
      <p:sp>
        <p:nvSpPr>
          <p:cNvPr id="6" name="Shape 4"/>
          <p:cNvSpPr/>
          <p:nvPr/>
        </p:nvSpPr>
        <p:spPr>
          <a:xfrm>
            <a:off x="762000" y="1587500"/>
            <a:ext cx="4699000" cy="76200"/>
          </a:xfrm>
          <a:prstGeom prst="rect">
            <a:avLst/>
          </a:prstGeom>
          <a:solidFill>
            <a:srgbClr val="C9893B"/>
          </a:solidFill>
          <a:ln/>
        </p:spPr>
      </p:sp>
      <p:sp>
        <p:nvSpPr>
          <p:cNvPr id="7" name="Shape 5"/>
          <p:cNvSpPr/>
          <p:nvPr/>
        </p:nvSpPr>
        <p:spPr>
          <a:xfrm>
            <a:off x="1041400" y="1879600"/>
            <a:ext cx="355600" cy="406400"/>
          </a:xfrm>
          <a:custGeom>
            <a:avLst/>
            <a:gdLst/>
            <a:ahLst/>
            <a:cxnLst/>
            <a:rect l="l" t="t" r="r" b="b"/>
            <a:pathLst>
              <a:path w="355600" h="406400">
                <a:moveTo>
                  <a:pt x="50800" y="25400"/>
                </a:moveTo>
                <a:cubicBezTo>
                  <a:pt x="22781" y="25400"/>
                  <a:pt x="0" y="48181"/>
                  <a:pt x="0" y="76200"/>
                </a:cubicBezTo>
                <a:lnTo>
                  <a:pt x="0" y="127000"/>
                </a:lnTo>
                <a:cubicBezTo>
                  <a:pt x="0" y="155019"/>
                  <a:pt x="22781" y="177800"/>
                  <a:pt x="50800" y="177800"/>
                </a:cubicBezTo>
                <a:lnTo>
                  <a:pt x="304800" y="177800"/>
                </a:lnTo>
                <a:cubicBezTo>
                  <a:pt x="332819" y="177800"/>
                  <a:pt x="355600" y="155019"/>
                  <a:pt x="355600" y="127000"/>
                </a:cubicBezTo>
                <a:lnTo>
                  <a:pt x="355600" y="76200"/>
                </a:lnTo>
                <a:cubicBezTo>
                  <a:pt x="355600" y="48181"/>
                  <a:pt x="332819" y="25400"/>
                  <a:pt x="304800" y="25400"/>
                </a:cubicBezTo>
                <a:lnTo>
                  <a:pt x="50800" y="25400"/>
                </a:lnTo>
                <a:close/>
                <a:moveTo>
                  <a:pt x="222250" y="82550"/>
                </a:moveTo>
                <a:cubicBezTo>
                  <a:pt x="232764" y="82550"/>
                  <a:pt x="241300" y="91086"/>
                  <a:pt x="241300" y="101600"/>
                </a:cubicBezTo>
                <a:cubicBezTo>
                  <a:pt x="241300" y="112114"/>
                  <a:pt x="232764" y="120650"/>
                  <a:pt x="222250" y="120650"/>
                </a:cubicBezTo>
                <a:cubicBezTo>
                  <a:pt x="211736" y="120650"/>
                  <a:pt x="203200" y="112114"/>
                  <a:pt x="203200" y="101600"/>
                </a:cubicBezTo>
                <a:cubicBezTo>
                  <a:pt x="203200" y="91086"/>
                  <a:pt x="211736" y="82550"/>
                  <a:pt x="222250" y="82550"/>
                </a:cubicBezTo>
                <a:close/>
                <a:moveTo>
                  <a:pt x="266700" y="101600"/>
                </a:moveTo>
                <a:cubicBezTo>
                  <a:pt x="266700" y="91086"/>
                  <a:pt x="275236" y="82550"/>
                  <a:pt x="285750" y="82550"/>
                </a:cubicBezTo>
                <a:cubicBezTo>
                  <a:pt x="296264" y="82550"/>
                  <a:pt x="304800" y="91086"/>
                  <a:pt x="304800" y="101600"/>
                </a:cubicBezTo>
                <a:cubicBezTo>
                  <a:pt x="304800" y="112114"/>
                  <a:pt x="296264" y="120650"/>
                  <a:pt x="285750" y="120650"/>
                </a:cubicBezTo>
                <a:cubicBezTo>
                  <a:pt x="275236" y="120650"/>
                  <a:pt x="266700" y="112114"/>
                  <a:pt x="266700" y="101600"/>
                </a:cubicBezTo>
                <a:close/>
                <a:moveTo>
                  <a:pt x="50800" y="228600"/>
                </a:moveTo>
                <a:cubicBezTo>
                  <a:pt x="22781" y="228600"/>
                  <a:pt x="0" y="251381"/>
                  <a:pt x="0" y="279400"/>
                </a:cubicBezTo>
                <a:lnTo>
                  <a:pt x="0" y="330200"/>
                </a:lnTo>
                <a:cubicBezTo>
                  <a:pt x="0" y="358219"/>
                  <a:pt x="22781" y="381000"/>
                  <a:pt x="50800" y="381000"/>
                </a:cubicBezTo>
                <a:lnTo>
                  <a:pt x="304800" y="381000"/>
                </a:lnTo>
                <a:cubicBezTo>
                  <a:pt x="332819" y="381000"/>
                  <a:pt x="355600" y="358219"/>
                  <a:pt x="355600" y="330200"/>
                </a:cubicBezTo>
                <a:lnTo>
                  <a:pt x="355600" y="279400"/>
                </a:lnTo>
                <a:cubicBezTo>
                  <a:pt x="355600" y="251381"/>
                  <a:pt x="332819" y="228600"/>
                  <a:pt x="304800" y="228600"/>
                </a:cubicBezTo>
                <a:lnTo>
                  <a:pt x="50800" y="228600"/>
                </a:lnTo>
                <a:close/>
                <a:moveTo>
                  <a:pt x="222250" y="285750"/>
                </a:moveTo>
                <a:cubicBezTo>
                  <a:pt x="232764" y="285750"/>
                  <a:pt x="241300" y="294286"/>
                  <a:pt x="241300" y="304800"/>
                </a:cubicBezTo>
                <a:cubicBezTo>
                  <a:pt x="241300" y="315314"/>
                  <a:pt x="232764" y="323850"/>
                  <a:pt x="222250" y="323850"/>
                </a:cubicBezTo>
                <a:cubicBezTo>
                  <a:pt x="211736" y="323850"/>
                  <a:pt x="203200" y="315314"/>
                  <a:pt x="203200" y="304800"/>
                </a:cubicBezTo>
                <a:cubicBezTo>
                  <a:pt x="203200" y="294286"/>
                  <a:pt x="211736" y="285750"/>
                  <a:pt x="222250" y="285750"/>
                </a:cubicBezTo>
                <a:close/>
                <a:moveTo>
                  <a:pt x="266700" y="304800"/>
                </a:moveTo>
                <a:cubicBezTo>
                  <a:pt x="266700" y="294286"/>
                  <a:pt x="275236" y="285750"/>
                  <a:pt x="285750" y="285750"/>
                </a:cubicBezTo>
                <a:cubicBezTo>
                  <a:pt x="296264" y="285750"/>
                  <a:pt x="304800" y="294286"/>
                  <a:pt x="304800" y="304800"/>
                </a:cubicBezTo>
                <a:cubicBezTo>
                  <a:pt x="304800" y="315314"/>
                  <a:pt x="296264" y="323850"/>
                  <a:pt x="285750" y="323850"/>
                </a:cubicBezTo>
                <a:cubicBezTo>
                  <a:pt x="275236" y="323850"/>
                  <a:pt x="266700" y="315314"/>
                  <a:pt x="266700" y="304800"/>
                </a:cubicBezTo>
                <a:close/>
              </a:path>
            </a:pathLst>
          </a:custGeom>
          <a:solidFill>
            <a:srgbClr val="C9893B"/>
          </a:solidFill>
          <a:ln/>
        </p:spPr>
      </p:sp>
      <p:sp>
        <p:nvSpPr>
          <p:cNvPr id="8" name="Text 6"/>
          <p:cNvSpPr/>
          <p:nvPr/>
        </p:nvSpPr>
        <p:spPr>
          <a:xfrm>
            <a:off x="1549400" y="1866900"/>
            <a:ext cx="3657600" cy="457200"/>
          </a:xfrm>
          <a:prstGeom prst="rect">
            <a:avLst/>
          </a:prstGeom>
          <a:noFill/>
          <a:ln/>
        </p:spPr>
        <p:txBody>
          <a:bodyPr wrap="none" lIns="0" tIns="0" rIns="0" bIns="0" rtlCol="0" anchor="ctr"/>
          <a:lstStyle/>
          <a:p>
            <a:pPr>
              <a:lnSpc>
                <a:spcPct val="140000"/>
              </a:lnSpc>
            </a:pPr>
            <a:r>
              <a:rPr lang="en-US" sz="1800" b="1" dirty="0">
                <a:solidFill>
                  <a:srgbClr val="2D3E50"/>
                </a:solidFill>
                <a:latin typeface="Liter" pitchFamily="34" charset="0"/>
                <a:ea typeface="Liter" pitchFamily="34" charset="-122"/>
                <a:cs typeface="Liter" pitchFamily="34" charset="-120"/>
              </a:rPr>
              <a:t>NS Record</a:t>
            </a:r>
            <a:endParaRPr lang="en-US" sz="2000" dirty="0"/>
          </a:p>
        </p:txBody>
      </p:sp>
      <p:sp>
        <p:nvSpPr>
          <p:cNvPr id="9" name="Text 7"/>
          <p:cNvSpPr/>
          <p:nvPr/>
        </p:nvSpPr>
        <p:spPr>
          <a:xfrm>
            <a:off x="1016000" y="2413000"/>
            <a:ext cx="4191000" cy="2794000"/>
          </a:xfrm>
          <a:prstGeom prst="rect">
            <a:avLst/>
          </a:prstGeom>
          <a:noFill/>
          <a:ln/>
        </p:spPr>
        <p:txBody>
          <a:bodyPr wrap="square" lIns="0" tIns="0" rIns="0" bIns="0" rtlCol="0" anchor="ctr"/>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Specifies which </a:t>
            </a:r>
            <a:pPr>
              <a:lnSpc>
                <a:spcPct val="160000"/>
              </a:lnSpc>
            </a:pPr>
            <a:r>
              <a:rPr lang="en-US" sz="1500" b="1" dirty="0">
                <a:solidFill>
                  <a:srgbClr val="1E2328"/>
                </a:solidFill>
                <a:latin typeface="Quattrocento Sans" pitchFamily="34" charset="0"/>
                <a:ea typeface="Quattrocento Sans" pitchFamily="34" charset="-122"/>
                <a:cs typeface="Quattrocento Sans" pitchFamily="34" charset="-120"/>
              </a:rPr>
              <a:t>DNS server is authoritative</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for a domain.</a:t>
            </a:r>
            <a:endParaRPr lang="en-US" sz="1600" dirty="0"/>
          </a:p>
          <a:p>
            <a:pPr>
              <a:lnSpc>
                <a:spcPct val="160000"/>
              </a:lnSpc>
              <a:spcBef>
                <a:spcPts val="600"/>
              </a:spcBef>
            </a:pPr>
            <a:r>
              <a:rPr lang="en-US" sz="1500" dirty="0">
                <a:solidFill>
                  <a:srgbClr val="1E2328"/>
                </a:solidFill>
                <a:latin typeface="Quattrocento Sans" pitchFamily="34" charset="0"/>
                <a:ea typeface="Quattrocento Sans" pitchFamily="34" charset="-122"/>
                <a:cs typeface="Quattrocento Sans" pitchFamily="34" charset="-120"/>
              </a:rPr>
              <a:t>Example:</a:t>
            </a:r>
            <a:endParaRPr lang="en-US" sz="1600" dirty="0"/>
          </a:p>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ns1.example.com</a:t>
            </a:r>
            <a:endParaRPr lang="en-US" sz="1600" dirty="0"/>
          </a:p>
          <a:p>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ns2.example.com</a:t>
            </a:r>
            <a:endParaRPr lang="en-US" sz="1600" dirty="0"/>
          </a:p>
          <a:p>
            <a:pPr>
              <a:lnSpc>
                <a:spcPct val="160000"/>
              </a:lnSpc>
              <a:spcBef>
                <a:spcPts val="600"/>
              </a:spcBef>
            </a:pPr>
            <a:r>
              <a:rPr lang="en-US" sz="1500" dirty="0">
                <a:solidFill>
                  <a:srgbClr val="1E2328"/>
                </a:solidFill>
                <a:latin typeface="Quattrocento Sans" pitchFamily="34" charset="0"/>
                <a:ea typeface="Quattrocento Sans" pitchFamily="34" charset="-122"/>
                <a:cs typeface="Quattrocento Sans" pitchFamily="34" charset="-120"/>
              </a:rPr>
              <a:t>Every domain needs at least </a:t>
            </a:r>
            <a:pPr>
              <a:lnSpc>
                <a:spcPct val="160000"/>
              </a:lnSpc>
              <a:spcBef>
                <a:spcPts val="600"/>
              </a:spcBef>
            </a:pPr>
            <a:r>
              <a:rPr lang="en-US" sz="1500" b="1" dirty="0">
                <a:solidFill>
                  <a:srgbClr val="1E2328"/>
                </a:solidFill>
                <a:latin typeface="Quattrocento Sans" pitchFamily="34" charset="0"/>
                <a:ea typeface="Quattrocento Sans" pitchFamily="34" charset="-122"/>
                <a:cs typeface="Quattrocento Sans" pitchFamily="34" charset="-120"/>
              </a:rPr>
              <a:t>two NS records</a:t>
            </a:r>
            <a:pPr>
              <a:lnSpc>
                <a:spcPct val="160000"/>
              </a:lnSpc>
              <a:spcBef>
                <a:spcPts val="600"/>
              </a:spcBef>
            </a:pPr>
            <a:r>
              <a:rPr lang="en-US" sz="1500" dirty="0">
                <a:solidFill>
                  <a:srgbClr val="1E2328"/>
                </a:solidFill>
                <a:latin typeface="Quattrocento Sans" pitchFamily="34" charset="0"/>
                <a:ea typeface="Quattrocento Sans" pitchFamily="34" charset="-122"/>
                <a:cs typeface="Quattrocento Sans" pitchFamily="34" charset="-120"/>
              </a:rPr>
              <a:t> for redundancy.</a:t>
            </a:r>
            <a:endParaRPr lang="en-US" sz="1600" dirty="0"/>
          </a:p>
        </p:txBody>
      </p:sp>
      <p:sp>
        <p:nvSpPr>
          <p:cNvPr id="10" name="Shape 8"/>
          <p:cNvSpPr/>
          <p:nvPr/>
        </p:nvSpPr>
        <p:spPr>
          <a:xfrm>
            <a:off x="5778500" y="1587500"/>
            <a:ext cx="4699000" cy="3429000"/>
          </a:xfrm>
          <a:prstGeom prst="rect">
            <a:avLst/>
          </a:prstGeom>
          <a:solidFill>
            <a:srgbClr val="E8E4DE"/>
          </a:solidFill>
          <a:ln/>
        </p:spPr>
      </p:sp>
      <p:sp>
        <p:nvSpPr>
          <p:cNvPr id="11" name="Shape 9"/>
          <p:cNvSpPr/>
          <p:nvPr/>
        </p:nvSpPr>
        <p:spPr>
          <a:xfrm>
            <a:off x="5778500" y="1587500"/>
            <a:ext cx="4699000" cy="76200"/>
          </a:xfrm>
          <a:prstGeom prst="rect">
            <a:avLst/>
          </a:prstGeom>
          <a:solidFill>
            <a:srgbClr val="2D3E50"/>
          </a:solidFill>
          <a:ln/>
        </p:spPr>
      </p:sp>
      <p:sp>
        <p:nvSpPr>
          <p:cNvPr id="12" name="Shape 10"/>
          <p:cNvSpPr/>
          <p:nvPr/>
        </p:nvSpPr>
        <p:spPr>
          <a:xfrm>
            <a:off x="6083300" y="1879600"/>
            <a:ext cx="304800" cy="406400"/>
          </a:xfrm>
          <a:custGeom>
            <a:avLst/>
            <a:gdLst/>
            <a:ahLst/>
            <a:cxnLst/>
            <a:rect l="l" t="t" r="r" b="b"/>
            <a:pathLst>
              <a:path w="304800" h="406400">
                <a:moveTo>
                  <a:pt x="0" y="50800"/>
                </a:moveTo>
                <a:cubicBezTo>
                  <a:pt x="0" y="22781"/>
                  <a:pt x="22781" y="0"/>
                  <a:pt x="50800" y="0"/>
                </a:cubicBezTo>
                <a:lnTo>
                  <a:pt x="169466" y="0"/>
                </a:lnTo>
                <a:cubicBezTo>
                  <a:pt x="182959" y="0"/>
                  <a:pt x="195898" y="5318"/>
                  <a:pt x="205423" y="14843"/>
                </a:cubicBezTo>
                <a:lnTo>
                  <a:pt x="289957" y="99457"/>
                </a:lnTo>
                <a:cubicBezTo>
                  <a:pt x="299482" y="108982"/>
                  <a:pt x="304800" y="121920"/>
                  <a:pt x="304800" y="135414"/>
                </a:cubicBezTo>
                <a:lnTo>
                  <a:pt x="304800" y="355600"/>
                </a:lnTo>
                <a:cubicBezTo>
                  <a:pt x="304800" y="383619"/>
                  <a:pt x="282019" y="406400"/>
                  <a:pt x="254000" y="406400"/>
                </a:cubicBezTo>
                <a:lnTo>
                  <a:pt x="50800" y="406400"/>
                </a:lnTo>
                <a:cubicBezTo>
                  <a:pt x="22781" y="406400"/>
                  <a:pt x="0" y="383619"/>
                  <a:pt x="0" y="355600"/>
                </a:cubicBezTo>
                <a:lnTo>
                  <a:pt x="0" y="50800"/>
                </a:lnTo>
                <a:close/>
                <a:moveTo>
                  <a:pt x="165100" y="46434"/>
                </a:moveTo>
                <a:lnTo>
                  <a:pt x="165100" y="120650"/>
                </a:lnTo>
                <a:cubicBezTo>
                  <a:pt x="165100" y="131207"/>
                  <a:pt x="173593" y="139700"/>
                  <a:pt x="184150" y="139700"/>
                </a:cubicBezTo>
                <a:lnTo>
                  <a:pt x="258366" y="139700"/>
                </a:lnTo>
                <a:lnTo>
                  <a:pt x="165100" y="46434"/>
                </a:lnTo>
                <a:close/>
                <a:moveTo>
                  <a:pt x="95250" y="203200"/>
                </a:moveTo>
                <a:cubicBezTo>
                  <a:pt x="84693" y="203200"/>
                  <a:pt x="76200" y="211693"/>
                  <a:pt x="76200" y="222250"/>
                </a:cubicBezTo>
                <a:cubicBezTo>
                  <a:pt x="76200" y="232807"/>
                  <a:pt x="84693" y="241300"/>
                  <a:pt x="95250" y="241300"/>
                </a:cubicBezTo>
                <a:lnTo>
                  <a:pt x="209550" y="241300"/>
                </a:lnTo>
                <a:cubicBezTo>
                  <a:pt x="220107" y="241300"/>
                  <a:pt x="228600" y="232807"/>
                  <a:pt x="228600" y="222250"/>
                </a:cubicBezTo>
                <a:cubicBezTo>
                  <a:pt x="228600" y="211693"/>
                  <a:pt x="220107" y="203200"/>
                  <a:pt x="209550" y="203200"/>
                </a:cubicBezTo>
                <a:lnTo>
                  <a:pt x="95250" y="203200"/>
                </a:lnTo>
                <a:close/>
                <a:moveTo>
                  <a:pt x="95250" y="279400"/>
                </a:moveTo>
                <a:cubicBezTo>
                  <a:pt x="84693" y="279400"/>
                  <a:pt x="76200" y="287893"/>
                  <a:pt x="76200" y="298450"/>
                </a:cubicBezTo>
                <a:cubicBezTo>
                  <a:pt x="76200" y="309007"/>
                  <a:pt x="84693" y="317500"/>
                  <a:pt x="95250" y="317500"/>
                </a:cubicBezTo>
                <a:lnTo>
                  <a:pt x="209550" y="317500"/>
                </a:lnTo>
                <a:cubicBezTo>
                  <a:pt x="220107" y="317500"/>
                  <a:pt x="228600" y="309007"/>
                  <a:pt x="228600" y="298450"/>
                </a:cubicBezTo>
                <a:cubicBezTo>
                  <a:pt x="228600" y="287893"/>
                  <a:pt x="220107" y="279400"/>
                  <a:pt x="209550" y="279400"/>
                </a:cubicBezTo>
                <a:lnTo>
                  <a:pt x="95250" y="279400"/>
                </a:lnTo>
                <a:close/>
              </a:path>
            </a:pathLst>
          </a:custGeom>
          <a:solidFill>
            <a:srgbClr val="2D3E50"/>
          </a:solidFill>
          <a:ln/>
        </p:spPr>
      </p:sp>
      <p:sp>
        <p:nvSpPr>
          <p:cNvPr id="13" name="Text 11"/>
          <p:cNvSpPr/>
          <p:nvPr/>
        </p:nvSpPr>
        <p:spPr>
          <a:xfrm>
            <a:off x="6565900" y="1866900"/>
            <a:ext cx="3657600" cy="457200"/>
          </a:xfrm>
          <a:prstGeom prst="rect">
            <a:avLst/>
          </a:prstGeom>
          <a:noFill/>
          <a:ln/>
        </p:spPr>
        <p:txBody>
          <a:bodyPr wrap="none" lIns="0" tIns="0" rIns="0" bIns="0" rtlCol="0" anchor="ctr"/>
          <a:lstStyle/>
          <a:p>
            <a:pPr>
              <a:lnSpc>
                <a:spcPct val="140000"/>
              </a:lnSpc>
            </a:pPr>
            <a:r>
              <a:rPr lang="en-US" sz="1800" b="1" dirty="0">
                <a:solidFill>
                  <a:srgbClr val="2D3E50"/>
                </a:solidFill>
                <a:latin typeface="Liter" pitchFamily="34" charset="0"/>
                <a:ea typeface="Liter" pitchFamily="34" charset="-122"/>
                <a:cs typeface="Liter" pitchFamily="34" charset="-120"/>
              </a:rPr>
              <a:t>TXT Record</a:t>
            </a:r>
            <a:endParaRPr lang="en-US" sz="2000" dirty="0"/>
          </a:p>
        </p:txBody>
      </p:sp>
      <p:sp>
        <p:nvSpPr>
          <p:cNvPr id="14" name="Text 12"/>
          <p:cNvSpPr/>
          <p:nvPr/>
        </p:nvSpPr>
        <p:spPr>
          <a:xfrm>
            <a:off x="6032500" y="2413000"/>
            <a:ext cx="4191000" cy="2413000"/>
          </a:xfrm>
          <a:prstGeom prst="rect">
            <a:avLst/>
          </a:prstGeom>
          <a:noFill/>
          <a:ln/>
        </p:spPr>
        <p:txBody>
          <a:bodyPr wrap="square" lIns="0" tIns="0" rIns="0" bIns="0" rtlCol="0" anchor="ctr"/>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Stores text information for various purposes:</a:t>
            </a:r>
            <a:endParaRPr lang="en-US" sz="1600" dirty="0"/>
          </a:p>
          <a:p>
            <a:pPr>
              <a:lnSpc>
                <a:spcPct val="160000"/>
              </a:lnSpc>
              <a:spcBef>
                <a:spcPts val="400"/>
              </a:spcBef>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60000"/>
              </a:lnSpc>
              <a:spcBef>
                <a:spcPts val="400"/>
              </a:spcBef>
            </a:pPr>
            <a:r>
              <a:rPr lang="en-US" sz="1500" dirty="0">
                <a:solidFill>
                  <a:srgbClr val="C9893B"/>
                </a:solidFill>
                <a:latin typeface="Quattrocento Sans" pitchFamily="34" charset="0"/>
                <a:ea typeface="Quattrocento Sans" pitchFamily="34" charset="-122"/>
                <a:cs typeface="Quattrocento Sans" pitchFamily="34" charset="-120"/>
              </a:rPr>
              <a:t>SPF</a:t>
            </a:r>
            <a:pPr>
              <a:lnSpc>
                <a:spcPct val="160000"/>
              </a:lnSpc>
              <a:spcBef>
                <a:spcPts val="400"/>
              </a:spcBef>
            </a:pPr>
            <a:r>
              <a:rPr lang="en-US" sz="1500" dirty="0">
                <a:solidFill>
                  <a:srgbClr val="1E2328"/>
                </a:solidFill>
                <a:latin typeface="Quattrocento Sans" pitchFamily="34" charset="0"/>
                <a:ea typeface="Quattrocento Sans" pitchFamily="34" charset="-122"/>
                <a:cs typeface="Quattrocento Sans" pitchFamily="34" charset="-120"/>
              </a:rPr>
              <a:t> — email sender policy</a:t>
            </a:r>
            <a:endParaRPr lang="en-US" sz="1600" dirty="0"/>
          </a:p>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DKIM</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email authentication</a:t>
            </a:r>
            <a:endParaRPr lang="en-US" sz="1600" dirty="0"/>
          </a:p>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a:t>
            </a:r>
            <a:pPr>
              <a:lnSpc>
                <a:spcPct val="160000"/>
              </a:lnSpc>
            </a:pPr>
            <a:r>
              <a:rPr lang="en-US" sz="1500" dirty="0">
                <a:solidFill>
                  <a:srgbClr val="C9893B"/>
                </a:solidFill>
                <a:latin typeface="Quattrocento Sans" pitchFamily="34" charset="0"/>
                <a:ea typeface="Quattrocento Sans" pitchFamily="34" charset="-122"/>
                <a:cs typeface="Quattrocento Sans" pitchFamily="34" charset="-120"/>
              </a:rPr>
              <a:t>DMARC</a:t>
            </a:r>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 email security</a:t>
            </a:r>
            <a:endParaRPr lang="en-US" sz="1600" dirty="0"/>
          </a:p>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Domain verification</a:t>
            </a:r>
            <a:endParaRPr lang="en-US" sz="1600" dirty="0"/>
          </a:p>
        </p:txBody>
      </p:sp>
      <p:sp>
        <p:nvSpPr>
          <p:cNvPr id="15" name="Shape 13"/>
          <p:cNvSpPr/>
          <p:nvPr/>
        </p:nvSpPr>
        <p:spPr>
          <a:xfrm>
            <a:off x="10795000" y="1587500"/>
            <a:ext cx="4699000" cy="3429000"/>
          </a:xfrm>
          <a:prstGeom prst="rect">
            <a:avLst/>
          </a:prstGeom>
          <a:solidFill>
            <a:srgbClr val="E8E4DE"/>
          </a:solidFill>
          <a:ln/>
        </p:spPr>
      </p:sp>
      <p:sp>
        <p:nvSpPr>
          <p:cNvPr id="16" name="Shape 14"/>
          <p:cNvSpPr/>
          <p:nvPr/>
        </p:nvSpPr>
        <p:spPr>
          <a:xfrm>
            <a:off x="10795000" y="1587500"/>
            <a:ext cx="4699000" cy="76200"/>
          </a:xfrm>
          <a:prstGeom prst="rect">
            <a:avLst/>
          </a:prstGeom>
          <a:solidFill>
            <a:srgbClr val="4A5D70"/>
          </a:solidFill>
          <a:ln/>
        </p:spPr>
      </p:sp>
      <p:sp>
        <p:nvSpPr>
          <p:cNvPr id="17" name="Shape 15"/>
          <p:cNvSpPr/>
          <p:nvPr/>
        </p:nvSpPr>
        <p:spPr>
          <a:xfrm>
            <a:off x="11049000" y="1879600"/>
            <a:ext cx="406400" cy="406400"/>
          </a:xfrm>
          <a:custGeom>
            <a:avLst/>
            <a:gdLst/>
            <a:ahLst/>
            <a:cxnLst/>
            <a:rect l="l" t="t" r="r" b="b"/>
            <a:pathLst>
              <a:path w="406400" h="406400">
                <a:moveTo>
                  <a:pt x="203200" y="406400"/>
                </a:moveTo>
                <a:cubicBezTo>
                  <a:pt x="315349" y="406400"/>
                  <a:pt x="406400" y="315349"/>
                  <a:pt x="406400" y="203200"/>
                </a:cubicBezTo>
                <a:cubicBezTo>
                  <a:pt x="406400" y="91051"/>
                  <a:pt x="315349" y="0"/>
                  <a:pt x="203200" y="0"/>
                </a:cubicBezTo>
                <a:cubicBezTo>
                  <a:pt x="91051" y="0"/>
                  <a:pt x="0" y="91051"/>
                  <a:pt x="0" y="203200"/>
                </a:cubicBezTo>
                <a:cubicBezTo>
                  <a:pt x="0" y="315349"/>
                  <a:pt x="91051" y="406400"/>
                  <a:pt x="203200" y="406400"/>
                </a:cubicBezTo>
                <a:close/>
                <a:moveTo>
                  <a:pt x="177800" y="127000"/>
                </a:moveTo>
                <a:cubicBezTo>
                  <a:pt x="177800" y="112981"/>
                  <a:pt x="189181" y="101600"/>
                  <a:pt x="203200" y="101600"/>
                </a:cubicBezTo>
                <a:cubicBezTo>
                  <a:pt x="217219" y="101600"/>
                  <a:pt x="228600" y="112981"/>
                  <a:pt x="228600" y="127000"/>
                </a:cubicBezTo>
                <a:cubicBezTo>
                  <a:pt x="228600" y="141019"/>
                  <a:pt x="217219" y="152400"/>
                  <a:pt x="203200" y="152400"/>
                </a:cubicBezTo>
                <a:cubicBezTo>
                  <a:pt x="189181" y="152400"/>
                  <a:pt x="177800" y="141019"/>
                  <a:pt x="177800" y="127000"/>
                </a:cubicBezTo>
                <a:close/>
                <a:moveTo>
                  <a:pt x="171450" y="177800"/>
                </a:moveTo>
                <a:lnTo>
                  <a:pt x="209550" y="177800"/>
                </a:lnTo>
                <a:cubicBezTo>
                  <a:pt x="220107" y="177800"/>
                  <a:pt x="228600" y="186293"/>
                  <a:pt x="228600" y="196850"/>
                </a:cubicBezTo>
                <a:lnTo>
                  <a:pt x="228600" y="266700"/>
                </a:lnTo>
                <a:lnTo>
                  <a:pt x="234950" y="266700"/>
                </a:lnTo>
                <a:cubicBezTo>
                  <a:pt x="245507" y="266700"/>
                  <a:pt x="254000" y="275193"/>
                  <a:pt x="254000" y="285750"/>
                </a:cubicBezTo>
                <a:cubicBezTo>
                  <a:pt x="254000" y="296307"/>
                  <a:pt x="245507" y="304800"/>
                  <a:pt x="234950" y="304800"/>
                </a:cubicBezTo>
                <a:lnTo>
                  <a:pt x="171450" y="304800"/>
                </a:lnTo>
                <a:cubicBezTo>
                  <a:pt x="160893" y="304800"/>
                  <a:pt x="152400" y="296307"/>
                  <a:pt x="152400" y="285750"/>
                </a:cubicBezTo>
                <a:cubicBezTo>
                  <a:pt x="152400" y="275193"/>
                  <a:pt x="160893" y="266700"/>
                  <a:pt x="171450" y="266700"/>
                </a:cubicBezTo>
                <a:lnTo>
                  <a:pt x="190500" y="266700"/>
                </a:lnTo>
                <a:lnTo>
                  <a:pt x="190500" y="215900"/>
                </a:lnTo>
                <a:lnTo>
                  <a:pt x="171450" y="215900"/>
                </a:lnTo>
                <a:cubicBezTo>
                  <a:pt x="160893" y="215900"/>
                  <a:pt x="152400" y="207407"/>
                  <a:pt x="152400" y="196850"/>
                </a:cubicBezTo>
                <a:cubicBezTo>
                  <a:pt x="152400" y="186293"/>
                  <a:pt x="160893" y="177800"/>
                  <a:pt x="171450" y="177800"/>
                </a:cubicBezTo>
                <a:close/>
              </a:path>
            </a:pathLst>
          </a:custGeom>
          <a:solidFill>
            <a:srgbClr val="4A5D70"/>
          </a:solidFill>
          <a:ln/>
        </p:spPr>
      </p:sp>
      <p:sp>
        <p:nvSpPr>
          <p:cNvPr id="18" name="Text 16"/>
          <p:cNvSpPr/>
          <p:nvPr/>
        </p:nvSpPr>
        <p:spPr>
          <a:xfrm>
            <a:off x="11582400" y="1866900"/>
            <a:ext cx="3657600" cy="457200"/>
          </a:xfrm>
          <a:prstGeom prst="rect">
            <a:avLst/>
          </a:prstGeom>
          <a:noFill/>
          <a:ln/>
        </p:spPr>
        <p:txBody>
          <a:bodyPr wrap="none" lIns="0" tIns="0" rIns="0" bIns="0" rtlCol="0" anchor="ctr"/>
          <a:lstStyle/>
          <a:p>
            <a:pPr>
              <a:lnSpc>
                <a:spcPct val="140000"/>
              </a:lnSpc>
            </a:pPr>
            <a:r>
              <a:rPr lang="en-US" sz="1800" b="1" dirty="0">
                <a:solidFill>
                  <a:srgbClr val="2D3E50"/>
                </a:solidFill>
                <a:latin typeface="Liter" pitchFamily="34" charset="0"/>
                <a:ea typeface="Liter" pitchFamily="34" charset="-122"/>
                <a:cs typeface="Liter" pitchFamily="34" charset="-120"/>
              </a:rPr>
              <a:t>SOA Record</a:t>
            </a:r>
            <a:endParaRPr lang="en-US" sz="2000" dirty="0"/>
          </a:p>
        </p:txBody>
      </p:sp>
      <p:sp>
        <p:nvSpPr>
          <p:cNvPr id="19" name="Text 17"/>
          <p:cNvSpPr/>
          <p:nvPr/>
        </p:nvSpPr>
        <p:spPr>
          <a:xfrm>
            <a:off x="11049000" y="2413000"/>
            <a:ext cx="4191000" cy="2413000"/>
          </a:xfrm>
          <a:prstGeom prst="rect">
            <a:avLst/>
          </a:prstGeom>
          <a:noFill/>
          <a:ln/>
        </p:spPr>
        <p:txBody>
          <a:bodyPr wrap="square" lIns="0" tIns="0" rIns="0" bIns="0" rtlCol="0" anchor="ctr"/>
          <a:lstStyle/>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Start of Authority — contains admin info about a DNS zone:</a:t>
            </a:r>
            <a:endParaRPr lang="en-US" sz="1600" dirty="0"/>
          </a:p>
          <a:p>
            <a:pPr>
              <a:lnSpc>
                <a:spcPct val="160000"/>
              </a:lnSpc>
              <a:spcBef>
                <a:spcPts val="400"/>
              </a:spcBef>
            </a:pPr>
            <a:r>
              <a:rPr lang="en-US" sz="1500" dirty="0">
                <a:solidFill>
                  <a:srgbClr val="1E2328"/>
                </a:solidFill>
                <a:latin typeface="Quattrocento Sans" pitchFamily="34" charset="0"/>
                <a:ea typeface="Quattrocento Sans" pitchFamily="34" charset="-122"/>
                <a:cs typeface="Quattrocento Sans" pitchFamily="34" charset="-120"/>
              </a:rPr>
              <a:t>• Serial number</a:t>
            </a:r>
            <a:endParaRPr lang="en-US" sz="1600" dirty="0"/>
          </a:p>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Primary nameserver</a:t>
            </a:r>
            <a:endParaRPr lang="en-US" sz="1600" dirty="0"/>
          </a:p>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Admin email</a:t>
            </a:r>
            <a:endParaRPr lang="en-US" sz="1600" dirty="0"/>
          </a:p>
          <a:p>
            <a:pPr>
              <a:lnSpc>
                <a:spcPct val="160000"/>
              </a:lnSpc>
            </a:pPr>
            <a:r>
              <a:rPr lang="en-US" sz="1500" dirty="0">
                <a:solidFill>
                  <a:srgbClr val="1E2328"/>
                </a:solidFill>
                <a:latin typeface="Quattrocento Sans" pitchFamily="34" charset="0"/>
                <a:ea typeface="Quattrocento Sans" pitchFamily="34" charset="-122"/>
                <a:cs typeface="Quattrocento Sans" pitchFamily="34" charset="-120"/>
              </a:rPr>
              <a:t>• Refresh/retry rates &amp; TTL</a:t>
            </a:r>
            <a:endParaRPr lang="en-US" sz="1600" dirty="0"/>
          </a:p>
        </p:txBody>
      </p:sp>
      <p:sp>
        <p:nvSpPr>
          <p:cNvPr id="20" name="Shape 18"/>
          <p:cNvSpPr/>
          <p:nvPr/>
        </p:nvSpPr>
        <p:spPr>
          <a:xfrm>
            <a:off x="762000" y="5334000"/>
            <a:ext cx="14732000" cy="2667000"/>
          </a:xfrm>
          <a:prstGeom prst="rect">
            <a:avLst/>
          </a:prstGeom>
          <a:solidFill>
            <a:srgbClr val="2D3E50"/>
          </a:solidFill>
          <a:ln/>
        </p:spPr>
      </p:sp>
      <p:sp>
        <p:nvSpPr>
          <p:cNvPr id="21" name="Text 19"/>
          <p:cNvSpPr/>
          <p:nvPr/>
        </p:nvSpPr>
        <p:spPr>
          <a:xfrm>
            <a:off x="1066800" y="5511800"/>
            <a:ext cx="5080000" cy="330200"/>
          </a:xfrm>
          <a:prstGeom prst="rect">
            <a:avLst/>
          </a:prstGeom>
          <a:noFill/>
          <a:ln/>
        </p:spPr>
        <p:txBody>
          <a:bodyPr wrap="none" lIns="0" tIns="0" rIns="0" bIns="0" rtlCol="0" anchor="ctr"/>
          <a:lstStyle/>
          <a:p>
            <a:pPr>
              <a:lnSpc>
                <a:spcPct val="100000"/>
              </a:lnSpc>
            </a:pPr>
            <a:r>
              <a:rPr lang="en-US" sz="1600" b="1" spc="200" kern="0" dirty="0">
                <a:solidFill>
                  <a:srgbClr val="C9893B"/>
                </a:solidFill>
                <a:latin typeface="Liter" pitchFamily="34" charset="0"/>
                <a:ea typeface="Liter" pitchFamily="34" charset="-122"/>
                <a:cs typeface="Liter" pitchFamily="34" charset="-120"/>
              </a:rPr>
              <a:t>HOW THEY WORK TOGETHER</a:t>
            </a:r>
            <a:endParaRPr lang="en-US" sz="1600" dirty="0"/>
          </a:p>
        </p:txBody>
      </p:sp>
      <p:sp>
        <p:nvSpPr>
          <p:cNvPr id="22" name="Text 20"/>
          <p:cNvSpPr/>
          <p:nvPr/>
        </p:nvSpPr>
        <p:spPr>
          <a:xfrm>
            <a:off x="1066800" y="5969000"/>
            <a:ext cx="14122400" cy="1841500"/>
          </a:xfrm>
          <a:prstGeom prst="rect">
            <a:avLst/>
          </a:prstGeom>
          <a:noFill/>
          <a:ln/>
        </p:spPr>
        <p:txBody>
          <a:bodyPr wrap="square" lIns="0" tIns="0" rIns="0" bIns="0" rtlCol="0" anchor="ctr"/>
          <a:lstStyle/>
          <a:p>
            <a:pPr>
              <a:lnSpc>
                <a:spcPct val="160000"/>
              </a:lnSpc>
            </a:pPr>
            <a:r>
              <a:rPr lang="en-US" sz="1500" b="1" dirty="0">
                <a:solidFill>
                  <a:srgbClr val="FFFFFF"/>
                </a:solidFill>
                <a:latin typeface="Quattrocento Sans" pitchFamily="34" charset="0"/>
                <a:ea typeface="Quattrocento Sans" pitchFamily="34" charset="-122"/>
                <a:cs typeface="Quattrocento Sans" pitchFamily="34" charset="-120"/>
              </a:rPr>
              <a:t>NS records</a:t>
            </a:r>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first point to the authoritative nameservers for a domain. The </a:t>
            </a:r>
            <a:pPr>
              <a:lnSpc>
                <a:spcPct val="160000"/>
              </a:lnSpc>
            </a:pPr>
            <a:r>
              <a:rPr lang="en-US" sz="1500" b="1" dirty="0">
                <a:solidFill>
                  <a:srgbClr val="FFFFFF"/>
                </a:solidFill>
                <a:latin typeface="Quattrocento Sans" pitchFamily="34" charset="0"/>
                <a:ea typeface="Quattrocento Sans" pitchFamily="34" charset="-122"/>
                <a:cs typeface="Quattrocento Sans" pitchFamily="34" charset="-120"/>
              </a:rPr>
              <a:t>A or AAAA record</a:t>
            </a:r>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then resolves the domain to an IP address. If a subdomain or third-party service is used, a </a:t>
            </a:r>
            <a:pPr>
              <a:lnSpc>
                <a:spcPct val="160000"/>
              </a:lnSpc>
            </a:pPr>
            <a:r>
              <a:rPr lang="en-US" sz="1500" b="1" dirty="0">
                <a:solidFill>
                  <a:srgbClr val="FFFFFF"/>
                </a:solidFill>
                <a:latin typeface="Quattrocento Sans" pitchFamily="34" charset="0"/>
                <a:ea typeface="Quattrocento Sans" pitchFamily="34" charset="-122"/>
                <a:cs typeface="Quattrocento Sans" pitchFamily="34" charset="-120"/>
              </a:rPr>
              <a:t>CNAME</a:t>
            </a:r>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may direct the request to another hostname.</a:t>
            </a:r>
            <a:endParaRPr lang="en-US" sz="1600" dirty="0"/>
          </a:p>
          <a:p>
            <a:pPr>
              <a:lnSpc>
                <a:spcPct val="160000"/>
              </a:lnSpc>
              <a:spcBef>
                <a:spcPts val="600"/>
              </a:spcBef>
            </a:pPr>
            <a:r>
              <a:rPr lang="en-US" sz="1500" b="1" dirty="0">
                <a:solidFill>
                  <a:srgbClr val="FFFFFF"/>
                </a:solidFill>
                <a:latin typeface="Quattrocento Sans" pitchFamily="34" charset="0"/>
                <a:ea typeface="Quattrocento Sans" pitchFamily="34" charset="-122"/>
                <a:cs typeface="Quattrocento Sans" pitchFamily="34" charset="-120"/>
              </a:rPr>
              <a:t>MX records</a:t>
            </a:r>
            <a:pPr>
              <a:lnSpc>
                <a:spcPct val="160000"/>
              </a:lnSpc>
              <a:spcBef>
                <a:spcPts val="600"/>
              </a:spcBef>
            </a:pPr>
            <a:r>
              <a:rPr lang="en-US" sz="1500" dirty="0">
                <a:solidFill>
                  <a:srgbClr val="FFFFFF"/>
                </a:solidFill>
                <a:latin typeface="Quattrocento Sans" pitchFamily="34" charset="0"/>
                <a:ea typeface="Quattrocento Sans" pitchFamily="34" charset="-122"/>
                <a:cs typeface="Quattrocento Sans" pitchFamily="34" charset="-120"/>
              </a:rPr>
              <a:t> define which mail servers receive incoming messages, while </a:t>
            </a:r>
            <a:pPr>
              <a:lnSpc>
                <a:spcPct val="160000"/>
              </a:lnSpc>
              <a:spcBef>
                <a:spcPts val="600"/>
              </a:spcBef>
            </a:pPr>
            <a:r>
              <a:rPr lang="en-US" sz="1500" b="1" dirty="0">
                <a:solidFill>
                  <a:srgbClr val="FFFFFF"/>
                </a:solidFill>
                <a:latin typeface="Quattrocento Sans" pitchFamily="34" charset="0"/>
                <a:ea typeface="Quattrocento Sans" pitchFamily="34" charset="-122"/>
                <a:cs typeface="Quattrocento Sans" pitchFamily="34" charset="-120"/>
              </a:rPr>
              <a:t>SPF, DKIM, and DMARC</a:t>
            </a:r>
            <a:pPr>
              <a:lnSpc>
                <a:spcPct val="160000"/>
              </a:lnSpc>
              <a:spcBef>
                <a:spcPts val="600"/>
              </a:spcBef>
            </a:pPr>
            <a:r>
              <a:rPr lang="en-US" sz="1500" dirty="0">
                <a:solidFill>
                  <a:srgbClr val="FFFFFF"/>
                </a:solidFill>
                <a:latin typeface="Quattrocento Sans" pitchFamily="34" charset="0"/>
                <a:ea typeface="Quattrocento Sans" pitchFamily="34" charset="-122"/>
                <a:cs typeface="Quattrocento Sans" pitchFamily="34" charset="-120"/>
              </a:rPr>
              <a:t> records (stored as TXT records) authenticate outgoing mail and protect against spoofing and phishing.</a:t>
            </a:r>
            <a:endParaRPr lang="en-US" sz="1600" dirty="0"/>
          </a:p>
        </p:txBody>
      </p:sp>
      <p:sp>
        <p:nvSpPr>
          <p:cNvPr id="23" name="Shape 21"/>
          <p:cNvSpPr/>
          <p:nvPr/>
        </p:nvSpPr>
        <p:spPr>
          <a:xfrm>
            <a:off x="762000" y="8382000"/>
            <a:ext cx="14732000" cy="25400"/>
          </a:xfrm>
          <a:prstGeom prst="rect">
            <a:avLst/>
          </a:prstGeom>
          <a:solidFill>
            <a:srgbClr val="C9893B"/>
          </a:solidFill>
          <a:ln/>
        </p:spPr>
      </p:sp>
      <p:sp>
        <p:nvSpPr>
          <p:cNvPr id="24" name="Text 22"/>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19</a:t>
            </a:r>
            <a:endParaRPr lang="en-US" sz="14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DNS Server Types Overview</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498600"/>
            <a:ext cx="14732000" cy="6350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The DNS infrastructure relies on different types of servers working together. Each plays a distinct role in the resolution process.</a:t>
            </a:r>
            <a:endParaRPr lang="en-US" sz="1800" dirty="0"/>
          </a:p>
        </p:txBody>
      </p:sp>
      <p:sp>
        <p:nvSpPr>
          <p:cNvPr id="6" name="Shape 4"/>
          <p:cNvSpPr/>
          <p:nvPr/>
        </p:nvSpPr>
        <p:spPr>
          <a:xfrm>
            <a:off x="762000" y="2349500"/>
            <a:ext cx="7112000" cy="1460500"/>
          </a:xfrm>
          <a:prstGeom prst="rect">
            <a:avLst/>
          </a:prstGeom>
          <a:solidFill>
            <a:srgbClr val="E8E4DE"/>
          </a:solidFill>
          <a:ln/>
        </p:spPr>
      </p:sp>
      <p:sp>
        <p:nvSpPr>
          <p:cNvPr id="7" name="Shape 5"/>
          <p:cNvSpPr/>
          <p:nvPr/>
        </p:nvSpPr>
        <p:spPr>
          <a:xfrm>
            <a:off x="762000" y="2349500"/>
            <a:ext cx="76200" cy="1460500"/>
          </a:xfrm>
          <a:prstGeom prst="rect">
            <a:avLst/>
          </a:prstGeom>
          <a:solidFill>
            <a:srgbClr val="C9893B"/>
          </a:solidFill>
          <a:ln/>
        </p:spPr>
      </p:sp>
      <p:sp>
        <p:nvSpPr>
          <p:cNvPr id="8" name="Shape 6"/>
          <p:cNvSpPr/>
          <p:nvPr/>
        </p:nvSpPr>
        <p:spPr>
          <a:xfrm>
            <a:off x="1066800" y="2603500"/>
            <a:ext cx="457200" cy="457200"/>
          </a:xfrm>
          <a:custGeom>
            <a:avLst/>
            <a:gdLst/>
            <a:ahLst/>
            <a:cxnLst/>
            <a:rect l="l" t="t" r="r" b="b"/>
            <a:pathLst>
              <a:path w="457200" h="457200">
                <a:moveTo>
                  <a:pt x="58847" y="204043"/>
                </a:moveTo>
                <a:cubicBezTo>
                  <a:pt x="70723" y="120997"/>
                  <a:pt x="142250" y="57150"/>
                  <a:pt x="228600" y="57150"/>
                </a:cubicBezTo>
                <a:cubicBezTo>
                  <a:pt x="275927" y="57150"/>
                  <a:pt x="318790" y="76349"/>
                  <a:pt x="349865" y="107335"/>
                </a:cubicBezTo>
                <a:cubicBezTo>
                  <a:pt x="350044" y="107513"/>
                  <a:pt x="350222" y="107692"/>
                  <a:pt x="350401" y="107871"/>
                </a:cubicBezTo>
                <a:lnTo>
                  <a:pt x="357188" y="114300"/>
                </a:lnTo>
                <a:lnTo>
                  <a:pt x="314414" y="114300"/>
                </a:lnTo>
                <a:cubicBezTo>
                  <a:pt x="298609" y="114300"/>
                  <a:pt x="285839" y="127069"/>
                  <a:pt x="285839" y="142875"/>
                </a:cubicBezTo>
                <a:cubicBezTo>
                  <a:pt x="285839" y="158681"/>
                  <a:pt x="298609" y="171450"/>
                  <a:pt x="314414" y="171450"/>
                </a:cubicBezTo>
                <a:lnTo>
                  <a:pt x="428714" y="171450"/>
                </a:lnTo>
                <a:cubicBezTo>
                  <a:pt x="444520" y="171450"/>
                  <a:pt x="457289" y="158681"/>
                  <a:pt x="457289" y="142875"/>
                </a:cubicBezTo>
                <a:lnTo>
                  <a:pt x="457289" y="28575"/>
                </a:lnTo>
                <a:cubicBezTo>
                  <a:pt x="457289" y="12769"/>
                  <a:pt x="444520" y="0"/>
                  <a:pt x="428714" y="0"/>
                </a:cubicBezTo>
                <a:cubicBezTo>
                  <a:pt x="412909" y="0"/>
                  <a:pt x="400139" y="12769"/>
                  <a:pt x="400139" y="28575"/>
                </a:cubicBezTo>
                <a:lnTo>
                  <a:pt x="400139" y="76260"/>
                </a:lnTo>
                <a:lnTo>
                  <a:pt x="390049" y="66705"/>
                </a:lnTo>
                <a:cubicBezTo>
                  <a:pt x="348704" y="25539"/>
                  <a:pt x="291554" y="0"/>
                  <a:pt x="228600" y="0"/>
                </a:cubicBezTo>
                <a:cubicBezTo>
                  <a:pt x="113407" y="0"/>
                  <a:pt x="18127" y="85189"/>
                  <a:pt x="2322" y="196007"/>
                </a:cubicBezTo>
                <a:cubicBezTo>
                  <a:pt x="89" y="211634"/>
                  <a:pt x="10894" y="226100"/>
                  <a:pt x="26521" y="228332"/>
                </a:cubicBezTo>
                <a:cubicBezTo>
                  <a:pt x="42148" y="230565"/>
                  <a:pt x="56614" y="219670"/>
                  <a:pt x="58847" y="204133"/>
                </a:cubicBezTo>
                <a:close/>
                <a:moveTo>
                  <a:pt x="454878" y="261193"/>
                </a:moveTo>
                <a:cubicBezTo>
                  <a:pt x="457111" y="245566"/>
                  <a:pt x="446216" y="231100"/>
                  <a:pt x="430679" y="228868"/>
                </a:cubicBezTo>
                <a:cubicBezTo>
                  <a:pt x="415141" y="226635"/>
                  <a:pt x="400586" y="237530"/>
                  <a:pt x="398353" y="253067"/>
                </a:cubicBezTo>
                <a:cubicBezTo>
                  <a:pt x="386477" y="336113"/>
                  <a:pt x="314950" y="399961"/>
                  <a:pt x="228600" y="399961"/>
                </a:cubicBezTo>
                <a:cubicBezTo>
                  <a:pt x="181273" y="399961"/>
                  <a:pt x="138410" y="380762"/>
                  <a:pt x="107335" y="349776"/>
                </a:cubicBezTo>
                <a:cubicBezTo>
                  <a:pt x="107156" y="349597"/>
                  <a:pt x="106978" y="349419"/>
                  <a:pt x="106799" y="349240"/>
                </a:cubicBezTo>
                <a:lnTo>
                  <a:pt x="100012" y="342811"/>
                </a:lnTo>
                <a:lnTo>
                  <a:pt x="142786" y="342811"/>
                </a:lnTo>
                <a:cubicBezTo>
                  <a:pt x="158591" y="342811"/>
                  <a:pt x="171361" y="330041"/>
                  <a:pt x="171361" y="314236"/>
                </a:cubicBezTo>
                <a:cubicBezTo>
                  <a:pt x="171361" y="298430"/>
                  <a:pt x="158591" y="285661"/>
                  <a:pt x="142786" y="285661"/>
                </a:cubicBezTo>
                <a:lnTo>
                  <a:pt x="28575" y="285750"/>
                </a:lnTo>
                <a:cubicBezTo>
                  <a:pt x="20985" y="285750"/>
                  <a:pt x="13662" y="288786"/>
                  <a:pt x="8305" y="294233"/>
                </a:cubicBezTo>
                <a:cubicBezTo>
                  <a:pt x="2947" y="299680"/>
                  <a:pt x="-89" y="306913"/>
                  <a:pt x="0" y="314593"/>
                </a:cubicBezTo>
                <a:lnTo>
                  <a:pt x="893" y="428000"/>
                </a:lnTo>
                <a:cubicBezTo>
                  <a:pt x="982" y="443805"/>
                  <a:pt x="13930" y="456486"/>
                  <a:pt x="29736" y="456307"/>
                </a:cubicBezTo>
                <a:cubicBezTo>
                  <a:pt x="45541" y="456128"/>
                  <a:pt x="58222" y="443270"/>
                  <a:pt x="58043" y="427464"/>
                </a:cubicBezTo>
                <a:lnTo>
                  <a:pt x="57686" y="381476"/>
                </a:lnTo>
                <a:lnTo>
                  <a:pt x="67241" y="390495"/>
                </a:lnTo>
                <a:cubicBezTo>
                  <a:pt x="108585" y="431661"/>
                  <a:pt x="165646" y="457200"/>
                  <a:pt x="228600" y="457200"/>
                </a:cubicBezTo>
                <a:cubicBezTo>
                  <a:pt x="343793" y="457200"/>
                  <a:pt x="439073" y="372011"/>
                  <a:pt x="454878" y="261193"/>
                </a:cubicBezTo>
                <a:close/>
              </a:path>
            </a:pathLst>
          </a:custGeom>
          <a:solidFill>
            <a:srgbClr val="C9893B"/>
          </a:solidFill>
          <a:ln/>
        </p:spPr>
      </p:sp>
      <p:sp>
        <p:nvSpPr>
          <p:cNvPr id="9" name="Text 7"/>
          <p:cNvSpPr/>
          <p:nvPr/>
        </p:nvSpPr>
        <p:spPr>
          <a:xfrm>
            <a:off x="1701800" y="2603500"/>
            <a:ext cx="5842000" cy="330200"/>
          </a:xfrm>
          <a:prstGeom prst="rect">
            <a:avLst/>
          </a:prstGeom>
          <a:noFill/>
          <a:ln/>
        </p:spPr>
        <p:txBody>
          <a:bodyPr wrap="none" lIns="0" tIns="0" rIns="0" bIns="0" rtlCol="0" anchor="ctr"/>
          <a:lstStyle/>
          <a:p>
            <a:pPr>
              <a:lnSpc>
                <a:spcPct val="100000"/>
              </a:lnSpc>
            </a:pPr>
            <a:r>
              <a:rPr lang="en-US" sz="1800" b="1" dirty="0">
                <a:solidFill>
                  <a:srgbClr val="2D3E50"/>
                </a:solidFill>
                <a:latin typeface="Liter" pitchFamily="34" charset="0"/>
                <a:ea typeface="Liter" pitchFamily="34" charset="-122"/>
                <a:cs typeface="Liter" pitchFamily="34" charset="-120"/>
              </a:rPr>
              <a:t>Recursive DNS Servers (Resolvers)</a:t>
            </a:r>
            <a:endParaRPr lang="en-US" sz="1600" dirty="0"/>
          </a:p>
        </p:txBody>
      </p:sp>
      <p:sp>
        <p:nvSpPr>
          <p:cNvPr id="10" name="Text 8"/>
          <p:cNvSpPr/>
          <p:nvPr/>
        </p:nvSpPr>
        <p:spPr>
          <a:xfrm>
            <a:off x="1701800" y="2946400"/>
            <a:ext cx="5842000" cy="787400"/>
          </a:xfrm>
          <a:prstGeom prst="rect">
            <a:avLst/>
          </a:prstGeom>
          <a:noFill/>
          <a:ln/>
        </p:spPr>
        <p:txBody>
          <a:bodyPr wrap="square" lIns="0" tIns="0" rIns="0" bIns="0" rtlCol="0" anchor="ctr"/>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Act as intermediaries; do the "asking" across the DNS hierarchy on behalf of clients.</a:t>
            </a:r>
            <a:endParaRPr lang="en-US" sz="1600" dirty="0"/>
          </a:p>
        </p:txBody>
      </p:sp>
      <p:sp>
        <p:nvSpPr>
          <p:cNvPr id="11" name="Shape 9"/>
          <p:cNvSpPr/>
          <p:nvPr/>
        </p:nvSpPr>
        <p:spPr>
          <a:xfrm>
            <a:off x="8382000" y="2349500"/>
            <a:ext cx="7112000" cy="1460500"/>
          </a:xfrm>
          <a:prstGeom prst="rect">
            <a:avLst/>
          </a:prstGeom>
          <a:solidFill>
            <a:srgbClr val="E8E4DE"/>
          </a:solidFill>
          <a:ln/>
        </p:spPr>
      </p:sp>
      <p:sp>
        <p:nvSpPr>
          <p:cNvPr id="12" name="Shape 10"/>
          <p:cNvSpPr/>
          <p:nvPr/>
        </p:nvSpPr>
        <p:spPr>
          <a:xfrm>
            <a:off x="8382000" y="2349500"/>
            <a:ext cx="76200" cy="1460500"/>
          </a:xfrm>
          <a:prstGeom prst="rect">
            <a:avLst/>
          </a:prstGeom>
          <a:solidFill>
            <a:srgbClr val="2D3E50"/>
          </a:solidFill>
          <a:ln/>
        </p:spPr>
      </p:sp>
      <p:sp>
        <p:nvSpPr>
          <p:cNvPr id="13" name="Shape 11"/>
          <p:cNvSpPr/>
          <p:nvPr/>
        </p:nvSpPr>
        <p:spPr>
          <a:xfrm>
            <a:off x="8686800" y="26035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2D3E50"/>
          </a:solidFill>
          <a:ln/>
        </p:spPr>
      </p:sp>
      <p:sp>
        <p:nvSpPr>
          <p:cNvPr id="14" name="Text 12"/>
          <p:cNvSpPr/>
          <p:nvPr/>
        </p:nvSpPr>
        <p:spPr>
          <a:xfrm>
            <a:off x="9321800" y="2603500"/>
            <a:ext cx="5842000" cy="330200"/>
          </a:xfrm>
          <a:prstGeom prst="rect">
            <a:avLst/>
          </a:prstGeom>
          <a:noFill/>
          <a:ln/>
        </p:spPr>
        <p:txBody>
          <a:bodyPr wrap="none" lIns="0" tIns="0" rIns="0" bIns="0" rtlCol="0" anchor="ctr"/>
          <a:lstStyle/>
          <a:p>
            <a:pPr>
              <a:lnSpc>
                <a:spcPct val="100000"/>
              </a:lnSpc>
            </a:pPr>
            <a:r>
              <a:rPr lang="en-US" sz="1800" b="1" dirty="0">
                <a:solidFill>
                  <a:srgbClr val="2D3E50"/>
                </a:solidFill>
                <a:latin typeface="Liter" pitchFamily="34" charset="0"/>
                <a:ea typeface="Liter" pitchFamily="34" charset="-122"/>
                <a:cs typeface="Liter" pitchFamily="34" charset="-120"/>
              </a:rPr>
              <a:t>Authoritative DNS Servers</a:t>
            </a:r>
            <a:endParaRPr lang="en-US" sz="1600" dirty="0"/>
          </a:p>
        </p:txBody>
      </p:sp>
      <p:sp>
        <p:nvSpPr>
          <p:cNvPr id="15" name="Text 13"/>
          <p:cNvSpPr/>
          <p:nvPr/>
        </p:nvSpPr>
        <p:spPr>
          <a:xfrm>
            <a:off x="9321800" y="2946400"/>
            <a:ext cx="5842000" cy="787400"/>
          </a:xfrm>
          <a:prstGeom prst="rect">
            <a:avLst/>
          </a:prstGeom>
          <a:noFill/>
          <a:ln/>
        </p:spPr>
        <p:txBody>
          <a:bodyPr wrap="square" lIns="0" tIns="0" rIns="0" bIns="0" rtlCol="0" anchor="ctr"/>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Hold the definitive records for domains; provide the "answers" to queries.</a:t>
            </a:r>
            <a:endParaRPr lang="en-US" sz="1600" dirty="0"/>
          </a:p>
        </p:txBody>
      </p:sp>
      <p:sp>
        <p:nvSpPr>
          <p:cNvPr id="16" name="Shape 14"/>
          <p:cNvSpPr/>
          <p:nvPr/>
        </p:nvSpPr>
        <p:spPr>
          <a:xfrm>
            <a:off x="762000" y="4064000"/>
            <a:ext cx="7112000" cy="1460500"/>
          </a:xfrm>
          <a:prstGeom prst="rect">
            <a:avLst/>
          </a:prstGeom>
          <a:solidFill>
            <a:srgbClr val="E8E4DE"/>
          </a:solidFill>
          <a:ln/>
        </p:spPr>
      </p:sp>
      <p:sp>
        <p:nvSpPr>
          <p:cNvPr id="17" name="Shape 15"/>
          <p:cNvSpPr/>
          <p:nvPr/>
        </p:nvSpPr>
        <p:spPr>
          <a:xfrm>
            <a:off x="762000" y="4064000"/>
            <a:ext cx="76200" cy="1460500"/>
          </a:xfrm>
          <a:prstGeom prst="rect">
            <a:avLst/>
          </a:prstGeom>
          <a:solidFill>
            <a:srgbClr val="4A5D70"/>
          </a:solidFill>
          <a:ln/>
        </p:spPr>
      </p:sp>
      <p:sp>
        <p:nvSpPr>
          <p:cNvPr id="18" name="Shape 16"/>
          <p:cNvSpPr/>
          <p:nvPr/>
        </p:nvSpPr>
        <p:spPr>
          <a:xfrm>
            <a:off x="1066800" y="4318000"/>
            <a:ext cx="457200" cy="457200"/>
          </a:xfrm>
          <a:custGeom>
            <a:avLst/>
            <a:gdLst/>
            <a:ahLst/>
            <a:cxnLst/>
            <a:rect l="l" t="t" r="r" b="b"/>
            <a:pathLst>
              <a:path w="457200" h="457200">
                <a:moveTo>
                  <a:pt x="171450" y="57150"/>
                </a:moveTo>
                <a:cubicBezTo>
                  <a:pt x="171450" y="41344"/>
                  <a:pt x="184219" y="28575"/>
                  <a:pt x="200025" y="28575"/>
                </a:cubicBezTo>
                <a:lnTo>
                  <a:pt x="257175" y="28575"/>
                </a:lnTo>
                <a:cubicBezTo>
                  <a:pt x="272981" y="28575"/>
                  <a:pt x="285750" y="41344"/>
                  <a:pt x="285750" y="57150"/>
                </a:cubicBezTo>
                <a:lnTo>
                  <a:pt x="285750" y="114300"/>
                </a:lnTo>
                <a:cubicBezTo>
                  <a:pt x="285750" y="130106"/>
                  <a:pt x="272981" y="142875"/>
                  <a:pt x="257175" y="142875"/>
                </a:cubicBezTo>
                <a:lnTo>
                  <a:pt x="250031" y="142875"/>
                </a:lnTo>
                <a:lnTo>
                  <a:pt x="250031" y="200025"/>
                </a:lnTo>
                <a:lnTo>
                  <a:pt x="357188" y="200025"/>
                </a:lnTo>
                <a:cubicBezTo>
                  <a:pt x="392728" y="200025"/>
                  <a:pt x="421481" y="228779"/>
                  <a:pt x="421481" y="264319"/>
                </a:cubicBezTo>
                <a:lnTo>
                  <a:pt x="421481" y="314325"/>
                </a:lnTo>
                <a:lnTo>
                  <a:pt x="428625" y="314325"/>
                </a:lnTo>
                <a:cubicBezTo>
                  <a:pt x="444431" y="314325"/>
                  <a:pt x="457200" y="327094"/>
                  <a:pt x="457200" y="342900"/>
                </a:cubicBezTo>
                <a:lnTo>
                  <a:pt x="457200" y="400050"/>
                </a:lnTo>
                <a:cubicBezTo>
                  <a:pt x="457200" y="415856"/>
                  <a:pt x="444431" y="428625"/>
                  <a:pt x="428625" y="428625"/>
                </a:cubicBezTo>
                <a:lnTo>
                  <a:pt x="371475" y="428625"/>
                </a:lnTo>
                <a:cubicBezTo>
                  <a:pt x="355669" y="428625"/>
                  <a:pt x="342900" y="415856"/>
                  <a:pt x="342900" y="400050"/>
                </a:cubicBezTo>
                <a:lnTo>
                  <a:pt x="342900" y="342900"/>
                </a:lnTo>
                <a:cubicBezTo>
                  <a:pt x="342900" y="327094"/>
                  <a:pt x="355669" y="314325"/>
                  <a:pt x="371475" y="314325"/>
                </a:cubicBezTo>
                <a:lnTo>
                  <a:pt x="378619" y="314325"/>
                </a:lnTo>
                <a:lnTo>
                  <a:pt x="378619" y="264319"/>
                </a:lnTo>
                <a:cubicBezTo>
                  <a:pt x="378619" y="252442"/>
                  <a:pt x="369064" y="242888"/>
                  <a:pt x="357188" y="242888"/>
                </a:cubicBezTo>
                <a:lnTo>
                  <a:pt x="250031" y="242888"/>
                </a:lnTo>
                <a:lnTo>
                  <a:pt x="250031" y="314325"/>
                </a:lnTo>
                <a:lnTo>
                  <a:pt x="257175" y="314325"/>
                </a:lnTo>
                <a:cubicBezTo>
                  <a:pt x="272981" y="314325"/>
                  <a:pt x="285750" y="327094"/>
                  <a:pt x="285750" y="342900"/>
                </a:cubicBezTo>
                <a:lnTo>
                  <a:pt x="285750" y="400050"/>
                </a:lnTo>
                <a:cubicBezTo>
                  <a:pt x="285750" y="415856"/>
                  <a:pt x="272981" y="428625"/>
                  <a:pt x="257175" y="428625"/>
                </a:cubicBezTo>
                <a:lnTo>
                  <a:pt x="200025" y="428625"/>
                </a:lnTo>
                <a:cubicBezTo>
                  <a:pt x="184219" y="428625"/>
                  <a:pt x="171450" y="415856"/>
                  <a:pt x="171450" y="400050"/>
                </a:cubicBezTo>
                <a:lnTo>
                  <a:pt x="171450" y="342900"/>
                </a:lnTo>
                <a:cubicBezTo>
                  <a:pt x="171450" y="327094"/>
                  <a:pt x="184219" y="314325"/>
                  <a:pt x="200025" y="314325"/>
                </a:cubicBezTo>
                <a:lnTo>
                  <a:pt x="207169" y="314325"/>
                </a:lnTo>
                <a:lnTo>
                  <a:pt x="207169" y="242888"/>
                </a:lnTo>
                <a:lnTo>
                  <a:pt x="100013" y="242888"/>
                </a:lnTo>
                <a:cubicBezTo>
                  <a:pt x="88136" y="242888"/>
                  <a:pt x="78581" y="252442"/>
                  <a:pt x="78581" y="264319"/>
                </a:cubicBezTo>
                <a:lnTo>
                  <a:pt x="78581" y="314325"/>
                </a:lnTo>
                <a:lnTo>
                  <a:pt x="85725" y="314325"/>
                </a:lnTo>
                <a:cubicBezTo>
                  <a:pt x="101531" y="314325"/>
                  <a:pt x="114300" y="327094"/>
                  <a:pt x="114300" y="342900"/>
                </a:cubicBezTo>
                <a:lnTo>
                  <a:pt x="114300" y="400050"/>
                </a:lnTo>
                <a:cubicBezTo>
                  <a:pt x="114300" y="415856"/>
                  <a:pt x="101531" y="428625"/>
                  <a:pt x="85725" y="428625"/>
                </a:cubicBezTo>
                <a:lnTo>
                  <a:pt x="28575" y="428625"/>
                </a:lnTo>
                <a:cubicBezTo>
                  <a:pt x="12769" y="428625"/>
                  <a:pt x="0" y="415856"/>
                  <a:pt x="0" y="400050"/>
                </a:cubicBezTo>
                <a:lnTo>
                  <a:pt x="0" y="342900"/>
                </a:lnTo>
                <a:cubicBezTo>
                  <a:pt x="0" y="327094"/>
                  <a:pt x="12769" y="314325"/>
                  <a:pt x="28575" y="314325"/>
                </a:cubicBezTo>
                <a:lnTo>
                  <a:pt x="35719" y="314325"/>
                </a:lnTo>
                <a:lnTo>
                  <a:pt x="35719" y="264319"/>
                </a:lnTo>
                <a:cubicBezTo>
                  <a:pt x="35719" y="228779"/>
                  <a:pt x="64472" y="200025"/>
                  <a:pt x="100013" y="200025"/>
                </a:cubicBezTo>
                <a:lnTo>
                  <a:pt x="207169" y="200025"/>
                </a:lnTo>
                <a:lnTo>
                  <a:pt x="207169" y="142875"/>
                </a:lnTo>
                <a:lnTo>
                  <a:pt x="200025" y="142875"/>
                </a:lnTo>
                <a:cubicBezTo>
                  <a:pt x="184219" y="142875"/>
                  <a:pt x="171450" y="130106"/>
                  <a:pt x="171450" y="114300"/>
                </a:cubicBezTo>
                <a:lnTo>
                  <a:pt x="171450" y="57150"/>
                </a:lnTo>
                <a:close/>
              </a:path>
            </a:pathLst>
          </a:custGeom>
          <a:solidFill>
            <a:srgbClr val="4A5D70"/>
          </a:solidFill>
          <a:ln/>
        </p:spPr>
      </p:sp>
      <p:sp>
        <p:nvSpPr>
          <p:cNvPr id="19" name="Text 17"/>
          <p:cNvSpPr/>
          <p:nvPr/>
        </p:nvSpPr>
        <p:spPr>
          <a:xfrm>
            <a:off x="1701800" y="4318000"/>
            <a:ext cx="5842000" cy="330200"/>
          </a:xfrm>
          <a:prstGeom prst="rect">
            <a:avLst/>
          </a:prstGeom>
          <a:noFill/>
          <a:ln/>
        </p:spPr>
        <p:txBody>
          <a:bodyPr wrap="none" lIns="0" tIns="0" rIns="0" bIns="0" rtlCol="0" anchor="ctr"/>
          <a:lstStyle/>
          <a:p>
            <a:pPr>
              <a:lnSpc>
                <a:spcPct val="100000"/>
              </a:lnSpc>
            </a:pPr>
            <a:r>
              <a:rPr lang="en-US" sz="1800" b="1" dirty="0">
                <a:solidFill>
                  <a:srgbClr val="2D3E50"/>
                </a:solidFill>
                <a:latin typeface="Liter" pitchFamily="34" charset="0"/>
                <a:ea typeface="Liter" pitchFamily="34" charset="-122"/>
                <a:cs typeface="Liter" pitchFamily="34" charset="-120"/>
              </a:rPr>
              <a:t>Root Name Servers</a:t>
            </a:r>
            <a:endParaRPr lang="en-US" sz="1600" dirty="0"/>
          </a:p>
        </p:txBody>
      </p:sp>
      <p:sp>
        <p:nvSpPr>
          <p:cNvPr id="20" name="Text 18"/>
          <p:cNvSpPr/>
          <p:nvPr/>
        </p:nvSpPr>
        <p:spPr>
          <a:xfrm>
            <a:off x="1701800" y="4660900"/>
            <a:ext cx="5842000" cy="787400"/>
          </a:xfrm>
          <a:prstGeom prst="rect">
            <a:avLst/>
          </a:prstGeom>
          <a:noFill/>
          <a:ln/>
        </p:spPr>
        <p:txBody>
          <a:bodyPr wrap="square" lIns="0" tIns="0" rIns="0" bIns="0" rtlCol="0" anchor="ctr"/>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Top of hierarchy; 13 logical identities (A-M), hundreds of physical instances worldwide.</a:t>
            </a:r>
            <a:endParaRPr lang="en-US" sz="1600" dirty="0"/>
          </a:p>
        </p:txBody>
      </p:sp>
      <p:sp>
        <p:nvSpPr>
          <p:cNvPr id="21" name="Shape 19"/>
          <p:cNvSpPr/>
          <p:nvPr/>
        </p:nvSpPr>
        <p:spPr>
          <a:xfrm>
            <a:off x="8382000" y="4064000"/>
            <a:ext cx="7112000" cy="1460500"/>
          </a:xfrm>
          <a:prstGeom prst="rect">
            <a:avLst/>
          </a:prstGeom>
          <a:solidFill>
            <a:srgbClr val="E8E4DE"/>
          </a:solidFill>
          <a:ln/>
        </p:spPr>
      </p:sp>
      <p:sp>
        <p:nvSpPr>
          <p:cNvPr id="22" name="Shape 20"/>
          <p:cNvSpPr/>
          <p:nvPr/>
        </p:nvSpPr>
        <p:spPr>
          <a:xfrm>
            <a:off x="8382000" y="4064000"/>
            <a:ext cx="76200" cy="1460500"/>
          </a:xfrm>
          <a:prstGeom prst="rect">
            <a:avLst/>
          </a:prstGeom>
          <a:solidFill>
            <a:srgbClr val="C9893B"/>
          </a:solidFill>
          <a:ln/>
        </p:spPr>
      </p:sp>
      <p:sp>
        <p:nvSpPr>
          <p:cNvPr id="23" name="Shape 21"/>
          <p:cNvSpPr/>
          <p:nvPr/>
        </p:nvSpPr>
        <p:spPr>
          <a:xfrm>
            <a:off x="8686800" y="4318000"/>
            <a:ext cx="457200" cy="457200"/>
          </a:xfrm>
          <a:custGeom>
            <a:avLst/>
            <a:gdLst/>
            <a:ahLst/>
            <a:cxnLst/>
            <a:rect l="l" t="t" r="r" b="b"/>
            <a:pathLst>
              <a:path w="457200" h="457200">
                <a:moveTo>
                  <a:pt x="314236" y="250031"/>
                </a:moveTo>
                <a:lnTo>
                  <a:pt x="143768" y="250031"/>
                </a:lnTo>
                <a:cubicBezTo>
                  <a:pt x="146358" y="307628"/>
                  <a:pt x="159127" y="360670"/>
                  <a:pt x="177254" y="399514"/>
                </a:cubicBezTo>
                <a:cubicBezTo>
                  <a:pt x="187434" y="421392"/>
                  <a:pt x="198418" y="436840"/>
                  <a:pt x="208597" y="446306"/>
                </a:cubicBezTo>
                <a:cubicBezTo>
                  <a:pt x="218599" y="455682"/>
                  <a:pt x="225475" y="457200"/>
                  <a:pt x="229046" y="457200"/>
                </a:cubicBezTo>
                <a:cubicBezTo>
                  <a:pt x="232618" y="457200"/>
                  <a:pt x="239494" y="455682"/>
                  <a:pt x="249495" y="446306"/>
                </a:cubicBezTo>
                <a:cubicBezTo>
                  <a:pt x="259675" y="436840"/>
                  <a:pt x="270659" y="421303"/>
                  <a:pt x="280839" y="399514"/>
                </a:cubicBezTo>
                <a:cubicBezTo>
                  <a:pt x="298966" y="360670"/>
                  <a:pt x="311735" y="307628"/>
                  <a:pt x="314325" y="250031"/>
                </a:cubicBezTo>
                <a:close/>
                <a:moveTo>
                  <a:pt x="143679" y="207169"/>
                </a:moveTo>
                <a:lnTo>
                  <a:pt x="314146" y="207169"/>
                </a:lnTo>
                <a:cubicBezTo>
                  <a:pt x="311646" y="149572"/>
                  <a:pt x="298877" y="96530"/>
                  <a:pt x="280749" y="57686"/>
                </a:cubicBezTo>
                <a:cubicBezTo>
                  <a:pt x="270570" y="35897"/>
                  <a:pt x="259586" y="20360"/>
                  <a:pt x="249406" y="10894"/>
                </a:cubicBezTo>
                <a:cubicBezTo>
                  <a:pt x="239405" y="1518"/>
                  <a:pt x="232529" y="0"/>
                  <a:pt x="228957" y="0"/>
                </a:cubicBezTo>
                <a:cubicBezTo>
                  <a:pt x="225385" y="0"/>
                  <a:pt x="218509" y="1518"/>
                  <a:pt x="208508" y="10894"/>
                </a:cubicBezTo>
                <a:cubicBezTo>
                  <a:pt x="198328" y="20360"/>
                  <a:pt x="187345" y="35897"/>
                  <a:pt x="177165" y="57686"/>
                </a:cubicBezTo>
                <a:cubicBezTo>
                  <a:pt x="159038" y="96530"/>
                  <a:pt x="146268" y="149572"/>
                  <a:pt x="143679" y="207169"/>
                </a:cubicBezTo>
                <a:close/>
                <a:moveTo>
                  <a:pt x="100816" y="207169"/>
                </a:moveTo>
                <a:cubicBezTo>
                  <a:pt x="103942" y="130731"/>
                  <a:pt x="123676" y="59740"/>
                  <a:pt x="152519" y="13127"/>
                </a:cubicBezTo>
                <a:cubicBezTo>
                  <a:pt x="70277" y="42237"/>
                  <a:pt x="9733" y="117157"/>
                  <a:pt x="1339" y="207169"/>
                </a:cubicBezTo>
                <a:lnTo>
                  <a:pt x="100816" y="207169"/>
                </a:lnTo>
                <a:close/>
                <a:moveTo>
                  <a:pt x="1339" y="250031"/>
                </a:moveTo>
                <a:cubicBezTo>
                  <a:pt x="9733" y="340043"/>
                  <a:pt x="70277" y="414963"/>
                  <a:pt x="152519" y="444073"/>
                </a:cubicBezTo>
                <a:cubicBezTo>
                  <a:pt x="123676" y="397460"/>
                  <a:pt x="103942" y="326469"/>
                  <a:pt x="100816" y="250031"/>
                </a:cubicBezTo>
                <a:lnTo>
                  <a:pt x="1339" y="250031"/>
                </a:lnTo>
                <a:close/>
                <a:moveTo>
                  <a:pt x="357098" y="250031"/>
                </a:moveTo>
                <a:cubicBezTo>
                  <a:pt x="353973" y="326469"/>
                  <a:pt x="334238" y="397460"/>
                  <a:pt x="305395" y="444073"/>
                </a:cubicBezTo>
                <a:cubicBezTo>
                  <a:pt x="387638" y="414873"/>
                  <a:pt x="448181" y="340043"/>
                  <a:pt x="456575" y="250031"/>
                </a:cubicBezTo>
                <a:lnTo>
                  <a:pt x="357098" y="250031"/>
                </a:lnTo>
                <a:close/>
                <a:moveTo>
                  <a:pt x="456575" y="207169"/>
                </a:moveTo>
                <a:cubicBezTo>
                  <a:pt x="448181" y="117157"/>
                  <a:pt x="387638" y="42237"/>
                  <a:pt x="305395" y="13127"/>
                </a:cubicBezTo>
                <a:cubicBezTo>
                  <a:pt x="334238" y="59740"/>
                  <a:pt x="353973" y="130731"/>
                  <a:pt x="357098" y="207169"/>
                </a:cubicBezTo>
                <a:lnTo>
                  <a:pt x="456575" y="207169"/>
                </a:lnTo>
                <a:close/>
              </a:path>
            </a:pathLst>
          </a:custGeom>
          <a:solidFill>
            <a:srgbClr val="C9893B"/>
          </a:solidFill>
          <a:ln/>
        </p:spPr>
      </p:sp>
      <p:sp>
        <p:nvSpPr>
          <p:cNvPr id="24" name="Text 22"/>
          <p:cNvSpPr/>
          <p:nvPr/>
        </p:nvSpPr>
        <p:spPr>
          <a:xfrm>
            <a:off x="9321800" y="4318000"/>
            <a:ext cx="5842000" cy="330200"/>
          </a:xfrm>
          <a:prstGeom prst="rect">
            <a:avLst/>
          </a:prstGeom>
          <a:noFill/>
          <a:ln/>
        </p:spPr>
        <p:txBody>
          <a:bodyPr wrap="none" lIns="0" tIns="0" rIns="0" bIns="0" rtlCol="0" anchor="ctr"/>
          <a:lstStyle/>
          <a:p>
            <a:pPr>
              <a:lnSpc>
                <a:spcPct val="100000"/>
              </a:lnSpc>
            </a:pPr>
            <a:r>
              <a:rPr lang="en-US" sz="1800" b="1" dirty="0">
                <a:solidFill>
                  <a:srgbClr val="2D3E50"/>
                </a:solidFill>
                <a:latin typeface="Liter" pitchFamily="34" charset="0"/>
                <a:ea typeface="Liter" pitchFamily="34" charset="-122"/>
                <a:cs typeface="Liter" pitchFamily="34" charset="-120"/>
              </a:rPr>
              <a:t>TLD Name Servers</a:t>
            </a:r>
            <a:endParaRPr lang="en-US" sz="1600" dirty="0"/>
          </a:p>
        </p:txBody>
      </p:sp>
      <p:sp>
        <p:nvSpPr>
          <p:cNvPr id="25" name="Text 23"/>
          <p:cNvSpPr/>
          <p:nvPr/>
        </p:nvSpPr>
        <p:spPr>
          <a:xfrm>
            <a:off x="9321800" y="4660900"/>
            <a:ext cx="5842000" cy="787400"/>
          </a:xfrm>
          <a:prstGeom prst="rect">
            <a:avLst/>
          </a:prstGeom>
          <a:noFill/>
          <a:ln/>
        </p:spPr>
        <p:txBody>
          <a:bodyPr wrap="square" lIns="0" tIns="0" rIns="0" bIns="0" rtlCol="0" anchor="ctr"/>
          <a:lstStyle/>
          <a:p>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Manage specific domain extensions (.com, .org, .uk); direct to authoritative servers.</a:t>
            </a:r>
            <a:endParaRPr lang="en-US" sz="1600" dirty="0"/>
          </a:p>
        </p:txBody>
      </p:sp>
      <p:sp>
        <p:nvSpPr>
          <p:cNvPr id="26" name="Shape 24"/>
          <p:cNvSpPr/>
          <p:nvPr/>
        </p:nvSpPr>
        <p:spPr>
          <a:xfrm>
            <a:off x="762000" y="5905500"/>
            <a:ext cx="14732000" cy="2159000"/>
          </a:xfrm>
          <a:prstGeom prst="rect">
            <a:avLst/>
          </a:prstGeom>
          <a:solidFill>
            <a:srgbClr val="2D3E50"/>
          </a:solidFill>
          <a:ln/>
        </p:spPr>
      </p:sp>
      <p:sp>
        <p:nvSpPr>
          <p:cNvPr id="27" name="Text 25"/>
          <p:cNvSpPr/>
          <p:nvPr/>
        </p:nvSpPr>
        <p:spPr>
          <a:xfrm>
            <a:off x="1066800" y="6096000"/>
            <a:ext cx="5080000" cy="330200"/>
          </a:xfrm>
          <a:prstGeom prst="rect">
            <a:avLst/>
          </a:prstGeom>
          <a:noFill/>
          <a:ln/>
        </p:spPr>
        <p:txBody>
          <a:bodyPr wrap="none" lIns="0" tIns="0" rIns="0" bIns="0" rtlCol="0" anchor="ctr"/>
          <a:lstStyle/>
          <a:p>
            <a:pPr>
              <a:lnSpc>
                <a:spcPct val="100000"/>
              </a:lnSpc>
            </a:pPr>
            <a:r>
              <a:rPr lang="en-US" sz="1600" b="1" spc="200" kern="0" dirty="0">
                <a:solidFill>
                  <a:srgbClr val="C9893B"/>
                </a:solidFill>
                <a:latin typeface="Liter" pitchFamily="34" charset="0"/>
                <a:ea typeface="Liter" pitchFamily="34" charset="-122"/>
                <a:cs typeface="Liter" pitchFamily="34" charset="-120"/>
              </a:rPr>
              <a:t>SERVER ROLES SUMMARY</a:t>
            </a:r>
            <a:endParaRPr lang="en-US" sz="1600" dirty="0"/>
          </a:p>
        </p:txBody>
      </p:sp>
      <p:sp>
        <p:nvSpPr>
          <p:cNvPr id="28" name="Text 26"/>
          <p:cNvSpPr/>
          <p:nvPr/>
        </p:nvSpPr>
        <p:spPr>
          <a:xfrm>
            <a:off x="1066800" y="6502400"/>
            <a:ext cx="14122400" cy="1549400"/>
          </a:xfrm>
          <a:prstGeom prst="rect">
            <a:avLst/>
          </a:prstGeom>
          <a:noFill/>
          <a:ln/>
        </p:spPr>
        <p:txBody>
          <a:bodyPr wrap="square" lIns="0" tIns="0" rIns="0" bIns="0" rtlCol="0" anchor="ctr"/>
          <a:lstStyle/>
          <a:p>
            <a:pPr>
              <a:lnSpc>
                <a:spcPct val="170000"/>
              </a:lnSpc>
            </a:pPr>
            <a:r>
              <a:rPr lang="en-US" sz="1500" dirty="0">
                <a:solidFill>
                  <a:srgbClr val="C9893B"/>
                </a:solidFill>
                <a:latin typeface="Quattrocento Sans" pitchFamily="34" charset="0"/>
                <a:ea typeface="Quattrocento Sans" pitchFamily="34" charset="-122"/>
                <a:cs typeface="Quattrocento Sans" pitchFamily="34" charset="-120"/>
              </a:rPr>
              <a:t>Recursive</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 Does the asking (queries on behalf of users)</a:t>
            </a:r>
            <a:endParaRPr lang="en-US" sz="1600" dirty="0"/>
          </a:p>
          <a:p>
            <a:pPr>
              <a:lnSpc>
                <a:spcPct val="170000"/>
              </a:lnSpc>
            </a:pPr>
            <a:r>
              <a:rPr lang="en-US" sz="1500" dirty="0">
                <a:solidFill>
                  <a:srgbClr val="C9893B"/>
                </a:solidFill>
                <a:latin typeface="Quattrocento Sans" pitchFamily="34" charset="0"/>
                <a:ea typeface="Quattrocento Sans" pitchFamily="34" charset="-122"/>
                <a:cs typeface="Quattrocento Sans" pitchFamily="34" charset="-120"/>
              </a:rPr>
              <a:t>Root</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 Points to TLD (knows who manages each extension)</a:t>
            </a:r>
            <a:endParaRPr lang="en-US" sz="1600" dirty="0"/>
          </a:p>
          <a:p>
            <a:pPr>
              <a:lnSpc>
                <a:spcPct val="170000"/>
              </a:lnSpc>
            </a:pPr>
            <a:r>
              <a:rPr lang="en-US" sz="1500" dirty="0">
                <a:solidFill>
                  <a:srgbClr val="C9893B"/>
                </a:solidFill>
                <a:latin typeface="Quattrocento Sans" pitchFamily="34" charset="0"/>
                <a:ea typeface="Quattrocento Sans" pitchFamily="34" charset="-122"/>
                <a:cs typeface="Quattrocento Sans" pitchFamily="34" charset="-120"/>
              </a:rPr>
              <a:t>TLD</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 Points to Authoritative (knows who manages each domain)</a:t>
            </a:r>
            <a:endParaRPr lang="en-US" sz="1600" dirty="0"/>
          </a:p>
          <a:p>
            <a:pPr>
              <a:lnSpc>
                <a:spcPct val="170000"/>
              </a:lnSpc>
            </a:pPr>
            <a:r>
              <a:rPr lang="en-US" sz="1500" dirty="0">
                <a:solidFill>
                  <a:srgbClr val="C9893B"/>
                </a:solidFill>
                <a:latin typeface="Quattrocento Sans" pitchFamily="34" charset="0"/>
                <a:ea typeface="Quattrocento Sans" pitchFamily="34" charset="-122"/>
                <a:cs typeface="Quattrocento Sans" pitchFamily="34" charset="-120"/>
              </a:rPr>
              <a:t>Authoritative</a:t>
            </a:r>
            <a:pPr>
              <a:lnSpc>
                <a:spcPct val="170000"/>
              </a:lnSpc>
            </a:pPr>
            <a:r>
              <a:rPr lang="en-US" sz="1500" dirty="0">
                <a:solidFill>
                  <a:srgbClr val="FFFFFF"/>
                </a:solidFill>
                <a:latin typeface="Quattrocento Sans" pitchFamily="34" charset="0"/>
                <a:ea typeface="Quattrocento Sans" pitchFamily="34" charset="-122"/>
                <a:cs typeface="Quattrocento Sans" pitchFamily="34" charset="-120"/>
              </a:rPr>
              <a:t> — Holds the answer (stores actual DNS records)</a:t>
            </a:r>
            <a:endParaRPr lang="en-US" sz="1600" dirty="0"/>
          </a:p>
        </p:txBody>
      </p:sp>
      <p:sp>
        <p:nvSpPr>
          <p:cNvPr id="29" name="Shape 27"/>
          <p:cNvSpPr/>
          <p:nvPr/>
        </p:nvSpPr>
        <p:spPr>
          <a:xfrm>
            <a:off x="762000" y="8382000"/>
            <a:ext cx="14732000" cy="25400"/>
          </a:xfrm>
          <a:prstGeom prst="rect">
            <a:avLst/>
          </a:prstGeom>
          <a:solidFill>
            <a:srgbClr val="C9893B"/>
          </a:solidFill>
          <a:ln/>
        </p:spPr>
      </p:sp>
      <p:sp>
        <p:nvSpPr>
          <p:cNvPr id="30" name="Text 28"/>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20</a:t>
            </a:r>
            <a:endParaRPr lang="en-US" sz="14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Recursive (Resolver) DNS Servers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587500"/>
            <a:ext cx="8128000" cy="2540000"/>
          </a:xfrm>
          <a:prstGeom prst="rect">
            <a:avLst/>
          </a:prstGeom>
          <a:noFill/>
          <a:ln/>
        </p:spPr>
        <p:txBody>
          <a:bodyPr wrap="square" lIns="0" tIns="0" rIns="0" bIns="0" rtlCol="0" anchor="ctr"/>
          <a:lstStyle/>
          <a:p>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Recursive servers — also called </a:t>
            </a:r>
            <a:pPr>
              <a:lnSpc>
                <a:spcPct val="165000"/>
              </a:lnSpc>
            </a:pPr>
            <a:r>
              <a:rPr lang="en-US" sz="1700" b="1" dirty="0">
                <a:solidFill>
                  <a:srgbClr val="1E2328"/>
                </a:solidFill>
                <a:latin typeface="QuattrocentoSans" pitchFamily="34" charset="0"/>
                <a:ea typeface="QuattrocentoSans" pitchFamily="34" charset="-122"/>
                <a:cs typeface="QuattrocentoSans" pitchFamily="34" charset="-120"/>
              </a:rPr>
              <a:t>DNS resolvers</a:t>
            </a:r>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 or recursors — are typically managed by </a:t>
            </a:r>
            <a:pPr>
              <a:lnSpc>
                <a:spcPct val="165000"/>
              </a:lnSpc>
            </a:pPr>
            <a:r>
              <a:rPr lang="en-US" sz="1700" dirty="0">
                <a:solidFill>
                  <a:srgbClr val="C9893B"/>
                </a:solidFill>
                <a:latin typeface="QuattrocentoSans" pitchFamily="34" charset="0"/>
                <a:ea typeface="QuattrocentoSans" pitchFamily="34" charset="-122"/>
                <a:cs typeface="QuattrocentoSans" pitchFamily="34" charset="-120"/>
              </a:rPr>
              <a:t>ISPs</a:t>
            </a:r>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 or third-party providers.</a:t>
            </a:r>
            <a:endParaRPr lang="en-US" sz="1800" dirty="0"/>
          </a:p>
          <a:p>
            <a:pPr>
              <a:lnSpc>
                <a:spcPct val="165000"/>
              </a:lnSpc>
              <a:spcBef>
                <a:spcPts val="800"/>
              </a:spcBef>
            </a:pPr>
            <a:r>
              <a:rPr lang="en-US" sz="1700" dirty="0">
                <a:solidFill>
                  <a:srgbClr val="1E2328"/>
                </a:solidFill>
                <a:latin typeface="QuattrocentoSans" pitchFamily="34" charset="0"/>
                <a:ea typeface="QuattrocentoSans" pitchFamily="34" charset="-122"/>
                <a:cs typeface="QuattrocentoSans" pitchFamily="34" charset="-120"/>
              </a:rPr>
              <a:t>Popular public DNS resolvers:</a:t>
            </a:r>
            <a:endParaRPr lang="en-US" sz="1800" dirty="0"/>
          </a:p>
          <a:p>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 </a:t>
            </a:r>
            <a:pPr>
              <a:lnSpc>
                <a:spcPct val="165000"/>
              </a:lnSpc>
            </a:pPr>
            <a:r>
              <a:rPr lang="en-US" sz="1700" b="1" dirty="0">
                <a:solidFill>
                  <a:srgbClr val="1E2328"/>
                </a:solidFill>
                <a:latin typeface="QuattrocentoSans" pitchFamily="34" charset="0"/>
                <a:ea typeface="QuattrocentoSans" pitchFamily="34" charset="-122"/>
                <a:cs typeface="QuattrocentoSans" pitchFamily="34" charset="-120"/>
              </a:rPr>
              <a:t>Google DNS:</a:t>
            </a:r>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 </a:t>
            </a:r>
            <a:pPr>
              <a:lnSpc>
                <a:spcPct val="165000"/>
              </a:lnSpc>
            </a:pPr>
            <a:r>
              <a:rPr lang="en-US" sz="1700" dirty="0">
                <a:solidFill>
                  <a:srgbClr val="C9893B"/>
                </a:solidFill>
                <a:latin typeface="QuattrocentoSans" pitchFamily="34" charset="0"/>
                <a:ea typeface="QuattrocentoSans" pitchFamily="34" charset="-122"/>
                <a:cs typeface="QuattrocentoSans" pitchFamily="34" charset="-120"/>
              </a:rPr>
              <a:t>8.8.8.8</a:t>
            </a:r>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 and 8.8.4.4</a:t>
            </a:r>
            <a:endParaRPr lang="en-US" sz="1800" dirty="0"/>
          </a:p>
          <a:p>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 </a:t>
            </a:r>
            <a:pPr>
              <a:lnSpc>
                <a:spcPct val="165000"/>
              </a:lnSpc>
            </a:pPr>
            <a:r>
              <a:rPr lang="en-US" sz="1700" b="1" dirty="0">
                <a:solidFill>
                  <a:srgbClr val="1E2328"/>
                </a:solidFill>
                <a:latin typeface="QuattrocentoSans" pitchFamily="34" charset="0"/>
                <a:ea typeface="QuattrocentoSans" pitchFamily="34" charset="-122"/>
                <a:cs typeface="QuattrocentoSans" pitchFamily="34" charset="-120"/>
              </a:rPr>
              <a:t>Cloudflare:</a:t>
            </a:r>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 </a:t>
            </a:r>
            <a:pPr>
              <a:lnSpc>
                <a:spcPct val="165000"/>
              </a:lnSpc>
            </a:pPr>
            <a:r>
              <a:rPr lang="en-US" sz="1700" dirty="0">
                <a:solidFill>
                  <a:srgbClr val="C9893B"/>
                </a:solidFill>
                <a:latin typeface="QuattrocentoSans" pitchFamily="34" charset="0"/>
                <a:ea typeface="QuattrocentoSans" pitchFamily="34" charset="-122"/>
                <a:cs typeface="QuattrocentoSans" pitchFamily="34" charset="-120"/>
              </a:rPr>
              <a:t>1.1.1.1</a:t>
            </a:r>
            <a:pPr>
              <a:lnSpc>
                <a:spcPct val="165000"/>
              </a:lnSpc>
            </a:pPr>
            <a:r>
              <a:rPr lang="en-US" sz="1700" dirty="0">
                <a:solidFill>
                  <a:srgbClr val="1E2328"/>
                </a:solidFill>
                <a:latin typeface="QuattrocentoSans" pitchFamily="34" charset="0"/>
                <a:ea typeface="QuattrocentoSans" pitchFamily="34" charset="-122"/>
                <a:cs typeface="QuattrocentoSans" pitchFamily="34" charset="-120"/>
              </a:rPr>
              <a:t> and 1.0.0.1</a:t>
            </a:r>
            <a:endParaRPr lang="en-US" sz="1800" dirty="0"/>
          </a:p>
        </p:txBody>
      </p:sp>
      <p:sp>
        <p:nvSpPr>
          <p:cNvPr id="6" name="Shape 4"/>
          <p:cNvSpPr/>
          <p:nvPr/>
        </p:nvSpPr>
        <p:spPr>
          <a:xfrm>
            <a:off x="762000" y="4381500"/>
            <a:ext cx="8128000" cy="3429000"/>
          </a:xfrm>
          <a:prstGeom prst="rect">
            <a:avLst/>
          </a:prstGeom>
          <a:solidFill>
            <a:srgbClr val="E8E4DE"/>
          </a:solidFill>
          <a:ln/>
        </p:spPr>
      </p:sp>
      <p:sp>
        <p:nvSpPr>
          <p:cNvPr id="7" name="Text 5"/>
          <p:cNvSpPr/>
          <p:nvPr/>
        </p:nvSpPr>
        <p:spPr>
          <a:xfrm>
            <a:off x="1066800" y="4572000"/>
            <a:ext cx="5080000" cy="330200"/>
          </a:xfrm>
          <a:prstGeom prst="rect">
            <a:avLst/>
          </a:prstGeom>
          <a:noFill/>
          <a:ln/>
        </p:spPr>
        <p:txBody>
          <a:bodyPr wrap="none" lIns="0" tIns="0" rIns="0" bIns="0" rtlCol="0" anchor="ctr"/>
          <a:lstStyle/>
          <a:p>
            <a:pPr>
              <a:lnSpc>
                <a:spcPct val="100000"/>
              </a:lnSpc>
            </a:pPr>
            <a:r>
              <a:rPr lang="en-US" sz="1800" b="1" dirty="0">
                <a:solidFill>
                  <a:srgbClr val="2D3E50"/>
                </a:solidFill>
                <a:latin typeface="Liter" pitchFamily="34" charset="0"/>
                <a:ea typeface="Liter" pitchFamily="34" charset="-122"/>
                <a:cs typeface="Liter" pitchFamily="34" charset="-120"/>
              </a:rPr>
              <a:t>Resolver Functions</a:t>
            </a:r>
            <a:endParaRPr lang="en-US" sz="1600" dirty="0"/>
          </a:p>
        </p:txBody>
      </p:sp>
      <p:sp>
        <p:nvSpPr>
          <p:cNvPr id="8" name="Text 6"/>
          <p:cNvSpPr/>
          <p:nvPr/>
        </p:nvSpPr>
        <p:spPr>
          <a:xfrm>
            <a:off x="1066800" y="5016500"/>
            <a:ext cx="7518400" cy="2540000"/>
          </a:xfrm>
          <a:prstGeom prst="rect">
            <a:avLst/>
          </a:prstGeom>
          <a:noFill/>
          <a:ln/>
        </p:spPr>
        <p:txBody>
          <a:bodyPr wrap="square" lIns="0" tIns="0" rIns="0" bIns="0" rtlCol="0" anchor="ctr"/>
          <a:lstStyle/>
          <a:p>
            <a:pPr>
              <a:lnSpc>
                <a:spcPct val="165000"/>
              </a:lnSpc>
            </a:pPr>
            <a:r>
              <a:rPr lang="en-US" sz="1600" dirty="0">
                <a:solidFill>
                  <a:srgbClr val="C9893B"/>
                </a:solidFill>
                <a:latin typeface="Quattrocento Sans" pitchFamily="34" charset="0"/>
                <a:ea typeface="Quattrocento Sans" pitchFamily="34" charset="-122"/>
                <a:cs typeface="Quattrocento Sans" pitchFamily="34" charset="-120"/>
              </a:rPr>
              <a:t>1.</a:t>
            </a:r>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Receive queries from client devices</a:t>
            </a:r>
            <a:endParaRPr lang="en-US" sz="1600" dirty="0"/>
          </a:p>
          <a:p>
            <a:pPr>
              <a:lnSpc>
                <a:spcPct val="165000"/>
              </a:lnSpc>
            </a:pPr>
            <a:r>
              <a:rPr lang="en-US" sz="1600" dirty="0">
                <a:solidFill>
                  <a:srgbClr val="C9893B"/>
                </a:solidFill>
                <a:latin typeface="Quattrocento Sans" pitchFamily="34" charset="0"/>
                <a:ea typeface="Quattrocento Sans" pitchFamily="34" charset="-122"/>
                <a:cs typeface="Quattrocento Sans" pitchFamily="34" charset="-120"/>
              </a:rPr>
              <a:t>2.</a:t>
            </a:r>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Check cache for recent lookups</a:t>
            </a:r>
            <a:endParaRPr lang="en-US" sz="1600" dirty="0"/>
          </a:p>
          <a:p>
            <a:pPr>
              <a:lnSpc>
                <a:spcPct val="165000"/>
              </a:lnSpc>
            </a:pPr>
            <a:r>
              <a:rPr lang="en-US" sz="1600" dirty="0">
                <a:solidFill>
                  <a:srgbClr val="C9893B"/>
                </a:solidFill>
                <a:latin typeface="Quattrocento Sans" pitchFamily="34" charset="0"/>
                <a:ea typeface="Quattrocento Sans" pitchFamily="34" charset="-122"/>
                <a:cs typeface="Quattrocento Sans" pitchFamily="34" charset="-120"/>
              </a:rPr>
              <a:t>3.</a:t>
            </a:r>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If not cached, query DNS hierarchy</a:t>
            </a:r>
            <a:endParaRPr lang="en-US" sz="1600" dirty="0"/>
          </a:p>
          <a:p>
            <a:pPr>
              <a:lnSpc>
                <a:spcPct val="165000"/>
              </a:lnSpc>
            </a:pPr>
            <a:r>
              <a:rPr lang="en-US" sz="1600" dirty="0">
                <a:solidFill>
                  <a:srgbClr val="C9893B"/>
                </a:solidFill>
                <a:latin typeface="Quattrocento Sans" pitchFamily="34" charset="0"/>
                <a:ea typeface="Quattrocento Sans" pitchFamily="34" charset="-122"/>
                <a:cs typeface="Quattrocento Sans" pitchFamily="34" charset="-120"/>
              </a:rPr>
              <a:t>4.</a:t>
            </a:r>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Return final IP address to client</a:t>
            </a:r>
            <a:endParaRPr lang="en-US" sz="1600" dirty="0"/>
          </a:p>
          <a:p>
            <a:pPr>
              <a:lnSpc>
                <a:spcPct val="165000"/>
              </a:lnSpc>
            </a:pPr>
            <a:r>
              <a:rPr lang="en-US" sz="1600" dirty="0">
                <a:solidFill>
                  <a:srgbClr val="C9893B"/>
                </a:solidFill>
                <a:latin typeface="Quattrocento Sans" pitchFamily="34" charset="0"/>
                <a:ea typeface="Quattrocento Sans" pitchFamily="34" charset="-122"/>
                <a:cs typeface="Quattrocento Sans" pitchFamily="34" charset="-120"/>
              </a:rPr>
              <a:t>5.</a:t>
            </a:r>
            <a:pPr>
              <a:lnSpc>
                <a:spcPct val="165000"/>
              </a:lnSpc>
            </a:pPr>
            <a:r>
              <a:rPr lang="en-US" sz="1600" dirty="0">
                <a:solidFill>
                  <a:srgbClr val="1E2328"/>
                </a:solidFill>
                <a:latin typeface="Quattrocento Sans" pitchFamily="34" charset="0"/>
                <a:ea typeface="Quattrocento Sans" pitchFamily="34" charset="-122"/>
                <a:cs typeface="Quattrocento Sans" pitchFamily="34" charset="-120"/>
              </a:rPr>
              <a:t> Cache result for future queries (per TTL)</a:t>
            </a:r>
            <a:endParaRPr lang="en-US" sz="1600" dirty="0"/>
          </a:p>
        </p:txBody>
      </p:sp>
      <p:sp>
        <p:nvSpPr>
          <p:cNvPr id="9" name="Shape 7"/>
          <p:cNvSpPr/>
          <p:nvPr/>
        </p:nvSpPr>
        <p:spPr>
          <a:xfrm>
            <a:off x="9398000" y="1587500"/>
            <a:ext cx="6096000" cy="6223000"/>
          </a:xfrm>
          <a:prstGeom prst="rect">
            <a:avLst/>
          </a:prstGeom>
          <a:solidFill>
            <a:srgbClr val="2D3E50"/>
          </a:solidFill>
          <a:ln/>
        </p:spPr>
      </p:sp>
      <p:sp>
        <p:nvSpPr>
          <p:cNvPr id="10" name="Text 8"/>
          <p:cNvSpPr/>
          <p:nvPr/>
        </p:nvSpPr>
        <p:spPr>
          <a:xfrm>
            <a:off x="9702800" y="1841500"/>
            <a:ext cx="5486400" cy="330200"/>
          </a:xfrm>
          <a:prstGeom prst="rect">
            <a:avLst/>
          </a:prstGeom>
          <a:noFill/>
          <a:ln/>
        </p:spPr>
        <p:txBody>
          <a:bodyPr wrap="none" lIns="0" tIns="0" rIns="0" bIns="0" rtlCol="0" anchor="ctr"/>
          <a:lstStyle/>
          <a:p>
            <a:pPr>
              <a:lnSpc>
                <a:spcPct val="100000"/>
              </a:lnSpc>
            </a:pPr>
            <a:r>
              <a:rPr lang="en-US" sz="1600" b="1" spc="200" kern="0" dirty="0">
                <a:solidFill>
                  <a:srgbClr val="C9893B"/>
                </a:solidFill>
                <a:latin typeface="Liter" pitchFamily="34" charset="0"/>
                <a:ea typeface="Liter" pitchFamily="34" charset="-122"/>
                <a:cs typeface="Liter" pitchFamily="34" charset="-120"/>
              </a:rPr>
              <a:t>KEY CHARACTERISTIC</a:t>
            </a:r>
            <a:endParaRPr lang="en-US" sz="1600" dirty="0"/>
          </a:p>
        </p:txBody>
      </p:sp>
      <p:sp>
        <p:nvSpPr>
          <p:cNvPr id="11" name="Shape 9"/>
          <p:cNvSpPr/>
          <p:nvPr/>
        </p:nvSpPr>
        <p:spPr>
          <a:xfrm>
            <a:off x="9702800" y="2260600"/>
            <a:ext cx="508000" cy="25400"/>
          </a:xfrm>
          <a:prstGeom prst="rect">
            <a:avLst/>
          </a:prstGeom>
          <a:solidFill>
            <a:srgbClr val="C9893B"/>
          </a:solidFill>
          <a:ln/>
        </p:spPr>
      </p:sp>
      <p:sp>
        <p:nvSpPr>
          <p:cNvPr id="12" name="Text 10"/>
          <p:cNvSpPr/>
          <p:nvPr/>
        </p:nvSpPr>
        <p:spPr>
          <a:xfrm>
            <a:off x="9702800" y="2514600"/>
            <a:ext cx="5486400" cy="2540000"/>
          </a:xfrm>
          <a:prstGeom prst="rect">
            <a:avLst/>
          </a:prstGeom>
          <a:noFill/>
          <a:ln/>
        </p:spPr>
        <p:txBody>
          <a:bodyPr wrap="square" lIns="0" tIns="0" rIns="0" bIns="0" rtlCol="0" anchor="ctr"/>
          <a:lstStyle/>
          <a:p>
            <a:pPr>
              <a:lnSpc>
                <a:spcPct val="170000"/>
              </a:lnSpc>
            </a:pPr>
            <a:r>
              <a:rPr lang="en-US" sz="1700" dirty="0">
                <a:solidFill>
                  <a:srgbClr val="FFFFFF"/>
                </a:solidFill>
                <a:latin typeface="Quattrocento Sans" pitchFamily="34" charset="0"/>
                <a:ea typeface="Quattrocento Sans" pitchFamily="34" charset="-122"/>
                <a:cs typeface="Quattrocento Sans" pitchFamily="34" charset="-120"/>
              </a:rPr>
              <a:t>Acts </a:t>
            </a:r>
            <a:pPr>
              <a:lnSpc>
                <a:spcPct val="170000"/>
              </a:lnSpc>
            </a:pPr>
            <a:r>
              <a:rPr lang="en-US" sz="1700" b="1" dirty="0">
                <a:solidFill>
                  <a:srgbClr val="FFFFFF"/>
                </a:solidFill>
                <a:latin typeface="Quattrocento Sans" pitchFamily="34" charset="0"/>
                <a:ea typeface="Quattrocento Sans" pitchFamily="34" charset="-122"/>
                <a:cs typeface="Quattrocento Sans" pitchFamily="34" charset="-120"/>
              </a:rPr>
              <a:t>on behalf of the end user</a:t>
            </a:r>
            <a:pPr>
              <a:lnSpc>
                <a:spcPct val="170000"/>
              </a:lnSpc>
            </a:pPr>
            <a:r>
              <a:rPr lang="en-US" sz="1700" dirty="0">
                <a:solidFill>
                  <a:srgbClr val="FFFFFF"/>
                </a:solidFill>
                <a:latin typeface="Quattrocento Sans" pitchFamily="34" charset="0"/>
                <a:ea typeface="Quattrocento Sans" pitchFamily="34" charset="-122"/>
                <a:cs typeface="Quattrocento Sans" pitchFamily="34" charset="-120"/>
              </a:rPr>
              <a:t> — the client only sends one query and waits for the final answer.</a:t>
            </a:r>
            <a:endParaRPr lang="en-US" sz="1600" dirty="0"/>
          </a:p>
          <a:p>
            <a:pPr>
              <a:lnSpc>
                <a:spcPct val="170000"/>
              </a:lnSpc>
              <a:spcBef>
                <a:spcPts val="1200"/>
              </a:spcBef>
            </a:pPr>
            <a:r>
              <a:rPr lang="en-US" sz="1700" dirty="0">
                <a:solidFill>
                  <a:srgbClr val="FFFFFF"/>
                </a:solidFill>
                <a:latin typeface="Quattrocento Sans" pitchFamily="34" charset="0"/>
                <a:ea typeface="Quattrocento Sans" pitchFamily="34" charset="-122"/>
                <a:cs typeface="Quattrocento Sans" pitchFamily="34" charset="-120"/>
              </a:rPr>
              <a:t>The resolver handles all the complexity of traversing the DNS hierarchy.</a:t>
            </a:r>
            <a:endParaRPr lang="en-US" sz="1600" dirty="0"/>
          </a:p>
        </p:txBody>
      </p:sp>
      <p:sp>
        <p:nvSpPr>
          <p:cNvPr id="13" name="Shape 11"/>
          <p:cNvSpPr/>
          <p:nvPr/>
        </p:nvSpPr>
        <p:spPr>
          <a:xfrm>
            <a:off x="9702800" y="5334000"/>
            <a:ext cx="5486400" cy="1168400"/>
          </a:xfrm>
          <a:prstGeom prst="rect">
            <a:avLst/>
          </a:prstGeom>
          <a:solidFill>
            <a:srgbClr val="4A5D70"/>
          </a:solidFill>
          <a:ln/>
        </p:spPr>
      </p:sp>
      <p:sp>
        <p:nvSpPr>
          <p:cNvPr id="14" name="Shape 12"/>
          <p:cNvSpPr/>
          <p:nvPr/>
        </p:nvSpPr>
        <p:spPr>
          <a:xfrm>
            <a:off x="9956800" y="5588000"/>
            <a:ext cx="508000" cy="508000"/>
          </a:xfrm>
          <a:custGeom>
            <a:avLst/>
            <a:gdLst/>
            <a:ahLst/>
            <a:cxnLst/>
            <a:rect l="l" t="t" r="r" b="b"/>
            <a:pathLst>
              <a:path w="508000" h="508000">
                <a:moveTo>
                  <a:pt x="254000" y="0"/>
                </a:moveTo>
                <a:cubicBezTo>
                  <a:pt x="258564" y="0"/>
                  <a:pt x="263128" y="992"/>
                  <a:pt x="267295" y="2877"/>
                </a:cubicBezTo>
                <a:lnTo>
                  <a:pt x="454223" y="82153"/>
                </a:lnTo>
                <a:cubicBezTo>
                  <a:pt x="476052" y="91380"/>
                  <a:pt x="492323" y="112911"/>
                  <a:pt x="492224" y="138906"/>
                </a:cubicBezTo>
                <a:cubicBezTo>
                  <a:pt x="491728" y="237331"/>
                  <a:pt x="451247" y="417413"/>
                  <a:pt x="280293" y="499269"/>
                </a:cubicBezTo>
                <a:cubicBezTo>
                  <a:pt x="263723" y="507206"/>
                  <a:pt x="244475" y="507206"/>
                  <a:pt x="227905" y="499269"/>
                </a:cubicBezTo>
                <a:cubicBezTo>
                  <a:pt x="56852" y="417413"/>
                  <a:pt x="16470" y="237331"/>
                  <a:pt x="15974" y="138906"/>
                </a:cubicBezTo>
                <a:cubicBezTo>
                  <a:pt x="15875" y="112911"/>
                  <a:pt x="32147" y="91380"/>
                  <a:pt x="53975" y="82153"/>
                </a:cubicBezTo>
                <a:lnTo>
                  <a:pt x="240804" y="2877"/>
                </a:lnTo>
                <a:cubicBezTo>
                  <a:pt x="244971" y="992"/>
                  <a:pt x="249436" y="0"/>
                  <a:pt x="254000" y="0"/>
                </a:cubicBezTo>
                <a:close/>
                <a:moveTo>
                  <a:pt x="254000" y="66278"/>
                </a:moveTo>
                <a:lnTo>
                  <a:pt x="254000" y="441424"/>
                </a:lnTo>
                <a:cubicBezTo>
                  <a:pt x="390922" y="375146"/>
                  <a:pt x="427732" y="228302"/>
                  <a:pt x="428625" y="140395"/>
                </a:cubicBezTo>
                <a:lnTo>
                  <a:pt x="254000" y="66377"/>
                </a:lnTo>
                <a:lnTo>
                  <a:pt x="254000" y="66377"/>
                </a:lnTo>
                <a:close/>
              </a:path>
            </a:pathLst>
          </a:custGeom>
          <a:solidFill>
            <a:srgbClr val="C9893B"/>
          </a:solidFill>
          <a:ln/>
        </p:spPr>
      </p:sp>
      <p:sp>
        <p:nvSpPr>
          <p:cNvPr id="15" name="Text 13"/>
          <p:cNvSpPr/>
          <p:nvPr/>
        </p:nvSpPr>
        <p:spPr>
          <a:xfrm>
            <a:off x="10642600" y="5461000"/>
            <a:ext cx="4318000" cy="990600"/>
          </a:xfrm>
          <a:prstGeom prst="rect">
            <a:avLst/>
          </a:prstGeom>
          <a:noFill/>
          <a:ln/>
        </p:spPr>
        <p:txBody>
          <a:bodyPr wrap="square" lIns="0" tIns="0" rIns="0" bIns="0" rtlCol="0" anchor="ctr"/>
          <a:lstStyle/>
          <a:p>
            <a:pPr>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DNS over HTTPS (DoH)</a:t>
            </a:r>
            <a:endParaRPr lang="en-US" sz="1600" dirty="0"/>
          </a:p>
          <a:p>
            <a:pPr>
              <a:lnSpc>
                <a:spcPct val="150000"/>
              </a:lnSpc>
            </a:pPr>
            <a:r>
              <a:rPr lang="en-US" sz="1400" dirty="0">
                <a:solidFill>
                  <a:srgbClr val="FFFFFF">
                    <a:alpha val="66700"/>
                  </a:srgbClr>
                </a:solidFill>
                <a:latin typeface="Quattrocento Sans" pitchFamily="34" charset="0"/>
                <a:ea typeface="Quattrocento Sans" pitchFamily="34" charset="-122"/>
                <a:cs typeface="Quattrocento Sans" pitchFamily="34" charset="-120"/>
              </a:rPr>
              <a:t>Encrypted DNS queries for enhanced privacy. Supported by modern browsers.</a:t>
            </a:r>
            <a:endParaRPr lang="en-US" sz="1600" dirty="0"/>
          </a:p>
        </p:txBody>
      </p:sp>
      <p:sp>
        <p:nvSpPr>
          <p:cNvPr id="16" name="Shape 14"/>
          <p:cNvSpPr/>
          <p:nvPr/>
        </p:nvSpPr>
        <p:spPr>
          <a:xfrm>
            <a:off x="762000" y="8382000"/>
            <a:ext cx="14732000" cy="25400"/>
          </a:xfrm>
          <a:prstGeom prst="rect">
            <a:avLst/>
          </a:prstGeom>
          <a:solidFill>
            <a:srgbClr val="C9893B"/>
          </a:solidFill>
          <a:ln/>
        </p:spPr>
      </p:sp>
      <p:sp>
        <p:nvSpPr>
          <p:cNvPr id="17" name="Text 15"/>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21</a:t>
            </a:r>
            <a:endParaRPr lang="en-US" sz="14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Authoritative DNS Servers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587500"/>
            <a:ext cx="14732000" cy="1016000"/>
          </a:xfrm>
          <a:prstGeom prst="rect">
            <a:avLst/>
          </a:prstGeom>
          <a:noFill/>
          <a:ln/>
        </p:spPr>
        <p:txBody>
          <a:bodyPr wrap="square" lIns="0" tIns="0" rIns="0" bIns="0" rtlCol="0" anchor="ctr"/>
          <a:lstStyle/>
          <a:p>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Authoritative servers hold the </a:t>
            </a:r>
            <a:pPr>
              <a:lnSpc>
                <a:spcPct val="160000"/>
              </a:lnSpc>
            </a:pPr>
            <a:r>
              <a:rPr lang="en-US" sz="1700" b="1" dirty="0">
                <a:solidFill>
                  <a:srgbClr val="1E2328"/>
                </a:solidFill>
                <a:latin typeface="QuattrocentoSans" pitchFamily="34" charset="0"/>
                <a:ea typeface="QuattrocentoSans" pitchFamily="34" charset="-122"/>
                <a:cs typeface="QuattrocentoSans" pitchFamily="34" charset="-120"/>
              </a:rPr>
              <a:t>actual DNS records</a:t>
            </a:r>
            <a:pPr>
              <a:lnSpc>
                <a:spcPct val="160000"/>
              </a:lnSpc>
            </a:pPr>
            <a:r>
              <a:rPr lang="en-US" sz="1700" dirty="0">
                <a:solidFill>
                  <a:srgbClr val="1E2328"/>
                </a:solidFill>
                <a:latin typeface="QuattrocentoSans" pitchFamily="34" charset="0"/>
                <a:ea typeface="QuattrocentoSans" pitchFamily="34" charset="-122"/>
                <a:cs typeface="QuattrocentoSans" pitchFamily="34" charset="-120"/>
              </a:rPr>
              <a:t> for a domain and provide definitive answers. They are the final destination in the DNS resolution chain.</a:t>
            </a:r>
            <a:endParaRPr lang="en-US" sz="1800" dirty="0"/>
          </a:p>
        </p:txBody>
      </p:sp>
      <p:sp>
        <p:nvSpPr>
          <p:cNvPr id="6" name="Shape 4"/>
          <p:cNvSpPr/>
          <p:nvPr/>
        </p:nvSpPr>
        <p:spPr>
          <a:xfrm>
            <a:off x="762000" y="2794000"/>
            <a:ext cx="7112000" cy="2794000"/>
          </a:xfrm>
          <a:prstGeom prst="rect">
            <a:avLst/>
          </a:prstGeom>
          <a:solidFill>
            <a:srgbClr val="E8E4DE"/>
          </a:solidFill>
          <a:ln/>
        </p:spPr>
      </p:sp>
      <p:sp>
        <p:nvSpPr>
          <p:cNvPr id="7" name="Shape 5"/>
          <p:cNvSpPr/>
          <p:nvPr/>
        </p:nvSpPr>
        <p:spPr>
          <a:xfrm>
            <a:off x="762000" y="2794000"/>
            <a:ext cx="76200" cy="2794000"/>
          </a:xfrm>
          <a:prstGeom prst="rect">
            <a:avLst/>
          </a:prstGeom>
          <a:solidFill>
            <a:srgbClr val="C9893B"/>
          </a:solidFill>
          <a:ln/>
        </p:spPr>
      </p:sp>
      <p:sp>
        <p:nvSpPr>
          <p:cNvPr id="8" name="Shape 6"/>
          <p:cNvSpPr/>
          <p:nvPr/>
        </p:nvSpPr>
        <p:spPr>
          <a:xfrm>
            <a:off x="1095375" y="3048000"/>
            <a:ext cx="400050" cy="457200"/>
          </a:xfrm>
          <a:custGeom>
            <a:avLst/>
            <a:gdLst/>
            <a:ahLst/>
            <a:cxnLst/>
            <a:rect l="l" t="t" r="r" b="b"/>
            <a:pathLst>
              <a:path w="400050" h="457200">
                <a:moveTo>
                  <a:pt x="400050" y="183773"/>
                </a:moveTo>
                <a:cubicBezTo>
                  <a:pt x="386834" y="192524"/>
                  <a:pt x="371654" y="199579"/>
                  <a:pt x="355848" y="205204"/>
                </a:cubicBezTo>
                <a:cubicBezTo>
                  <a:pt x="313879" y="220206"/>
                  <a:pt x="258782" y="228600"/>
                  <a:pt x="200025" y="228600"/>
                </a:cubicBezTo>
                <a:cubicBezTo>
                  <a:pt x="141268" y="228600"/>
                  <a:pt x="86082" y="220117"/>
                  <a:pt x="44202" y="205204"/>
                </a:cubicBezTo>
                <a:cubicBezTo>
                  <a:pt x="28486" y="199579"/>
                  <a:pt x="13216" y="192524"/>
                  <a:pt x="0" y="183773"/>
                </a:cubicBezTo>
                <a:lnTo>
                  <a:pt x="0" y="257175"/>
                </a:lnTo>
                <a:cubicBezTo>
                  <a:pt x="0" y="296644"/>
                  <a:pt x="89565" y="328613"/>
                  <a:pt x="200025" y="328613"/>
                </a:cubicBezTo>
                <a:cubicBezTo>
                  <a:pt x="310485" y="328613"/>
                  <a:pt x="400050" y="296644"/>
                  <a:pt x="400050" y="257175"/>
                </a:cubicBezTo>
                <a:lnTo>
                  <a:pt x="400050" y="183773"/>
                </a:lnTo>
                <a:close/>
                <a:moveTo>
                  <a:pt x="400050" y="114300"/>
                </a:moveTo>
                <a:lnTo>
                  <a:pt x="400050" y="71438"/>
                </a:lnTo>
                <a:cubicBezTo>
                  <a:pt x="400050" y="31968"/>
                  <a:pt x="310485" y="0"/>
                  <a:pt x="200025" y="0"/>
                </a:cubicBezTo>
                <a:cubicBezTo>
                  <a:pt x="89565" y="0"/>
                  <a:pt x="0" y="31968"/>
                  <a:pt x="0" y="71438"/>
                </a:cubicBezTo>
                <a:lnTo>
                  <a:pt x="0" y="114300"/>
                </a:lnTo>
                <a:cubicBezTo>
                  <a:pt x="0" y="153769"/>
                  <a:pt x="89565" y="185738"/>
                  <a:pt x="200025" y="185738"/>
                </a:cubicBezTo>
                <a:cubicBezTo>
                  <a:pt x="310485" y="185738"/>
                  <a:pt x="400050" y="153769"/>
                  <a:pt x="400050" y="114300"/>
                </a:cubicBezTo>
                <a:close/>
                <a:moveTo>
                  <a:pt x="355848" y="348079"/>
                </a:moveTo>
                <a:cubicBezTo>
                  <a:pt x="313968" y="362992"/>
                  <a:pt x="258872" y="371475"/>
                  <a:pt x="200025" y="371475"/>
                </a:cubicBezTo>
                <a:cubicBezTo>
                  <a:pt x="141178" y="371475"/>
                  <a:pt x="86082" y="362992"/>
                  <a:pt x="44202" y="348079"/>
                </a:cubicBezTo>
                <a:cubicBezTo>
                  <a:pt x="28486" y="342454"/>
                  <a:pt x="13216" y="335399"/>
                  <a:pt x="0" y="326648"/>
                </a:cubicBezTo>
                <a:lnTo>
                  <a:pt x="0" y="385763"/>
                </a:lnTo>
                <a:cubicBezTo>
                  <a:pt x="0" y="425232"/>
                  <a:pt x="89565" y="457200"/>
                  <a:pt x="200025" y="457200"/>
                </a:cubicBezTo>
                <a:cubicBezTo>
                  <a:pt x="310485" y="457200"/>
                  <a:pt x="400050" y="425232"/>
                  <a:pt x="400050" y="385763"/>
                </a:cubicBezTo>
                <a:lnTo>
                  <a:pt x="400050" y="326648"/>
                </a:lnTo>
                <a:cubicBezTo>
                  <a:pt x="386834" y="335399"/>
                  <a:pt x="371654" y="342454"/>
                  <a:pt x="355848" y="348079"/>
                </a:cubicBezTo>
                <a:close/>
              </a:path>
            </a:pathLst>
          </a:custGeom>
          <a:solidFill>
            <a:srgbClr val="C9893B"/>
          </a:solidFill>
          <a:ln/>
        </p:spPr>
      </p:sp>
      <p:sp>
        <p:nvSpPr>
          <p:cNvPr id="9" name="Text 7"/>
          <p:cNvSpPr/>
          <p:nvPr/>
        </p:nvSpPr>
        <p:spPr>
          <a:xfrm>
            <a:off x="1701800" y="3048000"/>
            <a:ext cx="5842000" cy="4826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Primary (Master) Server</a:t>
            </a:r>
            <a:endParaRPr lang="en-US" sz="2000" dirty="0"/>
          </a:p>
        </p:txBody>
      </p:sp>
      <p:sp>
        <p:nvSpPr>
          <p:cNvPr id="10" name="Text 8"/>
          <p:cNvSpPr/>
          <p:nvPr/>
        </p:nvSpPr>
        <p:spPr>
          <a:xfrm>
            <a:off x="1066800" y="3619500"/>
            <a:ext cx="6502400" cy="17780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Contains the </a:t>
            </a:r>
            <a:pPr>
              <a:lnSpc>
                <a:spcPct val="160000"/>
              </a:lnSpc>
            </a:pPr>
            <a:r>
              <a:rPr lang="en-US" sz="1600" b="1" dirty="0">
                <a:solidFill>
                  <a:srgbClr val="1E2328"/>
                </a:solidFill>
                <a:latin typeface="Quattrocento Sans" pitchFamily="34" charset="0"/>
                <a:ea typeface="Quattrocento Sans" pitchFamily="34" charset="-122"/>
                <a:cs typeface="Quattrocento Sans" pitchFamily="34" charset="-120"/>
              </a:rPr>
              <a:t>original zone file</a:t>
            </a:r>
            <a:endParaRPr lang="en-US" sz="1600" dirty="0"/>
          </a:p>
          <a:p>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All DNS record changes are made here</a:t>
            </a:r>
            <a:endParaRPr lang="en-US" sz="1600" dirty="0"/>
          </a:p>
          <a:p>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The single source of truth for the domain</a:t>
            </a:r>
            <a:endParaRPr lang="en-US" sz="1600" dirty="0"/>
          </a:p>
          <a:p>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Managed by the domain owner or hosting provider</a:t>
            </a:r>
            <a:endParaRPr lang="en-US" sz="1600" dirty="0"/>
          </a:p>
        </p:txBody>
      </p:sp>
      <p:sp>
        <p:nvSpPr>
          <p:cNvPr id="11" name="Shape 9"/>
          <p:cNvSpPr/>
          <p:nvPr/>
        </p:nvSpPr>
        <p:spPr>
          <a:xfrm>
            <a:off x="8382000" y="2794000"/>
            <a:ext cx="7112000" cy="2794000"/>
          </a:xfrm>
          <a:prstGeom prst="rect">
            <a:avLst/>
          </a:prstGeom>
          <a:solidFill>
            <a:srgbClr val="E8E4DE"/>
          </a:solidFill>
          <a:ln/>
        </p:spPr>
      </p:sp>
      <p:sp>
        <p:nvSpPr>
          <p:cNvPr id="12" name="Shape 10"/>
          <p:cNvSpPr/>
          <p:nvPr/>
        </p:nvSpPr>
        <p:spPr>
          <a:xfrm>
            <a:off x="8382000" y="2794000"/>
            <a:ext cx="76200" cy="2794000"/>
          </a:xfrm>
          <a:prstGeom prst="rect">
            <a:avLst/>
          </a:prstGeom>
          <a:solidFill>
            <a:srgbClr val="2D3E50"/>
          </a:solidFill>
          <a:ln/>
        </p:spPr>
      </p:sp>
      <p:sp>
        <p:nvSpPr>
          <p:cNvPr id="13" name="Shape 11"/>
          <p:cNvSpPr/>
          <p:nvPr/>
        </p:nvSpPr>
        <p:spPr>
          <a:xfrm>
            <a:off x="8715375" y="3048000"/>
            <a:ext cx="400050" cy="457200"/>
          </a:xfrm>
          <a:custGeom>
            <a:avLst/>
            <a:gdLst/>
            <a:ahLst/>
            <a:cxnLst/>
            <a:rect l="l" t="t" r="r" b="b"/>
            <a:pathLst>
              <a:path w="400050" h="457200">
                <a:moveTo>
                  <a:pt x="171450" y="0"/>
                </a:moveTo>
                <a:cubicBezTo>
                  <a:pt x="139928" y="0"/>
                  <a:pt x="114300" y="25628"/>
                  <a:pt x="114300" y="57150"/>
                </a:cubicBezTo>
                <a:lnTo>
                  <a:pt x="114300" y="285750"/>
                </a:lnTo>
                <a:cubicBezTo>
                  <a:pt x="114300" y="317272"/>
                  <a:pt x="139928" y="342900"/>
                  <a:pt x="171450" y="342900"/>
                </a:cubicBezTo>
                <a:lnTo>
                  <a:pt x="342900" y="342900"/>
                </a:lnTo>
                <a:cubicBezTo>
                  <a:pt x="374422" y="342900"/>
                  <a:pt x="400050" y="317272"/>
                  <a:pt x="400050" y="285750"/>
                </a:cubicBezTo>
                <a:lnTo>
                  <a:pt x="400050" y="106620"/>
                </a:lnTo>
                <a:cubicBezTo>
                  <a:pt x="400050" y="91083"/>
                  <a:pt x="393710" y="76170"/>
                  <a:pt x="382459" y="65365"/>
                </a:cubicBezTo>
                <a:lnTo>
                  <a:pt x="330934" y="15895"/>
                </a:lnTo>
                <a:cubicBezTo>
                  <a:pt x="320308" y="5715"/>
                  <a:pt x="306110" y="0"/>
                  <a:pt x="291376" y="0"/>
                </a:cubicBezTo>
                <a:lnTo>
                  <a:pt x="171450" y="0"/>
                </a:lnTo>
                <a:close/>
                <a:moveTo>
                  <a:pt x="57150" y="114300"/>
                </a:moveTo>
                <a:cubicBezTo>
                  <a:pt x="25628" y="114300"/>
                  <a:pt x="0" y="139928"/>
                  <a:pt x="0" y="171450"/>
                </a:cubicBezTo>
                <a:lnTo>
                  <a:pt x="0" y="400050"/>
                </a:lnTo>
                <a:cubicBezTo>
                  <a:pt x="0" y="431572"/>
                  <a:pt x="25628" y="457200"/>
                  <a:pt x="57150" y="457200"/>
                </a:cubicBezTo>
                <a:lnTo>
                  <a:pt x="228600" y="457200"/>
                </a:lnTo>
                <a:cubicBezTo>
                  <a:pt x="260122" y="457200"/>
                  <a:pt x="285750" y="431572"/>
                  <a:pt x="285750" y="400050"/>
                </a:cubicBezTo>
                <a:lnTo>
                  <a:pt x="285750" y="385763"/>
                </a:lnTo>
                <a:lnTo>
                  <a:pt x="228600" y="385763"/>
                </a:lnTo>
                <a:lnTo>
                  <a:pt x="228600" y="400050"/>
                </a:lnTo>
                <a:lnTo>
                  <a:pt x="57150" y="400050"/>
                </a:lnTo>
                <a:lnTo>
                  <a:pt x="57150" y="171450"/>
                </a:lnTo>
                <a:lnTo>
                  <a:pt x="71438" y="171450"/>
                </a:lnTo>
                <a:lnTo>
                  <a:pt x="71438" y="114300"/>
                </a:lnTo>
                <a:lnTo>
                  <a:pt x="57150" y="114300"/>
                </a:lnTo>
                <a:close/>
              </a:path>
            </a:pathLst>
          </a:custGeom>
          <a:solidFill>
            <a:srgbClr val="2D3E50"/>
          </a:solidFill>
          <a:ln/>
        </p:spPr>
      </p:sp>
      <p:sp>
        <p:nvSpPr>
          <p:cNvPr id="14" name="Text 12"/>
          <p:cNvSpPr/>
          <p:nvPr/>
        </p:nvSpPr>
        <p:spPr>
          <a:xfrm>
            <a:off x="9321800" y="3048000"/>
            <a:ext cx="5842000" cy="4826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Secondary (Slave) Server</a:t>
            </a:r>
            <a:endParaRPr lang="en-US" sz="2000" dirty="0"/>
          </a:p>
        </p:txBody>
      </p:sp>
      <p:sp>
        <p:nvSpPr>
          <p:cNvPr id="15" name="Text 13"/>
          <p:cNvSpPr/>
          <p:nvPr/>
        </p:nvSpPr>
        <p:spPr>
          <a:xfrm>
            <a:off x="8686800" y="3619500"/>
            <a:ext cx="6502400" cy="17780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a:t>
            </a:r>
            <a:pPr>
              <a:lnSpc>
                <a:spcPct val="160000"/>
              </a:lnSpc>
            </a:pPr>
            <a:r>
              <a:rPr lang="en-US" sz="1600" b="1" dirty="0">
                <a:solidFill>
                  <a:srgbClr val="1E2328"/>
                </a:solidFill>
                <a:latin typeface="Quattrocento Sans" pitchFamily="34" charset="0"/>
                <a:ea typeface="Quattrocento Sans" pitchFamily="34" charset="-122"/>
                <a:cs typeface="Quattrocento Sans" pitchFamily="34" charset="-120"/>
              </a:rPr>
              <a:t>Exact copy</a:t>
            </a:r>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of the primary server</a:t>
            </a:r>
            <a:endParaRPr lang="en-US" sz="1600" dirty="0"/>
          </a:p>
          <a:p>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Receives data via zone transfer (AXFR/IXFR)</a:t>
            </a:r>
            <a:endParaRPr lang="en-US" sz="1600" dirty="0"/>
          </a:p>
          <a:p>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Provides </a:t>
            </a:r>
            <a:pPr>
              <a:lnSpc>
                <a:spcPct val="160000"/>
              </a:lnSpc>
            </a:pPr>
            <a:r>
              <a:rPr lang="en-US" sz="1600" b="1" dirty="0">
                <a:solidFill>
                  <a:srgbClr val="1E2328"/>
                </a:solidFill>
                <a:latin typeface="Quattrocento Sans" pitchFamily="34" charset="0"/>
                <a:ea typeface="Quattrocento Sans" pitchFamily="34" charset="-122"/>
                <a:cs typeface="Quattrocento Sans" pitchFamily="34" charset="-120"/>
              </a:rPr>
              <a:t>redundancy</a:t>
            </a:r>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and load distribution</a:t>
            </a:r>
            <a:endParaRPr lang="en-US" sz="1600" dirty="0"/>
          </a:p>
          <a:p>
            <a:pPr>
              <a:lnSpc>
                <a:spcPct val="160000"/>
              </a:lnSpc>
            </a:pPr>
            <a:r>
              <a:rPr lang="en-US" sz="1600" dirty="0">
                <a:solidFill>
                  <a:srgbClr val="1E2328"/>
                </a:solidFill>
                <a:latin typeface="Quattrocento Sans" pitchFamily="34" charset="0"/>
                <a:ea typeface="Quattrocento Sans" pitchFamily="34" charset="-122"/>
                <a:cs typeface="Quattrocento Sans" pitchFamily="34" charset="-120"/>
              </a:rPr>
              <a:t>• Takes over if primary fails</a:t>
            </a:r>
            <a:endParaRPr lang="en-US" sz="1600" dirty="0"/>
          </a:p>
        </p:txBody>
      </p:sp>
      <p:sp>
        <p:nvSpPr>
          <p:cNvPr id="16" name="Shape 14"/>
          <p:cNvSpPr/>
          <p:nvPr/>
        </p:nvSpPr>
        <p:spPr>
          <a:xfrm>
            <a:off x="762000" y="5969000"/>
            <a:ext cx="14732000" cy="2032000"/>
          </a:xfrm>
          <a:prstGeom prst="rect">
            <a:avLst/>
          </a:prstGeom>
          <a:solidFill>
            <a:srgbClr val="2D3E50"/>
          </a:solidFill>
          <a:ln/>
        </p:spPr>
      </p:sp>
      <p:sp>
        <p:nvSpPr>
          <p:cNvPr id="17" name="Text 15"/>
          <p:cNvSpPr/>
          <p:nvPr/>
        </p:nvSpPr>
        <p:spPr>
          <a:xfrm>
            <a:off x="1066800" y="6146800"/>
            <a:ext cx="5080000" cy="330200"/>
          </a:xfrm>
          <a:prstGeom prst="rect">
            <a:avLst/>
          </a:prstGeom>
          <a:noFill/>
          <a:ln/>
        </p:spPr>
        <p:txBody>
          <a:bodyPr wrap="none" lIns="0" tIns="0" rIns="0" bIns="0" rtlCol="0" anchor="ctr"/>
          <a:lstStyle/>
          <a:p>
            <a:pPr>
              <a:lnSpc>
                <a:spcPct val="100000"/>
              </a:lnSpc>
            </a:pPr>
            <a:r>
              <a:rPr lang="en-US" sz="1600" b="1" spc="200" kern="0" dirty="0">
                <a:solidFill>
                  <a:srgbClr val="C9893B"/>
                </a:solidFill>
                <a:latin typeface="Liter" pitchFamily="34" charset="0"/>
                <a:ea typeface="Liter" pitchFamily="34" charset="-122"/>
                <a:cs typeface="Liter" pitchFamily="34" charset="-120"/>
              </a:rPr>
              <a:t>BEST PRACTICES &amp; NOTES</a:t>
            </a:r>
            <a:endParaRPr lang="en-US" sz="1600" dirty="0"/>
          </a:p>
        </p:txBody>
      </p:sp>
      <p:sp>
        <p:nvSpPr>
          <p:cNvPr id="18" name="Text 16"/>
          <p:cNvSpPr/>
          <p:nvPr/>
        </p:nvSpPr>
        <p:spPr>
          <a:xfrm>
            <a:off x="1066800" y="6604000"/>
            <a:ext cx="14122400" cy="1206500"/>
          </a:xfrm>
          <a:prstGeom prst="rect">
            <a:avLst/>
          </a:prstGeom>
          <a:noFill/>
          <a:ln/>
        </p:spPr>
        <p:txBody>
          <a:bodyPr wrap="square" lIns="0" tIns="0" rIns="0" bIns="0" rtlCol="0" anchor="ctr"/>
          <a:lstStyle/>
          <a:p>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RFC 1034 recommends at least </a:t>
            </a:r>
            <a:pPr>
              <a:lnSpc>
                <a:spcPct val="160000"/>
              </a:lnSpc>
            </a:pPr>
            <a:r>
              <a:rPr lang="en-US" sz="1500" b="1" dirty="0">
                <a:solidFill>
                  <a:srgbClr val="C9893B"/>
                </a:solidFill>
                <a:latin typeface="Quattrocento Sans" pitchFamily="34" charset="0"/>
                <a:ea typeface="Quattrocento Sans" pitchFamily="34" charset="-122"/>
                <a:cs typeface="Quattrocento Sans" pitchFamily="34" charset="-120"/>
              </a:rPr>
              <a:t>two authoritative servers</a:t>
            </a:r>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per domain for reliability</a:t>
            </a:r>
            <a:endParaRPr lang="en-US" sz="1600" dirty="0"/>
          </a:p>
          <a:p>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When registering a domain, the owner specifies which nameservers are authoritative</a:t>
            </a:r>
            <a:endParaRPr lang="en-US" sz="1600" dirty="0"/>
          </a:p>
          <a:p>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a:t>
            </a:r>
            <a:pPr>
              <a:lnSpc>
                <a:spcPct val="160000"/>
              </a:lnSpc>
            </a:pPr>
            <a:r>
              <a:rPr lang="en-US" sz="1500" b="1" dirty="0">
                <a:solidFill>
                  <a:srgbClr val="FFFFFF"/>
                </a:solidFill>
                <a:latin typeface="Quattrocento Sans" pitchFamily="34" charset="0"/>
                <a:ea typeface="Quattrocento Sans" pitchFamily="34" charset="-122"/>
                <a:cs typeface="Quattrocento Sans" pitchFamily="34" charset="-120"/>
              </a:rPr>
              <a:t>Glue records</a:t>
            </a:r>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provide IP addresses for child nameservers to avoid circular dependencies</a:t>
            </a:r>
            <a:endParaRPr lang="en-US" sz="1600" dirty="0"/>
          </a:p>
        </p:txBody>
      </p:sp>
      <p:sp>
        <p:nvSpPr>
          <p:cNvPr id="19" name="Shape 17"/>
          <p:cNvSpPr/>
          <p:nvPr/>
        </p:nvSpPr>
        <p:spPr>
          <a:xfrm>
            <a:off x="762000" y="8382000"/>
            <a:ext cx="14732000" cy="25400"/>
          </a:xfrm>
          <a:prstGeom prst="rect">
            <a:avLst/>
          </a:prstGeom>
          <a:solidFill>
            <a:srgbClr val="C9893B"/>
          </a:solidFill>
          <a:ln/>
        </p:spPr>
      </p:sp>
      <p:sp>
        <p:nvSpPr>
          <p:cNvPr id="20" name="Text 18"/>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22</a:t>
            </a:r>
            <a:endParaRPr lang="en-US" sz="14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ttps://kimi-img.moonshot.cn/pub/slides/okc/ndqamqta5jpyk/mnt/agents/output/week8_dns/images/5_10_Unique_Study_Tips_For_Exams_SACA.png">    </p:cNvPr>
          <p:cNvPicPr>
            <a:picLocks noChangeAspect="1"/>
          </p:cNvPicPr>
          <p:nvPr/>
        </p:nvPicPr>
        <p:blipFill>
          <a:blip r:embed="rId1"/>
          <a:srcRect l="0" r="0" t="7812" b="7812"/>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E2328">
                  <a:alpha val="91000"/>
                </a:srgbClr>
              </a:gs>
              <a:gs pos="50000">
                <a:srgbClr val="1E2328">
                  <a:alpha val="69000"/>
                </a:srgbClr>
              </a:gs>
              <a:gs pos="100000">
                <a:srgbClr val="1E2328">
                  <a:alpha val="38000"/>
                </a:srgbClr>
              </a:gs>
            </a:gsLst>
            <a:lin ang="5400000" scaled="1"/>
          </a:gradFill>
          <a:ln w="12700">
            <a:solidFill>
              <a:srgbClr val="333333"/>
            </a:solidFill>
            <a:prstDash val="solid"/>
          </a:ln>
        </p:spPr>
      </p:sp>
      <p:sp>
        <p:nvSpPr>
          <p:cNvPr id="4" name="Text 1"/>
          <p:cNvSpPr/>
          <p:nvPr/>
        </p:nvSpPr>
        <p:spPr>
          <a:xfrm>
            <a:off x="1016000" y="2540000"/>
            <a:ext cx="3810000" cy="355600"/>
          </a:xfrm>
          <a:prstGeom prst="rect">
            <a:avLst/>
          </a:prstGeom>
          <a:noFill/>
          <a:ln/>
        </p:spPr>
        <p:txBody>
          <a:bodyPr wrap="none" lIns="0" tIns="0" rIns="0" bIns="0" rtlCol="0" anchor="ctr"/>
          <a:lstStyle/>
          <a:p>
            <a:pPr>
              <a:lnSpc>
                <a:spcPct val="100000"/>
              </a:lnSpc>
            </a:pPr>
            <a:r>
              <a:rPr lang="en-US" sz="1400" b="1" spc="300" kern="0" dirty="0">
                <a:solidFill>
                  <a:srgbClr val="C9893B"/>
                </a:solidFill>
                <a:latin typeface="Quattrocento Sans" pitchFamily="34" charset="0"/>
                <a:ea typeface="Quattrocento Sans" pitchFamily="34" charset="-122"/>
                <a:cs typeface="Quattrocento Sans" pitchFamily="34" charset="-120"/>
              </a:rPr>
              <a:t>LECTURE 16</a:t>
            </a:r>
            <a:endParaRPr lang="en-US" sz="1600" dirty="0"/>
          </a:p>
        </p:txBody>
      </p:sp>
      <p:sp>
        <p:nvSpPr>
          <p:cNvPr id="5" name="Shape 2"/>
          <p:cNvSpPr/>
          <p:nvPr/>
        </p:nvSpPr>
        <p:spPr>
          <a:xfrm>
            <a:off x="1016000" y="3048000"/>
            <a:ext cx="1016000" cy="50800"/>
          </a:xfrm>
          <a:prstGeom prst="rect">
            <a:avLst/>
          </a:prstGeom>
          <a:solidFill>
            <a:srgbClr val="C9893B"/>
          </a:solidFill>
          <a:ln/>
        </p:spPr>
      </p:sp>
      <p:sp>
        <p:nvSpPr>
          <p:cNvPr id="6" name="Text 3"/>
          <p:cNvSpPr/>
          <p:nvPr/>
        </p:nvSpPr>
        <p:spPr>
          <a:xfrm>
            <a:off x="1016000" y="3365500"/>
            <a:ext cx="8890000" cy="762000"/>
          </a:xfrm>
          <a:prstGeom prst="rect">
            <a:avLst/>
          </a:prstGeom>
          <a:noFill/>
          <a:ln/>
        </p:spPr>
        <p:txBody>
          <a:bodyPr wrap="none" lIns="0" tIns="0" rIns="0" bIns="0" rtlCol="0" anchor="ctr"/>
          <a:lstStyle/>
          <a:p>
            <a:pPr>
              <a:lnSpc>
                <a:spcPct val="100000"/>
              </a:lnSpc>
            </a:pPr>
            <a:r>
              <a:rPr lang="en-US" sz="4400" b="1" dirty="0">
                <a:solidFill>
                  <a:srgbClr val="FFFFFF"/>
                </a:solidFill>
                <a:latin typeface="Liter" pitchFamily="34" charset="0"/>
                <a:ea typeface="Liter" pitchFamily="34" charset="-122"/>
                <a:cs typeface="Liter" pitchFamily="34" charset="-120"/>
              </a:rPr>
              <a:t>Revision</a:t>
            </a:r>
            <a:endParaRPr lang="en-US" sz="1600" dirty="0"/>
          </a:p>
        </p:txBody>
      </p:sp>
      <p:sp>
        <p:nvSpPr>
          <p:cNvPr id="7" name="Text 4"/>
          <p:cNvSpPr/>
          <p:nvPr/>
        </p:nvSpPr>
        <p:spPr>
          <a:xfrm>
            <a:off x="1016000" y="4318000"/>
            <a:ext cx="7620000" cy="1016000"/>
          </a:xfrm>
          <a:prstGeom prst="rect">
            <a:avLst/>
          </a:prstGeom>
          <a:noFill/>
          <a:ln/>
        </p:spPr>
        <p:txBody>
          <a:bodyPr wrap="square" lIns="0" tIns="0" rIns="0" bIns="0" rtlCol="0" anchor="ctr"/>
          <a:lstStyle/>
          <a:p>
            <a:pPr>
              <a:lnSpc>
                <a:spcPct val="16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Reviewing key concepts, summarizing components, and testing your understanding of the Domain Name System</a:t>
            </a:r>
            <a:endParaRPr lang="en-US" sz="1600" dirty="0"/>
          </a:p>
        </p:txBody>
      </p:sp>
      <p:sp>
        <p:nvSpPr>
          <p:cNvPr id="8" name="Shape 5"/>
          <p:cNvSpPr/>
          <p:nvPr/>
        </p:nvSpPr>
        <p:spPr>
          <a:xfrm>
            <a:off x="1016000" y="8128000"/>
            <a:ext cx="2540000" cy="25400"/>
          </a:xfrm>
          <a:prstGeom prst="rect">
            <a:avLst/>
          </a:prstGeom>
          <a:solidFill>
            <a:srgbClr val="FFFFFF">
              <a:alpha val="18824"/>
            </a:srgbClr>
          </a:solidFill>
          <a:ln/>
        </p:spPr>
      </p:sp>
      <p:sp>
        <p:nvSpPr>
          <p:cNvPr id="9" name="Text 6"/>
          <p:cNvSpPr/>
          <p:nvPr/>
        </p:nvSpPr>
        <p:spPr>
          <a:xfrm>
            <a:off x="14732000" y="8534400"/>
            <a:ext cx="762000" cy="254000"/>
          </a:xfrm>
          <a:prstGeom prst="rect">
            <a:avLst/>
          </a:prstGeom>
          <a:noFill/>
          <a:ln/>
        </p:spPr>
        <p:txBody>
          <a:bodyPr wrap="none" lIns="0" tIns="0" rIns="0" bIns="0" rtlCol="0" anchor="ctr"/>
          <a:lstStyle/>
          <a:p>
            <a:pPr algn="r">
              <a:lnSpc>
                <a:spcPct val="100000"/>
              </a:lnSpc>
            </a:pPr>
            <a:r>
              <a:rPr lang="en-US" sz="1400" dirty="0">
                <a:solidFill>
                  <a:srgbClr val="FFFFFF">
                    <a:alpha val="50196"/>
                  </a:srgbClr>
                </a:solidFill>
                <a:latin typeface="Quattrocento Sans" pitchFamily="34" charset="0"/>
                <a:ea typeface="Quattrocento Sans" pitchFamily="34" charset="-122"/>
                <a:cs typeface="Quattrocento Sans" pitchFamily="34" charset="-120"/>
              </a:rPr>
              <a:t>23</a:t>
            </a:r>
            <a:endParaRPr lang="en-US" sz="16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Key Concepts Review</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Shape 3"/>
          <p:cNvSpPr/>
          <p:nvPr/>
        </p:nvSpPr>
        <p:spPr>
          <a:xfrm>
            <a:off x="762000" y="1587500"/>
            <a:ext cx="4699000" cy="2032000"/>
          </a:xfrm>
          <a:prstGeom prst="rect">
            <a:avLst/>
          </a:prstGeom>
          <a:solidFill>
            <a:srgbClr val="E8E4DE"/>
          </a:solidFill>
          <a:ln/>
        </p:spPr>
      </p:sp>
      <p:sp>
        <p:nvSpPr>
          <p:cNvPr id="6" name="Text 4"/>
          <p:cNvSpPr/>
          <p:nvPr/>
        </p:nvSpPr>
        <p:spPr>
          <a:xfrm>
            <a:off x="914400" y="1689100"/>
            <a:ext cx="508000" cy="381000"/>
          </a:xfrm>
          <a:prstGeom prst="rect">
            <a:avLst/>
          </a:prstGeom>
          <a:noFill/>
          <a:ln/>
        </p:spPr>
        <p:txBody>
          <a:bodyPr wrap="none" lIns="0" tIns="0" rIns="0" bIns="0" rtlCol="0" anchor="ctr"/>
          <a:lstStyle/>
          <a:p>
            <a:pPr>
              <a:lnSpc>
                <a:spcPct val="100000"/>
              </a:lnSpc>
            </a:pPr>
            <a:r>
              <a:rPr lang="en-US" sz="2000" b="1" dirty="0">
                <a:solidFill>
                  <a:srgbClr val="C9893B"/>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422400" y="17145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DNS Definition</a:t>
            </a:r>
            <a:endParaRPr lang="en-US" sz="1600" dirty="0"/>
          </a:p>
        </p:txBody>
      </p:sp>
      <p:sp>
        <p:nvSpPr>
          <p:cNvPr id="8" name="Text 6"/>
          <p:cNvSpPr/>
          <p:nvPr/>
        </p:nvSpPr>
        <p:spPr>
          <a:xfrm>
            <a:off x="1016000" y="2133600"/>
            <a:ext cx="4191000" cy="1270000"/>
          </a:xfrm>
          <a:prstGeom prst="rect">
            <a:avLst/>
          </a:prstGeom>
          <a:noFill/>
          <a:ln/>
        </p:spPr>
        <p:txBody>
          <a:bodyPr wrap="square" lIns="0" tIns="0" rIns="0" bIns="0" rtlCol="0" anchor="ctr"/>
          <a:lstStyle/>
          <a:p>
            <a:pPr>
              <a:lnSpc>
                <a:spcPct val="155000"/>
              </a:lnSpc>
            </a:pPr>
            <a:r>
              <a:rPr lang="en-US" sz="1400" dirty="0">
                <a:solidFill>
                  <a:srgbClr val="1E2328"/>
                </a:solidFill>
                <a:latin typeface="Quattrocento Sans" pitchFamily="34" charset="0"/>
                <a:ea typeface="Quattrocento Sans" pitchFamily="34" charset="-122"/>
                <a:cs typeface="Quattrocento Sans" pitchFamily="34" charset="-120"/>
              </a:rPr>
              <a:t>Hierarchical, decentralized system that translates human-readable domain names to IP addresses.</a:t>
            </a:r>
            <a:endParaRPr lang="en-US" sz="1600" dirty="0"/>
          </a:p>
        </p:txBody>
      </p:sp>
      <p:sp>
        <p:nvSpPr>
          <p:cNvPr id="9" name="Shape 7"/>
          <p:cNvSpPr/>
          <p:nvPr/>
        </p:nvSpPr>
        <p:spPr>
          <a:xfrm>
            <a:off x="5778500" y="1587500"/>
            <a:ext cx="4699000" cy="2032000"/>
          </a:xfrm>
          <a:prstGeom prst="rect">
            <a:avLst/>
          </a:prstGeom>
          <a:solidFill>
            <a:srgbClr val="E8E4DE"/>
          </a:solidFill>
          <a:ln/>
        </p:spPr>
      </p:sp>
      <p:sp>
        <p:nvSpPr>
          <p:cNvPr id="10" name="Text 8"/>
          <p:cNvSpPr/>
          <p:nvPr/>
        </p:nvSpPr>
        <p:spPr>
          <a:xfrm>
            <a:off x="5930900" y="1689100"/>
            <a:ext cx="508000" cy="381000"/>
          </a:xfrm>
          <a:prstGeom prst="rect">
            <a:avLst/>
          </a:prstGeom>
          <a:noFill/>
          <a:ln/>
        </p:spPr>
        <p:txBody>
          <a:bodyPr wrap="none" lIns="0" tIns="0" rIns="0" bIns="0" rtlCol="0" anchor="ctr"/>
          <a:lstStyle/>
          <a:p>
            <a:pPr>
              <a:lnSpc>
                <a:spcPct val="100000"/>
              </a:lnSpc>
            </a:pPr>
            <a:r>
              <a:rPr lang="en-US" sz="2000" b="1" dirty="0">
                <a:solidFill>
                  <a:srgbClr val="C9893B"/>
                </a:solidFill>
                <a:latin typeface="Liter" pitchFamily="34" charset="0"/>
                <a:ea typeface="Liter" pitchFamily="34" charset="-122"/>
                <a:cs typeface="Liter" pitchFamily="34" charset="-120"/>
              </a:rPr>
              <a:t>2</a:t>
            </a:r>
            <a:endParaRPr lang="en-US" sz="1600" dirty="0"/>
          </a:p>
        </p:txBody>
      </p:sp>
      <p:sp>
        <p:nvSpPr>
          <p:cNvPr id="11" name="Text 9"/>
          <p:cNvSpPr/>
          <p:nvPr/>
        </p:nvSpPr>
        <p:spPr>
          <a:xfrm>
            <a:off x="6438900" y="17145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DNS Hierarchy</a:t>
            </a:r>
            <a:endParaRPr lang="en-US" sz="1600" dirty="0"/>
          </a:p>
        </p:txBody>
      </p:sp>
      <p:sp>
        <p:nvSpPr>
          <p:cNvPr id="12" name="Text 10"/>
          <p:cNvSpPr/>
          <p:nvPr/>
        </p:nvSpPr>
        <p:spPr>
          <a:xfrm>
            <a:off x="6032500" y="2133600"/>
            <a:ext cx="4191000" cy="1270000"/>
          </a:xfrm>
          <a:prstGeom prst="rect">
            <a:avLst/>
          </a:prstGeom>
          <a:noFill/>
          <a:ln/>
        </p:spPr>
        <p:txBody>
          <a:bodyPr wrap="square" lIns="0" tIns="0" rIns="0" bIns="0" rtlCol="0" anchor="ctr"/>
          <a:lstStyle/>
          <a:p>
            <a:pPr>
              <a:lnSpc>
                <a:spcPct val="155000"/>
              </a:lnSpc>
            </a:pPr>
            <a:r>
              <a:rPr lang="en-US" sz="1400" dirty="0">
                <a:solidFill>
                  <a:srgbClr val="1E2328"/>
                </a:solidFill>
                <a:latin typeface="Quattrocento Sans" pitchFamily="34" charset="0"/>
                <a:ea typeface="Quattrocento Sans" pitchFamily="34" charset="-122"/>
                <a:cs typeface="Quattrocento Sans" pitchFamily="34" charset="-120"/>
              </a:rPr>
              <a:t>Root → TLD → Second-Level Domain → Subdomain → Hostname. Distributed tree structure.</a:t>
            </a:r>
            <a:endParaRPr lang="en-US" sz="1600" dirty="0"/>
          </a:p>
        </p:txBody>
      </p:sp>
      <p:sp>
        <p:nvSpPr>
          <p:cNvPr id="13" name="Shape 11"/>
          <p:cNvSpPr/>
          <p:nvPr/>
        </p:nvSpPr>
        <p:spPr>
          <a:xfrm>
            <a:off x="10795000" y="1587500"/>
            <a:ext cx="4699000" cy="2032000"/>
          </a:xfrm>
          <a:prstGeom prst="rect">
            <a:avLst/>
          </a:prstGeom>
          <a:solidFill>
            <a:srgbClr val="E8E4DE"/>
          </a:solidFill>
          <a:ln/>
        </p:spPr>
      </p:sp>
      <p:sp>
        <p:nvSpPr>
          <p:cNvPr id="14" name="Text 12"/>
          <p:cNvSpPr/>
          <p:nvPr/>
        </p:nvSpPr>
        <p:spPr>
          <a:xfrm>
            <a:off x="10947400" y="1689100"/>
            <a:ext cx="508000" cy="381000"/>
          </a:xfrm>
          <a:prstGeom prst="rect">
            <a:avLst/>
          </a:prstGeom>
          <a:noFill/>
          <a:ln/>
        </p:spPr>
        <p:txBody>
          <a:bodyPr wrap="none" lIns="0" tIns="0" rIns="0" bIns="0" rtlCol="0" anchor="ctr"/>
          <a:lstStyle/>
          <a:p>
            <a:pPr>
              <a:lnSpc>
                <a:spcPct val="100000"/>
              </a:lnSpc>
            </a:pPr>
            <a:r>
              <a:rPr lang="en-US" sz="2000" b="1" dirty="0">
                <a:solidFill>
                  <a:srgbClr val="C9893B"/>
                </a:solidFill>
                <a:latin typeface="Liter" pitchFamily="34" charset="0"/>
                <a:ea typeface="Liter" pitchFamily="34" charset="-122"/>
                <a:cs typeface="Liter" pitchFamily="34" charset="-120"/>
              </a:rPr>
              <a:t>3</a:t>
            </a:r>
            <a:endParaRPr lang="en-US" sz="1600" dirty="0"/>
          </a:p>
        </p:txBody>
      </p:sp>
      <p:sp>
        <p:nvSpPr>
          <p:cNvPr id="15" name="Text 13"/>
          <p:cNvSpPr/>
          <p:nvPr/>
        </p:nvSpPr>
        <p:spPr>
          <a:xfrm>
            <a:off x="11455400" y="17145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DNS Resolution</a:t>
            </a:r>
            <a:endParaRPr lang="en-US" sz="1600" dirty="0"/>
          </a:p>
        </p:txBody>
      </p:sp>
      <p:sp>
        <p:nvSpPr>
          <p:cNvPr id="16" name="Text 14"/>
          <p:cNvSpPr/>
          <p:nvPr/>
        </p:nvSpPr>
        <p:spPr>
          <a:xfrm>
            <a:off x="11049000" y="2133600"/>
            <a:ext cx="4191000" cy="1270000"/>
          </a:xfrm>
          <a:prstGeom prst="rect">
            <a:avLst/>
          </a:prstGeom>
          <a:noFill/>
          <a:ln/>
        </p:spPr>
        <p:txBody>
          <a:bodyPr wrap="square" lIns="0" tIns="0" rIns="0" bIns="0" rtlCol="0" anchor="ctr"/>
          <a:lstStyle/>
          <a:p>
            <a:pPr>
              <a:lnSpc>
                <a:spcPct val="155000"/>
              </a:lnSpc>
            </a:pPr>
            <a:r>
              <a:rPr lang="en-US" sz="1400" dirty="0">
                <a:solidFill>
                  <a:srgbClr val="1E2328"/>
                </a:solidFill>
                <a:latin typeface="Quattrocento Sans" pitchFamily="34" charset="0"/>
                <a:ea typeface="Quattrocento Sans" pitchFamily="34" charset="-122"/>
                <a:cs typeface="Quattrocento Sans" pitchFamily="34" charset="-120"/>
              </a:rPr>
              <a:t>The process of converting domain names to IP addresses through multiple server types.</a:t>
            </a:r>
            <a:endParaRPr lang="en-US" sz="1600" dirty="0"/>
          </a:p>
        </p:txBody>
      </p:sp>
      <p:sp>
        <p:nvSpPr>
          <p:cNvPr id="17" name="Shape 15"/>
          <p:cNvSpPr/>
          <p:nvPr/>
        </p:nvSpPr>
        <p:spPr>
          <a:xfrm>
            <a:off x="762000" y="3937000"/>
            <a:ext cx="4699000" cy="2032000"/>
          </a:xfrm>
          <a:prstGeom prst="rect">
            <a:avLst/>
          </a:prstGeom>
          <a:solidFill>
            <a:srgbClr val="E8E4DE"/>
          </a:solidFill>
          <a:ln/>
        </p:spPr>
      </p:sp>
      <p:sp>
        <p:nvSpPr>
          <p:cNvPr id="18" name="Text 16"/>
          <p:cNvSpPr/>
          <p:nvPr/>
        </p:nvSpPr>
        <p:spPr>
          <a:xfrm>
            <a:off x="914400" y="4038600"/>
            <a:ext cx="508000" cy="381000"/>
          </a:xfrm>
          <a:prstGeom prst="rect">
            <a:avLst/>
          </a:prstGeom>
          <a:noFill/>
          <a:ln/>
        </p:spPr>
        <p:txBody>
          <a:bodyPr wrap="none" lIns="0" tIns="0" rIns="0" bIns="0" rtlCol="0" anchor="ctr"/>
          <a:lstStyle/>
          <a:p>
            <a:pPr>
              <a:lnSpc>
                <a:spcPct val="100000"/>
              </a:lnSpc>
            </a:pPr>
            <a:r>
              <a:rPr lang="en-US" sz="2000" b="1" dirty="0">
                <a:solidFill>
                  <a:srgbClr val="C9893B"/>
                </a:solidFill>
                <a:latin typeface="Liter" pitchFamily="34" charset="0"/>
                <a:ea typeface="Liter" pitchFamily="34" charset="-122"/>
                <a:cs typeface="Liter" pitchFamily="34" charset="-120"/>
              </a:rPr>
              <a:t>4</a:t>
            </a:r>
            <a:endParaRPr lang="en-US" sz="1600" dirty="0"/>
          </a:p>
        </p:txBody>
      </p:sp>
      <p:sp>
        <p:nvSpPr>
          <p:cNvPr id="19" name="Text 17"/>
          <p:cNvSpPr/>
          <p:nvPr/>
        </p:nvSpPr>
        <p:spPr>
          <a:xfrm>
            <a:off x="1422400" y="40640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DNS Queries</a:t>
            </a:r>
            <a:endParaRPr lang="en-US" sz="1600" dirty="0"/>
          </a:p>
        </p:txBody>
      </p:sp>
      <p:sp>
        <p:nvSpPr>
          <p:cNvPr id="20" name="Text 18"/>
          <p:cNvSpPr/>
          <p:nvPr/>
        </p:nvSpPr>
        <p:spPr>
          <a:xfrm>
            <a:off x="1016000" y="4483100"/>
            <a:ext cx="4191000" cy="1270000"/>
          </a:xfrm>
          <a:prstGeom prst="rect">
            <a:avLst/>
          </a:prstGeom>
          <a:noFill/>
          <a:ln/>
        </p:spPr>
        <p:txBody>
          <a:bodyPr wrap="square" lIns="0" tIns="0" rIns="0" bIns="0" rtlCol="0" anchor="ctr"/>
          <a:lstStyle/>
          <a:p>
            <a:pPr>
              <a:lnSpc>
                <a:spcPct val="155000"/>
              </a:lnSpc>
            </a:pPr>
            <a:r>
              <a:rPr lang="en-US" sz="1400" dirty="0">
                <a:solidFill>
                  <a:srgbClr val="1E2328"/>
                </a:solidFill>
                <a:latin typeface="Quattrocento Sans" pitchFamily="34" charset="0"/>
                <a:ea typeface="Quattrocento Sans" pitchFamily="34" charset="-122"/>
                <a:cs typeface="Quattrocento Sans" pitchFamily="34" charset="-120"/>
              </a:rPr>
              <a:t>Recursive (resolver does all work), Iterative (server returns referral), Non-Recursive (cached).</a:t>
            </a:r>
            <a:endParaRPr lang="en-US" sz="1600" dirty="0"/>
          </a:p>
        </p:txBody>
      </p:sp>
      <p:sp>
        <p:nvSpPr>
          <p:cNvPr id="21" name="Shape 19"/>
          <p:cNvSpPr/>
          <p:nvPr/>
        </p:nvSpPr>
        <p:spPr>
          <a:xfrm>
            <a:off x="5778500" y="3937000"/>
            <a:ext cx="4699000" cy="2032000"/>
          </a:xfrm>
          <a:prstGeom prst="rect">
            <a:avLst/>
          </a:prstGeom>
          <a:solidFill>
            <a:srgbClr val="E8E4DE"/>
          </a:solidFill>
          <a:ln/>
        </p:spPr>
      </p:sp>
      <p:sp>
        <p:nvSpPr>
          <p:cNvPr id="22" name="Text 20"/>
          <p:cNvSpPr/>
          <p:nvPr/>
        </p:nvSpPr>
        <p:spPr>
          <a:xfrm>
            <a:off x="5930900" y="4038600"/>
            <a:ext cx="508000" cy="381000"/>
          </a:xfrm>
          <a:prstGeom prst="rect">
            <a:avLst/>
          </a:prstGeom>
          <a:noFill/>
          <a:ln/>
        </p:spPr>
        <p:txBody>
          <a:bodyPr wrap="none" lIns="0" tIns="0" rIns="0" bIns="0" rtlCol="0" anchor="ctr"/>
          <a:lstStyle/>
          <a:p>
            <a:pPr>
              <a:lnSpc>
                <a:spcPct val="100000"/>
              </a:lnSpc>
            </a:pPr>
            <a:r>
              <a:rPr lang="en-US" sz="2000" b="1" dirty="0">
                <a:solidFill>
                  <a:srgbClr val="C9893B"/>
                </a:solidFill>
                <a:latin typeface="Liter" pitchFamily="34" charset="0"/>
                <a:ea typeface="Liter" pitchFamily="34" charset="-122"/>
                <a:cs typeface="Liter" pitchFamily="34" charset="-120"/>
              </a:rPr>
              <a:t>5</a:t>
            </a:r>
            <a:endParaRPr lang="en-US" sz="1600" dirty="0"/>
          </a:p>
        </p:txBody>
      </p:sp>
      <p:sp>
        <p:nvSpPr>
          <p:cNvPr id="23" name="Text 21"/>
          <p:cNvSpPr/>
          <p:nvPr/>
        </p:nvSpPr>
        <p:spPr>
          <a:xfrm>
            <a:off x="6438900" y="40640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DNS Caching &amp; TTL</a:t>
            </a:r>
            <a:endParaRPr lang="en-US" sz="1600" dirty="0"/>
          </a:p>
        </p:txBody>
      </p:sp>
      <p:sp>
        <p:nvSpPr>
          <p:cNvPr id="24" name="Text 22"/>
          <p:cNvSpPr/>
          <p:nvPr/>
        </p:nvSpPr>
        <p:spPr>
          <a:xfrm>
            <a:off x="6032500" y="4483100"/>
            <a:ext cx="4191000" cy="1270000"/>
          </a:xfrm>
          <a:prstGeom prst="rect">
            <a:avLst/>
          </a:prstGeom>
          <a:noFill/>
          <a:ln/>
        </p:spPr>
        <p:txBody>
          <a:bodyPr wrap="square" lIns="0" tIns="0" rIns="0" bIns="0" rtlCol="0" anchor="ctr"/>
          <a:lstStyle/>
          <a:p>
            <a:pPr>
              <a:lnSpc>
                <a:spcPct val="155000"/>
              </a:lnSpc>
            </a:pPr>
            <a:r>
              <a:rPr lang="en-US" sz="1400" dirty="0">
                <a:solidFill>
                  <a:srgbClr val="1E2328"/>
                </a:solidFill>
                <a:latin typeface="Quattrocento Sans" pitchFamily="34" charset="0"/>
                <a:ea typeface="Quattrocento Sans" pitchFamily="34" charset="-122"/>
                <a:cs typeface="Quattrocento Sans" pitchFamily="34" charset="-120"/>
              </a:rPr>
              <a:t>Stores results temporarily to speed up lookups. TTL controls how long records remain valid.</a:t>
            </a:r>
            <a:endParaRPr lang="en-US" sz="1600" dirty="0"/>
          </a:p>
        </p:txBody>
      </p:sp>
      <p:sp>
        <p:nvSpPr>
          <p:cNvPr id="25" name="Shape 23"/>
          <p:cNvSpPr/>
          <p:nvPr/>
        </p:nvSpPr>
        <p:spPr>
          <a:xfrm>
            <a:off x="10795000" y="3937000"/>
            <a:ext cx="4699000" cy="2032000"/>
          </a:xfrm>
          <a:prstGeom prst="rect">
            <a:avLst/>
          </a:prstGeom>
          <a:solidFill>
            <a:srgbClr val="E8E4DE"/>
          </a:solidFill>
          <a:ln/>
        </p:spPr>
      </p:sp>
      <p:sp>
        <p:nvSpPr>
          <p:cNvPr id="26" name="Text 24"/>
          <p:cNvSpPr/>
          <p:nvPr/>
        </p:nvSpPr>
        <p:spPr>
          <a:xfrm>
            <a:off x="10947400" y="4038600"/>
            <a:ext cx="508000" cy="381000"/>
          </a:xfrm>
          <a:prstGeom prst="rect">
            <a:avLst/>
          </a:prstGeom>
          <a:noFill/>
          <a:ln/>
        </p:spPr>
        <p:txBody>
          <a:bodyPr wrap="none" lIns="0" tIns="0" rIns="0" bIns="0" rtlCol="0" anchor="ctr"/>
          <a:lstStyle/>
          <a:p>
            <a:pPr>
              <a:lnSpc>
                <a:spcPct val="100000"/>
              </a:lnSpc>
            </a:pPr>
            <a:r>
              <a:rPr lang="en-US" sz="2000" b="1" dirty="0">
                <a:solidFill>
                  <a:srgbClr val="C9893B"/>
                </a:solidFill>
                <a:latin typeface="Liter" pitchFamily="34" charset="0"/>
                <a:ea typeface="Liter" pitchFamily="34" charset="-122"/>
                <a:cs typeface="Liter" pitchFamily="34" charset="-120"/>
              </a:rPr>
              <a:t>6</a:t>
            </a:r>
            <a:endParaRPr lang="en-US" sz="1600" dirty="0"/>
          </a:p>
        </p:txBody>
      </p:sp>
      <p:sp>
        <p:nvSpPr>
          <p:cNvPr id="27" name="Text 25"/>
          <p:cNvSpPr/>
          <p:nvPr/>
        </p:nvSpPr>
        <p:spPr>
          <a:xfrm>
            <a:off x="11455400" y="4064000"/>
            <a:ext cx="3810000" cy="304800"/>
          </a:xfrm>
          <a:prstGeom prst="rect">
            <a:avLst/>
          </a:prstGeom>
          <a:noFill/>
          <a:ln/>
        </p:spPr>
        <p:txBody>
          <a:bodyPr wrap="none" lIns="0" tIns="0" rIns="0" bIns="0" rtlCol="0" anchor="ctr"/>
          <a:lstStyle/>
          <a:p>
            <a:pPr>
              <a:lnSpc>
                <a:spcPct val="100000"/>
              </a:lnSpc>
            </a:pPr>
            <a:r>
              <a:rPr lang="en-US" sz="1600" b="1" dirty="0">
                <a:solidFill>
                  <a:srgbClr val="2D3E50"/>
                </a:solidFill>
                <a:latin typeface="Liter" pitchFamily="34" charset="0"/>
                <a:ea typeface="Liter" pitchFamily="34" charset="-122"/>
                <a:cs typeface="Liter" pitchFamily="34" charset="-120"/>
              </a:rPr>
              <a:t>DNS Records</a:t>
            </a:r>
            <a:endParaRPr lang="en-US" sz="1600" dirty="0"/>
          </a:p>
        </p:txBody>
      </p:sp>
      <p:sp>
        <p:nvSpPr>
          <p:cNvPr id="28" name="Text 26"/>
          <p:cNvSpPr/>
          <p:nvPr/>
        </p:nvSpPr>
        <p:spPr>
          <a:xfrm>
            <a:off x="11049000" y="4483100"/>
            <a:ext cx="4191000" cy="1270000"/>
          </a:xfrm>
          <a:prstGeom prst="rect">
            <a:avLst/>
          </a:prstGeom>
          <a:noFill/>
          <a:ln/>
        </p:spPr>
        <p:txBody>
          <a:bodyPr wrap="square" lIns="0" tIns="0" rIns="0" bIns="0" rtlCol="0" anchor="ctr"/>
          <a:lstStyle/>
          <a:p>
            <a:pPr>
              <a:lnSpc>
                <a:spcPct val="155000"/>
              </a:lnSpc>
            </a:pPr>
            <a:r>
              <a:rPr lang="en-US" sz="1400" dirty="0">
                <a:solidFill>
                  <a:srgbClr val="1E2328"/>
                </a:solidFill>
                <a:latin typeface="Quattrocento Sans" pitchFamily="34" charset="0"/>
                <a:ea typeface="Quattrocento Sans" pitchFamily="34" charset="-122"/>
                <a:cs typeface="Quattrocento Sans" pitchFamily="34" charset="-120"/>
              </a:rPr>
              <a:t>A, AAAA, CNAME, MX, NS, TXT, SOA, PTR — each serving a specific function in DNS.</a:t>
            </a:r>
            <a:endParaRPr lang="en-US" sz="1600" dirty="0"/>
          </a:p>
        </p:txBody>
      </p:sp>
      <p:sp>
        <p:nvSpPr>
          <p:cNvPr id="29" name="Shape 27"/>
          <p:cNvSpPr/>
          <p:nvPr/>
        </p:nvSpPr>
        <p:spPr>
          <a:xfrm>
            <a:off x="762000" y="6350000"/>
            <a:ext cx="14732000" cy="1651000"/>
          </a:xfrm>
          <a:prstGeom prst="rect">
            <a:avLst/>
          </a:prstGeom>
          <a:solidFill>
            <a:srgbClr val="2D3E50"/>
          </a:solidFill>
          <a:ln/>
        </p:spPr>
      </p:sp>
      <p:sp>
        <p:nvSpPr>
          <p:cNvPr id="30" name="Shape 28"/>
          <p:cNvSpPr/>
          <p:nvPr/>
        </p:nvSpPr>
        <p:spPr>
          <a:xfrm>
            <a:off x="1028700" y="6807200"/>
            <a:ext cx="685800" cy="609600"/>
          </a:xfrm>
          <a:custGeom>
            <a:avLst/>
            <a:gdLst/>
            <a:ahLst/>
            <a:cxnLst/>
            <a:rect l="l" t="t" r="r" b="b"/>
            <a:pathLst>
              <a:path w="685800" h="609600">
                <a:moveTo>
                  <a:pt x="368498" y="-22503"/>
                </a:moveTo>
                <a:cubicBezTo>
                  <a:pt x="363617" y="-32028"/>
                  <a:pt x="353735" y="-38100"/>
                  <a:pt x="343019" y="-38100"/>
                </a:cubicBezTo>
                <a:cubicBezTo>
                  <a:pt x="332303" y="-38100"/>
                  <a:pt x="322421" y="-32028"/>
                  <a:pt x="317540" y="-22503"/>
                </a:cubicBezTo>
                <a:lnTo>
                  <a:pt x="229910" y="149185"/>
                </a:lnTo>
                <a:lnTo>
                  <a:pt x="39529" y="179427"/>
                </a:lnTo>
                <a:cubicBezTo>
                  <a:pt x="28932" y="181094"/>
                  <a:pt x="20122" y="188595"/>
                  <a:pt x="16788" y="198834"/>
                </a:cubicBezTo>
                <a:cubicBezTo>
                  <a:pt x="13454" y="209074"/>
                  <a:pt x="16193" y="220266"/>
                  <a:pt x="23693" y="227886"/>
                </a:cubicBezTo>
                <a:lnTo>
                  <a:pt x="159901" y="364212"/>
                </a:lnTo>
                <a:lnTo>
                  <a:pt x="129897" y="554593"/>
                </a:lnTo>
                <a:cubicBezTo>
                  <a:pt x="128230" y="565190"/>
                  <a:pt x="132636" y="575905"/>
                  <a:pt x="141327" y="582216"/>
                </a:cubicBezTo>
                <a:cubicBezTo>
                  <a:pt x="150019" y="588526"/>
                  <a:pt x="161449" y="589478"/>
                  <a:pt x="171093" y="584597"/>
                </a:cubicBezTo>
                <a:lnTo>
                  <a:pt x="343019" y="497205"/>
                </a:lnTo>
                <a:lnTo>
                  <a:pt x="514826" y="584597"/>
                </a:lnTo>
                <a:cubicBezTo>
                  <a:pt x="524351" y="589478"/>
                  <a:pt x="535900" y="588526"/>
                  <a:pt x="544592" y="582216"/>
                </a:cubicBezTo>
                <a:cubicBezTo>
                  <a:pt x="553283" y="575905"/>
                  <a:pt x="557689" y="565309"/>
                  <a:pt x="556022" y="554593"/>
                </a:cubicBezTo>
                <a:lnTo>
                  <a:pt x="525899" y="364212"/>
                </a:lnTo>
                <a:lnTo>
                  <a:pt x="662107" y="227886"/>
                </a:lnTo>
                <a:cubicBezTo>
                  <a:pt x="669727" y="220266"/>
                  <a:pt x="672346" y="209074"/>
                  <a:pt x="669012" y="198834"/>
                </a:cubicBezTo>
                <a:cubicBezTo>
                  <a:pt x="665678" y="188595"/>
                  <a:pt x="656987" y="181094"/>
                  <a:pt x="646271" y="179427"/>
                </a:cubicBezTo>
                <a:lnTo>
                  <a:pt x="456009" y="149185"/>
                </a:lnTo>
                <a:lnTo>
                  <a:pt x="368498" y="-22503"/>
                </a:lnTo>
                <a:close/>
              </a:path>
            </a:pathLst>
          </a:custGeom>
          <a:solidFill>
            <a:srgbClr val="C9893B"/>
          </a:solidFill>
          <a:ln/>
        </p:spPr>
      </p:sp>
      <p:sp>
        <p:nvSpPr>
          <p:cNvPr id="31" name="Text 29"/>
          <p:cNvSpPr/>
          <p:nvPr/>
        </p:nvSpPr>
        <p:spPr>
          <a:xfrm>
            <a:off x="1905000" y="6604000"/>
            <a:ext cx="13309600" cy="1143000"/>
          </a:xfrm>
          <a:prstGeom prst="rect">
            <a:avLst/>
          </a:prstGeom>
          <a:noFill/>
          <a:ln/>
        </p:spPr>
        <p:txBody>
          <a:bodyPr wrap="square" lIns="0" tIns="0" rIns="0" bIns="0" rtlCol="0" anchor="ctr"/>
          <a:lstStyle/>
          <a:p>
            <a:pPr>
              <a:lnSpc>
                <a:spcPct val="160000"/>
              </a:lnSpc>
            </a:pPr>
            <a:r>
              <a:rPr lang="en-US" sz="1600" b="1" dirty="0">
                <a:solidFill>
                  <a:srgbClr val="FFFFFF"/>
                </a:solidFill>
                <a:latin typeface="Quattrocento Sans" pitchFamily="34" charset="0"/>
                <a:ea typeface="Quattrocento Sans" pitchFamily="34" charset="-122"/>
                <a:cs typeface="Quattrocento Sans" pitchFamily="34" charset="-120"/>
              </a:rPr>
              <a:t>Remember:</a:t>
            </a:r>
            <a:pP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 DNS is the phonebook of the Internet. Without it, we would need to memorize IP addresses for every website. The hierarchical structure ensures scalability, while caching and multiple server types ensure speed and reliability.</a:t>
            </a:r>
            <a:endParaRPr lang="en-US" sz="1600" dirty="0"/>
          </a:p>
        </p:txBody>
      </p:sp>
      <p:sp>
        <p:nvSpPr>
          <p:cNvPr id="32" name="Shape 30"/>
          <p:cNvSpPr/>
          <p:nvPr/>
        </p:nvSpPr>
        <p:spPr>
          <a:xfrm>
            <a:off x="762000" y="8382000"/>
            <a:ext cx="14732000" cy="25400"/>
          </a:xfrm>
          <a:prstGeom prst="rect">
            <a:avLst/>
          </a:prstGeom>
          <a:solidFill>
            <a:srgbClr val="C9893B"/>
          </a:solidFill>
          <a:ln/>
        </p:spPr>
      </p:sp>
      <p:sp>
        <p:nvSpPr>
          <p:cNvPr id="33" name="Text 31"/>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24</a:t>
            </a:r>
            <a:endParaRPr lang="en-US" sz="14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DNS Components Summary</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498600"/>
            <a:ext cx="5080000" cy="4572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Four Key Server Types</a:t>
            </a:r>
            <a:endParaRPr lang="en-US" sz="2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62000" y="2006600"/>
          <a:ext cx="14732000" cy="2540000"/>
        </p:xfrm>
        <a:graphic>
          <a:graphicData uri="http://schemas.openxmlformats.org/drawingml/2006/table">
            <a:tbl>
              <a:tblPr/>
              <a:tblGrid>
                <a:gridCol w="3241040"/>
                <a:gridCol w="5892800"/>
                <a:gridCol w="5598160"/>
              </a:tblGrid>
              <a:tr h="45720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Server Type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Role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Key Fact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r>
              <a:tr h="520700">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Root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Top of hierarchy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13 logical identities (A-M), hundreds of physical servers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520700">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TLD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Manage domain extensions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Direct queries to authoritative servers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520700">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Recursive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Query on behalf of clients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ISP or third-party; cache results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520700">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Authoritative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Hold actual DNS records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Primary (master) + Secondary (slave)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bl>
          </a:graphicData>
        </a:graphic>
      </p:graphicFrame>
      <p:sp>
        <p:nvSpPr>
          <p:cNvPr id="7" name="Text 4"/>
          <p:cNvSpPr/>
          <p:nvPr/>
        </p:nvSpPr>
        <p:spPr>
          <a:xfrm>
            <a:off x="762000" y="4864100"/>
            <a:ext cx="5080000" cy="4572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Three Essential Query Types</a:t>
            </a:r>
            <a:endParaRPr lang="en-US" sz="2000" dirty="0"/>
          </a:p>
        </p:txBody>
      </p:sp>
      <p:sp>
        <p:nvSpPr>
          <p:cNvPr id="8" name="Shape 5"/>
          <p:cNvSpPr/>
          <p:nvPr/>
        </p:nvSpPr>
        <p:spPr>
          <a:xfrm>
            <a:off x="762000" y="5397500"/>
            <a:ext cx="4699000" cy="1016000"/>
          </a:xfrm>
          <a:prstGeom prst="rect">
            <a:avLst/>
          </a:prstGeom>
          <a:solidFill>
            <a:srgbClr val="E8E4DE"/>
          </a:solidFill>
          <a:ln/>
        </p:spPr>
      </p:sp>
      <p:sp>
        <p:nvSpPr>
          <p:cNvPr id="9" name="Text 6"/>
          <p:cNvSpPr/>
          <p:nvPr/>
        </p:nvSpPr>
        <p:spPr>
          <a:xfrm>
            <a:off x="1016000" y="5524500"/>
            <a:ext cx="4191000" cy="762000"/>
          </a:xfrm>
          <a:prstGeom prst="rect">
            <a:avLst/>
          </a:prstGeom>
          <a:noFill/>
          <a:ln/>
        </p:spPr>
        <p:txBody>
          <a:bodyPr wrap="square" lIns="0" tIns="0" rIns="0" bIns="0" rtlCol="0" anchor="ctr"/>
          <a:lstStyle/>
          <a:p>
            <a:pPr>
              <a:lnSpc>
                <a:spcPct val="150000"/>
              </a:lnSpc>
            </a:pPr>
            <a:r>
              <a:rPr lang="en-US" sz="1500" b="1" dirty="0">
                <a:solidFill>
                  <a:srgbClr val="C9893B"/>
                </a:solidFill>
                <a:latin typeface="Quattrocento Sans" pitchFamily="34" charset="0"/>
                <a:ea typeface="Quattrocento Sans" pitchFamily="34" charset="-122"/>
                <a:cs typeface="Quattrocento Sans" pitchFamily="34" charset="-120"/>
              </a:rPr>
              <a:t>Recursive</a:t>
            </a:r>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 — resolver does all work</a:t>
            </a:r>
            <a:endParaRPr lang="en-US" sz="1600" dirty="0"/>
          </a:p>
        </p:txBody>
      </p:sp>
      <p:sp>
        <p:nvSpPr>
          <p:cNvPr id="10" name="Shape 7"/>
          <p:cNvSpPr/>
          <p:nvPr/>
        </p:nvSpPr>
        <p:spPr>
          <a:xfrm>
            <a:off x="5778500" y="5397500"/>
            <a:ext cx="4699000" cy="1016000"/>
          </a:xfrm>
          <a:prstGeom prst="rect">
            <a:avLst/>
          </a:prstGeom>
          <a:solidFill>
            <a:srgbClr val="E8E4DE"/>
          </a:solidFill>
          <a:ln/>
        </p:spPr>
      </p:sp>
      <p:sp>
        <p:nvSpPr>
          <p:cNvPr id="11" name="Text 8"/>
          <p:cNvSpPr/>
          <p:nvPr/>
        </p:nvSpPr>
        <p:spPr>
          <a:xfrm>
            <a:off x="6032500" y="5524500"/>
            <a:ext cx="4191000" cy="762000"/>
          </a:xfrm>
          <a:prstGeom prst="rect">
            <a:avLst/>
          </a:prstGeom>
          <a:noFill/>
          <a:ln/>
        </p:spPr>
        <p:txBody>
          <a:bodyPr wrap="square" lIns="0" tIns="0" rIns="0" bIns="0" rtlCol="0" anchor="ctr"/>
          <a:lstStyle/>
          <a:p>
            <a:pPr>
              <a:lnSpc>
                <a:spcPct val="150000"/>
              </a:lnSpc>
            </a:pPr>
            <a:r>
              <a:rPr lang="en-US" sz="1500" b="1" dirty="0">
                <a:solidFill>
                  <a:srgbClr val="C9893B"/>
                </a:solidFill>
                <a:latin typeface="Quattrocento Sans" pitchFamily="34" charset="0"/>
                <a:ea typeface="Quattrocento Sans" pitchFamily="34" charset="-122"/>
                <a:cs typeface="Quattrocento Sans" pitchFamily="34" charset="-120"/>
              </a:rPr>
              <a:t>Iterative</a:t>
            </a:r>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 — server returns referral</a:t>
            </a:r>
            <a:endParaRPr lang="en-US" sz="1600" dirty="0"/>
          </a:p>
        </p:txBody>
      </p:sp>
      <p:sp>
        <p:nvSpPr>
          <p:cNvPr id="12" name="Shape 9"/>
          <p:cNvSpPr/>
          <p:nvPr/>
        </p:nvSpPr>
        <p:spPr>
          <a:xfrm>
            <a:off x="10795000" y="5397500"/>
            <a:ext cx="4699000" cy="1016000"/>
          </a:xfrm>
          <a:prstGeom prst="rect">
            <a:avLst/>
          </a:prstGeom>
          <a:solidFill>
            <a:srgbClr val="E8E4DE"/>
          </a:solidFill>
          <a:ln/>
        </p:spPr>
      </p:sp>
      <p:sp>
        <p:nvSpPr>
          <p:cNvPr id="13" name="Text 10"/>
          <p:cNvSpPr/>
          <p:nvPr/>
        </p:nvSpPr>
        <p:spPr>
          <a:xfrm>
            <a:off x="11049000" y="5524500"/>
            <a:ext cx="4191000" cy="762000"/>
          </a:xfrm>
          <a:prstGeom prst="rect">
            <a:avLst/>
          </a:prstGeom>
          <a:noFill/>
          <a:ln/>
        </p:spPr>
        <p:txBody>
          <a:bodyPr wrap="square" lIns="0" tIns="0" rIns="0" bIns="0" rtlCol="0" anchor="ctr"/>
          <a:lstStyle/>
          <a:p>
            <a:pPr>
              <a:lnSpc>
                <a:spcPct val="150000"/>
              </a:lnSpc>
            </a:pPr>
            <a:r>
              <a:rPr lang="en-US" sz="1500" b="1" dirty="0">
                <a:solidFill>
                  <a:srgbClr val="C9893B"/>
                </a:solidFill>
                <a:latin typeface="Quattrocento Sans" pitchFamily="34" charset="0"/>
                <a:ea typeface="Quattrocento Sans" pitchFamily="34" charset="-122"/>
                <a:cs typeface="Quattrocento Sans" pitchFamily="34" charset="-120"/>
              </a:rPr>
              <a:t>Non-Recursive</a:t>
            </a:r>
            <a:pPr>
              <a:lnSpc>
                <a:spcPct val="150000"/>
              </a:lnSpc>
            </a:pPr>
            <a:r>
              <a:rPr lang="en-US" sz="1500" dirty="0">
                <a:solidFill>
                  <a:srgbClr val="1E2328"/>
                </a:solidFill>
                <a:latin typeface="Quattrocento Sans" pitchFamily="34" charset="0"/>
                <a:ea typeface="Quattrocento Sans" pitchFamily="34" charset="-122"/>
                <a:cs typeface="Quattrocento Sans" pitchFamily="34" charset="-120"/>
              </a:rPr>
              <a:t> — cached answer</a:t>
            </a:r>
            <a:endParaRPr lang="en-US" sz="1600" dirty="0"/>
          </a:p>
        </p:txBody>
      </p:sp>
      <p:sp>
        <p:nvSpPr>
          <p:cNvPr id="14" name="Text 11"/>
          <p:cNvSpPr/>
          <p:nvPr/>
        </p:nvSpPr>
        <p:spPr>
          <a:xfrm>
            <a:off x="762000" y="6705600"/>
            <a:ext cx="7620000" cy="457200"/>
          </a:xfrm>
          <a:prstGeom prst="rect">
            <a:avLst/>
          </a:prstGeom>
          <a:noFill/>
          <a:ln/>
        </p:spPr>
        <p:txBody>
          <a:bodyPr wrap="none" lIns="0" tIns="0" rIns="0" bIns="0" rtlCol="0" anchor="ctr"/>
          <a:lstStyle/>
          <a:p>
            <a:pPr>
              <a:lnSpc>
                <a:spcPct val="140000"/>
              </a:lnSpc>
            </a:pPr>
            <a:r>
              <a:rPr lang="en-US" sz="2000" b="1" dirty="0">
                <a:solidFill>
                  <a:srgbClr val="2D3E50"/>
                </a:solidFill>
                <a:latin typeface="Liter" pitchFamily="34" charset="0"/>
                <a:ea typeface="Liter" pitchFamily="34" charset="-122"/>
                <a:cs typeface="Liter" pitchFamily="34" charset="-120"/>
              </a:rPr>
              <a:t>Eight Essential Record Types</a:t>
            </a:r>
            <a:endParaRPr lang="en-US" sz="2000" dirty="0"/>
          </a:p>
        </p:txBody>
      </p:sp>
      <p:sp>
        <p:nvSpPr>
          <p:cNvPr id="15" name="Text 12"/>
          <p:cNvSpPr/>
          <p:nvPr/>
        </p:nvSpPr>
        <p:spPr>
          <a:xfrm>
            <a:off x="762000" y="7213600"/>
            <a:ext cx="14732000" cy="698500"/>
          </a:xfrm>
          <a:prstGeom prst="rect">
            <a:avLst/>
          </a:prstGeom>
          <a:noFill/>
          <a:ln/>
        </p:spPr>
        <p:txBody>
          <a:bodyPr wrap="square" lIns="0" tIns="0" rIns="0" bIns="0" rtlCol="0" anchor="ctr"/>
          <a:lstStyle/>
          <a:p>
            <a:pPr>
              <a:lnSpc>
                <a:spcPct val="160000"/>
              </a:lnSpc>
            </a:pPr>
            <a:r>
              <a:rPr lang="en-US" sz="1700" b="1" dirty="0">
                <a:solidFill>
                  <a:srgbClr val="C9893B"/>
                </a:solidFill>
                <a:latin typeface="Quattrocento Sans" pitchFamily="34" charset="0"/>
                <a:ea typeface="Quattrocento Sans" pitchFamily="34" charset="-122"/>
                <a:cs typeface="Quattrocento Sans" pitchFamily="34" charset="-120"/>
              </a:rPr>
              <a:t>A</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(IPv4) </a:t>
            </a:r>
            <a:pPr>
              <a:lnSpc>
                <a:spcPct val="160000"/>
              </a:lnSpc>
            </a:pPr>
            <a:r>
              <a:rPr lang="en-US" sz="1700" dirty="0">
                <a:solidFill>
                  <a:srgbClr val="6B7B8D"/>
                </a:solidFill>
                <a:latin typeface="Quattrocento Sans" pitchFamily="34" charset="0"/>
                <a:ea typeface="Quattrocento Sans" pitchFamily="34" charset="-122"/>
                <a:cs typeface="Quattrocento Sans" pitchFamily="34" charset="-120"/>
              </a:rPr>
              <a:t>|</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a:t>
            </a:r>
            <a:pPr>
              <a:lnSpc>
                <a:spcPct val="160000"/>
              </a:lnSpc>
            </a:pPr>
            <a:r>
              <a:rPr lang="en-US" sz="1700" b="1" dirty="0">
                <a:solidFill>
                  <a:srgbClr val="C9893B"/>
                </a:solidFill>
                <a:latin typeface="Quattrocento Sans" pitchFamily="34" charset="0"/>
                <a:ea typeface="Quattrocento Sans" pitchFamily="34" charset="-122"/>
                <a:cs typeface="Quattrocento Sans" pitchFamily="34" charset="-120"/>
              </a:rPr>
              <a:t>AAAA</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(IPv6) </a:t>
            </a:r>
            <a:pPr>
              <a:lnSpc>
                <a:spcPct val="160000"/>
              </a:lnSpc>
            </a:pPr>
            <a:r>
              <a:rPr lang="en-US" sz="1700" dirty="0">
                <a:solidFill>
                  <a:srgbClr val="6B7B8D"/>
                </a:solidFill>
                <a:latin typeface="Quattrocento Sans" pitchFamily="34" charset="0"/>
                <a:ea typeface="Quattrocento Sans" pitchFamily="34" charset="-122"/>
                <a:cs typeface="Quattrocento Sans" pitchFamily="34" charset="-120"/>
              </a:rPr>
              <a:t>|</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a:t>
            </a:r>
            <a:pPr>
              <a:lnSpc>
                <a:spcPct val="160000"/>
              </a:lnSpc>
            </a:pPr>
            <a:r>
              <a:rPr lang="en-US" sz="1700" b="1" dirty="0">
                <a:solidFill>
                  <a:srgbClr val="C9893B"/>
                </a:solidFill>
                <a:latin typeface="Quattrocento Sans" pitchFamily="34" charset="0"/>
                <a:ea typeface="Quattrocento Sans" pitchFamily="34" charset="-122"/>
                <a:cs typeface="Quattrocento Sans" pitchFamily="34" charset="-120"/>
              </a:rPr>
              <a:t>CNAME</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(alias) </a:t>
            </a:r>
            <a:pPr>
              <a:lnSpc>
                <a:spcPct val="160000"/>
              </a:lnSpc>
            </a:pPr>
            <a:r>
              <a:rPr lang="en-US" sz="1700" dirty="0">
                <a:solidFill>
                  <a:srgbClr val="6B7B8D"/>
                </a:solidFill>
                <a:latin typeface="Quattrocento Sans" pitchFamily="34" charset="0"/>
                <a:ea typeface="Quattrocento Sans" pitchFamily="34" charset="-122"/>
                <a:cs typeface="Quattrocento Sans" pitchFamily="34" charset="-120"/>
              </a:rPr>
              <a:t>|</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a:t>
            </a:r>
            <a:pPr>
              <a:lnSpc>
                <a:spcPct val="160000"/>
              </a:lnSpc>
            </a:pPr>
            <a:r>
              <a:rPr lang="en-US" sz="1700" b="1" dirty="0">
                <a:solidFill>
                  <a:srgbClr val="C9893B"/>
                </a:solidFill>
                <a:latin typeface="Quattrocento Sans" pitchFamily="34" charset="0"/>
                <a:ea typeface="Quattrocento Sans" pitchFamily="34" charset="-122"/>
                <a:cs typeface="Quattrocento Sans" pitchFamily="34" charset="-120"/>
              </a:rPr>
              <a:t>MX</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(mail) </a:t>
            </a:r>
            <a:pPr>
              <a:lnSpc>
                <a:spcPct val="160000"/>
              </a:lnSpc>
            </a:pPr>
            <a:r>
              <a:rPr lang="en-US" sz="1700" dirty="0">
                <a:solidFill>
                  <a:srgbClr val="6B7B8D"/>
                </a:solidFill>
                <a:latin typeface="Quattrocento Sans" pitchFamily="34" charset="0"/>
                <a:ea typeface="Quattrocento Sans" pitchFamily="34" charset="-122"/>
                <a:cs typeface="Quattrocento Sans" pitchFamily="34" charset="-120"/>
              </a:rPr>
              <a:t>|</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a:t>
            </a:r>
            <a:pPr>
              <a:lnSpc>
                <a:spcPct val="160000"/>
              </a:lnSpc>
            </a:pPr>
            <a:r>
              <a:rPr lang="en-US" sz="1700" b="1" dirty="0">
                <a:solidFill>
                  <a:srgbClr val="C9893B"/>
                </a:solidFill>
                <a:latin typeface="Quattrocento Sans" pitchFamily="34" charset="0"/>
                <a:ea typeface="Quattrocento Sans" pitchFamily="34" charset="-122"/>
                <a:cs typeface="Quattrocento Sans" pitchFamily="34" charset="-120"/>
              </a:rPr>
              <a:t>NS</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(nameserver) </a:t>
            </a:r>
            <a:pPr>
              <a:lnSpc>
                <a:spcPct val="160000"/>
              </a:lnSpc>
            </a:pPr>
            <a:r>
              <a:rPr lang="en-US" sz="1700" dirty="0">
                <a:solidFill>
                  <a:srgbClr val="6B7B8D"/>
                </a:solidFill>
                <a:latin typeface="Quattrocento Sans" pitchFamily="34" charset="0"/>
                <a:ea typeface="Quattrocento Sans" pitchFamily="34" charset="-122"/>
                <a:cs typeface="Quattrocento Sans" pitchFamily="34" charset="-120"/>
              </a:rPr>
              <a:t>|</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a:t>
            </a:r>
            <a:pPr>
              <a:lnSpc>
                <a:spcPct val="160000"/>
              </a:lnSpc>
            </a:pPr>
            <a:r>
              <a:rPr lang="en-US" sz="1700" b="1" dirty="0">
                <a:solidFill>
                  <a:srgbClr val="C9893B"/>
                </a:solidFill>
                <a:latin typeface="Quattrocento Sans" pitchFamily="34" charset="0"/>
                <a:ea typeface="Quattrocento Sans" pitchFamily="34" charset="-122"/>
                <a:cs typeface="Quattrocento Sans" pitchFamily="34" charset="-120"/>
              </a:rPr>
              <a:t>TXT</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(text) </a:t>
            </a:r>
            <a:pPr>
              <a:lnSpc>
                <a:spcPct val="160000"/>
              </a:lnSpc>
            </a:pPr>
            <a:r>
              <a:rPr lang="en-US" sz="1700" dirty="0">
                <a:solidFill>
                  <a:srgbClr val="6B7B8D"/>
                </a:solidFill>
                <a:latin typeface="Quattrocento Sans" pitchFamily="34" charset="0"/>
                <a:ea typeface="Quattrocento Sans" pitchFamily="34" charset="-122"/>
                <a:cs typeface="Quattrocento Sans" pitchFamily="34" charset="-120"/>
              </a:rPr>
              <a:t>|</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a:t>
            </a:r>
            <a:pPr>
              <a:lnSpc>
                <a:spcPct val="160000"/>
              </a:lnSpc>
            </a:pPr>
            <a:r>
              <a:rPr lang="en-US" sz="1700" b="1" dirty="0">
                <a:solidFill>
                  <a:srgbClr val="C9893B"/>
                </a:solidFill>
                <a:latin typeface="Quattrocento Sans" pitchFamily="34" charset="0"/>
                <a:ea typeface="Quattrocento Sans" pitchFamily="34" charset="-122"/>
                <a:cs typeface="Quattrocento Sans" pitchFamily="34" charset="-120"/>
              </a:rPr>
              <a:t>SOA</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(authority) </a:t>
            </a:r>
            <a:pPr>
              <a:lnSpc>
                <a:spcPct val="160000"/>
              </a:lnSpc>
            </a:pPr>
            <a:r>
              <a:rPr lang="en-US" sz="1700" dirty="0">
                <a:solidFill>
                  <a:srgbClr val="6B7B8D"/>
                </a:solidFill>
                <a:latin typeface="Quattrocento Sans" pitchFamily="34" charset="0"/>
                <a:ea typeface="Quattrocento Sans" pitchFamily="34" charset="-122"/>
                <a:cs typeface="Quattrocento Sans" pitchFamily="34" charset="-120"/>
              </a:rPr>
              <a:t>|</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a:t>
            </a:r>
            <a:pPr>
              <a:lnSpc>
                <a:spcPct val="160000"/>
              </a:lnSpc>
            </a:pPr>
            <a:r>
              <a:rPr lang="en-US" sz="1700" b="1" dirty="0">
                <a:solidFill>
                  <a:srgbClr val="C9893B"/>
                </a:solidFill>
                <a:latin typeface="Quattrocento Sans" pitchFamily="34" charset="0"/>
                <a:ea typeface="Quattrocento Sans" pitchFamily="34" charset="-122"/>
                <a:cs typeface="Quattrocento Sans" pitchFamily="34" charset="-120"/>
              </a:rPr>
              <a:t>PTR</a:t>
            </a:r>
            <a:pPr>
              <a:lnSpc>
                <a:spcPct val="160000"/>
              </a:lnSpc>
            </a:pPr>
            <a:r>
              <a:rPr lang="en-US" sz="1700" dirty="0">
                <a:solidFill>
                  <a:srgbClr val="1E2328"/>
                </a:solidFill>
                <a:latin typeface="Quattrocento Sans" pitchFamily="34" charset="0"/>
                <a:ea typeface="Quattrocento Sans" pitchFamily="34" charset="-122"/>
                <a:cs typeface="Quattrocento Sans" pitchFamily="34" charset="-120"/>
              </a:rPr>
              <a:t> (reverse)</a:t>
            </a:r>
            <a:endParaRPr lang="en-US" sz="1600" dirty="0"/>
          </a:p>
        </p:txBody>
      </p:sp>
      <p:sp>
        <p:nvSpPr>
          <p:cNvPr id="16" name="Shape 13"/>
          <p:cNvSpPr/>
          <p:nvPr/>
        </p:nvSpPr>
        <p:spPr>
          <a:xfrm>
            <a:off x="762000" y="8382000"/>
            <a:ext cx="14732000" cy="25400"/>
          </a:xfrm>
          <a:prstGeom prst="rect">
            <a:avLst/>
          </a:prstGeom>
          <a:solidFill>
            <a:srgbClr val="C9893B"/>
          </a:solidFill>
          <a:ln/>
        </p:spPr>
      </p:sp>
      <p:sp>
        <p:nvSpPr>
          <p:cNvPr id="17" name="Text 14"/>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25</a:t>
            </a:r>
            <a:endParaRPr lang="en-US" sz="14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DNS Resolution Flow Recap</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Shape 3"/>
          <p:cNvSpPr/>
          <p:nvPr/>
        </p:nvSpPr>
        <p:spPr>
          <a:xfrm>
            <a:off x="762000" y="1587500"/>
            <a:ext cx="14732000" cy="6350000"/>
          </a:xfrm>
          <a:prstGeom prst="rect">
            <a:avLst/>
          </a:prstGeom>
          <a:solidFill>
            <a:srgbClr val="2D3E50"/>
          </a:solidFill>
          <a:ln/>
        </p:spPr>
      </p:sp>
      <p:sp>
        <p:nvSpPr>
          <p:cNvPr id="6" name="Text 4"/>
          <p:cNvSpPr/>
          <p:nvPr/>
        </p:nvSpPr>
        <p:spPr>
          <a:xfrm>
            <a:off x="1066800" y="1778000"/>
            <a:ext cx="7620000" cy="330200"/>
          </a:xfrm>
          <a:prstGeom prst="rect">
            <a:avLst/>
          </a:prstGeom>
          <a:noFill/>
          <a:ln/>
        </p:spPr>
        <p:txBody>
          <a:bodyPr wrap="none" lIns="0" tIns="0" rIns="0" bIns="0" rtlCol="0" anchor="ctr"/>
          <a:lstStyle/>
          <a:p>
            <a:pPr>
              <a:lnSpc>
                <a:spcPct val="100000"/>
              </a:lnSpc>
            </a:pPr>
            <a:r>
              <a:rPr lang="en-US" sz="1600" b="1" spc="200" kern="0" dirty="0">
                <a:solidFill>
                  <a:srgbClr val="C9893B"/>
                </a:solidFill>
                <a:latin typeface="Liter" pitchFamily="34" charset="0"/>
                <a:ea typeface="Liter" pitchFamily="34" charset="-122"/>
                <a:cs typeface="Liter" pitchFamily="34" charset="-120"/>
              </a:rPr>
              <a:t>THE COMPLETE DNS RESOLUTION JOURNEY</a:t>
            </a:r>
            <a:endParaRPr lang="en-US" sz="1600" dirty="0"/>
          </a:p>
        </p:txBody>
      </p:sp>
      <p:sp>
        <p:nvSpPr>
          <p:cNvPr id="7" name="Shape 5"/>
          <p:cNvSpPr/>
          <p:nvPr/>
        </p:nvSpPr>
        <p:spPr>
          <a:xfrm>
            <a:off x="1066800" y="2349500"/>
            <a:ext cx="6604000" cy="508000"/>
          </a:xfrm>
          <a:prstGeom prst="rect">
            <a:avLst/>
          </a:prstGeom>
          <a:solidFill>
            <a:srgbClr val="C9893B"/>
          </a:solidFill>
          <a:ln/>
        </p:spPr>
      </p:sp>
      <p:sp>
        <p:nvSpPr>
          <p:cNvPr id="8" name="Text 6"/>
          <p:cNvSpPr/>
          <p:nvPr/>
        </p:nvSpPr>
        <p:spPr>
          <a:xfrm>
            <a:off x="1066800" y="2349500"/>
            <a:ext cx="6604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1. User types a domain name (e.g., www.example.com)</a:t>
            </a:r>
            <a:endParaRPr lang="en-US" sz="1600" dirty="0"/>
          </a:p>
        </p:txBody>
      </p:sp>
      <p:sp>
        <p:nvSpPr>
          <p:cNvPr id="9" name="Shape 7"/>
          <p:cNvSpPr/>
          <p:nvPr/>
        </p:nvSpPr>
        <p:spPr>
          <a:xfrm>
            <a:off x="4368800" y="2857500"/>
            <a:ext cx="0" cy="228600"/>
          </a:xfrm>
          <a:prstGeom prst="straightConnector1">
            <a:avLst/>
          </a:prstGeom>
          <a:noFill/>
          <a:ln w="25400">
            <a:solidFill>
              <a:srgbClr val="FFFFFF">
                <a:alpha val="25098"/>
              </a:srgbClr>
            </a:solidFill>
            <a:prstDash val="solid"/>
            <a:headEnd type="none"/>
            <a:tailEnd type="arrow"/>
          </a:ln>
        </p:spPr>
      </p:sp>
      <p:sp>
        <p:nvSpPr>
          <p:cNvPr id="10" name="Shape 8"/>
          <p:cNvSpPr/>
          <p:nvPr/>
        </p:nvSpPr>
        <p:spPr>
          <a:xfrm>
            <a:off x="1066800" y="3086100"/>
            <a:ext cx="6604000" cy="508000"/>
          </a:xfrm>
          <a:prstGeom prst="rect">
            <a:avLst/>
          </a:prstGeom>
          <a:solidFill>
            <a:srgbClr val="4A5D70"/>
          </a:solidFill>
          <a:ln/>
        </p:spPr>
      </p:sp>
      <p:sp>
        <p:nvSpPr>
          <p:cNvPr id="11" name="Text 9"/>
          <p:cNvSpPr/>
          <p:nvPr/>
        </p:nvSpPr>
        <p:spPr>
          <a:xfrm>
            <a:off x="1066800" y="3086100"/>
            <a:ext cx="6604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2. Browser cache → OS cache → hosts file checked</a:t>
            </a:r>
            <a:endParaRPr lang="en-US" sz="1600" dirty="0"/>
          </a:p>
        </p:txBody>
      </p:sp>
      <p:sp>
        <p:nvSpPr>
          <p:cNvPr id="12" name="Shape 10"/>
          <p:cNvSpPr/>
          <p:nvPr/>
        </p:nvSpPr>
        <p:spPr>
          <a:xfrm>
            <a:off x="4368800" y="3594100"/>
            <a:ext cx="0" cy="228600"/>
          </a:xfrm>
          <a:prstGeom prst="straightConnector1">
            <a:avLst/>
          </a:prstGeom>
          <a:noFill/>
          <a:ln w="25400">
            <a:solidFill>
              <a:srgbClr val="FFFFFF">
                <a:alpha val="25098"/>
              </a:srgbClr>
            </a:solidFill>
            <a:prstDash val="solid"/>
            <a:headEnd type="none"/>
            <a:tailEnd type="arrow"/>
          </a:ln>
        </p:spPr>
      </p:sp>
      <p:sp>
        <p:nvSpPr>
          <p:cNvPr id="13" name="Shape 11"/>
          <p:cNvSpPr/>
          <p:nvPr/>
        </p:nvSpPr>
        <p:spPr>
          <a:xfrm>
            <a:off x="1066800" y="3822700"/>
            <a:ext cx="6604000" cy="508000"/>
          </a:xfrm>
          <a:prstGeom prst="rect">
            <a:avLst/>
          </a:prstGeom>
          <a:solidFill>
            <a:srgbClr val="4A5D70"/>
          </a:solidFill>
          <a:ln/>
        </p:spPr>
      </p:sp>
      <p:sp>
        <p:nvSpPr>
          <p:cNvPr id="14" name="Text 12"/>
          <p:cNvSpPr/>
          <p:nvPr/>
        </p:nvSpPr>
        <p:spPr>
          <a:xfrm>
            <a:off x="1066800" y="3822700"/>
            <a:ext cx="6604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3. Query sent to recursive DNS resolver (ISP)</a:t>
            </a:r>
            <a:endParaRPr lang="en-US" sz="1600" dirty="0"/>
          </a:p>
        </p:txBody>
      </p:sp>
      <p:sp>
        <p:nvSpPr>
          <p:cNvPr id="15" name="Shape 13"/>
          <p:cNvSpPr/>
          <p:nvPr/>
        </p:nvSpPr>
        <p:spPr>
          <a:xfrm>
            <a:off x="4368800" y="4330700"/>
            <a:ext cx="0" cy="228600"/>
          </a:xfrm>
          <a:prstGeom prst="straightConnector1">
            <a:avLst/>
          </a:prstGeom>
          <a:noFill/>
          <a:ln w="25400">
            <a:solidFill>
              <a:srgbClr val="FFFFFF">
                <a:alpha val="25098"/>
              </a:srgbClr>
            </a:solidFill>
            <a:prstDash val="solid"/>
            <a:headEnd type="none"/>
            <a:tailEnd type="arrow"/>
          </a:ln>
        </p:spPr>
      </p:sp>
      <p:sp>
        <p:nvSpPr>
          <p:cNvPr id="16" name="Shape 14"/>
          <p:cNvSpPr/>
          <p:nvPr/>
        </p:nvSpPr>
        <p:spPr>
          <a:xfrm>
            <a:off x="1066800" y="4559300"/>
            <a:ext cx="6604000" cy="508000"/>
          </a:xfrm>
          <a:prstGeom prst="rect">
            <a:avLst/>
          </a:prstGeom>
          <a:solidFill>
            <a:srgbClr val="4A5D70"/>
          </a:solidFill>
          <a:ln/>
        </p:spPr>
      </p:sp>
      <p:sp>
        <p:nvSpPr>
          <p:cNvPr id="17" name="Text 15"/>
          <p:cNvSpPr/>
          <p:nvPr/>
        </p:nvSpPr>
        <p:spPr>
          <a:xfrm>
            <a:off x="1066800" y="4559300"/>
            <a:ext cx="6604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4. Resolver checks its cache</a:t>
            </a:r>
            <a:endParaRPr lang="en-US" sz="1600" dirty="0"/>
          </a:p>
        </p:txBody>
      </p:sp>
      <p:sp>
        <p:nvSpPr>
          <p:cNvPr id="18" name="Shape 16"/>
          <p:cNvSpPr/>
          <p:nvPr/>
        </p:nvSpPr>
        <p:spPr>
          <a:xfrm>
            <a:off x="4368800" y="5067300"/>
            <a:ext cx="0" cy="228600"/>
          </a:xfrm>
          <a:prstGeom prst="straightConnector1">
            <a:avLst/>
          </a:prstGeom>
          <a:noFill/>
          <a:ln w="25400">
            <a:solidFill>
              <a:srgbClr val="FFFFFF">
                <a:alpha val="25098"/>
              </a:srgbClr>
            </a:solidFill>
            <a:prstDash val="solid"/>
            <a:headEnd type="none"/>
            <a:tailEnd type="arrow"/>
          </a:ln>
        </p:spPr>
      </p:sp>
      <p:sp>
        <p:nvSpPr>
          <p:cNvPr id="19" name="Shape 17"/>
          <p:cNvSpPr/>
          <p:nvPr/>
        </p:nvSpPr>
        <p:spPr>
          <a:xfrm>
            <a:off x="1066800" y="5295900"/>
            <a:ext cx="6604000" cy="508000"/>
          </a:xfrm>
          <a:prstGeom prst="rect">
            <a:avLst/>
          </a:prstGeom>
          <a:solidFill>
            <a:srgbClr val="C9893B"/>
          </a:solidFill>
          <a:ln/>
        </p:spPr>
      </p:sp>
      <p:sp>
        <p:nvSpPr>
          <p:cNvPr id="20" name="Text 18"/>
          <p:cNvSpPr/>
          <p:nvPr/>
        </p:nvSpPr>
        <p:spPr>
          <a:xfrm>
            <a:off x="1066800" y="5295900"/>
            <a:ext cx="6604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5. If not cached: Root → TLD → Authoritative</a:t>
            </a:r>
            <a:endParaRPr lang="en-US" sz="1600" dirty="0"/>
          </a:p>
        </p:txBody>
      </p:sp>
      <p:sp>
        <p:nvSpPr>
          <p:cNvPr id="21" name="Shape 19"/>
          <p:cNvSpPr/>
          <p:nvPr/>
        </p:nvSpPr>
        <p:spPr>
          <a:xfrm>
            <a:off x="4368800" y="5803900"/>
            <a:ext cx="0" cy="228600"/>
          </a:xfrm>
          <a:prstGeom prst="straightConnector1">
            <a:avLst/>
          </a:prstGeom>
          <a:noFill/>
          <a:ln w="25400">
            <a:solidFill>
              <a:srgbClr val="FFFFFF">
                <a:alpha val="25098"/>
              </a:srgbClr>
            </a:solidFill>
            <a:prstDash val="solid"/>
            <a:headEnd type="none"/>
            <a:tailEnd type="arrow"/>
          </a:ln>
        </p:spPr>
      </p:sp>
      <p:sp>
        <p:nvSpPr>
          <p:cNvPr id="22" name="Shape 20"/>
          <p:cNvSpPr/>
          <p:nvPr/>
        </p:nvSpPr>
        <p:spPr>
          <a:xfrm>
            <a:off x="1066800" y="6032500"/>
            <a:ext cx="6604000" cy="508000"/>
          </a:xfrm>
          <a:prstGeom prst="rect">
            <a:avLst/>
          </a:prstGeom>
          <a:solidFill>
            <a:srgbClr val="C9893B"/>
          </a:solidFill>
          <a:ln/>
        </p:spPr>
      </p:sp>
      <p:sp>
        <p:nvSpPr>
          <p:cNvPr id="23" name="Text 21"/>
          <p:cNvSpPr/>
          <p:nvPr/>
        </p:nvSpPr>
        <p:spPr>
          <a:xfrm>
            <a:off x="1066800" y="6032500"/>
            <a:ext cx="6604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6. Authoritative server returns IP address</a:t>
            </a:r>
            <a:endParaRPr lang="en-US" sz="1600" dirty="0"/>
          </a:p>
        </p:txBody>
      </p:sp>
      <p:sp>
        <p:nvSpPr>
          <p:cNvPr id="24" name="Shape 22"/>
          <p:cNvSpPr/>
          <p:nvPr/>
        </p:nvSpPr>
        <p:spPr>
          <a:xfrm>
            <a:off x="4368800" y="6540500"/>
            <a:ext cx="0" cy="228600"/>
          </a:xfrm>
          <a:prstGeom prst="straightConnector1">
            <a:avLst/>
          </a:prstGeom>
          <a:noFill/>
          <a:ln w="25400">
            <a:solidFill>
              <a:srgbClr val="FFFFFF">
                <a:alpha val="25098"/>
              </a:srgbClr>
            </a:solidFill>
            <a:prstDash val="solid"/>
            <a:headEnd type="none"/>
            <a:tailEnd type="arrow"/>
          </a:ln>
        </p:spPr>
      </p:sp>
      <p:sp>
        <p:nvSpPr>
          <p:cNvPr id="25" name="Shape 23"/>
          <p:cNvSpPr/>
          <p:nvPr/>
        </p:nvSpPr>
        <p:spPr>
          <a:xfrm>
            <a:off x="1066800" y="6769100"/>
            <a:ext cx="6604000" cy="457200"/>
          </a:xfrm>
          <a:prstGeom prst="rect">
            <a:avLst/>
          </a:prstGeom>
          <a:solidFill>
            <a:srgbClr val="4A5D70"/>
          </a:solidFill>
          <a:ln/>
        </p:spPr>
      </p:sp>
      <p:sp>
        <p:nvSpPr>
          <p:cNvPr id="26" name="Text 24"/>
          <p:cNvSpPr/>
          <p:nvPr/>
        </p:nvSpPr>
        <p:spPr>
          <a:xfrm>
            <a:off x="1066800" y="6769100"/>
            <a:ext cx="6604000" cy="4572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7. Resolver caches result, returns IP to browser</a:t>
            </a:r>
            <a:endParaRPr lang="en-US" sz="1600" dirty="0"/>
          </a:p>
        </p:txBody>
      </p:sp>
      <p:sp>
        <p:nvSpPr>
          <p:cNvPr id="27" name="Shape 25"/>
          <p:cNvSpPr/>
          <p:nvPr/>
        </p:nvSpPr>
        <p:spPr>
          <a:xfrm>
            <a:off x="4368800" y="7226300"/>
            <a:ext cx="0" cy="177800"/>
          </a:xfrm>
          <a:prstGeom prst="straightConnector1">
            <a:avLst/>
          </a:prstGeom>
          <a:noFill/>
          <a:ln w="25400">
            <a:solidFill>
              <a:srgbClr val="FFFFFF">
                <a:alpha val="25098"/>
              </a:srgbClr>
            </a:solidFill>
            <a:prstDash val="solid"/>
            <a:headEnd type="none"/>
            <a:tailEnd type="arrow"/>
          </a:ln>
        </p:spPr>
      </p:sp>
      <p:sp>
        <p:nvSpPr>
          <p:cNvPr id="28" name="Shape 26"/>
          <p:cNvSpPr/>
          <p:nvPr/>
        </p:nvSpPr>
        <p:spPr>
          <a:xfrm>
            <a:off x="1066800" y="7404100"/>
            <a:ext cx="6604000" cy="457200"/>
          </a:xfrm>
          <a:prstGeom prst="rect">
            <a:avLst/>
          </a:prstGeom>
          <a:solidFill>
            <a:srgbClr val="C9893B"/>
          </a:solidFill>
          <a:ln/>
        </p:spPr>
      </p:sp>
      <p:sp>
        <p:nvSpPr>
          <p:cNvPr id="29" name="Text 27"/>
          <p:cNvSpPr/>
          <p:nvPr/>
        </p:nvSpPr>
        <p:spPr>
          <a:xfrm>
            <a:off x="1066800" y="7404100"/>
            <a:ext cx="6604000" cy="4572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8. Browser connects to web server, website loads</a:t>
            </a:r>
            <a:endParaRPr lang="en-US" sz="1600" dirty="0"/>
          </a:p>
        </p:txBody>
      </p:sp>
      <p:sp>
        <p:nvSpPr>
          <p:cNvPr id="30" name="Text 28"/>
          <p:cNvSpPr/>
          <p:nvPr/>
        </p:nvSpPr>
        <p:spPr>
          <a:xfrm>
            <a:off x="8382000" y="2540000"/>
            <a:ext cx="6604000" cy="2540000"/>
          </a:xfrm>
          <a:prstGeom prst="rect">
            <a:avLst/>
          </a:prstGeom>
          <a:noFill/>
          <a:ln/>
        </p:spPr>
        <p:txBody>
          <a:bodyPr wrap="square" lIns="0" tIns="0" rIns="0" bIns="0" rtlCol="0" anchor="ctr"/>
          <a:lstStyle/>
          <a:p>
            <a:pPr>
              <a:lnSpc>
                <a:spcPct val="170000"/>
              </a:lnSpc>
            </a:pPr>
            <a:r>
              <a:rPr lang="en-US" sz="2000" b="1" dirty="0">
                <a:solidFill>
                  <a:srgbClr val="C9893B"/>
                </a:solidFill>
                <a:latin typeface="Quattrocento Sans" pitchFamily="34" charset="0"/>
                <a:ea typeface="Quattrocento Sans" pitchFamily="34" charset="-122"/>
                <a:cs typeface="Quattrocento Sans" pitchFamily="34" charset="-120"/>
              </a:rPr>
              <a:t>Key Points:</a:t>
            </a:r>
            <a:endParaRPr lang="en-US" sz="1600" dirty="0"/>
          </a:p>
          <a:p>
            <a:pPr>
              <a:lnSpc>
                <a:spcPct val="170000"/>
              </a:lnSpc>
              <a:spcBef>
                <a:spcPts val="800"/>
              </a:spcBef>
            </a:pPr>
            <a:r>
              <a:rPr lang="en-US" sz="1600" dirty="0">
                <a:solidFill>
                  <a:srgbClr val="FFFFFF">
                    <a:alpha val="80000"/>
                  </a:srgbClr>
                </a:solidFill>
                <a:latin typeface="Quattrocento Sans" pitchFamily="34" charset="0"/>
                <a:ea typeface="Quattrocento Sans" pitchFamily="34" charset="-122"/>
                <a:cs typeface="Quattrocento Sans" pitchFamily="34" charset="-120"/>
              </a:rPr>
              <a:t>• Caching happens at every level</a:t>
            </a:r>
            <a:endParaRPr lang="en-US" sz="1600" dirty="0"/>
          </a:p>
          <a:p>
            <a:pPr>
              <a:lnSpc>
                <a:spcPct val="17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 Only 3-4 server interactions if not cached</a:t>
            </a:r>
            <a:endParaRPr lang="en-US" sz="1600" dirty="0"/>
          </a:p>
          <a:p>
            <a:pPr>
              <a:lnSpc>
                <a:spcPct val="17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 Root and TLD only provide </a:t>
            </a:r>
            <a:pPr>
              <a:lnSpc>
                <a:spcPct val="170000"/>
              </a:lnSpc>
            </a:pPr>
            <a:r>
              <a:rPr lang="en-US" sz="1600" b="1" dirty="0">
                <a:solidFill>
                  <a:srgbClr val="FFFFFF">
                    <a:alpha val="80000"/>
                  </a:srgbClr>
                </a:solidFill>
                <a:latin typeface="Quattrocento Sans" pitchFamily="34" charset="0"/>
                <a:ea typeface="Quattrocento Sans" pitchFamily="34" charset="-122"/>
                <a:cs typeface="Quattrocento Sans" pitchFamily="34" charset="-120"/>
              </a:rPr>
              <a:t>referrals</a:t>
            </a:r>
            <a:endParaRPr lang="en-US" sz="1600" dirty="0"/>
          </a:p>
          <a:p>
            <a:pPr>
              <a:lnSpc>
                <a:spcPct val="17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 Authoritative server provides the </a:t>
            </a:r>
            <a:pPr>
              <a:lnSpc>
                <a:spcPct val="170000"/>
              </a:lnSpc>
            </a:pPr>
            <a:r>
              <a:rPr lang="en-US" sz="1600" b="1" dirty="0">
                <a:solidFill>
                  <a:srgbClr val="FFFFFF">
                    <a:alpha val="80000"/>
                  </a:srgbClr>
                </a:solidFill>
                <a:latin typeface="Quattrocento Sans" pitchFamily="34" charset="0"/>
                <a:ea typeface="Quattrocento Sans" pitchFamily="34" charset="-122"/>
                <a:cs typeface="Quattrocento Sans" pitchFamily="34" charset="-120"/>
              </a:rPr>
              <a:t>final answer</a:t>
            </a:r>
            <a:endParaRPr lang="en-US" sz="1600" dirty="0"/>
          </a:p>
        </p:txBody>
      </p:sp>
      <p:sp>
        <p:nvSpPr>
          <p:cNvPr id="31" name="Shape 29"/>
          <p:cNvSpPr/>
          <p:nvPr/>
        </p:nvSpPr>
        <p:spPr>
          <a:xfrm>
            <a:off x="9652000" y="5588000"/>
            <a:ext cx="3556000" cy="1016000"/>
          </a:xfrm>
          <a:prstGeom prst="rect">
            <a:avLst/>
          </a:prstGeom>
          <a:solidFill>
            <a:srgbClr val="C9893B"/>
          </a:solidFill>
          <a:ln/>
        </p:spPr>
      </p:sp>
      <p:sp>
        <p:nvSpPr>
          <p:cNvPr id="32" name="Text 30"/>
          <p:cNvSpPr/>
          <p:nvPr/>
        </p:nvSpPr>
        <p:spPr>
          <a:xfrm>
            <a:off x="9652000" y="5588000"/>
            <a:ext cx="3556000" cy="1016000"/>
          </a:xfrm>
          <a:prstGeom prst="rect">
            <a:avLst/>
          </a:prstGeom>
          <a:noFill/>
          <a:ln/>
        </p:spPr>
        <p:txBody>
          <a:bodyPr wrap="square" lIns="0" tIns="0" rIns="0" bIns="0" rtlCol="0" anchor="ctr"/>
          <a:lstStyle/>
          <a:p>
            <a:pPr algn="ctr">
              <a:lnSpc>
                <a:spcPct val="140000"/>
              </a:lnSpc>
            </a:pPr>
            <a:r>
              <a:rPr lang="en-US" sz="1800" b="1" dirty="0">
                <a:solidFill>
                  <a:srgbClr val="FFFFFF"/>
                </a:solidFill>
                <a:latin typeface="Liter" pitchFamily="34" charset="0"/>
                <a:ea typeface="Liter" pitchFamily="34" charset="-122"/>
                <a:cs typeface="Liter" pitchFamily="34" charset="-120"/>
              </a:rPr>
              <a:t>Total Time:</a:t>
            </a:r>
            <a:endParaRPr lang="en-US" sz="1600" dirty="0"/>
          </a:p>
          <a:p>
            <a:pPr algn="ctr">
              <a:lnSpc>
                <a:spcPct val="140000"/>
              </a:lnSpc>
            </a:pPr>
            <a:r>
              <a:rPr lang="en-US" sz="2800" dirty="0">
                <a:solidFill>
                  <a:srgbClr val="FFFFFF"/>
                </a:solidFill>
                <a:latin typeface="Liter" pitchFamily="34" charset="0"/>
                <a:ea typeface="Liter" pitchFamily="34" charset="-122"/>
                <a:cs typeface="Liter" pitchFamily="34" charset="-120"/>
              </a:rPr>
              <a:t>&lt; 50 milliseconds</a:t>
            </a:r>
            <a:endParaRPr lang="en-US" sz="1600" dirty="0"/>
          </a:p>
        </p:txBody>
      </p:sp>
      <p:sp>
        <p:nvSpPr>
          <p:cNvPr id="33" name="Shape 31"/>
          <p:cNvSpPr/>
          <p:nvPr/>
        </p:nvSpPr>
        <p:spPr>
          <a:xfrm>
            <a:off x="762000" y="8382000"/>
            <a:ext cx="14732000" cy="25400"/>
          </a:xfrm>
          <a:prstGeom prst="rect">
            <a:avLst/>
          </a:prstGeom>
          <a:solidFill>
            <a:srgbClr val="C9893B"/>
          </a:solidFill>
          <a:ln/>
        </p:spPr>
      </p:sp>
      <p:sp>
        <p:nvSpPr>
          <p:cNvPr id="34" name="Text 32"/>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26</a:t>
            </a:r>
            <a:endParaRPr lang="en-US" sz="14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Important Terms &amp; Definitions</a:t>
            </a:r>
            <a:endParaRPr lang="en-US" sz="2800" dirty="0"/>
          </a:p>
        </p:txBody>
      </p:sp>
      <p:sp>
        <p:nvSpPr>
          <p:cNvPr id="4" name="Shape 2"/>
          <p:cNvSpPr/>
          <p:nvPr/>
        </p:nvSpPr>
        <p:spPr>
          <a:xfrm>
            <a:off x="762000" y="1295400"/>
            <a:ext cx="635000" cy="38100"/>
          </a:xfrm>
          <a:prstGeom prst="rect">
            <a:avLst/>
          </a:prstGeom>
          <a:solidFill>
            <a:srgbClr val="C9893B"/>
          </a:solidFill>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62000" y="1587500"/>
          <a:ext cx="14732000" cy="6350000"/>
        </p:xfrm>
        <a:graphic>
          <a:graphicData uri="http://schemas.openxmlformats.org/drawingml/2006/table">
            <a:tbl>
              <a:tblPr/>
              <a:tblGrid>
                <a:gridCol w="3683000"/>
                <a:gridCol w="11049000"/>
              </a:tblGrid>
              <a:tr h="503968">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Term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Definition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2D3E50"/>
                    </a:solidFill>
                  </a:tcPr>
                </a:tc>
              </a:tr>
              <a:tr h="730754">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Domain Name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Human-readable address for a website (e.g., example.com)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730754">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IP Address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Numerical identifier for devices on a network (IPv4: 32-bit, IPv6: 128-bit)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730754">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FQDN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Fully Qualified Domain Name — complete domain with all levels (www.example.com.)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730754">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Zone File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Text file containing all DNS records for a domain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730754">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TTL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Time-To-Live — how long a DNS record remains valid in cache (in seconds)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730754">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Zone Transfer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Process of copying DNS data from primary to secondary server (AXFR/IXFR)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r h="730754">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Anycast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Network technique routing traffic to the nearest server instance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FFFFFF"/>
                    </a:solidFill>
                  </a:tcPr>
                </a:tc>
              </a:tr>
              <a:tr h="730754">
                <a:tc>
                  <a:txBody>
                    <a:bodyPr/>
                    <a:lstStyle/>
                    <a:p>
                      <a:pPr algn="l"/>
                      <a:r>
                        <a:rPr lang="en-US" sz="1400" u="none" dirty="0">
                          <a:solidFill>
                            <a:srgbClr val="C9893B"/>
                          </a:solidFill>
                          <a:latin typeface="QuattrocentoSans" pitchFamily="34" charset="0"/>
                          <a:ea typeface="QuattrocentoSans" pitchFamily="34" charset="-122"/>
                          <a:cs typeface="QuattrocentoSans" pitchFamily="34" charset="-120"/>
                        </a:rPr>
                        <a:t>DNS over HTTPS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c>
                  <a:txBody>
                    <a:bodyPr/>
                    <a:lstStyle/>
                    <a:p>
                      <a:pPr algn="l"/>
                      <a:r>
                        <a:rPr lang="en-US" sz="1400" u="none" dirty="0">
                          <a:solidFill>
                            <a:srgbClr val="1E2328"/>
                          </a:solidFill>
                          <a:latin typeface="QuattrocentoSans" pitchFamily="34" charset="0"/>
                          <a:ea typeface="QuattrocentoSans" pitchFamily="34" charset="-122"/>
                          <a:cs typeface="QuattrocentoSans" pitchFamily="34" charset="-120"/>
                        </a:rPr>
                        <a:t>Encrypted DNS queries for privacy (DoH)</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0CBC4"/>
                      </a:solidFill>
                      <a:prstDash val="solid"/>
                      <a:round/>
                      <a:headEnd type="none" w="med" len="med"/>
                      <a:tailEnd type="none" w="med" len="med"/>
                    </a:lnL>
                    <a:lnR w="12700" cap="flat" cmpd="sng" algn="ctr">
                      <a:solidFill>
                        <a:srgbClr val="D0CBC4"/>
                      </a:solidFill>
                      <a:prstDash val="solid"/>
                      <a:round/>
                      <a:headEnd type="none" w="med" len="med"/>
                      <a:tailEnd type="none" w="med" len="med"/>
                    </a:lnR>
                    <a:lnT w="12700" cap="flat" cmpd="sng" algn="ctr">
                      <a:solidFill>
                        <a:srgbClr val="D0CBC4"/>
                      </a:solidFill>
                      <a:prstDash val="solid"/>
                      <a:round/>
                      <a:headEnd type="none" w="med" len="med"/>
                      <a:tailEnd type="none" w="med" len="med"/>
                    </a:lnT>
                    <a:lnB w="12700" cap="flat" cmpd="sng" algn="ctr">
                      <a:solidFill>
                        <a:srgbClr val="D0CBC4"/>
                      </a:solidFill>
                      <a:prstDash val="solid"/>
                      <a:round/>
                      <a:headEnd type="none" w="med" len="med"/>
                      <a:tailEnd type="none" w="med" len="med"/>
                    </a:lnB>
                    <a:solidFill>
                      <a:srgbClr val="E8E4DE"/>
                    </a:solidFill>
                  </a:tcPr>
                </a:tc>
              </a:tr>
            </a:tbl>
          </a:graphicData>
        </a:graphic>
      </p:graphicFrame>
      <p:sp>
        <p:nvSpPr>
          <p:cNvPr id="6" name="Shape 3"/>
          <p:cNvSpPr/>
          <p:nvPr/>
        </p:nvSpPr>
        <p:spPr>
          <a:xfrm>
            <a:off x="762000" y="8382000"/>
            <a:ext cx="14732000" cy="25400"/>
          </a:xfrm>
          <a:prstGeom prst="rect">
            <a:avLst/>
          </a:prstGeom>
          <a:solidFill>
            <a:srgbClr val="C9893B"/>
          </a:solidFill>
          <a:ln/>
        </p:spPr>
      </p:sp>
      <p:sp>
        <p:nvSpPr>
          <p:cNvPr id="7" name="Text 4"/>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27</a:t>
            </a:r>
            <a:endParaRPr lang="en-US" sz="14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304800"/>
            <a:ext cx="2540000" cy="254000"/>
          </a:xfrm>
          <a:prstGeom prst="rect">
            <a:avLst/>
          </a:prstGeom>
          <a:noFill/>
          <a:ln/>
        </p:spPr>
        <p:txBody>
          <a:bodyPr wrap="none" lIns="0" tIns="0" rIns="0" bIns="0" rtlCol="0" anchor="ctr"/>
          <a:lstStyle/>
          <a:p>
            <a:pPr>
              <a:lnSpc>
                <a:spcPct val="100000"/>
              </a:lnSpc>
            </a:pPr>
            <a:r>
              <a:rPr lang="en-US" sz="1200" spc="200" kern="0" dirty="0">
                <a:solidFill>
                  <a:srgbClr val="6B7B8D"/>
                </a:solidFill>
                <a:latin typeface="Quattrocento Sans" pitchFamily="34" charset="0"/>
                <a:ea typeface="Quattrocento Sans" pitchFamily="34" charset="-122"/>
                <a:cs typeface="Quattrocento Sans" pitchFamily="34" charset="-120"/>
              </a:rPr>
              <a:t>ICT WEEK 8</a:t>
            </a:r>
            <a:endParaRPr lang="en-US" sz="1600" dirty="0"/>
          </a:p>
        </p:txBody>
      </p:sp>
      <p:sp>
        <p:nvSpPr>
          <p:cNvPr id="3" name="Text 1"/>
          <p:cNvSpPr/>
          <p:nvPr/>
        </p:nvSpPr>
        <p:spPr>
          <a:xfrm>
            <a:off x="762000" y="711200"/>
            <a:ext cx="8890000" cy="508000"/>
          </a:xfrm>
          <a:prstGeom prst="rect">
            <a:avLst/>
          </a:prstGeom>
          <a:noFill/>
          <a:ln/>
        </p:spPr>
        <p:txBody>
          <a:bodyPr wrap="none" lIns="0" tIns="0" rIns="0" bIns="0" rtlCol="0" anchor="ctr"/>
          <a:lstStyle/>
          <a:p>
            <a:pPr>
              <a:lnSpc>
                <a:spcPct val="130000"/>
              </a:lnSpc>
            </a:pPr>
            <a:r>
              <a:rPr lang="en-US" sz="2800" b="1" dirty="0">
                <a:solidFill>
                  <a:srgbClr val="2D3E50"/>
                </a:solidFill>
                <a:latin typeface="Liter" pitchFamily="34" charset="0"/>
                <a:ea typeface="Liter" pitchFamily="34" charset="-122"/>
                <a:cs typeface="Liter" pitchFamily="34" charset="-120"/>
              </a:rPr>
              <a:t>Review Questions</a:t>
            </a:r>
            <a:endParaRPr lang="en-US" sz="2800" dirty="0"/>
          </a:p>
        </p:txBody>
      </p:sp>
      <p:sp>
        <p:nvSpPr>
          <p:cNvPr id="4" name="Shape 2"/>
          <p:cNvSpPr/>
          <p:nvPr/>
        </p:nvSpPr>
        <p:spPr>
          <a:xfrm>
            <a:off x="762000" y="1295400"/>
            <a:ext cx="635000" cy="38100"/>
          </a:xfrm>
          <a:prstGeom prst="rect">
            <a:avLst/>
          </a:prstGeom>
          <a:solidFill>
            <a:srgbClr val="C9893B"/>
          </a:solidFill>
          <a:ln/>
        </p:spPr>
      </p:sp>
      <p:sp>
        <p:nvSpPr>
          <p:cNvPr id="5" name="Text 3"/>
          <p:cNvSpPr/>
          <p:nvPr/>
        </p:nvSpPr>
        <p:spPr>
          <a:xfrm>
            <a:off x="762000" y="1498600"/>
            <a:ext cx="7620000" cy="444500"/>
          </a:xfrm>
          <a:prstGeom prst="rect">
            <a:avLst/>
          </a:prstGeom>
          <a:noFill/>
          <a:ln/>
        </p:spPr>
        <p:txBody>
          <a:bodyPr wrap="square" lIns="0" tIns="0" rIns="0" bIns="0" rtlCol="0" anchor="ctr"/>
          <a:lstStyle/>
          <a:p>
            <a:pPr>
              <a:lnSpc>
                <a:spcPct val="160000"/>
              </a:lnSpc>
            </a:pPr>
            <a:r>
              <a:rPr lang="en-US" sz="1600" dirty="0">
                <a:solidFill>
                  <a:srgbClr val="1E2328"/>
                </a:solidFill>
                <a:latin typeface="QuattrocentoSans" pitchFamily="34" charset="0"/>
                <a:ea typeface="QuattrocentoSans" pitchFamily="34" charset="-122"/>
                <a:cs typeface="QuattrocentoSans" pitchFamily="34" charset="-120"/>
              </a:rPr>
              <a:t>Test your understanding of the Domain Name System:</a:t>
            </a:r>
            <a:endParaRPr lang="en-US" sz="1800" dirty="0"/>
          </a:p>
        </p:txBody>
      </p:sp>
      <p:sp>
        <p:nvSpPr>
          <p:cNvPr id="6" name="Text 4"/>
          <p:cNvSpPr/>
          <p:nvPr/>
        </p:nvSpPr>
        <p:spPr>
          <a:xfrm>
            <a:off x="762000" y="2032000"/>
            <a:ext cx="7112000" cy="5207000"/>
          </a:xfrm>
          <a:prstGeom prst="rect">
            <a:avLst/>
          </a:prstGeom>
          <a:noFill/>
          <a:ln/>
        </p:spPr>
        <p:txBody>
          <a:bodyPr wrap="square" lIns="0" tIns="0" rIns="0" bIns="0" rtlCol="0" anchor="ctr"/>
          <a:lstStyle/>
          <a:p>
            <a:pPr>
              <a:lnSpc>
                <a:spcPct val="175000"/>
              </a:lnSpc>
            </a:pPr>
            <a:r>
              <a:rPr lang="en-US" sz="1600" b="1" dirty="0">
                <a:solidFill>
                  <a:srgbClr val="C9893B"/>
                </a:solidFill>
                <a:latin typeface="Quattrocento Sans" pitchFamily="34" charset="0"/>
                <a:ea typeface="Quattrocento Sans" pitchFamily="34" charset="-122"/>
                <a:cs typeface="Quattrocento Sans" pitchFamily="34" charset="-120"/>
              </a:rPr>
              <a:t>1.</a:t>
            </a:r>
            <a:pPr>
              <a:lnSpc>
                <a:spcPct val="175000"/>
              </a:lnSpc>
            </a:pPr>
            <a:r>
              <a:rPr lang="en-US" sz="1600" dirty="0">
                <a:solidFill>
                  <a:srgbClr val="1E2328"/>
                </a:solidFill>
                <a:latin typeface="Quattrocento Sans" pitchFamily="34" charset="0"/>
                <a:ea typeface="Quattrocento Sans" pitchFamily="34" charset="-122"/>
                <a:cs typeface="Quattrocento Sans" pitchFamily="34" charset="-120"/>
              </a:rPr>
              <a:t> What is the primary purpose of DNS?</a:t>
            </a:r>
            <a:endParaRPr lang="en-US" sz="1600" dirty="0"/>
          </a:p>
          <a:p>
            <a:pPr>
              <a:lnSpc>
                <a:spcPct val="175000"/>
              </a:lnSpc>
              <a:spcBef>
                <a:spcPts val="600"/>
              </a:spcBef>
            </a:pPr>
            <a:r>
              <a:rPr lang="en-US" sz="1600" b="1" dirty="0">
                <a:solidFill>
                  <a:srgbClr val="C9893B"/>
                </a:solidFill>
                <a:latin typeface="Quattrocento Sans" pitchFamily="34" charset="0"/>
                <a:ea typeface="Quattrocento Sans" pitchFamily="34" charset="-122"/>
                <a:cs typeface="Quattrocento Sans" pitchFamily="34" charset="-120"/>
              </a:rPr>
              <a:t>2.</a:t>
            </a:r>
            <a:pPr>
              <a:lnSpc>
                <a:spcPct val="175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 Name the four types of DNS servers and their roles.</a:t>
            </a:r>
            <a:endParaRPr lang="en-US" sz="1600" dirty="0"/>
          </a:p>
          <a:p>
            <a:pPr>
              <a:lnSpc>
                <a:spcPct val="175000"/>
              </a:lnSpc>
              <a:spcBef>
                <a:spcPts val="600"/>
              </a:spcBef>
            </a:pPr>
            <a:r>
              <a:rPr lang="en-US" sz="1600" b="1" dirty="0">
                <a:solidFill>
                  <a:srgbClr val="C9893B"/>
                </a:solidFill>
                <a:latin typeface="Quattrocento Sans" pitchFamily="34" charset="0"/>
                <a:ea typeface="Quattrocento Sans" pitchFamily="34" charset="-122"/>
                <a:cs typeface="Quattrocento Sans" pitchFamily="34" charset="-120"/>
              </a:rPr>
              <a:t>3.</a:t>
            </a:r>
            <a:pPr>
              <a:lnSpc>
                <a:spcPct val="175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 What is the difference between a recursive query and an iterative query?</a:t>
            </a:r>
            <a:endParaRPr lang="en-US" sz="1600" dirty="0"/>
          </a:p>
          <a:p>
            <a:pPr>
              <a:lnSpc>
                <a:spcPct val="175000"/>
              </a:lnSpc>
              <a:spcBef>
                <a:spcPts val="600"/>
              </a:spcBef>
            </a:pPr>
            <a:r>
              <a:rPr lang="en-US" sz="1600" b="1" dirty="0">
                <a:solidFill>
                  <a:srgbClr val="C9893B"/>
                </a:solidFill>
                <a:latin typeface="Quattrocento Sans" pitchFamily="34" charset="0"/>
                <a:ea typeface="Quattrocento Sans" pitchFamily="34" charset="-122"/>
                <a:cs typeface="Quattrocento Sans" pitchFamily="34" charset="-120"/>
              </a:rPr>
              <a:t>4.</a:t>
            </a:r>
            <a:pPr>
              <a:lnSpc>
                <a:spcPct val="175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 What does an A record do? How is it different from an AAAA record?</a:t>
            </a:r>
            <a:endParaRPr lang="en-US" sz="1600" dirty="0"/>
          </a:p>
          <a:p>
            <a:pPr>
              <a:lnSpc>
                <a:spcPct val="175000"/>
              </a:lnSpc>
              <a:spcBef>
                <a:spcPts val="600"/>
              </a:spcBef>
            </a:pPr>
            <a:r>
              <a:rPr lang="en-US" sz="1600" b="1" dirty="0">
                <a:solidFill>
                  <a:srgbClr val="C9893B"/>
                </a:solidFill>
                <a:latin typeface="Quattrocento Sans" pitchFamily="34" charset="0"/>
                <a:ea typeface="Quattrocento Sans" pitchFamily="34" charset="-122"/>
                <a:cs typeface="Quattrocento Sans" pitchFamily="34" charset="-120"/>
              </a:rPr>
              <a:t>5.</a:t>
            </a:r>
            <a:pPr>
              <a:lnSpc>
                <a:spcPct val="175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 What is TTL and why is it important?</a:t>
            </a:r>
            <a:endParaRPr lang="en-US" sz="1600" dirty="0"/>
          </a:p>
        </p:txBody>
      </p:sp>
      <p:sp>
        <p:nvSpPr>
          <p:cNvPr id="7" name="Text 5"/>
          <p:cNvSpPr/>
          <p:nvPr/>
        </p:nvSpPr>
        <p:spPr>
          <a:xfrm>
            <a:off x="8382000" y="2032000"/>
            <a:ext cx="7112000" cy="5207000"/>
          </a:xfrm>
          <a:prstGeom prst="rect">
            <a:avLst/>
          </a:prstGeom>
          <a:noFill/>
          <a:ln/>
        </p:spPr>
        <p:txBody>
          <a:bodyPr wrap="square" lIns="0" tIns="0" rIns="0" bIns="0" rtlCol="0" anchor="ctr"/>
          <a:lstStyle/>
          <a:p>
            <a:pPr>
              <a:lnSpc>
                <a:spcPct val="175000"/>
              </a:lnSpc>
            </a:pPr>
            <a:r>
              <a:rPr lang="en-US" sz="1600" b="1" dirty="0">
                <a:solidFill>
                  <a:srgbClr val="C9893B"/>
                </a:solidFill>
                <a:latin typeface="Quattrocento Sans" pitchFamily="34" charset="0"/>
                <a:ea typeface="Quattrocento Sans" pitchFamily="34" charset="-122"/>
                <a:cs typeface="Quattrocento Sans" pitchFamily="34" charset="-120"/>
              </a:rPr>
              <a:t>6.</a:t>
            </a:r>
            <a:pPr>
              <a:lnSpc>
                <a:spcPct val="175000"/>
              </a:lnSpc>
            </a:pPr>
            <a:r>
              <a:rPr lang="en-US" sz="1600" dirty="0">
                <a:solidFill>
                  <a:srgbClr val="1E2328"/>
                </a:solidFill>
                <a:latin typeface="Quattrocento Sans" pitchFamily="34" charset="0"/>
                <a:ea typeface="Quattrocento Sans" pitchFamily="34" charset="-122"/>
                <a:cs typeface="Quattrocento Sans" pitchFamily="34" charset="-120"/>
              </a:rPr>
              <a:t> What is the function of a CNAME record?</a:t>
            </a:r>
            <a:endParaRPr lang="en-US" sz="1600" dirty="0"/>
          </a:p>
          <a:p>
            <a:pPr>
              <a:lnSpc>
                <a:spcPct val="175000"/>
              </a:lnSpc>
              <a:spcBef>
                <a:spcPts val="600"/>
              </a:spcBef>
            </a:pPr>
            <a:r>
              <a:rPr lang="en-US" sz="1600" b="1" dirty="0">
                <a:solidFill>
                  <a:srgbClr val="C9893B"/>
                </a:solidFill>
                <a:latin typeface="Quattrocento Sans" pitchFamily="34" charset="0"/>
                <a:ea typeface="Quattrocento Sans" pitchFamily="34" charset="-122"/>
                <a:cs typeface="Quattrocento Sans" pitchFamily="34" charset="-120"/>
              </a:rPr>
              <a:t>7.</a:t>
            </a:r>
            <a:pPr>
              <a:lnSpc>
                <a:spcPct val="175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 Why do we need MX records?</a:t>
            </a:r>
            <a:endParaRPr lang="en-US" sz="1600" dirty="0"/>
          </a:p>
          <a:p>
            <a:pPr>
              <a:lnSpc>
                <a:spcPct val="175000"/>
              </a:lnSpc>
              <a:spcBef>
                <a:spcPts val="600"/>
              </a:spcBef>
            </a:pPr>
            <a:r>
              <a:rPr lang="en-US" sz="1600" b="1" dirty="0">
                <a:solidFill>
                  <a:srgbClr val="C9893B"/>
                </a:solidFill>
                <a:latin typeface="Quattrocento Sans" pitchFamily="34" charset="0"/>
                <a:ea typeface="Quattrocento Sans" pitchFamily="34" charset="-122"/>
                <a:cs typeface="Quattrocento Sans" pitchFamily="34" charset="-120"/>
              </a:rPr>
              <a:t>8.</a:t>
            </a:r>
            <a:pPr>
              <a:lnSpc>
                <a:spcPct val="175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 What is the difference between a primary and secondary authoritative server?</a:t>
            </a:r>
            <a:endParaRPr lang="en-US" sz="1600" dirty="0"/>
          </a:p>
          <a:p>
            <a:pPr>
              <a:lnSpc>
                <a:spcPct val="175000"/>
              </a:lnSpc>
              <a:spcBef>
                <a:spcPts val="600"/>
              </a:spcBef>
            </a:pPr>
            <a:r>
              <a:rPr lang="en-US" sz="1600" b="1" dirty="0">
                <a:solidFill>
                  <a:srgbClr val="C9893B"/>
                </a:solidFill>
                <a:latin typeface="Quattrocento Sans" pitchFamily="34" charset="0"/>
                <a:ea typeface="Quattrocento Sans" pitchFamily="34" charset="-122"/>
                <a:cs typeface="Quattrocento Sans" pitchFamily="34" charset="-120"/>
              </a:rPr>
              <a:t>9.</a:t>
            </a:r>
            <a:pPr>
              <a:lnSpc>
                <a:spcPct val="175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 What happens when a DNS resolver receives a query for a cached domain?</a:t>
            </a:r>
            <a:endParaRPr lang="en-US" sz="1600" dirty="0"/>
          </a:p>
          <a:p>
            <a:pPr>
              <a:lnSpc>
                <a:spcPct val="175000"/>
              </a:lnSpc>
              <a:spcBef>
                <a:spcPts val="600"/>
              </a:spcBef>
            </a:pPr>
            <a:r>
              <a:rPr lang="en-US" sz="1600" b="1" dirty="0">
                <a:solidFill>
                  <a:srgbClr val="C9893B"/>
                </a:solidFill>
                <a:latin typeface="Quattrocento Sans" pitchFamily="34" charset="0"/>
                <a:ea typeface="Quattrocento Sans" pitchFamily="34" charset="-122"/>
                <a:cs typeface="Quattrocento Sans" pitchFamily="34" charset="-120"/>
              </a:rPr>
              <a:t>10.</a:t>
            </a:r>
            <a:pPr>
              <a:lnSpc>
                <a:spcPct val="175000"/>
              </a:lnSpc>
              <a:spcBef>
                <a:spcPts val="600"/>
              </a:spcBef>
            </a:pPr>
            <a:r>
              <a:rPr lang="en-US" sz="1600" dirty="0">
                <a:solidFill>
                  <a:srgbClr val="1E2328"/>
                </a:solidFill>
                <a:latin typeface="Quattrocento Sans" pitchFamily="34" charset="0"/>
                <a:ea typeface="Quattrocento Sans" pitchFamily="34" charset="-122"/>
                <a:cs typeface="Quattrocento Sans" pitchFamily="34" charset="-120"/>
              </a:rPr>
              <a:t> Draw the DNS hierarchy from root to hostname.</a:t>
            </a:r>
            <a:endParaRPr lang="en-US" sz="1600" dirty="0"/>
          </a:p>
        </p:txBody>
      </p:sp>
      <p:sp>
        <p:nvSpPr>
          <p:cNvPr id="8" name="Shape 6"/>
          <p:cNvSpPr/>
          <p:nvPr/>
        </p:nvSpPr>
        <p:spPr>
          <a:xfrm>
            <a:off x="762000" y="7366000"/>
            <a:ext cx="14732000" cy="762000"/>
          </a:xfrm>
          <a:prstGeom prst="rect">
            <a:avLst/>
          </a:prstGeom>
          <a:solidFill>
            <a:srgbClr val="2D3E50"/>
          </a:solidFill>
          <a:ln/>
        </p:spPr>
      </p:sp>
      <p:sp>
        <p:nvSpPr>
          <p:cNvPr id="9" name="Shape 7"/>
          <p:cNvSpPr/>
          <p:nvPr/>
        </p:nvSpPr>
        <p:spPr>
          <a:xfrm>
            <a:off x="1066800" y="7543800"/>
            <a:ext cx="406400" cy="406400"/>
          </a:xfrm>
          <a:custGeom>
            <a:avLst/>
            <a:gdLst/>
            <a:ahLst/>
            <a:cxnLst/>
            <a:rect l="l" t="t" r="r" b="b"/>
            <a:pathLst>
              <a:path w="406400" h="406400">
                <a:moveTo>
                  <a:pt x="203200" y="406400"/>
                </a:moveTo>
                <a:cubicBezTo>
                  <a:pt x="315349" y="406400"/>
                  <a:pt x="406400" y="315349"/>
                  <a:pt x="406400" y="203200"/>
                </a:cubicBezTo>
                <a:cubicBezTo>
                  <a:pt x="406400" y="91051"/>
                  <a:pt x="315349" y="0"/>
                  <a:pt x="203200" y="0"/>
                </a:cubicBezTo>
                <a:cubicBezTo>
                  <a:pt x="91051" y="0"/>
                  <a:pt x="0" y="91051"/>
                  <a:pt x="0" y="203200"/>
                </a:cubicBezTo>
                <a:cubicBezTo>
                  <a:pt x="0" y="315349"/>
                  <a:pt x="91051" y="406400"/>
                  <a:pt x="203200" y="406400"/>
                </a:cubicBezTo>
                <a:close/>
                <a:moveTo>
                  <a:pt x="203200" y="139700"/>
                </a:moveTo>
                <a:cubicBezTo>
                  <a:pt x="189151" y="139700"/>
                  <a:pt x="177800" y="151051"/>
                  <a:pt x="177800" y="165100"/>
                </a:cubicBezTo>
                <a:cubicBezTo>
                  <a:pt x="177800" y="175657"/>
                  <a:pt x="169307" y="184150"/>
                  <a:pt x="158750" y="184150"/>
                </a:cubicBezTo>
                <a:cubicBezTo>
                  <a:pt x="148193" y="184150"/>
                  <a:pt x="139700" y="175657"/>
                  <a:pt x="139700" y="165100"/>
                </a:cubicBezTo>
                <a:cubicBezTo>
                  <a:pt x="139700" y="130016"/>
                  <a:pt x="168116" y="101600"/>
                  <a:pt x="203200" y="101600"/>
                </a:cubicBezTo>
                <a:cubicBezTo>
                  <a:pt x="238284" y="101600"/>
                  <a:pt x="266700" y="130016"/>
                  <a:pt x="266700" y="165100"/>
                </a:cubicBezTo>
                <a:cubicBezTo>
                  <a:pt x="266700" y="202565"/>
                  <a:pt x="238125" y="218440"/>
                  <a:pt x="222250" y="224234"/>
                </a:cubicBezTo>
                <a:lnTo>
                  <a:pt x="222250" y="227251"/>
                </a:lnTo>
                <a:cubicBezTo>
                  <a:pt x="222250" y="237808"/>
                  <a:pt x="213757" y="246301"/>
                  <a:pt x="203200" y="246301"/>
                </a:cubicBezTo>
                <a:cubicBezTo>
                  <a:pt x="192643" y="246301"/>
                  <a:pt x="184150" y="237808"/>
                  <a:pt x="184150" y="227251"/>
                </a:cubicBezTo>
                <a:lnTo>
                  <a:pt x="184150" y="220821"/>
                </a:lnTo>
                <a:cubicBezTo>
                  <a:pt x="184150" y="204549"/>
                  <a:pt x="195898" y="192881"/>
                  <a:pt x="208042" y="188913"/>
                </a:cubicBezTo>
                <a:cubicBezTo>
                  <a:pt x="213122" y="187246"/>
                  <a:pt x="218519" y="184547"/>
                  <a:pt x="222488" y="180737"/>
                </a:cubicBezTo>
                <a:cubicBezTo>
                  <a:pt x="225901" y="177403"/>
                  <a:pt x="228600" y="172799"/>
                  <a:pt x="228600" y="165179"/>
                </a:cubicBezTo>
                <a:cubicBezTo>
                  <a:pt x="228600" y="151130"/>
                  <a:pt x="217249" y="139779"/>
                  <a:pt x="203200" y="139779"/>
                </a:cubicBezTo>
                <a:close/>
                <a:moveTo>
                  <a:pt x="177800" y="292100"/>
                </a:moveTo>
                <a:cubicBezTo>
                  <a:pt x="177800" y="278081"/>
                  <a:pt x="189181" y="266700"/>
                  <a:pt x="203200" y="266700"/>
                </a:cubicBezTo>
                <a:cubicBezTo>
                  <a:pt x="217219" y="266700"/>
                  <a:pt x="228600" y="278081"/>
                  <a:pt x="228600" y="292100"/>
                </a:cubicBezTo>
                <a:cubicBezTo>
                  <a:pt x="228600" y="306119"/>
                  <a:pt x="217219" y="317500"/>
                  <a:pt x="203200" y="317500"/>
                </a:cubicBezTo>
                <a:cubicBezTo>
                  <a:pt x="189181" y="317500"/>
                  <a:pt x="177800" y="306119"/>
                  <a:pt x="177800" y="292100"/>
                </a:cubicBezTo>
                <a:close/>
              </a:path>
            </a:pathLst>
          </a:custGeom>
          <a:solidFill>
            <a:srgbClr val="C9893B"/>
          </a:solidFill>
          <a:ln/>
        </p:spPr>
      </p:sp>
      <p:sp>
        <p:nvSpPr>
          <p:cNvPr id="10" name="Text 8"/>
          <p:cNvSpPr/>
          <p:nvPr/>
        </p:nvSpPr>
        <p:spPr>
          <a:xfrm>
            <a:off x="1651000" y="7493000"/>
            <a:ext cx="13538200" cy="508000"/>
          </a:xfrm>
          <a:prstGeom prst="rect">
            <a:avLst/>
          </a:prstGeom>
          <a:noFill/>
          <a:ln/>
        </p:spPr>
        <p:txBody>
          <a:bodyPr wrap="square" lIns="0" tIns="0" rIns="0" bIns="0" rtlCol="0" anchor="ctr"/>
          <a:lstStyle/>
          <a:p>
            <a:pPr>
              <a:lnSpc>
                <a:spcPct val="100000"/>
              </a:lnSpc>
            </a:pPr>
            <a:r>
              <a:rPr lang="en-US" sz="1500" dirty="0">
                <a:solidFill>
                  <a:srgbClr val="FFFFFF"/>
                </a:solidFill>
                <a:latin typeface="Quattrocento Sans" pitchFamily="34" charset="0"/>
                <a:ea typeface="Quattrocento Sans" pitchFamily="34" charset="-122"/>
                <a:cs typeface="Quattrocento Sans" pitchFamily="34" charset="-120"/>
              </a:rPr>
              <a:t>Try answering these questions without looking at your notes. Review any topics you find challenging.</a:t>
            </a:r>
            <a:endParaRPr lang="en-US" sz="1600" dirty="0"/>
          </a:p>
        </p:txBody>
      </p:sp>
      <p:sp>
        <p:nvSpPr>
          <p:cNvPr id="11" name="Shape 9"/>
          <p:cNvSpPr/>
          <p:nvPr/>
        </p:nvSpPr>
        <p:spPr>
          <a:xfrm>
            <a:off x="762000" y="8382000"/>
            <a:ext cx="14732000" cy="25400"/>
          </a:xfrm>
          <a:prstGeom prst="rect">
            <a:avLst/>
          </a:prstGeom>
          <a:solidFill>
            <a:srgbClr val="C9893B"/>
          </a:solidFill>
          <a:ln/>
        </p:spPr>
      </p:sp>
      <p:sp>
        <p:nvSpPr>
          <p:cNvPr id="12" name="Text 10"/>
          <p:cNvSpPr/>
          <p:nvPr/>
        </p:nvSpPr>
        <p:spPr>
          <a:xfrm>
            <a:off x="14732000" y="8534400"/>
            <a:ext cx="762000" cy="254000"/>
          </a:xfrm>
          <a:prstGeom prst="rect">
            <a:avLst/>
          </a:prstGeom>
          <a:noFill/>
          <a:ln/>
        </p:spPr>
        <p:txBody>
          <a:bodyPr wrap="none" lIns="0" tIns="0" rIns="0" bIns="0" rtlCol="0" anchor="ctr"/>
          <a:lstStyle/>
          <a:p>
            <a:pPr algn="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28</a:t>
            </a:r>
            <a:endParaRPr lang="en-US" sz="14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https://kimi-img.moonshot.cn/pub/slides/okc/ndqamqta5jpyk/mnt/agents/output/week8_dns/images/9_Server_room_hosting_many_servers.png">    </p:cNvPr>
          <p:cNvPicPr>
            <a:picLocks noChangeAspect="1"/>
          </p:cNvPicPr>
          <p:nvPr/>
        </p:nvPicPr>
        <p:blipFill>
          <a:blip r:embed="rId1"/>
          <a:srcRect l="180" r="180"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E2328">
                  <a:alpha val="91000"/>
                </a:srgbClr>
              </a:gs>
              <a:gs pos="50000">
                <a:srgbClr val="1E2328">
                  <a:alpha val="80000"/>
                </a:srgbClr>
              </a:gs>
              <a:gs pos="100000">
                <a:srgbClr val="1E2328">
                  <a:alpha val="50000"/>
                </a:srgbClr>
              </a:gs>
            </a:gsLst>
            <a:lin ang="5400000" scaled="1"/>
          </a:gradFill>
          <a:ln w="12700">
            <a:solidFill>
              <a:srgbClr val="333333"/>
            </a:solidFill>
            <a:prstDash val="solid"/>
          </a:ln>
        </p:spPr>
      </p:sp>
      <p:sp>
        <p:nvSpPr>
          <p:cNvPr id="4" name="Shape 1"/>
          <p:cNvSpPr/>
          <p:nvPr/>
        </p:nvSpPr>
        <p:spPr>
          <a:xfrm>
            <a:off x="6858000" y="2794000"/>
            <a:ext cx="2540000" cy="50800"/>
          </a:xfrm>
          <a:prstGeom prst="rect">
            <a:avLst/>
          </a:prstGeom>
          <a:solidFill>
            <a:srgbClr val="C9893B"/>
          </a:solidFill>
          <a:ln/>
        </p:spPr>
      </p:sp>
      <p:sp>
        <p:nvSpPr>
          <p:cNvPr id="5" name="Text 2"/>
          <p:cNvSpPr/>
          <p:nvPr/>
        </p:nvSpPr>
        <p:spPr>
          <a:xfrm>
            <a:off x="3048000" y="3175000"/>
            <a:ext cx="10160000" cy="889000"/>
          </a:xfrm>
          <a:prstGeom prst="rect">
            <a:avLst/>
          </a:prstGeom>
          <a:noFill/>
          <a:ln/>
        </p:spPr>
        <p:txBody>
          <a:bodyPr wrap="none" lIns="0" tIns="0" rIns="0" bIns="0" rtlCol="0" anchor="ctr"/>
          <a:lstStyle/>
          <a:p>
            <a:pPr algn="ctr">
              <a:lnSpc>
                <a:spcPct val="100000"/>
              </a:lnSpc>
            </a:pPr>
            <a:r>
              <a:rPr lang="en-US" sz="4800" b="1" dirty="0">
                <a:solidFill>
                  <a:srgbClr val="FFFFFF"/>
                </a:solidFill>
                <a:latin typeface="Liter" pitchFamily="34" charset="0"/>
                <a:ea typeface="Liter" pitchFamily="34" charset="-122"/>
                <a:cs typeface="Liter" pitchFamily="34" charset="-120"/>
              </a:rPr>
              <a:t>Thank You</a:t>
            </a:r>
            <a:endParaRPr lang="en-US" sz="1600" dirty="0"/>
          </a:p>
        </p:txBody>
      </p:sp>
      <p:sp>
        <p:nvSpPr>
          <p:cNvPr id="6" name="Text 3"/>
          <p:cNvSpPr/>
          <p:nvPr/>
        </p:nvSpPr>
        <p:spPr>
          <a:xfrm>
            <a:off x="3048000" y="4191000"/>
            <a:ext cx="10160000" cy="444500"/>
          </a:xfrm>
          <a:prstGeom prst="rect">
            <a:avLst/>
          </a:prstGeom>
          <a:noFill/>
          <a:ln/>
        </p:spPr>
        <p:txBody>
          <a:bodyPr wrap="none" lIns="0" tIns="0" rIns="0" bIns="0" rtlCol="0" anchor="ctr"/>
          <a:lstStyle/>
          <a:p>
            <a:pPr algn="ctr">
              <a:lnSpc>
                <a:spcPct val="100000"/>
              </a:lnSpc>
            </a:pPr>
            <a:r>
              <a:rPr lang="en-US" sz="2000" dirty="0">
                <a:solidFill>
                  <a:srgbClr val="FFFFFF">
                    <a:alpha val="73333"/>
                  </a:srgbClr>
                </a:solidFill>
                <a:latin typeface="Quattrocento Sans" pitchFamily="34" charset="0"/>
                <a:ea typeface="Quattrocento Sans" pitchFamily="34" charset="-122"/>
                <a:cs typeface="Quattrocento Sans" pitchFamily="34" charset="-120"/>
              </a:rPr>
              <a:t>Applications of Information and Communication Technologies</a:t>
            </a:r>
            <a:endParaRPr lang="en-US" sz="1600" dirty="0"/>
          </a:p>
        </p:txBody>
      </p:sp>
      <p:sp>
        <p:nvSpPr>
          <p:cNvPr id="7" name="Text 4"/>
          <p:cNvSpPr/>
          <p:nvPr/>
        </p:nvSpPr>
        <p:spPr>
          <a:xfrm>
            <a:off x="5588000" y="4826000"/>
            <a:ext cx="5080000" cy="381000"/>
          </a:xfrm>
          <a:prstGeom prst="rect">
            <a:avLst/>
          </a:prstGeom>
          <a:noFill/>
          <a:ln/>
        </p:spPr>
        <p:txBody>
          <a:bodyPr wrap="none" lIns="0" tIns="0" rIns="0" bIns="0" rtlCol="0" anchor="ctr"/>
          <a:lstStyle/>
          <a:p>
            <a:pPr algn="ctr">
              <a:lnSpc>
                <a:spcPct val="100000"/>
              </a:lnSpc>
            </a:pPr>
            <a:r>
              <a:rPr lang="en-US" sz="1600" b="1" spc="300" kern="0" dirty="0">
                <a:solidFill>
                  <a:srgbClr val="C9893B"/>
                </a:solidFill>
                <a:latin typeface="Quattrocento Sans" pitchFamily="34" charset="0"/>
                <a:ea typeface="Quattrocento Sans" pitchFamily="34" charset="-122"/>
                <a:cs typeface="Quattrocento Sans" pitchFamily="34" charset="-120"/>
              </a:rPr>
              <a:t>WEEK 8</a:t>
            </a:r>
            <a:endParaRPr lang="en-US" sz="1600" dirty="0"/>
          </a:p>
        </p:txBody>
      </p:sp>
      <p:sp>
        <p:nvSpPr>
          <p:cNvPr id="8" name="Shape 5"/>
          <p:cNvSpPr/>
          <p:nvPr/>
        </p:nvSpPr>
        <p:spPr>
          <a:xfrm>
            <a:off x="6858000" y="5461000"/>
            <a:ext cx="2540000" cy="50800"/>
          </a:xfrm>
          <a:prstGeom prst="rect">
            <a:avLst/>
          </a:prstGeom>
          <a:solidFill>
            <a:srgbClr val="C9893B"/>
          </a:solidFill>
          <a:ln/>
        </p:spPr>
      </p:sp>
      <p:sp>
        <p:nvSpPr>
          <p:cNvPr id="9" name="Text 6"/>
          <p:cNvSpPr/>
          <p:nvPr/>
        </p:nvSpPr>
        <p:spPr>
          <a:xfrm>
            <a:off x="4318000" y="5842000"/>
            <a:ext cx="7620000" cy="381000"/>
          </a:xfrm>
          <a:prstGeom prst="rect">
            <a:avLst/>
          </a:prstGeom>
          <a:noFill/>
          <a:ln/>
        </p:spPr>
        <p:txBody>
          <a:bodyPr wrap="none" lIns="0" tIns="0" rIns="0" bIns="0" rtlCol="0" anchor="ctr"/>
          <a:lstStyle/>
          <a:p>
            <a:pPr algn="ctr">
              <a:lnSpc>
                <a:spcPct val="100000"/>
              </a:lnSpc>
            </a:pPr>
            <a:r>
              <a:rPr lang="en-US" sz="1500" dirty="0">
                <a:solidFill>
                  <a:srgbClr val="FFFFFF">
                    <a:alpha val="53333"/>
                  </a:srgbClr>
                </a:solidFill>
                <a:latin typeface="Quattrocento Sans" pitchFamily="34" charset="0"/>
                <a:ea typeface="Quattrocento Sans" pitchFamily="34" charset="-122"/>
                <a:cs typeface="Quattrocento Sans" pitchFamily="34" charset="-120"/>
              </a:rPr>
              <a:t>Lectures 15 &amp; 16 — The Domain Name System &amp; Revision</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Applications of Information and Communication Technologies - Week 8</dc:title>
  <dc:subject>Applications of Information and Communication Technologies - Week 8</dc:subject>
  <dc:creator>Kimi</dc:creator>
  <cp:lastModifiedBy>Kimi</cp:lastModifiedBy>
  <cp:revision>1</cp:revision>
  <dcterms:created xsi:type="dcterms:W3CDTF">2026-05-25T08:56:07Z</dcterms:created>
  <dcterms:modified xsi:type="dcterms:W3CDTF">2026-05-25T08:56:07Z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{"Label":"Applications of Information and Communication Technologies - Week 8","ContentProducer":"001191110108MACG2KBH8F10000","ProduceID":"19e5e4a1-8492-88e6-8000-0000e467baad","ReservedCode1":"","ContentPropagator":"001191110108MACG2KBH8F20000","PropagateID":"19e5e4a1-8492-88e6-8000-0000e467baad","ReservedCode2":""}</vt:lpwstr>
  </property>
</Properties>
</file>