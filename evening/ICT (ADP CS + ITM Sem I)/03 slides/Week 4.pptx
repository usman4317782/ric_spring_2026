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6256000" cy="9144000"/>
  <p:notesSz cx="9144000" cy="16256000"/>
  <p:embeddedFontLst>
    <p:embeddedFont>
      <p:font typeface="Quattrocento Sans" charset="-122" pitchFamily="34"/>
      <p:regular r:id="rId33"/>
    </p:embeddedFont>
    <p:embeddedFont>
      <p:font typeface="Liter" charset="-122" pitchFamily="34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252fwrw22tl6/mnt/agents/output/ict-week4/images/1_An_abstract_technology_futuristic.png">    </p:cNvPr>
          <p:cNvPicPr>
            <a:picLocks noChangeAspect="1"/>
          </p:cNvPicPr>
          <p:nvPr/>
        </p:nvPicPr>
        <p:blipFill>
          <a:blip r:embed="rId1"/>
          <a:srcRect l="0" r="0" t="1786" b="1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A1A">
                  <a:alpha val="93000"/>
                </a:srgbClr>
              </a:gs>
              <a:gs pos="55000">
                <a:srgbClr val="0A1A1A">
                  <a:alpha val="80000"/>
                </a:srgbClr>
              </a:gs>
              <a:gs pos="100000">
                <a:srgbClr val="0A1A1A">
                  <a:alpha val="5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4765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2730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— WEEK 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16000" y="3238500"/>
            <a:ext cx="889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</a:t>
            </a:r>
            <a:endParaRPr lang="en-US" sz="4200" dirty="0"/>
          </a:p>
          <a:p>
            <a:pPr>
              <a:lnSpc>
                <a:spcPct val="120000"/>
              </a:lnSpc>
            </a:pPr>
            <a:r>
              <a:rPr lang="en-US" sz="4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&amp;</a:t>
            </a:r>
            <a:endParaRPr lang="en-US" sz="4200" dirty="0"/>
          </a:p>
          <a:p>
            <a:pPr>
              <a:lnSpc>
                <a:spcPct val="120000"/>
              </a:lnSpc>
            </a:pPr>
            <a:r>
              <a:rPr lang="en-US" sz="4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en-US" sz="4200" dirty="0"/>
          </a:p>
          <a:p>
            <a:pPr>
              <a:lnSpc>
                <a:spcPct val="120000"/>
              </a:lnSpc>
            </a:pPr>
            <a:r>
              <a:rPr lang="en-US" sz="4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16000" y="65405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Lectures 7 &amp; 8: The Systems Life Cycle &amp; Communication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16000" y="8128000"/>
            <a:ext cx="5080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8318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Materials — Academic Year 2025/2026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508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143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Sessions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905000"/>
            <a:ext cx="14224000" cy="254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286000"/>
            <a:ext cx="6858000" cy="6096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7" name="Text 5"/>
          <p:cNvSpPr/>
          <p:nvPr/>
        </p:nvSpPr>
        <p:spPr>
          <a:xfrm>
            <a:off x="1397000" y="2540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D7377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3683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Systems Life Cycle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7000" y="4318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structured approach to developing ICT systems — from initial analysis through to final evaluation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97000" y="5334000"/>
            <a:ext cx="609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Analysis &amp; Design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Development &amp; Testing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Implementation &amp; Documentation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286000"/>
            <a:ext cx="6858000" cy="609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0" y="2540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5A6B7B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0" y="3683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63000" y="4318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Exploring communication media and technologies for information exchange in the digital 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63000" y="5334000"/>
            <a:ext cx="609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Newsletters, Posters &amp; Websites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Multimedia, Audio &amp; Video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Media Streaming &amp; ePublications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Mobile Communication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252fwrw22tl6/mnt/agents/output/ict-week4/images/3_How_to_Manage_a_Software_Development.png">    </p:cNvPr>
          <p:cNvPicPr>
            <a:picLocks noChangeAspect="1"/>
          </p:cNvPicPr>
          <p:nvPr/>
        </p:nvPicPr>
        <p:blipFill>
          <a:blip r:embed="rId1"/>
          <a:srcRect l="0" r="0" t="7812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7377">
                  <a:alpha val="87000"/>
                </a:srgbClr>
              </a:gs>
              <a:gs pos="50000">
                <a:srgbClr val="0D7377">
                  <a:alpha val="73000"/>
                </a:srgbClr>
              </a:gs>
              <a:gs pos="100000">
                <a:srgbClr val="0D7377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032000"/>
            <a:ext cx="508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1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4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Systems Life Cycle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16000" y="5588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structured approach to developing ICT systems — from initial analysis through to final evaluation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Systems Life Cycle?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Systems Life Cycle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(SLC) is a structured methodology for developing, implementing, and maintaining information systems.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provides a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phased approach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ensuring all aspects of system development are addressed systematically. Each phase has defined inputs, processes, and outputs.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Also known as the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Systems Development Life Cycle (SDLC)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it ensures quality, reduces risk, and improves project management.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533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7 Key Phases: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5778500"/>
            <a:ext cx="838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pic>
        <p:nvPicPr>
          <p:cNvPr id="8" name="Image 0" descr="https://kimi-img.moonshot.cn/pub/slides/okc/2252fwrw22tl6/mnt/agents/output/ict-week4/images/6_Software_Development_Life_Cycle_SDLC.png">    </p:cNvPr>
          <p:cNvPicPr>
            <a:picLocks noChangeAspect="1"/>
          </p:cNvPicPr>
          <p:nvPr/>
        </p:nvPicPr>
        <p:blipFill>
          <a:blip r:embed="rId1"/>
          <a:srcRect l="0" r="0" t="-26781" b="-26781"/>
          <a:stretch/>
        </p:blipFill>
        <p:spPr>
          <a:xfrm>
            <a:off x="9652000" y="1524000"/>
            <a:ext cx="5588000" cy="4826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6000" y="6604000"/>
            <a:ext cx="14224000" cy="1397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0" name="Shape 7"/>
          <p:cNvSpPr/>
          <p:nvPr/>
        </p:nvSpPr>
        <p:spPr>
          <a:xfrm>
            <a:off x="1454150" y="6921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8"/>
          <p:cNvSpPr/>
          <p:nvPr/>
        </p:nvSpPr>
        <p:spPr>
          <a:xfrm>
            <a:off x="2095500" y="67945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SLC is not strictly linear — after Evaluation, the cycle may restart for system maintenance, upgrades, or when new requirements emerge. This creates a continuous improvement loop.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— Understanding 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Analysis phase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foundation of the entire systems life cycle. It focuses on understanding what the system needs to achieve.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Critical Question: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"What does the system need to do?"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4318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Activities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4762500"/>
            <a:ext cx="7112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Gathering and documenting requirements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Studying existing systems and workflows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Identifying problems and bottlenecks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Defining clear project objectives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Conducting feasibility studies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0" y="1524000"/>
            <a:ext cx="6604000" cy="3048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9" name="Text 7"/>
          <p:cNvSpPr/>
          <p:nvPr/>
        </p:nvSpPr>
        <p:spPr>
          <a:xfrm>
            <a:off x="9017000" y="1778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Techniques Used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17000" y="2222500"/>
            <a:ext cx="584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Interviews with stakeholders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Questionnaires and surveys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 observation of workflows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Analysis of existing documents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Prototyping and workshops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36000" y="4889500"/>
            <a:ext cx="6604000" cy="2095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2" name="Text 10"/>
          <p:cNvSpPr/>
          <p:nvPr/>
        </p:nvSpPr>
        <p:spPr>
          <a:xfrm>
            <a:off x="9017000" y="5080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Deliverables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17000" y="55245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Requirements Specification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Feasibility Study Report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Problem Definition Document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6000" y="7302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Involves: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End users, management, IT staff, clients, and domain experts — all contributing perspectives to build a complete picture of system requirements.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— Planning 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 phase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transforms requirements into a detailed blueprint. It answers: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"How will the system achieve its objectives?"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16000" y="2603500"/>
            <a:ext cx="6858000" cy="2921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7" name="Text 5"/>
          <p:cNvSpPr/>
          <p:nvPr/>
        </p:nvSpPr>
        <p:spPr>
          <a:xfrm>
            <a:off x="1397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97000" y="3276600"/>
            <a:ext cx="6096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Overall system architecture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Module and component structure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 flow diagrams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Integration points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2603500"/>
            <a:ext cx="6858000" cy="2921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Design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3276600"/>
            <a:ext cx="6096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Database schemas and structures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User interface mockups and wireframes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Algorithms and pseudocode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API specifications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16000" y="584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Design Considerations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6350000"/>
          <a:ext cx="14224000" cy="1778000"/>
        </p:xfrm>
        <a:graphic>
          <a:graphicData uri="http://schemas.openxmlformats.org/drawingml/2006/table">
            <a:tbl>
              <a:tblPr/>
              <a:tblGrid>
                <a:gridCol w="2844800"/>
                <a:gridCol w="2844800"/>
                <a:gridCol w="2844800"/>
                <a:gridCol w="2844800"/>
                <a:gridCol w="284480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Scalability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Usability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Performance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Maintainability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the system grow with demand?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 data and access protected?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 it intuitive for users?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Does it respond quickly?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it be easily updated?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— Building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762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Development phase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involves actual coding and construction based on design specifications. Programmers write code, create databases, and integrate components.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activities include coding, unit testing, database creation, and component integration.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Version control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tracks changes and manages collaboration.</a:t>
            </a:r>
            <a:endParaRPr lang="en-US" sz="1800" dirty="0"/>
          </a:p>
        </p:txBody>
      </p:sp>
      <p:pic>
        <p:nvPicPr>
          <p:cNvPr id="6" name="Image 0" descr="https://kimi-img.moonshot.cn/pub/slides/okc/2252fwrw22tl6/mnt/agents/output/ict-week4/images/6_Software_Development_Team_Structure.png">    </p:cNvPr>
          <p:cNvPicPr>
            <a:picLocks noChangeAspect="1"/>
          </p:cNvPicPr>
          <p:nvPr/>
        </p:nvPicPr>
        <p:blipFill>
          <a:blip r:embed="rId1"/>
          <a:srcRect l="0" r="0" t="15204" b="15204"/>
          <a:stretch/>
        </p:blipFill>
        <p:spPr>
          <a:xfrm>
            <a:off x="9144000" y="1524000"/>
            <a:ext cx="6096000" cy="2540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016000" y="438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Approaches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016000" y="4889500"/>
            <a:ext cx="6858000" cy="20955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143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34461" y="398939"/>
                </a:moveTo>
                <a:cubicBezTo>
                  <a:pt x="144383" y="408861"/>
                  <a:pt x="160496" y="408861"/>
                  <a:pt x="170418" y="398939"/>
                </a:cubicBezTo>
                <a:lnTo>
                  <a:pt x="297418" y="271939"/>
                </a:lnTo>
                <a:cubicBezTo>
                  <a:pt x="307340" y="262017"/>
                  <a:pt x="307340" y="245904"/>
                  <a:pt x="297418" y="235982"/>
                </a:cubicBezTo>
                <a:cubicBezTo>
                  <a:pt x="287496" y="226060"/>
                  <a:pt x="271383" y="226060"/>
                  <a:pt x="261461" y="235982"/>
                </a:cubicBezTo>
                <a:lnTo>
                  <a:pt x="177800" y="319643"/>
                </a:lnTo>
                <a:lnTo>
                  <a:pt x="177800" y="25400"/>
                </a:lnTo>
                <a:cubicBezTo>
                  <a:pt x="177800" y="11351"/>
                  <a:pt x="166449" y="0"/>
                  <a:pt x="152400" y="0"/>
                </a:cubicBezTo>
                <a:cubicBezTo>
                  <a:pt x="138351" y="0"/>
                  <a:pt x="127000" y="11351"/>
                  <a:pt x="127000" y="25400"/>
                </a:cubicBezTo>
                <a:lnTo>
                  <a:pt x="127000" y="319643"/>
                </a:lnTo>
                <a:lnTo>
                  <a:pt x="43339" y="235982"/>
                </a:lnTo>
                <a:cubicBezTo>
                  <a:pt x="33417" y="226060"/>
                  <a:pt x="17304" y="226060"/>
                  <a:pt x="7382" y="235982"/>
                </a:cubicBezTo>
                <a:cubicBezTo>
                  <a:pt x="-2540" y="245904"/>
                  <a:pt x="-2540" y="262017"/>
                  <a:pt x="7382" y="271939"/>
                </a:cubicBezTo>
                <a:lnTo>
                  <a:pt x="134382" y="398939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0" name="Text 7"/>
          <p:cNvSpPr/>
          <p:nvPr/>
        </p:nvSpPr>
        <p:spPr>
          <a:xfrm>
            <a:off x="1968500" y="5143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Waterfall Model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97000" y="5651500"/>
            <a:ext cx="609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Sequential approach where each phase must be completed before the next begins. Best for projects with well-defined, stable requirements.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382000" y="4889500"/>
            <a:ext cx="6858000" cy="20955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3" name="Shape 10"/>
          <p:cNvSpPr/>
          <p:nvPr/>
        </p:nvSpPr>
        <p:spPr>
          <a:xfrm>
            <a:off x="8763000" y="514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2308" y="181372"/>
                </a:moveTo>
                <a:cubicBezTo>
                  <a:pt x="62865" y="107553"/>
                  <a:pt x="126444" y="50800"/>
                  <a:pt x="203200" y="50800"/>
                </a:cubicBezTo>
                <a:cubicBezTo>
                  <a:pt x="245269" y="50800"/>
                  <a:pt x="283369" y="67866"/>
                  <a:pt x="310991" y="95409"/>
                </a:cubicBezTo>
                <a:cubicBezTo>
                  <a:pt x="311150" y="95568"/>
                  <a:pt x="311309" y="95726"/>
                  <a:pt x="311468" y="95885"/>
                </a:cubicBezTo>
                <a:lnTo>
                  <a:pt x="317500" y="101600"/>
                </a:lnTo>
                <a:lnTo>
                  <a:pt x="279479" y="101600"/>
                </a:lnTo>
                <a:cubicBezTo>
                  <a:pt x="265430" y="101600"/>
                  <a:pt x="254079" y="112951"/>
                  <a:pt x="254079" y="127000"/>
                </a:cubicBezTo>
                <a:cubicBezTo>
                  <a:pt x="254079" y="141049"/>
                  <a:pt x="265430" y="152400"/>
                  <a:pt x="279479" y="152400"/>
                </a:cubicBezTo>
                <a:lnTo>
                  <a:pt x="381079" y="152400"/>
                </a:lnTo>
                <a:cubicBezTo>
                  <a:pt x="395129" y="152400"/>
                  <a:pt x="406479" y="141049"/>
                  <a:pt x="406479" y="127000"/>
                </a:cubicBezTo>
                <a:lnTo>
                  <a:pt x="406479" y="25400"/>
                </a:lnTo>
                <a:cubicBezTo>
                  <a:pt x="406479" y="11351"/>
                  <a:pt x="395129" y="0"/>
                  <a:pt x="381079" y="0"/>
                </a:cubicBezTo>
                <a:cubicBezTo>
                  <a:pt x="367030" y="0"/>
                  <a:pt x="355679" y="11351"/>
                  <a:pt x="355679" y="25400"/>
                </a:cubicBezTo>
                <a:lnTo>
                  <a:pt x="355679" y="67786"/>
                </a:lnTo>
                <a:lnTo>
                  <a:pt x="346710" y="59293"/>
                </a:lnTo>
                <a:cubicBezTo>
                  <a:pt x="309959" y="22701"/>
                  <a:pt x="259159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lose/>
                <a:moveTo>
                  <a:pt x="404336" y="232172"/>
                </a:moveTo>
                <a:cubicBezTo>
                  <a:pt x="406321" y="218281"/>
                  <a:pt x="396637" y="205423"/>
                  <a:pt x="382826" y="203438"/>
                </a:cubicBezTo>
                <a:cubicBezTo>
                  <a:pt x="369014" y="201454"/>
                  <a:pt x="356076" y="211138"/>
                  <a:pt x="354092" y="224949"/>
                </a:cubicBezTo>
                <a:cubicBezTo>
                  <a:pt x="343535" y="298768"/>
                  <a:pt x="279956" y="355521"/>
                  <a:pt x="203200" y="355521"/>
                </a:cubicBezTo>
                <a:cubicBezTo>
                  <a:pt x="161131" y="355521"/>
                  <a:pt x="123031" y="338455"/>
                  <a:pt x="95409" y="310912"/>
                </a:cubicBezTo>
                <a:cubicBezTo>
                  <a:pt x="95250" y="310753"/>
                  <a:pt x="95091" y="310594"/>
                  <a:pt x="94932" y="310436"/>
                </a:cubicBezTo>
                <a:lnTo>
                  <a:pt x="88900" y="304721"/>
                </a:lnTo>
                <a:lnTo>
                  <a:pt x="126921" y="304721"/>
                </a:lnTo>
                <a:cubicBezTo>
                  <a:pt x="140970" y="304721"/>
                  <a:pt x="152321" y="293370"/>
                  <a:pt x="152321" y="279321"/>
                </a:cubicBezTo>
                <a:cubicBezTo>
                  <a:pt x="152321" y="265271"/>
                  <a:pt x="140970" y="253921"/>
                  <a:pt x="126921" y="253921"/>
                </a:cubicBezTo>
                <a:lnTo>
                  <a:pt x="25400" y="254000"/>
                </a:lnTo>
                <a:cubicBezTo>
                  <a:pt x="18653" y="254000"/>
                  <a:pt x="12144" y="256699"/>
                  <a:pt x="7382" y="261541"/>
                </a:cubicBezTo>
                <a:cubicBezTo>
                  <a:pt x="2619" y="266383"/>
                  <a:pt x="-79" y="272812"/>
                  <a:pt x="0" y="279638"/>
                </a:cubicBezTo>
                <a:lnTo>
                  <a:pt x="794" y="380444"/>
                </a:lnTo>
                <a:cubicBezTo>
                  <a:pt x="873" y="394494"/>
                  <a:pt x="12383" y="405765"/>
                  <a:pt x="26432" y="405606"/>
                </a:cubicBezTo>
                <a:cubicBezTo>
                  <a:pt x="40481" y="405448"/>
                  <a:pt x="51753" y="394017"/>
                  <a:pt x="51594" y="379968"/>
                </a:cubicBezTo>
                <a:lnTo>
                  <a:pt x="51276" y="339090"/>
                </a:lnTo>
                <a:lnTo>
                  <a:pt x="59769" y="347107"/>
                </a:lnTo>
                <a:cubicBezTo>
                  <a:pt x="96520" y="383699"/>
                  <a:pt x="147241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1"/>
          <p:cNvSpPr/>
          <p:nvPr/>
        </p:nvSpPr>
        <p:spPr>
          <a:xfrm>
            <a:off x="9334500" y="5143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Agile Model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63000" y="5651500"/>
            <a:ext cx="609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Iterative approach with frequent feedback and adaptive planning. Best for projects with evolving requirements and need for flexibility.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16000" y="7239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Quality Assurance: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Code reviews, peer programming, and continuous integration ensure the system meets standards before moving to comprehensive testing.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— Ensuring Quality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142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Testing phase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verifies the system works correctly and meets all requirements. It involves multiple levels of testing to catch defects before deployment.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667000"/>
          <a:ext cx="14224000" cy="3556000"/>
        </p:xfrm>
        <a:graphic>
          <a:graphicData uri="http://schemas.openxmlformats.org/drawingml/2006/table">
            <a:tbl>
              <a:tblPr/>
              <a:tblGrid>
                <a:gridCol w="3129280"/>
                <a:gridCol w="5689600"/>
                <a:gridCol w="5405120"/>
              </a:tblGrid>
              <a:tr h="56946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What It Tests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Unit Testing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Individual components or modules in isolation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Verify each part works correctly on its own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Integration Testing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How components work together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Ensure modules interact properly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 Testing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 complete system as a whole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Validate end-to-end functionality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 against user requirements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Confirm it meets business needs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16000" y="6413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Testing Types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16000" y="68580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Performance Testing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Ensures the system handles expected load and stress.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 Testing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Identifies vulnerabilities.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Usability Testing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Validates user-friendliness.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Goal: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Deliver a reliable, error-free system ready for real-world use.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— Going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142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phase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deploys the system into the live environment. Choosing the right strategy balances risk, cost, and business continuity.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2603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Implementation Strategies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16000" y="2984500"/>
            <a:ext cx="3365500" cy="2540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8" name="Shape 6"/>
          <p:cNvSpPr/>
          <p:nvPr/>
        </p:nvSpPr>
        <p:spPr>
          <a:xfrm>
            <a:off x="1292225" y="3175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619500"/>
            <a:ext cx="2857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Changeover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4000500"/>
            <a:ext cx="285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switch from old to new system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risk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cost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35500" y="2984500"/>
            <a:ext cx="3365500" cy="2540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895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311150"/>
                </a:moveTo>
                <a:lnTo>
                  <a:pt x="44450" y="311150"/>
                </a:lnTo>
                <a:lnTo>
                  <a:pt x="44450" y="155575"/>
                </a:lnTo>
                <a:lnTo>
                  <a:pt x="77788" y="155575"/>
                </a:lnTo>
                <a:lnTo>
                  <a:pt x="77788" y="111125"/>
                </a:lnTo>
                <a:lnTo>
                  <a:pt x="44450" y="111125"/>
                </a:lnTo>
                <a:cubicBezTo>
                  <a:pt x="19933" y="111125"/>
                  <a:pt x="0" y="131058"/>
                  <a:pt x="0" y="155575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00025" y="355600"/>
                </a:lnTo>
                <a:cubicBezTo>
                  <a:pt x="224542" y="355600"/>
                  <a:pt x="244475" y="335667"/>
                  <a:pt x="244475" y="311150"/>
                </a:cubicBezTo>
                <a:lnTo>
                  <a:pt x="244475" y="277813"/>
                </a:lnTo>
                <a:lnTo>
                  <a:pt x="200025" y="277813"/>
                </a:lnTo>
                <a:lnTo>
                  <a:pt x="200025" y="311150"/>
                </a:lnTo>
                <a:close/>
                <a:moveTo>
                  <a:pt x="155575" y="244475"/>
                </a:moveTo>
                <a:lnTo>
                  <a:pt x="311150" y="244475"/>
                </a:lnTo>
                <a:cubicBezTo>
                  <a:pt x="335667" y="244475"/>
                  <a:pt x="355600" y="224542"/>
                  <a:pt x="355600" y="200025"/>
                </a:cubicBezTo>
                <a:lnTo>
                  <a:pt x="355600" y="44450"/>
                </a:lnTo>
                <a:cubicBezTo>
                  <a:pt x="355600" y="19933"/>
                  <a:pt x="335667" y="0"/>
                  <a:pt x="311150" y="0"/>
                </a:cubicBezTo>
                <a:lnTo>
                  <a:pt x="155575" y="0"/>
                </a:lnTo>
                <a:cubicBezTo>
                  <a:pt x="131058" y="0"/>
                  <a:pt x="111125" y="19933"/>
                  <a:pt x="111125" y="44450"/>
                </a:cubicBezTo>
                <a:lnTo>
                  <a:pt x="111125" y="200025"/>
                </a:lnTo>
                <a:cubicBezTo>
                  <a:pt x="111125" y="224542"/>
                  <a:pt x="131058" y="244475"/>
                  <a:pt x="155575" y="2444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4889500" y="3619500"/>
            <a:ext cx="2857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 Running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89500" y="4000500"/>
            <a:ext cx="285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 and new systems run simultaneously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0" y="2984500"/>
            <a:ext cx="3365500" cy="2540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90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3619500"/>
            <a:ext cx="2857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0" y="4000500"/>
            <a:ext cx="285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Gradual rollout by module or department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74500" y="2984500"/>
            <a:ext cx="3365500" cy="2540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0" name="Shape 18"/>
          <p:cNvSpPr/>
          <p:nvPr/>
        </p:nvSpPr>
        <p:spPr>
          <a:xfrm>
            <a:off x="12150725" y="3175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2128500" y="3619500"/>
            <a:ext cx="2857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Pilot Running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28500" y="4000500"/>
            <a:ext cx="285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Trial in one location before full rollout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5905500"/>
            <a:ext cx="1422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Migration: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Transferring data from old systems requires careful planning, validation, and backup procedures to prevent data loss.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 Training: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Essential for successful adoption — includes hands-on sessions, documentation, and ongoing support during the transition period.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Rollback Plan: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have a contingency plan to revert to the old system if critical issues arise during implementation.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 — Recording Everything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142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Documentation provides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comprehensive record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system for current and future use. Good documentation reduces support costs and improves maintainability.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16000" y="2667000"/>
            <a:ext cx="6858000" cy="3810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7" name="Shape 5"/>
          <p:cNvSpPr/>
          <p:nvPr/>
        </p:nvSpPr>
        <p:spPr>
          <a:xfrm>
            <a:off x="1368425" y="2794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2032000" y="28194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Documentation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97000" y="3429000"/>
            <a:ext cx="609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System architecture diagrams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Code comments and inline documentation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Database schemas and ER diagrams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API references and endpoints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Configuration and deployment guides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Version control history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2667000"/>
            <a:ext cx="6858000" cy="3810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1" name="Shape 9"/>
          <p:cNvSpPr/>
          <p:nvPr/>
        </p:nvSpPr>
        <p:spPr>
          <a:xfrm>
            <a:off x="87630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26176"/>
                </a:moveTo>
                <a:lnTo>
                  <a:pt x="228600" y="402372"/>
                </a:lnTo>
                <a:lnTo>
                  <a:pt x="229046" y="402193"/>
                </a:lnTo>
                <a:cubicBezTo>
                  <a:pt x="277803" y="381923"/>
                  <a:pt x="330131" y="371475"/>
                  <a:pt x="382905" y="371475"/>
                </a:cubicBezTo>
                <a:lnTo>
                  <a:pt x="400050" y="371475"/>
                </a:lnTo>
                <a:lnTo>
                  <a:pt x="400050" y="85725"/>
                </a:lnTo>
                <a:lnTo>
                  <a:pt x="382905" y="85725"/>
                </a:lnTo>
                <a:cubicBezTo>
                  <a:pt x="345222" y="85725"/>
                  <a:pt x="307806" y="93226"/>
                  <a:pt x="272981" y="107692"/>
                </a:cubicBezTo>
                <a:cubicBezTo>
                  <a:pt x="257979" y="113943"/>
                  <a:pt x="243155" y="120104"/>
                  <a:pt x="228600" y="126176"/>
                </a:cubicBezTo>
                <a:close/>
                <a:moveTo>
                  <a:pt x="206186" y="54918"/>
                </a:moveTo>
                <a:lnTo>
                  <a:pt x="228600" y="64294"/>
                </a:lnTo>
                <a:lnTo>
                  <a:pt x="251014" y="54918"/>
                </a:lnTo>
                <a:cubicBezTo>
                  <a:pt x="292804" y="37505"/>
                  <a:pt x="337631" y="28575"/>
                  <a:pt x="382905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382905" y="428625"/>
                </a:lnTo>
                <a:cubicBezTo>
                  <a:pt x="337631" y="428625"/>
                  <a:pt x="292804" y="437555"/>
                  <a:pt x="251014" y="454968"/>
                </a:cubicBezTo>
                <a:lnTo>
                  <a:pt x="239584" y="459700"/>
                </a:lnTo>
                <a:cubicBezTo>
                  <a:pt x="232529" y="462647"/>
                  <a:pt x="224671" y="462647"/>
                  <a:pt x="217616" y="459700"/>
                </a:cubicBezTo>
                <a:lnTo>
                  <a:pt x="206186" y="454968"/>
                </a:lnTo>
                <a:cubicBezTo>
                  <a:pt x="164396" y="437555"/>
                  <a:pt x="119569" y="428625"/>
                  <a:pt x="74295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71438"/>
                </a:lnTo>
                <a:cubicBezTo>
                  <a:pt x="0" y="47774"/>
                  <a:pt x="19199" y="28575"/>
                  <a:pt x="42863" y="28575"/>
                </a:cubicBezTo>
                <a:lnTo>
                  <a:pt x="74295" y="28575"/>
                </a:lnTo>
                <a:cubicBezTo>
                  <a:pt x="119569" y="28575"/>
                  <a:pt x="164396" y="37505"/>
                  <a:pt x="206186" y="5491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9398000" y="28194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Documentation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63000" y="3429000"/>
            <a:ext cx="609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User manuals and guides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Quick start tutorials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Frequently Asked Questions (FAQs)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Training materials and videos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Troubleshooting guides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Release notes and changelogs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16000" y="6858000"/>
            <a:ext cx="14224000" cy="1143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4775" y="7112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968500" y="6985000"/>
            <a:ext cx="1295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Documentation should be clear, accurate, up-to-date, and accessible. Use standards and templates to ensure consistency across all projects.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— Measuring Success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Evaluation phase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assesses whether the system meets its original objectives. It feeds back into the cycle for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continuous improvement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Criteria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3048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Performance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Does it meet requirements?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Cost-Benefit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Was it worth the investment?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 Satisfaction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Are users happy?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Reliability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Does it run consistently?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Efficiency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Are processes improved?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6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Methods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36000" y="30480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User feedback surveys and interviews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Performance metrics and benchmarks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Comparison with baseline measurements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Post-implementation review meetings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Identifying lessons learned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16000" y="5969000"/>
            <a:ext cx="14224000" cy="2032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1" name="Shape 9"/>
          <p:cNvSpPr/>
          <p:nvPr/>
        </p:nvSpPr>
        <p:spPr>
          <a:xfrm>
            <a:off x="1397000" y="622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39700"/>
                </a:moveTo>
                <a:cubicBezTo>
                  <a:pt x="189151" y="139700"/>
                  <a:pt x="177800" y="151051"/>
                  <a:pt x="177800" y="165100"/>
                </a:cubicBezTo>
                <a:cubicBezTo>
                  <a:pt x="177800" y="175657"/>
                  <a:pt x="169307" y="184150"/>
                  <a:pt x="158750" y="184150"/>
                </a:cubicBezTo>
                <a:cubicBezTo>
                  <a:pt x="148193" y="184150"/>
                  <a:pt x="139700" y="175657"/>
                  <a:pt x="139700" y="165100"/>
                </a:cubicBezTo>
                <a:cubicBezTo>
                  <a:pt x="139700" y="130016"/>
                  <a:pt x="168116" y="101600"/>
                  <a:pt x="203200" y="101600"/>
                </a:cubicBezTo>
                <a:cubicBezTo>
                  <a:pt x="238284" y="101600"/>
                  <a:pt x="266700" y="130016"/>
                  <a:pt x="266700" y="165100"/>
                </a:cubicBezTo>
                <a:cubicBezTo>
                  <a:pt x="266700" y="202565"/>
                  <a:pt x="238125" y="218440"/>
                  <a:pt x="222250" y="224234"/>
                </a:cubicBezTo>
                <a:lnTo>
                  <a:pt x="222250" y="227251"/>
                </a:lnTo>
                <a:cubicBezTo>
                  <a:pt x="222250" y="237808"/>
                  <a:pt x="213757" y="246301"/>
                  <a:pt x="203200" y="246301"/>
                </a:cubicBezTo>
                <a:cubicBezTo>
                  <a:pt x="192643" y="246301"/>
                  <a:pt x="184150" y="237808"/>
                  <a:pt x="184150" y="227251"/>
                </a:cubicBezTo>
                <a:lnTo>
                  <a:pt x="184150" y="220821"/>
                </a:lnTo>
                <a:cubicBezTo>
                  <a:pt x="184150" y="204549"/>
                  <a:pt x="195898" y="192881"/>
                  <a:pt x="208042" y="188913"/>
                </a:cubicBezTo>
                <a:cubicBezTo>
                  <a:pt x="213122" y="187246"/>
                  <a:pt x="218519" y="184547"/>
                  <a:pt x="222488" y="180737"/>
                </a:cubicBezTo>
                <a:cubicBezTo>
                  <a:pt x="225901" y="177403"/>
                  <a:pt x="228600" y="172799"/>
                  <a:pt x="228600" y="165179"/>
                </a:cubicBezTo>
                <a:cubicBezTo>
                  <a:pt x="228600" y="151130"/>
                  <a:pt x="217249" y="139779"/>
                  <a:pt x="203200" y="139779"/>
                </a:cubicBezTo>
                <a:close/>
                <a:moveTo>
                  <a:pt x="177800" y="292100"/>
                </a:moveTo>
                <a:cubicBezTo>
                  <a:pt x="177800" y="278081"/>
                  <a:pt x="189181" y="266700"/>
                  <a:pt x="203200" y="266700"/>
                </a:cubicBezTo>
                <a:cubicBezTo>
                  <a:pt x="217219" y="266700"/>
                  <a:pt x="228600" y="278081"/>
                  <a:pt x="228600" y="292100"/>
                </a:cubicBezTo>
                <a:cubicBezTo>
                  <a:pt x="228600" y="306119"/>
                  <a:pt x="217219" y="317500"/>
                  <a:pt x="203200" y="317500"/>
                </a:cubicBezTo>
                <a:cubicBezTo>
                  <a:pt x="189181" y="317500"/>
                  <a:pt x="177800" y="306119"/>
                  <a:pt x="177800" y="2921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968500" y="622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Questions to Ask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97000" y="6731000"/>
            <a:ext cx="1346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Does it work?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it efficient? Are users satisfied? Was it worth the investment? What can be improved? The cycle may restart for maintenance, upgrades, or new requirements.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Systems Life Cycle — Complete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778000"/>
            <a:ext cx="1651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778000"/>
            <a:ext cx="1651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30500" y="22225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175000" y="1778000"/>
            <a:ext cx="1651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175000" y="1778000"/>
            <a:ext cx="1651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89500" y="22225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334000" y="1778000"/>
            <a:ext cx="1651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5334000" y="1778000"/>
            <a:ext cx="1651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8500" y="22225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493000" y="1778000"/>
            <a:ext cx="1651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3000" y="1778000"/>
            <a:ext cx="1651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207500" y="22225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652000" y="1778000"/>
            <a:ext cx="1651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1778000"/>
            <a:ext cx="1651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366500" y="22225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1811000" y="1778000"/>
            <a:ext cx="1651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0" y="1778000"/>
            <a:ext cx="1651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525500" y="22225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3970000" y="1778000"/>
            <a:ext cx="1651000" cy="1016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3970000" y="1778000"/>
            <a:ext cx="1651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flipH="1">
            <a:off x="1016000" y="2857500"/>
            <a:ext cx="14605000" cy="762000"/>
          </a:xfrm>
          <a:prstGeom prst="straightConnector1">
            <a:avLst/>
          </a:prstGeom>
          <a:noFill/>
          <a:ln w="25400">
            <a:solidFill>
              <a:srgbClr val="5A6B7B"/>
            </a:solidFill>
            <a:prstDash val="sysDot"/>
            <a:headEnd type="none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5588000" y="2984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loop — cycle restarts for maintenance &amp; upgrades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Summary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4445000"/>
          <a:ext cx="14224000" cy="3556000"/>
        </p:xfrm>
        <a:graphic>
          <a:graphicData uri="http://schemas.openxmlformats.org/drawingml/2006/table">
            <a:tbl>
              <a:tblPr/>
              <a:tblGrid>
                <a:gridCol w="2133600"/>
                <a:gridCol w="4978400"/>
                <a:gridCol w="71120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Output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Analysis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Understanding requirements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Requirements Specification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Design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Planning the solution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 Architecture &amp; Mockups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Development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Building the system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Working Code &amp; Database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Ensuring quality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Reports &amp; Bug Fixes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Implementation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Deploying the system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Live System &amp; Training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Documentation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Recording everything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 &amp; Technical Manuals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Evaluation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Measuring success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Review Report &amp; Improvements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252fwrw22tl6/mnt/agents/output/ict-week4/images/4_Global_Network_Connectivity_Earth.png">    </p:cNvPr>
          <p:cNvPicPr>
            <a:picLocks noChangeAspect="1"/>
          </p:cNvPicPr>
          <p:nvPr/>
        </p:nvPicPr>
        <p:blipFill>
          <a:blip r:embed="rId1"/>
          <a:srcRect l="1444" r="144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7377">
                  <a:alpha val="87000"/>
                </a:srgbClr>
              </a:gs>
              <a:gs pos="50000">
                <a:srgbClr val="0D7377">
                  <a:alpha val="73000"/>
                </a:srgbClr>
              </a:gs>
              <a:gs pos="100000">
                <a:srgbClr val="0D7377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032000"/>
            <a:ext cx="508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1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4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16000" y="5588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Exploring communication media and technologies for information exchange in the digital age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Communication Media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812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Communication media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channels and tools used to convey information to audiences. In ICT, they span from traditional print to digital multimedia.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media have transformed how organizations communicate with stakeholders. Effective communication often uses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media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an integrated approach.</a:t>
            </a:r>
            <a:endParaRPr lang="en-US" sz="1800" dirty="0"/>
          </a:p>
        </p:txBody>
      </p:sp>
      <p:pic>
        <p:nvPicPr>
          <p:cNvPr id="6" name="Image 0" descr="https://kimi-img.moonshot.cn/pub/slides/okc/2252fwrw22tl6/mnt/agents/output/ict-week4/images/9_Abstract_network_of_interconnected.png">    </p:cNvPr>
          <p:cNvPicPr>
            <a:picLocks noChangeAspect="1"/>
          </p:cNvPicPr>
          <p:nvPr/>
        </p:nvPicPr>
        <p:blipFill>
          <a:blip r:embed="rId1"/>
          <a:srcRect l="5913" r="5913" t="0" b="0"/>
          <a:stretch/>
        </p:blipFill>
        <p:spPr>
          <a:xfrm>
            <a:off x="9652000" y="1524000"/>
            <a:ext cx="5588000" cy="3556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016000" y="431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 to Evaluate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016000" y="4889500"/>
            <a:ext cx="2159000" cy="1524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9" name="Shape 6"/>
          <p:cNvSpPr/>
          <p:nvPr/>
        </p:nvSpPr>
        <p:spPr>
          <a:xfrm>
            <a:off x="1714500" y="508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55880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Reach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65500" y="4889500"/>
            <a:ext cx="2159000" cy="1524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2" name="Shape 9"/>
          <p:cNvSpPr/>
          <p:nvPr/>
        </p:nvSpPr>
        <p:spPr>
          <a:xfrm>
            <a:off x="4064000" y="508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76200"/>
                </a:moveTo>
                <a:lnTo>
                  <a:pt x="101600" y="63500"/>
                </a:lnTo>
                <a:cubicBezTo>
                  <a:pt x="101600" y="28416"/>
                  <a:pt x="169863" y="0"/>
                  <a:pt x="254000" y="0"/>
                </a:cubicBezTo>
                <a:cubicBezTo>
                  <a:pt x="338138" y="0"/>
                  <a:pt x="406400" y="28416"/>
                  <a:pt x="406400" y="63500"/>
                </a:cubicBezTo>
                <a:lnTo>
                  <a:pt x="406400" y="76200"/>
                </a:lnTo>
                <a:cubicBezTo>
                  <a:pt x="406400" y="100489"/>
                  <a:pt x="373618" y="121603"/>
                  <a:pt x="325438" y="132318"/>
                </a:cubicBezTo>
                <a:cubicBezTo>
                  <a:pt x="323533" y="130096"/>
                  <a:pt x="321548" y="127953"/>
                  <a:pt x="319564" y="125968"/>
                </a:cubicBezTo>
                <a:cubicBezTo>
                  <a:pt x="307261" y="113824"/>
                  <a:pt x="291386" y="104616"/>
                  <a:pt x="274796" y="97790"/>
                </a:cubicBezTo>
                <a:cubicBezTo>
                  <a:pt x="241538" y="83899"/>
                  <a:pt x="198199" y="76279"/>
                  <a:pt x="152400" y="76279"/>
                </a:cubicBezTo>
                <a:cubicBezTo>
                  <a:pt x="135017" y="76279"/>
                  <a:pt x="118031" y="77391"/>
                  <a:pt x="101759" y="79534"/>
                </a:cubicBezTo>
                <a:cubicBezTo>
                  <a:pt x="101600" y="78502"/>
                  <a:pt x="101600" y="77391"/>
                  <a:pt x="101600" y="76279"/>
                </a:cubicBezTo>
                <a:close/>
                <a:moveTo>
                  <a:pt x="342900" y="280194"/>
                </a:moveTo>
                <a:lnTo>
                  <a:pt x="342900" y="243523"/>
                </a:lnTo>
                <a:cubicBezTo>
                  <a:pt x="354886" y="240427"/>
                  <a:pt x="366157" y="236776"/>
                  <a:pt x="376396" y="232489"/>
                </a:cubicBezTo>
                <a:cubicBezTo>
                  <a:pt x="386874" y="228124"/>
                  <a:pt x="397113" y="222806"/>
                  <a:pt x="406400" y="216376"/>
                </a:cubicBezTo>
                <a:lnTo>
                  <a:pt x="406400" y="228600"/>
                </a:lnTo>
                <a:cubicBezTo>
                  <a:pt x="406400" y="249873"/>
                  <a:pt x="381397" y="268684"/>
                  <a:pt x="342900" y="280194"/>
                </a:cubicBezTo>
                <a:close/>
                <a:moveTo>
                  <a:pt x="342900" y="203994"/>
                </a:moveTo>
                <a:lnTo>
                  <a:pt x="342900" y="177800"/>
                </a:lnTo>
                <a:cubicBezTo>
                  <a:pt x="342900" y="174228"/>
                  <a:pt x="342583" y="170815"/>
                  <a:pt x="342106" y="167481"/>
                </a:cubicBezTo>
                <a:cubicBezTo>
                  <a:pt x="354409" y="164386"/>
                  <a:pt x="365919" y="160655"/>
                  <a:pt x="376396" y="156210"/>
                </a:cubicBezTo>
                <a:cubicBezTo>
                  <a:pt x="386874" y="151765"/>
                  <a:pt x="397113" y="146526"/>
                  <a:pt x="406400" y="140097"/>
                </a:cubicBezTo>
                <a:lnTo>
                  <a:pt x="406400" y="152321"/>
                </a:lnTo>
                <a:cubicBezTo>
                  <a:pt x="406400" y="173593"/>
                  <a:pt x="381397" y="192405"/>
                  <a:pt x="342900" y="203914"/>
                </a:cubicBezTo>
                <a:close/>
                <a:moveTo>
                  <a:pt x="0" y="190500"/>
                </a:moveTo>
                <a:lnTo>
                  <a:pt x="0" y="177800"/>
                </a:lnTo>
                <a:cubicBezTo>
                  <a:pt x="0" y="142716"/>
                  <a:pt x="68263" y="114300"/>
                  <a:pt x="152400" y="114300"/>
                </a:cubicBezTo>
                <a:cubicBezTo>
                  <a:pt x="236538" y="114300"/>
                  <a:pt x="304800" y="142716"/>
                  <a:pt x="304800" y="177800"/>
                </a:cubicBezTo>
                <a:lnTo>
                  <a:pt x="304800" y="190500"/>
                </a:lnTo>
                <a:cubicBezTo>
                  <a:pt x="304800" y="225584"/>
                  <a:pt x="236538" y="254000"/>
                  <a:pt x="152400" y="254000"/>
                </a:cubicBezTo>
                <a:cubicBezTo>
                  <a:pt x="68263" y="254000"/>
                  <a:pt x="0" y="225584"/>
                  <a:pt x="0" y="190500"/>
                </a:cubicBezTo>
                <a:close/>
                <a:moveTo>
                  <a:pt x="304800" y="266700"/>
                </a:moveTo>
                <a:cubicBezTo>
                  <a:pt x="304800" y="301784"/>
                  <a:pt x="236538" y="330200"/>
                  <a:pt x="152400" y="330200"/>
                </a:cubicBezTo>
                <a:cubicBezTo>
                  <a:pt x="68263" y="330200"/>
                  <a:pt x="0" y="301784"/>
                  <a:pt x="0" y="266700"/>
                </a:cubicBezTo>
                <a:lnTo>
                  <a:pt x="0" y="254476"/>
                </a:lnTo>
                <a:cubicBezTo>
                  <a:pt x="9207" y="260906"/>
                  <a:pt x="19447" y="266144"/>
                  <a:pt x="30004" y="270589"/>
                </a:cubicBezTo>
                <a:cubicBezTo>
                  <a:pt x="63262" y="284480"/>
                  <a:pt x="106601" y="292100"/>
                  <a:pt x="152400" y="292100"/>
                </a:cubicBezTo>
                <a:cubicBezTo>
                  <a:pt x="198199" y="292100"/>
                  <a:pt x="241538" y="284401"/>
                  <a:pt x="274796" y="270589"/>
                </a:cubicBezTo>
                <a:cubicBezTo>
                  <a:pt x="285274" y="266224"/>
                  <a:pt x="295513" y="260906"/>
                  <a:pt x="304800" y="254476"/>
                </a:cubicBezTo>
                <a:lnTo>
                  <a:pt x="304800" y="266700"/>
                </a:lnTo>
                <a:close/>
                <a:moveTo>
                  <a:pt x="304800" y="330676"/>
                </a:moveTo>
                <a:lnTo>
                  <a:pt x="304800" y="342900"/>
                </a:lnTo>
                <a:cubicBezTo>
                  <a:pt x="304800" y="377984"/>
                  <a:pt x="236538" y="406400"/>
                  <a:pt x="152400" y="406400"/>
                </a:cubicBezTo>
                <a:cubicBezTo>
                  <a:pt x="68263" y="406400"/>
                  <a:pt x="0" y="377984"/>
                  <a:pt x="0" y="342900"/>
                </a:cubicBezTo>
                <a:lnTo>
                  <a:pt x="0" y="330676"/>
                </a:lnTo>
                <a:cubicBezTo>
                  <a:pt x="9207" y="337106"/>
                  <a:pt x="19447" y="342344"/>
                  <a:pt x="30004" y="346789"/>
                </a:cubicBezTo>
                <a:cubicBezTo>
                  <a:pt x="63262" y="360680"/>
                  <a:pt x="106601" y="368300"/>
                  <a:pt x="152400" y="368300"/>
                </a:cubicBezTo>
                <a:cubicBezTo>
                  <a:pt x="198199" y="368300"/>
                  <a:pt x="241538" y="360601"/>
                  <a:pt x="274796" y="346789"/>
                </a:cubicBezTo>
                <a:cubicBezTo>
                  <a:pt x="285274" y="342424"/>
                  <a:pt x="295513" y="337106"/>
                  <a:pt x="304800" y="33067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0"/>
          <p:cNvSpPr/>
          <p:nvPr/>
        </p:nvSpPr>
        <p:spPr>
          <a:xfrm>
            <a:off x="3492500" y="55880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15000" y="4889500"/>
            <a:ext cx="2159000" cy="1524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5" name="Shape 12"/>
          <p:cNvSpPr/>
          <p:nvPr/>
        </p:nvSpPr>
        <p:spPr>
          <a:xfrm>
            <a:off x="6438900" y="5080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31750"/>
                </a:moveTo>
                <a:cubicBezTo>
                  <a:pt x="101600" y="14208"/>
                  <a:pt x="115808" y="0"/>
                  <a:pt x="133350" y="0"/>
                </a:cubicBezTo>
                <a:cubicBezTo>
                  <a:pt x="150892" y="0"/>
                  <a:pt x="165100" y="14208"/>
                  <a:pt x="165100" y="31750"/>
                </a:cubicBezTo>
                <a:lnTo>
                  <a:pt x="165100" y="149384"/>
                </a:lnTo>
                <a:cubicBezTo>
                  <a:pt x="171847" y="143351"/>
                  <a:pt x="180737" y="139700"/>
                  <a:pt x="190500" y="139700"/>
                </a:cubicBezTo>
                <a:cubicBezTo>
                  <a:pt x="206851" y="139700"/>
                  <a:pt x="220821" y="150019"/>
                  <a:pt x="226219" y="164465"/>
                </a:cubicBezTo>
                <a:cubicBezTo>
                  <a:pt x="233204" y="157083"/>
                  <a:pt x="243046" y="152400"/>
                  <a:pt x="254000" y="152400"/>
                </a:cubicBezTo>
                <a:cubicBezTo>
                  <a:pt x="274082" y="152400"/>
                  <a:pt x="290513" y="167878"/>
                  <a:pt x="292021" y="187563"/>
                </a:cubicBezTo>
                <a:cubicBezTo>
                  <a:pt x="298768" y="181451"/>
                  <a:pt x="307737" y="177800"/>
                  <a:pt x="317500" y="177800"/>
                </a:cubicBezTo>
                <a:cubicBezTo>
                  <a:pt x="338534" y="177800"/>
                  <a:pt x="355600" y="194866"/>
                  <a:pt x="355600" y="215900"/>
                </a:cubicBezTo>
                <a:lnTo>
                  <a:pt x="355600" y="304800"/>
                </a:lnTo>
                <a:cubicBezTo>
                  <a:pt x="355600" y="360918"/>
                  <a:pt x="310118" y="406400"/>
                  <a:pt x="254000" y="406400"/>
                </a:cubicBezTo>
                <a:lnTo>
                  <a:pt x="186293" y="406400"/>
                </a:lnTo>
                <a:cubicBezTo>
                  <a:pt x="182324" y="406400"/>
                  <a:pt x="178435" y="406162"/>
                  <a:pt x="174625" y="405606"/>
                </a:cubicBezTo>
                <a:cubicBezTo>
                  <a:pt x="130731" y="401161"/>
                  <a:pt x="90329" y="378619"/>
                  <a:pt x="63500" y="342900"/>
                </a:cubicBezTo>
                <a:lnTo>
                  <a:pt x="6350" y="266700"/>
                </a:lnTo>
                <a:cubicBezTo>
                  <a:pt x="-4207" y="252651"/>
                  <a:pt x="-1349" y="232807"/>
                  <a:pt x="12700" y="222250"/>
                </a:cubicBezTo>
                <a:cubicBezTo>
                  <a:pt x="26749" y="211693"/>
                  <a:pt x="46593" y="214551"/>
                  <a:pt x="57150" y="228600"/>
                </a:cubicBezTo>
                <a:lnTo>
                  <a:pt x="101600" y="287893"/>
                </a:lnTo>
                <a:lnTo>
                  <a:pt x="101600" y="31750"/>
                </a:lnTo>
                <a:close/>
                <a:moveTo>
                  <a:pt x="190500" y="241300"/>
                </a:moveTo>
                <a:cubicBezTo>
                  <a:pt x="190500" y="234315"/>
                  <a:pt x="184785" y="228600"/>
                  <a:pt x="177800" y="228600"/>
                </a:cubicBezTo>
                <a:cubicBezTo>
                  <a:pt x="170815" y="228600"/>
                  <a:pt x="165100" y="234315"/>
                  <a:pt x="165100" y="241300"/>
                </a:cubicBezTo>
                <a:lnTo>
                  <a:pt x="165100" y="317500"/>
                </a:lnTo>
                <a:cubicBezTo>
                  <a:pt x="165100" y="324485"/>
                  <a:pt x="170815" y="330200"/>
                  <a:pt x="177800" y="330200"/>
                </a:cubicBezTo>
                <a:cubicBezTo>
                  <a:pt x="184785" y="330200"/>
                  <a:pt x="190500" y="324485"/>
                  <a:pt x="190500" y="317500"/>
                </a:cubicBezTo>
                <a:lnTo>
                  <a:pt x="190500" y="241300"/>
                </a:lnTo>
                <a:close/>
                <a:moveTo>
                  <a:pt x="228600" y="228600"/>
                </a:moveTo>
                <a:cubicBezTo>
                  <a:pt x="221615" y="228600"/>
                  <a:pt x="215900" y="234315"/>
                  <a:pt x="215900" y="241300"/>
                </a:cubicBezTo>
                <a:lnTo>
                  <a:pt x="215900" y="317500"/>
                </a:lnTo>
                <a:cubicBezTo>
                  <a:pt x="215900" y="324485"/>
                  <a:pt x="221615" y="330200"/>
                  <a:pt x="228600" y="330200"/>
                </a:cubicBezTo>
                <a:cubicBezTo>
                  <a:pt x="235585" y="330200"/>
                  <a:pt x="241300" y="324485"/>
                  <a:pt x="241300" y="317500"/>
                </a:cubicBezTo>
                <a:lnTo>
                  <a:pt x="241300" y="241300"/>
                </a:lnTo>
                <a:cubicBezTo>
                  <a:pt x="241300" y="234315"/>
                  <a:pt x="235585" y="228600"/>
                  <a:pt x="228600" y="228600"/>
                </a:cubicBezTo>
                <a:close/>
                <a:moveTo>
                  <a:pt x="292100" y="241300"/>
                </a:moveTo>
                <a:cubicBezTo>
                  <a:pt x="292100" y="234315"/>
                  <a:pt x="286385" y="228600"/>
                  <a:pt x="279400" y="228600"/>
                </a:cubicBezTo>
                <a:cubicBezTo>
                  <a:pt x="272415" y="228600"/>
                  <a:pt x="266700" y="234315"/>
                  <a:pt x="266700" y="2413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cubicBezTo>
                  <a:pt x="286385" y="330200"/>
                  <a:pt x="292100" y="324485"/>
                  <a:pt x="292100" y="317500"/>
                </a:cubicBezTo>
                <a:lnTo>
                  <a:pt x="292100" y="2413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6" name="Text 13"/>
          <p:cNvSpPr/>
          <p:nvPr/>
        </p:nvSpPr>
        <p:spPr>
          <a:xfrm>
            <a:off x="5842000" y="55880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Interactivity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16000" y="6604000"/>
            <a:ext cx="2159000" cy="1524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8" name="Shape 15"/>
          <p:cNvSpPr/>
          <p:nvPr/>
        </p:nvSpPr>
        <p:spPr>
          <a:xfrm>
            <a:off x="1714500" y="679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128191" y="134858"/>
                </a:moveTo>
                <a:cubicBezTo>
                  <a:pt x="118507" y="130731"/>
                  <a:pt x="107315" y="135176"/>
                  <a:pt x="103188" y="144859"/>
                </a:cubicBezTo>
                <a:cubicBezTo>
                  <a:pt x="99060" y="154543"/>
                  <a:pt x="103505" y="165735"/>
                  <a:pt x="113189" y="169863"/>
                </a:cubicBezTo>
                <a:lnTo>
                  <a:pt x="122634" y="173911"/>
                </a:lnTo>
                <a:cubicBezTo>
                  <a:pt x="136366" y="179784"/>
                  <a:pt x="150574" y="184150"/>
                  <a:pt x="165179" y="186849"/>
                </a:cubicBezTo>
                <a:lnTo>
                  <a:pt x="165179" y="226616"/>
                </a:lnTo>
                <a:cubicBezTo>
                  <a:pt x="165179" y="230029"/>
                  <a:pt x="164624" y="233442"/>
                  <a:pt x="163513" y="236617"/>
                </a:cubicBezTo>
                <a:lnTo>
                  <a:pt x="140732" y="304959"/>
                </a:lnTo>
                <a:cubicBezTo>
                  <a:pt x="137398" y="314960"/>
                  <a:pt x="142796" y="325755"/>
                  <a:pt x="152797" y="329089"/>
                </a:cubicBezTo>
                <a:cubicBezTo>
                  <a:pt x="162798" y="332423"/>
                  <a:pt x="173593" y="327025"/>
                  <a:pt x="176927" y="317024"/>
                </a:cubicBezTo>
                <a:lnTo>
                  <a:pt x="196294" y="258921"/>
                </a:lnTo>
                <a:cubicBezTo>
                  <a:pt x="197326" y="255905"/>
                  <a:pt x="200104" y="253841"/>
                  <a:pt x="203279" y="253841"/>
                </a:cubicBezTo>
                <a:cubicBezTo>
                  <a:pt x="206454" y="253841"/>
                  <a:pt x="209312" y="255905"/>
                  <a:pt x="210264" y="258921"/>
                </a:cubicBezTo>
                <a:lnTo>
                  <a:pt x="229632" y="317024"/>
                </a:lnTo>
                <a:cubicBezTo>
                  <a:pt x="232966" y="327025"/>
                  <a:pt x="243761" y="332423"/>
                  <a:pt x="253762" y="329089"/>
                </a:cubicBezTo>
                <a:cubicBezTo>
                  <a:pt x="263763" y="325755"/>
                  <a:pt x="269081" y="315119"/>
                  <a:pt x="265748" y="305118"/>
                </a:cubicBezTo>
                <a:lnTo>
                  <a:pt x="242967" y="236776"/>
                </a:lnTo>
                <a:cubicBezTo>
                  <a:pt x="241856" y="233521"/>
                  <a:pt x="241300" y="230187"/>
                  <a:pt x="241300" y="226774"/>
                </a:cubicBezTo>
                <a:lnTo>
                  <a:pt x="241300" y="187007"/>
                </a:lnTo>
                <a:cubicBezTo>
                  <a:pt x="255905" y="184229"/>
                  <a:pt x="270113" y="179943"/>
                  <a:pt x="283845" y="174069"/>
                </a:cubicBezTo>
                <a:lnTo>
                  <a:pt x="293291" y="170021"/>
                </a:lnTo>
                <a:cubicBezTo>
                  <a:pt x="302974" y="165894"/>
                  <a:pt x="307419" y="154702"/>
                  <a:pt x="303292" y="145018"/>
                </a:cubicBezTo>
                <a:cubicBezTo>
                  <a:pt x="299164" y="135334"/>
                  <a:pt x="287973" y="130889"/>
                  <a:pt x="278289" y="135017"/>
                </a:cubicBezTo>
                <a:lnTo>
                  <a:pt x="268843" y="138906"/>
                </a:lnTo>
                <a:cubicBezTo>
                  <a:pt x="248126" y="147796"/>
                  <a:pt x="225822" y="152400"/>
                  <a:pt x="203200" y="152400"/>
                </a:cubicBezTo>
                <a:cubicBezTo>
                  <a:pt x="180578" y="152400"/>
                  <a:pt x="158353" y="147796"/>
                  <a:pt x="137557" y="138906"/>
                </a:cubicBezTo>
                <a:lnTo>
                  <a:pt x="128111" y="134858"/>
                </a:lnTo>
                <a:close/>
                <a:moveTo>
                  <a:pt x="203200" y="127000"/>
                </a:moveTo>
                <a:cubicBezTo>
                  <a:pt x="220723" y="127000"/>
                  <a:pt x="234950" y="112773"/>
                  <a:pt x="234950" y="95250"/>
                </a:cubicBezTo>
                <a:cubicBezTo>
                  <a:pt x="234950" y="77727"/>
                  <a:pt x="220723" y="63500"/>
                  <a:pt x="203200" y="63500"/>
                </a:cubicBezTo>
                <a:cubicBezTo>
                  <a:pt x="185677" y="63500"/>
                  <a:pt x="171450" y="77727"/>
                  <a:pt x="171450" y="95250"/>
                </a:cubicBezTo>
                <a:cubicBezTo>
                  <a:pt x="171450" y="112773"/>
                  <a:pt x="185677" y="127000"/>
                  <a:pt x="203200" y="1270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73025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365500" y="6604000"/>
            <a:ext cx="2159000" cy="1524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21" name="Shape 18"/>
          <p:cNvSpPr/>
          <p:nvPr/>
        </p:nvSpPr>
        <p:spPr>
          <a:xfrm>
            <a:off x="4089400" y="6794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2" name="Text 19"/>
          <p:cNvSpPr/>
          <p:nvPr/>
        </p:nvSpPr>
        <p:spPr>
          <a:xfrm>
            <a:off x="3492500" y="73025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715000" y="6604000"/>
            <a:ext cx="2159000" cy="1524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4" name="Shape 21"/>
          <p:cNvSpPr/>
          <p:nvPr/>
        </p:nvSpPr>
        <p:spPr>
          <a:xfrm>
            <a:off x="6413500" y="679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5" name="Text 22"/>
          <p:cNvSpPr/>
          <p:nvPr/>
        </p:nvSpPr>
        <p:spPr>
          <a:xfrm>
            <a:off x="5842000" y="73025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Permanence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652000" y="5461000"/>
            <a:ext cx="558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Choosing the right medium depends on: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Target audience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Message type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Budget constraints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Urgency of delivery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Desired response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Newsletters — Regular Information Updates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762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Newsletters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periodic publications distributed to a subscribed audience. They provide regular updates and build ongoing relationships with readers.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Types include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email newsletters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printed newsletters, and web-based newsletters.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16000" y="3810000"/>
            <a:ext cx="6858000" cy="2159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7" name="Text 5"/>
          <p:cNvSpPr/>
          <p:nvPr/>
        </p:nvSpPr>
        <p:spPr>
          <a:xfrm>
            <a:off x="1397000" y="4000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441960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Internal company updates and announcements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Marketing campaigns and product launches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Community and educational content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3810000"/>
            <a:ext cx="6858000" cy="2159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0" y="4000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3000" y="441960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Builds ongoing audience relationships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Cost-effective distribution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Measurable engagement (digital)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6000" y="6350000"/>
            <a:ext cx="14224000" cy="165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4775" y="660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1905000" y="6540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7000" y="69850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clear subject lines | Design mobile-friendly layouts | Provide valuable, relevant content | Include a clear call-to-action | Maintain consistent scheduling | Track open and click rates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Posters — Visual Impact Communication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Posters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visual displays designed to attract attention and convey a message quickly. The message must be understood within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3-5 seconds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viewing.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330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C.A.R. Design Principles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16000" y="3810000"/>
            <a:ext cx="3365500" cy="1651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873500"/>
            <a:ext cx="571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41500" y="40005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4419600"/>
            <a:ext cx="285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visual hierarchy through differences in size, color, and weight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35500" y="3810000"/>
            <a:ext cx="3365500" cy="1651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2" name="Text 10"/>
          <p:cNvSpPr/>
          <p:nvPr/>
        </p:nvSpPr>
        <p:spPr>
          <a:xfrm>
            <a:off x="4889500" y="3873500"/>
            <a:ext cx="571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61000" y="40005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Alignment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89500" y="4419600"/>
            <a:ext cx="285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 elements along clean lines for a professional, polished look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0" y="3810000"/>
            <a:ext cx="3365500" cy="1651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9000" y="3911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80500" y="40005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Repetition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0" y="4419600"/>
            <a:ext cx="285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visual elements to create consistency and strengthen identity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74500" y="3810000"/>
            <a:ext cx="3365500" cy="1651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0" name="Text 18"/>
          <p:cNvSpPr/>
          <p:nvPr/>
        </p:nvSpPr>
        <p:spPr>
          <a:xfrm>
            <a:off x="12128500" y="3911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0" y="40005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Proximity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28500" y="4419600"/>
            <a:ext cx="285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related elements together to create clear visual relationships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584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&amp; Formats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16000" y="6350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Event promotion and advertising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 awareness campaigns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Educational displays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Digital posters for social media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82000" y="5842000"/>
            <a:ext cx="685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posters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be displayed on screens, shared on social media, or printed. They combine compelling visuals, concise text, and clear hierarchy to communicate effectively at a glance.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Websites — Digital Presence &amp; Information Hubs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7112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Websites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comprehensive digital platforms for information, interaction, and transactions. They serve as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central hub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connecting all other digital communication channels.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60%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web traffic comes from mobile devices — mobile responsiveness is essential.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412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Websites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4610100"/>
            <a:ext cx="685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Informational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Company profiles, portfolios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E-commerce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Online stores and marketplaces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Blogs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Content publishing platforms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Portals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Aggregated services and links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Educational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Learning management systems</a:t>
            </a:r>
            <a:endParaRPr lang="en-US" sz="1800" dirty="0"/>
          </a:p>
        </p:txBody>
      </p:sp>
      <p:pic>
        <p:nvPicPr>
          <p:cNvPr id="8" name="Image 0" descr="https://kimi-img.moonshot.cn/pub/slides/okc/2252fwrw22tl6/mnt/agents/output/ict-week4/images/7_Blue_Orange_Abstract_Circuit_Lines.png">    </p:cNvPr>
          <p:cNvPicPr>
            <a:picLocks noChangeAspect="1"/>
          </p:cNvPicPr>
          <p:nvPr/>
        </p:nvPicPr>
        <p:blipFill>
          <a:blip r:embed="rId1"/>
          <a:srcRect l="0" r="0" t="4074" b="4074"/>
          <a:stretch/>
        </p:blipFill>
        <p:spPr>
          <a:xfrm>
            <a:off x="8382000" y="1524000"/>
            <a:ext cx="6858000" cy="3937000"/>
          </a:xfrm>
          <a:prstGeom prst="roundRect">
            <a:avLst>
              <a:gd name="adj" fmla="val 800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1016000" y="647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Components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16000" y="69596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Domain Name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Unique web address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Hosting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Server space for files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CMS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Content management (WordPress, Drupal)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Visual layout and UX |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SEO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Search engine optimization |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Analytics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Traffic and behavior tracking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Presentations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812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presentations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combine text, images, audio, video, and animation to deliver messages. They enhance retention — people remember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65%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visual content vs. 10% of text alone.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330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Presentation Tools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16000" y="3810000"/>
            <a:ext cx="2159000" cy="1016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810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PowerPoint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65500" y="3810000"/>
            <a:ext cx="2159000" cy="101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0" name="Text 8"/>
          <p:cNvSpPr/>
          <p:nvPr/>
        </p:nvSpPr>
        <p:spPr>
          <a:xfrm>
            <a:off x="3365500" y="3810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3810000"/>
            <a:ext cx="2159000" cy="381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Prezi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5016500"/>
            <a:ext cx="2159000" cy="101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016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Keynote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65500" y="5016500"/>
            <a:ext cx="2159000" cy="381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3365500" y="50165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Canva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3302000"/>
            <a:ext cx="6858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Practices: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Limit text per slide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high-quality visuals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Maintain consistent design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Practice your delivery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Engage your audience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16000" y="6477000"/>
            <a:ext cx="14224000" cy="165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Shape 17"/>
          <p:cNvSpPr/>
          <p:nvPr/>
        </p:nvSpPr>
        <p:spPr>
          <a:xfrm>
            <a:off x="1397000" y="673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66675"/>
                </a:moveTo>
                <a:lnTo>
                  <a:pt x="311150" y="244475"/>
                </a:lnTo>
                <a:lnTo>
                  <a:pt x="44450" y="244475"/>
                </a:lnTo>
                <a:lnTo>
                  <a:pt x="44450" y="66675"/>
                </a:lnTo>
                <a:lnTo>
                  <a:pt x="311150" y="66675"/>
                </a:lnTo>
                <a:close/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905000" y="6667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Effective For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97000" y="71120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Lectures and classroom teaching | Business pitches and proposals | Training sessions and workshops | Conference talks and keynotes | Product demonstrations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Communication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812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Audio communication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uses sound as the primary medium. It is portable, cost-effective, and creates a personal connection with the audience.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52000" y="1524000"/>
            <a:ext cx="5588000" cy="1270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7" name="Text 5"/>
          <p:cNvSpPr/>
          <p:nvPr/>
        </p:nvSpPr>
        <p:spPr>
          <a:xfrm>
            <a:off x="10033000" y="16256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500M+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33000" y="22606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podcast listeners worldwide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11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Formats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16000" y="3619500"/>
            <a:ext cx="4445000" cy="1016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1" name="Shape 9"/>
          <p:cNvSpPr/>
          <p:nvPr/>
        </p:nvSpPr>
        <p:spPr>
          <a:xfrm>
            <a:off x="1292225" y="3873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3363" y="249892"/>
                </a:moveTo>
                <a:cubicBezTo>
                  <a:pt x="260519" y="227459"/>
                  <a:pt x="277813" y="193566"/>
                  <a:pt x="277813" y="155575"/>
                </a:cubicBezTo>
                <a:cubicBezTo>
                  <a:pt x="277813" y="88067"/>
                  <a:pt x="223083" y="33337"/>
                  <a:pt x="155575" y="33337"/>
                </a:cubicBezTo>
                <a:cubicBezTo>
                  <a:pt x="88067" y="33337"/>
                  <a:pt x="33337" y="88067"/>
                  <a:pt x="33337" y="155575"/>
                </a:cubicBezTo>
                <a:cubicBezTo>
                  <a:pt x="33337" y="193566"/>
                  <a:pt x="50631" y="227459"/>
                  <a:pt x="77788" y="249892"/>
                </a:cubicBezTo>
                <a:cubicBezTo>
                  <a:pt x="78065" y="262116"/>
                  <a:pt x="80010" y="277951"/>
                  <a:pt x="82233" y="292814"/>
                </a:cubicBezTo>
                <a:cubicBezTo>
                  <a:pt x="33337" y="266631"/>
                  <a:pt x="0" y="214957"/>
                  <a:pt x="0" y="155575"/>
                </a:cubicBezTo>
                <a:cubicBezTo>
                  <a:pt x="0" y="69661"/>
                  <a:pt x="69661" y="0"/>
                  <a:pt x="155575" y="0"/>
                </a:cubicBezTo>
                <a:cubicBezTo>
                  <a:pt x="241489" y="0"/>
                  <a:pt x="311150" y="69661"/>
                  <a:pt x="311150" y="155575"/>
                </a:cubicBezTo>
                <a:cubicBezTo>
                  <a:pt x="311150" y="215027"/>
                  <a:pt x="277813" y="266631"/>
                  <a:pt x="228848" y="292814"/>
                </a:cubicBezTo>
                <a:cubicBezTo>
                  <a:pt x="231140" y="277951"/>
                  <a:pt x="233015" y="262116"/>
                  <a:pt x="233293" y="249892"/>
                </a:cubicBezTo>
                <a:close/>
                <a:moveTo>
                  <a:pt x="223639" y="212804"/>
                </a:moveTo>
                <a:cubicBezTo>
                  <a:pt x="217874" y="204053"/>
                  <a:pt x="210304" y="197803"/>
                  <a:pt x="202525" y="193496"/>
                </a:cubicBezTo>
                <a:cubicBezTo>
                  <a:pt x="201067" y="192732"/>
                  <a:pt x="199608" y="191968"/>
                  <a:pt x="198150" y="191274"/>
                </a:cubicBezTo>
                <a:cubicBezTo>
                  <a:pt x="206276" y="181620"/>
                  <a:pt x="211207" y="169118"/>
                  <a:pt x="211207" y="155506"/>
                </a:cubicBezTo>
                <a:cubicBezTo>
                  <a:pt x="211207" y="124807"/>
                  <a:pt x="186343" y="99943"/>
                  <a:pt x="155644" y="99943"/>
                </a:cubicBezTo>
                <a:cubicBezTo>
                  <a:pt x="124946" y="99943"/>
                  <a:pt x="100082" y="124807"/>
                  <a:pt x="100082" y="155506"/>
                </a:cubicBezTo>
                <a:cubicBezTo>
                  <a:pt x="100082" y="169118"/>
                  <a:pt x="105013" y="181620"/>
                  <a:pt x="113139" y="191274"/>
                </a:cubicBezTo>
                <a:cubicBezTo>
                  <a:pt x="111681" y="191968"/>
                  <a:pt x="110222" y="192663"/>
                  <a:pt x="108764" y="193496"/>
                </a:cubicBezTo>
                <a:cubicBezTo>
                  <a:pt x="100985" y="197803"/>
                  <a:pt x="93414" y="204053"/>
                  <a:pt x="87650" y="212804"/>
                </a:cubicBezTo>
                <a:cubicBezTo>
                  <a:pt x="74593" y="197316"/>
                  <a:pt x="66744" y="177383"/>
                  <a:pt x="66744" y="155575"/>
                </a:cubicBezTo>
                <a:cubicBezTo>
                  <a:pt x="66744" y="106472"/>
                  <a:pt x="106541" y="66675"/>
                  <a:pt x="155644" y="66675"/>
                </a:cubicBezTo>
                <a:cubicBezTo>
                  <a:pt x="204748" y="66675"/>
                  <a:pt x="244544" y="106472"/>
                  <a:pt x="244544" y="155575"/>
                </a:cubicBezTo>
                <a:cubicBezTo>
                  <a:pt x="244544" y="177383"/>
                  <a:pt x="236696" y="197386"/>
                  <a:pt x="223639" y="212804"/>
                </a:cubicBezTo>
                <a:close/>
                <a:moveTo>
                  <a:pt x="155575" y="216694"/>
                </a:moveTo>
                <a:cubicBezTo>
                  <a:pt x="178425" y="216694"/>
                  <a:pt x="200025" y="222667"/>
                  <a:pt x="200025" y="247114"/>
                </a:cubicBezTo>
                <a:cubicBezTo>
                  <a:pt x="200025" y="270034"/>
                  <a:pt x="191066" y="319415"/>
                  <a:pt x="185718" y="339417"/>
                </a:cubicBezTo>
                <a:cubicBezTo>
                  <a:pt x="182176" y="352614"/>
                  <a:pt x="168702" y="355669"/>
                  <a:pt x="155575" y="355669"/>
                </a:cubicBezTo>
                <a:cubicBezTo>
                  <a:pt x="142448" y="355669"/>
                  <a:pt x="129044" y="352614"/>
                  <a:pt x="125432" y="339417"/>
                </a:cubicBezTo>
                <a:cubicBezTo>
                  <a:pt x="120015" y="319623"/>
                  <a:pt x="111125" y="270173"/>
                  <a:pt x="111125" y="247184"/>
                </a:cubicBezTo>
                <a:cubicBezTo>
                  <a:pt x="111125" y="222806"/>
                  <a:pt x="132725" y="216763"/>
                  <a:pt x="155575" y="216763"/>
                </a:cubicBezTo>
                <a:close/>
                <a:moveTo>
                  <a:pt x="155575" y="127794"/>
                </a:moveTo>
                <a:cubicBezTo>
                  <a:pt x="170908" y="127794"/>
                  <a:pt x="183356" y="140242"/>
                  <a:pt x="183356" y="155575"/>
                </a:cubicBezTo>
                <a:cubicBezTo>
                  <a:pt x="183356" y="170908"/>
                  <a:pt x="170908" y="183356"/>
                  <a:pt x="155575" y="183356"/>
                </a:cubicBezTo>
                <a:cubicBezTo>
                  <a:pt x="140242" y="183356"/>
                  <a:pt x="127794" y="170908"/>
                  <a:pt x="127794" y="155575"/>
                </a:cubicBezTo>
                <a:cubicBezTo>
                  <a:pt x="127794" y="140242"/>
                  <a:pt x="140242" y="127794"/>
                  <a:pt x="155575" y="127794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778000" y="3746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Podcasts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On-demand audio series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3619500"/>
            <a:ext cx="4445000" cy="101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69000" y="387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3654" y="10418"/>
                </a:moveTo>
                <a:cubicBezTo>
                  <a:pt x="352475" y="7848"/>
                  <a:pt x="357545" y="-1459"/>
                  <a:pt x="354975" y="-10279"/>
                </a:cubicBezTo>
                <a:cubicBezTo>
                  <a:pt x="352405" y="-19100"/>
                  <a:pt x="343098" y="-24170"/>
                  <a:pt x="334278" y="-21530"/>
                </a:cubicBezTo>
                <a:lnTo>
                  <a:pt x="35977" y="65911"/>
                </a:lnTo>
                <a:cubicBezTo>
                  <a:pt x="29448" y="67786"/>
                  <a:pt x="23545" y="70912"/>
                  <a:pt x="18475" y="75009"/>
                </a:cubicBezTo>
                <a:cubicBezTo>
                  <a:pt x="7293" y="83135"/>
                  <a:pt x="0" y="96262"/>
                  <a:pt x="0" y="11112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311150" y="333375"/>
                </a:lnTo>
                <a:cubicBezTo>
                  <a:pt x="335667" y="333375"/>
                  <a:pt x="355600" y="313442"/>
                  <a:pt x="355600" y="288925"/>
                </a:cubicBezTo>
                <a:lnTo>
                  <a:pt x="355600" y="111125"/>
                </a:lnTo>
                <a:cubicBezTo>
                  <a:pt x="355600" y="86608"/>
                  <a:pt x="335667" y="66675"/>
                  <a:pt x="311150" y="66675"/>
                </a:cubicBezTo>
                <a:lnTo>
                  <a:pt x="151755" y="66675"/>
                </a:lnTo>
                <a:lnTo>
                  <a:pt x="343654" y="10418"/>
                </a:lnTo>
                <a:close/>
                <a:moveTo>
                  <a:pt x="255587" y="144463"/>
                </a:moveTo>
                <a:cubicBezTo>
                  <a:pt x="286253" y="144463"/>
                  <a:pt x="311150" y="169359"/>
                  <a:pt x="311150" y="200025"/>
                </a:cubicBezTo>
                <a:cubicBezTo>
                  <a:pt x="311150" y="230691"/>
                  <a:pt x="286253" y="255587"/>
                  <a:pt x="255587" y="255587"/>
                </a:cubicBezTo>
                <a:cubicBezTo>
                  <a:pt x="224922" y="255587"/>
                  <a:pt x="200025" y="230691"/>
                  <a:pt x="200025" y="200025"/>
                </a:cubicBezTo>
                <a:cubicBezTo>
                  <a:pt x="200025" y="169359"/>
                  <a:pt x="224922" y="144463"/>
                  <a:pt x="255587" y="144463"/>
                </a:cubicBezTo>
                <a:close/>
                <a:moveTo>
                  <a:pt x="44450" y="172244"/>
                </a:moveTo>
                <a:cubicBezTo>
                  <a:pt x="44450" y="163006"/>
                  <a:pt x="51881" y="155575"/>
                  <a:pt x="61119" y="155575"/>
                </a:cubicBezTo>
                <a:lnTo>
                  <a:pt x="138906" y="155575"/>
                </a:lnTo>
                <a:cubicBezTo>
                  <a:pt x="148144" y="155575"/>
                  <a:pt x="155575" y="163006"/>
                  <a:pt x="155575" y="172244"/>
                </a:cubicBezTo>
                <a:cubicBezTo>
                  <a:pt x="155575" y="181481"/>
                  <a:pt x="148144" y="188913"/>
                  <a:pt x="138906" y="188913"/>
                </a:cubicBezTo>
                <a:lnTo>
                  <a:pt x="61119" y="188913"/>
                </a:lnTo>
                <a:cubicBezTo>
                  <a:pt x="51881" y="188913"/>
                  <a:pt x="44450" y="181481"/>
                  <a:pt x="44450" y="172244"/>
                </a:cubicBezTo>
                <a:close/>
                <a:moveTo>
                  <a:pt x="44450" y="238919"/>
                </a:moveTo>
                <a:cubicBezTo>
                  <a:pt x="44450" y="229681"/>
                  <a:pt x="51881" y="222250"/>
                  <a:pt x="61119" y="222250"/>
                </a:cubicBezTo>
                <a:lnTo>
                  <a:pt x="138906" y="222250"/>
                </a:lnTo>
                <a:cubicBezTo>
                  <a:pt x="148144" y="222250"/>
                  <a:pt x="155575" y="229681"/>
                  <a:pt x="155575" y="238919"/>
                </a:cubicBezTo>
                <a:cubicBezTo>
                  <a:pt x="155575" y="248156"/>
                  <a:pt x="148144" y="255587"/>
                  <a:pt x="138906" y="255587"/>
                </a:cubicBezTo>
                <a:lnTo>
                  <a:pt x="61119" y="255587"/>
                </a:lnTo>
                <a:cubicBezTo>
                  <a:pt x="51881" y="255587"/>
                  <a:pt x="44450" y="248156"/>
                  <a:pt x="44450" y="23891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77000" y="3746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Radio Broadcasts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audio programming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414000" y="3619500"/>
            <a:ext cx="4826000" cy="1016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0225" y="3873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3746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Audiobooks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Narrated publications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" y="4826000"/>
            <a:ext cx="4445000" cy="1016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0" name="Shape 18"/>
          <p:cNvSpPr/>
          <p:nvPr/>
        </p:nvSpPr>
        <p:spPr>
          <a:xfrm>
            <a:off x="1270000" y="508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33375"/>
                </a:moveTo>
                <a:cubicBezTo>
                  <a:pt x="276007" y="333375"/>
                  <a:pt x="355600" y="258713"/>
                  <a:pt x="355600" y="166688"/>
                </a:cubicBezTo>
                <a:cubicBezTo>
                  <a:pt x="355600" y="74662"/>
                  <a:pt x="276007" y="0"/>
                  <a:pt x="177800" y="0"/>
                </a:cubicBezTo>
                <a:cubicBezTo>
                  <a:pt x="79593" y="0"/>
                  <a:pt x="0" y="74662"/>
                  <a:pt x="0" y="166688"/>
                </a:cubicBezTo>
                <a:cubicBezTo>
                  <a:pt x="0" y="204401"/>
                  <a:pt x="13335" y="239127"/>
                  <a:pt x="35838" y="267047"/>
                </a:cubicBezTo>
                <a:lnTo>
                  <a:pt x="1945" y="331153"/>
                </a:lnTo>
                <a:cubicBezTo>
                  <a:pt x="-1389" y="337403"/>
                  <a:pt x="-347" y="345043"/>
                  <a:pt x="4445" y="350252"/>
                </a:cubicBezTo>
                <a:cubicBezTo>
                  <a:pt x="9237" y="355461"/>
                  <a:pt x="16808" y="357059"/>
                  <a:pt x="23267" y="354280"/>
                </a:cubicBezTo>
                <a:lnTo>
                  <a:pt x="105499" y="319068"/>
                </a:lnTo>
                <a:cubicBezTo>
                  <a:pt x="127585" y="328235"/>
                  <a:pt x="152033" y="333375"/>
                  <a:pt x="177800" y="333375"/>
                </a:cubicBezTo>
                <a:close/>
                <a:moveTo>
                  <a:pt x="88900" y="144463"/>
                </a:moveTo>
                <a:cubicBezTo>
                  <a:pt x="101166" y="144463"/>
                  <a:pt x="111125" y="154421"/>
                  <a:pt x="111125" y="166688"/>
                </a:cubicBezTo>
                <a:cubicBezTo>
                  <a:pt x="111125" y="178954"/>
                  <a:pt x="101166" y="188913"/>
                  <a:pt x="88900" y="188913"/>
                </a:cubicBezTo>
                <a:cubicBezTo>
                  <a:pt x="76634" y="188913"/>
                  <a:pt x="66675" y="178954"/>
                  <a:pt x="66675" y="166688"/>
                </a:cubicBezTo>
                <a:cubicBezTo>
                  <a:pt x="66675" y="154421"/>
                  <a:pt x="76634" y="144463"/>
                  <a:pt x="88900" y="144463"/>
                </a:cubicBezTo>
                <a:close/>
                <a:moveTo>
                  <a:pt x="177800" y="144463"/>
                </a:moveTo>
                <a:cubicBezTo>
                  <a:pt x="190066" y="144463"/>
                  <a:pt x="200025" y="154421"/>
                  <a:pt x="200025" y="166688"/>
                </a:cubicBezTo>
                <a:cubicBezTo>
                  <a:pt x="200025" y="178954"/>
                  <a:pt x="190066" y="188913"/>
                  <a:pt x="177800" y="188913"/>
                </a:cubicBezTo>
                <a:cubicBezTo>
                  <a:pt x="165534" y="188913"/>
                  <a:pt x="155575" y="178954"/>
                  <a:pt x="155575" y="166688"/>
                </a:cubicBezTo>
                <a:cubicBezTo>
                  <a:pt x="155575" y="154421"/>
                  <a:pt x="165534" y="144463"/>
                  <a:pt x="177800" y="144463"/>
                </a:cubicBezTo>
                <a:close/>
                <a:moveTo>
                  <a:pt x="244475" y="166688"/>
                </a:moveTo>
                <a:cubicBezTo>
                  <a:pt x="244475" y="154421"/>
                  <a:pt x="254434" y="144463"/>
                  <a:pt x="266700" y="144463"/>
                </a:cubicBezTo>
                <a:cubicBezTo>
                  <a:pt x="278966" y="144463"/>
                  <a:pt x="288925" y="154421"/>
                  <a:pt x="288925" y="166688"/>
                </a:cubicBezTo>
                <a:cubicBezTo>
                  <a:pt x="288925" y="178954"/>
                  <a:pt x="278966" y="188913"/>
                  <a:pt x="266700" y="188913"/>
                </a:cubicBezTo>
                <a:cubicBezTo>
                  <a:pt x="254434" y="188913"/>
                  <a:pt x="244475" y="178954"/>
                  <a:pt x="244475" y="16668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778000" y="49530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Messages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audio communication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4826000"/>
            <a:ext cx="4445000" cy="1016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23" name="Shape 21"/>
          <p:cNvSpPr/>
          <p:nvPr/>
        </p:nvSpPr>
        <p:spPr>
          <a:xfrm>
            <a:off x="5969000" y="508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0318" y="13127"/>
                </a:moveTo>
                <a:cubicBezTo>
                  <a:pt x="328305" y="16669"/>
                  <a:pt x="333375" y="24586"/>
                  <a:pt x="333375" y="33337"/>
                </a:cubicBezTo>
                <a:lnTo>
                  <a:pt x="333375" y="322263"/>
                </a:lnTo>
                <a:cubicBezTo>
                  <a:pt x="333375" y="331014"/>
                  <a:pt x="328305" y="338931"/>
                  <a:pt x="320318" y="342473"/>
                </a:cubicBezTo>
                <a:cubicBezTo>
                  <a:pt x="312331" y="346015"/>
                  <a:pt x="303093" y="344696"/>
                  <a:pt x="296495" y="338931"/>
                </a:cubicBezTo>
                <a:lnTo>
                  <a:pt x="264130" y="310664"/>
                </a:lnTo>
                <a:cubicBezTo>
                  <a:pt x="233849" y="284202"/>
                  <a:pt x="195580" y="268784"/>
                  <a:pt x="155506" y="266908"/>
                </a:cubicBezTo>
                <a:lnTo>
                  <a:pt x="155506" y="333375"/>
                </a:lnTo>
                <a:cubicBezTo>
                  <a:pt x="155506" y="345668"/>
                  <a:pt x="145574" y="355600"/>
                  <a:pt x="133281" y="355600"/>
                </a:cubicBezTo>
                <a:lnTo>
                  <a:pt x="111056" y="355600"/>
                </a:lnTo>
                <a:cubicBezTo>
                  <a:pt x="98762" y="355600"/>
                  <a:pt x="88831" y="345668"/>
                  <a:pt x="88831" y="333375"/>
                </a:cubicBezTo>
                <a:lnTo>
                  <a:pt x="88831" y="266700"/>
                </a:lnTo>
                <a:cubicBezTo>
                  <a:pt x="39797" y="266700"/>
                  <a:pt x="0" y="226903"/>
                  <a:pt x="0" y="177800"/>
                </a:cubicBezTo>
                <a:cubicBezTo>
                  <a:pt x="0" y="128697"/>
                  <a:pt x="39797" y="88900"/>
                  <a:pt x="88900" y="88900"/>
                </a:cubicBezTo>
                <a:lnTo>
                  <a:pt x="147588" y="88900"/>
                </a:lnTo>
                <a:cubicBezTo>
                  <a:pt x="190510" y="88761"/>
                  <a:pt x="231904" y="73134"/>
                  <a:pt x="264200" y="44936"/>
                </a:cubicBezTo>
                <a:lnTo>
                  <a:pt x="296565" y="16669"/>
                </a:lnTo>
                <a:cubicBezTo>
                  <a:pt x="303093" y="10904"/>
                  <a:pt x="312470" y="9585"/>
                  <a:pt x="320387" y="13127"/>
                </a:cubicBezTo>
                <a:close/>
                <a:moveTo>
                  <a:pt x="155575" y="222250"/>
                </a:moveTo>
                <a:lnTo>
                  <a:pt x="155575" y="222389"/>
                </a:lnTo>
                <a:cubicBezTo>
                  <a:pt x="204401" y="224264"/>
                  <a:pt x="251281" y="242183"/>
                  <a:pt x="288925" y="273368"/>
                </a:cubicBezTo>
                <a:lnTo>
                  <a:pt x="288925" y="82163"/>
                </a:lnTo>
                <a:cubicBezTo>
                  <a:pt x="251281" y="113348"/>
                  <a:pt x="204401" y="131266"/>
                  <a:pt x="155575" y="133142"/>
                </a:cubicBezTo>
                <a:lnTo>
                  <a:pt x="155575" y="22225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6477000" y="49530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Announcements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audio notices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622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16000" y="6705600"/>
            <a:ext cx="1422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be consumed while multitasking (driving, exercising, commuting)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Creates an intimate, personal connection with the audience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Cost-effective production compared to video content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Wide range of applications: education, entertainment, news, marketing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Communication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Video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combines moving images with audio for powerful, engaging communication. It accounts for over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82%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all internet traffic globally.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52000" y="1524000"/>
            <a:ext cx="5588000" cy="1016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7" name="Text 5"/>
          <p:cNvSpPr/>
          <p:nvPr/>
        </p:nvSpPr>
        <p:spPr>
          <a:xfrm>
            <a:off x="10033000" y="15875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33000" y="2197100"/>
            <a:ext cx="482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all internet traffic is video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92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Video Content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16000" y="3429000"/>
            <a:ext cx="2667000" cy="1143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1" name="Shape 9"/>
          <p:cNvSpPr/>
          <p:nvPr/>
        </p:nvSpPr>
        <p:spPr>
          <a:xfrm>
            <a:off x="1270000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76200"/>
                </a:lnTo>
                <a:cubicBezTo>
                  <a:pt x="304800" y="55185"/>
                  <a:pt x="287715" y="38100"/>
                  <a:pt x="266700" y="38100"/>
                </a:cubicBezTo>
                <a:lnTo>
                  <a:pt x="38100" y="38100"/>
                </a:lnTo>
                <a:close/>
                <a:moveTo>
                  <a:pt x="247650" y="109537"/>
                </a:moveTo>
                <a:lnTo>
                  <a:pt x="247650" y="195263"/>
                </a:lnTo>
                <a:cubicBezTo>
                  <a:pt x="247650" y="203180"/>
                  <a:pt x="241280" y="209550"/>
                  <a:pt x="233363" y="209550"/>
                </a:cubicBezTo>
                <a:cubicBezTo>
                  <a:pt x="229136" y="209550"/>
                  <a:pt x="225326" y="207705"/>
                  <a:pt x="222706" y="204787"/>
                </a:cubicBezTo>
                <a:cubicBezTo>
                  <a:pt x="216634" y="207824"/>
                  <a:pt x="209729" y="209550"/>
                  <a:pt x="202406" y="209550"/>
                </a:cubicBezTo>
                <a:cubicBezTo>
                  <a:pt x="177403" y="209550"/>
                  <a:pt x="157163" y="189309"/>
                  <a:pt x="157163" y="164306"/>
                </a:cubicBezTo>
                <a:cubicBezTo>
                  <a:pt x="157163" y="139303"/>
                  <a:pt x="177403" y="119062"/>
                  <a:pt x="202406" y="119062"/>
                </a:cubicBezTo>
                <a:cubicBezTo>
                  <a:pt x="208300" y="119062"/>
                  <a:pt x="213896" y="120194"/>
                  <a:pt x="219075" y="122218"/>
                </a:cubicBezTo>
                <a:lnTo>
                  <a:pt x="219075" y="109537"/>
                </a:lnTo>
                <a:cubicBezTo>
                  <a:pt x="219075" y="101620"/>
                  <a:pt x="225445" y="95250"/>
                  <a:pt x="233363" y="95250"/>
                </a:cubicBezTo>
                <a:cubicBezTo>
                  <a:pt x="241280" y="95250"/>
                  <a:pt x="247650" y="101620"/>
                  <a:pt x="247650" y="109537"/>
                </a:cubicBezTo>
                <a:close/>
                <a:moveTo>
                  <a:pt x="219075" y="164306"/>
                </a:moveTo>
                <a:cubicBezTo>
                  <a:pt x="219075" y="155107"/>
                  <a:pt x="211606" y="147638"/>
                  <a:pt x="202406" y="147638"/>
                </a:cubicBezTo>
                <a:cubicBezTo>
                  <a:pt x="193207" y="147638"/>
                  <a:pt x="185738" y="155107"/>
                  <a:pt x="185738" y="164306"/>
                </a:cubicBezTo>
                <a:cubicBezTo>
                  <a:pt x="185738" y="173506"/>
                  <a:pt x="193207" y="180975"/>
                  <a:pt x="202406" y="180975"/>
                </a:cubicBezTo>
                <a:cubicBezTo>
                  <a:pt x="211606" y="180975"/>
                  <a:pt x="219075" y="173506"/>
                  <a:pt x="219075" y="164306"/>
                </a:cubicBezTo>
                <a:close/>
                <a:moveTo>
                  <a:pt x="95250" y="123825"/>
                </a:moveTo>
                <a:cubicBezTo>
                  <a:pt x="90011" y="123825"/>
                  <a:pt x="85725" y="128111"/>
                  <a:pt x="85725" y="133350"/>
                </a:cubicBezTo>
                <a:lnTo>
                  <a:pt x="85725" y="152400"/>
                </a:lnTo>
                <a:lnTo>
                  <a:pt x="114300" y="152400"/>
                </a:lnTo>
                <a:lnTo>
                  <a:pt x="114300" y="133350"/>
                </a:lnTo>
                <a:cubicBezTo>
                  <a:pt x="114300" y="128111"/>
                  <a:pt x="110014" y="123825"/>
                  <a:pt x="104775" y="123825"/>
                </a:cubicBezTo>
                <a:lnTo>
                  <a:pt x="95250" y="123825"/>
                </a:lnTo>
                <a:close/>
                <a:moveTo>
                  <a:pt x="114300" y="180975"/>
                </a:moveTo>
                <a:lnTo>
                  <a:pt x="85725" y="180975"/>
                </a:lnTo>
                <a:lnTo>
                  <a:pt x="85725" y="195263"/>
                </a:lnTo>
                <a:cubicBezTo>
                  <a:pt x="85725" y="203180"/>
                  <a:pt x="79355" y="209550"/>
                  <a:pt x="71438" y="209550"/>
                </a:cubicBezTo>
                <a:cubicBezTo>
                  <a:pt x="63520" y="209550"/>
                  <a:pt x="57150" y="203180"/>
                  <a:pt x="57150" y="195263"/>
                </a:cubicBezTo>
                <a:lnTo>
                  <a:pt x="57150" y="133350"/>
                </a:lnTo>
                <a:cubicBezTo>
                  <a:pt x="57150" y="112335"/>
                  <a:pt x="74235" y="95250"/>
                  <a:pt x="95250" y="95250"/>
                </a:cubicBezTo>
                <a:lnTo>
                  <a:pt x="104775" y="95250"/>
                </a:lnTo>
                <a:cubicBezTo>
                  <a:pt x="125790" y="95250"/>
                  <a:pt x="142875" y="112335"/>
                  <a:pt x="142875" y="133350"/>
                </a:cubicBezTo>
                <a:lnTo>
                  <a:pt x="142875" y="195263"/>
                </a:lnTo>
                <a:cubicBezTo>
                  <a:pt x="142875" y="203180"/>
                  <a:pt x="136505" y="209550"/>
                  <a:pt x="128588" y="209550"/>
                </a:cubicBezTo>
                <a:cubicBezTo>
                  <a:pt x="120670" y="209550"/>
                  <a:pt x="114300" y="203180"/>
                  <a:pt x="114300" y="195263"/>
                </a:cubicBezTo>
                <a:lnTo>
                  <a:pt x="114300" y="180975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4000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Promotional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73500" y="3429000"/>
            <a:ext cx="2667000" cy="1143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4" name="Shape 12"/>
          <p:cNvSpPr/>
          <p:nvPr/>
        </p:nvSpPr>
        <p:spPr>
          <a:xfrm>
            <a:off x="4108450" y="3619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116562"/>
                </a:moveTo>
                <a:lnTo>
                  <a:pt x="153114" y="167819"/>
                </a:lnTo>
                <a:cubicBezTo>
                  <a:pt x="158948" y="170200"/>
                  <a:pt x="165140" y="171450"/>
                  <a:pt x="171450" y="171450"/>
                </a:cubicBezTo>
                <a:cubicBezTo>
                  <a:pt x="177760" y="171450"/>
                  <a:pt x="183952" y="170200"/>
                  <a:pt x="189786" y="167819"/>
                </a:cubicBezTo>
                <a:lnTo>
                  <a:pt x="334089" y="108406"/>
                </a:lnTo>
                <a:cubicBezTo>
                  <a:pt x="339447" y="106204"/>
                  <a:pt x="342900" y="101025"/>
                  <a:pt x="342900" y="95250"/>
                </a:cubicBezTo>
                <a:cubicBezTo>
                  <a:pt x="342900" y="89475"/>
                  <a:pt x="339447" y="84296"/>
                  <a:pt x="334089" y="82094"/>
                </a:cubicBezTo>
                <a:lnTo>
                  <a:pt x="189786" y="22681"/>
                </a:lnTo>
                <a:cubicBezTo>
                  <a:pt x="183952" y="20300"/>
                  <a:pt x="177760" y="19050"/>
                  <a:pt x="171450" y="19050"/>
                </a:cubicBezTo>
                <a:cubicBezTo>
                  <a:pt x="165140" y="19050"/>
                  <a:pt x="158948" y="20300"/>
                  <a:pt x="153114" y="22681"/>
                </a:cubicBezTo>
                <a:lnTo>
                  <a:pt x="8811" y="82094"/>
                </a:lnTo>
                <a:cubicBezTo>
                  <a:pt x="3453" y="84296"/>
                  <a:pt x="0" y="89475"/>
                  <a:pt x="0" y="95250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cubicBezTo>
                  <a:pt x="22205" y="285750"/>
                  <a:pt x="28575" y="279380"/>
                  <a:pt x="28575" y="271463"/>
                </a:cubicBezTo>
                <a:lnTo>
                  <a:pt x="28575" y="116562"/>
                </a:lnTo>
                <a:close/>
                <a:moveTo>
                  <a:pt x="57150" y="159246"/>
                </a:moveTo>
                <a:lnTo>
                  <a:pt x="57150" y="228600"/>
                </a:lnTo>
                <a:cubicBezTo>
                  <a:pt x="57150" y="260152"/>
                  <a:pt x="108347" y="285750"/>
                  <a:pt x="171450" y="285750"/>
                </a:cubicBezTo>
                <a:cubicBezTo>
                  <a:pt x="234553" y="285750"/>
                  <a:pt x="285750" y="260152"/>
                  <a:pt x="285750" y="228600"/>
                </a:cubicBezTo>
                <a:lnTo>
                  <a:pt x="285750" y="159187"/>
                </a:lnTo>
                <a:lnTo>
                  <a:pt x="200680" y="194250"/>
                </a:lnTo>
                <a:cubicBezTo>
                  <a:pt x="191393" y="198060"/>
                  <a:pt x="181511" y="200025"/>
                  <a:pt x="171450" y="200025"/>
                </a:cubicBezTo>
                <a:cubicBezTo>
                  <a:pt x="161389" y="200025"/>
                  <a:pt x="151507" y="198060"/>
                  <a:pt x="142220" y="194250"/>
                </a:cubicBezTo>
                <a:lnTo>
                  <a:pt x="57150" y="159187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4127500" y="4000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Tutorials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1000" y="3429000"/>
            <a:ext cx="2667000" cy="1143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6900" y="3619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76200" y="57150"/>
                </a:moveTo>
                <a:cubicBezTo>
                  <a:pt x="76200" y="36135"/>
                  <a:pt x="93285" y="19050"/>
                  <a:pt x="114300" y="19050"/>
                </a:cubicBezTo>
                <a:lnTo>
                  <a:pt x="323850" y="19050"/>
                </a:lnTo>
                <a:cubicBezTo>
                  <a:pt x="344865" y="19050"/>
                  <a:pt x="361950" y="36135"/>
                  <a:pt x="361950" y="57150"/>
                </a:cubicBezTo>
                <a:lnTo>
                  <a:pt x="361950" y="200025"/>
                </a:lnTo>
                <a:lnTo>
                  <a:pt x="304800" y="200025"/>
                </a:lnTo>
                <a:lnTo>
                  <a:pt x="304800" y="190500"/>
                </a:lnTo>
                <a:cubicBezTo>
                  <a:pt x="304800" y="179963"/>
                  <a:pt x="296287" y="171450"/>
                  <a:pt x="285750" y="171450"/>
                </a:cubicBezTo>
                <a:lnTo>
                  <a:pt x="247650" y="171450"/>
                </a:lnTo>
                <a:cubicBezTo>
                  <a:pt x="237113" y="171450"/>
                  <a:pt x="228600" y="179963"/>
                  <a:pt x="228600" y="190500"/>
                </a:cubicBezTo>
                <a:lnTo>
                  <a:pt x="228600" y="200025"/>
                </a:lnTo>
                <a:lnTo>
                  <a:pt x="151745" y="200025"/>
                </a:lnTo>
                <a:cubicBezTo>
                  <a:pt x="158234" y="188833"/>
                  <a:pt x="161925" y="175796"/>
                  <a:pt x="161925" y="161925"/>
                </a:cubicBezTo>
                <a:cubicBezTo>
                  <a:pt x="161925" y="119836"/>
                  <a:pt x="127814" y="85725"/>
                  <a:pt x="85725" y="85725"/>
                </a:cubicBezTo>
                <a:cubicBezTo>
                  <a:pt x="82510" y="85725"/>
                  <a:pt x="79296" y="85904"/>
                  <a:pt x="76200" y="86320"/>
                </a:cubicBezTo>
                <a:lnTo>
                  <a:pt x="76200" y="57150"/>
                </a:lnTo>
                <a:close/>
                <a:moveTo>
                  <a:pt x="198239" y="266700"/>
                </a:moveTo>
                <a:cubicBezTo>
                  <a:pt x="195203" y="252293"/>
                  <a:pt x="188535" y="239256"/>
                  <a:pt x="179130" y="228600"/>
                </a:cubicBezTo>
                <a:lnTo>
                  <a:pt x="361950" y="228600"/>
                </a:lnTo>
                <a:cubicBezTo>
                  <a:pt x="361950" y="249615"/>
                  <a:pt x="344865" y="266700"/>
                  <a:pt x="323850" y="266700"/>
                </a:cubicBezTo>
                <a:lnTo>
                  <a:pt x="198239" y="266700"/>
                </a:lnTo>
                <a:close/>
                <a:moveTo>
                  <a:pt x="38100" y="161925"/>
                </a:moveTo>
                <a:cubicBezTo>
                  <a:pt x="38100" y="135640"/>
                  <a:pt x="59440" y="114300"/>
                  <a:pt x="85725" y="114300"/>
                </a:cubicBezTo>
                <a:cubicBezTo>
                  <a:pt x="112010" y="114300"/>
                  <a:pt x="133350" y="135640"/>
                  <a:pt x="133350" y="161925"/>
                </a:cubicBezTo>
                <a:cubicBezTo>
                  <a:pt x="133350" y="188210"/>
                  <a:pt x="112010" y="209550"/>
                  <a:pt x="85725" y="209550"/>
                </a:cubicBezTo>
                <a:cubicBezTo>
                  <a:pt x="59440" y="209550"/>
                  <a:pt x="38100" y="188210"/>
                  <a:pt x="38100" y="161925"/>
                </a:cubicBezTo>
                <a:close/>
                <a:moveTo>
                  <a:pt x="0" y="285750"/>
                </a:moveTo>
                <a:cubicBezTo>
                  <a:pt x="0" y="254198"/>
                  <a:pt x="25598" y="228600"/>
                  <a:pt x="57150" y="228600"/>
                </a:cubicBezTo>
                <a:lnTo>
                  <a:pt x="114300" y="228600"/>
                </a:lnTo>
                <a:cubicBezTo>
                  <a:pt x="145852" y="228600"/>
                  <a:pt x="171450" y="254198"/>
                  <a:pt x="171450" y="285750"/>
                </a:cubicBezTo>
                <a:cubicBezTo>
                  <a:pt x="171450" y="296287"/>
                  <a:pt x="162937" y="304800"/>
                  <a:pt x="152400" y="304800"/>
                </a:cubicBezTo>
                <a:lnTo>
                  <a:pt x="19050" y="304800"/>
                </a:lnTo>
                <a:cubicBezTo>
                  <a:pt x="8513" y="304800"/>
                  <a:pt x="0" y="296287"/>
                  <a:pt x="0" y="2857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6985000" y="4000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Webinars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95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Platforms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16000" y="5435600"/>
            <a:ext cx="685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YouTube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Largest video sharing platform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TikTok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Short-form viral content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Vimeo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Professional hosting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Instagram Reels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Social video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2000" y="495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Considerations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82000" y="5435600"/>
            <a:ext cx="685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Scripting and storyboarding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Filming equipment and setup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Editing and post-production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Accessibility (captions/subtitles)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 Streaming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Media streaming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delivers audio and video content continuously over the internet without downloading files to the device.</a:t>
            </a:r>
            <a:endParaRPr lang="en-US" sz="1800" dirty="0"/>
          </a:p>
        </p:txBody>
      </p:sp>
      <p:pic>
        <p:nvPicPr>
          <p:cNvPr id="6" name="Image 0" descr="https://kimi-img.moonshot.cn/pub/slides/okc/2252fwrw22tl6/mnt/agents/output/ict-week4/images/2_Web_3D_1191182716_Shutterstock.png">    </p:cNvPr>
          <p:cNvPicPr>
            <a:picLocks noChangeAspect="1"/>
          </p:cNvPicPr>
          <p:nvPr/>
        </p:nvPicPr>
        <p:blipFill>
          <a:blip r:embed="rId1"/>
          <a:srcRect l="0" r="0" t="28632" b="28632"/>
          <a:stretch/>
        </p:blipFill>
        <p:spPr>
          <a:xfrm>
            <a:off x="9652000" y="1524000"/>
            <a:ext cx="558800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016000" y="285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Types of Streaming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016000" y="3365500"/>
            <a:ext cx="6858000" cy="1778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9" name="Shape 6"/>
          <p:cNvSpPr/>
          <p:nvPr/>
        </p:nvSpPr>
        <p:spPr>
          <a:xfrm>
            <a:off x="1371600" y="3683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69771" y="9128"/>
                </a:moveTo>
                <a:cubicBezTo>
                  <a:pt x="60801" y="3651"/>
                  <a:pt x="49054" y="6588"/>
                  <a:pt x="43577" y="15558"/>
                </a:cubicBezTo>
                <a:cubicBezTo>
                  <a:pt x="23892" y="48101"/>
                  <a:pt x="12621" y="86281"/>
                  <a:pt x="12621" y="127000"/>
                </a:cubicBezTo>
                <a:cubicBezTo>
                  <a:pt x="12621" y="167719"/>
                  <a:pt x="23892" y="205899"/>
                  <a:pt x="43577" y="238442"/>
                </a:cubicBezTo>
                <a:cubicBezTo>
                  <a:pt x="49054" y="247412"/>
                  <a:pt x="60722" y="250349"/>
                  <a:pt x="69771" y="244872"/>
                </a:cubicBezTo>
                <a:cubicBezTo>
                  <a:pt x="78819" y="239395"/>
                  <a:pt x="81677" y="227727"/>
                  <a:pt x="76200" y="218678"/>
                </a:cubicBezTo>
                <a:cubicBezTo>
                  <a:pt x="60087" y="192008"/>
                  <a:pt x="50800" y="160576"/>
                  <a:pt x="50800" y="127000"/>
                </a:cubicBezTo>
                <a:cubicBezTo>
                  <a:pt x="50800" y="93424"/>
                  <a:pt x="60087" y="61992"/>
                  <a:pt x="76279" y="35243"/>
                </a:cubicBezTo>
                <a:cubicBezTo>
                  <a:pt x="81756" y="26273"/>
                  <a:pt x="78819" y="14526"/>
                  <a:pt x="69850" y="9049"/>
                </a:cubicBezTo>
                <a:close/>
                <a:moveTo>
                  <a:pt x="387350" y="9128"/>
                </a:moveTo>
                <a:cubicBezTo>
                  <a:pt x="378381" y="14605"/>
                  <a:pt x="375444" y="26273"/>
                  <a:pt x="380921" y="35322"/>
                </a:cubicBezTo>
                <a:cubicBezTo>
                  <a:pt x="397113" y="62071"/>
                  <a:pt x="406400" y="93504"/>
                  <a:pt x="406400" y="127079"/>
                </a:cubicBezTo>
                <a:cubicBezTo>
                  <a:pt x="406400" y="160655"/>
                  <a:pt x="397113" y="192088"/>
                  <a:pt x="380921" y="218837"/>
                </a:cubicBezTo>
                <a:cubicBezTo>
                  <a:pt x="375444" y="227806"/>
                  <a:pt x="378381" y="239554"/>
                  <a:pt x="387350" y="245031"/>
                </a:cubicBezTo>
                <a:cubicBezTo>
                  <a:pt x="396319" y="250507"/>
                  <a:pt x="408067" y="247571"/>
                  <a:pt x="413544" y="238601"/>
                </a:cubicBezTo>
                <a:cubicBezTo>
                  <a:pt x="433229" y="206057"/>
                  <a:pt x="444500" y="167878"/>
                  <a:pt x="444500" y="127159"/>
                </a:cubicBezTo>
                <a:cubicBezTo>
                  <a:pt x="444500" y="86439"/>
                  <a:pt x="433229" y="48101"/>
                  <a:pt x="413544" y="15558"/>
                </a:cubicBezTo>
                <a:cubicBezTo>
                  <a:pt x="408067" y="6588"/>
                  <a:pt x="396399" y="3651"/>
                  <a:pt x="387350" y="9128"/>
                </a:cubicBezTo>
                <a:close/>
                <a:moveTo>
                  <a:pt x="254000" y="170974"/>
                </a:moveTo>
                <a:cubicBezTo>
                  <a:pt x="269161" y="162163"/>
                  <a:pt x="279400" y="145812"/>
                  <a:pt x="279400" y="127000"/>
                </a:cubicBezTo>
                <a:cubicBezTo>
                  <a:pt x="279400" y="98981"/>
                  <a:pt x="256619" y="76200"/>
                  <a:pt x="228600" y="76200"/>
                </a:cubicBezTo>
                <a:cubicBezTo>
                  <a:pt x="200581" y="76200"/>
                  <a:pt x="177800" y="98981"/>
                  <a:pt x="177800" y="127000"/>
                </a:cubicBezTo>
                <a:cubicBezTo>
                  <a:pt x="177800" y="145812"/>
                  <a:pt x="188039" y="162243"/>
                  <a:pt x="203200" y="170974"/>
                </a:cubicBezTo>
                <a:lnTo>
                  <a:pt x="203200" y="381000"/>
                </a:lnTo>
                <a:cubicBezTo>
                  <a:pt x="203200" y="395049"/>
                  <a:pt x="214551" y="406400"/>
                  <a:pt x="228600" y="406400"/>
                </a:cubicBezTo>
                <a:cubicBezTo>
                  <a:pt x="242649" y="406400"/>
                  <a:pt x="254000" y="395049"/>
                  <a:pt x="254000" y="381000"/>
                </a:cubicBezTo>
                <a:lnTo>
                  <a:pt x="254000" y="170974"/>
                </a:lnTo>
                <a:close/>
                <a:moveTo>
                  <a:pt x="143034" y="72231"/>
                </a:moveTo>
                <a:cubicBezTo>
                  <a:pt x="148749" y="63341"/>
                  <a:pt x="146129" y="51594"/>
                  <a:pt x="137319" y="45879"/>
                </a:cubicBezTo>
                <a:cubicBezTo>
                  <a:pt x="128508" y="40164"/>
                  <a:pt x="116681" y="42783"/>
                  <a:pt x="110966" y="51594"/>
                </a:cubicBezTo>
                <a:cubicBezTo>
                  <a:pt x="96996" y="73343"/>
                  <a:pt x="88900" y="99219"/>
                  <a:pt x="88900" y="127000"/>
                </a:cubicBezTo>
                <a:cubicBezTo>
                  <a:pt x="88900" y="154781"/>
                  <a:pt x="96996" y="180658"/>
                  <a:pt x="110966" y="202406"/>
                </a:cubicBezTo>
                <a:cubicBezTo>
                  <a:pt x="116681" y="211296"/>
                  <a:pt x="128429" y="213836"/>
                  <a:pt x="137319" y="208121"/>
                </a:cubicBezTo>
                <a:cubicBezTo>
                  <a:pt x="146209" y="202406"/>
                  <a:pt x="148749" y="190659"/>
                  <a:pt x="143034" y="181769"/>
                </a:cubicBezTo>
                <a:cubicBezTo>
                  <a:pt x="132874" y="165973"/>
                  <a:pt x="127000" y="147161"/>
                  <a:pt x="127000" y="127000"/>
                </a:cubicBezTo>
                <a:cubicBezTo>
                  <a:pt x="127000" y="106839"/>
                  <a:pt x="132874" y="88027"/>
                  <a:pt x="143034" y="72231"/>
                </a:cubicBezTo>
                <a:close/>
                <a:moveTo>
                  <a:pt x="346234" y="51594"/>
                </a:moveTo>
                <a:cubicBezTo>
                  <a:pt x="340519" y="42704"/>
                  <a:pt x="328771" y="40164"/>
                  <a:pt x="319881" y="45879"/>
                </a:cubicBezTo>
                <a:cubicBezTo>
                  <a:pt x="310991" y="51594"/>
                  <a:pt x="308451" y="63341"/>
                  <a:pt x="314166" y="72231"/>
                </a:cubicBezTo>
                <a:cubicBezTo>
                  <a:pt x="324326" y="88027"/>
                  <a:pt x="330200" y="106839"/>
                  <a:pt x="330200" y="127000"/>
                </a:cubicBezTo>
                <a:cubicBezTo>
                  <a:pt x="330200" y="147161"/>
                  <a:pt x="324326" y="165973"/>
                  <a:pt x="314166" y="181769"/>
                </a:cubicBezTo>
                <a:cubicBezTo>
                  <a:pt x="308451" y="190659"/>
                  <a:pt x="311071" y="202406"/>
                  <a:pt x="319881" y="208121"/>
                </a:cubicBezTo>
                <a:cubicBezTo>
                  <a:pt x="328692" y="213836"/>
                  <a:pt x="340519" y="211217"/>
                  <a:pt x="346234" y="202406"/>
                </a:cubicBezTo>
                <a:cubicBezTo>
                  <a:pt x="360204" y="180658"/>
                  <a:pt x="368300" y="154781"/>
                  <a:pt x="368300" y="127000"/>
                </a:cubicBezTo>
                <a:cubicBezTo>
                  <a:pt x="368300" y="99219"/>
                  <a:pt x="360204" y="73343"/>
                  <a:pt x="346234" y="51594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1968500" y="3619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Streaming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97000" y="40640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broadcast of events as they happen. Used for sports, concerts, gaming, news, and live events.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382000" y="3365500"/>
            <a:ext cx="6858000" cy="1778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3" name="Shape 10"/>
          <p:cNvSpPr/>
          <p:nvPr/>
        </p:nvSpPr>
        <p:spPr>
          <a:xfrm>
            <a:off x="8763000" y="368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149463" y="116761"/>
                </a:moveTo>
                <a:cubicBezTo>
                  <a:pt x="143431" y="120094"/>
                  <a:pt x="139700" y="126524"/>
                  <a:pt x="139700" y="133350"/>
                </a:cubicBezTo>
                <a:lnTo>
                  <a:pt x="139700" y="273050"/>
                </a:lnTo>
                <a:cubicBezTo>
                  <a:pt x="139700" y="279956"/>
                  <a:pt x="143431" y="286306"/>
                  <a:pt x="149463" y="289639"/>
                </a:cubicBezTo>
                <a:cubicBezTo>
                  <a:pt x="155496" y="292973"/>
                  <a:pt x="162798" y="292894"/>
                  <a:pt x="168751" y="289243"/>
                </a:cubicBezTo>
                <a:lnTo>
                  <a:pt x="283051" y="219392"/>
                </a:lnTo>
                <a:cubicBezTo>
                  <a:pt x="288687" y="215900"/>
                  <a:pt x="292179" y="209788"/>
                  <a:pt x="292179" y="203121"/>
                </a:cubicBezTo>
                <a:cubicBezTo>
                  <a:pt x="292179" y="196453"/>
                  <a:pt x="288687" y="190341"/>
                  <a:pt x="283051" y="186849"/>
                </a:cubicBezTo>
                <a:lnTo>
                  <a:pt x="168751" y="116999"/>
                </a:lnTo>
                <a:cubicBezTo>
                  <a:pt x="162878" y="113427"/>
                  <a:pt x="155496" y="113268"/>
                  <a:pt x="149463" y="116602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4" name="Text 11"/>
          <p:cNvSpPr/>
          <p:nvPr/>
        </p:nvSpPr>
        <p:spPr>
          <a:xfrm>
            <a:off x="9334500" y="3619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On-Demand Streaming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63000" y="40640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Pre-recorded content available anytime. Users choose what to watch and when — full control.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16000" y="527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Streaming Platforms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016000" y="5778500"/>
            <a:ext cx="2159000" cy="8890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8" name="Text 15"/>
          <p:cNvSpPr/>
          <p:nvPr/>
        </p:nvSpPr>
        <p:spPr>
          <a:xfrm>
            <a:off x="1016000" y="5778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365500" y="5778500"/>
            <a:ext cx="2159000" cy="8890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0" name="Text 17"/>
          <p:cNvSpPr/>
          <p:nvPr/>
        </p:nvSpPr>
        <p:spPr>
          <a:xfrm>
            <a:off x="3365500" y="5778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Spotify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715000" y="5778500"/>
            <a:ext cx="2159000" cy="8890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0" y="5778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YouTube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064500" y="5778500"/>
            <a:ext cx="2159000" cy="889000"/>
          </a:xfrm>
          <a:prstGeom prst="rect">
            <a:avLst/>
          </a:prstGeom>
          <a:solidFill>
            <a:srgbClr val="9146FF"/>
          </a:solidFill>
          <a:ln/>
        </p:spPr>
      </p:sp>
      <p:sp>
        <p:nvSpPr>
          <p:cNvPr id="24" name="Text 21"/>
          <p:cNvSpPr/>
          <p:nvPr/>
        </p:nvSpPr>
        <p:spPr>
          <a:xfrm>
            <a:off x="8064500" y="5778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Twitch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414000" y="5778500"/>
            <a:ext cx="2159000" cy="889000"/>
          </a:xfrm>
          <a:prstGeom prst="rect">
            <a:avLst/>
          </a:prstGeom>
          <a:solidFill>
            <a:srgbClr val="113CCF"/>
          </a:solidFill>
          <a:ln/>
        </p:spPr>
      </p:sp>
      <p:sp>
        <p:nvSpPr>
          <p:cNvPr id="26" name="Text 23"/>
          <p:cNvSpPr/>
          <p:nvPr/>
        </p:nvSpPr>
        <p:spPr>
          <a:xfrm>
            <a:off x="10414000" y="5778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Disney+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2763500" y="5778500"/>
            <a:ext cx="2159000" cy="889000"/>
          </a:xfrm>
          <a:prstGeom prst="rect">
            <a:avLst/>
          </a:prstGeom>
          <a:solidFill>
            <a:srgbClr val="00A8E1"/>
          </a:solidFill>
          <a:ln/>
        </p:spPr>
      </p:sp>
      <p:sp>
        <p:nvSpPr>
          <p:cNvPr id="28" name="Text 25"/>
          <p:cNvSpPr/>
          <p:nvPr/>
        </p:nvSpPr>
        <p:spPr>
          <a:xfrm>
            <a:off x="12763500" y="5778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16000" y="704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Underlying Technology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16000" y="75311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CDNs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(Content Delivery Networks) |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Compression Codecs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(H.264, HEVC, AV1) |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Adaptive Bitrate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streaming |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Cloud Storage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infrastructure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ePublications — Digital Publishing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ePublications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digital versions of printed materials distributed electronically. They offer searchable text, hyperlinks, and multimedia embedding.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ePublications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16000" y="3302000"/>
            <a:ext cx="2667000" cy="1270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8" name="Shape 6"/>
          <p:cNvSpPr/>
          <p:nvPr/>
        </p:nvSpPr>
        <p:spPr>
          <a:xfrm>
            <a:off x="1270000" y="349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98137"/>
                </a:moveTo>
                <a:lnTo>
                  <a:pt x="177800" y="312956"/>
                </a:lnTo>
                <a:lnTo>
                  <a:pt x="178147" y="312817"/>
                </a:lnTo>
                <a:cubicBezTo>
                  <a:pt x="216069" y="297051"/>
                  <a:pt x="256768" y="288925"/>
                  <a:pt x="297815" y="288925"/>
                </a:cubicBezTo>
                <a:lnTo>
                  <a:pt x="311150" y="288925"/>
                </a:lnTo>
                <a:lnTo>
                  <a:pt x="311150" y="66675"/>
                </a:lnTo>
                <a:lnTo>
                  <a:pt x="297815" y="66675"/>
                </a:lnTo>
                <a:cubicBezTo>
                  <a:pt x="268506" y="66675"/>
                  <a:pt x="239405" y="72509"/>
                  <a:pt x="212318" y="83760"/>
                </a:cubicBezTo>
                <a:cubicBezTo>
                  <a:pt x="200650" y="88622"/>
                  <a:pt x="189121" y="93414"/>
                  <a:pt x="177800" y="98137"/>
                </a:cubicBezTo>
                <a:close/>
                <a:moveTo>
                  <a:pt x="160367" y="42714"/>
                </a:moveTo>
                <a:lnTo>
                  <a:pt x="177800" y="50006"/>
                </a:lnTo>
                <a:lnTo>
                  <a:pt x="195233" y="42714"/>
                </a:lnTo>
                <a:cubicBezTo>
                  <a:pt x="227737" y="29170"/>
                  <a:pt x="262602" y="22225"/>
                  <a:pt x="297815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300038"/>
                </a:lnTo>
                <a:cubicBezTo>
                  <a:pt x="355600" y="318443"/>
                  <a:pt x="340668" y="333375"/>
                  <a:pt x="322263" y="333375"/>
                </a:cubicBezTo>
                <a:lnTo>
                  <a:pt x="297815" y="333375"/>
                </a:lnTo>
                <a:cubicBezTo>
                  <a:pt x="262602" y="333375"/>
                  <a:pt x="227737" y="340320"/>
                  <a:pt x="195233" y="353864"/>
                </a:cubicBezTo>
                <a:lnTo>
                  <a:pt x="186343" y="357545"/>
                </a:lnTo>
                <a:cubicBezTo>
                  <a:pt x="180856" y="359837"/>
                  <a:pt x="174744" y="359837"/>
                  <a:pt x="169257" y="357545"/>
                </a:cubicBezTo>
                <a:lnTo>
                  <a:pt x="160367" y="353864"/>
                </a:lnTo>
                <a:cubicBezTo>
                  <a:pt x="127863" y="340320"/>
                  <a:pt x="92998" y="333375"/>
                  <a:pt x="57785" y="333375"/>
                </a:cubicBezTo>
                <a:lnTo>
                  <a:pt x="33337" y="333375"/>
                </a:lnTo>
                <a:cubicBezTo>
                  <a:pt x="14932" y="333375"/>
                  <a:pt x="0" y="318443"/>
                  <a:pt x="0" y="300038"/>
                </a:cubicBezTo>
                <a:lnTo>
                  <a:pt x="0" y="55563"/>
                </a:lnTo>
                <a:cubicBezTo>
                  <a:pt x="0" y="37157"/>
                  <a:pt x="14932" y="22225"/>
                  <a:pt x="33337" y="22225"/>
                </a:cubicBezTo>
                <a:lnTo>
                  <a:pt x="57785" y="22225"/>
                </a:lnTo>
                <a:cubicBezTo>
                  <a:pt x="92998" y="22225"/>
                  <a:pt x="127863" y="29170"/>
                  <a:pt x="160367" y="42714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9370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E-Books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73500" y="3302000"/>
            <a:ext cx="2667000" cy="1270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1" name="Shape 9"/>
          <p:cNvSpPr/>
          <p:nvPr/>
        </p:nvSpPr>
        <p:spPr>
          <a:xfrm>
            <a:off x="4127500" y="349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288925"/>
                </a:moveTo>
                <a:lnTo>
                  <a:pt x="0" y="83344"/>
                </a:lnTo>
                <a:cubicBezTo>
                  <a:pt x="0" y="74106"/>
                  <a:pt x="7431" y="66675"/>
                  <a:pt x="16669" y="66675"/>
                </a:cubicBezTo>
                <a:cubicBezTo>
                  <a:pt x="25906" y="66675"/>
                  <a:pt x="33337" y="74106"/>
                  <a:pt x="33337" y="83344"/>
                </a:cubicBezTo>
                <a:lnTo>
                  <a:pt x="33337" y="283369"/>
                </a:lnTo>
                <a:cubicBezTo>
                  <a:pt x="33337" y="292606"/>
                  <a:pt x="40769" y="300038"/>
                  <a:pt x="50006" y="300038"/>
                </a:cubicBezTo>
                <a:cubicBezTo>
                  <a:pt x="59244" y="300038"/>
                  <a:pt x="66675" y="292606"/>
                  <a:pt x="66675" y="283369"/>
                </a:cubicBezTo>
                <a:lnTo>
                  <a:pt x="66675" y="66675"/>
                </a:lnTo>
                <a:cubicBezTo>
                  <a:pt x="66675" y="42158"/>
                  <a:pt x="86608" y="22225"/>
                  <a:pt x="111125" y="22225"/>
                </a:cubicBezTo>
                <a:lnTo>
                  <a:pt x="311150" y="22225"/>
                </a:lnTo>
                <a:cubicBezTo>
                  <a:pt x="335667" y="22225"/>
                  <a:pt x="355600" y="42158"/>
                  <a:pt x="355600" y="66675"/>
                </a:cubicBezTo>
                <a:lnTo>
                  <a:pt x="355600" y="288925"/>
                </a:lnTo>
                <a:cubicBezTo>
                  <a:pt x="355600" y="313442"/>
                  <a:pt x="335667" y="333375"/>
                  <a:pt x="31115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close/>
                <a:moveTo>
                  <a:pt x="111125" y="88900"/>
                </a:moveTo>
                <a:lnTo>
                  <a:pt x="111125" y="133350"/>
                </a:lnTo>
                <a:cubicBezTo>
                  <a:pt x="111125" y="145643"/>
                  <a:pt x="121057" y="155575"/>
                  <a:pt x="133350" y="155575"/>
                </a:cubicBezTo>
                <a:lnTo>
                  <a:pt x="177800" y="155575"/>
                </a:lnTo>
                <a:cubicBezTo>
                  <a:pt x="190093" y="155575"/>
                  <a:pt x="200025" y="145643"/>
                  <a:pt x="200025" y="133350"/>
                </a:cubicBezTo>
                <a:lnTo>
                  <a:pt x="200025" y="88900"/>
                </a:lnTo>
                <a:cubicBezTo>
                  <a:pt x="200025" y="76607"/>
                  <a:pt x="190093" y="66675"/>
                  <a:pt x="177800" y="66675"/>
                </a:cubicBezTo>
                <a:lnTo>
                  <a:pt x="133350" y="66675"/>
                </a:lnTo>
                <a:cubicBezTo>
                  <a:pt x="121057" y="66675"/>
                  <a:pt x="111125" y="76607"/>
                  <a:pt x="111125" y="88900"/>
                </a:cubicBezTo>
                <a:close/>
                <a:moveTo>
                  <a:pt x="127794" y="255587"/>
                </a:moveTo>
                <a:cubicBezTo>
                  <a:pt x="118556" y="255587"/>
                  <a:pt x="111125" y="263019"/>
                  <a:pt x="111125" y="272256"/>
                </a:cubicBezTo>
                <a:cubicBezTo>
                  <a:pt x="111125" y="281494"/>
                  <a:pt x="118556" y="288925"/>
                  <a:pt x="127794" y="288925"/>
                </a:cubicBezTo>
                <a:lnTo>
                  <a:pt x="294481" y="288925"/>
                </a:lnTo>
                <a:cubicBezTo>
                  <a:pt x="303719" y="288925"/>
                  <a:pt x="311150" y="281494"/>
                  <a:pt x="311150" y="272256"/>
                </a:cubicBezTo>
                <a:cubicBezTo>
                  <a:pt x="311150" y="263019"/>
                  <a:pt x="303719" y="255587"/>
                  <a:pt x="294481" y="255587"/>
                </a:cubicBezTo>
                <a:lnTo>
                  <a:pt x="127794" y="255587"/>
                </a:lnTo>
                <a:close/>
                <a:moveTo>
                  <a:pt x="111125" y="205581"/>
                </a:moveTo>
                <a:cubicBezTo>
                  <a:pt x="111125" y="214819"/>
                  <a:pt x="118556" y="222250"/>
                  <a:pt x="127794" y="222250"/>
                </a:cubicBezTo>
                <a:lnTo>
                  <a:pt x="294481" y="222250"/>
                </a:lnTo>
                <a:cubicBezTo>
                  <a:pt x="303719" y="222250"/>
                  <a:pt x="311150" y="214819"/>
                  <a:pt x="311150" y="205581"/>
                </a:cubicBezTo>
                <a:cubicBezTo>
                  <a:pt x="311150" y="196344"/>
                  <a:pt x="303719" y="188913"/>
                  <a:pt x="294481" y="188913"/>
                </a:cubicBezTo>
                <a:lnTo>
                  <a:pt x="127794" y="188913"/>
                </a:lnTo>
                <a:cubicBezTo>
                  <a:pt x="118556" y="188913"/>
                  <a:pt x="111125" y="196344"/>
                  <a:pt x="111125" y="205581"/>
                </a:cubicBezTo>
                <a:close/>
                <a:moveTo>
                  <a:pt x="250031" y="122238"/>
                </a:moveTo>
                <a:cubicBezTo>
                  <a:pt x="240794" y="122238"/>
                  <a:pt x="233363" y="129669"/>
                  <a:pt x="233363" y="138906"/>
                </a:cubicBezTo>
                <a:cubicBezTo>
                  <a:pt x="233363" y="148144"/>
                  <a:pt x="240794" y="155575"/>
                  <a:pt x="250031" y="155575"/>
                </a:cubicBezTo>
                <a:lnTo>
                  <a:pt x="294481" y="155575"/>
                </a:lnTo>
                <a:cubicBezTo>
                  <a:pt x="303719" y="155575"/>
                  <a:pt x="311150" y="148144"/>
                  <a:pt x="311150" y="138906"/>
                </a:cubicBezTo>
                <a:cubicBezTo>
                  <a:pt x="311150" y="129669"/>
                  <a:pt x="303719" y="122238"/>
                  <a:pt x="294481" y="122238"/>
                </a:cubicBezTo>
                <a:lnTo>
                  <a:pt x="250031" y="1222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4127500" y="39370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E-Magazines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4762500"/>
            <a:ext cx="2667000" cy="1270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4" name="Shape 12"/>
          <p:cNvSpPr/>
          <p:nvPr/>
        </p:nvSpPr>
        <p:spPr>
          <a:xfrm>
            <a:off x="1314450" y="4953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53975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Reports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73500" y="4762500"/>
            <a:ext cx="2667000" cy="1270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7" name="Shape 15"/>
          <p:cNvSpPr/>
          <p:nvPr/>
        </p:nvSpPr>
        <p:spPr>
          <a:xfrm>
            <a:off x="4105275" y="4953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127500" y="53975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Journals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12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Formats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12000" y="3302000"/>
            <a:ext cx="812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PDF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Universal, fixed layout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EPUB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Reflowable, e-reader friendly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MOBI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Kindle format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HTML5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Interactive web publications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12000" y="508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12000" y="5588000"/>
            <a:ext cx="812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Lower distribution costs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Instant global delivery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Environmental benefits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Analytics and reader tracking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6000" y="7112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Self-Publishing Platforms: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Amazon Kindle Direct Publishing | Apple Books | Issuu | Medium | Google Play Books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platforms have democratized publishing, allowing anyone to create and distribute digital content globally.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Communication —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812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Mobile communication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refers to information exchange using portable wireless devices. The mobile revolution has fundamentally changed how people communicate and access information.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52000" y="1524000"/>
            <a:ext cx="5588000" cy="1524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7" name="Text 5"/>
          <p:cNvSpPr/>
          <p:nvPr/>
        </p:nvSpPr>
        <p:spPr>
          <a:xfrm>
            <a:off x="10033000" y="1651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8.9 Billion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33000" y="2413000"/>
            <a:ext cx="482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connections worldwide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42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16000" y="3937000"/>
            <a:ext cx="3365500" cy="1270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1" name="Shape 9"/>
          <p:cNvSpPr/>
          <p:nvPr/>
        </p:nvSpPr>
        <p:spPr>
          <a:xfrm>
            <a:off x="1314450" y="419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" y="44450"/>
                </a:moveTo>
                <a:cubicBezTo>
                  <a:pt x="11112" y="19933"/>
                  <a:pt x="31046" y="0"/>
                  <a:pt x="55563" y="0"/>
                </a:cubicBezTo>
                <a:lnTo>
                  <a:pt x="211138" y="0"/>
                </a:lnTo>
                <a:cubicBezTo>
                  <a:pt x="235654" y="0"/>
                  <a:pt x="255587" y="19933"/>
                  <a:pt x="255587" y="44450"/>
                </a:cubicBezTo>
                <a:lnTo>
                  <a:pt x="255587" y="311150"/>
                </a:lnTo>
                <a:cubicBezTo>
                  <a:pt x="255587" y="335667"/>
                  <a:pt x="235654" y="355600"/>
                  <a:pt x="211138" y="355600"/>
                </a:cubicBezTo>
                <a:lnTo>
                  <a:pt x="55563" y="355600"/>
                </a:lnTo>
                <a:cubicBezTo>
                  <a:pt x="31046" y="355600"/>
                  <a:pt x="11112" y="335667"/>
                  <a:pt x="11112" y="311150"/>
                </a:cubicBezTo>
                <a:lnTo>
                  <a:pt x="11112" y="44450"/>
                </a:lnTo>
                <a:close/>
                <a:moveTo>
                  <a:pt x="88900" y="305594"/>
                </a:moveTo>
                <a:cubicBezTo>
                  <a:pt x="88900" y="314831"/>
                  <a:pt x="96331" y="322263"/>
                  <a:pt x="105569" y="322263"/>
                </a:cubicBezTo>
                <a:lnTo>
                  <a:pt x="161131" y="322263"/>
                </a:lnTo>
                <a:cubicBezTo>
                  <a:pt x="170369" y="322263"/>
                  <a:pt x="177800" y="314831"/>
                  <a:pt x="177800" y="305594"/>
                </a:cubicBezTo>
                <a:cubicBezTo>
                  <a:pt x="177800" y="296356"/>
                  <a:pt x="170369" y="288925"/>
                  <a:pt x="161131" y="288925"/>
                </a:cubicBezTo>
                <a:lnTo>
                  <a:pt x="105569" y="288925"/>
                </a:lnTo>
                <a:cubicBezTo>
                  <a:pt x="96331" y="288925"/>
                  <a:pt x="88900" y="296356"/>
                  <a:pt x="88900" y="305594"/>
                </a:cubicBezTo>
                <a:close/>
                <a:moveTo>
                  <a:pt x="211138" y="44450"/>
                </a:moveTo>
                <a:lnTo>
                  <a:pt x="55563" y="44450"/>
                </a:lnTo>
                <a:lnTo>
                  <a:pt x="55563" y="255587"/>
                </a:lnTo>
                <a:lnTo>
                  <a:pt x="211138" y="255587"/>
                </a:lnTo>
                <a:lnTo>
                  <a:pt x="211138" y="4445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778000" y="4165600"/>
            <a:ext cx="234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0000" y="4635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Communicate anywhere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35500" y="3937000"/>
            <a:ext cx="3365500" cy="1270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7275" y="4191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66675"/>
                </a:moveTo>
                <a:cubicBezTo>
                  <a:pt x="136892" y="66675"/>
                  <a:pt x="79732" y="91678"/>
                  <a:pt x="37713" y="132378"/>
                </a:cubicBezTo>
                <a:cubicBezTo>
                  <a:pt x="28893" y="140920"/>
                  <a:pt x="14794" y="140712"/>
                  <a:pt x="6320" y="131891"/>
                </a:cubicBezTo>
                <a:cubicBezTo>
                  <a:pt x="-2153" y="123071"/>
                  <a:pt x="-2014" y="108972"/>
                  <a:pt x="6806" y="100499"/>
                </a:cubicBezTo>
                <a:cubicBezTo>
                  <a:pt x="56743" y="52020"/>
                  <a:pt x="124946" y="22225"/>
                  <a:pt x="200025" y="22225"/>
                </a:cubicBezTo>
                <a:cubicBezTo>
                  <a:pt x="275104" y="22225"/>
                  <a:pt x="343307" y="52020"/>
                  <a:pt x="393313" y="100499"/>
                </a:cubicBezTo>
                <a:cubicBezTo>
                  <a:pt x="402134" y="109041"/>
                  <a:pt x="402342" y="123140"/>
                  <a:pt x="393799" y="131891"/>
                </a:cubicBezTo>
                <a:cubicBezTo>
                  <a:pt x="385256" y="140643"/>
                  <a:pt x="371157" y="140920"/>
                  <a:pt x="362406" y="132378"/>
                </a:cubicBezTo>
                <a:cubicBezTo>
                  <a:pt x="320318" y="91678"/>
                  <a:pt x="263158" y="66675"/>
                  <a:pt x="200025" y="66675"/>
                </a:cubicBezTo>
                <a:close/>
                <a:moveTo>
                  <a:pt x="166688" y="300038"/>
                </a:moveTo>
                <a:cubicBezTo>
                  <a:pt x="166688" y="281638"/>
                  <a:pt x="181626" y="266700"/>
                  <a:pt x="200025" y="266700"/>
                </a:cubicBezTo>
                <a:cubicBezTo>
                  <a:pt x="218424" y="266700"/>
                  <a:pt x="233363" y="281638"/>
                  <a:pt x="233363" y="300038"/>
                </a:cubicBezTo>
                <a:cubicBezTo>
                  <a:pt x="233363" y="318437"/>
                  <a:pt x="218424" y="333375"/>
                  <a:pt x="200025" y="333375"/>
                </a:cubicBezTo>
                <a:cubicBezTo>
                  <a:pt x="181626" y="333375"/>
                  <a:pt x="166688" y="318437"/>
                  <a:pt x="166688" y="300038"/>
                </a:cubicBezTo>
                <a:close/>
                <a:moveTo>
                  <a:pt x="116681" y="226556"/>
                </a:moveTo>
                <a:cubicBezTo>
                  <a:pt x="108555" y="235793"/>
                  <a:pt x="94526" y="236627"/>
                  <a:pt x="85288" y="228501"/>
                </a:cubicBezTo>
                <a:cubicBezTo>
                  <a:pt x="76051" y="220375"/>
                  <a:pt x="75218" y="206345"/>
                  <a:pt x="83344" y="197108"/>
                </a:cubicBezTo>
                <a:cubicBezTo>
                  <a:pt x="111820" y="164882"/>
                  <a:pt x="153561" y="144463"/>
                  <a:pt x="200025" y="144463"/>
                </a:cubicBezTo>
                <a:cubicBezTo>
                  <a:pt x="246489" y="144463"/>
                  <a:pt x="288230" y="164882"/>
                  <a:pt x="316706" y="197108"/>
                </a:cubicBezTo>
                <a:cubicBezTo>
                  <a:pt x="324832" y="206345"/>
                  <a:pt x="323929" y="220375"/>
                  <a:pt x="314762" y="228501"/>
                </a:cubicBezTo>
                <a:cubicBezTo>
                  <a:pt x="305594" y="236627"/>
                  <a:pt x="291495" y="235724"/>
                  <a:pt x="283369" y="226556"/>
                </a:cubicBezTo>
                <a:cubicBezTo>
                  <a:pt x="262950" y="203428"/>
                  <a:pt x="233224" y="188913"/>
                  <a:pt x="200025" y="188913"/>
                </a:cubicBezTo>
                <a:cubicBezTo>
                  <a:pt x="166826" y="188913"/>
                  <a:pt x="137100" y="203428"/>
                  <a:pt x="116681" y="22655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5397500" y="4165600"/>
            <a:ext cx="234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Connected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89500" y="4635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internet access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55000" y="3937000"/>
            <a:ext cx="3365500" cy="1270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9" name="Shape 17"/>
          <p:cNvSpPr/>
          <p:nvPr/>
        </p:nvSpPr>
        <p:spPr>
          <a:xfrm>
            <a:off x="8553450" y="419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130989"/>
                </a:moveTo>
                <a:cubicBezTo>
                  <a:pt x="0" y="58618"/>
                  <a:pt x="59730" y="0"/>
                  <a:pt x="133350" y="0"/>
                </a:cubicBezTo>
                <a:cubicBezTo>
                  <a:pt x="206970" y="0"/>
                  <a:pt x="266700" y="58618"/>
                  <a:pt x="266700" y="130989"/>
                </a:cubicBezTo>
                <a:cubicBezTo>
                  <a:pt x="266700" y="213846"/>
                  <a:pt x="183217" y="313164"/>
                  <a:pt x="148352" y="351016"/>
                </a:cubicBezTo>
                <a:cubicBezTo>
                  <a:pt x="140156" y="359906"/>
                  <a:pt x="126474" y="359906"/>
                  <a:pt x="118279" y="351016"/>
                </a:cubicBezTo>
                <a:cubicBezTo>
                  <a:pt x="83413" y="313164"/>
                  <a:pt x="-69" y="213846"/>
                  <a:pt x="-69" y="130989"/>
                </a:cubicBezTo>
                <a:close/>
                <a:moveTo>
                  <a:pt x="133350" y="177800"/>
                </a:moveTo>
                <a:cubicBezTo>
                  <a:pt x="157883" y="177800"/>
                  <a:pt x="177800" y="157883"/>
                  <a:pt x="177800" y="133350"/>
                </a:cubicBezTo>
                <a:cubicBezTo>
                  <a:pt x="177800" y="108817"/>
                  <a:pt x="157883" y="88900"/>
                  <a:pt x="133350" y="88900"/>
                </a:cubicBezTo>
                <a:cubicBezTo>
                  <a:pt x="108817" y="88900"/>
                  <a:pt x="88900" y="108817"/>
                  <a:pt x="88900" y="133350"/>
                </a:cubicBezTo>
                <a:cubicBezTo>
                  <a:pt x="88900" y="157883"/>
                  <a:pt x="108817" y="177800"/>
                  <a:pt x="133350" y="1778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9017000" y="4165600"/>
            <a:ext cx="234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Location-Aware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4635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and local services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74500" y="3937000"/>
            <a:ext cx="3365500" cy="1270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23" name="Shape 21"/>
          <p:cNvSpPr/>
          <p:nvPr/>
        </p:nvSpPr>
        <p:spPr>
          <a:xfrm>
            <a:off x="121285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2636500" y="4165600"/>
            <a:ext cx="234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Ecosystem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128500" y="4635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of applications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558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 of Mobile Communication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16000" y="6096000"/>
            <a:ext cx="1422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Voice Calls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Traditional and VoIP calling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SMS/MMS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Text and multimedia messaging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Mobile Internet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Web browsing and cloud access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Mobile Apps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Dedicated application experiences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Mobile Payments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Digital wallets and transactions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Communication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 of Mobile Networks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2032000"/>
            <a:ext cx="2540000" cy="11430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032000"/>
            <a:ext cx="25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 voice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9500" y="2540000"/>
            <a:ext cx="254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937000" y="2032000"/>
            <a:ext cx="2540000" cy="114300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10" name="Text 8"/>
          <p:cNvSpPr/>
          <p:nvPr/>
        </p:nvSpPr>
        <p:spPr>
          <a:xfrm>
            <a:off x="3937000" y="2032000"/>
            <a:ext cx="25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+ SMS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40500" y="2540000"/>
            <a:ext cx="254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858000" y="2032000"/>
            <a:ext cx="2540000" cy="1143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032000"/>
            <a:ext cx="25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internet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461500" y="2540000"/>
            <a:ext cx="254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9779000" y="2032000"/>
            <a:ext cx="2540000" cy="1143000"/>
          </a:xfrm>
          <a:prstGeom prst="rect">
            <a:avLst/>
          </a:prstGeom>
          <a:solidFill>
            <a:srgbClr val="0A5C5F"/>
          </a:solidFill>
          <a:ln/>
        </p:spPr>
      </p:sp>
      <p:sp>
        <p:nvSpPr>
          <p:cNvPr id="16" name="Text 14"/>
          <p:cNvSpPr/>
          <p:nvPr/>
        </p:nvSpPr>
        <p:spPr>
          <a:xfrm>
            <a:off x="9779000" y="2032000"/>
            <a:ext cx="25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4G/LTE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High-speed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382500" y="2540000"/>
            <a:ext cx="254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2700000" y="2032000"/>
            <a:ext cx="2540000" cy="1143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0" y="2032000"/>
            <a:ext cx="25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Ultra-fast + IoT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3492500"/>
            <a:ext cx="14224000" cy="1651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21" name="Text 19"/>
          <p:cNvSpPr/>
          <p:nvPr/>
        </p:nvSpPr>
        <p:spPr>
          <a:xfrm>
            <a:off x="1397000" y="361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5G Key Capabilities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97000" y="40386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Speed: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Up to 10 Gbps |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Latency: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Ultra-low (1ms) |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Density: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1M devices/km² |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Cases: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Autonomous vehicles, smart cities, remote surgery, AR/VR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6000" y="546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Mobile Technologies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5969000"/>
          <a:ext cx="14224000" cy="2159000"/>
        </p:xfrm>
        <a:graphic>
          <a:graphicData uri="http://schemas.openxmlformats.org/drawingml/2006/table">
            <a:tbl>
              <a:tblPr/>
              <a:tblGrid>
                <a:gridCol w="2844800"/>
                <a:gridCol w="5689600"/>
                <a:gridCol w="5689600"/>
              </a:tblGrid>
              <a:tr h="47268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Applications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5621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Cellular Networks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Wide-area wireless communication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Voice, data, messaging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1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Wi-Fi / Bluetooth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Local wireless connectivity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Internet, file sharing, peripherals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</a:tr>
              <a:tr h="5621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NFC / GPS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Near-field + location services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Payments, navigation, tracking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406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Communication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Mobile communication has transformed industries through a vast ecosystem of applications serving billions of users worldwide.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16000" y="2413000"/>
            <a:ext cx="4445000" cy="1651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7" name="Shape 5"/>
          <p:cNvSpPr/>
          <p:nvPr/>
        </p:nvSpPr>
        <p:spPr>
          <a:xfrm>
            <a:off x="1311275" y="2667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00013"/>
                </a:moveTo>
                <a:cubicBezTo>
                  <a:pt x="266700" y="167521"/>
                  <a:pt x="206970" y="222250"/>
                  <a:pt x="133350" y="222250"/>
                </a:cubicBezTo>
                <a:cubicBezTo>
                  <a:pt x="114806" y="222250"/>
                  <a:pt x="97165" y="218777"/>
                  <a:pt x="81121" y="212527"/>
                </a:cubicBezTo>
                <a:lnTo>
                  <a:pt x="24448" y="242530"/>
                </a:lnTo>
                <a:cubicBezTo>
                  <a:pt x="17988" y="245934"/>
                  <a:pt x="10071" y="244753"/>
                  <a:pt x="4862" y="239613"/>
                </a:cubicBezTo>
                <a:cubicBezTo>
                  <a:pt x="-347" y="234474"/>
                  <a:pt x="-1528" y="226487"/>
                  <a:pt x="1945" y="220028"/>
                </a:cubicBezTo>
                <a:lnTo>
                  <a:pt x="26670" y="173355"/>
                </a:lnTo>
                <a:cubicBezTo>
                  <a:pt x="9932" y="152936"/>
                  <a:pt x="0" y="127516"/>
                  <a:pt x="0" y="100013"/>
                </a:cubicBezTo>
                <a:cubicBezTo>
                  <a:pt x="0" y="32504"/>
                  <a:pt x="59730" y="-22225"/>
                  <a:pt x="133350" y="-22225"/>
                </a:cubicBezTo>
                <a:cubicBezTo>
                  <a:pt x="206970" y="-22225"/>
                  <a:pt x="266700" y="32504"/>
                  <a:pt x="266700" y="100013"/>
                </a:cubicBezTo>
                <a:close/>
                <a:moveTo>
                  <a:pt x="266700" y="355600"/>
                </a:moveTo>
                <a:cubicBezTo>
                  <a:pt x="201345" y="355600"/>
                  <a:pt x="146963" y="312470"/>
                  <a:pt x="135572" y="255587"/>
                </a:cubicBezTo>
                <a:cubicBezTo>
                  <a:pt x="218916" y="254546"/>
                  <a:pt x="291356" y="195233"/>
                  <a:pt x="299343" y="114806"/>
                </a:cubicBezTo>
                <a:cubicBezTo>
                  <a:pt x="357197" y="128141"/>
                  <a:pt x="400050" y="176133"/>
                  <a:pt x="400050" y="233363"/>
                </a:cubicBezTo>
                <a:cubicBezTo>
                  <a:pt x="400050" y="260866"/>
                  <a:pt x="390118" y="286286"/>
                  <a:pt x="373380" y="306705"/>
                </a:cubicBezTo>
                <a:lnTo>
                  <a:pt x="398105" y="353378"/>
                </a:lnTo>
                <a:cubicBezTo>
                  <a:pt x="401509" y="359837"/>
                  <a:pt x="400328" y="367754"/>
                  <a:pt x="395188" y="372963"/>
                </a:cubicBezTo>
                <a:cubicBezTo>
                  <a:pt x="390049" y="378172"/>
                  <a:pt x="382062" y="379353"/>
                  <a:pt x="375602" y="375880"/>
                </a:cubicBezTo>
                <a:lnTo>
                  <a:pt x="318929" y="345877"/>
                </a:lnTo>
                <a:cubicBezTo>
                  <a:pt x="302885" y="352127"/>
                  <a:pt x="285244" y="355600"/>
                  <a:pt x="266700" y="3556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841500" y="26416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Messaging Apps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3111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WhatsApp, Messenger, WeChat, Telegram — billions of users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413000"/>
            <a:ext cx="4445000" cy="1651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1" name="Shape 9"/>
          <p:cNvSpPr/>
          <p:nvPr/>
        </p:nvSpPr>
        <p:spPr>
          <a:xfrm>
            <a:off x="6032500" y="266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6700" y="133350"/>
                </a:moveTo>
                <a:cubicBezTo>
                  <a:pt x="303510" y="133350"/>
                  <a:pt x="333375" y="103485"/>
                  <a:pt x="333375" y="66675"/>
                </a:cubicBezTo>
                <a:cubicBezTo>
                  <a:pt x="333375" y="29865"/>
                  <a:pt x="303510" y="0"/>
                  <a:pt x="266700" y="0"/>
                </a:cubicBezTo>
                <a:cubicBezTo>
                  <a:pt x="229890" y="0"/>
                  <a:pt x="200025" y="29865"/>
                  <a:pt x="200025" y="66675"/>
                </a:cubicBezTo>
                <a:cubicBezTo>
                  <a:pt x="200025" y="70425"/>
                  <a:pt x="200372" y="74176"/>
                  <a:pt x="200928" y="77788"/>
                </a:cubicBezTo>
                <a:lnTo>
                  <a:pt x="110847" y="127863"/>
                </a:lnTo>
                <a:cubicBezTo>
                  <a:pt x="99110" y="117445"/>
                  <a:pt x="83622" y="111125"/>
                  <a:pt x="66675" y="111125"/>
                </a:cubicBezTo>
                <a:cubicBezTo>
                  <a:pt x="29865" y="111125"/>
                  <a:pt x="0" y="140990"/>
                  <a:pt x="0" y="177800"/>
                </a:cubicBezTo>
                <a:cubicBezTo>
                  <a:pt x="0" y="214610"/>
                  <a:pt x="29865" y="244475"/>
                  <a:pt x="66675" y="244475"/>
                </a:cubicBezTo>
                <a:cubicBezTo>
                  <a:pt x="83622" y="244475"/>
                  <a:pt x="99040" y="238155"/>
                  <a:pt x="110847" y="227737"/>
                </a:cubicBezTo>
                <a:lnTo>
                  <a:pt x="200928" y="277813"/>
                </a:lnTo>
                <a:cubicBezTo>
                  <a:pt x="200303" y="281424"/>
                  <a:pt x="200025" y="285105"/>
                  <a:pt x="200025" y="288925"/>
                </a:cubicBezTo>
                <a:cubicBezTo>
                  <a:pt x="200025" y="325735"/>
                  <a:pt x="229890" y="355600"/>
                  <a:pt x="266700" y="355600"/>
                </a:cubicBezTo>
                <a:cubicBezTo>
                  <a:pt x="303510" y="355600"/>
                  <a:pt x="333375" y="325735"/>
                  <a:pt x="333375" y="288925"/>
                </a:cubicBezTo>
                <a:cubicBezTo>
                  <a:pt x="333375" y="252115"/>
                  <a:pt x="303510" y="222250"/>
                  <a:pt x="266700" y="222250"/>
                </a:cubicBezTo>
                <a:cubicBezTo>
                  <a:pt x="249753" y="222250"/>
                  <a:pt x="234335" y="228570"/>
                  <a:pt x="222528" y="238988"/>
                </a:cubicBezTo>
                <a:lnTo>
                  <a:pt x="132447" y="188913"/>
                </a:lnTo>
                <a:cubicBezTo>
                  <a:pt x="133072" y="185301"/>
                  <a:pt x="133350" y="181620"/>
                  <a:pt x="133350" y="177800"/>
                </a:cubicBezTo>
                <a:cubicBezTo>
                  <a:pt x="133350" y="173980"/>
                  <a:pt x="133003" y="170299"/>
                  <a:pt x="132447" y="166688"/>
                </a:cubicBezTo>
                <a:lnTo>
                  <a:pt x="222528" y="116612"/>
                </a:lnTo>
                <a:cubicBezTo>
                  <a:pt x="234265" y="127030"/>
                  <a:pt x="249753" y="133350"/>
                  <a:pt x="266700" y="1333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40500" y="26416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3111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Instagram, TikTok, Twitter/X, LinkedIn — real-time content sharing and community building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14000" y="2413000"/>
            <a:ext cx="4826000" cy="1651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87050" y="2667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6669" y="-11112"/>
                </a:moveTo>
                <a:cubicBezTo>
                  <a:pt x="7431" y="-11112"/>
                  <a:pt x="0" y="-3681"/>
                  <a:pt x="0" y="5556"/>
                </a:cubicBezTo>
                <a:cubicBezTo>
                  <a:pt x="0" y="14794"/>
                  <a:pt x="7431" y="22225"/>
                  <a:pt x="16669" y="22225"/>
                </a:cubicBezTo>
                <a:lnTo>
                  <a:pt x="48131" y="22225"/>
                </a:lnTo>
                <a:cubicBezTo>
                  <a:pt x="50840" y="22225"/>
                  <a:pt x="53132" y="24170"/>
                  <a:pt x="53618" y="26809"/>
                </a:cubicBezTo>
                <a:lnTo>
                  <a:pt x="89803" y="225653"/>
                </a:lnTo>
                <a:cubicBezTo>
                  <a:pt x="94109" y="249406"/>
                  <a:pt x="114806" y="266700"/>
                  <a:pt x="138976" y="266700"/>
                </a:cubicBezTo>
                <a:lnTo>
                  <a:pt x="316706" y="266700"/>
                </a:lnTo>
                <a:cubicBezTo>
                  <a:pt x="325944" y="266700"/>
                  <a:pt x="333375" y="259269"/>
                  <a:pt x="333375" y="250031"/>
                </a:cubicBezTo>
                <a:cubicBezTo>
                  <a:pt x="333375" y="240794"/>
                  <a:pt x="325944" y="233363"/>
                  <a:pt x="316706" y="233363"/>
                </a:cubicBezTo>
                <a:lnTo>
                  <a:pt x="138976" y="233363"/>
                </a:lnTo>
                <a:cubicBezTo>
                  <a:pt x="130919" y="233363"/>
                  <a:pt x="124043" y="227598"/>
                  <a:pt x="122585" y="219680"/>
                </a:cubicBezTo>
                <a:lnTo>
                  <a:pt x="119043" y="200025"/>
                </a:lnTo>
                <a:lnTo>
                  <a:pt x="329902" y="200025"/>
                </a:lnTo>
                <a:cubicBezTo>
                  <a:pt x="351294" y="200025"/>
                  <a:pt x="369630" y="184815"/>
                  <a:pt x="373588" y="163770"/>
                </a:cubicBezTo>
                <a:lnTo>
                  <a:pt x="395119" y="48548"/>
                </a:lnTo>
                <a:cubicBezTo>
                  <a:pt x="397689" y="34865"/>
                  <a:pt x="387201" y="22225"/>
                  <a:pt x="373241" y="22225"/>
                </a:cubicBezTo>
                <a:lnTo>
                  <a:pt x="86608" y="22225"/>
                </a:lnTo>
                <a:lnTo>
                  <a:pt x="86330" y="20836"/>
                </a:lnTo>
                <a:cubicBezTo>
                  <a:pt x="82996" y="2361"/>
                  <a:pt x="66883" y="-11112"/>
                  <a:pt x="48062" y="-11112"/>
                </a:cubicBezTo>
                <a:lnTo>
                  <a:pt x="16669" y="-11112"/>
                </a:lnTo>
                <a:close/>
                <a:moveTo>
                  <a:pt x="144463" y="355600"/>
                </a:moveTo>
                <a:cubicBezTo>
                  <a:pt x="162862" y="355600"/>
                  <a:pt x="177800" y="340662"/>
                  <a:pt x="177800" y="322263"/>
                </a:cubicBezTo>
                <a:cubicBezTo>
                  <a:pt x="177800" y="303863"/>
                  <a:pt x="162862" y="288925"/>
                  <a:pt x="144463" y="288925"/>
                </a:cubicBezTo>
                <a:cubicBezTo>
                  <a:pt x="126063" y="288925"/>
                  <a:pt x="111125" y="303863"/>
                  <a:pt x="111125" y="322263"/>
                </a:cubicBezTo>
                <a:cubicBezTo>
                  <a:pt x="111125" y="340662"/>
                  <a:pt x="126063" y="355600"/>
                  <a:pt x="144463" y="355600"/>
                </a:cubicBezTo>
                <a:close/>
                <a:moveTo>
                  <a:pt x="300038" y="355600"/>
                </a:moveTo>
                <a:cubicBezTo>
                  <a:pt x="318437" y="355600"/>
                  <a:pt x="333375" y="340662"/>
                  <a:pt x="333375" y="322263"/>
                </a:cubicBezTo>
                <a:cubicBezTo>
                  <a:pt x="333375" y="303863"/>
                  <a:pt x="318437" y="288925"/>
                  <a:pt x="300038" y="288925"/>
                </a:cubicBezTo>
                <a:cubicBezTo>
                  <a:pt x="281638" y="288925"/>
                  <a:pt x="266700" y="303863"/>
                  <a:pt x="266700" y="322263"/>
                </a:cubicBezTo>
                <a:cubicBezTo>
                  <a:pt x="266700" y="340662"/>
                  <a:pt x="281638" y="355600"/>
                  <a:pt x="300038" y="3556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11239500" y="2641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Commerce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31500" y="3111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Shopping, banking, payments via Apple Pay, Google Pay, and mobile wallets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4318000"/>
            <a:ext cx="4445000" cy="1651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19" name="Shape 17"/>
          <p:cNvSpPr/>
          <p:nvPr/>
        </p:nvSpPr>
        <p:spPr>
          <a:xfrm>
            <a:off x="13335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906" y="33337"/>
                </a:moveTo>
                <a:lnTo>
                  <a:pt x="216694" y="33337"/>
                </a:lnTo>
                <a:cubicBezTo>
                  <a:pt x="219750" y="33337"/>
                  <a:pt x="222250" y="35838"/>
                  <a:pt x="222250" y="38894"/>
                </a:cubicBezTo>
                <a:lnTo>
                  <a:pt x="222250" y="66675"/>
                </a:lnTo>
                <a:lnTo>
                  <a:pt x="133350" y="66675"/>
                </a:lnTo>
                <a:lnTo>
                  <a:pt x="133350" y="38894"/>
                </a:lnTo>
                <a:cubicBezTo>
                  <a:pt x="133350" y="35838"/>
                  <a:pt x="135850" y="33337"/>
                  <a:pt x="138906" y="33337"/>
                </a:cubicBezTo>
                <a:close/>
                <a:moveTo>
                  <a:pt x="100013" y="38894"/>
                </a:moveTo>
                <a:lnTo>
                  <a:pt x="100013" y="66675"/>
                </a:lnTo>
                <a:lnTo>
                  <a:pt x="44450" y="66675"/>
                </a:lnTo>
                <a:cubicBezTo>
                  <a:pt x="19933" y="66675"/>
                  <a:pt x="0" y="86608"/>
                  <a:pt x="0" y="111125"/>
                </a:cubicBezTo>
                <a:lnTo>
                  <a:pt x="0" y="177800"/>
                </a:lnTo>
                <a:lnTo>
                  <a:pt x="355600" y="177800"/>
                </a:lnTo>
                <a:lnTo>
                  <a:pt x="355600" y="111125"/>
                </a:lnTo>
                <a:cubicBezTo>
                  <a:pt x="355600" y="86608"/>
                  <a:pt x="335667" y="66675"/>
                  <a:pt x="311150" y="66675"/>
                </a:cubicBezTo>
                <a:lnTo>
                  <a:pt x="255587" y="66675"/>
                </a:lnTo>
                <a:lnTo>
                  <a:pt x="255587" y="38894"/>
                </a:lnTo>
                <a:cubicBezTo>
                  <a:pt x="255587" y="17433"/>
                  <a:pt x="238155" y="0"/>
                  <a:pt x="216694" y="0"/>
                </a:cubicBezTo>
                <a:lnTo>
                  <a:pt x="138906" y="0"/>
                </a:lnTo>
                <a:cubicBezTo>
                  <a:pt x="117445" y="0"/>
                  <a:pt x="100013" y="17433"/>
                  <a:pt x="100013" y="38894"/>
                </a:cubicBezTo>
                <a:close/>
                <a:moveTo>
                  <a:pt x="355600" y="211138"/>
                </a:moveTo>
                <a:lnTo>
                  <a:pt x="222250" y="211138"/>
                </a:lnTo>
                <a:lnTo>
                  <a:pt x="222250" y="222250"/>
                </a:lnTo>
                <a:cubicBezTo>
                  <a:pt x="222250" y="234543"/>
                  <a:pt x="212318" y="244475"/>
                  <a:pt x="200025" y="244475"/>
                </a:cubicBezTo>
                <a:lnTo>
                  <a:pt x="155575" y="244475"/>
                </a:lnTo>
                <a:cubicBezTo>
                  <a:pt x="143282" y="244475"/>
                  <a:pt x="133350" y="234543"/>
                  <a:pt x="133350" y="222250"/>
                </a:cubicBezTo>
                <a:lnTo>
                  <a:pt x="133350" y="211138"/>
                </a:lnTo>
                <a:lnTo>
                  <a:pt x="0" y="211138"/>
                </a:ln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311150" y="333375"/>
                </a:lnTo>
                <a:cubicBezTo>
                  <a:pt x="335667" y="333375"/>
                  <a:pt x="355600" y="313442"/>
                  <a:pt x="355600" y="288925"/>
                </a:cubicBezTo>
                <a:lnTo>
                  <a:pt x="355600" y="2111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841500" y="45466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5016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Email, video conferencing (Zoom, Teams), cloud collaboration, project management tools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4318000"/>
            <a:ext cx="4445000" cy="1651000"/>
          </a:xfrm>
          <a:prstGeom prst="rect">
            <a:avLst/>
          </a:prstGeom>
          <a:solidFill>
            <a:srgbClr val="E6F3F3"/>
          </a:solidFill>
          <a:ln/>
        </p:spPr>
      </p:sp>
      <p:sp>
        <p:nvSpPr>
          <p:cNvPr id="23" name="Shape 21"/>
          <p:cNvSpPr/>
          <p:nvPr/>
        </p:nvSpPr>
        <p:spPr>
          <a:xfrm>
            <a:off x="5988050" y="4572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400050" y="33337"/>
                </a:moveTo>
                <a:cubicBezTo>
                  <a:pt x="400050" y="25628"/>
                  <a:pt x="396091" y="18475"/>
                  <a:pt x="389493" y="14446"/>
                </a:cubicBezTo>
                <a:cubicBezTo>
                  <a:pt x="382895" y="10418"/>
                  <a:pt x="374769" y="10001"/>
                  <a:pt x="367893" y="13474"/>
                </a:cubicBezTo>
                <a:lnTo>
                  <a:pt x="287189" y="53826"/>
                </a:lnTo>
                <a:lnTo>
                  <a:pt x="162590" y="12224"/>
                </a:lnTo>
                <a:cubicBezTo>
                  <a:pt x="156964" y="10349"/>
                  <a:pt x="150922" y="10765"/>
                  <a:pt x="145643" y="13404"/>
                </a:cubicBezTo>
                <a:lnTo>
                  <a:pt x="56743" y="57854"/>
                </a:lnTo>
                <a:cubicBezTo>
                  <a:pt x="49173" y="61674"/>
                  <a:pt x="44450" y="69384"/>
                  <a:pt x="44450" y="77788"/>
                </a:cubicBezTo>
                <a:lnTo>
                  <a:pt x="44450" y="322263"/>
                </a:lnTo>
                <a:cubicBezTo>
                  <a:pt x="44450" y="329972"/>
                  <a:pt x="48409" y="337125"/>
                  <a:pt x="55007" y="341154"/>
                </a:cubicBezTo>
                <a:cubicBezTo>
                  <a:pt x="61605" y="345182"/>
                  <a:pt x="69731" y="345599"/>
                  <a:pt x="76607" y="342126"/>
                </a:cubicBezTo>
                <a:lnTo>
                  <a:pt x="157242" y="301774"/>
                </a:lnTo>
                <a:lnTo>
                  <a:pt x="277604" y="341918"/>
                </a:lnTo>
                <a:cubicBezTo>
                  <a:pt x="274618" y="337473"/>
                  <a:pt x="271701" y="332819"/>
                  <a:pt x="268853" y="328097"/>
                </a:cubicBezTo>
                <a:cubicBezTo>
                  <a:pt x="261213" y="315387"/>
                  <a:pt x="253643" y="300801"/>
                  <a:pt x="248017" y="285175"/>
                </a:cubicBezTo>
                <a:lnTo>
                  <a:pt x="177731" y="261769"/>
                </a:lnTo>
                <a:lnTo>
                  <a:pt x="177731" y="64175"/>
                </a:lnTo>
                <a:lnTo>
                  <a:pt x="266631" y="93831"/>
                </a:lnTo>
                <a:lnTo>
                  <a:pt x="266631" y="162798"/>
                </a:lnTo>
                <a:cubicBezTo>
                  <a:pt x="288161" y="137934"/>
                  <a:pt x="320109" y="122238"/>
                  <a:pt x="355531" y="122238"/>
                </a:cubicBezTo>
                <a:cubicBezTo>
                  <a:pt x="371227" y="122238"/>
                  <a:pt x="386229" y="125293"/>
                  <a:pt x="399981" y="130919"/>
                </a:cubicBezTo>
                <a:lnTo>
                  <a:pt x="400050" y="33337"/>
                </a:lnTo>
                <a:close/>
                <a:moveTo>
                  <a:pt x="355600" y="155575"/>
                </a:moveTo>
                <a:cubicBezTo>
                  <a:pt x="309553" y="155575"/>
                  <a:pt x="272256" y="192246"/>
                  <a:pt x="272256" y="237460"/>
                </a:cubicBezTo>
                <a:cubicBezTo>
                  <a:pt x="272256" y="285313"/>
                  <a:pt x="316776" y="341918"/>
                  <a:pt x="340737" y="368935"/>
                </a:cubicBezTo>
                <a:cubicBezTo>
                  <a:pt x="348794" y="377964"/>
                  <a:pt x="362476" y="377964"/>
                  <a:pt x="370532" y="368935"/>
                </a:cubicBezTo>
                <a:cubicBezTo>
                  <a:pt x="394494" y="341918"/>
                  <a:pt x="439013" y="285313"/>
                  <a:pt x="439013" y="237460"/>
                </a:cubicBezTo>
                <a:cubicBezTo>
                  <a:pt x="439013" y="192246"/>
                  <a:pt x="401717" y="155575"/>
                  <a:pt x="355669" y="155575"/>
                </a:cubicBezTo>
                <a:close/>
                <a:moveTo>
                  <a:pt x="327819" y="238919"/>
                </a:moveTo>
                <a:cubicBezTo>
                  <a:pt x="327819" y="223586"/>
                  <a:pt x="340267" y="211138"/>
                  <a:pt x="355600" y="211138"/>
                </a:cubicBezTo>
                <a:cubicBezTo>
                  <a:pt x="370933" y="211138"/>
                  <a:pt x="383381" y="223586"/>
                  <a:pt x="383381" y="238919"/>
                </a:cubicBezTo>
                <a:cubicBezTo>
                  <a:pt x="383381" y="254252"/>
                  <a:pt x="370933" y="266700"/>
                  <a:pt x="355600" y="266700"/>
                </a:cubicBezTo>
                <a:cubicBezTo>
                  <a:pt x="340267" y="266700"/>
                  <a:pt x="327819" y="254252"/>
                  <a:pt x="327819" y="238919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6540500" y="45466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 Services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2500" y="5016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Navigation, ride-sharing, food delivery, local search, and geofencing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414000" y="4318000"/>
            <a:ext cx="4826000" cy="165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Shape 25"/>
          <p:cNvSpPr/>
          <p:nvPr/>
        </p:nvSpPr>
        <p:spPr>
          <a:xfrm>
            <a:off x="107315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11239500" y="4546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Impact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31500" y="5016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Democratized information access and transformed every industry worldwide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6000" y="635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Operating Systems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016000" y="6858000"/>
            <a:ext cx="4445000" cy="101600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6858000"/>
            <a:ext cx="4445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Android (Google)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15000" y="6858000"/>
            <a:ext cx="4445000" cy="101600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6858000"/>
            <a:ext cx="4445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iOS (Apple)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414000" y="6858000"/>
            <a:ext cx="4826000" cy="1016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6" name="Text 34"/>
          <p:cNvSpPr/>
          <p:nvPr/>
        </p:nvSpPr>
        <p:spPr>
          <a:xfrm>
            <a:off x="10414000" y="6858000"/>
            <a:ext cx="482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HarmonyOS (Huawei)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2000" y="867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Week 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970000" y="86741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 / 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252fwrw22tl6/mnt/agents/output/ict-week4/images/5_Abstract_Communication_Technology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A1A">
                  <a:alpha val="87000"/>
                </a:srgbClr>
              </a:gs>
              <a:gs pos="60000">
                <a:srgbClr val="0A1A1A">
                  <a:alpha val="80000"/>
                </a:srgbClr>
              </a:gs>
              <a:gs pos="100000">
                <a:srgbClr val="0A1A1A">
                  <a:alpha val="67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1270000"/>
            <a:ext cx="2540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2540000" y="1651000"/>
            <a:ext cx="1117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223000" y="2540000"/>
            <a:ext cx="38100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540000" y="304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6762" y="142935"/>
                </a:moveTo>
                <a:cubicBezTo>
                  <a:pt x="276285" y="142220"/>
                  <a:pt x="267176" y="150078"/>
                  <a:pt x="266402" y="160615"/>
                </a:cubicBezTo>
                <a:cubicBezTo>
                  <a:pt x="264438" y="188595"/>
                  <a:pt x="252353" y="213836"/>
                  <a:pt x="233779" y="232648"/>
                </a:cubicBezTo>
                <a:lnTo>
                  <a:pt x="214908" y="213717"/>
                </a:lnTo>
                <a:cubicBezTo>
                  <a:pt x="210800" y="209610"/>
                  <a:pt x="204668" y="208419"/>
                  <a:pt x="199311" y="210622"/>
                </a:cubicBezTo>
                <a:cubicBezTo>
                  <a:pt x="193953" y="212824"/>
                  <a:pt x="190500" y="218063"/>
                  <a:pt x="190500" y="223838"/>
                </a:cubicBezTo>
                <a:lnTo>
                  <a:pt x="190500" y="290513"/>
                </a:lnTo>
                <a:cubicBezTo>
                  <a:pt x="190500" y="298430"/>
                  <a:pt x="196870" y="304800"/>
                  <a:pt x="204787" y="304800"/>
                </a:cubicBezTo>
                <a:lnTo>
                  <a:pt x="271463" y="304800"/>
                </a:lnTo>
                <a:cubicBezTo>
                  <a:pt x="277237" y="304800"/>
                  <a:pt x="282476" y="301347"/>
                  <a:pt x="284678" y="295989"/>
                </a:cubicBezTo>
                <a:cubicBezTo>
                  <a:pt x="286881" y="290632"/>
                  <a:pt x="285690" y="284500"/>
                  <a:pt x="281583" y="280392"/>
                </a:cubicBezTo>
                <a:lnTo>
                  <a:pt x="260747" y="259556"/>
                </a:lnTo>
                <a:cubicBezTo>
                  <a:pt x="285571" y="234434"/>
                  <a:pt x="301764" y="200739"/>
                  <a:pt x="304443" y="163235"/>
                </a:cubicBezTo>
                <a:cubicBezTo>
                  <a:pt x="305157" y="152757"/>
                  <a:pt x="297299" y="143649"/>
                  <a:pt x="286762" y="142875"/>
                </a:cubicBezTo>
                <a:close/>
                <a:moveTo>
                  <a:pt x="23217" y="24408"/>
                </a:moveTo>
                <a:lnTo>
                  <a:pt x="44053" y="45244"/>
                </a:lnTo>
                <a:cubicBezTo>
                  <a:pt x="19229" y="70366"/>
                  <a:pt x="3036" y="104061"/>
                  <a:pt x="357" y="141565"/>
                </a:cubicBezTo>
                <a:cubicBezTo>
                  <a:pt x="-357" y="152043"/>
                  <a:pt x="7501" y="161151"/>
                  <a:pt x="18038" y="161925"/>
                </a:cubicBezTo>
                <a:cubicBezTo>
                  <a:pt x="28575" y="162699"/>
                  <a:pt x="37624" y="154781"/>
                  <a:pt x="38398" y="144244"/>
                </a:cubicBezTo>
                <a:cubicBezTo>
                  <a:pt x="40362" y="116265"/>
                  <a:pt x="52447" y="91023"/>
                  <a:pt x="71021" y="72211"/>
                </a:cubicBezTo>
                <a:lnTo>
                  <a:pt x="89892" y="91083"/>
                </a:lnTo>
                <a:cubicBezTo>
                  <a:pt x="94000" y="95190"/>
                  <a:pt x="100132" y="96381"/>
                  <a:pt x="105489" y="94178"/>
                </a:cubicBezTo>
                <a:cubicBezTo>
                  <a:pt x="110847" y="91976"/>
                  <a:pt x="114300" y="86737"/>
                  <a:pt x="114300" y="80962"/>
                </a:cubicBezTo>
                <a:lnTo>
                  <a:pt x="114300" y="14288"/>
                </a:lnTo>
                <a:cubicBezTo>
                  <a:pt x="114300" y="6370"/>
                  <a:pt x="107930" y="0"/>
                  <a:pt x="100013" y="0"/>
                </a:cubicBezTo>
                <a:lnTo>
                  <a:pt x="33338" y="0"/>
                </a:lnTo>
                <a:cubicBezTo>
                  <a:pt x="27563" y="0"/>
                  <a:pt x="22324" y="3453"/>
                  <a:pt x="20122" y="8811"/>
                </a:cubicBezTo>
                <a:cubicBezTo>
                  <a:pt x="17919" y="14168"/>
                  <a:pt x="19169" y="20300"/>
                  <a:pt x="23217" y="24408"/>
                </a:cubicBezTo>
                <a:close/>
                <a:moveTo>
                  <a:pt x="142875" y="18038"/>
                </a:moveTo>
                <a:cubicBezTo>
                  <a:pt x="142161" y="28515"/>
                  <a:pt x="150019" y="37624"/>
                  <a:pt x="160556" y="38398"/>
                </a:cubicBezTo>
                <a:cubicBezTo>
                  <a:pt x="188535" y="40362"/>
                  <a:pt x="213777" y="52447"/>
                  <a:pt x="232589" y="71021"/>
                </a:cubicBezTo>
                <a:lnTo>
                  <a:pt x="213717" y="89892"/>
                </a:lnTo>
                <a:cubicBezTo>
                  <a:pt x="209610" y="94000"/>
                  <a:pt x="208419" y="100132"/>
                  <a:pt x="210622" y="105489"/>
                </a:cubicBezTo>
                <a:cubicBezTo>
                  <a:pt x="212824" y="110847"/>
                  <a:pt x="218063" y="114300"/>
                  <a:pt x="223838" y="114300"/>
                </a:cubicBez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33338"/>
                </a:lnTo>
                <a:cubicBezTo>
                  <a:pt x="304800" y="27563"/>
                  <a:pt x="301347" y="22324"/>
                  <a:pt x="295989" y="20122"/>
                </a:cubicBezTo>
                <a:cubicBezTo>
                  <a:pt x="290632" y="17919"/>
                  <a:pt x="284500" y="19169"/>
                  <a:pt x="280392" y="23217"/>
                </a:cubicBezTo>
                <a:lnTo>
                  <a:pt x="259556" y="44053"/>
                </a:lnTo>
                <a:cubicBezTo>
                  <a:pt x="234434" y="19229"/>
                  <a:pt x="200739" y="3036"/>
                  <a:pt x="163235" y="357"/>
                </a:cubicBezTo>
                <a:cubicBezTo>
                  <a:pt x="152757" y="-357"/>
                  <a:pt x="143649" y="7501"/>
                  <a:pt x="142875" y="18038"/>
                </a:cubicBezTo>
                <a:close/>
                <a:moveTo>
                  <a:pt x="24408" y="281583"/>
                </a:moveTo>
                <a:lnTo>
                  <a:pt x="45244" y="260747"/>
                </a:lnTo>
                <a:cubicBezTo>
                  <a:pt x="70366" y="285571"/>
                  <a:pt x="104061" y="301764"/>
                  <a:pt x="141565" y="304443"/>
                </a:cubicBezTo>
                <a:cubicBezTo>
                  <a:pt x="152043" y="305157"/>
                  <a:pt x="161151" y="297299"/>
                  <a:pt x="161925" y="286762"/>
                </a:cubicBezTo>
                <a:cubicBezTo>
                  <a:pt x="162699" y="276225"/>
                  <a:pt x="154781" y="267176"/>
                  <a:pt x="144244" y="266402"/>
                </a:cubicBezTo>
                <a:cubicBezTo>
                  <a:pt x="116265" y="264438"/>
                  <a:pt x="91023" y="252353"/>
                  <a:pt x="72211" y="233779"/>
                </a:cubicBezTo>
                <a:lnTo>
                  <a:pt x="91083" y="214908"/>
                </a:lnTo>
                <a:cubicBezTo>
                  <a:pt x="95190" y="210800"/>
                  <a:pt x="96381" y="204668"/>
                  <a:pt x="94178" y="199311"/>
                </a:cubicBezTo>
                <a:cubicBezTo>
                  <a:pt x="91976" y="193953"/>
                  <a:pt x="86737" y="190500"/>
                  <a:pt x="80962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71463"/>
                </a:lnTo>
                <a:cubicBezTo>
                  <a:pt x="0" y="277237"/>
                  <a:pt x="3453" y="282476"/>
                  <a:pt x="8811" y="284678"/>
                </a:cubicBezTo>
                <a:cubicBezTo>
                  <a:pt x="14168" y="286881"/>
                  <a:pt x="20300" y="285631"/>
                  <a:pt x="24408" y="28158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2984500"/>
            <a:ext cx="1066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Systems Life Cycle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a structured, 7-phase approach to developing quality ICT systems — from Analysis through Evaluation.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20950" y="4064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2328" y="6846"/>
                </a:moveTo>
                <a:cubicBezTo>
                  <a:pt x="45601" y="2738"/>
                  <a:pt x="36790" y="4941"/>
                  <a:pt x="32683" y="11668"/>
                </a:cubicBezTo>
                <a:cubicBezTo>
                  <a:pt x="17919" y="36076"/>
                  <a:pt x="9465" y="64710"/>
                  <a:pt x="9465" y="95250"/>
                </a:cubicBezTo>
                <a:cubicBezTo>
                  <a:pt x="9465" y="125790"/>
                  <a:pt x="17919" y="154424"/>
                  <a:pt x="32683" y="178832"/>
                </a:cubicBezTo>
                <a:cubicBezTo>
                  <a:pt x="36790" y="185559"/>
                  <a:pt x="45541" y="187762"/>
                  <a:pt x="52328" y="183654"/>
                </a:cubicBezTo>
                <a:cubicBezTo>
                  <a:pt x="59115" y="179546"/>
                  <a:pt x="61258" y="170795"/>
                  <a:pt x="57150" y="164009"/>
                </a:cubicBezTo>
                <a:cubicBezTo>
                  <a:pt x="45065" y="144006"/>
                  <a:pt x="38100" y="120432"/>
                  <a:pt x="38100" y="95250"/>
                </a:cubicBezTo>
                <a:cubicBezTo>
                  <a:pt x="38100" y="70068"/>
                  <a:pt x="45065" y="46494"/>
                  <a:pt x="57210" y="26432"/>
                </a:cubicBezTo>
                <a:cubicBezTo>
                  <a:pt x="61317" y="19705"/>
                  <a:pt x="59115" y="10894"/>
                  <a:pt x="52388" y="6787"/>
                </a:cubicBezTo>
                <a:close/>
                <a:moveTo>
                  <a:pt x="290513" y="6846"/>
                </a:moveTo>
                <a:cubicBezTo>
                  <a:pt x="283785" y="10954"/>
                  <a:pt x="281583" y="19705"/>
                  <a:pt x="285690" y="26491"/>
                </a:cubicBezTo>
                <a:cubicBezTo>
                  <a:pt x="297835" y="46553"/>
                  <a:pt x="304800" y="70128"/>
                  <a:pt x="304800" y="95310"/>
                </a:cubicBezTo>
                <a:cubicBezTo>
                  <a:pt x="304800" y="120491"/>
                  <a:pt x="297835" y="144066"/>
                  <a:pt x="285690" y="164128"/>
                </a:cubicBezTo>
                <a:cubicBezTo>
                  <a:pt x="281583" y="170855"/>
                  <a:pt x="283785" y="179665"/>
                  <a:pt x="290513" y="183773"/>
                </a:cubicBezTo>
                <a:cubicBezTo>
                  <a:pt x="297240" y="187881"/>
                  <a:pt x="306050" y="185678"/>
                  <a:pt x="310158" y="178951"/>
                </a:cubicBezTo>
                <a:cubicBezTo>
                  <a:pt x="324922" y="154543"/>
                  <a:pt x="333375" y="125909"/>
                  <a:pt x="333375" y="95369"/>
                </a:cubicBezTo>
                <a:cubicBezTo>
                  <a:pt x="333375" y="64830"/>
                  <a:pt x="324922" y="36076"/>
                  <a:pt x="310158" y="11668"/>
                </a:cubicBezTo>
                <a:cubicBezTo>
                  <a:pt x="306050" y="4941"/>
                  <a:pt x="297299" y="2738"/>
                  <a:pt x="290513" y="6846"/>
                </a:cubicBezTo>
                <a:close/>
                <a:moveTo>
                  <a:pt x="190500" y="128230"/>
                </a:moveTo>
                <a:cubicBezTo>
                  <a:pt x="201870" y="121622"/>
                  <a:pt x="209550" y="109359"/>
                  <a:pt x="209550" y="95250"/>
                </a:cubicBezTo>
                <a:cubicBezTo>
                  <a:pt x="209550" y="74235"/>
                  <a:pt x="192465" y="57150"/>
                  <a:pt x="171450" y="57150"/>
                </a:cubicBezTo>
                <a:cubicBezTo>
                  <a:pt x="150435" y="57150"/>
                  <a:pt x="133350" y="74235"/>
                  <a:pt x="133350" y="95250"/>
                </a:cubicBezTo>
                <a:cubicBezTo>
                  <a:pt x="133350" y="109359"/>
                  <a:pt x="141030" y="121682"/>
                  <a:pt x="152400" y="128230"/>
                </a:cubicBezTo>
                <a:lnTo>
                  <a:pt x="152400" y="285750"/>
                </a:lnTo>
                <a:cubicBezTo>
                  <a:pt x="152400" y="296287"/>
                  <a:pt x="160913" y="304800"/>
                  <a:pt x="171450" y="304800"/>
                </a:cubicBezTo>
                <a:cubicBezTo>
                  <a:pt x="181987" y="304800"/>
                  <a:pt x="190500" y="296287"/>
                  <a:pt x="190500" y="285750"/>
                </a:cubicBezTo>
                <a:lnTo>
                  <a:pt x="190500" y="128230"/>
                </a:lnTo>
                <a:close/>
                <a:moveTo>
                  <a:pt x="107275" y="54173"/>
                </a:moveTo>
                <a:cubicBezTo>
                  <a:pt x="111562" y="47506"/>
                  <a:pt x="109597" y="38695"/>
                  <a:pt x="102989" y="34409"/>
                </a:cubicBezTo>
                <a:cubicBezTo>
                  <a:pt x="96381" y="30123"/>
                  <a:pt x="87511" y="32087"/>
                  <a:pt x="83225" y="38695"/>
                </a:cubicBezTo>
                <a:cubicBezTo>
                  <a:pt x="72747" y="55007"/>
                  <a:pt x="66675" y="74414"/>
                  <a:pt x="66675" y="95250"/>
                </a:cubicBezTo>
                <a:cubicBezTo>
                  <a:pt x="66675" y="116086"/>
                  <a:pt x="72747" y="135493"/>
                  <a:pt x="83225" y="151805"/>
                </a:cubicBezTo>
                <a:cubicBezTo>
                  <a:pt x="87511" y="158472"/>
                  <a:pt x="96322" y="160377"/>
                  <a:pt x="102989" y="156091"/>
                </a:cubicBezTo>
                <a:cubicBezTo>
                  <a:pt x="109657" y="151805"/>
                  <a:pt x="111562" y="142994"/>
                  <a:pt x="107275" y="136327"/>
                </a:cubicBezTo>
                <a:cubicBezTo>
                  <a:pt x="99655" y="124480"/>
                  <a:pt x="95250" y="110371"/>
                  <a:pt x="95250" y="95250"/>
                </a:cubicBezTo>
                <a:cubicBezTo>
                  <a:pt x="95250" y="80129"/>
                  <a:pt x="99655" y="66020"/>
                  <a:pt x="107275" y="54173"/>
                </a:cubicBezTo>
                <a:close/>
                <a:moveTo>
                  <a:pt x="259675" y="38695"/>
                </a:moveTo>
                <a:cubicBezTo>
                  <a:pt x="255389" y="32028"/>
                  <a:pt x="246578" y="30123"/>
                  <a:pt x="239911" y="34409"/>
                </a:cubicBezTo>
                <a:cubicBezTo>
                  <a:pt x="233243" y="38695"/>
                  <a:pt x="231338" y="47506"/>
                  <a:pt x="235625" y="54173"/>
                </a:cubicBezTo>
                <a:cubicBezTo>
                  <a:pt x="243245" y="66020"/>
                  <a:pt x="247650" y="80129"/>
                  <a:pt x="247650" y="95250"/>
                </a:cubicBezTo>
                <a:cubicBezTo>
                  <a:pt x="247650" y="110371"/>
                  <a:pt x="243245" y="124480"/>
                  <a:pt x="235625" y="136327"/>
                </a:cubicBezTo>
                <a:cubicBezTo>
                  <a:pt x="231338" y="142994"/>
                  <a:pt x="233303" y="151805"/>
                  <a:pt x="239911" y="156091"/>
                </a:cubicBezTo>
                <a:cubicBezTo>
                  <a:pt x="246519" y="160377"/>
                  <a:pt x="255389" y="158413"/>
                  <a:pt x="259675" y="151805"/>
                </a:cubicBezTo>
                <a:cubicBezTo>
                  <a:pt x="270153" y="135493"/>
                  <a:pt x="276225" y="116086"/>
                  <a:pt x="276225" y="95250"/>
                </a:cubicBezTo>
                <a:cubicBezTo>
                  <a:pt x="276225" y="74414"/>
                  <a:pt x="270153" y="55007"/>
                  <a:pt x="259675" y="3869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0" name="Text 7"/>
          <p:cNvSpPr/>
          <p:nvPr/>
        </p:nvSpPr>
        <p:spPr>
          <a:xfrm>
            <a:off x="3048000" y="4000500"/>
            <a:ext cx="1066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media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range from traditional newsletters and posters to modern streaming and mobile platforms.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40000" y="508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9"/>
          <p:cNvSpPr/>
          <p:nvPr/>
        </p:nvSpPr>
        <p:spPr>
          <a:xfrm>
            <a:off x="3048000" y="5016500"/>
            <a:ext cx="1066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Choosing the right communication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depends on audience, message, budget, and desired response.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578100" y="6096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9525" y="38100"/>
                </a:moveTo>
                <a:cubicBezTo>
                  <a:pt x="9525" y="17085"/>
                  <a:pt x="26610" y="0"/>
                  <a:pt x="47625" y="0"/>
                </a:cubicBezTo>
                <a:lnTo>
                  <a:pt x="180975" y="0"/>
                </a:lnTo>
                <a:cubicBezTo>
                  <a:pt x="201990" y="0"/>
                  <a:pt x="219075" y="17085"/>
                  <a:pt x="219075" y="38100"/>
                </a:cubicBezTo>
                <a:lnTo>
                  <a:pt x="219075" y="266700"/>
                </a:lnTo>
                <a:cubicBezTo>
                  <a:pt x="219075" y="287715"/>
                  <a:pt x="201990" y="304800"/>
                  <a:pt x="180975" y="304800"/>
                </a:cubicBezTo>
                <a:lnTo>
                  <a:pt x="47625" y="304800"/>
                </a:lnTo>
                <a:cubicBezTo>
                  <a:pt x="26610" y="304800"/>
                  <a:pt x="9525" y="287715"/>
                  <a:pt x="9525" y="266700"/>
                </a:cubicBezTo>
                <a:lnTo>
                  <a:pt x="9525" y="38100"/>
                </a:lnTo>
                <a:close/>
                <a:moveTo>
                  <a:pt x="47625" y="38100"/>
                </a:moveTo>
                <a:lnTo>
                  <a:pt x="47625" y="219075"/>
                </a:lnTo>
                <a:lnTo>
                  <a:pt x="180975" y="219075"/>
                </a:lnTo>
                <a:lnTo>
                  <a:pt x="180975" y="38100"/>
                </a:lnTo>
                <a:lnTo>
                  <a:pt x="47625" y="38100"/>
                </a:lnTo>
                <a:close/>
                <a:moveTo>
                  <a:pt x="114300" y="280987"/>
                </a:moveTo>
                <a:cubicBezTo>
                  <a:pt x="124837" y="280987"/>
                  <a:pt x="133350" y="272475"/>
                  <a:pt x="133350" y="261937"/>
                </a:cubicBezTo>
                <a:cubicBezTo>
                  <a:pt x="133350" y="251400"/>
                  <a:pt x="124837" y="242888"/>
                  <a:pt x="114300" y="242888"/>
                </a:cubicBezTo>
                <a:cubicBezTo>
                  <a:pt x="103763" y="242888"/>
                  <a:pt x="95250" y="251400"/>
                  <a:pt x="95250" y="261937"/>
                </a:cubicBezTo>
                <a:cubicBezTo>
                  <a:pt x="95250" y="272475"/>
                  <a:pt x="103763" y="280987"/>
                  <a:pt x="114300" y="280987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1"/>
          <p:cNvSpPr/>
          <p:nvPr/>
        </p:nvSpPr>
        <p:spPr>
          <a:xfrm>
            <a:off x="3048000" y="6032500"/>
            <a:ext cx="1066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communication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continues to reshape how we interact with information and each other — with 8.9B+ connections.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588000" y="7366000"/>
            <a:ext cx="5080000" cy="254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318000" y="762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spc="6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18000" y="83185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 of Information and Communication Technologies — Week 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Information and Communication Technologies - Week 4</dc:title>
  <dc:subject>Applications of Information and Communication Technologies - Week 4</dc:subject>
  <dc:creator>Kimi</dc:creator>
  <cp:lastModifiedBy>Kimi</cp:lastModifiedBy>
  <cp:revision>1</cp:revision>
  <dcterms:created xsi:type="dcterms:W3CDTF">2026-05-25T08:56:25Z</dcterms:created>
  <dcterms:modified xsi:type="dcterms:W3CDTF">2026-05-25T08:56:25Z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{"Label":"Applications of Information and Communication Technologies - Week 4","ContentProducer":"001191110108MACG2KBH8F10000","ProduceID":"19e5e42d-1c42-8326-8000-0000880460a5","ReservedCode1":"","ContentPropagator":"001191110108MACG2KBH8F20000","PropagateID":"19e5e42d-1c42-8326-8000-0000880460a5","ReservedCode2":""}</vt:lpwstr>
  </property>
</Properties>
</file>