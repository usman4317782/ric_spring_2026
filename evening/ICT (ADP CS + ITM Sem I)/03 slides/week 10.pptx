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1600" b="0" i="0" u="none" strike="noStrike">
                <a:solidFill>
                  <a:srgbClr val="3C4A5A"/>
                </a:solidFill>
                <a:latin typeface="Arial"/>
              </a:rPr>
              <a:t>Bitcoin Halving Schedule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Block Reward (BTC)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2009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</c:v>
                </c:pt>
                <c:pt idx="1">
                  <c:v>50</c:v>
                </c:pt>
                <c:pt idx="2">
                  <c:v>25</c:v>
                </c:pt>
                <c:pt idx="3">
                  <c:v>25</c:v>
                </c:pt>
                <c:pt idx="4">
                  <c:v>12.5</c:v>
                </c:pt>
                <c:pt idx="5">
                  <c:v>12.5</c:v>
                </c:pt>
                <c:pt idx="6">
                  <c:v>6.25</c:v>
                </c:pt>
                <c:pt idx="7">
                  <c:v>6.25</c:v>
                </c:pt>
                <c:pt idx="8">
                  <c:v>3.125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9C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508000" y="2794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10: Safety, Security &amp; Modern Computing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Lectures 19-20 — Data Protection, Cloud, VR/AR, IoT &amp; Beyond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080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58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Computing Fundamentals · Week 10 ·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19: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Safety and Security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Threats to Data · Protection of Data · Encryption · Best Practices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406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000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406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20: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Modern Computing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572000"/>
            <a:ext cx="698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Virtualization · Cloud · Deep/Dark Web · Bitcoin · VR/AR · IoT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19: Safety and Security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threats to data and methods for protecting information assets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Data Security? Why Does It Matter?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366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Protecting digital data from unauthorized access, corruption, or theft throughout its lifecycle.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CIA Triad: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Only authorized access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Data remains accurate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Availability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Data accessible when needed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Average data breach cost: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$4.99M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(IBM 2025)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Global cybercrime: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$13.82T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projected by 2028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905000"/>
            <a:ext cx="5842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pic>
        <p:nvPicPr>
          <p:cNvPr id="6" name="Image 0" descr="https://kimi-img.moonshot.cn/pub/slides/okc/5ei2xmbh7l23y/mnt/agents/output/week10-computing/images/3_Blue_Glowing_Digital_Shield_L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98000" y="2095500"/>
            <a:ext cx="5334000" cy="2921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9144000" y="5461000"/>
            <a:ext cx="5842000" cy="152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9398000" y="5588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87%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organizations identify AI-related vulnerabilities as their fastest-growing cyber risk (WEF 2026)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Malware: The Silent Digital Threat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Malicious software designed to damage, disrupt, or gain unauthorized access to systems.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Subtypes: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Viruses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Self-replicating, attach to files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Worms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Spread autonomously across networks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Trojans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Disguise as legitimate software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Spyware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Secretly monitors user activity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Cryptojacking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Uses systems to mine crypto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Scale: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560,000+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new threats detected daily; 1B+ programs circulating globally.</a:t>
            </a:r>
            <a:endParaRPr lang="en-US" sz="1800" dirty="0"/>
          </a:p>
        </p:txBody>
      </p:sp>
      <p:pic>
        <p:nvPicPr>
          <p:cNvPr id="5" name="Image 0" descr="https://kimi-img.moonshot.cn/pub/slides/okc/5ei2xmbh7l23y/mnt/agents/output/week10-computing/images/9_What_is_Malware_How_to_Prevent_Malw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1841500"/>
            <a:ext cx="6096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1270000" y="6858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51000" y="69215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WannaCry Ransomware (2017) — Infected 200,000+ computers across 150 countries in 4 days, exploiting Windows SMB vulnerability. Total damages: ~$4 billion.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Phishing &amp; Social Engineering: The Human Factor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33635"/>
                </a:moveTo>
                <a:lnTo>
                  <a:pt x="85019" y="174427"/>
                </a:lnTo>
                <a:lnTo>
                  <a:pt x="224455" y="290711"/>
                </a:lnTo>
                <a:cubicBezTo>
                  <a:pt x="229129" y="294580"/>
                  <a:pt x="234333" y="297557"/>
                  <a:pt x="239889" y="299343"/>
                </a:cubicBezTo>
                <a:lnTo>
                  <a:pt x="239889" y="460375"/>
                </a:lnTo>
                <a:cubicBezTo>
                  <a:pt x="239889" y="465832"/>
                  <a:pt x="240330" y="471091"/>
                  <a:pt x="241035" y="476250"/>
                </a:cubicBezTo>
                <a:lnTo>
                  <a:pt x="84667" y="476250"/>
                </a:lnTo>
                <a:cubicBezTo>
                  <a:pt x="53534" y="476250"/>
                  <a:pt x="28222" y="447774"/>
                  <a:pt x="28222" y="412750"/>
                </a:cubicBezTo>
                <a:lnTo>
                  <a:pt x="28222" y="174724"/>
                </a:lnTo>
                <a:cubicBezTo>
                  <a:pt x="28222" y="154583"/>
                  <a:pt x="36689" y="135632"/>
                  <a:pt x="51065" y="123726"/>
                </a:cubicBezTo>
                <a:lnTo>
                  <a:pt x="224455" y="-20836"/>
                </a:lnTo>
                <a:cubicBezTo>
                  <a:pt x="233010" y="-27980"/>
                  <a:pt x="243328" y="-31750"/>
                  <a:pt x="254000" y="-31750"/>
                </a:cubicBezTo>
                <a:cubicBezTo>
                  <a:pt x="264672" y="-31750"/>
                  <a:pt x="274990" y="-27880"/>
                  <a:pt x="283545" y="-20836"/>
                </a:cubicBezTo>
                <a:lnTo>
                  <a:pt x="456935" y="123726"/>
                </a:lnTo>
                <a:cubicBezTo>
                  <a:pt x="463285" y="128984"/>
                  <a:pt x="468489" y="135632"/>
                  <a:pt x="472281" y="143173"/>
                </a:cubicBezTo>
                <a:cubicBezTo>
                  <a:pt x="470076" y="142974"/>
                  <a:pt x="467872" y="142875"/>
                  <a:pt x="465667" y="142875"/>
                </a:cubicBezTo>
                <a:lnTo>
                  <a:pt x="385057" y="142875"/>
                </a:lnTo>
                <a:lnTo>
                  <a:pt x="254000" y="33635"/>
                </a:lnTo>
                <a:close/>
                <a:moveTo>
                  <a:pt x="282222" y="238125"/>
                </a:moveTo>
                <a:cubicBezTo>
                  <a:pt x="282222" y="211832"/>
                  <a:pt x="301184" y="190500"/>
                  <a:pt x="324556" y="190500"/>
                </a:cubicBezTo>
                <a:lnTo>
                  <a:pt x="465667" y="190500"/>
                </a:lnTo>
                <a:cubicBezTo>
                  <a:pt x="489038" y="190500"/>
                  <a:pt x="508000" y="211832"/>
                  <a:pt x="508000" y="238125"/>
                </a:cubicBezTo>
                <a:lnTo>
                  <a:pt x="508000" y="460375"/>
                </a:lnTo>
                <a:cubicBezTo>
                  <a:pt x="508000" y="486668"/>
                  <a:pt x="489038" y="508000"/>
                  <a:pt x="465667" y="508000"/>
                </a:cubicBezTo>
                <a:lnTo>
                  <a:pt x="324556" y="508000"/>
                </a:lnTo>
                <a:cubicBezTo>
                  <a:pt x="301184" y="508000"/>
                  <a:pt x="282222" y="486668"/>
                  <a:pt x="282222" y="460375"/>
                </a:cubicBezTo>
                <a:lnTo>
                  <a:pt x="282222" y="238125"/>
                </a:lnTo>
                <a:close/>
                <a:moveTo>
                  <a:pt x="352778" y="254000"/>
                </a:moveTo>
                <a:cubicBezTo>
                  <a:pt x="341048" y="254000"/>
                  <a:pt x="331611" y="264616"/>
                  <a:pt x="331611" y="277813"/>
                </a:cubicBezTo>
                <a:cubicBezTo>
                  <a:pt x="331611" y="291009"/>
                  <a:pt x="341048" y="301625"/>
                  <a:pt x="352778" y="301625"/>
                </a:cubicBezTo>
                <a:lnTo>
                  <a:pt x="437444" y="301625"/>
                </a:lnTo>
                <a:cubicBezTo>
                  <a:pt x="449174" y="301625"/>
                  <a:pt x="458611" y="291009"/>
                  <a:pt x="458611" y="277813"/>
                </a:cubicBezTo>
                <a:cubicBezTo>
                  <a:pt x="458611" y="264616"/>
                  <a:pt x="449174" y="254000"/>
                  <a:pt x="437444" y="254000"/>
                </a:cubicBezTo>
                <a:lnTo>
                  <a:pt x="352778" y="254000"/>
                </a:lnTo>
                <a:close/>
                <a:moveTo>
                  <a:pt x="352778" y="349250"/>
                </a:moveTo>
                <a:cubicBezTo>
                  <a:pt x="341048" y="349250"/>
                  <a:pt x="331611" y="359866"/>
                  <a:pt x="331611" y="373063"/>
                </a:cubicBezTo>
                <a:cubicBezTo>
                  <a:pt x="331611" y="386259"/>
                  <a:pt x="341048" y="396875"/>
                  <a:pt x="352778" y="396875"/>
                </a:cubicBezTo>
                <a:lnTo>
                  <a:pt x="402167" y="396875"/>
                </a:lnTo>
                <a:cubicBezTo>
                  <a:pt x="413897" y="396875"/>
                  <a:pt x="423333" y="386259"/>
                  <a:pt x="423333" y="373063"/>
                </a:cubicBezTo>
                <a:cubicBezTo>
                  <a:pt x="423333" y="359866"/>
                  <a:pt x="413897" y="349250"/>
                  <a:pt x="402167" y="349250"/>
                </a:cubicBezTo>
                <a:lnTo>
                  <a:pt x="352778" y="3492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1590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Phishing Types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969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Spear Phishing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Targets specific individuals with personalized messages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Whaling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Targets high-level executives (C-suite)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Smishing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SMS/text message-based attacks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Vishing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Voice call-based deception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90%+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cyberattacks start with phishing.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3.4B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phishing emails sent daily.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55000" y="1905000"/>
            <a:ext cx="6731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36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3902" y="-15875"/>
                </a:moveTo>
                <a:cubicBezTo>
                  <a:pt x="152627" y="-15875"/>
                  <a:pt x="128361" y="41970"/>
                  <a:pt x="116454" y="95250"/>
                </a:cubicBezTo>
                <a:lnTo>
                  <a:pt x="81643" y="95250"/>
                </a:lnTo>
                <a:cubicBezTo>
                  <a:pt x="66562" y="95250"/>
                  <a:pt x="54429" y="105866"/>
                  <a:pt x="54429" y="119063"/>
                </a:cubicBezTo>
                <a:cubicBezTo>
                  <a:pt x="54429" y="132259"/>
                  <a:pt x="66562" y="142875"/>
                  <a:pt x="81643" y="142875"/>
                </a:cubicBezTo>
                <a:lnTo>
                  <a:pt x="108857" y="142875"/>
                </a:lnTo>
                <a:lnTo>
                  <a:pt x="108857" y="174625"/>
                </a:lnTo>
                <a:cubicBezTo>
                  <a:pt x="108857" y="191492"/>
                  <a:pt x="112599" y="207566"/>
                  <a:pt x="119403" y="222250"/>
                </a:cubicBezTo>
                <a:lnTo>
                  <a:pt x="108857" y="222250"/>
                </a:lnTo>
                <a:lnTo>
                  <a:pt x="108857" y="222250"/>
                </a:lnTo>
                <a:lnTo>
                  <a:pt x="85612" y="222250"/>
                </a:lnTo>
                <a:cubicBezTo>
                  <a:pt x="68376" y="222250"/>
                  <a:pt x="54429" y="234454"/>
                  <a:pt x="54429" y="249535"/>
                </a:cubicBezTo>
                <a:cubicBezTo>
                  <a:pt x="54429" y="252512"/>
                  <a:pt x="54996" y="255389"/>
                  <a:pt x="56016" y="258167"/>
                </a:cubicBezTo>
                <a:lnTo>
                  <a:pt x="88787" y="344091"/>
                </a:lnTo>
                <a:cubicBezTo>
                  <a:pt x="45584" y="376634"/>
                  <a:pt x="18143" y="424755"/>
                  <a:pt x="18143" y="478532"/>
                </a:cubicBezTo>
                <a:cubicBezTo>
                  <a:pt x="18143" y="494804"/>
                  <a:pt x="33224" y="508000"/>
                  <a:pt x="51821" y="508000"/>
                </a:cubicBezTo>
                <a:lnTo>
                  <a:pt x="456179" y="508000"/>
                </a:lnTo>
                <a:cubicBezTo>
                  <a:pt x="474776" y="508000"/>
                  <a:pt x="489857" y="494804"/>
                  <a:pt x="489857" y="478532"/>
                </a:cubicBezTo>
                <a:cubicBezTo>
                  <a:pt x="489857" y="424755"/>
                  <a:pt x="462416" y="376634"/>
                  <a:pt x="419213" y="344190"/>
                </a:cubicBezTo>
                <a:lnTo>
                  <a:pt x="451984" y="258266"/>
                </a:lnTo>
                <a:cubicBezTo>
                  <a:pt x="453004" y="255488"/>
                  <a:pt x="453571" y="252611"/>
                  <a:pt x="453571" y="249634"/>
                </a:cubicBezTo>
                <a:cubicBezTo>
                  <a:pt x="453571" y="234553"/>
                  <a:pt x="439624" y="222349"/>
                  <a:pt x="422388" y="222349"/>
                </a:cubicBezTo>
                <a:lnTo>
                  <a:pt x="399143" y="222349"/>
                </a:lnTo>
                <a:lnTo>
                  <a:pt x="399143" y="222349"/>
                </a:lnTo>
                <a:lnTo>
                  <a:pt x="388597" y="222349"/>
                </a:lnTo>
                <a:cubicBezTo>
                  <a:pt x="395401" y="207665"/>
                  <a:pt x="399143" y="191591"/>
                  <a:pt x="399143" y="174724"/>
                </a:cubicBezTo>
                <a:lnTo>
                  <a:pt x="399143" y="142974"/>
                </a:lnTo>
                <a:lnTo>
                  <a:pt x="426357" y="142974"/>
                </a:lnTo>
                <a:cubicBezTo>
                  <a:pt x="441438" y="142974"/>
                  <a:pt x="453571" y="132358"/>
                  <a:pt x="453571" y="119162"/>
                </a:cubicBezTo>
                <a:cubicBezTo>
                  <a:pt x="453571" y="105966"/>
                  <a:pt x="441438" y="95349"/>
                  <a:pt x="426357" y="95349"/>
                </a:cubicBezTo>
                <a:lnTo>
                  <a:pt x="391546" y="95349"/>
                </a:lnTo>
                <a:cubicBezTo>
                  <a:pt x="379753" y="42069"/>
                  <a:pt x="355373" y="-15776"/>
                  <a:pt x="314098" y="-15776"/>
                </a:cubicBezTo>
                <a:cubicBezTo>
                  <a:pt x="303212" y="-15776"/>
                  <a:pt x="292554" y="-11906"/>
                  <a:pt x="282915" y="-7640"/>
                </a:cubicBezTo>
                <a:cubicBezTo>
                  <a:pt x="273617" y="-3572"/>
                  <a:pt x="262051" y="99"/>
                  <a:pt x="254000" y="99"/>
                </a:cubicBezTo>
                <a:cubicBezTo>
                  <a:pt x="245949" y="99"/>
                  <a:pt x="234383" y="-3572"/>
                  <a:pt x="225085" y="-7640"/>
                </a:cubicBezTo>
                <a:cubicBezTo>
                  <a:pt x="215446" y="-12005"/>
                  <a:pt x="204788" y="-15875"/>
                  <a:pt x="193902" y="-15875"/>
                </a:cubicBezTo>
                <a:close/>
                <a:moveTo>
                  <a:pt x="300151" y="464741"/>
                </a:moveTo>
                <a:lnTo>
                  <a:pt x="272029" y="394395"/>
                </a:lnTo>
                <a:lnTo>
                  <a:pt x="303666" y="362148"/>
                </a:lnTo>
                <a:cubicBezTo>
                  <a:pt x="306728" y="358973"/>
                  <a:pt x="308429" y="355005"/>
                  <a:pt x="308429" y="350838"/>
                </a:cubicBezTo>
                <a:cubicBezTo>
                  <a:pt x="308429" y="341213"/>
                  <a:pt x="299584" y="333474"/>
                  <a:pt x="288585" y="333474"/>
                </a:cubicBezTo>
                <a:lnTo>
                  <a:pt x="219415" y="333474"/>
                </a:lnTo>
                <a:cubicBezTo>
                  <a:pt x="208416" y="333474"/>
                  <a:pt x="199571" y="341213"/>
                  <a:pt x="199571" y="350838"/>
                </a:cubicBezTo>
                <a:cubicBezTo>
                  <a:pt x="199571" y="355005"/>
                  <a:pt x="201272" y="358973"/>
                  <a:pt x="204334" y="362148"/>
                </a:cubicBezTo>
                <a:lnTo>
                  <a:pt x="235971" y="394395"/>
                </a:lnTo>
                <a:lnTo>
                  <a:pt x="207849" y="464741"/>
                </a:lnTo>
                <a:lnTo>
                  <a:pt x="143215" y="285750"/>
                </a:lnTo>
                <a:lnTo>
                  <a:pt x="183696" y="285750"/>
                </a:lnTo>
                <a:cubicBezTo>
                  <a:pt x="204561" y="295870"/>
                  <a:pt x="228487" y="301625"/>
                  <a:pt x="254000" y="301625"/>
                </a:cubicBezTo>
                <a:cubicBezTo>
                  <a:pt x="279513" y="301625"/>
                  <a:pt x="303439" y="295870"/>
                  <a:pt x="324304" y="285750"/>
                </a:cubicBezTo>
                <a:lnTo>
                  <a:pt x="364785" y="285750"/>
                </a:lnTo>
                <a:lnTo>
                  <a:pt x="300151" y="464741"/>
                </a:lnTo>
                <a:close/>
                <a:moveTo>
                  <a:pt x="254000" y="254000"/>
                </a:moveTo>
                <a:cubicBezTo>
                  <a:pt x="214653" y="254000"/>
                  <a:pt x="181202" y="232073"/>
                  <a:pt x="168615" y="201414"/>
                </a:cubicBezTo>
                <a:cubicBezTo>
                  <a:pt x="175079" y="204589"/>
                  <a:pt x="182563" y="206375"/>
                  <a:pt x="190500" y="206375"/>
                </a:cubicBezTo>
                <a:lnTo>
                  <a:pt x="204561" y="206375"/>
                </a:lnTo>
                <a:cubicBezTo>
                  <a:pt x="223271" y="206375"/>
                  <a:pt x="239826" y="195858"/>
                  <a:pt x="245722" y="180380"/>
                </a:cubicBezTo>
                <a:cubicBezTo>
                  <a:pt x="248330" y="173434"/>
                  <a:pt x="259556" y="173434"/>
                  <a:pt x="262164" y="180380"/>
                </a:cubicBezTo>
                <a:cubicBezTo>
                  <a:pt x="268061" y="195858"/>
                  <a:pt x="284729" y="206375"/>
                  <a:pt x="303326" y="206375"/>
                </a:cubicBezTo>
                <a:lnTo>
                  <a:pt x="317387" y="206375"/>
                </a:lnTo>
                <a:cubicBezTo>
                  <a:pt x="325324" y="206375"/>
                  <a:pt x="332808" y="204589"/>
                  <a:pt x="339271" y="201414"/>
                </a:cubicBezTo>
                <a:cubicBezTo>
                  <a:pt x="326685" y="232073"/>
                  <a:pt x="293234" y="254000"/>
                  <a:pt x="253887" y="2540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1590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Social Engineering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36000" y="2857500"/>
            <a:ext cx="6096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Psychological manipulation to trick users into making security mistakes.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Tactics: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Pretexting, Baiting, Quid pro quo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Verify senders, check URLs, enable MFA, train employees regularly.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69215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651000" y="6985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Case: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2016 DNC Email Breach — Russian hackers used spear phishing emails to steal credentials, accessing 60,000+ emails and influencing the U.S. election.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Threats: Ransomware, DDoS &amp; Insider Attacks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381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590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Ransomware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857500"/>
            <a:ext cx="381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Encrypts victim's data and demands payment for decryption.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companies experienced ransomware in the past year.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 Extortion: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Encrypt + leak threat.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381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31750"/>
                </a:moveTo>
                <a:cubicBezTo>
                  <a:pt x="32544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32544" y="222250"/>
                  <a:pt x="72571" y="222250"/>
                </a:cubicBezTo>
                <a:lnTo>
                  <a:pt x="435429" y="222250"/>
                </a:lnTo>
                <a:cubicBezTo>
                  <a:pt x="475456" y="222250"/>
                  <a:pt x="508000" y="193774"/>
                  <a:pt x="508000" y="158750"/>
                </a:cubicBezTo>
                <a:lnTo>
                  <a:pt x="508000" y="95250"/>
                </a:lnTo>
                <a:cubicBezTo>
                  <a:pt x="508000" y="60226"/>
                  <a:pt x="475456" y="31750"/>
                  <a:pt x="435429" y="31750"/>
                </a:cubicBezTo>
                <a:lnTo>
                  <a:pt x="72571" y="31750"/>
                </a:lnTo>
                <a:close/>
                <a:moveTo>
                  <a:pt x="317500" y="103188"/>
                </a:moveTo>
                <a:cubicBezTo>
                  <a:pt x="332520" y="103188"/>
                  <a:pt x="344714" y="113858"/>
                  <a:pt x="344714" y="127000"/>
                </a:cubicBezTo>
                <a:cubicBezTo>
                  <a:pt x="344714" y="140142"/>
                  <a:pt x="332520" y="150813"/>
                  <a:pt x="317500" y="150813"/>
                </a:cubicBezTo>
                <a:cubicBezTo>
                  <a:pt x="302480" y="150813"/>
                  <a:pt x="290286" y="140142"/>
                  <a:pt x="290286" y="127000"/>
                </a:cubicBezTo>
                <a:cubicBezTo>
                  <a:pt x="290286" y="113858"/>
                  <a:pt x="302480" y="103188"/>
                  <a:pt x="317500" y="103188"/>
                </a:cubicBezTo>
                <a:close/>
                <a:moveTo>
                  <a:pt x="381000" y="127000"/>
                </a:moveTo>
                <a:cubicBezTo>
                  <a:pt x="381000" y="113858"/>
                  <a:pt x="393194" y="103188"/>
                  <a:pt x="408214" y="103188"/>
                </a:cubicBezTo>
                <a:cubicBezTo>
                  <a:pt x="423234" y="103188"/>
                  <a:pt x="435429" y="113858"/>
                  <a:pt x="435429" y="127000"/>
                </a:cubicBezTo>
                <a:cubicBezTo>
                  <a:pt x="435429" y="140142"/>
                  <a:pt x="423234" y="150813"/>
                  <a:pt x="408214" y="150813"/>
                </a:cubicBezTo>
                <a:cubicBezTo>
                  <a:pt x="393194" y="150813"/>
                  <a:pt x="381000" y="140142"/>
                  <a:pt x="381000" y="127000"/>
                </a:cubicBezTo>
                <a:close/>
                <a:moveTo>
                  <a:pt x="72571" y="285750"/>
                </a:moveTo>
                <a:cubicBezTo>
                  <a:pt x="32544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49250"/>
                </a:lnTo>
                <a:cubicBezTo>
                  <a:pt x="508000" y="314226"/>
                  <a:pt x="475456" y="285750"/>
                  <a:pt x="435429" y="285750"/>
                </a:cubicBezTo>
                <a:lnTo>
                  <a:pt x="72571" y="285750"/>
                </a:lnTo>
                <a:close/>
                <a:moveTo>
                  <a:pt x="317500" y="357188"/>
                </a:moveTo>
                <a:cubicBezTo>
                  <a:pt x="332520" y="357188"/>
                  <a:pt x="344714" y="367858"/>
                  <a:pt x="344714" y="381000"/>
                </a:cubicBezTo>
                <a:cubicBezTo>
                  <a:pt x="344714" y="394142"/>
                  <a:pt x="332520" y="404813"/>
                  <a:pt x="317500" y="404813"/>
                </a:cubicBezTo>
                <a:cubicBezTo>
                  <a:pt x="302480" y="404813"/>
                  <a:pt x="290286" y="394142"/>
                  <a:pt x="290286" y="381000"/>
                </a:cubicBezTo>
                <a:cubicBezTo>
                  <a:pt x="290286" y="367858"/>
                  <a:pt x="302480" y="357188"/>
                  <a:pt x="317500" y="357188"/>
                </a:cubicBezTo>
                <a:close/>
                <a:moveTo>
                  <a:pt x="381000" y="381000"/>
                </a:moveTo>
                <a:cubicBezTo>
                  <a:pt x="381000" y="367858"/>
                  <a:pt x="393194" y="357188"/>
                  <a:pt x="408214" y="357188"/>
                </a:cubicBezTo>
                <a:cubicBezTo>
                  <a:pt x="423234" y="357188"/>
                  <a:pt x="435429" y="367858"/>
                  <a:pt x="435429" y="381000"/>
                </a:cubicBezTo>
                <a:cubicBezTo>
                  <a:pt x="435429" y="394142"/>
                  <a:pt x="423234" y="404813"/>
                  <a:pt x="408214" y="404813"/>
                </a:cubicBezTo>
                <a:cubicBezTo>
                  <a:pt x="393194" y="404813"/>
                  <a:pt x="381000" y="394142"/>
                  <a:pt x="381000" y="3810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1590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DDoS Attacks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2857500"/>
            <a:ext cx="381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Floods systems with massive traffic to disrupt services.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Often a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smokescreen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other attacks.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$5,600/min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downtime.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381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922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7556" y="246063"/>
                </a:moveTo>
                <a:cubicBezTo>
                  <a:pt x="255967" y="246063"/>
                  <a:pt x="303389" y="192712"/>
                  <a:pt x="303389" y="127000"/>
                </a:cubicBezTo>
                <a:cubicBezTo>
                  <a:pt x="303389" y="61288"/>
                  <a:pt x="255967" y="7938"/>
                  <a:pt x="197556" y="7938"/>
                </a:cubicBezTo>
                <a:cubicBezTo>
                  <a:pt x="139145" y="7938"/>
                  <a:pt x="91722" y="61288"/>
                  <a:pt x="91722" y="127000"/>
                </a:cubicBezTo>
                <a:cubicBezTo>
                  <a:pt x="91722" y="192712"/>
                  <a:pt x="139145" y="246063"/>
                  <a:pt x="197556" y="246063"/>
                </a:cubicBezTo>
                <a:close/>
                <a:moveTo>
                  <a:pt x="171362" y="301625"/>
                </a:moveTo>
                <a:cubicBezTo>
                  <a:pt x="84490" y="301625"/>
                  <a:pt x="14111" y="380802"/>
                  <a:pt x="14111" y="478532"/>
                </a:cubicBezTo>
                <a:cubicBezTo>
                  <a:pt x="14111" y="494804"/>
                  <a:pt x="25841" y="508000"/>
                  <a:pt x="40305" y="508000"/>
                </a:cubicBezTo>
                <a:lnTo>
                  <a:pt x="262114" y="508000"/>
                </a:lnTo>
                <a:cubicBezTo>
                  <a:pt x="230188" y="465733"/>
                  <a:pt x="211667" y="411262"/>
                  <a:pt x="211667" y="353616"/>
                </a:cubicBezTo>
                <a:lnTo>
                  <a:pt x="211667" y="322759"/>
                </a:lnTo>
                <a:cubicBezTo>
                  <a:pt x="211667" y="315516"/>
                  <a:pt x="212549" y="308372"/>
                  <a:pt x="214224" y="301625"/>
                </a:cubicBezTo>
                <a:lnTo>
                  <a:pt x="171362" y="301625"/>
                </a:lnTo>
                <a:close/>
                <a:moveTo>
                  <a:pt x="392730" y="484684"/>
                </a:moveTo>
                <a:lnTo>
                  <a:pt x="381000" y="490934"/>
                </a:lnTo>
                <a:lnTo>
                  <a:pt x="381000" y="304304"/>
                </a:lnTo>
                <a:lnTo>
                  <a:pt x="465667" y="336054"/>
                </a:lnTo>
                <a:lnTo>
                  <a:pt x="465667" y="355501"/>
                </a:lnTo>
                <a:cubicBezTo>
                  <a:pt x="465667" y="410865"/>
                  <a:pt x="437268" y="461169"/>
                  <a:pt x="392730" y="484783"/>
                </a:cubicBezTo>
                <a:close/>
                <a:moveTo>
                  <a:pt x="372092" y="257473"/>
                </a:moveTo>
                <a:lnTo>
                  <a:pt x="273315" y="294481"/>
                </a:lnTo>
                <a:cubicBezTo>
                  <a:pt x="261761" y="298847"/>
                  <a:pt x="254000" y="310952"/>
                  <a:pt x="254000" y="324644"/>
                </a:cubicBezTo>
                <a:lnTo>
                  <a:pt x="254000" y="355501"/>
                </a:lnTo>
                <a:cubicBezTo>
                  <a:pt x="254000" y="429320"/>
                  <a:pt x="291924" y="496491"/>
                  <a:pt x="351190" y="527844"/>
                </a:cubicBezTo>
                <a:lnTo>
                  <a:pt x="367506" y="536476"/>
                </a:lnTo>
                <a:cubicBezTo>
                  <a:pt x="371740" y="538659"/>
                  <a:pt x="376326" y="539849"/>
                  <a:pt x="380912" y="539849"/>
                </a:cubicBezTo>
                <a:cubicBezTo>
                  <a:pt x="385498" y="539849"/>
                  <a:pt x="390172" y="538659"/>
                  <a:pt x="394317" y="536476"/>
                </a:cubicBezTo>
                <a:lnTo>
                  <a:pt x="410633" y="527844"/>
                </a:lnTo>
                <a:cubicBezTo>
                  <a:pt x="470076" y="496391"/>
                  <a:pt x="508000" y="429220"/>
                  <a:pt x="508000" y="355402"/>
                </a:cubicBezTo>
                <a:lnTo>
                  <a:pt x="508000" y="324545"/>
                </a:lnTo>
                <a:cubicBezTo>
                  <a:pt x="508000" y="310852"/>
                  <a:pt x="500239" y="298748"/>
                  <a:pt x="488685" y="294382"/>
                </a:cubicBezTo>
                <a:lnTo>
                  <a:pt x="389908" y="257373"/>
                </a:lnTo>
                <a:cubicBezTo>
                  <a:pt x="384087" y="255191"/>
                  <a:pt x="377825" y="255191"/>
                  <a:pt x="372092" y="2573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21590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Insider Threats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2857500"/>
            <a:ext cx="381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Malicious or accidental harm from within the organization.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$4.99M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per incident.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Supply chain: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267 days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resolve.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0960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1000" y="6223000"/>
            <a:ext cx="1295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Emerging Threats in 2026: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AI-Powered Attacks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Deepfakes, automated phishing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Supply Chain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2nd most common vector (IBM 2025)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IoT Vulnerabilities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Billions of entry points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Encryption: The Foundation of Data Protection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Converting plaintext into ciphertext to prevent unauthorized access.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Main Types: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Symmetric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Same key for encryption and decryption (AES-256)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Asymmetric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Public/private key pair (RSA, ECC)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States: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Rest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Stored data (full-disk encryption)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Transit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Moving data (TLS 1.3, HTTPS)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Real-World: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Stolen laptop with full-disk encryption = no data breach.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63000" y="1841500"/>
          <a:ext cx="6223000" cy="2921000"/>
        </p:xfrm>
        <a:graphic>
          <a:graphicData uri="http://schemas.openxmlformats.org/drawingml/2006/table">
            <a:tbl>
              <a:tblPr/>
              <a:tblGrid>
                <a:gridCol w="2178050"/>
                <a:gridCol w="2022475"/>
                <a:gridCol w="2022475"/>
              </a:tblGrid>
              <a:tr h="6426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Symmetric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Asymmetric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594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 shared key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Public + Private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594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594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File encryption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SSL/TLS, email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https://kimi-img.moonshot.cn/pub/slides/okc/5ei2xmbh7l23y/mnt/agents/output/week10-computing/images/4_114_413_Digital_Lock_Shield_Royal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63000" y="5016500"/>
            <a:ext cx="6223000" cy="18415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1270000" y="7048500"/>
            <a:ext cx="7112000" cy="76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8" name="Text 4"/>
          <p:cNvSpPr/>
          <p:nvPr/>
        </p:nvSpPr>
        <p:spPr>
          <a:xfrm>
            <a:off x="1524000" y="7112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AES-256 is used by the U.S. government for TOP SECRET information.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Backup &amp; Recovery: Your Safety Net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3-2-1 Backup Rule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51000" y="24765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copies of data  ·  </a:t>
            </a:r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different media types  ·  </a:t>
            </a:r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offsite copy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70000" y="355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4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5943" y="0"/>
                </a:moveTo>
                <a:cubicBezTo>
                  <a:pt x="159918" y="0"/>
                  <a:pt x="130629" y="25628"/>
                  <a:pt x="130629" y="57150"/>
                </a:cubicBezTo>
                <a:lnTo>
                  <a:pt x="130629" y="285750"/>
                </a:lnTo>
                <a:cubicBezTo>
                  <a:pt x="130629" y="317272"/>
                  <a:pt x="159918" y="342900"/>
                  <a:pt x="195943" y="342900"/>
                </a:cubicBezTo>
                <a:lnTo>
                  <a:pt x="391886" y="342900"/>
                </a:lnTo>
                <a:cubicBezTo>
                  <a:pt x="427911" y="342900"/>
                  <a:pt x="457200" y="317272"/>
                  <a:pt x="457200" y="285750"/>
                </a:cubicBezTo>
                <a:lnTo>
                  <a:pt x="457200" y="106620"/>
                </a:lnTo>
                <a:cubicBezTo>
                  <a:pt x="457200" y="91083"/>
                  <a:pt x="449954" y="76170"/>
                  <a:pt x="437095" y="65365"/>
                </a:cubicBezTo>
                <a:lnTo>
                  <a:pt x="378211" y="15895"/>
                </a:lnTo>
                <a:cubicBezTo>
                  <a:pt x="366066" y="5715"/>
                  <a:pt x="349840" y="0"/>
                  <a:pt x="333001" y="0"/>
                </a:cubicBezTo>
                <a:lnTo>
                  <a:pt x="195943" y="0"/>
                </a:lnTo>
                <a:close/>
                <a:moveTo>
                  <a:pt x="65314" y="114300"/>
                </a:moveTo>
                <a:cubicBezTo>
                  <a:pt x="29289" y="114300"/>
                  <a:pt x="0" y="139928"/>
                  <a:pt x="0" y="171450"/>
                </a:cubicBezTo>
                <a:lnTo>
                  <a:pt x="0" y="400050"/>
                </a:lnTo>
                <a:cubicBezTo>
                  <a:pt x="0" y="431572"/>
                  <a:pt x="29289" y="457200"/>
                  <a:pt x="65314" y="457200"/>
                </a:cubicBezTo>
                <a:lnTo>
                  <a:pt x="261257" y="457200"/>
                </a:lnTo>
                <a:cubicBezTo>
                  <a:pt x="297282" y="457200"/>
                  <a:pt x="326571" y="431572"/>
                  <a:pt x="326571" y="400050"/>
                </a:cubicBezTo>
                <a:lnTo>
                  <a:pt x="326571" y="385763"/>
                </a:lnTo>
                <a:lnTo>
                  <a:pt x="261257" y="385763"/>
                </a:lnTo>
                <a:lnTo>
                  <a:pt x="261257" y="400050"/>
                </a:lnTo>
                <a:lnTo>
                  <a:pt x="65314" y="400050"/>
                </a:lnTo>
                <a:lnTo>
                  <a:pt x="65314" y="171450"/>
                </a:lnTo>
                <a:lnTo>
                  <a:pt x="81643" y="171450"/>
                </a:lnTo>
                <a:lnTo>
                  <a:pt x="81643" y="114300"/>
                </a:lnTo>
                <a:lnTo>
                  <a:pt x="65314" y="1143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2159000" y="38100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Backup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24000" y="44450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copy of all data. Most comprehensive but slowest. Best for initial setup.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69000" y="355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3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8100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Incremental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23000" y="44450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Only changes since last backup. Fast and efficient. Requires full + all incrementals to restore.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0" y="355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22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1557000" y="38100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Differential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22000" y="44450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Changes since last full backup. Balance between speed and restore simplicity.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70000" y="64135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RTO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Max acceptable downtime |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RPO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Max acceptable data loss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93%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companies experiencing major data loss without backups never fully recover.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Control, Firewalls &amp; Security Best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 Control Types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DAC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Discretionary (owner decides)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Mandatory (system-enforced)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RBAC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Role-Based (job function)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Least Privilege: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Give minimum access needed.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55000" y="1905000"/>
            <a:ext cx="6731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9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1549" y="43130"/>
                </a:moveTo>
                <a:lnTo>
                  <a:pt x="262533" y="30807"/>
                </a:lnTo>
                <a:cubicBezTo>
                  <a:pt x="267355" y="25360"/>
                  <a:pt x="274409" y="22949"/>
                  <a:pt x="281196" y="22860"/>
                </a:cubicBezTo>
                <a:cubicBezTo>
                  <a:pt x="287625" y="22860"/>
                  <a:pt x="293965" y="25182"/>
                  <a:pt x="298966" y="29825"/>
                </a:cubicBezTo>
                <a:cubicBezTo>
                  <a:pt x="316557" y="46166"/>
                  <a:pt x="334506" y="68401"/>
                  <a:pt x="348079" y="92869"/>
                </a:cubicBezTo>
                <a:cubicBezTo>
                  <a:pt x="361563" y="117157"/>
                  <a:pt x="371475" y="144750"/>
                  <a:pt x="371475" y="171539"/>
                </a:cubicBezTo>
                <a:cubicBezTo>
                  <a:pt x="371475" y="250746"/>
                  <a:pt x="307806" y="314236"/>
                  <a:pt x="228600" y="314236"/>
                </a:cubicBezTo>
                <a:cubicBezTo>
                  <a:pt x="148590" y="314236"/>
                  <a:pt x="85725" y="250567"/>
                  <a:pt x="85725" y="171539"/>
                </a:cubicBezTo>
                <a:cubicBezTo>
                  <a:pt x="85725" y="138232"/>
                  <a:pt x="100012" y="105995"/>
                  <a:pt x="118586" y="78224"/>
                </a:cubicBezTo>
                <a:cubicBezTo>
                  <a:pt x="137249" y="50274"/>
                  <a:pt x="161002" y="25539"/>
                  <a:pt x="181898" y="6608"/>
                </a:cubicBezTo>
                <a:cubicBezTo>
                  <a:pt x="186988" y="1965"/>
                  <a:pt x="193596" y="-268"/>
                  <a:pt x="200025" y="-89"/>
                </a:cubicBezTo>
                <a:cubicBezTo>
                  <a:pt x="206454" y="89"/>
                  <a:pt x="211991" y="2768"/>
                  <a:pt x="216813" y="6608"/>
                </a:cubicBezTo>
                <a:cubicBezTo>
                  <a:pt x="229672" y="16788"/>
                  <a:pt x="251549" y="42952"/>
                  <a:pt x="251549" y="42952"/>
                </a:cubicBezTo>
                <a:close/>
                <a:moveTo>
                  <a:pt x="285750" y="214491"/>
                </a:moveTo>
                <a:cubicBezTo>
                  <a:pt x="285750" y="181898"/>
                  <a:pt x="252710" y="149304"/>
                  <a:pt x="236815" y="135553"/>
                </a:cubicBezTo>
                <a:cubicBezTo>
                  <a:pt x="231993" y="131356"/>
                  <a:pt x="225117" y="131356"/>
                  <a:pt x="220295" y="135553"/>
                </a:cubicBezTo>
                <a:cubicBezTo>
                  <a:pt x="204490" y="149304"/>
                  <a:pt x="171361" y="181898"/>
                  <a:pt x="171361" y="214491"/>
                </a:cubicBezTo>
                <a:cubicBezTo>
                  <a:pt x="171361" y="246013"/>
                  <a:pt x="196989" y="271641"/>
                  <a:pt x="228511" y="271641"/>
                </a:cubicBezTo>
                <a:cubicBezTo>
                  <a:pt x="260033" y="271641"/>
                  <a:pt x="285661" y="246013"/>
                  <a:pt x="285661" y="214491"/>
                </a:cubicBezTo>
                <a:close/>
                <a:moveTo>
                  <a:pt x="82867" y="285750"/>
                </a:moveTo>
                <a:cubicBezTo>
                  <a:pt x="116532" y="328880"/>
                  <a:pt x="168682" y="357188"/>
                  <a:pt x="228600" y="357188"/>
                </a:cubicBezTo>
                <a:cubicBezTo>
                  <a:pt x="287982" y="357188"/>
                  <a:pt x="340310" y="328880"/>
                  <a:pt x="374154" y="285750"/>
                </a:cubicBezTo>
                <a:lnTo>
                  <a:pt x="414338" y="285750"/>
                </a:lnTo>
                <a:cubicBezTo>
                  <a:pt x="438001" y="285750"/>
                  <a:pt x="457200" y="304949"/>
                  <a:pt x="457200" y="328613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328613"/>
                </a:lnTo>
                <a:cubicBezTo>
                  <a:pt x="0" y="304949"/>
                  <a:pt x="19199" y="285750"/>
                  <a:pt x="42863" y="285750"/>
                </a:cubicBezTo>
                <a:lnTo>
                  <a:pt x="82867" y="285750"/>
                </a:lnTo>
                <a:close/>
                <a:moveTo>
                  <a:pt x="407194" y="357188"/>
                </a:moveTo>
                <a:cubicBezTo>
                  <a:pt x="407194" y="345359"/>
                  <a:pt x="397591" y="335756"/>
                  <a:pt x="385763" y="335756"/>
                </a:cubicBezTo>
                <a:cubicBezTo>
                  <a:pt x="373934" y="335756"/>
                  <a:pt x="364331" y="345359"/>
                  <a:pt x="364331" y="357188"/>
                </a:cubicBezTo>
                <a:cubicBezTo>
                  <a:pt x="364331" y="369016"/>
                  <a:pt x="373934" y="378619"/>
                  <a:pt x="385763" y="378619"/>
                </a:cubicBezTo>
                <a:cubicBezTo>
                  <a:pt x="397591" y="378619"/>
                  <a:pt x="407194" y="369016"/>
                  <a:pt x="407194" y="35718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Firewall Types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9000" y="2794000"/>
            <a:ext cx="622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Packet-filtering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Checks packet headers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Stateful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Tracks active connections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Proxy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Intermediary gateway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NGFW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Deep packet inspection + IPS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334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651000" y="558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400" y="76200"/>
                </a:moveTo>
                <a:cubicBezTo>
                  <a:pt x="25400" y="34171"/>
                  <a:pt x="70961" y="0"/>
                  <a:pt x="127000" y="0"/>
                </a:cubicBezTo>
                <a:lnTo>
                  <a:pt x="482600" y="0"/>
                </a:lnTo>
                <a:cubicBezTo>
                  <a:pt x="538639" y="0"/>
                  <a:pt x="584200" y="34171"/>
                  <a:pt x="584200" y="76200"/>
                </a:cubicBezTo>
                <a:lnTo>
                  <a:pt x="584200" y="533400"/>
                </a:lnTo>
                <a:cubicBezTo>
                  <a:pt x="584200" y="575429"/>
                  <a:pt x="538639" y="609600"/>
                  <a:pt x="482600" y="609600"/>
                </a:cubicBezTo>
                <a:lnTo>
                  <a:pt x="127000" y="609600"/>
                </a:lnTo>
                <a:cubicBezTo>
                  <a:pt x="70961" y="609600"/>
                  <a:pt x="25400" y="575429"/>
                  <a:pt x="25400" y="533400"/>
                </a:cubicBezTo>
                <a:lnTo>
                  <a:pt x="25400" y="76200"/>
                </a:lnTo>
                <a:close/>
                <a:moveTo>
                  <a:pt x="127000" y="76200"/>
                </a:moveTo>
                <a:lnTo>
                  <a:pt x="127000" y="438150"/>
                </a:lnTo>
                <a:lnTo>
                  <a:pt x="482600" y="438150"/>
                </a:lnTo>
                <a:lnTo>
                  <a:pt x="482600" y="76200"/>
                </a:lnTo>
                <a:lnTo>
                  <a:pt x="127000" y="76200"/>
                </a:lnTo>
                <a:close/>
                <a:moveTo>
                  <a:pt x="304800" y="561975"/>
                </a:moveTo>
                <a:cubicBezTo>
                  <a:pt x="332899" y="561975"/>
                  <a:pt x="355600" y="544949"/>
                  <a:pt x="355600" y="523875"/>
                </a:cubicBezTo>
                <a:cubicBezTo>
                  <a:pt x="355600" y="502801"/>
                  <a:pt x="332899" y="485775"/>
                  <a:pt x="304800" y="485775"/>
                </a:cubicBezTo>
                <a:cubicBezTo>
                  <a:pt x="276701" y="485775"/>
                  <a:pt x="254000" y="502801"/>
                  <a:pt x="254000" y="523875"/>
                </a:cubicBezTo>
                <a:cubicBezTo>
                  <a:pt x="254000" y="544949"/>
                  <a:pt x="276701" y="561975"/>
                  <a:pt x="304800" y="5619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5397500"/>
            <a:ext cx="1206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Multi-Factor Authentication (MFA)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Requires 2+ verification factors. Reduces account compromise by </a:t>
            </a:r>
            <a:pPr algn="l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99.9%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70000" y="69215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Best Practices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70000" y="7366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Regular updates · Password policies · Security training · Network segmentation · IDS · Audits · Incident response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Code: Encryption &amp; Password Security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24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Fernet Symmetric Encryption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24000" y="2349500"/>
            <a:ext cx="6350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cryptography.fernet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Fernet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Generate a key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= Fernet.generate_key()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cipher = Fernet(key)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Encrypt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msg =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7EC6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b"Secret Data"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= cipher.encrypt(msg)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Decrypt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 = cipher.decrypt(token)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82000" y="1841500"/>
            <a:ext cx="6604000" cy="33020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36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Password Hashing with bcrypt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36000" y="2349500"/>
            <a:ext cx="6096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bcrypt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Hash a password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=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7EC6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b"user_password"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salt = bcrypt.gensalt(rounds=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hashed = bcrypt.hashpw(password, salt)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Verify password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= bcrypt.checkpw(password, hashed)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7EC6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7EC6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f"Valid: {valid}"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70000" y="5461000"/>
            <a:ext cx="13716000" cy="2413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24000" y="5588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Secure Random Password Generator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24000" y="5969000"/>
            <a:ext cx="1320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secrets, string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 generate_password(length=16):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alphabet = string.ascii_letters + string.digits +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7EC6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"!@#$%^&amp;*"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password =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7EC6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''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.join(secrets.choice(alphabet)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_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range(length))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password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7EC6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(generate_password()) 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Output: k9#mP2$vLq5@nX8w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20: Modern Computing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Virtualization, Cloud, Deep/Dark Web, Bitcoin, VR/AR, and IoT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Virtualization: Multiple Systems on One Machine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05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Creating virtual versions of computing resources (servers, storage, networks) that run on physical hardware, enabling multiple OS instances to coexist.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" y="3048000"/>
            <a:ext cx="6604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4000" y="3302000"/>
            <a:ext cx="1778000" cy="381000"/>
          </a:xfrm>
          <a:prstGeom prst="roundRect">
            <a:avLst>
              <a:gd name="adj" fmla="val 15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302000"/>
            <a:ext cx="196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1 — Bare Metal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4000" y="3873500"/>
            <a:ext cx="609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directly on hardware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without a host OS. Best for enterprise data centers.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VMware ESXi, Microsoft Hyper-V, Xen, KVM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55000" y="3048000"/>
            <a:ext cx="6731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9000" y="3302000"/>
            <a:ext cx="1778000" cy="381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3302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2 — Hosted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9000" y="3873500"/>
            <a:ext cx="6223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 top of a host OS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Ideal for development, testing, and personal use.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VMware Workstation, VirtualBox, Parallels</a:t>
            </a:r>
            <a:endParaRPr lang="en-US" sz="1800" dirty="0"/>
          </a:p>
        </p:txBody>
      </p:sp>
      <p:pic>
        <p:nvPicPr>
          <p:cNvPr id="14" name="Image 0" descr="https://kimi-img.moonshot.cn/pub/slides/okc/5ei2xmbh7l23y/mnt/agents/output/week10-computing/images/7_Server_Virtualization_GeeksforGee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6032500"/>
            <a:ext cx="6350000" cy="2032000"/>
          </a:xfrm>
          <a:prstGeom prst="roundRect">
            <a:avLst>
              <a:gd name="adj" fmla="val 6000"/>
            </a:avLst>
          </a:prstGeom>
        </p:spPr>
      </p:pic>
      <p:sp>
        <p:nvSpPr>
          <p:cNvPr id="15" name="Shape 12"/>
          <p:cNvSpPr/>
          <p:nvPr/>
        </p:nvSpPr>
        <p:spPr>
          <a:xfrm>
            <a:off x="8001000" y="6032500"/>
            <a:ext cx="6985000" cy="203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3"/>
          <p:cNvSpPr/>
          <p:nvPr/>
        </p:nvSpPr>
        <p:spPr>
          <a:xfrm>
            <a:off x="8382000" y="61595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Benefits: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Resource optimization &amp; cost reduction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Isolation &amp; security between VMs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Easy testing &amp; rapid deployment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Disaster recovery &amp; high availability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Virtualization in Action: Real-World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540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 Virtualization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OS on one physical server. VMware vSphere, Citrix Hypervisor.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69000" y="1841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23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6223000" y="2540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Desktop Virtualization (VDI)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Centralized desktop management. VMware Horizon, Citrix DaaS.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0" y="1841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22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4978" y="69850"/>
                </a:moveTo>
                <a:lnTo>
                  <a:pt x="231422" y="69850"/>
                </a:lnTo>
                <a:lnTo>
                  <a:pt x="231422" y="107950"/>
                </a:lnTo>
                <a:lnTo>
                  <a:pt x="174978" y="107950"/>
                </a:lnTo>
                <a:lnTo>
                  <a:pt x="174978" y="69850"/>
                </a:lnTo>
                <a:close/>
                <a:moveTo>
                  <a:pt x="169333" y="25400"/>
                </a:moveTo>
                <a:cubicBezTo>
                  <a:pt x="150636" y="25400"/>
                  <a:pt x="135467" y="42466"/>
                  <a:pt x="135467" y="63500"/>
                </a:cubicBezTo>
                <a:lnTo>
                  <a:pt x="135467" y="114300"/>
                </a:lnTo>
                <a:cubicBezTo>
                  <a:pt x="135467" y="135334"/>
                  <a:pt x="150636" y="152400"/>
                  <a:pt x="169333" y="152400"/>
                </a:cubicBezTo>
                <a:lnTo>
                  <a:pt x="180622" y="152400"/>
                </a:lnTo>
                <a:lnTo>
                  <a:pt x="180622" y="177800"/>
                </a:lnTo>
                <a:lnTo>
                  <a:pt x="22578" y="177800"/>
                </a:lnTo>
                <a:cubicBezTo>
                  <a:pt x="10089" y="177800"/>
                  <a:pt x="0" y="189151"/>
                  <a:pt x="0" y="203200"/>
                </a:cubicBezTo>
                <a:cubicBezTo>
                  <a:pt x="0" y="217249"/>
                  <a:pt x="10089" y="228600"/>
                  <a:pt x="22578" y="228600"/>
                </a:cubicBezTo>
                <a:lnTo>
                  <a:pt x="90311" y="228600"/>
                </a:lnTo>
                <a:lnTo>
                  <a:pt x="90311" y="254000"/>
                </a:lnTo>
                <a:lnTo>
                  <a:pt x="79022" y="254000"/>
                </a:lnTo>
                <a:cubicBezTo>
                  <a:pt x="60325" y="254000"/>
                  <a:pt x="45156" y="271066"/>
                  <a:pt x="45156" y="292100"/>
                </a:cubicBezTo>
                <a:lnTo>
                  <a:pt x="45156" y="342900"/>
                </a:lnTo>
                <a:cubicBezTo>
                  <a:pt x="45156" y="363934"/>
                  <a:pt x="60325" y="381000"/>
                  <a:pt x="79022" y="381000"/>
                </a:cubicBezTo>
                <a:lnTo>
                  <a:pt x="146756" y="381000"/>
                </a:lnTo>
                <a:cubicBezTo>
                  <a:pt x="165453" y="381000"/>
                  <a:pt x="180622" y="363934"/>
                  <a:pt x="180622" y="342900"/>
                </a:cubicBezTo>
                <a:lnTo>
                  <a:pt x="180622" y="292100"/>
                </a:lnTo>
                <a:cubicBezTo>
                  <a:pt x="180622" y="271066"/>
                  <a:pt x="165453" y="254000"/>
                  <a:pt x="146756" y="254000"/>
                </a:cubicBezTo>
                <a:lnTo>
                  <a:pt x="135467" y="254000"/>
                </a:lnTo>
                <a:lnTo>
                  <a:pt x="135467" y="228600"/>
                </a:lnTo>
                <a:lnTo>
                  <a:pt x="270933" y="228600"/>
                </a:lnTo>
                <a:lnTo>
                  <a:pt x="270933" y="254000"/>
                </a:lnTo>
                <a:lnTo>
                  <a:pt x="259644" y="254000"/>
                </a:lnTo>
                <a:cubicBezTo>
                  <a:pt x="240947" y="254000"/>
                  <a:pt x="225778" y="271066"/>
                  <a:pt x="225778" y="292100"/>
                </a:cubicBezTo>
                <a:lnTo>
                  <a:pt x="225778" y="342900"/>
                </a:lnTo>
                <a:cubicBezTo>
                  <a:pt x="225778" y="363934"/>
                  <a:pt x="240947" y="381000"/>
                  <a:pt x="259644" y="381000"/>
                </a:cubicBezTo>
                <a:lnTo>
                  <a:pt x="327378" y="381000"/>
                </a:lnTo>
                <a:cubicBezTo>
                  <a:pt x="346075" y="381000"/>
                  <a:pt x="361244" y="363934"/>
                  <a:pt x="361244" y="342900"/>
                </a:cubicBezTo>
                <a:lnTo>
                  <a:pt x="361244" y="292100"/>
                </a:lnTo>
                <a:cubicBezTo>
                  <a:pt x="361244" y="271066"/>
                  <a:pt x="346075" y="254000"/>
                  <a:pt x="327378" y="254000"/>
                </a:cubicBezTo>
                <a:lnTo>
                  <a:pt x="316089" y="254000"/>
                </a:lnTo>
                <a:lnTo>
                  <a:pt x="316089" y="228600"/>
                </a:lnTo>
                <a:lnTo>
                  <a:pt x="383822" y="228600"/>
                </a:lnTo>
                <a:cubicBezTo>
                  <a:pt x="396311" y="228600"/>
                  <a:pt x="406400" y="217249"/>
                  <a:pt x="406400" y="203200"/>
                </a:cubicBezTo>
                <a:cubicBezTo>
                  <a:pt x="406400" y="189151"/>
                  <a:pt x="396311" y="177800"/>
                  <a:pt x="383822" y="177800"/>
                </a:cubicBezTo>
                <a:lnTo>
                  <a:pt x="225778" y="177800"/>
                </a:lnTo>
                <a:lnTo>
                  <a:pt x="225778" y="152400"/>
                </a:lnTo>
                <a:lnTo>
                  <a:pt x="237067" y="152400"/>
                </a:lnTo>
                <a:cubicBezTo>
                  <a:pt x="255764" y="152400"/>
                  <a:pt x="270933" y="135334"/>
                  <a:pt x="270933" y="114300"/>
                </a:cubicBezTo>
                <a:lnTo>
                  <a:pt x="270933" y="63500"/>
                </a:lnTo>
                <a:cubicBezTo>
                  <a:pt x="270933" y="42466"/>
                  <a:pt x="255764" y="25400"/>
                  <a:pt x="237067" y="25400"/>
                </a:cubicBezTo>
                <a:lnTo>
                  <a:pt x="169333" y="25400"/>
                </a:lnTo>
                <a:close/>
                <a:moveTo>
                  <a:pt x="316089" y="298450"/>
                </a:moveTo>
                <a:lnTo>
                  <a:pt x="321733" y="298450"/>
                </a:lnTo>
                <a:lnTo>
                  <a:pt x="321733" y="336550"/>
                </a:lnTo>
                <a:lnTo>
                  <a:pt x="265289" y="336550"/>
                </a:lnTo>
                <a:lnTo>
                  <a:pt x="265289" y="298450"/>
                </a:lnTo>
                <a:lnTo>
                  <a:pt x="316089" y="298450"/>
                </a:lnTo>
                <a:close/>
                <a:moveTo>
                  <a:pt x="135467" y="298450"/>
                </a:moveTo>
                <a:lnTo>
                  <a:pt x="141111" y="298450"/>
                </a:lnTo>
                <a:lnTo>
                  <a:pt x="141111" y="336550"/>
                </a:lnTo>
                <a:lnTo>
                  <a:pt x="84667" y="336550"/>
                </a:lnTo>
                <a:lnTo>
                  <a:pt x="84667" y="298450"/>
                </a:lnTo>
                <a:lnTo>
                  <a:pt x="135467" y="2984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2540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Virtualization (SDN)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Abstract network resources. VMware NSX, Cisco ACI.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4127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24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206454"/>
                </a:lnTo>
                <a:cubicBezTo>
                  <a:pt x="16419" y="196374"/>
                  <a:pt x="36467" y="190500"/>
                  <a:pt x="58057" y="190500"/>
                </a:cubicBezTo>
                <a:lnTo>
                  <a:pt x="348343" y="190500"/>
                </a:lnTo>
                <a:cubicBezTo>
                  <a:pt x="369933" y="190500"/>
                  <a:pt x="389981" y="196374"/>
                  <a:pt x="406400" y="206454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406400" y="279400"/>
                </a:move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lose/>
                <a:moveTo>
                  <a:pt x="203200" y="304800"/>
                </a:moveTo>
                <a:cubicBezTo>
                  <a:pt x="203200" y="290781"/>
                  <a:pt x="216207" y="279400"/>
                  <a:pt x="232229" y="279400"/>
                </a:cubicBezTo>
                <a:cubicBezTo>
                  <a:pt x="248250" y="279400"/>
                  <a:pt x="261257" y="290781"/>
                  <a:pt x="261257" y="304800"/>
                </a:cubicBezTo>
                <a:cubicBezTo>
                  <a:pt x="261257" y="318819"/>
                  <a:pt x="248250" y="330200"/>
                  <a:pt x="232229" y="330200"/>
                </a:cubicBezTo>
                <a:cubicBezTo>
                  <a:pt x="216207" y="330200"/>
                  <a:pt x="203200" y="318819"/>
                  <a:pt x="203200" y="304800"/>
                </a:cubicBezTo>
                <a:close/>
                <a:moveTo>
                  <a:pt x="319314" y="279400"/>
                </a:moveTo>
                <a:cubicBezTo>
                  <a:pt x="335336" y="279400"/>
                  <a:pt x="348343" y="290781"/>
                  <a:pt x="348343" y="304800"/>
                </a:cubicBezTo>
                <a:cubicBezTo>
                  <a:pt x="348343" y="318819"/>
                  <a:pt x="335336" y="330200"/>
                  <a:pt x="319314" y="330200"/>
                </a:cubicBezTo>
                <a:cubicBezTo>
                  <a:pt x="303293" y="330200"/>
                  <a:pt x="290286" y="318819"/>
                  <a:pt x="290286" y="304800"/>
                </a:cubicBezTo>
                <a:cubicBezTo>
                  <a:pt x="290286" y="290781"/>
                  <a:pt x="303293" y="279400"/>
                  <a:pt x="319314" y="2794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4826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Storage Virtualization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Pool physical storage. SAN, NAS, VMware vSAN.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4127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3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69850" y="101600"/>
                </a:moveTo>
                <a:lnTo>
                  <a:pt x="336550" y="101600"/>
                </a:lnTo>
                <a:cubicBezTo>
                  <a:pt x="347107" y="101600"/>
                  <a:pt x="355600" y="110093"/>
                  <a:pt x="355600" y="120650"/>
                </a:cubicBezTo>
                <a:cubicBezTo>
                  <a:pt x="355600" y="131207"/>
                  <a:pt x="347107" y="139700"/>
                  <a:pt x="336550" y="139700"/>
                </a:cubicBezTo>
                <a:lnTo>
                  <a:pt x="69850" y="139700"/>
                </a:lnTo>
                <a:cubicBezTo>
                  <a:pt x="59293" y="139700"/>
                  <a:pt x="50800" y="131207"/>
                  <a:pt x="50800" y="120650"/>
                </a:cubicBezTo>
                <a:cubicBezTo>
                  <a:pt x="50800" y="110093"/>
                  <a:pt x="59293" y="101600"/>
                  <a:pt x="69850" y="1016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223000" y="4826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 Virtualization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 apps without install. Microsoft App-V, VMware ThinApp.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4127500"/>
            <a:ext cx="4318000" cy="196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10922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2187" y="187563"/>
                </a:moveTo>
                <a:lnTo>
                  <a:pt x="180213" y="187563"/>
                </a:lnTo>
                <a:lnTo>
                  <a:pt x="180213" y="140414"/>
                </a:lnTo>
                <a:lnTo>
                  <a:pt x="222187" y="140414"/>
                </a:lnTo>
                <a:lnTo>
                  <a:pt x="222187" y="187563"/>
                </a:lnTo>
                <a:close/>
                <a:moveTo>
                  <a:pt x="222187" y="25400"/>
                </a:moveTo>
                <a:lnTo>
                  <a:pt x="180213" y="25400"/>
                </a:lnTo>
                <a:lnTo>
                  <a:pt x="180213" y="73581"/>
                </a:lnTo>
                <a:lnTo>
                  <a:pt x="222187" y="73581"/>
                </a:lnTo>
                <a:lnTo>
                  <a:pt x="222187" y="25400"/>
                </a:lnTo>
                <a:close/>
                <a:moveTo>
                  <a:pt x="271844" y="140335"/>
                </a:moveTo>
                <a:lnTo>
                  <a:pt x="229870" y="140335"/>
                </a:lnTo>
                <a:lnTo>
                  <a:pt x="229870" y="187484"/>
                </a:lnTo>
                <a:lnTo>
                  <a:pt x="271844" y="187484"/>
                </a:lnTo>
                <a:lnTo>
                  <a:pt x="271844" y="140335"/>
                </a:lnTo>
                <a:close/>
                <a:moveTo>
                  <a:pt x="172593" y="83106"/>
                </a:moveTo>
                <a:lnTo>
                  <a:pt x="130620" y="83106"/>
                </a:lnTo>
                <a:lnTo>
                  <a:pt x="130620" y="130810"/>
                </a:lnTo>
                <a:lnTo>
                  <a:pt x="172593" y="130810"/>
                </a:lnTo>
                <a:lnTo>
                  <a:pt x="172593" y="83106"/>
                </a:lnTo>
                <a:close/>
                <a:moveTo>
                  <a:pt x="222187" y="83106"/>
                </a:moveTo>
                <a:lnTo>
                  <a:pt x="180213" y="83106"/>
                </a:lnTo>
                <a:lnTo>
                  <a:pt x="180213" y="130810"/>
                </a:lnTo>
                <a:lnTo>
                  <a:pt x="222187" y="130810"/>
                </a:lnTo>
                <a:lnTo>
                  <a:pt x="222187" y="83106"/>
                </a:lnTo>
                <a:close/>
                <a:moveTo>
                  <a:pt x="397955" y="162481"/>
                </a:moveTo>
                <a:cubicBezTo>
                  <a:pt x="388811" y="154781"/>
                  <a:pt x="367729" y="152003"/>
                  <a:pt x="351536" y="155813"/>
                </a:cubicBezTo>
                <a:cubicBezTo>
                  <a:pt x="349441" y="136763"/>
                  <a:pt x="340932" y="120174"/>
                  <a:pt x="325438" y="105251"/>
                </a:cubicBezTo>
                <a:lnTo>
                  <a:pt x="316548" y="97869"/>
                </a:lnTo>
                <a:lnTo>
                  <a:pt x="310642" y="108982"/>
                </a:lnTo>
                <a:cubicBezTo>
                  <a:pt x="298958" y="131048"/>
                  <a:pt x="295783" y="167402"/>
                  <a:pt x="308293" y="191373"/>
                </a:cubicBezTo>
                <a:cubicBezTo>
                  <a:pt x="302768" y="195104"/>
                  <a:pt x="291910" y="200184"/>
                  <a:pt x="277559" y="199866"/>
                </a:cubicBezTo>
                <a:lnTo>
                  <a:pt x="1524" y="199866"/>
                </a:lnTo>
                <a:cubicBezTo>
                  <a:pt x="-4000" y="240189"/>
                  <a:pt x="5207" y="292576"/>
                  <a:pt x="29464" y="328533"/>
                </a:cubicBezTo>
                <a:cubicBezTo>
                  <a:pt x="53023" y="363379"/>
                  <a:pt x="88329" y="381079"/>
                  <a:pt x="134493" y="381079"/>
                </a:cubicBezTo>
                <a:cubicBezTo>
                  <a:pt x="234442" y="381079"/>
                  <a:pt x="308420" y="323532"/>
                  <a:pt x="343027" y="218996"/>
                </a:cubicBezTo>
                <a:cubicBezTo>
                  <a:pt x="356616" y="219313"/>
                  <a:pt x="385953" y="219075"/>
                  <a:pt x="401003" y="183118"/>
                </a:cubicBezTo>
                <a:cubicBezTo>
                  <a:pt x="401955" y="181134"/>
                  <a:pt x="405194" y="172641"/>
                  <a:pt x="406400" y="169545"/>
                </a:cubicBezTo>
                <a:lnTo>
                  <a:pt x="397955" y="162481"/>
                </a:lnTo>
                <a:close/>
                <a:moveTo>
                  <a:pt x="73406" y="140335"/>
                </a:moveTo>
                <a:lnTo>
                  <a:pt x="31496" y="140335"/>
                </a:lnTo>
                <a:lnTo>
                  <a:pt x="31496" y="187484"/>
                </a:lnTo>
                <a:lnTo>
                  <a:pt x="73470" y="187484"/>
                </a:lnTo>
                <a:lnTo>
                  <a:pt x="73470" y="140335"/>
                </a:lnTo>
                <a:lnTo>
                  <a:pt x="73406" y="140335"/>
                </a:lnTo>
                <a:close/>
                <a:moveTo>
                  <a:pt x="123000" y="140335"/>
                </a:moveTo>
                <a:lnTo>
                  <a:pt x="81026" y="140335"/>
                </a:lnTo>
                <a:lnTo>
                  <a:pt x="81026" y="187484"/>
                </a:lnTo>
                <a:lnTo>
                  <a:pt x="123000" y="187484"/>
                </a:lnTo>
                <a:lnTo>
                  <a:pt x="123000" y="140335"/>
                </a:lnTo>
                <a:close/>
                <a:moveTo>
                  <a:pt x="172593" y="140335"/>
                </a:moveTo>
                <a:lnTo>
                  <a:pt x="130619" y="140335"/>
                </a:lnTo>
                <a:lnTo>
                  <a:pt x="130619" y="187484"/>
                </a:lnTo>
                <a:lnTo>
                  <a:pt x="172593" y="187484"/>
                </a:lnTo>
                <a:lnTo>
                  <a:pt x="172593" y="140335"/>
                </a:lnTo>
                <a:close/>
                <a:moveTo>
                  <a:pt x="122999" y="83106"/>
                </a:moveTo>
                <a:lnTo>
                  <a:pt x="81026" y="83106"/>
                </a:lnTo>
                <a:lnTo>
                  <a:pt x="81026" y="130810"/>
                </a:lnTo>
                <a:lnTo>
                  <a:pt x="122999" y="130810"/>
                </a:lnTo>
                <a:lnTo>
                  <a:pt x="122999" y="83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0" y="4826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Containerization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Lightweight VMs alternative. Docker, Kubernetes.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6477000"/>
          <a:ext cx="13716000" cy="13970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  <a:gridCol w="34290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Aspect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Containers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Emulation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What it virtualizes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Operating System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CPU/Architecture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Emulation: Recreating Hardware in Software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05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Software that mimics hardware of another system to run software that is incompatible with the host machine.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2857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Virtualization vs Emulation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3429000"/>
          <a:ext cx="68580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400300"/>
                <a:gridCol w="24003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Virtualization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Emulation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Hardware Use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Uses host directly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Simulates hardware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Compatibility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Guest = Host arch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Any architecture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Performance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Near-native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Slower overhead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763000" y="2857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Use Cases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763000" y="3429000"/>
            <a:ext cx="622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Running retro games (Atari, NES, Commodore 64)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Cross-platform development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Legacy software support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Digital preservation of old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Mobile app testing (Android on PC)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70000" y="60325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Popular Emulators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70000" y="6604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2" name="Text 9"/>
          <p:cNvSpPr/>
          <p:nvPr/>
        </p:nvSpPr>
        <p:spPr>
          <a:xfrm>
            <a:off x="1397000" y="6731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QEMU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Cross-platform system emulator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99000" y="6604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4" name="Text 11"/>
          <p:cNvSpPr/>
          <p:nvPr/>
        </p:nvSpPr>
        <p:spPr>
          <a:xfrm>
            <a:off x="4826000" y="6731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Dolphin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GameCube &amp; Wii emulator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128000" y="6604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6" name="Text 13"/>
          <p:cNvSpPr/>
          <p:nvPr/>
        </p:nvSpPr>
        <p:spPr>
          <a:xfrm>
            <a:off x="8255000" y="6731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BlueStacks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 on PC emulator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1557000" y="6604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8" name="Text 15"/>
          <p:cNvSpPr/>
          <p:nvPr/>
        </p:nvSpPr>
        <p:spPr>
          <a:xfrm>
            <a:off x="11684000" y="6731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MAME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Arcade game emulator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Computing: Computing as a Utility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1905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Delivery of computing services (servers, storage, databases, networking, software) over the internet. "Like electricity — you don't own the power plant, you pay for what you use."</a:t>
            </a:r>
            <a:endParaRPr lang="en-US" sz="1800" dirty="0"/>
          </a:p>
        </p:txBody>
      </p:sp>
      <p:pic>
        <p:nvPicPr>
          <p:cNvPr id="6" name="Image 0" descr="https://kimi-img.moonshot.cn/pub/slides/okc/5ei2xmbh7l23y/mnt/agents/output/week10-computing/images/6_Free_Cloud_Computing_Infrastru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2921000"/>
            <a:ext cx="4826000" cy="3175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6604000" y="2921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 Models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04000" y="3492500"/>
            <a:ext cx="8382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IaaS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Infrastructure as a Service (rent servers, storage)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PaaS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Platform as a Service (rent dev environment)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SaaS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Software as a Service (rent ready-to-use apps)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Models: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· Private · Hybrid · Community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70000" y="6477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Cloud Providers (2025)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270000" y="6985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397000" y="7048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32% market share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699000" y="6985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26000" y="7048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Azure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23% market share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128000" y="6985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55000" y="7048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Cloud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10% market share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557000" y="6985000"/>
            <a:ext cx="3429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1684000" y="7048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Others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IBM, Oracle, Alibaba (35%)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IaaS vs PaaS vs SaaS: Understanding the Layers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841500"/>
          <a:ext cx="13716000" cy="3556000"/>
        </p:xfrm>
        <a:graphic>
          <a:graphicData uri="http://schemas.openxmlformats.org/drawingml/2006/table">
            <a:tbl>
              <a:tblPr/>
              <a:tblGrid>
                <a:gridCol w="2743200"/>
                <a:gridCol w="3703320"/>
                <a:gridCol w="3703320"/>
                <a:gridCol w="3566160"/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IaaS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PaaS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SaaS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What you rent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Servers, storage, network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Development platform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Ready-to-use software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Provider manages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Infrastructure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Runtime, middleware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Everything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You manage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OS, apps, data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Applications, data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Just your data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EC2, Azure VM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Heroku, App Engine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Gmail, Salesforce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Customization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Analogy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Renting a kitchen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Meal kit delivery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Dining at a restaurant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5778500"/>
            <a:ext cx="13716000" cy="635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270000" y="5778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SaaS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Applications (Gmail, Slack, Zoom, Salesforce)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270000" y="6540500"/>
            <a:ext cx="13716000" cy="635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1270000" y="6540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PaaS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Platform (OS, Runtime, Middleware, Databases)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70000" y="7302500"/>
            <a:ext cx="13716000" cy="635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10" name="Text 7"/>
          <p:cNvSpPr/>
          <p:nvPr/>
        </p:nvSpPr>
        <p:spPr>
          <a:xfrm>
            <a:off x="1270000" y="7302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IaaS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Infrastructure (Servers, Storage, Networking, Virtualization)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Computing: Pros, Cons &amp; Real-World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7AE6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223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Reduction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Up to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35%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yearly savings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Handle traffic spikes instantly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Disaster Recovery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Multi-region backup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Reach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CDN for low latency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 Updates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Provider-managed patches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72% efficiency boost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77%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businesses use cloud services.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36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9126" y="149126"/>
                </a:moveTo>
                <a:cubicBezTo>
                  <a:pt x="157520" y="140732"/>
                  <a:pt x="171093" y="140732"/>
                  <a:pt x="179397" y="149126"/>
                </a:cubicBezTo>
                <a:lnTo>
                  <a:pt x="228511" y="198239"/>
                </a:lnTo>
                <a:lnTo>
                  <a:pt x="277624" y="149126"/>
                </a:lnTo>
                <a:cubicBezTo>
                  <a:pt x="286018" y="140732"/>
                  <a:pt x="299591" y="140732"/>
                  <a:pt x="307896" y="149126"/>
                </a:cubicBezTo>
                <a:cubicBezTo>
                  <a:pt x="316200" y="157520"/>
                  <a:pt x="316290" y="171093"/>
                  <a:pt x="307896" y="179397"/>
                </a:cubicBezTo>
                <a:lnTo>
                  <a:pt x="258782" y="228511"/>
                </a:lnTo>
                <a:lnTo>
                  <a:pt x="307896" y="277624"/>
                </a:lnTo>
                <a:cubicBezTo>
                  <a:pt x="316290" y="286018"/>
                  <a:pt x="316290" y="299591"/>
                  <a:pt x="307896" y="307896"/>
                </a:cubicBezTo>
                <a:cubicBezTo>
                  <a:pt x="299502" y="316200"/>
                  <a:pt x="285929" y="316290"/>
                  <a:pt x="277624" y="307896"/>
                </a:cubicBezTo>
                <a:lnTo>
                  <a:pt x="228511" y="258782"/>
                </a:lnTo>
                <a:lnTo>
                  <a:pt x="179397" y="307896"/>
                </a:lnTo>
                <a:cubicBezTo>
                  <a:pt x="171004" y="316290"/>
                  <a:pt x="157430" y="316290"/>
                  <a:pt x="149126" y="307896"/>
                </a:cubicBezTo>
                <a:cubicBezTo>
                  <a:pt x="140821" y="299502"/>
                  <a:pt x="140732" y="285929"/>
                  <a:pt x="149126" y="277624"/>
                </a:cubicBezTo>
                <a:lnTo>
                  <a:pt x="198239" y="228511"/>
                </a:lnTo>
                <a:lnTo>
                  <a:pt x="149126" y="179397"/>
                </a:lnTo>
                <a:cubicBezTo>
                  <a:pt x="140732" y="171004"/>
                  <a:pt x="140732" y="157430"/>
                  <a:pt x="149126" y="14912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Disadvantages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36000" y="2794000"/>
            <a:ext cx="609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Vendor Lock-In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38%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delay migration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Internet Dependency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Azure 6hr outage 2023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Unpredictable Costs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20-30% bill increases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Concerns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Capital One: $150M breach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Compliance Complexity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GDPR, HIPAA rules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Issues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Multi-tenant variability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Downtime cost: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$5,600/min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69215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651000" y="69850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Success: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Netflix uses AWS edge servers to reduce video buffering by 50%. Spotify reduced release cycles by 30% using cloud infrastructure.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Deep Web: Beyond Search Engines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05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Parts of the internet not indexed by standard search engines. Estimated to be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400-550x larger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than the surface web.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inherently illegal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mostly legitimate content.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2921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What's in the Deep Web?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34925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Academic databases (JSTOR, PubMed)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Legal documents (LexisNexis)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Medical records &amp; scientific reports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Subscription-based content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Private corporate intranets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Government resources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Online banking portals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0" y="2921000"/>
            <a:ext cx="6350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90000" y="31115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Web Iceberg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890000" y="3683000"/>
            <a:ext cx="5842000" cy="254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11" name="Shape 9"/>
          <p:cNvSpPr/>
          <p:nvPr/>
        </p:nvSpPr>
        <p:spPr>
          <a:xfrm>
            <a:off x="8890000" y="3810000"/>
            <a:ext cx="5842000" cy="635000"/>
          </a:xfrm>
          <a:prstGeom prst="roundRect">
            <a:avLst>
              <a:gd name="adj" fmla="val 6000"/>
            </a:avLst>
          </a:prstGeom>
          <a:solidFill>
            <a:srgbClr val="6B9CBF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3810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Surface Web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(~0.2% — Google, Wikipedia)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0000" y="4381500"/>
            <a:ext cx="5842000" cy="635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43815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Web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(~99.8%)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890000" y="5143500"/>
            <a:ext cx="5842000" cy="4445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51435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Dark Web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(~0.01% — Tor .onion)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000" y="6794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Requires direct URL, login credentials, or specialized search tools. Most deep web content is completely legal.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Dark Web: The Hidden Underbelly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905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small portion of the deep web (~0.01%) intentionally hidden, requiring special software (Tor) to access. Characterized by anonymity and encrypted communications.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2921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Tor Works</a:t>
            </a:r>
            <a:endParaRPr lang="en-US" sz="2200" dirty="0"/>
          </a:p>
        </p:txBody>
      </p:sp>
      <p:pic>
        <p:nvPicPr>
          <p:cNvPr id="7" name="Image 0" descr="https://kimi-img.moonshot.cn/pub/slides/okc/5ei2xmbh7l23y/mnt/agents/output/week10-computing/images/7_How_Anonymous_Is_the_Dark_Web_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3492500"/>
            <a:ext cx="4826000" cy="2540000"/>
          </a:xfrm>
          <a:prstGeom prst="roundRect">
            <a:avLst>
              <a:gd name="adj" fmla="val 80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1270000" y="6159500"/>
            <a:ext cx="482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Tor uses layered encryption and 7,000+ relays.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04000" y="2921000"/>
            <a:ext cx="8382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21500" y="3175000"/>
            <a:ext cx="7747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Characteristics: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Anonymity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Users and operators hidden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Encrypted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Communications secured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.onion sites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Only accessible via Tor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Cryptocurrency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Bitcoin for transactions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Legitimate Uses: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Whistleblowers, journalists, activists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70000" y="71755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12" name="Text 9"/>
          <p:cNvSpPr/>
          <p:nvPr/>
        </p:nvSpPr>
        <p:spPr>
          <a:xfrm>
            <a:off x="1651000" y="7239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Important: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While the dark web has legitimate uses, it also hosts significant illegal activity. Accessing it carries legal and security risks.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Dark Web: Risks, Cases &amp; Staying Safe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1886" y="128588"/>
                </a:moveTo>
                <a:cubicBezTo>
                  <a:pt x="391886" y="57596"/>
                  <a:pt x="318815" y="0"/>
                  <a:pt x="228600" y="0"/>
                </a:cubicBezTo>
                <a:cubicBezTo>
                  <a:pt x="138385" y="0"/>
                  <a:pt x="65314" y="57596"/>
                  <a:pt x="65314" y="128588"/>
                </a:cubicBezTo>
                <a:cubicBezTo>
                  <a:pt x="65314" y="170646"/>
                  <a:pt x="90930" y="207972"/>
                  <a:pt x="130629" y="231458"/>
                </a:cubicBezTo>
                <a:lnTo>
                  <a:pt x="130629" y="257175"/>
                </a:lnTo>
                <a:cubicBezTo>
                  <a:pt x="130629" y="272981"/>
                  <a:pt x="145222" y="285750"/>
                  <a:pt x="163286" y="285750"/>
                </a:cubicBezTo>
                <a:lnTo>
                  <a:pt x="293914" y="285750"/>
                </a:lnTo>
                <a:cubicBezTo>
                  <a:pt x="311978" y="285750"/>
                  <a:pt x="326571" y="272981"/>
                  <a:pt x="326571" y="257175"/>
                </a:cubicBezTo>
                <a:lnTo>
                  <a:pt x="326571" y="231458"/>
                </a:lnTo>
                <a:cubicBezTo>
                  <a:pt x="366270" y="207972"/>
                  <a:pt x="391886" y="170646"/>
                  <a:pt x="391886" y="128588"/>
                </a:cubicBezTo>
                <a:close/>
                <a:moveTo>
                  <a:pt x="163286" y="114300"/>
                </a:moveTo>
                <a:cubicBezTo>
                  <a:pt x="181310" y="114300"/>
                  <a:pt x="195943" y="127104"/>
                  <a:pt x="195943" y="142875"/>
                </a:cubicBezTo>
                <a:cubicBezTo>
                  <a:pt x="195943" y="158646"/>
                  <a:pt x="181310" y="171450"/>
                  <a:pt x="163286" y="171450"/>
                </a:cubicBezTo>
                <a:cubicBezTo>
                  <a:pt x="145262" y="171450"/>
                  <a:pt x="130629" y="158646"/>
                  <a:pt x="130629" y="142875"/>
                </a:cubicBezTo>
                <a:cubicBezTo>
                  <a:pt x="130629" y="127104"/>
                  <a:pt x="145262" y="114300"/>
                  <a:pt x="163286" y="114300"/>
                </a:cubicBezTo>
                <a:close/>
                <a:moveTo>
                  <a:pt x="261257" y="142875"/>
                </a:moveTo>
                <a:cubicBezTo>
                  <a:pt x="261257" y="127104"/>
                  <a:pt x="275890" y="114300"/>
                  <a:pt x="293914" y="114300"/>
                </a:cubicBezTo>
                <a:cubicBezTo>
                  <a:pt x="311938" y="114300"/>
                  <a:pt x="326571" y="127104"/>
                  <a:pt x="326571" y="142875"/>
                </a:cubicBezTo>
                <a:cubicBezTo>
                  <a:pt x="326571" y="158646"/>
                  <a:pt x="311938" y="171450"/>
                  <a:pt x="293914" y="171450"/>
                </a:cubicBezTo>
                <a:cubicBezTo>
                  <a:pt x="275890" y="171450"/>
                  <a:pt x="261257" y="158646"/>
                  <a:pt x="261257" y="142875"/>
                </a:cubicBezTo>
                <a:close/>
                <a:moveTo>
                  <a:pt x="454649" y="303341"/>
                </a:moveTo>
                <a:cubicBezTo>
                  <a:pt x="447709" y="288786"/>
                  <a:pt x="428625" y="281910"/>
                  <a:pt x="411990" y="287982"/>
                </a:cubicBezTo>
                <a:lnTo>
                  <a:pt x="228600" y="354776"/>
                </a:lnTo>
                <a:lnTo>
                  <a:pt x="45210" y="287982"/>
                </a:lnTo>
                <a:cubicBezTo>
                  <a:pt x="28575" y="281910"/>
                  <a:pt x="9491" y="288786"/>
                  <a:pt x="2551" y="303341"/>
                </a:cubicBezTo>
                <a:cubicBezTo>
                  <a:pt x="-4388" y="317897"/>
                  <a:pt x="3470" y="334595"/>
                  <a:pt x="20105" y="340668"/>
                </a:cubicBezTo>
                <a:lnTo>
                  <a:pt x="143691" y="385763"/>
                </a:lnTo>
                <a:lnTo>
                  <a:pt x="20105" y="430857"/>
                </a:lnTo>
                <a:cubicBezTo>
                  <a:pt x="3470" y="436930"/>
                  <a:pt x="-4388" y="453628"/>
                  <a:pt x="2551" y="468184"/>
                </a:cubicBezTo>
                <a:cubicBezTo>
                  <a:pt x="9491" y="482739"/>
                  <a:pt x="28575" y="489615"/>
                  <a:pt x="45210" y="483543"/>
                </a:cubicBezTo>
                <a:lnTo>
                  <a:pt x="228600" y="416749"/>
                </a:lnTo>
                <a:lnTo>
                  <a:pt x="411990" y="483543"/>
                </a:lnTo>
                <a:cubicBezTo>
                  <a:pt x="428625" y="489615"/>
                  <a:pt x="447709" y="482739"/>
                  <a:pt x="454649" y="468184"/>
                </a:cubicBezTo>
                <a:cubicBezTo>
                  <a:pt x="461588" y="453628"/>
                  <a:pt x="453730" y="436930"/>
                  <a:pt x="437095" y="430857"/>
                </a:cubicBezTo>
                <a:lnTo>
                  <a:pt x="313509" y="385763"/>
                </a:lnTo>
                <a:lnTo>
                  <a:pt x="437095" y="340668"/>
                </a:lnTo>
                <a:cubicBezTo>
                  <a:pt x="453730" y="334595"/>
                  <a:pt x="461588" y="317897"/>
                  <a:pt x="454649" y="303341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Illegal Activities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Drug trafficking (Silk Road: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$1.2B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Weapons and counterfeit goods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Stolen data markets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Hacking services and malware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55000" y="1905000"/>
            <a:ext cx="6731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9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Risks of Accessing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9000" y="27940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Malware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Drive-by downloads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Scams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No recourse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Legal risks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Law enforcement monitors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Identity exposure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0000" y="51435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Law Enforcement Takedowns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70000" y="5842000"/>
            <a:ext cx="13716000" cy="381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2000" y="5715000"/>
            <a:ext cx="304800" cy="304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6159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2013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Silk Road shut down by FBI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88000" y="5715000"/>
            <a:ext cx="304800" cy="304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4826000" y="6159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2017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AlphaBay seized by FBI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5715000"/>
            <a:ext cx="304800" cy="304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6159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Hydra Market shut down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700000" y="5715000"/>
            <a:ext cx="304800" cy="3048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11938000" y="6159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Ongoing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FBI, Europol monitoring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70000" y="7366000"/>
            <a:ext cx="13716000" cy="6985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1651000" y="7429500"/>
            <a:ext cx="1295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Staying Safe: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Never visit without purpose · Use VPN + Tor · Don't download files · Never share personal info · Understand legal risks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Bitcoin: Digital Money Powered by Blockchain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First decentralized cryptocurrency, created by Satoshi Nakamoto (2008 whitepaper, 2009 launch).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Decentralized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central authority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Supply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Only 21 million coins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Pseudonymous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Wallet addresses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Immutable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Cannot be reversed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 Salvador adopted Bitcoin as legal tender in 2021.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841500"/>
            <a:ext cx="6096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032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Blockchain Works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0" y="2540000"/>
            <a:ext cx="558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blockchain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a distributed digital ledger.</a:t>
            </a:r>
            <a:endParaRPr lang="en-US" sz="1800" dirty="0"/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Process: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Transaction broadcast to network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Miners verify using cryptography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Transactions form a block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Block added to the chain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5715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Wallet Types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70000" y="62865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0500" y="64135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Hot Wallet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Connected to internet. (Coinbase, MetaMask)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99000" y="62865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89500" y="64135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Cold Wallet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Offline storage. (Ledger, Trezor)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0" y="62865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8500" y="64135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Paper Wallet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key printed on paper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557000" y="6286500"/>
            <a:ext cx="3429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1747500" y="6413500"/>
            <a:ext cx="304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Brain Wallet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from memorized passphrase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Bitcoin Mining, Value &amp; Global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is Mining?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Verifying transactions and adding them to the blockchain.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Miners solve puzzles (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Proof of Work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for rewards.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Difficulty adjusts every 2,016 blocks.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509000" y="1905000"/>
          <a:ext cx="6477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270000" y="5461000"/>
            <a:ext cx="3175000" cy="165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0" name="Text 7"/>
          <p:cNvSpPr/>
          <p:nvPr/>
        </p:nvSpPr>
        <p:spPr>
          <a:xfrm>
            <a:off x="1397000" y="5588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~150 TWh</a:t>
            </a:r>
            <a:endParaRPr lang="en-US" sz="26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Annual energy use (like Argentina)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699000" y="5461000"/>
            <a:ext cx="3175000" cy="1651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2" name="Text 9"/>
          <p:cNvSpPr/>
          <p:nvPr/>
        </p:nvSpPr>
        <p:spPr>
          <a:xfrm>
            <a:off x="4826000" y="5588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~$95K</a:t>
            </a:r>
            <a:endParaRPr lang="en-US" sz="28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price in 2025 (peaked at $69K in 2021)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128000" y="5461000"/>
            <a:ext cx="3175000" cy="165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4" name="Text 11"/>
          <p:cNvSpPr/>
          <p:nvPr/>
        </p:nvSpPr>
        <p:spPr>
          <a:xfrm>
            <a:off x="8255000" y="5588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21M</a:t>
            </a:r>
            <a:endParaRPr lang="en-US" sz="28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Maximum supply cap. Currently ~19.7M mined.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11557000" y="5461000"/>
            <a:ext cx="3429000" cy="1651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6" name="Text 13"/>
          <p:cNvSpPr/>
          <p:nvPr/>
        </p:nvSpPr>
        <p:spPr>
          <a:xfrm>
            <a:off x="11684000" y="55880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$0.003</a:t>
            </a:r>
            <a:endParaRPr lang="en-US" sz="28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recorded price (2010) vs ~$95,000 today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270000" y="7429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Environmental: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Shift to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renewable mining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(hydro, solar). Iceland hosts major green farms.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Reality: Stepping Into Digital Worlds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pic>
        <p:nvPicPr>
          <p:cNvPr id="4" name="Image 0" descr="https://kimi-img.moonshot.cn/pub/slides/okc/5ei2xmbh7l23y/mnt/agents/output/week10-computing/images/1_The_2_Best_VR_Headsets_for_2026_Review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1905000"/>
            <a:ext cx="5080000" cy="3302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731000" y="1905000"/>
            <a:ext cx="8255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8500" y="2095500"/>
            <a:ext cx="762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Creates a fully simulated environment, replacing the real world.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Characteristics: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Full immersion with 360° view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Spatial audio, hand tracking, haptics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Market: 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$165B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projected by 2030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70000" y="5524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 Applications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270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9" name="Shape 6"/>
          <p:cNvSpPr/>
          <p:nvPr/>
        </p:nvSpPr>
        <p:spPr>
          <a:xfrm>
            <a:off x="2044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0040" y="57150"/>
                </a:moveTo>
                <a:cubicBezTo>
                  <a:pt x="395764" y="57150"/>
                  <a:pt x="457200" y="133945"/>
                  <a:pt x="457200" y="228600"/>
                </a:cubicBezTo>
                <a:cubicBezTo>
                  <a:pt x="457200" y="323255"/>
                  <a:pt x="395764" y="400050"/>
                  <a:pt x="320040" y="400050"/>
                </a:cubicBezTo>
                <a:lnTo>
                  <a:pt x="137160" y="400050"/>
                </a:lnTo>
                <a:cubicBezTo>
                  <a:pt x="61436" y="400050"/>
                  <a:pt x="0" y="323255"/>
                  <a:pt x="0" y="228600"/>
                </a:cubicBezTo>
                <a:cubicBezTo>
                  <a:pt x="0" y="133945"/>
                  <a:pt x="61436" y="57150"/>
                  <a:pt x="137160" y="57150"/>
                </a:cubicBezTo>
                <a:lnTo>
                  <a:pt x="320040" y="57150"/>
                </a:lnTo>
                <a:close/>
                <a:moveTo>
                  <a:pt x="137160" y="157163"/>
                </a:moveTo>
                <a:cubicBezTo>
                  <a:pt x="127659" y="157163"/>
                  <a:pt x="120015" y="166717"/>
                  <a:pt x="120015" y="178594"/>
                </a:cubicBezTo>
                <a:lnTo>
                  <a:pt x="120015" y="207169"/>
                </a:lnTo>
                <a:lnTo>
                  <a:pt x="97155" y="207169"/>
                </a:lnTo>
                <a:cubicBezTo>
                  <a:pt x="87654" y="207169"/>
                  <a:pt x="80010" y="216724"/>
                  <a:pt x="80010" y="228600"/>
                </a:cubicBezTo>
                <a:cubicBezTo>
                  <a:pt x="80010" y="240476"/>
                  <a:pt x="87654" y="250031"/>
                  <a:pt x="97155" y="250031"/>
                </a:cubicBezTo>
                <a:lnTo>
                  <a:pt x="120015" y="250031"/>
                </a:lnTo>
                <a:lnTo>
                  <a:pt x="120015" y="278606"/>
                </a:lnTo>
                <a:cubicBezTo>
                  <a:pt x="120015" y="290483"/>
                  <a:pt x="127659" y="300038"/>
                  <a:pt x="137160" y="300038"/>
                </a:cubicBezTo>
                <a:cubicBezTo>
                  <a:pt x="146661" y="300038"/>
                  <a:pt x="154305" y="290483"/>
                  <a:pt x="154305" y="278606"/>
                </a:cubicBezTo>
                <a:lnTo>
                  <a:pt x="154305" y="250031"/>
                </a:lnTo>
                <a:lnTo>
                  <a:pt x="177165" y="250031"/>
                </a:lnTo>
                <a:cubicBezTo>
                  <a:pt x="186666" y="250031"/>
                  <a:pt x="194310" y="240476"/>
                  <a:pt x="194310" y="228600"/>
                </a:cubicBezTo>
                <a:cubicBezTo>
                  <a:pt x="194310" y="216724"/>
                  <a:pt x="186666" y="207169"/>
                  <a:pt x="177165" y="207169"/>
                </a:cubicBezTo>
                <a:lnTo>
                  <a:pt x="154305" y="207169"/>
                </a:lnTo>
                <a:lnTo>
                  <a:pt x="154305" y="178594"/>
                </a:lnTo>
                <a:cubicBezTo>
                  <a:pt x="154305" y="166717"/>
                  <a:pt x="146661" y="157163"/>
                  <a:pt x="137160" y="157163"/>
                </a:cubicBezTo>
                <a:close/>
                <a:moveTo>
                  <a:pt x="308610" y="242888"/>
                </a:moveTo>
                <a:cubicBezTo>
                  <a:pt x="295993" y="242888"/>
                  <a:pt x="285750" y="255692"/>
                  <a:pt x="285750" y="271463"/>
                </a:cubicBezTo>
                <a:cubicBezTo>
                  <a:pt x="285750" y="287233"/>
                  <a:pt x="295993" y="300038"/>
                  <a:pt x="308610" y="300038"/>
                </a:cubicBezTo>
                <a:cubicBezTo>
                  <a:pt x="321227" y="300038"/>
                  <a:pt x="331470" y="287233"/>
                  <a:pt x="331470" y="271463"/>
                </a:cubicBezTo>
                <a:cubicBezTo>
                  <a:pt x="331470" y="255692"/>
                  <a:pt x="321227" y="242888"/>
                  <a:pt x="308610" y="242888"/>
                </a:cubicBezTo>
                <a:close/>
                <a:moveTo>
                  <a:pt x="354330" y="157163"/>
                </a:moveTo>
                <a:cubicBezTo>
                  <a:pt x="341713" y="157163"/>
                  <a:pt x="331470" y="169967"/>
                  <a:pt x="331470" y="185738"/>
                </a:cubicBezTo>
                <a:cubicBezTo>
                  <a:pt x="331470" y="201508"/>
                  <a:pt x="341713" y="214313"/>
                  <a:pt x="354330" y="214313"/>
                </a:cubicBezTo>
                <a:cubicBezTo>
                  <a:pt x="366947" y="214313"/>
                  <a:pt x="377190" y="201508"/>
                  <a:pt x="377190" y="185738"/>
                </a:cubicBezTo>
                <a:cubicBezTo>
                  <a:pt x="377190" y="169967"/>
                  <a:pt x="366947" y="157163"/>
                  <a:pt x="354330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397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Gaming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Beat Saber, Half-Life: Alyx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83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2" name="Shape 9"/>
          <p:cNvSpPr/>
          <p:nvPr/>
        </p:nvSpPr>
        <p:spPr>
          <a:xfrm>
            <a:off x="4457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810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Surgical training +230%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96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5" name="Shape 12"/>
          <p:cNvSpPr/>
          <p:nvPr/>
        </p:nvSpPr>
        <p:spPr>
          <a:xfrm>
            <a:off x="6870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174843"/>
                </a:moveTo>
                <a:lnTo>
                  <a:pt x="204152" y="251728"/>
                </a:lnTo>
                <a:cubicBezTo>
                  <a:pt x="211931" y="255300"/>
                  <a:pt x="220186" y="257175"/>
                  <a:pt x="228600" y="257175"/>
                </a:cubicBezTo>
                <a:cubicBezTo>
                  <a:pt x="237014" y="257175"/>
                  <a:pt x="245269" y="255300"/>
                  <a:pt x="253048" y="251728"/>
                </a:cubicBezTo>
                <a:lnTo>
                  <a:pt x="445453" y="162610"/>
                </a:lnTo>
                <a:cubicBezTo>
                  <a:pt x="452596" y="159306"/>
                  <a:pt x="457200" y="151537"/>
                  <a:pt x="457200" y="142875"/>
                </a:cubicBezTo>
                <a:cubicBezTo>
                  <a:pt x="457200" y="134213"/>
                  <a:pt x="452596" y="126444"/>
                  <a:pt x="445453" y="123140"/>
                </a:cubicBezTo>
                <a:lnTo>
                  <a:pt x="253048" y="34022"/>
                </a:lnTo>
                <a:cubicBezTo>
                  <a:pt x="245269" y="30450"/>
                  <a:pt x="237014" y="28575"/>
                  <a:pt x="228600" y="28575"/>
                </a:cubicBezTo>
                <a:cubicBezTo>
                  <a:pt x="220186" y="28575"/>
                  <a:pt x="211931" y="30450"/>
                  <a:pt x="204152" y="34022"/>
                </a:cubicBezTo>
                <a:lnTo>
                  <a:pt x="11748" y="123140"/>
                </a:lnTo>
                <a:cubicBezTo>
                  <a:pt x="4604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8493" y="428625"/>
                  <a:pt x="19050" y="428625"/>
                </a:cubicBezTo>
                <a:cubicBezTo>
                  <a:pt x="29607" y="428625"/>
                  <a:pt x="38100" y="419070"/>
                  <a:pt x="38100" y="407194"/>
                </a:cubicBezTo>
                <a:lnTo>
                  <a:pt x="38100" y="174843"/>
                </a:lnTo>
                <a:close/>
                <a:moveTo>
                  <a:pt x="76200" y="238869"/>
                </a:moveTo>
                <a:lnTo>
                  <a:pt x="76200" y="342900"/>
                </a:lnTo>
                <a:cubicBezTo>
                  <a:pt x="76200" y="390227"/>
                  <a:pt x="144463" y="428625"/>
                  <a:pt x="228600" y="428625"/>
                </a:cubicBezTo>
                <a:cubicBezTo>
                  <a:pt x="312738" y="428625"/>
                  <a:pt x="381000" y="390227"/>
                  <a:pt x="381000" y="342900"/>
                </a:cubicBezTo>
                <a:lnTo>
                  <a:pt x="381000" y="238780"/>
                </a:lnTo>
                <a:lnTo>
                  <a:pt x="267573" y="291376"/>
                </a:lnTo>
                <a:cubicBezTo>
                  <a:pt x="255191" y="297091"/>
                  <a:pt x="242014" y="300037"/>
                  <a:pt x="228600" y="300037"/>
                </a:cubicBezTo>
                <a:cubicBezTo>
                  <a:pt x="215186" y="300037"/>
                  <a:pt x="202009" y="297091"/>
                  <a:pt x="189627" y="291376"/>
                </a:cubicBezTo>
                <a:lnTo>
                  <a:pt x="76200" y="2387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223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Education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field trips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09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8" name="Shape 15"/>
          <p:cNvSpPr/>
          <p:nvPr/>
        </p:nvSpPr>
        <p:spPr>
          <a:xfrm>
            <a:off x="9283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0"/>
                </a:moveTo>
                <a:cubicBezTo>
                  <a:pt x="34171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34171" y="457200"/>
                  <a:pt x="76200" y="457200"/>
                </a:cubicBezTo>
                <a:lnTo>
                  <a:pt x="381000" y="457200"/>
                </a:lnTo>
                <a:cubicBezTo>
                  <a:pt x="423029" y="457200"/>
                  <a:pt x="457200" y="431572"/>
                  <a:pt x="457200" y="400050"/>
                </a:cubicBezTo>
                <a:lnTo>
                  <a:pt x="457200" y="57150"/>
                </a:lnTo>
                <a:cubicBezTo>
                  <a:pt x="457200" y="25628"/>
                  <a:pt x="423029" y="0"/>
                  <a:pt x="381000" y="0"/>
                </a:cubicBezTo>
                <a:lnTo>
                  <a:pt x="76200" y="0"/>
                </a:lnTo>
                <a:close/>
                <a:moveTo>
                  <a:pt x="209550" y="314325"/>
                </a:moveTo>
                <a:lnTo>
                  <a:pt x="247650" y="314325"/>
                </a:lnTo>
                <a:cubicBezTo>
                  <a:pt x="268724" y="314325"/>
                  <a:pt x="285750" y="327094"/>
                  <a:pt x="285750" y="342900"/>
                </a:cubicBezTo>
                <a:lnTo>
                  <a:pt x="285750" y="414338"/>
                </a:lnTo>
                <a:lnTo>
                  <a:pt x="171450" y="414338"/>
                </a:lnTo>
                <a:lnTo>
                  <a:pt x="171450" y="342900"/>
                </a:lnTo>
                <a:cubicBezTo>
                  <a:pt x="171450" y="327094"/>
                  <a:pt x="188476" y="314325"/>
                  <a:pt x="209550" y="314325"/>
                </a:cubicBezTo>
                <a:close/>
                <a:moveTo>
                  <a:pt x="114300" y="100013"/>
                </a:moveTo>
                <a:cubicBezTo>
                  <a:pt x="114300" y="92154"/>
                  <a:pt x="122873" y="85725"/>
                  <a:pt x="133350" y="85725"/>
                </a:cubicBezTo>
                <a:lnTo>
                  <a:pt x="171450" y="85725"/>
                </a:lnTo>
                <a:cubicBezTo>
                  <a:pt x="181928" y="85725"/>
                  <a:pt x="190500" y="92154"/>
                  <a:pt x="190500" y="100013"/>
                </a:cubicBezTo>
                <a:lnTo>
                  <a:pt x="190500" y="128588"/>
                </a:lnTo>
                <a:cubicBezTo>
                  <a:pt x="190500" y="136446"/>
                  <a:pt x="181928" y="142875"/>
                  <a:pt x="171450" y="142875"/>
                </a:cubicBezTo>
                <a:lnTo>
                  <a:pt x="133350" y="142875"/>
                </a:lnTo>
                <a:cubicBezTo>
                  <a:pt x="122873" y="142875"/>
                  <a:pt x="114300" y="136446"/>
                  <a:pt x="114300" y="128588"/>
                </a:cubicBezTo>
                <a:lnTo>
                  <a:pt x="114300" y="100013"/>
                </a:lnTo>
                <a:close/>
                <a:moveTo>
                  <a:pt x="285750" y="85725"/>
                </a:moveTo>
                <a:lnTo>
                  <a:pt x="323850" y="85725"/>
                </a:lnTo>
                <a:cubicBezTo>
                  <a:pt x="334328" y="85725"/>
                  <a:pt x="342900" y="92154"/>
                  <a:pt x="342900" y="100013"/>
                </a:cubicBezTo>
                <a:lnTo>
                  <a:pt x="342900" y="128588"/>
                </a:lnTo>
                <a:cubicBezTo>
                  <a:pt x="342900" y="136446"/>
                  <a:pt x="334328" y="142875"/>
                  <a:pt x="323850" y="142875"/>
                </a:cubicBezTo>
                <a:lnTo>
                  <a:pt x="285750" y="142875"/>
                </a:lnTo>
                <a:cubicBezTo>
                  <a:pt x="275273" y="142875"/>
                  <a:pt x="266700" y="136446"/>
                  <a:pt x="266700" y="128588"/>
                </a:cubicBezTo>
                <a:lnTo>
                  <a:pt x="266700" y="100013"/>
                </a:lnTo>
                <a:cubicBezTo>
                  <a:pt x="266700" y="92154"/>
                  <a:pt x="275273" y="85725"/>
                  <a:pt x="285750" y="85725"/>
                </a:cubicBezTo>
                <a:close/>
                <a:moveTo>
                  <a:pt x="114300" y="214313"/>
                </a:moveTo>
                <a:cubicBezTo>
                  <a:pt x="114300" y="206454"/>
                  <a:pt x="122873" y="200025"/>
                  <a:pt x="133350" y="200025"/>
                </a:cubicBezTo>
                <a:lnTo>
                  <a:pt x="171450" y="200025"/>
                </a:lnTo>
                <a:cubicBezTo>
                  <a:pt x="181928" y="200025"/>
                  <a:pt x="190500" y="206454"/>
                  <a:pt x="190500" y="214313"/>
                </a:cubicBezTo>
                <a:lnTo>
                  <a:pt x="190500" y="242888"/>
                </a:lnTo>
                <a:cubicBezTo>
                  <a:pt x="190500" y="250746"/>
                  <a:pt x="181928" y="257175"/>
                  <a:pt x="171450" y="257175"/>
                </a:cubicBezTo>
                <a:lnTo>
                  <a:pt x="133350" y="257175"/>
                </a:lnTo>
                <a:cubicBezTo>
                  <a:pt x="122873" y="257175"/>
                  <a:pt x="114300" y="250746"/>
                  <a:pt x="114300" y="242888"/>
                </a:cubicBezTo>
                <a:lnTo>
                  <a:pt x="114300" y="214313"/>
                </a:lnTo>
                <a:close/>
                <a:moveTo>
                  <a:pt x="285750" y="200025"/>
                </a:moveTo>
                <a:lnTo>
                  <a:pt x="323850" y="200025"/>
                </a:lnTo>
                <a:cubicBezTo>
                  <a:pt x="334328" y="200025"/>
                  <a:pt x="342900" y="206454"/>
                  <a:pt x="342900" y="214313"/>
                </a:cubicBezTo>
                <a:lnTo>
                  <a:pt x="342900" y="242888"/>
                </a:lnTo>
                <a:cubicBezTo>
                  <a:pt x="342900" y="250746"/>
                  <a:pt x="334328" y="257175"/>
                  <a:pt x="323850" y="257175"/>
                </a:cubicBezTo>
                <a:lnTo>
                  <a:pt x="285750" y="257175"/>
                </a:lnTo>
                <a:cubicBezTo>
                  <a:pt x="275273" y="257175"/>
                  <a:pt x="266700" y="250746"/>
                  <a:pt x="266700" y="242888"/>
                </a:cubicBezTo>
                <a:lnTo>
                  <a:pt x="266700" y="214313"/>
                </a:lnTo>
                <a:cubicBezTo>
                  <a:pt x="266700" y="206454"/>
                  <a:pt x="275273" y="200025"/>
                  <a:pt x="285750" y="200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636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Estate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property tours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922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1" name="Shape 18"/>
          <p:cNvSpPr/>
          <p:nvPr/>
        </p:nvSpPr>
        <p:spPr>
          <a:xfrm>
            <a:off x="11696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3859" y="184666"/>
                </a:moveTo>
                <a:cubicBezTo>
                  <a:pt x="385366" y="180648"/>
                  <a:pt x="376238" y="178594"/>
                  <a:pt x="367030" y="178594"/>
                </a:cubicBezTo>
                <a:lnTo>
                  <a:pt x="287338" y="178594"/>
                </a:lnTo>
                <a:lnTo>
                  <a:pt x="196850" y="42863"/>
                </a:lnTo>
                <a:lnTo>
                  <a:pt x="234950" y="42863"/>
                </a:lnTo>
                <a:cubicBezTo>
                  <a:pt x="245507" y="42863"/>
                  <a:pt x="254000" y="33308"/>
                  <a:pt x="254000" y="21431"/>
                </a:cubicBezTo>
                <a:cubicBezTo>
                  <a:pt x="254000" y="9555"/>
                  <a:pt x="245507" y="0"/>
                  <a:pt x="234950" y="0"/>
                </a:cubicBezTo>
                <a:lnTo>
                  <a:pt x="120650" y="0"/>
                </a:lnTo>
                <a:cubicBezTo>
                  <a:pt x="110093" y="0"/>
                  <a:pt x="101600" y="9555"/>
                  <a:pt x="101600" y="21431"/>
                </a:cubicBezTo>
                <a:cubicBezTo>
                  <a:pt x="101600" y="33308"/>
                  <a:pt x="110093" y="42863"/>
                  <a:pt x="120650" y="42863"/>
                </a:cubicBezTo>
                <a:lnTo>
                  <a:pt x="127000" y="42863"/>
                </a:lnTo>
                <a:lnTo>
                  <a:pt x="127000" y="178594"/>
                </a:lnTo>
                <a:lnTo>
                  <a:pt x="83820" y="178594"/>
                </a:lnTo>
                <a:lnTo>
                  <a:pt x="41910" y="119658"/>
                </a:lnTo>
                <a:cubicBezTo>
                  <a:pt x="39529" y="116265"/>
                  <a:pt x="35878" y="114300"/>
                  <a:pt x="31988" y="114300"/>
                </a:cubicBezTo>
                <a:lnTo>
                  <a:pt x="12700" y="114300"/>
                </a:lnTo>
                <a:cubicBezTo>
                  <a:pt x="5715" y="114300"/>
                  <a:pt x="0" y="120729"/>
                  <a:pt x="0" y="128588"/>
                </a:cubicBezTo>
                <a:lnTo>
                  <a:pt x="0" y="207169"/>
                </a:lnTo>
                <a:lnTo>
                  <a:pt x="31750" y="207169"/>
                </a:lnTo>
                <a:cubicBezTo>
                  <a:pt x="42307" y="207169"/>
                  <a:pt x="50800" y="216724"/>
                  <a:pt x="50800" y="228600"/>
                </a:cubicBezTo>
                <a:cubicBezTo>
                  <a:pt x="50800" y="240476"/>
                  <a:pt x="42307" y="250031"/>
                  <a:pt x="31750" y="250031"/>
                </a:cubicBezTo>
                <a:lnTo>
                  <a:pt x="0" y="250031"/>
                </a:lnTo>
                <a:lnTo>
                  <a:pt x="0" y="328613"/>
                </a:lnTo>
                <a:cubicBezTo>
                  <a:pt x="0" y="336471"/>
                  <a:pt x="5715" y="342900"/>
                  <a:pt x="12700" y="342900"/>
                </a:cubicBezTo>
                <a:lnTo>
                  <a:pt x="31988" y="342900"/>
                </a:lnTo>
                <a:cubicBezTo>
                  <a:pt x="35878" y="342900"/>
                  <a:pt x="39529" y="340935"/>
                  <a:pt x="41910" y="337542"/>
                </a:cubicBezTo>
                <a:lnTo>
                  <a:pt x="83820" y="278606"/>
                </a:lnTo>
                <a:lnTo>
                  <a:pt x="127000" y="278606"/>
                </a:lnTo>
                <a:lnTo>
                  <a:pt x="127000" y="414338"/>
                </a:lnTo>
                <a:lnTo>
                  <a:pt x="120650" y="414338"/>
                </a:lnTo>
                <a:cubicBezTo>
                  <a:pt x="110093" y="414338"/>
                  <a:pt x="101600" y="423892"/>
                  <a:pt x="101600" y="435769"/>
                </a:cubicBezTo>
                <a:cubicBezTo>
                  <a:pt x="101600" y="447645"/>
                  <a:pt x="110093" y="457200"/>
                  <a:pt x="120650" y="457200"/>
                </a:cubicBezTo>
                <a:lnTo>
                  <a:pt x="234950" y="457200"/>
                </a:lnTo>
                <a:cubicBezTo>
                  <a:pt x="245507" y="457200"/>
                  <a:pt x="254000" y="447645"/>
                  <a:pt x="254000" y="435769"/>
                </a:cubicBezTo>
                <a:cubicBezTo>
                  <a:pt x="254000" y="423892"/>
                  <a:pt x="245507" y="414338"/>
                  <a:pt x="234950" y="414338"/>
                </a:cubicBezTo>
                <a:lnTo>
                  <a:pt x="196850" y="414338"/>
                </a:lnTo>
                <a:lnTo>
                  <a:pt x="287338" y="278606"/>
                </a:lnTo>
                <a:lnTo>
                  <a:pt x="367030" y="278606"/>
                </a:lnTo>
                <a:cubicBezTo>
                  <a:pt x="376238" y="278606"/>
                  <a:pt x="385366" y="276552"/>
                  <a:pt x="393859" y="272534"/>
                </a:cubicBezTo>
                <a:lnTo>
                  <a:pt x="445453" y="248335"/>
                </a:lnTo>
                <a:cubicBezTo>
                  <a:pt x="452517" y="245031"/>
                  <a:pt x="457200" y="237172"/>
                  <a:pt x="457200" y="228511"/>
                </a:cubicBezTo>
                <a:cubicBezTo>
                  <a:pt x="457200" y="219849"/>
                  <a:pt x="452596" y="212080"/>
                  <a:pt x="445453" y="208687"/>
                </a:cubicBezTo>
                <a:lnTo>
                  <a:pt x="393859" y="18448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1049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Military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Combat simulation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3335000" y="6096000"/>
            <a:ext cx="1651000" cy="1778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4" name="Shape 21"/>
          <p:cNvSpPr/>
          <p:nvPr/>
        </p:nvSpPr>
        <p:spPr>
          <a:xfrm>
            <a:off x="139319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8580" y="100013"/>
                </a:moveTo>
                <a:cubicBezTo>
                  <a:pt x="68580" y="76349"/>
                  <a:pt x="83939" y="57150"/>
                  <a:pt x="102870" y="57150"/>
                </a:cubicBezTo>
                <a:cubicBezTo>
                  <a:pt x="121801" y="57150"/>
                  <a:pt x="137160" y="76349"/>
                  <a:pt x="137160" y="100013"/>
                </a:cubicBezTo>
                <a:lnTo>
                  <a:pt x="137160" y="200025"/>
                </a:lnTo>
                <a:lnTo>
                  <a:pt x="320040" y="200025"/>
                </a:lnTo>
                <a:lnTo>
                  <a:pt x="320040" y="100013"/>
                </a:lnTo>
                <a:cubicBezTo>
                  <a:pt x="320040" y="76349"/>
                  <a:pt x="335399" y="57150"/>
                  <a:pt x="354330" y="57150"/>
                </a:cubicBezTo>
                <a:cubicBezTo>
                  <a:pt x="373261" y="57150"/>
                  <a:pt x="388620" y="76349"/>
                  <a:pt x="388620" y="100013"/>
                </a:cubicBezTo>
                <a:lnTo>
                  <a:pt x="388620" y="114300"/>
                </a:lnTo>
                <a:lnTo>
                  <a:pt x="400050" y="114300"/>
                </a:lnTo>
                <a:cubicBezTo>
                  <a:pt x="418981" y="114300"/>
                  <a:pt x="434340" y="133499"/>
                  <a:pt x="434340" y="157163"/>
                </a:cubicBezTo>
                <a:lnTo>
                  <a:pt x="434340" y="200025"/>
                </a:lnTo>
                <a:cubicBezTo>
                  <a:pt x="446984" y="200025"/>
                  <a:pt x="457200" y="212794"/>
                  <a:pt x="457200" y="228600"/>
                </a:cubicBezTo>
                <a:cubicBezTo>
                  <a:pt x="457200" y="244406"/>
                  <a:pt x="446984" y="257175"/>
                  <a:pt x="434340" y="257175"/>
                </a:cubicBezTo>
                <a:lnTo>
                  <a:pt x="434340" y="300038"/>
                </a:lnTo>
                <a:cubicBezTo>
                  <a:pt x="434340" y="323701"/>
                  <a:pt x="418981" y="342900"/>
                  <a:pt x="400050" y="342900"/>
                </a:cubicBezTo>
                <a:lnTo>
                  <a:pt x="388620" y="342900"/>
                </a:lnTo>
                <a:lnTo>
                  <a:pt x="388620" y="357188"/>
                </a:lnTo>
                <a:cubicBezTo>
                  <a:pt x="388620" y="380851"/>
                  <a:pt x="373261" y="400050"/>
                  <a:pt x="354330" y="400050"/>
                </a:cubicBezTo>
                <a:cubicBezTo>
                  <a:pt x="335399" y="400050"/>
                  <a:pt x="320040" y="380851"/>
                  <a:pt x="320040" y="357188"/>
                </a:cubicBezTo>
                <a:lnTo>
                  <a:pt x="320040" y="257175"/>
                </a:lnTo>
                <a:lnTo>
                  <a:pt x="137160" y="257175"/>
                </a:lnTo>
                <a:lnTo>
                  <a:pt x="137160" y="357188"/>
                </a:lnTo>
                <a:cubicBezTo>
                  <a:pt x="137160" y="380851"/>
                  <a:pt x="121801" y="400050"/>
                  <a:pt x="102870" y="400050"/>
                </a:cubicBezTo>
                <a:cubicBezTo>
                  <a:pt x="83939" y="400050"/>
                  <a:pt x="68580" y="380851"/>
                  <a:pt x="68580" y="357188"/>
                </a:cubicBezTo>
                <a:lnTo>
                  <a:pt x="68580" y="342900"/>
                </a:lnTo>
                <a:lnTo>
                  <a:pt x="57150" y="342900"/>
                </a:lnTo>
                <a:cubicBezTo>
                  <a:pt x="38219" y="342900"/>
                  <a:pt x="22860" y="323701"/>
                  <a:pt x="22860" y="300038"/>
                </a:cubicBezTo>
                <a:lnTo>
                  <a:pt x="22860" y="257175"/>
                </a:lnTo>
                <a:cubicBezTo>
                  <a:pt x="10216" y="257175"/>
                  <a:pt x="0" y="244406"/>
                  <a:pt x="0" y="228600"/>
                </a:cubicBezTo>
                <a:cubicBezTo>
                  <a:pt x="0" y="212794"/>
                  <a:pt x="10216" y="200025"/>
                  <a:pt x="22860" y="200025"/>
                </a:cubicBezTo>
                <a:lnTo>
                  <a:pt x="22860" y="157163"/>
                </a:lnTo>
                <a:cubicBezTo>
                  <a:pt x="22860" y="133499"/>
                  <a:pt x="38219" y="114300"/>
                  <a:pt x="57150" y="114300"/>
                </a:cubicBezTo>
                <a:lnTo>
                  <a:pt x="68580" y="114300"/>
                </a:lnTo>
                <a:lnTo>
                  <a:pt x="68580" y="1000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13462000" y="6794500"/>
            <a:ext cx="13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Fitness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 workouts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70000" y="8064500"/>
            <a:ext cx="1371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Popular VR Headsets: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Meta Quest 3 · Apple Vision Pro · PlayStation VR2 · HTC Vive Pro 2 · Valve Index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Augmented Reality: Enhancing the Real World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366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87500" y="2095500"/>
            <a:ext cx="673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Overlays digital information onto the real world.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Characteristics: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Real-world overlay with digital elements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Interactive and context-aware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Accessible via smartphones and smart glasses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Market: 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$198B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projected by 2030</a:t>
            </a:r>
            <a:endParaRPr lang="en-US" sz="1800" dirty="0"/>
          </a:p>
        </p:txBody>
      </p:sp>
      <p:pic>
        <p:nvPicPr>
          <p:cNvPr id="6" name="Image 0" descr="https://kimi-img.moonshot.cn/pub/slides/okc/5ei2xmbh7l23y/mnt/agents/output/week10-computing/images/8_AI_Smart_Glasses_Future_City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17000" y="1905000"/>
            <a:ext cx="5969000" cy="3302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270000" y="5524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 Applications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270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9" name="Shape 6"/>
          <p:cNvSpPr/>
          <p:nvPr/>
        </p:nvSpPr>
        <p:spPr>
          <a:xfrm>
            <a:off x="2044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171450"/>
                </a:moveTo>
                <a:cubicBezTo>
                  <a:pt x="0" y="139928"/>
                  <a:pt x="22781" y="114300"/>
                  <a:pt x="50800" y="114300"/>
                </a:cubicBezTo>
                <a:lnTo>
                  <a:pt x="101600" y="114300"/>
                </a:lnTo>
                <a:lnTo>
                  <a:pt x="203121" y="11519"/>
                </a:lnTo>
                <a:cubicBezTo>
                  <a:pt x="217646" y="-3125"/>
                  <a:pt x="239633" y="-3125"/>
                  <a:pt x="254079" y="11519"/>
                </a:cubicBezTo>
                <a:lnTo>
                  <a:pt x="355600" y="114300"/>
                </a:lnTo>
                <a:lnTo>
                  <a:pt x="406400" y="114300"/>
                </a:lnTo>
                <a:cubicBezTo>
                  <a:pt x="434419" y="114300"/>
                  <a:pt x="457200" y="139928"/>
                  <a:pt x="457200" y="171450"/>
                </a:cubicBezTo>
                <a:lnTo>
                  <a:pt x="457200" y="400050"/>
                </a:lnTo>
                <a:cubicBezTo>
                  <a:pt x="457200" y="431572"/>
                  <a:pt x="434419" y="457200"/>
                  <a:pt x="406400" y="457200"/>
                </a:cubicBezTo>
                <a:lnTo>
                  <a:pt x="50800" y="457200"/>
                </a:lnTo>
                <a:cubicBezTo>
                  <a:pt x="22781" y="457200"/>
                  <a:pt x="0" y="431572"/>
                  <a:pt x="0" y="400050"/>
                </a:cubicBezTo>
                <a:lnTo>
                  <a:pt x="0" y="171450"/>
                </a:lnTo>
                <a:close/>
                <a:moveTo>
                  <a:pt x="177800" y="335756"/>
                </a:moveTo>
                <a:lnTo>
                  <a:pt x="177800" y="414338"/>
                </a:lnTo>
                <a:lnTo>
                  <a:pt x="279400" y="414338"/>
                </a:lnTo>
                <a:lnTo>
                  <a:pt x="279400" y="335756"/>
                </a:lnTo>
                <a:cubicBezTo>
                  <a:pt x="279400" y="316022"/>
                  <a:pt x="265192" y="300038"/>
                  <a:pt x="247650" y="300038"/>
                </a:cubicBezTo>
                <a:lnTo>
                  <a:pt x="209550" y="300038"/>
                </a:lnTo>
                <a:cubicBezTo>
                  <a:pt x="192008" y="300038"/>
                  <a:pt x="177800" y="316022"/>
                  <a:pt x="177800" y="335756"/>
                </a:cubicBezTo>
                <a:close/>
                <a:moveTo>
                  <a:pt x="88900" y="342900"/>
                </a:moveTo>
                <a:cubicBezTo>
                  <a:pt x="95885" y="342900"/>
                  <a:pt x="101600" y="336471"/>
                  <a:pt x="101600" y="328613"/>
                </a:cubicBezTo>
                <a:lnTo>
                  <a:pt x="101600" y="300038"/>
                </a:lnTo>
                <a:cubicBezTo>
                  <a:pt x="101600" y="292179"/>
                  <a:pt x="95885" y="285750"/>
                  <a:pt x="88900" y="285750"/>
                </a:cubicBezTo>
                <a:lnTo>
                  <a:pt x="63500" y="285750"/>
                </a:lnTo>
                <a:cubicBezTo>
                  <a:pt x="56515" y="285750"/>
                  <a:pt x="50800" y="292179"/>
                  <a:pt x="50800" y="300038"/>
                </a:cubicBezTo>
                <a:lnTo>
                  <a:pt x="50800" y="328613"/>
                </a:lnTo>
                <a:cubicBezTo>
                  <a:pt x="50800" y="336471"/>
                  <a:pt x="56515" y="342900"/>
                  <a:pt x="63500" y="342900"/>
                </a:cubicBezTo>
                <a:lnTo>
                  <a:pt x="88900" y="342900"/>
                </a:lnTo>
                <a:close/>
                <a:moveTo>
                  <a:pt x="101600" y="214313"/>
                </a:moveTo>
                <a:lnTo>
                  <a:pt x="101600" y="185738"/>
                </a:lnTo>
                <a:cubicBezTo>
                  <a:pt x="101600" y="177879"/>
                  <a:pt x="95885" y="171450"/>
                  <a:pt x="88900" y="171450"/>
                </a:cubicBezTo>
                <a:lnTo>
                  <a:pt x="63500" y="171450"/>
                </a:lnTo>
                <a:cubicBezTo>
                  <a:pt x="56515" y="171450"/>
                  <a:pt x="50800" y="177879"/>
                  <a:pt x="50800" y="185738"/>
                </a:cubicBezTo>
                <a:lnTo>
                  <a:pt x="50800" y="214313"/>
                </a:lnTo>
                <a:cubicBezTo>
                  <a:pt x="50800" y="222171"/>
                  <a:pt x="56515" y="228600"/>
                  <a:pt x="63500" y="228600"/>
                </a:cubicBezTo>
                <a:lnTo>
                  <a:pt x="88900" y="228600"/>
                </a:lnTo>
                <a:cubicBezTo>
                  <a:pt x="95885" y="228600"/>
                  <a:pt x="101600" y="222171"/>
                  <a:pt x="101600" y="214313"/>
                </a:cubicBezTo>
                <a:close/>
                <a:moveTo>
                  <a:pt x="393700" y="342900"/>
                </a:moveTo>
                <a:cubicBezTo>
                  <a:pt x="400685" y="342900"/>
                  <a:pt x="406400" y="336471"/>
                  <a:pt x="406400" y="328613"/>
                </a:cubicBezTo>
                <a:lnTo>
                  <a:pt x="406400" y="300038"/>
                </a:lnTo>
                <a:cubicBezTo>
                  <a:pt x="406400" y="292179"/>
                  <a:pt x="400685" y="285750"/>
                  <a:pt x="393700" y="285750"/>
                </a:cubicBezTo>
                <a:lnTo>
                  <a:pt x="368300" y="285750"/>
                </a:lnTo>
                <a:cubicBezTo>
                  <a:pt x="361315" y="285750"/>
                  <a:pt x="355600" y="292179"/>
                  <a:pt x="355600" y="300038"/>
                </a:cubicBezTo>
                <a:lnTo>
                  <a:pt x="355600" y="328613"/>
                </a:lnTo>
                <a:cubicBezTo>
                  <a:pt x="355600" y="336471"/>
                  <a:pt x="361315" y="342900"/>
                  <a:pt x="368300" y="342900"/>
                </a:cubicBezTo>
                <a:lnTo>
                  <a:pt x="393700" y="342900"/>
                </a:lnTo>
                <a:close/>
                <a:moveTo>
                  <a:pt x="406400" y="214313"/>
                </a:moveTo>
                <a:lnTo>
                  <a:pt x="406400" y="185738"/>
                </a:lnTo>
                <a:cubicBezTo>
                  <a:pt x="406400" y="177879"/>
                  <a:pt x="400685" y="171450"/>
                  <a:pt x="393700" y="171450"/>
                </a:cubicBezTo>
                <a:lnTo>
                  <a:pt x="368300" y="171450"/>
                </a:lnTo>
                <a:cubicBezTo>
                  <a:pt x="361315" y="171450"/>
                  <a:pt x="355600" y="177879"/>
                  <a:pt x="355600" y="185738"/>
                </a:cubicBezTo>
                <a:lnTo>
                  <a:pt x="355600" y="214313"/>
                </a:lnTo>
                <a:cubicBezTo>
                  <a:pt x="355600" y="222171"/>
                  <a:pt x="361315" y="228600"/>
                  <a:pt x="368300" y="228600"/>
                </a:cubicBezTo>
                <a:lnTo>
                  <a:pt x="393700" y="228600"/>
                </a:lnTo>
                <a:cubicBezTo>
                  <a:pt x="400685" y="228600"/>
                  <a:pt x="406400" y="222171"/>
                  <a:pt x="406400" y="214313"/>
                </a:cubicBezTo>
                <a:close/>
                <a:moveTo>
                  <a:pt x="228600" y="228600"/>
                </a:moveTo>
                <a:cubicBezTo>
                  <a:pt x="256637" y="228600"/>
                  <a:pt x="279400" y="202992"/>
                  <a:pt x="279400" y="171450"/>
                </a:cubicBezTo>
                <a:cubicBezTo>
                  <a:pt x="279400" y="139908"/>
                  <a:pt x="256637" y="114300"/>
                  <a:pt x="228600" y="114300"/>
                </a:cubicBezTo>
                <a:cubicBezTo>
                  <a:pt x="200563" y="114300"/>
                  <a:pt x="177800" y="139908"/>
                  <a:pt x="177800" y="171450"/>
                </a:cubicBezTo>
                <a:cubicBezTo>
                  <a:pt x="177800" y="202992"/>
                  <a:pt x="200563" y="228600"/>
                  <a:pt x="22860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397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Education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Quiver 3D, Google Lens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83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2" name="Shape 9"/>
          <p:cNvSpPr/>
          <p:nvPr/>
        </p:nvSpPr>
        <p:spPr>
          <a:xfrm>
            <a:off x="4457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400" y="42863"/>
                </a:moveTo>
                <a:cubicBezTo>
                  <a:pt x="25400" y="19199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2769"/>
                  <a:pt x="127000" y="28575"/>
                </a:cubicBezTo>
                <a:cubicBezTo>
                  <a:pt x="127000" y="44381"/>
                  <a:pt x="115649" y="57150"/>
                  <a:pt x="101600" y="57150"/>
                </a:cubicBezTo>
                <a:lnTo>
                  <a:pt x="76200" y="57150"/>
                </a:lnTo>
                <a:lnTo>
                  <a:pt x="76200" y="171450"/>
                </a:lnTo>
                <a:cubicBezTo>
                  <a:pt x="76200" y="218777"/>
                  <a:pt x="110331" y="257175"/>
                  <a:pt x="152400" y="257175"/>
                </a:cubicBezTo>
                <a:cubicBezTo>
                  <a:pt x="194469" y="257175"/>
                  <a:pt x="228600" y="218777"/>
                  <a:pt x="228600" y="171450"/>
                </a:cubicBezTo>
                <a:lnTo>
                  <a:pt x="228600" y="57150"/>
                </a:lnTo>
                <a:lnTo>
                  <a:pt x="203200" y="57150"/>
                </a:lnTo>
                <a:cubicBezTo>
                  <a:pt x="189151" y="57150"/>
                  <a:pt x="177800" y="44381"/>
                  <a:pt x="177800" y="28575"/>
                </a:cubicBezTo>
                <a:cubicBezTo>
                  <a:pt x="177800" y="12769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9199"/>
                  <a:pt x="279400" y="42863"/>
                </a:cubicBezTo>
                <a:lnTo>
                  <a:pt x="279400" y="171450"/>
                </a:lnTo>
                <a:cubicBezTo>
                  <a:pt x="279400" y="240566"/>
                  <a:pt x="235744" y="298252"/>
                  <a:pt x="177800" y="311468"/>
                </a:cubicBezTo>
                <a:lnTo>
                  <a:pt x="177800" y="328613"/>
                </a:lnTo>
                <a:cubicBezTo>
                  <a:pt x="177800" y="383887"/>
                  <a:pt x="217567" y="428625"/>
                  <a:pt x="266700" y="428625"/>
                </a:cubicBezTo>
                <a:cubicBezTo>
                  <a:pt x="315833" y="428625"/>
                  <a:pt x="355600" y="383887"/>
                  <a:pt x="355600" y="328613"/>
                </a:cubicBezTo>
                <a:lnTo>
                  <a:pt x="355600" y="252264"/>
                </a:lnTo>
                <a:cubicBezTo>
                  <a:pt x="325993" y="240476"/>
                  <a:pt x="304800" y="208776"/>
                  <a:pt x="304800" y="171450"/>
                </a:cubicBezTo>
                <a:cubicBezTo>
                  <a:pt x="304800" y="124123"/>
                  <a:pt x="338931" y="85725"/>
                  <a:pt x="381000" y="85725"/>
                </a:cubicBezTo>
                <a:cubicBezTo>
                  <a:pt x="423069" y="85725"/>
                  <a:pt x="457200" y="124123"/>
                  <a:pt x="457200" y="171450"/>
                </a:cubicBezTo>
                <a:cubicBezTo>
                  <a:pt x="457200" y="208776"/>
                  <a:pt x="436007" y="240566"/>
                  <a:pt x="406400" y="252264"/>
                </a:cubicBezTo>
                <a:lnTo>
                  <a:pt x="406400" y="328613"/>
                </a:lnTo>
                <a:cubicBezTo>
                  <a:pt x="406400" y="415409"/>
                  <a:pt x="343853" y="485775"/>
                  <a:pt x="266700" y="485775"/>
                </a:cubicBezTo>
                <a:cubicBezTo>
                  <a:pt x="189548" y="485775"/>
                  <a:pt x="127000" y="415409"/>
                  <a:pt x="127000" y="328613"/>
                </a:cubicBezTo>
                <a:lnTo>
                  <a:pt x="127000" y="311468"/>
                </a:lnTo>
                <a:cubicBezTo>
                  <a:pt x="69056" y="298252"/>
                  <a:pt x="25400" y="240566"/>
                  <a:pt x="25400" y="171450"/>
                </a:cubicBezTo>
                <a:lnTo>
                  <a:pt x="25400" y="42863"/>
                </a:lnTo>
                <a:close/>
                <a:moveTo>
                  <a:pt x="381000" y="200025"/>
                </a:moveTo>
                <a:cubicBezTo>
                  <a:pt x="395019" y="200025"/>
                  <a:pt x="406400" y="187221"/>
                  <a:pt x="406400" y="171450"/>
                </a:cubicBezTo>
                <a:cubicBezTo>
                  <a:pt x="406400" y="155679"/>
                  <a:pt x="395019" y="142875"/>
                  <a:pt x="381000" y="142875"/>
                </a:cubicBezTo>
                <a:cubicBezTo>
                  <a:pt x="366981" y="142875"/>
                  <a:pt x="355600" y="155679"/>
                  <a:pt x="355600" y="171450"/>
                </a:cubicBezTo>
                <a:cubicBezTo>
                  <a:pt x="355600" y="187221"/>
                  <a:pt x="366981" y="200025"/>
                  <a:pt x="381000" y="200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810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AccuVein vein mapping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96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5" name="Shape 12"/>
          <p:cNvSpPr/>
          <p:nvPr/>
        </p:nvSpPr>
        <p:spPr>
          <a:xfrm>
            <a:off x="6870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223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Manufacturing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Boeing -25% errors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09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8" name="Shape 15"/>
          <p:cNvSpPr/>
          <p:nvPr/>
        </p:nvSpPr>
        <p:spPr>
          <a:xfrm>
            <a:off x="9283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" y="-14287"/>
                </a:moveTo>
                <a:cubicBezTo>
                  <a:pt x="7644" y="-14287"/>
                  <a:pt x="0" y="-4733"/>
                  <a:pt x="0" y="7144"/>
                </a:cubicBezTo>
                <a:cubicBezTo>
                  <a:pt x="0" y="19020"/>
                  <a:pt x="7644" y="28575"/>
                  <a:pt x="17145" y="28575"/>
                </a:cubicBezTo>
                <a:lnTo>
                  <a:pt x="49506" y="28575"/>
                </a:lnTo>
                <a:cubicBezTo>
                  <a:pt x="52292" y="28575"/>
                  <a:pt x="54650" y="31075"/>
                  <a:pt x="55150" y="34469"/>
                </a:cubicBezTo>
                <a:lnTo>
                  <a:pt x="92369" y="290126"/>
                </a:lnTo>
                <a:cubicBezTo>
                  <a:pt x="96798" y="320665"/>
                  <a:pt x="118086" y="342900"/>
                  <a:pt x="142946" y="342900"/>
                </a:cubicBezTo>
                <a:lnTo>
                  <a:pt x="325755" y="342900"/>
                </a:lnTo>
                <a:cubicBezTo>
                  <a:pt x="335256" y="342900"/>
                  <a:pt x="342900" y="333345"/>
                  <a:pt x="342900" y="321469"/>
                </a:cubicBezTo>
                <a:cubicBezTo>
                  <a:pt x="342900" y="309592"/>
                  <a:pt x="335256" y="300038"/>
                  <a:pt x="325755" y="300038"/>
                </a:cubicBezTo>
                <a:lnTo>
                  <a:pt x="142946" y="300038"/>
                </a:lnTo>
                <a:cubicBezTo>
                  <a:pt x="134660" y="300038"/>
                  <a:pt x="127587" y="292626"/>
                  <a:pt x="126087" y="282446"/>
                </a:cubicBezTo>
                <a:lnTo>
                  <a:pt x="122444" y="257175"/>
                </a:lnTo>
                <a:lnTo>
                  <a:pt x="339328" y="257175"/>
                </a:lnTo>
                <a:cubicBezTo>
                  <a:pt x="361331" y="257175"/>
                  <a:pt x="380190" y="237619"/>
                  <a:pt x="384262" y="210562"/>
                </a:cubicBezTo>
                <a:lnTo>
                  <a:pt x="406408" y="62419"/>
                </a:lnTo>
                <a:cubicBezTo>
                  <a:pt x="409051" y="44827"/>
                  <a:pt x="398264" y="28575"/>
                  <a:pt x="383905" y="28575"/>
                </a:cubicBezTo>
                <a:lnTo>
                  <a:pt x="89083" y="28575"/>
                </a:lnTo>
                <a:lnTo>
                  <a:pt x="88797" y="26789"/>
                </a:lnTo>
                <a:cubicBezTo>
                  <a:pt x="85368" y="3036"/>
                  <a:pt x="68794" y="-14287"/>
                  <a:pt x="49435" y="-14287"/>
                </a:cubicBezTo>
                <a:lnTo>
                  <a:pt x="17145" y="-14287"/>
                </a:lnTo>
                <a:close/>
                <a:moveTo>
                  <a:pt x="148590" y="457200"/>
                </a:moveTo>
                <a:cubicBezTo>
                  <a:pt x="167515" y="457200"/>
                  <a:pt x="182880" y="437994"/>
                  <a:pt x="182880" y="414338"/>
                </a:cubicBezTo>
                <a:cubicBezTo>
                  <a:pt x="182880" y="390681"/>
                  <a:pt x="167515" y="371475"/>
                  <a:pt x="148590" y="371475"/>
                </a:cubicBezTo>
                <a:cubicBezTo>
                  <a:pt x="129665" y="371475"/>
                  <a:pt x="114300" y="390681"/>
                  <a:pt x="114300" y="414338"/>
                </a:cubicBezTo>
                <a:cubicBezTo>
                  <a:pt x="114300" y="437994"/>
                  <a:pt x="129665" y="457200"/>
                  <a:pt x="148590" y="457200"/>
                </a:cubicBezTo>
                <a:close/>
                <a:moveTo>
                  <a:pt x="308610" y="457200"/>
                </a:moveTo>
                <a:cubicBezTo>
                  <a:pt x="327535" y="457200"/>
                  <a:pt x="342900" y="437994"/>
                  <a:pt x="342900" y="414338"/>
                </a:cubicBezTo>
                <a:cubicBezTo>
                  <a:pt x="342900" y="390681"/>
                  <a:pt x="327535" y="371475"/>
                  <a:pt x="308610" y="371475"/>
                </a:cubicBezTo>
                <a:cubicBezTo>
                  <a:pt x="289685" y="371475"/>
                  <a:pt x="274320" y="390681"/>
                  <a:pt x="274320" y="414338"/>
                </a:cubicBezTo>
                <a:cubicBezTo>
                  <a:pt x="274320" y="437994"/>
                  <a:pt x="289685" y="457200"/>
                  <a:pt x="308610" y="457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636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Retail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IKEA Place preview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922000" y="6096000"/>
            <a:ext cx="2159000" cy="1778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1" name="Shape 18"/>
          <p:cNvSpPr/>
          <p:nvPr/>
        </p:nvSpPr>
        <p:spPr>
          <a:xfrm>
            <a:off x="116967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168414"/>
                </a:moveTo>
                <a:cubicBezTo>
                  <a:pt x="0" y="75367"/>
                  <a:pt x="102394" y="0"/>
                  <a:pt x="228600" y="0"/>
                </a:cubicBezTo>
                <a:cubicBezTo>
                  <a:pt x="354806" y="0"/>
                  <a:pt x="457200" y="75367"/>
                  <a:pt x="457200" y="168414"/>
                </a:cubicBezTo>
                <a:cubicBezTo>
                  <a:pt x="457200" y="274945"/>
                  <a:pt x="314087" y="402640"/>
                  <a:pt x="254318" y="451306"/>
                </a:cubicBezTo>
                <a:cubicBezTo>
                  <a:pt x="240268" y="462736"/>
                  <a:pt x="216813" y="462736"/>
                  <a:pt x="202763" y="451306"/>
                </a:cubicBezTo>
                <a:cubicBezTo>
                  <a:pt x="142994" y="402640"/>
                  <a:pt x="-119" y="274945"/>
                  <a:pt x="-119" y="168414"/>
                </a:cubicBezTo>
                <a:close/>
                <a:moveTo>
                  <a:pt x="228600" y="228600"/>
                </a:moveTo>
                <a:cubicBezTo>
                  <a:pt x="270656" y="228600"/>
                  <a:pt x="304800" y="202992"/>
                  <a:pt x="304800" y="171450"/>
                </a:cubicBezTo>
                <a:cubicBezTo>
                  <a:pt x="304800" y="139908"/>
                  <a:pt x="270656" y="114300"/>
                  <a:pt x="228600" y="114300"/>
                </a:cubicBezTo>
                <a:cubicBezTo>
                  <a:pt x="186544" y="114300"/>
                  <a:pt x="152400" y="139908"/>
                  <a:pt x="152400" y="171450"/>
                </a:cubicBezTo>
                <a:cubicBezTo>
                  <a:pt x="152400" y="202992"/>
                  <a:pt x="186544" y="228600"/>
                  <a:pt x="22860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1049000" y="679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Navigation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 directions in Maps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3335000" y="6096000"/>
            <a:ext cx="1651000" cy="1778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4" name="Shape 21"/>
          <p:cNvSpPr/>
          <p:nvPr/>
        </p:nvSpPr>
        <p:spPr>
          <a:xfrm>
            <a:off x="139319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-3969" y="105370"/>
                </a:moveTo>
                <a:lnTo>
                  <a:pt x="18653" y="249763"/>
                </a:lnTo>
                <a:cubicBezTo>
                  <a:pt x="29766" y="320754"/>
                  <a:pt x="79216" y="376386"/>
                  <a:pt x="142319" y="388888"/>
                </a:cubicBezTo>
                <a:lnTo>
                  <a:pt x="152400" y="390852"/>
                </a:lnTo>
                <a:cubicBezTo>
                  <a:pt x="139303" y="365314"/>
                  <a:pt x="130889" y="336649"/>
                  <a:pt x="128111" y="306467"/>
                </a:cubicBezTo>
                <a:lnTo>
                  <a:pt x="108982" y="310307"/>
                </a:lnTo>
                <a:cubicBezTo>
                  <a:pt x="101283" y="311825"/>
                  <a:pt x="94059" y="305127"/>
                  <a:pt x="95568" y="296466"/>
                </a:cubicBezTo>
                <a:cubicBezTo>
                  <a:pt x="99378" y="274409"/>
                  <a:pt x="110728" y="254853"/>
                  <a:pt x="127079" y="242084"/>
                </a:cubicBezTo>
                <a:lnTo>
                  <a:pt x="127079" y="175468"/>
                </a:lnTo>
                <a:cubicBezTo>
                  <a:pt x="125968" y="176183"/>
                  <a:pt x="124698" y="176629"/>
                  <a:pt x="123349" y="176897"/>
                </a:cubicBezTo>
                <a:lnTo>
                  <a:pt x="73343" y="186809"/>
                </a:lnTo>
                <a:cubicBezTo>
                  <a:pt x="66437" y="188149"/>
                  <a:pt x="59611" y="182880"/>
                  <a:pt x="60722" y="175111"/>
                </a:cubicBezTo>
                <a:cubicBezTo>
                  <a:pt x="63183" y="157609"/>
                  <a:pt x="75327" y="142964"/>
                  <a:pt x="91758" y="139660"/>
                </a:cubicBezTo>
                <a:cubicBezTo>
                  <a:pt x="105410" y="136981"/>
                  <a:pt x="118666" y="142786"/>
                  <a:pt x="127159" y="153769"/>
                </a:cubicBezTo>
                <a:lnTo>
                  <a:pt x="127159" y="133499"/>
                </a:lnTo>
                <a:cubicBezTo>
                  <a:pt x="127159" y="113407"/>
                  <a:pt x="132636" y="86707"/>
                  <a:pt x="152797" y="67955"/>
                </a:cubicBezTo>
                <a:cubicBezTo>
                  <a:pt x="173434" y="48756"/>
                  <a:pt x="206534" y="28754"/>
                  <a:pt x="251936" y="19556"/>
                </a:cubicBezTo>
                <a:cubicBezTo>
                  <a:pt x="227727" y="5001"/>
                  <a:pt x="183436" y="-9019"/>
                  <a:pt x="121920" y="3125"/>
                </a:cubicBezTo>
                <a:cubicBezTo>
                  <a:pt x="58182" y="15806"/>
                  <a:pt x="20320" y="47863"/>
                  <a:pt x="2778" y="71080"/>
                </a:cubicBezTo>
                <a:cubicBezTo>
                  <a:pt x="-4366" y="80456"/>
                  <a:pt x="-5794" y="93315"/>
                  <a:pt x="-3889" y="105460"/>
                </a:cubicBezTo>
                <a:close/>
                <a:moveTo>
                  <a:pt x="165100" y="123855"/>
                </a:moveTo>
                <a:lnTo>
                  <a:pt x="165100" y="279946"/>
                </a:lnTo>
                <a:cubicBezTo>
                  <a:pt x="165100" y="352008"/>
                  <a:pt x="205184" y="416481"/>
                  <a:pt x="265430" y="441037"/>
                </a:cubicBezTo>
                <a:lnTo>
                  <a:pt x="287417" y="450056"/>
                </a:lnTo>
                <a:cubicBezTo>
                  <a:pt x="298609" y="454610"/>
                  <a:pt x="310912" y="454610"/>
                  <a:pt x="322104" y="450056"/>
                </a:cubicBezTo>
                <a:lnTo>
                  <a:pt x="344170" y="441127"/>
                </a:lnTo>
                <a:cubicBezTo>
                  <a:pt x="404416" y="416481"/>
                  <a:pt x="444500" y="352098"/>
                  <a:pt x="444500" y="279946"/>
                </a:cubicBezTo>
                <a:lnTo>
                  <a:pt x="444500" y="123855"/>
                </a:lnTo>
                <a:cubicBezTo>
                  <a:pt x="444500" y="117693"/>
                  <a:pt x="442833" y="111532"/>
                  <a:pt x="438944" y="107246"/>
                </a:cubicBezTo>
                <a:cubicBezTo>
                  <a:pt x="421005" y="87154"/>
                  <a:pt x="376873" y="57239"/>
                  <a:pt x="304800" y="57239"/>
                </a:cubicBezTo>
                <a:cubicBezTo>
                  <a:pt x="232727" y="57239"/>
                  <a:pt x="188595" y="87243"/>
                  <a:pt x="170656" y="107246"/>
                </a:cubicBezTo>
                <a:cubicBezTo>
                  <a:pt x="166767" y="111621"/>
                  <a:pt x="165100" y="117693"/>
                  <a:pt x="165100" y="123855"/>
                </a:cubicBezTo>
                <a:close/>
                <a:moveTo>
                  <a:pt x="217567" y="290929"/>
                </a:moveTo>
                <a:cubicBezTo>
                  <a:pt x="216456" y="284678"/>
                  <a:pt x="223123" y="281107"/>
                  <a:pt x="227648" y="285036"/>
                </a:cubicBezTo>
                <a:cubicBezTo>
                  <a:pt x="248999" y="303431"/>
                  <a:pt x="275749" y="314414"/>
                  <a:pt x="304800" y="314414"/>
                </a:cubicBezTo>
                <a:cubicBezTo>
                  <a:pt x="333851" y="314414"/>
                  <a:pt x="360521" y="303431"/>
                  <a:pt x="381953" y="285036"/>
                </a:cubicBezTo>
                <a:cubicBezTo>
                  <a:pt x="386477" y="281107"/>
                  <a:pt x="393144" y="284678"/>
                  <a:pt x="392033" y="290929"/>
                </a:cubicBezTo>
                <a:cubicBezTo>
                  <a:pt x="384016" y="336828"/>
                  <a:pt x="347980" y="371564"/>
                  <a:pt x="304800" y="371564"/>
                </a:cubicBezTo>
                <a:cubicBezTo>
                  <a:pt x="261620" y="371564"/>
                  <a:pt x="225584" y="336917"/>
                  <a:pt x="217567" y="290929"/>
                </a:cubicBezTo>
                <a:close/>
                <a:moveTo>
                  <a:pt x="217964" y="200293"/>
                </a:moveTo>
                <a:cubicBezTo>
                  <a:pt x="223203" y="183505"/>
                  <a:pt x="237331" y="171450"/>
                  <a:pt x="254000" y="171450"/>
                </a:cubicBezTo>
                <a:cubicBezTo>
                  <a:pt x="270669" y="171450"/>
                  <a:pt x="284877" y="183505"/>
                  <a:pt x="290036" y="200293"/>
                </a:cubicBezTo>
                <a:cubicBezTo>
                  <a:pt x="292338" y="207794"/>
                  <a:pt x="286464" y="214313"/>
                  <a:pt x="279400" y="214313"/>
                </a:cubicBezTo>
                <a:lnTo>
                  <a:pt x="228600" y="214313"/>
                </a:lnTo>
                <a:cubicBezTo>
                  <a:pt x="221615" y="214313"/>
                  <a:pt x="215662" y="207705"/>
                  <a:pt x="217964" y="200293"/>
                </a:cubicBezTo>
                <a:close/>
                <a:moveTo>
                  <a:pt x="381000" y="214313"/>
                </a:moveTo>
                <a:lnTo>
                  <a:pt x="330200" y="214313"/>
                </a:lnTo>
                <a:cubicBezTo>
                  <a:pt x="323215" y="214313"/>
                  <a:pt x="317262" y="207705"/>
                  <a:pt x="319564" y="200293"/>
                </a:cubicBezTo>
                <a:cubicBezTo>
                  <a:pt x="324723" y="183505"/>
                  <a:pt x="338931" y="171450"/>
                  <a:pt x="355600" y="171450"/>
                </a:cubicBezTo>
                <a:cubicBezTo>
                  <a:pt x="372269" y="171450"/>
                  <a:pt x="386477" y="183505"/>
                  <a:pt x="391636" y="200293"/>
                </a:cubicBezTo>
                <a:cubicBezTo>
                  <a:pt x="393938" y="207794"/>
                  <a:pt x="388064" y="214313"/>
                  <a:pt x="381000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13462000" y="6794500"/>
            <a:ext cx="13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Social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Snapchat filters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70000" y="8064500"/>
            <a:ext cx="1371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 Hardware: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Microsoft HoloLens 2 · Magic Leap 2 · Apple Vision Pro · Google Glass Enterprise · Smartphone AR (ARKit, ARCore)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 vs AR: Understanding the Differences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841500"/>
          <a:ext cx="13716000" cy="35560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5486400"/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Virtual Reality (VR)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Augmented Reality (AR)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Immersion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Fully immersive — replaces real world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Partially immersive — overlays digital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Environment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Completely digital world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 world + digital overlay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VR headset required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Smartphone, tablet, or glasses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Gaming, training, simulation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Navigation, shopping, repair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Market 2030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$165 billion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$198 billion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 Quest 3, PS VR2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HoloLens, Google Lens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5715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Extended Reality (XR) Spectrum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270000" y="6286500"/>
            <a:ext cx="13716000" cy="76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6B9CBF"/>
              </a:gs>
              <a:gs pos="30000">
                <a:srgbClr val="2E5E8A"/>
              </a:gs>
              <a:gs pos="50000">
                <a:srgbClr val="FF7F50"/>
              </a:gs>
              <a:gs pos="70000">
                <a:srgbClr val="2E5E8A"/>
              </a:gs>
              <a:gs pos="100000">
                <a:srgbClr val="6B9CBF"/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1524000" y="6350000"/>
            <a:ext cx="132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World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·························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········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MR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········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·························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World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270000" y="7302500"/>
            <a:ext cx="4318000" cy="76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0500" y="73660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MR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Mixed Reality: Blends real and virtual worlds (HoloLens 2)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69000" y="7302500"/>
            <a:ext cx="4318000" cy="76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59500" y="73660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XR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Extended Reality: Umbrella term for VR, AR, and MR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668000" y="7302500"/>
            <a:ext cx="4318000" cy="76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858500" y="73660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Future: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Apple Vision Pro and Meta Orion point to merged reality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of Things: A World of Connected Devices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985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05000"/>
            <a:ext cx="1295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Network of physical objects embedded with sensors, software, and connectivity to exchange data.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75+ billion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devices expected by 2025.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2794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IoT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3365500"/>
            <a:ext cx="6604000" cy="8255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4290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 Layer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Data processing, analytics, user interfaces, cloud services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70000" y="4318000"/>
            <a:ext cx="6604000" cy="8255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4381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Layer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Connectivity: Wi-Fi, Bluetooth, 5G, LoRaWAN, Zigbee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5270500"/>
            <a:ext cx="6604000" cy="825500"/>
          </a:xfrm>
          <a:prstGeom prst="roundRect">
            <a:avLst>
              <a:gd name="adj" fmla="val 6000"/>
            </a:avLst>
          </a:prstGeom>
          <a:solidFill>
            <a:srgbClr val="6B9CBF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3340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Perception Layer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Sensors, actuators, cameras, RFID tags, GPS</a:t>
            </a:r>
            <a:endParaRPr lang="en-US" sz="1600" dirty="0"/>
          </a:p>
        </p:txBody>
      </p:sp>
      <p:pic>
        <p:nvPicPr>
          <p:cNvPr id="13" name="Image 0" descr="https://kimi-img.moonshot.cn/pub/slides/okc/5ei2xmbh7l23y/mnt/agents/output/week10-computing/images/1_Tech_101_Internet_of_Things_U_M_R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55000" y="2794000"/>
            <a:ext cx="6731000" cy="3302000"/>
          </a:xfrm>
          <a:prstGeom prst="roundRect">
            <a:avLst>
              <a:gd name="adj" fmla="val 8000"/>
            </a:avLst>
          </a:prstGeom>
        </p:spPr>
      </p:pic>
      <p:sp>
        <p:nvSpPr>
          <p:cNvPr id="14" name="Text 11"/>
          <p:cNvSpPr/>
          <p:nvPr/>
        </p:nvSpPr>
        <p:spPr>
          <a:xfrm>
            <a:off x="1270000" y="6413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270000" y="69215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6" name="Text 13"/>
          <p:cNvSpPr/>
          <p:nvPr/>
        </p:nvSpPr>
        <p:spPr>
          <a:xfrm>
            <a:off x="1651000" y="70485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Devices collect data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→ 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Transmit to cloud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→ 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&amp; analyze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→ 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 actions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Applications: Transforming Industries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3996" y="190500"/>
                </a:moveTo>
                <a:lnTo>
                  <a:pt x="349956" y="190500"/>
                </a:lnTo>
                <a:lnTo>
                  <a:pt x="349956" y="304800"/>
                </a:lnTo>
                <a:cubicBezTo>
                  <a:pt x="349956" y="332819"/>
                  <a:pt x="329706" y="355600"/>
                  <a:pt x="304800" y="355600"/>
                </a:cubicBezTo>
                <a:lnTo>
                  <a:pt x="208139" y="355600"/>
                </a:lnTo>
                <a:cubicBezTo>
                  <a:pt x="191206" y="282813"/>
                  <a:pt x="142169" y="224631"/>
                  <a:pt x="79022" y="201374"/>
                </a:cubicBezTo>
                <a:lnTo>
                  <a:pt x="79022" y="190500"/>
                </a:lnTo>
                <a:lnTo>
                  <a:pt x="64982" y="190500"/>
                </a:lnTo>
                <a:cubicBezTo>
                  <a:pt x="54046" y="190500"/>
                  <a:pt x="45156" y="180499"/>
                  <a:pt x="45156" y="168196"/>
                </a:cubicBezTo>
                <a:cubicBezTo>
                  <a:pt x="45156" y="162163"/>
                  <a:pt x="47343" y="156369"/>
                  <a:pt x="51223" y="152162"/>
                </a:cubicBezTo>
                <a:lnTo>
                  <a:pt x="195086" y="-3889"/>
                </a:lnTo>
                <a:cubicBezTo>
                  <a:pt x="200307" y="-9525"/>
                  <a:pt x="207222" y="-12700"/>
                  <a:pt x="214489" y="-12700"/>
                </a:cubicBezTo>
                <a:cubicBezTo>
                  <a:pt x="221756" y="-12700"/>
                  <a:pt x="228671" y="-9525"/>
                  <a:pt x="233892" y="-3889"/>
                </a:cubicBezTo>
                <a:lnTo>
                  <a:pt x="377754" y="152162"/>
                </a:lnTo>
                <a:cubicBezTo>
                  <a:pt x="381635" y="156369"/>
                  <a:pt x="383822" y="162163"/>
                  <a:pt x="383822" y="168196"/>
                </a:cubicBezTo>
                <a:cubicBezTo>
                  <a:pt x="383822" y="180499"/>
                  <a:pt x="374932" y="190500"/>
                  <a:pt x="363996" y="190500"/>
                </a:cubicBezTo>
                <a:close/>
                <a:moveTo>
                  <a:pt x="197556" y="152400"/>
                </a:moveTo>
                <a:cubicBezTo>
                  <a:pt x="188172" y="152400"/>
                  <a:pt x="180622" y="160893"/>
                  <a:pt x="180622" y="171450"/>
                </a:cubicBezTo>
                <a:lnTo>
                  <a:pt x="180622" y="209550"/>
                </a:lnTo>
                <a:cubicBezTo>
                  <a:pt x="180622" y="220107"/>
                  <a:pt x="188172" y="228600"/>
                  <a:pt x="197556" y="228600"/>
                </a:cubicBezTo>
                <a:lnTo>
                  <a:pt x="231422" y="228600"/>
                </a:lnTo>
                <a:cubicBezTo>
                  <a:pt x="240806" y="228600"/>
                  <a:pt x="248356" y="220107"/>
                  <a:pt x="248356" y="209550"/>
                </a:cubicBezTo>
                <a:lnTo>
                  <a:pt x="248356" y="171450"/>
                </a:lnTo>
                <a:cubicBezTo>
                  <a:pt x="248356" y="160893"/>
                  <a:pt x="240806" y="152400"/>
                  <a:pt x="231422" y="152400"/>
                </a:cubicBezTo>
                <a:lnTo>
                  <a:pt x="197556" y="152400"/>
                </a:lnTo>
                <a:close/>
                <a:moveTo>
                  <a:pt x="16933" y="228600"/>
                </a:moveTo>
                <a:cubicBezTo>
                  <a:pt x="107315" y="228600"/>
                  <a:pt x="180622" y="311071"/>
                  <a:pt x="180622" y="412750"/>
                </a:cubicBezTo>
                <a:cubicBezTo>
                  <a:pt x="180622" y="423307"/>
                  <a:pt x="173073" y="431800"/>
                  <a:pt x="163689" y="431800"/>
                </a:cubicBezTo>
                <a:cubicBezTo>
                  <a:pt x="154305" y="431800"/>
                  <a:pt x="146756" y="423307"/>
                  <a:pt x="146756" y="412750"/>
                </a:cubicBezTo>
                <a:cubicBezTo>
                  <a:pt x="146756" y="332105"/>
                  <a:pt x="88618" y="266700"/>
                  <a:pt x="16933" y="266700"/>
                </a:cubicBezTo>
                <a:cubicBezTo>
                  <a:pt x="7549" y="266700"/>
                  <a:pt x="0" y="258207"/>
                  <a:pt x="0" y="247650"/>
                </a:cubicBezTo>
                <a:cubicBezTo>
                  <a:pt x="0" y="237093"/>
                  <a:pt x="7549" y="228600"/>
                  <a:pt x="16933" y="228600"/>
                </a:cubicBezTo>
                <a:close/>
                <a:moveTo>
                  <a:pt x="22578" y="381000"/>
                </a:moveTo>
                <a:cubicBezTo>
                  <a:pt x="35039" y="381000"/>
                  <a:pt x="45156" y="392381"/>
                  <a:pt x="45156" y="406400"/>
                </a:cubicBezTo>
                <a:cubicBezTo>
                  <a:pt x="45156" y="420419"/>
                  <a:pt x="35039" y="431800"/>
                  <a:pt x="22578" y="431800"/>
                </a:cubicBezTo>
                <a:cubicBezTo>
                  <a:pt x="10117" y="431800"/>
                  <a:pt x="0" y="420419"/>
                  <a:pt x="0" y="406400"/>
                </a:cubicBezTo>
                <a:cubicBezTo>
                  <a:pt x="0" y="392381"/>
                  <a:pt x="10117" y="381000"/>
                  <a:pt x="22578" y="381000"/>
                </a:cubicBezTo>
                <a:close/>
                <a:moveTo>
                  <a:pt x="0" y="323850"/>
                </a:moveTo>
                <a:cubicBezTo>
                  <a:pt x="0" y="313293"/>
                  <a:pt x="7549" y="304800"/>
                  <a:pt x="16933" y="304800"/>
                </a:cubicBezTo>
                <a:cubicBezTo>
                  <a:pt x="69921" y="304800"/>
                  <a:pt x="112889" y="353139"/>
                  <a:pt x="112889" y="412750"/>
                </a:cubicBezTo>
                <a:cubicBezTo>
                  <a:pt x="112889" y="423307"/>
                  <a:pt x="105339" y="431800"/>
                  <a:pt x="95956" y="431800"/>
                </a:cubicBezTo>
                <a:cubicBezTo>
                  <a:pt x="86572" y="431800"/>
                  <a:pt x="79022" y="423307"/>
                  <a:pt x="79022" y="412750"/>
                </a:cubicBezTo>
                <a:cubicBezTo>
                  <a:pt x="79022" y="374174"/>
                  <a:pt x="51223" y="342900"/>
                  <a:pt x="16933" y="342900"/>
                </a:cubicBezTo>
                <a:cubicBezTo>
                  <a:pt x="7549" y="342900"/>
                  <a:pt x="0" y="334407"/>
                  <a:pt x="0" y="3238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540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Home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Nest thermostat, Philips Hue, Ring doorbell, smart fridges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69000" y="1841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23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6223000" y="2540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Fitbit, Apple Watch, remote patient monitoring, smart pill dispensers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0" y="1841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22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2540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Agriculture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 farming, soil sensors, drone monitoring, livestock tracking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4127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24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5778" y="0"/>
                </a:moveTo>
                <a:cubicBezTo>
                  <a:pt x="200872" y="0"/>
                  <a:pt x="180622" y="22781"/>
                  <a:pt x="180622" y="50800"/>
                </a:cubicBezTo>
                <a:lnTo>
                  <a:pt x="180622" y="76200"/>
                </a:lnTo>
                <a:lnTo>
                  <a:pt x="146756" y="76200"/>
                </a:lnTo>
                <a:lnTo>
                  <a:pt x="146756" y="19050"/>
                </a:lnTo>
                <a:cubicBezTo>
                  <a:pt x="146756" y="8493"/>
                  <a:pt x="139206" y="0"/>
                  <a:pt x="129822" y="0"/>
                </a:cubicBezTo>
                <a:cubicBezTo>
                  <a:pt x="120438" y="0"/>
                  <a:pt x="112889" y="8493"/>
                  <a:pt x="112889" y="19050"/>
                </a:cubicBezTo>
                <a:lnTo>
                  <a:pt x="112889" y="76200"/>
                </a:lnTo>
                <a:lnTo>
                  <a:pt x="67733" y="76200"/>
                </a:lnTo>
                <a:lnTo>
                  <a:pt x="67733" y="19050"/>
                </a:lnTo>
                <a:cubicBezTo>
                  <a:pt x="67733" y="8493"/>
                  <a:pt x="60184" y="0"/>
                  <a:pt x="50800" y="0"/>
                </a:cubicBezTo>
                <a:cubicBezTo>
                  <a:pt x="41416" y="0"/>
                  <a:pt x="33867" y="8493"/>
                  <a:pt x="33867" y="19050"/>
                </a:cubicBezTo>
                <a:lnTo>
                  <a:pt x="33867" y="77788"/>
                </a:lnTo>
                <a:cubicBezTo>
                  <a:pt x="14393" y="83423"/>
                  <a:pt x="0" y="103346"/>
                  <a:pt x="0" y="127000"/>
                </a:cubicBezTo>
                <a:lnTo>
                  <a:pt x="0" y="355600"/>
                </a:lnTo>
                <a:cubicBezTo>
                  <a:pt x="0" y="383619"/>
                  <a:pt x="20249" y="406400"/>
                  <a:pt x="45156" y="406400"/>
                </a:cubicBezTo>
                <a:lnTo>
                  <a:pt x="361244" y="406400"/>
                </a:lnTo>
                <a:cubicBezTo>
                  <a:pt x="386151" y="406400"/>
                  <a:pt x="406400" y="383619"/>
                  <a:pt x="406400" y="355600"/>
                </a:cubicBezTo>
                <a:lnTo>
                  <a:pt x="406400" y="203200"/>
                </a:lnTo>
                <a:cubicBezTo>
                  <a:pt x="406400" y="175181"/>
                  <a:pt x="386151" y="152400"/>
                  <a:pt x="361244" y="152400"/>
                </a:cubicBezTo>
                <a:lnTo>
                  <a:pt x="316089" y="152400"/>
                </a:lnTo>
                <a:lnTo>
                  <a:pt x="316089" y="50800"/>
                </a:lnTo>
                <a:cubicBezTo>
                  <a:pt x="316089" y="22781"/>
                  <a:pt x="295839" y="0"/>
                  <a:pt x="270933" y="0"/>
                </a:cubicBezTo>
                <a:lnTo>
                  <a:pt x="225778" y="0"/>
                </a:lnTo>
                <a:close/>
                <a:moveTo>
                  <a:pt x="270933" y="88900"/>
                </a:moveTo>
                <a:lnTo>
                  <a:pt x="270933" y="114300"/>
                </a:lnTo>
                <a:cubicBezTo>
                  <a:pt x="270933" y="121285"/>
                  <a:pt x="265853" y="127000"/>
                  <a:pt x="259644" y="127000"/>
                </a:cubicBezTo>
                <a:lnTo>
                  <a:pt x="237067" y="127000"/>
                </a:lnTo>
                <a:cubicBezTo>
                  <a:pt x="230858" y="127000"/>
                  <a:pt x="225778" y="121285"/>
                  <a:pt x="225778" y="114300"/>
                </a:cubicBezTo>
                <a:lnTo>
                  <a:pt x="225778" y="88900"/>
                </a:lnTo>
                <a:cubicBezTo>
                  <a:pt x="225778" y="81915"/>
                  <a:pt x="230858" y="76200"/>
                  <a:pt x="237067" y="76200"/>
                </a:cubicBezTo>
                <a:lnTo>
                  <a:pt x="259644" y="76200"/>
                </a:lnTo>
                <a:cubicBezTo>
                  <a:pt x="265853" y="76200"/>
                  <a:pt x="270933" y="81915"/>
                  <a:pt x="270933" y="88900"/>
                </a:cubicBezTo>
                <a:close/>
                <a:moveTo>
                  <a:pt x="259644" y="152400"/>
                </a:moveTo>
                <a:cubicBezTo>
                  <a:pt x="265853" y="152400"/>
                  <a:pt x="270933" y="158115"/>
                  <a:pt x="270933" y="165100"/>
                </a:cubicBezTo>
                <a:lnTo>
                  <a:pt x="270933" y="190500"/>
                </a:lnTo>
                <a:cubicBezTo>
                  <a:pt x="270933" y="197485"/>
                  <a:pt x="265853" y="203200"/>
                  <a:pt x="259644" y="203200"/>
                </a:cubicBezTo>
                <a:lnTo>
                  <a:pt x="237067" y="203200"/>
                </a:lnTo>
                <a:cubicBezTo>
                  <a:pt x="230858" y="203200"/>
                  <a:pt x="225778" y="197485"/>
                  <a:pt x="225778" y="190500"/>
                </a:cubicBezTo>
                <a:lnTo>
                  <a:pt x="225778" y="165100"/>
                </a:lnTo>
                <a:cubicBezTo>
                  <a:pt x="225778" y="158115"/>
                  <a:pt x="230858" y="152400"/>
                  <a:pt x="237067" y="152400"/>
                </a:cubicBezTo>
                <a:lnTo>
                  <a:pt x="259644" y="152400"/>
                </a:lnTo>
                <a:close/>
                <a:moveTo>
                  <a:pt x="270933" y="241300"/>
                </a:moveTo>
                <a:lnTo>
                  <a:pt x="270933" y="266700"/>
                </a:lnTo>
                <a:cubicBezTo>
                  <a:pt x="270933" y="273685"/>
                  <a:pt x="265853" y="279400"/>
                  <a:pt x="259644" y="279400"/>
                </a:cubicBezTo>
                <a:lnTo>
                  <a:pt x="237067" y="279400"/>
                </a:lnTo>
                <a:cubicBezTo>
                  <a:pt x="230858" y="279400"/>
                  <a:pt x="225778" y="273685"/>
                  <a:pt x="225778" y="266700"/>
                </a:cubicBezTo>
                <a:lnTo>
                  <a:pt x="225778" y="241300"/>
                </a:lnTo>
                <a:cubicBezTo>
                  <a:pt x="225778" y="234315"/>
                  <a:pt x="230858" y="228600"/>
                  <a:pt x="237067" y="228600"/>
                </a:cubicBezTo>
                <a:lnTo>
                  <a:pt x="259644" y="228600"/>
                </a:lnTo>
                <a:cubicBezTo>
                  <a:pt x="265853" y="228600"/>
                  <a:pt x="270933" y="234315"/>
                  <a:pt x="270933" y="241300"/>
                </a:cubicBezTo>
                <a:close/>
                <a:moveTo>
                  <a:pt x="349956" y="228600"/>
                </a:moveTo>
                <a:cubicBezTo>
                  <a:pt x="356164" y="228600"/>
                  <a:pt x="361244" y="234315"/>
                  <a:pt x="361244" y="241300"/>
                </a:cubicBezTo>
                <a:lnTo>
                  <a:pt x="361244" y="266700"/>
                </a:lnTo>
                <a:cubicBezTo>
                  <a:pt x="361244" y="273685"/>
                  <a:pt x="356164" y="279400"/>
                  <a:pt x="349956" y="279400"/>
                </a:cubicBezTo>
                <a:lnTo>
                  <a:pt x="327378" y="279400"/>
                </a:lnTo>
                <a:cubicBezTo>
                  <a:pt x="321169" y="279400"/>
                  <a:pt x="316089" y="273685"/>
                  <a:pt x="316089" y="266700"/>
                </a:cubicBezTo>
                <a:lnTo>
                  <a:pt x="316089" y="241300"/>
                </a:lnTo>
                <a:cubicBezTo>
                  <a:pt x="316089" y="234315"/>
                  <a:pt x="321169" y="228600"/>
                  <a:pt x="327378" y="228600"/>
                </a:cubicBezTo>
                <a:lnTo>
                  <a:pt x="349956" y="228600"/>
                </a:lnTo>
                <a:close/>
                <a:moveTo>
                  <a:pt x="180622" y="241300"/>
                </a:moveTo>
                <a:lnTo>
                  <a:pt x="180622" y="266700"/>
                </a:lnTo>
                <a:cubicBezTo>
                  <a:pt x="180622" y="273685"/>
                  <a:pt x="175542" y="279400"/>
                  <a:pt x="169333" y="279400"/>
                </a:cubicBezTo>
                <a:lnTo>
                  <a:pt x="146756" y="279400"/>
                </a:lnTo>
                <a:cubicBezTo>
                  <a:pt x="140547" y="279400"/>
                  <a:pt x="135467" y="273685"/>
                  <a:pt x="135467" y="266700"/>
                </a:cubicBezTo>
                <a:lnTo>
                  <a:pt x="135467" y="241300"/>
                </a:lnTo>
                <a:cubicBezTo>
                  <a:pt x="135467" y="234315"/>
                  <a:pt x="140547" y="228600"/>
                  <a:pt x="146756" y="228600"/>
                </a:cubicBezTo>
                <a:lnTo>
                  <a:pt x="169333" y="228600"/>
                </a:lnTo>
                <a:cubicBezTo>
                  <a:pt x="175542" y="228600"/>
                  <a:pt x="180622" y="234315"/>
                  <a:pt x="180622" y="241300"/>
                </a:cubicBezTo>
                <a:close/>
                <a:moveTo>
                  <a:pt x="169333" y="152400"/>
                </a:moveTo>
                <a:cubicBezTo>
                  <a:pt x="175542" y="152400"/>
                  <a:pt x="180622" y="158115"/>
                  <a:pt x="180622" y="165100"/>
                </a:cubicBezTo>
                <a:lnTo>
                  <a:pt x="180622" y="190500"/>
                </a:lnTo>
                <a:cubicBezTo>
                  <a:pt x="180622" y="197485"/>
                  <a:pt x="175542" y="203200"/>
                  <a:pt x="169333" y="203200"/>
                </a:cubicBezTo>
                <a:lnTo>
                  <a:pt x="146756" y="203200"/>
                </a:lnTo>
                <a:cubicBezTo>
                  <a:pt x="140547" y="203200"/>
                  <a:pt x="135467" y="197485"/>
                  <a:pt x="135467" y="190500"/>
                </a:cubicBezTo>
                <a:lnTo>
                  <a:pt x="135467" y="165100"/>
                </a:lnTo>
                <a:cubicBezTo>
                  <a:pt x="135467" y="158115"/>
                  <a:pt x="140547" y="152400"/>
                  <a:pt x="146756" y="152400"/>
                </a:cubicBezTo>
                <a:lnTo>
                  <a:pt x="169333" y="152400"/>
                </a:lnTo>
                <a:close/>
                <a:moveTo>
                  <a:pt x="90311" y="241300"/>
                </a:moveTo>
                <a:lnTo>
                  <a:pt x="90311" y="266700"/>
                </a:lnTo>
                <a:cubicBezTo>
                  <a:pt x="90311" y="273685"/>
                  <a:pt x="85231" y="279400"/>
                  <a:pt x="79022" y="279400"/>
                </a:cubicBezTo>
                <a:lnTo>
                  <a:pt x="56444" y="279400"/>
                </a:lnTo>
                <a:cubicBezTo>
                  <a:pt x="50236" y="279400"/>
                  <a:pt x="45156" y="273685"/>
                  <a:pt x="45156" y="266700"/>
                </a:cubicBezTo>
                <a:lnTo>
                  <a:pt x="45156" y="241300"/>
                </a:lnTo>
                <a:cubicBezTo>
                  <a:pt x="45156" y="234315"/>
                  <a:pt x="50236" y="228600"/>
                  <a:pt x="56444" y="228600"/>
                </a:cubicBezTo>
                <a:lnTo>
                  <a:pt x="79022" y="228600"/>
                </a:lnTo>
                <a:cubicBezTo>
                  <a:pt x="85231" y="228600"/>
                  <a:pt x="90311" y="234315"/>
                  <a:pt x="90311" y="241300"/>
                </a:cubicBezTo>
                <a:close/>
                <a:moveTo>
                  <a:pt x="79022" y="152400"/>
                </a:moveTo>
                <a:cubicBezTo>
                  <a:pt x="85231" y="152400"/>
                  <a:pt x="90311" y="158115"/>
                  <a:pt x="90311" y="165100"/>
                </a:cubicBezTo>
                <a:lnTo>
                  <a:pt x="90311" y="190500"/>
                </a:lnTo>
                <a:cubicBezTo>
                  <a:pt x="90311" y="197485"/>
                  <a:pt x="85231" y="203200"/>
                  <a:pt x="79022" y="203200"/>
                </a:cubicBezTo>
                <a:lnTo>
                  <a:pt x="56444" y="203200"/>
                </a:lnTo>
                <a:cubicBezTo>
                  <a:pt x="50236" y="203200"/>
                  <a:pt x="45156" y="197485"/>
                  <a:pt x="45156" y="190500"/>
                </a:cubicBezTo>
                <a:lnTo>
                  <a:pt x="45156" y="165100"/>
                </a:lnTo>
                <a:cubicBezTo>
                  <a:pt x="45156" y="158115"/>
                  <a:pt x="50236" y="152400"/>
                  <a:pt x="56444" y="152400"/>
                </a:cubicBezTo>
                <a:lnTo>
                  <a:pt x="79022" y="1524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4826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Cities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Traffic management, smart bins, air quality monitoring, smart parking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41275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3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20809"/>
                </a:lnTo>
                <a:cubicBezTo>
                  <a:pt x="406400" y="106363"/>
                  <a:pt x="391001" y="97234"/>
                  <a:pt x="378301" y="104061"/>
                </a:cubicBezTo>
                <a:lnTo>
                  <a:pt x="254000" y="170974"/>
                </a:lnTo>
                <a:lnTo>
                  <a:pt x="254000" y="120809"/>
                </a:lnTo>
                <a:cubicBezTo>
                  <a:pt x="254000" y="106363"/>
                  <a:pt x="238601" y="97234"/>
                  <a:pt x="225901" y="104061"/>
                </a:cubicBezTo>
                <a:lnTo>
                  <a:pt x="101600" y="170974"/>
                </a:lnTo>
                <a:lnTo>
                  <a:pt x="101600" y="50800"/>
                </a:lnTo>
                <a:cubicBezTo>
                  <a:pt x="101600" y="36751"/>
                  <a:pt x="90249" y="25400"/>
                  <a:pt x="76200" y="25400"/>
                </a:cubicBezTo>
                <a:lnTo>
                  <a:pt x="25400" y="254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223000" y="4826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Industrial IoT (IIoT)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Predictive maintenance, asset tracking, supply chain optimization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4127500"/>
            <a:ext cx="4318000" cy="196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10922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0" y="4826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Transportation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Fleet management, connected cars (Tesla OTA), logistics tracking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0000" y="6477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51000" y="6604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IoT Market: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$1.1 trillion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 2026 ·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Connected Devices: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75+ billion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 2025 · Every second, 127 new devices connect to the internet.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IoT: Challenges, Security &amp; the Future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22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Mirai botnet: 600K+ devices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Data collection concerns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Interoperability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Different standards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Scalability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Billions of devices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36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2159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Measures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36000" y="2794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Device authentication &amp; encryption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Regular firmware updates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Network segmentation (IoT VLAN)</a:t>
            </a:r>
            <a:endParaRPr lang="en-US" sz="1800" dirty="0"/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Strong password policies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0000" y="5270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Trends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70000" y="5842000"/>
            <a:ext cx="2540000" cy="165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596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+ IoT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AIoT for intelligent automation and edge AI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064000" y="5842000"/>
            <a:ext cx="2540000" cy="1651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191000" y="596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5G IoT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Massive device connectivity with low latency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0" y="5842000"/>
            <a:ext cx="2540000" cy="165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596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Edge Computing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data closer to devices, reduce latency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52000" y="5842000"/>
            <a:ext cx="2540000" cy="1651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9779000" y="596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Twins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replicas of physical systems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446000" y="5842000"/>
            <a:ext cx="2540000" cy="165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0" y="596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Green IoT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harvesting sensors for sustainability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70000" y="7810500"/>
            <a:ext cx="13716000" cy="4445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848600"/>
            <a:ext cx="132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paho.mqtt.client 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mqtt  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Python IoT sensor simulation using MQTT protocol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Future is Connected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048000" y="3683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Stay Secure, Stay Curious, Stay Ahead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83000" y="4572000"/>
            <a:ext cx="889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security is foundational to all technology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computing is transforming how we live and work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both opportunities and risks is essential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88000" y="6096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10 · Computing Fundamentals ·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3000" y="6858000"/>
            <a:ext cx="1270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3000" y="6858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10: Safety, Security &amp; Modern Computing</dc:title>
  <dc:subject>Week 10: Safety, Security &amp; Modern Computing</dc:subject>
  <dc:creator>Kimi</dc:creator>
  <cp:lastModifiedBy>Kimi</cp:lastModifiedBy>
  <cp:revision>1</cp:revision>
  <dcterms:created xsi:type="dcterms:W3CDTF">2026-06-28T17:32:12Z</dcterms:created>
  <dcterms:modified xsi:type="dcterms:W3CDTF">2026-06-28T17:32:12Z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10: Safety, Security &amp; Modern Computing","ContentProducer":"001191110108MACG2KBH8F10000","ProduceID":"19f0f298-1402-8ec4-8000-000048dce335","ReservedCode1":"","ContentPropagator":"001191110108MACG2KBH8F20000","PropagateID":"19f0f23a-dea2-8bf9-8000-09096942cb41","ReservedCode2":""}</vt:lpwstr>
  </property>
</Properties>
</file>