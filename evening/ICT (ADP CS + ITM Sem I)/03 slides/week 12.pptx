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682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3302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kern="0" spc="1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12: Digital Economics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Goods, Production Models &amp; Value Configurations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96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23 &amp; 24 · Digital Economics Course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flip="none" rotWithShape="1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476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23: Digital Economics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55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492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55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24: Value Models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3111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Goods · Production Models · CBPP · Crowdsourcing · OSS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4127500"/>
            <a:ext cx="635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Chain · Value Shop · Value Network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23: Digital Economics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Goods, Services, and Production Models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Digital Goods and Services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350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goods are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non-rivalrous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consumption by one user does not reduce availability for others.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marginal cost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replication is virtually free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Non-excludability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hard to prevent unauthorized access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 goods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value known only after use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effects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value rises with more users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604000" cy="533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413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 of Digital Goods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" y="95250"/>
                </a:moveTo>
                <a:cubicBezTo>
                  <a:pt x="50800" y="60226"/>
                  <a:pt x="73581" y="31750"/>
                  <a:pt x="101600" y="31750"/>
                </a:cubicBezTo>
                <a:lnTo>
                  <a:pt x="406400" y="31750"/>
                </a:lnTo>
                <a:cubicBezTo>
                  <a:pt x="434419" y="31750"/>
                  <a:pt x="457200" y="60226"/>
                  <a:pt x="457200" y="95250"/>
                </a:cubicBezTo>
                <a:lnTo>
                  <a:pt x="457200" y="333375"/>
                </a:lnTo>
                <a:lnTo>
                  <a:pt x="406400" y="333375"/>
                </a:lnTo>
                <a:lnTo>
                  <a:pt x="406400" y="95250"/>
                </a:lnTo>
                <a:lnTo>
                  <a:pt x="101600" y="95250"/>
                </a:lnTo>
                <a:lnTo>
                  <a:pt x="101600" y="333375"/>
                </a:lnTo>
                <a:lnTo>
                  <a:pt x="50800" y="333375"/>
                </a:lnTo>
                <a:lnTo>
                  <a:pt x="50800" y="95250"/>
                </a:lnTo>
                <a:close/>
                <a:moveTo>
                  <a:pt x="0" y="400050"/>
                </a:moveTo>
                <a:cubicBezTo>
                  <a:pt x="0" y="389533"/>
                  <a:pt x="6826" y="381000"/>
                  <a:pt x="15240" y="381000"/>
                </a:cubicBezTo>
                <a:lnTo>
                  <a:pt x="492760" y="381000"/>
                </a:lnTo>
                <a:cubicBezTo>
                  <a:pt x="501174" y="381000"/>
                  <a:pt x="508000" y="389533"/>
                  <a:pt x="508000" y="400050"/>
                </a:cubicBezTo>
                <a:cubicBezTo>
                  <a:pt x="508000" y="442119"/>
                  <a:pt x="480695" y="476250"/>
                  <a:pt x="447040" y="476250"/>
                </a:cubicBezTo>
                <a:lnTo>
                  <a:pt x="60960" y="476250"/>
                </a:lnTo>
                <a:cubicBezTo>
                  <a:pt x="27305" y="476250"/>
                  <a:pt x="0" y="442119"/>
                  <a:pt x="0" y="400050"/>
                </a:cubicBezTo>
                <a:close/>
                <a:moveTo>
                  <a:pt x="223044" y="207367"/>
                </a:moveTo>
                <a:lnTo>
                  <a:pt x="198438" y="238125"/>
                </a:lnTo>
                <a:lnTo>
                  <a:pt x="223044" y="268883"/>
                </a:lnTo>
                <a:cubicBezTo>
                  <a:pt x="230505" y="278209"/>
                  <a:pt x="230505" y="293291"/>
                  <a:pt x="223044" y="302518"/>
                </a:cubicBezTo>
                <a:cubicBezTo>
                  <a:pt x="215583" y="311745"/>
                  <a:pt x="203518" y="311845"/>
                  <a:pt x="196136" y="302518"/>
                </a:cubicBezTo>
                <a:lnTo>
                  <a:pt x="158036" y="254893"/>
                </a:lnTo>
                <a:cubicBezTo>
                  <a:pt x="150574" y="245566"/>
                  <a:pt x="150574" y="230485"/>
                  <a:pt x="158036" y="221258"/>
                </a:cubicBezTo>
                <a:lnTo>
                  <a:pt x="196136" y="173633"/>
                </a:lnTo>
                <a:cubicBezTo>
                  <a:pt x="203597" y="164306"/>
                  <a:pt x="215662" y="164306"/>
                  <a:pt x="223044" y="173633"/>
                </a:cubicBezTo>
                <a:cubicBezTo>
                  <a:pt x="230426" y="182959"/>
                  <a:pt x="230505" y="198041"/>
                  <a:pt x="223044" y="207268"/>
                </a:cubicBezTo>
                <a:close/>
                <a:moveTo>
                  <a:pt x="311944" y="173633"/>
                </a:moveTo>
                <a:lnTo>
                  <a:pt x="350044" y="221258"/>
                </a:lnTo>
                <a:cubicBezTo>
                  <a:pt x="357505" y="230584"/>
                  <a:pt x="357505" y="245666"/>
                  <a:pt x="350044" y="254893"/>
                </a:cubicBezTo>
                <a:lnTo>
                  <a:pt x="311944" y="302518"/>
                </a:lnTo>
                <a:cubicBezTo>
                  <a:pt x="304483" y="311845"/>
                  <a:pt x="292418" y="311845"/>
                  <a:pt x="285036" y="302518"/>
                </a:cubicBezTo>
                <a:cubicBezTo>
                  <a:pt x="277654" y="293191"/>
                  <a:pt x="277574" y="278110"/>
                  <a:pt x="285036" y="268883"/>
                </a:cubicBezTo>
                <a:lnTo>
                  <a:pt x="309642" y="238125"/>
                </a:lnTo>
                <a:lnTo>
                  <a:pt x="285036" y="207367"/>
                </a:lnTo>
                <a:cubicBezTo>
                  <a:pt x="277574" y="198041"/>
                  <a:pt x="277574" y="182959"/>
                  <a:pt x="285036" y="173732"/>
                </a:cubicBezTo>
                <a:cubicBezTo>
                  <a:pt x="292497" y="164505"/>
                  <a:pt x="304562" y="164405"/>
                  <a:pt x="311944" y="173732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0" y="3937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Software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220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64344" y="6945"/>
                </a:moveTo>
                <a:cubicBezTo>
                  <a:pt x="471884" y="12998"/>
                  <a:pt x="476250" y="22126"/>
                  <a:pt x="476250" y="31750"/>
                </a:cubicBezTo>
                <a:lnTo>
                  <a:pt x="476250" y="333375"/>
                </a:lnTo>
                <a:cubicBezTo>
                  <a:pt x="476250" y="377230"/>
                  <a:pt x="433586" y="412750"/>
                  <a:pt x="381000" y="412750"/>
                </a:cubicBezTo>
                <a:cubicBezTo>
                  <a:pt x="328414" y="412750"/>
                  <a:pt x="285750" y="377230"/>
                  <a:pt x="285750" y="333375"/>
                </a:cubicBezTo>
                <a:cubicBezTo>
                  <a:pt x="285750" y="289520"/>
                  <a:pt x="328414" y="254000"/>
                  <a:pt x="381000" y="254000"/>
                </a:cubicBezTo>
                <a:cubicBezTo>
                  <a:pt x="392113" y="254000"/>
                  <a:pt x="402828" y="255588"/>
                  <a:pt x="412750" y="258564"/>
                </a:cubicBezTo>
                <a:lnTo>
                  <a:pt x="412750" y="142776"/>
                </a:lnTo>
                <a:lnTo>
                  <a:pt x="190500" y="192187"/>
                </a:lnTo>
                <a:lnTo>
                  <a:pt x="190500" y="396875"/>
                </a:lnTo>
                <a:cubicBezTo>
                  <a:pt x="190500" y="440730"/>
                  <a:pt x="147836" y="476250"/>
                  <a:pt x="95250" y="476250"/>
                </a:cubicBezTo>
                <a:cubicBezTo>
                  <a:pt x="42664" y="476250"/>
                  <a:pt x="0" y="440730"/>
                  <a:pt x="0" y="396875"/>
                </a:cubicBezTo>
                <a:cubicBezTo>
                  <a:pt x="0" y="353020"/>
                  <a:pt x="42664" y="317500"/>
                  <a:pt x="95250" y="317500"/>
                </a:cubicBezTo>
                <a:cubicBezTo>
                  <a:pt x="106363" y="317500"/>
                  <a:pt x="117078" y="319088"/>
                  <a:pt x="127000" y="322064"/>
                </a:cubicBezTo>
                <a:lnTo>
                  <a:pt x="127000" y="95250"/>
                </a:lnTo>
                <a:cubicBezTo>
                  <a:pt x="127000" y="80367"/>
                  <a:pt x="137319" y="67469"/>
                  <a:pt x="151904" y="64294"/>
                </a:cubicBezTo>
                <a:lnTo>
                  <a:pt x="437654" y="794"/>
                </a:lnTo>
                <a:cubicBezTo>
                  <a:pt x="447080" y="-1290"/>
                  <a:pt x="456902" y="992"/>
                  <a:pt x="464443" y="704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0414000" y="3937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Music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7000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35429" y="508000"/>
                </a:moveTo>
                <a:lnTo>
                  <a:pt x="108857" y="508000"/>
                </a:lnTo>
                <a:cubicBezTo>
                  <a:pt x="48759" y="508000"/>
                  <a:pt x="0" y="465336"/>
                  <a:pt x="0" y="412750"/>
                </a:cubicBezTo>
                <a:lnTo>
                  <a:pt x="0" y="95250"/>
                </a:lnTo>
                <a:cubicBezTo>
                  <a:pt x="0" y="42664"/>
                  <a:pt x="48759" y="0"/>
                  <a:pt x="108857" y="0"/>
                </a:cubicBezTo>
                <a:lnTo>
                  <a:pt x="453571" y="0"/>
                </a:lnTo>
                <a:cubicBezTo>
                  <a:pt x="483621" y="0"/>
                  <a:pt x="508000" y="21332"/>
                  <a:pt x="508000" y="47625"/>
                </a:cubicBezTo>
                <a:lnTo>
                  <a:pt x="508000" y="333375"/>
                </a:lnTo>
                <a:cubicBezTo>
                  <a:pt x="508000" y="354112"/>
                  <a:pt x="492805" y="371773"/>
                  <a:pt x="471714" y="378321"/>
                </a:cubicBezTo>
                <a:lnTo>
                  <a:pt x="471714" y="444500"/>
                </a:lnTo>
                <a:cubicBezTo>
                  <a:pt x="491785" y="444500"/>
                  <a:pt x="508000" y="458688"/>
                  <a:pt x="508000" y="476250"/>
                </a:cubicBezTo>
                <a:cubicBezTo>
                  <a:pt x="508000" y="493812"/>
                  <a:pt x="491785" y="508000"/>
                  <a:pt x="471714" y="508000"/>
                </a:cubicBezTo>
                <a:lnTo>
                  <a:pt x="435429" y="508000"/>
                </a:lnTo>
                <a:close/>
                <a:moveTo>
                  <a:pt x="108857" y="381000"/>
                </a:moveTo>
                <a:cubicBezTo>
                  <a:pt x="88787" y="381000"/>
                  <a:pt x="72571" y="395188"/>
                  <a:pt x="72571" y="412750"/>
                </a:cubicBezTo>
                <a:cubicBezTo>
                  <a:pt x="72571" y="430312"/>
                  <a:pt x="88787" y="444500"/>
                  <a:pt x="108857" y="444500"/>
                </a:cubicBezTo>
                <a:lnTo>
                  <a:pt x="399143" y="444500"/>
                </a:lnTo>
                <a:lnTo>
                  <a:pt x="399143" y="381000"/>
                </a:lnTo>
                <a:lnTo>
                  <a:pt x="108857" y="381000"/>
                </a:lnTo>
                <a:close/>
                <a:moveTo>
                  <a:pt x="145143" y="150813"/>
                </a:moveTo>
                <a:cubicBezTo>
                  <a:pt x="145143" y="164009"/>
                  <a:pt x="157276" y="174625"/>
                  <a:pt x="172357" y="174625"/>
                </a:cubicBezTo>
                <a:lnTo>
                  <a:pt x="371929" y="174625"/>
                </a:lnTo>
                <a:cubicBezTo>
                  <a:pt x="387010" y="174625"/>
                  <a:pt x="399143" y="164009"/>
                  <a:pt x="399143" y="150813"/>
                </a:cubicBezTo>
                <a:cubicBezTo>
                  <a:pt x="399143" y="137616"/>
                  <a:pt x="387010" y="127000"/>
                  <a:pt x="371929" y="127000"/>
                </a:cubicBezTo>
                <a:lnTo>
                  <a:pt x="172357" y="127000"/>
                </a:lnTo>
                <a:cubicBezTo>
                  <a:pt x="157276" y="127000"/>
                  <a:pt x="145143" y="137616"/>
                  <a:pt x="145143" y="150813"/>
                </a:cubicBezTo>
                <a:close/>
                <a:moveTo>
                  <a:pt x="172357" y="222250"/>
                </a:moveTo>
                <a:cubicBezTo>
                  <a:pt x="157276" y="222250"/>
                  <a:pt x="145143" y="232866"/>
                  <a:pt x="145143" y="246063"/>
                </a:cubicBezTo>
                <a:cubicBezTo>
                  <a:pt x="145143" y="259259"/>
                  <a:pt x="157276" y="269875"/>
                  <a:pt x="172357" y="269875"/>
                </a:cubicBezTo>
                <a:lnTo>
                  <a:pt x="371929" y="269875"/>
                </a:lnTo>
                <a:cubicBezTo>
                  <a:pt x="387010" y="269875"/>
                  <a:pt x="399143" y="259259"/>
                  <a:pt x="399143" y="246063"/>
                </a:cubicBezTo>
                <a:cubicBezTo>
                  <a:pt x="399143" y="232866"/>
                  <a:pt x="387010" y="222250"/>
                  <a:pt x="371929" y="222250"/>
                </a:cubicBezTo>
                <a:lnTo>
                  <a:pt x="172357" y="22225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0" y="3937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E-Books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7" y="63500"/>
                </a:moveTo>
                <a:cubicBezTo>
                  <a:pt x="53534" y="63500"/>
                  <a:pt x="28222" y="91976"/>
                  <a:pt x="28222" y="127000"/>
                </a:cubicBezTo>
                <a:lnTo>
                  <a:pt x="28222" y="381000"/>
                </a:lnTo>
                <a:cubicBezTo>
                  <a:pt x="28222" y="416024"/>
                  <a:pt x="53534" y="444500"/>
                  <a:pt x="84667" y="444500"/>
                </a:cubicBezTo>
                <a:lnTo>
                  <a:pt x="310444" y="444500"/>
                </a:lnTo>
                <a:cubicBezTo>
                  <a:pt x="341577" y="444500"/>
                  <a:pt x="366889" y="416024"/>
                  <a:pt x="366889" y="381000"/>
                </a:cubicBezTo>
                <a:lnTo>
                  <a:pt x="366889" y="127000"/>
                </a:lnTo>
                <a:cubicBezTo>
                  <a:pt x="366889" y="91976"/>
                  <a:pt x="341577" y="63500"/>
                  <a:pt x="310444" y="63500"/>
                </a:cubicBezTo>
                <a:lnTo>
                  <a:pt x="84667" y="63500"/>
                </a:lnTo>
                <a:close/>
                <a:moveTo>
                  <a:pt x="409222" y="333375"/>
                </a:moveTo>
                <a:lnTo>
                  <a:pt x="474045" y="391716"/>
                </a:lnTo>
                <a:cubicBezTo>
                  <a:pt x="477749" y="395089"/>
                  <a:pt x="482335" y="396875"/>
                  <a:pt x="487098" y="396875"/>
                </a:cubicBezTo>
                <a:cubicBezTo>
                  <a:pt x="498651" y="396875"/>
                  <a:pt x="508000" y="386358"/>
                  <a:pt x="508000" y="373360"/>
                </a:cubicBezTo>
                <a:lnTo>
                  <a:pt x="508000" y="134640"/>
                </a:lnTo>
                <a:cubicBezTo>
                  <a:pt x="508000" y="121642"/>
                  <a:pt x="498651" y="111125"/>
                  <a:pt x="487098" y="111125"/>
                </a:cubicBezTo>
                <a:cubicBezTo>
                  <a:pt x="482335" y="111125"/>
                  <a:pt x="477749" y="112911"/>
                  <a:pt x="474045" y="116284"/>
                </a:cubicBezTo>
                <a:lnTo>
                  <a:pt x="409222" y="174625"/>
                </a:lnTo>
                <a:lnTo>
                  <a:pt x="409222" y="333375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9000" y="5334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9220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2571" y="31750"/>
                </a:moveTo>
                <a:cubicBezTo>
                  <a:pt x="32544" y="31750"/>
                  <a:pt x="0" y="60226"/>
                  <a:pt x="0" y="9525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95250"/>
                </a:lnTo>
                <a:cubicBezTo>
                  <a:pt x="508000" y="60226"/>
                  <a:pt x="475456" y="31750"/>
                  <a:pt x="435429" y="31750"/>
                </a:cubicBezTo>
                <a:lnTo>
                  <a:pt x="72571" y="31750"/>
                </a:lnTo>
                <a:close/>
                <a:moveTo>
                  <a:pt x="145143" y="111125"/>
                </a:moveTo>
                <a:cubicBezTo>
                  <a:pt x="175183" y="111125"/>
                  <a:pt x="199571" y="132465"/>
                  <a:pt x="199571" y="158750"/>
                </a:cubicBezTo>
                <a:cubicBezTo>
                  <a:pt x="199571" y="185035"/>
                  <a:pt x="175183" y="206375"/>
                  <a:pt x="145143" y="206375"/>
                </a:cubicBezTo>
                <a:cubicBezTo>
                  <a:pt x="115103" y="206375"/>
                  <a:pt x="90714" y="185035"/>
                  <a:pt x="90714" y="158750"/>
                </a:cubicBezTo>
                <a:cubicBezTo>
                  <a:pt x="90714" y="132465"/>
                  <a:pt x="115103" y="111125"/>
                  <a:pt x="145143" y="111125"/>
                </a:cubicBezTo>
                <a:close/>
                <a:moveTo>
                  <a:pt x="308429" y="222250"/>
                </a:moveTo>
                <a:cubicBezTo>
                  <a:pt x="317954" y="222250"/>
                  <a:pt x="326685" y="226616"/>
                  <a:pt x="331674" y="233660"/>
                </a:cubicBezTo>
                <a:lnTo>
                  <a:pt x="431460" y="376535"/>
                </a:lnTo>
                <a:cubicBezTo>
                  <a:pt x="436563" y="383877"/>
                  <a:pt x="436789" y="393105"/>
                  <a:pt x="432027" y="400645"/>
                </a:cubicBezTo>
                <a:cubicBezTo>
                  <a:pt x="427264" y="408186"/>
                  <a:pt x="418079" y="412750"/>
                  <a:pt x="408214" y="412750"/>
                </a:cubicBezTo>
                <a:lnTo>
                  <a:pt x="99786" y="412750"/>
                </a:lnTo>
                <a:cubicBezTo>
                  <a:pt x="89694" y="412750"/>
                  <a:pt x="80282" y="407789"/>
                  <a:pt x="75633" y="399951"/>
                </a:cubicBezTo>
                <a:cubicBezTo>
                  <a:pt x="70984" y="392113"/>
                  <a:pt x="71664" y="382588"/>
                  <a:pt x="77447" y="375345"/>
                </a:cubicBezTo>
                <a:lnTo>
                  <a:pt x="140947" y="295970"/>
                </a:lnTo>
                <a:cubicBezTo>
                  <a:pt x="146050" y="289620"/>
                  <a:pt x="154328" y="285849"/>
                  <a:pt x="163286" y="285849"/>
                </a:cubicBezTo>
                <a:cubicBezTo>
                  <a:pt x="172244" y="285849"/>
                  <a:pt x="180521" y="289620"/>
                  <a:pt x="185624" y="295970"/>
                </a:cubicBezTo>
                <a:lnTo>
                  <a:pt x="215560" y="333474"/>
                </a:lnTo>
                <a:lnTo>
                  <a:pt x="285183" y="233759"/>
                </a:lnTo>
                <a:cubicBezTo>
                  <a:pt x="290172" y="226715"/>
                  <a:pt x="298904" y="222349"/>
                  <a:pt x="308429" y="22234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0" y="5334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508000" y="204192"/>
                </a:moveTo>
                <a:cubicBezTo>
                  <a:pt x="491218" y="213916"/>
                  <a:pt x="471941" y="221754"/>
                  <a:pt x="451871" y="228005"/>
                </a:cubicBezTo>
                <a:cubicBezTo>
                  <a:pt x="398576" y="244673"/>
                  <a:pt x="328613" y="254000"/>
                  <a:pt x="254000" y="254000"/>
                </a:cubicBezTo>
                <a:cubicBezTo>
                  <a:pt x="179387" y="254000"/>
                  <a:pt x="109311" y="244574"/>
                  <a:pt x="56129" y="228005"/>
                </a:cubicBezTo>
                <a:cubicBezTo>
                  <a:pt x="36172" y="221754"/>
                  <a:pt x="16782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113733" y="365125"/>
                  <a:pt x="254000" y="365125"/>
                </a:cubicBezTo>
                <a:cubicBezTo>
                  <a:pt x="394267" y="365125"/>
                  <a:pt x="508000" y="329605"/>
                  <a:pt x="508000" y="285750"/>
                </a:cubicBezTo>
                <a:lnTo>
                  <a:pt x="508000" y="204192"/>
                </a:lnTo>
                <a:close/>
                <a:moveTo>
                  <a:pt x="508000" y="127000"/>
                </a:moveTo>
                <a:lnTo>
                  <a:pt x="508000" y="79375"/>
                </a:lnTo>
                <a:cubicBezTo>
                  <a:pt x="508000" y="35520"/>
                  <a:pt x="394267" y="0"/>
                  <a:pt x="254000" y="0"/>
                </a:cubicBezTo>
                <a:cubicBezTo>
                  <a:pt x="113733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113733" y="206375"/>
                  <a:pt x="254000" y="206375"/>
                </a:cubicBezTo>
                <a:cubicBezTo>
                  <a:pt x="394267" y="206375"/>
                  <a:pt x="508000" y="170855"/>
                  <a:pt x="508000" y="127000"/>
                </a:cubicBezTo>
                <a:close/>
                <a:moveTo>
                  <a:pt x="451871" y="386755"/>
                </a:moveTo>
                <a:cubicBezTo>
                  <a:pt x="398689" y="403324"/>
                  <a:pt x="328726" y="412750"/>
                  <a:pt x="254000" y="412750"/>
                </a:cubicBezTo>
                <a:cubicBezTo>
                  <a:pt x="179274" y="412750"/>
                  <a:pt x="109311" y="403324"/>
                  <a:pt x="56129" y="386755"/>
                </a:cubicBezTo>
                <a:cubicBezTo>
                  <a:pt x="36172" y="380504"/>
                  <a:pt x="16782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113733" y="508000"/>
                  <a:pt x="254000" y="508000"/>
                </a:cubicBezTo>
                <a:cubicBezTo>
                  <a:pt x="394267" y="508000"/>
                  <a:pt x="508000" y="472480"/>
                  <a:pt x="508000" y="428625"/>
                </a:cubicBezTo>
                <a:lnTo>
                  <a:pt x="508000" y="362942"/>
                </a:lnTo>
                <a:cubicBezTo>
                  <a:pt x="491218" y="372666"/>
                  <a:pt x="471941" y="380504"/>
                  <a:pt x="451871" y="38675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2065000" y="53340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Datasets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90000" y="60960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physical goods, digital goods can be consumed simultaneously by unlimited users without depletion.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Economics of Digital Goods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304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40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3898" y="17264"/>
                </a:moveTo>
                <a:cubicBezTo>
                  <a:pt x="267361" y="4862"/>
                  <a:pt x="240506" y="4862"/>
                  <a:pt x="223970" y="17264"/>
                </a:cubicBezTo>
                <a:lnTo>
                  <a:pt x="12303" y="176014"/>
                </a:lnTo>
                <a:cubicBezTo>
                  <a:pt x="-4233" y="188416"/>
                  <a:pt x="-4233" y="208558"/>
                  <a:pt x="12303" y="220960"/>
                </a:cubicBezTo>
                <a:cubicBezTo>
                  <a:pt x="28840" y="233362"/>
                  <a:pt x="55695" y="233362"/>
                  <a:pt x="72231" y="220960"/>
                </a:cubicBezTo>
                <a:lnTo>
                  <a:pt x="211667" y="116384"/>
                </a:lnTo>
                <a:lnTo>
                  <a:pt x="211667" y="484187"/>
                </a:lnTo>
                <a:cubicBezTo>
                  <a:pt x="211667" y="501749"/>
                  <a:pt x="230584" y="515938"/>
                  <a:pt x="254000" y="515938"/>
                </a:cubicBezTo>
                <a:cubicBezTo>
                  <a:pt x="277416" y="515938"/>
                  <a:pt x="296333" y="501749"/>
                  <a:pt x="296333" y="484187"/>
                </a:cubicBezTo>
                <a:lnTo>
                  <a:pt x="296333" y="116384"/>
                </a:lnTo>
                <a:lnTo>
                  <a:pt x="435769" y="220960"/>
                </a:lnTo>
                <a:cubicBezTo>
                  <a:pt x="452305" y="233363"/>
                  <a:pt x="479160" y="233363"/>
                  <a:pt x="495697" y="220960"/>
                </a:cubicBezTo>
                <a:cubicBezTo>
                  <a:pt x="512233" y="208558"/>
                  <a:pt x="512233" y="188416"/>
                  <a:pt x="495697" y="176014"/>
                </a:cubicBezTo>
                <a:lnTo>
                  <a:pt x="284030" y="17264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2857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Fixed Costs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7000" y="3302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Creation &amp; development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2032000"/>
            <a:ext cx="3048000" cy="2032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5842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4102" y="498673"/>
                </a:moveTo>
                <a:cubicBezTo>
                  <a:pt x="240639" y="511076"/>
                  <a:pt x="267494" y="511076"/>
                  <a:pt x="284030" y="498673"/>
                </a:cubicBezTo>
                <a:lnTo>
                  <a:pt x="495697" y="339923"/>
                </a:lnTo>
                <a:cubicBezTo>
                  <a:pt x="512233" y="327521"/>
                  <a:pt x="512233" y="307380"/>
                  <a:pt x="495697" y="294977"/>
                </a:cubicBezTo>
                <a:cubicBezTo>
                  <a:pt x="479160" y="282575"/>
                  <a:pt x="452305" y="282575"/>
                  <a:pt x="435769" y="294977"/>
                </a:cubicBezTo>
                <a:lnTo>
                  <a:pt x="296333" y="399554"/>
                </a:lnTo>
                <a:lnTo>
                  <a:pt x="296333" y="31750"/>
                </a:lnTo>
                <a:cubicBezTo>
                  <a:pt x="296333" y="14188"/>
                  <a:pt x="277416" y="0"/>
                  <a:pt x="254000" y="0"/>
                </a:cubicBezTo>
                <a:cubicBezTo>
                  <a:pt x="230584" y="0"/>
                  <a:pt x="211667" y="14188"/>
                  <a:pt x="211667" y="31750"/>
                </a:cubicBezTo>
                <a:lnTo>
                  <a:pt x="211667" y="399554"/>
                </a:lnTo>
                <a:lnTo>
                  <a:pt x="72231" y="294977"/>
                </a:lnTo>
                <a:cubicBezTo>
                  <a:pt x="55695" y="282575"/>
                  <a:pt x="28840" y="282575"/>
                  <a:pt x="12303" y="294977"/>
                </a:cubicBezTo>
                <a:cubicBezTo>
                  <a:pt x="-4233" y="307380"/>
                  <a:pt x="-4233" y="327521"/>
                  <a:pt x="12303" y="339923"/>
                </a:cubicBezTo>
                <a:lnTo>
                  <a:pt x="223970" y="49867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857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Near-Zero Marginal Cost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99000" y="3302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Replication is virtually free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0" y="2032000"/>
            <a:ext cx="3048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53836" y="38795"/>
                </a:moveTo>
                <a:lnTo>
                  <a:pt x="484540" y="187920"/>
                </a:lnTo>
                <a:cubicBezTo>
                  <a:pt x="508970" y="215801"/>
                  <a:pt x="508970" y="260449"/>
                  <a:pt x="484540" y="288330"/>
                </a:cubicBezTo>
                <a:lnTo>
                  <a:pt x="346604" y="445393"/>
                </a:lnTo>
                <a:cubicBezTo>
                  <a:pt x="338402" y="454720"/>
                  <a:pt x="324997" y="454819"/>
                  <a:pt x="316706" y="445591"/>
                </a:cubicBezTo>
                <a:cubicBezTo>
                  <a:pt x="308416" y="436364"/>
                  <a:pt x="308328" y="421283"/>
                  <a:pt x="316530" y="411956"/>
                </a:cubicBezTo>
                <a:lnTo>
                  <a:pt x="454466" y="254794"/>
                </a:lnTo>
                <a:cubicBezTo>
                  <a:pt x="462580" y="245566"/>
                  <a:pt x="462580" y="230584"/>
                  <a:pt x="454466" y="221357"/>
                </a:cubicBezTo>
                <a:lnTo>
                  <a:pt x="323674" y="72330"/>
                </a:lnTo>
                <a:cubicBezTo>
                  <a:pt x="315472" y="63004"/>
                  <a:pt x="315560" y="47923"/>
                  <a:pt x="323850" y="38695"/>
                </a:cubicBezTo>
                <a:cubicBezTo>
                  <a:pt x="332140" y="29468"/>
                  <a:pt x="345546" y="29567"/>
                  <a:pt x="353748" y="38894"/>
                </a:cubicBezTo>
                <a:close/>
                <a:moveTo>
                  <a:pt x="28310" y="227707"/>
                </a:moveTo>
                <a:lnTo>
                  <a:pt x="28310" y="95250"/>
                </a:lnTo>
                <a:cubicBezTo>
                  <a:pt x="28310" y="60226"/>
                  <a:pt x="53622" y="31750"/>
                  <a:pt x="84755" y="31750"/>
                </a:cubicBezTo>
                <a:lnTo>
                  <a:pt x="202494" y="31750"/>
                </a:lnTo>
                <a:cubicBezTo>
                  <a:pt x="217488" y="31750"/>
                  <a:pt x="231863" y="38398"/>
                  <a:pt x="242447" y="50304"/>
                </a:cubicBezTo>
                <a:lnTo>
                  <a:pt x="369447" y="193179"/>
                </a:lnTo>
                <a:cubicBezTo>
                  <a:pt x="391495" y="217984"/>
                  <a:pt x="391495" y="258167"/>
                  <a:pt x="369447" y="282972"/>
                </a:cubicBezTo>
                <a:lnTo>
                  <a:pt x="251707" y="415429"/>
                </a:lnTo>
                <a:cubicBezTo>
                  <a:pt x="229658" y="440234"/>
                  <a:pt x="193940" y="440234"/>
                  <a:pt x="171891" y="415429"/>
                </a:cubicBezTo>
                <a:lnTo>
                  <a:pt x="44891" y="272554"/>
                </a:lnTo>
                <a:cubicBezTo>
                  <a:pt x="34308" y="260648"/>
                  <a:pt x="28399" y="244475"/>
                  <a:pt x="28399" y="227608"/>
                </a:cubicBezTo>
                <a:close/>
                <a:moveTo>
                  <a:pt x="155310" y="142875"/>
                </a:moveTo>
                <a:cubicBezTo>
                  <a:pt x="155310" y="125352"/>
                  <a:pt x="142664" y="111125"/>
                  <a:pt x="127088" y="111125"/>
                </a:cubicBezTo>
                <a:cubicBezTo>
                  <a:pt x="111512" y="111125"/>
                  <a:pt x="98866" y="125352"/>
                  <a:pt x="98866" y="142875"/>
                </a:cubicBezTo>
                <a:cubicBezTo>
                  <a:pt x="98866" y="160398"/>
                  <a:pt x="111512" y="174625"/>
                  <a:pt x="127088" y="174625"/>
                </a:cubicBezTo>
                <a:cubicBezTo>
                  <a:pt x="142664" y="174625"/>
                  <a:pt x="155310" y="160398"/>
                  <a:pt x="155310" y="1428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7874000" y="28575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Discrimination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01000" y="3302000"/>
            <a:ext cx="279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for profitability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76000" y="2032000"/>
            <a:ext cx="3810000" cy="2032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700000" y="222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18722" y="87313"/>
                </a:moveTo>
                <a:lnTo>
                  <a:pt x="289278" y="87313"/>
                </a:lnTo>
                <a:lnTo>
                  <a:pt x="289278" y="134938"/>
                </a:lnTo>
                <a:lnTo>
                  <a:pt x="218722" y="134938"/>
                </a:lnTo>
                <a:lnTo>
                  <a:pt x="218722" y="87313"/>
                </a:lnTo>
                <a:close/>
                <a:moveTo>
                  <a:pt x="211667" y="31750"/>
                </a:moveTo>
                <a:cubicBezTo>
                  <a:pt x="188295" y="31750"/>
                  <a:pt x="169333" y="53082"/>
                  <a:pt x="169333" y="79375"/>
                </a:cubicBezTo>
                <a:lnTo>
                  <a:pt x="169333" y="142875"/>
                </a:lnTo>
                <a:cubicBezTo>
                  <a:pt x="169333" y="169168"/>
                  <a:pt x="188295" y="190500"/>
                  <a:pt x="211667" y="190500"/>
                </a:cubicBezTo>
                <a:lnTo>
                  <a:pt x="225778" y="190500"/>
                </a:lnTo>
                <a:lnTo>
                  <a:pt x="225778" y="222250"/>
                </a:lnTo>
                <a:lnTo>
                  <a:pt x="28222" y="222250"/>
                </a:lnTo>
                <a:cubicBezTo>
                  <a:pt x="12612" y="222250"/>
                  <a:pt x="0" y="236438"/>
                  <a:pt x="0" y="254000"/>
                </a:cubicBezTo>
                <a:cubicBezTo>
                  <a:pt x="0" y="271562"/>
                  <a:pt x="12612" y="285750"/>
                  <a:pt x="28222" y="285750"/>
                </a:cubicBezTo>
                <a:lnTo>
                  <a:pt x="112889" y="285750"/>
                </a:lnTo>
                <a:lnTo>
                  <a:pt x="112889" y="317500"/>
                </a:lnTo>
                <a:lnTo>
                  <a:pt x="98778" y="317500"/>
                </a:lnTo>
                <a:cubicBezTo>
                  <a:pt x="75406" y="317500"/>
                  <a:pt x="56444" y="338832"/>
                  <a:pt x="56444" y="365125"/>
                </a:cubicBezTo>
                <a:lnTo>
                  <a:pt x="56444" y="428625"/>
                </a:lnTo>
                <a:cubicBezTo>
                  <a:pt x="56444" y="454918"/>
                  <a:pt x="75406" y="476250"/>
                  <a:pt x="98778" y="476250"/>
                </a:cubicBezTo>
                <a:lnTo>
                  <a:pt x="183444" y="476250"/>
                </a:lnTo>
                <a:cubicBezTo>
                  <a:pt x="206816" y="476250"/>
                  <a:pt x="225778" y="454918"/>
                  <a:pt x="225778" y="428625"/>
                </a:cubicBezTo>
                <a:lnTo>
                  <a:pt x="225778" y="365125"/>
                </a:lnTo>
                <a:cubicBezTo>
                  <a:pt x="225778" y="338832"/>
                  <a:pt x="206816" y="317500"/>
                  <a:pt x="183444" y="317500"/>
                </a:cubicBezTo>
                <a:lnTo>
                  <a:pt x="169333" y="317500"/>
                </a:lnTo>
                <a:lnTo>
                  <a:pt x="169333" y="285750"/>
                </a:lnTo>
                <a:lnTo>
                  <a:pt x="338667" y="285750"/>
                </a:lnTo>
                <a:lnTo>
                  <a:pt x="338667" y="317500"/>
                </a:lnTo>
                <a:lnTo>
                  <a:pt x="324556" y="317500"/>
                </a:lnTo>
                <a:cubicBezTo>
                  <a:pt x="301184" y="317500"/>
                  <a:pt x="282222" y="338832"/>
                  <a:pt x="282222" y="365125"/>
                </a:cubicBezTo>
                <a:lnTo>
                  <a:pt x="282222" y="428625"/>
                </a:lnTo>
                <a:cubicBezTo>
                  <a:pt x="282222" y="454918"/>
                  <a:pt x="301184" y="476250"/>
                  <a:pt x="324556" y="476250"/>
                </a:cubicBezTo>
                <a:lnTo>
                  <a:pt x="409222" y="476250"/>
                </a:lnTo>
                <a:cubicBezTo>
                  <a:pt x="432594" y="476250"/>
                  <a:pt x="451556" y="454918"/>
                  <a:pt x="451556" y="428625"/>
                </a:cubicBezTo>
                <a:lnTo>
                  <a:pt x="451556" y="365125"/>
                </a:lnTo>
                <a:cubicBezTo>
                  <a:pt x="451556" y="338832"/>
                  <a:pt x="432594" y="317500"/>
                  <a:pt x="409222" y="317500"/>
                </a:cubicBezTo>
                <a:lnTo>
                  <a:pt x="395111" y="317500"/>
                </a:lnTo>
                <a:lnTo>
                  <a:pt x="395111" y="285750"/>
                </a:lnTo>
                <a:lnTo>
                  <a:pt x="479778" y="285750"/>
                </a:lnTo>
                <a:cubicBezTo>
                  <a:pt x="495388" y="285750"/>
                  <a:pt x="508000" y="271562"/>
                  <a:pt x="508000" y="254000"/>
                </a:cubicBezTo>
                <a:cubicBezTo>
                  <a:pt x="508000" y="236438"/>
                  <a:pt x="495388" y="222250"/>
                  <a:pt x="479778" y="222250"/>
                </a:cubicBezTo>
                <a:lnTo>
                  <a:pt x="282222" y="222250"/>
                </a:lnTo>
                <a:lnTo>
                  <a:pt x="282222" y="190500"/>
                </a:lnTo>
                <a:lnTo>
                  <a:pt x="296333" y="190500"/>
                </a:lnTo>
                <a:cubicBezTo>
                  <a:pt x="319705" y="190500"/>
                  <a:pt x="338667" y="169168"/>
                  <a:pt x="338667" y="142875"/>
                </a:cubicBezTo>
                <a:lnTo>
                  <a:pt x="338667" y="79375"/>
                </a:lnTo>
                <a:cubicBezTo>
                  <a:pt x="338667" y="53082"/>
                  <a:pt x="319705" y="31750"/>
                  <a:pt x="296333" y="31750"/>
                </a:cubicBezTo>
                <a:lnTo>
                  <a:pt x="211667" y="31750"/>
                </a:lnTo>
                <a:close/>
                <a:moveTo>
                  <a:pt x="395111" y="373063"/>
                </a:moveTo>
                <a:lnTo>
                  <a:pt x="402167" y="373063"/>
                </a:lnTo>
                <a:lnTo>
                  <a:pt x="402167" y="420688"/>
                </a:lnTo>
                <a:lnTo>
                  <a:pt x="331611" y="420688"/>
                </a:lnTo>
                <a:lnTo>
                  <a:pt x="331611" y="373063"/>
                </a:lnTo>
                <a:lnTo>
                  <a:pt x="395111" y="373063"/>
                </a:lnTo>
                <a:close/>
                <a:moveTo>
                  <a:pt x="169333" y="373063"/>
                </a:moveTo>
                <a:lnTo>
                  <a:pt x="176389" y="373063"/>
                </a:lnTo>
                <a:lnTo>
                  <a:pt x="176389" y="420688"/>
                </a:lnTo>
                <a:lnTo>
                  <a:pt x="105833" y="420688"/>
                </a:lnTo>
                <a:lnTo>
                  <a:pt x="105833" y="373063"/>
                </a:lnTo>
                <a:lnTo>
                  <a:pt x="169333" y="373063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285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Effects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303000" y="33020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increases with users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0000" y="4572000"/>
            <a:ext cx="13716000" cy="304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8000" y="4762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Pricing Strategies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78000" y="5334000"/>
            <a:ext cx="1270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Freemium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Basic version free, premium features paid (Spotify, Dropbox)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Versioning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Different quality tiers at different prices (HD vs. 4K streaming)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Bundling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Combining multiple goods at a discounted rate (Microsoft 365)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Subscription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Recurring revenue model (SaaS, Netflix, Adobe CC)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of Digital Services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97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0" y="0"/>
                </a:moveTo>
                <a:cubicBezTo>
                  <a:pt x="45561" y="0"/>
                  <a:pt x="0" y="34171"/>
                  <a:pt x="0" y="76200"/>
                </a:cubicBezTo>
                <a:lnTo>
                  <a:pt x="0" y="533400"/>
                </a:lnTo>
                <a:cubicBezTo>
                  <a:pt x="0" y="575429"/>
                  <a:pt x="45561" y="609600"/>
                  <a:pt x="101600" y="609600"/>
                </a:cubicBezTo>
                <a:lnTo>
                  <a:pt x="508000" y="609600"/>
                </a:lnTo>
                <a:cubicBezTo>
                  <a:pt x="564039" y="609600"/>
                  <a:pt x="609600" y="575429"/>
                  <a:pt x="609600" y="533400"/>
                </a:cubicBezTo>
                <a:lnTo>
                  <a:pt x="609600" y="76200"/>
                </a:lnTo>
                <a:cubicBezTo>
                  <a:pt x="609600" y="34171"/>
                  <a:pt x="564039" y="0"/>
                  <a:pt x="508000" y="0"/>
                </a:cubicBezTo>
                <a:lnTo>
                  <a:pt x="101600" y="0"/>
                </a:lnTo>
                <a:close/>
                <a:moveTo>
                  <a:pt x="279400" y="419100"/>
                </a:moveTo>
                <a:lnTo>
                  <a:pt x="330200" y="419100"/>
                </a:lnTo>
                <a:cubicBezTo>
                  <a:pt x="358299" y="419100"/>
                  <a:pt x="381000" y="436126"/>
                  <a:pt x="381000" y="457200"/>
                </a:cubicBezTo>
                <a:lnTo>
                  <a:pt x="381000" y="552450"/>
                </a:lnTo>
                <a:lnTo>
                  <a:pt x="228600" y="552450"/>
                </a:lnTo>
                <a:lnTo>
                  <a:pt x="228600" y="457200"/>
                </a:lnTo>
                <a:cubicBezTo>
                  <a:pt x="228600" y="436126"/>
                  <a:pt x="251301" y="419100"/>
                  <a:pt x="279400" y="419100"/>
                </a:cubicBezTo>
                <a:close/>
                <a:moveTo>
                  <a:pt x="152400" y="133350"/>
                </a:moveTo>
                <a:cubicBezTo>
                  <a:pt x="152400" y="122873"/>
                  <a:pt x="163830" y="114300"/>
                  <a:pt x="177800" y="114300"/>
                </a:cubicBezTo>
                <a:lnTo>
                  <a:pt x="228600" y="114300"/>
                </a:lnTo>
                <a:cubicBezTo>
                  <a:pt x="242570" y="114300"/>
                  <a:pt x="254000" y="122873"/>
                  <a:pt x="254000" y="133350"/>
                </a:cubicBezTo>
                <a:lnTo>
                  <a:pt x="254000" y="171450"/>
                </a:lnTo>
                <a:cubicBezTo>
                  <a:pt x="254000" y="181928"/>
                  <a:pt x="242570" y="190500"/>
                  <a:pt x="228600" y="190500"/>
                </a:cubicBezTo>
                <a:lnTo>
                  <a:pt x="177800" y="190500"/>
                </a:lnTo>
                <a:cubicBezTo>
                  <a:pt x="163830" y="190500"/>
                  <a:pt x="152400" y="181928"/>
                  <a:pt x="152400" y="171450"/>
                </a:cubicBezTo>
                <a:lnTo>
                  <a:pt x="152400" y="133350"/>
                </a:lnTo>
                <a:close/>
                <a:moveTo>
                  <a:pt x="381000" y="114300"/>
                </a:moveTo>
                <a:lnTo>
                  <a:pt x="431800" y="114300"/>
                </a:lnTo>
                <a:cubicBezTo>
                  <a:pt x="445770" y="114300"/>
                  <a:pt x="457200" y="122873"/>
                  <a:pt x="457200" y="133350"/>
                </a:cubicBezTo>
                <a:lnTo>
                  <a:pt x="457200" y="171450"/>
                </a:lnTo>
                <a:cubicBezTo>
                  <a:pt x="457200" y="181928"/>
                  <a:pt x="445770" y="190500"/>
                  <a:pt x="431800" y="190500"/>
                </a:cubicBezTo>
                <a:lnTo>
                  <a:pt x="381000" y="190500"/>
                </a:lnTo>
                <a:cubicBezTo>
                  <a:pt x="367030" y="190500"/>
                  <a:pt x="355600" y="181928"/>
                  <a:pt x="355600" y="171450"/>
                </a:cubicBezTo>
                <a:lnTo>
                  <a:pt x="355600" y="133350"/>
                </a:lnTo>
                <a:cubicBezTo>
                  <a:pt x="355600" y="122873"/>
                  <a:pt x="367030" y="114300"/>
                  <a:pt x="381000" y="114300"/>
                </a:cubicBezTo>
                <a:close/>
                <a:moveTo>
                  <a:pt x="152400" y="285750"/>
                </a:moveTo>
                <a:cubicBezTo>
                  <a:pt x="152400" y="275273"/>
                  <a:pt x="163830" y="266700"/>
                  <a:pt x="177800" y="266700"/>
                </a:cubicBezTo>
                <a:lnTo>
                  <a:pt x="228600" y="266700"/>
                </a:lnTo>
                <a:cubicBezTo>
                  <a:pt x="242570" y="266700"/>
                  <a:pt x="254000" y="275273"/>
                  <a:pt x="254000" y="285750"/>
                </a:cubicBezTo>
                <a:lnTo>
                  <a:pt x="254000" y="323850"/>
                </a:lnTo>
                <a:cubicBezTo>
                  <a:pt x="254000" y="334328"/>
                  <a:pt x="242570" y="342900"/>
                  <a:pt x="228600" y="342900"/>
                </a:cubicBezTo>
                <a:lnTo>
                  <a:pt x="177800" y="342900"/>
                </a:lnTo>
                <a:cubicBezTo>
                  <a:pt x="163830" y="342900"/>
                  <a:pt x="152400" y="334328"/>
                  <a:pt x="152400" y="323850"/>
                </a:cubicBezTo>
                <a:lnTo>
                  <a:pt x="152400" y="285750"/>
                </a:lnTo>
                <a:close/>
                <a:moveTo>
                  <a:pt x="381000" y="266700"/>
                </a:moveTo>
                <a:lnTo>
                  <a:pt x="431800" y="266700"/>
                </a:lnTo>
                <a:cubicBezTo>
                  <a:pt x="445770" y="266700"/>
                  <a:pt x="457200" y="275273"/>
                  <a:pt x="457200" y="285750"/>
                </a:cubicBezTo>
                <a:lnTo>
                  <a:pt x="457200" y="323850"/>
                </a:lnTo>
                <a:cubicBezTo>
                  <a:pt x="457200" y="334328"/>
                  <a:pt x="445770" y="342900"/>
                  <a:pt x="431800" y="342900"/>
                </a:cubicBezTo>
                <a:lnTo>
                  <a:pt x="381000" y="342900"/>
                </a:lnTo>
                <a:cubicBezTo>
                  <a:pt x="367030" y="342900"/>
                  <a:pt x="355600" y="334328"/>
                  <a:pt x="355600" y="323850"/>
                </a:cubicBezTo>
                <a:lnTo>
                  <a:pt x="355600" y="285750"/>
                </a:lnTo>
                <a:cubicBezTo>
                  <a:pt x="355600" y="275273"/>
                  <a:pt x="367030" y="266700"/>
                  <a:pt x="381000" y="2667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In-House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 creates services internally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Hierarchical structure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Proprietary IP control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 fixed costs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Direct quality oversight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69000" y="2032000"/>
            <a:ext cx="4318000" cy="558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6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84586" y="101441"/>
                </a:moveTo>
                <a:lnTo>
                  <a:pt x="161184" y="255746"/>
                </a:lnTo>
                <a:cubicBezTo>
                  <a:pt x="156316" y="261818"/>
                  <a:pt x="156528" y="271224"/>
                  <a:pt x="161713" y="277058"/>
                </a:cubicBezTo>
                <a:cubicBezTo>
                  <a:pt x="193993" y="313373"/>
                  <a:pt x="246380" y="313373"/>
                  <a:pt x="278659" y="277058"/>
                </a:cubicBezTo>
                <a:lnTo>
                  <a:pt x="312314" y="239197"/>
                </a:lnTo>
                <a:cubicBezTo>
                  <a:pt x="316759" y="234196"/>
                  <a:pt x="322368" y="231458"/>
                  <a:pt x="328083" y="230981"/>
                </a:cubicBezTo>
                <a:cubicBezTo>
                  <a:pt x="335280" y="230267"/>
                  <a:pt x="342688" y="233005"/>
                  <a:pt x="348192" y="239197"/>
                </a:cubicBezTo>
                <a:lnTo>
                  <a:pt x="535093" y="447675"/>
                </a:lnTo>
                <a:lnTo>
                  <a:pt x="609600" y="381000"/>
                </a:lnTo>
                <a:lnTo>
                  <a:pt x="609600" y="38100"/>
                </a:lnTo>
                <a:lnTo>
                  <a:pt x="491067" y="114300"/>
                </a:lnTo>
                <a:lnTo>
                  <a:pt x="465878" y="95369"/>
                </a:lnTo>
                <a:cubicBezTo>
                  <a:pt x="449157" y="82867"/>
                  <a:pt x="429577" y="76200"/>
                  <a:pt x="409469" y="76200"/>
                </a:cubicBezTo>
                <a:lnTo>
                  <a:pt x="334963" y="76200"/>
                </a:lnTo>
                <a:cubicBezTo>
                  <a:pt x="333798" y="76200"/>
                  <a:pt x="332528" y="76200"/>
                  <a:pt x="331364" y="76319"/>
                </a:cubicBezTo>
                <a:cubicBezTo>
                  <a:pt x="313478" y="77391"/>
                  <a:pt x="296651" y="86439"/>
                  <a:pt x="284586" y="101441"/>
                </a:cubicBezTo>
                <a:close/>
                <a:moveTo>
                  <a:pt x="123402" y="217527"/>
                </a:moveTo>
                <a:lnTo>
                  <a:pt x="236432" y="76200"/>
                </a:lnTo>
                <a:lnTo>
                  <a:pt x="194522" y="76200"/>
                </a:lnTo>
                <a:cubicBezTo>
                  <a:pt x="167534" y="76200"/>
                  <a:pt x="141711" y="88225"/>
                  <a:pt x="122661" y="109657"/>
                </a:cubicBezTo>
                <a:lnTo>
                  <a:pt x="118533" y="114300"/>
                </a:lnTo>
                <a:lnTo>
                  <a:pt x="0" y="38100"/>
                </a:lnTo>
                <a:lnTo>
                  <a:pt x="0" y="381000"/>
                </a:lnTo>
                <a:lnTo>
                  <a:pt x="165523" y="536138"/>
                </a:lnTo>
                <a:cubicBezTo>
                  <a:pt x="189865" y="558998"/>
                  <a:pt x="220557" y="571500"/>
                  <a:pt x="252201" y="571500"/>
                </a:cubicBezTo>
                <a:lnTo>
                  <a:pt x="268817" y="571500"/>
                </a:lnTo>
                <a:lnTo>
                  <a:pt x="261408" y="563166"/>
                </a:lnTo>
                <a:cubicBezTo>
                  <a:pt x="251460" y="551974"/>
                  <a:pt x="251460" y="533876"/>
                  <a:pt x="261408" y="522803"/>
                </a:cubicBezTo>
                <a:cubicBezTo>
                  <a:pt x="271357" y="511731"/>
                  <a:pt x="287443" y="511612"/>
                  <a:pt x="297286" y="522803"/>
                </a:cubicBezTo>
                <a:lnTo>
                  <a:pt x="340677" y="571619"/>
                </a:lnTo>
                <a:lnTo>
                  <a:pt x="350203" y="571619"/>
                </a:lnTo>
                <a:cubicBezTo>
                  <a:pt x="370417" y="571619"/>
                  <a:pt x="390208" y="566499"/>
                  <a:pt x="408199" y="556974"/>
                </a:cubicBezTo>
                <a:lnTo>
                  <a:pt x="379942" y="525066"/>
                </a:lnTo>
                <a:cubicBezTo>
                  <a:pt x="369993" y="513874"/>
                  <a:pt x="369993" y="495776"/>
                  <a:pt x="379942" y="484703"/>
                </a:cubicBezTo>
                <a:cubicBezTo>
                  <a:pt x="389890" y="473631"/>
                  <a:pt x="405977" y="473512"/>
                  <a:pt x="415819" y="484703"/>
                </a:cubicBezTo>
                <a:lnTo>
                  <a:pt x="449686" y="522803"/>
                </a:lnTo>
                <a:lnTo>
                  <a:pt x="468207" y="501968"/>
                </a:lnTo>
                <a:cubicBezTo>
                  <a:pt x="477626" y="491371"/>
                  <a:pt x="480377" y="476012"/>
                  <a:pt x="476250" y="462558"/>
                </a:cubicBezTo>
                <a:lnTo>
                  <a:pt x="330306" y="299680"/>
                </a:lnTo>
                <a:lnTo>
                  <a:pt x="314537" y="317421"/>
                </a:lnTo>
                <a:cubicBezTo>
                  <a:pt x="262361" y="376118"/>
                  <a:pt x="177906" y="376118"/>
                  <a:pt x="125730" y="317421"/>
                </a:cubicBezTo>
                <a:cubicBezTo>
                  <a:pt x="101388" y="290036"/>
                  <a:pt x="100436" y="246102"/>
                  <a:pt x="123402" y="217408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Market-Based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0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Outsourcing to external vendors via contracts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Price-coordinated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Contractual agreements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Variable costs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SLA-driven quality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668000" y="2032000"/>
            <a:ext cx="4318000" cy="5588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2395200" y="241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9050"/>
                </a:moveTo>
                <a:cubicBezTo>
                  <a:pt x="359473" y="19050"/>
                  <a:pt x="403860" y="74534"/>
                  <a:pt x="403860" y="142875"/>
                </a:cubicBezTo>
                <a:cubicBezTo>
                  <a:pt x="403860" y="211216"/>
                  <a:pt x="359473" y="266700"/>
                  <a:pt x="304800" y="266700"/>
                </a:cubicBezTo>
                <a:cubicBezTo>
                  <a:pt x="250127" y="266700"/>
                  <a:pt x="205740" y="211216"/>
                  <a:pt x="205740" y="142875"/>
                </a:cubicBezTo>
                <a:cubicBezTo>
                  <a:pt x="205740" y="74534"/>
                  <a:pt x="250127" y="19050"/>
                  <a:pt x="304800" y="19050"/>
                </a:cubicBezTo>
                <a:close/>
                <a:moveTo>
                  <a:pt x="91440" y="104775"/>
                </a:moveTo>
                <a:cubicBezTo>
                  <a:pt x="129290" y="104775"/>
                  <a:pt x="160020" y="143187"/>
                  <a:pt x="160020" y="190500"/>
                </a:cubicBezTo>
                <a:cubicBezTo>
                  <a:pt x="160020" y="237813"/>
                  <a:pt x="129290" y="276225"/>
                  <a:pt x="91440" y="276225"/>
                </a:cubicBezTo>
                <a:cubicBezTo>
                  <a:pt x="53590" y="276225"/>
                  <a:pt x="22860" y="237813"/>
                  <a:pt x="22860" y="190500"/>
                </a:cubicBezTo>
                <a:cubicBezTo>
                  <a:pt x="22860" y="143187"/>
                  <a:pt x="53590" y="104775"/>
                  <a:pt x="91440" y="104775"/>
                </a:cubicBezTo>
                <a:close/>
                <a:moveTo>
                  <a:pt x="0" y="495300"/>
                </a:moveTo>
                <a:cubicBezTo>
                  <a:pt x="0" y="411123"/>
                  <a:pt x="54578" y="342900"/>
                  <a:pt x="121920" y="342900"/>
                </a:cubicBezTo>
                <a:cubicBezTo>
                  <a:pt x="134112" y="342900"/>
                  <a:pt x="145923" y="345162"/>
                  <a:pt x="157067" y="349329"/>
                </a:cubicBezTo>
                <a:cubicBezTo>
                  <a:pt x="125730" y="393144"/>
                  <a:pt x="106680" y="451009"/>
                  <a:pt x="106680" y="514350"/>
                </a:cubicBezTo>
                <a:lnTo>
                  <a:pt x="106680" y="533400"/>
                </a:lnTo>
                <a:cubicBezTo>
                  <a:pt x="106680" y="546973"/>
                  <a:pt x="108966" y="559832"/>
                  <a:pt x="113062" y="571500"/>
                </a:cubicBezTo>
                <a:lnTo>
                  <a:pt x="30480" y="571500"/>
                </a:lnTo>
                <a:cubicBezTo>
                  <a:pt x="13621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496538" y="571500"/>
                </a:moveTo>
                <a:cubicBezTo>
                  <a:pt x="500634" y="559832"/>
                  <a:pt x="502920" y="546973"/>
                  <a:pt x="502920" y="533400"/>
                </a:cubicBezTo>
                <a:lnTo>
                  <a:pt x="502920" y="514350"/>
                </a:lnTo>
                <a:cubicBezTo>
                  <a:pt x="502920" y="451009"/>
                  <a:pt x="483870" y="393144"/>
                  <a:pt x="452533" y="349329"/>
                </a:cubicBezTo>
                <a:cubicBezTo>
                  <a:pt x="463677" y="345162"/>
                  <a:pt x="475488" y="342900"/>
                  <a:pt x="487680" y="342900"/>
                </a:cubicBezTo>
                <a:cubicBezTo>
                  <a:pt x="555022" y="342900"/>
                  <a:pt x="609600" y="411123"/>
                  <a:pt x="609600" y="495300"/>
                </a:cubicBezTo>
                <a:lnTo>
                  <a:pt x="609600" y="533400"/>
                </a:lnTo>
                <a:cubicBezTo>
                  <a:pt x="609600" y="554474"/>
                  <a:pt x="595979" y="571500"/>
                  <a:pt x="579120" y="571500"/>
                </a:cubicBezTo>
                <a:lnTo>
                  <a:pt x="496538" y="571500"/>
                </a:lnTo>
                <a:close/>
                <a:moveTo>
                  <a:pt x="449580" y="190500"/>
                </a:moveTo>
                <a:cubicBezTo>
                  <a:pt x="449580" y="143187"/>
                  <a:pt x="480310" y="104775"/>
                  <a:pt x="518160" y="104775"/>
                </a:cubicBezTo>
                <a:cubicBezTo>
                  <a:pt x="556010" y="104775"/>
                  <a:pt x="586740" y="143187"/>
                  <a:pt x="586740" y="190500"/>
                </a:cubicBezTo>
                <a:cubicBezTo>
                  <a:pt x="586740" y="237813"/>
                  <a:pt x="556010" y="276225"/>
                  <a:pt x="518160" y="276225"/>
                </a:cubicBezTo>
                <a:cubicBezTo>
                  <a:pt x="480310" y="276225"/>
                  <a:pt x="449580" y="237813"/>
                  <a:pt x="449580" y="190500"/>
                </a:cubicBezTo>
                <a:close/>
                <a:moveTo>
                  <a:pt x="152400" y="514350"/>
                </a:moveTo>
                <a:cubicBezTo>
                  <a:pt x="152400" y="409099"/>
                  <a:pt x="220599" y="323850"/>
                  <a:pt x="304800" y="323850"/>
                </a:cubicBezTo>
                <a:cubicBezTo>
                  <a:pt x="389001" y="323850"/>
                  <a:pt x="457200" y="409099"/>
                  <a:pt x="457200" y="514350"/>
                </a:cubicBezTo>
                <a:lnTo>
                  <a:pt x="457200" y="533400"/>
                </a:lnTo>
                <a:cubicBezTo>
                  <a:pt x="457200" y="554474"/>
                  <a:pt x="443579" y="571500"/>
                  <a:pt x="426720" y="571500"/>
                </a:cubicBezTo>
                <a:lnTo>
                  <a:pt x="182880" y="571500"/>
                </a:lnTo>
                <a:cubicBezTo>
                  <a:pt x="166021" y="571500"/>
                  <a:pt x="152400" y="554474"/>
                  <a:pt x="152400" y="533400"/>
                </a:cubicBezTo>
                <a:lnTo>
                  <a:pt x="152400" y="5143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330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 Production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049000" y="3937000"/>
            <a:ext cx="355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Collaborative creation by decentralized communities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Self-selected participation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Shared inputs/outputs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Volunteer-driven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Community review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In-House Production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60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traditional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firm-based model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where a centralized decision-making process delegates tasks to employees within a hierarchical structure.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Clear authority chains and accountability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Proprietary knowledge and IP protection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Direct control over quality and timelines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Higher fixed costs (salaries, infrastructure)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Transaction costs managed internally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Coase's theory of the firm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0" y="2032000"/>
            <a:ext cx="6604000" cy="533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524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90000" y="2413000"/>
            <a:ext cx="558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Suited For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017000" y="330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0" y="31750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Core Competencies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017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52400" y="85725"/>
                </a:moveTo>
                <a:lnTo>
                  <a:pt x="152400" y="142875"/>
                </a:lnTo>
                <a:lnTo>
                  <a:pt x="304800" y="142875"/>
                </a:lnTo>
                <a:lnTo>
                  <a:pt x="304800" y="85725"/>
                </a:lnTo>
                <a:cubicBezTo>
                  <a:pt x="304800" y="54203"/>
                  <a:pt x="270629" y="28575"/>
                  <a:pt x="228600" y="28575"/>
                </a:cubicBezTo>
                <a:cubicBezTo>
                  <a:pt x="186571" y="28575"/>
                  <a:pt x="152400" y="54203"/>
                  <a:pt x="152400" y="85725"/>
                </a:cubicBezTo>
                <a:close/>
                <a:moveTo>
                  <a:pt x="76200" y="142875"/>
                </a:moveTo>
                <a:lnTo>
                  <a:pt x="76200" y="85725"/>
                </a:lnTo>
                <a:cubicBezTo>
                  <a:pt x="76200" y="22592"/>
                  <a:pt x="144423" y="-28575"/>
                  <a:pt x="228600" y="-28575"/>
                </a:cubicBezTo>
                <a:cubicBezTo>
                  <a:pt x="312777" y="-28575"/>
                  <a:pt x="381000" y="22592"/>
                  <a:pt x="381000" y="85725"/>
                </a:cubicBezTo>
                <a:lnTo>
                  <a:pt x="381000" y="142875"/>
                </a:lnTo>
                <a:cubicBezTo>
                  <a:pt x="423029" y="142875"/>
                  <a:pt x="457200" y="168503"/>
                  <a:pt x="457200" y="200025"/>
                </a:cubicBezTo>
                <a:lnTo>
                  <a:pt x="457200" y="400050"/>
                </a:lnTo>
                <a:cubicBezTo>
                  <a:pt x="457200" y="431572"/>
                  <a:pt x="423029" y="457200"/>
                  <a:pt x="381000" y="457200"/>
                </a:cubicBezTo>
                <a:lnTo>
                  <a:pt x="76200" y="457200"/>
                </a:lnTo>
                <a:cubicBezTo>
                  <a:pt x="34171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34171" y="142875"/>
                  <a:pt x="76200" y="1428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39370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Sensitive Intellectual Property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017000" y="476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0" y="46990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Integrated Systems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17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0" y="54610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Regulated Industries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Commons-Based Peer Production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term coined by Harvard professor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Yochai Benkler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(2002) describing a new production model where large numbers work cooperatively, usually over the Internet.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Decentralized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self-selected participation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resources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inputs/outputs freely available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Intrinsic motivation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passion, not salary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Non-hierarchical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no traditional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6350000" cy="254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9144000" y="22860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Two Critical 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0" y="2794000"/>
            <a:ext cx="533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Modularity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Work broken into independent components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0" y="3746500"/>
            <a:ext cx="533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Granularity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Small, manageable task sizes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36000" y="4953000"/>
            <a:ext cx="6350000" cy="241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0" y="5143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Models of Production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0" y="5588000"/>
            <a:ext cx="533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Firm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Centralized hierarchy delegates tasks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Prices coordinate work allocation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Peer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Self-selected decentralized collaboration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Production Models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68500"/>
          <a:ext cx="13716000" cy="58420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In-House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Market-Based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Peer Production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1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Coordination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Hierarchy &amp; managers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Price &amp; contracts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Self-selection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1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Motivation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Salary &amp; benefits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Payment &amp; fees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Intrinsic &amp; social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1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IP Ownership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Proprietary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Contractual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Open / Shared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1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 Structure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High fixed, low marginal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Variable costs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Volunteer-based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19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Scalability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by headcount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Limited by budget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Massive potential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Crowdsourcing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Crowdsourcing leverages the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"wisdom of the crowd"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accomplish tasks traditionally performed by employees.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51000" y="2794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79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16000" y="3810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Labor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9000" y="4254500"/>
            <a:ext cx="241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Micro-tasks via Amazon MTurk, Upwork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40000" y="32385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445000" y="2794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4445000" y="279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10000" y="3810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Crowdfunding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83000" y="4254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Capital raising via Kickstarter, Indiegogo, Patreon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0" y="32385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7239000" y="2794000"/>
            <a:ext cx="889000" cy="889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7239000" y="279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77000" y="38100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 Markets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7000" y="4254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Forecasting via collective intelligence and betting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0" y="32385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0033000" y="2794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279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398000" y="3810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Gamified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71000" y="4254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Scientific problem-solving as games — Foldit, Eyewire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22000" y="3238500"/>
            <a:ext cx="1270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827000" y="2794000"/>
            <a:ext cx="889000" cy="889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6" name="Text 24"/>
          <p:cNvSpPr/>
          <p:nvPr/>
        </p:nvSpPr>
        <p:spPr>
          <a:xfrm>
            <a:off x="12827000" y="2794000"/>
            <a:ext cx="88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2192000" y="38100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 Innovation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65000" y="42545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Companies soliciting external ideas and solutions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70000" y="5715000"/>
            <a:ext cx="6604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651000" y="590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Benefits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651000" y="6350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Cost efficiency and scalability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Access to diverse skills and ideas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Faster problem-solving through parallel work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382000" y="5715000"/>
            <a:ext cx="6604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763000" y="590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763000" y="6350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Quality control and consistency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Intellectual property concerns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Coordination overhead and management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 Software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OSS is the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flagship example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commons-based peer production.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Aspects: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Source code freely available to view, modify, distribute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Collaborative development via GitHub and similar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Licensed under GPL, MIT, Apache models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Professional services (Red Hat)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Dual-licensing and SaaS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Crowdfunding and donations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36000" y="2032000"/>
            <a:ext cx="3048000" cy="1524000"/>
          </a:xfrm>
          <a:prstGeom prst="roundRect">
            <a:avLst>
              <a:gd name="adj" fmla="val 12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8636000" y="2159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36000" y="29210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servers run Linux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938000" y="2032000"/>
            <a:ext cx="3048000" cy="1524000"/>
          </a:xfrm>
          <a:prstGeom prst="roundRect">
            <a:avLst>
              <a:gd name="adj" fmla="val 12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938000" y="2159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30%+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1938000" y="2921000"/>
            <a:ext cx="304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Websites use Apache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3937000"/>
            <a:ext cx="6350000" cy="342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0" y="41275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 Stories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0" y="4699000"/>
            <a:ext cx="533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Powers Android, cloud, supercomputers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Most popular programming language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Mozilla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Championed open web standards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WordPress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Powers 40%+ of all websites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Lect. 24: Value Models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Chain, Value Shop, and Value Network</a:t>
            </a: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Value Configuration Models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651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on Thompson's (1967) typology,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Stabell and Fjeldstad (1998)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proposed three distinct generic value configuration models: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667000"/>
            <a:ext cx="4318000" cy="508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7200" y="298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43971" y="114300"/>
                </a:moveTo>
                <a:cubicBezTo>
                  <a:pt x="426402" y="114300"/>
                  <a:pt x="409363" y="119658"/>
                  <a:pt x="394441" y="129421"/>
                </a:cubicBezTo>
                <a:cubicBezTo>
                  <a:pt x="377719" y="110371"/>
                  <a:pt x="358246" y="94417"/>
                  <a:pt x="336762" y="82391"/>
                </a:cubicBezTo>
                <a:cubicBezTo>
                  <a:pt x="366607" y="53816"/>
                  <a:pt x="404601" y="38100"/>
                  <a:pt x="443971" y="38100"/>
                </a:cubicBezTo>
                <a:cubicBezTo>
                  <a:pt x="535411" y="38100"/>
                  <a:pt x="609600" y="121444"/>
                  <a:pt x="609600" y="224433"/>
                </a:cubicBezTo>
                <a:cubicBezTo>
                  <a:pt x="609600" y="273844"/>
                  <a:pt x="592138" y="321231"/>
                  <a:pt x="561128" y="356116"/>
                </a:cubicBezTo>
                <a:lnTo>
                  <a:pt x="485881" y="440769"/>
                </a:lnTo>
                <a:cubicBezTo>
                  <a:pt x="454872" y="475655"/>
                  <a:pt x="412750" y="495300"/>
                  <a:pt x="368829" y="495300"/>
                </a:cubicBezTo>
                <a:cubicBezTo>
                  <a:pt x="277389" y="495300"/>
                  <a:pt x="203200" y="411956"/>
                  <a:pt x="203200" y="308967"/>
                </a:cubicBezTo>
                <a:cubicBezTo>
                  <a:pt x="203200" y="307181"/>
                  <a:pt x="203200" y="305395"/>
                  <a:pt x="203306" y="303609"/>
                </a:cubicBezTo>
                <a:cubicBezTo>
                  <a:pt x="203835" y="282535"/>
                  <a:pt x="219392" y="265986"/>
                  <a:pt x="238125" y="266581"/>
                </a:cubicBezTo>
                <a:cubicBezTo>
                  <a:pt x="256858" y="267176"/>
                  <a:pt x="271568" y="284678"/>
                  <a:pt x="271039" y="305753"/>
                </a:cubicBezTo>
                <a:cubicBezTo>
                  <a:pt x="271039" y="306824"/>
                  <a:pt x="271039" y="307896"/>
                  <a:pt x="271039" y="308848"/>
                </a:cubicBezTo>
                <a:cubicBezTo>
                  <a:pt x="271039" y="369689"/>
                  <a:pt x="314854" y="418981"/>
                  <a:pt x="368935" y="418981"/>
                </a:cubicBezTo>
                <a:cubicBezTo>
                  <a:pt x="394864" y="418981"/>
                  <a:pt x="419735" y="407432"/>
                  <a:pt x="438150" y="386715"/>
                </a:cubicBezTo>
                <a:lnTo>
                  <a:pt x="513398" y="302062"/>
                </a:lnTo>
                <a:cubicBezTo>
                  <a:pt x="531707" y="281464"/>
                  <a:pt x="542078" y="253365"/>
                  <a:pt x="542078" y="224195"/>
                </a:cubicBezTo>
                <a:cubicBezTo>
                  <a:pt x="542078" y="163354"/>
                  <a:pt x="498263" y="114062"/>
                  <a:pt x="444183" y="114062"/>
                </a:cubicBezTo>
                <a:close/>
                <a:moveTo>
                  <a:pt x="291253" y="206335"/>
                </a:moveTo>
                <a:cubicBezTo>
                  <a:pt x="289243" y="205383"/>
                  <a:pt x="287232" y="204073"/>
                  <a:pt x="285432" y="202644"/>
                </a:cubicBezTo>
                <a:cubicBezTo>
                  <a:pt x="272097" y="194905"/>
                  <a:pt x="256857" y="190500"/>
                  <a:pt x="240877" y="190500"/>
                </a:cubicBezTo>
                <a:cubicBezTo>
                  <a:pt x="214948" y="190500"/>
                  <a:pt x="190077" y="202049"/>
                  <a:pt x="171662" y="222766"/>
                </a:cubicBezTo>
                <a:lnTo>
                  <a:pt x="96414" y="307419"/>
                </a:lnTo>
                <a:cubicBezTo>
                  <a:pt x="78105" y="328017"/>
                  <a:pt x="67733" y="356116"/>
                  <a:pt x="67733" y="385286"/>
                </a:cubicBezTo>
                <a:cubicBezTo>
                  <a:pt x="67733" y="446127"/>
                  <a:pt x="111548" y="495419"/>
                  <a:pt x="165629" y="495419"/>
                </a:cubicBezTo>
                <a:cubicBezTo>
                  <a:pt x="183092" y="495419"/>
                  <a:pt x="200131" y="490180"/>
                  <a:pt x="215053" y="480417"/>
                </a:cubicBezTo>
                <a:cubicBezTo>
                  <a:pt x="231775" y="499467"/>
                  <a:pt x="251248" y="515422"/>
                  <a:pt x="272838" y="527447"/>
                </a:cubicBezTo>
                <a:cubicBezTo>
                  <a:pt x="242993" y="555903"/>
                  <a:pt x="205105" y="571738"/>
                  <a:pt x="165629" y="571738"/>
                </a:cubicBezTo>
                <a:cubicBezTo>
                  <a:pt x="74189" y="571738"/>
                  <a:pt x="0" y="488394"/>
                  <a:pt x="0" y="385405"/>
                </a:cubicBezTo>
                <a:cubicBezTo>
                  <a:pt x="0" y="335994"/>
                  <a:pt x="17463" y="288607"/>
                  <a:pt x="48472" y="253722"/>
                </a:cubicBezTo>
                <a:lnTo>
                  <a:pt x="123719" y="169069"/>
                </a:lnTo>
                <a:cubicBezTo>
                  <a:pt x="154728" y="134183"/>
                  <a:pt x="196850" y="114538"/>
                  <a:pt x="240771" y="114538"/>
                </a:cubicBezTo>
                <a:cubicBezTo>
                  <a:pt x="332423" y="114538"/>
                  <a:pt x="406400" y="198596"/>
                  <a:pt x="406400" y="301347"/>
                </a:cubicBezTo>
                <a:cubicBezTo>
                  <a:pt x="406400" y="302895"/>
                  <a:pt x="406400" y="304443"/>
                  <a:pt x="406400" y="305991"/>
                </a:cubicBezTo>
                <a:cubicBezTo>
                  <a:pt x="405977" y="327065"/>
                  <a:pt x="390419" y="343614"/>
                  <a:pt x="371687" y="343138"/>
                </a:cubicBezTo>
                <a:cubicBezTo>
                  <a:pt x="352954" y="342662"/>
                  <a:pt x="338243" y="325160"/>
                  <a:pt x="338667" y="304086"/>
                </a:cubicBezTo>
                <a:cubicBezTo>
                  <a:pt x="338667" y="303133"/>
                  <a:pt x="338667" y="302300"/>
                  <a:pt x="338667" y="301347"/>
                </a:cubicBezTo>
                <a:cubicBezTo>
                  <a:pt x="338667" y="261223"/>
                  <a:pt x="319617" y="225981"/>
                  <a:pt x="291253" y="20657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381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Chain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51000" y="4318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Long-Linked Technology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51000" y="48260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Transforms inputs into products sequentially.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by </a:t>
            </a: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efficient transformation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Porter, 1985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69000" y="2667000"/>
            <a:ext cx="4318000" cy="508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96200" y="298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39115" y="117396"/>
                </a:moveTo>
                <a:cubicBezTo>
                  <a:pt x="547158" y="108347"/>
                  <a:pt x="560599" y="110609"/>
                  <a:pt x="564621" y="122515"/>
                </a:cubicBezTo>
                <a:cubicBezTo>
                  <a:pt x="571818" y="143589"/>
                  <a:pt x="575733" y="166568"/>
                  <a:pt x="575733" y="190500"/>
                </a:cubicBezTo>
                <a:cubicBezTo>
                  <a:pt x="575733" y="295751"/>
                  <a:pt x="499957" y="381000"/>
                  <a:pt x="406400" y="381000"/>
                </a:cubicBezTo>
                <a:cubicBezTo>
                  <a:pt x="387879" y="381000"/>
                  <a:pt x="369993" y="377666"/>
                  <a:pt x="353272" y="371475"/>
                </a:cubicBezTo>
                <a:lnTo>
                  <a:pt x="155469" y="594003"/>
                </a:lnTo>
                <a:cubicBezTo>
                  <a:pt x="125730" y="627459"/>
                  <a:pt x="77470" y="627459"/>
                  <a:pt x="47731" y="594003"/>
                </a:cubicBezTo>
                <a:cubicBezTo>
                  <a:pt x="17992" y="560546"/>
                  <a:pt x="17992" y="506254"/>
                  <a:pt x="47731" y="472797"/>
                </a:cubicBezTo>
                <a:lnTo>
                  <a:pt x="245533" y="250269"/>
                </a:lnTo>
                <a:cubicBezTo>
                  <a:pt x="240030" y="231458"/>
                  <a:pt x="237067" y="211455"/>
                  <a:pt x="237067" y="190500"/>
                </a:cubicBezTo>
                <a:cubicBezTo>
                  <a:pt x="237067" y="85249"/>
                  <a:pt x="312843" y="0"/>
                  <a:pt x="406400" y="0"/>
                </a:cubicBezTo>
                <a:cubicBezTo>
                  <a:pt x="427673" y="0"/>
                  <a:pt x="448098" y="4405"/>
                  <a:pt x="466831" y="12502"/>
                </a:cubicBezTo>
                <a:cubicBezTo>
                  <a:pt x="477414" y="17026"/>
                  <a:pt x="479319" y="32147"/>
                  <a:pt x="471382" y="41196"/>
                </a:cubicBezTo>
                <a:lnTo>
                  <a:pt x="377508" y="146804"/>
                </a:lnTo>
                <a:cubicBezTo>
                  <a:pt x="374333" y="150376"/>
                  <a:pt x="372533" y="155258"/>
                  <a:pt x="372533" y="160258"/>
                </a:cubicBezTo>
                <a:lnTo>
                  <a:pt x="372533" y="209550"/>
                </a:lnTo>
                <a:cubicBezTo>
                  <a:pt x="372533" y="220028"/>
                  <a:pt x="380153" y="228600"/>
                  <a:pt x="389467" y="228600"/>
                </a:cubicBezTo>
                <a:lnTo>
                  <a:pt x="433282" y="228600"/>
                </a:lnTo>
                <a:cubicBezTo>
                  <a:pt x="437727" y="228600"/>
                  <a:pt x="442066" y="226576"/>
                  <a:pt x="445241" y="223004"/>
                </a:cubicBezTo>
                <a:lnTo>
                  <a:pt x="539115" y="117396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350000" y="381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Shop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50000" y="4318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Intensive Technology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000" y="48260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Solves unique problems iteratively.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by </a:t>
            </a: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resolution</a:t>
            </a: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800" i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Stabell &amp; Fjeldstad, 1998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0" y="2667000"/>
            <a:ext cx="4318000" cy="50800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12395200" y="298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95250"/>
                </a:moveTo>
                <a:cubicBezTo>
                  <a:pt x="0" y="63698"/>
                  <a:pt x="25598" y="38100"/>
                  <a:pt x="57150" y="38100"/>
                </a:cubicBezTo>
                <a:lnTo>
                  <a:pt x="171450" y="38100"/>
                </a:lnTo>
                <a:cubicBezTo>
                  <a:pt x="203002" y="38100"/>
                  <a:pt x="228600" y="63698"/>
                  <a:pt x="228600" y="95250"/>
                </a:cubicBezTo>
                <a:lnTo>
                  <a:pt x="228600" y="114300"/>
                </a:lnTo>
                <a:lnTo>
                  <a:pt x="381000" y="114300"/>
                </a:lnTo>
                <a:lnTo>
                  <a:pt x="381000" y="95250"/>
                </a:lnTo>
                <a:cubicBezTo>
                  <a:pt x="381000" y="63698"/>
                  <a:pt x="406598" y="38100"/>
                  <a:pt x="438150" y="38100"/>
                </a:cubicBezTo>
                <a:lnTo>
                  <a:pt x="552450" y="38100"/>
                </a:lnTo>
                <a:cubicBezTo>
                  <a:pt x="584002" y="38100"/>
                  <a:pt x="609600" y="63698"/>
                  <a:pt x="609600" y="95250"/>
                </a:cubicBezTo>
                <a:lnTo>
                  <a:pt x="609600" y="209550"/>
                </a:lnTo>
                <a:cubicBezTo>
                  <a:pt x="609600" y="241102"/>
                  <a:pt x="584002" y="266700"/>
                  <a:pt x="552450" y="266700"/>
                </a:cubicBezTo>
                <a:lnTo>
                  <a:pt x="438150" y="266700"/>
                </a:lnTo>
                <a:cubicBezTo>
                  <a:pt x="406598" y="266700"/>
                  <a:pt x="381000" y="241102"/>
                  <a:pt x="381000" y="209550"/>
                </a:cubicBezTo>
                <a:lnTo>
                  <a:pt x="381000" y="190500"/>
                </a:lnTo>
                <a:lnTo>
                  <a:pt x="228600" y="190500"/>
                </a:lnTo>
                <a:lnTo>
                  <a:pt x="228600" y="209550"/>
                </a:lnTo>
                <a:cubicBezTo>
                  <a:pt x="228600" y="218242"/>
                  <a:pt x="226576" y="226576"/>
                  <a:pt x="223123" y="233958"/>
                </a:cubicBezTo>
                <a:lnTo>
                  <a:pt x="304800" y="342900"/>
                </a:lnTo>
                <a:lnTo>
                  <a:pt x="400050" y="342900"/>
                </a:lnTo>
                <a:cubicBezTo>
                  <a:pt x="431602" y="342900"/>
                  <a:pt x="457200" y="368498"/>
                  <a:pt x="457200" y="400050"/>
                </a:cubicBezTo>
                <a:lnTo>
                  <a:pt x="457200" y="514350"/>
                </a:lnTo>
                <a:cubicBezTo>
                  <a:pt x="457200" y="545902"/>
                  <a:pt x="431602" y="571500"/>
                  <a:pt x="400050" y="571500"/>
                </a:cubicBezTo>
                <a:lnTo>
                  <a:pt x="285750" y="571500"/>
                </a:lnTo>
                <a:cubicBezTo>
                  <a:pt x="254198" y="571500"/>
                  <a:pt x="228600" y="545902"/>
                  <a:pt x="228600" y="514350"/>
                </a:cubicBezTo>
                <a:lnTo>
                  <a:pt x="228600" y="400050"/>
                </a:lnTo>
                <a:cubicBezTo>
                  <a:pt x="228600" y="391358"/>
                  <a:pt x="230624" y="383024"/>
                  <a:pt x="234077" y="375642"/>
                </a:cubicBezTo>
                <a:lnTo>
                  <a:pt x="152400" y="266700"/>
                </a:lnTo>
                <a:lnTo>
                  <a:pt x="57150" y="266700"/>
                </a:lnTo>
                <a:cubicBezTo>
                  <a:pt x="25598" y="266700"/>
                  <a:pt x="0" y="241102"/>
                  <a:pt x="0" y="2095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3810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Network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049000" y="4318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Mediating Technology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48260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Enables direct and indirect exchanges between customers.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by </a:t>
            </a: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facilitating connections</a:t>
            </a: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Stabell &amp; Fjeldstad, 1998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Chain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2286000"/>
            <a:ext cx="2286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Inbound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56000" y="27559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937000" y="24765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3937000" y="2476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3000" y="27305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604000" y="2286000"/>
            <a:ext cx="2286000" cy="889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0" y="2286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Outbound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Logistics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90000" y="27305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271000" y="2286000"/>
            <a:ext cx="2286000" cy="889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9271000" y="22860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Marketing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 Sales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557000" y="2755900"/>
            <a:ext cx="381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1938000" y="24765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1938000" y="2476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3492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 Activities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70000" y="3937000"/>
            <a:ext cx="12954000" cy="635000"/>
          </a:xfrm>
          <a:prstGeom prst="roundRect">
            <a:avLst>
              <a:gd name="adj" fmla="val 6000"/>
            </a:avLst>
          </a:prstGeom>
          <a:solidFill>
            <a:srgbClr val="D0E0E3">
              <a:alpha val="25098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3937000"/>
            <a:ext cx="1244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Firm Infrastructure  |  HR Management  |  Technology Development  |  Procurement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4953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Chain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(Porter, 1985) describes sequential, long-linked value creation. Primary activities flow in order from inputs to service delivery.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is created through efficient transformation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inputs into outputs.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270000" y="6350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51000" y="647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51000" y="6921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Manufacturing, retail, agriculture, fast food chains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82000" y="6350000"/>
            <a:ext cx="6604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63000" y="647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Drivers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763000" y="6921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Scale, capacity utilization, inter-activity linkages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Shop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145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Shop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(Stabell &amp; Fjeldstad, 1998) creates value by solving unique customer problems rather than producing standardized outputs. Each problem is treated uniquely.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0" y="3810000"/>
            <a:ext cx="2540000" cy="889000"/>
          </a:xfrm>
          <a:prstGeom prst="roundRect">
            <a:avLst>
              <a:gd name="adj" fmla="val 15000"/>
            </a:avLst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6858000" y="3810000"/>
            <a:ext cx="254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Center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0" y="2730500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730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Finding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0" y="3238500"/>
            <a:ext cx="0" cy="5715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0033000" y="3873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0033000" y="3873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98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858000" y="5207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5207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Choice of Solution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4699000"/>
            <a:ext cx="0" cy="508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683000" y="38735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3683000" y="3873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23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3683000" y="5270500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6B9CBF"/>
          </a:solidFill>
          <a:ln/>
        </p:spPr>
      </p:sp>
      <p:sp>
        <p:nvSpPr>
          <p:cNvPr id="20" name="Text 18"/>
          <p:cNvSpPr/>
          <p:nvPr/>
        </p:nvSpPr>
        <p:spPr>
          <a:xfrm>
            <a:off x="3683000" y="5270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 &amp; Eval.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53000" y="4508500"/>
            <a:ext cx="0" cy="7620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dash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1270000" y="2794000"/>
            <a:ext cx="215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 creation: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Better info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Specialized expertise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4000" y="2794000"/>
            <a:ext cx="215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traits: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No fixed sequence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Unique per client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70000" y="6350000"/>
            <a:ext cx="13716000" cy="1397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78000" y="647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78000" y="6921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McKinsey, BCG, Deloitte | Medical practices | Law firms | R&amp;D laboratories | Police investigations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Network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20320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Network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creates value by enabling exchanges between customers using mediating technology.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Platform-based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connects multiple parties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effects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value rises with participants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Mediation role</a:t>
            </a: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facilitates transactions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Activities: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Network Promotion &amp; Contract Mgmt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Service Provisioning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Infrastructure Operation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96500" y="3238500"/>
            <a:ext cx="1651000" cy="1651000"/>
          </a:xfrm>
          <a:prstGeom prst="ellipse">
            <a:avLst/>
          </a:prstGeom>
          <a:gradFill flip="none" rotWithShape="1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path path="circle"/>
          </a:gradFill>
          <a:ln/>
        </p:spPr>
      </p:sp>
      <p:sp>
        <p:nvSpPr>
          <p:cNvPr id="6" name="Text 4"/>
          <p:cNvSpPr/>
          <p:nvPr/>
        </p:nvSpPr>
        <p:spPr>
          <a:xfrm>
            <a:off x="10096500" y="3238500"/>
            <a:ext cx="1651000" cy="165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0" y="2159000"/>
            <a:ext cx="1016000" cy="635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160000" y="2794000"/>
            <a:ext cx="698500" cy="4445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11684000" y="2159000"/>
            <a:ext cx="1016000" cy="635000"/>
          </a:xfrm>
          <a:prstGeom prst="roundRect">
            <a:avLst>
              <a:gd name="adj" fmla="val 15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1684000" y="2159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 flipH="1">
            <a:off x="11557000" y="2857500"/>
            <a:ext cx="457522" cy="5588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1684000" y="5334000"/>
            <a:ext cx="1016000" cy="635000"/>
          </a:xfrm>
          <a:prstGeom prst="roundRect">
            <a:avLst>
              <a:gd name="adj" fmla="val 15000"/>
            </a:avLst>
          </a:prstGeom>
          <a:solidFill>
            <a:srgbClr val="6B9CB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84000" y="533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684000" y="4495800"/>
            <a:ext cx="585968" cy="774700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144000" y="5334000"/>
            <a:ext cx="1016000" cy="635000"/>
          </a:xfrm>
          <a:prstGeom prst="roundRect">
            <a:avLst>
              <a:gd name="adj" fmla="val 15000"/>
            </a:avLst>
          </a:prstGeom>
          <a:solidFill>
            <a:srgbClr val="6B9CB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533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H="1">
            <a:off x="9829478" y="4595149"/>
            <a:ext cx="471990" cy="675351"/>
          </a:xfrm>
          <a:prstGeom prst="straightConnector1">
            <a:avLst/>
          </a:prstGeom>
          <a:noFill/>
          <a:ln w="25400">
            <a:solidFill>
              <a:srgbClr val="D0D6DC"/>
            </a:solidFill>
            <a:prstDash val="solid"/>
            <a:headEnd type="arrow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636000" y="6350000"/>
            <a:ext cx="6350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blurRad="127000" dist="50800" dir="5400000" algn="bl" rotWithShape="0">
              <a:srgbClr val="000000">
                <a:alpha val="3137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17000" y="6477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Models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17000" y="68580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 · Subscriptions · Ads · Commissions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the Three Value Models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969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659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Dimension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 Chain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 Shop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 Network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41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Value Logic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Transformation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Problem-solving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Exchange facilitation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41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Structure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Sequential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Cyclical / Iterative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Hub-and-spoke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41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Rel.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Many-to-one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One-to-one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Many-to-many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41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Key Asset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Physical / Operational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Human / Intellectual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Platform / Technology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41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 Driver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Scale &amp; efficiency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Expertise &amp; time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Network size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341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Advantage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Cost leadership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Differentiation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7F5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Network effects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flip="none" rotWithShape="1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2413000" y="2286000"/>
            <a:ext cx="1143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Takeaways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683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economics challenges traditional production and value creation models.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digital goods, production models, and value configurations is essential</a:t>
            </a:r>
            <a:endParaRPr lang="en-US" sz="2200" dirty="0"/>
          </a:p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analyzing modern digital businesses.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048000" y="5715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Lect. 23: Digital Goods · In-House Production · CBPP · Crowdsourcing · Open Source</a:t>
            </a:r>
            <a:endParaRPr lang="en-US" sz="18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Lect. 24: Value Chain · Value Shop · Value Network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3000" y="711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12 · Digital Economics Course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Office PowerPoint</Application>
  <PresentationFormat>Custom</PresentationFormat>
  <Paragraphs>295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Liter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12 - Digital Economics</dc:title>
  <dc:subject>Week 12 - Digital Economics</dc:subject>
  <dc:creator>Kimi</dc:creator>
  <cp:lastModifiedBy>Lenovo</cp:lastModifiedBy>
  <cp:revision>2</cp:revision>
  <dcterms:created xsi:type="dcterms:W3CDTF">2026-07-06T06:11:24Z</dcterms:created>
  <dcterms:modified xsi:type="dcterms:W3CDTF">2026-07-06T06:12:32Z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{"Label":"Week 12 - Digital Economics","ContentProducer":"001191110108MACG2KBH8F10000","ProduceID":"19f35f01-ebd2-8507-8000-000014cd3044","ReservedCode1":"","ContentPropagator":"001191110108MACG2KBH8F20000","PropagateID":"19f35eb0-a432-8b67-8000-094ad09da</vt:lpwstr>
  </property>
</Properties>
</file>