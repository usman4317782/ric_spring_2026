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Animation ($B)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</c:v>
                </c:pt>
                <c:pt idx="1">
                  <c:v>350</c:v>
                </c:pt>
                <c:pt idx="2">
                  <c:v>380</c:v>
                </c:pt>
                <c:pt idx="3">
                  <c:v>410</c:v>
                </c:pt>
                <c:pt idx="4">
                  <c:v>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Gaming ($B)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152</c:v>
                </c:pt>
                <c:pt idx="1">
                  <c:v>165</c:v>
                </c:pt>
                <c:pt idx="2">
                  <c:v>176</c:v>
                </c:pt>
                <c:pt idx="3">
                  <c:v>183</c:v>
                </c:pt>
                <c:pt idx="4">
                  <c:v>189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Animation Market ($B)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</c:v>
                  </c:pt>
                  <c:pt idx="8">
                    <c:v>2028</c:v>
                  </c:pt>
                  <c:pt idx="9">
                    <c:v>2029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320</c:v>
                </c:pt>
                <c:pt idx="2">
                  <c:v>350</c:v>
                </c:pt>
                <c:pt idx="3">
                  <c:v>380</c:v>
                </c:pt>
                <c:pt idx="4">
                  <c:v>410</c:v>
                </c:pt>
                <c:pt idx="5">
                  <c:v>430</c:v>
                </c:pt>
                <c:pt idx="6">
                  <c:v>454</c:v>
                </c:pt>
                <c:pt idx="7">
                  <c:v>480</c:v>
                </c:pt>
                <c:pt idx="8">
                  <c:v>510</c:v>
                </c:pt>
                <c:pt idx="9">
                  <c:v>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Animation Market ($B)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</c:v>
                  </c:pt>
                  <c:pt idx="8">
                    <c:v>2028</c:v>
                  </c:pt>
                  <c:pt idx="9">
                    <c:v>2029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320</c:v>
                </c:pt>
                <c:pt idx="2">
                  <c:v>350</c:v>
                </c:pt>
                <c:pt idx="3">
                  <c:v>380</c:v>
                </c:pt>
                <c:pt idx="4">
                  <c:v>410</c:v>
                </c:pt>
                <c:pt idx="5">
                  <c:v>430</c:v>
                </c:pt>
                <c:pt idx="6">
                  <c:v>454</c:v>
                </c:pt>
                <c:pt idx="7">
                  <c:v>480</c:v>
                </c:pt>
                <c:pt idx="8">
                  <c:v>510</c:v>
                </c:pt>
                <c:pt idx="9">
                  <c:v>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F50"/>
              </a:solidFill>
              <a:effectLst/>
            </c:spPr>
          </c:dPt>
          <c:dPt>
            <c:idx val="1"/>
            <c:bubble3D val="0"/>
            <c:spPr>
              <a:solidFill>
                <a:srgbClr val="2E5E8A"/>
              </a:solidFill>
              <a:effectLst/>
            </c:spPr>
          </c:dPt>
          <c:dPt>
            <c:idx val="2"/>
            <c:bubble3D val="0"/>
            <c:spPr>
              <a:solidFill>
                <a:srgbClr val="6B9CB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Mobile</c:v>
                </c:pt>
                <c:pt idx="1">
                  <c:v>Console</c:v>
                </c:pt>
                <c:pt idx="2">
                  <c:v>PC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103</c:v>
                </c:pt>
                <c:pt idx="1">
                  <c:v>45.9</c:v>
                </c:pt>
                <c:pt idx="2">
                  <c:v>39.9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3C4A5A"/>
                </a:solidFill>
                <a:latin typeface="Arial"/>
              </a:defRPr>
            </a:pPr>
            <a:r>
              <a:rPr sz="2000" b="0" i="0" u="none" strike="noStrike">
                <a:solidFill>
                  <a:srgbClr val="3C4A5A"/>
                </a:solidFill>
                <a:latin typeface="Arial"/>
              </a:rPr>
              <a:t>Gaming Revenue by Segment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90</c:v>
                </c:pt>
                <c:pt idx="2">
                  <c:v>93</c:v>
                </c:pt>
                <c:pt idx="3">
                  <c:v>103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Console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46</c:v>
                </c:pt>
                <c:pt idx="2">
                  <c:v>45</c:v>
                </c:pt>
                <c:pt idx="3">
                  <c:v>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PC</c:v>
                </c:pt>
              </c:strCache>
            </c:strRef>
          </c:tx>
          <c:spPr>
            <a:solidFill>
              <a:srgbClr val="6B9C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</c:v>
                </c:pt>
                <c:pt idx="1">
                  <c:v>40</c:v>
                </c:pt>
                <c:pt idx="2">
                  <c:v>43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143000" y="2794000"/>
            <a:ext cx="1397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Industry &amp; Simulations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Animation, Gaming, and the World of Simulations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165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461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13  ·  Lectures 25 &amp; 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476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Industry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Industry  ·  Game Industry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4000500"/>
            <a:ext cx="558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406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Simulations and Their Uses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Types, Applications, and Future Trends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auk53pepger2/mnt/agents/output/week13_entertainment_simulations/images/8_Animation_Studio_CGI_Video_Agency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Industry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Exploring Animation and Game Industry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Digital Entertainment Landscape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68500"/>
            <a:ext cx="6604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entertainment industry driven 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graphics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one of the world's largest economic forces.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the largest CG entertainment segments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Spanning film, TV, streaming, and mobile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Tech convergence blurs boundaries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Industries share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rendering, real-time engines, AI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different audiences.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0" y="1968500"/>
            <a:ext cx="6604000" cy="482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3495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$430B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763000" y="32385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Animation Market (2025)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38000" y="23495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$189B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1938000" y="323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Games Market (2025)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890000" y="3937000"/>
          <a:ext cx="5588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1270000" y="7112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Precedence Research, Newzoo 2025 Global Games Market Report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Industry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4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7057" y="-2977"/>
                </a:moveTo>
                <a:cubicBezTo>
                  <a:pt x="290632" y="-16550"/>
                  <a:pt x="319683" y="-16550"/>
                  <a:pt x="343257" y="-2977"/>
                </a:cubicBezTo>
                <a:lnTo>
                  <a:pt x="552688" y="117872"/>
                </a:lnTo>
                <a:cubicBezTo>
                  <a:pt x="576263" y="131445"/>
                  <a:pt x="590788" y="156686"/>
                  <a:pt x="590788" y="183833"/>
                </a:cubicBezTo>
                <a:lnTo>
                  <a:pt x="590788" y="425529"/>
                </a:lnTo>
                <a:cubicBezTo>
                  <a:pt x="590788" y="452795"/>
                  <a:pt x="576263" y="477917"/>
                  <a:pt x="552688" y="491490"/>
                </a:cubicBezTo>
                <a:lnTo>
                  <a:pt x="343257" y="612577"/>
                </a:lnTo>
                <a:cubicBezTo>
                  <a:pt x="319683" y="626150"/>
                  <a:pt x="290632" y="626150"/>
                  <a:pt x="267057" y="612577"/>
                </a:cubicBezTo>
                <a:lnTo>
                  <a:pt x="57745" y="491728"/>
                </a:lnTo>
                <a:cubicBezTo>
                  <a:pt x="34171" y="478155"/>
                  <a:pt x="19645" y="452914"/>
                  <a:pt x="19645" y="425768"/>
                </a:cubicBezTo>
                <a:lnTo>
                  <a:pt x="19645" y="184071"/>
                </a:lnTo>
                <a:cubicBezTo>
                  <a:pt x="19645" y="156805"/>
                  <a:pt x="34171" y="131683"/>
                  <a:pt x="57745" y="118110"/>
                </a:cubicBezTo>
                <a:lnTo>
                  <a:pt x="267057" y="-2977"/>
                </a:lnTo>
                <a:close/>
                <a:moveTo>
                  <a:pt x="514469" y="425648"/>
                </a:moveTo>
                <a:lnTo>
                  <a:pt x="514469" y="227886"/>
                </a:lnTo>
                <a:lnTo>
                  <a:pt x="343257" y="326708"/>
                </a:lnTo>
                <a:lnTo>
                  <a:pt x="343257" y="524470"/>
                </a:lnTo>
                <a:lnTo>
                  <a:pt x="514469" y="42564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Animation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Leads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61.2%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market share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CGI modeling, rigging, rendering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Feature films, AAA games, VR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Photorealistic visuals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 Avatar, Toy Story, Spider-Verse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3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529" y="12263"/>
                </a:moveTo>
                <a:lnTo>
                  <a:pt x="274214" y="188119"/>
                </a:lnTo>
                <a:cubicBezTo>
                  <a:pt x="243417" y="211217"/>
                  <a:pt x="223838" y="248722"/>
                  <a:pt x="220663" y="289679"/>
                </a:cubicBezTo>
                <a:cubicBezTo>
                  <a:pt x="286597" y="304919"/>
                  <a:pt x="338561" y="363379"/>
                  <a:pt x="352213" y="437674"/>
                </a:cubicBezTo>
                <a:cubicBezTo>
                  <a:pt x="388726" y="434102"/>
                  <a:pt x="421958" y="412075"/>
                  <a:pt x="442489" y="377428"/>
                </a:cubicBezTo>
                <a:lnTo>
                  <a:pt x="598699" y="113705"/>
                </a:lnTo>
                <a:cubicBezTo>
                  <a:pt x="605790" y="101679"/>
                  <a:pt x="609600" y="87630"/>
                  <a:pt x="609600" y="73104"/>
                </a:cubicBezTo>
                <a:cubicBezTo>
                  <a:pt x="609600" y="32742"/>
                  <a:pt x="580496" y="0"/>
                  <a:pt x="544618" y="0"/>
                </a:cubicBezTo>
                <a:cubicBezTo>
                  <a:pt x="531813" y="0"/>
                  <a:pt x="519218" y="4286"/>
                  <a:pt x="508529" y="12263"/>
                </a:cubicBezTo>
                <a:close/>
                <a:moveTo>
                  <a:pt x="304800" y="476250"/>
                </a:moveTo>
                <a:cubicBezTo>
                  <a:pt x="304800" y="402550"/>
                  <a:pt x="251777" y="342900"/>
                  <a:pt x="186267" y="342900"/>
                </a:cubicBezTo>
                <a:cubicBezTo>
                  <a:pt x="120756" y="342900"/>
                  <a:pt x="67733" y="402550"/>
                  <a:pt x="67733" y="476250"/>
                </a:cubicBezTo>
                <a:cubicBezTo>
                  <a:pt x="67733" y="480893"/>
                  <a:pt x="67945" y="485537"/>
                  <a:pt x="68368" y="490061"/>
                </a:cubicBezTo>
                <a:cubicBezTo>
                  <a:pt x="70273" y="510897"/>
                  <a:pt x="57573" y="533400"/>
                  <a:pt x="38947" y="533400"/>
                </a:cubicBezTo>
                <a:lnTo>
                  <a:pt x="33867" y="533400"/>
                </a:lnTo>
                <a:cubicBezTo>
                  <a:pt x="15134" y="533400"/>
                  <a:pt x="0" y="550426"/>
                  <a:pt x="0" y="571500"/>
                </a:cubicBezTo>
                <a:cubicBezTo>
                  <a:pt x="0" y="592574"/>
                  <a:pt x="15134" y="609600"/>
                  <a:pt x="33867" y="609600"/>
                </a:cubicBezTo>
                <a:lnTo>
                  <a:pt x="186267" y="609600"/>
                </a:lnTo>
                <a:cubicBezTo>
                  <a:pt x="251777" y="609600"/>
                  <a:pt x="304800" y="549950"/>
                  <a:pt x="304800" y="476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 Animation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Cost-effective production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Digital vector-based art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Streaming &amp; social media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Mobile games, web series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5.8% CAGR growth via Netflix, YouTube, TikTok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522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114300"/>
                </a:moveTo>
                <a:cubicBezTo>
                  <a:pt x="0" y="72271"/>
                  <a:pt x="39052" y="38100"/>
                  <a:pt x="87086" y="38100"/>
                </a:cubicBezTo>
                <a:lnTo>
                  <a:pt x="522514" y="38100"/>
                </a:lnTo>
                <a:cubicBezTo>
                  <a:pt x="570548" y="38100"/>
                  <a:pt x="609600" y="72271"/>
                  <a:pt x="609600" y="114300"/>
                </a:cubicBezTo>
                <a:lnTo>
                  <a:pt x="609600" y="495300"/>
                </a:lnTo>
                <a:cubicBezTo>
                  <a:pt x="609600" y="537329"/>
                  <a:pt x="570548" y="571500"/>
                  <a:pt x="522514" y="571500"/>
                </a:cubicBezTo>
                <a:lnTo>
                  <a:pt x="87086" y="571500"/>
                </a:lnTo>
                <a:cubicBezTo>
                  <a:pt x="39053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65314" y="438150"/>
                </a:moveTo>
                <a:lnTo>
                  <a:pt x="65314" y="476250"/>
                </a:lnTo>
                <a:cubicBezTo>
                  <a:pt x="65314" y="486728"/>
                  <a:pt x="75111" y="495300"/>
                  <a:pt x="87086" y="495300"/>
                </a:cubicBezTo>
                <a:lnTo>
                  <a:pt x="130629" y="495300"/>
                </a:lnTo>
                <a:cubicBezTo>
                  <a:pt x="142603" y="495300"/>
                  <a:pt x="152400" y="486728"/>
                  <a:pt x="152400" y="476250"/>
                </a:cubicBezTo>
                <a:lnTo>
                  <a:pt x="152400" y="438150"/>
                </a:lnTo>
                <a:cubicBezTo>
                  <a:pt x="152400" y="427673"/>
                  <a:pt x="142603" y="419100"/>
                  <a:pt x="130629" y="419100"/>
                </a:cubicBezTo>
                <a:lnTo>
                  <a:pt x="87086" y="419100"/>
                </a:lnTo>
                <a:cubicBezTo>
                  <a:pt x="75111" y="419100"/>
                  <a:pt x="65314" y="427673"/>
                  <a:pt x="65314" y="438150"/>
                </a:cubicBezTo>
                <a:close/>
                <a:moveTo>
                  <a:pt x="478971" y="419100"/>
                </a:moveTo>
                <a:cubicBezTo>
                  <a:pt x="466997" y="419100"/>
                  <a:pt x="457200" y="427673"/>
                  <a:pt x="457200" y="438150"/>
                </a:cubicBezTo>
                <a:lnTo>
                  <a:pt x="457200" y="476250"/>
                </a:lnTo>
                <a:cubicBezTo>
                  <a:pt x="457200" y="486728"/>
                  <a:pt x="466997" y="495300"/>
                  <a:pt x="478971" y="495300"/>
                </a:cubicBezTo>
                <a:lnTo>
                  <a:pt x="522514" y="495300"/>
                </a:lnTo>
                <a:cubicBezTo>
                  <a:pt x="534489" y="495300"/>
                  <a:pt x="544286" y="486728"/>
                  <a:pt x="544286" y="476250"/>
                </a:cubicBezTo>
                <a:lnTo>
                  <a:pt x="544286" y="438150"/>
                </a:lnTo>
                <a:cubicBezTo>
                  <a:pt x="544286" y="427673"/>
                  <a:pt x="534489" y="419100"/>
                  <a:pt x="522514" y="419100"/>
                </a:cubicBezTo>
                <a:lnTo>
                  <a:pt x="478971" y="419100"/>
                </a:lnTo>
                <a:close/>
                <a:moveTo>
                  <a:pt x="65314" y="285750"/>
                </a:moveTo>
                <a:lnTo>
                  <a:pt x="65314" y="323850"/>
                </a:lnTo>
                <a:cubicBezTo>
                  <a:pt x="65314" y="334328"/>
                  <a:pt x="75111" y="342900"/>
                  <a:pt x="87086" y="342900"/>
                </a:cubicBezTo>
                <a:lnTo>
                  <a:pt x="130629" y="342900"/>
                </a:lnTo>
                <a:cubicBezTo>
                  <a:pt x="142603" y="342900"/>
                  <a:pt x="152400" y="334328"/>
                  <a:pt x="152400" y="323850"/>
                </a:cubicBezTo>
                <a:lnTo>
                  <a:pt x="152400" y="285750"/>
                </a:lnTo>
                <a:cubicBezTo>
                  <a:pt x="152400" y="275273"/>
                  <a:pt x="142603" y="266700"/>
                  <a:pt x="130629" y="266700"/>
                </a:cubicBezTo>
                <a:lnTo>
                  <a:pt x="87086" y="266700"/>
                </a:lnTo>
                <a:cubicBezTo>
                  <a:pt x="75111" y="266700"/>
                  <a:pt x="65314" y="275273"/>
                  <a:pt x="65314" y="285750"/>
                </a:cubicBezTo>
                <a:close/>
                <a:moveTo>
                  <a:pt x="478971" y="266700"/>
                </a:moveTo>
                <a:cubicBezTo>
                  <a:pt x="466997" y="266700"/>
                  <a:pt x="457200" y="275273"/>
                  <a:pt x="457200" y="285750"/>
                </a:cubicBezTo>
                <a:lnTo>
                  <a:pt x="457200" y="323850"/>
                </a:lnTo>
                <a:cubicBezTo>
                  <a:pt x="457200" y="334328"/>
                  <a:pt x="466997" y="342900"/>
                  <a:pt x="478971" y="342900"/>
                </a:cubicBezTo>
                <a:lnTo>
                  <a:pt x="522514" y="342900"/>
                </a:lnTo>
                <a:cubicBezTo>
                  <a:pt x="534489" y="342900"/>
                  <a:pt x="544286" y="334328"/>
                  <a:pt x="544286" y="323850"/>
                </a:cubicBezTo>
                <a:lnTo>
                  <a:pt x="544286" y="285750"/>
                </a:lnTo>
                <a:cubicBezTo>
                  <a:pt x="544286" y="275273"/>
                  <a:pt x="534489" y="266700"/>
                  <a:pt x="522514" y="266700"/>
                </a:cubicBezTo>
                <a:lnTo>
                  <a:pt x="478971" y="266700"/>
                </a:lnTo>
                <a:close/>
                <a:moveTo>
                  <a:pt x="65314" y="133350"/>
                </a:moveTo>
                <a:lnTo>
                  <a:pt x="65314" y="171450"/>
                </a:lnTo>
                <a:cubicBezTo>
                  <a:pt x="65314" y="181928"/>
                  <a:pt x="75111" y="190500"/>
                  <a:pt x="87086" y="190500"/>
                </a:cubicBezTo>
                <a:lnTo>
                  <a:pt x="130629" y="190500"/>
                </a:lnTo>
                <a:cubicBezTo>
                  <a:pt x="142603" y="190500"/>
                  <a:pt x="152400" y="181928"/>
                  <a:pt x="152400" y="171450"/>
                </a:cubicBezTo>
                <a:lnTo>
                  <a:pt x="152400" y="133350"/>
                </a:lnTo>
                <a:cubicBezTo>
                  <a:pt x="152400" y="122873"/>
                  <a:pt x="142603" y="114300"/>
                  <a:pt x="130629" y="114300"/>
                </a:cubicBezTo>
                <a:lnTo>
                  <a:pt x="87086" y="114300"/>
                </a:lnTo>
                <a:cubicBezTo>
                  <a:pt x="75111" y="114300"/>
                  <a:pt x="65314" y="122873"/>
                  <a:pt x="65314" y="133350"/>
                </a:cubicBezTo>
                <a:close/>
                <a:moveTo>
                  <a:pt x="478971" y="114300"/>
                </a:moveTo>
                <a:cubicBezTo>
                  <a:pt x="466997" y="114300"/>
                  <a:pt x="457200" y="122873"/>
                  <a:pt x="457200" y="133350"/>
                </a:cubicBezTo>
                <a:lnTo>
                  <a:pt x="457200" y="171450"/>
                </a:lnTo>
                <a:cubicBezTo>
                  <a:pt x="457200" y="181928"/>
                  <a:pt x="466997" y="190500"/>
                  <a:pt x="478971" y="190500"/>
                </a:cubicBezTo>
                <a:lnTo>
                  <a:pt x="522514" y="190500"/>
                </a:lnTo>
                <a:cubicBezTo>
                  <a:pt x="534489" y="190500"/>
                  <a:pt x="544286" y="181928"/>
                  <a:pt x="544286" y="171450"/>
                </a:cubicBezTo>
                <a:lnTo>
                  <a:pt x="544286" y="133350"/>
                </a:lnTo>
                <a:cubicBezTo>
                  <a:pt x="544286" y="122873"/>
                  <a:pt x="534489" y="114300"/>
                  <a:pt x="522514" y="114300"/>
                </a:cubicBezTo>
                <a:lnTo>
                  <a:pt x="478971" y="1143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Stop Motion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Physical puppets &amp; models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Frame-by-frame photography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Unique tactile aesthetic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 Coraline, Wallace and Gromit, Isle of Dogs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Market by the Numbers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22500"/>
            <a:ext cx="304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$430B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Market (2025)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6.1% CAGR through 2035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99000" y="2032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9000" y="2222500"/>
            <a:ext cx="304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61.2%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99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Animation Share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9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Dominant segment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032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8000" y="2222500"/>
            <a:ext cx="304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50.8%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128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OTT Revenue Share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8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Netflix, Disney+, Prime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57000" y="2032000"/>
            <a:ext cx="3429000" cy="2159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1557000" y="2222500"/>
            <a:ext cx="3429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$59.3B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1557000" y="3111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U.S. Market (2024)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57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8.3% CAGR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699000"/>
            <a:ext cx="13716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1778000" y="4953000"/>
          <a:ext cx="12700000" cy="24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Market by the Numbers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22500"/>
            <a:ext cx="304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$430B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Market (2025)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6.1% CAGR through 2035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99000" y="2032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9000" y="2222500"/>
            <a:ext cx="304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61.2%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99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Animation Share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9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Dominant segment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032000"/>
            <a:ext cx="3048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8000" y="2222500"/>
            <a:ext cx="3048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50.8%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128000" y="311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OTT Revenue Share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8000" y="3556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Netflix, Disney+, Prime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57000" y="2032000"/>
            <a:ext cx="3429000" cy="2159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1557000" y="2222500"/>
            <a:ext cx="3429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$59.3B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1557000" y="3111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U.S. Market (2024)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57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8.3% CAGR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699000"/>
            <a:ext cx="13716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1778000" y="4953000"/>
          <a:ext cx="12700000" cy="24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Industry Key Players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778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981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7554" y="-22503"/>
                </a:moveTo>
                <a:cubicBezTo>
                  <a:pt x="323215" y="-32028"/>
                  <a:pt x="314431" y="-38100"/>
                  <a:pt x="304906" y="-38100"/>
                </a:cubicBezTo>
                <a:cubicBezTo>
                  <a:pt x="295381" y="-38100"/>
                  <a:pt x="286597" y="-32028"/>
                  <a:pt x="282258" y="-22503"/>
                </a:cubicBezTo>
                <a:lnTo>
                  <a:pt x="204364" y="149185"/>
                </a:lnTo>
                <a:lnTo>
                  <a:pt x="35137" y="179427"/>
                </a:lnTo>
                <a:cubicBezTo>
                  <a:pt x="25718" y="181094"/>
                  <a:pt x="17886" y="188595"/>
                  <a:pt x="14923" y="198834"/>
                </a:cubicBezTo>
                <a:cubicBezTo>
                  <a:pt x="11959" y="209074"/>
                  <a:pt x="14393" y="220266"/>
                  <a:pt x="21061" y="227886"/>
                </a:cubicBezTo>
                <a:lnTo>
                  <a:pt x="142134" y="364212"/>
                </a:lnTo>
                <a:lnTo>
                  <a:pt x="115464" y="554593"/>
                </a:lnTo>
                <a:cubicBezTo>
                  <a:pt x="113983" y="565190"/>
                  <a:pt x="117898" y="575905"/>
                  <a:pt x="125624" y="582216"/>
                </a:cubicBezTo>
                <a:cubicBezTo>
                  <a:pt x="133350" y="588526"/>
                  <a:pt x="143510" y="589478"/>
                  <a:pt x="152082" y="584597"/>
                </a:cubicBezTo>
                <a:lnTo>
                  <a:pt x="304906" y="497205"/>
                </a:lnTo>
                <a:lnTo>
                  <a:pt x="457623" y="584597"/>
                </a:lnTo>
                <a:cubicBezTo>
                  <a:pt x="466090" y="589478"/>
                  <a:pt x="476356" y="588526"/>
                  <a:pt x="484082" y="582216"/>
                </a:cubicBezTo>
                <a:cubicBezTo>
                  <a:pt x="491807" y="575905"/>
                  <a:pt x="495723" y="565309"/>
                  <a:pt x="494242" y="554593"/>
                </a:cubicBezTo>
                <a:lnTo>
                  <a:pt x="467466" y="364212"/>
                </a:lnTo>
                <a:lnTo>
                  <a:pt x="588539" y="227886"/>
                </a:lnTo>
                <a:cubicBezTo>
                  <a:pt x="595313" y="220266"/>
                  <a:pt x="597641" y="209074"/>
                  <a:pt x="594678" y="198834"/>
                </a:cubicBezTo>
                <a:cubicBezTo>
                  <a:pt x="591714" y="188595"/>
                  <a:pt x="583988" y="181094"/>
                  <a:pt x="574463" y="179427"/>
                </a:cubicBezTo>
                <a:lnTo>
                  <a:pt x="405342" y="149185"/>
                </a:lnTo>
                <a:lnTo>
                  <a:pt x="327554" y="-2250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Disney / Pixar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4191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pioneers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Toy Story, Frozen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Storytelling leaders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4000" y="3048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5280" y="148233"/>
                </a:moveTo>
                <a:lnTo>
                  <a:pt x="285845" y="132755"/>
                </a:lnTo>
                <a:cubicBezTo>
                  <a:pt x="279654" y="130850"/>
                  <a:pt x="275082" y="124301"/>
                  <a:pt x="274415" y="116324"/>
                </a:cubicBezTo>
                <a:cubicBezTo>
                  <a:pt x="273749" y="108347"/>
                  <a:pt x="277082" y="100727"/>
                  <a:pt x="282702" y="97155"/>
                </a:cubicBezTo>
                <a:lnTo>
                  <a:pt x="321564" y="72866"/>
                </a:lnTo>
                <a:lnTo>
                  <a:pt x="280321" y="34171"/>
                </a:lnTo>
                <a:cubicBezTo>
                  <a:pt x="275082" y="29289"/>
                  <a:pt x="272891" y="20717"/>
                  <a:pt x="274987" y="12859"/>
                </a:cubicBezTo>
                <a:cubicBezTo>
                  <a:pt x="277082" y="5001"/>
                  <a:pt x="282988" y="0"/>
                  <a:pt x="289560" y="0"/>
                </a:cubicBezTo>
                <a:lnTo>
                  <a:pt x="441960" y="0"/>
                </a:lnTo>
                <a:cubicBezTo>
                  <a:pt x="470726" y="0"/>
                  <a:pt x="497872" y="16907"/>
                  <a:pt x="515112" y="45720"/>
                </a:cubicBezTo>
                <a:lnTo>
                  <a:pt x="569976" y="137160"/>
                </a:lnTo>
                <a:cubicBezTo>
                  <a:pt x="575882" y="147042"/>
                  <a:pt x="579120" y="159068"/>
                  <a:pt x="579120" y="171450"/>
                </a:cubicBezTo>
                <a:cubicBezTo>
                  <a:pt x="579120" y="203002"/>
                  <a:pt x="558641" y="228600"/>
                  <a:pt x="533400" y="228600"/>
                </a:cubicBezTo>
                <a:lnTo>
                  <a:pt x="512921" y="228600"/>
                </a:lnTo>
                <a:cubicBezTo>
                  <a:pt x="496729" y="228600"/>
                  <a:pt x="481203" y="220623"/>
                  <a:pt x="469773" y="206335"/>
                </a:cubicBezTo>
                <a:lnTo>
                  <a:pt x="457105" y="190500"/>
                </a:lnTo>
                <a:lnTo>
                  <a:pt x="426625" y="190500"/>
                </a:lnTo>
                <a:lnTo>
                  <a:pt x="426625" y="216098"/>
                </a:lnTo>
                <a:cubicBezTo>
                  <a:pt x="426625" y="245626"/>
                  <a:pt x="438817" y="273129"/>
                  <a:pt x="458819" y="288846"/>
                </a:cubicBezTo>
                <a:lnTo>
                  <a:pt x="560356" y="368141"/>
                </a:lnTo>
                <a:cubicBezTo>
                  <a:pt x="590931" y="392073"/>
                  <a:pt x="609505" y="433864"/>
                  <a:pt x="609505" y="478988"/>
                </a:cubicBezTo>
                <a:cubicBezTo>
                  <a:pt x="609505" y="551140"/>
                  <a:pt x="562737" y="609719"/>
                  <a:pt x="504920" y="609719"/>
                </a:cubicBezTo>
                <a:lnTo>
                  <a:pt x="30766" y="609600"/>
                </a:lnTo>
                <a:cubicBezTo>
                  <a:pt x="27622" y="609600"/>
                  <a:pt x="24479" y="609124"/>
                  <a:pt x="21622" y="607933"/>
                </a:cubicBezTo>
                <a:cubicBezTo>
                  <a:pt x="12859" y="604599"/>
                  <a:pt x="5715" y="596503"/>
                  <a:pt x="2191" y="585788"/>
                </a:cubicBezTo>
                <a:cubicBezTo>
                  <a:pt x="952" y="581858"/>
                  <a:pt x="95" y="577572"/>
                  <a:pt x="0" y="573048"/>
                </a:cubicBezTo>
                <a:cubicBezTo>
                  <a:pt x="-191" y="568643"/>
                  <a:pt x="286" y="564356"/>
                  <a:pt x="1238" y="560308"/>
                </a:cubicBezTo>
                <a:cubicBezTo>
                  <a:pt x="3905" y="549354"/>
                  <a:pt x="10382" y="540425"/>
                  <a:pt x="18955" y="536019"/>
                </a:cubicBezTo>
                <a:cubicBezTo>
                  <a:pt x="21812" y="534591"/>
                  <a:pt x="24860" y="533638"/>
                  <a:pt x="28004" y="533400"/>
                </a:cubicBezTo>
                <a:lnTo>
                  <a:pt x="412718" y="490538"/>
                </a:lnTo>
                <a:cubicBezTo>
                  <a:pt x="420624" y="489704"/>
                  <a:pt x="426720" y="481370"/>
                  <a:pt x="426720" y="471368"/>
                </a:cubicBezTo>
                <a:cubicBezTo>
                  <a:pt x="426720" y="466249"/>
                  <a:pt x="425101" y="461367"/>
                  <a:pt x="422243" y="457795"/>
                </a:cubicBezTo>
                <a:lnTo>
                  <a:pt x="379952" y="404932"/>
                </a:lnTo>
                <a:cubicBezTo>
                  <a:pt x="351377" y="369213"/>
                  <a:pt x="335280" y="320754"/>
                  <a:pt x="335280" y="270272"/>
                </a:cubicBezTo>
                <a:lnTo>
                  <a:pt x="335280" y="148233"/>
                </a:lnTo>
                <a:close/>
                <a:moveTo>
                  <a:pt x="487680" y="86082"/>
                </a:moveTo>
                <a:cubicBezTo>
                  <a:pt x="487680" y="85963"/>
                  <a:pt x="487680" y="85844"/>
                  <a:pt x="487680" y="85725"/>
                </a:cubicBezTo>
                <a:cubicBezTo>
                  <a:pt x="487680" y="85606"/>
                  <a:pt x="487680" y="85487"/>
                  <a:pt x="487680" y="85368"/>
                </a:cubicBezTo>
                <a:lnTo>
                  <a:pt x="487680" y="86082"/>
                </a:lnTo>
                <a:close/>
                <a:moveTo>
                  <a:pt x="486442" y="94893"/>
                </a:moveTo>
                <a:lnTo>
                  <a:pt x="442246" y="81082"/>
                </a:lnTo>
                <a:cubicBezTo>
                  <a:pt x="442055" y="82629"/>
                  <a:pt x="441960" y="84177"/>
                  <a:pt x="441960" y="85725"/>
                </a:cubicBezTo>
                <a:cubicBezTo>
                  <a:pt x="441960" y="101560"/>
                  <a:pt x="452152" y="114300"/>
                  <a:pt x="464820" y="114300"/>
                </a:cubicBezTo>
                <a:cubicBezTo>
                  <a:pt x="474917" y="114300"/>
                  <a:pt x="483394" y="106204"/>
                  <a:pt x="486442" y="94893"/>
                </a:cubicBezTo>
                <a:close/>
                <a:moveTo>
                  <a:pt x="124682" y="138708"/>
                </a:moveTo>
                <a:cubicBezTo>
                  <a:pt x="140208" y="121444"/>
                  <a:pt x="163163" y="119420"/>
                  <a:pt x="180404" y="133826"/>
                </a:cubicBezTo>
                <a:lnTo>
                  <a:pt x="304800" y="237411"/>
                </a:lnTo>
                <a:lnTo>
                  <a:pt x="304800" y="270153"/>
                </a:lnTo>
                <a:cubicBezTo>
                  <a:pt x="304800" y="309205"/>
                  <a:pt x="312801" y="347305"/>
                  <a:pt x="327660" y="380881"/>
                </a:cubicBezTo>
                <a:lnTo>
                  <a:pt x="106680" y="380881"/>
                </a:lnTo>
                <a:cubicBezTo>
                  <a:pt x="100298" y="380881"/>
                  <a:pt x="94583" y="375880"/>
                  <a:pt x="92393" y="368498"/>
                </a:cubicBezTo>
                <a:cubicBezTo>
                  <a:pt x="90202" y="361117"/>
                  <a:pt x="91916" y="352663"/>
                  <a:pt x="96774" y="347424"/>
                </a:cubicBezTo>
                <a:lnTo>
                  <a:pt x="162878" y="276582"/>
                </a:lnTo>
                <a:lnTo>
                  <a:pt x="17526" y="304562"/>
                </a:lnTo>
                <a:cubicBezTo>
                  <a:pt x="10858" y="305872"/>
                  <a:pt x="4286" y="301466"/>
                  <a:pt x="1429" y="293846"/>
                </a:cubicBezTo>
                <a:cubicBezTo>
                  <a:pt x="-1429" y="286226"/>
                  <a:pt x="95" y="277178"/>
                  <a:pt x="5144" y="271463"/>
                </a:cubicBezTo>
                <a:lnTo>
                  <a:pt x="124682" y="13870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556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DreamWorks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4191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Shrek, Kung Fu Panda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to Train Dragon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Comedy &amp; adventure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0000" y="3048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350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3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39698" y="-36909"/>
                </a:moveTo>
                <a:cubicBezTo>
                  <a:pt x="453866" y="-41077"/>
                  <a:pt x="468749" y="-33695"/>
                  <a:pt x="474226" y="-20360"/>
                </a:cubicBezTo>
                <a:lnTo>
                  <a:pt x="475178" y="-17621"/>
                </a:lnTo>
                <a:lnTo>
                  <a:pt x="522803" y="144304"/>
                </a:lnTo>
                <a:cubicBezTo>
                  <a:pt x="525780" y="154305"/>
                  <a:pt x="522923" y="165140"/>
                  <a:pt x="515541" y="172522"/>
                </a:cubicBezTo>
                <a:lnTo>
                  <a:pt x="439222" y="248841"/>
                </a:lnTo>
                <a:lnTo>
                  <a:pt x="530185" y="224076"/>
                </a:lnTo>
                <a:lnTo>
                  <a:pt x="553879" y="152876"/>
                </a:lnTo>
                <a:lnTo>
                  <a:pt x="554950" y="150138"/>
                </a:lnTo>
                <a:cubicBezTo>
                  <a:pt x="560903" y="136922"/>
                  <a:pt x="576024" y="130135"/>
                  <a:pt x="590074" y="134779"/>
                </a:cubicBezTo>
                <a:cubicBezTo>
                  <a:pt x="604123" y="139422"/>
                  <a:pt x="612100" y="153948"/>
                  <a:pt x="608886" y="168116"/>
                </a:cubicBezTo>
                <a:lnTo>
                  <a:pt x="608052" y="170974"/>
                </a:lnTo>
                <a:lnTo>
                  <a:pt x="579477" y="256699"/>
                </a:lnTo>
                <a:cubicBezTo>
                  <a:pt x="576501" y="265747"/>
                  <a:pt x="569119" y="272653"/>
                  <a:pt x="559832" y="275273"/>
                </a:cubicBezTo>
                <a:lnTo>
                  <a:pt x="451366" y="304800"/>
                </a:lnTo>
                <a:lnTo>
                  <a:pt x="559832" y="334328"/>
                </a:lnTo>
                <a:cubicBezTo>
                  <a:pt x="569000" y="336828"/>
                  <a:pt x="576382" y="343853"/>
                  <a:pt x="579477" y="352901"/>
                </a:cubicBezTo>
                <a:lnTo>
                  <a:pt x="608052" y="438626"/>
                </a:lnTo>
                <a:lnTo>
                  <a:pt x="608886" y="441484"/>
                </a:lnTo>
                <a:cubicBezTo>
                  <a:pt x="612100" y="455652"/>
                  <a:pt x="604004" y="470178"/>
                  <a:pt x="590074" y="474821"/>
                </a:cubicBezTo>
                <a:cubicBezTo>
                  <a:pt x="576024" y="479465"/>
                  <a:pt x="560903" y="472678"/>
                  <a:pt x="554950" y="459462"/>
                </a:cubicBezTo>
                <a:lnTo>
                  <a:pt x="553879" y="456724"/>
                </a:lnTo>
                <a:lnTo>
                  <a:pt x="530185" y="385524"/>
                </a:lnTo>
                <a:lnTo>
                  <a:pt x="439222" y="360759"/>
                </a:lnTo>
                <a:lnTo>
                  <a:pt x="515541" y="437078"/>
                </a:lnTo>
                <a:cubicBezTo>
                  <a:pt x="522803" y="444341"/>
                  <a:pt x="525661" y="455057"/>
                  <a:pt x="522922" y="464939"/>
                </a:cubicBezTo>
                <a:lnTo>
                  <a:pt x="475298" y="636389"/>
                </a:lnTo>
                <a:lnTo>
                  <a:pt x="474345" y="639127"/>
                </a:lnTo>
                <a:cubicBezTo>
                  <a:pt x="469106" y="652582"/>
                  <a:pt x="454342" y="660202"/>
                  <a:pt x="440055" y="656273"/>
                </a:cubicBezTo>
                <a:cubicBezTo>
                  <a:pt x="425767" y="652343"/>
                  <a:pt x="417076" y="638175"/>
                  <a:pt x="419576" y="623887"/>
                </a:cubicBezTo>
                <a:lnTo>
                  <a:pt x="420172" y="621030"/>
                </a:lnTo>
                <a:lnTo>
                  <a:pt x="463272" y="465653"/>
                </a:lnTo>
                <a:lnTo>
                  <a:pt x="418981" y="421362"/>
                </a:lnTo>
                <a:cubicBezTo>
                  <a:pt x="417909" y="483394"/>
                  <a:pt x="367189" y="533400"/>
                  <a:pt x="304800" y="533400"/>
                </a:cubicBezTo>
                <a:cubicBezTo>
                  <a:pt x="242411" y="533400"/>
                  <a:pt x="191691" y="483394"/>
                  <a:pt x="190500" y="421362"/>
                </a:cubicBezTo>
                <a:lnTo>
                  <a:pt x="146447" y="465415"/>
                </a:lnTo>
                <a:lnTo>
                  <a:pt x="189309" y="611029"/>
                </a:lnTo>
                <a:lnTo>
                  <a:pt x="190024" y="613886"/>
                </a:lnTo>
                <a:cubicBezTo>
                  <a:pt x="192643" y="628055"/>
                  <a:pt x="184190" y="642342"/>
                  <a:pt x="170021" y="646509"/>
                </a:cubicBezTo>
                <a:cubicBezTo>
                  <a:pt x="155853" y="650677"/>
                  <a:pt x="140970" y="643295"/>
                  <a:pt x="135493" y="629960"/>
                </a:cubicBezTo>
                <a:lnTo>
                  <a:pt x="134541" y="627221"/>
                </a:lnTo>
                <a:lnTo>
                  <a:pt x="86916" y="465296"/>
                </a:lnTo>
                <a:cubicBezTo>
                  <a:pt x="83939" y="455295"/>
                  <a:pt x="86797" y="444460"/>
                  <a:pt x="94178" y="436959"/>
                </a:cubicBezTo>
                <a:lnTo>
                  <a:pt x="170497" y="360640"/>
                </a:lnTo>
                <a:lnTo>
                  <a:pt x="79534" y="385405"/>
                </a:lnTo>
                <a:lnTo>
                  <a:pt x="55840" y="456605"/>
                </a:lnTo>
                <a:lnTo>
                  <a:pt x="54769" y="459343"/>
                </a:lnTo>
                <a:cubicBezTo>
                  <a:pt x="48816" y="472559"/>
                  <a:pt x="33695" y="479346"/>
                  <a:pt x="19645" y="474702"/>
                </a:cubicBezTo>
                <a:cubicBezTo>
                  <a:pt x="5596" y="470059"/>
                  <a:pt x="-2381" y="455533"/>
                  <a:pt x="833" y="441365"/>
                </a:cubicBezTo>
                <a:lnTo>
                  <a:pt x="1667" y="438507"/>
                </a:lnTo>
                <a:lnTo>
                  <a:pt x="30242" y="352782"/>
                </a:lnTo>
                <a:cubicBezTo>
                  <a:pt x="33218" y="343733"/>
                  <a:pt x="40600" y="336828"/>
                  <a:pt x="49887" y="334208"/>
                </a:cubicBezTo>
                <a:lnTo>
                  <a:pt x="158353" y="304681"/>
                </a:lnTo>
                <a:lnTo>
                  <a:pt x="49887" y="275153"/>
                </a:lnTo>
                <a:cubicBezTo>
                  <a:pt x="40719" y="272653"/>
                  <a:pt x="33337" y="265628"/>
                  <a:pt x="30242" y="256580"/>
                </a:cubicBezTo>
                <a:lnTo>
                  <a:pt x="1667" y="170855"/>
                </a:lnTo>
                <a:lnTo>
                  <a:pt x="833" y="167997"/>
                </a:lnTo>
                <a:cubicBezTo>
                  <a:pt x="-2381" y="153829"/>
                  <a:pt x="5715" y="139303"/>
                  <a:pt x="19645" y="134660"/>
                </a:cubicBezTo>
                <a:cubicBezTo>
                  <a:pt x="33576" y="130016"/>
                  <a:pt x="48816" y="136803"/>
                  <a:pt x="54769" y="150019"/>
                </a:cubicBezTo>
                <a:lnTo>
                  <a:pt x="55840" y="152757"/>
                </a:lnTo>
                <a:lnTo>
                  <a:pt x="79534" y="223957"/>
                </a:lnTo>
                <a:lnTo>
                  <a:pt x="170497" y="248722"/>
                </a:lnTo>
                <a:lnTo>
                  <a:pt x="94178" y="172403"/>
                </a:lnTo>
                <a:cubicBezTo>
                  <a:pt x="86797" y="165021"/>
                  <a:pt x="84058" y="154186"/>
                  <a:pt x="86916" y="144185"/>
                </a:cubicBezTo>
                <a:lnTo>
                  <a:pt x="134541" y="-17740"/>
                </a:lnTo>
                <a:lnTo>
                  <a:pt x="135493" y="-20479"/>
                </a:lnTo>
                <a:cubicBezTo>
                  <a:pt x="140970" y="-33933"/>
                  <a:pt x="155853" y="-41196"/>
                  <a:pt x="170021" y="-37028"/>
                </a:cubicBezTo>
                <a:cubicBezTo>
                  <a:pt x="184190" y="-32861"/>
                  <a:pt x="192643" y="-18574"/>
                  <a:pt x="190024" y="-4405"/>
                </a:cubicBezTo>
                <a:lnTo>
                  <a:pt x="189309" y="-1548"/>
                </a:lnTo>
                <a:lnTo>
                  <a:pt x="146447" y="144066"/>
                </a:lnTo>
                <a:lnTo>
                  <a:pt x="209550" y="207169"/>
                </a:lnTo>
                <a:cubicBezTo>
                  <a:pt x="210741" y="155615"/>
                  <a:pt x="252889" y="114181"/>
                  <a:pt x="304681" y="114181"/>
                </a:cubicBezTo>
                <a:cubicBezTo>
                  <a:pt x="356473" y="114181"/>
                  <a:pt x="398621" y="155615"/>
                  <a:pt x="399812" y="207288"/>
                </a:cubicBezTo>
                <a:lnTo>
                  <a:pt x="463034" y="144066"/>
                </a:lnTo>
                <a:lnTo>
                  <a:pt x="420172" y="-1548"/>
                </a:lnTo>
                <a:lnTo>
                  <a:pt x="419457" y="-4405"/>
                </a:lnTo>
                <a:cubicBezTo>
                  <a:pt x="416838" y="-18693"/>
                  <a:pt x="425291" y="-32861"/>
                  <a:pt x="439460" y="-370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842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Sony Pictures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2000" y="4191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Spider-Verse franchise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Cutting-edge visuals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Innovation leader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6000" y="3048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636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Shape 18"/>
          <p:cNvSpPr/>
          <p:nvPr/>
        </p:nvSpPr>
        <p:spPr>
          <a:xfrm>
            <a:off x="8839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114300"/>
                </a:moveTo>
                <a:lnTo>
                  <a:pt x="0" y="33933"/>
                </a:lnTo>
                <a:cubicBezTo>
                  <a:pt x="0" y="25718"/>
                  <a:pt x="7620" y="19050"/>
                  <a:pt x="17009" y="19050"/>
                </a:cubicBezTo>
                <a:cubicBezTo>
                  <a:pt x="20139" y="19050"/>
                  <a:pt x="23132" y="19764"/>
                  <a:pt x="25854" y="21193"/>
                </a:cubicBezTo>
                <a:lnTo>
                  <a:pt x="78921" y="49054"/>
                </a:lnTo>
                <a:cubicBezTo>
                  <a:pt x="112803" y="66794"/>
                  <a:pt x="151448" y="76200"/>
                  <a:pt x="190908" y="76200"/>
                </a:cubicBezTo>
                <a:lnTo>
                  <a:pt x="418692" y="76200"/>
                </a:lnTo>
                <a:cubicBezTo>
                  <a:pt x="458153" y="76200"/>
                  <a:pt x="496933" y="66794"/>
                  <a:pt x="530679" y="49054"/>
                </a:cubicBezTo>
                <a:lnTo>
                  <a:pt x="583746" y="21193"/>
                </a:lnTo>
                <a:cubicBezTo>
                  <a:pt x="586332" y="19764"/>
                  <a:pt x="589461" y="19050"/>
                  <a:pt x="592455" y="19050"/>
                </a:cubicBezTo>
                <a:cubicBezTo>
                  <a:pt x="601844" y="19050"/>
                  <a:pt x="609464" y="25718"/>
                  <a:pt x="609464" y="33933"/>
                </a:cubicBezTo>
                <a:lnTo>
                  <a:pt x="609600" y="114300"/>
                </a:lnTo>
                <a:cubicBezTo>
                  <a:pt x="609600" y="156329"/>
                  <a:pt x="570548" y="190500"/>
                  <a:pt x="522514" y="190500"/>
                </a:cubicBezTo>
                <a:lnTo>
                  <a:pt x="522514" y="266700"/>
                </a:lnTo>
                <a:lnTo>
                  <a:pt x="544286" y="266700"/>
                </a:lnTo>
                <a:cubicBezTo>
                  <a:pt x="568370" y="266700"/>
                  <a:pt x="587829" y="283726"/>
                  <a:pt x="587829" y="304800"/>
                </a:cubicBezTo>
                <a:cubicBezTo>
                  <a:pt x="587829" y="325874"/>
                  <a:pt x="568370" y="342900"/>
                  <a:pt x="544286" y="342900"/>
                </a:cubicBezTo>
                <a:lnTo>
                  <a:pt x="522514" y="342900"/>
                </a:lnTo>
                <a:lnTo>
                  <a:pt x="522514" y="571500"/>
                </a:lnTo>
                <a:cubicBezTo>
                  <a:pt x="522514" y="592574"/>
                  <a:pt x="503056" y="609600"/>
                  <a:pt x="478971" y="609600"/>
                </a:cubicBezTo>
                <a:cubicBezTo>
                  <a:pt x="454887" y="609600"/>
                  <a:pt x="435429" y="592574"/>
                  <a:pt x="435429" y="571500"/>
                </a:cubicBezTo>
                <a:lnTo>
                  <a:pt x="435429" y="342900"/>
                </a:lnTo>
                <a:lnTo>
                  <a:pt x="174171" y="342900"/>
                </a:lnTo>
                <a:lnTo>
                  <a:pt x="174171" y="571500"/>
                </a:lnTo>
                <a:cubicBezTo>
                  <a:pt x="174171" y="592574"/>
                  <a:pt x="154713" y="609600"/>
                  <a:pt x="130629" y="609600"/>
                </a:cubicBezTo>
                <a:cubicBezTo>
                  <a:pt x="106544" y="609600"/>
                  <a:pt x="87086" y="592574"/>
                  <a:pt x="87086" y="571500"/>
                </a:cubicBezTo>
                <a:lnTo>
                  <a:pt x="87086" y="342900"/>
                </a:lnTo>
                <a:lnTo>
                  <a:pt x="65314" y="342900"/>
                </a:lnTo>
                <a:cubicBezTo>
                  <a:pt x="41230" y="342900"/>
                  <a:pt x="21771" y="325874"/>
                  <a:pt x="21771" y="304800"/>
                </a:cubicBezTo>
                <a:cubicBezTo>
                  <a:pt x="21771" y="283726"/>
                  <a:pt x="41230" y="266700"/>
                  <a:pt x="65314" y="266700"/>
                </a:cubicBezTo>
                <a:lnTo>
                  <a:pt x="87086" y="266700"/>
                </a:lnTo>
                <a:lnTo>
                  <a:pt x="87086" y="190500"/>
                </a:lnTo>
                <a:cubicBezTo>
                  <a:pt x="39052" y="190500"/>
                  <a:pt x="0" y="156329"/>
                  <a:pt x="0" y="114300"/>
                </a:cubicBezTo>
                <a:close/>
                <a:moveTo>
                  <a:pt x="174171" y="266700"/>
                </a:moveTo>
                <a:lnTo>
                  <a:pt x="261257" y="266700"/>
                </a:lnTo>
                <a:lnTo>
                  <a:pt x="261257" y="190500"/>
                </a:lnTo>
                <a:lnTo>
                  <a:pt x="174171" y="190500"/>
                </a:lnTo>
                <a:lnTo>
                  <a:pt x="174171" y="266700"/>
                </a:lnTo>
                <a:close/>
                <a:moveTo>
                  <a:pt x="348343" y="266700"/>
                </a:moveTo>
                <a:lnTo>
                  <a:pt x="435429" y="266700"/>
                </a:lnTo>
                <a:lnTo>
                  <a:pt x="435429" y="190500"/>
                </a:lnTo>
                <a:lnTo>
                  <a:pt x="348343" y="190500"/>
                </a:lnTo>
                <a:lnTo>
                  <a:pt x="348343" y="266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128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Japan Studios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55000" y="4191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TOEI, Kyoto Anim.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Anime global hit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Dragon Ball, Demon Slayer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52000" y="3048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922000" y="2540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25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9550" y="28575"/>
                </a:moveTo>
                <a:cubicBezTo>
                  <a:pt x="209550" y="12740"/>
                  <a:pt x="196810" y="0"/>
                  <a:pt x="180975" y="0"/>
                </a:cubicBezTo>
                <a:cubicBezTo>
                  <a:pt x="165140" y="0"/>
                  <a:pt x="152400" y="12740"/>
                  <a:pt x="152400" y="28575"/>
                </a:cubicBezTo>
                <a:lnTo>
                  <a:pt x="152400" y="76200"/>
                </a:lnTo>
                <a:cubicBezTo>
                  <a:pt x="110371" y="76200"/>
                  <a:pt x="76200" y="110371"/>
                  <a:pt x="76200" y="152400"/>
                </a:cubicBezTo>
                <a:lnTo>
                  <a:pt x="28575" y="152400"/>
                </a:lnTo>
                <a:cubicBezTo>
                  <a:pt x="12740" y="152400"/>
                  <a:pt x="0" y="165140"/>
                  <a:pt x="0" y="180975"/>
                </a:cubicBezTo>
                <a:cubicBezTo>
                  <a:pt x="0" y="196810"/>
                  <a:pt x="12740" y="209550"/>
                  <a:pt x="28575" y="209550"/>
                </a:cubicBezTo>
                <a:lnTo>
                  <a:pt x="76200" y="209550"/>
                </a:lnTo>
                <a:lnTo>
                  <a:pt x="76200" y="276225"/>
                </a:lnTo>
                <a:lnTo>
                  <a:pt x="28575" y="276225"/>
                </a:lnTo>
                <a:cubicBezTo>
                  <a:pt x="12740" y="276225"/>
                  <a:pt x="0" y="288965"/>
                  <a:pt x="0" y="304800"/>
                </a:cubicBezTo>
                <a:cubicBezTo>
                  <a:pt x="0" y="320635"/>
                  <a:pt x="12740" y="333375"/>
                  <a:pt x="28575" y="333375"/>
                </a:cubicBezTo>
                <a:lnTo>
                  <a:pt x="76200" y="333375"/>
                </a:lnTo>
                <a:lnTo>
                  <a:pt x="76200" y="400050"/>
                </a:lnTo>
                <a:lnTo>
                  <a:pt x="28575" y="400050"/>
                </a:lnTo>
                <a:cubicBezTo>
                  <a:pt x="12740" y="400050"/>
                  <a:pt x="0" y="412790"/>
                  <a:pt x="0" y="428625"/>
                </a:cubicBezTo>
                <a:cubicBezTo>
                  <a:pt x="0" y="444460"/>
                  <a:pt x="12740" y="457200"/>
                  <a:pt x="28575" y="457200"/>
                </a:cubicBezTo>
                <a:lnTo>
                  <a:pt x="76200" y="457200"/>
                </a:lnTo>
                <a:cubicBezTo>
                  <a:pt x="76200" y="499229"/>
                  <a:pt x="110371" y="533400"/>
                  <a:pt x="152400" y="533400"/>
                </a:cubicBezTo>
                <a:lnTo>
                  <a:pt x="152400" y="581025"/>
                </a:lnTo>
                <a:cubicBezTo>
                  <a:pt x="152400" y="596860"/>
                  <a:pt x="165140" y="609600"/>
                  <a:pt x="180975" y="609600"/>
                </a:cubicBezTo>
                <a:cubicBezTo>
                  <a:pt x="196810" y="609600"/>
                  <a:pt x="209550" y="596860"/>
                  <a:pt x="209550" y="581025"/>
                </a:cubicBezTo>
                <a:lnTo>
                  <a:pt x="209550" y="533400"/>
                </a:lnTo>
                <a:lnTo>
                  <a:pt x="276225" y="533400"/>
                </a:lnTo>
                <a:lnTo>
                  <a:pt x="276225" y="581025"/>
                </a:lnTo>
                <a:cubicBezTo>
                  <a:pt x="276225" y="596860"/>
                  <a:pt x="288965" y="609600"/>
                  <a:pt x="304800" y="609600"/>
                </a:cubicBezTo>
                <a:cubicBezTo>
                  <a:pt x="320635" y="609600"/>
                  <a:pt x="333375" y="596860"/>
                  <a:pt x="333375" y="581025"/>
                </a:cubicBezTo>
                <a:lnTo>
                  <a:pt x="333375" y="533400"/>
                </a:lnTo>
                <a:lnTo>
                  <a:pt x="400050" y="533400"/>
                </a:lnTo>
                <a:lnTo>
                  <a:pt x="400050" y="581025"/>
                </a:lnTo>
                <a:cubicBezTo>
                  <a:pt x="400050" y="596860"/>
                  <a:pt x="412790" y="609600"/>
                  <a:pt x="428625" y="609600"/>
                </a:cubicBezTo>
                <a:cubicBezTo>
                  <a:pt x="444460" y="609600"/>
                  <a:pt x="457200" y="596860"/>
                  <a:pt x="457200" y="581025"/>
                </a:cubicBezTo>
                <a:lnTo>
                  <a:pt x="457200" y="533400"/>
                </a:lnTo>
                <a:cubicBezTo>
                  <a:pt x="499229" y="533400"/>
                  <a:pt x="533400" y="499229"/>
                  <a:pt x="533400" y="457200"/>
                </a:cubicBezTo>
                <a:lnTo>
                  <a:pt x="581025" y="457200"/>
                </a:lnTo>
                <a:cubicBezTo>
                  <a:pt x="596860" y="457200"/>
                  <a:pt x="609600" y="444460"/>
                  <a:pt x="609600" y="428625"/>
                </a:cubicBezTo>
                <a:cubicBezTo>
                  <a:pt x="609600" y="412790"/>
                  <a:pt x="596860" y="400050"/>
                  <a:pt x="581025" y="400050"/>
                </a:cubicBezTo>
                <a:lnTo>
                  <a:pt x="533400" y="400050"/>
                </a:lnTo>
                <a:lnTo>
                  <a:pt x="533400" y="333375"/>
                </a:lnTo>
                <a:lnTo>
                  <a:pt x="581025" y="333375"/>
                </a:lnTo>
                <a:cubicBezTo>
                  <a:pt x="596860" y="333375"/>
                  <a:pt x="609600" y="320635"/>
                  <a:pt x="609600" y="304800"/>
                </a:cubicBezTo>
                <a:cubicBezTo>
                  <a:pt x="609600" y="288965"/>
                  <a:pt x="596860" y="276225"/>
                  <a:pt x="581025" y="276225"/>
                </a:cubicBezTo>
                <a:lnTo>
                  <a:pt x="533400" y="276225"/>
                </a:lnTo>
                <a:lnTo>
                  <a:pt x="533400" y="209550"/>
                </a:lnTo>
                <a:lnTo>
                  <a:pt x="581025" y="209550"/>
                </a:lnTo>
                <a:cubicBezTo>
                  <a:pt x="596860" y="209550"/>
                  <a:pt x="609600" y="196810"/>
                  <a:pt x="609600" y="180975"/>
                </a:cubicBezTo>
                <a:cubicBezTo>
                  <a:pt x="609600" y="165140"/>
                  <a:pt x="596860" y="152400"/>
                  <a:pt x="581025" y="152400"/>
                </a:cubicBezTo>
                <a:lnTo>
                  <a:pt x="533400" y="152400"/>
                </a:lnTo>
                <a:cubicBezTo>
                  <a:pt x="533400" y="110371"/>
                  <a:pt x="499229" y="76200"/>
                  <a:pt x="457200" y="76200"/>
                </a:cubicBezTo>
                <a:lnTo>
                  <a:pt x="457200" y="28575"/>
                </a:lnTo>
                <a:cubicBezTo>
                  <a:pt x="457200" y="12740"/>
                  <a:pt x="444460" y="0"/>
                  <a:pt x="428625" y="0"/>
                </a:cubicBezTo>
                <a:cubicBezTo>
                  <a:pt x="412790" y="0"/>
                  <a:pt x="400050" y="12740"/>
                  <a:pt x="400050" y="28575"/>
                </a:cubicBezTo>
                <a:lnTo>
                  <a:pt x="400050" y="76200"/>
                </a:lnTo>
                <a:lnTo>
                  <a:pt x="333375" y="76200"/>
                </a:lnTo>
                <a:lnTo>
                  <a:pt x="333375" y="28575"/>
                </a:lnTo>
                <a:cubicBezTo>
                  <a:pt x="333375" y="12740"/>
                  <a:pt x="320635" y="0"/>
                  <a:pt x="304800" y="0"/>
                </a:cubicBezTo>
                <a:cubicBezTo>
                  <a:pt x="288965" y="0"/>
                  <a:pt x="276225" y="12740"/>
                  <a:pt x="276225" y="28575"/>
                </a:cubicBezTo>
                <a:lnTo>
                  <a:pt x="276225" y="76200"/>
                </a:lnTo>
                <a:lnTo>
                  <a:pt x="209550" y="76200"/>
                </a:lnTo>
                <a:lnTo>
                  <a:pt x="209550" y="28575"/>
                </a:lnTo>
                <a:close/>
                <a:moveTo>
                  <a:pt x="190500" y="152400"/>
                </a:moveTo>
                <a:lnTo>
                  <a:pt x="419100" y="152400"/>
                </a:lnTo>
                <a:cubicBezTo>
                  <a:pt x="440174" y="152400"/>
                  <a:pt x="457200" y="169426"/>
                  <a:pt x="457200" y="190500"/>
                </a:cubicBezTo>
                <a:lnTo>
                  <a:pt x="457200" y="419100"/>
                </a:lnTo>
                <a:cubicBezTo>
                  <a:pt x="457200" y="440174"/>
                  <a:pt x="440174" y="457200"/>
                  <a:pt x="419100" y="457200"/>
                </a:cubicBezTo>
                <a:lnTo>
                  <a:pt x="190500" y="457200"/>
                </a:lnTo>
                <a:cubicBezTo>
                  <a:pt x="169426" y="457200"/>
                  <a:pt x="152400" y="440174"/>
                  <a:pt x="152400" y="419100"/>
                </a:cubicBezTo>
                <a:lnTo>
                  <a:pt x="152400" y="190500"/>
                </a:lnTo>
                <a:cubicBezTo>
                  <a:pt x="152400" y="169426"/>
                  <a:pt x="169426" y="152400"/>
                  <a:pt x="190500" y="152400"/>
                </a:cubicBezTo>
                <a:close/>
                <a:moveTo>
                  <a:pt x="209550" y="209550"/>
                </a:moveTo>
                <a:lnTo>
                  <a:pt x="209550" y="400050"/>
                </a:lnTo>
                <a:lnTo>
                  <a:pt x="400050" y="400050"/>
                </a:lnTo>
                <a:lnTo>
                  <a:pt x="400050" y="209550"/>
                </a:lnTo>
                <a:lnTo>
                  <a:pt x="209550" y="2095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4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Leaders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68000" y="4191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Adobe, Autodesk, NVIDIA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 &amp; rendering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 workflows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938000" y="3048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208000" y="2540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411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24097" y="43934"/>
                </a:moveTo>
                <a:cubicBezTo>
                  <a:pt x="107224" y="35838"/>
                  <a:pt x="86814" y="36195"/>
                  <a:pt x="70213" y="44768"/>
                </a:cubicBezTo>
                <a:cubicBezTo>
                  <a:pt x="53612" y="53340"/>
                  <a:pt x="43543" y="68937"/>
                  <a:pt x="43543" y="85725"/>
                </a:cubicBezTo>
                <a:lnTo>
                  <a:pt x="43543" y="523875"/>
                </a:lnTo>
                <a:cubicBezTo>
                  <a:pt x="43543" y="540663"/>
                  <a:pt x="53748" y="556260"/>
                  <a:pt x="70213" y="564833"/>
                </a:cubicBezTo>
                <a:cubicBezTo>
                  <a:pt x="86678" y="573405"/>
                  <a:pt x="107224" y="573762"/>
                  <a:pt x="124097" y="565666"/>
                </a:cubicBezTo>
                <a:lnTo>
                  <a:pt x="581297" y="346591"/>
                </a:lnTo>
                <a:cubicBezTo>
                  <a:pt x="598714" y="338257"/>
                  <a:pt x="609600" y="322183"/>
                  <a:pt x="609600" y="304800"/>
                </a:cubicBezTo>
                <a:cubicBezTo>
                  <a:pt x="609600" y="287417"/>
                  <a:pt x="598714" y="271343"/>
                  <a:pt x="581297" y="263009"/>
                </a:cubicBezTo>
                <a:lnTo>
                  <a:pt x="124097" y="439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700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081000" y="41910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Netflix, Disney+, Prime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Billions in content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50.8% of revenue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70000" y="6096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78000" y="6223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 </a:t>
            </a:r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OTT platforms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now drive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50.8%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animation revenue, reshaping the industry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Trends in Animation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Rendering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Unreal Engine &amp; Unity enabling faster production pipelines, reducing render times from hours to seconds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Animation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Generative AI automating in-betweening, texturing, and scene generation; market growing 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39.8% CAGR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Production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LED volume stages blending live-action and CG in real-time (The Mandalorian model)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90000" y="1905000"/>
            <a:ext cx="609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Collaboration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distributed teams using cloud rendering and shared asset libraries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Immersive Media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VR/AR animation for spatial computing platforms like Apple Vision Pro and Meta Quest</a:t>
            </a:r>
            <a:endParaRPr lang="en-US" sz="24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Rendering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Democratizing access to high-end rendering for studios of all sizes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70000" y="7366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8000" y="7429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animation market: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$652M (2024)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projected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$13.4B (2033)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 20x growth trajectory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Industry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global games market generates </a:t>
            </a:r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$188.8B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2025 (+3.4% YoY)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3.6 billion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players worldwide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Shifting from volume-driven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value-driven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growth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Asia-Pacific leads with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$87.6B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(46% share)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2 markets: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China: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$49.8B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United States: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$49.6B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Together accounting for half of global spending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128000" y="1905000"/>
          <a:ext cx="6604000" cy="444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270000" y="7112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Newzoo Global Games Market Report 2025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Platforms and Segments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4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400" y="76200"/>
                </a:moveTo>
                <a:cubicBezTo>
                  <a:pt x="25400" y="34171"/>
                  <a:pt x="70961" y="0"/>
                  <a:pt x="127000" y="0"/>
                </a:cubicBezTo>
                <a:lnTo>
                  <a:pt x="482600" y="0"/>
                </a:lnTo>
                <a:cubicBezTo>
                  <a:pt x="538639" y="0"/>
                  <a:pt x="584200" y="34171"/>
                  <a:pt x="584200" y="76200"/>
                </a:cubicBezTo>
                <a:lnTo>
                  <a:pt x="584200" y="533400"/>
                </a:lnTo>
                <a:cubicBezTo>
                  <a:pt x="584200" y="575429"/>
                  <a:pt x="538639" y="609600"/>
                  <a:pt x="482600" y="609600"/>
                </a:cubicBezTo>
                <a:lnTo>
                  <a:pt x="127000" y="609600"/>
                </a:lnTo>
                <a:cubicBezTo>
                  <a:pt x="70961" y="609600"/>
                  <a:pt x="25400" y="575429"/>
                  <a:pt x="25400" y="533400"/>
                </a:cubicBezTo>
                <a:lnTo>
                  <a:pt x="25400" y="76200"/>
                </a:lnTo>
                <a:close/>
                <a:moveTo>
                  <a:pt x="203200" y="523875"/>
                </a:moveTo>
                <a:cubicBezTo>
                  <a:pt x="203200" y="539710"/>
                  <a:pt x="220186" y="552450"/>
                  <a:pt x="241300" y="552450"/>
                </a:cubicBezTo>
                <a:lnTo>
                  <a:pt x="368300" y="552450"/>
                </a:lnTo>
                <a:cubicBezTo>
                  <a:pt x="389414" y="552450"/>
                  <a:pt x="406400" y="539710"/>
                  <a:pt x="406400" y="523875"/>
                </a:cubicBezTo>
                <a:cubicBezTo>
                  <a:pt x="406400" y="508040"/>
                  <a:pt x="389414" y="495300"/>
                  <a:pt x="368300" y="495300"/>
                </a:cubicBezTo>
                <a:lnTo>
                  <a:pt x="241300" y="495300"/>
                </a:lnTo>
                <a:cubicBezTo>
                  <a:pt x="220186" y="495300"/>
                  <a:pt x="203200" y="508040"/>
                  <a:pt x="203200" y="523875"/>
                </a:cubicBezTo>
                <a:close/>
                <a:moveTo>
                  <a:pt x="482600" y="76200"/>
                </a:moveTo>
                <a:lnTo>
                  <a:pt x="127000" y="76200"/>
                </a:lnTo>
                <a:lnTo>
                  <a:pt x="127000" y="438150"/>
                </a:lnTo>
                <a:lnTo>
                  <a:pt x="482600" y="438150"/>
                </a:lnTo>
                <a:lnTo>
                  <a:pt x="482600" y="762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 Gaming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$103B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55% of market</a:t>
            </a:r>
            <a:endParaRPr lang="en-US" sz="2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Largest segment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+2.9% YoY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Slowing in East Asia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Growing in West</a:t>
            </a:r>
            <a:endParaRPr lang="en-US" sz="2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Top: Genshin Impact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3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26720" y="76200"/>
                </a:moveTo>
                <a:cubicBezTo>
                  <a:pt x="527685" y="76200"/>
                  <a:pt x="609600" y="178594"/>
                  <a:pt x="609600" y="304800"/>
                </a:cubicBezTo>
                <a:cubicBezTo>
                  <a:pt x="609600" y="431006"/>
                  <a:pt x="527685" y="533400"/>
                  <a:pt x="426720" y="533400"/>
                </a:cubicBezTo>
                <a:lnTo>
                  <a:pt x="182880" y="533400"/>
                </a:lnTo>
                <a:cubicBezTo>
                  <a:pt x="81915" y="533400"/>
                  <a:pt x="0" y="431006"/>
                  <a:pt x="0" y="304800"/>
                </a:cubicBezTo>
                <a:cubicBezTo>
                  <a:pt x="0" y="178594"/>
                  <a:pt x="81915" y="76200"/>
                  <a:pt x="182880" y="76200"/>
                </a:cubicBezTo>
                <a:lnTo>
                  <a:pt x="426720" y="76200"/>
                </a:lnTo>
                <a:close/>
                <a:moveTo>
                  <a:pt x="182880" y="209550"/>
                </a:moveTo>
                <a:cubicBezTo>
                  <a:pt x="170212" y="209550"/>
                  <a:pt x="160020" y="222290"/>
                  <a:pt x="160020" y="238125"/>
                </a:cubicBezTo>
                <a:lnTo>
                  <a:pt x="160020" y="276225"/>
                </a:lnTo>
                <a:lnTo>
                  <a:pt x="129540" y="276225"/>
                </a:lnTo>
                <a:cubicBezTo>
                  <a:pt x="116872" y="276225"/>
                  <a:pt x="106680" y="288965"/>
                  <a:pt x="106680" y="304800"/>
                </a:cubicBezTo>
                <a:cubicBezTo>
                  <a:pt x="106680" y="320635"/>
                  <a:pt x="116872" y="333375"/>
                  <a:pt x="129540" y="333375"/>
                </a:cubicBezTo>
                <a:lnTo>
                  <a:pt x="160020" y="333375"/>
                </a:lnTo>
                <a:lnTo>
                  <a:pt x="160020" y="371475"/>
                </a:lnTo>
                <a:cubicBezTo>
                  <a:pt x="160020" y="387310"/>
                  <a:pt x="170212" y="400050"/>
                  <a:pt x="182880" y="400050"/>
                </a:cubicBezTo>
                <a:cubicBezTo>
                  <a:pt x="195548" y="400050"/>
                  <a:pt x="205740" y="387310"/>
                  <a:pt x="205740" y="371475"/>
                </a:cubicBezTo>
                <a:lnTo>
                  <a:pt x="205740" y="333375"/>
                </a:lnTo>
                <a:lnTo>
                  <a:pt x="236220" y="333375"/>
                </a:lnTo>
                <a:cubicBezTo>
                  <a:pt x="248888" y="333375"/>
                  <a:pt x="259080" y="320635"/>
                  <a:pt x="259080" y="304800"/>
                </a:cubicBezTo>
                <a:cubicBezTo>
                  <a:pt x="259080" y="288965"/>
                  <a:pt x="248888" y="276225"/>
                  <a:pt x="236220" y="276225"/>
                </a:cubicBezTo>
                <a:lnTo>
                  <a:pt x="205740" y="276225"/>
                </a:lnTo>
                <a:lnTo>
                  <a:pt x="205740" y="238125"/>
                </a:lnTo>
                <a:cubicBezTo>
                  <a:pt x="205740" y="222290"/>
                  <a:pt x="195548" y="209550"/>
                  <a:pt x="182880" y="209550"/>
                </a:cubicBezTo>
                <a:close/>
                <a:moveTo>
                  <a:pt x="411480" y="323850"/>
                </a:moveTo>
                <a:cubicBezTo>
                  <a:pt x="394658" y="323850"/>
                  <a:pt x="381000" y="340922"/>
                  <a:pt x="381000" y="361950"/>
                </a:cubicBezTo>
                <a:cubicBezTo>
                  <a:pt x="381000" y="382978"/>
                  <a:pt x="394658" y="400050"/>
                  <a:pt x="411480" y="400050"/>
                </a:cubicBezTo>
                <a:cubicBezTo>
                  <a:pt x="428302" y="400050"/>
                  <a:pt x="441960" y="382978"/>
                  <a:pt x="441960" y="361950"/>
                </a:cubicBezTo>
                <a:cubicBezTo>
                  <a:pt x="441960" y="340922"/>
                  <a:pt x="428302" y="323850"/>
                  <a:pt x="411480" y="323850"/>
                </a:cubicBezTo>
                <a:close/>
                <a:moveTo>
                  <a:pt x="472440" y="209550"/>
                </a:moveTo>
                <a:cubicBezTo>
                  <a:pt x="455618" y="209550"/>
                  <a:pt x="441960" y="226622"/>
                  <a:pt x="441960" y="247650"/>
                </a:cubicBezTo>
                <a:cubicBezTo>
                  <a:pt x="441960" y="268678"/>
                  <a:pt x="455618" y="285750"/>
                  <a:pt x="472440" y="285750"/>
                </a:cubicBezTo>
                <a:cubicBezTo>
                  <a:pt x="489262" y="285750"/>
                  <a:pt x="502920" y="268678"/>
                  <a:pt x="502920" y="247650"/>
                </a:cubicBezTo>
                <a:cubicBezTo>
                  <a:pt x="502920" y="226622"/>
                  <a:pt x="489262" y="209550"/>
                  <a:pt x="472440" y="2095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 Gaming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$45.9B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Fastest-growing (+5.5%)</a:t>
            </a:r>
            <a:endParaRPr lang="en-US" sz="2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Nintendo Switch 2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Higher software prices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Strong release calendar</a:t>
            </a:r>
            <a:endParaRPr lang="en-US" sz="26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Boom 2025–2028</a:t>
            </a:r>
            <a:endParaRPr lang="en-US" sz="2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Key: GTA VI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522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PC Gaming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$39.9B</a:t>
            </a:r>
            <a:endParaRPr lang="en-US" sz="26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+2.5% stable growth</a:t>
            </a:r>
            <a:endParaRPr lang="en-US" sz="2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China &amp; Japan momentum</a:t>
            </a:r>
            <a:endParaRPr lang="en-US" sz="26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Cross-platform releases</a:t>
            </a:r>
            <a:endParaRPr lang="en-US" sz="26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Live-service thriving</a:t>
            </a:r>
            <a:endParaRPr lang="en-US" sz="2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Steam Early Access for indies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Industry Key Players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Holders — "The Big 3"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Nintendo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$45B+ quarterly revenue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Publishers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Tencent — global revenue leader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Activision Blizzard, EA, Take-Two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Ubisoft (Assassin's Creed)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Asia-Pacific Powerhouses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Bandai Namco, Capcom, Square Enix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NetEase, Nexon driving innovation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508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Creator Economy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0" y="2857500"/>
            <a:ext cx="558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UGC Platforms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Roblox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$923M payouts, 1.6M creators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Fortnite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$352M payouts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Combined payouts: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$1.5B+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(2025)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40% gamers consuming more UGC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56% of Roblox players under 16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UGC democratizes game creation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Trends Shaping the Future of Gaming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1270000" y="1905000"/>
          <a:ext cx="8890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0668000" y="1905000"/>
            <a:ext cx="4318000" cy="482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22000" y="215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Key Trends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22000" y="28575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GenAI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~20% of new games use AI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UGC Expansion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$1.5B+ creator payouts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Cloud Gaming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 of players tried it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Open App Stores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fees, new distribution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70000" y="7112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BCG Video Gaming Report 2026, Newzoo 2025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vs. Game Industry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334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Animation Industry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Game Industry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8409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Market Size (2025)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$430 billion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$189 billion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8409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Growth 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6.1% CAGR (2026–2035)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3.1% CAGR (2022–2027)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409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Revenue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OTT, licensing, advertising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Hardware, software, in-app purchases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8409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Top Region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North America (40%)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Asia-Pacific (46%)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8409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Tech Focus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Rendering, real-time CG, AI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Interactivity, cloud, AI NPCs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8409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Career Outlook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8% job growth (2022–2032)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Steady demand for AI/cloud skills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7493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Sources: Precedence Research, Newzoo, U.S. Bureau of Labor Statistics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auk53pepger2/mnt/agents/output/week13_entertainment_simulations/images/6_3_Benefits_of_VR_Simulation_Training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Simulations and Their Uses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virtual training to scientific modeling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Computer Simulations?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simulation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imitates real-world processes using computational models.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Simulations use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 models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graphics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safe experimentation.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Mathematical modeling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3D visualization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Real-time interaction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 analysis &amp; feedback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Simulations bridge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theory and practice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science, medicine, and engineering.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508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pic>
        <p:nvPicPr>
          <p:cNvPr id="6" name="Image 0" descr="https://kimi-img.moonshot.cn/pub/slides/okc/qauk53pepger2/mnt/agents/output/week13_entertainment_simulations/images/2_World_s_biggest_computer_chip_c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2159000"/>
            <a:ext cx="5588000" cy="2794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9144000" y="5080000"/>
            <a:ext cx="558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Principle: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Simulations let us explore "what-if" scenarios safely — from training surgeons to predicting climate.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Simulations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0665" y="-2857"/>
                </a:moveTo>
                <a:cubicBezTo>
                  <a:pt x="239792" y="-7501"/>
                  <a:pt x="237014" y="-11341"/>
                  <a:pt x="233124" y="-13216"/>
                </a:cubicBezTo>
                <a:cubicBezTo>
                  <a:pt x="229235" y="-15091"/>
                  <a:pt x="224790" y="-14555"/>
                  <a:pt x="221298" y="-11966"/>
                </a:cubicBezTo>
                <a:lnTo>
                  <a:pt x="165100" y="30004"/>
                </a:lnTo>
                <a:lnTo>
                  <a:pt x="108982" y="-11876"/>
                </a:lnTo>
                <a:cubicBezTo>
                  <a:pt x="105489" y="-14466"/>
                  <a:pt x="101044" y="-15002"/>
                  <a:pt x="97155" y="-13127"/>
                </a:cubicBezTo>
                <a:cubicBezTo>
                  <a:pt x="93266" y="-11251"/>
                  <a:pt x="90408" y="-7412"/>
                  <a:pt x="89614" y="-2768"/>
                </a:cubicBezTo>
                <a:lnTo>
                  <a:pt x="76200" y="71438"/>
                </a:lnTo>
                <a:lnTo>
                  <a:pt x="10160" y="86439"/>
                </a:lnTo>
                <a:cubicBezTo>
                  <a:pt x="6033" y="87422"/>
                  <a:pt x="2619" y="90547"/>
                  <a:pt x="953" y="94923"/>
                </a:cubicBezTo>
                <a:cubicBezTo>
                  <a:pt x="-714" y="99298"/>
                  <a:pt x="-238" y="104299"/>
                  <a:pt x="2064" y="108228"/>
                </a:cubicBezTo>
                <a:lnTo>
                  <a:pt x="39370" y="171450"/>
                </a:lnTo>
                <a:lnTo>
                  <a:pt x="2143" y="234583"/>
                </a:lnTo>
                <a:cubicBezTo>
                  <a:pt x="-159" y="238512"/>
                  <a:pt x="-635" y="243513"/>
                  <a:pt x="1032" y="247888"/>
                </a:cubicBezTo>
                <a:cubicBezTo>
                  <a:pt x="2699" y="252264"/>
                  <a:pt x="6112" y="255478"/>
                  <a:pt x="10239" y="256371"/>
                </a:cubicBezTo>
                <a:lnTo>
                  <a:pt x="76200" y="271463"/>
                </a:lnTo>
                <a:lnTo>
                  <a:pt x="89535" y="345758"/>
                </a:lnTo>
                <a:cubicBezTo>
                  <a:pt x="90408" y="350401"/>
                  <a:pt x="93186" y="354241"/>
                  <a:pt x="97076" y="356116"/>
                </a:cubicBezTo>
                <a:cubicBezTo>
                  <a:pt x="100965" y="357991"/>
                  <a:pt x="105410" y="357455"/>
                  <a:pt x="108903" y="354866"/>
                </a:cubicBezTo>
                <a:lnTo>
                  <a:pt x="162322" y="315039"/>
                </a:lnTo>
                <a:cubicBezTo>
                  <a:pt x="149781" y="297716"/>
                  <a:pt x="141684" y="276195"/>
                  <a:pt x="139938" y="252621"/>
                </a:cubicBezTo>
                <a:cubicBezTo>
                  <a:pt x="110173" y="240923"/>
                  <a:pt x="88821" y="209133"/>
                  <a:pt x="88821" y="171629"/>
                </a:cubicBezTo>
                <a:cubicBezTo>
                  <a:pt x="88821" y="124301"/>
                  <a:pt x="122952" y="85904"/>
                  <a:pt x="165021" y="85904"/>
                </a:cubicBezTo>
                <a:cubicBezTo>
                  <a:pt x="182245" y="85904"/>
                  <a:pt x="198199" y="92333"/>
                  <a:pt x="210899" y="103227"/>
                </a:cubicBezTo>
                <a:cubicBezTo>
                  <a:pt x="223203" y="87511"/>
                  <a:pt x="240189" y="76438"/>
                  <a:pt x="259398" y="72866"/>
                </a:cubicBezTo>
                <a:lnTo>
                  <a:pt x="254000" y="71438"/>
                </a:lnTo>
                <a:lnTo>
                  <a:pt x="240665" y="-2857"/>
                </a:lnTo>
                <a:close/>
                <a:moveTo>
                  <a:pt x="192881" y="142071"/>
                </a:moveTo>
                <a:cubicBezTo>
                  <a:pt x="185896" y="133767"/>
                  <a:pt x="176054" y="128588"/>
                  <a:pt x="165100" y="128588"/>
                </a:cubicBezTo>
                <a:cubicBezTo>
                  <a:pt x="144066" y="128588"/>
                  <a:pt x="127000" y="147786"/>
                  <a:pt x="127000" y="171450"/>
                </a:cubicBezTo>
                <a:cubicBezTo>
                  <a:pt x="127000" y="186630"/>
                  <a:pt x="134064" y="200025"/>
                  <a:pt x="144621" y="207615"/>
                </a:cubicBezTo>
                <a:cubicBezTo>
                  <a:pt x="152718" y="179576"/>
                  <a:pt x="170101" y="156359"/>
                  <a:pt x="192802" y="142429"/>
                </a:cubicBezTo>
                <a:lnTo>
                  <a:pt x="192881" y="142071"/>
                </a:lnTo>
                <a:close/>
                <a:moveTo>
                  <a:pt x="241300" y="314325"/>
                </a:moveTo>
                <a:lnTo>
                  <a:pt x="393700" y="314325"/>
                </a:lnTo>
                <a:cubicBezTo>
                  <a:pt x="428784" y="314325"/>
                  <a:pt x="457200" y="282357"/>
                  <a:pt x="457200" y="242888"/>
                </a:cubicBezTo>
                <a:cubicBezTo>
                  <a:pt x="457200" y="212616"/>
                  <a:pt x="440452" y="186720"/>
                  <a:pt x="416798" y="176361"/>
                </a:cubicBezTo>
                <a:cubicBezTo>
                  <a:pt x="418306" y="170289"/>
                  <a:pt x="419100" y="163860"/>
                  <a:pt x="419100" y="157163"/>
                </a:cubicBezTo>
                <a:cubicBezTo>
                  <a:pt x="419100" y="117693"/>
                  <a:pt x="390684" y="85725"/>
                  <a:pt x="355600" y="85725"/>
                </a:cubicBezTo>
                <a:cubicBezTo>
                  <a:pt x="331153" y="85725"/>
                  <a:pt x="309959" y="101263"/>
                  <a:pt x="299323" y="123944"/>
                </a:cubicBezTo>
                <a:cubicBezTo>
                  <a:pt x="291941" y="117872"/>
                  <a:pt x="282893" y="114300"/>
                  <a:pt x="273050" y="114300"/>
                </a:cubicBezTo>
                <a:cubicBezTo>
                  <a:pt x="248523" y="114300"/>
                  <a:pt x="228600" y="136714"/>
                  <a:pt x="228600" y="164306"/>
                </a:cubicBezTo>
                <a:cubicBezTo>
                  <a:pt x="228600" y="167164"/>
                  <a:pt x="228838" y="170021"/>
                  <a:pt x="229235" y="172700"/>
                </a:cubicBezTo>
                <a:cubicBezTo>
                  <a:pt x="199946" y="179040"/>
                  <a:pt x="177800" y="208062"/>
                  <a:pt x="177800" y="242888"/>
                </a:cubicBezTo>
                <a:cubicBezTo>
                  <a:pt x="177800" y="282357"/>
                  <a:pt x="206216" y="314325"/>
                  <a:pt x="241300" y="314325"/>
                </a:cubicBezTo>
                <a:close/>
                <a:moveTo>
                  <a:pt x="226219" y="358170"/>
                </a:moveTo>
                <a:cubicBezTo>
                  <a:pt x="216218" y="354419"/>
                  <a:pt x="205423" y="360491"/>
                  <a:pt x="202089" y="371743"/>
                </a:cubicBezTo>
                <a:lnTo>
                  <a:pt x="185103" y="428982"/>
                </a:lnTo>
                <a:cubicBezTo>
                  <a:pt x="181769" y="440234"/>
                  <a:pt x="187166" y="452378"/>
                  <a:pt x="197167" y="456128"/>
                </a:cubicBezTo>
                <a:cubicBezTo>
                  <a:pt x="207169" y="459879"/>
                  <a:pt x="217964" y="453807"/>
                  <a:pt x="221297" y="442555"/>
                </a:cubicBezTo>
                <a:lnTo>
                  <a:pt x="238284" y="385316"/>
                </a:lnTo>
                <a:cubicBezTo>
                  <a:pt x="241617" y="374065"/>
                  <a:pt x="236220" y="361920"/>
                  <a:pt x="226219" y="358170"/>
                </a:cubicBezTo>
                <a:close/>
                <a:moveTo>
                  <a:pt x="321469" y="358170"/>
                </a:moveTo>
                <a:cubicBezTo>
                  <a:pt x="311467" y="354419"/>
                  <a:pt x="300673" y="360491"/>
                  <a:pt x="297339" y="371743"/>
                </a:cubicBezTo>
                <a:lnTo>
                  <a:pt x="280353" y="428982"/>
                </a:lnTo>
                <a:cubicBezTo>
                  <a:pt x="277019" y="440234"/>
                  <a:pt x="282416" y="452378"/>
                  <a:pt x="292418" y="456128"/>
                </a:cubicBezTo>
                <a:cubicBezTo>
                  <a:pt x="302419" y="459879"/>
                  <a:pt x="313214" y="453807"/>
                  <a:pt x="316548" y="442555"/>
                </a:cubicBezTo>
                <a:lnTo>
                  <a:pt x="333534" y="385316"/>
                </a:lnTo>
                <a:cubicBezTo>
                  <a:pt x="336867" y="374065"/>
                  <a:pt x="331470" y="361920"/>
                  <a:pt x="321469" y="358170"/>
                </a:cubicBezTo>
                <a:close/>
                <a:moveTo>
                  <a:pt x="416719" y="358170"/>
                </a:moveTo>
                <a:cubicBezTo>
                  <a:pt x="406718" y="354419"/>
                  <a:pt x="395923" y="360491"/>
                  <a:pt x="392589" y="371743"/>
                </a:cubicBezTo>
                <a:lnTo>
                  <a:pt x="375603" y="428982"/>
                </a:lnTo>
                <a:cubicBezTo>
                  <a:pt x="372269" y="440234"/>
                  <a:pt x="377666" y="452378"/>
                  <a:pt x="387668" y="456128"/>
                </a:cubicBezTo>
                <a:cubicBezTo>
                  <a:pt x="397669" y="459879"/>
                  <a:pt x="408464" y="453807"/>
                  <a:pt x="411798" y="442555"/>
                </a:cubicBezTo>
                <a:lnTo>
                  <a:pt x="428784" y="385316"/>
                </a:lnTo>
                <a:cubicBezTo>
                  <a:pt x="432118" y="374065"/>
                  <a:pt x="426720" y="361920"/>
                  <a:pt x="416719" y="35817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33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Simulations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73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Weather modeling, fluid dynamics, structural stress analysis, and collision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2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832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Simulations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73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Manufacturing workflows, supply chain optimization, and business process modeling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28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6400" y="85725"/>
                </a:moveTo>
                <a:lnTo>
                  <a:pt x="50800" y="85725"/>
                </a:lnTo>
                <a:cubicBezTo>
                  <a:pt x="22781" y="85725"/>
                  <a:pt x="0" y="111353"/>
                  <a:pt x="0" y="142875"/>
                </a:cubicBezTo>
                <a:lnTo>
                  <a:pt x="0" y="314325"/>
                </a:lnTo>
                <a:cubicBezTo>
                  <a:pt x="0" y="345847"/>
                  <a:pt x="22781" y="371475"/>
                  <a:pt x="50800" y="371475"/>
                </a:cubicBezTo>
                <a:lnTo>
                  <a:pt x="144066" y="371475"/>
                </a:lnTo>
                <a:cubicBezTo>
                  <a:pt x="157559" y="371475"/>
                  <a:pt x="170498" y="365492"/>
                  <a:pt x="180023" y="354776"/>
                </a:cubicBezTo>
                <a:lnTo>
                  <a:pt x="206931" y="324505"/>
                </a:lnTo>
                <a:cubicBezTo>
                  <a:pt x="212646" y="318075"/>
                  <a:pt x="220504" y="314414"/>
                  <a:pt x="228600" y="314414"/>
                </a:cubicBezTo>
                <a:cubicBezTo>
                  <a:pt x="236696" y="314414"/>
                  <a:pt x="244554" y="318075"/>
                  <a:pt x="250269" y="324505"/>
                </a:cubicBezTo>
                <a:lnTo>
                  <a:pt x="277178" y="354776"/>
                </a:lnTo>
                <a:cubicBezTo>
                  <a:pt x="286703" y="365492"/>
                  <a:pt x="299641" y="371475"/>
                  <a:pt x="313134" y="371475"/>
                </a:cubicBezTo>
                <a:lnTo>
                  <a:pt x="406400" y="371475"/>
                </a:lnTo>
                <a:cubicBezTo>
                  <a:pt x="434419" y="371475"/>
                  <a:pt x="457200" y="345847"/>
                  <a:pt x="457200" y="314325"/>
                </a:cubicBezTo>
                <a:lnTo>
                  <a:pt x="457200" y="142875"/>
                </a:lnTo>
                <a:cubicBezTo>
                  <a:pt x="457200" y="111353"/>
                  <a:pt x="434419" y="85725"/>
                  <a:pt x="406400" y="85725"/>
                </a:cubicBezTo>
                <a:close/>
                <a:moveTo>
                  <a:pt x="63500" y="214313"/>
                </a:moveTo>
                <a:cubicBezTo>
                  <a:pt x="63500" y="182771"/>
                  <a:pt x="86263" y="157163"/>
                  <a:pt x="114300" y="157163"/>
                </a:cubicBezTo>
                <a:cubicBezTo>
                  <a:pt x="142337" y="157163"/>
                  <a:pt x="165100" y="182771"/>
                  <a:pt x="165100" y="214312"/>
                </a:cubicBezTo>
                <a:cubicBezTo>
                  <a:pt x="165100" y="245854"/>
                  <a:pt x="142337" y="271463"/>
                  <a:pt x="114300" y="271463"/>
                </a:cubicBezTo>
                <a:cubicBezTo>
                  <a:pt x="86263" y="271463"/>
                  <a:pt x="63500" y="245854"/>
                  <a:pt x="63500" y="214313"/>
                </a:cubicBezTo>
                <a:close/>
                <a:moveTo>
                  <a:pt x="342900" y="157163"/>
                </a:moveTo>
                <a:cubicBezTo>
                  <a:pt x="370937" y="157163"/>
                  <a:pt x="393700" y="182771"/>
                  <a:pt x="393700" y="214313"/>
                </a:cubicBezTo>
                <a:cubicBezTo>
                  <a:pt x="393700" y="245854"/>
                  <a:pt x="370937" y="271463"/>
                  <a:pt x="342900" y="271463"/>
                </a:cubicBezTo>
                <a:cubicBezTo>
                  <a:pt x="314863" y="271463"/>
                  <a:pt x="292100" y="245854"/>
                  <a:pt x="292100" y="214313"/>
                </a:cubicBezTo>
                <a:cubicBezTo>
                  <a:pt x="292100" y="182771"/>
                  <a:pt x="314863" y="157163"/>
                  <a:pt x="342900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2159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 Simulations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730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Immersive training with HMDs and haptic feedback for medical, military, and aviation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572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24000" y="482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4288"/>
                </a:moveTo>
                <a:cubicBezTo>
                  <a:pt x="269605" y="14288"/>
                  <a:pt x="302895" y="55901"/>
                  <a:pt x="302895" y="107156"/>
                </a:cubicBezTo>
                <a:cubicBezTo>
                  <a:pt x="302895" y="158412"/>
                  <a:pt x="269605" y="200025"/>
                  <a:pt x="228600" y="200025"/>
                </a:cubicBezTo>
                <a:cubicBezTo>
                  <a:pt x="187595" y="200025"/>
                  <a:pt x="154305" y="158412"/>
                  <a:pt x="154305" y="107156"/>
                </a:cubicBezTo>
                <a:cubicBezTo>
                  <a:pt x="154305" y="55901"/>
                  <a:pt x="187595" y="14288"/>
                  <a:pt x="228600" y="14288"/>
                </a:cubicBezTo>
                <a:close/>
                <a:moveTo>
                  <a:pt x="68580" y="78581"/>
                </a:moveTo>
                <a:cubicBezTo>
                  <a:pt x="96968" y="78581"/>
                  <a:pt x="120015" y="107390"/>
                  <a:pt x="120015" y="142875"/>
                </a:cubicBezTo>
                <a:cubicBezTo>
                  <a:pt x="120015" y="178360"/>
                  <a:pt x="96968" y="207169"/>
                  <a:pt x="68580" y="207169"/>
                </a:cubicBezTo>
                <a:cubicBezTo>
                  <a:pt x="40192" y="207169"/>
                  <a:pt x="17145" y="178360"/>
                  <a:pt x="17145" y="142875"/>
                </a:cubicBezTo>
                <a:cubicBezTo>
                  <a:pt x="17145" y="107390"/>
                  <a:pt x="40192" y="78581"/>
                  <a:pt x="68580" y="78581"/>
                </a:cubicBezTo>
                <a:close/>
                <a:moveTo>
                  <a:pt x="0" y="371475"/>
                </a:moveTo>
                <a:cubicBezTo>
                  <a:pt x="0" y="308342"/>
                  <a:pt x="40934" y="257175"/>
                  <a:pt x="91440" y="257175"/>
                </a:cubicBezTo>
                <a:cubicBezTo>
                  <a:pt x="100584" y="257175"/>
                  <a:pt x="109442" y="258872"/>
                  <a:pt x="117800" y="261997"/>
                </a:cubicBezTo>
                <a:cubicBezTo>
                  <a:pt x="94298" y="294858"/>
                  <a:pt x="80010" y="338257"/>
                  <a:pt x="80010" y="385763"/>
                </a:cubicBezTo>
                <a:lnTo>
                  <a:pt x="80010" y="400050"/>
                </a:lnTo>
                <a:cubicBezTo>
                  <a:pt x="80010" y="410230"/>
                  <a:pt x="81725" y="419874"/>
                  <a:pt x="84796" y="428625"/>
                </a:cubicBezTo>
                <a:lnTo>
                  <a:pt x="22860" y="428625"/>
                </a:lnTo>
                <a:cubicBezTo>
                  <a:pt x="10216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372404" y="428625"/>
                </a:moveTo>
                <a:cubicBezTo>
                  <a:pt x="375475" y="419874"/>
                  <a:pt x="377190" y="410230"/>
                  <a:pt x="377190" y="400050"/>
                </a:cubicBezTo>
                <a:lnTo>
                  <a:pt x="377190" y="385763"/>
                </a:lnTo>
                <a:cubicBezTo>
                  <a:pt x="377190" y="338257"/>
                  <a:pt x="362903" y="294858"/>
                  <a:pt x="339400" y="261997"/>
                </a:cubicBezTo>
                <a:cubicBezTo>
                  <a:pt x="347758" y="258872"/>
                  <a:pt x="356616" y="257175"/>
                  <a:pt x="365760" y="257175"/>
                </a:cubicBezTo>
                <a:cubicBezTo>
                  <a:pt x="416266" y="257175"/>
                  <a:pt x="457200" y="308342"/>
                  <a:pt x="457200" y="371475"/>
                </a:cubicBezTo>
                <a:lnTo>
                  <a:pt x="457200" y="400050"/>
                </a:lnTo>
                <a:cubicBezTo>
                  <a:pt x="457200" y="415856"/>
                  <a:pt x="446984" y="428625"/>
                  <a:pt x="434340" y="428625"/>
                </a:cubicBezTo>
                <a:lnTo>
                  <a:pt x="372404" y="428625"/>
                </a:lnTo>
                <a:close/>
                <a:moveTo>
                  <a:pt x="337185" y="142875"/>
                </a:moveTo>
                <a:cubicBezTo>
                  <a:pt x="337185" y="107390"/>
                  <a:pt x="360232" y="78581"/>
                  <a:pt x="388620" y="78581"/>
                </a:cubicBezTo>
                <a:cubicBezTo>
                  <a:pt x="417008" y="78581"/>
                  <a:pt x="440055" y="107390"/>
                  <a:pt x="440055" y="142875"/>
                </a:cubicBezTo>
                <a:cubicBezTo>
                  <a:pt x="440055" y="178360"/>
                  <a:pt x="417008" y="207169"/>
                  <a:pt x="388620" y="207169"/>
                </a:cubicBezTo>
                <a:cubicBezTo>
                  <a:pt x="360232" y="207169"/>
                  <a:pt x="337185" y="178360"/>
                  <a:pt x="337185" y="142875"/>
                </a:cubicBezTo>
                <a:close/>
                <a:moveTo>
                  <a:pt x="114300" y="385763"/>
                </a:moveTo>
                <a:cubicBezTo>
                  <a:pt x="114300" y="306824"/>
                  <a:pt x="165449" y="242888"/>
                  <a:pt x="228600" y="242888"/>
                </a:cubicBezTo>
                <a:cubicBezTo>
                  <a:pt x="291751" y="242888"/>
                  <a:pt x="342900" y="306824"/>
                  <a:pt x="342900" y="385763"/>
                </a:cubicBezTo>
                <a:lnTo>
                  <a:pt x="342900" y="400050"/>
                </a:lnTo>
                <a:cubicBezTo>
                  <a:pt x="342900" y="415856"/>
                  <a:pt x="332684" y="428625"/>
                  <a:pt x="320040" y="428625"/>
                </a:cubicBezTo>
                <a:lnTo>
                  <a:pt x="137160" y="428625"/>
                </a:lnTo>
                <a:cubicBezTo>
                  <a:pt x="124516" y="428625"/>
                  <a:pt x="114300" y="415856"/>
                  <a:pt x="114300" y="400050"/>
                </a:cubicBezTo>
                <a:lnTo>
                  <a:pt x="114300" y="38576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133600" y="4826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Agent-Based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397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Modeling individual behaviors in crowds, traffic flow, disease spread, and ecosystems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572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3000" y="482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32600" y="4826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Monte Carlo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5397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Statistical probability modeling for finance, risk assessment, and investment strategies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572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22000" y="482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531600" y="4826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Discrete Event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53975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Modeling queued systems like hospital ERs, airport operations, and manufacturing lines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7239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8000" y="7302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simulation type addresses different problems — from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predicting weather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surgeons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and Healthcare Simulations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 medical simulations create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lifelike clinical scenarios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risk-free training.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Applications: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Surgical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VR improves by 230%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Anatomy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Stanford VR brain prep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Nursing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patient care scenarios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trauma response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risk to patients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Unlimited practice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Objective assessment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Reduced costs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508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890000" y="3175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boost with VR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938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68%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1938000" y="3175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U.S. medical schools adopted VR/AR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0" y="4064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$11B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890000" y="4953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Projected VR healthcare market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38000" y="4064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1938000" y="4953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Faster decision-making in emergencies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7239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Sources: Imperial College London, AAMC, University of Maryland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Military and Aviation Simulations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572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2032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0000" y="4953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1920s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2286000"/>
            <a:ext cx="2540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70000" y="2540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Flight Sims</a:t>
            </a:r>
            <a:endParaRPr lang="en-US" sz="12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Link Trainer</a:t>
            </a:r>
            <a:endParaRPr lang="en-US" sz="12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Mechanical sims</a:t>
            </a:r>
            <a:endParaRPr lang="en-US" sz="12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Pilot training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80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8000" y="4953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1970s–80s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64000" y="5588000"/>
            <a:ext cx="2540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18000" y="5842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Revolution</a:t>
            </a:r>
            <a:endParaRPr lang="en-US" sz="12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Computer-based sims</a:t>
            </a:r>
            <a:endParaRPr lang="en-US" sz="12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CGI visuals</a:t>
            </a:r>
            <a:endParaRPr lang="en-US" sz="12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~50% crash reduction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6000" y="4953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12000" y="2286000"/>
            <a:ext cx="2540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6000" y="2540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Immersion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Motion platforms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Full-flight simulators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Military war-gaming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176000" y="4419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41000" y="495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0" y="5588000"/>
            <a:ext cx="2540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10414000" y="5842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+ VR Era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AI adversaries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VR combat training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Cost-effective ops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78000" y="1778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mechanical Link Trainers to AI-powered VR — a century of simulation evolution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0000" y="7747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Aviation industry credits simulation for ~50% reduction in human error-related crashes since 1970s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and Scientific Simulations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structural testing without prototypes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CFD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aerodynamics and airflow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Crash tests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saving millions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Twins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predictive maintenance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2000" y="19050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Scientific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weather and climate prediction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Molecular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drug discovery, protein folding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Astrophysics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black holes, galaxies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spacecraft and mission planning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70000" y="5461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7" name="Shape 5"/>
          <p:cNvSpPr/>
          <p:nvPr/>
        </p:nvSpPr>
        <p:spPr>
          <a:xfrm>
            <a:off x="1270000" y="5842000"/>
            <a:ext cx="3048000" cy="190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13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84150" y="15974"/>
                </a:moveTo>
                <a:lnTo>
                  <a:pt x="184150" y="-31651"/>
                </a:lnTo>
                <a:cubicBezTo>
                  <a:pt x="184150" y="-44847"/>
                  <a:pt x="175657" y="-55463"/>
                  <a:pt x="165100" y="-55463"/>
                </a:cubicBezTo>
                <a:cubicBezTo>
                  <a:pt x="154543" y="-55463"/>
                  <a:pt x="146050" y="-44847"/>
                  <a:pt x="146050" y="-31651"/>
                </a:cubicBezTo>
                <a:lnTo>
                  <a:pt x="146050" y="15974"/>
                </a:lnTo>
                <a:cubicBezTo>
                  <a:pt x="146050" y="29170"/>
                  <a:pt x="154543" y="39787"/>
                  <a:pt x="165100" y="39787"/>
                </a:cubicBezTo>
                <a:cubicBezTo>
                  <a:pt x="175657" y="39787"/>
                  <a:pt x="184150" y="29170"/>
                  <a:pt x="184150" y="15974"/>
                </a:cubicBezTo>
                <a:close/>
                <a:moveTo>
                  <a:pt x="25400" y="166787"/>
                </a:moveTo>
                <a:lnTo>
                  <a:pt x="63500" y="166787"/>
                </a:lnTo>
                <a:cubicBezTo>
                  <a:pt x="74057" y="166787"/>
                  <a:pt x="82550" y="156170"/>
                  <a:pt x="82550" y="142974"/>
                </a:cubicBezTo>
                <a:cubicBezTo>
                  <a:pt x="82550" y="129778"/>
                  <a:pt x="74057" y="119162"/>
                  <a:pt x="63500" y="119162"/>
                </a:cubicBezTo>
                <a:lnTo>
                  <a:pt x="25400" y="119162"/>
                </a:lnTo>
                <a:cubicBezTo>
                  <a:pt x="14843" y="119162"/>
                  <a:pt x="6350" y="129778"/>
                  <a:pt x="6350" y="142974"/>
                </a:cubicBezTo>
                <a:cubicBezTo>
                  <a:pt x="6350" y="156170"/>
                  <a:pt x="14843" y="166787"/>
                  <a:pt x="25400" y="166787"/>
                </a:cubicBezTo>
                <a:close/>
                <a:moveTo>
                  <a:pt x="223441" y="70048"/>
                </a:moveTo>
                <a:cubicBezTo>
                  <a:pt x="230902" y="79375"/>
                  <a:pt x="242967" y="79375"/>
                  <a:pt x="250349" y="70048"/>
                </a:cubicBezTo>
                <a:lnTo>
                  <a:pt x="277257" y="36413"/>
                </a:lnTo>
                <a:cubicBezTo>
                  <a:pt x="284718" y="27087"/>
                  <a:pt x="284718" y="12005"/>
                  <a:pt x="277257" y="2778"/>
                </a:cubicBezTo>
                <a:cubicBezTo>
                  <a:pt x="269796" y="-6449"/>
                  <a:pt x="257731" y="-6548"/>
                  <a:pt x="250349" y="2778"/>
                </a:cubicBezTo>
                <a:lnTo>
                  <a:pt x="223441" y="36314"/>
                </a:lnTo>
                <a:cubicBezTo>
                  <a:pt x="215979" y="45641"/>
                  <a:pt x="215979" y="60722"/>
                  <a:pt x="223441" y="69949"/>
                </a:cubicBezTo>
                <a:close/>
                <a:moveTo>
                  <a:pt x="79772" y="283369"/>
                </a:moveTo>
                <a:lnTo>
                  <a:pt x="106680" y="249734"/>
                </a:lnTo>
                <a:cubicBezTo>
                  <a:pt x="114141" y="240407"/>
                  <a:pt x="114141" y="225326"/>
                  <a:pt x="106680" y="216098"/>
                </a:cubicBezTo>
                <a:cubicBezTo>
                  <a:pt x="99219" y="206871"/>
                  <a:pt x="87154" y="206772"/>
                  <a:pt x="79772" y="216098"/>
                </a:cubicBezTo>
                <a:lnTo>
                  <a:pt x="52864" y="249634"/>
                </a:lnTo>
                <a:cubicBezTo>
                  <a:pt x="45403" y="258961"/>
                  <a:pt x="45403" y="274042"/>
                  <a:pt x="52864" y="283270"/>
                </a:cubicBezTo>
                <a:cubicBezTo>
                  <a:pt x="60325" y="292497"/>
                  <a:pt x="72390" y="292596"/>
                  <a:pt x="79772" y="283270"/>
                </a:cubicBezTo>
                <a:close/>
                <a:moveTo>
                  <a:pt x="52864" y="2679"/>
                </a:moveTo>
                <a:cubicBezTo>
                  <a:pt x="45403" y="12005"/>
                  <a:pt x="45403" y="27087"/>
                  <a:pt x="52864" y="36314"/>
                </a:cubicBezTo>
                <a:lnTo>
                  <a:pt x="79772" y="69949"/>
                </a:lnTo>
                <a:cubicBezTo>
                  <a:pt x="87233" y="79276"/>
                  <a:pt x="99298" y="79276"/>
                  <a:pt x="106680" y="69949"/>
                </a:cubicBezTo>
                <a:cubicBezTo>
                  <a:pt x="114062" y="60623"/>
                  <a:pt x="114141" y="45541"/>
                  <a:pt x="106680" y="36314"/>
                </a:cubicBezTo>
                <a:lnTo>
                  <a:pt x="79772" y="2679"/>
                </a:lnTo>
                <a:cubicBezTo>
                  <a:pt x="72311" y="-6648"/>
                  <a:pt x="60325" y="-6648"/>
                  <a:pt x="52864" y="2679"/>
                </a:cubicBezTo>
                <a:close/>
                <a:moveTo>
                  <a:pt x="280114" y="174030"/>
                </a:moveTo>
                <a:lnTo>
                  <a:pt x="400844" y="214511"/>
                </a:lnTo>
                <a:cubicBezTo>
                  <a:pt x="405924" y="216198"/>
                  <a:pt x="409654" y="221754"/>
                  <a:pt x="410210" y="228302"/>
                </a:cubicBezTo>
                <a:lnTo>
                  <a:pt x="415925" y="301724"/>
                </a:lnTo>
                <a:lnTo>
                  <a:pt x="232172" y="240209"/>
                </a:lnTo>
                <a:lnTo>
                  <a:pt x="266462" y="180181"/>
                </a:lnTo>
                <a:cubicBezTo>
                  <a:pt x="269557" y="174823"/>
                  <a:pt x="274955" y="172343"/>
                  <a:pt x="280114" y="174030"/>
                </a:cubicBezTo>
                <a:close/>
                <a:moveTo>
                  <a:pt x="177483" y="226715"/>
                </a:moveTo>
                <a:lnTo>
                  <a:pt x="175816" y="229592"/>
                </a:lnTo>
                <a:cubicBezTo>
                  <a:pt x="158591" y="235049"/>
                  <a:pt x="144145" y="251718"/>
                  <a:pt x="139224" y="274737"/>
                </a:cubicBezTo>
                <a:cubicBezTo>
                  <a:pt x="135969" y="290116"/>
                  <a:pt x="129381" y="320774"/>
                  <a:pt x="119539" y="366712"/>
                </a:cubicBezTo>
                <a:lnTo>
                  <a:pt x="112951" y="397371"/>
                </a:lnTo>
                <a:cubicBezTo>
                  <a:pt x="109299" y="414338"/>
                  <a:pt x="117396" y="431701"/>
                  <a:pt x="130889" y="436265"/>
                </a:cubicBezTo>
                <a:lnTo>
                  <a:pt x="143192" y="440333"/>
                </a:lnTo>
                <a:cubicBezTo>
                  <a:pt x="156766" y="444897"/>
                  <a:pt x="170656" y="434777"/>
                  <a:pt x="174307" y="417909"/>
                </a:cubicBezTo>
                <a:lnTo>
                  <a:pt x="180896" y="387251"/>
                </a:lnTo>
                <a:lnTo>
                  <a:pt x="401717" y="461169"/>
                </a:lnTo>
                <a:lnTo>
                  <a:pt x="395129" y="491827"/>
                </a:lnTo>
                <a:cubicBezTo>
                  <a:pt x="391477" y="508794"/>
                  <a:pt x="399574" y="526157"/>
                  <a:pt x="413068" y="530721"/>
                </a:cubicBezTo>
                <a:lnTo>
                  <a:pt x="425371" y="534789"/>
                </a:lnTo>
                <a:cubicBezTo>
                  <a:pt x="438944" y="539353"/>
                  <a:pt x="452834" y="529233"/>
                  <a:pt x="456486" y="512366"/>
                </a:cubicBezTo>
                <a:cubicBezTo>
                  <a:pt x="459740" y="496987"/>
                  <a:pt x="466328" y="466328"/>
                  <a:pt x="476171" y="420390"/>
                </a:cubicBezTo>
                <a:lnTo>
                  <a:pt x="482759" y="389731"/>
                </a:lnTo>
                <a:cubicBezTo>
                  <a:pt x="487680" y="366713"/>
                  <a:pt x="481886" y="343297"/>
                  <a:pt x="469106" y="327720"/>
                </a:cubicBezTo>
                <a:lnTo>
                  <a:pt x="468868" y="324148"/>
                </a:lnTo>
                <a:lnTo>
                  <a:pt x="460931" y="221952"/>
                </a:lnTo>
                <a:cubicBezTo>
                  <a:pt x="458391" y="189012"/>
                  <a:pt x="439737" y="161528"/>
                  <a:pt x="414179" y="152995"/>
                </a:cubicBezTo>
                <a:lnTo>
                  <a:pt x="293291" y="112713"/>
                </a:lnTo>
                <a:cubicBezTo>
                  <a:pt x="267732" y="104180"/>
                  <a:pt x="240586" y="116284"/>
                  <a:pt x="225187" y="143272"/>
                </a:cubicBezTo>
                <a:lnTo>
                  <a:pt x="177403" y="226814"/>
                </a:lnTo>
                <a:close/>
                <a:moveTo>
                  <a:pt x="216138" y="284063"/>
                </a:moveTo>
                <a:cubicBezTo>
                  <a:pt x="225042" y="286849"/>
                  <a:pt x="232050" y="295423"/>
                  <a:pt x="234471" y="306489"/>
                </a:cubicBezTo>
                <a:cubicBezTo>
                  <a:pt x="236891" y="317556"/>
                  <a:pt x="234347" y="329394"/>
                  <a:pt x="227817" y="337455"/>
                </a:cubicBezTo>
                <a:cubicBezTo>
                  <a:pt x="221286" y="345516"/>
                  <a:pt x="211784" y="348546"/>
                  <a:pt x="202962" y="345380"/>
                </a:cubicBezTo>
                <a:cubicBezTo>
                  <a:pt x="194058" y="342594"/>
                  <a:pt x="187050" y="334021"/>
                  <a:pt x="184629" y="322954"/>
                </a:cubicBezTo>
                <a:cubicBezTo>
                  <a:pt x="182209" y="311888"/>
                  <a:pt x="184753" y="300050"/>
                  <a:pt x="191283" y="291989"/>
                </a:cubicBezTo>
                <a:cubicBezTo>
                  <a:pt x="197814" y="283928"/>
                  <a:pt x="207316" y="280898"/>
                  <a:pt x="216138" y="284063"/>
                </a:cubicBezTo>
                <a:close/>
                <a:moveTo>
                  <a:pt x="381317" y="372269"/>
                </a:moveTo>
                <a:cubicBezTo>
                  <a:pt x="383546" y="361139"/>
                  <a:pt x="390405" y="352379"/>
                  <a:pt x="399258" y="349353"/>
                </a:cubicBezTo>
                <a:cubicBezTo>
                  <a:pt x="408112" y="346327"/>
                  <a:pt x="417582" y="349507"/>
                  <a:pt x="424031" y="357671"/>
                </a:cubicBezTo>
                <a:cubicBezTo>
                  <a:pt x="430480" y="365834"/>
                  <a:pt x="432904" y="377712"/>
                  <a:pt x="430371" y="388739"/>
                </a:cubicBezTo>
                <a:cubicBezTo>
                  <a:pt x="428142" y="399868"/>
                  <a:pt x="421284" y="408629"/>
                  <a:pt x="412430" y="411655"/>
                </a:cubicBezTo>
                <a:cubicBezTo>
                  <a:pt x="403577" y="414680"/>
                  <a:pt x="394107" y="411501"/>
                  <a:pt x="387658" y="403337"/>
                </a:cubicBezTo>
                <a:cubicBezTo>
                  <a:pt x="381209" y="395173"/>
                  <a:pt x="378785" y="383296"/>
                  <a:pt x="381317" y="37226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660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Automotive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6985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crash tests save millions per vehicle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99000" y="5842000"/>
            <a:ext cx="3048000" cy="190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42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7445" y="6945"/>
                </a:moveTo>
                <a:cubicBezTo>
                  <a:pt x="206772" y="-2381"/>
                  <a:pt x="221853" y="-2381"/>
                  <a:pt x="231080" y="6945"/>
                </a:cubicBezTo>
                <a:lnTo>
                  <a:pt x="319782" y="95647"/>
                </a:lnTo>
                <a:lnTo>
                  <a:pt x="374352" y="41077"/>
                </a:lnTo>
                <a:cubicBezTo>
                  <a:pt x="386755" y="28674"/>
                  <a:pt x="406896" y="28674"/>
                  <a:pt x="419298" y="41077"/>
                </a:cubicBezTo>
                <a:lnTo>
                  <a:pt x="466923" y="88702"/>
                </a:lnTo>
                <a:cubicBezTo>
                  <a:pt x="479326" y="101104"/>
                  <a:pt x="479326" y="121245"/>
                  <a:pt x="466923" y="133648"/>
                </a:cubicBezTo>
                <a:lnTo>
                  <a:pt x="412353" y="188218"/>
                </a:lnTo>
                <a:lnTo>
                  <a:pt x="501055" y="276920"/>
                </a:lnTo>
                <a:cubicBezTo>
                  <a:pt x="510381" y="286246"/>
                  <a:pt x="510381" y="301327"/>
                  <a:pt x="501055" y="310555"/>
                </a:cubicBezTo>
                <a:lnTo>
                  <a:pt x="405805" y="405805"/>
                </a:lnTo>
                <a:cubicBezTo>
                  <a:pt x="396478" y="415131"/>
                  <a:pt x="381397" y="415131"/>
                  <a:pt x="372170" y="405805"/>
                </a:cubicBezTo>
                <a:lnTo>
                  <a:pt x="283468" y="317103"/>
                </a:lnTo>
                <a:lnTo>
                  <a:pt x="268089" y="332482"/>
                </a:lnTo>
                <a:cubicBezTo>
                  <a:pt x="279400" y="356890"/>
                  <a:pt x="285750" y="384076"/>
                  <a:pt x="285750" y="412750"/>
                </a:cubicBezTo>
                <a:cubicBezTo>
                  <a:pt x="285750" y="444202"/>
                  <a:pt x="278110" y="473770"/>
                  <a:pt x="264716" y="499864"/>
                </a:cubicBezTo>
                <a:cubicBezTo>
                  <a:pt x="260052" y="508794"/>
                  <a:pt x="248146" y="510084"/>
                  <a:pt x="241102" y="502940"/>
                </a:cubicBezTo>
                <a:lnTo>
                  <a:pt x="145554" y="407392"/>
                </a:lnTo>
                <a:lnTo>
                  <a:pt x="86023" y="466923"/>
                </a:lnTo>
                <a:cubicBezTo>
                  <a:pt x="73620" y="479326"/>
                  <a:pt x="53479" y="479326"/>
                  <a:pt x="41077" y="466923"/>
                </a:cubicBezTo>
                <a:cubicBezTo>
                  <a:pt x="28674" y="454521"/>
                  <a:pt x="28674" y="434380"/>
                  <a:pt x="41077" y="421977"/>
                </a:cubicBezTo>
                <a:lnTo>
                  <a:pt x="100608" y="362446"/>
                </a:lnTo>
                <a:lnTo>
                  <a:pt x="5060" y="266898"/>
                </a:lnTo>
                <a:cubicBezTo>
                  <a:pt x="-2084" y="259755"/>
                  <a:pt x="-794" y="247848"/>
                  <a:pt x="8136" y="243284"/>
                </a:cubicBezTo>
                <a:cubicBezTo>
                  <a:pt x="34230" y="229791"/>
                  <a:pt x="63897" y="222250"/>
                  <a:pt x="95250" y="222250"/>
                </a:cubicBezTo>
                <a:cubicBezTo>
                  <a:pt x="123924" y="222250"/>
                  <a:pt x="151110" y="228600"/>
                  <a:pt x="175518" y="239911"/>
                </a:cubicBezTo>
                <a:lnTo>
                  <a:pt x="190897" y="224532"/>
                </a:lnTo>
                <a:lnTo>
                  <a:pt x="102195" y="135930"/>
                </a:lnTo>
                <a:cubicBezTo>
                  <a:pt x="92869" y="126603"/>
                  <a:pt x="92869" y="111522"/>
                  <a:pt x="102195" y="102295"/>
                </a:cubicBezTo>
                <a:lnTo>
                  <a:pt x="197445" y="6945"/>
                </a:lnTo>
                <a:close/>
                <a:moveTo>
                  <a:pt x="214313" y="57448"/>
                </a:moveTo>
                <a:lnTo>
                  <a:pt x="152698" y="119063"/>
                </a:lnTo>
                <a:lnTo>
                  <a:pt x="224532" y="190897"/>
                </a:lnTo>
                <a:lnTo>
                  <a:pt x="286147" y="129282"/>
                </a:lnTo>
                <a:lnTo>
                  <a:pt x="214313" y="57448"/>
                </a:lnTo>
                <a:close/>
                <a:moveTo>
                  <a:pt x="388938" y="355302"/>
                </a:moveTo>
                <a:lnTo>
                  <a:pt x="450552" y="293688"/>
                </a:lnTo>
                <a:lnTo>
                  <a:pt x="378718" y="221853"/>
                </a:lnTo>
                <a:lnTo>
                  <a:pt x="317103" y="283468"/>
                </a:lnTo>
                <a:lnTo>
                  <a:pt x="388938" y="355302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0" y="660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Aerospace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6000" y="6985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NASA uses sims for mission planning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0" y="5842000"/>
            <a:ext cx="3048000" cy="190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71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111125"/>
                </a:moveTo>
                <a:cubicBezTo>
                  <a:pt x="63500" y="84832"/>
                  <a:pt x="84832" y="63500"/>
                  <a:pt x="111125" y="63500"/>
                </a:cubicBezTo>
                <a:cubicBezTo>
                  <a:pt x="137418" y="63500"/>
                  <a:pt x="158750" y="84832"/>
                  <a:pt x="158750" y="111125"/>
                </a:cubicBezTo>
                <a:lnTo>
                  <a:pt x="158750" y="222250"/>
                </a:lnTo>
                <a:lnTo>
                  <a:pt x="63500" y="222250"/>
                </a:lnTo>
                <a:lnTo>
                  <a:pt x="63500" y="111125"/>
                </a:lnTo>
                <a:close/>
                <a:moveTo>
                  <a:pt x="174625" y="365125"/>
                </a:moveTo>
                <a:cubicBezTo>
                  <a:pt x="174625" y="316805"/>
                  <a:pt x="192584" y="272653"/>
                  <a:pt x="222250" y="239117"/>
                </a:cubicBezTo>
                <a:lnTo>
                  <a:pt x="222250" y="111125"/>
                </a:lnTo>
                <a:cubicBezTo>
                  <a:pt x="222250" y="49709"/>
                  <a:pt x="172541" y="0"/>
                  <a:pt x="111125" y="0"/>
                </a:cubicBezTo>
                <a:cubicBezTo>
                  <a:pt x="49709" y="0"/>
                  <a:pt x="0" y="49709"/>
                  <a:pt x="0" y="111125"/>
                </a:cubicBezTo>
                <a:lnTo>
                  <a:pt x="0" y="396875"/>
                </a:lnTo>
                <a:cubicBezTo>
                  <a:pt x="0" y="458291"/>
                  <a:pt x="49709" y="508000"/>
                  <a:pt x="111125" y="508000"/>
                </a:cubicBezTo>
                <a:cubicBezTo>
                  <a:pt x="148134" y="508000"/>
                  <a:pt x="180876" y="489942"/>
                  <a:pt x="201116" y="462062"/>
                </a:cubicBezTo>
                <a:cubicBezTo>
                  <a:pt x="184249" y="433685"/>
                  <a:pt x="174625" y="400546"/>
                  <a:pt x="174625" y="365125"/>
                </a:cubicBezTo>
                <a:close/>
                <a:moveTo>
                  <a:pt x="238820" y="431998"/>
                </a:moveTo>
                <a:cubicBezTo>
                  <a:pt x="243384" y="440630"/>
                  <a:pt x="254992" y="441623"/>
                  <a:pt x="261937" y="434677"/>
                </a:cubicBezTo>
                <a:lnTo>
                  <a:pt x="434677" y="261937"/>
                </a:lnTo>
                <a:cubicBezTo>
                  <a:pt x="441623" y="254992"/>
                  <a:pt x="440630" y="243384"/>
                  <a:pt x="431998" y="238820"/>
                </a:cubicBezTo>
                <a:cubicBezTo>
                  <a:pt x="412055" y="228203"/>
                  <a:pt x="389334" y="222250"/>
                  <a:pt x="365125" y="222250"/>
                </a:cubicBezTo>
                <a:cubicBezTo>
                  <a:pt x="286246" y="222250"/>
                  <a:pt x="222250" y="286246"/>
                  <a:pt x="222250" y="365125"/>
                </a:cubicBezTo>
                <a:cubicBezTo>
                  <a:pt x="222250" y="389235"/>
                  <a:pt x="228203" y="412055"/>
                  <a:pt x="238820" y="431998"/>
                </a:cubicBezTo>
                <a:close/>
                <a:moveTo>
                  <a:pt x="295573" y="468313"/>
                </a:moveTo>
                <a:cubicBezTo>
                  <a:pt x="288627" y="475258"/>
                  <a:pt x="289620" y="486866"/>
                  <a:pt x="298252" y="491430"/>
                </a:cubicBezTo>
                <a:cubicBezTo>
                  <a:pt x="318195" y="502047"/>
                  <a:pt x="340916" y="508000"/>
                  <a:pt x="365125" y="508000"/>
                </a:cubicBezTo>
                <a:cubicBezTo>
                  <a:pt x="444004" y="508000"/>
                  <a:pt x="508000" y="444004"/>
                  <a:pt x="508000" y="365125"/>
                </a:cubicBezTo>
                <a:cubicBezTo>
                  <a:pt x="508000" y="341015"/>
                  <a:pt x="502047" y="318195"/>
                  <a:pt x="491430" y="298252"/>
                </a:cubicBezTo>
                <a:cubicBezTo>
                  <a:pt x="486866" y="289620"/>
                  <a:pt x="475258" y="288627"/>
                  <a:pt x="468313" y="295573"/>
                </a:cubicBezTo>
                <a:lnTo>
                  <a:pt x="295573" y="46831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6604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Pharma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55000" y="6985000"/>
            <a:ext cx="279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Molecular modeling accelerates drug discovery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557000" y="5842000"/>
            <a:ext cx="3429000" cy="1905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12827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222" y="0"/>
                </a:moveTo>
                <a:cubicBezTo>
                  <a:pt x="251090" y="0"/>
                  <a:pt x="225778" y="28476"/>
                  <a:pt x="225778" y="63500"/>
                </a:cubicBezTo>
                <a:lnTo>
                  <a:pt x="225778" y="95250"/>
                </a:lnTo>
                <a:lnTo>
                  <a:pt x="183444" y="95250"/>
                </a:lnTo>
                <a:lnTo>
                  <a:pt x="183444" y="23812"/>
                </a:lnTo>
                <a:cubicBezTo>
                  <a:pt x="183444" y="10616"/>
                  <a:pt x="174008" y="0"/>
                  <a:pt x="162278" y="0"/>
                </a:cubicBezTo>
                <a:cubicBezTo>
                  <a:pt x="150548" y="0"/>
                  <a:pt x="141111" y="10616"/>
                  <a:pt x="141111" y="23812"/>
                </a:cubicBezTo>
                <a:lnTo>
                  <a:pt x="141111" y="95250"/>
                </a:lnTo>
                <a:lnTo>
                  <a:pt x="84667" y="95250"/>
                </a:lnTo>
                <a:lnTo>
                  <a:pt x="84667" y="23812"/>
                </a:lnTo>
                <a:cubicBezTo>
                  <a:pt x="84667" y="10616"/>
                  <a:pt x="75230" y="0"/>
                  <a:pt x="63500" y="0"/>
                </a:cubicBezTo>
                <a:cubicBezTo>
                  <a:pt x="51770" y="0"/>
                  <a:pt x="42333" y="10616"/>
                  <a:pt x="42333" y="23812"/>
                </a:cubicBezTo>
                <a:lnTo>
                  <a:pt x="42333" y="97234"/>
                </a:lnTo>
                <a:cubicBezTo>
                  <a:pt x="17992" y="104279"/>
                  <a:pt x="0" y="129183"/>
                  <a:pt x="0" y="158750"/>
                </a:cubicBezTo>
                <a:lnTo>
                  <a:pt x="0" y="444500"/>
                </a:lnTo>
                <a:cubicBezTo>
                  <a:pt x="0" y="479524"/>
                  <a:pt x="25312" y="508000"/>
                  <a:pt x="56444" y="508000"/>
                </a:cubicBezTo>
                <a:lnTo>
                  <a:pt x="451556" y="508000"/>
                </a:lnTo>
                <a:cubicBezTo>
                  <a:pt x="482688" y="508000"/>
                  <a:pt x="508000" y="479524"/>
                  <a:pt x="508000" y="444500"/>
                </a:cubicBezTo>
                <a:lnTo>
                  <a:pt x="508000" y="254000"/>
                </a:lnTo>
                <a:cubicBezTo>
                  <a:pt x="508000" y="218976"/>
                  <a:pt x="482688" y="190500"/>
                  <a:pt x="451556" y="190500"/>
                </a:cubicBezTo>
                <a:lnTo>
                  <a:pt x="395111" y="190500"/>
                </a:lnTo>
                <a:lnTo>
                  <a:pt x="395111" y="63500"/>
                </a:lnTo>
                <a:cubicBezTo>
                  <a:pt x="395111" y="28476"/>
                  <a:pt x="369799" y="0"/>
                  <a:pt x="338667" y="0"/>
                </a:cubicBezTo>
                <a:lnTo>
                  <a:pt x="282222" y="0"/>
                </a:lnTo>
                <a:close/>
                <a:moveTo>
                  <a:pt x="338667" y="111125"/>
                </a:moveTo>
                <a:lnTo>
                  <a:pt x="338667" y="142875"/>
                </a:lnTo>
                <a:cubicBezTo>
                  <a:pt x="338667" y="151606"/>
                  <a:pt x="332317" y="158750"/>
                  <a:pt x="324556" y="158750"/>
                </a:cubicBezTo>
                <a:lnTo>
                  <a:pt x="296333" y="158750"/>
                </a:lnTo>
                <a:cubicBezTo>
                  <a:pt x="288572" y="158750"/>
                  <a:pt x="282222" y="151606"/>
                  <a:pt x="282222" y="142875"/>
                </a:cubicBezTo>
                <a:lnTo>
                  <a:pt x="282222" y="111125"/>
                </a:lnTo>
                <a:cubicBezTo>
                  <a:pt x="282222" y="102394"/>
                  <a:pt x="288572" y="95250"/>
                  <a:pt x="296333" y="95250"/>
                </a:cubicBezTo>
                <a:lnTo>
                  <a:pt x="324556" y="95250"/>
                </a:lnTo>
                <a:cubicBezTo>
                  <a:pt x="332317" y="95250"/>
                  <a:pt x="338667" y="102394"/>
                  <a:pt x="338667" y="111125"/>
                </a:cubicBezTo>
                <a:close/>
                <a:moveTo>
                  <a:pt x="324556" y="190500"/>
                </a:moveTo>
                <a:cubicBezTo>
                  <a:pt x="332317" y="190500"/>
                  <a:pt x="338667" y="197644"/>
                  <a:pt x="338667" y="206375"/>
                </a:cubicBezTo>
                <a:lnTo>
                  <a:pt x="338667" y="238125"/>
                </a:lnTo>
                <a:cubicBezTo>
                  <a:pt x="338667" y="246856"/>
                  <a:pt x="332317" y="254000"/>
                  <a:pt x="324556" y="254000"/>
                </a:cubicBezTo>
                <a:lnTo>
                  <a:pt x="296333" y="254000"/>
                </a:lnTo>
                <a:cubicBezTo>
                  <a:pt x="288572" y="254000"/>
                  <a:pt x="282222" y="246856"/>
                  <a:pt x="282222" y="238125"/>
                </a:cubicBezTo>
                <a:lnTo>
                  <a:pt x="282222" y="206375"/>
                </a:lnTo>
                <a:cubicBezTo>
                  <a:pt x="282222" y="197644"/>
                  <a:pt x="288572" y="190500"/>
                  <a:pt x="296333" y="190500"/>
                </a:cubicBezTo>
                <a:lnTo>
                  <a:pt x="324556" y="190500"/>
                </a:lnTo>
                <a:close/>
                <a:moveTo>
                  <a:pt x="338667" y="301625"/>
                </a:moveTo>
                <a:lnTo>
                  <a:pt x="338667" y="333375"/>
                </a:lnTo>
                <a:cubicBezTo>
                  <a:pt x="338667" y="342106"/>
                  <a:pt x="332317" y="349250"/>
                  <a:pt x="324556" y="349250"/>
                </a:cubicBezTo>
                <a:lnTo>
                  <a:pt x="296333" y="349250"/>
                </a:lnTo>
                <a:cubicBezTo>
                  <a:pt x="288572" y="349250"/>
                  <a:pt x="282222" y="342106"/>
                  <a:pt x="282222" y="333375"/>
                </a:cubicBezTo>
                <a:lnTo>
                  <a:pt x="282222" y="301625"/>
                </a:lnTo>
                <a:cubicBezTo>
                  <a:pt x="282222" y="292894"/>
                  <a:pt x="288572" y="285750"/>
                  <a:pt x="296333" y="285750"/>
                </a:cubicBezTo>
                <a:lnTo>
                  <a:pt x="324556" y="285750"/>
                </a:lnTo>
                <a:cubicBezTo>
                  <a:pt x="332317" y="285750"/>
                  <a:pt x="338667" y="292894"/>
                  <a:pt x="338667" y="301625"/>
                </a:cubicBezTo>
                <a:close/>
                <a:moveTo>
                  <a:pt x="437444" y="285750"/>
                </a:moveTo>
                <a:cubicBezTo>
                  <a:pt x="445206" y="285750"/>
                  <a:pt x="451556" y="292894"/>
                  <a:pt x="451556" y="301625"/>
                </a:cubicBezTo>
                <a:lnTo>
                  <a:pt x="451556" y="333375"/>
                </a:lnTo>
                <a:cubicBezTo>
                  <a:pt x="451556" y="342106"/>
                  <a:pt x="445206" y="349250"/>
                  <a:pt x="437444" y="349250"/>
                </a:cubicBezTo>
                <a:lnTo>
                  <a:pt x="409222" y="349250"/>
                </a:lnTo>
                <a:cubicBezTo>
                  <a:pt x="401461" y="349250"/>
                  <a:pt x="395111" y="342106"/>
                  <a:pt x="395111" y="333375"/>
                </a:cubicBezTo>
                <a:lnTo>
                  <a:pt x="395111" y="301625"/>
                </a:lnTo>
                <a:cubicBezTo>
                  <a:pt x="395111" y="292894"/>
                  <a:pt x="401461" y="285750"/>
                  <a:pt x="409222" y="285750"/>
                </a:cubicBezTo>
                <a:lnTo>
                  <a:pt x="437444" y="285750"/>
                </a:lnTo>
                <a:close/>
                <a:moveTo>
                  <a:pt x="225778" y="301625"/>
                </a:moveTo>
                <a:lnTo>
                  <a:pt x="225778" y="333375"/>
                </a:lnTo>
                <a:cubicBezTo>
                  <a:pt x="225778" y="342106"/>
                  <a:pt x="219428" y="349250"/>
                  <a:pt x="211667" y="349250"/>
                </a:cubicBezTo>
                <a:lnTo>
                  <a:pt x="183444" y="349250"/>
                </a:lnTo>
                <a:cubicBezTo>
                  <a:pt x="175683" y="349250"/>
                  <a:pt x="169333" y="342106"/>
                  <a:pt x="169333" y="333375"/>
                </a:cubicBezTo>
                <a:lnTo>
                  <a:pt x="169333" y="301625"/>
                </a:lnTo>
                <a:cubicBezTo>
                  <a:pt x="169333" y="292894"/>
                  <a:pt x="175683" y="285750"/>
                  <a:pt x="183444" y="285750"/>
                </a:cubicBezTo>
                <a:lnTo>
                  <a:pt x="211667" y="285750"/>
                </a:lnTo>
                <a:cubicBezTo>
                  <a:pt x="219428" y="285750"/>
                  <a:pt x="225778" y="292894"/>
                  <a:pt x="225778" y="301625"/>
                </a:cubicBezTo>
                <a:close/>
                <a:moveTo>
                  <a:pt x="211667" y="190500"/>
                </a:moveTo>
                <a:cubicBezTo>
                  <a:pt x="219428" y="190500"/>
                  <a:pt x="225778" y="197644"/>
                  <a:pt x="225778" y="206375"/>
                </a:cubicBezTo>
                <a:lnTo>
                  <a:pt x="225778" y="238125"/>
                </a:lnTo>
                <a:cubicBezTo>
                  <a:pt x="225778" y="246856"/>
                  <a:pt x="219428" y="254000"/>
                  <a:pt x="211667" y="254000"/>
                </a:cubicBezTo>
                <a:lnTo>
                  <a:pt x="183444" y="254000"/>
                </a:lnTo>
                <a:cubicBezTo>
                  <a:pt x="175683" y="254000"/>
                  <a:pt x="169333" y="246856"/>
                  <a:pt x="169333" y="238125"/>
                </a:cubicBezTo>
                <a:lnTo>
                  <a:pt x="169333" y="206375"/>
                </a:lnTo>
                <a:cubicBezTo>
                  <a:pt x="169333" y="197644"/>
                  <a:pt x="175683" y="190500"/>
                  <a:pt x="183444" y="190500"/>
                </a:cubicBezTo>
                <a:lnTo>
                  <a:pt x="211667" y="190500"/>
                </a:lnTo>
                <a:close/>
                <a:moveTo>
                  <a:pt x="112889" y="301625"/>
                </a:moveTo>
                <a:lnTo>
                  <a:pt x="112889" y="333375"/>
                </a:lnTo>
                <a:cubicBezTo>
                  <a:pt x="112889" y="342106"/>
                  <a:pt x="106539" y="349250"/>
                  <a:pt x="98778" y="349250"/>
                </a:cubicBezTo>
                <a:lnTo>
                  <a:pt x="70556" y="349250"/>
                </a:lnTo>
                <a:cubicBezTo>
                  <a:pt x="62794" y="349250"/>
                  <a:pt x="56444" y="342106"/>
                  <a:pt x="56444" y="333375"/>
                </a:cubicBezTo>
                <a:lnTo>
                  <a:pt x="56444" y="301625"/>
                </a:lnTo>
                <a:cubicBezTo>
                  <a:pt x="56444" y="292894"/>
                  <a:pt x="62794" y="285750"/>
                  <a:pt x="70556" y="285750"/>
                </a:cubicBezTo>
                <a:lnTo>
                  <a:pt x="98778" y="285750"/>
                </a:lnTo>
                <a:cubicBezTo>
                  <a:pt x="106539" y="285750"/>
                  <a:pt x="112889" y="292894"/>
                  <a:pt x="112889" y="301625"/>
                </a:cubicBezTo>
                <a:close/>
                <a:moveTo>
                  <a:pt x="98778" y="190500"/>
                </a:moveTo>
                <a:cubicBezTo>
                  <a:pt x="106539" y="190500"/>
                  <a:pt x="112889" y="197644"/>
                  <a:pt x="112889" y="206375"/>
                </a:cubicBezTo>
                <a:lnTo>
                  <a:pt x="112889" y="238125"/>
                </a:lnTo>
                <a:cubicBezTo>
                  <a:pt x="112889" y="246856"/>
                  <a:pt x="106539" y="254000"/>
                  <a:pt x="98778" y="254000"/>
                </a:cubicBezTo>
                <a:lnTo>
                  <a:pt x="70556" y="254000"/>
                </a:lnTo>
                <a:cubicBezTo>
                  <a:pt x="62794" y="254000"/>
                  <a:pt x="56444" y="246856"/>
                  <a:pt x="56444" y="238125"/>
                </a:cubicBezTo>
                <a:lnTo>
                  <a:pt x="56444" y="206375"/>
                </a:lnTo>
                <a:cubicBezTo>
                  <a:pt x="56444" y="197644"/>
                  <a:pt x="62794" y="190500"/>
                  <a:pt x="70556" y="190500"/>
                </a:cubicBezTo>
                <a:lnTo>
                  <a:pt x="98778" y="190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0" y="6604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Twins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684000" y="6985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Virtual replicas for predictive maintenance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VR/AR in Training and Education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VR Training Advantages: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Replicates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any condition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any environment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Consistent, standardized experiences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Objective performance tracking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Geographic flexibility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Statistics: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VR surgeons: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230%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improvement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Emergency decisions: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27%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faster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AR spatial awareness: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+42%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Sources: Imperial College, Univ. of Maryland</a:t>
            </a:r>
            <a:endParaRPr lang="en-US" sz="1800" dirty="0"/>
          </a:p>
        </p:txBody>
      </p:sp>
      <p:pic>
        <p:nvPicPr>
          <p:cNvPr id="5" name="Image 0" descr="https://kimi-img.moonshot.cn/pub/slides/okc/qauk53pepger2/mnt/agents/output/week13_entertainment_simulations/images/10_3_Benefits_of_VR_Simulation_Trai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1905000"/>
            <a:ext cx="6096000" cy="3175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890000" y="5334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Applications: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Medical — surgery, anatomy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Corporate — soft skills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Safety — firefighting, oil rigs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Education — virtual labs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Simulation-Based Training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727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Risk-Free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9000" y="4127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Practice dangerous procedures safely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40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556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Shape 8"/>
          <p:cNvSpPr/>
          <p:nvPr/>
        </p:nvSpPr>
        <p:spPr>
          <a:xfrm>
            <a:off x="3759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114300"/>
                </a:moveTo>
                <a:lnTo>
                  <a:pt x="152400" y="95250"/>
                </a:lnTo>
                <a:cubicBezTo>
                  <a:pt x="152400" y="42624"/>
                  <a:pt x="254794" y="0"/>
                  <a:pt x="381000" y="0"/>
                </a:cubicBezTo>
                <a:cubicBezTo>
                  <a:pt x="507206" y="0"/>
                  <a:pt x="609600" y="42624"/>
                  <a:pt x="609600" y="95250"/>
                </a:cubicBezTo>
                <a:lnTo>
                  <a:pt x="609600" y="114300"/>
                </a:lnTo>
                <a:cubicBezTo>
                  <a:pt x="609600" y="150733"/>
                  <a:pt x="560427" y="182404"/>
                  <a:pt x="488156" y="198477"/>
                </a:cubicBezTo>
                <a:cubicBezTo>
                  <a:pt x="485299" y="195143"/>
                  <a:pt x="482322" y="191929"/>
                  <a:pt x="479346" y="188952"/>
                </a:cubicBezTo>
                <a:cubicBezTo>
                  <a:pt x="460891" y="170736"/>
                  <a:pt x="437078" y="156924"/>
                  <a:pt x="412194" y="146685"/>
                </a:cubicBezTo>
                <a:cubicBezTo>
                  <a:pt x="362307" y="125849"/>
                  <a:pt x="297299" y="114419"/>
                  <a:pt x="228600" y="114419"/>
                </a:cubicBezTo>
                <a:cubicBezTo>
                  <a:pt x="202525" y="114419"/>
                  <a:pt x="177046" y="116086"/>
                  <a:pt x="152638" y="119301"/>
                </a:cubicBezTo>
                <a:cubicBezTo>
                  <a:pt x="152400" y="117753"/>
                  <a:pt x="152400" y="116086"/>
                  <a:pt x="152400" y="114419"/>
                </a:cubicBezTo>
                <a:close/>
                <a:moveTo>
                  <a:pt x="514350" y="420291"/>
                </a:moveTo>
                <a:lnTo>
                  <a:pt x="514350" y="365284"/>
                </a:lnTo>
                <a:cubicBezTo>
                  <a:pt x="532328" y="360640"/>
                  <a:pt x="549235" y="355163"/>
                  <a:pt x="564594" y="348734"/>
                </a:cubicBezTo>
                <a:cubicBezTo>
                  <a:pt x="580311" y="342186"/>
                  <a:pt x="595670" y="334208"/>
                  <a:pt x="609600" y="324564"/>
                </a:cubicBezTo>
                <a:lnTo>
                  <a:pt x="609600" y="342900"/>
                </a:lnTo>
                <a:cubicBezTo>
                  <a:pt x="609600" y="374809"/>
                  <a:pt x="572095" y="403027"/>
                  <a:pt x="514350" y="420291"/>
                </a:cubicBezTo>
                <a:close/>
                <a:moveTo>
                  <a:pt x="514350" y="305991"/>
                </a:moveTo>
                <a:lnTo>
                  <a:pt x="514350" y="266700"/>
                </a:lnTo>
                <a:cubicBezTo>
                  <a:pt x="514350" y="261342"/>
                  <a:pt x="513874" y="256223"/>
                  <a:pt x="513159" y="251222"/>
                </a:cubicBezTo>
                <a:cubicBezTo>
                  <a:pt x="531614" y="246578"/>
                  <a:pt x="548878" y="240983"/>
                  <a:pt x="564594" y="234315"/>
                </a:cubicBezTo>
                <a:cubicBezTo>
                  <a:pt x="580311" y="227648"/>
                  <a:pt x="595670" y="219789"/>
                  <a:pt x="609600" y="210145"/>
                </a:cubicBezTo>
                <a:lnTo>
                  <a:pt x="609600" y="228481"/>
                </a:lnTo>
                <a:cubicBezTo>
                  <a:pt x="609600" y="260390"/>
                  <a:pt x="572095" y="288608"/>
                  <a:pt x="514350" y="305872"/>
                </a:cubicBezTo>
                <a:close/>
                <a:moveTo>
                  <a:pt x="0" y="285750"/>
                </a:moveTo>
                <a:lnTo>
                  <a:pt x="0" y="266700"/>
                </a:lnTo>
                <a:cubicBezTo>
                  <a:pt x="0" y="214074"/>
                  <a:pt x="102394" y="171450"/>
                  <a:pt x="228600" y="171450"/>
                </a:cubicBezTo>
                <a:cubicBezTo>
                  <a:pt x="354806" y="171450"/>
                  <a:pt x="457200" y="214074"/>
                  <a:pt x="457200" y="266700"/>
                </a:cubicBezTo>
                <a:lnTo>
                  <a:pt x="457200" y="285750"/>
                </a:lnTo>
                <a:cubicBezTo>
                  <a:pt x="457200" y="338376"/>
                  <a:pt x="354806" y="381000"/>
                  <a:pt x="228600" y="381000"/>
                </a:cubicBezTo>
                <a:cubicBezTo>
                  <a:pt x="102394" y="381000"/>
                  <a:pt x="0" y="338376"/>
                  <a:pt x="0" y="285750"/>
                </a:cubicBezTo>
                <a:close/>
                <a:moveTo>
                  <a:pt x="457200" y="400050"/>
                </a:moveTo>
                <a:cubicBezTo>
                  <a:pt x="457200" y="452676"/>
                  <a:pt x="354806" y="495300"/>
                  <a:pt x="228600" y="495300"/>
                </a:cubicBezTo>
                <a:cubicBezTo>
                  <a:pt x="102394" y="495300"/>
                  <a:pt x="0" y="452676"/>
                  <a:pt x="0" y="400050"/>
                </a:cubicBezTo>
                <a:lnTo>
                  <a:pt x="0" y="381714"/>
                </a:lnTo>
                <a:cubicBezTo>
                  <a:pt x="13811" y="391358"/>
                  <a:pt x="29170" y="399217"/>
                  <a:pt x="45006" y="405884"/>
                </a:cubicBezTo>
                <a:cubicBezTo>
                  <a:pt x="94893" y="426720"/>
                  <a:pt x="159901" y="438150"/>
                  <a:pt x="228600" y="438150"/>
                </a:cubicBezTo>
                <a:cubicBezTo>
                  <a:pt x="297299" y="438150"/>
                  <a:pt x="362307" y="426601"/>
                  <a:pt x="412194" y="405884"/>
                </a:cubicBezTo>
                <a:cubicBezTo>
                  <a:pt x="427911" y="399336"/>
                  <a:pt x="443270" y="391358"/>
                  <a:pt x="457200" y="381714"/>
                </a:cubicBezTo>
                <a:lnTo>
                  <a:pt x="457200" y="400050"/>
                </a:lnTo>
                <a:close/>
                <a:moveTo>
                  <a:pt x="457200" y="496014"/>
                </a:moveTo>
                <a:lnTo>
                  <a:pt x="457200" y="514350"/>
                </a:lnTo>
                <a:cubicBezTo>
                  <a:pt x="457200" y="566976"/>
                  <a:pt x="354806" y="609600"/>
                  <a:pt x="228600" y="609600"/>
                </a:cubicBezTo>
                <a:cubicBezTo>
                  <a:pt x="102394" y="609600"/>
                  <a:pt x="0" y="566976"/>
                  <a:pt x="0" y="514350"/>
                </a:cubicBezTo>
                <a:lnTo>
                  <a:pt x="0" y="496014"/>
                </a:lnTo>
                <a:cubicBezTo>
                  <a:pt x="13811" y="505658"/>
                  <a:pt x="29170" y="513517"/>
                  <a:pt x="45006" y="520184"/>
                </a:cubicBezTo>
                <a:cubicBezTo>
                  <a:pt x="94893" y="541020"/>
                  <a:pt x="159901" y="552450"/>
                  <a:pt x="228600" y="552450"/>
                </a:cubicBezTo>
                <a:cubicBezTo>
                  <a:pt x="297299" y="552450"/>
                  <a:pt x="362307" y="540901"/>
                  <a:pt x="412194" y="520184"/>
                </a:cubicBezTo>
                <a:cubicBezTo>
                  <a:pt x="427911" y="513636"/>
                  <a:pt x="443270" y="505658"/>
                  <a:pt x="457200" y="4960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048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Efficient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75000" y="4127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~1/10th the cost of physical sims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588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1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42900" y="533400"/>
                </a:moveTo>
                <a:lnTo>
                  <a:pt x="76200" y="533400"/>
                </a:lnTo>
                <a:lnTo>
                  <a:pt x="76200" y="266700"/>
                </a:lnTo>
                <a:lnTo>
                  <a:pt x="133350" y="266700"/>
                </a:lnTo>
                <a:lnTo>
                  <a:pt x="133350" y="190500"/>
                </a:lnTo>
                <a:lnTo>
                  <a:pt x="76200" y="190500"/>
                </a:lnTo>
                <a:cubicBezTo>
                  <a:pt x="34171" y="190500"/>
                  <a:pt x="0" y="224671"/>
                  <a:pt x="0" y="2667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42900" y="609600"/>
                </a:lnTo>
                <a:cubicBezTo>
                  <a:pt x="384929" y="609600"/>
                  <a:pt x="419100" y="575429"/>
                  <a:pt x="419100" y="533400"/>
                </a:cubicBezTo>
                <a:lnTo>
                  <a:pt x="419100" y="476250"/>
                </a:lnTo>
                <a:lnTo>
                  <a:pt x="342900" y="476250"/>
                </a:lnTo>
                <a:lnTo>
                  <a:pt x="342900" y="533400"/>
                </a:lnTo>
                <a:close/>
                <a:moveTo>
                  <a:pt x="266700" y="419100"/>
                </a:moveTo>
                <a:lnTo>
                  <a:pt x="533400" y="419100"/>
                </a:lnTo>
                <a:cubicBezTo>
                  <a:pt x="575429" y="419100"/>
                  <a:pt x="609600" y="384929"/>
                  <a:pt x="609600" y="342900"/>
                </a:cubicBezTo>
                <a:lnTo>
                  <a:pt x="609600" y="76200"/>
                </a:lnTo>
                <a:cubicBezTo>
                  <a:pt x="609600" y="34171"/>
                  <a:pt x="575429" y="0"/>
                  <a:pt x="533400" y="0"/>
                </a:cubicBezTo>
                <a:lnTo>
                  <a:pt x="266700" y="0"/>
                </a:lnTo>
                <a:cubicBezTo>
                  <a:pt x="224671" y="0"/>
                  <a:pt x="190500" y="34171"/>
                  <a:pt x="190500" y="76200"/>
                </a:cubicBezTo>
                <a:lnTo>
                  <a:pt x="190500" y="342900"/>
                </a:lnTo>
                <a:cubicBezTo>
                  <a:pt x="190500" y="384929"/>
                  <a:pt x="224671" y="419100"/>
                  <a:pt x="266700" y="4191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80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Standardized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61000" y="4127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Identical training for all learners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04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620000" y="2540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Shape 18"/>
          <p:cNvSpPr/>
          <p:nvPr/>
        </p:nvSpPr>
        <p:spPr>
          <a:xfrm>
            <a:off x="7823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9050"/>
                </a:moveTo>
                <a:cubicBezTo>
                  <a:pt x="359473" y="19050"/>
                  <a:pt x="403860" y="74534"/>
                  <a:pt x="403860" y="142875"/>
                </a:cubicBezTo>
                <a:cubicBezTo>
                  <a:pt x="403860" y="211216"/>
                  <a:pt x="359473" y="266700"/>
                  <a:pt x="304800" y="266700"/>
                </a:cubicBezTo>
                <a:cubicBezTo>
                  <a:pt x="250127" y="266700"/>
                  <a:pt x="205740" y="211216"/>
                  <a:pt x="205740" y="142875"/>
                </a:cubicBezTo>
                <a:cubicBezTo>
                  <a:pt x="205740" y="74534"/>
                  <a:pt x="250127" y="19050"/>
                  <a:pt x="304800" y="19050"/>
                </a:cubicBezTo>
                <a:close/>
                <a:moveTo>
                  <a:pt x="91440" y="104775"/>
                </a:moveTo>
                <a:cubicBezTo>
                  <a:pt x="129290" y="104775"/>
                  <a:pt x="160020" y="143187"/>
                  <a:pt x="160020" y="190500"/>
                </a:cubicBezTo>
                <a:cubicBezTo>
                  <a:pt x="160020" y="237813"/>
                  <a:pt x="129290" y="276225"/>
                  <a:pt x="91440" y="276225"/>
                </a:cubicBezTo>
                <a:cubicBezTo>
                  <a:pt x="53590" y="276225"/>
                  <a:pt x="22860" y="237813"/>
                  <a:pt x="22860" y="190500"/>
                </a:cubicBezTo>
                <a:cubicBezTo>
                  <a:pt x="22860" y="143187"/>
                  <a:pt x="53590" y="104775"/>
                  <a:pt x="91440" y="104775"/>
                </a:cubicBezTo>
                <a:close/>
                <a:moveTo>
                  <a:pt x="0" y="495300"/>
                </a:moveTo>
                <a:cubicBezTo>
                  <a:pt x="0" y="411123"/>
                  <a:pt x="54578" y="342900"/>
                  <a:pt x="121920" y="342900"/>
                </a:cubicBezTo>
                <a:cubicBezTo>
                  <a:pt x="134112" y="342900"/>
                  <a:pt x="145923" y="345162"/>
                  <a:pt x="157067" y="349329"/>
                </a:cubicBezTo>
                <a:cubicBezTo>
                  <a:pt x="125730" y="393144"/>
                  <a:pt x="106680" y="451009"/>
                  <a:pt x="106680" y="514350"/>
                </a:cubicBezTo>
                <a:lnTo>
                  <a:pt x="106680" y="533400"/>
                </a:lnTo>
                <a:cubicBezTo>
                  <a:pt x="106680" y="546973"/>
                  <a:pt x="108966" y="559832"/>
                  <a:pt x="113062" y="571500"/>
                </a:cubicBezTo>
                <a:lnTo>
                  <a:pt x="30480" y="571500"/>
                </a:lnTo>
                <a:cubicBezTo>
                  <a:pt x="13621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496538" y="571500"/>
                </a:moveTo>
                <a:cubicBezTo>
                  <a:pt x="500634" y="559832"/>
                  <a:pt x="502920" y="546973"/>
                  <a:pt x="502920" y="533400"/>
                </a:cubicBezTo>
                <a:lnTo>
                  <a:pt x="502920" y="514350"/>
                </a:lnTo>
                <a:cubicBezTo>
                  <a:pt x="502920" y="451009"/>
                  <a:pt x="483870" y="393144"/>
                  <a:pt x="452533" y="349329"/>
                </a:cubicBezTo>
                <a:cubicBezTo>
                  <a:pt x="463677" y="345162"/>
                  <a:pt x="475488" y="342900"/>
                  <a:pt x="487680" y="342900"/>
                </a:cubicBezTo>
                <a:cubicBezTo>
                  <a:pt x="555022" y="342900"/>
                  <a:pt x="609600" y="411123"/>
                  <a:pt x="609600" y="495300"/>
                </a:cubicBezTo>
                <a:lnTo>
                  <a:pt x="609600" y="533400"/>
                </a:lnTo>
                <a:cubicBezTo>
                  <a:pt x="609600" y="554474"/>
                  <a:pt x="595979" y="571500"/>
                  <a:pt x="579120" y="571500"/>
                </a:cubicBezTo>
                <a:lnTo>
                  <a:pt x="496538" y="571500"/>
                </a:lnTo>
                <a:close/>
                <a:moveTo>
                  <a:pt x="449580" y="190500"/>
                </a:moveTo>
                <a:cubicBezTo>
                  <a:pt x="449580" y="143187"/>
                  <a:pt x="480310" y="104775"/>
                  <a:pt x="518160" y="104775"/>
                </a:cubicBezTo>
                <a:cubicBezTo>
                  <a:pt x="556010" y="104775"/>
                  <a:pt x="586740" y="143187"/>
                  <a:pt x="586740" y="190500"/>
                </a:cubicBezTo>
                <a:cubicBezTo>
                  <a:pt x="586740" y="237813"/>
                  <a:pt x="556010" y="276225"/>
                  <a:pt x="518160" y="276225"/>
                </a:cubicBezTo>
                <a:cubicBezTo>
                  <a:pt x="480310" y="276225"/>
                  <a:pt x="449580" y="237813"/>
                  <a:pt x="449580" y="190500"/>
                </a:cubicBezTo>
                <a:close/>
                <a:moveTo>
                  <a:pt x="152400" y="514350"/>
                </a:moveTo>
                <a:cubicBezTo>
                  <a:pt x="152400" y="409099"/>
                  <a:pt x="220599" y="323850"/>
                  <a:pt x="304800" y="323850"/>
                </a:cubicBezTo>
                <a:cubicBezTo>
                  <a:pt x="389001" y="323850"/>
                  <a:pt x="457200" y="409099"/>
                  <a:pt x="457200" y="514350"/>
                </a:cubicBezTo>
                <a:lnTo>
                  <a:pt x="457200" y="533400"/>
                </a:lnTo>
                <a:cubicBezTo>
                  <a:pt x="457200" y="554474"/>
                  <a:pt x="443579" y="571500"/>
                  <a:pt x="426720" y="571500"/>
                </a:cubicBezTo>
                <a:lnTo>
                  <a:pt x="182880" y="571500"/>
                </a:lnTo>
                <a:cubicBezTo>
                  <a:pt x="166021" y="571500"/>
                  <a:pt x="152400" y="554474"/>
                  <a:pt x="152400" y="533400"/>
                </a:cubicBezTo>
                <a:lnTo>
                  <a:pt x="152400" y="514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12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47000" y="4127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many across locations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36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652000" y="2540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9855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100" y="38100"/>
                </a:moveTo>
                <a:cubicBezTo>
                  <a:pt x="59174" y="38100"/>
                  <a:pt x="76200" y="55126"/>
                  <a:pt x="76200" y="76200"/>
                </a:cubicBezTo>
                <a:lnTo>
                  <a:pt x="76200" y="476250"/>
                </a:lnTo>
                <a:cubicBezTo>
                  <a:pt x="76200" y="486728"/>
                  <a:pt x="84773" y="495300"/>
                  <a:pt x="95250" y="495300"/>
                </a:cubicBezTo>
                <a:lnTo>
                  <a:pt x="571500" y="495300"/>
                </a:lnTo>
                <a:cubicBezTo>
                  <a:pt x="592574" y="495300"/>
                  <a:pt x="609600" y="512326"/>
                  <a:pt x="609600" y="533400"/>
                </a:cubicBezTo>
                <a:cubicBezTo>
                  <a:pt x="609600" y="554474"/>
                  <a:pt x="592574" y="571500"/>
                  <a:pt x="571500" y="571500"/>
                </a:cubicBezTo>
                <a:lnTo>
                  <a:pt x="95250" y="571500"/>
                </a:lnTo>
                <a:cubicBezTo>
                  <a:pt x="42624" y="571500"/>
                  <a:pt x="0" y="528876"/>
                  <a:pt x="0" y="476250"/>
                </a:cubicBezTo>
                <a:lnTo>
                  <a:pt x="0" y="76200"/>
                </a:lnTo>
                <a:cubicBezTo>
                  <a:pt x="0" y="55126"/>
                  <a:pt x="17026" y="38100"/>
                  <a:pt x="38100" y="38100"/>
                </a:cubicBezTo>
                <a:close/>
                <a:moveTo>
                  <a:pt x="152400" y="114300"/>
                </a:moveTo>
                <a:cubicBezTo>
                  <a:pt x="152400" y="93226"/>
                  <a:pt x="169426" y="76200"/>
                  <a:pt x="190500" y="76200"/>
                </a:cubicBezTo>
                <a:lnTo>
                  <a:pt x="419100" y="76200"/>
                </a:lnTo>
                <a:cubicBezTo>
                  <a:pt x="440174" y="76200"/>
                  <a:pt x="457200" y="93226"/>
                  <a:pt x="457200" y="114300"/>
                </a:cubicBezTo>
                <a:cubicBezTo>
                  <a:pt x="457200" y="135374"/>
                  <a:pt x="440174" y="152400"/>
                  <a:pt x="419100" y="152400"/>
                </a:cubicBezTo>
                <a:lnTo>
                  <a:pt x="190500" y="152400"/>
                </a:lnTo>
                <a:cubicBezTo>
                  <a:pt x="169426" y="152400"/>
                  <a:pt x="152400" y="135374"/>
                  <a:pt x="152400" y="114300"/>
                </a:cubicBezTo>
                <a:close/>
                <a:moveTo>
                  <a:pt x="190500" y="209550"/>
                </a:moveTo>
                <a:lnTo>
                  <a:pt x="342900" y="209550"/>
                </a:lnTo>
                <a:cubicBezTo>
                  <a:pt x="363974" y="209550"/>
                  <a:pt x="381000" y="226576"/>
                  <a:pt x="381000" y="247650"/>
                </a:cubicBezTo>
                <a:cubicBezTo>
                  <a:pt x="381000" y="268724"/>
                  <a:pt x="363974" y="285750"/>
                  <a:pt x="342900" y="285750"/>
                </a:cubicBezTo>
                <a:lnTo>
                  <a:pt x="190500" y="285750"/>
                </a:lnTo>
                <a:cubicBezTo>
                  <a:pt x="169426" y="285750"/>
                  <a:pt x="152400" y="268724"/>
                  <a:pt x="152400" y="247650"/>
                </a:cubicBezTo>
                <a:cubicBezTo>
                  <a:pt x="152400" y="226576"/>
                  <a:pt x="169426" y="209550"/>
                  <a:pt x="190500" y="209550"/>
                </a:cubicBezTo>
                <a:close/>
                <a:moveTo>
                  <a:pt x="190500" y="342900"/>
                </a:moveTo>
                <a:lnTo>
                  <a:pt x="495300" y="342900"/>
                </a:lnTo>
                <a:cubicBezTo>
                  <a:pt x="516374" y="342900"/>
                  <a:pt x="533400" y="359926"/>
                  <a:pt x="533400" y="381000"/>
                </a:cubicBezTo>
                <a:cubicBezTo>
                  <a:pt x="533400" y="402074"/>
                  <a:pt x="516374" y="419100"/>
                  <a:pt x="495300" y="419100"/>
                </a:cubicBezTo>
                <a:lnTo>
                  <a:pt x="190500" y="419100"/>
                </a:lnTo>
                <a:cubicBezTo>
                  <a:pt x="169426" y="419100"/>
                  <a:pt x="152400" y="402074"/>
                  <a:pt x="152400" y="381000"/>
                </a:cubicBezTo>
                <a:cubicBezTo>
                  <a:pt x="152400" y="359926"/>
                  <a:pt x="169426" y="342900"/>
                  <a:pt x="190500" y="3429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33000" y="4127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 actions and decisions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668000" y="3048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1684000" y="2540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872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176000" y="3746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19000" y="4127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Immersive practice improves retention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70000" y="5715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78000" y="584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VR simulation costs approximately </a:t>
            </a:r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1/10th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physical simulation while delivering </a:t>
            </a:r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 or better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learning outcomes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Simulations in Education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Schools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VR anatomy labs complement cadavers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Stanford teaches in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Kenya remotely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STEM Education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Virtual physics and chemistry labs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Safe experimentation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Development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Nursing residencies with VR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Emergency response training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 Skills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Communication and empathy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Crisis management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508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Findings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0" y="2857500"/>
            <a:ext cx="558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Medical students using VR show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knowledge gains vs. screen-based learning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 nursing students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study: same learning in VR and physical sim, but VR cheaper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Multiplayer VR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enables collaborative learning across continents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VR reduces costs while maintaining outcomes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7239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Sources: Stanford Medicine, University of Northampton, Oxford University Hospitals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Future of Simulations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scenarios adapting to learner performance; intelligent tutoring systems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Haptic Feedback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Touch sensation making VR more realistic for surgical training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Twins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virtual replicas of cities, factories, and supply chains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890000" y="1905000"/>
            <a:ext cx="609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Metaverse Training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virtual training worlds for continuous development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5G + Cloud Streaming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High-fidelity simulations streamed to any device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Collaboration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Multiplayer VR enabling cross-cultural team training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70000" y="7366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8000" y="7429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Simulation is evolving from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occasional training events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practice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like going to the gym for your skills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and Simulation Convergence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boundaries between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rapidly blurring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3556000"/>
            <a:ext cx="6350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0040" y="57150"/>
                </a:moveTo>
                <a:cubicBezTo>
                  <a:pt x="395764" y="57150"/>
                  <a:pt x="457200" y="133945"/>
                  <a:pt x="457200" y="228600"/>
                </a:cubicBezTo>
                <a:cubicBezTo>
                  <a:pt x="457200" y="323255"/>
                  <a:pt x="395764" y="400050"/>
                  <a:pt x="320040" y="400050"/>
                </a:cubicBezTo>
                <a:lnTo>
                  <a:pt x="137160" y="400050"/>
                </a:lnTo>
                <a:cubicBezTo>
                  <a:pt x="61436" y="400050"/>
                  <a:pt x="0" y="323255"/>
                  <a:pt x="0" y="228600"/>
                </a:cubicBezTo>
                <a:cubicBezTo>
                  <a:pt x="0" y="133945"/>
                  <a:pt x="61436" y="57150"/>
                  <a:pt x="137160" y="57150"/>
                </a:cubicBezTo>
                <a:lnTo>
                  <a:pt x="320040" y="57150"/>
                </a:lnTo>
                <a:close/>
                <a:moveTo>
                  <a:pt x="137160" y="157163"/>
                </a:moveTo>
                <a:cubicBezTo>
                  <a:pt x="127659" y="157163"/>
                  <a:pt x="120015" y="166717"/>
                  <a:pt x="120015" y="178594"/>
                </a:cubicBezTo>
                <a:lnTo>
                  <a:pt x="120015" y="207169"/>
                </a:lnTo>
                <a:lnTo>
                  <a:pt x="97155" y="207169"/>
                </a:lnTo>
                <a:cubicBezTo>
                  <a:pt x="87654" y="207169"/>
                  <a:pt x="80010" y="216724"/>
                  <a:pt x="80010" y="228600"/>
                </a:cubicBezTo>
                <a:cubicBezTo>
                  <a:pt x="80010" y="240476"/>
                  <a:pt x="87654" y="250031"/>
                  <a:pt x="97155" y="250031"/>
                </a:cubicBezTo>
                <a:lnTo>
                  <a:pt x="120015" y="250031"/>
                </a:lnTo>
                <a:lnTo>
                  <a:pt x="120015" y="278606"/>
                </a:lnTo>
                <a:cubicBezTo>
                  <a:pt x="120015" y="290483"/>
                  <a:pt x="127659" y="300038"/>
                  <a:pt x="137160" y="300038"/>
                </a:cubicBezTo>
                <a:cubicBezTo>
                  <a:pt x="146661" y="300038"/>
                  <a:pt x="154305" y="290483"/>
                  <a:pt x="154305" y="278606"/>
                </a:cubicBezTo>
                <a:lnTo>
                  <a:pt x="154305" y="250031"/>
                </a:lnTo>
                <a:lnTo>
                  <a:pt x="177165" y="250031"/>
                </a:lnTo>
                <a:cubicBezTo>
                  <a:pt x="186666" y="250031"/>
                  <a:pt x="194310" y="240476"/>
                  <a:pt x="194310" y="228600"/>
                </a:cubicBezTo>
                <a:cubicBezTo>
                  <a:pt x="194310" y="216724"/>
                  <a:pt x="186666" y="207169"/>
                  <a:pt x="177165" y="207169"/>
                </a:cubicBezTo>
                <a:lnTo>
                  <a:pt x="154305" y="207169"/>
                </a:lnTo>
                <a:lnTo>
                  <a:pt x="154305" y="178594"/>
                </a:lnTo>
                <a:cubicBezTo>
                  <a:pt x="154305" y="166717"/>
                  <a:pt x="146661" y="157163"/>
                  <a:pt x="137160" y="157163"/>
                </a:cubicBezTo>
                <a:close/>
                <a:moveTo>
                  <a:pt x="308610" y="242888"/>
                </a:moveTo>
                <a:cubicBezTo>
                  <a:pt x="295993" y="242888"/>
                  <a:pt x="285750" y="255692"/>
                  <a:pt x="285750" y="271463"/>
                </a:cubicBezTo>
                <a:cubicBezTo>
                  <a:pt x="285750" y="287233"/>
                  <a:pt x="295993" y="300038"/>
                  <a:pt x="308610" y="300038"/>
                </a:cubicBezTo>
                <a:cubicBezTo>
                  <a:pt x="321227" y="300038"/>
                  <a:pt x="331470" y="287233"/>
                  <a:pt x="331470" y="271463"/>
                </a:cubicBezTo>
                <a:cubicBezTo>
                  <a:pt x="331470" y="255692"/>
                  <a:pt x="321227" y="242888"/>
                  <a:pt x="308610" y="242888"/>
                </a:cubicBezTo>
                <a:close/>
                <a:moveTo>
                  <a:pt x="354330" y="157163"/>
                </a:moveTo>
                <a:cubicBezTo>
                  <a:pt x="341713" y="157163"/>
                  <a:pt x="331470" y="169967"/>
                  <a:pt x="331470" y="185738"/>
                </a:cubicBezTo>
                <a:cubicBezTo>
                  <a:pt x="331470" y="201508"/>
                  <a:pt x="341713" y="214313"/>
                  <a:pt x="354330" y="214313"/>
                </a:cubicBezTo>
                <a:cubicBezTo>
                  <a:pt x="366947" y="214313"/>
                  <a:pt x="377190" y="201508"/>
                  <a:pt x="377190" y="185738"/>
                </a:cubicBezTo>
                <a:cubicBezTo>
                  <a:pt x="377190" y="169967"/>
                  <a:pt x="366947" y="157163"/>
                  <a:pt x="354330" y="15716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2133600" y="3810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Entertainment → Simulation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4000" y="4445000"/>
            <a:ext cx="584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Unreal Engine &amp; Unity power games and training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Virtual production uses game engine rendering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Military uses modified game tech (serious games)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Medical VR leverages gaming immersion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3556000"/>
            <a:ext cx="68580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8382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6400" y="85725"/>
                </a:moveTo>
                <a:lnTo>
                  <a:pt x="50800" y="85725"/>
                </a:lnTo>
                <a:cubicBezTo>
                  <a:pt x="22781" y="85725"/>
                  <a:pt x="0" y="111353"/>
                  <a:pt x="0" y="142875"/>
                </a:cubicBezTo>
                <a:lnTo>
                  <a:pt x="0" y="314325"/>
                </a:lnTo>
                <a:cubicBezTo>
                  <a:pt x="0" y="345847"/>
                  <a:pt x="22781" y="371475"/>
                  <a:pt x="50800" y="371475"/>
                </a:cubicBezTo>
                <a:lnTo>
                  <a:pt x="144066" y="371475"/>
                </a:lnTo>
                <a:cubicBezTo>
                  <a:pt x="157559" y="371475"/>
                  <a:pt x="170498" y="365492"/>
                  <a:pt x="180023" y="354776"/>
                </a:cubicBezTo>
                <a:lnTo>
                  <a:pt x="206931" y="324505"/>
                </a:lnTo>
                <a:cubicBezTo>
                  <a:pt x="212646" y="318075"/>
                  <a:pt x="220504" y="314414"/>
                  <a:pt x="228600" y="314414"/>
                </a:cubicBezTo>
                <a:cubicBezTo>
                  <a:pt x="236696" y="314414"/>
                  <a:pt x="244554" y="318075"/>
                  <a:pt x="250269" y="324505"/>
                </a:cubicBezTo>
                <a:lnTo>
                  <a:pt x="277178" y="354776"/>
                </a:lnTo>
                <a:cubicBezTo>
                  <a:pt x="286703" y="365492"/>
                  <a:pt x="299641" y="371475"/>
                  <a:pt x="313134" y="371475"/>
                </a:cubicBezTo>
                <a:lnTo>
                  <a:pt x="406400" y="371475"/>
                </a:lnTo>
                <a:cubicBezTo>
                  <a:pt x="434419" y="371475"/>
                  <a:pt x="457200" y="345847"/>
                  <a:pt x="457200" y="314325"/>
                </a:cubicBezTo>
                <a:lnTo>
                  <a:pt x="457200" y="142875"/>
                </a:lnTo>
                <a:cubicBezTo>
                  <a:pt x="457200" y="111353"/>
                  <a:pt x="434419" y="85725"/>
                  <a:pt x="406400" y="85725"/>
                </a:cubicBezTo>
                <a:close/>
                <a:moveTo>
                  <a:pt x="63500" y="214313"/>
                </a:moveTo>
                <a:cubicBezTo>
                  <a:pt x="63500" y="182771"/>
                  <a:pt x="86263" y="157163"/>
                  <a:pt x="114300" y="157163"/>
                </a:cubicBezTo>
                <a:cubicBezTo>
                  <a:pt x="142337" y="157163"/>
                  <a:pt x="165100" y="182771"/>
                  <a:pt x="165100" y="214312"/>
                </a:cubicBezTo>
                <a:cubicBezTo>
                  <a:pt x="165100" y="245854"/>
                  <a:pt x="142337" y="271463"/>
                  <a:pt x="114300" y="271463"/>
                </a:cubicBezTo>
                <a:cubicBezTo>
                  <a:pt x="86263" y="271463"/>
                  <a:pt x="63500" y="245854"/>
                  <a:pt x="63500" y="214313"/>
                </a:cubicBezTo>
                <a:close/>
                <a:moveTo>
                  <a:pt x="342900" y="157163"/>
                </a:moveTo>
                <a:cubicBezTo>
                  <a:pt x="370937" y="157163"/>
                  <a:pt x="393700" y="182771"/>
                  <a:pt x="393700" y="214313"/>
                </a:cubicBezTo>
                <a:cubicBezTo>
                  <a:pt x="393700" y="245854"/>
                  <a:pt x="370937" y="271463"/>
                  <a:pt x="342900" y="271463"/>
                </a:cubicBezTo>
                <a:cubicBezTo>
                  <a:pt x="314863" y="271463"/>
                  <a:pt x="292100" y="245854"/>
                  <a:pt x="292100" y="214313"/>
                </a:cubicBezTo>
                <a:cubicBezTo>
                  <a:pt x="292100" y="182771"/>
                  <a:pt x="314863" y="157163"/>
                  <a:pt x="342900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991600" y="3810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Simulation → Entertainment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82000" y="44450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Flight sims evolved from entertainment software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Digital humans and AI NPCs serve both fields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Physics engines create realistic virtual worlds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Shared career pathways in CG and media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7493000"/>
            <a:ext cx="13716000" cy="508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8000" y="75565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convergence creates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shared technology ecosystems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career pathways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across industries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778000" y="3556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Animation ($430B) and Gaming ($189B) drive digital entertainment with AI, cloud, and immersive technologies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Simulations transform training across medicine, aviation, military, and education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48000" y="546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convergence of entertainment and simulation creates new possibilities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88000" y="6604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13  ·  Entertainment Industry &amp; Simulations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13: Entertainment Industry &amp; Simulations</dc:title>
  <dc:subject>Week 13: Entertainment Industry &amp; Simulations</dc:subject>
  <dc:creator>Kimi</dc:creator>
  <cp:lastModifiedBy>Kimi</cp:lastModifiedBy>
  <cp:revision>1</cp:revision>
  <dcterms:created xsi:type="dcterms:W3CDTF">2026-07-06T04:52:18Z</dcterms:created>
  <dcterms:modified xsi:type="dcterms:W3CDTF">2026-07-06T04:52:18Z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13: Entertainment Industry &amp; Simulations","ContentProducer":"001191110108MACG2KBH8F10000","ProduceID":"19f3594c-a972-87a9-8000-00008d73c605","ReservedCode1":"","ContentPropagator":"001191110108MACG2KBH8F20000","PropagateID":"19f358e1-a202-8a2e-8000-0997a6580dd6","ReservedCode2":""}</vt:lpwstr>
  </property>
</Properties>
</file>