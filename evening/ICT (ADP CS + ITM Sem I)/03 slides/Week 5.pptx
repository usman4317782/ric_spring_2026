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Liter" charset="-122" pitchFamily="34"/>
      <p:regular r:id="rId37"/>
    </p:embeddedFont>
    <p:embeddedFont>
      <p:font typeface="Quattrocento Sans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jbxdy3f2uoeu/mnt/agents/output/ict-week5/images/4_Digital_technology_futuristic_internet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4000"/>
                </a:srgbClr>
              </a:gs>
              <a:gs pos="55000">
                <a:srgbClr val="1B2A4A">
                  <a:alpha val="82000"/>
                </a:srgbClr>
              </a:gs>
              <a:gs pos="100000">
                <a:srgbClr val="1B2A4A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62000" y="24765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203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 WEEK 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2000" y="2730500"/>
            <a:ext cx="8255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44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of Information and Communication Technologies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62000" y="5397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Networks and Network Issues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62000" y="8001000"/>
            <a:ext cx="254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62000" y="8191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Lectures 9 &amp; 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spc="300" kern="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8890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270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032000"/>
            <a:ext cx="7112000" cy="622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70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2032000"/>
            <a:ext cx="76200" cy="6223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3495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1B2A4A">
                    <a:alpha val="941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330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spc="2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3683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Networks and the Effects of Using Them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4826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Router, NICs, hubs, bridges, switches, Wi-Fi, Bluetooth, cloud computing, and network types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223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Network Devices &amp; Infrastructure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Wireless Technologies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Cloud Computing Models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Network Types &amp; Societal Impact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2032000"/>
            <a:ext cx="7112000" cy="622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000000">
                <a:alpha val="70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82000" y="2032000"/>
            <a:ext cx="76200" cy="6223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763000" y="2349500"/>
            <a:ext cx="152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600" b="1" dirty="0">
                <a:solidFill>
                  <a:srgbClr val="1B2A4A">
                    <a:alpha val="9412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63000" y="3302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spc="200" kern="0" dirty="0">
                <a:solidFill>
                  <a:srgbClr val="1B2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63000" y="3683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Issues and Communication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63000" y="48260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Security issues, passwords, authentication methods, anti-malware software, and electronic conferencing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63000" y="6223000"/>
            <a:ext cx="635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1B2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 Transfer Security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1B2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Authentication Methods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1B2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Anti-Malware Protection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400" dirty="0">
                <a:solidFill>
                  <a:srgbClr val="1B2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4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Electronic Conferencing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jbxdy3f2uoeu/mnt/agents/output/ict-week5/images/5_Detail_Of_Network_Computers_In_Futuristic.png">    </p:cNvPr>
          <p:cNvPicPr>
            <a:picLocks noChangeAspect="1"/>
          </p:cNvPicPr>
          <p:nvPr/>
        </p:nvPicPr>
        <p:blipFill>
          <a:blip r:embed="rId1"/>
          <a:srcRect l="100" r="10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3000"/>
                </a:srgbClr>
              </a:gs>
              <a:gs pos="50000">
                <a:srgbClr val="1B2A4A">
                  <a:alpha val="80000"/>
                </a:srgbClr>
              </a:gs>
              <a:gs pos="100000">
                <a:srgbClr val="1B2A4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705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556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spc="3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62000" y="40005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2545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Networks and the Effects of Using Them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5778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network infrastructure, devices, wireless technologies, cloud computing, and network types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62000" y="8255000"/>
            <a:ext cx="2032000" cy="381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Computer Network?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397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network</a:t>
            </a:r>
            <a:pPr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collection of interconnected devices that can communicate and share resources. Networks enable data exchange, resource sharing, and communication between users across local and global scales.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67000"/>
            <a:ext cx="6858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Components: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Devices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computers, servers, smartphones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Transmission Media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cables and wireless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 Devices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routers, switches, hubs, NICs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Protocols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TCP/IP rules for data transmission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Networks Matter:</a:t>
            </a:r>
            <a:endParaRPr lang="en-US" sz="1800" dirty="0"/>
          </a:p>
          <a:p>
            <a:pPr>
              <a:lnSpc>
                <a:spcPct val="16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Networks transformed organizations, enabling centralized data, remote access, and real-time collaboration.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28000" y="2667000"/>
            <a:ext cx="7366000" cy="393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9000" y="2857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Benefits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509000" y="342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6700" y="133350"/>
                </a:moveTo>
                <a:cubicBezTo>
                  <a:pt x="303510" y="133350"/>
                  <a:pt x="333375" y="103485"/>
                  <a:pt x="333375" y="66675"/>
                </a:cubicBezTo>
                <a:cubicBezTo>
                  <a:pt x="333375" y="29865"/>
                  <a:pt x="303510" y="0"/>
                  <a:pt x="266700" y="0"/>
                </a:cubicBezTo>
                <a:cubicBezTo>
                  <a:pt x="229890" y="0"/>
                  <a:pt x="200025" y="29865"/>
                  <a:pt x="200025" y="66675"/>
                </a:cubicBezTo>
                <a:cubicBezTo>
                  <a:pt x="200025" y="70425"/>
                  <a:pt x="200372" y="74176"/>
                  <a:pt x="200928" y="77788"/>
                </a:cubicBezTo>
                <a:lnTo>
                  <a:pt x="110847" y="127863"/>
                </a:lnTo>
                <a:cubicBezTo>
                  <a:pt x="99110" y="117445"/>
                  <a:pt x="83622" y="111125"/>
                  <a:pt x="66675" y="111125"/>
                </a:cubicBezTo>
                <a:cubicBezTo>
                  <a:pt x="29865" y="111125"/>
                  <a:pt x="0" y="140990"/>
                  <a:pt x="0" y="177800"/>
                </a:cubicBezTo>
                <a:cubicBezTo>
                  <a:pt x="0" y="214610"/>
                  <a:pt x="29865" y="244475"/>
                  <a:pt x="66675" y="244475"/>
                </a:cubicBezTo>
                <a:cubicBezTo>
                  <a:pt x="83622" y="244475"/>
                  <a:pt x="99040" y="238155"/>
                  <a:pt x="110847" y="227737"/>
                </a:cubicBezTo>
                <a:lnTo>
                  <a:pt x="200928" y="277813"/>
                </a:lnTo>
                <a:cubicBezTo>
                  <a:pt x="200303" y="281424"/>
                  <a:pt x="200025" y="285105"/>
                  <a:pt x="200025" y="288925"/>
                </a:cubicBezTo>
                <a:cubicBezTo>
                  <a:pt x="200025" y="325735"/>
                  <a:pt x="229890" y="355600"/>
                  <a:pt x="266700" y="355600"/>
                </a:cubicBezTo>
                <a:cubicBezTo>
                  <a:pt x="303510" y="355600"/>
                  <a:pt x="333375" y="325735"/>
                  <a:pt x="333375" y="288925"/>
                </a:cubicBezTo>
                <a:cubicBezTo>
                  <a:pt x="333375" y="252115"/>
                  <a:pt x="303510" y="222250"/>
                  <a:pt x="266700" y="222250"/>
                </a:cubicBezTo>
                <a:cubicBezTo>
                  <a:pt x="249753" y="222250"/>
                  <a:pt x="234335" y="228570"/>
                  <a:pt x="222528" y="238988"/>
                </a:cubicBezTo>
                <a:lnTo>
                  <a:pt x="132447" y="188913"/>
                </a:lnTo>
                <a:cubicBezTo>
                  <a:pt x="133072" y="185301"/>
                  <a:pt x="133350" y="181620"/>
                  <a:pt x="133350" y="177800"/>
                </a:cubicBezTo>
                <a:cubicBezTo>
                  <a:pt x="133350" y="173980"/>
                  <a:pt x="133003" y="170299"/>
                  <a:pt x="132447" y="166688"/>
                </a:cubicBezTo>
                <a:lnTo>
                  <a:pt x="222528" y="116612"/>
                </a:lnTo>
                <a:cubicBezTo>
                  <a:pt x="234265" y="127030"/>
                  <a:pt x="249753" y="133350"/>
                  <a:pt x="266700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9017000" y="3403600"/>
            <a:ext cx="622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 Sharing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printers, files, and applications shared across devices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531225" y="412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9017000" y="41021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email, messaging, video calls in real time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31225" y="4826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9017000" y="48006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Centralized Data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secure storage with controlled access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090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9017000" y="54991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Access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work from anywhere with internet connectivity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Interface Cards (NICs)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 Interface Card (NIC)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hardware component that connects a device to a network. It provides the physical interface between the device and the network medium. Every networked device has at least one NIC with a unique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 address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1590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79500" y="241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00025"/>
                </a:moveTo>
                <a:lnTo>
                  <a:pt x="0" y="371475"/>
                </a:lnTo>
                <a:cubicBezTo>
                  <a:pt x="0" y="387281"/>
                  <a:pt x="12769" y="400050"/>
                  <a:pt x="28575" y="400050"/>
                </a:cubicBezTo>
                <a:lnTo>
                  <a:pt x="57150" y="400050"/>
                </a:lnTo>
                <a:lnTo>
                  <a:pt x="57150" y="307181"/>
                </a:lnTo>
                <a:cubicBezTo>
                  <a:pt x="57150" y="295305"/>
                  <a:pt x="66705" y="285750"/>
                  <a:pt x="78581" y="285750"/>
                </a:cubicBezTo>
                <a:cubicBezTo>
                  <a:pt x="90458" y="285750"/>
                  <a:pt x="100013" y="295305"/>
                  <a:pt x="100013" y="307181"/>
                </a:cubicBezTo>
                <a:lnTo>
                  <a:pt x="100013" y="400050"/>
                </a:lnTo>
                <a:lnTo>
                  <a:pt x="157163" y="400050"/>
                </a:lnTo>
                <a:lnTo>
                  <a:pt x="157163" y="307181"/>
                </a:lnTo>
                <a:cubicBezTo>
                  <a:pt x="157163" y="295305"/>
                  <a:pt x="166717" y="285750"/>
                  <a:pt x="178594" y="285750"/>
                </a:cubicBezTo>
                <a:cubicBezTo>
                  <a:pt x="190470" y="285750"/>
                  <a:pt x="200025" y="295305"/>
                  <a:pt x="200025" y="307181"/>
                </a:cubicBezTo>
                <a:lnTo>
                  <a:pt x="200025" y="400050"/>
                </a:lnTo>
                <a:lnTo>
                  <a:pt x="257175" y="400050"/>
                </a:lnTo>
                <a:lnTo>
                  <a:pt x="257175" y="307181"/>
                </a:lnTo>
                <a:cubicBezTo>
                  <a:pt x="257175" y="295305"/>
                  <a:pt x="266730" y="285750"/>
                  <a:pt x="278606" y="285750"/>
                </a:cubicBezTo>
                <a:cubicBezTo>
                  <a:pt x="290483" y="285750"/>
                  <a:pt x="300038" y="295305"/>
                  <a:pt x="300038" y="307181"/>
                </a:cubicBezTo>
                <a:lnTo>
                  <a:pt x="300038" y="400050"/>
                </a:lnTo>
                <a:lnTo>
                  <a:pt x="357188" y="400050"/>
                </a:lnTo>
                <a:lnTo>
                  <a:pt x="357188" y="307181"/>
                </a:lnTo>
                <a:cubicBezTo>
                  <a:pt x="357188" y="295305"/>
                  <a:pt x="366742" y="285750"/>
                  <a:pt x="378619" y="285750"/>
                </a:cubicBezTo>
                <a:cubicBezTo>
                  <a:pt x="390495" y="285750"/>
                  <a:pt x="400050" y="295305"/>
                  <a:pt x="400050" y="307181"/>
                </a:cubicBezTo>
                <a:lnTo>
                  <a:pt x="400050" y="400050"/>
                </a:lnTo>
                <a:lnTo>
                  <a:pt x="428625" y="400050"/>
                </a:lnTo>
                <a:cubicBezTo>
                  <a:pt x="444431" y="400050"/>
                  <a:pt x="457200" y="387281"/>
                  <a:pt x="457200" y="371475"/>
                </a:cubicBezTo>
                <a:lnTo>
                  <a:pt x="457200" y="200025"/>
                </a:lnTo>
                <a:cubicBezTo>
                  <a:pt x="457200" y="184219"/>
                  <a:pt x="444431" y="171450"/>
                  <a:pt x="428625" y="171450"/>
                </a:cubicBezTo>
                <a:lnTo>
                  <a:pt x="400050" y="171450"/>
                </a:lnTo>
                <a:lnTo>
                  <a:pt x="400050" y="142875"/>
                </a:lnTo>
                <a:cubicBezTo>
                  <a:pt x="400050" y="127069"/>
                  <a:pt x="387281" y="114300"/>
                  <a:pt x="371475" y="114300"/>
                </a:cubicBezTo>
                <a:lnTo>
                  <a:pt x="342900" y="114300"/>
                </a:lnTo>
                <a:lnTo>
                  <a:pt x="342900" y="85725"/>
                </a:lnTo>
                <a:cubicBezTo>
                  <a:pt x="342900" y="69919"/>
                  <a:pt x="330131" y="57150"/>
                  <a:pt x="314325" y="57150"/>
                </a:cubicBezTo>
                <a:lnTo>
                  <a:pt x="142875" y="57150"/>
                </a:lnTo>
                <a:cubicBezTo>
                  <a:pt x="127069" y="57150"/>
                  <a:pt x="114300" y="69919"/>
                  <a:pt x="114300" y="85725"/>
                </a:cubicBezTo>
                <a:lnTo>
                  <a:pt x="114300" y="114300"/>
                </a:lnTo>
                <a:lnTo>
                  <a:pt x="85725" y="114300"/>
                </a:lnTo>
                <a:cubicBezTo>
                  <a:pt x="69919" y="114300"/>
                  <a:pt x="57150" y="127069"/>
                  <a:pt x="57150" y="142875"/>
                </a:cubicBezTo>
                <a:lnTo>
                  <a:pt x="57150" y="171450"/>
                </a:lnTo>
                <a:lnTo>
                  <a:pt x="28575" y="171450"/>
                </a:lnTo>
                <a:cubicBezTo>
                  <a:pt x="12769" y="171450"/>
                  <a:pt x="0" y="184219"/>
                  <a:pt x="0" y="2000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24384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Wired NIC (Ethernet)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3022600"/>
            <a:ext cx="647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RJ-45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connectors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Reliable, high-speed connections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Speeds: 1 Gbps to 100 Gbps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Less interference than wireless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Ideal for desktops and servers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159000"/>
            <a:ext cx="7112000" cy="304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70925" y="2413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85725"/>
                </a:moveTo>
                <a:cubicBezTo>
                  <a:pt x="176004" y="85725"/>
                  <a:pt x="102513" y="117872"/>
                  <a:pt x="48488" y="170200"/>
                </a:cubicBezTo>
                <a:cubicBezTo>
                  <a:pt x="37148" y="181183"/>
                  <a:pt x="19020" y="180915"/>
                  <a:pt x="8126" y="169575"/>
                </a:cubicBezTo>
                <a:cubicBezTo>
                  <a:pt x="-2768" y="158234"/>
                  <a:pt x="-2590" y="140107"/>
                  <a:pt x="8751" y="129213"/>
                </a:cubicBezTo>
                <a:cubicBezTo>
                  <a:pt x="72956" y="66883"/>
                  <a:pt x="160645" y="28575"/>
                  <a:pt x="257175" y="28575"/>
                </a:cubicBezTo>
                <a:cubicBezTo>
                  <a:pt x="353705" y="28575"/>
                  <a:pt x="441394" y="66883"/>
                  <a:pt x="505688" y="129213"/>
                </a:cubicBezTo>
                <a:cubicBezTo>
                  <a:pt x="517029" y="140196"/>
                  <a:pt x="517297" y="158323"/>
                  <a:pt x="506313" y="169575"/>
                </a:cubicBezTo>
                <a:cubicBezTo>
                  <a:pt x="495330" y="180826"/>
                  <a:pt x="477203" y="181183"/>
                  <a:pt x="465951" y="170200"/>
                </a:cubicBezTo>
                <a:cubicBezTo>
                  <a:pt x="411837" y="117872"/>
                  <a:pt x="338346" y="85725"/>
                  <a:pt x="257175" y="85725"/>
                </a:cubicBezTo>
                <a:close/>
                <a:moveTo>
                  <a:pt x="214313" y="385763"/>
                </a:moveTo>
                <a:cubicBezTo>
                  <a:pt x="214313" y="362106"/>
                  <a:pt x="233519" y="342900"/>
                  <a:pt x="257175" y="342900"/>
                </a:cubicBezTo>
                <a:cubicBezTo>
                  <a:pt x="280831" y="342900"/>
                  <a:pt x="300038" y="362106"/>
                  <a:pt x="300038" y="385763"/>
                </a:cubicBezTo>
                <a:cubicBezTo>
                  <a:pt x="300038" y="409419"/>
                  <a:pt x="280831" y="428625"/>
                  <a:pt x="257175" y="428625"/>
                </a:cubicBezTo>
                <a:cubicBezTo>
                  <a:pt x="233519" y="428625"/>
                  <a:pt x="214313" y="409419"/>
                  <a:pt x="214313" y="385763"/>
                </a:cubicBezTo>
                <a:close/>
                <a:moveTo>
                  <a:pt x="150019" y="291286"/>
                </a:moveTo>
                <a:cubicBezTo>
                  <a:pt x="139571" y="303163"/>
                  <a:pt x="121533" y="304234"/>
                  <a:pt x="109657" y="293787"/>
                </a:cubicBezTo>
                <a:cubicBezTo>
                  <a:pt x="97780" y="283339"/>
                  <a:pt x="96709" y="265301"/>
                  <a:pt x="107156" y="253425"/>
                </a:cubicBezTo>
                <a:cubicBezTo>
                  <a:pt x="143768" y="211991"/>
                  <a:pt x="197435" y="185738"/>
                  <a:pt x="257175" y="185738"/>
                </a:cubicBezTo>
                <a:cubicBezTo>
                  <a:pt x="316915" y="185738"/>
                  <a:pt x="370582" y="211991"/>
                  <a:pt x="407194" y="253425"/>
                </a:cubicBezTo>
                <a:cubicBezTo>
                  <a:pt x="417641" y="265301"/>
                  <a:pt x="416481" y="283339"/>
                  <a:pt x="404693" y="293787"/>
                </a:cubicBezTo>
                <a:cubicBezTo>
                  <a:pt x="392906" y="304234"/>
                  <a:pt x="374779" y="303074"/>
                  <a:pt x="364331" y="291286"/>
                </a:cubicBezTo>
                <a:cubicBezTo>
                  <a:pt x="338078" y="261551"/>
                  <a:pt x="299859" y="242888"/>
                  <a:pt x="257175" y="242888"/>
                </a:cubicBezTo>
                <a:cubicBezTo>
                  <a:pt x="214491" y="242888"/>
                  <a:pt x="176272" y="261551"/>
                  <a:pt x="150019" y="291286"/>
                </a:cubicBez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500" y="24384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Wireless NIC (Wi-Fi)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99500" y="3022600"/>
            <a:ext cx="647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radio waves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connect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physical cables needed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Supports multiple Wi-Fi standards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Ideal for laptops and mobile devices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Offers mobility and flexibility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524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D97706">
              <a:alpha val="10196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" y="584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0" y="203200"/>
                </a:moveTo>
                <a:cubicBezTo>
                  <a:pt x="38100" y="111998"/>
                  <a:pt x="111998" y="38100"/>
                  <a:pt x="203200" y="38100"/>
                </a:cubicBezTo>
                <a:cubicBezTo>
                  <a:pt x="253286" y="38100"/>
                  <a:pt x="298133" y="60404"/>
                  <a:pt x="328454" y="95647"/>
                </a:cubicBezTo>
                <a:cubicBezTo>
                  <a:pt x="335280" y="103664"/>
                  <a:pt x="347345" y="104537"/>
                  <a:pt x="355283" y="97711"/>
                </a:cubicBezTo>
                <a:cubicBezTo>
                  <a:pt x="363220" y="90884"/>
                  <a:pt x="364173" y="78819"/>
                  <a:pt x="357346" y="70882"/>
                </a:cubicBezTo>
                <a:cubicBezTo>
                  <a:pt x="320119" y="27464"/>
                  <a:pt x="264874" y="0"/>
                  <a:pt x="203200" y="0"/>
                </a:cubicBezTo>
                <a:cubicBezTo>
                  <a:pt x="90964" y="0"/>
                  <a:pt x="0" y="90964"/>
                  <a:pt x="0" y="203200"/>
                </a:cubicBezTo>
                <a:lnTo>
                  <a:pt x="0" y="234950"/>
                </a:lnTo>
                <a:cubicBezTo>
                  <a:pt x="0" y="245507"/>
                  <a:pt x="8493" y="254000"/>
                  <a:pt x="19050" y="254000"/>
                </a:cubicBezTo>
                <a:cubicBezTo>
                  <a:pt x="29607" y="254000"/>
                  <a:pt x="38100" y="245507"/>
                  <a:pt x="38100" y="234950"/>
                </a:cubicBezTo>
                <a:lnTo>
                  <a:pt x="38100" y="203200"/>
                </a:lnTo>
                <a:close/>
                <a:moveTo>
                  <a:pt x="402034" y="161211"/>
                </a:moveTo>
                <a:cubicBezTo>
                  <a:pt x="399891" y="150892"/>
                  <a:pt x="389731" y="144304"/>
                  <a:pt x="379492" y="146526"/>
                </a:cubicBezTo>
                <a:cubicBezTo>
                  <a:pt x="369253" y="148749"/>
                  <a:pt x="362585" y="158829"/>
                  <a:pt x="364808" y="169069"/>
                </a:cubicBezTo>
                <a:cubicBezTo>
                  <a:pt x="367109" y="180102"/>
                  <a:pt x="368379" y="191532"/>
                  <a:pt x="368379" y="203279"/>
                </a:cubicBezTo>
                <a:lnTo>
                  <a:pt x="368379" y="235029"/>
                </a:lnTo>
                <a:cubicBezTo>
                  <a:pt x="368379" y="245586"/>
                  <a:pt x="376873" y="254079"/>
                  <a:pt x="387429" y="254079"/>
                </a:cubicBezTo>
                <a:cubicBezTo>
                  <a:pt x="397986" y="254079"/>
                  <a:pt x="406479" y="245586"/>
                  <a:pt x="406479" y="235029"/>
                </a:cubicBezTo>
                <a:lnTo>
                  <a:pt x="406479" y="203279"/>
                </a:lnTo>
                <a:cubicBezTo>
                  <a:pt x="406479" y="188913"/>
                  <a:pt x="404971" y="174863"/>
                  <a:pt x="402114" y="161290"/>
                </a:cubicBezTo>
                <a:close/>
                <a:moveTo>
                  <a:pt x="203200" y="63500"/>
                </a:moveTo>
                <a:cubicBezTo>
                  <a:pt x="188119" y="63500"/>
                  <a:pt x="173514" y="65881"/>
                  <a:pt x="159941" y="70326"/>
                </a:cubicBezTo>
                <a:cubicBezTo>
                  <a:pt x="147876" y="74295"/>
                  <a:pt x="145098" y="89138"/>
                  <a:pt x="153353" y="98822"/>
                </a:cubicBezTo>
                <a:cubicBezTo>
                  <a:pt x="158988" y="105410"/>
                  <a:pt x="168275" y="107394"/>
                  <a:pt x="176689" y="105093"/>
                </a:cubicBezTo>
                <a:cubicBezTo>
                  <a:pt x="185103" y="102791"/>
                  <a:pt x="193993" y="101600"/>
                  <a:pt x="203200" y="101600"/>
                </a:cubicBezTo>
                <a:cubicBezTo>
                  <a:pt x="259318" y="101600"/>
                  <a:pt x="304800" y="147082"/>
                  <a:pt x="304800" y="203200"/>
                </a:cubicBezTo>
                <a:lnTo>
                  <a:pt x="304800" y="222964"/>
                </a:lnTo>
                <a:cubicBezTo>
                  <a:pt x="304800" y="242967"/>
                  <a:pt x="303609" y="262890"/>
                  <a:pt x="301308" y="282734"/>
                </a:cubicBezTo>
                <a:cubicBezTo>
                  <a:pt x="299958" y="294323"/>
                  <a:pt x="308769" y="304800"/>
                  <a:pt x="320516" y="304800"/>
                </a:cubicBezTo>
                <a:cubicBezTo>
                  <a:pt x="329883" y="304800"/>
                  <a:pt x="337899" y="297974"/>
                  <a:pt x="339011" y="288687"/>
                </a:cubicBezTo>
                <a:cubicBezTo>
                  <a:pt x="341630" y="266938"/>
                  <a:pt x="342979" y="245031"/>
                  <a:pt x="342979" y="223044"/>
                </a:cubicBezTo>
                <a:lnTo>
                  <a:pt x="342979" y="203279"/>
                </a:lnTo>
                <a:cubicBezTo>
                  <a:pt x="342979" y="126127"/>
                  <a:pt x="280432" y="63579"/>
                  <a:pt x="203279" y="63579"/>
                </a:cubicBezTo>
                <a:close/>
                <a:moveTo>
                  <a:pt x="119618" y="118031"/>
                </a:moveTo>
                <a:cubicBezTo>
                  <a:pt x="112395" y="109617"/>
                  <a:pt x="99536" y="108982"/>
                  <a:pt x="92710" y="117713"/>
                </a:cubicBezTo>
                <a:cubicBezTo>
                  <a:pt x="74374" y="141367"/>
                  <a:pt x="63500" y="170974"/>
                  <a:pt x="63500" y="203200"/>
                </a:cubicBezTo>
                <a:lnTo>
                  <a:pt x="63500" y="222964"/>
                </a:lnTo>
                <a:cubicBezTo>
                  <a:pt x="63500" y="242173"/>
                  <a:pt x="61436" y="261382"/>
                  <a:pt x="57309" y="280035"/>
                </a:cubicBezTo>
                <a:cubicBezTo>
                  <a:pt x="54610" y="292418"/>
                  <a:pt x="63579" y="304721"/>
                  <a:pt x="76279" y="304721"/>
                </a:cubicBezTo>
                <a:cubicBezTo>
                  <a:pt x="84614" y="304721"/>
                  <a:pt x="92075" y="299164"/>
                  <a:pt x="93901" y="290989"/>
                </a:cubicBezTo>
                <a:cubicBezTo>
                  <a:pt x="98981" y="268684"/>
                  <a:pt x="101600" y="245904"/>
                  <a:pt x="101600" y="222885"/>
                </a:cubicBezTo>
                <a:lnTo>
                  <a:pt x="101600" y="203121"/>
                </a:lnTo>
                <a:cubicBezTo>
                  <a:pt x="101600" y="181531"/>
                  <a:pt x="108347" y="161528"/>
                  <a:pt x="119777" y="145097"/>
                </a:cubicBezTo>
                <a:cubicBezTo>
                  <a:pt x="125492" y="136842"/>
                  <a:pt x="126127" y="125571"/>
                  <a:pt x="119618" y="117951"/>
                </a:cubicBezTo>
                <a:close/>
                <a:moveTo>
                  <a:pt x="203200" y="127000"/>
                </a:moveTo>
                <a:cubicBezTo>
                  <a:pt x="161131" y="127000"/>
                  <a:pt x="127000" y="161131"/>
                  <a:pt x="127000" y="203200"/>
                </a:cubicBezTo>
                <a:lnTo>
                  <a:pt x="127000" y="222964"/>
                </a:lnTo>
                <a:cubicBezTo>
                  <a:pt x="127000" y="251460"/>
                  <a:pt x="123349" y="279717"/>
                  <a:pt x="116046" y="307181"/>
                </a:cubicBezTo>
                <a:cubicBezTo>
                  <a:pt x="113030" y="318532"/>
                  <a:pt x="121364" y="330200"/>
                  <a:pt x="133112" y="330200"/>
                </a:cubicBezTo>
                <a:cubicBezTo>
                  <a:pt x="140652" y="330200"/>
                  <a:pt x="147320" y="325279"/>
                  <a:pt x="149304" y="317976"/>
                </a:cubicBezTo>
                <a:cubicBezTo>
                  <a:pt x="157639" y="287020"/>
                  <a:pt x="161925" y="255111"/>
                  <a:pt x="161925" y="222964"/>
                </a:cubicBezTo>
                <a:lnTo>
                  <a:pt x="161925" y="203200"/>
                </a:lnTo>
                <a:cubicBezTo>
                  <a:pt x="161925" y="180419"/>
                  <a:pt x="180419" y="161925"/>
                  <a:pt x="203200" y="161925"/>
                </a:cubicBezTo>
                <a:cubicBezTo>
                  <a:pt x="225981" y="161925"/>
                  <a:pt x="244475" y="180419"/>
                  <a:pt x="244475" y="203200"/>
                </a:cubicBezTo>
                <a:lnTo>
                  <a:pt x="244475" y="222964"/>
                </a:lnTo>
                <a:cubicBezTo>
                  <a:pt x="244475" y="251778"/>
                  <a:pt x="241697" y="280432"/>
                  <a:pt x="236220" y="308610"/>
                </a:cubicBezTo>
                <a:cubicBezTo>
                  <a:pt x="234077" y="319643"/>
                  <a:pt x="242332" y="330200"/>
                  <a:pt x="253524" y="330200"/>
                </a:cubicBezTo>
                <a:cubicBezTo>
                  <a:pt x="261620" y="330200"/>
                  <a:pt x="268605" y="324644"/>
                  <a:pt x="270193" y="316706"/>
                </a:cubicBezTo>
                <a:cubicBezTo>
                  <a:pt x="276304" y="285909"/>
                  <a:pt x="279400" y="254556"/>
                  <a:pt x="279400" y="222964"/>
                </a:cubicBezTo>
                <a:lnTo>
                  <a:pt x="279400" y="203200"/>
                </a:lnTo>
                <a:cubicBezTo>
                  <a:pt x="279400" y="161131"/>
                  <a:pt x="245269" y="127000"/>
                  <a:pt x="203200" y="127000"/>
                </a:cubicBezTo>
                <a:close/>
                <a:moveTo>
                  <a:pt x="222250" y="203200"/>
                </a:moveTo>
                <a:cubicBezTo>
                  <a:pt x="222250" y="192643"/>
                  <a:pt x="213757" y="184150"/>
                  <a:pt x="203200" y="184150"/>
                </a:cubicBezTo>
                <a:cubicBezTo>
                  <a:pt x="192643" y="184150"/>
                  <a:pt x="184150" y="192643"/>
                  <a:pt x="184150" y="203200"/>
                </a:cubicBezTo>
                <a:lnTo>
                  <a:pt x="184150" y="222964"/>
                </a:lnTo>
                <a:cubicBezTo>
                  <a:pt x="184150" y="270510"/>
                  <a:pt x="175419" y="317659"/>
                  <a:pt x="158353" y="362029"/>
                </a:cubicBezTo>
                <a:lnTo>
                  <a:pt x="153670" y="374174"/>
                </a:lnTo>
                <a:cubicBezTo>
                  <a:pt x="149860" y="384016"/>
                  <a:pt x="154781" y="395049"/>
                  <a:pt x="164624" y="398780"/>
                </a:cubicBezTo>
                <a:cubicBezTo>
                  <a:pt x="174466" y="402511"/>
                  <a:pt x="185499" y="397669"/>
                  <a:pt x="189230" y="387826"/>
                </a:cubicBezTo>
                <a:lnTo>
                  <a:pt x="193913" y="375682"/>
                </a:lnTo>
                <a:cubicBezTo>
                  <a:pt x="212646" y="326946"/>
                  <a:pt x="222250" y="275193"/>
                  <a:pt x="222250" y="222964"/>
                </a:cubicBezTo>
                <a:lnTo>
                  <a:pt x="222250" y="2032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651000" y="5715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 Address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6070600"/>
            <a:ext cx="134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NIC has a unique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 Access Control (MAC) address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hardware identifier assigned by the manufacturer. Format: 6 pairs of hexadecimal digits (e.g.,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00:1A:2B:3C:4D:5E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7112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4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 Gbps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762000" y="8128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Max enterprise NIC speed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Hubs — The Basic Network Connector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335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hub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simplest networking device that connects multiple devices in a LAN. It operates at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1 (Physical Layer)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OSI model.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a hub receives data, it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broadcasts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data to all connected devices, regardless of which device is the intended recipient.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13335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36000" y="14224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1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HUB OPERATION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430000" y="2222500"/>
            <a:ext cx="1016000" cy="6350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0" y="2222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0" y="1714500"/>
            <a:ext cx="889000" cy="508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17145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 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33000" y="1968500"/>
            <a:ext cx="1397000" cy="5715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144000" y="3048000"/>
            <a:ext cx="889000" cy="508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3048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 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540000"/>
            <a:ext cx="1397000" cy="762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3843000" y="1651000"/>
            <a:ext cx="889000" cy="5080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13843000" y="1651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 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446000" y="1905000"/>
            <a:ext cx="1397000" cy="635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3843000" y="3048000"/>
            <a:ext cx="889000" cy="5080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</p:sp>
      <p:sp>
        <p:nvSpPr>
          <p:cNvPr id="21" name="Text 19"/>
          <p:cNvSpPr/>
          <p:nvPr/>
        </p:nvSpPr>
        <p:spPr>
          <a:xfrm>
            <a:off x="13843000" y="3048000"/>
            <a:ext cx="88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 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V="1">
            <a:off x="12446000" y="2540000"/>
            <a:ext cx="1397000" cy="76200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922000" y="1714500"/>
            <a:ext cx="2032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ysDot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11811000" y="1143000"/>
            <a:ext cx="1524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broadcasts to all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419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Characteristics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762500"/>
            <a:ext cx="342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73150" y="49530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80962" y="14288"/>
                </a:moveTo>
                <a:cubicBezTo>
                  <a:pt x="80962" y="6370"/>
                  <a:pt x="87332" y="0"/>
                  <a:pt x="95250" y="0"/>
                </a:cubicBezTo>
                <a:cubicBezTo>
                  <a:pt x="103168" y="0"/>
                  <a:pt x="109537" y="6370"/>
                  <a:pt x="109537" y="14288"/>
                </a:cubicBezTo>
                <a:lnTo>
                  <a:pt x="109537" y="38100"/>
                </a:lnTo>
                <a:lnTo>
                  <a:pt x="142875" y="38100"/>
                </a:lnTo>
                <a:cubicBezTo>
                  <a:pt x="153412" y="38100"/>
                  <a:pt x="161925" y="46613"/>
                  <a:pt x="161925" y="57150"/>
                </a:cubicBezTo>
                <a:cubicBezTo>
                  <a:pt x="161925" y="67687"/>
                  <a:pt x="153412" y="76200"/>
                  <a:pt x="142875" y="76200"/>
                </a:cubicBezTo>
                <a:lnTo>
                  <a:pt x="74474" y="76200"/>
                </a:lnTo>
                <a:cubicBezTo>
                  <a:pt x="59650" y="76200"/>
                  <a:pt x="47625" y="88225"/>
                  <a:pt x="47625" y="103049"/>
                </a:cubicBezTo>
                <a:cubicBezTo>
                  <a:pt x="47625" y="116443"/>
                  <a:pt x="57448" y="127754"/>
                  <a:pt x="70664" y="129659"/>
                </a:cubicBezTo>
                <a:lnTo>
                  <a:pt x="125194" y="137458"/>
                </a:lnTo>
                <a:cubicBezTo>
                  <a:pt x="157222" y="142042"/>
                  <a:pt x="180975" y="169426"/>
                  <a:pt x="180975" y="201751"/>
                </a:cubicBezTo>
                <a:cubicBezTo>
                  <a:pt x="180975" y="237649"/>
                  <a:pt x="151864" y="266700"/>
                  <a:pt x="116026" y="266700"/>
                </a:cubicBezTo>
                <a:lnTo>
                  <a:pt x="109537" y="266700"/>
                </a:lnTo>
                <a:lnTo>
                  <a:pt x="109537" y="290513"/>
                </a:lnTo>
                <a:cubicBezTo>
                  <a:pt x="109537" y="298430"/>
                  <a:pt x="103168" y="304800"/>
                  <a:pt x="95250" y="304800"/>
                </a:cubicBezTo>
                <a:cubicBezTo>
                  <a:pt x="87332" y="304800"/>
                  <a:pt x="80962" y="298430"/>
                  <a:pt x="80962" y="290513"/>
                </a:cubicBezTo>
                <a:lnTo>
                  <a:pt x="80962" y="266700"/>
                </a:lnTo>
                <a:lnTo>
                  <a:pt x="38100" y="266700"/>
                </a:lnTo>
                <a:cubicBezTo>
                  <a:pt x="27563" y="266700"/>
                  <a:pt x="19050" y="258187"/>
                  <a:pt x="19050" y="247650"/>
                </a:cubicBezTo>
                <a:cubicBezTo>
                  <a:pt x="19050" y="237113"/>
                  <a:pt x="27563" y="228600"/>
                  <a:pt x="38100" y="228600"/>
                </a:cubicBezTo>
                <a:lnTo>
                  <a:pt x="116026" y="228600"/>
                </a:lnTo>
                <a:cubicBezTo>
                  <a:pt x="130850" y="228600"/>
                  <a:pt x="142875" y="216575"/>
                  <a:pt x="142875" y="201751"/>
                </a:cubicBezTo>
                <a:cubicBezTo>
                  <a:pt x="142875" y="188357"/>
                  <a:pt x="133052" y="177046"/>
                  <a:pt x="119836" y="175141"/>
                </a:cubicBezTo>
                <a:lnTo>
                  <a:pt x="65306" y="167342"/>
                </a:lnTo>
                <a:cubicBezTo>
                  <a:pt x="33278" y="162818"/>
                  <a:pt x="9525" y="135374"/>
                  <a:pt x="9525" y="103049"/>
                </a:cubicBezTo>
                <a:cubicBezTo>
                  <a:pt x="9525" y="67211"/>
                  <a:pt x="38636" y="38100"/>
                  <a:pt x="74474" y="38100"/>
                </a:cubicBezTo>
                <a:lnTo>
                  <a:pt x="80962" y="38100"/>
                </a:lnTo>
                <a:lnTo>
                  <a:pt x="80962" y="1428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460500" y="49276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&amp; Inexpensive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cost, easy to set up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08500" y="4762500"/>
            <a:ext cx="342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62500" y="495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5207000" y="49276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Intelligence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filter or direct traffic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55000" y="4762500"/>
            <a:ext cx="342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70900" y="4953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8953500" y="49276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Bandwidth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devices share same bandwidth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001500" y="4762500"/>
            <a:ext cx="34925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2255500" y="495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12700000" y="4927600"/>
            <a:ext cx="254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Collision Domain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collisions are frequent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64770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79500" y="670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40" name="Text 38"/>
          <p:cNvSpPr/>
          <p:nvPr/>
        </p:nvSpPr>
        <p:spPr>
          <a:xfrm>
            <a:off x="1524000" y="6604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Status Today: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Hubs are largely obsolete and have been replaced by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which offer intelligent traffic management and significantly better performance.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000" y="7620000"/>
            <a:ext cx="317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PHYSICAL LAYER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Switches — Intelligent Traffic Directors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335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switch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an intelligent networking device that connects devices within a LAN. It operates at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2 (Data Link Layer)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Unlike hubs, switches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 MAC addresses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connected devices and forward data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to the intended recipient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dramatically improving network efficiency.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1333500"/>
            <a:ext cx="1524000" cy="6350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3335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74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Over Hubs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4318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6000" y="454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49911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Collision Domains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port has own domain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08500" y="4318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62500" y="454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762500" y="49911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Reduced Congestion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only goes where needed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4318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6775" y="4546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26846" y="260171"/>
                </a:moveTo>
                <a:lnTo>
                  <a:pt x="393521" y="193496"/>
                </a:lnTo>
                <a:cubicBezTo>
                  <a:pt x="402203" y="184815"/>
                  <a:pt x="402203" y="170716"/>
                  <a:pt x="393521" y="162034"/>
                </a:cubicBezTo>
                <a:lnTo>
                  <a:pt x="326846" y="95359"/>
                </a:lnTo>
                <a:cubicBezTo>
                  <a:pt x="318165" y="86678"/>
                  <a:pt x="304066" y="86678"/>
                  <a:pt x="295384" y="95359"/>
                </a:cubicBezTo>
                <a:cubicBezTo>
                  <a:pt x="286703" y="104041"/>
                  <a:pt x="286703" y="118140"/>
                  <a:pt x="295384" y="126821"/>
                </a:cubicBezTo>
                <a:lnTo>
                  <a:pt x="324138" y="155575"/>
                </a:lnTo>
                <a:lnTo>
                  <a:pt x="75843" y="155575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ubicBezTo>
                  <a:pt x="95915" y="86678"/>
                  <a:pt x="81816" y="86678"/>
                  <a:pt x="73134" y="95359"/>
                </a:cubicBezTo>
                <a:lnTo>
                  <a:pt x="6459" y="162034"/>
                </a:lnTo>
                <a:cubicBezTo>
                  <a:pt x="2292" y="166201"/>
                  <a:pt x="-69" y="171827"/>
                  <a:pt x="-69" y="177731"/>
                </a:cubicBezTo>
                <a:cubicBezTo>
                  <a:pt x="-69" y="183634"/>
                  <a:pt x="2292" y="189260"/>
                  <a:pt x="6459" y="193427"/>
                </a:cubicBezTo>
                <a:lnTo>
                  <a:pt x="73134" y="260102"/>
                </a:lnTo>
                <a:cubicBezTo>
                  <a:pt x="81816" y="268784"/>
                  <a:pt x="95915" y="268784"/>
                  <a:pt x="104596" y="260102"/>
                </a:cubicBezTo>
                <a:cubicBezTo>
                  <a:pt x="113278" y="251420"/>
                  <a:pt x="113278" y="237321"/>
                  <a:pt x="104596" y="228640"/>
                </a:cubicBezTo>
                <a:lnTo>
                  <a:pt x="75843" y="199886"/>
                </a:lnTo>
                <a:lnTo>
                  <a:pt x="324138" y="199886"/>
                </a:lnTo>
                <a:lnTo>
                  <a:pt x="295384" y="228640"/>
                </a:lnTo>
                <a:cubicBezTo>
                  <a:pt x="286703" y="237321"/>
                  <a:pt x="286703" y="251420"/>
                  <a:pt x="295384" y="260102"/>
                </a:cubicBezTo>
                <a:cubicBezTo>
                  <a:pt x="304066" y="268784"/>
                  <a:pt x="318165" y="268784"/>
                  <a:pt x="326846" y="26010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4991100"/>
            <a:ext cx="292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Full-Duplex Mode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Simultaneous send and receive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001500" y="4318000"/>
            <a:ext cx="34925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255500" y="4546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2255500" y="4991100"/>
            <a:ext cx="2984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Performance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overall network speed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628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Switch Features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67945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VLAN Support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create virtual LANs to segment network traffic for security and performance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QoS (Quality of Service)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prioritize critical traffic like VoIP and video conferencing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Port Mirroring &amp; Traffic Monitoring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analyze network traffic for troubleshooting and security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Bridges — Network Segment Connectors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3335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bridge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connects two or more network segments into a single unified network. It operates at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2 (Data Link Layer)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Bridges use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 addresses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determine whether to forward or filter traffic between segments, reducing unnecessary network traffic.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82000" y="1333500"/>
            <a:ext cx="7112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36000" y="14605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 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36000" y="1841500"/>
            <a:ext cx="698500" cy="444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841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61500" y="1841500"/>
            <a:ext cx="698500" cy="4445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9461500" y="1841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0" y="2057400"/>
            <a:ext cx="635000" cy="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0795000" y="1714500"/>
            <a:ext cx="1270000" cy="6985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0" y="1714500"/>
            <a:ext cx="127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065000" y="2057400"/>
            <a:ext cx="635000" cy="0"/>
          </a:xfrm>
          <a:prstGeom prst="straightConnector1">
            <a:avLst/>
          </a:prstGeom>
          <a:noFill/>
          <a:ln w="254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2700000" y="1841500"/>
            <a:ext cx="698500" cy="4445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0" y="1841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525500" y="1841500"/>
            <a:ext cx="698500" cy="444500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13525500" y="1841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PC4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0" y="24130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1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 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2768600"/>
            <a:ext cx="660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between PC1 and PC2 stays in Segment A; only cross-segment traffic passes through the bridge.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3746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4318000"/>
            <a:ext cx="469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79500" y="463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1587500" y="4508500"/>
            <a:ext cx="361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Network Traffic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Keeps local traffic within segments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01725" y="5524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111125"/>
                </a:lnTo>
                <a:cubicBezTo>
                  <a:pt x="0" y="123418"/>
                  <a:pt x="9932" y="133350"/>
                  <a:pt x="22225" y="133350"/>
                </a:cubicBezTo>
                <a:cubicBezTo>
                  <a:pt x="34518" y="133350"/>
                  <a:pt x="44450" y="123418"/>
                  <a:pt x="44450" y="111125"/>
                </a:cubicBezTo>
                <a:lnTo>
                  <a:pt x="44450" y="66675"/>
                </a:lnTo>
                <a:lnTo>
                  <a:pt x="88900" y="66675"/>
                </a:lnTo>
                <a:cubicBezTo>
                  <a:pt x="101193" y="66675"/>
                  <a:pt x="111125" y="56743"/>
                  <a:pt x="111125" y="44450"/>
                </a:cubicBezTo>
                <a:cubicBezTo>
                  <a:pt x="111125" y="32157"/>
                  <a:pt x="101193" y="22225"/>
                  <a:pt x="88900" y="22225"/>
                </a:cubicBezTo>
                <a:lnTo>
                  <a:pt x="22225" y="22225"/>
                </a:lnTo>
                <a:close/>
                <a:moveTo>
                  <a:pt x="44450" y="244475"/>
                </a:moveTo>
                <a:cubicBezTo>
                  <a:pt x="44450" y="232182"/>
                  <a:pt x="34518" y="222250"/>
                  <a:pt x="22225" y="222250"/>
                </a:cubicBezTo>
                <a:cubicBezTo>
                  <a:pt x="9932" y="222250"/>
                  <a:pt x="0" y="232182"/>
                  <a:pt x="0" y="244475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88900" y="333375"/>
                </a:lnTo>
                <a:cubicBezTo>
                  <a:pt x="101193" y="333375"/>
                  <a:pt x="111125" y="323443"/>
                  <a:pt x="111125" y="311150"/>
                </a:cubicBezTo>
                <a:cubicBezTo>
                  <a:pt x="111125" y="298857"/>
                  <a:pt x="101193" y="288925"/>
                  <a:pt x="88900" y="288925"/>
                </a:cubicBez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222250" y="22225"/>
                </a:moveTo>
                <a:cubicBezTo>
                  <a:pt x="209957" y="22225"/>
                  <a:pt x="200025" y="32157"/>
                  <a:pt x="200025" y="44450"/>
                </a:cubicBezTo>
                <a:cubicBezTo>
                  <a:pt x="200025" y="56743"/>
                  <a:pt x="209957" y="66675"/>
                  <a:pt x="222250" y="66675"/>
                </a:cubicBezTo>
                <a:lnTo>
                  <a:pt x="266700" y="66675"/>
                </a:lnTo>
                <a:lnTo>
                  <a:pt x="266700" y="111125"/>
                </a:lnTo>
                <a:cubicBezTo>
                  <a:pt x="266700" y="123418"/>
                  <a:pt x="276632" y="133350"/>
                  <a:pt x="288925" y="133350"/>
                </a:cubicBezTo>
                <a:cubicBezTo>
                  <a:pt x="301218" y="133350"/>
                  <a:pt x="311150" y="123418"/>
                  <a:pt x="311150" y="111125"/>
                </a:cubicBezTo>
                <a:lnTo>
                  <a:pt x="311150" y="44450"/>
                </a:lnTo>
                <a:cubicBezTo>
                  <a:pt x="311150" y="32157"/>
                  <a:pt x="301218" y="22225"/>
                  <a:pt x="288925" y="22225"/>
                </a:cubicBezTo>
                <a:lnTo>
                  <a:pt x="222250" y="22225"/>
                </a:lnTo>
                <a:close/>
                <a:moveTo>
                  <a:pt x="311150" y="244475"/>
                </a:moveTo>
                <a:cubicBezTo>
                  <a:pt x="311150" y="232182"/>
                  <a:pt x="301218" y="222250"/>
                  <a:pt x="288925" y="222250"/>
                </a:cubicBezTo>
                <a:cubicBezTo>
                  <a:pt x="276632" y="222250"/>
                  <a:pt x="266700" y="232182"/>
                  <a:pt x="266700" y="244475"/>
                </a:cubicBezTo>
                <a:lnTo>
                  <a:pt x="266700" y="288925"/>
                </a:lnTo>
                <a:lnTo>
                  <a:pt x="222250" y="288925"/>
                </a:lnTo>
                <a:cubicBezTo>
                  <a:pt x="209957" y="288925"/>
                  <a:pt x="200025" y="298857"/>
                  <a:pt x="200025" y="311150"/>
                </a:cubicBezTo>
                <a:cubicBezTo>
                  <a:pt x="200025" y="323443"/>
                  <a:pt x="209957" y="333375"/>
                  <a:pt x="222250" y="333375"/>
                </a:cubicBezTo>
                <a:lnTo>
                  <a:pt x="288925" y="333375"/>
                </a:lnTo>
                <a:cubicBezTo>
                  <a:pt x="301218" y="333375"/>
                  <a:pt x="311150" y="323443"/>
                  <a:pt x="311150" y="311150"/>
                </a:cubicBezTo>
                <a:lnTo>
                  <a:pt x="311150" y="2444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1587500" y="5461000"/>
            <a:ext cx="361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Extends Network Reach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Connects beyond single segment limits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78500" y="4318000"/>
            <a:ext cx="46990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96000" y="463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604000" y="4508500"/>
            <a:ext cx="361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Performance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Divides large networks efficiently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960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6604000" y="5461000"/>
            <a:ext cx="3619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2 Operation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MAC addresses for decisions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795000" y="3746500"/>
            <a:ext cx="4699000" cy="28575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11112500" y="3937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 vs Switch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112500" y="4381500"/>
            <a:ext cx="406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Bridges and switches both operate at Layer 2 and use MAC addresses.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key difference: bridges typically have </a:t>
            </a:r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2-4 ports</a:t>
            </a:r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while switches have </a:t>
            </a:r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8-48+ ports</a:t>
            </a:r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Modern networks have largely replaced standalone bridges with </a:t>
            </a:r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switches</a:t>
            </a:r>
            <a:pPr>
              <a:lnSpc>
                <a:spcPct val="155000"/>
              </a:lnSpc>
              <a:spcBef>
                <a:spcPts val="500"/>
              </a:spcBef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Routers — The Network Traffic Controllers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forwards data packets between different networks. It operates 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3 (Network Layer)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IP addresses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Routers are essential for internet connectivity.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033000" y="1270000"/>
            <a:ext cx="1524000" cy="5715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033000" y="1270000"/>
            <a:ext cx="152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34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Functions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8575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16000" y="311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66675"/>
                </a:moveTo>
                <a:cubicBezTo>
                  <a:pt x="355600" y="101540"/>
                  <a:pt x="314553" y="153561"/>
                  <a:pt x="296843" y="174327"/>
                </a:cubicBezTo>
                <a:cubicBezTo>
                  <a:pt x="294203" y="177383"/>
                  <a:pt x="290314" y="178564"/>
                  <a:pt x="286772" y="177800"/>
                </a:cubicBezTo>
                <a:lnTo>
                  <a:pt x="222250" y="177800"/>
                </a:lnTo>
                <a:cubicBezTo>
                  <a:pt x="209957" y="177800"/>
                  <a:pt x="200025" y="187732"/>
                  <a:pt x="200025" y="200025"/>
                </a:cubicBezTo>
                <a:cubicBezTo>
                  <a:pt x="200025" y="212318"/>
                  <a:pt x="209957" y="222250"/>
                  <a:pt x="222250" y="222250"/>
                </a:cubicBezTo>
                <a:lnTo>
                  <a:pt x="288925" y="222250"/>
                </a:lnTo>
                <a:cubicBezTo>
                  <a:pt x="325735" y="222250"/>
                  <a:pt x="355600" y="252115"/>
                  <a:pt x="355600" y="288925"/>
                </a:cubicBezTo>
                <a:cubicBezTo>
                  <a:pt x="355600" y="325735"/>
                  <a:pt x="325735" y="355600"/>
                  <a:pt x="288925" y="355600"/>
                </a:cubicBezTo>
                <a:lnTo>
                  <a:pt x="96957" y="355600"/>
                </a:lnTo>
                <a:cubicBezTo>
                  <a:pt x="102999" y="348724"/>
                  <a:pt x="110361" y="339904"/>
                  <a:pt x="117793" y="330041"/>
                </a:cubicBezTo>
                <a:cubicBezTo>
                  <a:pt x="122168" y="324207"/>
                  <a:pt x="126683" y="317818"/>
                  <a:pt x="130989" y="311150"/>
                </a:cubicBezTo>
                <a:lnTo>
                  <a:pt x="288925" y="311150"/>
                </a:lnTo>
                <a:cubicBezTo>
                  <a:pt x="301218" y="311150"/>
                  <a:pt x="311150" y="301218"/>
                  <a:pt x="311150" y="288925"/>
                </a:cubicBezTo>
                <a:cubicBezTo>
                  <a:pt x="311150" y="276632"/>
                  <a:pt x="301218" y="266700"/>
                  <a:pt x="288925" y="266700"/>
                </a:cubicBezTo>
                <a:lnTo>
                  <a:pt x="222250" y="266700"/>
                </a:lnTo>
                <a:cubicBezTo>
                  <a:pt x="185440" y="266700"/>
                  <a:pt x="155575" y="236835"/>
                  <a:pt x="155575" y="200025"/>
                </a:cubicBezTo>
                <a:cubicBezTo>
                  <a:pt x="155575" y="163215"/>
                  <a:pt x="185440" y="133350"/>
                  <a:pt x="222250" y="133350"/>
                </a:cubicBezTo>
                <a:lnTo>
                  <a:pt x="249892" y="133350"/>
                </a:lnTo>
                <a:cubicBezTo>
                  <a:pt x="235307" y="111472"/>
                  <a:pt x="222250" y="86330"/>
                  <a:pt x="222250" y="66675"/>
                </a:cubicBezTo>
                <a:cubicBezTo>
                  <a:pt x="222250" y="29865"/>
                  <a:pt x="252115" y="0"/>
                  <a:pt x="288925" y="0"/>
                </a:cubicBezTo>
                <a:cubicBezTo>
                  <a:pt x="325735" y="0"/>
                  <a:pt x="355600" y="29865"/>
                  <a:pt x="355600" y="66675"/>
                </a:cubicBezTo>
                <a:close/>
                <a:moveTo>
                  <a:pt x="81330" y="339695"/>
                </a:moveTo>
                <a:cubicBezTo>
                  <a:pt x="78690" y="342682"/>
                  <a:pt x="76329" y="345321"/>
                  <a:pt x="74315" y="347543"/>
                </a:cubicBezTo>
                <a:lnTo>
                  <a:pt x="73065" y="348933"/>
                </a:lnTo>
                <a:lnTo>
                  <a:pt x="72926" y="348794"/>
                </a:lnTo>
                <a:cubicBezTo>
                  <a:pt x="68759" y="351988"/>
                  <a:pt x="62786" y="351572"/>
                  <a:pt x="59035" y="347543"/>
                </a:cubicBezTo>
                <a:cubicBezTo>
                  <a:pt x="41533" y="328513"/>
                  <a:pt x="0" y="279549"/>
                  <a:pt x="0" y="244475"/>
                </a:cubicBezTo>
                <a:cubicBezTo>
                  <a:pt x="0" y="207665"/>
                  <a:pt x="29865" y="177800"/>
                  <a:pt x="66675" y="177800"/>
                </a:cubicBezTo>
                <a:cubicBezTo>
                  <a:pt x="103485" y="177800"/>
                  <a:pt x="133350" y="207665"/>
                  <a:pt x="133350" y="244475"/>
                </a:cubicBezTo>
                <a:cubicBezTo>
                  <a:pt x="133350" y="265311"/>
                  <a:pt x="118695" y="291009"/>
                  <a:pt x="103138" y="312470"/>
                </a:cubicBezTo>
                <a:cubicBezTo>
                  <a:pt x="95706" y="322679"/>
                  <a:pt x="88067" y="331916"/>
                  <a:pt x="81746" y="339209"/>
                </a:cubicBezTo>
                <a:lnTo>
                  <a:pt x="81330" y="339695"/>
                </a:lnTo>
                <a:close/>
                <a:moveTo>
                  <a:pt x="88900" y="244475"/>
                </a:moveTo>
                <a:cubicBezTo>
                  <a:pt x="88900" y="232209"/>
                  <a:pt x="78941" y="222250"/>
                  <a:pt x="66675" y="222250"/>
                </a:cubicBezTo>
                <a:cubicBezTo>
                  <a:pt x="54409" y="222250"/>
                  <a:pt x="44450" y="232209"/>
                  <a:pt x="44450" y="244475"/>
                </a:cubicBezTo>
                <a:cubicBezTo>
                  <a:pt x="44450" y="256741"/>
                  <a:pt x="54409" y="266700"/>
                  <a:pt x="66675" y="266700"/>
                </a:cubicBezTo>
                <a:cubicBezTo>
                  <a:pt x="78941" y="266700"/>
                  <a:pt x="88900" y="256741"/>
                  <a:pt x="88900" y="244475"/>
                </a:cubicBezTo>
                <a:close/>
                <a:moveTo>
                  <a:pt x="288925" y="88900"/>
                </a:moveTo>
                <a:cubicBezTo>
                  <a:pt x="301191" y="88900"/>
                  <a:pt x="311150" y="78941"/>
                  <a:pt x="311150" y="66675"/>
                </a:cubicBezTo>
                <a:cubicBezTo>
                  <a:pt x="311150" y="54409"/>
                  <a:pt x="301191" y="44450"/>
                  <a:pt x="288925" y="44450"/>
                </a:cubicBezTo>
                <a:cubicBezTo>
                  <a:pt x="276659" y="44450"/>
                  <a:pt x="266700" y="54409"/>
                  <a:pt x="266700" y="66675"/>
                </a:cubicBezTo>
                <a:cubicBezTo>
                  <a:pt x="266700" y="78941"/>
                  <a:pt x="276659" y="88900"/>
                  <a:pt x="288925" y="889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29845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Path Determination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uses routing tables and algorithms (OSPF, BGP) to find the best path for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82000" y="28575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13775" y="3111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72244" y="61119"/>
                </a:moveTo>
                <a:lnTo>
                  <a:pt x="227806" y="61119"/>
                </a:lnTo>
                <a:lnTo>
                  <a:pt x="227806" y="94456"/>
                </a:lnTo>
                <a:lnTo>
                  <a:pt x="172244" y="94456"/>
                </a:lnTo>
                <a:lnTo>
                  <a:pt x="172244" y="61119"/>
                </a:lnTo>
                <a:close/>
                <a:moveTo>
                  <a:pt x="166688" y="22225"/>
                </a:moveTo>
                <a:cubicBezTo>
                  <a:pt x="148282" y="22225"/>
                  <a:pt x="133350" y="37157"/>
                  <a:pt x="133350" y="55563"/>
                </a:cubicBezTo>
                <a:lnTo>
                  <a:pt x="133350" y="100013"/>
                </a:lnTo>
                <a:cubicBezTo>
                  <a:pt x="133350" y="118418"/>
                  <a:pt x="148282" y="133350"/>
                  <a:pt x="166688" y="133350"/>
                </a:cubicBezTo>
                <a:lnTo>
                  <a:pt x="177800" y="133350"/>
                </a:lnTo>
                <a:lnTo>
                  <a:pt x="177800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88900" y="200025"/>
                </a:lnTo>
                <a:lnTo>
                  <a:pt x="88900" y="222250"/>
                </a:lnTo>
                <a:lnTo>
                  <a:pt x="77788" y="222250"/>
                </a:lnTo>
                <a:cubicBezTo>
                  <a:pt x="59382" y="222250"/>
                  <a:pt x="44450" y="237182"/>
                  <a:pt x="44450" y="255587"/>
                </a:cubicBezTo>
                <a:lnTo>
                  <a:pt x="44450" y="300038"/>
                </a:lnTo>
                <a:cubicBezTo>
                  <a:pt x="44450" y="318443"/>
                  <a:pt x="59382" y="333375"/>
                  <a:pt x="77788" y="333375"/>
                </a:cubicBezTo>
                <a:lnTo>
                  <a:pt x="144463" y="333375"/>
                </a:lnTo>
                <a:cubicBezTo>
                  <a:pt x="162868" y="333375"/>
                  <a:pt x="177800" y="318443"/>
                  <a:pt x="177800" y="300038"/>
                </a:cubicBezTo>
                <a:lnTo>
                  <a:pt x="177800" y="255587"/>
                </a:lnTo>
                <a:cubicBezTo>
                  <a:pt x="177800" y="237182"/>
                  <a:pt x="162868" y="222250"/>
                  <a:pt x="144463" y="222250"/>
                </a:cubicBezTo>
                <a:lnTo>
                  <a:pt x="133350" y="222250"/>
                </a:lnTo>
                <a:lnTo>
                  <a:pt x="133350" y="200025"/>
                </a:lnTo>
                <a:lnTo>
                  <a:pt x="266700" y="200025"/>
                </a:lnTo>
                <a:lnTo>
                  <a:pt x="266700" y="222250"/>
                </a:lnTo>
                <a:lnTo>
                  <a:pt x="255587" y="222250"/>
                </a:lnTo>
                <a:cubicBezTo>
                  <a:pt x="237182" y="222250"/>
                  <a:pt x="222250" y="237182"/>
                  <a:pt x="222250" y="255587"/>
                </a:cubicBezTo>
                <a:lnTo>
                  <a:pt x="222250" y="300038"/>
                </a:lnTo>
                <a:cubicBezTo>
                  <a:pt x="222250" y="318443"/>
                  <a:pt x="237182" y="333375"/>
                  <a:pt x="25558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255587"/>
                </a:lnTo>
                <a:cubicBezTo>
                  <a:pt x="355600" y="237182"/>
                  <a:pt x="340668" y="222250"/>
                  <a:pt x="322263" y="222250"/>
                </a:cubicBezTo>
                <a:lnTo>
                  <a:pt x="311150" y="222250"/>
                </a:lnTo>
                <a:lnTo>
                  <a:pt x="311150" y="200025"/>
                </a:lnTo>
                <a:lnTo>
                  <a:pt x="377825" y="200025"/>
                </a:lnTo>
                <a:cubicBezTo>
                  <a:pt x="390118" y="200025"/>
                  <a:pt x="400050" y="190093"/>
                  <a:pt x="400050" y="177800"/>
                </a:cubicBezTo>
                <a:cubicBezTo>
                  <a:pt x="400050" y="165507"/>
                  <a:pt x="390118" y="155575"/>
                  <a:pt x="377825" y="155575"/>
                </a:cubicBezTo>
                <a:lnTo>
                  <a:pt x="222250" y="155575"/>
                </a:lnTo>
                <a:lnTo>
                  <a:pt x="222250" y="133350"/>
                </a:lnTo>
                <a:lnTo>
                  <a:pt x="233363" y="133350"/>
                </a:lnTo>
                <a:cubicBezTo>
                  <a:pt x="251768" y="133350"/>
                  <a:pt x="266700" y="118418"/>
                  <a:pt x="266700" y="100013"/>
                </a:cubicBezTo>
                <a:lnTo>
                  <a:pt x="266700" y="55563"/>
                </a:lnTo>
                <a:cubicBezTo>
                  <a:pt x="266700" y="37157"/>
                  <a:pt x="251768" y="22225"/>
                  <a:pt x="233363" y="22225"/>
                </a:cubicBezTo>
                <a:lnTo>
                  <a:pt x="166688" y="22225"/>
                </a:lnTo>
                <a:close/>
                <a:moveTo>
                  <a:pt x="311150" y="261144"/>
                </a:moveTo>
                <a:lnTo>
                  <a:pt x="316706" y="261144"/>
                </a:lnTo>
                <a:lnTo>
                  <a:pt x="316706" y="294481"/>
                </a:lnTo>
                <a:lnTo>
                  <a:pt x="261144" y="294481"/>
                </a:lnTo>
                <a:lnTo>
                  <a:pt x="261144" y="261144"/>
                </a:lnTo>
                <a:lnTo>
                  <a:pt x="311150" y="261144"/>
                </a:lnTo>
                <a:close/>
                <a:moveTo>
                  <a:pt x="133350" y="261144"/>
                </a:moveTo>
                <a:lnTo>
                  <a:pt x="138906" y="261144"/>
                </a:lnTo>
                <a:lnTo>
                  <a:pt x="138906" y="294481"/>
                </a:lnTo>
                <a:lnTo>
                  <a:pt x="83344" y="294481"/>
                </a:lnTo>
                <a:lnTo>
                  <a:pt x="83344" y="261144"/>
                </a:lnTo>
                <a:lnTo>
                  <a:pt x="133350" y="26114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29845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Interconnection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connects different network types (LAN to WAN, LAN to LAN)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1275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93775" y="4381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44450"/>
                </a:moveTo>
                <a:cubicBezTo>
                  <a:pt x="44450" y="44450"/>
                  <a:pt x="0" y="111125"/>
                  <a:pt x="0" y="188913"/>
                </a:cubicBezTo>
                <a:cubicBezTo>
                  <a:pt x="0" y="266700"/>
                  <a:pt x="55563" y="311150"/>
                  <a:pt x="122238" y="311150"/>
                </a:cubicBezTo>
                <a:lnTo>
                  <a:pt x="128072" y="311150"/>
                </a:lnTo>
                <a:cubicBezTo>
                  <a:pt x="144879" y="311150"/>
                  <a:pt x="160298" y="301635"/>
                  <a:pt x="167799" y="286564"/>
                </a:cubicBezTo>
                <a:lnTo>
                  <a:pt x="183912" y="254407"/>
                </a:lnTo>
                <a:cubicBezTo>
                  <a:pt x="186968" y="248295"/>
                  <a:pt x="193149" y="244475"/>
                  <a:pt x="200025" y="244475"/>
                </a:cubicBezTo>
                <a:cubicBezTo>
                  <a:pt x="206901" y="244475"/>
                  <a:pt x="213082" y="248295"/>
                  <a:pt x="216138" y="254407"/>
                </a:cubicBezTo>
                <a:lnTo>
                  <a:pt x="232251" y="286564"/>
                </a:lnTo>
                <a:cubicBezTo>
                  <a:pt x="239752" y="301635"/>
                  <a:pt x="255171" y="311150"/>
                  <a:pt x="271978" y="311150"/>
                </a:cubicBezTo>
                <a:lnTo>
                  <a:pt x="277812" y="311150"/>
                </a:lnTo>
                <a:cubicBezTo>
                  <a:pt x="344488" y="311150"/>
                  <a:pt x="400050" y="266700"/>
                  <a:pt x="400050" y="188913"/>
                </a:cubicBezTo>
                <a:cubicBezTo>
                  <a:pt x="400050" y="111125"/>
                  <a:pt x="355600" y="44450"/>
                  <a:pt x="200025" y="44450"/>
                </a:cubicBezTo>
                <a:close/>
                <a:moveTo>
                  <a:pt x="66675" y="177800"/>
                </a:moveTo>
                <a:cubicBezTo>
                  <a:pt x="66675" y="153267"/>
                  <a:pt x="86592" y="133350"/>
                  <a:pt x="111125" y="133350"/>
                </a:cubicBezTo>
                <a:cubicBezTo>
                  <a:pt x="135658" y="133350"/>
                  <a:pt x="155575" y="153267"/>
                  <a:pt x="155575" y="177800"/>
                </a:cubicBezTo>
                <a:cubicBezTo>
                  <a:pt x="155575" y="202333"/>
                  <a:pt x="135658" y="222250"/>
                  <a:pt x="111125" y="222250"/>
                </a:cubicBezTo>
                <a:cubicBezTo>
                  <a:pt x="86592" y="222250"/>
                  <a:pt x="66675" y="202333"/>
                  <a:pt x="66675" y="177800"/>
                </a:cubicBezTo>
                <a:close/>
                <a:moveTo>
                  <a:pt x="288925" y="133350"/>
                </a:moveTo>
                <a:cubicBezTo>
                  <a:pt x="313458" y="133350"/>
                  <a:pt x="333375" y="153267"/>
                  <a:pt x="333375" y="177800"/>
                </a:cubicBezTo>
                <a:cubicBezTo>
                  <a:pt x="333375" y="202333"/>
                  <a:pt x="313458" y="222250"/>
                  <a:pt x="288925" y="222250"/>
                </a:cubicBezTo>
                <a:cubicBezTo>
                  <a:pt x="264392" y="222250"/>
                  <a:pt x="244475" y="202333"/>
                  <a:pt x="244475" y="177800"/>
                </a:cubicBezTo>
                <a:cubicBezTo>
                  <a:pt x="244475" y="153267"/>
                  <a:pt x="264392" y="133350"/>
                  <a:pt x="288925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42545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 (Network Address Translation)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shares a single public IP across multiple devices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4127500"/>
            <a:ext cx="7112000" cy="1079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58225" y="4381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11472" y="-18336"/>
                </a:moveTo>
                <a:cubicBezTo>
                  <a:pt x="117931" y="-23753"/>
                  <a:pt x="127446" y="-23545"/>
                  <a:pt x="133628" y="-17711"/>
                </a:cubicBezTo>
                <a:cubicBezTo>
                  <a:pt x="142171" y="-9654"/>
                  <a:pt x="149810" y="-764"/>
                  <a:pt x="157172" y="8265"/>
                </a:cubicBezTo>
                <a:cubicBezTo>
                  <a:pt x="166549" y="19725"/>
                  <a:pt x="177800" y="34865"/>
                  <a:pt x="188635" y="52854"/>
                </a:cubicBezTo>
                <a:cubicBezTo>
                  <a:pt x="192246" y="48131"/>
                  <a:pt x="195580" y="43964"/>
                  <a:pt x="198497" y="40422"/>
                </a:cubicBezTo>
                <a:cubicBezTo>
                  <a:pt x="199261" y="39519"/>
                  <a:pt x="200025" y="38546"/>
                  <a:pt x="200789" y="37574"/>
                </a:cubicBezTo>
                <a:cubicBezTo>
                  <a:pt x="206276" y="30768"/>
                  <a:pt x="213082" y="22225"/>
                  <a:pt x="222181" y="22225"/>
                </a:cubicBezTo>
                <a:cubicBezTo>
                  <a:pt x="231487" y="22225"/>
                  <a:pt x="238016" y="30490"/>
                  <a:pt x="243572" y="37574"/>
                </a:cubicBezTo>
                <a:cubicBezTo>
                  <a:pt x="244475" y="38755"/>
                  <a:pt x="245378" y="39866"/>
                  <a:pt x="246281" y="40908"/>
                </a:cubicBezTo>
                <a:cubicBezTo>
                  <a:pt x="253434" y="49520"/>
                  <a:pt x="262950" y="61952"/>
                  <a:pt x="272465" y="77301"/>
                </a:cubicBezTo>
                <a:cubicBezTo>
                  <a:pt x="291356" y="107791"/>
                  <a:pt x="311081" y="151199"/>
                  <a:pt x="311081" y="199956"/>
                </a:cubicBezTo>
                <a:cubicBezTo>
                  <a:pt x="311081" y="285869"/>
                  <a:pt x="241419" y="355531"/>
                  <a:pt x="155506" y="355531"/>
                </a:cubicBezTo>
                <a:cubicBezTo>
                  <a:pt x="69592" y="355531"/>
                  <a:pt x="0" y="285939"/>
                  <a:pt x="0" y="200025"/>
                </a:cubicBezTo>
                <a:cubicBezTo>
                  <a:pt x="0" y="136753"/>
                  <a:pt x="28545" y="81955"/>
                  <a:pt x="55910" y="43755"/>
                </a:cubicBezTo>
                <a:cubicBezTo>
                  <a:pt x="69731" y="24517"/>
                  <a:pt x="83483" y="9098"/>
                  <a:pt x="93831" y="-1459"/>
                </a:cubicBezTo>
                <a:cubicBezTo>
                  <a:pt x="99526" y="-7293"/>
                  <a:pt x="105291" y="-13057"/>
                  <a:pt x="111542" y="-18266"/>
                </a:cubicBezTo>
                <a:close/>
                <a:moveTo>
                  <a:pt x="156756" y="288925"/>
                </a:moveTo>
                <a:cubicBezTo>
                  <a:pt x="174327" y="288925"/>
                  <a:pt x="189885" y="284063"/>
                  <a:pt x="204539" y="274340"/>
                </a:cubicBezTo>
                <a:cubicBezTo>
                  <a:pt x="233779" y="253921"/>
                  <a:pt x="241627" y="213082"/>
                  <a:pt x="224056" y="180995"/>
                </a:cubicBezTo>
                <a:cubicBezTo>
                  <a:pt x="220930" y="174744"/>
                  <a:pt x="212943" y="174327"/>
                  <a:pt x="208429" y="179606"/>
                </a:cubicBezTo>
                <a:lnTo>
                  <a:pt x="190927" y="199956"/>
                </a:lnTo>
                <a:cubicBezTo>
                  <a:pt x="186343" y="205234"/>
                  <a:pt x="178078" y="205095"/>
                  <a:pt x="173772" y="199608"/>
                </a:cubicBezTo>
                <a:cubicBezTo>
                  <a:pt x="161756" y="184259"/>
                  <a:pt x="139670" y="156270"/>
                  <a:pt x="128419" y="141962"/>
                </a:cubicBezTo>
                <a:cubicBezTo>
                  <a:pt x="124668" y="137170"/>
                  <a:pt x="117862" y="136406"/>
                  <a:pt x="113486" y="140643"/>
                </a:cubicBezTo>
                <a:cubicBezTo>
                  <a:pt x="100776" y="153005"/>
                  <a:pt x="77718" y="180092"/>
                  <a:pt x="77718" y="213082"/>
                </a:cubicBezTo>
                <a:cubicBezTo>
                  <a:pt x="77718" y="260727"/>
                  <a:pt x="112861" y="288925"/>
                  <a:pt x="156686" y="2889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4254500"/>
            <a:ext cx="609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 Capabilities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provides basic security by filtering incoming/outgoing traffic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5245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70000" y="5651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Millions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1270000" y="62865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packets per second (enterprise)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42000" y="5778500"/>
            <a:ext cx="12700" cy="762000"/>
          </a:xfrm>
          <a:prstGeom prst="rect">
            <a:avLst/>
          </a:prstGeom>
          <a:solidFill>
            <a:srgbClr val="D97706">
              <a:alpha val="25098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350000" y="5651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OSPF / BGP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6350000" y="62865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routing protocols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922000" y="5778500"/>
            <a:ext cx="12700" cy="762000"/>
          </a:xfrm>
          <a:prstGeom prst="rect">
            <a:avLst/>
          </a:prstGeom>
          <a:solidFill>
            <a:srgbClr val="D97706">
              <a:alpha val="25098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0" y="5651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11430000" y="6286500"/>
            <a:ext cx="3556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all internet connectivity</a:t>
            </a:r>
            <a:endParaRPr lang="en-US" sz="1300" dirty="0"/>
          </a:p>
        </p:txBody>
      </p:sp>
      <p:pic>
        <p:nvPicPr>
          <p:cNvPr id="31" name="Image 0" descr="https://kimi-img.moonshot.cn/pub/slides/okc/ojbxdy3f2uoeu/mnt/agents/output/ict-week5/images/4_The_3_Best_Wi_Fi_Routers_of_2026.png">    </p:cNvPr>
          <p:cNvPicPr>
            <a:picLocks noChangeAspect="1"/>
          </p:cNvPicPr>
          <p:nvPr/>
        </p:nvPicPr>
        <p:blipFill>
          <a:blip r:embed="rId1"/>
          <a:srcRect l="0" r="0" t="20000" b="20000"/>
          <a:stretch/>
        </p:blipFill>
        <p:spPr>
          <a:xfrm>
            <a:off x="762000" y="7048500"/>
            <a:ext cx="14732000" cy="1270000"/>
          </a:xfrm>
          <a:prstGeom prst="roundRect">
            <a:avLst>
              <a:gd name="adj" fmla="val 5000"/>
            </a:avLst>
          </a:prstGeom>
        </p:spPr>
      </p:pic>
      <p:sp>
        <p:nvSpPr>
          <p:cNvPr id="32" name="Shape 29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0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Devices at a Glance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4826000"/>
        </p:xfrm>
        <a:graphic>
          <a:graphicData uri="http://schemas.openxmlformats.org/drawingml/2006/table">
            <a:tbl>
              <a:tblPr/>
              <a:tblGrid>
                <a:gridCol w="2209800"/>
                <a:gridCol w="1767840"/>
                <a:gridCol w="4124960"/>
                <a:gridCol w="2946400"/>
                <a:gridCol w="3683000"/>
              </a:tblGrid>
              <a:tr h="67133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Device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OSI Layer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Addressing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 Today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 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Broadcasts data to all connected devices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C26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Obsolete — replaced by switches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Switch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 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Forwards data to specific MAC address only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 Address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Widely Used — standard for LANs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Bridge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 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Connects and filters between network segments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 Address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9770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Rare — function in switches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86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Router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 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Routes packets between different networks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IP Address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6A3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Essential — internet gateway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6477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8" name="Shape 5"/>
          <p:cNvSpPr/>
          <p:nvPr/>
        </p:nvSpPr>
        <p:spPr>
          <a:xfrm>
            <a:off x="1123950" y="6731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1587500" y="6604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Understanding which OSI layer each device operates at is fundamental to network architecture. Layer 1 = physical, Layer 2 = data link, Layer 3 = network.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8105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Progression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8191500"/>
            <a:ext cx="1524000" cy="3810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81915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Hub (L1)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13000" y="8382000"/>
            <a:ext cx="635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3175000" y="8191500"/>
            <a:ext cx="1778000" cy="381000"/>
          </a:xfrm>
          <a:prstGeom prst="roundRect">
            <a:avLst>
              <a:gd name="adj" fmla="val 12000"/>
            </a:avLst>
          </a:prstGeom>
          <a:solidFill>
            <a:srgbClr val="64748B"/>
          </a:solidFill>
          <a:ln/>
        </p:spPr>
      </p:sp>
      <p:sp>
        <p:nvSpPr>
          <p:cNvPr id="15" name="Text 12"/>
          <p:cNvSpPr/>
          <p:nvPr/>
        </p:nvSpPr>
        <p:spPr>
          <a:xfrm>
            <a:off x="3175000" y="81915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Bridge (L2)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80000" y="8382000"/>
            <a:ext cx="635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7" name="Shape 14"/>
          <p:cNvSpPr/>
          <p:nvPr/>
        </p:nvSpPr>
        <p:spPr>
          <a:xfrm>
            <a:off x="5842000" y="8191500"/>
            <a:ext cx="1778000" cy="3810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18" name="Text 15"/>
          <p:cNvSpPr/>
          <p:nvPr/>
        </p:nvSpPr>
        <p:spPr>
          <a:xfrm>
            <a:off x="5842000" y="81915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 (L2)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747000" y="8382000"/>
            <a:ext cx="635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8509000" y="8191500"/>
            <a:ext cx="1778000" cy="3810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</p:spPr>
      </p:sp>
      <p:sp>
        <p:nvSpPr>
          <p:cNvPr id="21" name="Text 18"/>
          <p:cNvSpPr/>
          <p:nvPr/>
        </p:nvSpPr>
        <p:spPr>
          <a:xfrm>
            <a:off x="8509000" y="81915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 (L3)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541000" y="81915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Evolution: Simple → Intelligent → Inter-networking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— Wireless Local Area Networking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Wi-Fi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(Wireless Fidelity) uses radio waves to provide high-speed internet and network connections. It operates on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2.4 GHz, 5 GHz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GHz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(Wi-Fi 6E) frequency bands.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42313" y="1270000"/>
            <a:ext cx="714375" cy="635000"/>
          </a:xfrm>
          <a:custGeom>
            <a:avLst/>
            <a:gdLst/>
            <a:ahLst/>
            <a:cxnLst/>
            <a:rect l="l" t="t" r="r" b="b"/>
            <a:pathLst>
              <a:path w="714375" h="635000">
                <a:moveTo>
                  <a:pt x="357188" y="119062"/>
                </a:moveTo>
                <a:cubicBezTo>
                  <a:pt x="244450" y="119062"/>
                  <a:pt x="142379" y="163711"/>
                  <a:pt x="67345" y="236389"/>
                </a:cubicBezTo>
                <a:cubicBezTo>
                  <a:pt x="51594" y="251644"/>
                  <a:pt x="26417" y="251271"/>
                  <a:pt x="11286" y="235521"/>
                </a:cubicBezTo>
                <a:cubicBezTo>
                  <a:pt x="-3845" y="219770"/>
                  <a:pt x="-3597" y="194593"/>
                  <a:pt x="12154" y="179462"/>
                </a:cubicBezTo>
                <a:cubicBezTo>
                  <a:pt x="101327" y="92894"/>
                  <a:pt x="223118" y="39688"/>
                  <a:pt x="357188" y="39688"/>
                </a:cubicBezTo>
                <a:cubicBezTo>
                  <a:pt x="491257" y="39688"/>
                  <a:pt x="613048" y="92894"/>
                  <a:pt x="702345" y="179462"/>
                </a:cubicBezTo>
                <a:cubicBezTo>
                  <a:pt x="718096" y="194717"/>
                  <a:pt x="718468" y="219894"/>
                  <a:pt x="703213" y="235521"/>
                </a:cubicBezTo>
                <a:cubicBezTo>
                  <a:pt x="687958" y="251147"/>
                  <a:pt x="662781" y="251644"/>
                  <a:pt x="647154" y="236389"/>
                </a:cubicBezTo>
                <a:cubicBezTo>
                  <a:pt x="571996" y="163711"/>
                  <a:pt x="469925" y="119062"/>
                  <a:pt x="357188" y="119062"/>
                </a:cubicBezTo>
                <a:close/>
                <a:moveTo>
                  <a:pt x="297656" y="535781"/>
                </a:moveTo>
                <a:cubicBezTo>
                  <a:pt x="297656" y="502925"/>
                  <a:pt x="324331" y="476250"/>
                  <a:pt x="357188" y="476250"/>
                </a:cubicBezTo>
                <a:cubicBezTo>
                  <a:pt x="390044" y="476250"/>
                  <a:pt x="416719" y="502925"/>
                  <a:pt x="416719" y="535781"/>
                </a:cubicBezTo>
                <a:cubicBezTo>
                  <a:pt x="416719" y="568637"/>
                  <a:pt x="390044" y="595313"/>
                  <a:pt x="357188" y="595313"/>
                </a:cubicBezTo>
                <a:cubicBezTo>
                  <a:pt x="324331" y="595313"/>
                  <a:pt x="297656" y="568637"/>
                  <a:pt x="297656" y="535781"/>
                </a:cubicBezTo>
                <a:close/>
                <a:moveTo>
                  <a:pt x="208359" y="404564"/>
                </a:moveTo>
                <a:cubicBezTo>
                  <a:pt x="193849" y="421060"/>
                  <a:pt x="168796" y="422548"/>
                  <a:pt x="152301" y="408037"/>
                </a:cubicBezTo>
                <a:cubicBezTo>
                  <a:pt x="135806" y="393526"/>
                  <a:pt x="134317" y="368474"/>
                  <a:pt x="148828" y="351979"/>
                </a:cubicBezTo>
                <a:cubicBezTo>
                  <a:pt x="199678" y="294432"/>
                  <a:pt x="274216" y="257969"/>
                  <a:pt x="357188" y="257969"/>
                </a:cubicBezTo>
                <a:cubicBezTo>
                  <a:pt x="440159" y="257969"/>
                  <a:pt x="514697" y="294432"/>
                  <a:pt x="565547" y="351979"/>
                </a:cubicBezTo>
                <a:cubicBezTo>
                  <a:pt x="580058" y="368474"/>
                  <a:pt x="578445" y="393526"/>
                  <a:pt x="562074" y="408037"/>
                </a:cubicBezTo>
                <a:cubicBezTo>
                  <a:pt x="545703" y="422548"/>
                  <a:pt x="520526" y="420936"/>
                  <a:pt x="506016" y="404564"/>
                </a:cubicBezTo>
                <a:cubicBezTo>
                  <a:pt x="469553" y="363265"/>
                  <a:pt x="416471" y="337344"/>
                  <a:pt x="357188" y="337344"/>
                </a:cubicBezTo>
                <a:cubicBezTo>
                  <a:pt x="297904" y="337344"/>
                  <a:pt x="244822" y="363265"/>
                  <a:pt x="208359" y="40456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0" y="12700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100-300 feet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indoors | Max speed: up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9.6 Gbps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(Wi-Fi 7)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04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Standards Evolution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556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16000" y="3683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3746500"/>
            <a:ext cx="165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802.11n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16000" y="4127500"/>
            <a:ext cx="2921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Introduced MIMO technology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Speeds up to 600 Mbps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2.4/5 GHz bands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08500" y="3556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62500" y="3683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3746500"/>
            <a:ext cx="165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802.11ac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62500" y="4127500"/>
            <a:ext cx="2921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MU-MIMO support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Speeds up to 3.5 Gbps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GHz only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55000" y="35560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09000" y="3683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779000" y="3746500"/>
            <a:ext cx="165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802.11ax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9000" y="4127500"/>
            <a:ext cx="2921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OFDMA for efficiency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Speeds up to 9.6 Gbps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2.4/5 GHz + 6 GHz (6E)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001500" y="3556000"/>
            <a:ext cx="3492500" cy="1651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2255500" y="3683000"/>
            <a:ext cx="139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652500" y="37465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802.11be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55500" y="4127500"/>
            <a:ext cx="29845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320 MHz channels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Speeds up to 46 Gbps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Multi-Link Operation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52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Wi-Fi Technologies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60325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MU-MIMO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(Multi-User MIMO) — serves multiple devices simultaneously instead of sequentially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OFDMA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(Orthogonal Frequency Division Multiple Access) — divides channels for efficient multi-device communication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Beamforming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directs signals toward specific devices for stronger, more reliable connections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WPA3 Security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latest encryption standard providing stronger password protection and data security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Bluetooth — Short-Range Wireless Technology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711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Bluetooth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wireless technology standard for short-range communication between devices. It operates at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2.4 GHz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frequency-hopping spread spectrum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interference resistance.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509000" y="1270000"/>
            <a:ext cx="254000" cy="508000"/>
          </a:xfrm>
          <a:custGeom>
            <a:avLst/>
            <a:gdLst/>
            <a:ahLst/>
            <a:cxnLst/>
            <a:rect l="l" t="t" r="r" b="b"/>
            <a:pathLst>
              <a:path w="254000" h="508000">
                <a:moveTo>
                  <a:pt x="163612" y="257969"/>
                </a:moveTo>
                <a:lnTo>
                  <a:pt x="255488" y="155476"/>
                </a:lnTo>
                <a:lnTo>
                  <a:pt x="110728" y="0"/>
                </a:lnTo>
                <a:lnTo>
                  <a:pt x="110728" y="204688"/>
                </a:lnTo>
                <a:lnTo>
                  <a:pt x="25202" y="119261"/>
                </a:lnTo>
                <a:lnTo>
                  <a:pt x="-5953" y="150416"/>
                </a:lnTo>
                <a:lnTo>
                  <a:pt x="101302" y="257969"/>
                </a:lnTo>
                <a:lnTo>
                  <a:pt x="-5953" y="365522"/>
                </a:lnTo>
                <a:lnTo>
                  <a:pt x="25202" y="396677"/>
                </a:lnTo>
                <a:lnTo>
                  <a:pt x="110728" y="311249"/>
                </a:lnTo>
                <a:lnTo>
                  <a:pt x="113407" y="508000"/>
                </a:lnTo>
                <a:lnTo>
                  <a:pt x="260747" y="360561"/>
                </a:lnTo>
                <a:lnTo>
                  <a:pt x="163612" y="257969"/>
                </a:lnTo>
                <a:close/>
                <a:moveTo>
                  <a:pt x="204192" y="155773"/>
                </a:moveTo>
                <a:lnTo>
                  <a:pt x="154583" y="205383"/>
                </a:lnTo>
                <a:lnTo>
                  <a:pt x="154285" y="105866"/>
                </a:lnTo>
                <a:lnTo>
                  <a:pt x="204192" y="155773"/>
                </a:lnTo>
                <a:close/>
                <a:moveTo>
                  <a:pt x="154583" y="310555"/>
                </a:moveTo>
                <a:lnTo>
                  <a:pt x="204192" y="360164"/>
                </a:lnTo>
                <a:lnTo>
                  <a:pt x="154285" y="410071"/>
                </a:lnTo>
                <a:lnTo>
                  <a:pt x="154583" y="310555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9017000" y="1270000"/>
            <a:ext cx="647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~30 feet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Speed: up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Mbps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(v5+) | Low power consumption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17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683000"/>
            <a:ext cx="342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74725" y="3873500"/>
            <a:ext cx="412750" cy="330200"/>
          </a:xfrm>
          <a:custGeom>
            <a:avLst/>
            <a:gdLst/>
            <a:ahLst/>
            <a:cxnLst/>
            <a:rect l="l" t="t" r="r" b="b"/>
            <a:pathLst>
              <a:path w="412750" h="330200">
                <a:moveTo>
                  <a:pt x="340519" y="82550"/>
                </a:moveTo>
                <a:cubicBezTo>
                  <a:pt x="346194" y="82550"/>
                  <a:pt x="350838" y="87193"/>
                  <a:pt x="350838" y="92869"/>
                </a:cubicBezTo>
                <a:lnTo>
                  <a:pt x="350838" y="237331"/>
                </a:lnTo>
                <a:cubicBezTo>
                  <a:pt x="350838" y="243007"/>
                  <a:pt x="346194" y="247650"/>
                  <a:pt x="340519" y="247650"/>
                </a:cubicBezTo>
                <a:lnTo>
                  <a:pt x="72231" y="247650"/>
                </a:lnTo>
                <a:cubicBezTo>
                  <a:pt x="66556" y="247650"/>
                  <a:pt x="61912" y="243007"/>
                  <a:pt x="61912" y="237331"/>
                </a:cubicBezTo>
                <a:lnTo>
                  <a:pt x="61912" y="92869"/>
                </a:lnTo>
                <a:cubicBezTo>
                  <a:pt x="61912" y="87193"/>
                  <a:pt x="66556" y="82550"/>
                  <a:pt x="72231" y="82550"/>
                </a:cubicBezTo>
                <a:lnTo>
                  <a:pt x="340519" y="82550"/>
                </a:lnTo>
                <a:close/>
                <a:moveTo>
                  <a:pt x="72231" y="41275"/>
                </a:moveTo>
                <a:cubicBezTo>
                  <a:pt x="43726" y="41275"/>
                  <a:pt x="20638" y="64363"/>
                  <a:pt x="20638" y="92869"/>
                </a:cubicBezTo>
                <a:lnTo>
                  <a:pt x="20638" y="237331"/>
                </a:lnTo>
                <a:cubicBezTo>
                  <a:pt x="20638" y="265837"/>
                  <a:pt x="43726" y="288925"/>
                  <a:pt x="72231" y="288925"/>
                </a:cubicBezTo>
                <a:lnTo>
                  <a:pt x="340519" y="288925"/>
                </a:lnTo>
                <a:cubicBezTo>
                  <a:pt x="369024" y="288925"/>
                  <a:pt x="392113" y="265837"/>
                  <a:pt x="392113" y="237331"/>
                </a:cubicBezTo>
                <a:lnTo>
                  <a:pt x="392113" y="206375"/>
                </a:lnTo>
                <a:cubicBezTo>
                  <a:pt x="403528" y="206375"/>
                  <a:pt x="412750" y="197153"/>
                  <a:pt x="412750" y="185738"/>
                </a:cubicBezTo>
                <a:lnTo>
                  <a:pt x="412750" y="144463"/>
                </a:lnTo>
                <a:cubicBezTo>
                  <a:pt x="412750" y="133047"/>
                  <a:pt x="403528" y="123825"/>
                  <a:pt x="392113" y="123825"/>
                </a:cubicBezTo>
                <a:lnTo>
                  <a:pt x="392113" y="92869"/>
                </a:lnTo>
                <a:cubicBezTo>
                  <a:pt x="392113" y="64363"/>
                  <a:pt x="369024" y="41275"/>
                  <a:pt x="340519" y="41275"/>
                </a:cubicBezTo>
                <a:lnTo>
                  <a:pt x="72231" y="41275"/>
                </a:lnTo>
                <a:close/>
                <a:moveTo>
                  <a:pt x="108347" y="113506"/>
                </a:moveTo>
                <a:cubicBezTo>
                  <a:pt x="99769" y="113506"/>
                  <a:pt x="92869" y="120407"/>
                  <a:pt x="92869" y="128984"/>
                </a:cubicBezTo>
                <a:lnTo>
                  <a:pt x="92869" y="201216"/>
                </a:lnTo>
                <a:cubicBezTo>
                  <a:pt x="92869" y="209793"/>
                  <a:pt x="99769" y="216694"/>
                  <a:pt x="108347" y="216694"/>
                </a:cubicBezTo>
                <a:lnTo>
                  <a:pt x="304403" y="216694"/>
                </a:lnTo>
                <a:cubicBezTo>
                  <a:pt x="312981" y="216694"/>
                  <a:pt x="319881" y="209793"/>
                  <a:pt x="319881" y="201216"/>
                </a:cubicBezTo>
                <a:lnTo>
                  <a:pt x="319881" y="128984"/>
                </a:lnTo>
                <a:cubicBezTo>
                  <a:pt x="319881" y="120407"/>
                  <a:pt x="312981" y="113506"/>
                  <a:pt x="304403" y="113506"/>
                </a:cubicBezTo>
                <a:lnTo>
                  <a:pt x="108347" y="11350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42926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Power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 for battery-powered devices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08500" y="3683000"/>
            <a:ext cx="342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41863" y="38735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270545" y="61912"/>
                </a:moveTo>
                <a:cubicBezTo>
                  <a:pt x="259839" y="61912"/>
                  <a:pt x="249456" y="64815"/>
                  <a:pt x="240362" y="70103"/>
                </a:cubicBezTo>
                <a:cubicBezTo>
                  <a:pt x="230173" y="59784"/>
                  <a:pt x="218306" y="51142"/>
                  <a:pt x="205214" y="44629"/>
                </a:cubicBezTo>
                <a:cubicBezTo>
                  <a:pt x="223401" y="29150"/>
                  <a:pt x="246554" y="20638"/>
                  <a:pt x="270545" y="20638"/>
                </a:cubicBezTo>
                <a:cubicBezTo>
                  <a:pt x="326266" y="20638"/>
                  <a:pt x="371475" y="65782"/>
                  <a:pt x="371475" y="121568"/>
                </a:cubicBezTo>
                <a:cubicBezTo>
                  <a:pt x="371475" y="148332"/>
                  <a:pt x="360834" y="174000"/>
                  <a:pt x="341938" y="192896"/>
                </a:cubicBezTo>
                <a:lnTo>
                  <a:pt x="296084" y="238750"/>
                </a:lnTo>
                <a:cubicBezTo>
                  <a:pt x="277187" y="257646"/>
                  <a:pt x="251520" y="268288"/>
                  <a:pt x="224755" y="268288"/>
                </a:cubicBezTo>
                <a:cubicBezTo>
                  <a:pt x="169034" y="268288"/>
                  <a:pt x="123825" y="223143"/>
                  <a:pt x="123825" y="167357"/>
                </a:cubicBezTo>
                <a:cubicBezTo>
                  <a:pt x="123825" y="166390"/>
                  <a:pt x="123825" y="165422"/>
                  <a:pt x="123889" y="164455"/>
                </a:cubicBezTo>
                <a:cubicBezTo>
                  <a:pt x="124212" y="153040"/>
                  <a:pt x="133692" y="144076"/>
                  <a:pt x="145107" y="144398"/>
                </a:cubicBezTo>
                <a:cubicBezTo>
                  <a:pt x="156523" y="144720"/>
                  <a:pt x="165487" y="154201"/>
                  <a:pt x="165164" y="165616"/>
                </a:cubicBezTo>
                <a:cubicBezTo>
                  <a:pt x="165164" y="166196"/>
                  <a:pt x="165164" y="166777"/>
                  <a:pt x="165164" y="167293"/>
                </a:cubicBezTo>
                <a:cubicBezTo>
                  <a:pt x="165164" y="200248"/>
                  <a:pt x="191864" y="226948"/>
                  <a:pt x="224820" y="226948"/>
                </a:cubicBezTo>
                <a:cubicBezTo>
                  <a:pt x="240620" y="226948"/>
                  <a:pt x="255776" y="220692"/>
                  <a:pt x="266998" y="209471"/>
                </a:cubicBezTo>
                <a:lnTo>
                  <a:pt x="312852" y="163617"/>
                </a:lnTo>
                <a:cubicBezTo>
                  <a:pt x="324009" y="152460"/>
                  <a:pt x="330329" y="137239"/>
                  <a:pt x="330329" y="121439"/>
                </a:cubicBezTo>
                <a:cubicBezTo>
                  <a:pt x="330329" y="88483"/>
                  <a:pt x="303629" y="61784"/>
                  <a:pt x="270674" y="61784"/>
                </a:cubicBezTo>
                <a:close/>
                <a:moveTo>
                  <a:pt x="177482" y="111765"/>
                </a:moveTo>
                <a:cubicBezTo>
                  <a:pt x="176257" y="111249"/>
                  <a:pt x="175032" y="110540"/>
                  <a:pt x="173935" y="109766"/>
                </a:cubicBezTo>
                <a:cubicBezTo>
                  <a:pt x="165809" y="105574"/>
                  <a:pt x="156523" y="103188"/>
                  <a:pt x="146784" y="103188"/>
                </a:cubicBezTo>
                <a:cubicBezTo>
                  <a:pt x="130984" y="103188"/>
                  <a:pt x="115828" y="109443"/>
                  <a:pt x="104606" y="120665"/>
                </a:cubicBezTo>
                <a:lnTo>
                  <a:pt x="58752" y="166519"/>
                </a:lnTo>
                <a:cubicBezTo>
                  <a:pt x="47595" y="177676"/>
                  <a:pt x="41275" y="192896"/>
                  <a:pt x="41275" y="208697"/>
                </a:cubicBezTo>
                <a:cubicBezTo>
                  <a:pt x="41275" y="241652"/>
                  <a:pt x="67975" y="268352"/>
                  <a:pt x="100930" y="268352"/>
                </a:cubicBezTo>
                <a:cubicBezTo>
                  <a:pt x="111571" y="268352"/>
                  <a:pt x="121955" y="265514"/>
                  <a:pt x="131048" y="260226"/>
                </a:cubicBezTo>
                <a:cubicBezTo>
                  <a:pt x="141238" y="270545"/>
                  <a:pt x="153104" y="279187"/>
                  <a:pt x="166261" y="285700"/>
                </a:cubicBezTo>
                <a:cubicBezTo>
                  <a:pt x="148074" y="301114"/>
                  <a:pt x="124986" y="309691"/>
                  <a:pt x="100930" y="309691"/>
                </a:cubicBezTo>
                <a:cubicBezTo>
                  <a:pt x="45209" y="309691"/>
                  <a:pt x="0" y="264547"/>
                  <a:pt x="0" y="208761"/>
                </a:cubicBezTo>
                <a:cubicBezTo>
                  <a:pt x="0" y="181997"/>
                  <a:pt x="10641" y="156329"/>
                  <a:pt x="29537" y="137433"/>
                </a:cubicBezTo>
                <a:lnTo>
                  <a:pt x="75391" y="91579"/>
                </a:lnTo>
                <a:cubicBezTo>
                  <a:pt x="94288" y="72683"/>
                  <a:pt x="119955" y="62041"/>
                  <a:pt x="146720" y="62041"/>
                </a:cubicBezTo>
                <a:cubicBezTo>
                  <a:pt x="202570" y="62041"/>
                  <a:pt x="247650" y="107573"/>
                  <a:pt x="247650" y="163230"/>
                </a:cubicBezTo>
                <a:cubicBezTo>
                  <a:pt x="247650" y="164068"/>
                  <a:pt x="247650" y="164907"/>
                  <a:pt x="247650" y="165745"/>
                </a:cubicBezTo>
                <a:cubicBezTo>
                  <a:pt x="247392" y="177160"/>
                  <a:pt x="237912" y="186124"/>
                  <a:pt x="226497" y="185866"/>
                </a:cubicBezTo>
                <a:cubicBezTo>
                  <a:pt x="215081" y="185609"/>
                  <a:pt x="206117" y="176128"/>
                  <a:pt x="206375" y="164713"/>
                </a:cubicBezTo>
                <a:cubicBezTo>
                  <a:pt x="206375" y="164197"/>
                  <a:pt x="206375" y="163746"/>
                  <a:pt x="206375" y="163230"/>
                </a:cubicBezTo>
                <a:cubicBezTo>
                  <a:pt x="206375" y="141496"/>
                  <a:pt x="194766" y="122406"/>
                  <a:pt x="177482" y="11189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762500" y="42926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Pairing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password required to connect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3683000"/>
            <a:ext cx="342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8363" y="38735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185738" y="61912"/>
                </a:moveTo>
                <a:cubicBezTo>
                  <a:pt x="127114" y="61912"/>
                  <a:pt x="74037" y="85130"/>
                  <a:pt x="35019" y="122922"/>
                </a:cubicBezTo>
                <a:cubicBezTo>
                  <a:pt x="26829" y="130855"/>
                  <a:pt x="13737" y="130661"/>
                  <a:pt x="5869" y="122471"/>
                </a:cubicBezTo>
                <a:cubicBezTo>
                  <a:pt x="-1999" y="114280"/>
                  <a:pt x="-1870" y="101188"/>
                  <a:pt x="6320" y="93320"/>
                </a:cubicBezTo>
                <a:cubicBezTo>
                  <a:pt x="52690" y="48305"/>
                  <a:pt x="116021" y="20638"/>
                  <a:pt x="185738" y="20638"/>
                </a:cubicBezTo>
                <a:cubicBezTo>
                  <a:pt x="255454" y="20638"/>
                  <a:pt x="318785" y="48305"/>
                  <a:pt x="365219" y="93320"/>
                </a:cubicBezTo>
                <a:cubicBezTo>
                  <a:pt x="373410" y="101253"/>
                  <a:pt x="373603" y="114345"/>
                  <a:pt x="365671" y="122471"/>
                </a:cubicBezTo>
                <a:cubicBezTo>
                  <a:pt x="357738" y="130597"/>
                  <a:pt x="344646" y="130855"/>
                  <a:pt x="336520" y="122922"/>
                </a:cubicBezTo>
                <a:cubicBezTo>
                  <a:pt x="297438" y="85130"/>
                  <a:pt x="244361" y="61912"/>
                  <a:pt x="185738" y="61912"/>
                </a:cubicBezTo>
                <a:close/>
                <a:moveTo>
                  <a:pt x="154781" y="278606"/>
                </a:moveTo>
                <a:cubicBezTo>
                  <a:pt x="154781" y="261521"/>
                  <a:pt x="168652" y="247650"/>
                  <a:pt x="185738" y="247650"/>
                </a:cubicBezTo>
                <a:cubicBezTo>
                  <a:pt x="202823" y="247650"/>
                  <a:pt x="216694" y="261521"/>
                  <a:pt x="216694" y="278606"/>
                </a:cubicBezTo>
                <a:cubicBezTo>
                  <a:pt x="216694" y="295691"/>
                  <a:pt x="202823" y="309563"/>
                  <a:pt x="185738" y="309563"/>
                </a:cubicBezTo>
                <a:cubicBezTo>
                  <a:pt x="168652" y="309563"/>
                  <a:pt x="154781" y="295691"/>
                  <a:pt x="154781" y="278606"/>
                </a:cubicBezTo>
                <a:close/>
                <a:moveTo>
                  <a:pt x="108347" y="210374"/>
                </a:moveTo>
                <a:cubicBezTo>
                  <a:pt x="100801" y="218951"/>
                  <a:pt x="87774" y="219725"/>
                  <a:pt x="79196" y="212179"/>
                </a:cubicBezTo>
                <a:cubicBezTo>
                  <a:pt x="70619" y="204634"/>
                  <a:pt x="69845" y="191606"/>
                  <a:pt x="77391" y="183029"/>
                </a:cubicBezTo>
                <a:cubicBezTo>
                  <a:pt x="103832" y="153104"/>
                  <a:pt x="142592" y="134144"/>
                  <a:pt x="185738" y="134144"/>
                </a:cubicBezTo>
                <a:cubicBezTo>
                  <a:pt x="228883" y="134144"/>
                  <a:pt x="267643" y="153104"/>
                  <a:pt x="294084" y="183029"/>
                </a:cubicBezTo>
                <a:cubicBezTo>
                  <a:pt x="301630" y="191606"/>
                  <a:pt x="300792" y="204634"/>
                  <a:pt x="292279" y="212179"/>
                </a:cubicBezTo>
                <a:cubicBezTo>
                  <a:pt x="283766" y="219725"/>
                  <a:pt x="270674" y="218886"/>
                  <a:pt x="263128" y="210374"/>
                </a:cubicBezTo>
                <a:cubicBezTo>
                  <a:pt x="244167" y="188898"/>
                  <a:pt x="216565" y="175419"/>
                  <a:pt x="185738" y="175419"/>
                </a:cubicBezTo>
                <a:cubicBezTo>
                  <a:pt x="154910" y="175419"/>
                  <a:pt x="127308" y="188898"/>
                  <a:pt x="108347" y="21037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42926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Freq. Hopping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Hops 1600x/sec, 79 channels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001500" y="3683000"/>
            <a:ext cx="34925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2255500" y="3873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13506" y="15478"/>
                </a:moveTo>
                <a:cubicBezTo>
                  <a:pt x="113506" y="6901"/>
                  <a:pt x="106606" y="0"/>
                  <a:pt x="98028" y="0"/>
                </a:cubicBezTo>
                <a:cubicBezTo>
                  <a:pt x="89451" y="0"/>
                  <a:pt x="82550" y="6901"/>
                  <a:pt x="82550" y="15478"/>
                </a:cubicBezTo>
                <a:lnTo>
                  <a:pt x="82550" y="41275"/>
                </a:lnTo>
                <a:cubicBezTo>
                  <a:pt x="59784" y="41275"/>
                  <a:pt x="41275" y="59784"/>
                  <a:pt x="41275" y="82550"/>
                </a:cubicBezTo>
                <a:lnTo>
                  <a:pt x="15478" y="82550"/>
                </a:lnTo>
                <a:cubicBezTo>
                  <a:pt x="6901" y="82550"/>
                  <a:pt x="0" y="89451"/>
                  <a:pt x="0" y="98028"/>
                </a:cubicBezTo>
                <a:cubicBezTo>
                  <a:pt x="0" y="106606"/>
                  <a:pt x="6901" y="113506"/>
                  <a:pt x="15478" y="113506"/>
                </a:cubicBezTo>
                <a:lnTo>
                  <a:pt x="41275" y="113506"/>
                </a:lnTo>
                <a:lnTo>
                  <a:pt x="41275" y="149622"/>
                </a:lnTo>
                <a:lnTo>
                  <a:pt x="15478" y="149622"/>
                </a:lnTo>
                <a:cubicBezTo>
                  <a:pt x="6901" y="149622"/>
                  <a:pt x="0" y="156523"/>
                  <a:pt x="0" y="165100"/>
                </a:cubicBezTo>
                <a:cubicBezTo>
                  <a:pt x="0" y="173677"/>
                  <a:pt x="6901" y="180578"/>
                  <a:pt x="15478" y="180578"/>
                </a:cubicBezTo>
                <a:lnTo>
                  <a:pt x="41275" y="180578"/>
                </a:lnTo>
                <a:lnTo>
                  <a:pt x="41275" y="216694"/>
                </a:lnTo>
                <a:lnTo>
                  <a:pt x="15478" y="216694"/>
                </a:lnTo>
                <a:cubicBezTo>
                  <a:pt x="6901" y="216694"/>
                  <a:pt x="0" y="223594"/>
                  <a:pt x="0" y="232172"/>
                </a:cubicBezTo>
                <a:cubicBezTo>
                  <a:pt x="0" y="240749"/>
                  <a:pt x="6901" y="247650"/>
                  <a:pt x="15478" y="247650"/>
                </a:cubicBezTo>
                <a:lnTo>
                  <a:pt x="41275" y="247650"/>
                </a:lnTo>
                <a:cubicBezTo>
                  <a:pt x="41275" y="270416"/>
                  <a:pt x="59784" y="288925"/>
                  <a:pt x="82550" y="288925"/>
                </a:cubicBezTo>
                <a:lnTo>
                  <a:pt x="82550" y="314722"/>
                </a:lnTo>
                <a:cubicBezTo>
                  <a:pt x="82550" y="323299"/>
                  <a:pt x="89451" y="330200"/>
                  <a:pt x="98028" y="330200"/>
                </a:cubicBezTo>
                <a:cubicBezTo>
                  <a:pt x="106606" y="330200"/>
                  <a:pt x="113506" y="323299"/>
                  <a:pt x="113506" y="314722"/>
                </a:cubicBezTo>
                <a:lnTo>
                  <a:pt x="113506" y="288925"/>
                </a:lnTo>
                <a:lnTo>
                  <a:pt x="149622" y="288925"/>
                </a:lnTo>
                <a:lnTo>
                  <a:pt x="149622" y="314722"/>
                </a:lnTo>
                <a:cubicBezTo>
                  <a:pt x="149622" y="323299"/>
                  <a:pt x="156523" y="330200"/>
                  <a:pt x="165100" y="330200"/>
                </a:cubicBezTo>
                <a:cubicBezTo>
                  <a:pt x="173677" y="330200"/>
                  <a:pt x="180578" y="323299"/>
                  <a:pt x="180578" y="314722"/>
                </a:cubicBezTo>
                <a:lnTo>
                  <a:pt x="180578" y="288925"/>
                </a:lnTo>
                <a:lnTo>
                  <a:pt x="216694" y="288925"/>
                </a:lnTo>
                <a:lnTo>
                  <a:pt x="216694" y="314722"/>
                </a:lnTo>
                <a:cubicBezTo>
                  <a:pt x="216694" y="323299"/>
                  <a:pt x="223594" y="330200"/>
                  <a:pt x="232172" y="330200"/>
                </a:cubicBezTo>
                <a:cubicBezTo>
                  <a:pt x="240749" y="330200"/>
                  <a:pt x="247650" y="323299"/>
                  <a:pt x="247650" y="314722"/>
                </a:cubicBezTo>
                <a:lnTo>
                  <a:pt x="247650" y="288925"/>
                </a:lnTo>
                <a:cubicBezTo>
                  <a:pt x="270416" y="288925"/>
                  <a:pt x="288925" y="270416"/>
                  <a:pt x="288925" y="247650"/>
                </a:cubicBezTo>
                <a:lnTo>
                  <a:pt x="314722" y="247650"/>
                </a:lnTo>
                <a:cubicBezTo>
                  <a:pt x="323299" y="247650"/>
                  <a:pt x="330200" y="240749"/>
                  <a:pt x="330200" y="232172"/>
                </a:cubicBezTo>
                <a:cubicBezTo>
                  <a:pt x="330200" y="223594"/>
                  <a:pt x="323299" y="216694"/>
                  <a:pt x="314722" y="216694"/>
                </a:cubicBezTo>
                <a:lnTo>
                  <a:pt x="288925" y="216694"/>
                </a:lnTo>
                <a:lnTo>
                  <a:pt x="288925" y="180578"/>
                </a:lnTo>
                <a:lnTo>
                  <a:pt x="314722" y="180578"/>
                </a:lnTo>
                <a:cubicBezTo>
                  <a:pt x="323299" y="180578"/>
                  <a:pt x="330200" y="173677"/>
                  <a:pt x="330200" y="165100"/>
                </a:cubicBezTo>
                <a:cubicBezTo>
                  <a:pt x="330200" y="156523"/>
                  <a:pt x="323299" y="149622"/>
                  <a:pt x="314722" y="149622"/>
                </a:cubicBezTo>
                <a:lnTo>
                  <a:pt x="288925" y="149622"/>
                </a:lnTo>
                <a:lnTo>
                  <a:pt x="288925" y="113506"/>
                </a:lnTo>
                <a:lnTo>
                  <a:pt x="314722" y="113506"/>
                </a:lnTo>
                <a:cubicBezTo>
                  <a:pt x="323299" y="113506"/>
                  <a:pt x="330200" y="106606"/>
                  <a:pt x="330200" y="98028"/>
                </a:cubicBezTo>
                <a:cubicBezTo>
                  <a:pt x="330200" y="89451"/>
                  <a:pt x="323299" y="82550"/>
                  <a:pt x="314722" y="82550"/>
                </a:cubicBezTo>
                <a:lnTo>
                  <a:pt x="288925" y="82550"/>
                </a:lnTo>
                <a:cubicBezTo>
                  <a:pt x="288925" y="59784"/>
                  <a:pt x="270416" y="41275"/>
                  <a:pt x="247650" y="41275"/>
                </a:cubicBezTo>
                <a:lnTo>
                  <a:pt x="247650" y="15478"/>
                </a:lnTo>
                <a:cubicBezTo>
                  <a:pt x="247650" y="6901"/>
                  <a:pt x="240749" y="0"/>
                  <a:pt x="232172" y="0"/>
                </a:cubicBezTo>
                <a:cubicBezTo>
                  <a:pt x="223594" y="0"/>
                  <a:pt x="216694" y="6901"/>
                  <a:pt x="216694" y="15478"/>
                </a:cubicBezTo>
                <a:lnTo>
                  <a:pt x="216694" y="41275"/>
                </a:lnTo>
                <a:lnTo>
                  <a:pt x="180578" y="41275"/>
                </a:lnTo>
                <a:lnTo>
                  <a:pt x="180578" y="15478"/>
                </a:lnTo>
                <a:cubicBezTo>
                  <a:pt x="180578" y="6901"/>
                  <a:pt x="173677" y="0"/>
                  <a:pt x="165100" y="0"/>
                </a:cubicBezTo>
                <a:cubicBezTo>
                  <a:pt x="156523" y="0"/>
                  <a:pt x="149622" y="6901"/>
                  <a:pt x="149622" y="15478"/>
                </a:cubicBezTo>
                <a:lnTo>
                  <a:pt x="149622" y="41275"/>
                </a:lnTo>
                <a:lnTo>
                  <a:pt x="113506" y="41275"/>
                </a:lnTo>
                <a:lnTo>
                  <a:pt x="113506" y="15478"/>
                </a:lnTo>
                <a:close/>
                <a:moveTo>
                  <a:pt x="103188" y="82550"/>
                </a:moveTo>
                <a:lnTo>
                  <a:pt x="227013" y="82550"/>
                </a:lnTo>
                <a:cubicBezTo>
                  <a:pt x="238428" y="82550"/>
                  <a:pt x="247650" y="91772"/>
                  <a:pt x="247650" y="103188"/>
                </a:cubicBezTo>
                <a:lnTo>
                  <a:pt x="247650" y="227013"/>
                </a:lnTo>
                <a:cubicBezTo>
                  <a:pt x="247650" y="238428"/>
                  <a:pt x="238428" y="247650"/>
                  <a:pt x="227013" y="247650"/>
                </a:cubicBezTo>
                <a:lnTo>
                  <a:pt x="103188" y="247650"/>
                </a:lnTo>
                <a:cubicBezTo>
                  <a:pt x="91772" y="247650"/>
                  <a:pt x="82550" y="238428"/>
                  <a:pt x="82550" y="227013"/>
                </a:cubicBezTo>
                <a:lnTo>
                  <a:pt x="82550" y="103188"/>
                </a:lnTo>
                <a:cubicBezTo>
                  <a:pt x="82550" y="91772"/>
                  <a:pt x="91772" y="82550"/>
                  <a:pt x="103188" y="82550"/>
                </a:cubicBezTo>
                <a:close/>
                <a:moveTo>
                  <a:pt x="113506" y="113506"/>
                </a:moveTo>
                <a:lnTo>
                  <a:pt x="113506" y="216694"/>
                </a:lnTo>
                <a:lnTo>
                  <a:pt x="216694" y="216694"/>
                </a:lnTo>
                <a:lnTo>
                  <a:pt x="216694" y="113506"/>
                </a:lnTo>
                <a:lnTo>
                  <a:pt x="113506" y="11350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2255500" y="4292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BLE Available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Bluetooth Low Energy for IoT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39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Applications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5905500"/>
            <a:ext cx="3429000" cy="1016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5050" y="61595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33350"/>
                </a:moveTo>
                <a:cubicBezTo>
                  <a:pt x="38100" y="80724"/>
                  <a:pt x="80724" y="38100"/>
                  <a:pt x="133350" y="38100"/>
                </a:cubicBezTo>
                <a:cubicBezTo>
                  <a:pt x="185976" y="38100"/>
                  <a:pt x="228600" y="80724"/>
                  <a:pt x="228600" y="133350"/>
                </a:cubicBezTo>
                <a:lnTo>
                  <a:pt x="228600" y="155674"/>
                </a:lnTo>
                <a:cubicBezTo>
                  <a:pt x="222647" y="153591"/>
                  <a:pt x="216218" y="152400"/>
                  <a:pt x="209550" y="152400"/>
                </a:cubicBezTo>
                <a:lnTo>
                  <a:pt x="200025" y="152400"/>
                </a:lnTo>
                <a:cubicBezTo>
                  <a:pt x="184249" y="152400"/>
                  <a:pt x="171450" y="165199"/>
                  <a:pt x="171450" y="180975"/>
                </a:cubicBezTo>
                <a:lnTo>
                  <a:pt x="171450" y="257175"/>
                </a:lnTo>
                <a:cubicBezTo>
                  <a:pt x="171450" y="272951"/>
                  <a:pt x="184249" y="285750"/>
                  <a:pt x="200025" y="285750"/>
                </a:cubicBezTo>
                <a:lnTo>
                  <a:pt x="209550" y="285750"/>
                </a:lnTo>
                <a:cubicBezTo>
                  <a:pt x="241102" y="285750"/>
                  <a:pt x="266700" y="260152"/>
                  <a:pt x="266700" y="228600"/>
                </a:cubicBezTo>
                <a:lnTo>
                  <a:pt x="266700" y="133350"/>
                </a:lnTo>
                <a:cubicBezTo>
                  <a:pt x="266700" y="59710"/>
                  <a:pt x="206990" y="0"/>
                  <a:pt x="133350" y="0"/>
                </a:cubicBezTo>
                <a:cubicBezTo>
                  <a:pt x="59710" y="0"/>
                  <a:pt x="0" y="59710"/>
                  <a:pt x="0" y="133350"/>
                </a:cubicBezTo>
                <a:lnTo>
                  <a:pt x="0" y="228600"/>
                </a:lnTo>
                <a:cubicBezTo>
                  <a:pt x="0" y="260152"/>
                  <a:pt x="25598" y="285750"/>
                  <a:pt x="57150" y="285750"/>
                </a:cubicBezTo>
                <a:lnTo>
                  <a:pt x="66675" y="285750"/>
                </a:lnTo>
                <a:cubicBezTo>
                  <a:pt x="82451" y="285750"/>
                  <a:pt x="95250" y="272951"/>
                  <a:pt x="95250" y="257175"/>
                </a:cubicBezTo>
                <a:lnTo>
                  <a:pt x="95250" y="180975"/>
                </a:lnTo>
                <a:cubicBezTo>
                  <a:pt x="95250" y="165199"/>
                  <a:pt x="82451" y="152400"/>
                  <a:pt x="66675" y="152400"/>
                </a:cubicBezTo>
                <a:lnTo>
                  <a:pt x="57150" y="152400"/>
                </a:lnTo>
                <a:cubicBezTo>
                  <a:pt x="50483" y="152400"/>
                  <a:pt x="44053" y="153531"/>
                  <a:pt x="38100" y="155674"/>
                </a:cubicBezTo>
                <a:lnTo>
                  <a:pt x="38100" y="13335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1460500" y="6070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 Audio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Headphones, speakers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08500" y="5905500"/>
            <a:ext cx="3429000" cy="1016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4743450" y="6159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304800" y="266700"/>
                </a:lnTo>
                <a:cubicBezTo>
                  <a:pt x="325815" y="266700"/>
                  <a:pt x="342900" y="249615"/>
                  <a:pt x="342900" y="228600"/>
                </a:cubicBezTo>
                <a:lnTo>
                  <a:pt x="342900" y="76200"/>
                </a:lnTo>
                <a:cubicBezTo>
                  <a:pt x="342900" y="55185"/>
                  <a:pt x="325815" y="38100"/>
                  <a:pt x="304800" y="38100"/>
                </a:cubicBezTo>
                <a:lnTo>
                  <a:pt x="38100" y="38100"/>
                </a:lnTo>
                <a:close/>
                <a:moveTo>
                  <a:pt x="47625" y="76200"/>
                </a:moveTo>
                <a:lnTo>
                  <a:pt x="66675" y="76200"/>
                </a:lnTo>
                <a:cubicBezTo>
                  <a:pt x="71914" y="76200"/>
                  <a:pt x="76200" y="80486"/>
                  <a:pt x="76200" y="85725"/>
                </a:cubicBezTo>
                <a:lnTo>
                  <a:pt x="76200" y="104775"/>
                </a:lnTo>
                <a:cubicBezTo>
                  <a:pt x="76200" y="110014"/>
                  <a:pt x="71914" y="114300"/>
                  <a:pt x="66675" y="114300"/>
                </a:cubicBezTo>
                <a:lnTo>
                  <a:pt x="47625" y="114300"/>
                </a:lnTo>
                <a:cubicBezTo>
                  <a:pt x="42386" y="114300"/>
                  <a:pt x="38100" y="110014"/>
                  <a:pt x="38100" y="104775"/>
                </a:cubicBezTo>
                <a:lnTo>
                  <a:pt x="38100" y="85725"/>
                </a:lnTo>
                <a:cubicBezTo>
                  <a:pt x="38100" y="80486"/>
                  <a:pt x="42386" y="76200"/>
                  <a:pt x="47625" y="76200"/>
                </a:cubicBezTo>
                <a:close/>
                <a:moveTo>
                  <a:pt x="38100" y="142875"/>
                </a:moveTo>
                <a:cubicBezTo>
                  <a:pt x="38100" y="137636"/>
                  <a:pt x="42386" y="133350"/>
                  <a:pt x="47625" y="133350"/>
                </a:cubicBezTo>
                <a:lnTo>
                  <a:pt x="66675" y="133350"/>
                </a:lnTo>
                <a:cubicBezTo>
                  <a:pt x="71914" y="133350"/>
                  <a:pt x="76200" y="137636"/>
                  <a:pt x="76200" y="142875"/>
                </a:cubicBezTo>
                <a:lnTo>
                  <a:pt x="76200" y="161925"/>
                </a:lnTo>
                <a:cubicBezTo>
                  <a:pt x="76200" y="167164"/>
                  <a:pt x="71914" y="171450"/>
                  <a:pt x="66675" y="171450"/>
                </a:cubicBezTo>
                <a:lnTo>
                  <a:pt x="47625" y="171450"/>
                </a:lnTo>
                <a:cubicBezTo>
                  <a:pt x="42386" y="171450"/>
                  <a:pt x="38100" y="167164"/>
                  <a:pt x="38100" y="161925"/>
                </a:cubicBezTo>
                <a:lnTo>
                  <a:pt x="38100" y="142875"/>
                </a:lnTo>
                <a:close/>
                <a:moveTo>
                  <a:pt x="104775" y="76200"/>
                </a:moveTo>
                <a:lnTo>
                  <a:pt x="123825" y="76200"/>
                </a:lnTo>
                <a:cubicBezTo>
                  <a:pt x="129064" y="76200"/>
                  <a:pt x="133350" y="80486"/>
                  <a:pt x="133350" y="85725"/>
                </a:cubicBezTo>
                <a:lnTo>
                  <a:pt x="133350" y="104775"/>
                </a:lnTo>
                <a:cubicBezTo>
                  <a:pt x="133350" y="110014"/>
                  <a:pt x="129064" y="114300"/>
                  <a:pt x="123825" y="114300"/>
                </a:cubicBezTo>
                <a:lnTo>
                  <a:pt x="104775" y="114300"/>
                </a:lnTo>
                <a:cubicBezTo>
                  <a:pt x="99536" y="114300"/>
                  <a:pt x="95250" y="110014"/>
                  <a:pt x="95250" y="104775"/>
                </a:cubicBezTo>
                <a:lnTo>
                  <a:pt x="95250" y="85725"/>
                </a:lnTo>
                <a:cubicBezTo>
                  <a:pt x="95250" y="80486"/>
                  <a:pt x="99536" y="76200"/>
                  <a:pt x="104775" y="76200"/>
                </a:cubicBezTo>
                <a:close/>
                <a:moveTo>
                  <a:pt x="95250" y="142875"/>
                </a:moveTo>
                <a:cubicBezTo>
                  <a:pt x="95250" y="137636"/>
                  <a:pt x="99536" y="133350"/>
                  <a:pt x="104775" y="133350"/>
                </a:cubicBezTo>
                <a:lnTo>
                  <a:pt x="123825" y="133350"/>
                </a:lnTo>
                <a:cubicBezTo>
                  <a:pt x="129064" y="133350"/>
                  <a:pt x="133350" y="137636"/>
                  <a:pt x="133350" y="142875"/>
                </a:cubicBezTo>
                <a:lnTo>
                  <a:pt x="133350" y="161925"/>
                </a:lnTo>
                <a:cubicBezTo>
                  <a:pt x="133350" y="167164"/>
                  <a:pt x="129064" y="171450"/>
                  <a:pt x="123825" y="171450"/>
                </a:cubicBezTo>
                <a:lnTo>
                  <a:pt x="104775" y="171450"/>
                </a:lnTo>
                <a:cubicBezTo>
                  <a:pt x="99536" y="171450"/>
                  <a:pt x="95250" y="167164"/>
                  <a:pt x="95250" y="161925"/>
                </a:cubicBezTo>
                <a:lnTo>
                  <a:pt x="95250" y="142875"/>
                </a:lnTo>
                <a:close/>
                <a:moveTo>
                  <a:pt x="104775" y="190500"/>
                </a:moveTo>
                <a:lnTo>
                  <a:pt x="238125" y="190500"/>
                </a:lnTo>
                <a:cubicBezTo>
                  <a:pt x="243364" y="190500"/>
                  <a:pt x="247650" y="194786"/>
                  <a:pt x="247650" y="200025"/>
                </a:cubicBezTo>
                <a:lnTo>
                  <a:pt x="247650" y="219075"/>
                </a:lnTo>
                <a:cubicBezTo>
                  <a:pt x="247650" y="224314"/>
                  <a:pt x="243364" y="228600"/>
                  <a:pt x="238125" y="228600"/>
                </a:cubicBezTo>
                <a:lnTo>
                  <a:pt x="104775" y="228600"/>
                </a:lnTo>
                <a:cubicBezTo>
                  <a:pt x="99536" y="228600"/>
                  <a:pt x="95250" y="224314"/>
                  <a:pt x="95250" y="219075"/>
                </a:cubicBezTo>
                <a:lnTo>
                  <a:pt x="95250" y="200025"/>
                </a:lnTo>
                <a:cubicBezTo>
                  <a:pt x="95250" y="194786"/>
                  <a:pt x="99536" y="190500"/>
                  <a:pt x="104775" y="190500"/>
                </a:cubicBezTo>
                <a:close/>
                <a:moveTo>
                  <a:pt x="152400" y="85725"/>
                </a:moveTo>
                <a:cubicBezTo>
                  <a:pt x="152400" y="80486"/>
                  <a:pt x="156686" y="76200"/>
                  <a:pt x="161925" y="76200"/>
                </a:cubicBezTo>
                <a:lnTo>
                  <a:pt x="180975" y="76200"/>
                </a:lnTo>
                <a:cubicBezTo>
                  <a:pt x="186214" y="76200"/>
                  <a:pt x="190500" y="80486"/>
                  <a:pt x="190500" y="85725"/>
                </a:cubicBezTo>
                <a:lnTo>
                  <a:pt x="190500" y="104775"/>
                </a:lnTo>
                <a:cubicBezTo>
                  <a:pt x="190500" y="110014"/>
                  <a:pt x="186214" y="114300"/>
                  <a:pt x="180975" y="114300"/>
                </a:cubicBezTo>
                <a:lnTo>
                  <a:pt x="161925" y="114300"/>
                </a:lnTo>
                <a:cubicBezTo>
                  <a:pt x="156686" y="114300"/>
                  <a:pt x="152400" y="110014"/>
                  <a:pt x="152400" y="104775"/>
                </a:cubicBezTo>
                <a:lnTo>
                  <a:pt x="152400" y="85725"/>
                </a:lnTo>
                <a:close/>
                <a:moveTo>
                  <a:pt x="161925" y="133350"/>
                </a:moveTo>
                <a:lnTo>
                  <a:pt x="180975" y="133350"/>
                </a:lnTo>
                <a:cubicBezTo>
                  <a:pt x="186214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86214" y="171450"/>
                  <a:pt x="180975" y="171450"/>
                </a:cubicBezTo>
                <a:lnTo>
                  <a:pt x="161925" y="171450"/>
                </a:lnTo>
                <a:cubicBezTo>
                  <a:pt x="156686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56686" y="133350"/>
                  <a:pt x="161925" y="133350"/>
                </a:cubicBezTo>
                <a:close/>
                <a:moveTo>
                  <a:pt x="209550" y="85725"/>
                </a:moveTo>
                <a:cubicBezTo>
                  <a:pt x="209550" y="80486"/>
                  <a:pt x="213836" y="76200"/>
                  <a:pt x="219075" y="76200"/>
                </a:cubicBezTo>
                <a:lnTo>
                  <a:pt x="238125" y="76200"/>
                </a:lnTo>
                <a:cubicBezTo>
                  <a:pt x="243364" y="76200"/>
                  <a:pt x="247650" y="80486"/>
                  <a:pt x="247650" y="85725"/>
                </a:cubicBezTo>
                <a:lnTo>
                  <a:pt x="247650" y="104775"/>
                </a:lnTo>
                <a:cubicBezTo>
                  <a:pt x="247650" y="110014"/>
                  <a:pt x="243364" y="114300"/>
                  <a:pt x="238125" y="114300"/>
                </a:cubicBezTo>
                <a:lnTo>
                  <a:pt x="219075" y="114300"/>
                </a:lnTo>
                <a:cubicBezTo>
                  <a:pt x="213836" y="114300"/>
                  <a:pt x="209550" y="110014"/>
                  <a:pt x="209550" y="104775"/>
                </a:cubicBezTo>
                <a:lnTo>
                  <a:pt x="209550" y="85725"/>
                </a:lnTo>
                <a:close/>
                <a:moveTo>
                  <a:pt x="219075" y="133350"/>
                </a:moveTo>
                <a:lnTo>
                  <a:pt x="238125" y="133350"/>
                </a:lnTo>
                <a:cubicBezTo>
                  <a:pt x="243364" y="133350"/>
                  <a:pt x="247650" y="137636"/>
                  <a:pt x="247650" y="142875"/>
                </a:cubicBezTo>
                <a:lnTo>
                  <a:pt x="247650" y="161925"/>
                </a:lnTo>
                <a:cubicBezTo>
                  <a:pt x="247650" y="167164"/>
                  <a:pt x="243364" y="171450"/>
                  <a:pt x="238125" y="171450"/>
                </a:cubicBezTo>
                <a:lnTo>
                  <a:pt x="219075" y="171450"/>
                </a:lnTo>
                <a:cubicBezTo>
                  <a:pt x="213836" y="171450"/>
                  <a:pt x="209550" y="167164"/>
                  <a:pt x="209550" y="161925"/>
                </a:cubicBezTo>
                <a:lnTo>
                  <a:pt x="209550" y="142875"/>
                </a:lnTo>
                <a:cubicBezTo>
                  <a:pt x="209550" y="137636"/>
                  <a:pt x="213836" y="133350"/>
                  <a:pt x="219075" y="133350"/>
                </a:cubicBezTo>
                <a:close/>
                <a:moveTo>
                  <a:pt x="266700" y="85725"/>
                </a:moveTo>
                <a:cubicBezTo>
                  <a:pt x="266700" y="80486"/>
                  <a:pt x="270986" y="76200"/>
                  <a:pt x="276225" y="76200"/>
                </a:cubicBezTo>
                <a:lnTo>
                  <a:pt x="295275" y="76200"/>
                </a:lnTo>
                <a:cubicBezTo>
                  <a:pt x="300514" y="76200"/>
                  <a:pt x="304800" y="80486"/>
                  <a:pt x="304800" y="85725"/>
                </a:cubicBezTo>
                <a:lnTo>
                  <a:pt x="304800" y="104775"/>
                </a:lnTo>
                <a:cubicBezTo>
                  <a:pt x="304800" y="110014"/>
                  <a:pt x="300514" y="114300"/>
                  <a:pt x="295275" y="114300"/>
                </a:cubicBezTo>
                <a:lnTo>
                  <a:pt x="276225" y="114300"/>
                </a:lnTo>
                <a:cubicBezTo>
                  <a:pt x="270986" y="114300"/>
                  <a:pt x="266700" y="110014"/>
                  <a:pt x="266700" y="104775"/>
                </a:cubicBezTo>
                <a:lnTo>
                  <a:pt x="266700" y="85725"/>
                </a:lnTo>
                <a:close/>
                <a:moveTo>
                  <a:pt x="276225" y="133350"/>
                </a:moveTo>
                <a:lnTo>
                  <a:pt x="295275" y="133350"/>
                </a:lnTo>
                <a:cubicBezTo>
                  <a:pt x="300514" y="133350"/>
                  <a:pt x="304800" y="137636"/>
                  <a:pt x="304800" y="142875"/>
                </a:cubicBezTo>
                <a:lnTo>
                  <a:pt x="304800" y="161925"/>
                </a:lnTo>
                <a:cubicBezTo>
                  <a:pt x="304800" y="167164"/>
                  <a:pt x="300514" y="171450"/>
                  <a:pt x="295275" y="171450"/>
                </a:cubicBezTo>
                <a:lnTo>
                  <a:pt x="276225" y="171450"/>
                </a:lnTo>
                <a:cubicBezTo>
                  <a:pt x="270986" y="171450"/>
                  <a:pt x="266700" y="167164"/>
                  <a:pt x="266700" y="161925"/>
                </a:cubicBezTo>
                <a:lnTo>
                  <a:pt x="266700" y="142875"/>
                </a:lnTo>
                <a:cubicBezTo>
                  <a:pt x="266700" y="137636"/>
                  <a:pt x="270986" y="133350"/>
                  <a:pt x="276225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5207000" y="6070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Peripherals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Keyboards, mice, printers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55000" y="5905500"/>
            <a:ext cx="3429000" cy="1016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8509000" y="615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8953500" y="6070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Wearables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Smartwatches, trackers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001500" y="5905500"/>
            <a:ext cx="3492500" cy="1016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2255500" y="615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0486" y="69890"/>
                </a:moveTo>
                <a:lnTo>
                  <a:pt x="64949" y="114300"/>
                </a:lnTo>
                <a:lnTo>
                  <a:pt x="239851" y="114300"/>
                </a:lnTo>
                <a:lnTo>
                  <a:pt x="224314" y="69890"/>
                </a:lnTo>
                <a:cubicBezTo>
                  <a:pt x="221635" y="62270"/>
                  <a:pt x="214432" y="57150"/>
                  <a:pt x="206335" y="57150"/>
                </a:cubicBezTo>
                <a:lnTo>
                  <a:pt x="98465" y="57150"/>
                </a:lnTo>
                <a:cubicBezTo>
                  <a:pt x="90368" y="57150"/>
                  <a:pt x="83165" y="62270"/>
                  <a:pt x="80486" y="69890"/>
                </a:cubicBezTo>
                <a:close/>
                <a:moveTo>
                  <a:pt x="23574" y="117157"/>
                </a:moveTo>
                <a:lnTo>
                  <a:pt x="44529" y="57329"/>
                </a:lnTo>
                <a:cubicBezTo>
                  <a:pt x="52566" y="34409"/>
                  <a:pt x="74176" y="19050"/>
                  <a:pt x="98465" y="19050"/>
                </a:cubicBezTo>
                <a:lnTo>
                  <a:pt x="206335" y="19050"/>
                </a:lnTo>
                <a:cubicBezTo>
                  <a:pt x="230624" y="19050"/>
                  <a:pt x="252234" y="34409"/>
                  <a:pt x="260271" y="57329"/>
                </a:cubicBezTo>
                <a:lnTo>
                  <a:pt x="281226" y="117157"/>
                </a:lnTo>
                <a:cubicBezTo>
                  <a:pt x="295037" y="122873"/>
                  <a:pt x="304800" y="136505"/>
                  <a:pt x="304800" y="1524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66700" y="285750"/>
                </a:lnTo>
                <a:cubicBezTo>
                  <a:pt x="256163" y="285750"/>
                  <a:pt x="247650" y="277237"/>
                  <a:pt x="247650" y="266700"/>
                </a:cubicBezTo>
                <a:lnTo>
                  <a:pt x="247650" y="247650"/>
                </a:lnTo>
                <a:lnTo>
                  <a:pt x="57150" y="247650"/>
                </a:lnTo>
                <a:lnTo>
                  <a:pt x="57150" y="266700"/>
                </a:lnTo>
                <a:cubicBezTo>
                  <a:pt x="57150" y="277237"/>
                  <a:pt x="48637" y="285750"/>
                  <a:pt x="3810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152400"/>
                </a:lnTo>
                <a:cubicBezTo>
                  <a:pt x="0" y="136505"/>
                  <a:pt x="9763" y="122873"/>
                  <a:pt x="23574" y="117157"/>
                </a:cubicBezTo>
                <a:close/>
                <a:moveTo>
                  <a:pt x="76200" y="180975"/>
                </a:moveTo>
                <a:cubicBezTo>
                  <a:pt x="76200" y="170461"/>
                  <a:pt x="67664" y="161925"/>
                  <a:pt x="57150" y="161925"/>
                </a:cubicBezTo>
                <a:cubicBezTo>
                  <a:pt x="46636" y="161925"/>
                  <a:pt x="38100" y="170461"/>
                  <a:pt x="38100" y="180975"/>
                </a:cubicBezTo>
                <a:cubicBezTo>
                  <a:pt x="38100" y="191489"/>
                  <a:pt x="46636" y="200025"/>
                  <a:pt x="57150" y="200025"/>
                </a:cubicBezTo>
                <a:cubicBezTo>
                  <a:pt x="67664" y="200025"/>
                  <a:pt x="76200" y="191489"/>
                  <a:pt x="76200" y="180975"/>
                </a:cubicBezTo>
                <a:close/>
                <a:moveTo>
                  <a:pt x="247650" y="200025"/>
                </a:moveTo>
                <a:cubicBezTo>
                  <a:pt x="258164" y="200025"/>
                  <a:pt x="266700" y="191489"/>
                  <a:pt x="266700" y="180975"/>
                </a:cubicBezTo>
                <a:cubicBezTo>
                  <a:pt x="266700" y="170461"/>
                  <a:pt x="258164" y="161925"/>
                  <a:pt x="247650" y="161925"/>
                </a:cubicBezTo>
                <a:cubicBezTo>
                  <a:pt x="237136" y="161925"/>
                  <a:pt x="228600" y="170461"/>
                  <a:pt x="228600" y="180975"/>
                </a:cubicBezTo>
                <a:cubicBezTo>
                  <a:pt x="228600" y="191489"/>
                  <a:pt x="237136" y="200025"/>
                  <a:pt x="247650" y="20002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12700000" y="60706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Automotive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Hands-free car systems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7239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8550" y="7493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1524000" y="7366000"/>
            <a:ext cx="1371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Bluetooth Low Energy (BLE):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Optimized for devices requiring minimal power. Used extensively in IoT sensors, beacons, and smart home devices — can run for years on a coin cell battery.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Wi-Fi vs Bluetooth — Choosing the Right Wireless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3810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Wi-Fi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Bluetooth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Internet access &amp; LAN networking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Short-range device-to-device comm.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100-300 feet indoors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~30 feet (10m) typical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Speed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 to 9.6 Gbps (Wi-Fi 6)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Up to 50 Mbps (v5+)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Power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 consumption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Low consumption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Security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WPA3 encryption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Pairing-based authentication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expensive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expensive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Frequency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2.4, 5, 6 GHz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2.4 GHz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Standard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IEEE 802.11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Bluetooth SIG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5461000"/>
            <a:ext cx="7112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55688" y="5715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14313" y="71438"/>
                </a:moveTo>
                <a:cubicBezTo>
                  <a:pt x="146670" y="71438"/>
                  <a:pt x="85427" y="98227"/>
                  <a:pt x="40407" y="141833"/>
                </a:cubicBezTo>
                <a:cubicBezTo>
                  <a:pt x="30956" y="150986"/>
                  <a:pt x="15850" y="150763"/>
                  <a:pt x="6772" y="141312"/>
                </a:cubicBezTo>
                <a:cubicBezTo>
                  <a:pt x="-2307" y="131862"/>
                  <a:pt x="-2158" y="116756"/>
                  <a:pt x="7293" y="107677"/>
                </a:cubicBezTo>
                <a:cubicBezTo>
                  <a:pt x="60796" y="55736"/>
                  <a:pt x="133871" y="23812"/>
                  <a:pt x="214313" y="23812"/>
                </a:cubicBezTo>
                <a:cubicBezTo>
                  <a:pt x="294754" y="23812"/>
                  <a:pt x="367829" y="55736"/>
                  <a:pt x="421407" y="107677"/>
                </a:cubicBezTo>
                <a:cubicBezTo>
                  <a:pt x="430857" y="116830"/>
                  <a:pt x="431081" y="131936"/>
                  <a:pt x="421928" y="141312"/>
                </a:cubicBezTo>
                <a:cubicBezTo>
                  <a:pt x="412775" y="150688"/>
                  <a:pt x="397669" y="150986"/>
                  <a:pt x="388293" y="141833"/>
                </a:cubicBezTo>
                <a:cubicBezTo>
                  <a:pt x="343198" y="98227"/>
                  <a:pt x="281955" y="71438"/>
                  <a:pt x="214313" y="71438"/>
                </a:cubicBezTo>
                <a:close/>
                <a:moveTo>
                  <a:pt x="178594" y="321469"/>
                </a:moveTo>
                <a:cubicBezTo>
                  <a:pt x="178594" y="301755"/>
                  <a:pt x="194599" y="285750"/>
                  <a:pt x="214313" y="285750"/>
                </a:cubicBezTo>
                <a:cubicBezTo>
                  <a:pt x="234026" y="285750"/>
                  <a:pt x="250031" y="301755"/>
                  <a:pt x="250031" y="321469"/>
                </a:cubicBezTo>
                <a:cubicBezTo>
                  <a:pt x="250031" y="341182"/>
                  <a:pt x="234026" y="357188"/>
                  <a:pt x="214313" y="357188"/>
                </a:cubicBezTo>
                <a:cubicBezTo>
                  <a:pt x="194599" y="357188"/>
                  <a:pt x="178594" y="341182"/>
                  <a:pt x="178594" y="321469"/>
                </a:cubicBezTo>
                <a:close/>
                <a:moveTo>
                  <a:pt x="125016" y="242739"/>
                </a:moveTo>
                <a:cubicBezTo>
                  <a:pt x="116309" y="252636"/>
                  <a:pt x="101278" y="253529"/>
                  <a:pt x="91380" y="244822"/>
                </a:cubicBezTo>
                <a:cubicBezTo>
                  <a:pt x="81483" y="236116"/>
                  <a:pt x="80590" y="221084"/>
                  <a:pt x="89297" y="211187"/>
                </a:cubicBezTo>
                <a:cubicBezTo>
                  <a:pt x="119807" y="176659"/>
                  <a:pt x="164529" y="154781"/>
                  <a:pt x="214313" y="154781"/>
                </a:cubicBezTo>
                <a:cubicBezTo>
                  <a:pt x="264096" y="154781"/>
                  <a:pt x="308818" y="176659"/>
                  <a:pt x="339328" y="211187"/>
                </a:cubicBezTo>
                <a:cubicBezTo>
                  <a:pt x="348035" y="221084"/>
                  <a:pt x="347067" y="236116"/>
                  <a:pt x="337245" y="244822"/>
                </a:cubicBezTo>
                <a:cubicBezTo>
                  <a:pt x="327422" y="253529"/>
                  <a:pt x="312316" y="252561"/>
                  <a:pt x="303609" y="242739"/>
                </a:cubicBezTo>
                <a:cubicBezTo>
                  <a:pt x="281732" y="217959"/>
                  <a:pt x="249882" y="202406"/>
                  <a:pt x="214313" y="202406"/>
                </a:cubicBezTo>
                <a:cubicBezTo>
                  <a:pt x="178743" y="202406"/>
                  <a:pt x="146893" y="217959"/>
                  <a:pt x="125016" y="242739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1587500" y="5689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Wi-Fi For: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79500" y="61595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Internet access and web browsing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Streaming video and large file transfers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Multi-device home/office networking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382000" y="5461000"/>
            <a:ext cx="7112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794750" y="5715000"/>
            <a:ext cx="190500" cy="381000"/>
          </a:xfrm>
          <a:custGeom>
            <a:avLst/>
            <a:gdLst/>
            <a:ahLst/>
            <a:cxnLst/>
            <a:rect l="l" t="t" r="r" b="b"/>
            <a:pathLst>
              <a:path w="190500" h="381000">
                <a:moveTo>
                  <a:pt x="122709" y="193477"/>
                </a:moveTo>
                <a:lnTo>
                  <a:pt x="191616" y="116607"/>
                </a:lnTo>
                <a:lnTo>
                  <a:pt x="83046" y="0"/>
                </a:lnTo>
                <a:lnTo>
                  <a:pt x="83046" y="153516"/>
                </a:lnTo>
                <a:lnTo>
                  <a:pt x="18901" y="89446"/>
                </a:lnTo>
                <a:lnTo>
                  <a:pt x="-4465" y="112812"/>
                </a:lnTo>
                <a:lnTo>
                  <a:pt x="75977" y="193477"/>
                </a:lnTo>
                <a:lnTo>
                  <a:pt x="-4465" y="274141"/>
                </a:lnTo>
                <a:lnTo>
                  <a:pt x="18901" y="297507"/>
                </a:lnTo>
                <a:lnTo>
                  <a:pt x="83046" y="233437"/>
                </a:lnTo>
                <a:lnTo>
                  <a:pt x="85055" y="381000"/>
                </a:lnTo>
                <a:lnTo>
                  <a:pt x="195560" y="270421"/>
                </a:lnTo>
                <a:lnTo>
                  <a:pt x="122709" y="193477"/>
                </a:lnTo>
                <a:close/>
                <a:moveTo>
                  <a:pt x="153144" y="116830"/>
                </a:moveTo>
                <a:lnTo>
                  <a:pt x="115937" y="154037"/>
                </a:lnTo>
                <a:lnTo>
                  <a:pt x="115714" y="79400"/>
                </a:lnTo>
                <a:lnTo>
                  <a:pt x="153144" y="116830"/>
                </a:lnTo>
                <a:close/>
                <a:moveTo>
                  <a:pt x="115937" y="232916"/>
                </a:moveTo>
                <a:lnTo>
                  <a:pt x="153144" y="270123"/>
                </a:lnTo>
                <a:lnTo>
                  <a:pt x="115714" y="307553"/>
                </a:lnTo>
                <a:lnTo>
                  <a:pt x="115937" y="232916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13" name="Text 10"/>
          <p:cNvSpPr/>
          <p:nvPr/>
        </p:nvSpPr>
        <p:spPr>
          <a:xfrm>
            <a:off x="9207500" y="56896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Bluetooth For: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699500" y="61595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Wireless audio (headphones, speakers)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Peripheral devices (keyboard, mouse)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Low-power IoT and wearable devices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62000" y="7747000"/>
            <a:ext cx="762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Sources: accsoon.com, verytechnology.com, Bluetooth SIG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4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 — Computing Over the Internet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Image 0" descr="https://kimi-img.moonshot.cn/pub/slides/okc/ojbxdy3f2uoeu/mnt/agents/output/ict-week5/images/7_305_302_Cloud_Computing_Blue_Royalty.png">    </p:cNvPr>
          <p:cNvPicPr>
            <a:picLocks noChangeAspect="1"/>
          </p:cNvPicPr>
          <p:nvPr/>
        </p:nvPicPr>
        <p:blipFill>
          <a:blip r:embed="rId1"/>
          <a:srcRect l="0" r="0" t="14072" b="14072"/>
          <a:stretch/>
        </p:blipFill>
        <p:spPr>
          <a:xfrm>
            <a:off x="762000" y="1270000"/>
            <a:ext cx="6350000" cy="25400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493000" y="1270000"/>
            <a:ext cx="800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Cloud computing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delivers computing services — servers, storage, databases, networking, software — over the internet ("the cloud").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Instead of owning physical data centers, organizations rent resources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on-demand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paying only for what they use.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model has transformed IT infrastructure, enabling businesses of all sizes to access enterprise-grade technology.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412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46355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93775" y="488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-22225"/>
                </a:moveTo>
                <a:cubicBezTo>
                  <a:pt x="236824" y="-22225"/>
                  <a:pt x="266700" y="7651"/>
                  <a:pt x="266700" y="44450"/>
                </a:cubicBezTo>
                <a:cubicBezTo>
                  <a:pt x="266700" y="81249"/>
                  <a:pt x="236824" y="111125"/>
                  <a:pt x="200025" y="111125"/>
                </a:cubicBezTo>
                <a:cubicBezTo>
                  <a:pt x="163226" y="111125"/>
                  <a:pt x="133350" y="81249"/>
                  <a:pt x="133350" y="44450"/>
                </a:cubicBezTo>
                <a:cubicBezTo>
                  <a:pt x="133350" y="7651"/>
                  <a:pt x="163226" y="-22225"/>
                  <a:pt x="200025" y="-22225"/>
                </a:cubicBezTo>
                <a:close/>
                <a:moveTo>
                  <a:pt x="33337" y="211138"/>
                </a:moveTo>
                <a:cubicBezTo>
                  <a:pt x="33337" y="162451"/>
                  <a:pt x="65980" y="119876"/>
                  <a:pt x="114667" y="96609"/>
                </a:cubicBezTo>
                <a:cubicBezTo>
                  <a:pt x="132239" y="125293"/>
                  <a:pt x="163909" y="144463"/>
                  <a:pt x="200025" y="144463"/>
                </a:cubicBezTo>
                <a:cubicBezTo>
                  <a:pt x="238710" y="144463"/>
                  <a:pt x="272326" y="122446"/>
                  <a:pt x="288925" y="90289"/>
                </a:cubicBezTo>
                <a:cubicBezTo>
                  <a:pt x="299899" y="82441"/>
                  <a:pt x="313303" y="77788"/>
                  <a:pt x="327819" y="77788"/>
                </a:cubicBezTo>
                <a:lnTo>
                  <a:pt x="341362" y="77788"/>
                </a:lnTo>
                <a:cubicBezTo>
                  <a:pt x="348585" y="77788"/>
                  <a:pt x="353864" y="84594"/>
                  <a:pt x="352127" y="91609"/>
                </a:cubicBezTo>
                <a:lnTo>
                  <a:pt x="340251" y="139045"/>
                </a:lnTo>
                <a:cubicBezTo>
                  <a:pt x="347127" y="147657"/>
                  <a:pt x="352891" y="156895"/>
                  <a:pt x="357197" y="166688"/>
                </a:cubicBezTo>
                <a:lnTo>
                  <a:pt x="372269" y="166688"/>
                </a:lnTo>
                <a:cubicBezTo>
                  <a:pt x="381506" y="166688"/>
                  <a:pt x="388938" y="174119"/>
                  <a:pt x="388938" y="183356"/>
                </a:cubicBezTo>
                <a:lnTo>
                  <a:pt x="388938" y="261144"/>
                </a:lnTo>
                <a:cubicBezTo>
                  <a:pt x="388938" y="270381"/>
                  <a:pt x="381506" y="277813"/>
                  <a:pt x="372269" y="277813"/>
                </a:cubicBezTo>
                <a:lnTo>
                  <a:pt x="344488" y="277813"/>
                </a:lnTo>
                <a:cubicBezTo>
                  <a:pt x="333028" y="293092"/>
                  <a:pt x="317748" y="305316"/>
                  <a:pt x="300038" y="313025"/>
                </a:cubicBezTo>
                <a:lnTo>
                  <a:pt x="300038" y="333375"/>
                </a:lnTo>
                <a:cubicBezTo>
                  <a:pt x="300038" y="345668"/>
                  <a:pt x="290106" y="355600"/>
                  <a:pt x="277813" y="355600"/>
                </a:cubicBezTo>
                <a:lnTo>
                  <a:pt x="254893" y="355600"/>
                </a:lnTo>
                <a:cubicBezTo>
                  <a:pt x="244961" y="355600"/>
                  <a:pt x="236280" y="349002"/>
                  <a:pt x="233501" y="339487"/>
                </a:cubicBezTo>
                <a:lnTo>
                  <a:pt x="228570" y="322263"/>
                </a:lnTo>
                <a:lnTo>
                  <a:pt x="171410" y="322263"/>
                </a:lnTo>
                <a:lnTo>
                  <a:pt x="166479" y="339487"/>
                </a:lnTo>
                <a:cubicBezTo>
                  <a:pt x="163770" y="349002"/>
                  <a:pt x="155089" y="355600"/>
                  <a:pt x="145157" y="355600"/>
                </a:cubicBezTo>
                <a:lnTo>
                  <a:pt x="122238" y="355600"/>
                </a:lnTo>
                <a:cubicBezTo>
                  <a:pt x="109944" y="355600"/>
                  <a:pt x="100013" y="345668"/>
                  <a:pt x="100013" y="333375"/>
                </a:cubicBezTo>
                <a:lnTo>
                  <a:pt x="100013" y="313025"/>
                </a:lnTo>
                <a:cubicBezTo>
                  <a:pt x="60771" y="295870"/>
                  <a:pt x="33337" y="256699"/>
                  <a:pt x="33337" y="211138"/>
                </a:cubicBezTo>
                <a:close/>
                <a:moveTo>
                  <a:pt x="294481" y="222250"/>
                </a:moveTo>
                <a:cubicBezTo>
                  <a:pt x="303681" y="222250"/>
                  <a:pt x="311150" y="214781"/>
                  <a:pt x="311150" y="205581"/>
                </a:cubicBezTo>
                <a:cubicBezTo>
                  <a:pt x="311150" y="196382"/>
                  <a:pt x="303681" y="188913"/>
                  <a:pt x="294481" y="188913"/>
                </a:cubicBezTo>
                <a:cubicBezTo>
                  <a:pt x="285282" y="188913"/>
                  <a:pt x="277813" y="196382"/>
                  <a:pt x="277813" y="205581"/>
                </a:cubicBezTo>
                <a:cubicBezTo>
                  <a:pt x="277813" y="214781"/>
                  <a:pt x="285282" y="222250"/>
                  <a:pt x="294481" y="2222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5334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Efficiency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Pay only for what you use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08500" y="46355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84725" y="4889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111125"/>
                </a:lnTo>
                <a:cubicBezTo>
                  <a:pt x="0" y="123418"/>
                  <a:pt x="9932" y="133350"/>
                  <a:pt x="22225" y="133350"/>
                </a:cubicBezTo>
                <a:cubicBezTo>
                  <a:pt x="34518" y="133350"/>
                  <a:pt x="44450" y="123418"/>
                  <a:pt x="44450" y="111125"/>
                </a:cubicBezTo>
                <a:lnTo>
                  <a:pt x="44450" y="66675"/>
                </a:lnTo>
                <a:lnTo>
                  <a:pt x="88900" y="66675"/>
                </a:lnTo>
                <a:cubicBezTo>
                  <a:pt x="101193" y="66675"/>
                  <a:pt x="111125" y="56743"/>
                  <a:pt x="111125" y="44450"/>
                </a:cubicBezTo>
                <a:cubicBezTo>
                  <a:pt x="111125" y="32157"/>
                  <a:pt x="101193" y="22225"/>
                  <a:pt x="88900" y="22225"/>
                </a:cubicBezTo>
                <a:lnTo>
                  <a:pt x="22225" y="22225"/>
                </a:lnTo>
                <a:close/>
                <a:moveTo>
                  <a:pt x="44450" y="244475"/>
                </a:moveTo>
                <a:cubicBezTo>
                  <a:pt x="44450" y="232182"/>
                  <a:pt x="34518" y="222250"/>
                  <a:pt x="22225" y="222250"/>
                </a:cubicBezTo>
                <a:cubicBezTo>
                  <a:pt x="9932" y="222250"/>
                  <a:pt x="0" y="232182"/>
                  <a:pt x="0" y="244475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88900" y="333375"/>
                </a:lnTo>
                <a:cubicBezTo>
                  <a:pt x="101193" y="333375"/>
                  <a:pt x="111125" y="323443"/>
                  <a:pt x="111125" y="311150"/>
                </a:cubicBezTo>
                <a:cubicBezTo>
                  <a:pt x="111125" y="298857"/>
                  <a:pt x="101193" y="288925"/>
                  <a:pt x="88900" y="288925"/>
                </a:cubicBez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222250" y="22225"/>
                </a:moveTo>
                <a:cubicBezTo>
                  <a:pt x="209957" y="22225"/>
                  <a:pt x="200025" y="32157"/>
                  <a:pt x="200025" y="44450"/>
                </a:cubicBezTo>
                <a:cubicBezTo>
                  <a:pt x="200025" y="56743"/>
                  <a:pt x="209957" y="66675"/>
                  <a:pt x="222250" y="66675"/>
                </a:cubicBezTo>
                <a:lnTo>
                  <a:pt x="266700" y="66675"/>
                </a:lnTo>
                <a:lnTo>
                  <a:pt x="266700" y="111125"/>
                </a:lnTo>
                <a:cubicBezTo>
                  <a:pt x="266700" y="123418"/>
                  <a:pt x="276632" y="133350"/>
                  <a:pt x="288925" y="133350"/>
                </a:cubicBezTo>
                <a:cubicBezTo>
                  <a:pt x="301218" y="133350"/>
                  <a:pt x="311150" y="123418"/>
                  <a:pt x="311150" y="111125"/>
                </a:cubicBezTo>
                <a:lnTo>
                  <a:pt x="311150" y="44450"/>
                </a:lnTo>
                <a:cubicBezTo>
                  <a:pt x="311150" y="32157"/>
                  <a:pt x="301218" y="22225"/>
                  <a:pt x="288925" y="22225"/>
                </a:cubicBezTo>
                <a:lnTo>
                  <a:pt x="222250" y="22225"/>
                </a:lnTo>
                <a:close/>
                <a:moveTo>
                  <a:pt x="311150" y="244475"/>
                </a:moveTo>
                <a:cubicBezTo>
                  <a:pt x="311150" y="232182"/>
                  <a:pt x="301218" y="222250"/>
                  <a:pt x="288925" y="222250"/>
                </a:cubicBezTo>
                <a:cubicBezTo>
                  <a:pt x="276632" y="222250"/>
                  <a:pt x="266700" y="232182"/>
                  <a:pt x="266700" y="244475"/>
                </a:cubicBezTo>
                <a:lnTo>
                  <a:pt x="266700" y="288925"/>
                </a:lnTo>
                <a:lnTo>
                  <a:pt x="222250" y="288925"/>
                </a:lnTo>
                <a:cubicBezTo>
                  <a:pt x="209957" y="288925"/>
                  <a:pt x="200025" y="298857"/>
                  <a:pt x="200025" y="311150"/>
                </a:cubicBezTo>
                <a:cubicBezTo>
                  <a:pt x="200025" y="323443"/>
                  <a:pt x="209957" y="333375"/>
                  <a:pt x="222250" y="333375"/>
                </a:cubicBezTo>
                <a:lnTo>
                  <a:pt x="288925" y="333375"/>
                </a:lnTo>
                <a:cubicBezTo>
                  <a:pt x="301218" y="333375"/>
                  <a:pt x="311150" y="323443"/>
                  <a:pt x="311150" y="311150"/>
                </a:cubicBezTo>
                <a:lnTo>
                  <a:pt x="311150" y="24447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1"/>
          <p:cNvSpPr/>
          <p:nvPr/>
        </p:nvSpPr>
        <p:spPr>
          <a:xfrm>
            <a:off x="4762500" y="5334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resources up or down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55000" y="4635500"/>
            <a:ext cx="342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09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8509000" y="5334000"/>
            <a:ext cx="29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Accessibility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from anywhere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001500" y="4635500"/>
            <a:ext cx="34925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22555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7"/>
          <p:cNvSpPr/>
          <p:nvPr/>
        </p:nvSpPr>
        <p:spPr>
          <a:xfrm>
            <a:off x="12255500" y="5334000"/>
            <a:ext cx="298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Built-in backup &amp; disaster recovery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66040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22" name="Text 19"/>
          <p:cNvSpPr/>
          <p:nvPr/>
        </p:nvSpPr>
        <p:spPr>
          <a:xfrm>
            <a:off x="1270000" y="6794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$274.79B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70000" y="74295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market value in 2020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842000" y="6921500"/>
            <a:ext cx="12700" cy="889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350000" y="6794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19.1%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50000" y="74295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Projected CAGR (2021-2028)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0922000" y="6921500"/>
            <a:ext cx="12700" cy="8890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11430000" y="6794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On-Demand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430000" y="7429500"/>
            <a:ext cx="355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Self-service resource provisioning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62000" y="83185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Grand View Research, 2021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29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Service Models — IaaS, PaaS, and SaaS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Cloud computing offers three primary service models, each providing a different level of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control, flexibility, and management simplicity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Organizations often use a combination of all three.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159000"/>
            <a:ext cx="4699000" cy="469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21590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1590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IaaS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984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AS A SERVICE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403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virtualized computing resources: servers, storage, and networking over the internet.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508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manage: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OS, applications, data, runtime, middleware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5270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Provider manages: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Virtualization, servers, storage, networking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6096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AWS EC2, Azure VMs, Google Compute Engine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0" y="2159000"/>
            <a:ext cx="4699000" cy="469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78500" y="21590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5778500" y="21590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2500" y="2984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AS A SERVICE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0" y="3403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a ready-to-use development environment with tools, libraries, and middleware.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32500" y="4508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manage: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Applications, data, runtime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0" y="5270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Provider manages: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OS, middleware, virtualization, infrastructure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2500" y="60960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Google App Engine, AWS Elastic Beanstalk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95000" y="2159000"/>
            <a:ext cx="4699000" cy="469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795000" y="2159000"/>
            <a:ext cx="4699000" cy="635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0" y="2159000"/>
            <a:ext cx="469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0" y="2984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SOFTWARE AS A SERVICE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0" y="34036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Delivers fully developed, ready-to-use applications over the internet via web browsers.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49000" y="4508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manage: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Nothing — just use the software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9000" y="5270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Provider manages: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Everything — app, data, runtime, OS, infrastructure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49000" y="60960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Google Workspace, Microsoft 365, Dropbox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71755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79500" y="72390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 Spectrum:</a:t>
            </a:r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IaaS offers maximum control and flexibility | PaaS balances control with convenience | SaaS offers maximum simplicity with least control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82550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Sources: azure.microsoft.com, geeksforgeeks.org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Types — From Personal to Global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33500"/>
            <a:ext cx="1270000" cy="16510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460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1968500"/>
            <a:ext cx="12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 Network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14605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few meters around a person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Bluetooth headphones, smartwatch, phone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Connecting personal devices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13335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82000" y="1333500"/>
            <a:ext cx="1270000" cy="1651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1460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1968500"/>
            <a:ext cx="12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Area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06000" y="14605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Building or campus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High-speed data transfer (1 Gbps+)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Homes, offices, schools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302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2000" y="3302000"/>
            <a:ext cx="1270000" cy="1651000"/>
          </a:xfrm>
          <a:prstGeom prst="roundRect">
            <a:avLst>
              <a:gd name="adj" fmla="val 6000"/>
            </a:avLst>
          </a:prstGeom>
          <a:solidFill>
            <a:srgbClr val="2D4A6F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3429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3937000"/>
            <a:ext cx="12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Metropolitan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Area Network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0" y="34290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City or large campus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Connects multiple LANs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City-wide public Wi-Fi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0" y="3302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82000" y="3302000"/>
            <a:ext cx="1270000" cy="1651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3429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3937000"/>
            <a:ext cx="127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 Area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0" y="3429000"/>
            <a:ext cx="533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Countries or continents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Connects LANs and MANs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Internet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Geographic Scope Comparison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905500"/>
            <a:ext cx="1270000" cy="3810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590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159000" y="5905500"/>
            <a:ext cx="2540000" cy="381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2159000" y="590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26000" y="5905500"/>
            <a:ext cx="4445000" cy="381000"/>
          </a:xfrm>
          <a:prstGeom prst="roundRect">
            <a:avLst>
              <a:gd name="adj" fmla="val 5000"/>
            </a:avLst>
          </a:prstGeom>
          <a:solidFill>
            <a:srgbClr val="2D4A6F"/>
          </a:solidFill>
          <a:ln/>
        </p:spPr>
      </p:sp>
      <p:sp>
        <p:nvSpPr>
          <p:cNvPr id="32" name="Text 30"/>
          <p:cNvSpPr/>
          <p:nvPr/>
        </p:nvSpPr>
        <p:spPr>
          <a:xfrm>
            <a:off x="4826000" y="59055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98000" y="5905500"/>
            <a:ext cx="6096000" cy="3810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9398000" y="5905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WAN (Internet)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6413500"/>
            <a:ext cx="147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i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~10m → ~1km → ~50km → Global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70485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1079500" y="7112000"/>
            <a:ext cx="140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Choosing the Right Network Type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depends on: geographic scope, number of devices, required speed, security needs, and budget constraints.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9 — Networks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Impact of Networks on Society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Networks have fundamentally transformed every aspect of modern life: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905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16000" y="215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48828" y="35719"/>
                </a:moveTo>
                <a:lnTo>
                  <a:pt x="232172" y="35719"/>
                </a:lnTo>
                <a:cubicBezTo>
                  <a:pt x="235446" y="35719"/>
                  <a:pt x="238125" y="38398"/>
                  <a:pt x="238125" y="41672"/>
                </a:cubicBezTo>
                <a:lnTo>
                  <a:pt x="238125" y="71438"/>
                </a:lnTo>
                <a:lnTo>
                  <a:pt x="142875" y="71438"/>
                </a:lnTo>
                <a:lnTo>
                  <a:pt x="142875" y="41672"/>
                </a:lnTo>
                <a:cubicBezTo>
                  <a:pt x="142875" y="38398"/>
                  <a:pt x="145554" y="35719"/>
                  <a:pt x="148828" y="35719"/>
                </a:cubicBezTo>
                <a:close/>
                <a:moveTo>
                  <a:pt x="107156" y="41672"/>
                </a:moveTo>
                <a:lnTo>
                  <a:pt x="107156" y="71438"/>
                </a:lnTo>
                <a:lnTo>
                  <a:pt x="47625" y="71438"/>
                </a:lnTo>
                <a:cubicBezTo>
                  <a:pt x="21357" y="71438"/>
                  <a:pt x="0" y="92794"/>
                  <a:pt x="0" y="119063"/>
                </a:cubicBezTo>
                <a:lnTo>
                  <a:pt x="0" y="190500"/>
                </a:lnTo>
                <a:lnTo>
                  <a:pt x="381000" y="190500"/>
                </a:lnTo>
                <a:lnTo>
                  <a:pt x="381000" y="119063"/>
                </a:lnTo>
                <a:cubicBezTo>
                  <a:pt x="381000" y="92794"/>
                  <a:pt x="359643" y="71438"/>
                  <a:pt x="333375" y="71438"/>
                </a:cubicBezTo>
                <a:lnTo>
                  <a:pt x="273844" y="71438"/>
                </a:lnTo>
                <a:lnTo>
                  <a:pt x="273844" y="41672"/>
                </a:lnTo>
                <a:cubicBezTo>
                  <a:pt x="273844" y="18678"/>
                  <a:pt x="255166" y="0"/>
                  <a:pt x="232172" y="0"/>
                </a:cubicBezTo>
                <a:lnTo>
                  <a:pt x="148828" y="0"/>
                </a:lnTo>
                <a:cubicBezTo>
                  <a:pt x="125834" y="0"/>
                  <a:pt x="107156" y="18678"/>
                  <a:pt x="107156" y="41672"/>
                </a:cubicBezTo>
                <a:close/>
                <a:moveTo>
                  <a:pt x="381000" y="226219"/>
                </a:moveTo>
                <a:lnTo>
                  <a:pt x="238125" y="226219"/>
                </a:lnTo>
                <a:lnTo>
                  <a:pt x="238125" y="238125"/>
                </a:lnTo>
                <a:cubicBezTo>
                  <a:pt x="238125" y="251296"/>
                  <a:pt x="227484" y="261938"/>
                  <a:pt x="214313" y="261938"/>
                </a:cubicBezTo>
                <a:lnTo>
                  <a:pt x="166688" y="261938"/>
                </a:lnTo>
                <a:cubicBezTo>
                  <a:pt x="153516" y="261938"/>
                  <a:pt x="142875" y="251296"/>
                  <a:pt x="142875" y="238125"/>
                </a:cubicBezTo>
                <a:lnTo>
                  <a:pt x="142875" y="226219"/>
                </a:lnTo>
                <a:lnTo>
                  <a:pt x="0" y="226219"/>
                </a:lnTo>
                <a:lnTo>
                  <a:pt x="0" y="309563"/>
                </a:lnTo>
                <a:cubicBezTo>
                  <a:pt x="0" y="335831"/>
                  <a:pt x="21357" y="357188"/>
                  <a:pt x="47625" y="357188"/>
                </a:cubicBezTo>
                <a:lnTo>
                  <a:pt x="333375" y="357188"/>
                </a:lnTo>
                <a:cubicBezTo>
                  <a:pt x="359643" y="357188"/>
                  <a:pt x="381000" y="335831"/>
                  <a:pt x="381000" y="309563"/>
                </a:cubicBezTo>
                <a:lnTo>
                  <a:pt x="381000" y="226219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2159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667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Remote work, global collaboration, e-commerce, cloud-based operations, and digital supply chains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1905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08688" y="21590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35719" y="145703"/>
                </a:moveTo>
                <a:lnTo>
                  <a:pt x="191393" y="209773"/>
                </a:lnTo>
                <a:cubicBezTo>
                  <a:pt x="198686" y="212750"/>
                  <a:pt x="206425" y="214313"/>
                  <a:pt x="214313" y="214313"/>
                </a:cubicBezTo>
                <a:cubicBezTo>
                  <a:pt x="222200" y="214313"/>
                  <a:pt x="229939" y="212750"/>
                  <a:pt x="237232" y="209773"/>
                </a:cubicBezTo>
                <a:lnTo>
                  <a:pt x="417612" y="135508"/>
                </a:lnTo>
                <a:cubicBezTo>
                  <a:pt x="424309" y="132755"/>
                  <a:pt x="428625" y="126281"/>
                  <a:pt x="428625" y="119062"/>
                </a:cubicBezTo>
                <a:cubicBezTo>
                  <a:pt x="428625" y="111844"/>
                  <a:pt x="424309" y="105370"/>
                  <a:pt x="417612" y="102617"/>
                </a:cubicBezTo>
                <a:lnTo>
                  <a:pt x="237232" y="28352"/>
                </a:lnTo>
                <a:cubicBezTo>
                  <a:pt x="229939" y="25375"/>
                  <a:pt x="222200" y="23812"/>
                  <a:pt x="214313" y="23812"/>
                </a:cubicBezTo>
                <a:cubicBezTo>
                  <a:pt x="206425" y="23812"/>
                  <a:pt x="198686" y="25375"/>
                  <a:pt x="191393" y="28352"/>
                </a:cubicBezTo>
                <a:lnTo>
                  <a:pt x="11013" y="102617"/>
                </a:lnTo>
                <a:cubicBezTo>
                  <a:pt x="4316" y="105370"/>
                  <a:pt x="0" y="111844"/>
                  <a:pt x="0" y="119063"/>
                </a:cubicBezTo>
                <a:lnTo>
                  <a:pt x="0" y="339328"/>
                </a:lnTo>
                <a:cubicBezTo>
                  <a:pt x="0" y="349225"/>
                  <a:pt x="7962" y="357188"/>
                  <a:pt x="17859" y="357188"/>
                </a:cubicBezTo>
                <a:cubicBezTo>
                  <a:pt x="27756" y="357188"/>
                  <a:pt x="35719" y="349225"/>
                  <a:pt x="35719" y="339328"/>
                </a:cubicBezTo>
                <a:lnTo>
                  <a:pt x="35719" y="145703"/>
                </a:lnTo>
                <a:close/>
                <a:moveTo>
                  <a:pt x="71438" y="199058"/>
                </a:moveTo>
                <a:lnTo>
                  <a:pt x="71438" y="285750"/>
                </a:lnTo>
                <a:cubicBezTo>
                  <a:pt x="71438" y="325189"/>
                  <a:pt x="135434" y="357188"/>
                  <a:pt x="214313" y="357188"/>
                </a:cubicBezTo>
                <a:cubicBezTo>
                  <a:pt x="293191" y="357188"/>
                  <a:pt x="357188" y="325189"/>
                  <a:pt x="357188" y="285750"/>
                </a:cubicBezTo>
                <a:lnTo>
                  <a:pt x="357188" y="198983"/>
                </a:lnTo>
                <a:lnTo>
                  <a:pt x="250850" y="242813"/>
                </a:lnTo>
                <a:cubicBezTo>
                  <a:pt x="239241" y="247576"/>
                  <a:pt x="226888" y="250031"/>
                  <a:pt x="214313" y="250031"/>
                </a:cubicBezTo>
                <a:cubicBezTo>
                  <a:pt x="201737" y="250031"/>
                  <a:pt x="189384" y="247576"/>
                  <a:pt x="177775" y="242813"/>
                </a:cubicBezTo>
                <a:lnTo>
                  <a:pt x="71438" y="198983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540500" y="2159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667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learning platforms, digital libraries, virtual classrooms, and global access to knowledge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9050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049000" y="2159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80293"/>
                </a:moveTo>
                <a:lnTo>
                  <a:pt x="179338" y="64815"/>
                </a:lnTo>
                <a:cubicBezTo>
                  <a:pt x="160734" y="39067"/>
                  <a:pt x="130894" y="23812"/>
                  <a:pt x="99045" y="23812"/>
                </a:cubicBezTo>
                <a:cubicBezTo>
                  <a:pt x="44351" y="23812"/>
                  <a:pt x="0" y="68163"/>
                  <a:pt x="0" y="122858"/>
                </a:cubicBezTo>
                <a:lnTo>
                  <a:pt x="0" y="124792"/>
                </a:lnTo>
                <a:cubicBezTo>
                  <a:pt x="0" y="142354"/>
                  <a:pt x="4614" y="160511"/>
                  <a:pt x="12353" y="178594"/>
                </a:cubicBezTo>
                <a:lnTo>
                  <a:pt x="91232" y="178594"/>
                </a:lnTo>
                <a:cubicBezTo>
                  <a:pt x="93613" y="178594"/>
                  <a:pt x="95771" y="177180"/>
                  <a:pt x="96738" y="174947"/>
                </a:cubicBezTo>
                <a:lnTo>
                  <a:pt x="120402" y="118170"/>
                </a:lnTo>
                <a:cubicBezTo>
                  <a:pt x="123155" y="111621"/>
                  <a:pt x="129555" y="107305"/>
                  <a:pt x="136624" y="107156"/>
                </a:cubicBezTo>
                <a:cubicBezTo>
                  <a:pt x="143694" y="107007"/>
                  <a:pt x="150242" y="111175"/>
                  <a:pt x="153144" y="117649"/>
                </a:cubicBezTo>
                <a:lnTo>
                  <a:pt x="191319" y="202406"/>
                </a:lnTo>
                <a:lnTo>
                  <a:pt x="222126" y="140791"/>
                </a:lnTo>
                <a:cubicBezTo>
                  <a:pt x="225177" y="134764"/>
                  <a:pt x="231353" y="130894"/>
                  <a:pt x="238125" y="130894"/>
                </a:cubicBezTo>
                <a:cubicBezTo>
                  <a:pt x="244897" y="130894"/>
                  <a:pt x="251073" y="134689"/>
                  <a:pt x="254124" y="140791"/>
                </a:cubicBezTo>
                <a:lnTo>
                  <a:pt x="271388" y="175245"/>
                </a:lnTo>
                <a:cubicBezTo>
                  <a:pt x="272430" y="177254"/>
                  <a:pt x="274439" y="178519"/>
                  <a:pt x="276746" y="178519"/>
                </a:cubicBezTo>
                <a:lnTo>
                  <a:pt x="368722" y="178519"/>
                </a:lnTo>
                <a:cubicBezTo>
                  <a:pt x="376535" y="160437"/>
                  <a:pt x="381074" y="142280"/>
                  <a:pt x="381074" y="124718"/>
                </a:cubicBezTo>
                <a:lnTo>
                  <a:pt x="381074" y="122783"/>
                </a:lnTo>
                <a:cubicBezTo>
                  <a:pt x="381000" y="68163"/>
                  <a:pt x="336649" y="23812"/>
                  <a:pt x="281955" y="23812"/>
                </a:cubicBezTo>
                <a:cubicBezTo>
                  <a:pt x="250180" y="23812"/>
                  <a:pt x="220266" y="39067"/>
                  <a:pt x="201662" y="64815"/>
                </a:cubicBezTo>
                <a:lnTo>
                  <a:pt x="190500" y="80218"/>
                </a:lnTo>
                <a:close/>
                <a:moveTo>
                  <a:pt x="349448" y="214313"/>
                </a:moveTo>
                <a:lnTo>
                  <a:pt x="276671" y="214313"/>
                </a:lnTo>
                <a:cubicBezTo>
                  <a:pt x="260896" y="214313"/>
                  <a:pt x="246459" y="205383"/>
                  <a:pt x="239390" y="191244"/>
                </a:cubicBezTo>
                <a:lnTo>
                  <a:pt x="238125" y="188714"/>
                </a:lnTo>
                <a:lnTo>
                  <a:pt x="206499" y="252040"/>
                </a:lnTo>
                <a:cubicBezTo>
                  <a:pt x="203448" y="258217"/>
                  <a:pt x="197048" y="262086"/>
                  <a:pt x="190128" y="261938"/>
                </a:cubicBezTo>
                <a:cubicBezTo>
                  <a:pt x="183207" y="261789"/>
                  <a:pt x="177031" y="257696"/>
                  <a:pt x="174203" y="251445"/>
                </a:cubicBezTo>
                <a:lnTo>
                  <a:pt x="137517" y="169962"/>
                </a:lnTo>
                <a:lnTo>
                  <a:pt x="129704" y="188714"/>
                </a:lnTo>
                <a:cubicBezTo>
                  <a:pt x="123230" y="204267"/>
                  <a:pt x="108049" y="214387"/>
                  <a:pt x="91232" y="214387"/>
                </a:cubicBezTo>
                <a:lnTo>
                  <a:pt x="31552" y="214387"/>
                </a:lnTo>
                <a:cubicBezTo>
                  <a:pt x="66675" y="269304"/>
                  <a:pt x="123081" y="319832"/>
                  <a:pt x="158353" y="346770"/>
                </a:cubicBezTo>
                <a:cubicBezTo>
                  <a:pt x="167580" y="353764"/>
                  <a:pt x="178891" y="357262"/>
                  <a:pt x="190426" y="357262"/>
                </a:cubicBezTo>
                <a:cubicBezTo>
                  <a:pt x="201960" y="357262"/>
                  <a:pt x="213345" y="353839"/>
                  <a:pt x="222498" y="346770"/>
                </a:cubicBezTo>
                <a:cubicBezTo>
                  <a:pt x="257919" y="319757"/>
                  <a:pt x="314325" y="269230"/>
                  <a:pt x="349448" y="21431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1557000" y="2159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6670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Telemedicine, electronic health records, remote patient monitoring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1275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92188" y="43815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285750" y="107156"/>
                </a:moveTo>
                <a:cubicBezTo>
                  <a:pt x="285750" y="179487"/>
                  <a:pt x="221754" y="238125"/>
                  <a:pt x="142875" y="238125"/>
                </a:cubicBezTo>
                <a:cubicBezTo>
                  <a:pt x="123006" y="238125"/>
                  <a:pt x="104105" y="234404"/>
                  <a:pt x="86916" y="227707"/>
                </a:cubicBezTo>
                <a:lnTo>
                  <a:pt x="26194" y="259854"/>
                </a:lnTo>
                <a:cubicBezTo>
                  <a:pt x="19273" y="263500"/>
                  <a:pt x="10790" y="262235"/>
                  <a:pt x="5209" y="256729"/>
                </a:cubicBezTo>
                <a:cubicBezTo>
                  <a:pt x="-372" y="251222"/>
                  <a:pt x="-1637" y="242664"/>
                  <a:pt x="2084" y="235744"/>
                </a:cubicBezTo>
                <a:lnTo>
                  <a:pt x="28575" y="185738"/>
                </a:lnTo>
                <a:cubicBezTo>
                  <a:pt x="10641" y="163860"/>
                  <a:pt x="0" y="136624"/>
                  <a:pt x="0" y="107156"/>
                </a:cubicBezTo>
                <a:cubicBezTo>
                  <a:pt x="0" y="34826"/>
                  <a:pt x="63996" y="-23812"/>
                  <a:pt x="142875" y="-23812"/>
                </a:cubicBezTo>
                <a:cubicBezTo>
                  <a:pt x="221754" y="-23812"/>
                  <a:pt x="285750" y="34826"/>
                  <a:pt x="285750" y="107156"/>
                </a:cubicBezTo>
                <a:close/>
                <a:moveTo>
                  <a:pt x="285750" y="381000"/>
                </a:moveTo>
                <a:cubicBezTo>
                  <a:pt x="215726" y="381000"/>
                  <a:pt x="157460" y="334789"/>
                  <a:pt x="145256" y="273844"/>
                </a:cubicBezTo>
                <a:cubicBezTo>
                  <a:pt x="234553" y="272728"/>
                  <a:pt x="312167" y="209178"/>
                  <a:pt x="320725" y="123006"/>
                </a:cubicBezTo>
                <a:cubicBezTo>
                  <a:pt x="382712" y="137294"/>
                  <a:pt x="428625" y="188714"/>
                  <a:pt x="428625" y="250031"/>
                </a:cubicBezTo>
                <a:cubicBezTo>
                  <a:pt x="428625" y="279499"/>
                  <a:pt x="417984" y="306735"/>
                  <a:pt x="400050" y="328613"/>
                </a:cubicBezTo>
                <a:lnTo>
                  <a:pt x="426541" y="378619"/>
                </a:lnTo>
                <a:cubicBezTo>
                  <a:pt x="430188" y="385539"/>
                  <a:pt x="428923" y="394022"/>
                  <a:pt x="423416" y="399604"/>
                </a:cubicBezTo>
                <a:cubicBezTo>
                  <a:pt x="417909" y="405185"/>
                  <a:pt x="409352" y="406450"/>
                  <a:pt x="402431" y="402729"/>
                </a:cubicBezTo>
                <a:lnTo>
                  <a:pt x="341709" y="370582"/>
                </a:lnTo>
                <a:cubicBezTo>
                  <a:pt x="324520" y="377279"/>
                  <a:pt x="305619" y="381000"/>
                  <a:pt x="285750" y="3810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524000" y="4381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48895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messaging, video calls, social media, and real-time global connectivity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78500" y="41275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56313" y="43815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0" y="71438"/>
                </a:moveTo>
                <a:cubicBezTo>
                  <a:pt x="0" y="45169"/>
                  <a:pt x="21357" y="23812"/>
                  <a:pt x="47625" y="23812"/>
                </a:cubicBezTo>
                <a:lnTo>
                  <a:pt x="285750" y="23812"/>
                </a:lnTo>
                <a:cubicBezTo>
                  <a:pt x="312018" y="23812"/>
                  <a:pt x="333375" y="45169"/>
                  <a:pt x="333375" y="71438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71438"/>
                </a:lnTo>
                <a:close/>
                <a:moveTo>
                  <a:pt x="35719" y="273844"/>
                </a:moveTo>
                <a:lnTo>
                  <a:pt x="35719" y="297656"/>
                </a:lnTo>
                <a:cubicBezTo>
                  <a:pt x="35719" y="304205"/>
                  <a:pt x="41077" y="309563"/>
                  <a:pt x="47625" y="309563"/>
                </a:cubicBezTo>
                <a:lnTo>
                  <a:pt x="71438" y="309563"/>
                </a:lnTo>
                <a:cubicBezTo>
                  <a:pt x="77986" y="309563"/>
                  <a:pt x="83344" y="304205"/>
                  <a:pt x="83344" y="297656"/>
                </a:cubicBezTo>
                <a:lnTo>
                  <a:pt x="83344" y="273844"/>
                </a:lnTo>
                <a:cubicBezTo>
                  <a:pt x="83344" y="267295"/>
                  <a:pt x="77986" y="261938"/>
                  <a:pt x="71438" y="261938"/>
                </a:cubicBezTo>
                <a:lnTo>
                  <a:pt x="47625" y="261938"/>
                </a:lnTo>
                <a:cubicBezTo>
                  <a:pt x="41077" y="261938"/>
                  <a:pt x="35719" y="267295"/>
                  <a:pt x="35719" y="273844"/>
                </a:cubicBezTo>
                <a:close/>
                <a:moveTo>
                  <a:pt x="261938" y="261938"/>
                </a:moveTo>
                <a:cubicBezTo>
                  <a:pt x="255389" y="261938"/>
                  <a:pt x="250031" y="267295"/>
                  <a:pt x="250031" y="273844"/>
                </a:cubicBezTo>
                <a:lnTo>
                  <a:pt x="250031" y="297656"/>
                </a:lnTo>
                <a:cubicBezTo>
                  <a:pt x="250031" y="304205"/>
                  <a:pt x="255389" y="309563"/>
                  <a:pt x="261938" y="309563"/>
                </a:cubicBezTo>
                <a:lnTo>
                  <a:pt x="285750" y="309563"/>
                </a:lnTo>
                <a:cubicBezTo>
                  <a:pt x="292298" y="309563"/>
                  <a:pt x="297656" y="304205"/>
                  <a:pt x="297656" y="297656"/>
                </a:cubicBezTo>
                <a:lnTo>
                  <a:pt x="297656" y="273844"/>
                </a:lnTo>
                <a:cubicBezTo>
                  <a:pt x="297656" y="267295"/>
                  <a:pt x="292298" y="261938"/>
                  <a:pt x="285750" y="261938"/>
                </a:cubicBezTo>
                <a:lnTo>
                  <a:pt x="261938" y="261938"/>
                </a:lnTo>
                <a:close/>
                <a:moveTo>
                  <a:pt x="35719" y="178594"/>
                </a:moveTo>
                <a:lnTo>
                  <a:pt x="35719" y="202406"/>
                </a:lnTo>
                <a:cubicBezTo>
                  <a:pt x="35719" y="208955"/>
                  <a:pt x="41077" y="214313"/>
                  <a:pt x="47625" y="214313"/>
                </a:cubicBezTo>
                <a:lnTo>
                  <a:pt x="71438" y="214313"/>
                </a:lnTo>
                <a:cubicBezTo>
                  <a:pt x="77986" y="214313"/>
                  <a:pt x="83344" y="208955"/>
                  <a:pt x="83344" y="202406"/>
                </a:cubicBezTo>
                <a:lnTo>
                  <a:pt x="83344" y="178594"/>
                </a:lnTo>
                <a:cubicBezTo>
                  <a:pt x="83344" y="172045"/>
                  <a:pt x="77986" y="166688"/>
                  <a:pt x="71438" y="166688"/>
                </a:cubicBezTo>
                <a:lnTo>
                  <a:pt x="47625" y="166688"/>
                </a:lnTo>
                <a:cubicBezTo>
                  <a:pt x="41077" y="166688"/>
                  <a:pt x="35719" y="172045"/>
                  <a:pt x="35719" y="178594"/>
                </a:cubicBezTo>
                <a:close/>
                <a:moveTo>
                  <a:pt x="261938" y="166688"/>
                </a:moveTo>
                <a:cubicBezTo>
                  <a:pt x="255389" y="166688"/>
                  <a:pt x="250031" y="172045"/>
                  <a:pt x="250031" y="178594"/>
                </a:cubicBezTo>
                <a:lnTo>
                  <a:pt x="250031" y="202406"/>
                </a:lnTo>
                <a:cubicBezTo>
                  <a:pt x="250031" y="208955"/>
                  <a:pt x="255389" y="214313"/>
                  <a:pt x="261938" y="214313"/>
                </a:cubicBezTo>
                <a:lnTo>
                  <a:pt x="285750" y="214313"/>
                </a:lnTo>
                <a:cubicBezTo>
                  <a:pt x="292298" y="214313"/>
                  <a:pt x="297656" y="208955"/>
                  <a:pt x="297656" y="202406"/>
                </a:cubicBezTo>
                <a:lnTo>
                  <a:pt x="297656" y="178594"/>
                </a:lnTo>
                <a:cubicBezTo>
                  <a:pt x="297656" y="172045"/>
                  <a:pt x="292298" y="166688"/>
                  <a:pt x="285750" y="166688"/>
                </a:cubicBezTo>
                <a:lnTo>
                  <a:pt x="261938" y="166688"/>
                </a:lnTo>
                <a:close/>
                <a:moveTo>
                  <a:pt x="35719" y="83344"/>
                </a:moveTo>
                <a:lnTo>
                  <a:pt x="35719" y="107156"/>
                </a:lnTo>
                <a:cubicBezTo>
                  <a:pt x="35719" y="113705"/>
                  <a:pt x="41077" y="119063"/>
                  <a:pt x="47625" y="119063"/>
                </a:cubicBezTo>
                <a:lnTo>
                  <a:pt x="71438" y="119063"/>
                </a:lnTo>
                <a:cubicBezTo>
                  <a:pt x="77986" y="119063"/>
                  <a:pt x="83344" y="113705"/>
                  <a:pt x="83344" y="107156"/>
                </a:cubicBezTo>
                <a:lnTo>
                  <a:pt x="83344" y="83344"/>
                </a:lnTo>
                <a:cubicBezTo>
                  <a:pt x="83344" y="76795"/>
                  <a:pt x="77986" y="71438"/>
                  <a:pt x="71438" y="71438"/>
                </a:cubicBezTo>
                <a:lnTo>
                  <a:pt x="47625" y="71438"/>
                </a:lnTo>
                <a:cubicBezTo>
                  <a:pt x="41077" y="71438"/>
                  <a:pt x="35719" y="76795"/>
                  <a:pt x="35719" y="83344"/>
                </a:cubicBezTo>
                <a:close/>
                <a:moveTo>
                  <a:pt x="261938" y="71438"/>
                </a:moveTo>
                <a:cubicBezTo>
                  <a:pt x="255389" y="71438"/>
                  <a:pt x="250031" y="76795"/>
                  <a:pt x="250031" y="83344"/>
                </a:cubicBezTo>
                <a:lnTo>
                  <a:pt x="250031" y="107156"/>
                </a:lnTo>
                <a:cubicBezTo>
                  <a:pt x="250031" y="113705"/>
                  <a:pt x="255389" y="119063"/>
                  <a:pt x="261938" y="119063"/>
                </a:cubicBezTo>
                <a:lnTo>
                  <a:pt x="285750" y="119063"/>
                </a:lnTo>
                <a:cubicBezTo>
                  <a:pt x="292298" y="119063"/>
                  <a:pt x="297656" y="113705"/>
                  <a:pt x="297656" y="107156"/>
                </a:cubicBezTo>
                <a:lnTo>
                  <a:pt x="297656" y="83344"/>
                </a:lnTo>
                <a:cubicBezTo>
                  <a:pt x="297656" y="76795"/>
                  <a:pt x="292298" y="71438"/>
                  <a:pt x="285750" y="71438"/>
                </a:cubicBezTo>
                <a:lnTo>
                  <a:pt x="261938" y="71438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6540500" y="4381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Entertainment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2500" y="48895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Streaming services, online gaming, digital media distribution, and content creation platforms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95000" y="4127500"/>
            <a:ext cx="4699000" cy="1905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49000" y="4381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11557000" y="4381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Considerations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49000" y="488950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divide, privacy concerns, cybersecurity threats, and technology dependency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477000"/>
            <a:ext cx="50800" cy="1270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6540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B2A4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"The network is the computer." Networks have become the invisible infrastructure that powers our digital world — from the smartphone in your pocket to the global systems that connect billions of people.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jbxdy3f2uoeu/mnt/agents/output/ict-week5/images/5_digital_shield_with_virtual_screen.png">    </p:cNvPr>
          <p:cNvPicPr>
            <a:picLocks noChangeAspect="1"/>
          </p:cNvPicPr>
          <p:nvPr/>
        </p:nvPicPr>
        <p:blipFill>
          <a:blip r:embed="rId1"/>
          <a:srcRect l="0" r="0" t="35" b="3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3000"/>
                </a:srgbClr>
              </a:gs>
              <a:gs pos="50000">
                <a:srgbClr val="1B2A4A">
                  <a:alpha val="80000"/>
                </a:srgbClr>
              </a:gs>
              <a:gs pos="100000">
                <a:srgbClr val="1B2A4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381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7059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3556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spc="3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62000" y="4000500"/>
            <a:ext cx="762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2545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40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Issues and Communication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5778500"/>
            <a:ext cx="762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Exploring security challenges, authentication methods, anti-malware protection, and electronic conferencing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62000" y="8255000"/>
            <a:ext cx="2032000" cy="381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Issues in Data Transfer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transferred across networks faces numerous security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threats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can compromise confidentiality, integrity, and availability. Understanding these threats is the first step toward effective protection.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15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Network Threats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6670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16000" y="285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3644" y="208"/>
                </a:moveTo>
                <a:cubicBezTo>
                  <a:pt x="257463" y="1042"/>
                  <a:pt x="251698" y="4514"/>
                  <a:pt x="248087" y="10001"/>
                </a:cubicBezTo>
                <a:cubicBezTo>
                  <a:pt x="243364" y="17224"/>
                  <a:pt x="243225" y="26739"/>
                  <a:pt x="247809" y="34032"/>
                </a:cubicBezTo>
                <a:cubicBezTo>
                  <a:pt x="251698" y="40213"/>
                  <a:pt x="258574" y="42853"/>
                  <a:pt x="264339" y="46881"/>
                </a:cubicBezTo>
                <a:cubicBezTo>
                  <a:pt x="269548" y="50492"/>
                  <a:pt x="276562" y="56049"/>
                  <a:pt x="283577" y="63689"/>
                </a:cubicBezTo>
                <a:cubicBezTo>
                  <a:pt x="297468" y="78760"/>
                  <a:pt x="311011" y="101402"/>
                  <a:pt x="311011" y="133350"/>
                </a:cubicBezTo>
                <a:cubicBezTo>
                  <a:pt x="311011" y="145643"/>
                  <a:pt x="320943" y="155575"/>
                  <a:pt x="333236" y="155575"/>
                </a:cubicBezTo>
                <a:cubicBezTo>
                  <a:pt x="345529" y="155575"/>
                  <a:pt x="355461" y="145643"/>
                  <a:pt x="355461" y="133350"/>
                </a:cubicBezTo>
                <a:cubicBezTo>
                  <a:pt x="355461" y="87511"/>
                  <a:pt x="335667" y="54590"/>
                  <a:pt x="316220" y="33546"/>
                </a:cubicBezTo>
                <a:cubicBezTo>
                  <a:pt x="306566" y="23058"/>
                  <a:pt x="296912" y="15419"/>
                  <a:pt x="289620" y="10418"/>
                </a:cubicBezTo>
                <a:cubicBezTo>
                  <a:pt x="281980" y="5140"/>
                  <a:pt x="273298" y="-1111"/>
                  <a:pt x="263505" y="208"/>
                </a:cubicBezTo>
                <a:close/>
                <a:moveTo>
                  <a:pt x="166688" y="88900"/>
                </a:moveTo>
                <a:cubicBezTo>
                  <a:pt x="126683" y="88900"/>
                  <a:pt x="93692" y="119182"/>
                  <a:pt x="89386" y="158006"/>
                </a:cubicBezTo>
                <a:cubicBezTo>
                  <a:pt x="88067" y="170230"/>
                  <a:pt x="77024" y="178981"/>
                  <a:pt x="64869" y="177661"/>
                </a:cubicBezTo>
                <a:cubicBezTo>
                  <a:pt x="52715" y="176341"/>
                  <a:pt x="43894" y="165298"/>
                  <a:pt x="45214" y="153144"/>
                </a:cubicBezTo>
                <a:cubicBezTo>
                  <a:pt x="51951" y="92025"/>
                  <a:pt x="103763" y="44450"/>
                  <a:pt x="166688" y="44450"/>
                </a:cubicBezTo>
                <a:cubicBezTo>
                  <a:pt x="234196" y="44450"/>
                  <a:pt x="288925" y="99179"/>
                  <a:pt x="288925" y="166688"/>
                </a:cubicBezTo>
                <a:cubicBezTo>
                  <a:pt x="288925" y="198636"/>
                  <a:pt x="276632" y="227737"/>
                  <a:pt x="256560" y="249545"/>
                </a:cubicBezTo>
                <a:cubicBezTo>
                  <a:pt x="248225" y="258574"/>
                  <a:pt x="244475" y="266769"/>
                  <a:pt x="244475" y="273645"/>
                </a:cubicBezTo>
                <a:lnTo>
                  <a:pt x="244475" y="277882"/>
                </a:lnTo>
                <a:cubicBezTo>
                  <a:pt x="244475" y="320873"/>
                  <a:pt x="209679" y="355669"/>
                  <a:pt x="166688" y="355669"/>
                </a:cubicBezTo>
                <a:cubicBezTo>
                  <a:pt x="154394" y="355669"/>
                  <a:pt x="144463" y="345738"/>
                  <a:pt x="144463" y="333444"/>
                </a:cubicBezTo>
                <a:cubicBezTo>
                  <a:pt x="144463" y="321151"/>
                  <a:pt x="154394" y="311219"/>
                  <a:pt x="166688" y="311219"/>
                </a:cubicBezTo>
                <a:cubicBezTo>
                  <a:pt x="185093" y="311219"/>
                  <a:pt x="200025" y="296287"/>
                  <a:pt x="200025" y="277882"/>
                </a:cubicBezTo>
                <a:lnTo>
                  <a:pt x="200025" y="273645"/>
                </a:lnTo>
                <a:cubicBezTo>
                  <a:pt x="200025" y="250795"/>
                  <a:pt x="212110" y="232251"/>
                  <a:pt x="223917" y="219472"/>
                </a:cubicBezTo>
                <a:cubicBezTo>
                  <a:pt x="236696" y="205581"/>
                  <a:pt x="244475" y="187107"/>
                  <a:pt x="244475" y="166757"/>
                </a:cubicBezTo>
                <a:cubicBezTo>
                  <a:pt x="244475" y="123765"/>
                  <a:pt x="209679" y="88969"/>
                  <a:pt x="166688" y="88969"/>
                </a:cubicBezTo>
                <a:close/>
                <a:moveTo>
                  <a:pt x="0" y="333375"/>
                </a:moveTo>
                <a:cubicBezTo>
                  <a:pt x="0" y="321109"/>
                  <a:pt x="9959" y="311150"/>
                  <a:pt x="22225" y="311150"/>
                </a:cubicBezTo>
                <a:cubicBezTo>
                  <a:pt x="34491" y="311150"/>
                  <a:pt x="44450" y="321109"/>
                  <a:pt x="44450" y="333375"/>
                </a:cubicBezTo>
                <a:cubicBezTo>
                  <a:pt x="44450" y="345641"/>
                  <a:pt x="34491" y="355600"/>
                  <a:pt x="22225" y="355600"/>
                </a:cubicBezTo>
                <a:cubicBezTo>
                  <a:pt x="9959" y="355600"/>
                  <a:pt x="0" y="345641"/>
                  <a:pt x="0" y="333375"/>
                </a:cubicBezTo>
                <a:close/>
                <a:moveTo>
                  <a:pt x="111125" y="266700"/>
                </a:moveTo>
                <a:cubicBezTo>
                  <a:pt x="123391" y="266700"/>
                  <a:pt x="133350" y="256741"/>
                  <a:pt x="133350" y="244475"/>
                </a:cubicBezTo>
                <a:cubicBezTo>
                  <a:pt x="133350" y="232209"/>
                  <a:pt x="123391" y="222250"/>
                  <a:pt x="111125" y="222250"/>
                </a:cubicBezTo>
                <a:cubicBezTo>
                  <a:pt x="98859" y="222250"/>
                  <a:pt x="88900" y="232209"/>
                  <a:pt x="88900" y="244475"/>
                </a:cubicBezTo>
                <a:cubicBezTo>
                  <a:pt x="88900" y="256741"/>
                  <a:pt x="98859" y="266700"/>
                  <a:pt x="111125" y="266700"/>
                </a:cubicBezTo>
                <a:close/>
                <a:moveTo>
                  <a:pt x="60146" y="251004"/>
                </a:moveTo>
                <a:cubicBezTo>
                  <a:pt x="51465" y="242322"/>
                  <a:pt x="37366" y="242322"/>
                  <a:pt x="28684" y="251004"/>
                </a:cubicBezTo>
                <a:cubicBezTo>
                  <a:pt x="20003" y="259685"/>
                  <a:pt x="20003" y="273784"/>
                  <a:pt x="28684" y="282466"/>
                </a:cubicBezTo>
                <a:lnTo>
                  <a:pt x="73134" y="326916"/>
                </a:lnTo>
                <a:cubicBezTo>
                  <a:pt x="81816" y="335598"/>
                  <a:pt x="95915" y="335598"/>
                  <a:pt x="104596" y="326916"/>
                </a:cubicBezTo>
                <a:cubicBezTo>
                  <a:pt x="113278" y="318234"/>
                  <a:pt x="113278" y="304135"/>
                  <a:pt x="104596" y="295454"/>
                </a:cubicBezTo>
                <a:lnTo>
                  <a:pt x="60146" y="251004"/>
                </a:lnTo>
                <a:close/>
                <a:moveTo>
                  <a:pt x="166688" y="144463"/>
                </a:moveTo>
                <a:cubicBezTo>
                  <a:pt x="154394" y="144463"/>
                  <a:pt x="144463" y="154394"/>
                  <a:pt x="144463" y="166688"/>
                </a:cubicBezTo>
                <a:cubicBezTo>
                  <a:pt x="144463" y="175925"/>
                  <a:pt x="137031" y="183356"/>
                  <a:pt x="127794" y="183356"/>
                </a:cubicBezTo>
                <a:cubicBezTo>
                  <a:pt x="118556" y="183356"/>
                  <a:pt x="111125" y="175925"/>
                  <a:pt x="111125" y="166688"/>
                </a:cubicBezTo>
                <a:cubicBezTo>
                  <a:pt x="111125" y="135989"/>
                  <a:pt x="135989" y="111125"/>
                  <a:pt x="166688" y="111125"/>
                </a:cubicBezTo>
                <a:cubicBezTo>
                  <a:pt x="197386" y="111125"/>
                  <a:pt x="222250" y="135989"/>
                  <a:pt x="222250" y="166688"/>
                </a:cubicBezTo>
                <a:cubicBezTo>
                  <a:pt x="222250" y="175925"/>
                  <a:pt x="214819" y="183356"/>
                  <a:pt x="205581" y="183356"/>
                </a:cubicBezTo>
                <a:cubicBezTo>
                  <a:pt x="196344" y="183356"/>
                  <a:pt x="188913" y="175925"/>
                  <a:pt x="188913" y="166688"/>
                </a:cubicBezTo>
                <a:cubicBezTo>
                  <a:pt x="188913" y="154394"/>
                  <a:pt x="178981" y="144463"/>
                  <a:pt x="166688" y="14446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2832100"/>
            <a:ext cx="368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Eavesdropping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238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Unauthorized parties capture and listen to data being transmitted across the network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26670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54725" y="2857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18765" y="-11112"/>
                </a:moveTo>
                <a:cubicBezTo>
                  <a:pt x="93484" y="-11112"/>
                  <a:pt x="78621" y="29379"/>
                  <a:pt x="71328" y="66675"/>
                </a:cubicBezTo>
                <a:lnTo>
                  <a:pt x="50006" y="66675"/>
                </a:lnTo>
                <a:cubicBezTo>
                  <a:pt x="40769" y="66675"/>
                  <a:pt x="33337" y="74106"/>
                  <a:pt x="33337" y="83344"/>
                </a:cubicBezTo>
                <a:cubicBezTo>
                  <a:pt x="33337" y="92581"/>
                  <a:pt x="40769" y="100013"/>
                  <a:pt x="50006" y="100013"/>
                </a:cubicBezTo>
                <a:lnTo>
                  <a:pt x="66675" y="100013"/>
                </a:lnTo>
                <a:lnTo>
                  <a:pt x="66675" y="122238"/>
                </a:lnTo>
                <a:cubicBezTo>
                  <a:pt x="66675" y="134045"/>
                  <a:pt x="68967" y="145296"/>
                  <a:pt x="73134" y="155575"/>
                </a:cubicBezTo>
                <a:lnTo>
                  <a:pt x="66675" y="155575"/>
                </a:lnTo>
                <a:lnTo>
                  <a:pt x="66675" y="155575"/>
                </a:lnTo>
                <a:lnTo>
                  <a:pt x="52437" y="155575"/>
                </a:lnTo>
                <a:cubicBezTo>
                  <a:pt x="41880" y="155575"/>
                  <a:pt x="33337" y="164118"/>
                  <a:pt x="33337" y="174675"/>
                </a:cubicBezTo>
                <a:cubicBezTo>
                  <a:pt x="33337" y="176758"/>
                  <a:pt x="33685" y="178772"/>
                  <a:pt x="34310" y="180717"/>
                </a:cubicBezTo>
                <a:lnTo>
                  <a:pt x="54382" y="240863"/>
                </a:lnTo>
                <a:cubicBezTo>
                  <a:pt x="27920" y="263644"/>
                  <a:pt x="11112" y="297329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97329"/>
                  <a:pt x="283230" y="263644"/>
                  <a:pt x="256768" y="240933"/>
                </a:cubicBezTo>
                <a:lnTo>
                  <a:pt x="276840" y="180786"/>
                </a:lnTo>
                <a:cubicBezTo>
                  <a:pt x="277465" y="178842"/>
                  <a:pt x="277812" y="176828"/>
                  <a:pt x="277812" y="174744"/>
                </a:cubicBezTo>
                <a:cubicBezTo>
                  <a:pt x="277812" y="164187"/>
                  <a:pt x="269270" y="155644"/>
                  <a:pt x="258713" y="155644"/>
                </a:cubicBezTo>
                <a:lnTo>
                  <a:pt x="244475" y="155644"/>
                </a:lnTo>
                <a:lnTo>
                  <a:pt x="244475" y="155644"/>
                </a:lnTo>
                <a:lnTo>
                  <a:pt x="238016" y="155644"/>
                </a:lnTo>
                <a:cubicBezTo>
                  <a:pt x="242183" y="145365"/>
                  <a:pt x="244475" y="134114"/>
                  <a:pt x="244475" y="122307"/>
                </a:cubicBezTo>
                <a:lnTo>
                  <a:pt x="244475" y="100082"/>
                </a:lnTo>
                <a:lnTo>
                  <a:pt x="261144" y="100082"/>
                </a:lnTo>
                <a:cubicBezTo>
                  <a:pt x="270381" y="100082"/>
                  <a:pt x="277812" y="92650"/>
                  <a:pt x="277812" y="83413"/>
                </a:cubicBezTo>
                <a:cubicBezTo>
                  <a:pt x="277812" y="74176"/>
                  <a:pt x="270381" y="66744"/>
                  <a:pt x="261144" y="66744"/>
                </a:cubicBezTo>
                <a:lnTo>
                  <a:pt x="239822" y="66744"/>
                </a:lnTo>
                <a:cubicBezTo>
                  <a:pt x="232599" y="29448"/>
                  <a:pt x="217666" y="-11043"/>
                  <a:pt x="192385" y="-11043"/>
                </a:cubicBezTo>
                <a:cubicBezTo>
                  <a:pt x="185718" y="-11043"/>
                  <a:pt x="179189" y="-8334"/>
                  <a:pt x="173286" y="-5348"/>
                </a:cubicBezTo>
                <a:cubicBezTo>
                  <a:pt x="167590" y="-2500"/>
                  <a:pt x="160506" y="69"/>
                  <a:pt x="155575" y="69"/>
                </a:cubicBezTo>
                <a:cubicBezTo>
                  <a:pt x="150644" y="69"/>
                  <a:pt x="143560" y="-2500"/>
                  <a:pt x="137864" y="-5348"/>
                </a:cubicBezTo>
                <a:cubicBezTo>
                  <a:pt x="131961" y="-8404"/>
                  <a:pt x="125432" y="-11112"/>
                  <a:pt x="118765" y="-11112"/>
                </a:cubicBezTo>
                <a:close/>
                <a:moveTo>
                  <a:pt x="183842" y="325318"/>
                </a:moveTo>
                <a:lnTo>
                  <a:pt x="166618" y="276076"/>
                </a:lnTo>
                <a:lnTo>
                  <a:pt x="185995" y="253504"/>
                </a:lnTo>
                <a:cubicBezTo>
                  <a:pt x="187871" y="251281"/>
                  <a:pt x="188912" y="248503"/>
                  <a:pt x="188912" y="245586"/>
                </a:cubicBezTo>
                <a:cubicBezTo>
                  <a:pt x="188912" y="238849"/>
                  <a:pt x="183495" y="233432"/>
                  <a:pt x="176758" y="233432"/>
                </a:cubicBezTo>
                <a:lnTo>
                  <a:pt x="134392" y="233432"/>
                </a:lnTo>
                <a:cubicBezTo>
                  <a:pt x="127655" y="233432"/>
                  <a:pt x="122237" y="238849"/>
                  <a:pt x="122237" y="245586"/>
                </a:cubicBezTo>
                <a:cubicBezTo>
                  <a:pt x="122237" y="248503"/>
                  <a:pt x="123279" y="251281"/>
                  <a:pt x="125155" y="253504"/>
                </a:cubicBezTo>
                <a:lnTo>
                  <a:pt x="144532" y="276076"/>
                </a:lnTo>
                <a:lnTo>
                  <a:pt x="127308" y="325318"/>
                </a:lnTo>
                <a:lnTo>
                  <a:pt x="87719" y="200025"/>
                </a:lnTo>
                <a:lnTo>
                  <a:pt x="112514" y="200025"/>
                </a:lnTo>
                <a:cubicBezTo>
                  <a:pt x="125293" y="207109"/>
                  <a:pt x="139948" y="211138"/>
                  <a:pt x="155575" y="211138"/>
                </a:cubicBezTo>
                <a:cubicBezTo>
                  <a:pt x="171202" y="211138"/>
                  <a:pt x="185857" y="207109"/>
                  <a:pt x="198636" y="200025"/>
                </a:cubicBezTo>
                <a:lnTo>
                  <a:pt x="223431" y="200025"/>
                </a:lnTo>
                <a:lnTo>
                  <a:pt x="183842" y="325318"/>
                </a:lnTo>
                <a:close/>
                <a:moveTo>
                  <a:pt x="155575" y="177800"/>
                </a:moveTo>
                <a:cubicBezTo>
                  <a:pt x="131475" y="177800"/>
                  <a:pt x="110986" y="162451"/>
                  <a:pt x="103277" y="140990"/>
                </a:cubicBezTo>
                <a:cubicBezTo>
                  <a:pt x="107236" y="143212"/>
                  <a:pt x="111820" y="144463"/>
                  <a:pt x="116681" y="144463"/>
                </a:cubicBezTo>
                <a:lnTo>
                  <a:pt x="125293" y="144463"/>
                </a:lnTo>
                <a:cubicBezTo>
                  <a:pt x="136753" y="144463"/>
                  <a:pt x="146893" y="137100"/>
                  <a:pt x="150505" y="126266"/>
                </a:cubicBezTo>
                <a:cubicBezTo>
                  <a:pt x="152102" y="121404"/>
                  <a:pt x="158978" y="121404"/>
                  <a:pt x="160576" y="126266"/>
                </a:cubicBezTo>
                <a:cubicBezTo>
                  <a:pt x="164187" y="137100"/>
                  <a:pt x="174397" y="144463"/>
                  <a:pt x="185787" y="144463"/>
                </a:cubicBezTo>
                <a:lnTo>
                  <a:pt x="194399" y="144463"/>
                </a:lnTo>
                <a:cubicBezTo>
                  <a:pt x="199261" y="144463"/>
                  <a:pt x="203845" y="143212"/>
                  <a:pt x="207804" y="140990"/>
                </a:cubicBezTo>
                <a:cubicBezTo>
                  <a:pt x="200094" y="162451"/>
                  <a:pt x="179606" y="177800"/>
                  <a:pt x="155506" y="1778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515100" y="2832100"/>
            <a:ext cx="368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Man-in-the-Middle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238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Attackers intercept and potentially alter communications between two parties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26670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049000" y="285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7541" y="15071"/>
                </a:moveTo>
                <a:cubicBezTo>
                  <a:pt x="312331" y="-139"/>
                  <a:pt x="287744" y="-139"/>
                  <a:pt x="272534" y="15071"/>
                </a:cubicBezTo>
                <a:lnTo>
                  <a:pt x="255587" y="32018"/>
                </a:lnTo>
                <a:lnTo>
                  <a:pt x="323582" y="100013"/>
                </a:lnTo>
                <a:lnTo>
                  <a:pt x="340529" y="83066"/>
                </a:lnTo>
                <a:cubicBezTo>
                  <a:pt x="355739" y="67856"/>
                  <a:pt x="355739" y="43269"/>
                  <a:pt x="340529" y="28059"/>
                </a:cubicBezTo>
                <a:lnTo>
                  <a:pt x="327541" y="15071"/>
                </a:lnTo>
                <a:close/>
                <a:moveTo>
                  <a:pt x="119737" y="167868"/>
                </a:moveTo>
                <a:cubicBezTo>
                  <a:pt x="115501" y="172105"/>
                  <a:pt x="112236" y="177314"/>
                  <a:pt x="110361" y="183078"/>
                </a:cubicBezTo>
                <a:lnTo>
                  <a:pt x="89803" y="244753"/>
                </a:lnTo>
                <a:cubicBezTo>
                  <a:pt x="87789" y="250726"/>
                  <a:pt x="89386" y="257324"/>
                  <a:pt x="93831" y="261838"/>
                </a:cubicBezTo>
                <a:cubicBezTo>
                  <a:pt x="98276" y="266353"/>
                  <a:pt x="104874" y="267881"/>
                  <a:pt x="110917" y="265867"/>
                </a:cubicBezTo>
                <a:lnTo>
                  <a:pt x="172591" y="245308"/>
                </a:lnTo>
                <a:cubicBezTo>
                  <a:pt x="178286" y="243433"/>
                  <a:pt x="183495" y="240169"/>
                  <a:pt x="187801" y="235932"/>
                </a:cubicBezTo>
                <a:lnTo>
                  <a:pt x="300038" y="123557"/>
                </a:lnTo>
                <a:lnTo>
                  <a:pt x="232043" y="55563"/>
                </a:lnTo>
                <a:lnTo>
                  <a:pt x="119737" y="167868"/>
                </a:lnTo>
                <a:close/>
                <a:moveTo>
                  <a:pt x="66675" y="44450"/>
                </a:moveTo>
                <a:cubicBezTo>
                  <a:pt x="29865" y="44450"/>
                  <a:pt x="0" y="74315"/>
                  <a:pt x="0" y="11112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244475" y="355600"/>
                </a:lnTo>
                <a:cubicBezTo>
                  <a:pt x="281285" y="355600"/>
                  <a:pt x="311150" y="325735"/>
                  <a:pt x="311150" y="288925"/>
                </a:cubicBezTo>
                <a:lnTo>
                  <a:pt x="311150" y="222250"/>
                </a:lnTo>
                <a:cubicBezTo>
                  <a:pt x="311150" y="209957"/>
                  <a:pt x="301218" y="200025"/>
                  <a:pt x="288925" y="200025"/>
                </a:cubicBezTo>
                <a:cubicBezTo>
                  <a:pt x="276632" y="200025"/>
                  <a:pt x="266700" y="209957"/>
                  <a:pt x="266700" y="222250"/>
                </a:cubicBezTo>
                <a:lnTo>
                  <a:pt x="266700" y="288925"/>
                </a:lnTo>
                <a:cubicBezTo>
                  <a:pt x="266700" y="301218"/>
                  <a:pt x="256768" y="311150"/>
                  <a:pt x="244475" y="311150"/>
                </a:cubicBezTo>
                <a:lnTo>
                  <a:pt x="66675" y="311150"/>
                </a:lnTo>
                <a:cubicBezTo>
                  <a:pt x="54382" y="311150"/>
                  <a:pt x="44450" y="301218"/>
                  <a:pt x="44450" y="288925"/>
                </a:cubicBezTo>
                <a:lnTo>
                  <a:pt x="44450" y="111125"/>
                </a:lnTo>
                <a:cubicBezTo>
                  <a:pt x="44450" y="98832"/>
                  <a:pt x="54382" y="88900"/>
                  <a:pt x="66675" y="88900"/>
                </a:cubicBezTo>
                <a:lnTo>
                  <a:pt x="133350" y="88900"/>
                </a:lnTo>
                <a:cubicBezTo>
                  <a:pt x="145643" y="88900"/>
                  <a:pt x="155575" y="78968"/>
                  <a:pt x="155575" y="66675"/>
                </a:cubicBezTo>
                <a:cubicBezTo>
                  <a:pt x="155575" y="54382"/>
                  <a:pt x="145643" y="44450"/>
                  <a:pt x="133350" y="44450"/>
                </a:cubicBezTo>
                <a:lnTo>
                  <a:pt x="66675" y="4445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1531600" y="2832100"/>
            <a:ext cx="368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Tampering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3238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Unauthorized modification of data during transmission, corrupting integrity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4450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6000" y="463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" y="4610100"/>
            <a:ext cx="368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Packet Sniffing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016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Capturing and analyzing network packets to extract sensitive information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8500" y="4445000"/>
            <a:ext cx="469900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10275" y="4635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44450"/>
                </a:moveTo>
                <a:cubicBezTo>
                  <a:pt x="44450" y="44450"/>
                  <a:pt x="0" y="111125"/>
                  <a:pt x="0" y="188913"/>
                </a:cubicBezTo>
                <a:cubicBezTo>
                  <a:pt x="0" y="266700"/>
                  <a:pt x="55563" y="311150"/>
                  <a:pt x="122238" y="311150"/>
                </a:cubicBezTo>
                <a:lnTo>
                  <a:pt x="128072" y="311150"/>
                </a:lnTo>
                <a:cubicBezTo>
                  <a:pt x="144879" y="311150"/>
                  <a:pt x="160298" y="301635"/>
                  <a:pt x="167799" y="286564"/>
                </a:cubicBezTo>
                <a:lnTo>
                  <a:pt x="183912" y="254407"/>
                </a:lnTo>
                <a:cubicBezTo>
                  <a:pt x="186968" y="248295"/>
                  <a:pt x="193149" y="244475"/>
                  <a:pt x="200025" y="244475"/>
                </a:cubicBezTo>
                <a:cubicBezTo>
                  <a:pt x="206901" y="244475"/>
                  <a:pt x="213082" y="248295"/>
                  <a:pt x="216138" y="254407"/>
                </a:cubicBezTo>
                <a:lnTo>
                  <a:pt x="232251" y="286564"/>
                </a:lnTo>
                <a:cubicBezTo>
                  <a:pt x="239752" y="301635"/>
                  <a:pt x="255171" y="311150"/>
                  <a:pt x="271978" y="311150"/>
                </a:cubicBezTo>
                <a:lnTo>
                  <a:pt x="277812" y="311150"/>
                </a:lnTo>
                <a:cubicBezTo>
                  <a:pt x="344488" y="311150"/>
                  <a:pt x="400050" y="266700"/>
                  <a:pt x="400050" y="188913"/>
                </a:cubicBezTo>
                <a:cubicBezTo>
                  <a:pt x="400050" y="111125"/>
                  <a:pt x="355600" y="44450"/>
                  <a:pt x="200025" y="44450"/>
                </a:cubicBezTo>
                <a:close/>
                <a:moveTo>
                  <a:pt x="66675" y="177800"/>
                </a:moveTo>
                <a:cubicBezTo>
                  <a:pt x="66675" y="153267"/>
                  <a:pt x="86592" y="133350"/>
                  <a:pt x="111125" y="133350"/>
                </a:cubicBezTo>
                <a:cubicBezTo>
                  <a:pt x="135658" y="133350"/>
                  <a:pt x="155575" y="153267"/>
                  <a:pt x="155575" y="177800"/>
                </a:cubicBezTo>
                <a:cubicBezTo>
                  <a:pt x="155575" y="202333"/>
                  <a:pt x="135658" y="222250"/>
                  <a:pt x="111125" y="222250"/>
                </a:cubicBezTo>
                <a:cubicBezTo>
                  <a:pt x="86592" y="222250"/>
                  <a:pt x="66675" y="202333"/>
                  <a:pt x="66675" y="177800"/>
                </a:cubicBezTo>
                <a:close/>
                <a:moveTo>
                  <a:pt x="288925" y="133350"/>
                </a:moveTo>
                <a:cubicBezTo>
                  <a:pt x="313458" y="133350"/>
                  <a:pt x="333375" y="153267"/>
                  <a:pt x="333375" y="177800"/>
                </a:cubicBezTo>
                <a:cubicBezTo>
                  <a:pt x="333375" y="202333"/>
                  <a:pt x="313458" y="222250"/>
                  <a:pt x="288925" y="222250"/>
                </a:cubicBezTo>
                <a:cubicBezTo>
                  <a:pt x="264392" y="222250"/>
                  <a:pt x="244475" y="202333"/>
                  <a:pt x="244475" y="177800"/>
                </a:cubicBezTo>
                <a:cubicBezTo>
                  <a:pt x="244475" y="153267"/>
                  <a:pt x="264392" y="133350"/>
                  <a:pt x="288925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515100" y="4610100"/>
            <a:ext cx="3683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Spoofing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2500" y="5016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Forging sender identity to gain unauthorized access to systems and data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350000"/>
            <a:ext cx="14732000" cy="1651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1079500" y="654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Consequences of Insecure Data Transfer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9500" y="6985000"/>
            <a:ext cx="317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Financial losses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Identity theft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08500" y="6985000"/>
            <a:ext cx="381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Reputational damage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Legal penalties (GDPR)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36000" y="6985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Loss of customer trust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Operational disruption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Passwords — The First Line of Defense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795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Password Criteria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1968500"/>
            <a:ext cx="647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least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12-16 characters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Mix of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uppercase, lowercase, numbers, symbols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Avoid dictionary words and personal info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each account — never reuse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a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 manager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generation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Change periodically (every 3-6 months)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3335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8699500" y="152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Password Threats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99500" y="1968500"/>
            <a:ext cx="6477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Brute Force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trying all possible combinations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Dictionary Attacks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using common words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tricking users into revealing passwords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Credential Stuffing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using leaked passwords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Keyloggers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recording keystrokes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Engineering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manipulating people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2705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7275" y="558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878" y="166688"/>
                </a:moveTo>
                <a:lnTo>
                  <a:pt x="233640" y="166688"/>
                </a:lnTo>
                <a:cubicBezTo>
                  <a:pt x="221347" y="166688"/>
                  <a:pt x="211415" y="156756"/>
                  <a:pt x="211415" y="144463"/>
                </a:cubicBezTo>
                <a:lnTo>
                  <a:pt x="211415" y="22225"/>
                </a:lnTo>
                <a:cubicBezTo>
                  <a:pt x="211415" y="9932"/>
                  <a:pt x="221417" y="-139"/>
                  <a:pt x="233571" y="1459"/>
                </a:cubicBezTo>
                <a:cubicBezTo>
                  <a:pt x="307886" y="11321"/>
                  <a:pt x="366782" y="70217"/>
                  <a:pt x="376644" y="144532"/>
                </a:cubicBezTo>
                <a:cubicBezTo>
                  <a:pt x="378242" y="156686"/>
                  <a:pt x="368171" y="166688"/>
                  <a:pt x="355878" y="166688"/>
                </a:cubicBezTo>
                <a:close/>
                <a:moveTo>
                  <a:pt x="154603" y="25837"/>
                </a:moveTo>
                <a:cubicBezTo>
                  <a:pt x="167174" y="23197"/>
                  <a:pt x="178078" y="33476"/>
                  <a:pt x="178078" y="46325"/>
                </a:cubicBezTo>
                <a:lnTo>
                  <a:pt x="178078" y="183356"/>
                </a:lnTo>
                <a:cubicBezTo>
                  <a:pt x="178078" y="187246"/>
                  <a:pt x="179467" y="190996"/>
                  <a:pt x="181898" y="193983"/>
                </a:cubicBezTo>
                <a:lnTo>
                  <a:pt x="273645" y="304691"/>
                </a:lnTo>
                <a:cubicBezTo>
                  <a:pt x="281771" y="314484"/>
                  <a:pt x="280035" y="329277"/>
                  <a:pt x="268853" y="335320"/>
                </a:cubicBezTo>
                <a:cubicBezTo>
                  <a:pt x="245170" y="348238"/>
                  <a:pt x="218013" y="355600"/>
                  <a:pt x="189190" y="355600"/>
                </a:cubicBezTo>
                <a:cubicBezTo>
                  <a:pt x="97165" y="355600"/>
                  <a:pt x="22503" y="280938"/>
                  <a:pt x="22503" y="188913"/>
                </a:cubicBezTo>
                <a:cubicBezTo>
                  <a:pt x="22503" y="108694"/>
                  <a:pt x="79107" y="41741"/>
                  <a:pt x="154603" y="25837"/>
                </a:cubicBezTo>
                <a:close/>
                <a:moveTo>
                  <a:pt x="331847" y="200025"/>
                </a:moveTo>
                <a:lnTo>
                  <a:pt x="376297" y="200025"/>
                </a:lnTo>
                <a:cubicBezTo>
                  <a:pt x="389146" y="200025"/>
                  <a:pt x="399425" y="210929"/>
                  <a:pt x="396786" y="223500"/>
                </a:cubicBezTo>
                <a:cubicBezTo>
                  <a:pt x="389701" y="257115"/>
                  <a:pt x="372477" y="286980"/>
                  <a:pt x="348446" y="309761"/>
                </a:cubicBezTo>
                <a:cubicBezTo>
                  <a:pt x="339904" y="317887"/>
                  <a:pt x="326499" y="316151"/>
                  <a:pt x="318998" y="307052"/>
                </a:cubicBezTo>
                <a:lnTo>
                  <a:pt x="260380" y="236418"/>
                </a:lnTo>
                <a:cubicBezTo>
                  <a:pt x="248364" y="221903"/>
                  <a:pt x="258713" y="200025"/>
                  <a:pt x="277465" y="200025"/>
                </a:cubicBezTo>
                <a:lnTo>
                  <a:pt x="331778" y="20002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5461000"/>
            <a:ext cx="1358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Did you know?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 average person has about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different online accounts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but only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22% of users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different passwords across them. Over 80% of phishing emails now leverage AI-generated content.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685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Best Practices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7302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two-factor authentication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whenever possible |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Never share passwords or write them down visibly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 cautious of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phishing attempts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|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passphrases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(e.g., "Correct-Horse-Battery-Staple!")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83185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KnowBe4 Phishing Threat Trends Report 2025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Multi-Factor Authentication (MFA)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Multi-Factor Authentication (MFA)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requires two or more independent verification factors to grant access. According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CISA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MFA can block up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99.9%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automated account takeover attempts.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15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Authentication Factors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667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2895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89297" y="41672"/>
                </a:moveTo>
                <a:cubicBezTo>
                  <a:pt x="89297" y="18678"/>
                  <a:pt x="107975" y="0"/>
                  <a:pt x="130969" y="0"/>
                </a:cubicBezTo>
                <a:lnTo>
                  <a:pt x="148828" y="0"/>
                </a:lnTo>
                <a:cubicBezTo>
                  <a:pt x="161999" y="0"/>
                  <a:pt x="172641" y="10641"/>
                  <a:pt x="172641" y="23812"/>
                </a:cubicBezTo>
                <a:lnTo>
                  <a:pt x="172641" y="357188"/>
                </a:lnTo>
                <a:cubicBezTo>
                  <a:pt x="172641" y="370359"/>
                  <a:pt x="161999" y="381000"/>
                  <a:pt x="148828" y="381000"/>
                </a:cubicBezTo>
                <a:lnTo>
                  <a:pt x="125016" y="381000"/>
                </a:lnTo>
                <a:cubicBezTo>
                  <a:pt x="102840" y="381000"/>
                  <a:pt x="84162" y="365820"/>
                  <a:pt x="78879" y="345281"/>
                </a:cubicBezTo>
                <a:cubicBezTo>
                  <a:pt x="78358" y="345281"/>
                  <a:pt x="77912" y="345281"/>
                  <a:pt x="77391" y="345281"/>
                </a:cubicBezTo>
                <a:cubicBezTo>
                  <a:pt x="44500" y="345281"/>
                  <a:pt x="17859" y="318641"/>
                  <a:pt x="17859" y="285750"/>
                </a:cubicBezTo>
                <a:cubicBezTo>
                  <a:pt x="17859" y="272355"/>
                  <a:pt x="22324" y="260003"/>
                  <a:pt x="29766" y="250031"/>
                </a:cubicBezTo>
                <a:cubicBezTo>
                  <a:pt x="15329" y="239167"/>
                  <a:pt x="5953" y="221903"/>
                  <a:pt x="5953" y="202406"/>
                </a:cubicBezTo>
                <a:cubicBezTo>
                  <a:pt x="5953" y="179412"/>
                  <a:pt x="19050" y="159395"/>
                  <a:pt x="38100" y="149498"/>
                </a:cubicBezTo>
                <a:cubicBezTo>
                  <a:pt x="32817" y="140568"/>
                  <a:pt x="29766" y="130150"/>
                  <a:pt x="29766" y="119063"/>
                </a:cubicBezTo>
                <a:cubicBezTo>
                  <a:pt x="29766" y="86171"/>
                  <a:pt x="56406" y="59531"/>
                  <a:pt x="89297" y="59531"/>
                </a:cubicBezTo>
                <a:lnTo>
                  <a:pt x="89297" y="41672"/>
                </a:lnTo>
                <a:close/>
                <a:moveTo>
                  <a:pt x="291703" y="41672"/>
                </a:moveTo>
                <a:lnTo>
                  <a:pt x="291703" y="59531"/>
                </a:lnTo>
                <a:cubicBezTo>
                  <a:pt x="324594" y="59531"/>
                  <a:pt x="351234" y="86171"/>
                  <a:pt x="351234" y="119063"/>
                </a:cubicBezTo>
                <a:cubicBezTo>
                  <a:pt x="351234" y="130225"/>
                  <a:pt x="348183" y="140643"/>
                  <a:pt x="342900" y="149498"/>
                </a:cubicBezTo>
                <a:cubicBezTo>
                  <a:pt x="362024" y="159395"/>
                  <a:pt x="375047" y="179338"/>
                  <a:pt x="375047" y="202406"/>
                </a:cubicBezTo>
                <a:cubicBezTo>
                  <a:pt x="375047" y="221903"/>
                  <a:pt x="365671" y="239167"/>
                  <a:pt x="351234" y="250031"/>
                </a:cubicBezTo>
                <a:cubicBezTo>
                  <a:pt x="358676" y="260003"/>
                  <a:pt x="363141" y="272355"/>
                  <a:pt x="363141" y="285750"/>
                </a:cubicBezTo>
                <a:cubicBezTo>
                  <a:pt x="363141" y="318641"/>
                  <a:pt x="336500" y="345281"/>
                  <a:pt x="303609" y="345281"/>
                </a:cubicBezTo>
                <a:cubicBezTo>
                  <a:pt x="303088" y="345281"/>
                  <a:pt x="302642" y="345281"/>
                  <a:pt x="302121" y="345281"/>
                </a:cubicBezTo>
                <a:cubicBezTo>
                  <a:pt x="296838" y="365820"/>
                  <a:pt x="278160" y="381000"/>
                  <a:pt x="255984" y="381000"/>
                </a:cubicBezTo>
                <a:lnTo>
                  <a:pt x="232172" y="381000"/>
                </a:lnTo>
                <a:cubicBezTo>
                  <a:pt x="219001" y="381000"/>
                  <a:pt x="208359" y="370359"/>
                  <a:pt x="208359" y="357188"/>
                </a:cubicBezTo>
                <a:lnTo>
                  <a:pt x="208359" y="23812"/>
                </a:lnTo>
                <a:cubicBezTo>
                  <a:pt x="208359" y="10641"/>
                  <a:pt x="219001" y="0"/>
                  <a:pt x="232172" y="0"/>
                </a:cubicBezTo>
                <a:lnTo>
                  <a:pt x="250031" y="0"/>
                </a:lnTo>
                <a:cubicBezTo>
                  <a:pt x="273025" y="0"/>
                  <a:pt x="291703" y="18678"/>
                  <a:pt x="291703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2870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Something You Know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3655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Passwords, PINs, security questions, pattern locks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0" y="2667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080125" y="28956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1906" y="47625"/>
                </a:moveTo>
                <a:cubicBezTo>
                  <a:pt x="11906" y="21357"/>
                  <a:pt x="33263" y="0"/>
                  <a:pt x="59531" y="0"/>
                </a:cubicBezTo>
                <a:lnTo>
                  <a:pt x="226219" y="0"/>
                </a:lnTo>
                <a:cubicBezTo>
                  <a:pt x="252487" y="0"/>
                  <a:pt x="273844" y="21357"/>
                  <a:pt x="273844" y="47625"/>
                </a:cubicBezTo>
                <a:lnTo>
                  <a:pt x="273844" y="333375"/>
                </a:lnTo>
                <a:cubicBezTo>
                  <a:pt x="273844" y="359643"/>
                  <a:pt x="252487" y="381000"/>
                  <a:pt x="226219" y="381000"/>
                </a:cubicBezTo>
                <a:lnTo>
                  <a:pt x="59531" y="381000"/>
                </a:lnTo>
                <a:cubicBezTo>
                  <a:pt x="33263" y="381000"/>
                  <a:pt x="11906" y="359643"/>
                  <a:pt x="11906" y="333375"/>
                </a:cubicBezTo>
                <a:lnTo>
                  <a:pt x="11906" y="47625"/>
                </a:lnTo>
                <a:close/>
                <a:moveTo>
                  <a:pt x="95250" y="327422"/>
                </a:moveTo>
                <a:cubicBezTo>
                  <a:pt x="95250" y="337319"/>
                  <a:pt x="103212" y="345281"/>
                  <a:pt x="113109" y="345281"/>
                </a:cubicBezTo>
                <a:lnTo>
                  <a:pt x="172641" y="345281"/>
                </a:lnTo>
                <a:cubicBezTo>
                  <a:pt x="182538" y="345281"/>
                  <a:pt x="190500" y="337319"/>
                  <a:pt x="190500" y="327422"/>
                </a:cubicBezTo>
                <a:cubicBezTo>
                  <a:pt x="190500" y="317525"/>
                  <a:pt x="182538" y="309563"/>
                  <a:pt x="172641" y="309563"/>
                </a:cubicBezTo>
                <a:lnTo>
                  <a:pt x="113109" y="309563"/>
                </a:lnTo>
                <a:cubicBezTo>
                  <a:pt x="103212" y="309563"/>
                  <a:pt x="95250" y="317525"/>
                  <a:pt x="95250" y="327422"/>
                </a:cubicBezTo>
                <a:close/>
                <a:moveTo>
                  <a:pt x="226219" y="47625"/>
                </a:moveTo>
                <a:lnTo>
                  <a:pt x="59531" y="47625"/>
                </a:lnTo>
                <a:lnTo>
                  <a:pt x="59531" y="273844"/>
                </a:lnTo>
                <a:lnTo>
                  <a:pt x="226219" y="273844"/>
                </a:lnTo>
                <a:lnTo>
                  <a:pt x="226219" y="4762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6540500" y="2870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Something You Have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2500" y="33655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Smartphone, security token, smart card, hardware key (YubiKey)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795000" y="2667000"/>
            <a:ext cx="4699000" cy="1778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49000" y="2895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19" y="190500"/>
                </a:moveTo>
                <a:cubicBezTo>
                  <a:pt x="35719" y="104998"/>
                  <a:pt x="104998" y="35719"/>
                  <a:pt x="190500" y="35719"/>
                </a:cubicBezTo>
                <a:cubicBezTo>
                  <a:pt x="237455" y="35719"/>
                  <a:pt x="279499" y="56629"/>
                  <a:pt x="307925" y="89669"/>
                </a:cubicBezTo>
                <a:cubicBezTo>
                  <a:pt x="314325" y="97185"/>
                  <a:pt x="325636" y="98003"/>
                  <a:pt x="333077" y="91604"/>
                </a:cubicBezTo>
                <a:cubicBezTo>
                  <a:pt x="340519" y="85204"/>
                  <a:pt x="341412" y="73893"/>
                  <a:pt x="335012" y="66452"/>
                </a:cubicBezTo>
                <a:cubicBezTo>
                  <a:pt x="300112" y="25747"/>
                  <a:pt x="248320" y="0"/>
                  <a:pt x="190500" y="0"/>
                </a:cubicBezTo>
                <a:cubicBezTo>
                  <a:pt x="85279" y="0"/>
                  <a:pt x="0" y="85279"/>
                  <a:pt x="0" y="190500"/>
                </a:cubicBezTo>
                <a:lnTo>
                  <a:pt x="0" y="220266"/>
                </a:lnTo>
                <a:cubicBezTo>
                  <a:pt x="0" y="230163"/>
                  <a:pt x="7962" y="238125"/>
                  <a:pt x="17859" y="238125"/>
                </a:cubicBezTo>
                <a:cubicBezTo>
                  <a:pt x="27756" y="238125"/>
                  <a:pt x="35719" y="230163"/>
                  <a:pt x="35719" y="220266"/>
                </a:cubicBezTo>
                <a:lnTo>
                  <a:pt x="35719" y="190500"/>
                </a:lnTo>
                <a:close/>
                <a:moveTo>
                  <a:pt x="376907" y="151135"/>
                </a:moveTo>
                <a:cubicBezTo>
                  <a:pt x="374898" y="141461"/>
                  <a:pt x="365373" y="135285"/>
                  <a:pt x="355774" y="137368"/>
                </a:cubicBezTo>
                <a:cubicBezTo>
                  <a:pt x="346174" y="139452"/>
                  <a:pt x="339923" y="148903"/>
                  <a:pt x="342007" y="158502"/>
                </a:cubicBezTo>
                <a:cubicBezTo>
                  <a:pt x="344165" y="168846"/>
                  <a:pt x="345356" y="179561"/>
                  <a:pt x="345356" y="190574"/>
                </a:cubicBezTo>
                <a:lnTo>
                  <a:pt x="345356" y="220340"/>
                </a:lnTo>
                <a:cubicBezTo>
                  <a:pt x="345356" y="230237"/>
                  <a:pt x="353318" y="238199"/>
                  <a:pt x="363215" y="238199"/>
                </a:cubicBezTo>
                <a:cubicBezTo>
                  <a:pt x="373112" y="238199"/>
                  <a:pt x="381074" y="230237"/>
                  <a:pt x="381074" y="220340"/>
                </a:cubicBezTo>
                <a:lnTo>
                  <a:pt x="381074" y="190574"/>
                </a:lnTo>
                <a:cubicBezTo>
                  <a:pt x="381074" y="177105"/>
                  <a:pt x="379661" y="163934"/>
                  <a:pt x="376982" y="151209"/>
                </a:cubicBezTo>
                <a:close/>
                <a:moveTo>
                  <a:pt x="190500" y="59531"/>
                </a:moveTo>
                <a:cubicBezTo>
                  <a:pt x="176361" y="59531"/>
                  <a:pt x="162669" y="61764"/>
                  <a:pt x="149944" y="65931"/>
                </a:cubicBezTo>
                <a:cubicBezTo>
                  <a:pt x="138633" y="69652"/>
                  <a:pt x="136029" y="83567"/>
                  <a:pt x="143768" y="92646"/>
                </a:cubicBezTo>
                <a:cubicBezTo>
                  <a:pt x="149051" y="98822"/>
                  <a:pt x="157758" y="100682"/>
                  <a:pt x="165646" y="98524"/>
                </a:cubicBezTo>
                <a:cubicBezTo>
                  <a:pt x="173534" y="96366"/>
                  <a:pt x="181868" y="95250"/>
                  <a:pt x="190500" y="95250"/>
                </a:cubicBezTo>
                <a:cubicBezTo>
                  <a:pt x="243111" y="95250"/>
                  <a:pt x="285750" y="137889"/>
                  <a:pt x="285750" y="190500"/>
                </a:cubicBezTo>
                <a:lnTo>
                  <a:pt x="285750" y="209029"/>
                </a:lnTo>
                <a:cubicBezTo>
                  <a:pt x="285750" y="227781"/>
                  <a:pt x="284634" y="246459"/>
                  <a:pt x="282476" y="265063"/>
                </a:cubicBezTo>
                <a:cubicBezTo>
                  <a:pt x="281211" y="275927"/>
                  <a:pt x="289471" y="285750"/>
                  <a:pt x="300484" y="285750"/>
                </a:cubicBezTo>
                <a:cubicBezTo>
                  <a:pt x="309265" y="285750"/>
                  <a:pt x="316781" y="279350"/>
                  <a:pt x="317822" y="270644"/>
                </a:cubicBezTo>
                <a:cubicBezTo>
                  <a:pt x="320278" y="250254"/>
                  <a:pt x="321543" y="229716"/>
                  <a:pt x="321543" y="209104"/>
                </a:cubicBezTo>
                <a:lnTo>
                  <a:pt x="321543" y="190574"/>
                </a:lnTo>
                <a:cubicBezTo>
                  <a:pt x="321543" y="118244"/>
                  <a:pt x="262905" y="59606"/>
                  <a:pt x="190574" y="59606"/>
                </a:cubicBezTo>
                <a:close/>
                <a:moveTo>
                  <a:pt x="112142" y="110654"/>
                </a:moveTo>
                <a:cubicBezTo>
                  <a:pt x="105370" y="102766"/>
                  <a:pt x="93315" y="102171"/>
                  <a:pt x="86916" y="110356"/>
                </a:cubicBezTo>
                <a:cubicBezTo>
                  <a:pt x="69726" y="132531"/>
                  <a:pt x="59531" y="160288"/>
                  <a:pt x="59531" y="190500"/>
                </a:cubicBezTo>
                <a:lnTo>
                  <a:pt x="59531" y="209029"/>
                </a:lnTo>
                <a:cubicBezTo>
                  <a:pt x="59531" y="227037"/>
                  <a:pt x="57596" y="245046"/>
                  <a:pt x="53727" y="262533"/>
                </a:cubicBezTo>
                <a:cubicBezTo>
                  <a:pt x="51197" y="274141"/>
                  <a:pt x="59606" y="285676"/>
                  <a:pt x="71512" y="285676"/>
                </a:cubicBezTo>
                <a:cubicBezTo>
                  <a:pt x="79325" y="285676"/>
                  <a:pt x="86320" y="280467"/>
                  <a:pt x="88032" y="272802"/>
                </a:cubicBezTo>
                <a:cubicBezTo>
                  <a:pt x="92794" y="251892"/>
                  <a:pt x="95250" y="230535"/>
                  <a:pt x="95250" y="208955"/>
                </a:cubicBezTo>
                <a:lnTo>
                  <a:pt x="95250" y="190426"/>
                </a:lnTo>
                <a:cubicBezTo>
                  <a:pt x="95250" y="170185"/>
                  <a:pt x="101575" y="151433"/>
                  <a:pt x="112291" y="136029"/>
                </a:cubicBezTo>
                <a:cubicBezTo>
                  <a:pt x="117649" y="128290"/>
                  <a:pt x="118244" y="117723"/>
                  <a:pt x="112142" y="110579"/>
                </a:cubicBezTo>
                <a:close/>
                <a:moveTo>
                  <a:pt x="190500" y="119063"/>
                </a:moveTo>
                <a:cubicBezTo>
                  <a:pt x="151061" y="119063"/>
                  <a:pt x="119063" y="151061"/>
                  <a:pt x="119063" y="190500"/>
                </a:cubicBezTo>
                <a:lnTo>
                  <a:pt x="119063" y="209029"/>
                </a:lnTo>
                <a:cubicBezTo>
                  <a:pt x="119063" y="235744"/>
                  <a:pt x="115639" y="262235"/>
                  <a:pt x="108793" y="287982"/>
                </a:cubicBezTo>
                <a:cubicBezTo>
                  <a:pt x="105966" y="298624"/>
                  <a:pt x="113779" y="309563"/>
                  <a:pt x="124792" y="309563"/>
                </a:cubicBezTo>
                <a:cubicBezTo>
                  <a:pt x="131862" y="309563"/>
                  <a:pt x="138113" y="304949"/>
                  <a:pt x="139973" y="298103"/>
                </a:cubicBezTo>
                <a:cubicBezTo>
                  <a:pt x="147786" y="269081"/>
                  <a:pt x="151805" y="239167"/>
                  <a:pt x="151805" y="209029"/>
                </a:cubicBezTo>
                <a:lnTo>
                  <a:pt x="151805" y="190500"/>
                </a:lnTo>
                <a:cubicBezTo>
                  <a:pt x="151805" y="169143"/>
                  <a:pt x="169143" y="151805"/>
                  <a:pt x="190500" y="151805"/>
                </a:cubicBezTo>
                <a:cubicBezTo>
                  <a:pt x="211857" y="151805"/>
                  <a:pt x="229195" y="169143"/>
                  <a:pt x="229195" y="190500"/>
                </a:cubicBezTo>
                <a:lnTo>
                  <a:pt x="229195" y="209029"/>
                </a:lnTo>
                <a:cubicBezTo>
                  <a:pt x="229195" y="236041"/>
                  <a:pt x="226591" y="262905"/>
                  <a:pt x="221456" y="289322"/>
                </a:cubicBezTo>
                <a:cubicBezTo>
                  <a:pt x="219447" y="299665"/>
                  <a:pt x="227186" y="309563"/>
                  <a:pt x="237679" y="309563"/>
                </a:cubicBezTo>
                <a:cubicBezTo>
                  <a:pt x="245269" y="309563"/>
                  <a:pt x="251817" y="304354"/>
                  <a:pt x="253305" y="296912"/>
                </a:cubicBezTo>
                <a:cubicBezTo>
                  <a:pt x="259035" y="268039"/>
                  <a:pt x="261938" y="238646"/>
                  <a:pt x="261938" y="209029"/>
                </a:cubicBezTo>
                <a:lnTo>
                  <a:pt x="261938" y="190500"/>
                </a:lnTo>
                <a:cubicBezTo>
                  <a:pt x="261938" y="151061"/>
                  <a:pt x="229939" y="119063"/>
                  <a:pt x="190500" y="119063"/>
                </a:cubicBezTo>
                <a:close/>
                <a:moveTo>
                  <a:pt x="208359" y="190500"/>
                </a:moveTo>
                <a:cubicBezTo>
                  <a:pt x="208359" y="180603"/>
                  <a:pt x="200397" y="172641"/>
                  <a:pt x="190500" y="172641"/>
                </a:cubicBezTo>
                <a:cubicBezTo>
                  <a:pt x="180603" y="172641"/>
                  <a:pt x="172641" y="180603"/>
                  <a:pt x="172641" y="190500"/>
                </a:cubicBezTo>
                <a:lnTo>
                  <a:pt x="172641" y="209029"/>
                </a:lnTo>
                <a:cubicBezTo>
                  <a:pt x="172641" y="253603"/>
                  <a:pt x="164455" y="297805"/>
                  <a:pt x="148456" y="339403"/>
                </a:cubicBezTo>
                <a:lnTo>
                  <a:pt x="144066" y="350788"/>
                </a:lnTo>
                <a:cubicBezTo>
                  <a:pt x="140494" y="360015"/>
                  <a:pt x="145107" y="370359"/>
                  <a:pt x="154335" y="373856"/>
                </a:cubicBezTo>
                <a:cubicBezTo>
                  <a:pt x="163562" y="377354"/>
                  <a:pt x="173906" y="372814"/>
                  <a:pt x="177403" y="363587"/>
                </a:cubicBezTo>
                <a:lnTo>
                  <a:pt x="181794" y="352202"/>
                </a:lnTo>
                <a:cubicBezTo>
                  <a:pt x="199355" y="306512"/>
                  <a:pt x="208359" y="257994"/>
                  <a:pt x="208359" y="209029"/>
                </a:cubicBezTo>
                <a:lnTo>
                  <a:pt x="208359" y="1905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1557000" y="2870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Something You Are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3365500"/>
            <a:ext cx="4191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Fingerprint, facial recognition, iris scan, voice recognition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76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MFA Methods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270500"/>
            <a:ext cx="3429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6000" y="548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0" y="76200"/>
                </a:lnTo>
                <a:cubicBezTo>
                  <a:pt x="0" y="44648"/>
                  <a:pt x="25598" y="19050"/>
                  <a:pt x="57150" y="19050"/>
                </a:cubicBezTo>
                <a:lnTo>
                  <a:pt x="247650" y="19050"/>
                </a:lnTo>
                <a:cubicBezTo>
                  <a:pt x="279202" y="19050"/>
                  <a:pt x="304800" y="44648"/>
                  <a:pt x="304800" y="76200"/>
                </a:cubicBezTo>
                <a:lnTo>
                  <a:pt x="304800" y="209550"/>
                </a:lnTo>
                <a:cubicBezTo>
                  <a:pt x="304800" y="241102"/>
                  <a:pt x="279202" y="266700"/>
                  <a:pt x="247650" y="266700"/>
                </a:cubicBezTo>
                <a:lnTo>
                  <a:pt x="176212" y="266700"/>
                </a:lnTo>
                <a:cubicBezTo>
                  <a:pt x="173117" y="266700"/>
                  <a:pt x="170140" y="267712"/>
                  <a:pt x="167640" y="269558"/>
                </a:cubicBezTo>
                <a:lnTo>
                  <a:pt x="99060" y="320993"/>
                </a:lnTo>
                <a:cubicBezTo>
                  <a:pt x="96560" y="322838"/>
                  <a:pt x="93583" y="323850"/>
                  <a:pt x="90488" y="323850"/>
                </a:cubicBezTo>
                <a:cubicBezTo>
                  <a:pt x="82570" y="323850"/>
                  <a:pt x="76200" y="317480"/>
                  <a:pt x="76200" y="309563"/>
                </a:cubicBezTo>
                <a:lnTo>
                  <a:pt x="76200" y="266700"/>
                </a:lnTo>
                <a:lnTo>
                  <a:pt x="57150" y="266700"/>
                </a:lnTo>
                <a:cubicBezTo>
                  <a:pt x="25598" y="266700"/>
                  <a:pt x="0" y="241102"/>
                  <a:pt x="0" y="2095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460500" y="5435600"/>
            <a:ext cx="25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/ OTP Codes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Sent to mobile device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08500" y="5270500"/>
            <a:ext cx="3429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5486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47625" y="0"/>
                </a:moveTo>
                <a:cubicBezTo>
                  <a:pt x="26610" y="0"/>
                  <a:pt x="9525" y="17085"/>
                  <a:pt x="9525" y="38100"/>
                </a:cubicBezTo>
                <a:lnTo>
                  <a:pt x="9525" y="266700"/>
                </a:lnTo>
                <a:cubicBezTo>
                  <a:pt x="9525" y="287715"/>
                  <a:pt x="26610" y="304800"/>
                  <a:pt x="47625" y="304800"/>
                </a:cubicBezTo>
                <a:lnTo>
                  <a:pt x="180975" y="304800"/>
                </a:lnTo>
                <a:cubicBezTo>
                  <a:pt x="201990" y="304800"/>
                  <a:pt x="219075" y="287715"/>
                  <a:pt x="219075" y="266700"/>
                </a:cubicBezTo>
                <a:lnTo>
                  <a:pt x="219075" y="38100"/>
                </a:lnTo>
                <a:cubicBezTo>
                  <a:pt x="219075" y="17085"/>
                  <a:pt x="201990" y="0"/>
                  <a:pt x="180975" y="0"/>
                </a:cubicBezTo>
                <a:lnTo>
                  <a:pt x="47625" y="0"/>
                </a:lnTo>
                <a:close/>
                <a:moveTo>
                  <a:pt x="90488" y="247650"/>
                </a:moveTo>
                <a:lnTo>
                  <a:pt x="138113" y="247650"/>
                </a:lnTo>
                <a:cubicBezTo>
                  <a:pt x="146030" y="247650"/>
                  <a:pt x="152400" y="254020"/>
                  <a:pt x="152400" y="261937"/>
                </a:cubicBezTo>
                <a:cubicBezTo>
                  <a:pt x="152400" y="269855"/>
                  <a:pt x="146030" y="276225"/>
                  <a:pt x="138113" y="276225"/>
                </a:cubicBezTo>
                <a:lnTo>
                  <a:pt x="90488" y="276225"/>
                </a:lnTo>
                <a:cubicBezTo>
                  <a:pt x="82570" y="276225"/>
                  <a:pt x="76200" y="269855"/>
                  <a:pt x="76200" y="261937"/>
                </a:cubicBezTo>
                <a:cubicBezTo>
                  <a:pt x="76200" y="254020"/>
                  <a:pt x="82570" y="247650"/>
                  <a:pt x="90488" y="2476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5207000" y="5435600"/>
            <a:ext cx="25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Authenticator Apps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Google, Microsoft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55000" y="5270500"/>
            <a:ext cx="3429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28050" y="5486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0"/>
                </a:moveTo>
                <a:cubicBezTo>
                  <a:pt x="122813" y="0"/>
                  <a:pt x="114300" y="8513"/>
                  <a:pt x="114300" y="19050"/>
                </a:cubicBezTo>
                <a:lnTo>
                  <a:pt x="114300" y="20955"/>
                </a:lnTo>
                <a:cubicBezTo>
                  <a:pt x="70842" y="29766"/>
                  <a:pt x="38100" y="68223"/>
                  <a:pt x="38100" y="114300"/>
                </a:cubicBezTo>
                <a:lnTo>
                  <a:pt x="38100" y="127218"/>
                </a:lnTo>
                <a:cubicBezTo>
                  <a:pt x="38100" y="155853"/>
                  <a:pt x="28337" y="183654"/>
                  <a:pt x="10478" y="206038"/>
                </a:cubicBezTo>
                <a:lnTo>
                  <a:pt x="4643" y="213300"/>
                </a:lnTo>
                <a:cubicBezTo>
                  <a:pt x="1607" y="217051"/>
                  <a:pt x="0" y="221694"/>
                  <a:pt x="0" y="226516"/>
                </a:cubicBezTo>
                <a:cubicBezTo>
                  <a:pt x="0" y="238185"/>
                  <a:pt x="9465" y="247650"/>
                  <a:pt x="21134" y="247650"/>
                </a:cubicBezTo>
                <a:lnTo>
                  <a:pt x="245507" y="247650"/>
                </a:lnTo>
                <a:cubicBezTo>
                  <a:pt x="257175" y="247650"/>
                  <a:pt x="266640" y="238185"/>
                  <a:pt x="266640" y="226516"/>
                </a:cubicBezTo>
                <a:cubicBezTo>
                  <a:pt x="266640" y="221694"/>
                  <a:pt x="265033" y="217051"/>
                  <a:pt x="261997" y="213300"/>
                </a:cubicBezTo>
                <a:lnTo>
                  <a:pt x="256163" y="206038"/>
                </a:lnTo>
                <a:cubicBezTo>
                  <a:pt x="238363" y="183654"/>
                  <a:pt x="228600" y="155853"/>
                  <a:pt x="228600" y="127218"/>
                </a:cubicBezTo>
                <a:lnTo>
                  <a:pt x="228600" y="114300"/>
                </a:lnTo>
                <a:cubicBezTo>
                  <a:pt x="228600" y="68223"/>
                  <a:pt x="195858" y="29766"/>
                  <a:pt x="152400" y="20955"/>
                </a:cubicBezTo>
                <a:lnTo>
                  <a:pt x="152400" y="19050"/>
                </a:lnTo>
                <a:cubicBezTo>
                  <a:pt x="152400" y="8513"/>
                  <a:pt x="143887" y="0"/>
                  <a:pt x="133350" y="0"/>
                </a:cubicBezTo>
                <a:close/>
                <a:moveTo>
                  <a:pt x="96441" y="276225"/>
                </a:moveTo>
                <a:cubicBezTo>
                  <a:pt x="100667" y="292656"/>
                  <a:pt x="115610" y="304800"/>
                  <a:pt x="133350" y="304800"/>
                </a:cubicBezTo>
                <a:cubicBezTo>
                  <a:pt x="151090" y="304800"/>
                  <a:pt x="166033" y="292656"/>
                  <a:pt x="170259" y="276225"/>
                </a:cubicBezTo>
                <a:lnTo>
                  <a:pt x="96441" y="276225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8953500" y="5435600"/>
            <a:ext cx="25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 Notifications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Approve login via app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001500" y="5270500"/>
            <a:ext cx="34925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2255500" y="548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0025" y="209550"/>
                </a:moveTo>
                <a:cubicBezTo>
                  <a:pt x="257889" y="209550"/>
                  <a:pt x="304800" y="162639"/>
                  <a:pt x="304800" y="104775"/>
                </a:cubicBezTo>
                <a:cubicBezTo>
                  <a:pt x="304800" y="46911"/>
                  <a:pt x="257889" y="0"/>
                  <a:pt x="200025" y="0"/>
                </a:cubicBezTo>
                <a:cubicBezTo>
                  <a:pt x="142161" y="0"/>
                  <a:pt x="95250" y="46911"/>
                  <a:pt x="95250" y="104775"/>
                </a:cubicBezTo>
                <a:cubicBezTo>
                  <a:pt x="95250" y="115907"/>
                  <a:pt x="96976" y="126683"/>
                  <a:pt x="100191" y="136743"/>
                </a:cubicBezTo>
                <a:lnTo>
                  <a:pt x="4167" y="232767"/>
                </a:lnTo>
                <a:cubicBezTo>
                  <a:pt x="1488" y="235446"/>
                  <a:pt x="0" y="239078"/>
                  <a:pt x="0" y="242888"/>
                </a:cubicBezTo>
                <a:lnTo>
                  <a:pt x="0" y="290513"/>
                </a:lnTo>
                <a:cubicBezTo>
                  <a:pt x="0" y="298430"/>
                  <a:pt x="6370" y="304800"/>
                  <a:pt x="14288" y="304800"/>
                </a:cubicBezTo>
                <a:lnTo>
                  <a:pt x="61912" y="304800"/>
                </a:lnTo>
                <a:cubicBezTo>
                  <a:pt x="69830" y="304800"/>
                  <a:pt x="76200" y="298430"/>
                  <a:pt x="76200" y="290513"/>
                </a:cubicBezTo>
                <a:lnTo>
                  <a:pt x="76200" y="266700"/>
                </a:lnTo>
                <a:lnTo>
                  <a:pt x="100013" y="266700"/>
                </a:lnTo>
                <a:cubicBezTo>
                  <a:pt x="107930" y="266700"/>
                  <a:pt x="114300" y="260330"/>
                  <a:pt x="114300" y="252413"/>
                </a:cubicBezTo>
                <a:lnTo>
                  <a:pt x="114300" y="228600"/>
                </a:lnTo>
                <a:lnTo>
                  <a:pt x="138113" y="228600"/>
                </a:lnTo>
                <a:cubicBezTo>
                  <a:pt x="141923" y="228600"/>
                  <a:pt x="145554" y="227112"/>
                  <a:pt x="148233" y="224433"/>
                </a:cubicBezTo>
                <a:lnTo>
                  <a:pt x="168057" y="204609"/>
                </a:lnTo>
                <a:cubicBezTo>
                  <a:pt x="178117" y="207824"/>
                  <a:pt x="188893" y="209550"/>
                  <a:pt x="200025" y="209550"/>
                </a:cubicBezTo>
                <a:close/>
                <a:moveTo>
                  <a:pt x="223838" y="57150"/>
                </a:moveTo>
                <a:cubicBezTo>
                  <a:pt x="236980" y="57150"/>
                  <a:pt x="247650" y="67820"/>
                  <a:pt x="247650" y="80962"/>
                </a:cubicBezTo>
                <a:cubicBezTo>
                  <a:pt x="247650" y="94105"/>
                  <a:pt x="236980" y="104775"/>
                  <a:pt x="223838" y="104775"/>
                </a:cubicBezTo>
                <a:cubicBezTo>
                  <a:pt x="210695" y="104775"/>
                  <a:pt x="200025" y="94105"/>
                  <a:pt x="200025" y="80962"/>
                </a:cubicBezTo>
                <a:cubicBezTo>
                  <a:pt x="200025" y="67820"/>
                  <a:pt x="210695" y="57150"/>
                  <a:pt x="223838" y="571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12700000" y="5435600"/>
            <a:ext cx="254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 Keys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YubiKey, FIDO2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6858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9500" y="711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1587500" y="6985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Recommendation: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Implementing MFA is one of the most effective security measures. Even basic SMS-based 2FA significantly improves security over passwords alone.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81280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Sources: CISA, ondato.com, rippling.com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Biometric Authentication — Something You 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Biometric authentication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uses unique physical or behavioral characteristics to verify identity. It offers strong security because biometric traits are extremely difficult to forge or steal.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160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337" y="177800"/>
                </a:moveTo>
                <a:cubicBezTo>
                  <a:pt x="33337" y="97998"/>
                  <a:pt x="97998" y="33337"/>
                  <a:pt x="177800" y="33337"/>
                </a:cubicBezTo>
                <a:cubicBezTo>
                  <a:pt x="221625" y="33337"/>
                  <a:pt x="260866" y="52854"/>
                  <a:pt x="287397" y="83691"/>
                </a:cubicBezTo>
                <a:cubicBezTo>
                  <a:pt x="293370" y="90706"/>
                  <a:pt x="303927" y="91470"/>
                  <a:pt x="310872" y="85497"/>
                </a:cubicBezTo>
                <a:cubicBezTo>
                  <a:pt x="317818" y="79524"/>
                  <a:pt x="318651" y="68967"/>
                  <a:pt x="312678" y="62022"/>
                </a:cubicBezTo>
                <a:cubicBezTo>
                  <a:pt x="280104" y="24031"/>
                  <a:pt x="231765" y="0"/>
                  <a:pt x="177800" y="0"/>
                </a:cubicBezTo>
                <a:cubicBezTo>
                  <a:pt x="79593" y="0"/>
                  <a:pt x="0" y="79593"/>
                  <a:pt x="0" y="177800"/>
                </a:cubicBezTo>
                <a:lnTo>
                  <a:pt x="0" y="205581"/>
                </a:lnTo>
                <a:cubicBezTo>
                  <a:pt x="0" y="214819"/>
                  <a:pt x="7431" y="222250"/>
                  <a:pt x="16669" y="222250"/>
                </a:cubicBezTo>
                <a:cubicBezTo>
                  <a:pt x="25906" y="222250"/>
                  <a:pt x="33337" y="214819"/>
                  <a:pt x="33337" y="205581"/>
                </a:cubicBezTo>
                <a:lnTo>
                  <a:pt x="33337" y="177800"/>
                </a:lnTo>
                <a:close/>
                <a:moveTo>
                  <a:pt x="351780" y="141059"/>
                </a:moveTo>
                <a:cubicBezTo>
                  <a:pt x="349905" y="132030"/>
                  <a:pt x="341015" y="126266"/>
                  <a:pt x="332055" y="128210"/>
                </a:cubicBezTo>
                <a:cubicBezTo>
                  <a:pt x="323096" y="130155"/>
                  <a:pt x="317262" y="138976"/>
                  <a:pt x="319207" y="147935"/>
                </a:cubicBezTo>
                <a:cubicBezTo>
                  <a:pt x="321221" y="157589"/>
                  <a:pt x="322332" y="167590"/>
                  <a:pt x="322332" y="177869"/>
                </a:cubicBezTo>
                <a:lnTo>
                  <a:pt x="322332" y="205651"/>
                </a:lnTo>
                <a:cubicBezTo>
                  <a:pt x="322332" y="214888"/>
                  <a:pt x="329763" y="222319"/>
                  <a:pt x="339001" y="222319"/>
                </a:cubicBezTo>
                <a:cubicBezTo>
                  <a:pt x="348238" y="222319"/>
                  <a:pt x="355669" y="214888"/>
                  <a:pt x="355669" y="205651"/>
                </a:cubicBezTo>
                <a:lnTo>
                  <a:pt x="355669" y="177869"/>
                </a:lnTo>
                <a:cubicBezTo>
                  <a:pt x="355669" y="165298"/>
                  <a:pt x="354350" y="153005"/>
                  <a:pt x="351850" y="141129"/>
                </a:cubicBezTo>
                <a:close/>
                <a:moveTo>
                  <a:pt x="177800" y="55563"/>
                </a:moveTo>
                <a:cubicBezTo>
                  <a:pt x="164604" y="55563"/>
                  <a:pt x="151825" y="57646"/>
                  <a:pt x="139948" y="61535"/>
                </a:cubicBezTo>
                <a:cubicBezTo>
                  <a:pt x="129391" y="65008"/>
                  <a:pt x="126960" y="77996"/>
                  <a:pt x="134183" y="86469"/>
                </a:cubicBezTo>
                <a:cubicBezTo>
                  <a:pt x="139115" y="92234"/>
                  <a:pt x="147241" y="93970"/>
                  <a:pt x="154603" y="91956"/>
                </a:cubicBezTo>
                <a:cubicBezTo>
                  <a:pt x="161965" y="89942"/>
                  <a:pt x="169743" y="88900"/>
                  <a:pt x="177800" y="88900"/>
                </a:cubicBezTo>
                <a:cubicBezTo>
                  <a:pt x="226903" y="88900"/>
                  <a:pt x="266700" y="128697"/>
                  <a:pt x="266700" y="177800"/>
                </a:cubicBezTo>
                <a:lnTo>
                  <a:pt x="266700" y="195094"/>
                </a:lnTo>
                <a:cubicBezTo>
                  <a:pt x="266700" y="212596"/>
                  <a:pt x="265658" y="230029"/>
                  <a:pt x="263644" y="247392"/>
                </a:cubicBezTo>
                <a:cubicBezTo>
                  <a:pt x="262463" y="257532"/>
                  <a:pt x="270173" y="266700"/>
                  <a:pt x="280452" y="266700"/>
                </a:cubicBezTo>
                <a:cubicBezTo>
                  <a:pt x="288647" y="266700"/>
                  <a:pt x="295662" y="260727"/>
                  <a:pt x="296634" y="252601"/>
                </a:cubicBezTo>
                <a:cubicBezTo>
                  <a:pt x="298926" y="233571"/>
                  <a:pt x="300107" y="214402"/>
                  <a:pt x="300107" y="195163"/>
                </a:cubicBezTo>
                <a:lnTo>
                  <a:pt x="300107" y="177869"/>
                </a:lnTo>
                <a:cubicBezTo>
                  <a:pt x="300107" y="110361"/>
                  <a:pt x="245378" y="55632"/>
                  <a:pt x="177869" y="55632"/>
                </a:cubicBezTo>
                <a:close/>
                <a:moveTo>
                  <a:pt x="104666" y="103277"/>
                </a:moveTo>
                <a:cubicBezTo>
                  <a:pt x="98346" y="95915"/>
                  <a:pt x="87094" y="95359"/>
                  <a:pt x="81121" y="102999"/>
                </a:cubicBezTo>
                <a:cubicBezTo>
                  <a:pt x="65078" y="123696"/>
                  <a:pt x="55562" y="149602"/>
                  <a:pt x="55562" y="177800"/>
                </a:cubicBezTo>
                <a:lnTo>
                  <a:pt x="55562" y="195094"/>
                </a:lnTo>
                <a:cubicBezTo>
                  <a:pt x="55562" y="211901"/>
                  <a:pt x="53757" y="228709"/>
                  <a:pt x="50145" y="245031"/>
                </a:cubicBezTo>
                <a:cubicBezTo>
                  <a:pt x="47784" y="255865"/>
                  <a:pt x="55632" y="266631"/>
                  <a:pt x="66744" y="266631"/>
                </a:cubicBezTo>
                <a:cubicBezTo>
                  <a:pt x="74037" y="266631"/>
                  <a:pt x="80566" y="261769"/>
                  <a:pt x="82163" y="254615"/>
                </a:cubicBezTo>
                <a:cubicBezTo>
                  <a:pt x="86608" y="235099"/>
                  <a:pt x="88900" y="215166"/>
                  <a:pt x="88900" y="195024"/>
                </a:cubicBezTo>
                <a:lnTo>
                  <a:pt x="88900" y="177731"/>
                </a:lnTo>
                <a:cubicBezTo>
                  <a:pt x="88900" y="158839"/>
                  <a:pt x="94804" y="141337"/>
                  <a:pt x="104805" y="126960"/>
                </a:cubicBezTo>
                <a:cubicBezTo>
                  <a:pt x="109805" y="119737"/>
                  <a:pt x="110361" y="109875"/>
                  <a:pt x="104666" y="103207"/>
                </a:cubicBezTo>
                <a:close/>
                <a:moveTo>
                  <a:pt x="177800" y="111125"/>
                </a:moveTo>
                <a:cubicBezTo>
                  <a:pt x="140990" y="111125"/>
                  <a:pt x="111125" y="140990"/>
                  <a:pt x="111125" y="177800"/>
                </a:cubicBezTo>
                <a:lnTo>
                  <a:pt x="111125" y="195094"/>
                </a:lnTo>
                <a:cubicBezTo>
                  <a:pt x="111125" y="220027"/>
                  <a:pt x="107930" y="244753"/>
                  <a:pt x="101540" y="268784"/>
                </a:cubicBezTo>
                <a:cubicBezTo>
                  <a:pt x="98901" y="278715"/>
                  <a:pt x="106194" y="288925"/>
                  <a:pt x="116473" y="288925"/>
                </a:cubicBezTo>
                <a:cubicBezTo>
                  <a:pt x="123071" y="288925"/>
                  <a:pt x="128905" y="284619"/>
                  <a:pt x="130641" y="278229"/>
                </a:cubicBezTo>
                <a:cubicBezTo>
                  <a:pt x="137934" y="251142"/>
                  <a:pt x="141684" y="223222"/>
                  <a:pt x="141684" y="195094"/>
                </a:cubicBezTo>
                <a:lnTo>
                  <a:pt x="141684" y="177800"/>
                </a:lnTo>
                <a:cubicBezTo>
                  <a:pt x="141684" y="157867"/>
                  <a:pt x="157867" y="141684"/>
                  <a:pt x="177800" y="141684"/>
                </a:cubicBezTo>
                <a:cubicBezTo>
                  <a:pt x="197733" y="141684"/>
                  <a:pt x="213916" y="157867"/>
                  <a:pt x="213916" y="177800"/>
                </a:cubicBezTo>
                <a:lnTo>
                  <a:pt x="213916" y="195094"/>
                </a:lnTo>
                <a:cubicBezTo>
                  <a:pt x="213916" y="220305"/>
                  <a:pt x="211485" y="245378"/>
                  <a:pt x="206693" y="270034"/>
                </a:cubicBezTo>
                <a:cubicBezTo>
                  <a:pt x="204817" y="279688"/>
                  <a:pt x="212040" y="288925"/>
                  <a:pt x="221833" y="288925"/>
                </a:cubicBezTo>
                <a:cubicBezTo>
                  <a:pt x="228918" y="288925"/>
                  <a:pt x="235029" y="284063"/>
                  <a:pt x="236418" y="277118"/>
                </a:cubicBezTo>
                <a:cubicBezTo>
                  <a:pt x="241766" y="250170"/>
                  <a:pt x="244475" y="222736"/>
                  <a:pt x="244475" y="195094"/>
                </a:cubicBezTo>
                <a:lnTo>
                  <a:pt x="244475" y="177800"/>
                </a:lnTo>
                <a:cubicBezTo>
                  <a:pt x="244475" y="140990"/>
                  <a:pt x="214610" y="111125"/>
                  <a:pt x="177800" y="111125"/>
                </a:cubicBezTo>
                <a:close/>
                <a:moveTo>
                  <a:pt x="194469" y="177800"/>
                </a:moveTo>
                <a:cubicBezTo>
                  <a:pt x="194469" y="168563"/>
                  <a:pt x="187037" y="161131"/>
                  <a:pt x="177800" y="161131"/>
                </a:cubicBezTo>
                <a:cubicBezTo>
                  <a:pt x="168563" y="161131"/>
                  <a:pt x="161131" y="168563"/>
                  <a:pt x="161131" y="177800"/>
                </a:cubicBezTo>
                <a:lnTo>
                  <a:pt x="161131" y="195094"/>
                </a:lnTo>
                <a:cubicBezTo>
                  <a:pt x="161131" y="236696"/>
                  <a:pt x="153491" y="277951"/>
                  <a:pt x="138559" y="316776"/>
                </a:cubicBezTo>
                <a:lnTo>
                  <a:pt x="134461" y="327402"/>
                </a:lnTo>
                <a:cubicBezTo>
                  <a:pt x="131128" y="336014"/>
                  <a:pt x="135434" y="345668"/>
                  <a:pt x="144046" y="348933"/>
                </a:cubicBezTo>
                <a:cubicBezTo>
                  <a:pt x="152658" y="352197"/>
                  <a:pt x="162312" y="347960"/>
                  <a:pt x="165576" y="339348"/>
                </a:cubicBezTo>
                <a:lnTo>
                  <a:pt x="169674" y="328722"/>
                </a:lnTo>
                <a:cubicBezTo>
                  <a:pt x="186065" y="286077"/>
                  <a:pt x="194469" y="240794"/>
                  <a:pt x="194469" y="195094"/>
                </a:cubicBezTo>
                <a:lnTo>
                  <a:pt x="194469" y="177800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24511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Fingerprint Scanning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6000" y="2857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99.9% accuracy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Widely used in smartphones and banking apps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2222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25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24511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Facial Recognition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857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Hands-free authentication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Popular for device unlock and secure payments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22225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1026775" y="2476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1531600" y="24511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Iris / Retina Scanning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28575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High-security environments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Analyzes unique patterns in the eye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127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60450" y="4445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33350" y="0"/>
                </a:moveTo>
                <a:cubicBezTo>
                  <a:pt x="96540" y="0"/>
                  <a:pt x="66675" y="29865"/>
                  <a:pt x="66675" y="66675"/>
                </a:cubicBezTo>
                <a:lnTo>
                  <a:pt x="66675" y="155575"/>
                </a:lnTo>
                <a:cubicBezTo>
                  <a:pt x="66675" y="192385"/>
                  <a:pt x="96540" y="222250"/>
                  <a:pt x="133350" y="222250"/>
                </a:cubicBezTo>
                <a:cubicBezTo>
                  <a:pt x="170160" y="222250"/>
                  <a:pt x="200025" y="192385"/>
                  <a:pt x="200025" y="155575"/>
                </a:cubicBezTo>
                <a:lnTo>
                  <a:pt x="200025" y="66675"/>
                </a:lnTo>
                <a:cubicBezTo>
                  <a:pt x="200025" y="29865"/>
                  <a:pt x="170160" y="0"/>
                  <a:pt x="133350" y="0"/>
                </a:cubicBezTo>
                <a:close/>
                <a:moveTo>
                  <a:pt x="33337" y="127794"/>
                </a:moveTo>
                <a:cubicBezTo>
                  <a:pt x="33337" y="118556"/>
                  <a:pt x="25906" y="111125"/>
                  <a:pt x="16669" y="111125"/>
                </a:cubicBezTo>
                <a:cubicBezTo>
                  <a:pt x="7431" y="111125"/>
                  <a:pt x="0" y="118556"/>
                  <a:pt x="0" y="127794"/>
                </a:cubicBezTo>
                <a:lnTo>
                  <a:pt x="0" y="155575"/>
                </a:lnTo>
                <a:cubicBezTo>
                  <a:pt x="0" y="223570"/>
                  <a:pt x="50909" y="279688"/>
                  <a:pt x="116681" y="287883"/>
                </a:cubicBezTo>
                <a:lnTo>
                  <a:pt x="116681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183356" y="355600"/>
                </a:lnTo>
                <a:cubicBezTo>
                  <a:pt x="192594" y="355600"/>
                  <a:pt x="200025" y="348169"/>
                  <a:pt x="200025" y="338931"/>
                </a:cubicBezTo>
                <a:cubicBezTo>
                  <a:pt x="200025" y="329694"/>
                  <a:pt x="192594" y="322263"/>
                  <a:pt x="183356" y="322263"/>
                </a:cubicBezTo>
                <a:lnTo>
                  <a:pt x="150019" y="322263"/>
                </a:lnTo>
                <a:lnTo>
                  <a:pt x="150019" y="287883"/>
                </a:lnTo>
                <a:cubicBezTo>
                  <a:pt x="215791" y="279688"/>
                  <a:pt x="266700" y="223570"/>
                  <a:pt x="266700" y="155575"/>
                </a:cubicBezTo>
                <a:lnTo>
                  <a:pt x="266700" y="127794"/>
                </a:lnTo>
                <a:cubicBezTo>
                  <a:pt x="266700" y="118556"/>
                  <a:pt x="259269" y="111125"/>
                  <a:pt x="250031" y="111125"/>
                </a:cubicBezTo>
                <a:cubicBezTo>
                  <a:pt x="240794" y="111125"/>
                  <a:pt x="233363" y="118556"/>
                  <a:pt x="233363" y="127794"/>
                </a:cubicBezTo>
                <a:lnTo>
                  <a:pt x="233363" y="155575"/>
                </a:lnTo>
                <a:cubicBezTo>
                  <a:pt x="233363" y="210790"/>
                  <a:pt x="188565" y="255587"/>
                  <a:pt x="133350" y="255587"/>
                </a:cubicBezTo>
                <a:cubicBezTo>
                  <a:pt x="78135" y="255587"/>
                  <a:pt x="33337" y="210790"/>
                  <a:pt x="33337" y="155575"/>
                </a:cubicBezTo>
                <a:lnTo>
                  <a:pt x="33337" y="127794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1498600" y="4318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 Recognition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" y="46736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Authenticates based on unique speech patterns. Used in virtual assistants and banking.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41275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13775" y="4445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55563" y="88900"/>
                </a:moveTo>
                <a:lnTo>
                  <a:pt x="77788" y="88900"/>
                </a:lnTo>
                <a:cubicBezTo>
                  <a:pt x="83899" y="88900"/>
                  <a:pt x="88900" y="93901"/>
                  <a:pt x="88900" y="100013"/>
                </a:cubicBezTo>
                <a:lnTo>
                  <a:pt x="88900" y="122238"/>
                </a:lnTo>
                <a:cubicBezTo>
                  <a:pt x="88900" y="128349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28349"/>
                  <a:pt x="44450" y="122238"/>
                </a:cubicBezTo>
                <a:lnTo>
                  <a:pt x="44450" y="100013"/>
                </a:lnTo>
                <a:cubicBezTo>
                  <a:pt x="44450" y="93901"/>
                  <a:pt x="49451" y="88900"/>
                  <a:pt x="55563" y="88900"/>
                </a:cubicBezTo>
                <a:close/>
                <a:moveTo>
                  <a:pt x="44450" y="166688"/>
                </a:moveTo>
                <a:cubicBezTo>
                  <a:pt x="44450" y="160576"/>
                  <a:pt x="49451" y="155575"/>
                  <a:pt x="55563" y="155575"/>
                </a:cubicBezTo>
                <a:lnTo>
                  <a:pt x="77788" y="155575"/>
                </a:lnTo>
                <a:cubicBezTo>
                  <a:pt x="83899" y="155575"/>
                  <a:pt x="88900" y="160576"/>
                  <a:pt x="88900" y="166688"/>
                </a:cubicBezTo>
                <a:lnTo>
                  <a:pt x="88900" y="188913"/>
                </a:lnTo>
                <a:cubicBezTo>
                  <a:pt x="88900" y="195024"/>
                  <a:pt x="83899" y="200025"/>
                  <a:pt x="77788" y="200025"/>
                </a:cubicBezTo>
                <a:lnTo>
                  <a:pt x="55563" y="200025"/>
                </a:lnTo>
                <a:cubicBezTo>
                  <a:pt x="49451" y="200025"/>
                  <a:pt x="44450" y="195024"/>
                  <a:pt x="44450" y="188913"/>
                </a:cubicBezTo>
                <a:lnTo>
                  <a:pt x="44450" y="166688"/>
                </a:lnTo>
                <a:close/>
                <a:moveTo>
                  <a:pt x="122238" y="88900"/>
                </a:moveTo>
                <a:lnTo>
                  <a:pt x="144463" y="88900"/>
                </a:lnTo>
                <a:cubicBezTo>
                  <a:pt x="150574" y="88900"/>
                  <a:pt x="155575" y="93901"/>
                  <a:pt x="155575" y="100013"/>
                </a:cubicBezTo>
                <a:lnTo>
                  <a:pt x="155575" y="122238"/>
                </a:lnTo>
                <a:cubicBezTo>
                  <a:pt x="155575" y="128349"/>
                  <a:pt x="150574" y="133350"/>
                  <a:pt x="144463" y="133350"/>
                </a:cubicBezTo>
                <a:lnTo>
                  <a:pt x="122238" y="133350"/>
                </a:lnTo>
                <a:cubicBezTo>
                  <a:pt x="116126" y="133350"/>
                  <a:pt x="111125" y="128349"/>
                  <a:pt x="111125" y="122238"/>
                </a:cubicBezTo>
                <a:lnTo>
                  <a:pt x="111125" y="100013"/>
                </a:lnTo>
                <a:cubicBezTo>
                  <a:pt x="111125" y="93901"/>
                  <a:pt x="116126" y="88900"/>
                  <a:pt x="122238" y="88900"/>
                </a:cubicBezTo>
                <a:close/>
                <a:moveTo>
                  <a:pt x="111125" y="166688"/>
                </a:moveTo>
                <a:cubicBezTo>
                  <a:pt x="111125" y="160576"/>
                  <a:pt x="116126" y="155575"/>
                  <a:pt x="122238" y="155575"/>
                </a:cubicBezTo>
                <a:lnTo>
                  <a:pt x="144463" y="155575"/>
                </a:lnTo>
                <a:cubicBezTo>
                  <a:pt x="150574" y="155575"/>
                  <a:pt x="155575" y="160576"/>
                  <a:pt x="155575" y="166688"/>
                </a:cubicBezTo>
                <a:lnTo>
                  <a:pt x="155575" y="188913"/>
                </a:lnTo>
                <a:cubicBezTo>
                  <a:pt x="155575" y="195024"/>
                  <a:pt x="150574" y="200025"/>
                  <a:pt x="144463" y="200025"/>
                </a:cubicBezTo>
                <a:lnTo>
                  <a:pt x="122238" y="200025"/>
                </a:lnTo>
                <a:cubicBezTo>
                  <a:pt x="116126" y="200025"/>
                  <a:pt x="111125" y="195024"/>
                  <a:pt x="111125" y="188913"/>
                </a:cubicBezTo>
                <a:lnTo>
                  <a:pt x="111125" y="166688"/>
                </a:lnTo>
                <a:close/>
                <a:moveTo>
                  <a:pt x="122238" y="222250"/>
                </a:moveTo>
                <a:lnTo>
                  <a:pt x="277813" y="222250"/>
                </a:lnTo>
                <a:cubicBezTo>
                  <a:pt x="283924" y="222250"/>
                  <a:pt x="288925" y="227251"/>
                  <a:pt x="288925" y="233363"/>
                </a:cubicBezTo>
                <a:lnTo>
                  <a:pt x="288925" y="255587"/>
                </a:lnTo>
                <a:cubicBezTo>
                  <a:pt x="288925" y="261699"/>
                  <a:pt x="283924" y="266700"/>
                  <a:pt x="277813" y="266700"/>
                </a:cubicBezTo>
                <a:lnTo>
                  <a:pt x="122238" y="266700"/>
                </a:lnTo>
                <a:cubicBezTo>
                  <a:pt x="116126" y="266700"/>
                  <a:pt x="111125" y="261699"/>
                  <a:pt x="111125" y="255587"/>
                </a:cubicBezTo>
                <a:lnTo>
                  <a:pt x="111125" y="233363"/>
                </a:lnTo>
                <a:cubicBezTo>
                  <a:pt x="111125" y="227251"/>
                  <a:pt x="116126" y="222250"/>
                  <a:pt x="122238" y="222250"/>
                </a:cubicBezTo>
                <a:close/>
                <a:moveTo>
                  <a:pt x="177800" y="100013"/>
                </a:moveTo>
                <a:cubicBezTo>
                  <a:pt x="177800" y="93901"/>
                  <a:pt x="182801" y="88900"/>
                  <a:pt x="188913" y="88900"/>
                </a:cubicBezTo>
                <a:lnTo>
                  <a:pt x="211138" y="88900"/>
                </a:lnTo>
                <a:cubicBezTo>
                  <a:pt x="217249" y="88900"/>
                  <a:pt x="222250" y="93901"/>
                  <a:pt x="222250" y="100013"/>
                </a:cubicBezTo>
                <a:lnTo>
                  <a:pt x="222250" y="122238"/>
                </a:lnTo>
                <a:cubicBezTo>
                  <a:pt x="222250" y="128349"/>
                  <a:pt x="217249" y="133350"/>
                  <a:pt x="211138" y="133350"/>
                </a:cubicBezTo>
                <a:lnTo>
                  <a:pt x="188913" y="133350"/>
                </a:lnTo>
                <a:cubicBezTo>
                  <a:pt x="182801" y="133350"/>
                  <a:pt x="177800" y="128349"/>
                  <a:pt x="177800" y="122238"/>
                </a:cubicBezTo>
                <a:lnTo>
                  <a:pt x="177800" y="100013"/>
                </a:lnTo>
                <a:close/>
                <a:moveTo>
                  <a:pt x="188913" y="155575"/>
                </a:moveTo>
                <a:lnTo>
                  <a:pt x="211138" y="155575"/>
                </a:lnTo>
                <a:cubicBezTo>
                  <a:pt x="217249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17249" y="200025"/>
                  <a:pt x="211138" y="200025"/>
                </a:cubicBezTo>
                <a:lnTo>
                  <a:pt x="188913" y="200025"/>
                </a:lnTo>
                <a:cubicBezTo>
                  <a:pt x="182801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82801" y="155575"/>
                  <a:pt x="188913" y="155575"/>
                </a:cubicBezTo>
                <a:close/>
                <a:moveTo>
                  <a:pt x="244475" y="100013"/>
                </a:moveTo>
                <a:cubicBezTo>
                  <a:pt x="244475" y="93901"/>
                  <a:pt x="249476" y="88900"/>
                  <a:pt x="255587" y="88900"/>
                </a:cubicBezTo>
                <a:lnTo>
                  <a:pt x="277813" y="88900"/>
                </a:lnTo>
                <a:cubicBezTo>
                  <a:pt x="283924" y="88900"/>
                  <a:pt x="288925" y="93901"/>
                  <a:pt x="288925" y="100013"/>
                </a:cubicBezTo>
                <a:lnTo>
                  <a:pt x="288925" y="122238"/>
                </a:lnTo>
                <a:cubicBezTo>
                  <a:pt x="288925" y="128349"/>
                  <a:pt x="283924" y="133350"/>
                  <a:pt x="277813" y="133350"/>
                </a:cubicBezTo>
                <a:lnTo>
                  <a:pt x="255587" y="133350"/>
                </a:lnTo>
                <a:cubicBezTo>
                  <a:pt x="249476" y="133350"/>
                  <a:pt x="244475" y="128349"/>
                  <a:pt x="244475" y="122238"/>
                </a:cubicBezTo>
                <a:lnTo>
                  <a:pt x="244475" y="100013"/>
                </a:lnTo>
                <a:close/>
                <a:moveTo>
                  <a:pt x="255587" y="155575"/>
                </a:moveTo>
                <a:lnTo>
                  <a:pt x="277813" y="155575"/>
                </a:lnTo>
                <a:cubicBezTo>
                  <a:pt x="283924" y="155575"/>
                  <a:pt x="288925" y="160576"/>
                  <a:pt x="288925" y="166688"/>
                </a:cubicBezTo>
                <a:lnTo>
                  <a:pt x="288925" y="188913"/>
                </a:lnTo>
                <a:cubicBezTo>
                  <a:pt x="288925" y="195024"/>
                  <a:pt x="283924" y="200025"/>
                  <a:pt x="277813" y="200025"/>
                </a:cubicBezTo>
                <a:lnTo>
                  <a:pt x="255587" y="200025"/>
                </a:lnTo>
                <a:cubicBezTo>
                  <a:pt x="249476" y="200025"/>
                  <a:pt x="244475" y="195024"/>
                  <a:pt x="244475" y="188913"/>
                </a:cubicBezTo>
                <a:lnTo>
                  <a:pt x="244475" y="166688"/>
                </a:lnTo>
                <a:cubicBezTo>
                  <a:pt x="244475" y="160576"/>
                  <a:pt x="249476" y="155575"/>
                  <a:pt x="255587" y="155575"/>
                </a:cubicBezTo>
                <a:close/>
                <a:moveTo>
                  <a:pt x="311150" y="100013"/>
                </a:moveTo>
                <a:cubicBezTo>
                  <a:pt x="311150" y="93901"/>
                  <a:pt x="316151" y="88900"/>
                  <a:pt x="322263" y="88900"/>
                </a:cubicBezTo>
                <a:lnTo>
                  <a:pt x="344488" y="88900"/>
                </a:lnTo>
                <a:cubicBezTo>
                  <a:pt x="350599" y="88900"/>
                  <a:pt x="355600" y="93901"/>
                  <a:pt x="355600" y="100013"/>
                </a:cubicBezTo>
                <a:lnTo>
                  <a:pt x="355600" y="122238"/>
                </a:lnTo>
                <a:cubicBezTo>
                  <a:pt x="355600" y="128349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28349"/>
                  <a:pt x="311150" y="122238"/>
                </a:cubicBezTo>
                <a:lnTo>
                  <a:pt x="311150" y="100013"/>
                </a:lnTo>
                <a:close/>
                <a:moveTo>
                  <a:pt x="322263" y="155575"/>
                </a:moveTo>
                <a:lnTo>
                  <a:pt x="344488" y="155575"/>
                </a:lnTo>
                <a:cubicBezTo>
                  <a:pt x="350599" y="155575"/>
                  <a:pt x="355600" y="160576"/>
                  <a:pt x="355600" y="166688"/>
                </a:cubicBezTo>
                <a:lnTo>
                  <a:pt x="355600" y="188913"/>
                </a:lnTo>
                <a:cubicBezTo>
                  <a:pt x="355600" y="195024"/>
                  <a:pt x="350599" y="200025"/>
                  <a:pt x="344488" y="200025"/>
                </a:cubicBezTo>
                <a:lnTo>
                  <a:pt x="322263" y="200025"/>
                </a:lnTo>
                <a:cubicBezTo>
                  <a:pt x="316151" y="200025"/>
                  <a:pt x="311150" y="195024"/>
                  <a:pt x="311150" y="188913"/>
                </a:cubicBezTo>
                <a:lnTo>
                  <a:pt x="311150" y="166688"/>
                </a:lnTo>
                <a:cubicBezTo>
                  <a:pt x="311150" y="160576"/>
                  <a:pt x="316151" y="155575"/>
                  <a:pt x="322263" y="155575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9118600" y="43180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Behavioral Biometrics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18600" y="46736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Tracks typing speed, mouse movements, and gestures for continuous authentication.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5715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Considerations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223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16A34A">
              <a:alpha val="8235"/>
            </a:srgbClr>
          </a:solidFill>
          <a:ln w="12700">
            <a:solidFill>
              <a:srgbClr val="16A34A">
                <a:alpha val="18824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9500" y="635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6A3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79500" y="67310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Extremely difficult to forge or replicate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Convenient — no passwords to remember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Fast verification process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0" y="6223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DC2626">
              <a:alpha val="8235"/>
            </a:srgbClr>
          </a:solidFill>
          <a:ln w="12700">
            <a:solidFill>
              <a:srgbClr val="DC2626">
                <a:alpha val="18824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99500" y="6350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Considerations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699500" y="6731000"/>
            <a:ext cx="647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Privacy concerns with biometric data storage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Requires specialized hardware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Potential for false positives/negatives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Authentication Methods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14732000" cy="215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33500"/>
            <a:ext cx="76200" cy="2159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119539"/>
                </a:moveTo>
                <a:lnTo>
                  <a:pt x="322739" y="195739"/>
                </a:lnTo>
                <a:cubicBezTo>
                  <a:pt x="315436" y="203041"/>
                  <a:pt x="304562" y="205184"/>
                  <a:pt x="295037" y="201216"/>
                </a:cubicBezTo>
                <a:cubicBezTo>
                  <a:pt x="285512" y="197247"/>
                  <a:pt x="279400" y="188039"/>
                  <a:pt x="279400" y="177800"/>
                </a:cubicBezTo>
                <a:lnTo>
                  <a:pt x="279400" y="127000"/>
                </a:lnTo>
                <a:lnTo>
                  <a:pt x="25400" y="127000"/>
                </a:lnTo>
                <a:cubicBezTo>
                  <a:pt x="11351" y="127000"/>
                  <a:pt x="0" y="115649"/>
                  <a:pt x="0" y="101600"/>
                </a:cubicBezTo>
                <a:cubicBezTo>
                  <a:pt x="0" y="87551"/>
                  <a:pt x="11351" y="76200"/>
                  <a:pt x="25400" y="76200"/>
                </a:cubicBezTo>
                <a:lnTo>
                  <a:pt x="279400" y="76200"/>
                </a:lnTo>
                <a:lnTo>
                  <a:pt x="279400" y="25400"/>
                </a:lnTo>
                <a:cubicBezTo>
                  <a:pt x="279400" y="15161"/>
                  <a:pt x="285591" y="5874"/>
                  <a:pt x="295116" y="1905"/>
                </a:cubicBezTo>
                <a:cubicBezTo>
                  <a:pt x="304641" y="-2064"/>
                  <a:pt x="315516" y="159"/>
                  <a:pt x="322818" y="7382"/>
                </a:cubicBezTo>
                <a:lnTo>
                  <a:pt x="399018" y="83582"/>
                </a:lnTo>
                <a:cubicBezTo>
                  <a:pt x="408940" y="93504"/>
                  <a:pt x="408940" y="109617"/>
                  <a:pt x="399018" y="119539"/>
                </a:cubicBezTo>
                <a:close/>
                <a:moveTo>
                  <a:pt x="83582" y="398939"/>
                </a:moveTo>
                <a:lnTo>
                  <a:pt x="7382" y="322739"/>
                </a:lnTo>
                <a:cubicBezTo>
                  <a:pt x="-2540" y="312817"/>
                  <a:pt x="-2540" y="296704"/>
                  <a:pt x="7382" y="286782"/>
                </a:cubicBezTo>
                <a:lnTo>
                  <a:pt x="83582" y="210582"/>
                </a:lnTo>
                <a:cubicBezTo>
                  <a:pt x="90884" y="203279"/>
                  <a:pt x="101759" y="201136"/>
                  <a:pt x="111284" y="205105"/>
                </a:cubicBezTo>
                <a:cubicBezTo>
                  <a:pt x="120809" y="209074"/>
                  <a:pt x="127000" y="218361"/>
                  <a:pt x="127000" y="228600"/>
                </a:cubicBezTo>
                <a:lnTo>
                  <a:pt x="127000" y="279400"/>
                </a:lnTo>
                <a:lnTo>
                  <a:pt x="381000" y="279400"/>
                </a:lnTo>
                <a:cubicBezTo>
                  <a:pt x="395049" y="279400"/>
                  <a:pt x="406400" y="290751"/>
                  <a:pt x="406400" y="304800"/>
                </a:cubicBezTo>
                <a:cubicBezTo>
                  <a:pt x="406400" y="318849"/>
                  <a:pt x="395049" y="330200"/>
                  <a:pt x="381000" y="330200"/>
                </a:cubicBezTo>
                <a:lnTo>
                  <a:pt x="127000" y="330200"/>
                </a:lnTo>
                <a:lnTo>
                  <a:pt x="127000" y="381000"/>
                </a:lnTo>
                <a:cubicBezTo>
                  <a:pt x="127000" y="391239"/>
                  <a:pt x="120809" y="400526"/>
                  <a:pt x="111284" y="404495"/>
                </a:cubicBezTo>
                <a:cubicBezTo>
                  <a:pt x="101759" y="408464"/>
                  <a:pt x="90884" y="406241"/>
                  <a:pt x="83582" y="39901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714500" y="14986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Sign-On (SSO)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006600"/>
            <a:ext cx="889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authenticate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once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gain access to multiple applications. Reduces password fatigue and improves security through centralized control.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730500"/>
            <a:ext cx="889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Microsoft Entra ID, Okta, Google Workspace SSO |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login, many apps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41000" y="1587500"/>
            <a:ext cx="4572000" cy="1651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95000" y="2032000"/>
            <a:ext cx="762000" cy="5080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0795000" y="203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84000" y="2286000"/>
            <a:ext cx="635000" cy="0"/>
          </a:xfrm>
          <a:prstGeom prst="straightConnector1">
            <a:avLst/>
          </a:prstGeom>
          <a:noFill/>
          <a:ln w="25400">
            <a:solidFill>
              <a:srgbClr val="D97706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2446000" y="1905000"/>
            <a:ext cx="1016000" cy="6350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2446000" y="1905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462000" y="1968500"/>
            <a:ext cx="508000" cy="317500"/>
          </a:xfrm>
          <a:prstGeom prst="straightConnector1">
            <a:avLst/>
          </a:prstGeom>
          <a:noFill/>
          <a:ln w="12700">
            <a:solidFill>
              <a:srgbClr val="FFFFFF">
                <a:alpha val="37647"/>
              </a:srgbClr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 flipV="1">
            <a:off x="13462000" y="2286000"/>
            <a:ext cx="508000" cy="317500"/>
          </a:xfrm>
          <a:prstGeom prst="straightConnector1">
            <a:avLst/>
          </a:prstGeom>
          <a:noFill/>
          <a:ln w="12700">
            <a:solidFill>
              <a:srgbClr val="FFFFFF">
                <a:alpha val="37647"/>
              </a:srgbClr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14033500" y="1841500"/>
            <a:ext cx="762000" cy="381000"/>
          </a:xfrm>
          <a:prstGeom prst="roundRect">
            <a:avLst>
              <a:gd name="adj" fmla="val 12000"/>
            </a:avLst>
          </a:prstGeom>
          <a:solidFill>
            <a:srgbClr val="FFFFFF">
              <a:alpha val="18824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4033500" y="1841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4033500" y="2349500"/>
            <a:ext cx="762000" cy="381000"/>
          </a:xfrm>
          <a:prstGeom prst="roundRect">
            <a:avLst>
              <a:gd name="adj" fmla="val 12000"/>
            </a:avLst>
          </a:prstGeom>
          <a:solidFill>
            <a:srgbClr val="FFFFFF">
              <a:alpha val="18824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4033500" y="2349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9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 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3810000"/>
            <a:ext cx="7112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2000" y="3810000"/>
            <a:ext cx="76200" cy="2921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3000" y="400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1625600" y="39751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Authentication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4508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contextual and behavioral analysis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adjust security requirements based on risk level in real time.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43000" y="5461000"/>
            <a:ext cx="3048000" cy="508000"/>
          </a:xfrm>
          <a:prstGeom prst="roundRect">
            <a:avLst>
              <a:gd name="adj" fmla="val 10000"/>
            </a:avLst>
          </a:prstGeom>
          <a:solidFill>
            <a:srgbClr val="16A34A">
              <a:alpha val="12549"/>
            </a:srgbClr>
          </a:solidFill>
          <a:ln w="12700">
            <a:solidFill>
              <a:srgbClr val="16A34A">
                <a:alpha val="25098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5461000"/>
            <a:ext cx="304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Risk</a:t>
            </a:r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16A3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Password only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45000" y="5461000"/>
            <a:ext cx="3175000" cy="508000"/>
          </a:xfrm>
          <a:prstGeom prst="roundRect">
            <a:avLst>
              <a:gd name="adj" fmla="val 10000"/>
            </a:avLst>
          </a:prstGeom>
          <a:solidFill>
            <a:srgbClr val="DC2626">
              <a:alpha val="12549"/>
            </a:srgbClr>
          </a:solidFill>
          <a:ln w="12700">
            <a:solidFill>
              <a:srgbClr val="DC2626">
                <a:alpha val="25098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45000" y="5461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Risk</a:t>
            </a:r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+MFA required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6096000"/>
            <a:ext cx="647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Factors: location, device, time, behavior patterns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3810000"/>
            <a:ext cx="7112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82000" y="3810000"/>
            <a:ext cx="76200" cy="2921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6" name="Shape 34"/>
          <p:cNvSpPr/>
          <p:nvPr/>
        </p:nvSpPr>
        <p:spPr>
          <a:xfrm>
            <a:off x="8740775" y="4000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66132" y="-5556"/>
                </a:moveTo>
                <a:cubicBezTo>
                  <a:pt x="161895" y="-9862"/>
                  <a:pt x="155714" y="-11599"/>
                  <a:pt x="149880" y="-10001"/>
                </a:cubicBezTo>
                <a:cubicBezTo>
                  <a:pt x="144046" y="-8404"/>
                  <a:pt x="139531" y="-3889"/>
                  <a:pt x="138073" y="1945"/>
                </a:cubicBezTo>
                <a:lnTo>
                  <a:pt x="127446" y="43755"/>
                </a:lnTo>
                <a:cubicBezTo>
                  <a:pt x="126683" y="46811"/>
                  <a:pt x="123557" y="48617"/>
                  <a:pt x="120571" y="47714"/>
                </a:cubicBezTo>
                <a:lnTo>
                  <a:pt x="79038" y="36046"/>
                </a:lnTo>
                <a:cubicBezTo>
                  <a:pt x="73204" y="34379"/>
                  <a:pt x="66953" y="36046"/>
                  <a:pt x="62716" y="40283"/>
                </a:cubicBezTo>
                <a:cubicBezTo>
                  <a:pt x="58480" y="44519"/>
                  <a:pt x="56813" y="50770"/>
                  <a:pt x="58480" y="56604"/>
                </a:cubicBezTo>
                <a:lnTo>
                  <a:pt x="70217" y="98137"/>
                </a:lnTo>
                <a:cubicBezTo>
                  <a:pt x="71051" y="101124"/>
                  <a:pt x="69245" y="104249"/>
                  <a:pt x="66258" y="105013"/>
                </a:cubicBezTo>
                <a:lnTo>
                  <a:pt x="24378" y="115639"/>
                </a:lnTo>
                <a:cubicBezTo>
                  <a:pt x="18544" y="117098"/>
                  <a:pt x="13960" y="121682"/>
                  <a:pt x="12363" y="127516"/>
                </a:cubicBezTo>
                <a:cubicBezTo>
                  <a:pt x="10765" y="133350"/>
                  <a:pt x="12502" y="139531"/>
                  <a:pt x="16808" y="143768"/>
                </a:cubicBezTo>
                <a:lnTo>
                  <a:pt x="47714" y="173841"/>
                </a:lnTo>
                <a:cubicBezTo>
                  <a:pt x="49937" y="175994"/>
                  <a:pt x="49937" y="179606"/>
                  <a:pt x="47714" y="181828"/>
                </a:cubicBezTo>
                <a:lnTo>
                  <a:pt x="16877" y="211901"/>
                </a:lnTo>
                <a:cubicBezTo>
                  <a:pt x="12571" y="216138"/>
                  <a:pt x="10835" y="222319"/>
                  <a:pt x="12432" y="228154"/>
                </a:cubicBezTo>
                <a:cubicBezTo>
                  <a:pt x="14030" y="233988"/>
                  <a:pt x="18613" y="238502"/>
                  <a:pt x="24448" y="240030"/>
                </a:cubicBezTo>
                <a:lnTo>
                  <a:pt x="66258" y="250656"/>
                </a:lnTo>
                <a:cubicBezTo>
                  <a:pt x="69314" y="251420"/>
                  <a:pt x="71120" y="254546"/>
                  <a:pt x="70217" y="257532"/>
                </a:cubicBezTo>
                <a:lnTo>
                  <a:pt x="58480" y="298996"/>
                </a:lnTo>
                <a:cubicBezTo>
                  <a:pt x="56813" y="304830"/>
                  <a:pt x="58480" y="311081"/>
                  <a:pt x="62716" y="315317"/>
                </a:cubicBezTo>
                <a:cubicBezTo>
                  <a:pt x="66953" y="319554"/>
                  <a:pt x="73204" y="321221"/>
                  <a:pt x="79038" y="319554"/>
                </a:cubicBezTo>
                <a:lnTo>
                  <a:pt x="120571" y="307816"/>
                </a:lnTo>
                <a:cubicBezTo>
                  <a:pt x="123557" y="306983"/>
                  <a:pt x="126683" y="308789"/>
                  <a:pt x="127446" y="311775"/>
                </a:cubicBezTo>
                <a:lnTo>
                  <a:pt x="138073" y="353586"/>
                </a:lnTo>
                <a:cubicBezTo>
                  <a:pt x="139531" y="359420"/>
                  <a:pt x="144115" y="364004"/>
                  <a:pt x="149949" y="365601"/>
                </a:cubicBezTo>
                <a:cubicBezTo>
                  <a:pt x="155783" y="367199"/>
                  <a:pt x="161965" y="365462"/>
                  <a:pt x="166201" y="361156"/>
                </a:cubicBezTo>
                <a:lnTo>
                  <a:pt x="196275" y="330250"/>
                </a:lnTo>
                <a:cubicBezTo>
                  <a:pt x="198428" y="328027"/>
                  <a:pt x="202039" y="328027"/>
                  <a:pt x="204262" y="330250"/>
                </a:cubicBezTo>
                <a:lnTo>
                  <a:pt x="234265" y="361156"/>
                </a:lnTo>
                <a:cubicBezTo>
                  <a:pt x="238502" y="365462"/>
                  <a:pt x="244683" y="367199"/>
                  <a:pt x="250517" y="365601"/>
                </a:cubicBezTo>
                <a:cubicBezTo>
                  <a:pt x="256351" y="364004"/>
                  <a:pt x="260866" y="359420"/>
                  <a:pt x="262394" y="353586"/>
                </a:cubicBezTo>
                <a:lnTo>
                  <a:pt x="273020" y="311845"/>
                </a:lnTo>
                <a:cubicBezTo>
                  <a:pt x="273784" y="308789"/>
                  <a:pt x="276910" y="306983"/>
                  <a:pt x="279896" y="307886"/>
                </a:cubicBezTo>
                <a:lnTo>
                  <a:pt x="321429" y="319623"/>
                </a:lnTo>
                <a:cubicBezTo>
                  <a:pt x="327263" y="321290"/>
                  <a:pt x="333514" y="319623"/>
                  <a:pt x="337751" y="315387"/>
                </a:cubicBezTo>
                <a:cubicBezTo>
                  <a:pt x="341987" y="311150"/>
                  <a:pt x="343654" y="304899"/>
                  <a:pt x="341987" y="299065"/>
                </a:cubicBezTo>
                <a:lnTo>
                  <a:pt x="330250" y="257532"/>
                </a:lnTo>
                <a:cubicBezTo>
                  <a:pt x="329416" y="254546"/>
                  <a:pt x="331222" y="251420"/>
                  <a:pt x="334208" y="250656"/>
                </a:cubicBezTo>
                <a:lnTo>
                  <a:pt x="376019" y="240030"/>
                </a:lnTo>
                <a:cubicBezTo>
                  <a:pt x="381853" y="238571"/>
                  <a:pt x="386437" y="233988"/>
                  <a:pt x="388035" y="228154"/>
                </a:cubicBezTo>
                <a:cubicBezTo>
                  <a:pt x="389632" y="222319"/>
                  <a:pt x="387896" y="216069"/>
                  <a:pt x="383590" y="211901"/>
                </a:cubicBezTo>
                <a:lnTo>
                  <a:pt x="352683" y="181828"/>
                </a:lnTo>
                <a:cubicBezTo>
                  <a:pt x="350460" y="179675"/>
                  <a:pt x="350460" y="176064"/>
                  <a:pt x="352683" y="173841"/>
                </a:cubicBezTo>
                <a:lnTo>
                  <a:pt x="383590" y="143768"/>
                </a:lnTo>
                <a:cubicBezTo>
                  <a:pt x="387896" y="139531"/>
                  <a:pt x="389632" y="133350"/>
                  <a:pt x="388035" y="127516"/>
                </a:cubicBezTo>
                <a:cubicBezTo>
                  <a:pt x="386437" y="121682"/>
                  <a:pt x="381853" y="117167"/>
                  <a:pt x="376019" y="115639"/>
                </a:cubicBezTo>
                <a:lnTo>
                  <a:pt x="334208" y="105013"/>
                </a:lnTo>
                <a:cubicBezTo>
                  <a:pt x="331153" y="104249"/>
                  <a:pt x="329347" y="101124"/>
                  <a:pt x="330250" y="98137"/>
                </a:cubicBezTo>
                <a:lnTo>
                  <a:pt x="341987" y="56604"/>
                </a:lnTo>
                <a:cubicBezTo>
                  <a:pt x="343654" y="50770"/>
                  <a:pt x="341987" y="44519"/>
                  <a:pt x="337751" y="40283"/>
                </a:cubicBezTo>
                <a:cubicBezTo>
                  <a:pt x="333514" y="36046"/>
                  <a:pt x="327263" y="34379"/>
                  <a:pt x="321429" y="36046"/>
                </a:cubicBezTo>
                <a:lnTo>
                  <a:pt x="279896" y="47784"/>
                </a:lnTo>
                <a:cubicBezTo>
                  <a:pt x="276910" y="48617"/>
                  <a:pt x="273784" y="46811"/>
                  <a:pt x="273020" y="43825"/>
                </a:cubicBezTo>
                <a:lnTo>
                  <a:pt x="262394" y="1945"/>
                </a:lnTo>
                <a:cubicBezTo>
                  <a:pt x="260935" y="-3889"/>
                  <a:pt x="256351" y="-8473"/>
                  <a:pt x="250517" y="-10071"/>
                </a:cubicBezTo>
                <a:cubicBezTo>
                  <a:pt x="244683" y="-11668"/>
                  <a:pt x="238502" y="-9932"/>
                  <a:pt x="234265" y="-5626"/>
                </a:cubicBezTo>
                <a:lnTo>
                  <a:pt x="204192" y="25350"/>
                </a:lnTo>
                <a:cubicBezTo>
                  <a:pt x="202039" y="27573"/>
                  <a:pt x="198428" y="27573"/>
                  <a:pt x="196205" y="25350"/>
                </a:cubicBezTo>
                <a:lnTo>
                  <a:pt x="166132" y="-555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9245600" y="39751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Certificate-Based Authentication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63000" y="4508500"/>
            <a:ext cx="647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certificates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issued by Certificate Authorities (CAs) for secure, passwordless authentication.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63000" y="5461000"/>
            <a:ext cx="6477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requests certificate from CA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 verifies identity and issues certificate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Certificate used for secure access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70485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1079500" y="71755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multiple authentication methods — start with strong passwords, add MFA, and consider biometrics or certificates for high-security environments.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Anti-Malware Software — Protecting Your Systems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Anti-malware software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essential for detecting, preventing, and removing malicious software. It serves as a critical defense layer against the constantly evolving threat landscape.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15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Functions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667000"/>
            <a:ext cx="342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16000" y="2857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68288" y="134144"/>
                </a:moveTo>
                <a:cubicBezTo>
                  <a:pt x="268288" y="163746"/>
                  <a:pt x="258678" y="191090"/>
                  <a:pt x="242491" y="213276"/>
                </a:cubicBezTo>
                <a:lnTo>
                  <a:pt x="324138" y="294987"/>
                </a:lnTo>
                <a:cubicBezTo>
                  <a:pt x="332199" y="303049"/>
                  <a:pt x="332199" y="316141"/>
                  <a:pt x="324138" y="324202"/>
                </a:cubicBezTo>
                <a:cubicBezTo>
                  <a:pt x="316076" y="332264"/>
                  <a:pt x="302984" y="332264"/>
                  <a:pt x="294923" y="324202"/>
                </a:cubicBezTo>
                <a:lnTo>
                  <a:pt x="213276" y="242491"/>
                </a:lnTo>
                <a:cubicBezTo>
                  <a:pt x="191090" y="258678"/>
                  <a:pt x="163746" y="268288"/>
                  <a:pt x="134144" y="268288"/>
                </a:cubicBezTo>
                <a:cubicBezTo>
                  <a:pt x="60042" y="268288"/>
                  <a:pt x="0" y="208245"/>
                  <a:pt x="0" y="134144"/>
                </a:cubicBezTo>
                <a:cubicBezTo>
                  <a:pt x="0" y="60042"/>
                  <a:pt x="60042" y="0"/>
                  <a:pt x="134144" y="0"/>
                </a:cubicBezTo>
                <a:cubicBezTo>
                  <a:pt x="208245" y="0"/>
                  <a:pt x="268288" y="60042"/>
                  <a:pt x="268288" y="134144"/>
                </a:cubicBezTo>
                <a:close/>
                <a:moveTo>
                  <a:pt x="134144" y="227013"/>
                </a:moveTo>
                <a:cubicBezTo>
                  <a:pt x="185399" y="227013"/>
                  <a:pt x="227013" y="185399"/>
                  <a:pt x="227013" y="134144"/>
                </a:cubicBezTo>
                <a:cubicBezTo>
                  <a:pt x="227013" y="82888"/>
                  <a:pt x="185399" y="41275"/>
                  <a:pt x="134144" y="41275"/>
                </a:cubicBezTo>
                <a:cubicBezTo>
                  <a:pt x="82888" y="41275"/>
                  <a:pt x="41275" y="82888"/>
                  <a:pt x="41275" y="134144"/>
                </a:cubicBezTo>
                <a:cubicBezTo>
                  <a:pt x="41275" y="185399"/>
                  <a:pt x="82888" y="227013"/>
                  <a:pt x="134144" y="227013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2766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Scanning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Monitors files and traffic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08500" y="2667000"/>
            <a:ext cx="342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1863" y="28575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4514" y="-16059"/>
                </a:moveTo>
                <a:cubicBezTo>
                  <a:pt x="10577" y="-22121"/>
                  <a:pt x="20380" y="-22121"/>
                  <a:pt x="26377" y="-16059"/>
                </a:cubicBezTo>
                <a:lnTo>
                  <a:pt x="155942" y="113506"/>
                </a:lnTo>
                <a:lnTo>
                  <a:pt x="221853" y="113506"/>
                </a:lnTo>
                <a:cubicBezTo>
                  <a:pt x="231011" y="113506"/>
                  <a:pt x="239717" y="115312"/>
                  <a:pt x="247650" y="118666"/>
                </a:cubicBezTo>
                <a:lnTo>
                  <a:pt x="317818" y="66040"/>
                </a:lnTo>
                <a:cubicBezTo>
                  <a:pt x="326911" y="59204"/>
                  <a:pt x="339874" y="61074"/>
                  <a:pt x="346710" y="70168"/>
                </a:cubicBezTo>
                <a:cubicBezTo>
                  <a:pt x="353546" y="79261"/>
                  <a:pt x="351676" y="92224"/>
                  <a:pt x="342583" y="99060"/>
                </a:cubicBezTo>
                <a:lnTo>
                  <a:pt x="279509" y="146333"/>
                </a:lnTo>
                <a:cubicBezTo>
                  <a:pt x="282927" y="152073"/>
                  <a:pt x="285507" y="158393"/>
                  <a:pt x="287119" y="165100"/>
                </a:cubicBezTo>
                <a:lnTo>
                  <a:pt x="350838" y="165100"/>
                </a:lnTo>
                <a:cubicBezTo>
                  <a:pt x="362253" y="165100"/>
                  <a:pt x="371475" y="174322"/>
                  <a:pt x="371475" y="185738"/>
                </a:cubicBezTo>
                <a:cubicBezTo>
                  <a:pt x="371475" y="197153"/>
                  <a:pt x="362253" y="206375"/>
                  <a:pt x="350838" y="206375"/>
                </a:cubicBezTo>
                <a:lnTo>
                  <a:pt x="288925" y="206375"/>
                </a:lnTo>
                <a:lnTo>
                  <a:pt x="288925" y="227013"/>
                </a:lnTo>
                <a:cubicBezTo>
                  <a:pt x="288925" y="233139"/>
                  <a:pt x="288409" y="239073"/>
                  <a:pt x="287377" y="244941"/>
                </a:cubicBezTo>
                <a:lnTo>
                  <a:pt x="366961" y="324460"/>
                </a:lnTo>
                <a:cubicBezTo>
                  <a:pt x="373023" y="330522"/>
                  <a:pt x="373023" y="340325"/>
                  <a:pt x="366961" y="346323"/>
                </a:cubicBezTo>
                <a:cubicBezTo>
                  <a:pt x="360898" y="352321"/>
                  <a:pt x="351095" y="352385"/>
                  <a:pt x="345098" y="346323"/>
                </a:cubicBezTo>
                <a:lnTo>
                  <a:pt x="4514" y="5869"/>
                </a:lnTo>
                <a:cubicBezTo>
                  <a:pt x="-1483" y="-193"/>
                  <a:pt x="-1483" y="-9996"/>
                  <a:pt x="4514" y="-16059"/>
                </a:cubicBezTo>
                <a:close/>
                <a:moveTo>
                  <a:pt x="256808" y="301823"/>
                </a:moveTo>
                <a:cubicBezTo>
                  <a:pt x="241846" y="316076"/>
                  <a:pt x="222627" y="325815"/>
                  <a:pt x="201216" y="329039"/>
                </a:cubicBezTo>
                <a:lnTo>
                  <a:pt x="201216" y="246231"/>
                </a:lnTo>
                <a:lnTo>
                  <a:pt x="256808" y="301823"/>
                </a:lnTo>
                <a:close/>
                <a:moveTo>
                  <a:pt x="170259" y="215275"/>
                </a:moveTo>
                <a:lnTo>
                  <a:pt x="170259" y="329039"/>
                </a:lnTo>
                <a:cubicBezTo>
                  <a:pt x="137239" y="324073"/>
                  <a:pt x="109314" y="303436"/>
                  <a:pt x="94352" y="274930"/>
                </a:cubicBezTo>
                <a:lnTo>
                  <a:pt x="53658" y="305435"/>
                </a:lnTo>
                <a:cubicBezTo>
                  <a:pt x="44564" y="312271"/>
                  <a:pt x="31601" y="310401"/>
                  <a:pt x="24765" y="301308"/>
                </a:cubicBezTo>
                <a:cubicBezTo>
                  <a:pt x="17929" y="292214"/>
                  <a:pt x="19799" y="279251"/>
                  <a:pt x="28893" y="272415"/>
                </a:cubicBezTo>
                <a:lnTo>
                  <a:pt x="82679" y="232107"/>
                </a:lnTo>
                <a:cubicBezTo>
                  <a:pt x="82614" y="230431"/>
                  <a:pt x="82550" y="228754"/>
                  <a:pt x="82550" y="227013"/>
                </a:cubicBezTo>
                <a:lnTo>
                  <a:pt x="82550" y="206375"/>
                </a:lnTo>
                <a:lnTo>
                  <a:pt x="20638" y="206375"/>
                </a:lnTo>
                <a:cubicBezTo>
                  <a:pt x="9222" y="206375"/>
                  <a:pt x="0" y="197153"/>
                  <a:pt x="0" y="185738"/>
                </a:cubicBezTo>
                <a:cubicBezTo>
                  <a:pt x="0" y="174322"/>
                  <a:pt x="9222" y="165100"/>
                  <a:pt x="20638" y="165100"/>
                </a:cubicBezTo>
                <a:lnTo>
                  <a:pt x="84356" y="165100"/>
                </a:lnTo>
                <a:cubicBezTo>
                  <a:pt x="86484" y="156136"/>
                  <a:pt x="90354" y="147881"/>
                  <a:pt x="95706" y="140722"/>
                </a:cubicBezTo>
                <a:lnTo>
                  <a:pt x="170259" y="215275"/>
                </a:lnTo>
                <a:close/>
                <a:moveTo>
                  <a:pt x="229334" y="82550"/>
                </a:moveTo>
                <a:lnTo>
                  <a:pt x="176193" y="82550"/>
                </a:lnTo>
                <a:lnTo>
                  <a:pt x="129565" y="35922"/>
                </a:lnTo>
                <a:cubicBezTo>
                  <a:pt x="139368" y="14704"/>
                  <a:pt x="160844" y="0"/>
                  <a:pt x="185738" y="0"/>
                </a:cubicBezTo>
                <a:cubicBezTo>
                  <a:pt x="219918" y="0"/>
                  <a:pt x="247650" y="27732"/>
                  <a:pt x="247650" y="61912"/>
                </a:cubicBezTo>
                <a:lnTo>
                  <a:pt x="247650" y="64234"/>
                </a:lnTo>
                <a:cubicBezTo>
                  <a:pt x="247650" y="74359"/>
                  <a:pt x="239459" y="82550"/>
                  <a:pt x="229334" y="8255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762500" y="32766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Detection &amp; Removal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Quarantines malware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2667000"/>
            <a:ext cx="3429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9000" y="2857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/>
            </a:pathLst>
          </a:cu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509000" y="32766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Firewall Integration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protection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001500" y="2667000"/>
            <a:ext cx="34925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255500" y="28575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09627" y="123825"/>
                </a:moveTo>
                <a:lnTo>
                  <a:pt x="314722" y="123825"/>
                </a:lnTo>
                <a:cubicBezTo>
                  <a:pt x="323299" y="123825"/>
                  <a:pt x="330200" y="116924"/>
                  <a:pt x="330200" y="108347"/>
                </a:cubicBezTo>
                <a:lnTo>
                  <a:pt x="330200" y="15478"/>
                </a:lnTo>
                <a:cubicBezTo>
                  <a:pt x="330200" y="9222"/>
                  <a:pt x="326459" y="3547"/>
                  <a:pt x="320655" y="1161"/>
                </a:cubicBezTo>
                <a:cubicBezTo>
                  <a:pt x="314851" y="-1225"/>
                  <a:pt x="308208" y="129"/>
                  <a:pt x="303758" y="4514"/>
                </a:cubicBezTo>
                <a:lnTo>
                  <a:pt x="270416" y="37921"/>
                </a:lnTo>
                <a:cubicBezTo>
                  <a:pt x="241846" y="14253"/>
                  <a:pt x="205085" y="0"/>
                  <a:pt x="165100" y="0"/>
                </a:cubicBezTo>
                <a:cubicBezTo>
                  <a:pt x="81905" y="0"/>
                  <a:pt x="13092" y="61526"/>
                  <a:pt x="1677" y="141560"/>
                </a:cubicBezTo>
                <a:cubicBezTo>
                  <a:pt x="64" y="152846"/>
                  <a:pt x="7868" y="163294"/>
                  <a:pt x="19154" y="164907"/>
                </a:cubicBezTo>
                <a:cubicBezTo>
                  <a:pt x="30440" y="166519"/>
                  <a:pt x="40888" y="158651"/>
                  <a:pt x="42500" y="147429"/>
                </a:cubicBezTo>
                <a:cubicBezTo>
                  <a:pt x="51078" y="87387"/>
                  <a:pt x="102736" y="41275"/>
                  <a:pt x="165100" y="41275"/>
                </a:cubicBezTo>
                <a:cubicBezTo>
                  <a:pt x="193735" y="41275"/>
                  <a:pt x="220047" y="50949"/>
                  <a:pt x="241007" y="67265"/>
                </a:cubicBezTo>
                <a:lnTo>
                  <a:pt x="210889" y="97383"/>
                </a:lnTo>
                <a:cubicBezTo>
                  <a:pt x="206439" y="101833"/>
                  <a:pt x="205150" y="108476"/>
                  <a:pt x="207536" y="114280"/>
                </a:cubicBezTo>
                <a:cubicBezTo>
                  <a:pt x="209922" y="120084"/>
                  <a:pt x="215597" y="123825"/>
                  <a:pt x="221853" y="123825"/>
                </a:cubicBezTo>
                <a:lnTo>
                  <a:pt x="309627" y="123825"/>
                </a:lnTo>
                <a:close/>
                <a:moveTo>
                  <a:pt x="328588" y="188640"/>
                </a:moveTo>
                <a:cubicBezTo>
                  <a:pt x="330200" y="177354"/>
                  <a:pt x="322332" y="166906"/>
                  <a:pt x="311110" y="165293"/>
                </a:cubicBezTo>
                <a:cubicBezTo>
                  <a:pt x="299889" y="163681"/>
                  <a:pt x="289376" y="171549"/>
                  <a:pt x="287764" y="182771"/>
                </a:cubicBezTo>
                <a:cubicBezTo>
                  <a:pt x="279187" y="242749"/>
                  <a:pt x="227528" y="288861"/>
                  <a:pt x="165164" y="288861"/>
                </a:cubicBezTo>
                <a:cubicBezTo>
                  <a:pt x="136530" y="288861"/>
                  <a:pt x="110217" y="279187"/>
                  <a:pt x="89257" y="262870"/>
                </a:cubicBezTo>
                <a:lnTo>
                  <a:pt x="119311" y="232817"/>
                </a:lnTo>
                <a:cubicBezTo>
                  <a:pt x="123761" y="228367"/>
                  <a:pt x="125050" y="221724"/>
                  <a:pt x="122664" y="215920"/>
                </a:cubicBezTo>
                <a:cubicBezTo>
                  <a:pt x="120278" y="210116"/>
                  <a:pt x="114603" y="206375"/>
                  <a:pt x="108347" y="206375"/>
                </a:cubicBezTo>
                <a:lnTo>
                  <a:pt x="15478" y="206375"/>
                </a:lnTo>
                <a:cubicBezTo>
                  <a:pt x="6901" y="206375"/>
                  <a:pt x="0" y="213276"/>
                  <a:pt x="0" y="221853"/>
                </a:cubicBezTo>
                <a:lnTo>
                  <a:pt x="0" y="314722"/>
                </a:lnTo>
                <a:cubicBezTo>
                  <a:pt x="0" y="320978"/>
                  <a:pt x="3741" y="326653"/>
                  <a:pt x="9545" y="329039"/>
                </a:cubicBezTo>
                <a:cubicBezTo>
                  <a:pt x="15349" y="331425"/>
                  <a:pt x="21992" y="330071"/>
                  <a:pt x="26442" y="325686"/>
                </a:cubicBezTo>
                <a:lnTo>
                  <a:pt x="59849" y="292279"/>
                </a:lnTo>
                <a:cubicBezTo>
                  <a:pt x="88354" y="315947"/>
                  <a:pt x="125115" y="330200"/>
                  <a:pt x="165100" y="330200"/>
                </a:cubicBezTo>
                <a:cubicBezTo>
                  <a:pt x="248295" y="330200"/>
                  <a:pt x="317108" y="268674"/>
                  <a:pt x="328523" y="18864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12255500" y="32766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Updates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Stays current with threats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38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Protection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48895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Antivirus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signature-based detection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Anti-Spyware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detects spyware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Anti-Ransomware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blocks encryption attacks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Anti-Phishing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filters malicious websites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4381500"/>
            <a:ext cx="7112000" cy="2540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99500" y="457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Solutions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99500" y="5016500"/>
            <a:ext cx="6477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Norton 360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McAfee Total Protection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Kaspersky Premium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Microsoft Defender (built-in)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Malwarebytes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23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7683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Keep software updated |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Schedule regular scans |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 with firewall |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 cautious with email attachments | 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Backup data regularly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Malware Types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Malware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(malicious software) comes in many forms. Understanding each type helps in prevention and response: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1905000"/>
            <a:ext cx="4699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2000" y="1905000"/>
            <a:ext cx="76200" cy="1460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20066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Viruses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9500" y="2349500"/>
            <a:ext cx="412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Attach to legitimate programs and spread when infected files are executed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8500" y="1905000"/>
            <a:ext cx="4699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78500" y="1905000"/>
            <a:ext cx="76200" cy="1460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0" y="20066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2349500"/>
            <a:ext cx="412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Self-replicate across networks without user action, consuming bandwidth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905000"/>
            <a:ext cx="4699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795000" y="1905000"/>
            <a:ext cx="76200" cy="1460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1112500" y="20066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Trojans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12500" y="2349500"/>
            <a:ext cx="412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Disguise as legitimate software to trick users into installing them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3619500"/>
            <a:ext cx="4699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2000" y="3619500"/>
            <a:ext cx="76200" cy="1460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37211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Ransomware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79500" y="4064000"/>
            <a:ext cx="412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 files and demand payment for decryption. Most destructive type.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78500" y="3619500"/>
            <a:ext cx="4699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78500" y="3619500"/>
            <a:ext cx="76200" cy="1460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6096000" y="37211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Spyware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0" y="4064000"/>
            <a:ext cx="412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Secretly monitors user activity and steals sensitive information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95000" y="3619500"/>
            <a:ext cx="4699000" cy="1460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795000" y="3619500"/>
            <a:ext cx="76200" cy="14605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11112500" y="37211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Adware &amp; Rootkits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12500" y="4064000"/>
            <a:ext cx="41275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Adware displays unwanted ads. Rootkits hide deep in systems for persistent access.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5397500"/>
            <a:ext cx="14732000" cy="2413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5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 Strategies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79500" y="6070600"/>
            <a:ext cx="444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operating systems updated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reputable anti-malware software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Avoid suspicious downloads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42000" y="6070600"/>
            <a:ext cx="444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Backup data regularly (3-2-1 rule)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Educate users about phishing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email filtering systems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604500" y="6070600"/>
            <a:ext cx="444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firewalls on all devices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Restrict admin privileges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Monitor network traffic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Electronic Conferencing — Connecting Remotely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Image 0" descr="https://kimi-img.moonshot.cn/pub/slides/okc/ojbxdy3f2uoeu/mnt/agents/output/ict-week5/images/10_Virtual_Meeting_Etiquette_7_Tips.png">    </p:cNvPr>
          <p:cNvPicPr>
            <a:picLocks noChangeAspect="1"/>
          </p:cNvPicPr>
          <p:nvPr/>
        </p:nvPicPr>
        <p:blipFill>
          <a:blip r:embed="rId1"/>
          <a:srcRect l="0" r="0" t="10000" b="10000"/>
          <a:stretch/>
        </p:blipFill>
        <p:spPr>
          <a:xfrm>
            <a:off x="762000" y="1270000"/>
            <a:ext cx="6350000" cy="24130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7493000" y="1270000"/>
            <a:ext cx="800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Electronic conferencing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enables real-time communication and collaboration between people in different locations.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rise of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remote work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made electronic conferencing essential for modern business operations, education, and personal communication.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tools have eliminated geographic barriers, enabling global teams to work together seamlessly.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62000" y="400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Electronic Conferencing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45085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10" name="Shape 7"/>
          <p:cNvSpPr/>
          <p:nvPr/>
        </p:nvSpPr>
        <p:spPr>
          <a:xfrm>
            <a:off x="995363" y="4724400"/>
            <a:ext cx="371475" cy="330200"/>
          </a:xfrm>
          <a:custGeom>
            <a:avLst/>
            <a:gdLst/>
            <a:ahLst/>
            <a:cxnLst/>
            <a:rect l="l" t="t" r="r" b="b"/>
            <a:pathLst>
              <a:path w="371475" h="330200">
                <a:moveTo>
                  <a:pt x="61912" y="41275"/>
                </a:moveTo>
                <a:cubicBezTo>
                  <a:pt x="39147" y="41275"/>
                  <a:pt x="20638" y="59784"/>
                  <a:pt x="20638" y="82550"/>
                </a:cubicBezTo>
                <a:lnTo>
                  <a:pt x="20638" y="247650"/>
                </a:lnTo>
                <a:cubicBezTo>
                  <a:pt x="20638" y="270416"/>
                  <a:pt x="39147" y="288925"/>
                  <a:pt x="61912" y="288925"/>
                </a:cubicBezTo>
                <a:lnTo>
                  <a:pt x="227013" y="288925"/>
                </a:lnTo>
                <a:cubicBezTo>
                  <a:pt x="249778" y="288925"/>
                  <a:pt x="268288" y="270416"/>
                  <a:pt x="268288" y="247650"/>
                </a:cubicBezTo>
                <a:lnTo>
                  <a:pt x="268288" y="82550"/>
                </a:lnTo>
                <a:cubicBezTo>
                  <a:pt x="268288" y="59784"/>
                  <a:pt x="249778" y="41275"/>
                  <a:pt x="227013" y="41275"/>
                </a:cubicBezTo>
                <a:lnTo>
                  <a:pt x="61912" y="41275"/>
                </a:lnTo>
                <a:close/>
                <a:moveTo>
                  <a:pt x="299244" y="216694"/>
                </a:moveTo>
                <a:lnTo>
                  <a:pt x="346646" y="254615"/>
                </a:lnTo>
                <a:cubicBezTo>
                  <a:pt x="349354" y="256808"/>
                  <a:pt x="352708" y="257969"/>
                  <a:pt x="356190" y="257969"/>
                </a:cubicBezTo>
                <a:cubicBezTo>
                  <a:pt x="364639" y="257969"/>
                  <a:pt x="371475" y="251133"/>
                  <a:pt x="371475" y="242684"/>
                </a:cubicBezTo>
                <a:lnTo>
                  <a:pt x="371475" y="87516"/>
                </a:lnTo>
                <a:cubicBezTo>
                  <a:pt x="371475" y="79067"/>
                  <a:pt x="364639" y="72231"/>
                  <a:pt x="356190" y="72231"/>
                </a:cubicBezTo>
                <a:cubicBezTo>
                  <a:pt x="352708" y="72231"/>
                  <a:pt x="349354" y="73392"/>
                  <a:pt x="346646" y="75585"/>
                </a:cubicBezTo>
                <a:lnTo>
                  <a:pt x="299244" y="113506"/>
                </a:lnTo>
                <a:lnTo>
                  <a:pt x="299244" y="2166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1460500" y="469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Conferencing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51435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video and audio communication between participants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08500" y="45085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4" name="Shape 11"/>
          <p:cNvSpPr/>
          <p:nvPr/>
        </p:nvSpPr>
        <p:spPr>
          <a:xfrm>
            <a:off x="4762500" y="4724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03316" y="16123"/>
                </a:moveTo>
                <a:cubicBezTo>
                  <a:pt x="98222" y="3934"/>
                  <a:pt x="84936" y="-2515"/>
                  <a:pt x="72296" y="903"/>
                </a:cubicBezTo>
                <a:lnTo>
                  <a:pt x="68749" y="1870"/>
                </a:lnTo>
                <a:cubicBezTo>
                  <a:pt x="27087" y="13221"/>
                  <a:pt x="-8513" y="53593"/>
                  <a:pt x="1870" y="102736"/>
                </a:cubicBezTo>
                <a:cubicBezTo>
                  <a:pt x="25797" y="215597"/>
                  <a:pt x="114603" y="304403"/>
                  <a:pt x="227464" y="328330"/>
                </a:cubicBezTo>
                <a:cubicBezTo>
                  <a:pt x="276671" y="338777"/>
                  <a:pt x="316979" y="303113"/>
                  <a:pt x="328330" y="261451"/>
                </a:cubicBezTo>
                <a:lnTo>
                  <a:pt x="329297" y="257904"/>
                </a:lnTo>
                <a:cubicBezTo>
                  <a:pt x="332780" y="245199"/>
                  <a:pt x="326266" y="231914"/>
                  <a:pt x="314141" y="226884"/>
                </a:cubicBezTo>
                <a:lnTo>
                  <a:pt x="251391" y="200764"/>
                </a:lnTo>
                <a:cubicBezTo>
                  <a:pt x="240749" y="196314"/>
                  <a:pt x="228431" y="199410"/>
                  <a:pt x="221079" y="208374"/>
                </a:cubicBezTo>
                <a:lnTo>
                  <a:pt x="196185" y="238815"/>
                </a:lnTo>
                <a:cubicBezTo>
                  <a:pt x="150847" y="216307"/>
                  <a:pt x="114345" y="178643"/>
                  <a:pt x="93385" y="132402"/>
                </a:cubicBezTo>
                <a:lnTo>
                  <a:pt x="121890" y="109185"/>
                </a:lnTo>
                <a:cubicBezTo>
                  <a:pt x="130855" y="101898"/>
                  <a:pt x="133886" y="89580"/>
                  <a:pt x="129500" y="78874"/>
                </a:cubicBezTo>
                <a:lnTo>
                  <a:pt x="103316" y="16123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5207000" y="469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Audio Conferencing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62500" y="51435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Voice-only meetings, also known as conference calls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255000" y="4508500"/>
            <a:ext cx="3429000" cy="1524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</p:spPr>
      </p:sp>
      <p:sp>
        <p:nvSpPr>
          <p:cNvPr id="18" name="Shape 15"/>
          <p:cNvSpPr/>
          <p:nvPr/>
        </p:nvSpPr>
        <p:spPr>
          <a:xfrm>
            <a:off x="8509000" y="47244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41275" y="20638"/>
                </a:moveTo>
                <a:cubicBezTo>
                  <a:pt x="18509" y="20638"/>
                  <a:pt x="0" y="39147"/>
                  <a:pt x="0" y="61912"/>
                </a:cubicBezTo>
                <a:lnTo>
                  <a:pt x="0" y="227013"/>
                </a:lnTo>
                <a:cubicBezTo>
                  <a:pt x="0" y="249778"/>
                  <a:pt x="18509" y="268288"/>
                  <a:pt x="41275" y="268288"/>
                </a:cubicBezTo>
                <a:lnTo>
                  <a:pt x="134144" y="268288"/>
                </a:lnTo>
                <a:lnTo>
                  <a:pt x="123825" y="299244"/>
                </a:lnTo>
                <a:lnTo>
                  <a:pt x="77391" y="299244"/>
                </a:lnTo>
                <a:cubicBezTo>
                  <a:pt x="68813" y="299244"/>
                  <a:pt x="61912" y="306144"/>
                  <a:pt x="61912" y="314722"/>
                </a:cubicBezTo>
                <a:cubicBezTo>
                  <a:pt x="61912" y="323299"/>
                  <a:pt x="68813" y="330200"/>
                  <a:pt x="77391" y="330200"/>
                </a:cubicBezTo>
                <a:lnTo>
                  <a:pt x="252809" y="330200"/>
                </a:lnTo>
                <a:cubicBezTo>
                  <a:pt x="261387" y="330200"/>
                  <a:pt x="268288" y="323299"/>
                  <a:pt x="268288" y="314722"/>
                </a:cubicBezTo>
                <a:cubicBezTo>
                  <a:pt x="268288" y="306144"/>
                  <a:pt x="261387" y="299244"/>
                  <a:pt x="252809" y="299244"/>
                </a:cubicBezTo>
                <a:lnTo>
                  <a:pt x="206375" y="299244"/>
                </a:lnTo>
                <a:lnTo>
                  <a:pt x="196056" y="268288"/>
                </a:lnTo>
                <a:lnTo>
                  <a:pt x="288925" y="268288"/>
                </a:lnTo>
                <a:cubicBezTo>
                  <a:pt x="311691" y="268288"/>
                  <a:pt x="330200" y="249778"/>
                  <a:pt x="330200" y="227013"/>
                </a:cubicBezTo>
                <a:lnTo>
                  <a:pt x="330200" y="61912"/>
                </a:lnTo>
                <a:cubicBezTo>
                  <a:pt x="330200" y="39147"/>
                  <a:pt x="311691" y="20638"/>
                  <a:pt x="288925" y="20638"/>
                </a:cubicBezTo>
                <a:lnTo>
                  <a:pt x="41275" y="20638"/>
                </a:lnTo>
                <a:close/>
                <a:moveTo>
                  <a:pt x="61912" y="61912"/>
                </a:moveTo>
                <a:lnTo>
                  <a:pt x="268288" y="61912"/>
                </a:lnTo>
                <a:cubicBezTo>
                  <a:pt x="279703" y="61912"/>
                  <a:pt x="288925" y="71135"/>
                  <a:pt x="288925" y="82550"/>
                </a:cubicBezTo>
                <a:lnTo>
                  <a:pt x="288925" y="185738"/>
                </a:lnTo>
                <a:cubicBezTo>
                  <a:pt x="288925" y="197153"/>
                  <a:pt x="279703" y="206375"/>
                  <a:pt x="268288" y="206375"/>
                </a:cubicBezTo>
                <a:lnTo>
                  <a:pt x="61912" y="206375"/>
                </a:lnTo>
                <a:cubicBezTo>
                  <a:pt x="50497" y="206375"/>
                  <a:pt x="41275" y="197153"/>
                  <a:pt x="41275" y="185738"/>
                </a:cubicBezTo>
                <a:lnTo>
                  <a:pt x="41275" y="82550"/>
                </a:lnTo>
                <a:cubicBezTo>
                  <a:pt x="41275" y="71135"/>
                  <a:pt x="50497" y="61912"/>
                  <a:pt x="61912" y="61912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8953500" y="469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Conferencing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09000" y="5143500"/>
            <a:ext cx="292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video, audio, and screen sharing capabilities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001500" y="4508500"/>
            <a:ext cx="3492500" cy="1524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22" name="Shape 19"/>
          <p:cNvSpPr/>
          <p:nvPr/>
        </p:nvSpPr>
        <p:spPr>
          <a:xfrm>
            <a:off x="12214225" y="4724400"/>
            <a:ext cx="412750" cy="330200"/>
          </a:xfrm>
          <a:custGeom>
            <a:avLst/>
            <a:gdLst/>
            <a:ahLst/>
            <a:cxnLst/>
            <a:rect l="l" t="t" r="r" b="b"/>
            <a:pathLst>
              <a:path w="412750" h="330200">
                <a:moveTo>
                  <a:pt x="206375" y="10319"/>
                </a:moveTo>
                <a:cubicBezTo>
                  <a:pt x="243393" y="10319"/>
                  <a:pt x="273447" y="40373"/>
                  <a:pt x="273447" y="77391"/>
                </a:cubicBezTo>
                <a:cubicBezTo>
                  <a:pt x="273447" y="114409"/>
                  <a:pt x="243393" y="144463"/>
                  <a:pt x="206375" y="144463"/>
                </a:cubicBezTo>
                <a:cubicBezTo>
                  <a:pt x="169357" y="144463"/>
                  <a:pt x="139303" y="114409"/>
                  <a:pt x="139303" y="77391"/>
                </a:cubicBezTo>
                <a:cubicBezTo>
                  <a:pt x="139303" y="40373"/>
                  <a:pt x="169357" y="10319"/>
                  <a:pt x="206375" y="10319"/>
                </a:cubicBezTo>
                <a:close/>
                <a:moveTo>
                  <a:pt x="61912" y="56753"/>
                </a:moveTo>
                <a:cubicBezTo>
                  <a:pt x="87540" y="56753"/>
                  <a:pt x="108347" y="77560"/>
                  <a:pt x="108347" y="103188"/>
                </a:cubicBezTo>
                <a:cubicBezTo>
                  <a:pt x="108347" y="128815"/>
                  <a:pt x="87540" y="149622"/>
                  <a:pt x="61912" y="149622"/>
                </a:cubicBezTo>
                <a:cubicBezTo>
                  <a:pt x="36285" y="149622"/>
                  <a:pt x="15478" y="128815"/>
                  <a:pt x="15478" y="103188"/>
                </a:cubicBezTo>
                <a:cubicBezTo>
                  <a:pt x="15478" y="77560"/>
                  <a:pt x="36285" y="56753"/>
                  <a:pt x="61912" y="56753"/>
                </a:cubicBezTo>
                <a:close/>
                <a:moveTo>
                  <a:pt x="0" y="268288"/>
                </a:moveTo>
                <a:cubicBezTo>
                  <a:pt x="0" y="222692"/>
                  <a:pt x="36954" y="185738"/>
                  <a:pt x="82550" y="185738"/>
                </a:cubicBezTo>
                <a:cubicBezTo>
                  <a:pt x="90805" y="185738"/>
                  <a:pt x="98802" y="186963"/>
                  <a:pt x="106348" y="189220"/>
                </a:cubicBezTo>
                <a:cubicBezTo>
                  <a:pt x="85130" y="212953"/>
                  <a:pt x="72231" y="244296"/>
                  <a:pt x="72231" y="278606"/>
                </a:cubicBezTo>
                <a:lnTo>
                  <a:pt x="72231" y="288925"/>
                </a:lnTo>
                <a:cubicBezTo>
                  <a:pt x="72231" y="296277"/>
                  <a:pt x="73779" y="303242"/>
                  <a:pt x="76552" y="309563"/>
                </a:cubicBezTo>
                <a:lnTo>
                  <a:pt x="20638" y="309563"/>
                </a:lnTo>
                <a:cubicBezTo>
                  <a:pt x="9222" y="309563"/>
                  <a:pt x="0" y="300340"/>
                  <a:pt x="0" y="288925"/>
                </a:cubicBezTo>
                <a:lnTo>
                  <a:pt x="0" y="268288"/>
                </a:lnTo>
                <a:close/>
                <a:moveTo>
                  <a:pt x="336198" y="309563"/>
                </a:moveTo>
                <a:cubicBezTo>
                  <a:pt x="338971" y="303242"/>
                  <a:pt x="340519" y="296277"/>
                  <a:pt x="340519" y="288925"/>
                </a:cubicBezTo>
                <a:lnTo>
                  <a:pt x="340519" y="278606"/>
                </a:lnTo>
                <a:cubicBezTo>
                  <a:pt x="340519" y="244296"/>
                  <a:pt x="327620" y="212953"/>
                  <a:pt x="306402" y="189220"/>
                </a:cubicBezTo>
                <a:cubicBezTo>
                  <a:pt x="313948" y="186963"/>
                  <a:pt x="321945" y="185738"/>
                  <a:pt x="330200" y="185738"/>
                </a:cubicBezTo>
                <a:cubicBezTo>
                  <a:pt x="375796" y="185738"/>
                  <a:pt x="412750" y="222692"/>
                  <a:pt x="412750" y="268288"/>
                </a:cubicBezTo>
                <a:lnTo>
                  <a:pt x="412750" y="288925"/>
                </a:lnTo>
                <a:cubicBezTo>
                  <a:pt x="412750" y="300340"/>
                  <a:pt x="403528" y="309563"/>
                  <a:pt x="392113" y="309563"/>
                </a:cubicBezTo>
                <a:lnTo>
                  <a:pt x="336198" y="309563"/>
                </a:lnTo>
                <a:close/>
                <a:moveTo>
                  <a:pt x="304403" y="103188"/>
                </a:moveTo>
                <a:cubicBezTo>
                  <a:pt x="304403" y="77560"/>
                  <a:pt x="325210" y="56753"/>
                  <a:pt x="350838" y="56753"/>
                </a:cubicBezTo>
                <a:cubicBezTo>
                  <a:pt x="376465" y="56753"/>
                  <a:pt x="397272" y="77560"/>
                  <a:pt x="397272" y="103187"/>
                </a:cubicBezTo>
                <a:cubicBezTo>
                  <a:pt x="397272" y="128815"/>
                  <a:pt x="376465" y="149622"/>
                  <a:pt x="350838" y="149622"/>
                </a:cubicBezTo>
                <a:cubicBezTo>
                  <a:pt x="325210" y="149622"/>
                  <a:pt x="304403" y="128815"/>
                  <a:pt x="304403" y="103188"/>
                </a:cubicBezTo>
                <a:close/>
                <a:moveTo>
                  <a:pt x="103188" y="278606"/>
                </a:moveTo>
                <a:cubicBezTo>
                  <a:pt x="103188" y="221595"/>
                  <a:pt x="149364" y="175419"/>
                  <a:pt x="206375" y="175419"/>
                </a:cubicBezTo>
                <a:cubicBezTo>
                  <a:pt x="263386" y="175419"/>
                  <a:pt x="309563" y="221595"/>
                  <a:pt x="309563" y="278606"/>
                </a:cubicBezTo>
                <a:lnTo>
                  <a:pt x="309563" y="288925"/>
                </a:lnTo>
                <a:cubicBezTo>
                  <a:pt x="309563" y="300340"/>
                  <a:pt x="300340" y="309563"/>
                  <a:pt x="288925" y="309563"/>
                </a:cubicBezTo>
                <a:lnTo>
                  <a:pt x="123825" y="309563"/>
                </a:lnTo>
                <a:cubicBezTo>
                  <a:pt x="112410" y="309563"/>
                  <a:pt x="103188" y="300340"/>
                  <a:pt x="103188" y="288925"/>
                </a:cubicBezTo>
                <a:lnTo>
                  <a:pt x="103188" y="278606"/>
                </a:ln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0"/>
          <p:cNvSpPr/>
          <p:nvPr/>
        </p:nvSpPr>
        <p:spPr>
          <a:xfrm>
            <a:off x="12700000" y="4699000"/>
            <a:ext cx="254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Webinars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255500" y="5143500"/>
            <a:ext cx="29845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One-to-many presentations with audience interaction features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2000" y="635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2000" y="67945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HD Video &amp; Audio Quality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crystal-clear communication with echo cancellation and noise suppression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Screen Sharing &amp; Whiteboards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collaborate on documents and brainstorm in real time</a:t>
            </a:r>
            <a:endParaRPr lang="en-US" sz="18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Recording &amp; Transcription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capture meetings for later reference and auto-generate transcripts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Video Conferencing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46990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93775" y="1524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66675" y="44450"/>
                </a:moveTo>
                <a:cubicBezTo>
                  <a:pt x="42158" y="44450"/>
                  <a:pt x="22225" y="64383"/>
                  <a:pt x="22225" y="88900"/>
                </a:cubicBezTo>
                <a:lnTo>
                  <a:pt x="22225" y="266700"/>
                </a:lnTo>
                <a:cubicBezTo>
                  <a:pt x="22225" y="291217"/>
                  <a:pt x="42158" y="311150"/>
                  <a:pt x="66675" y="311150"/>
                </a:cubicBezTo>
                <a:lnTo>
                  <a:pt x="244475" y="311150"/>
                </a:lnTo>
                <a:cubicBezTo>
                  <a:pt x="268992" y="311150"/>
                  <a:pt x="288925" y="291217"/>
                  <a:pt x="288925" y="266700"/>
                </a:cubicBezTo>
                <a:lnTo>
                  <a:pt x="288925" y="88900"/>
                </a:lnTo>
                <a:cubicBezTo>
                  <a:pt x="288925" y="64383"/>
                  <a:pt x="268992" y="44450"/>
                  <a:pt x="244475" y="44450"/>
                </a:cubicBezTo>
                <a:lnTo>
                  <a:pt x="66675" y="44450"/>
                </a:lnTo>
                <a:close/>
                <a:moveTo>
                  <a:pt x="322263" y="233363"/>
                </a:moveTo>
                <a:lnTo>
                  <a:pt x="373311" y="274201"/>
                </a:lnTo>
                <a:cubicBezTo>
                  <a:pt x="376228" y="276562"/>
                  <a:pt x="379839" y="277813"/>
                  <a:pt x="383590" y="277813"/>
                </a:cubicBezTo>
                <a:cubicBezTo>
                  <a:pt x="392688" y="277813"/>
                  <a:pt x="400050" y="270450"/>
                  <a:pt x="400050" y="261352"/>
                </a:cubicBezTo>
                <a:lnTo>
                  <a:pt x="400050" y="94248"/>
                </a:lnTo>
                <a:cubicBezTo>
                  <a:pt x="400050" y="85150"/>
                  <a:pt x="392688" y="77788"/>
                  <a:pt x="383590" y="77788"/>
                </a:cubicBezTo>
                <a:cubicBezTo>
                  <a:pt x="379839" y="77788"/>
                  <a:pt x="376228" y="79038"/>
                  <a:pt x="373311" y="81399"/>
                </a:cubicBezTo>
                <a:lnTo>
                  <a:pt x="322263" y="122238"/>
                </a:lnTo>
                <a:lnTo>
                  <a:pt x="322263" y="233363"/>
                </a:lnTo>
                <a:close/>
              </a:path>
            </a:pathLst>
          </a:custGeom>
          <a:solidFill>
            <a:srgbClr val="2D8CFF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49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Zoom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1968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 to 1,000 participants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Breakout rooms, virtual backgrounds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Recording and transcripts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Widely adopted in education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333500"/>
            <a:ext cx="46990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25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02333" y="0"/>
                  <a:pt x="222250" y="19917"/>
                  <a:pt x="222250" y="44450"/>
                </a:cubicBezTo>
                <a:cubicBezTo>
                  <a:pt x="222250" y="68983"/>
                  <a:pt x="202333" y="88900"/>
                  <a:pt x="177800" y="88900"/>
                </a:cubicBezTo>
                <a:cubicBezTo>
                  <a:pt x="153267" y="88900"/>
                  <a:pt x="133350" y="68983"/>
                  <a:pt x="133350" y="44450"/>
                </a:cubicBezTo>
                <a:cubicBezTo>
                  <a:pt x="133350" y="19917"/>
                  <a:pt x="153267" y="0"/>
                  <a:pt x="177800" y="0"/>
                </a:cubicBezTo>
                <a:close/>
                <a:moveTo>
                  <a:pt x="244475" y="216694"/>
                </a:moveTo>
                <a:cubicBezTo>
                  <a:pt x="244475" y="234057"/>
                  <a:pt x="235654" y="249337"/>
                  <a:pt x="222250" y="258296"/>
                </a:cubicBezTo>
                <a:lnTo>
                  <a:pt x="222250" y="322263"/>
                </a:lnTo>
                <a:cubicBezTo>
                  <a:pt x="222250" y="340668"/>
                  <a:pt x="207318" y="355600"/>
                  <a:pt x="188913" y="355600"/>
                </a:cubicBezTo>
                <a:lnTo>
                  <a:pt x="166688" y="355600"/>
                </a:lnTo>
                <a:cubicBezTo>
                  <a:pt x="148282" y="355600"/>
                  <a:pt x="133350" y="340668"/>
                  <a:pt x="133350" y="322263"/>
                </a:cubicBezTo>
                <a:lnTo>
                  <a:pt x="133350" y="258296"/>
                </a:lnTo>
                <a:cubicBezTo>
                  <a:pt x="119946" y="249337"/>
                  <a:pt x="111125" y="234057"/>
                  <a:pt x="111125" y="216694"/>
                </a:cubicBezTo>
                <a:lnTo>
                  <a:pt x="111125" y="188913"/>
                </a:lnTo>
                <a:cubicBezTo>
                  <a:pt x="111125" y="152102"/>
                  <a:pt x="140990" y="122238"/>
                  <a:pt x="177800" y="122238"/>
                </a:cubicBezTo>
                <a:cubicBezTo>
                  <a:pt x="214610" y="122238"/>
                  <a:pt x="244475" y="152102"/>
                  <a:pt x="244475" y="188913"/>
                </a:cubicBezTo>
                <a:lnTo>
                  <a:pt x="244475" y="216694"/>
                </a:lnTo>
                <a:close/>
                <a:moveTo>
                  <a:pt x="66675" y="22225"/>
                </a:moveTo>
                <a:cubicBezTo>
                  <a:pt x="88141" y="22225"/>
                  <a:pt x="105569" y="39653"/>
                  <a:pt x="105569" y="61119"/>
                </a:cubicBezTo>
                <a:cubicBezTo>
                  <a:pt x="105569" y="82585"/>
                  <a:pt x="88141" y="100013"/>
                  <a:pt x="66675" y="100013"/>
                </a:cubicBezTo>
                <a:cubicBezTo>
                  <a:pt x="45209" y="100013"/>
                  <a:pt x="27781" y="82585"/>
                  <a:pt x="27781" y="61119"/>
                </a:cubicBezTo>
                <a:cubicBezTo>
                  <a:pt x="27781" y="39653"/>
                  <a:pt x="45209" y="22225"/>
                  <a:pt x="66675" y="22225"/>
                </a:cubicBezTo>
                <a:close/>
                <a:moveTo>
                  <a:pt x="77788" y="188913"/>
                </a:moveTo>
                <a:lnTo>
                  <a:pt x="77788" y="211138"/>
                </a:lnTo>
                <a:cubicBezTo>
                  <a:pt x="77788" y="233710"/>
                  <a:pt x="86191" y="254268"/>
                  <a:pt x="100013" y="269964"/>
                </a:cubicBezTo>
                <a:lnTo>
                  <a:pt x="100013" y="322263"/>
                </a:lnTo>
                <a:cubicBezTo>
                  <a:pt x="100013" y="323096"/>
                  <a:pt x="100013" y="323999"/>
                  <a:pt x="100082" y="324832"/>
                </a:cubicBezTo>
                <a:cubicBezTo>
                  <a:pt x="94178" y="330111"/>
                  <a:pt x="86400" y="333375"/>
                  <a:pt x="77788" y="333375"/>
                </a:cubicBezTo>
                <a:lnTo>
                  <a:pt x="55563" y="333375"/>
                </a:lnTo>
                <a:cubicBezTo>
                  <a:pt x="37157" y="333375"/>
                  <a:pt x="22225" y="318443"/>
                  <a:pt x="22225" y="300038"/>
                </a:cubicBezTo>
                <a:lnTo>
                  <a:pt x="22225" y="260727"/>
                </a:lnTo>
                <a:cubicBezTo>
                  <a:pt x="8959" y="253087"/>
                  <a:pt x="0" y="238710"/>
                  <a:pt x="0" y="222250"/>
                </a:cubicBezTo>
                <a:lnTo>
                  <a:pt x="0" y="200025"/>
                </a:lnTo>
                <a:cubicBezTo>
                  <a:pt x="0" y="163215"/>
                  <a:pt x="29865" y="133350"/>
                  <a:pt x="66675" y="133350"/>
                </a:cubicBezTo>
                <a:cubicBezTo>
                  <a:pt x="75496" y="133350"/>
                  <a:pt x="83899" y="135086"/>
                  <a:pt x="91609" y="138142"/>
                </a:cubicBezTo>
                <a:cubicBezTo>
                  <a:pt x="82858" y="153005"/>
                  <a:pt x="77788" y="170369"/>
                  <a:pt x="77788" y="188913"/>
                </a:cubicBezTo>
                <a:close/>
                <a:moveTo>
                  <a:pt x="255587" y="322263"/>
                </a:moveTo>
                <a:lnTo>
                  <a:pt x="255587" y="269964"/>
                </a:lnTo>
                <a:cubicBezTo>
                  <a:pt x="269409" y="254337"/>
                  <a:pt x="277813" y="233710"/>
                  <a:pt x="277813" y="211138"/>
                </a:cubicBezTo>
                <a:lnTo>
                  <a:pt x="277813" y="188913"/>
                </a:lnTo>
                <a:cubicBezTo>
                  <a:pt x="277813" y="170369"/>
                  <a:pt x="272742" y="153075"/>
                  <a:pt x="263991" y="138142"/>
                </a:cubicBezTo>
                <a:cubicBezTo>
                  <a:pt x="271701" y="135017"/>
                  <a:pt x="280104" y="133350"/>
                  <a:pt x="288925" y="133350"/>
                </a:cubicBezTo>
                <a:cubicBezTo>
                  <a:pt x="325735" y="133350"/>
                  <a:pt x="355600" y="163215"/>
                  <a:pt x="355600" y="200025"/>
                </a:cubicBezTo>
                <a:lnTo>
                  <a:pt x="355600" y="222250"/>
                </a:lnTo>
                <a:cubicBezTo>
                  <a:pt x="355600" y="238710"/>
                  <a:pt x="346641" y="253087"/>
                  <a:pt x="333375" y="260727"/>
                </a:cubicBezTo>
                <a:lnTo>
                  <a:pt x="333375" y="300038"/>
                </a:lnTo>
                <a:cubicBezTo>
                  <a:pt x="333375" y="318443"/>
                  <a:pt x="318443" y="333375"/>
                  <a:pt x="300038" y="333375"/>
                </a:cubicBezTo>
                <a:lnTo>
                  <a:pt x="277813" y="333375"/>
                </a:lnTo>
                <a:cubicBezTo>
                  <a:pt x="269270" y="333375"/>
                  <a:pt x="261422" y="330180"/>
                  <a:pt x="255518" y="324832"/>
                </a:cubicBezTo>
                <a:cubicBezTo>
                  <a:pt x="255518" y="323999"/>
                  <a:pt x="255587" y="323096"/>
                  <a:pt x="255587" y="322263"/>
                </a:cubicBezTo>
                <a:close/>
                <a:moveTo>
                  <a:pt x="288925" y="22225"/>
                </a:moveTo>
                <a:cubicBezTo>
                  <a:pt x="310391" y="22225"/>
                  <a:pt x="327819" y="39653"/>
                  <a:pt x="327819" y="61119"/>
                </a:cubicBezTo>
                <a:cubicBezTo>
                  <a:pt x="327819" y="82585"/>
                  <a:pt x="310391" y="100013"/>
                  <a:pt x="288925" y="100013"/>
                </a:cubicBezTo>
                <a:cubicBezTo>
                  <a:pt x="267459" y="100013"/>
                  <a:pt x="250031" y="82585"/>
                  <a:pt x="250031" y="61119"/>
                </a:cubicBezTo>
                <a:cubicBezTo>
                  <a:pt x="250031" y="39653"/>
                  <a:pt x="267459" y="22225"/>
                  <a:pt x="288925" y="22225"/>
                </a:cubicBezTo>
                <a:close/>
              </a:path>
            </a:pathLst>
          </a:custGeom>
          <a:solidFill>
            <a:srgbClr val="6264A7"/>
          </a:solidFill>
          <a:ln/>
        </p:spPr>
      </p:sp>
      <p:sp>
        <p:nvSpPr>
          <p:cNvPr id="12" name="Text 10"/>
          <p:cNvSpPr/>
          <p:nvPr/>
        </p:nvSpPr>
        <p:spPr>
          <a:xfrm>
            <a:off x="6515100" y="1498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 Teams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1968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with Office 365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Channels for team organization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 collaboration built-in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 standard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333500"/>
            <a:ext cx="4699000" cy="247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1049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EA4335"/>
          </a:solidFill>
          <a:ln/>
        </p:spPr>
      </p:sp>
      <p:sp>
        <p:nvSpPr>
          <p:cNvPr id="16" name="Text 14"/>
          <p:cNvSpPr/>
          <p:nvPr/>
        </p:nvSpPr>
        <p:spPr>
          <a:xfrm>
            <a:off x="11531600" y="1498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Meet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1968500"/>
            <a:ext cx="4191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Workspace integration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captions (real-time)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browser-based access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installation needed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0640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0450" y="431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122238" y="244475"/>
                </a:moveTo>
                <a:lnTo>
                  <a:pt x="144463" y="244475"/>
                </a:lnTo>
                <a:cubicBezTo>
                  <a:pt x="156756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100013" y="322263"/>
                </a:lnTo>
                <a:lnTo>
                  <a:pt x="100013" y="266700"/>
                </a:lnTo>
                <a:cubicBezTo>
                  <a:pt x="100013" y="254407"/>
                  <a:pt x="109944" y="244475"/>
                  <a:pt x="122238" y="244475"/>
                </a:cubicBezTo>
                <a:close/>
                <a:moveTo>
                  <a:pt x="66675" y="77788"/>
                </a:moveTo>
                <a:cubicBezTo>
                  <a:pt x="66675" y="71676"/>
                  <a:pt x="71676" y="66675"/>
                  <a:pt x="77788" y="66675"/>
                </a:cubicBezTo>
                <a:lnTo>
                  <a:pt x="100013" y="66675"/>
                </a:lnTo>
                <a:cubicBezTo>
                  <a:pt x="106124" y="66675"/>
                  <a:pt x="111125" y="71676"/>
                  <a:pt x="111125" y="77788"/>
                </a:cubicBezTo>
                <a:lnTo>
                  <a:pt x="111125" y="100013"/>
                </a:lnTo>
                <a:cubicBezTo>
                  <a:pt x="111125" y="106124"/>
                  <a:pt x="106124" y="111125"/>
                  <a:pt x="100013" y="111125"/>
                </a:cubicBezTo>
                <a:lnTo>
                  <a:pt x="77788" y="111125"/>
                </a:lnTo>
                <a:cubicBezTo>
                  <a:pt x="71676" y="111125"/>
                  <a:pt x="66675" y="106124"/>
                  <a:pt x="66675" y="100013"/>
                </a:cubicBezTo>
                <a:lnTo>
                  <a:pt x="66675" y="77788"/>
                </a:lnTo>
                <a:close/>
                <a:moveTo>
                  <a:pt x="166688" y="66675"/>
                </a:moveTo>
                <a:lnTo>
                  <a:pt x="188913" y="66675"/>
                </a:lnTo>
                <a:cubicBezTo>
                  <a:pt x="195024" y="66675"/>
                  <a:pt x="200025" y="71676"/>
                  <a:pt x="200025" y="77788"/>
                </a:cubicBezTo>
                <a:lnTo>
                  <a:pt x="200025" y="100013"/>
                </a:lnTo>
                <a:cubicBezTo>
                  <a:pt x="200025" y="106124"/>
                  <a:pt x="195024" y="111125"/>
                  <a:pt x="188913" y="111125"/>
                </a:cubicBezTo>
                <a:lnTo>
                  <a:pt x="166688" y="111125"/>
                </a:lnTo>
                <a:cubicBezTo>
                  <a:pt x="160576" y="111125"/>
                  <a:pt x="155575" y="106124"/>
                  <a:pt x="155575" y="100013"/>
                </a:cubicBezTo>
                <a:lnTo>
                  <a:pt x="155575" y="77788"/>
                </a:lnTo>
                <a:cubicBezTo>
                  <a:pt x="155575" y="71676"/>
                  <a:pt x="160576" y="66675"/>
                  <a:pt x="166688" y="66675"/>
                </a:cubicBezTo>
                <a:close/>
                <a:moveTo>
                  <a:pt x="66675" y="166688"/>
                </a:moveTo>
                <a:cubicBezTo>
                  <a:pt x="66675" y="160576"/>
                  <a:pt x="71676" y="155575"/>
                  <a:pt x="77788" y="155575"/>
                </a:cubicBezTo>
                <a:lnTo>
                  <a:pt x="100013" y="155575"/>
                </a:lnTo>
                <a:cubicBezTo>
                  <a:pt x="106124" y="155575"/>
                  <a:pt x="111125" y="160576"/>
                  <a:pt x="111125" y="166688"/>
                </a:cubicBezTo>
                <a:lnTo>
                  <a:pt x="111125" y="188913"/>
                </a:lnTo>
                <a:cubicBezTo>
                  <a:pt x="111125" y="195024"/>
                  <a:pt x="106124" y="200025"/>
                  <a:pt x="100013" y="200025"/>
                </a:cubicBezTo>
                <a:lnTo>
                  <a:pt x="77788" y="200025"/>
                </a:lnTo>
                <a:cubicBezTo>
                  <a:pt x="71676" y="200025"/>
                  <a:pt x="66675" y="195024"/>
                  <a:pt x="66675" y="188913"/>
                </a:cubicBezTo>
                <a:lnTo>
                  <a:pt x="66675" y="166688"/>
                </a:lnTo>
                <a:close/>
                <a:moveTo>
                  <a:pt x="166688" y="155575"/>
                </a:moveTo>
                <a:lnTo>
                  <a:pt x="188913" y="155575"/>
                </a:lnTo>
                <a:cubicBezTo>
                  <a:pt x="195024" y="155575"/>
                  <a:pt x="200025" y="160576"/>
                  <a:pt x="200025" y="166688"/>
                </a:cubicBezTo>
                <a:lnTo>
                  <a:pt x="200025" y="188913"/>
                </a:lnTo>
                <a:cubicBezTo>
                  <a:pt x="200025" y="195024"/>
                  <a:pt x="195024" y="200025"/>
                  <a:pt x="188913" y="200025"/>
                </a:cubicBezTo>
                <a:lnTo>
                  <a:pt x="166688" y="200025"/>
                </a:lnTo>
                <a:cubicBezTo>
                  <a:pt x="160576" y="200025"/>
                  <a:pt x="155575" y="195024"/>
                  <a:pt x="155575" y="188913"/>
                </a:cubicBezTo>
                <a:lnTo>
                  <a:pt x="155575" y="166688"/>
                </a:lnTo>
                <a:cubicBezTo>
                  <a:pt x="155575" y="160576"/>
                  <a:pt x="160576" y="155575"/>
                  <a:pt x="166688" y="155575"/>
                </a:cubicBezTo>
                <a:close/>
              </a:path>
            </a:pathLst>
          </a:custGeom>
          <a:solidFill>
            <a:srgbClr val="049FD9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" y="4292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Cisco Webex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76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Enterprise-grade security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features, hardware integration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8500" y="4064000"/>
            <a:ext cx="46990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705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2500" y="431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33375"/>
                </a:moveTo>
                <a:cubicBezTo>
                  <a:pt x="276007" y="333375"/>
                  <a:pt x="355600" y="258713"/>
                  <a:pt x="355600" y="166688"/>
                </a:cubicBezTo>
                <a:cubicBezTo>
                  <a:pt x="355600" y="74662"/>
                  <a:pt x="276007" y="0"/>
                  <a:pt x="177800" y="0"/>
                </a:cubicBezTo>
                <a:cubicBezTo>
                  <a:pt x="79593" y="0"/>
                  <a:pt x="0" y="74662"/>
                  <a:pt x="0" y="166688"/>
                </a:cubicBezTo>
                <a:cubicBezTo>
                  <a:pt x="0" y="204401"/>
                  <a:pt x="13335" y="239127"/>
                  <a:pt x="35838" y="267047"/>
                </a:cubicBezTo>
                <a:lnTo>
                  <a:pt x="1945" y="331153"/>
                </a:lnTo>
                <a:cubicBezTo>
                  <a:pt x="-1389" y="337403"/>
                  <a:pt x="-347" y="345043"/>
                  <a:pt x="4445" y="350252"/>
                </a:cubicBezTo>
                <a:cubicBezTo>
                  <a:pt x="9237" y="355461"/>
                  <a:pt x="16808" y="357059"/>
                  <a:pt x="23267" y="354280"/>
                </a:cubicBezTo>
                <a:lnTo>
                  <a:pt x="105499" y="319068"/>
                </a:lnTo>
                <a:cubicBezTo>
                  <a:pt x="127585" y="328235"/>
                  <a:pt x="152033" y="333375"/>
                  <a:pt x="177800" y="333375"/>
                </a:cubicBezTo>
                <a:close/>
                <a:moveTo>
                  <a:pt x="88900" y="144463"/>
                </a:moveTo>
                <a:cubicBezTo>
                  <a:pt x="101166" y="144463"/>
                  <a:pt x="111125" y="154421"/>
                  <a:pt x="111125" y="166688"/>
                </a:cubicBezTo>
                <a:cubicBezTo>
                  <a:pt x="111125" y="178954"/>
                  <a:pt x="101166" y="188913"/>
                  <a:pt x="88900" y="188913"/>
                </a:cubicBezTo>
                <a:cubicBezTo>
                  <a:pt x="76634" y="188913"/>
                  <a:pt x="66675" y="178954"/>
                  <a:pt x="66675" y="166688"/>
                </a:cubicBezTo>
                <a:cubicBezTo>
                  <a:pt x="66675" y="154421"/>
                  <a:pt x="76634" y="144463"/>
                  <a:pt x="88900" y="144463"/>
                </a:cubicBezTo>
                <a:close/>
                <a:moveTo>
                  <a:pt x="177800" y="144463"/>
                </a:moveTo>
                <a:cubicBezTo>
                  <a:pt x="190066" y="144463"/>
                  <a:pt x="200025" y="154421"/>
                  <a:pt x="200025" y="166688"/>
                </a:cubicBezTo>
                <a:cubicBezTo>
                  <a:pt x="200025" y="178954"/>
                  <a:pt x="190066" y="188913"/>
                  <a:pt x="177800" y="188913"/>
                </a:cubicBezTo>
                <a:cubicBezTo>
                  <a:pt x="165534" y="188913"/>
                  <a:pt x="155575" y="178954"/>
                  <a:pt x="155575" y="166688"/>
                </a:cubicBezTo>
                <a:cubicBezTo>
                  <a:pt x="155575" y="154421"/>
                  <a:pt x="165534" y="144463"/>
                  <a:pt x="177800" y="144463"/>
                </a:cubicBezTo>
                <a:close/>
                <a:moveTo>
                  <a:pt x="244475" y="166688"/>
                </a:moveTo>
                <a:cubicBezTo>
                  <a:pt x="244475" y="154421"/>
                  <a:pt x="254434" y="144463"/>
                  <a:pt x="266700" y="144463"/>
                </a:cubicBezTo>
                <a:cubicBezTo>
                  <a:pt x="278966" y="144463"/>
                  <a:pt x="288925" y="154421"/>
                  <a:pt x="288925" y="166688"/>
                </a:cubicBezTo>
                <a:cubicBezTo>
                  <a:pt x="288925" y="178954"/>
                  <a:pt x="278966" y="188913"/>
                  <a:pt x="266700" y="188913"/>
                </a:cubicBezTo>
                <a:cubicBezTo>
                  <a:pt x="254434" y="188913"/>
                  <a:pt x="244475" y="178954"/>
                  <a:pt x="244475" y="166688"/>
                </a:cubicBezTo>
                <a:close/>
              </a:path>
            </a:pathLst>
          </a:custGeom>
          <a:solidFill>
            <a:srgbClr val="4A154B"/>
          </a:solidFill>
          <a:ln/>
        </p:spPr>
      </p:sp>
      <p:sp>
        <p:nvSpPr>
          <p:cNvPr id="24" name="Text 22"/>
          <p:cNvSpPr/>
          <p:nvPr/>
        </p:nvSpPr>
        <p:spPr>
          <a:xfrm>
            <a:off x="6515100" y="4292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Slack Huddles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47625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Lightweight audio/video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team discussions within Slack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95000" y="406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Selection Criteria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95000" y="4508500"/>
            <a:ext cx="4699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Video/audio quality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Participant limits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Security features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Tool integrations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3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Pricing model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60325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Sources: zoom.com, wimi-teamwork.com, 2025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2954000" y="2032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Lecture 10 — Network Issues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for Electronic Conferencing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4699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33500"/>
            <a:ext cx="4699000" cy="5080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3335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THE MEETING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32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Test your audio and video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Ensure stable internet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Prepare and share agenda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appropriate lighting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 a quiet environment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333500"/>
            <a:ext cx="4699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78500" y="1333500"/>
            <a:ext cx="4699000" cy="508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778500" y="13335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DURING THE MEETING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2032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Mute when not speaking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video when possible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Utilize screen sharing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Record for absentees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Stay engaged and focused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1333500"/>
            <a:ext cx="4699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95000" y="1333500"/>
            <a:ext cx="4699000" cy="508000"/>
          </a:xfrm>
          <a:prstGeom prst="roundRect">
            <a:avLst>
              <a:gd name="adj" fmla="val 6000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0" y="1333500"/>
            <a:ext cx="469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2032000"/>
            <a:ext cx="4191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meeting passwords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 waiting rooms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Share links only with invitees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Lock meetings after start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E3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 aware of screen content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826000"/>
            <a:ext cx="14732000" cy="1651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79500" y="501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Meeting Etiquette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9500" y="5461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 punctual — join 2-3 minutes early |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Dress appropriately for the audience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Minimize distractions — close unnecessary apps |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chat for questions and comments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7945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D97706">
              <a:alpha val="10196"/>
            </a:srgbClr>
          </a:solidFill>
          <a:ln w="12700">
            <a:solidFill>
              <a:srgbClr val="D97706">
                <a:alpha val="18824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3950" y="7112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587500" y="6985000"/>
            <a:ext cx="1358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Good virtual meetings are shorter than in-person ones. Aim for 25-50 minute sessions with clear agendas. Send follow-up notes with action items within 24 hours.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13462000" y="2032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2A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— Week 5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016000"/>
            <a:ext cx="1016000" cy="381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333500"/>
            <a:ext cx="71120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2000" y="1333500"/>
            <a:ext cx="7112000" cy="571500"/>
          </a:xfrm>
          <a:prstGeom prst="roundRect">
            <a:avLst>
              <a:gd name="adj" fmla="val 6000"/>
            </a:avLst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333500"/>
            <a:ext cx="711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9 — NETWORKS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2159000"/>
            <a:ext cx="6477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Networks connect devices to share resources and communicate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 devices serve specific purposes at different OSI layers: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Hub (L1), Switch (L2), Bridge (L2), Router (L3)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Wi-Fi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wireless LAN access;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Bluetooth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short-range device communication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computing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(IaaS, PaaS, SaaS) delivers scalable services over the internet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types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(PAN, LAN, MAN, WAN) serve different geographic scopes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D9770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Networks have transformed business, education, healthcare, and communication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333500"/>
            <a:ext cx="71120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705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382000" y="1333500"/>
            <a:ext cx="7112000" cy="5715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1333500"/>
            <a:ext cx="711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10 — NETWORK ISSUES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99500" y="2159000"/>
            <a:ext cx="6477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 security threats: eavesdropping, MitM, tampering, spoofing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passwords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combined with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MFA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robust authentication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Biometrics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(fingerprint, facial, iris) offer strong inherence-based security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Advanced methods: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SSO, adaptive auth, certificates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Anti-malware software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essential — detect, prevent, remove threats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Understand malware types: viruses, worms, trojans, ransomware, spyware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1B2A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8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Electronic conferencing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enables effective remote communication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731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68580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7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"In the digital age, understanding networks and security is not just for IT professionals — it's essential knowledge for everyone."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25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ojbxdy3f2uoeu/mnt/agents/output/ict-week5/images/6_103_Abstract_Futuristic_Network_Glow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4A">
                  <a:alpha val="91000"/>
                </a:srgbClr>
              </a:gs>
              <a:gs pos="60000">
                <a:srgbClr val="1B2A4A">
                  <a:alpha val="82000"/>
                </a:srgbClr>
              </a:gs>
              <a:gs pos="100000">
                <a:srgbClr val="1B2A4A">
                  <a:alpha val="5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540000"/>
            <a:ext cx="254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794000"/>
            <a:ext cx="1270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3937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Applications of Information and Communication Technologies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588000" y="4508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b="1" spc="300" kern="0" dirty="0">
                <a:solidFill>
                  <a:srgbClr val="D9770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0" y="5207000"/>
            <a:ext cx="2540000" cy="50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6"/>
          <p:cNvSpPr/>
          <p:nvPr/>
        </p:nvSpPr>
        <p:spPr>
          <a:xfrm>
            <a:off x="3683000" y="5588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9: Networks and the Effects of Using Them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10: Network Issues and Communication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588000" y="6731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 Welcome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Information and Communication Technologies - Week 5</dc:title>
  <dc:subject>Applications of Information and Communication Technologies - Week 5</dc:subject>
  <dc:creator>Kimi</dc:creator>
  <cp:lastModifiedBy>Kimi</cp:lastModifiedBy>
  <cp:revision>1</cp:revision>
  <dcterms:created xsi:type="dcterms:W3CDTF">2026-05-25T09:10:56Z</dcterms:created>
  <dcterms:modified xsi:type="dcterms:W3CDTF">2026-05-25T09:10:56Z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{"Label":"Applications of Information and Communication Technologies - Week 5","ContentProducer":"001191110108MACG2KBH8F10000","ProduceID":"19e5e659-1152-80f4-8000-0000ab129b33","ReservedCode1":"","ContentPropagator":"001191110108MACG2KBH8F20000","PropagateID":"19e5e659-1152-80f4-8000-0000ab129b33","ReservedCode2":""}</vt:lpwstr>
  </property>
</Properties>
</file>