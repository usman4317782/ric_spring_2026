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vrsy7bmeefno/mnt/agents/output/ict-week6/images/1_Global_internet_network_technology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2E">
                  <a:alpha val="90000"/>
                </a:srgbClr>
              </a:gs>
              <a:gs pos="55000">
                <a:srgbClr val="0F1D2E">
                  <a:alpha val="80000"/>
                </a:srgbClr>
              </a:gs>
              <a:gs pos="100000">
                <a:srgbClr val="0F1D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286000"/>
            <a:ext cx="1016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540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ICT 101 — WEEK 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16000" y="3048000"/>
            <a:ext cx="889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AND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TECHNOLOGIES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016000" y="6286500"/>
            <a:ext cx="1524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540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Internet, Networks &amp; Web Protocols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11 &amp; 12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8813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9685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175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 covers the fundamentals of the Internet, network types, and key web protocols.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000" y="177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0" y="177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11: The Internet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0" y="22225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Characteristics, uses, advantages and disadvantages of using the Internet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3175000"/>
            <a:ext cx="8636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9000" y="368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12: Networks &amp; Protocols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0" y="4127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vs Intranet vs Extranet, Blogs, Forums, Wikis, Social Networking, ISP, HTTP, HTTPS, FTP, SSL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0" y="5207000"/>
            <a:ext cx="8636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vrsy7bmeefno/mnt/agents/output/ict-week6/images/4_Hexagonal_digital_communication_structure.png">    </p:cNvPr>
          <p:cNvPicPr>
            <a:picLocks noChangeAspect="1"/>
          </p:cNvPicPr>
          <p:nvPr/>
        </p:nvPicPr>
        <p:blipFill>
          <a:blip r:embed="rId1"/>
          <a:srcRect l="0" r="0" t="15" b="1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2E">
                  <a:alpha val="91000"/>
                </a:srgbClr>
              </a:gs>
              <a:gs pos="50000">
                <a:srgbClr val="0F1D2E">
                  <a:alpha val="80000"/>
                </a:srgbClr>
              </a:gs>
              <a:gs pos="100000">
                <a:srgbClr val="0F1D2E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1778000"/>
            <a:ext cx="762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8000" y="355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064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INTERNET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5207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Characteristics, Uses, Advantages &amp; Disadvantages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Internet?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38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58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787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system of interconnected computer networks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uses standardized communication protocols (TCP/IP) to link billions of devices worldwide.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9463" y="3937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" y="39116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network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accessible to anyone with an Internet connection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9463" y="482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" y="4800600"/>
            <a:ext cx="787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Carries information via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documents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applications through the World Wide Web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463" y="5715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56896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owned or controlled by any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organization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9463" y="6477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68400" y="64516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Operates continuously —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availability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interruption</a:t>
            </a:r>
            <a:endParaRPr lang="en-US" sz="1600" dirty="0"/>
          </a:p>
        </p:txBody>
      </p:sp>
      <p:pic>
        <p:nvPicPr>
          <p:cNvPr id="18" name="Image 0" descr="https://kimi-img.moonshot.cn/pub/slides/okc/nvrsy7bmeefno/mnt/agents/output/ict-week6/images/10_Abstract_Blue_Network_Connected_Nodes.png">    </p:cNvPr>
          <p:cNvPicPr>
            <a:picLocks noChangeAspect="1"/>
          </p:cNvPicPr>
          <p:nvPr/>
        </p:nvPicPr>
        <p:blipFill>
          <a:blip r:embed="rId1"/>
          <a:srcRect l="20597" r="20597" t="0" b="0"/>
          <a:stretch/>
        </p:blipFill>
        <p:spPr>
          <a:xfrm>
            <a:off x="9652000" y="1397000"/>
            <a:ext cx="5842000" cy="5588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52000" y="70866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Network Interconnection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 of the Internet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58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Connects billions of people and devices across the entire world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970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6775" y="1587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66675"/>
                </a:moveTo>
                <a:cubicBezTo>
                  <a:pt x="266700" y="42158"/>
                  <a:pt x="286633" y="22225"/>
                  <a:pt x="311150" y="22225"/>
                </a:cubicBezTo>
                <a:cubicBezTo>
                  <a:pt x="335667" y="22225"/>
                  <a:pt x="355600" y="42158"/>
                  <a:pt x="355600" y="66675"/>
                </a:cubicBezTo>
                <a:lnTo>
                  <a:pt x="355600" y="88900"/>
                </a:lnTo>
                <a:cubicBezTo>
                  <a:pt x="355600" y="101193"/>
                  <a:pt x="365532" y="111125"/>
                  <a:pt x="377825" y="111125"/>
                </a:cubicBezTo>
                <a:cubicBezTo>
                  <a:pt x="390118" y="111125"/>
                  <a:pt x="400050" y="101193"/>
                  <a:pt x="400050" y="88900"/>
                </a:cubicBezTo>
                <a:lnTo>
                  <a:pt x="400050" y="66675"/>
                </a:lnTo>
                <a:cubicBezTo>
                  <a:pt x="400050" y="17572"/>
                  <a:pt x="360253" y="-22225"/>
                  <a:pt x="311150" y="-22225"/>
                </a:cubicBezTo>
                <a:cubicBezTo>
                  <a:pt x="262047" y="-22225"/>
                  <a:pt x="222250" y="17572"/>
                  <a:pt x="222250" y="66675"/>
                </a:cubicBezTo>
                <a:lnTo>
                  <a:pt x="222250" y="111125"/>
                </a:lnTo>
                <a:lnTo>
                  <a:pt x="111125" y="111125"/>
                </a:lnTo>
                <a:cubicBezTo>
                  <a:pt x="86608" y="111125"/>
                  <a:pt x="66675" y="131058"/>
                  <a:pt x="66675" y="155575"/>
                </a:cubicBezTo>
                <a:lnTo>
                  <a:pt x="66675" y="311150"/>
                </a:lnTo>
                <a:cubicBezTo>
                  <a:pt x="66675" y="335667"/>
                  <a:pt x="86608" y="355600"/>
                  <a:pt x="111125" y="355600"/>
                </a:cubicBezTo>
                <a:lnTo>
                  <a:pt x="288925" y="355600"/>
                </a:lnTo>
                <a:cubicBezTo>
                  <a:pt x="313442" y="355600"/>
                  <a:pt x="333375" y="335667"/>
                  <a:pt x="333375" y="311150"/>
                </a:cubicBezTo>
                <a:lnTo>
                  <a:pt x="333375" y="155575"/>
                </a:lnTo>
                <a:cubicBezTo>
                  <a:pt x="333375" y="131058"/>
                  <a:pt x="313442" y="111125"/>
                  <a:pt x="288925" y="111125"/>
                </a:cubicBezTo>
                <a:lnTo>
                  <a:pt x="266700" y="111125"/>
                </a:lnTo>
                <a:lnTo>
                  <a:pt x="266700" y="66675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158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&amp; PUBLIC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032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Anyone with a connection can access it without restrictions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397000"/>
            <a:ext cx="4826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99775" y="1587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DECENTRALIZED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032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organization owns or controls the entire network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2385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3775" y="342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3429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PROTOCOL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3873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standardized protocols for reliable data communication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2385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69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600" y="3429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3873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Operates continuously without interruption every day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238500"/>
            <a:ext cx="4826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77550" y="3429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33350" y="44450"/>
                </a:moveTo>
                <a:cubicBezTo>
                  <a:pt x="133350" y="19933"/>
                  <a:pt x="153283" y="0"/>
                  <a:pt x="177800" y="0"/>
                </a:cubicBezTo>
                <a:lnTo>
                  <a:pt x="400050" y="0"/>
                </a:lnTo>
                <a:cubicBezTo>
                  <a:pt x="424567" y="0"/>
                  <a:pt x="444500" y="19933"/>
                  <a:pt x="444500" y="44450"/>
                </a:cubicBezTo>
                <a:lnTo>
                  <a:pt x="444500" y="200025"/>
                </a:lnTo>
                <a:cubicBezTo>
                  <a:pt x="444500" y="224542"/>
                  <a:pt x="424567" y="244475"/>
                  <a:pt x="400050" y="244475"/>
                </a:cubicBezTo>
                <a:lnTo>
                  <a:pt x="177800" y="244475"/>
                </a:lnTo>
                <a:cubicBezTo>
                  <a:pt x="153283" y="244475"/>
                  <a:pt x="133350" y="224542"/>
                  <a:pt x="133350" y="200025"/>
                </a:cubicBezTo>
                <a:lnTo>
                  <a:pt x="133350" y="44450"/>
                </a:lnTo>
                <a:close/>
                <a:moveTo>
                  <a:pt x="222250" y="66675"/>
                </a:moveTo>
                <a:cubicBezTo>
                  <a:pt x="222250" y="54409"/>
                  <a:pt x="212291" y="44450"/>
                  <a:pt x="200025" y="44450"/>
                </a:cubicBezTo>
                <a:cubicBezTo>
                  <a:pt x="187759" y="44450"/>
                  <a:pt x="177800" y="54409"/>
                  <a:pt x="177800" y="66675"/>
                </a:cubicBezTo>
                <a:cubicBezTo>
                  <a:pt x="177800" y="78941"/>
                  <a:pt x="187759" y="88900"/>
                  <a:pt x="200025" y="88900"/>
                </a:cubicBezTo>
                <a:cubicBezTo>
                  <a:pt x="212291" y="88900"/>
                  <a:pt x="222250" y="78941"/>
                  <a:pt x="222250" y="66675"/>
                </a:cubicBezTo>
                <a:close/>
                <a:moveTo>
                  <a:pt x="330944" y="74662"/>
                </a:moveTo>
                <a:cubicBezTo>
                  <a:pt x="327888" y="69731"/>
                  <a:pt x="322540" y="66675"/>
                  <a:pt x="316706" y="66675"/>
                </a:cubicBezTo>
                <a:cubicBezTo>
                  <a:pt x="310872" y="66675"/>
                  <a:pt x="305524" y="69731"/>
                  <a:pt x="302468" y="74662"/>
                </a:cubicBezTo>
                <a:lnTo>
                  <a:pt x="264964" y="135989"/>
                </a:lnTo>
                <a:lnTo>
                  <a:pt x="252532" y="118209"/>
                </a:lnTo>
                <a:cubicBezTo>
                  <a:pt x="249406" y="113764"/>
                  <a:pt x="244336" y="111125"/>
                  <a:pt x="238849" y="111125"/>
                </a:cubicBezTo>
                <a:cubicBezTo>
                  <a:pt x="233363" y="111125"/>
                  <a:pt x="228292" y="113764"/>
                  <a:pt x="225167" y="118209"/>
                </a:cubicBezTo>
                <a:lnTo>
                  <a:pt x="186273" y="173772"/>
                </a:lnTo>
                <a:cubicBezTo>
                  <a:pt x="182731" y="178842"/>
                  <a:pt x="182245" y="185509"/>
                  <a:pt x="185162" y="190996"/>
                </a:cubicBezTo>
                <a:cubicBezTo>
                  <a:pt x="188079" y="196483"/>
                  <a:pt x="193844" y="200025"/>
                  <a:pt x="200025" y="200025"/>
                </a:cubicBezTo>
                <a:lnTo>
                  <a:pt x="377825" y="200025"/>
                </a:lnTo>
                <a:cubicBezTo>
                  <a:pt x="383867" y="200025"/>
                  <a:pt x="389424" y="196761"/>
                  <a:pt x="392341" y="191482"/>
                </a:cubicBezTo>
                <a:cubicBezTo>
                  <a:pt x="395258" y="186204"/>
                  <a:pt x="395188" y="179814"/>
                  <a:pt x="391993" y="174605"/>
                </a:cubicBezTo>
                <a:lnTo>
                  <a:pt x="330875" y="74593"/>
                </a:lnTo>
                <a:close/>
                <a:moveTo>
                  <a:pt x="100013" y="88900"/>
                </a:moveTo>
                <a:lnTo>
                  <a:pt x="100013" y="200025"/>
                </a:lnTo>
                <a:cubicBezTo>
                  <a:pt x="100013" y="243016"/>
                  <a:pt x="134809" y="277813"/>
                  <a:pt x="177800" y="277813"/>
                </a:cubicBezTo>
                <a:lnTo>
                  <a:pt x="311150" y="277813"/>
                </a:ln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133350"/>
                </a:lnTo>
                <a:cubicBezTo>
                  <a:pt x="0" y="108833"/>
                  <a:pt x="19933" y="88900"/>
                  <a:pt x="44450" y="88900"/>
                </a:cubicBezTo>
                <a:lnTo>
                  <a:pt x="100013" y="88900"/>
                </a:lnTo>
                <a:close/>
                <a:moveTo>
                  <a:pt x="36116" y="136128"/>
                </a:moveTo>
                <a:lnTo>
                  <a:pt x="36116" y="152797"/>
                </a:lnTo>
                <a:cubicBezTo>
                  <a:pt x="36116" y="158909"/>
                  <a:pt x="41116" y="163909"/>
                  <a:pt x="47228" y="163909"/>
                </a:cubicBezTo>
                <a:lnTo>
                  <a:pt x="63897" y="163909"/>
                </a:lnTo>
                <a:cubicBezTo>
                  <a:pt x="70009" y="163909"/>
                  <a:pt x="75009" y="158909"/>
                  <a:pt x="75009" y="152797"/>
                </a:cubicBezTo>
                <a:lnTo>
                  <a:pt x="75009" y="136128"/>
                </a:lnTo>
                <a:cubicBezTo>
                  <a:pt x="75009" y="130016"/>
                  <a:pt x="70009" y="125016"/>
                  <a:pt x="63897" y="125016"/>
                </a:cubicBezTo>
                <a:lnTo>
                  <a:pt x="47228" y="125016"/>
                </a:lnTo>
                <a:cubicBezTo>
                  <a:pt x="41116" y="125016"/>
                  <a:pt x="36116" y="130016"/>
                  <a:pt x="36116" y="136128"/>
                </a:cubicBezTo>
                <a:close/>
                <a:moveTo>
                  <a:pt x="47228" y="191691"/>
                </a:moveTo>
                <a:cubicBezTo>
                  <a:pt x="41116" y="191691"/>
                  <a:pt x="36116" y="196691"/>
                  <a:pt x="36116" y="202803"/>
                </a:cubicBezTo>
                <a:lnTo>
                  <a:pt x="36116" y="219472"/>
                </a:lnTo>
                <a:cubicBezTo>
                  <a:pt x="36116" y="225584"/>
                  <a:pt x="41116" y="230584"/>
                  <a:pt x="47228" y="230584"/>
                </a:cubicBezTo>
                <a:lnTo>
                  <a:pt x="63897" y="230584"/>
                </a:lnTo>
                <a:cubicBezTo>
                  <a:pt x="70009" y="230584"/>
                  <a:pt x="75009" y="225584"/>
                  <a:pt x="75009" y="219472"/>
                </a:cubicBezTo>
                <a:lnTo>
                  <a:pt x="75009" y="202803"/>
                </a:lnTo>
                <a:cubicBezTo>
                  <a:pt x="75009" y="196691"/>
                  <a:pt x="70009" y="191691"/>
                  <a:pt x="63897" y="191691"/>
                </a:cubicBezTo>
                <a:lnTo>
                  <a:pt x="47228" y="191691"/>
                </a:lnTo>
                <a:close/>
                <a:moveTo>
                  <a:pt x="47228" y="258366"/>
                </a:moveTo>
                <a:cubicBezTo>
                  <a:pt x="41116" y="258366"/>
                  <a:pt x="36116" y="263366"/>
                  <a:pt x="36116" y="269478"/>
                </a:cubicBezTo>
                <a:lnTo>
                  <a:pt x="36116" y="286147"/>
                </a:lnTo>
                <a:cubicBezTo>
                  <a:pt x="36116" y="292259"/>
                  <a:pt x="41116" y="297259"/>
                  <a:pt x="47228" y="297259"/>
                </a:cubicBezTo>
                <a:lnTo>
                  <a:pt x="63897" y="297259"/>
                </a:lnTo>
                <a:cubicBezTo>
                  <a:pt x="70009" y="297259"/>
                  <a:pt x="75009" y="292259"/>
                  <a:pt x="75009" y="286147"/>
                </a:cubicBezTo>
                <a:lnTo>
                  <a:pt x="75009" y="269478"/>
                </a:lnTo>
                <a:cubicBezTo>
                  <a:pt x="75009" y="263366"/>
                  <a:pt x="70009" y="258366"/>
                  <a:pt x="63897" y="258366"/>
                </a:cubicBezTo>
                <a:lnTo>
                  <a:pt x="47228" y="258366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04600" y="342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SUPPORT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38735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text, images, audio, video, and interactive content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207000"/>
            <a:ext cx="14732000" cy="1397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552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31" name="Text 29"/>
          <p:cNvSpPr/>
          <p:nvPr/>
        </p:nvSpPr>
        <p:spPr>
          <a:xfrm>
            <a:off x="1778000" y="539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8000" y="5740400"/>
            <a:ext cx="1333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combination of global reach, openness, and standardized protocols makes it the most powerful communication platform in human history.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of the Internet —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 has fundamentally transformed how people communicate across the globe.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342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432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11500"/>
            <a:ext cx="292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and informal messaging with attachments, used for personal and business communication worldwide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1905000"/>
            <a:ext cx="342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0425" y="215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27432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MESSAGING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111500"/>
            <a:ext cx="292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text chat through apps like WhatsApp, Telegram, and Messenger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905000"/>
            <a:ext cx="342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3425" y="215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57150"/>
                </a:moveTo>
                <a:cubicBezTo>
                  <a:pt x="54203" y="57150"/>
                  <a:pt x="28575" y="82778"/>
                  <a:pt x="28575" y="114300"/>
                </a:cubicBezTo>
                <a:lnTo>
                  <a:pt x="28575" y="342900"/>
                </a:lnTo>
                <a:cubicBezTo>
                  <a:pt x="28575" y="374422"/>
                  <a:pt x="54203" y="400050"/>
                  <a:pt x="85725" y="400050"/>
                </a:cubicBezTo>
                <a:lnTo>
                  <a:pt x="314325" y="400050"/>
                </a:lnTo>
                <a:cubicBezTo>
                  <a:pt x="345847" y="400050"/>
                  <a:pt x="371475" y="374422"/>
                  <a:pt x="371475" y="342900"/>
                </a:cubicBezTo>
                <a:lnTo>
                  <a:pt x="371475" y="114300"/>
                </a:lnTo>
                <a:cubicBezTo>
                  <a:pt x="371475" y="82778"/>
                  <a:pt x="345847" y="57150"/>
                  <a:pt x="314325" y="57150"/>
                </a:cubicBezTo>
                <a:lnTo>
                  <a:pt x="85725" y="57150"/>
                </a:lnTo>
                <a:close/>
                <a:moveTo>
                  <a:pt x="414338" y="300038"/>
                </a:moveTo>
                <a:lnTo>
                  <a:pt x="479971" y="352544"/>
                </a:lnTo>
                <a:cubicBezTo>
                  <a:pt x="483721" y="355580"/>
                  <a:pt x="488365" y="357188"/>
                  <a:pt x="493187" y="357188"/>
                </a:cubicBezTo>
                <a:cubicBezTo>
                  <a:pt x="504885" y="357188"/>
                  <a:pt x="514350" y="347722"/>
                  <a:pt x="514350" y="336024"/>
                </a:cubicBezTo>
                <a:lnTo>
                  <a:pt x="514350" y="121176"/>
                </a:lnTo>
                <a:cubicBezTo>
                  <a:pt x="514350" y="109478"/>
                  <a:pt x="504885" y="100013"/>
                  <a:pt x="493187" y="100013"/>
                </a:cubicBezTo>
                <a:cubicBezTo>
                  <a:pt x="488365" y="100013"/>
                  <a:pt x="483721" y="101620"/>
                  <a:pt x="479971" y="104656"/>
                </a:cubicBezTo>
                <a:lnTo>
                  <a:pt x="414338" y="157163"/>
                </a:lnTo>
                <a:lnTo>
                  <a:pt x="414338" y="300038"/>
                </a:ln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7432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111500"/>
            <a:ext cx="292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face-to-face meetings via Zoom, Microsoft Teams, and Google Meet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1905000"/>
            <a:ext cx="3683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65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43054" y="22324"/>
                </a:moveTo>
                <a:cubicBezTo>
                  <a:pt x="135999" y="5447"/>
                  <a:pt x="117604" y="-3483"/>
                  <a:pt x="100102" y="1250"/>
                </a:cubicBezTo>
                <a:lnTo>
                  <a:pt x="95190" y="2590"/>
                </a:lnTo>
                <a:cubicBezTo>
                  <a:pt x="37505" y="18306"/>
                  <a:pt x="-11787" y="74206"/>
                  <a:pt x="2590" y="142250"/>
                </a:cubicBezTo>
                <a:cubicBezTo>
                  <a:pt x="35719" y="298519"/>
                  <a:pt x="158681" y="421481"/>
                  <a:pt x="314950" y="454610"/>
                </a:cubicBezTo>
                <a:cubicBezTo>
                  <a:pt x="383084" y="469076"/>
                  <a:pt x="438894" y="419695"/>
                  <a:pt x="454610" y="362010"/>
                </a:cubicBezTo>
                <a:lnTo>
                  <a:pt x="455950" y="357098"/>
                </a:lnTo>
                <a:cubicBezTo>
                  <a:pt x="460772" y="339507"/>
                  <a:pt x="451753" y="321112"/>
                  <a:pt x="434965" y="314146"/>
                </a:cubicBezTo>
                <a:lnTo>
                  <a:pt x="348079" y="277981"/>
                </a:lnTo>
                <a:cubicBezTo>
                  <a:pt x="333345" y="271820"/>
                  <a:pt x="316290" y="276106"/>
                  <a:pt x="306110" y="288518"/>
                </a:cubicBezTo>
                <a:lnTo>
                  <a:pt x="271641" y="330666"/>
                </a:lnTo>
                <a:cubicBezTo>
                  <a:pt x="208865" y="299502"/>
                  <a:pt x="158323" y="247352"/>
                  <a:pt x="129302" y="183326"/>
                </a:cubicBezTo>
                <a:lnTo>
                  <a:pt x="168771" y="151180"/>
                </a:lnTo>
                <a:cubicBezTo>
                  <a:pt x="181183" y="141089"/>
                  <a:pt x="185380" y="124033"/>
                  <a:pt x="179308" y="109210"/>
                </a:cubicBezTo>
                <a:lnTo>
                  <a:pt x="143054" y="22324"/>
                </a:ln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27432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OVER IP (VoIP)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65000" y="3111500"/>
            <a:ext cx="317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Internet-based phone calls through services like Skype and WhatsApp Voice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2200" y="5588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1778000" y="5461000"/>
            <a:ext cx="1333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billion people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 use the Internet for communication purposes daily, making it the largest communication platform in history.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of the Internet — Information &amp; Commerce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4699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65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65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225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engines (Google, Bing) for finding information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Online news portals and digital libraries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Research databases and academic journals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Wikipedia and educational websites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3970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397000"/>
            <a:ext cx="4699000" cy="63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1375" y="1651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7859" y="-11906"/>
                </a:moveTo>
                <a:cubicBezTo>
                  <a:pt x="7962" y="-11906"/>
                  <a:pt x="0" y="-3944"/>
                  <a:pt x="0" y="5953"/>
                </a:cubicBezTo>
                <a:cubicBezTo>
                  <a:pt x="0" y="15850"/>
                  <a:pt x="7962" y="23812"/>
                  <a:pt x="17859" y="23812"/>
                </a:cubicBezTo>
                <a:lnTo>
                  <a:pt x="51569" y="23812"/>
                </a:lnTo>
                <a:cubicBezTo>
                  <a:pt x="54471" y="23812"/>
                  <a:pt x="56927" y="25896"/>
                  <a:pt x="57448" y="28724"/>
                </a:cubicBezTo>
                <a:lnTo>
                  <a:pt x="96217" y="241771"/>
                </a:lnTo>
                <a:cubicBezTo>
                  <a:pt x="100831" y="267221"/>
                  <a:pt x="123006" y="285750"/>
                  <a:pt x="148903" y="285750"/>
                </a:cubicBezTo>
                <a:lnTo>
                  <a:pt x="339328" y="285750"/>
                </a:lnTo>
                <a:cubicBezTo>
                  <a:pt x="349225" y="285750"/>
                  <a:pt x="357188" y="277788"/>
                  <a:pt x="357188" y="267891"/>
                </a:cubicBezTo>
                <a:cubicBezTo>
                  <a:pt x="357188" y="257994"/>
                  <a:pt x="349225" y="250031"/>
                  <a:pt x="339328" y="250031"/>
                </a:cubicBezTo>
                <a:lnTo>
                  <a:pt x="148903" y="250031"/>
                </a:lnTo>
                <a:cubicBezTo>
                  <a:pt x="140271" y="250031"/>
                  <a:pt x="132904" y="243855"/>
                  <a:pt x="131341" y="235372"/>
                </a:cubicBezTo>
                <a:lnTo>
                  <a:pt x="127546" y="214313"/>
                </a:lnTo>
                <a:lnTo>
                  <a:pt x="353467" y="214313"/>
                </a:lnTo>
                <a:cubicBezTo>
                  <a:pt x="376386" y="214313"/>
                  <a:pt x="396032" y="198016"/>
                  <a:pt x="400273" y="175468"/>
                </a:cubicBezTo>
                <a:lnTo>
                  <a:pt x="423342" y="52015"/>
                </a:lnTo>
                <a:cubicBezTo>
                  <a:pt x="426095" y="37356"/>
                  <a:pt x="414858" y="23812"/>
                  <a:pt x="399901" y="23812"/>
                </a:cubicBezTo>
                <a:lnTo>
                  <a:pt x="92794" y="23812"/>
                </a:lnTo>
                <a:lnTo>
                  <a:pt x="92497" y="22324"/>
                </a:lnTo>
                <a:cubicBezTo>
                  <a:pt x="88925" y="2530"/>
                  <a:pt x="71661" y="-11906"/>
                  <a:pt x="51495" y="-11906"/>
                </a:cubicBezTo>
                <a:lnTo>
                  <a:pt x="17859" y="-11906"/>
                </a:lnTo>
                <a:close/>
                <a:moveTo>
                  <a:pt x="154781" y="381000"/>
                </a:moveTo>
                <a:cubicBezTo>
                  <a:pt x="174495" y="381000"/>
                  <a:pt x="190500" y="364995"/>
                  <a:pt x="190500" y="345281"/>
                </a:cubicBezTo>
                <a:cubicBezTo>
                  <a:pt x="190500" y="325568"/>
                  <a:pt x="174495" y="309563"/>
                  <a:pt x="154781" y="309563"/>
                </a:cubicBezTo>
                <a:cubicBezTo>
                  <a:pt x="135068" y="309563"/>
                  <a:pt x="119063" y="325568"/>
                  <a:pt x="119063" y="345281"/>
                </a:cubicBezTo>
                <a:cubicBezTo>
                  <a:pt x="119063" y="364995"/>
                  <a:pt x="135068" y="381000"/>
                  <a:pt x="154781" y="381000"/>
                </a:cubicBezTo>
                <a:close/>
                <a:moveTo>
                  <a:pt x="321469" y="381000"/>
                </a:moveTo>
                <a:cubicBezTo>
                  <a:pt x="341182" y="381000"/>
                  <a:pt x="357188" y="364995"/>
                  <a:pt x="357188" y="345281"/>
                </a:cubicBezTo>
                <a:cubicBezTo>
                  <a:pt x="357188" y="325568"/>
                  <a:pt x="341182" y="309563"/>
                  <a:pt x="321469" y="309563"/>
                </a:cubicBezTo>
                <a:cubicBezTo>
                  <a:pt x="301755" y="309563"/>
                  <a:pt x="285750" y="325568"/>
                  <a:pt x="285750" y="345281"/>
                </a:cubicBezTo>
                <a:cubicBezTo>
                  <a:pt x="285750" y="364995"/>
                  <a:pt x="301755" y="381000"/>
                  <a:pt x="321469" y="381000"/>
                </a:cubicBezTo>
                <a:close/>
              </a:path>
            </a:pathLst>
          </a:custGeom>
          <a:solidFill>
            <a:srgbClr val="2E7D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7000" y="165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2225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Online shopping (Amazon, eBay, Alibaba)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payments and online banking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Booking services (travel, hotels, tickets)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Food delivery and ride-hailing apps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397000"/>
            <a:ext cx="482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1397000"/>
            <a:ext cx="4826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98188" y="1651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250031"/>
                </a:moveTo>
                <a:cubicBezTo>
                  <a:pt x="0" y="309190"/>
                  <a:pt x="47997" y="357188"/>
                  <a:pt x="107156" y="357188"/>
                </a:cubicBezTo>
                <a:lnTo>
                  <a:pt x="333375" y="357188"/>
                </a:lnTo>
                <a:cubicBezTo>
                  <a:pt x="385986" y="357188"/>
                  <a:pt x="428625" y="314548"/>
                  <a:pt x="428625" y="261938"/>
                </a:cubicBezTo>
                <a:cubicBezTo>
                  <a:pt x="428625" y="223540"/>
                  <a:pt x="405929" y="190426"/>
                  <a:pt x="373187" y="175394"/>
                </a:cubicBezTo>
                <a:cubicBezTo>
                  <a:pt x="378172" y="165646"/>
                  <a:pt x="381000" y="154558"/>
                  <a:pt x="381000" y="142875"/>
                </a:cubicBezTo>
                <a:cubicBezTo>
                  <a:pt x="381000" y="103436"/>
                  <a:pt x="349002" y="71438"/>
                  <a:pt x="309563" y="71438"/>
                </a:cubicBezTo>
                <a:cubicBezTo>
                  <a:pt x="296391" y="71438"/>
                  <a:pt x="284113" y="75009"/>
                  <a:pt x="273546" y="81186"/>
                </a:cubicBezTo>
                <a:cubicBezTo>
                  <a:pt x="255612" y="47104"/>
                  <a:pt x="219819" y="23812"/>
                  <a:pt x="178594" y="23812"/>
                </a:cubicBezTo>
                <a:cubicBezTo>
                  <a:pt x="119435" y="23812"/>
                  <a:pt x="71438" y="71810"/>
                  <a:pt x="71438" y="130969"/>
                </a:cubicBezTo>
                <a:cubicBezTo>
                  <a:pt x="71438" y="136922"/>
                  <a:pt x="71958" y="142801"/>
                  <a:pt x="72851" y="148456"/>
                </a:cubicBezTo>
                <a:cubicBezTo>
                  <a:pt x="30510" y="162744"/>
                  <a:pt x="0" y="202853"/>
                  <a:pt x="0" y="250031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165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2222500"/>
            <a:ext cx="431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storage (Google Drive, Dropbox)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Software as a Service (SaaS)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Remote collaboration tools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Cloud computing platforms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of the Internet — Entertainment &amp; Education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63500" cy="3302000"/>
          </a:xfrm>
          <a:prstGeom prst="rect">
            <a:avLst/>
          </a:prstGeom>
          <a:solidFill>
            <a:srgbClr val="8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1651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55600" y="50800"/>
                </a:moveTo>
                <a:cubicBezTo>
                  <a:pt x="439738" y="50800"/>
                  <a:pt x="508000" y="119063"/>
                  <a:pt x="508000" y="203200"/>
                </a:cubicBezTo>
                <a:cubicBezTo>
                  <a:pt x="508000" y="287338"/>
                  <a:pt x="439738" y="355600"/>
                  <a:pt x="355600" y="355600"/>
                </a:cubicBezTo>
                <a:lnTo>
                  <a:pt x="152400" y="355600"/>
                </a:lnTo>
                <a:cubicBezTo>
                  <a:pt x="68263" y="355600"/>
                  <a:pt x="0" y="287338"/>
                  <a:pt x="0" y="203200"/>
                </a:cubicBezTo>
                <a:cubicBezTo>
                  <a:pt x="0" y="119063"/>
                  <a:pt x="68263" y="50800"/>
                  <a:pt x="152400" y="50800"/>
                </a:cubicBezTo>
                <a:lnTo>
                  <a:pt x="355600" y="50800"/>
                </a:lnTo>
                <a:close/>
                <a:moveTo>
                  <a:pt x="152400" y="139700"/>
                </a:moveTo>
                <a:cubicBezTo>
                  <a:pt x="141843" y="139700"/>
                  <a:pt x="133350" y="148193"/>
                  <a:pt x="133350" y="158750"/>
                </a:cubicBezTo>
                <a:lnTo>
                  <a:pt x="133350" y="184150"/>
                </a:lnTo>
                <a:lnTo>
                  <a:pt x="107950" y="184150"/>
                </a:lnTo>
                <a:cubicBezTo>
                  <a:pt x="97393" y="184150"/>
                  <a:pt x="88900" y="192643"/>
                  <a:pt x="88900" y="203200"/>
                </a:cubicBezTo>
                <a:cubicBezTo>
                  <a:pt x="88900" y="213757"/>
                  <a:pt x="97393" y="222250"/>
                  <a:pt x="107950" y="222250"/>
                </a:cubicBezTo>
                <a:lnTo>
                  <a:pt x="133350" y="222250"/>
                </a:lnTo>
                <a:lnTo>
                  <a:pt x="133350" y="247650"/>
                </a:lnTo>
                <a:cubicBezTo>
                  <a:pt x="133350" y="258207"/>
                  <a:pt x="141843" y="266700"/>
                  <a:pt x="152400" y="266700"/>
                </a:cubicBezTo>
                <a:cubicBezTo>
                  <a:pt x="162957" y="266700"/>
                  <a:pt x="171450" y="258207"/>
                  <a:pt x="171450" y="247650"/>
                </a:cubicBezTo>
                <a:lnTo>
                  <a:pt x="171450" y="222250"/>
                </a:lnTo>
                <a:lnTo>
                  <a:pt x="196850" y="222250"/>
                </a:lnTo>
                <a:cubicBezTo>
                  <a:pt x="207407" y="222250"/>
                  <a:pt x="215900" y="213757"/>
                  <a:pt x="215900" y="203200"/>
                </a:cubicBezTo>
                <a:cubicBezTo>
                  <a:pt x="215900" y="192643"/>
                  <a:pt x="207407" y="184150"/>
                  <a:pt x="196850" y="184150"/>
                </a:cubicBezTo>
                <a:lnTo>
                  <a:pt x="171450" y="184150"/>
                </a:lnTo>
                <a:lnTo>
                  <a:pt x="171450" y="158750"/>
                </a:lnTo>
                <a:cubicBezTo>
                  <a:pt x="171450" y="148193"/>
                  <a:pt x="162957" y="139700"/>
                  <a:pt x="152400" y="139700"/>
                </a:cubicBezTo>
                <a:close/>
                <a:moveTo>
                  <a:pt x="342900" y="215900"/>
                </a:moveTo>
                <a:cubicBezTo>
                  <a:pt x="328881" y="215900"/>
                  <a:pt x="317500" y="227281"/>
                  <a:pt x="317500" y="241300"/>
                </a:cubicBezTo>
                <a:cubicBezTo>
                  <a:pt x="317500" y="255319"/>
                  <a:pt x="328881" y="266700"/>
                  <a:pt x="342900" y="266700"/>
                </a:cubicBezTo>
                <a:cubicBezTo>
                  <a:pt x="356919" y="266700"/>
                  <a:pt x="368300" y="255319"/>
                  <a:pt x="368300" y="241300"/>
                </a:cubicBezTo>
                <a:cubicBezTo>
                  <a:pt x="368300" y="227281"/>
                  <a:pt x="356919" y="215900"/>
                  <a:pt x="342900" y="215900"/>
                </a:cubicBezTo>
                <a:close/>
                <a:moveTo>
                  <a:pt x="393700" y="139700"/>
                </a:moveTo>
                <a:cubicBezTo>
                  <a:pt x="379681" y="139700"/>
                  <a:pt x="368300" y="151081"/>
                  <a:pt x="368300" y="165100"/>
                </a:cubicBezTo>
                <a:cubicBezTo>
                  <a:pt x="368300" y="179119"/>
                  <a:pt x="379681" y="190500"/>
                  <a:pt x="393700" y="190500"/>
                </a:cubicBezTo>
                <a:cubicBezTo>
                  <a:pt x="407719" y="190500"/>
                  <a:pt x="419100" y="179119"/>
                  <a:pt x="419100" y="165100"/>
                </a:cubicBezTo>
                <a:cubicBezTo>
                  <a:pt x="419100" y="151081"/>
                  <a:pt x="407719" y="139700"/>
                  <a:pt x="393700" y="139700"/>
                </a:cubicBezTo>
                <a:close/>
              </a:path>
            </a:pathLst>
          </a:custGeom>
          <a:solidFill>
            <a:srgbClr val="8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625600" y="1651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222500"/>
            <a:ext cx="654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Services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Netflix, YouTube, Spotify, Disney+ for movies, music, and shows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Gaming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Multiplayer games, esports tournaments, and game streaming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Content creation on TikTok, Instagram, and Snapchat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1397000"/>
            <a:ext cx="7366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0" y="1397000"/>
            <a:ext cx="63500" cy="3302000"/>
          </a:xfrm>
          <a:prstGeom prst="rect">
            <a:avLst/>
          </a:prstGeom>
          <a:solidFill>
            <a:srgbClr val="3A5C8B"/>
          </a:solidFill>
          <a:ln/>
        </p:spPr>
      </p:sp>
      <p:sp>
        <p:nvSpPr>
          <p:cNvPr id="12" name="Shape 10"/>
          <p:cNvSpPr/>
          <p:nvPr/>
        </p:nvSpPr>
        <p:spPr>
          <a:xfrm>
            <a:off x="84201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3A5C8B"/>
          </a:solidFill>
          <a:ln/>
        </p:spPr>
      </p:sp>
      <p:sp>
        <p:nvSpPr>
          <p:cNvPr id="13" name="Text 11"/>
          <p:cNvSpPr/>
          <p:nvPr/>
        </p:nvSpPr>
        <p:spPr>
          <a:xfrm>
            <a:off x="8991600" y="1651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2222500"/>
            <a:ext cx="679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Platforms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Coursera, Khan Academy, edX for online courses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Classrooms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Live online classes and webinars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Access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Digital libraries, academic journals, and tutorials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165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5016500"/>
            <a:ext cx="63500" cy="1270000"/>
          </a:xfrm>
          <a:prstGeom prst="rect">
            <a:avLst/>
          </a:prstGeom>
          <a:solidFill>
            <a:srgbClr val="5C8B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468" y="4048"/>
                </a:moveTo>
                <a:cubicBezTo>
                  <a:pt x="197802" y="-1349"/>
                  <a:pt x="208598" y="-1349"/>
                  <a:pt x="216932" y="4048"/>
                </a:cubicBezTo>
                <a:lnTo>
                  <a:pt x="394732" y="118348"/>
                </a:lnTo>
                <a:cubicBezTo>
                  <a:pt x="404178" y="124460"/>
                  <a:pt x="408543" y="136049"/>
                  <a:pt x="405368" y="146844"/>
                </a:cubicBezTo>
                <a:cubicBezTo>
                  <a:pt x="402193" y="157639"/>
                  <a:pt x="392271" y="165100"/>
                  <a:pt x="381000" y="165100"/>
                </a:cubicBezTo>
                <a:lnTo>
                  <a:pt x="355600" y="165100"/>
                </a:lnTo>
                <a:lnTo>
                  <a:pt x="355600" y="330200"/>
                </a:lnTo>
                <a:lnTo>
                  <a:pt x="396240" y="360680"/>
                </a:lnTo>
                <a:cubicBezTo>
                  <a:pt x="402669" y="365442"/>
                  <a:pt x="406400" y="372983"/>
                  <a:pt x="406400" y="381000"/>
                </a:cubicBezTo>
                <a:cubicBezTo>
                  <a:pt x="406400" y="395049"/>
                  <a:pt x="395049" y="406400"/>
                  <a:pt x="3810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ubicBezTo>
                  <a:pt x="0" y="372983"/>
                  <a:pt x="3731" y="365442"/>
                  <a:pt x="10160" y="360680"/>
                </a:cubicBezTo>
                <a:lnTo>
                  <a:pt x="50800" y="330200"/>
                </a:lnTo>
                <a:lnTo>
                  <a:pt x="50800" y="330200"/>
                </a:lnTo>
                <a:lnTo>
                  <a:pt x="50800" y="165100"/>
                </a:lnTo>
                <a:lnTo>
                  <a:pt x="25400" y="165100"/>
                </a:lnTo>
                <a:cubicBezTo>
                  <a:pt x="14129" y="165100"/>
                  <a:pt x="4207" y="157639"/>
                  <a:pt x="1032" y="146844"/>
                </a:cubicBezTo>
                <a:cubicBezTo>
                  <a:pt x="-2143" y="136049"/>
                  <a:pt x="2223" y="124381"/>
                  <a:pt x="11668" y="118348"/>
                </a:cubicBezTo>
                <a:lnTo>
                  <a:pt x="189468" y="4048"/>
                </a:lnTo>
                <a:close/>
                <a:moveTo>
                  <a:pt x="266700" y="165100"/>
                </a:moveTo>
                <a:lnTo>
                  <a:pt x="266700" y="330200"/>
                </a:lnTo>
                <a:lnTo>
                  <a:pt x="317500" y="330200"/>
                </a:lnTo>
                <a:lnTo>
                  <a:pt x="317500" y="165100"/>
                </a:lnTo>
                <a:lnTo>
                  <a:pt x="266700" y="165100"/>
                </a:lnTo>
                <a:close/>
                <a:moveTo>
                  <a:pt x="177800" y="330200"/>
                </a:moveTo>
                <a:lnTo>
                  <a:pt x="228600" y="330200"/>
                </a:lnTo>
                <a:lnTo>
                  <a:pt x="228600" y="165100"/>
                </a:lnTo>
                <a:lnTo>
                  <a:pt x="177800" y="165100"/>
                </a:lnTo>
                <a:lnTo>
                  <a:pt x="177800" y="330200"/>
                </a:lnTo>
                <a:close/>
                <a:moveTo>
                  <a:pt x="88900" y="165100"/>
                </a:moveTo>
                <a:lnTo>
                  <a:pt x="88900" y="330200"/>
                </a:lnTo>
                <a:lnTo>
                  <a:pt x="139700" y="330200"/>
                </a:lnTo>
                <a:lnTo>
                  <a:pt x="139700" y="165100"/>
                </a:lnTo>
                <a:lnTo>
                  <a:pt x="88900" y="165100"/>
                </a:lnTo>
                <a:close/>
              </a:path>
            </a:pathLst>
          </a:custGeom>
          <a:solidFill>
            <a:srgbClr val="5C8B3A"/>
          </a:solidFill>
          <a:ln/>
        </p:spPr>
      </p:sp>
      <p:sp>
        <p:nvSpPr>
          <p:cNvPr id="18" name="Text 16"/>
          <p:cNvSpPr/>
          <p:nvPr/>
        </p:nvSpPr>
        <p:spPr>
          <a:xfrm>
            <a:off x="1625600" y="527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 &amp; Public 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5778500"/>
            <a:ext cx="1409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E-government services, online tax filing, bill payments, public information portals, and emergency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Using the Internet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635000" cy="1460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97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CONNECTIVITY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7500" y="1879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with anyone, anywhere in the world, at any time — breaking down geographical barriers.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1397000"/>
            <a:ext cx="736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0" y="1397000"/>
            <a:ext cx="635000" cy="1460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0" y="1397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535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53500" y="1879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Vast amounts of information at your fingertips — search engines, digital libraries, and online databases.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048000"/>
            <a:ext cx="7112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3048000"/>
            <a:ext cx="635000" cy="1460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048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7500" y="3149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SPEED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87500" y="3530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messaging, real-time collaboration, and video conferencing enable immediate communication.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3048000"/>
            <a:ext cx="736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0" y="3048000"/>
            <a:ext cx="635000" cy="1460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3048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53500" y="3149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53500" y="3530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online courses, educational resources, and virtual classrooms from anywhere in the world.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699000"/>
            <a:ext cx="7112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4699000"/>
            <a:ext cx="635000" cy="1460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699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87500" y="4800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GROWTH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87500" y="51816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marketing, e-commerce platforms, and global customer reach drive business expansion.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0" y="4699000"/>
            <a:ext cx="736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8000" y="4699000"/>
            <a:ext cx="635000" cy="1460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32" name="Text 30"/>
          <p:cNvSpPr/>
          <p:nvPr/>
        </p:nvSpPr>
        <p:spPr>
          <a:xfrm>
            <a:off x="8128000" y="4699000"/>
            <a:ext cx="635000" cy="146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53500" y="4800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CONVENIENCE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53500" y="5181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Banking, shopping, bill payments, and government services from the comfort of your home.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Disadvantages of Using the Internet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4699000" cy="6350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65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SECURITY RISKS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3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 threats, hacking, phishing attacks, and data breaches put personal and organizational data at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397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397000"/>
            <a:ext cx="4699000" cy="6350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1225" y="165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8765" y="-11112"/>
                </a:moveTo>
                <a:cubicBezTo>
                  <a:pt x="93484" y="-11112"/>
                  <a:pt x="78621" y="29379"/>
                  <a:pt x="71328" y="66675"/>
                </a:cubicBezTo>
                <a:lnTo>
                  <a:pt x="50006" y="66675"/>
                </a:lnTo>
                <a:cubicBezTo>
                  <a:pt x="40769" y="66675"/>
                  <a:pt x="33337" y="74106"/>
                  <a:pt x="33337" y="83344"/>
                </a:cubicBezTo>
                <a:cubicBezTo>
                  <a:pt x="33337" y="92581"/>
                  <a:pt x="40769" y="100013"/>
                  <a:pt x="50006" y="100013"/>
                </a:cubicBezTo>
                <a:lnTo>
                  <a:pt x="66675" y="100013"/>
                </a:lnTo>
                <a:lnTo>
                  <a:pt x="66675" y="122238"/>
                </a:lnTo>
                <a:cubicBezTo>
                  <a:pt x="66675" y="134045"/>
                  <a:pt x="68967" y="145296"/>
                  <a:pt x="73134" y="155575"/>
                </a:cubicBezTo>
                <a:lnTo>
                  <a:pt x="66675" y="155575"/>
                </a:lnTo>
                <a:lnTo>
                  <a:pt x="66675" y="155575"/>
                </a:lnTo>
                <a:lnTo>
                  <a:pt x="52437" y="155575"/>
                </a:lnTo>
                <a:cubicBezTo>
                  <a:pt x="41880" y="155575"/>
                  <a:pt x="33337" y="164118"/>
                  <a:pt x="33337" y="174675"/>
                </a:cubicBezTo>
                <a:cubicBezTo>
                  <a:pt x="33337" y="176758"/>
                  <a:pt x="33685" y="178772"/>
                  <a:pt x="34310" y="180717"/>
                </a:cubicBezTo>
                <a:lnTo>
                  <a:pt x="54382" y="240863"/>
                </a:lnTo>
                <a:cubicBezTo>
                  <a:pt x="27920" y="263644"/>
                  <a:pt x="11112" y="297329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97329"/>
                  <a:pt x="283230" y="263644"/>
                  <a:pt x="256768" y="240933"/>
                </a:cubicBezTo>
                <a:lnTo>
                  <a:pt x="276840" y="180786"/>
                </a:lnTo>
                <a:cubicBezTo>
                  <a:pt x="277465" y="178842"/>
                  <a:pt x="277812" y="176828"/>
                  <a:pt x="277812" y="174744"/>
                </a:cubicBezTo>
                <a:cubicBezTo>
                  <a:pt x="277812" y="164187"/>
                  <a:pt x="269270" y="155644"/>
                  <a:pt x="258713" y="155644"/>
                </a:cubicBezTo>
                <a:lnTo>
                  <a:pt x="244475" y="155644"/>
                </a:lnTo>
                <a:lnTo>
                  <a:pt x="244475" y="155644"/>
                </a:lnTo>
                <a:lnTo>
                  <a:pt x="238016" y="155644"/>
                </a:lnTo>
                <a:cubicBezTo>
                  <a:pt x="242183" y="145365"/>
                  <a:pt x="244475" y="134114"/>
                  <a:pt x="244475" y="122307"/>
                </a:cubicBezTo>
                <a:lnTo>
                  <a:pt x="244475" y="100082"/>
                </a:lnTo>
                <a:lnTo>
                  <a:pt x="261144" y="100082"/>
                </a:lnTo>
                <a:cubicBezTo>
                  <a:pt x="270381" y="100082"/>
                  <a:pt x="277812" y="92650"/>
                  <a:pt x="277812" y="83413"/>
                </a:cubicBezTo>
                <a:cubicBezTo>
                  <a:pt x="277812" y="74176"/>
                  <a:pt x="270381" y="66744"/>
                  <a:pt x="261144" y="66744"/>
                </a:cubicBezTo>
                <a:lnTo>
                  <a:pt x="239822" y="66744"/>
                </a:lnTo>
                <a:cubicBezTo>
                  <a:pt x="232599" y="29448"/>
                  <a:pt x="217666" y="-11043"/>
                  <a:pt x="192385" y="-11043"/>
                </a:cubicBezTo>
                <a:cubicBezTo>
                  <a:pt x="185718" y="-11043"/>
                  <a:pt x="179189" y="-8334"/>
                  <a:pt x="173286" y="-5348"/>
                </a:cubicBezTo>
                <a:cubicBezTo>
                  <a:pt x="167590" y="-2500"/>
                  <a:pt x="160506" y="69"/>
                  <a:pt x="155575" y="69"/>
                </a:cubicBezTo>
                <a:cubicBezTo>
                  <a:pt x="150644" y="69"/>
                  <a:pt x="143560" y="-2500"/>
                  <a:pt x="137864" y="-5348"/>
                </a:cubicBezTo>
                <a:cubicBezTo>
                  <a:pt x="131961" y="-8404"/>
                  <a:pt x="125432" y="-11112"/>
                  <a:pt x="118765" y="-11112"/>
                </a:cubicBezTo>
                <a:close/>
                <a:moveTo>
                  <a:pt x="183842" y="325318"/>
                </a:moveTo>
                <a:lnTo>
                  <a:pt x="166618" y="276076"/>
                </a:lnTo>
                <a:lnTo>
                  <a:pt x="185995" y="253504"/>
                </a:lnTo>
                <a:cubicBezTo>
                  <a:pt x="187871" y="251281"/>
                  <a:pt x="188912" y="248503"/>
                  <a:pt x="188912" y="245586"/>
                </a:cubicBezTo>
                <a:cubicBezTo>
                  <a:pt x="188912" y="238849"/>
                  <a:pt x="183495" y="233432"/>
                  <a:pt x="176758" y="233432"/>
                </a:cubicBezTo>
                <a:lnTo>
                  <a:pt x="134392" y="233432"/>
                </a:lnTo>
                <a:cubicBezTo>
                  <a:pt x="127655" y="233432"/>
                  <a:pt x="122237" y="238849"/>
                  <a:pt x="122237" y="245586"/>
                </a:cubicBezTo>
                <a:cubicBezTo>
                  <a:pt x="122237" y="248503"/>
                  <a:pt x="123279" y="251281"/>
                  <a:pt x="125155" y="253504"/>
                </a:cubicBezTo>
                <a:lnTo>
                  <a:pt x="144532" y="276076"/>
                </a:lnTo>
                <a:lnTo>
                  <a:pt x="127308" y="325318"/>
                </a:lnTo>
                <a:lnTo>
                  <a:pt x="87719" y="200025"/>
                </a:lnTo>
                <a:lnTo>
                  <a:pt x="112514" y="200025"/>
                </a:lnTo>
                <a:cubicBezTo>
                  <a:pt x="125293" y="207109"/>
                  <a:pt x="139948" y="211138"/>
                  <a:pt x="155575" y="211138"/>
                </a:cubicBezTo>
                <a:cubicBezTo>
                  <a:pt x="171202" y="211138"/>
                  <a:pt x="185857" y="207109"/>
                  <a:pt x="198636" y="200025"/>
                </a:cubicBezTo>
                <a:lnTo>
                  <a:pt x="223431" y="200025"/>
                </a:lnTo>
                <a:lnTo>
                  <a:pt x="183842" y="325318"/>
                </a:lnTo>
                <a:close/>
                <a:moveTo>
                  <a:pt x="155575" y="177800"/>
                </a:moveTo>
                <a:cubicBezTo>
                  <a:pt x="131475" y="177800"/>
                  <a:pt x="110986" y="162451"/>
                  <a:pt x="103277" y="140990"/>
                </a:cubicBezTo>
                <a:cubicBezTo>
                  <a:pt x="107236" y="143212"/>
                  <a:pt x="111820" y="144463"/>
                  <a:pt x="116681" y="144463"/>
                </a:cubicBezTo>
                <a:lnTo>
                  <a:pt x="125293" y="144463"/>
                </a:lnTo>
                <a:cubicBezTo>
                  <a:pt x="136753" y="144463"/>
                  <a:pt x="146893" y="137100"/>
                  <a:pt x="150505" y="126266"/>
                </a:cubicBezTo>
                <a:cubicBezTo>
                  <a:pt x="152102" y="121404"/>
                  <a:pt x="158978" y="121404"/>
                  <a:pt x="160576" y="126266"/>
                </a:cubicBezTo>
                <a:cubicBezTo>
                  <a:pt x="164187" y="137100"/>
                  <a:pt x="174397" y="144463"/>
                  <a:pt x="185787" y="144463"/>
                </a:cubicBezTo>
                <a:lnTo>
                  <a:pt x="194399" y="144463"/>
                </a:lnTo>
                <a:cubicBezTo>
                  <a:pt x="199261" y="144463"/>
                  <a:pt x="203845" y="143212"/>
                  <a:pt x="207804" y="140990"/>
                </a:cubicBezTo>
                <a:cubicBezTo>
                  <a:pt x="200094" y="162451"/>
                  <a:pt x="179606" y="177800"/>
                  <a:pt x="155506" y="177800"/>
                </a:cubicBez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165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CONCERNS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13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data collection, tracking, and surveillance by companies and governments raise privacy issues.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397000"/>
            <a:ext cx="482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1397000"/>
            <a:ext cx="4826000" cy="6350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22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046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21336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 of fake news, unverified content, and clickbait makes it hard to distinguish fact from fiction.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699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4699000"/>
            <a:ext cx="4699000" cy="63500"/>
          </a:xfrm>
          <a:prstGeom prst="rect">
            <a:avLst/>
          </a:prstGeom>
          <a:solidFill>
            <a:srgbClr val="8B5C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442" y="22225"/>
                </a:moveTo>
                <a:cubicBezTo>
                  <a:pt x="104458" y="22225"/>
                  <a:pt x="116195" y="24586"/>
                  <a:pt x="127099" y="28962"/>
                </a:cubicBezTo>
                <a:lnTo>
                  <a:pt x="165160" y="88136"/>
                </a:lnTo>
                <a:lnTo>
                  <a:pt x="112792" y="140504"/>
                </a:lnTo>
                <a:cubicBezTo>
                  <a:pt x="111750" y="141545"/>
                  <a:pt x="111125" y="143004"/>
                  <a:pt x="111194" y="144532"/>
                </a:cubicBezTo>
                <a:cubicBezTo>
                  <a:pt x="111264" y="146060"/>
                  <a:pt x="111889" y="147449"/>
                  <a:pt x="113000" y="148491"/>
                </a:cubicBezTo>
                <a:lnTo>
                  <a:pt x="190788" y="220722"/>
                </a:lnTo>
                <a:cubicBezTo>
                  <a:pt x="192802" y="222597"/>
                  <a:pt x="195927" y="222736"/>
                  <a:pt x="198080" y="220930"/>
                </a:cubicBezTo>
                <a:cubicBezTo>
                  <a:pt x="200233" y="219125"/>
                  <a:pt x="200720" y="216069"/>
                  <a:pt x="199261" y="213707"/>
                </a:cubicBezTo>
                <a:lnTo>
                  <a:pt x="157311" y="145574"/>
                </a:lnTo>
                <a:lnTo>
                  <a:pt x="220305" y="93067"/>
                </a:lnTo>
                <a:cubicBezTo>
                  <a:pt x="222111" y="91609"/>
                  <a:pt x="222736" y="89108"/>
                  <a:pt x="221972" y="86955"/>
                </a:cubicBezTo>
                <a:lnTo>
                  <a:pt x="205859" y="42089"/>
                </a:lnTo>
                <a:cubicBezTo>
                  <a:pt x="221972" y="29379"/>
                  <a:pt x="242114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lose/>
              </a:path>
            </a:pathLst>
          </a:custGeom>
          <a:solidFill>
            <a:srgbClr val="8B5C3A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" y="4953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ADDICTION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5435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use leads to decreased productivity, mental health issues, and reduced physical activity.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699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4699000"/>
            <a:ext cx="4699000" cy="63500"/>
          </a:xfrm>
          <a:prstGeom prst="rect">
            <a:avLst/>
          </a:prstGeom>
          <a:solidFill>
            <a:srgbClr val="8B5C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69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22225" y="19917"/>
                  <a:pt x="42142" y="0"/>
                  <a:pt x="66675" y="0"/>
                </a:cubicBezTo>
                <a:cubicBezTo>
                  <a:pt x="91208" y="0"/>
                  <a:pt x="111125" y="19917"/>
                  <a:pt x="111125" y="44450"/>
                </a:cubicBezTo>
                <a:cubicBezTo>
                  <a:pt x="111125" y="68983"/>
                  <a:pt x="91208" y="88900"/>
                  <a:pt x="66675" y="88900"/>
                </a:cubicBezTo>
                <a:cubicBezTo>
                  <a:pt x="42142" y="88900"/>
                  <a:pt x="22225" y="68983"/>
                  <a:pt x="22225" y="44450"/>
                </a:cubicBezTo>
                <a:close/>
                <a:moveTo>
                  <a:pt x="0" y="155575"/>
                </a:moveTo>
                <a:cubicBezTo>
                  <a:pt x="0" y="131058"/>
                  <a:pt x="19933" y="111125"/>
                  <a:pt x="44450" y="111125"/>
                </a:cubicBezTo>
                <a:lnTo>
                  <a:pt x="88900" y="111125"/>
                </a:lnTo>
                <a:cubicBezTo>
                  <a:pt x="91122" y="111125"/>
                  <a:pt x="93345" y="111264"/>
                  <a:pt x="95498" y="111611"/>
                </a:cubicBezTo>
                <a:lnTo>
                  <a:pt x="64661" y="142448"/>
                </a:lnTo>
                <a:cubicBezTo>
                  <a:pt x="45145" y="161965"/>
                  <a:pt x="45145" y="193635"/>
                  <a:pt x="64661" y="213152"/>
                </a:cubicBezTo>
                <a:lnTo>
                  <a:pt x="103555" y="252045"/>
                </a:lnTo>
                <a:cubicBezTo>
                  <a:pt x="105916" y="254407"/>
                  <a:pt x="108416" y="256490"/>
                  <a:pt x="111125" y="258296"/>
                </a:cubicBezTo>
                <a:lnTo>
                  <a:pt x="111125" y="322263"/>
                </a:lnTo>
                <a:cubicBezTo>
                  <a:pt x="111125" y="340668"/>
                  <a:pt x="96193" y="355600"/>
                  <a:pt x="77788" y="355600"/>
                </a:cubicBezTo>
                <a:lnTo>
                  <a:pt x="55563" y="355600"/>
                </a:lnTo>
                <a:cubicBezTo>
                  <a:pt x="37157" y="355600"/>
                  <a:pt x="22225" y="340668"/>
                  <a:pt x="22225" y="322263"/>
                </a:cubicBezTo>
                <a:lnTo>
                  <a:pt x="22225" y="238502"/>
                </a:lnTo>
                <a:cubicBezTo>
                  <a:pt x="8959" y="230862"/>
                  <a:pt x="0" y="216485"/>
                  <a:pt x="0" y="200025"/>
                </a:cubicBezTo>
                <a:lnTo>
                  <a:pt x="0" y="155575"/>
                </a:lnTo>
                <a:close/>
                <a:moveTo>
                  <a:pt x="244475" y="44450"/>
                </a:moveTo>
                <a:cubicBezTo>
                  <a:pt x="244475" y="19917"/>
                  <a:pt x="264392" y="0"/>
                  <a:pt x="288925" y="0"/>
                </a:cubicBezTo>
                <a:cubicBezTo>
                  <a:pt x="313458" y="0"/>
                  <a:pt x="333375" y="19917"/>
                  <a:pt x="333375" y="44450"/>
                </a:cubicBezTo>
                <a:cubicBezTo>
                  <a:pt x="333375" y="68983"/>
                  <a:pt x="313458" y="88900"/>
                  <a:pt x="288925" y="88900"/>
                </a:cubicBezTo>
                <a:cubicBezTo>
                  <a:pt x="264392" y="88900"/>
                  <a:pt x="244475" y="68983"/>
                  <a:pt x="244475" y="44450"/>
                </a:cubicBezTo>
                <a:close/>
                <a:moveTo>
                  <a:pt x="290939" y="142448"/>
                </a:moveTo>
                <a:lnTo>
                  <a:pt x="260102" y="111611"/>
                </a:lnTo>
                <a:cubicBezTo>
                  <a:pt x="262255" y="111264"/>
                  <a:pt x="264478" y="111125"/>
                  <a:pt x="266700" y="111125"/>
                </a:cubicBezTo>
                <a:lnTo>
                  <a:pt x="311150" y="111125"/>
                </a:lnTo>
                <a:cubicBezTo>
                  <a:pt x="335667" y="111125"/>
                  <a:pt x="355600" y="131058"/>
                  <a:pt x="355600" y="155575"/>
                </a:cubicBezTo>
                <a:lnTo>
                  <a:pt x="355600" y="200025"/>
                </a:lnTo>
                <a:cubicBezTo>
                  <a:pt x="355600" y="216485"/>
                  <a:pt x="346641" y="230862"/>
                  <a:pt x="333375" y="238502"/>
                </a:cubicBezTo>
                <a:lnTo>
                  <a:pt x="333375" y="322263"/>
                </a:lnTo>
                <a:cubicBezTo>
                  <a:pt x="333375" y="340668"/>
                  <a:pt x="318443" y="355600"/>
                  <a:pt x="300038" y="355600"/>
                </a:cubicBezTo>
                <a:lnTo>
                  <a:pt x="277813" y="355600"/>
                </a:lnTo>
                <a:cubicBezTo>
                  <a:pt x="259407" y="355600"/>
                  <a:pt x="244475" y="340668"/>
                  <a:pt x="244475" y="322263"/>
                </a:cubicBezTo>
                <a:lnTo>
                  <a:pt x="244475" y="258296"/>
                </a:lnTo>
                <a:cubicBezTo>
                  <a:pt x="247184" y="256490"/>
                  <a:pt x="249684" y="254407"/>
                  <a:pt x="252045" y="252045"/>
                </a:cubicBezTo>
                <a:lnTo>
                  <a:pt x="290939" y="213152"/>
                </a:lnTo>
                <a:cubicBezTo>
                  <a:pt x="310455" y="193635"/>
                  <a:pt x="310455" y="161965"/>
                  <a:pt x="290939" y="142448"/>
                </a:cubicBezTo>
                <a:close/>
                <a:moveTo>
                  <a:pt x="210304" y="123488"/>
                </a:moveTo>
                <a:cubicBezTo>
                  <a:pt x="216555" y="120918"/>
                  <a:pt x="223709" y="122307"/>
                  <a:pt x="228501" y="127099"/>
                </a:cubicBezTo>
                <a:lnTo>
                  <a:pt x="267395" y="165993"/>
                </a:lnTo>
                <a:cubicBezTo>
                  <a:pt x="273923" y="172522"/>
                  <a:pt x="273923" y="183078"/>
                  <a:pt x="267395" y="189538"/>
                </a:cubicBezTo>
                <a:lnTo>
                  <a:pt x="228501" y="228431"/>
                </a:lnTo>
                <a:cubicBezTo>
                  <a:pt x="223709" y="233224"/>
                  <a:pt x="216555" y="234613"/>
                  <a:pt x="210304" y="232043"/>
                </a:cubicBezTo>
                <a:cubicBezTo>
                  <a:pt x="204053" y="229473"/>
                  <a:pt x="200025" y="223431"/>
                  <a:pt x="200025" y="216694"/>
                </a:cubicBezTo>
                <a:lnTo>
                  <a:pt x="200025" y="200025"/>
                </a:lnTo>
                <a:lnTo>
                  <a:pt x="155575" y="200025"/>
                </a:lnTo>
                <a:lnTo>
                  <a:pt x="155575" y="216694"/>
                </a:lnTo>
                <a:cubicBezTo>
                  <a:pt x="155575" y="223431"/>
                  <a:pt x="151547" y="229543"/>
                  <a:pt x="145296" y="232112"/>
                </a:cubicBezTo>
                <a:cubicBezTo>
                  <a:pt x="139045" y="234682"/>
                  <a:pt x="131891" y="233293"/>
                  <a:pt x="127099" y="228501"/>
                </a:cubicBezTo>
                <a:lnTo>
                  <a:pt x="88205" y="189607"/>
                </a:lnTo>
                <a:cubicBezTo>
                  <a:pt x="81677" y="183078"/>
                  <a:pt x="81677" y="172522"/>
                  <a:pt x="88205" y="166062"/>
                </a:cubicBezTo>
                <a:lnTo>
                  <a:pt x="127099" y="127169"/>
                </a:lnTo>
                <a:cubicBezTo>
                  <a:pt x="131891" y="122376"/>
                  <a:pt x="139045" y="120987"/>
                  <a:pt x="145296" y="123557"/>
                </a:cubicBezTo>
                <a:cubicBezTo>
                  <a:pt x="151547" y="126127"/>
                  <a:pt x="155575" y="132169"/>
                  <a:pt x="155575" y="138906"/>
                </a:cubicBezTo>
                <a:lnTo>
                  <a:pt x="155575" y="155575"/>
                </a:lnTo>
                <a:lnTo>
                  <a:pt x="200025" y="155575"/>
                </a:lnTo>
                <a:lnTo>
                  <a:pt x="200025" y="138906"/>
                </a:lnTo>
                <a:cubicBezTo>
                  <a:pt x="200025" y="132169"/>
                  <a:pt x="204053" y="126057"/>
                  <a:pt x="210304" y="123488"/>
                </a:cubicBezTo>
                <a:close/>
              </a:path>
            </a:pathLst>
          </a:custGeom>
          <a:solidFill>
            <a:srgbClr val="8B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51600" y="4953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ISOLATION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5435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face-to-face interactions and weakened personal relationships due to excessive screen time.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4699000"/>
            <a:ext cx="482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8000" y="4699000"/>
            <a:ext cx="4826000" cy="63500"/>
          </a:xfrm>
          <a:prstGeom prst="rect">
            <a:avLst/>
          </a:prstGeom>
          <a:solidFill>
            <a:srgbClr val="8B5C3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22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42448" y="213152"/>
                </a:moveTo>
                <a:cubicBezTo>
                  <a:pt x="161965" y="232668"/>
                  <a:pt x="193635" y="232668"/>
                  <a:pt x="213152" y="213152"/>
                </a:cubicBezTo>
                <a:cubicBezTo>
                  <a:pt x="219680" y="206623"/>
                  <a:pt x="230237" y="206623"/>
                  <a:pt x="236696" y="213152"/>
                </a:cubicBezTo>
                <a:cubicBezTo>
                  <a:pt x="243155" y="219680"/>
                  <a:pt x="243225" y="230237"/>
                  <a:pt x="236696" y="236696"/>
                </a:cubicBezTo>
                <a:cubicBezTo>
                  <a:pt x="204123" y="269270"/>
                  <a:pt x="151408" y="269270"/>
                  <a:pt x="118834" y="236696"/>
                </a:cubicBezTo>
                <a:cubicBezTo>
                  <a:pt x="86261" y="204123"/>
                  <a:pt x="86261" y="151408"/>
                  <a:pt x="118834" y="118834"/>
                </a:cubicBezTo>
                <a:cubicBezTo>
                  <a:pt x="151408" y="86261"/>
                  <a:pt x="204123" y="86261"/>
                  <a:pt x="236696" y="118834"/>
                </a:cubicBezTo>
                <a:cubicBezTo>
                  <a:pt x="243225" y="125363"/>
                  <a:pt x="243225" y="135920"/>
                  <a:pt x="236696" y="142379"/>
                </a:cubicBezTo>
                <a:cubicBezTo>
                  <a:pt x="230168" y="148838"/>
                  <a:pt x="219611" y="148907"/>
                  <a:pt x="213152" y="142379"/>
                </a:cubicBezTo>
                <a:cubicBezTo>
                  <a:pt x="193635" y="122863"/>
                  <a:pt x="161965" y="122863"/>
                  <a:pt x="142448" y="142379"/>
                </a:cubicBezTo>
                <a:cubicBezTo>
                  <a:pt x="122932" y="161895"/>
                  <a:pt x="122932" y="193566"/>
                  <a:pt x="142448" y="213082"/>
                </a:cubicBezTo>
                <a:close/>
              </a:path>
            </a:pathLst>
          </a:custGeom>
          <a:solidFill>
            <a:srgbClr val="8B5C3A"/>
          </a:solidFill>
          <a:ln/>
        </p:spPr>
      </p:sp>
      <p:sp>
        <p:nvSpPr>
          <p:cNvPr id="33" name="Text 31"/>
          <p:cNvSpPr/>
          <p:nvPr/>
        </p:nvSpPr>
        <p:spPr>
          <a:xfrm>
            <a:off x="11404600" y="495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COPYRIGHT ISSUES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22000" y="54356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Plagiarism, intellectual property violations, and unauthorized distribution of digital content.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55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OF LECTURE 11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05000" y="154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1863" y="208359"/>
                </a:moveTo>
                <a:lnTo>
                  <a:pt x="119807" y="208359"/>
                </a:lnTo>
                <a:cubicBezTo>
                  <a:pt x="121965" y="256356"/>
                  <a:pt x="132606" y="300558"/>
                  <a:pt x="147712" y="332929"/>
                </a:cubicBezTo>
                <a:cubicBezTo>
                  <a:pt x="156195" y="351160"/>
                  <a:pt x="165348" y="364034"/>
                  <a:pt x="173831" y="371921"/>
                </a:cubicBezTo>
                <a:cubicBezTo>
                  <a:pt x="182166" y="379735"/>
                  <a:pt x="187896" y="381000"/>
                  <a:pt x="190872" y="381000"/>
                </a:cubicBezTo>
                <a:cubicBezTo>
                  <a:pt x="193849" y="381000"/>
                  <a:pt x="199579" y="379735"/>
                  <a:pt x="207913" y="371921"/>
                </a:cubicBezTo>
                <a:cubicBezTo>
                  <a:pt x="216396" y="364034"/>
                  <a:pt x="225549" y="351086"/>
                  <a:pt x="234032" y="332929"/>
                </a:cubicBezTo>
                <a:cubicBezTo>
                  <a:pt x="249138" y="300558"/>
                  <a:pt x="259779" y="256356"/>
                  <a:pt x="261937" y="208359"/>
                </a:cubicBezTo>
                <a:close/>
                <a:moveTo>
                  <a:pt x="119732" y="172641"/>
                </a:moveTo>
                <a:lnTo>
                  <a:pt x="261789" y="172641"/>
                </a:lnTo>
                <a:cubicBezTo>
                  <a:pt x="259705" y="124644"/>
                  <a:pt x="249064" y="80442"/>
                  <a:pt x="233958" y="48071"/>
                </a:cubicBezTo>
                <a:cubicBezTo>
                  <a:pt x="225475" y="29914"/>
                  <a:pt x="216322" y="16966"/>
                  <a:pt x="207838" y="9079"/>
                </a:cubicBezTo>
                <a:cubicBezTo>
                  <a:pt x="199504" y="1265"/>
                  <a:pt x="193774" y="0"/>
                  <a:pt x="190798" y="0"/>
                </a:cubicBezTo>
                <a:cubicBezTo>
                  <a:pt x="187821" y="0"/>
                  <a:pt x="182091" y="1265"/>
                  <a:pt x="173757" y="9079"/>
                </a:cubicBezTo>
                <a:cubicBezTo>
                  <a:pt x="165274" y="16966"/>
                  <a:pt x="156121" y="29914"/>
                  <a:pt x="147637" y="48071"/>
                </a:cubicBezTo>
                <a:cubicBezTo>
                  <a:pt x="132531" y="80442"/>
                  <a:pt x="121890" y="124644"/>
                  <a:pt x="119732" y="172641"/>
                </a:cubicBezTo>
                <a:close/>
                <a:moveTo>
                  <a:pt x="84013" y="172641"/>
                </a:moveTo>
                <a:cubicBezTo>
                  <a:pt x="86618" y="108942"/>
                  <a:pt x="103063" y="49783"/>
                  <a:pt x="127099" y="10939"/>
                </a:cubicBezTo>
                <a:cubicBezTo>
                  <a:pt x="58564" y="35198"/>
                  <a:pt x="8111" y="97631"/>
                  <a:pt x="1116" y="172641"/>
                </a:cubicBezTo>
                <a:lnTo>
                  <a:pt x="84013" y="172641"/>
                </a:lnTo>
                <a:close/>
                <a:moveTo>
                  <a:pt x="1116" y="208359"/>
                </a:moveTo>
                <a:cubicBezTo>
                  <a:pt x="8111" y="283369"/>
                  <a:pt x="58564" y="345802"/>
                  <a:pt x="127099" y="370061"/>
                </a:cubicBezTo>
                <a:cubicBezTo>
                  <a:pt x="103063" y="331217"/>
                  <a:pt x="86618" y="272058"/>
                  <a:pt x="84013" y="208359"/>
                </a:cubicBezTo>
                <a:lnTo>
                  <a:pt x="1116" y="208359"/>
                </a:lnTo>
                <a:close/>
                <a:moveTo>
                  <a:pt x="297582" y="208359"/>
                </a:moveTo>
                <a:cubicBezTo>
                  <a:pt x="294977" y="272058"/>
                  <a:pt x="278532" y="331217"/>
                  <a:pt x="254496" y="370061"/>
                </a:cubicBezTo>
                <a:cubicBezTo>
                  <a:pt x="323031" y="345728"/>
                  <a:pt x="373484" y="283369"/>
                  <a:pt x="380479" y="208359"/>
                </a:cubicBezTo>
                <a:lnTo>
                  <a:pt x="297582" y="208359"/>
                </a:lnTo>
                <a:close/>
                <a:moveTo>
                  <a:pt x="380479" y="172641"/>
                </a:moveTo>
                <a:cubicBezTo>
                  <a:pt x="373484" y="97631"/>
                  <a:pt x="323031" y="35198"/>
                  <a:pt x="254496" y="10939"/>
                </a:cubicBezTo>
                <a:cubicBezTo>
                  <a:pt x="278532" y="49783"/>
                  <a:pt x="294977" y="108942"/>
                  <a:pt x="297582" y="172641"/>
                </a:cubicBezTo>
                <a:lnTo>
                  <a:pt x="380479" y="172641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413000"/>
            <a:ext cx="101600" cy="101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2311400"/>
            <a:ext cx="138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 is a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global, public, decentralized network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TCP/IP protocols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2984500"/>
            <a:ext cx="101600" cy="101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2882900"/>
            <a:ext cx="138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serves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communication, information, commerce, entertainment, and education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3556000"/>
            <a:ext cx="101600" cy="101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3454400"/>
            <a:ext cx="138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 include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connectivity, speed, access to information, and convenience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4127500"/>
            <a:ext cx="101600" cy="101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0" y="4025900"/>
            <a:ext cx="138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Disadvantages include </a:t>
            </a:r>
            <a:pPr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risks, privacy concerns, addiction, and misinformation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4699000"/>
            <a:ext cx="101600" cy="101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4597400"/>
            <a:ext cx="138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Responsible use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awareness of both benefits and risks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" y="5270500"/>
            <a:ext cx="13716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" y="5524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Internet is a powerful tool that offers incredible benefits, but it must be used responsibly to avoid its negative impacts. A balanced approach can help maximise its advantages while minimising its drawbacks."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vrsy7bmeefno/mnt/agents/output/ict-week6/images/3_Modern_Data_Center_Server_Room_Blue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2E">
                  <a:alpha val="91000"/>
                </a:srgbClr>
              </a:gs>
              <a:gs pos="50000">
                <a:srgbClr val="0F1D2E">
                  <a:alpha val="80000"/>
                </a:srgbClr>
              </a:gs>
              <a:gs pos="100000">
                <a:srgbClr val="0F1D2E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1778000"/>
            <a:ext cx="762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8000" y="355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4064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NETWORKS &amp; WEB PROTOCOLS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207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vs Intranet vs Extranet, Web Services &amp; Key Protocols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Internet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3820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787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(capital "I") refers to the specific global network of interconnected networks using TCP/IP —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highway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anyone can access.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9463" y="355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168400" y="35306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network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open to all with a connection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9463" y="4038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" y="40132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network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billions of connected devices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9463" y="45212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" y="44958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owner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regulated by one entity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463" y="50038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49784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Anonymous access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account required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9463" y="54864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68400" y="5461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websites, e-commerce, cloud services</a:t>
            </a:r>
            <a:endParaRPr lang="en-US" sz="1600" dirty="0"/>
          </a:p>
        </p:txBody>
      </p:sp>
      <p:pic>
        <p:nvPicPr>
          <p:cNvPr id="18" name="Image 0" descr="https://kimi-img.moonshot.cn/pub/slides/okc/nvrsy7bmeefno/mnt/agents/output/ict-week6/images/1_Global_internet_network_technology.png">    </p:cNvPr>
          <p:cNvPicPr>
            <a:picLocks noChangeAspect="1"/>
          </p:cNvPicPr>
          <p:nvPr/>
        </p:nvPicPr>
        <p:blipFill>
          <a:blip r:embed="rId1"/>
          <a:srcRect l="9681" r="9681" t="0" b="0"/>
          <a:stretch/>
        </p:blipFill>
        <p:spPr>
          <a:xfrm>
            <a:off x="9652000" y="1397000"/>
            <a:ext cx="5842000" cy="4826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Intranet?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3820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787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Intranet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network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for internal use within an organization — like a "private company road" for employees only.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9463" y="355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168400" y="35306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technologies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TCP/IP, HTTP, web browsers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9463" y="4254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" y="42291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Restricted access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only authorized employees can use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94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" y="49276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by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organizational security policies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463" y="5651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56261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communication, HR, collaboration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77000"/>
            <a:ext cx="8382000" cy="635000"/>
          </a:xfrm>
          <a:prstGeom prst="rect">
            <a:avLst/>
          </a:prstGeom>
          <a:solidFill>
            <a:srgbClr val="1B3A5C">
              <a:alpha val="8235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540500"/>
            <a:ext cx="787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company's internal portal for news, policies, and team collaboration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2000" y="1397000"/>
            <a:ext cx="584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3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INTRANET STRUCTURE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2413000"/>
            <a:ext cx="2794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0" y="2413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573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1049000" y="3556000"/>
            <a:ext cx="3048000" cy="635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0" y="3556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573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795000" y="4699000"/>
            <a:ext cx="3556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95000" y="4699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Authorized Employees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Access Only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382500" y="5969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Extranet?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83820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787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extension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an Intranet that allows external stakeholders to access certain internal resources — a "gated community."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9463" y="355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168400" y="35306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partners, suppliers, vendors, and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9463" y="4254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" y="42291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(username/password) and 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94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" y="49276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Bridges the gap between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Intranet and Internet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463" y="5651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5626100"/>
            <a:ext cx="787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collaboration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supply chain, joint projects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77000"/>
            <a:ext cx="8382000" cy="635000"/>
          </a:xfrm>
          <a:prstGeom prst="rect">
            <a:avLst/>
          </a:prstGeom>
          <a:solidFill>
            <a:srgbClr val="1B3A5C">
              <a:alpha val="8235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540500"/>
            <a:ext cx="787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Dell and Intel collaborating through a secure extranet for supply chain operations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2000" y="1397000"/>
            <a:ext cx="584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3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EXTRANET STRUCTURE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2413000"/>
            <a:ext cx="2794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0" y="2413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573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0922000" y="3556000"/>
            <a:ext cx="3302000" cy="635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3556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GATEWAY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573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668000" y="4699000"/>
            <a:ext cx="3810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68000" y="4699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Partners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Suppliers, Vendors, Clients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287250" y="596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95250"/>
                </a:moveTo>
                <a:cubicBezTo>
                  <a:pt x="381000" y="60226"/>
                  <a:pt x="409476" y="31750"/>
                  <a:pt x="444500" y="31750"/>
                </a:cubicBezTo>
                <a:cubicBezTo>
                  <a:pt x="479524" y="31750"/>
                  <a:pt x="508000" y="60226"/>
                  <a:pt x="508000" y="95250"/>
                </a:cubicBezTo>
                <a:lnTo>
                  <a:pt x="508000" y="127000"/>
                </a:lnTo>
                <a:cubicBezTo>
                  <a:pt x="508000" y="144562"/>
                  <a:pt x="522188" y="158750"/>
                  <a:pt x="539750" y="158750"/>
                </a:cubicBezTo>
                <a:cubicBezTo>
                  <a:pt x="557312" y="158750"/>
                  <a:pt x="571500" y="144562"/>
                  <a:pt x="571500" y="127000"/>
                </a:cubicBezTo>
                <a:lnTo>
                  <a:pt x="571500" y="95250"/>
                </a:lnTo>
                <a:cubicBezTo>
                  <a:pt x="571500" y="25102"/>
                  <a:pt x="514648" y="-31750"/>
                  <a:pt x="444500" y="-31750"/>
                </a:cubicBezTo>
                <a:cubicBezTo>
                  <a:pt x="374352" y="-31750"/>
                  <a:pt x="317500" y="25102"/>
                  <a:pt x="317500" y="95250"/>
                </a:cubicBezTo>
                <a:lnTo>
                  <a:pt x="317500" y="158750"/>
                </a:lnTo>
                <a:lnTo>
                  <a:pt x="158750" y="158750"/>
                </a:lnTo>
                <a:cubicBezTo>
                  <a:pt x="123726" y="158750"/>
                  <a:pt x="95250" y="187226"/>
                  <a:pt x="95250" y="222250"/>
                </a:cubicBezTo>
                <a:lnTo>
                  <a:pt x="95250" y="444500"/>
                </a:lnTo>
                <a:cubicBezTo>
                  <a:pt x="95250" y="479524"/>
                  <a:pt x="123726" y="508000"/>
                  <a:pt x="158750" y="508000"/>
                </a:cubicBezTo>
                <a:lnTo>
                  <a:pt x="412750" y="508000"/>
                </a:lnTo>
                <a:cubicBezTo>
                  <a:pt x="447774" y="508000"/>
                  <a:pt x="476250" y="479524"/>
                  <a:pt x="476250" y="444500"/>
                </a:cubicBezTo>
                <a:lnTo>
                  <a:pt x="476250" y="222250"/>
                </a:lnTo>
                <a:cubicBezTo>
                  <a:pt x="476250" y="187226"/>
                  <a:pt x="447774" y="158750"/>
                  <a:pt x="412750" y="158750"/>
                </a:cubicBezTo>
                <a:lnTo>
                  <a:pt x="381000" y="158750"/>
                </a:lnTo>
                <a:lnTo>
                  <a:pt x="381000" y="9525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vs Intranet vs Extranet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6096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1215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Intranet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Extranet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Accessibility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— open to 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— employees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— employees + authorized external users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public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Organization employees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Employees + partners/suppliers/clients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User-dependent; less controlled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Firewalls + access controls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Firewalls + encryption + authentication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information sharing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communication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 collaboration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Ownership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single owner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organization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or multiple organizations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06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Maintenance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ISPs and global orgs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Organization's IT team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Jointly maintained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396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Account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account needed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Username/password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Username/password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Blogs — Online Publishing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(weblog) is an online platform where individuals or organizations publish regular posts, typically in reverse chronological order.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6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84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arranged in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chronological order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2037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Typically authored by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person or a small team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622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Readers can leave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posts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0419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One-to-many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46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include text, images, video, and audio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96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350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WordPress blogs, Medium, personal travel blogs, tech review sites (TechCrunch), news blogs (HuffPost), and corporate blogs.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87000" y="2794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666750" y="71438"/>
                </a:moveTo>
                <a:cubicBezTo>
                  <a:pt x="666750" y="31849"/>
                  <a:pt x="698599" y="0"/>
                  <a:pt x="738188" y="0"/>
                </a:cubicBezTo>
                <a:cubicBezTo>
                  <a:pt x="1172170" y="0"/>
                  <a:pt x="1524000" y="351830"/>
                  <a:pt x="1524000" y="785813"/>
                </a:cubicBezTo>
                <a:cubicBezTo>
                  <a:pt x="1524000" y="825401"/>
                  <a:pt x="1492151" y="857250"/>
                  <a:pt x="1452563" y="857250"/>
                </a:cubicBezTo>
                <a:cubicBezTo>
                  <a:pt x="1412974" y="857250"/>
                  <a:pt x="1381125" y="825401"/>
                  <a:pt x="1381125" y="785813"/>
                </a:cubicBezTo>
                <a:cubicBezTo>
                  <a:pt x="1381125" y="430709"/>
                  <a:pt x="1093291" y="142875"/>
                  <a:pt x="738188" y="142875"/>
                </a:cubicBezTo>
                <a:cubicBezTo>
                  <a:pt x="698599" y="142875"/>
                  <a:pt x="666750" y="111026"/>
                  <a:pt x="666750" y="71438"/>
                </a:cubicBezTo>
                <a:close/>
                <a:moveTo>
                  <a:pt x="238125" y="285750"/>
                </a:moveTo>
                <a:cubicBezTo>
                  <a:pt x="317004" y="285750"/>
                  <a:pt x="381000" y="349746"/>
                  <a:pt x="381000" y="428625"/>
                </a:cubicBezTo>
                <a:lnTo>
                  <a:pt x="381000" y="1095375"/>
                </a:lnTo>
                <a:cubicBezTo>
                  <a:pt x="381000" y="1174254"/>
                  <a:pt x="444996" y="1238250"/>
                  <a:pt x="523875" y="1238250"/>
                </a:cubicBezTo>
                <a:cubicBezTo>
                  <a:pt x="602754" y="1238250"/>
                  <a:pt x="666750" y="1174254"/>
                  <a:pt x="666750" y="1095375"/>
                </a:cubicBezTo>
                <a:cubicBezTo>
                  <a:pt x="666750" y="1016496"/>
                  <a:pt x="602754" y="952500"/>
                  <a:pt x="523875" y="952500"/>
                </a:cubicBezTo>
                <a:cubicBezTo>
                  <a:pt x="497681" y="952500"/>
                  <a:pt x="476250" y="931069"/>
                  <a:pt x="476250" y="904875"/>
                </a:cubicBezTo>
                <a:lnTo>
                  <a:pt x="476250" y="714375"/>
                </a:lnTo>
                <a:cubicBezTo>
                  <a:pt x="476250" y="688181"/>
                  <a:pt x="497681" y="666750"/>
                  <a:pt x="523875" y="666750"/>
                </a:cubicBezTo>
                <a:cubicBezTo>
                  <a:pt x="760512" y="666750"/>
                  <a:pt x="952500" y="858738"/>
                  <a:pt x="952500" y="1095375"/>
                </a:cubicBezTo>
                <a:cubicBezTo>
                  <a:pt x="952500" y="1332012"/>
                  <a:pt x="760512" y="1524000"/>
                  <a:pt x="523875" y="1524000"/>
                </a:cubicBezTo>
                <a:cubicBezTo>
                  <a:pt x="287238" y="1524000"/>
                  <a:pt x="95250" y="1332012"/>
                  <a:pt x="95250" y="1095375"/>
                </a:cubicBezTo>
                <a:lnTo>
                  <a:pt x="95250" y="428625"/>
                </a:lnTo>
                <a:cubicBezTo>
                  <a:pt x="95250" y="349746"/>
                  <a:pt x="159246" y="285750"/>
                  <a:pt x="238125" y="285750"/>
                </a:cubicBezTo>
                <a:close/>
                <a:moveTo>
                  <a:pt x="738188" y="285750"/>
                </a:moveTo>
                <a:cubicBezTo>
                  <a:pt x="1014413" y="285750"/>
                  <a:pt x="1238250" y="509587"/>
                  <a:pt x="1238250" y="785813"/>
                </a:cubicBezTo>
                <a:cubicBezTo>
                  <a:pt x="1238250" y="825401"/>
                  <a:pt x="1206401" y="857250"/>
                  <a:pt x="1166813" y="857250"/>
                </a:cubicBezTo>
                <a:cubicBezTo>
                  <a:pt x="1127224" y="857250"/>
                  <a:pt x="1095375" y="825401"/>
                  <a:pt x="1095375" y="785813"/>
                </a:cubicBezTo>
                <a:cubicBezTo>
                  <a:pt x="1095375" y="588466"/>
                  <a:pt x="935534" y="428625"/>
                  <a:pt x="738188" y="428625"/>
                </a:cubicBezTo>
                <a:cubicBezTo>
                  <a:pt x="698599" y="428625"/>
                  <a:pt x="666750" y="396776"/>
                  <a:pt x="666750" y="357188"/>
                </a:cubicBezTo>
                <a:cubicBezTo>
                  <a:pt x="666750" y="317599"/>
                  <a:pt x="698599" y="285750"/>
                  <a:pt x="738188" y="285750"/>
                </a:cubicBezTo>
                <a:close/>
              </a:path>
            </a:pathLst>
          </a:custGeom>
          <a:solidFill>
            <a:srgbClr val="1B3A5C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4699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520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0" y="5715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author publishes content that is consumed by many readers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Forums — Online Discussion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Forum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online discussion board where users post messages and engage in conversations organized by topics and threads.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73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492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Threaded discussions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organized by topics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911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Many-to-many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3307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User-generated content driven by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interests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749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Posts flow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chronologically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original topic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1689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Attribution is key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posts lead to direct conversations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969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Reddit, Stack Overflow, Quora, specialized hobby forums, gaming communities, and support forums.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96500" y="2794000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905000" h="1524000">
                <a:moveTo>
                  <a:pt x="952500" y="47625"/>
                </a:moveTo>
                <a:cubicBezTo>
                  <a:pt x="1123352" y="47625"/>
                  <a:pt x="1262063" y="186335"/>
                  <a:pt x="1262063" y="357188"/>
                </a:cubicBezTo>
                <a:cubicBezTo>
                  <a:pt x="1262063" y="528040"/>
                  <a:pt x="1123352" y="666750"/>
                  <a:pt x="952500" y="666750"/>
                </a:cubicBezTo>
                <a:cubicBezTo>
                  <a:pt x="781648" y="666750"/>
                  <a:pt x="642938" y="528040"/>
                  <a:pt x="642938" y="357188"/>
                </a:cubicBezTo>
                <a:cubicBezTo>
                  <a:pt x="642938" y="186335"/>
                  <a:pt x="781648" y="47625"/>
                  <a:pt x="952500" y="47625"/>
                </a:cubicBezTo>
                <a:close/>
                <a:moveTo>
                  <a:pt x="285750" y="261938"/>
                </a:moveTo>
                <a:cubicBezTo>
                  <a:pt x="404032" y="261938"/>
                  <a:pt x="500063" y="357968"/>
                  <a:pt x="500063" y="476250"/>
                </a:cubicBezTo>
                <a:cubicBezTo>
                  <a:pt x="500063" y="594532"/>
                  <a:pt x="404032" y="690563"/>
                  <a:pt x="285750" y="690563"/>
                </a:cubicBezTo>
                <a:cubicBezTo>
                  <a:pt x="167468" y="690563"/>
                  <a:pt x="71438" y="594532"/>
                  <a:pt x="71438" y="476250"/>
                </a:cubicBezTo>
                <a:cubicBezTo>
                  <a:pt x="71438" y="357968"/>
                  <a:pt x="167468" y="261938"/>
                  <a:pt x="285750" y="261938"/>
                </a:cubicBezTo>
                <a:close/>
                <a:moveTo>
                  <a:pt x="0" y="1238250"/>
                </a:moveTo>
                <a:cubicBezTo>
                  <a:pt x="0" y="1027807"/>
                  <a:pt x="170557" y="857250"/>
                  <a:pt x="381000" y="857250"/>
                </a:cubicBezTo>
                <a:cubicBezTo>
                  <a:pt x="419100" y="857250"/>
                  <a:pt x="456009" y="862905"/>
                  <a:pt x="490835" y="873323"/>
                </a:cubicBezTo>
                <a:cubicBezTo>
                  <a:pt x="392906" y="982861"/>
                  <a:pt x="333375" y="1127522"/>
                  <a:pt x="333375" y="1285875"/>
                </a:cubicBezTo>
                <a:lnTo>
                  <a:pt x="333375" y="1333500"/>
                </a:lnTo>
                <a:cubicBezTo>
                  <a:pt x="333375" y="1367433"/>
                  <a:pt x="340519" y="1399580"/>
                  <a:pt x="353318" y="1428750"/>
                </a:cubicBezTo>
                <a:lnTo>
                  <a:pt x="95250" y="1428750"/>
                </a:lnTo>
                <a:cubicBezTo>
                  <a:pt x="42565" y="1428750"/>
                  <a:pt x="0" y="1386185"/>
                  <a:pt x="0" y="1333500"/>
                </a:cubicBezTo>
                <a:lnTo>
                  <a:pt x="0" y="1238250"/>
                </a:lnTo>
                <a:close/>
                <a:moveTo>
                  <a:pt x="1551682" y="1428750"/>
                </a:moveTo>
                <a:cubicBezTo>
                  <a:pt x="1564481" y="1399580"/>
                  <a:pt x="1571625" y="1367433"/>
                  <a:pt x="1571625" y="1333500"/>
                </a:cubicBezTo>
                <a:lnTo>
                  <a:pt x="1571625" y="1285875"/>
                </a:lnTo>
                <a:cubicBezTo>
                  <a:pt x="1571625" y="1127522"/>
                  <a:pt x="1512094" y="982861"/>
                  <a:pt x="1414165" y="873323"/>
                </a:cubicBezTo>
                <a:cubicBezTo>
                  <a:pt x="1448991" y="862905"/>
                  <a:pt x="1485900" y="857250"/>
                  <a:pt x="1524000" y="857250"/>
                </a:cubicBezTo>
                <a:cubicBezTo>
                  <a:pt x="1734443" y="857250"/>
                  <a:pt x="1905000" y="1027807"/>
                  <a:pt x="1905000" y="1238250"/>
                </a:cubicBezTo>
                <a:lnTo>
                  <a:pt x="1905000" y="1333500"/>
                </a:lnTo>
                <a:cubicBezTo>
                  <a:pt x="1905000" y="1386185"/>
                  <a:pt x="1862435" y="1428750"/>
                  <a:pt x="1809750" y="1428750"/>
                </a:cubicBezTo>
                <a:lnTo>
                  <a:pt x="1551682" y="1428750"/>
                </a:lnTo>
                <a:close/>
                <a:moveTo>
                  <a:pt x="1404938" y="476250"/>
                </a:moveTo>
                <a:cubicBezTo>
                  <a:pt x="1404938" y="357968"/>
                  <a:pt x="1500968" y="261938"/>
                  <a:pt x="1619250" y="261938"/>
                </a:cubicBezTo>
                <a:cubicBezTo>
                  <a:pt x="1737532" y="261938"/>
                  <a:pt x="1833563" y="357968"/>
                  <a:pt x="1833563" y="476250"/>
                </a:cubicBezTo>
                <a:cubicBezTo>
                  <a:pt x="1833563" y="594532"/>
                  <a:pt x="1737532" y="690563"/>
                  <a:pt x="1619250" y="690563"/>
                </a:cubicBezTo>
                <a:cubicBezTo>
                  <a:pt x="1500968" y="690563"/>
                  <a:pt x="1404938" y="594532"/>
                  <a:pt x="1404938" y="476250"/>
                </a:cubicBezTo>
                <a:close/>
                <a:moveTo>
                  <a:pt x="476250" y="1285875"/>
                </a:moveTo>
                <a:cubicBezTo>
                  <a:pt x="476250" y="1022747"/>
                  <a:pt x="689372" y="809625"/>
                  <a:pt x="952500" y="809625"/>
                </a:cubicBezTo>
                <a:cubicBezTo>
                  <a:pt x="1215628" y="809625"/>
                  <a:pt x="1428750" y="1022747"/>
                  <a:pt x="1428750" y="1285875"/>
                </a:cubicBezTo>
                <a:lnTo>
                  <a:pt x="1428750" y="1333500"/>
                </a:lnTo>
                <a:cubicBezTo>
                  <a:pt x="1428750" y="1386185"/>
                  <a:pt x="1386185" y="1428750"/>
                  <a:pt x="1333500" y="1428750"/>
                </a:cubicBezTo>
                <a:lnTo>
                  <a:pt x="571500" y="1428750"/>
                </a:lnTo>
                <a:cubicBezTo>
                  <a:pt x="518815" y="1428750"/>
                  <a:pt x="476250" y="1386185"/>
                  <a:pt x="476250" y="1333500"/>
                </a:cubicBezTo>
                <a:lnTo>
                  <a:pt x="476250" y="1285875"/>
                </a:lnTo>
                <a:close/>
              </a:path>
            </a:pathLst>
          </a:custGeom>
          <a:solidFill>
            <a:srgbClr val="1B3A5C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4699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520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0" y="5715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participants contribute to and shape the ongoing discussion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Wikis — Collaborative Knowledge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Wiki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collaborative website that allows multiple users to create, edit, and organize content collectively toward a shared knowledge base.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73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492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Many-to-many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and collaboration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911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represents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consensus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3307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Page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can be viewed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reverted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749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 connect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related wiki pages and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1689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the contributor, is the focus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969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Wikipedia, Confluence, Notion, Wikia/Fandom, and corporate knowledge bases.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87000" y="2794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420588"/>
                </a:moveTo>
                <a:lnTo>
                  <a:pt x="762000" y="1341239"/>
                </a:lnTo>
                <a:lnTo>
                  <a:pt x="763488" y="1340644"/>
                </a:lnTo>
                <a:cubicBezTo>
                  <a:pt x="926009" y="1273076"/>
                  <a:pt x="1100435" y="1238250"/>
                  <a:pt x="1276350" y="1238250"/>
                </a:cubicBezTo>
                <a:lnTo>
                  <a:pt x="1333500" y="1238250"/>
                </a:lnTo>
                <a:lnTo>
                  <a:pt x="1333500" y="285750"/>
                </a:lnTo>
                <a:lnTo>
                  <a:pt x="1276350" y="285750"/>
                </a:lnTo>
                <a:cubicBezTo>
                  <a:pt x="1150739" y="285750"/>
                  <a:pt x="1026021" y="310753"/>
                  <a:pt x="909935" y="358973"/>
                </a:cubicBezTo>
                <a:cubicBezTo>
                  <a:pt x="859929" y="379809"/>
                  <a:pt x="810518" y="400348"/>
                  <a:pt x="762000" y="420588"/>
                </a:cubicBezTo>
                <a:close/>
                <a:moveTo>
                  <a:pt x="687288" y="183059"/>
                </a:moveTo>
                <a:lnTo>
                  <a:pt x="762000" y="214313"/>
                </a:lnTo>
                <a:lnTo>
                  <a:pt x="836712" y="183059"/>
                </a:lnTo>
                <a:cubicBezTo>
                  <a:pt x="976015" y="125016"/>
                  <a:pt x="1125438" y="95250"/>
                  <a:pt x="1276350" y="95250"/>
                </a:cubicBezTo>
                <a:lnTo>
                  <a:pt x="1381125" y="95250"/>
                </a:lnTo>
                <a:cubicBezTo>
                  <a:pt x="1460004" y="95250"/>
                  <a:pt x="1524000" y="159246"/>
                  <a:pt x="1524000" y="238125"/>
                </a:cubicBezTo>
                <a:lnTo>
                  <a:pt x="1524000" y="1285875"/>
                </a:lnTo>
                <a:cubicBezTo>
                  <a:pt x="1524000" y="1364754"/>
                  <a:pt x="1460004" y="1428750"/>
                  <a:pt x="1381125" y="1428750"/>
                </a:cubicBezTo>
                <a:lnTo>
                  <a:pt x="1276350" y="1428750"/>
                </a:lnTo>
                <a:cubicBezTo>
                  <a:pt x="1125438" y="1428750"/>
                  <a:pt x="976015" y="1458516"/>
                  <a:pt x="836712" y="1516559"/>
                </a:cubicBezTo>
                <a:lnTo>
                  <a:pt x="798612" y="1532334"/>
                </a:lnTo>
                <a:cubicBezTo>
                  <a:pt x="775097" y="1542157"/>
                  <a:pt x="748903" y="1542157"/>
                  <a:pt x="725388" y="1532334"/>
                </a:cubicBezTo>
                <a:lnTo>
                  <a:pt x="687288" y="1516559"/>
                </a:lnTo>
                <a:cubicBezTo>
                  <a:pt x="547985" y="1458516"/>
                  <a:pt x="398562" y="1428750"/>
                  <a:pt x="247650" y="1428750"/>
                </a:cubicBezTo>
                <a:lnTo>
                  <a:pt x="142875" y="1428750"/>
                </a:lnTo>
                <a:cubicBezTo>
                  <a:pt x="63996" y="1428750"/>
                  <a:pt x="0" y="1364754"/>
                  <a:pt x="0" y="1285875"/>
                </a:cubicBezTo>
                <a:lnTo>
                  <a:pt x="0" y="238125"/>
                </a:lnTo>
                <a:cubicBezTo>
                  <a:pt x="0" y="159246"/>
                  <a:pt x="63996" y="95250"/>
                  <a:pt x="142875" y="95250"/>
                </a:cubicBezTo>
                <a:lnTo>
                  <a:pt x="247650" y="95250"/>
                </a:lnTo>
                <a:cubicBezTo>
                  <a:pt x="398562" y="95250"/>
                  <a:pt x="547985" y="125016"/>
                  <a:pt x="687288" y="183059"/>
                </a:cubicBezTo>
                <a:close/>
              </a:path>
            </a:pathLst>
          </a:custGeom>
          <a:solidFill>
            <a:srgbClr val="1B3A5C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4699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520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0" y="5715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Everyone collaborates to build and maintain collective knowledge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Networking — Connecting People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Networking Sites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platforms designed to build and maintain social relationships online through profiles, connections, and content sharing.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6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84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profiles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personal information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2037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Friend/follower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connections between users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622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sharing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posts, photos, videos, links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0419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updates and activity feeds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46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and communities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shared interests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96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350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Facebook, Instagram, Twitter/X, LinkedIn, TikTok, Snapchat, and professional networks like LinkedIn.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87000" y="2794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143000" y="571500"/>
                </a:moveTo>
                <a:cubicBezTo>
                  <a:pt x="1300758" y="571500"/>
                  <a:pt x="1428750" y="443508"/>
                  <a:pt x="1428750" y="285750"/>
                </a:cubicBezTo>
                <a:cubicBezTo>
                  <a:pt x="1428750" y="127992"/>
                  <a:pt x="1300758" y="0"/>
                  <a:pt x="1143000" y="0"/>
                </a:cubicBezTo>
                <a:cubicBezTo>
                  <a:pt x="985242" y="0"/>
                  <a:pt x="857250" y="127992"/>
                  <a:pt x="857250" y="285750"/>
                </a:cubicBezTo>
                <a:cubicBezTo>
                  <a:pt x="857250" y="301823"/>
                  <a:pt x="858738" y="317897"/>
                  <a:pt x="861120" y="333375"/>
                </a:cubicBezTo>
                <a:lnTo>
                  <a:pt x="475059" y="547985"/>
                </a:lnTo>
                <a:cubicBezTo>
                  <a:pt x="424755" y="503337"/>
                  <a:pt x="358378" y="476250"/>
                  <a:pt x="285750" y="476250"/>
                </a:cubicBezTo>
                <a:cubicBezTo>
                  <a:pt x="127992" y="476250"/>
                  <a:pt x="0" y="604242"/>
                  <a:pt x="0" y="762000"/>
                </a:cubicBezTo>
                <a:cubicBezTo>
                  <a:pt x="0" y="919758"/>
                  <a:pt x="127992" y="1047750"/>
                  <a:pt x="285750" y="1047750"/>
                </a:cubicBezTo>
                <a:cubicBezTo>
                  <a:pt x="358378" y="1047750"/>
                  <a:pt x="424458" y="1020663"/>
                  <a:pt x="475059" y="976015"/>
                </a:cubicBezTo>
                <a:lnTo>
                  <a:pt x="861120" y="1190625"/>
                </a:lnTo>
                <a:cubicBezTo>
                  <a:pt x="858441" y="1206103"/>
                  <a:pt x="857250" y="1221879"/>
                  <a:pt x="857250" y="1238250"/>
                </a:cubicBezTo>
                <a:cubicBezTo>
                  <a:pt x="857250" y="1396008"/>
                  <a:pt x="985242" y="1524000"/>
                  <a:pt x="1143000" y="1524000"/>
                </a:cubicBezTo>
                <a:cubicBezTo>
                  <a:pt x="1300758" y="1524000"/>
                  <a:pt x="1428750" y="1396008"/>
                  <a:pt x="1428750" y="1238250"/>
                </a:cubicBezTo>
                <a:cubicBezTo>
                  <a:pt x="1428750" y="1080492"/>
                  <a:pt x="1300758" y="952500"/>
                  <a:pt x="1143000" y="952500"/>
                </a:cubicBezTo>
                <a:cubicBezTo>
                  <a:pt x="1070372" y="952500"/>
                  <a:pt x="1004292" y="979587"/>
                  <a:pt x="953691" y="1024235"/>
                </a:cubicBezTo>
                <a:lnTo>
                  <a:pt x="567630" y="809625"/>
                </a:lnTo>
                <a:cubicBezTo>
                  <a:pt x="570309" y="794147"/>
                  <a:pt x="571500" y="778371"/>
                  <a:pt x="571500" y="762000"/>
                </a:cubicBezTo>
                <a:cubicBezTo>
                  <a:pt x="571500" y="745629"/>
                  <a:pt x="570012" y="729853"/>
                  <a:pt x="567630" y="714375"/>
                </a:cubicBezTo>
                <a:lnTo>
                  <a:pt x="953691" y="499765"/>
                </a:lnTo>
                <a:cubicBezTo>
                  <a:pt x="1003995" y="544413"/>
                  <a:pt x="1070372" y="571500"/>
                  <a:pt x="1143000" y="571500"/>
                </a:cubicBezTo>
                <a:close/>
              </a:path>
            </a:pathLst>
          </a:custGeom>
          <a:solidFill>
            <a:srgbClr val="1B3A5C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4699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520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0" y="57150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connect, share, and interact in a dynamic social ecosystem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Blog, Forum, Wiki &amp; Social Network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6096000"/>
        </p:xfrm>
        <a:graphic>
          <a:graphicData uri="http://schemas.openxmlformats.org/drawingml/2006/table">
            <a:tbl>
              <a:tblPr/>
              <a:tblGrid>
                <a:gridCol w="3241040"/>
                <a:gridCol w="2872740"/>
                <a:gridCol w="2872740"/>
                <a:gridCol w="2872740"/>
                <a:gridCol w="2872740"/>
              </a:tblGrid>
              <a:tr h="61215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Wiki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Social Network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10967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Communication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One-to-many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Many-to-many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Many-to-many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Many-to-many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67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Author-controlled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Community-driven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Collaboratively edited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User-controlled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0967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Publishing opinions and news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Discussion and Q&amp;A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Knowledge building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 building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67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 Order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chronological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Threaded chronological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Topic-organized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Algorithmic feed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0967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Author-focused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Post-focused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Content-focused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User-focused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Service Providers (ISP)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 (Internet Service Provider)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company that provides Internet access to consumers and businesses through various connection technologies.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ISP Tiers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469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3111500"/>
            <a:ext cx="4699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1 — BACKBONE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708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traffic directly with other Tier 1 providers. Form the backbone of the Internet. Examples: AT&amp;T, Verizon, Lumen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3111500"/>
            <a:ext cx="469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3111500"/>
            <a:ext cx="4699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2 — REGIONAL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3708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 mix of paid transit and peering. Regional or national providers. Examples: Comcast, Spectrum, Cox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3111500"/>
            <a:ext cx="4826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0" y="3111500"/>
            <a:ext cx="4826000" cy="63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3 — LOCAL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37084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Internet transit to deliver service. Local providers serving end customers. Examples: Local ISPs, resellers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Types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15000"/>
          <a:ext cx="14732000" cy="2413000"/>
        </p:xfrm>
        <a:graphic>
          <a:graphicData uri="http://schemas.openxmlformats.org/drawingml/2006/table">
            <a:tbl>
              <a:tblPr/>
              <a:tblGrid>
                <a:gridCol w="2946400"/>
                <a:gridCol w="5156200"/>
                <a:gridCol w="66294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DSL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Telephone lines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Widely available, slower speeds (under 100 Mbps)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Coaxial cables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Reliable speeds up to 1-2 Gbps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Fiber-optic (light)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Fastest speeds, several Gbps, low latency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Satellite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Satellite signals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 remote areas, speeds under 200 Mbps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and HTTPS Protocols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7112000" cy="63500"/>
          </a:xfrm>
          <a:prstGeom prst="rect">
            <a:avLst/>
          </a:prstGeom>
          <a:solidFill>
            <a:srgbClr val="8B5C3A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65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1863" y="208359"/>
                </a:moveTo>
                <a:lnTo>
                  <a:pt x="119807" y="208359"/>
                </a:lnTo>
                <a:cubicBezTo>
                  <a:pt x="121965" y="256356"/>
                  <a:pt x="132606" y="300558"/>
                  <a:pt x="147712" y="332929"/>
                </a:cubicBezTo>
                <a:cubicBezTo>
                  <a:pt x="156195" y="351160"/>
                  <a:pt x="165348" y="364034"/>
                  <a:pt x="173831" y="371921"/>
                </a:cubicBezTo>
                <a:cubicBezTo>
                  <a:pt x="182166" y="379735"/>
                  <a:pt x="187896" y="381000"/>
                  <a:pt x="190872" y="381000"/>
                </a:cubicBezTo>
                <a:cubicBezTo>
                  <a:pt x="193849" y="381000"/>
                  <a:pt x="199579" y="379735"/>
                  <a:pt x="207913" y="371921"/>
                </a:cubicBezTo>
                <a:cubicBezTo>
                  <a:pt x="216396" y="364034"/>
                  <a:pt x="225549" y="351086"/>
                  <a:pt x="234032" y="332929"/>
                </a:cubicBezTo>
                <a:cubicBezTo>
                  <a:pt x="249138" y="300558"/>
                  <a:pt x="259779" y="256356"/>
                  <a:pt x="261937" y="208359"/>
                </a:cubicBezTo>
                <a:close/>
                <a:moveTo>
                  <a:pt x="119732" y="172641"/>
                </a:moveTo>
                <a:lnTo>
                  <a:pt x="261789" y="172641"/>
                </a:lnTo>
                <a:cubicBezTo>
                  <a:pt x="259705" y="124644"/>
                  <a:pt x="249064" y="80442"/>
                  <a:pt x="233958" y="48071"/>
                </a:cubicBezTo>
                <a:cubicBezTo>
                  <a:pt x="225475" y="29914"/>
                  <a:pt x="216322" y="16966"/>
                  <a:pt x="207838" y="9079"/>
                </a:cubicBezTo>
                <a:cubicBezTo>
                  <a:pt x="199504" y="1265"/>
                  <a:pt x="193774" y="0"/>
                  <a:pt x="190798" y="0"/>
                </a:cubicBezTo>
                <a:cubicBezTo>
                  <a:pt x="187821" y="0"/>
                  <a:pt x="182091" y="1265"/>
                  <a:pt x="173757" y="9079"/>
                </a:cubicBezTo>
                <a:cubicBezTo>
                  <a:pt x="165274" y="16966"/>
                  <a:pt x="156121" y="29914"/>
                  <a:pt x="147637" y="48071"/>
                </a:cubicBezTo>
                <a:cubicBezTo>
                  <a:pt x="132531" y="80442"/>
                  <a:pt x="121890" y="124644"/>
                  <a:pt x="119732" y="172641"/>
                </a:cubicBezTo>
                <a:close/>
                <a:moveTo>
                  <a:pt x="84013" y="172641"/>
                </a:moveTo>
                <a:cubicBezTo>
                  <a:pt x="86618" y="108942"/>
                  <a:pt x="103063" y="49783"/>
                  <a:pt x="127099" y="10939"/>
                </a:cubicBezTo>
                <a:cubicBezTo>
                  <a:pt x="58564" y="35198"/>
                  <a:pt x="8111" y="97631"/>
                  <a:pt x="1116" y="172641"/>
                </a:cubicBezTo>
                <a:lnTo>
                  <a:pt x="84013" y="172641"/>
                </a:lnTo>
                <a:close/>
                <a:moveTo>
                  <a:pt x="1116" y="208359"/>
                </a:moveTo>
                <a:cubicBezTo>
                  <a:pt x="8111" y="283369"/>
                  <a:pt x="58564" y="345802"/>
                  <a:pt x="127099" y="370061"/>
                </a:cubicBezTo>
                <a:cubicBezTo>
                  <a:pt x="103063" y="331217"/>
                  <a:pt x="86618" y="272058"/>
                  <a:pt x="84013" y="208359"/>
                </a:cubicBezTo>
                <a:lnTo>
                  <a:pt x="1116" y="208359"/>
                </a:lnTo>
                <a:close/>
                <a:moveTo>
                  <a:pt x="297582" y="208359"/>
                </a:moveTo>
                <a:cubicBezTo>
                  <a:pt x="294977" y="272058"/>
                  <a:pt x="278532" y="331217"/>
                  <a:pt x="254496" y="370061"/>
                </a:cubicBezTo>
                <a:cubicBezTo>
                  <a:pt x="323031" y="345728"/>
                  <a:pt x="373484" y="283369"/>
                  <a:pt x="380479" y="208359"/>
                </a:cubicBezTo>
                <a:lnTo>
                  <a:pt x="297582" y="208359"/>
                </a:lnTo>
                <a:close/>
                <a:moveTo>
                  <a:pt x="380479" y="172641"/>
                </a:moveTo>
                <a:cubicBezTo>
                  <a:pt x="373484" y="97631"/>
                  <a:pt x="323031" y="35198"/>
                  <a:pt x="254496" y="10939"/>
                </a:cubicBezTo>
                <a:cubicBezTo>
                  <a:pt x="278532" y="49783"/>
                  <a:pt x="294977" y="108942"/>
                  <a:pt x="297582" y="172641"/>
                </a:cubicBezTo>
                <a:lnTo>
                  <a:pt x="380479" y="172641"/>
                </a:lnTo>
                <a:close/>
              </a:path>
            </a:pathLst>
          </a:custGeom>
          <a:solidFill>
            <a:srgbClr val="8B5C3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540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8B5C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foundation of data communication on the Web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8B5C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8B5C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Transfers data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plaintext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encrypted)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8B5C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for retrieving web pages and resources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8B5C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Vulnerable to interception and attacks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397000"/>
            <a:ext cx="736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28000" y="1397000"/>
            <a:ext cx="7366000" cy="63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29625" y="1651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95250" y="71438"/>
                </a:moveTo>
                <a:lnTo>
                  <a:pt x="95250" y="119063"/>
                </a:lnTo>
                <a:lnTo>
                  <a:pt x="190500" y="119063"/>
                </a:lnTo>
                <a:lnTo>
                  <a:pt x="190500" y="71438"/>
                </a:lnTo>
                <a:cubicBezTo>
                  <a:pt x="190500" y="45169"/>
                  <a:pt x="169143" y="23812"/>
                  <a:pt x="142875" y="23812"/>
                </a:cubicBezTo>
                <a:cubicBezTo>
                  <a:pt x="116607" y="23812"/>
                  <a:pt x="95250" y="45169"/>
                  <a:pt x="95250" y="71438"/>
                </a:cubicBezTo>
                <a:close/>
                <a:moveTo>
                  <a:pt x="47625" y="119063"/>
                </a:moveTo>
                <a:lnTo>
                  <a:pt x="47625" y="71438"/>
                </a:lnTo>
                <a:cubicBezTo>
                  <a:pt x="47625" y="18827"/>
                  <a:pt x="90264" y="-23812"/>
                  <a:pt x="142875" y="-23812"/>
                </a:cubicBezTo>
                <a:cubicBezTo>
                  <a:pt x="195486" y="-23812"/>
                  <a:pt x="238125" y="18827"/>
                  <a:pt x="238125" y="71438"/>
                </a:cubicBezTo>
                <a:lnTo>
                  <a:pt x="238125" y="119063"/>
                </a:lnTo>
                <a:cubicBezTo>
                  <a:pt x="264393" y="119063"/>
                  <a:pt x="285750" y="140419"/>
                  <a:pt x="285750" y="16668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1357" y="119063"/>
                  <a:pt x="47625" y="119063"/>
                </a:cubicBezTo>
                <a:close/>
              </a:path>
            </a:pathLst>
          </a:custGeom>
          <a:solidFill>
            <a:srgbClr val="2E7D5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2159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 Secure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540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HTTP with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 encryption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443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against man-in-the-middle attacks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Essential for passwords, payments, PII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7D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Identified by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padlock icon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browsers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1778000" y="54610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of 2025, approximately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Internet traffic in the U.S. uses HTTPS. Google marks HTTP sites as "not secure."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FTP — File Transfer Protocol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FTP (File Transfer Protocol)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standard network protocol used to transfer files between a client and a server over a TCP/IP network.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711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D4853A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238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specifically for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uploading and downloading 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111500"/>
            <a:ext cx="736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04225" y="336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323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separate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(port 21)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data connections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711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4445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username and password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4318000"/>
            <a:ext cx="736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444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efficient transfer of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files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65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Variants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223000"/>
            <a:ext cx="7112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6324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SFTP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6675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File Transfer Protocol — secure file transfer over SSH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6223000"/>
            <a:ext cx="7366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2000" y="6324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FTPS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66675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FTP over SSL — adds SSL/TLS encryption to standard FTP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SSL/TLS — Security Protocols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(Secure Sockets Layer)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(Transport Layer Security)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cryptographic protocols that provide secure communication over computer networks.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73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750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the original protocol (now deprecated)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modern, more secure successor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1.3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current industry standard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terms are often used interchangeably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2540000"/>
            <a:ext cx="7366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0" y="273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1750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public-key cryptography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authentication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Encrypts data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client and server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confidentiality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a certificate from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 Authority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15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667500"/>
            <a:ext cx="3429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450" y="6921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6858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websites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0" y="6667500"/>
            <a:ext cx="3429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676775" y="692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5181600" y="6858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connections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6667500"/>
            <a:ext cx="3429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692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2" name="Text 20"/>
          <p:cNvSpPr/>
          <p:nvPr/>
        </p:nvSpPr>
        <p:spPr>
          <a:xfrm>
            <a:off x="8864600" y="6858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encryption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11000" y="6667500"/>
            <a:ext cx="3683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42775" y="692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0"/>
                </a:move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22225" y="335667"/>
                  <a:pt x="42158" y="355600"/>
                  <a:pt x="66675" y="355600"/>
                </a:cubicBezTo>
                <a:lnTo>
                  <a:pt x="206415" y="355600"/>
                </a:lnTo>
                <a:cubicBezTo>
                  <a:pt x="181273" y="326013"/>
                  <a:pt x="166688" y="287883"/>
                  <a:pt x="166688" y="247531"/>
                </a:cubicBezTo>
                <a:lnTo>
                  <a:pt x="166688" y="225931"/>
                </a:lnTo>
                <a:cubicBezTo>
                  <a:pt x="166688" y="202039"/>
                  <a:pt x="181967" y="180786"/>
                  <a:pt x="204678" y="173216"/>
                </a:cubicBezTo>
                <a:lnTo>
                  <a:pt x="282466" y="147310"/>
                </a:lnTo>
                <a:cubicBezTo>
                  <a:pt x="284619" y="146616"/>
                  <a:pt x="286772" y="146060"/>
                  <a:pt x="288925" y="145574"/>
                </a:cubicBezTo>
                <a:lnTo>
                  <a:pt x="288925" y="118418"/>
                </a:lnTo>
                <a:cubicBezTo>
                  <a:pt x="288925" y="106611"/>
                  <a:pt x="284272" y="95290"/>
                  <a:pt x="275937" y="86955"/>
                </a:cubicBezTo>
                <a:lnTo>
                  <a:pt x="201900" y="12988"/>
                </a:lnTo>
                <a:cubicBezTo>
                  <a:pt x="193566" y="4653"/>
                  <a:pt x="182314" y="0"/>
                  <a:pt x="170507" y="0"/>
                </a:cubicBezTo>
                <a:lnTo>
                  <a:pt x="66675" y="0"/>
                </a:lnTo>
                <a:close/>
                <a:moveTo>
                  <a:pt x="248295" y="122238"/>
                </a:moveTo>
                <a:lnTo>
                  <a:pt x="183356" y="122238"/>
                </a:lnTo>
                <a:cubicBezTo>
                  <a:pt x="174119" y="122238"/>
                  <a:pt x="166688" y="114806"/>
                  <a:pt x="166688" y="105569"/>
                </a:cubicBezTo>
                <a:lnTo>
                  <a:pt x="166688" y="40630"/>
                </a:lnTo>
                <a:lnTo>
                  <a:pt x="248295" y="122238"/>
                </a:lnTo>
                <a:close/>
                <a:moveTo>
                  <a:pt x="309275" y="339279"/>
                </a:moveTo>
                <a:lnTo>
                  <a:pt x="300038" y="343654"/>
                </a:lnTo>
                <a:lnTo>
                  <a:pt x="300038" y="213013"/>
                </a:lnTo>
                <a:lnTo>
                  <a:pt x="366712" y="235238"/>
                </a:lnTo>
                <a:lnTo>
                  <a:pt x="366712" y="248851"/>
                </a:lnTo>
                <a:cubicBezTo>
                  <a:pt x="366712" y="287605"/>
                  <a:pt x="344349" y="322818"/>
                  <a:pt x="309275" y="339348"/>
                </a:cubicBezTo>
                <a:close/>
                <a:moveTo>
                  <a:pt x="293023" y="180231"/>
                </a:moveTo>
                <a:lnTo>
                  <a:pt x="215235" y="206137"/>
                </a:lnTo>
                <a:cubicBezTo>
                  <a:pt x="206137" y="209193"/>
                  <a:pt x="200025" y="217666"/>
                  <a:pt x="200025" y="227251"/>
                </a:cubicBezTo>
                <a:lnTo>
                  <a:pt x="200025" y="248851"/>
                </a:lnTo>
                <a:cubicBezTo>
                  <a:pt x="200025" y="300524"/>
                  <a:pt x="229890" y="347543"/>
                  <a:pt x="276562" y="369491"/>
                </a:cubicBezTo>
                <a:lnTo>
                  <a:pt x="289411" y="375533"/>
                </a:lnTo>
                <a:cubicBezTo>
                  <a:pt x="292745" y="377061"/>
                  <a:pt x="296356" y="377894"/>
                  <a:pt x="299968" y="377894"/>
                </a:cubicBezTo>
                <a:cubicBezTo>
                  <a:pt x="303580" y="377894"/>
                  <a:pt x="307261" y="377061"/>
                  <a:pt x="310525" y="375533"/>
                </a:cubicBezTo>
                <a:lnTo>
                  <a:pt x="323374" y="369491"/>
                </a:lnTo>
                <a:cubicBezTo>
                  <a:pt x="370185" y="347474"/>
                  <a:pt x="400050" y="300454"/>
                  <a:pt x="400050" y="248781"/>
                </a:cubicBezTo>
                <a:lnTo>
                  <a:pt x="400050" y="227181"/>
                </a:lnTo>
                <a:cubicBezTo>
                  <a:pt x="400050" y="217597"/>
                  <a:pt x="393938" y="209123"/>
                  <a:pt x="384840" y="206067"/>
                </a:cubicBezTo>
                <a:lnTo>
                  <a:pt x="307052" y="180161"/>
                </a:lnTo>
                <a:cubicBezTo>
                  <a:pt x="302468" y="178633"/>
                  <a:pt x="297537" y="178633"/>
                  <a:pt x="293023" y="180161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12547600" y="6858000"/>
            <a:ext cx="273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file transfers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Protocols &amp; Services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445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4419600"/>
                <a:gridCol w="3683000"/>
              </a:tblGrid>
              <a:tr h="67696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Protocol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 / Note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75360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Internet Service Provider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Provides Internet access to users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Tier 1 / 2 /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360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Hypertext Transfer Protocol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Transfers web data (unsecured)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 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5360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 Secure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Encrypted web data transfer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 443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360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FTP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 Transfer Protocol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 upload and download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 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5360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SSL/TLS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Sockets Layer / Transport Layer Security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Encrypts network communications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 protocol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223000"/>
            <a:ext cx="147320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8" name="Text 5"/>
          <p:cNvSpPr/>
          <p:nvPr/>
        </p:nvSpPr>
        <p:spPr>
          <a:xfrm>
            <a:off x="1841500" y="6413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these protocols work together to enable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safe, reliable Internet connectivity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data exchange. Understanding them is essential for anyone working in ICT.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vrsy7bmeefno/mnt/agents/output/ict-week6/images/7_Global_Network_Connection_Over_Dark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2E">
                  <a:alpha val="90000"/>
                </a:srgbClr>
              </a:gs>
              <a:gs pos="55000">
                <a:srgbClr val="0F1D2E">
                  <a:alpha val="80000"/>
                </a:srgbClr>
              </a:gs>
              <a:gs pos="100000">
                <a:srgbClr val="0F1D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92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000500"/>
            <a:ext cx="254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of Information and Communication Technologies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3000" y="5461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 | Intranet &amp; Extranet | Blogs | Forums | Wikis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Networking | ISP | HTTP/HTTPS | FTP | SSL/TLS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D4853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6</dc:title>
  <dc:subject>Applications of Information and Communication Technologies - Week 6</dc:subject>
  <dc:creator>Kimi</dc:creator>
  <cp:lastModifiedBy>Kimi</cp:lastModifiedBy>
  <cp:revision>1</cp:revision>
  <dcterms:created xsi:type="dcterms:W3CDTF">2026-05-25T08:56:28Z</dcterms:created>
  <dcterms:modified xsi:type="dcterms:W3CDTF">2026-05-25T08:56:28Z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6","ContentProducer":"001191110108MACG2KBH8F10000","ProduceID":"19e5e48d-8102-861d-8000-0000f3b05c1f","ReservedCode1":"","ContentPropagator":"001191110108MACG2KBH8F20000","PropagateID":"19e5e48d-8102-861d-8000-0000f3b05c1f","ReservedCode2":""}</vt:lpwstr>
  </property>
</Properties>
</file>