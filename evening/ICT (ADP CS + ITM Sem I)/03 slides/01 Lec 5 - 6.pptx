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16256000" cy="9144000"/>
  <p:notesSz cx="9144000" cy="16256000"/>
  <p:embeddedFontLst>
    <p:embeddedFont>
      <p:font typeface="Quattrocento Sans" charset="-122" pitchFamily="34"/>
      <p:regular r:id="rId37"/>
    </p:embeddedFont>
    <p:embeddedFont>
      <p:font typeface="Liter" charset="-122" pitchFamily="34"/>
      <p:regular r:id="rId38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Relationship Id="rId37" Type="http://schemas.openxmlformats.org/officeDocument/2006/relationships/font" Target="fonts/font1.fntdata"/><Relationship Id="rId38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3jqulld5ie46y/mnt/agents/output/ict_devices/images/10_Desk_with_various_gadgets_and_office.png">    </p:cNvPr>
          <p:cNvPicPr>
            <a:picLocks noChangeAspect="1"/>
          </p:cNvPicPr>
          <p:nvPr/>
        </p:nvPicPr>
        <p:blipFill>
          <a:blip r:embed="rId1"/>
          <a:srcRect l="0" r="0" t="7170" b="7170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1B3A3A">
                  <a:alpha val="95000"/>
                </a:srgbClr>
              </a:gs>
              <a:gs pos="50000">
                <a:srgbClr val="1B3A3A">
                  <a:alpha val="90000"/>
                </a:srgbClr>
              </a:gs>
              <a:gs pos="100000">
                <a:srgbClr val="1B3A3A">
                  <a:alpha val="80000"/>
                </a:srgbClr>
              </a:gs>
            </a:gsLst>
            <a:lin ang="540000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6858000" y="2794000"/>
            <a:ext cx="2540000" cy="50800"/>
          </a:xfrm>
          <a:prstGeom prst="rect">
            <a:avLst/>
          </a:prstGeom>
          <a:solidFill>
            <a:srgbClr val="D4853A"/>
          </a:solidFill>
          <a:ln/>
        </p:spPr>
      </p:sp>
      <p:sp>
        <p:nvSpPr>
          <p:cNvPr id="5" name="Text 2"/>
          <p:cNvSpPr/>
          <p:nvPr/>
        </p:nvSpPr>
        <p:spPr>
          <a:xfrm>
            <a:off x="1270000" y="3048000"/>
            <a:ext cx="13716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4200" b="1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Applications of ICT</a:t>
            </a:r>
            <a:endParaRPr lang="en-US" sz="4200" dirty="0"/>
          </a:p>
        </p:txBody>
      </p:sp>
      <p:sp>
        <p:nvSpPr>
          <p:cNvPr id="6" name="Text 3"/>
          <p:cNvSpPr/>
          <p:nvPr/>
        </p:nvSpPr>
        <p:spPr>
          <a:xfrm>
            <a:off x="1905000" y="4699000"/>
            <a:ext cx="1244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800" dirty="0">
                <a:solidFill>
                  <a:srgbClr val="D485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Input, Output, and Storage Devices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588000" y="5588000"/>
            <a:ext cx="5080000" cy="50800"/>
          </a:xfrm>
          <a:prstGeom prst="rect">
            <a:avLst/>
          </a:prstGeom>
          <a:solidFill>
            <a:srgbClr val="D4853A"/>
          </a:solidFill>
          <a:ln/>
        </p:spPr>
      </p:sp>
      <p:sp>
        <p:nvSpPr>
          <p:cNvPr id="8" name="Text 5"/>
          <p:cNvSpPr/>
          <p:nvPr/>
        </p:nvSpPr>
        <p:spPr>
          <a:xfrm>
            <a:off x="3810000" y="5842000"/>
            <a:ext cx="863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FFFFFF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Week 3 — Lecture 5 &amp; 6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3175000" y="6350000"/>
            <a:ext cx="990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FFFFF">
                    <a:alpha val="66667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Understanding How Computers Interact with the World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B3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1016000"/>
            <a:ext cx="6350000" cy="2032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14000" dirty="0">
                <a:solidFill>
                  <a:srgbClr val="FFFFFF">
                    <a:alpha val="705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762000" y="3302000"/>
            <a:ext cx="1016000" cy="63500"/>
          </a:xfrm>
          <a:prstGeom prst="rect">
            <a:avLst/>
          </a:prstGeom>
          <a:solidFill>
            <a:srgbClr val="D4853A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3556000"/>
            <a:ext cx="6350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0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Input Devices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62000" y="4445000"/>
            <a:ext cx="6096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FFFFFF">
                    <a:alpha val="73333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Devices that let us send data and instructions into the computer</a:t>
            </a:r>
            <a:endParaRPr lang="en-US" sz="1600" dirty="0"/>
          </a:p>
        </p:txBody>
      </p:sp>
      <p:pic>
        <p:nvPicPr>
          <p:cNvPr id="6" name="Image 0" descr="https://kimi-img.moonshot.cn/pub/slides/okc/3jqulld5ie46y/mnt/agents/output/ict_devices/images/1_Computer_Keyboard_Background_Stock.png">    </p:cNvPr>
          <p:cNvPicPr>
            <a:picLocks noChangeAspect="1"/>
          </p:cNvPicPr>
          <p:nvPr/>
        </p:nvPicPr>
        <p:blipFill>
          <a:blip r:embed="rId1"/>
          <a:srcRect l="25111" r="25111" t="0" b="0"/>
          <a:stretch/>
        </p:blipFill>
        <p:spPr>
          <a:xfrm>
            <a:off x="8128000" y="0"/>
            <a:ext cx="8128000" cy="91440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128000" y="0"/>
            <a:ext cx="8128000" cy="9144000"/>
          </a:xfrm>
          <a:prstGeom prst="rect">
            <a:avLst/>
          </a:prstGeom>
          <a:gradFill rotWithShape="1" flip="none">
            <a:gsLst>
              <a:gs pos="0">
                <a:srgbClr val="1B3A3A"/>
              </a:gs>
              <a:gs pos="30000">
                <a:srgbClr val="1B3A3A">
                  <a:alpha val="60000"/>
                </a:srgbClr>
              </a:gs>
              <a:gs pos="100000">
                <a:srgbClr val="1B3A3A">
                  <a:alpha val="0"/>
                </a:srgbClr>
              </a:gs>
            </a:gsLst>
            <a:lin ang="0" scaled="1"/>
          </a:gradFill>
          <a:ln/>
        </p:spPr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304800"/>
            <a:ext cx="1397000" cy="355600"/>
          </a:xfrm>
          <a:prstGeom prst="roundRect">
            <a:avLst>
              <a:gd name="adj" fmla="val 50000"/>
            </a:avLst>
          </a:prstGeom>
          <a:solidFill>
            <a:srgbClr val="1B7A6B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304800"/>
            <a:ext cx="1397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INPUT DEVICES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62000" y="8382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B7A6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Keyboard &amp; Numeric Keypad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62000" y="1397000"/>
            <a:ext cx="762000" cy="38100"/>
          </a:xfrm>
          <a:prstGeom prst="rect">
            <a:avLst/>
          </a:prstGeom>
          <a:solidFill>
            <a:srgbClr val="D4853A"/>
          </a:solidFill>
          <a:ln/>
        </p:spPr>
      </p:sp>
      <p:pic>
        <p:nvPicPr>
          <p:cNvPr id="6" name="Image 0" descr="https://kimi-img.moonshot.cn/pub/slides/okc/3jqulld5ie46y/mnt/agents/output/ict_devices/images/1_Computer_Keyboard_Background_Stock.png">    </p:cNvPr>
          <p:cNvPicPr>
            <a:picLocks noChangeAspect="1"/>
          </p:cNvPicPr>
          <p:nvPr/>
        </p:nvPicPr>
        <p:blipFill>
          <a:blip r:embed="rId1"/>
          <a:srcRect l="9448" r="9448" t="0" b="0"/>
          <a:stretch/>
        </p:blipFill>
        <p:spPr>
          <a:xfrm>
            <a:off x="762000" y="1651000"/>
            <a:ext cx="5334000" cy="3683000"/>
          </a:xfrm>
          <a:prstGeom prst="roundRect">
            <a:avLst>
              <a:gd name="adj" fmla="val 8000"/>
            </a:avLst>
          </a:prstGeom>
        </p:spPr>
      </p:pic>
      <p:sp>
        <p:nvSpPr>
          <p:cNvPr id="7" name="Shape 4"/>
          <p:cNvSpPr/>
          <p:nvPr/>
        </p:nvSpPr>
        <p:spPr>
          <a:xfrm>
            <a:off x="6477000" y="1651000"/>
            <a:ext cx="9017000" cy="3683000"/>
          </a:xfrm>
          <a:prstGeom prst="roundRect">
            <a:avLst>
              <a:gd name="adj" fmla="val 8000"/>
            </a:avLst>
          </a:prstGeom>
          <a:solidFill>
            <a:srgbClr val="EDEAE4"/>
          </a:solidFill>
          <a:ln/>
        </p:spPr>
      </p:sp>
      <p:sp>
        <p:nvSpPr>
          <p:cNvPr id="8" name="Text 5"/>
          <p:cNvSpPr/>
          <p:nvPr/>
        </p:nvSpPr>
        <p:spPr>
          <a:xfrm>
            <a:off x="6731000" y="1803400"/>
            <a:ext cx="8509000" cy="3403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 keyboard is the most common input device with letters, numbers, and function keys</a:t>
            </a:r>
            <a:endParaRPr lang="en-US" sz="1800" dirty="0"/>
          </a:p>
          <a:p>
            <a:pPr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It lets you type text, enter commands, and control the computer</a:t>
            </a:r>
            <a:endParaRPr lang="en-US" sz="1800" dirty="0"/>
          </a:p>
          <a:p>
            <a:pPr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 numeric keypad is a small set of number keys, usually on the right side</a:t>
            </a:r>
            <a:endParaRPr lang="en-US" sz="1800" dirty="0"/>
          </a:p>
          <a:p>
            <a:pPr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Keyboards come in wired and wireless types</a:t>
            </a:r>
            <a:endParaRPr lang="en-US" sz="1800" dirty="0"/>
          </a:p>
          <a:p>
            <a:pPr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Special keyboards include ergonomic and foldable designs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762000" y="5588000"/>
            <a:ext cx="7366000" cy="1397000"/>
          </a:xfrm>
          <a:prstGeom prst="roundRect">
            <a:avLst>
              <a:gd name="adj" fmla="val 8000"/>
            </a:avLst>
          </a:prstGeom>
          <a:solidFill>
            <a:srgbClr val="1B7A6B">
              <a:alpha val="8235"/>
            </a:srgbClr>
          </a:solidFill>
          <a:ln w="12700">
            <a:solidFill>
              <a:srgbClr val="1B7A6B">
                <a:alpha val="25098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990600" y="57658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92033" y="152797"/>
                </a:moveTo>
                <a:lnTo>
                  <a:pt x="87858" y="152797"/>
                </a:lnTo>
                <a:cubicBezTo>
                  <a:pt x="89441" y="187995"/>
                  <a:pt x="97244" y="220409"/>
                  <a:pt x="108322" y="244148"/>
                </a:cubicBezTo>
                <a:cubicBezTo>
                  <a:pt x="114543" y="257517"/>
                  <a:pt x="121255" y="266958"/>
                  <a:pt x="127476" y="272742"/>
                </a:cubicBezTo>
                <a:cubicBezTo>
                  <a:pt x="133588" y="278472"/>
                  <a:pt x="137790" y="279400"/>
                  <a:pt x="139973" y="279400"/>
                </a:cubicBezTo>
                <a:cubicBezTo>
                  <a:pt x="142156" y="279400"/>
                  <a:pt x="146358" y="278472"/>
                  <a:pt x="152469" y="272742"/>
                </a:cubicBezTo>
                <a:cubicBezTo>
                  <a:pt x="158690" y="266958"/>
                  <a:pt x="165403" y="257463"/>
                  <a:pt x="171624" y="244148"/>
                </a:cubicBezTo>
                <a:cubicBezTo>
                  <a:pt x="182701" y="220409"/>
                  <a:pt x="190505" y="187995"/>
                  <a:pt x="192087" y="152797"/>
                </a:cubicBezTo>
                <a:close/>
                <a:moveTo>
                  <a:pt x="87804" y="126603"/>
                </a:moveTo>
                <a:lnTo>
                  <a:pt x="191978" y="126603"/>
                </a:lnTo>
                <a:cubicBezTo>
                  <a:pt x="190450" y="91405"/>
                  <a:pt x="182647" y="58991"/>
                  <a:pt x="171569" y="35252"/>
                </a:cubicBezTo>
                <a:cubicBezTo>
                  <a:pt x="165348" y="21937"/>
                  <a:pt x="158636" y="12442"/>
                  <a:pt x="152415" y="6658"/>
                </a:cubicBezTo>
                <a:cubicBezTo>
                  <a:pt x="146303" y="928"/>
                  <a:pt x="142101" y="0"/>
                  <a:pt x="139918" y="0"/>
                </a:cubicBezTo>
                <a:cubicBezTo>
                  <a:pt x="137735" y="0"/>
                  <a:pt x="133534" y="928"/>
                  <a:pt x="127422" y="6658"/>
                </a:cubicBezTo>
                <a:cubicBezTo>
                  <a:pt x="121201" y="12442"/>
                  <a:pt x="114489" y="21937"/>
                  <a:pt x="108267" y="35252"/>
                </a:cubicBezTo>
                <a:cubicBezTo>
                  <a:pt x="97190" y="58991"/>
                  <a:pt x="89386" y="91405"/>
                  <a:pt x="87804" y="126603"/>
                </a:cubicBezTo>
                <a:close/>
                <a:moveTo>
                  <a:pt x="61610" y="126603"/>
                </a:moveTo>
                <a:cubicBezTo>
                  <a:pt x="63520" y="79891"/>
                  <a:pt x="75580" y="36508"/>
                  <a:pt x="93206" y="8022"/>
                </a:cubicBezTo>
                <a:cubicBezTo>
                  <a:pt x="42947" y="25812"/>
                  <a:pt x="5948" y="71596"/>
                  <a:pt x="819" y="126603"/>
                </a:cubicBezTo>
                <a:lnTo>
                  <a:pt x="61610" y="126603"/>
                </a:lnTo>
                <a:close/>
                <a:moveTo>
                  <a:pt x="819" y="152797"/>
                </a:moveTo>
                <a:cubicBezTo>
                  <a:pt x="5948" y="207804"/>
                  <a:pt x="42947" y="253588"/>
                  <a:pt x="93206" y="271378"/>
                </a:cubicBezTo>
                <a:cubicBezTo>
                  <a:pt x="75580" y="242892"/>
                  <a:pt x="63520" y="199509"/>
                  <a:pt x="61610" y="152797"/>
                </a:cubicBezTo>
                <a:lnTo>
                  <a:pt x="819" y="152797"/>
                </a:lnTo>
                <a:close/>
                <a:moveTo>
                  <a:pt x="218227" y="152797"/>
                </a:moveTo>
                <a:cubicBezTo>
                  <a:pt x="216317" y="199509"/>
                  <a:pt x="204257" y="242892"/>
                  <a:pt x="186630" y="271378"/>
                </a:cubicBezTo>
                <a:cubicBezTo>
                  <a:pt x="236890" y="253534"/>
                  <a:pt x="273888" y="207804"/>
                  <a:pt x="279018" y="152797"/>
                </a:cubicBezTo>
                <a:lnTo>
                  <a:pt x="218227" y="152797"/>
                </a:lnTo>
                <a:close/>
                <a:moveTo>
                  <a:pt x="279018" y="126603"/>
                </a:moveTo>
                <a:cubicBezTo>
                  <a:pt x="273888" y="71596"/>
                  <a:pt x="236890" y="25812"/>
                  <a:pt x="186630" y="8022"/>
                </a:cubicBezTo>
                <a:cubicBezTo>
                  <a:pt x="204257" y="36508"/>
                  <a:pt x="216317" y="79891"/>
                  <a:pt x="218227" y="126603"/>
                </a:cubicBezTo>
                <a:lnTo>
                  <a:pt x="279018" y="126603"/>
                </a:lnTo>
                <a:close/>
              </a:path>
            </a:pathLst>
          </a:custGeom>
          <a:solidFill>
            <a:srgbClr val="1B7A6B"/>
          </a:solidFill>
          <a:ln/>
        </p:spPr>
      </p:sp>
      <p:sp>
        <p:nvSpPr>
          <p:cNvPr id="11" name="Text 8"/>
          <p:cNvSpPr/>
          <p:nvPr/>
        </p:nvSpPr>
        <p:spPr>
          <a:xfrm>
            <a:off x="1371600" y="57404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b="1" dirty="0">
                <a:solidFill>
                  <a:srgbClr val="D485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Real-World Example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990600" y="6121400"/>
            <a:ext cx="69088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 cashier at a supermarket uses a keyboard to enter prices and item codes at the checkout counter.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8382000" y="5588000"/>
            <a:ext cx="7112000" cy="1397000"/>
          </a:xfrm>
          <a:prstGeom prst="roundRect">
            <a:avLst>
              <a:gd name="adj" fmla="val 8000"/>
            </a:avLst>
          </a:prstGeom>
          <a:solidFill>
            <a:srgbClr val="D4853A">
              <a:alpha val="7059"/>
            </a:srgbClr>
          </a:solidFill>
          <a:ln w="12700">
            <a:solidFill>
              <a:srgbClr val="D4853A">
                <a:alpha val="25098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8645525" y="5765800"/>
            <a:ext cx="209550" cy="279400"/>
          </a:xfrm>
          <a:custGeom>
            <a:avLst/>
            <a:gdLst/>
            <a:ahLst/>
            <a:cxnLst/>
            <a:rect l="l" t="t" r="r" b="b"/>
            <a:pathLst>
              <a:path w="209550" h="279400">
                <a:moveTo>
                  <a:pt x="159836" y="209550"/>
                </a:moveTo>
                <a:cubicBezTo>
                  <a:pt x="163820" y="197381"/>
                  <a:pt x="171787" y="186358"/>
                  <a:pt x="180791" y="176862"/>
                </a:cubicBezTo>
                <a:cubicBezTo>
                  <a:pt x="198636" y="158090"/>
                  <a:pt x="209550" y="132715"/>
                  <a:pt x="209550" y="104775"/>
                </a:cubicBezTo>
                <a:cubicBezTo>
                  <a:pt x="209550" y="46930"/>
                  <a:pt x="162620" y="0"/>
                  <a:pt x="104775" y="0"/>
                </a:cubicBezTo>
                <a:cubicBezTo>
                  <a:pt x="46930" y="0"/>
                  <a:pt x="0" y="46930"/>
                  <a:pt x="0" y="104775"/>
                </a:cubicBezTo>
                <a:cubicBezTo>
                  <a:pt x="0" y="132715"/>
                  <a:pt x="10914" y="158090"/>
                  <a:pt x="28759" y="176862"/>
                </a:cubicBezTo>
                <a:cubicBezTo>
                  <a:pt x="37763" y="186358"/>
                  <a:pt x="45784" y="197381"/>
                  <a:pt x="49714" y="209550"/>
                </a:cubicBezTo>
                <a:lnTo>
                  <a:pt x="159782" y="209550"/>
                </a:lnTo>
                <a:close/>
                <a:moveTo>
                  <a:pt x="157163" y="235744"/>
                </a:moveTo>
                <a:lnTo>
                  <a:pt x="52388" y="235744"/>
                </a:lnTo>
                <a:lnTo>
                  <a:pt x="52388" y="244475"/>
                </a:lnTo>
                <a:cubicBezTo>
                  <a:pt x="52388" y="268595"/>
                  <a:pt x="71924" y="288131"/>
                  <a:pt x="96044" y="288131"/>
                </a:cubicBezTo>
                <a:lnTo>
                  <a:pt x="113506" y="288131"/>
                </a:lnTo>
                <a:cubicBezTo>
                  <a:pt x="137626" y="288131"/>
                  <a:pt x="157163" y="268595"/>
                  <a:pt x="157163" y="244475"/>
                </a:cubicBezTo>
                <a:lnTo>
                  <a:pt x="157163" y="235744"/>
                </a:lnTo>
                <a:close/>
                <a:moveTo>
                  <a:pt x="100409" y="61119"/>
                </a:moveTo>
                <a:cubicBezTo>
                  <a:pt x="78690" y="61119"/>
                  <a:pt x="61119" y="78690"/>
                  <a:pt x="61119" y="100409"/>
                </a:cubicBezTo>
                <a:cubicBezTo>
                  <a:pt x="61119" y="107667"/>
                  <a:pt x="55280" y="113506"/>
                  <a:pt x="48022" y="113506"/>
                </a:cubicBezTo>
                <a:cubicBezTo>
                  <a:pt x="40764" y="113506"/>
                  <a:pt x="34925" y="107667"/>
                  <a:pt x="34925" y="100409"/>
                </a:cubicBezTo>
                <a:cubicBezTo>
                  <a:pt x="34925" y="64229"/>
                  <a:pt x="64229" y="34925"/>
                  <a:pt x="100409" y="34925"/>
                </a:cubicBezTo>
                <a:cubicBezTo>
                  <a:pt x="107667" y="34925"/>
                  <a:pt x="113506" y="40764"/>
                  <a:pt x="113506" y="48022"/>
                </a:cubicBezTo>
                <a:cubicBezTo>
                  <a:pt x="113506" y="55280"/>
                  <a:pt x="107667" y="61119"/>
                  <a:pt x="100409" y="61119"/>
                </a:cubicBezTo>
                <a:close/>
              </a:path>
            </a:pathLst>
          </a:custGeom>
          <a:solidFill>
            <a:srgbClr val="D4853A"/>
          </a:solidFill>
          <a:ln/>
        </p:spPr>
      </p:sp>
      <p:sp>
        <p:nvSpPr>
          <p:cNvPr id="15" name="Text 12"/>
          <p:cNvSpPr/>
          <p:nvPr/>
        </p:nvSpPr>
        <p:spPr>
          <a:xfrm>
            <a:off x="8991600" y="57404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b="1" dirty="0">
                <a:solidFill>
                  <a:srgbClr val="D485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Explanation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8610600" y="6121400"/>
            <a:ext cx="66548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When you press a key, the keyboard sends a signal to the computer. Each key has a unique code that tells the computer which character to display.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762000" y="8636000"/>
            <a:ext cx="762000" cy="38100"/>
          </a:xfrm>
          <a:prstGeom prst="rect">
            <a:avLst/>
          </a:prstGeom>
          <a:solidFill>
            <a:srgbClr val="1B7A6B"/>
          </a:solidFill>
          <a:ln/>
        </p:spPr>
      </p:sp>
      <p:sp>
        <p:nvSpPr>
          <p:cNvPr id="18" name="Text 15"/>
          <p:cNvSpPr/>
          <p:nvPr/>
        </p:nvSpPr>
        <p:spPr>
          <a:xfrm>
            <a:off x="14986000" y="8636000"/>
            <a:ext cx="508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400" dirty="0">
                <a:solidFill>
                  <a:srgbClr val="6B656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304800"/>
            <a:ext cx="1397000" cy="355600"/>
          </a:xfrm>
          <a:prstGeom prst="roundRect">
            <a:avLst>
              <a:gd name="adj" fmla="val 50000"/>
            </a:avLst>
          </a:prstGeom>
          <a:solidFill>
            <a:srgbClr val="1B7A6B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304800"/>
            <a:ext cx="1397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INPUT DEVICES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62000" y="8382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B7A6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Pointing Devices — Mouse &amp; Touchpad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62000" y="1397000"/>
            <a:ext cx="762000" cy="38100"/>
          </a:xfrm>
          <a:prstGeom prst="rect">
            <a:avLst/>
          </a:prstGeom>
          <a:solidFill>
            <a:srgbClr val="D4853A"/>
          </a:solidFill>
          <a:ln/>
        </p:spPr>
      </p:sp>
      <p:pic>
        <p:nvPicPr>
          <p:cNvPr id="6" name="Image 0" descr="https://kimi-img.moonshot.cn/pub/slides/okc/3jqulld5ie46y/mnt/agents/output/ict_devices/images/3_Laptop_Touchpad_Not_Working_Dell.png">    </p:cNvPr>
          <p:cNvPicPr>
            <a:picLocks noChangeAspect="1"/>
          </p:cNvPicPr>
          <p:nvPr/>
        </p:nvPicPr>
        <p:blipFill>
          <a:blip r:embed="rId1"/>
          <a:srcRect l="4741" r="4741" t="0" b="0"/>
          <a:stretch/>
        </p:blipFill>
        <p:spPr>
          <a:xfrm>
            <a:off x="762000" y="1651000"/>
            <a:ext cx="5334000" cy="3683000"/>
          </a:xfrm>
          <a:prstGeom prst="roundRect">
            <a:avLst>
              <a:gd name="adj" fmla="val 8000"/>
            </a:avLst>
          </a:prstGeom>
        </p:spPr>
      </p:pic>
      <p:sp>
        <p:nvSpPr>
          <p:cNvPr id="7" name="Shape 4"/>
          <p:cNvSpPr/>
          <p:nvPr/>
        </p:nvSpPr>
        <p:spPr>
          <a:xfrm>
            <a:off x="6477000" y="1651000"/>
            <a:ext cx="9017000" cy="3683000"/>
          </a:xfrm>
          <a:prstGeom prst="roundRect">
            <a:avLst>
              <a:gd name="adj" fmla="val 8000"/>
            </a:avLst>
          </a:prstGeom>
          <a:solidFill>
            <a:srgbClr val="EDEAE4"/>
          </a:solidFill>
          <a:ln/>
        </p:spPr>
      </p:sp>
      <p:sp>
        <p:nvSpPr>
          <p:cNvPr id="8" name="Text 5"/>
          <p:cNvSpPr/>
          <p:nvPr/>
        </p:nvSpPr>
        <p:spPr>
          <a:xfrm>
            <a:off x="6731000" y="1803400"/>
            <a:ext cx="8509000" cy="3403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 mouse is a handheld device that moves a pointer on the screen</a:t>
            </a:r>
            <a:endParaRPr lang="en-US" sz="1800" dirty="0"/>
          </a:p>
          <a:p>
            <a:pPr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It has buttons to click, select, and open items</a:t>
            </a:r>
            <a:endParaRPr lang="en-US" sz="1800" dirty="0"/>
          </a:p>
          <a:p>
            <a:pPr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 touchpad is a flat surface on laptops that works like a mouse</a:t>
            </a:r>
            <a:endParaRPr lang="en-US" sz="1800" dirty="0"/>
          </a:p>
          <a:p>
            <a:pPr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You slide your finger on the touchpad to move the pointer</a:t>
            </a:r>
            <a:endParaRPr lang="en-US" sz="1800" dirty="0"/>
          </a:p>
          <a:p>
            <a:pPr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Modern mice and touchpads support scrolling and multi-touch gestures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762000" y="5588000"/>
            <a:ext cx="7366000" cy="1397000"/>
          </a:xfrm>
          <a:prstGeom prst="roundRect">
            <a:avLst>
              <a:gd name="adj" fmla="val 8000"/>
            </a:avLst>
          </a:prstGeom>
          <a:solidFill>
            <a:srgbClr val="1B7A6B">
              <a:alpha val="8235"/>
            </a:srgbClr>
          </a:solidFill>
          <a:ln w="12700">
            <a:solidFill>
              <a:srgbClr val="1B7A6B">
                <a:alpha val="25098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990600" y="57658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92033" y="152797"/>
                </a:moveTo>
                <a:lnTo>
                  <a:pt x="87858" y="152797"/>
                </a:lnTo>
                <a:cubicBezTo>
                  <a:pt x="89441" y="187995"/>
                  <a:pt x="97244" y="220409"/>
                  <a:pt x="108322" y="244148"/>
                </a:cubicBezTo>
                <a:cubicBezTo>
                  <a:pt x="114543" y="257517"/>
                  <a:pt x="121255" y="266958"/>
                  <a:pt x="127476" y="272742"/>
                </a:cubicBezTo>
                <a:cubicBezTo>
                  <a:pt x="133588" y="278472"/>
                  <a:pt x="137790" y="279400"/>
                  <a:pt x="139973" y="279400"/>
                </a:cubicBezTo>
                <a:cubicBezTo>
                  <a:pt x="142156" y="279400"/>
                  <a:pt x="146358" y="278472"/>
                  <a:pt x="152469" y="272742"/>
                </a:cubicBezTo>
                <a:cubicBezTo>
                  <a:pt x="158690" y="266958"/>
                  <a:pt x="165403" y="257463"/>
                  <a:pt x="171624" y="244148"/>
                </a:cubicBezTo>
                <a:cubicBezTo>
                  <a:pt x="182701" y="220409"/>
                  <a:pt x="190505" y="187995"/>
                  <a:pt x="192087" y="152797"/>
                </a:cubicBezTo>
                <a:close/>
                <a:moveTo>
                  <a:pt x="87804" y="126603"/>
                </a:moveTo>
                <a:lnTo>
                  <a:pt x="191978" y="126603"/>
                </a:lnTo>
                <a:cubicBezTo>
                  <a:pt x="190450" y="91405"/>
                  <a:pt x="182647" y="58991"/>
                  <a:pt x="171569" y="35252"/>
                </a:cubicBezTo>
                <a:cubicBezTo>
                  <a:pt x="165348" y="21937"/>
                  <a:pt x="158636" y="12442"/>
                  <a:pt x="152415" y="6658"/>
                </a:cubicBezTo>
                <a:cubicBezTo>
                  <a:pt x="146303" y="928"/>
                  <a:pt x="142101" y="0"/>
                  <a:pt x="139918" y="0"/>
                </a:cubicBezTo>
                <a:cubicBezTo>
                  <a:pt x="137735" y="0"/>
                  <a:pt x="133534" y="928"/>
                  <a:pt x="127422" y="6658"/>
                </a:cubicBezTo>
                <a:cubicBezTo>
                  <a:pt x="121201" y="12442"/>
                  <a:pt x="114489" y="21937"/>
                  <a:pt x="108267" y="35252"/>
                </a:cubicBezTo>
                <a:cubicBezTo>
                  <a:pt x="97190" y="58991"/>
                  <a:pt x="89386" y="91405"/>
                  <a:pt x="87804" y="126603"/>
                </a:cubicBezTo>
                <a:close/>
                <a:moveTo>
                  <a:pt x="61610" y="126603"/>
                </a:moveTo>
                <a:cubicBezTo>
                  <a:pt x="63520" y="79891"/>
                  <a:pt x="75580" y="36508"/>
                  <a:pt x="93206" y="8022"/>
                </a:cubicBezTo>
                <a:cubicBezTo>
                  <a:pt x="42947" y="25812"/>
                  <a:pt x="5948" y="71596"/>
                  <a:pt x="819" y="126603"/>
                </a:cubicBezTo>
                <a:lnTo>
                  <a:pt x="61610" y="126603"/>
                </a:lnTo>
                <a:close/>
                <a:moveTo>
                  <a:pt x="819" y="152797"/>
                </a:moveTo>
                <a:cubicBezTo>
                  <a:pt x="5948" y="207804"/>
                  <a:pt x="42947" y="253588"/>
                  <a:pt x="93206" y="271378"/>
                </a:cubicBezTo>
                <a:cubicBezTo>
                  <a:pt x="75580" y="242892"/>
                  <a:pt x="63520" y="199509"/>
                  <a:pt x="61610" y="152797"/>
                </a:cubicBezTo>
                <a:lnTo>
                  <a:pt x="819" y="152797"/>
                </a:lnTo>
                <a:close/>
                <a:moveTo>
                  <a:pt x="218227" y="152797"/>
                </a:moveTo>
                <a:cubicBezTo>
                  <a:pt x="216317" y="199509"/>
                  <a:pt x="204257" y="242892"/>
                  <a:pt x="186630" y="271378"/>
                </a:cubicBezTo>
                <a:cubicBezTo>
                  <a:pt x="236890" y="253534"/>
                  <a:pt x="273888" y="207804"/>
                  <a:pt x="279018" y="152797"/>
                </a:cubicBezTo>
                <a:lnTo>
                  <a:pt x="218227" y="152797"/>
                </a:lnTo>
                <a:close/>
                <a:moveTo>
                  <a:pt x="279018" y="126603"/>
                </a:moveTo>
                <a:cubicBezTo>
                  <a:pt x="273888" y="71596"/>
                  <a:pt x="236890" y="25812"/>
                  <a:pt x="186630" y="8022"/>
                </a:cubicBezTo>
                <a:cubicBezTo>
                  <a:pt x="204257" y="36508"/>
                  <a:pt x="216317" y="79891"/>
                  <a:pt x="218227" y="126603"/>
                </a:cubicBezTo>
                <a:lnTo>
                  <a:pt x="279018" y="126603"/>
                </a:lnTo>
                <a:close/>
              </a:path>
            </a:pathLst>
          </a:custGeom>
          <a:solidFill>
            <a:srgbClr val="1B7A6B"/>
          </a:solidFill>
          <a:ln/>
        </p:spPr>
      </p:sp>
      <p:sp>
        <p:nvSpPr>
          <p:cNvPr id="11" name="Text 8"/>
          <p:cNvSpPr/>
          <p:nvPr/>
        </p:nvSpPr>
        <p:spPr>
          <a:xfrm>
            <a:off x="1371600" y="57404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b="1" dirty="0">
                <a:solidFill>
                  <a:srgbClr val="D485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Real-World Example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990600" y="6121400"/>
            <a:ext cx="69088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 student uses a mouse to click on icons and open programs on a school computer.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8382000" y="5588000"/>
            <a:ext cx="7112000" cy="1397000"/>
          </a:xfrm>
          <a:prstGeom prst="roundRect">
            <a:avLst>
              <a:gd name="adj" fmla="val 8000"/>
            </a:avLst>
          </a:prstGeom>
          <a:solidFill>
            <a:srgbClr val="D4853A">
              <a:alpha val="7059"/>
            </a:srgbClr>
          </a:solidFill>
          <a:ln w="12700">
            <a:solidFill>
              <a:srgbClr val="D4853A">
                <a:alpha val="25098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8645525" y="5765800"/>
            <a:ext cx="209550" cy="279400"/>
          </a:xfrm>
          <a:custGeom>
            <a:avLst/>
            <a:gdLst/>
            <a:ahLst/>
            <a:cxnLst/>
            <a:rect l="l" t="t" r="r" b="b"/>
            <a:pathLst>
              <a:path w="209550" h="279400">
                <a:moveTo>
                  <a:pt x="159836" y="209550"/>
                </a:moveTo>
                <a:cubicBezTo>
                  <a:pt x="163820" y="197381"/>
                  <a:pt x="171787" y="186358"/>
                  <a:pt x="180791" y="176862"/>
                </a:cubicBezTo>
                <a:cubicBezTo>
                  <a:pt x="198636" y="158090"/>
                  <a:pt x="209550" y="132715"/>
                  <a:pt x="209550" y="104775"/>
                </a:cubicBezTo>
                <a:cubicBezTo>
                  <a:pt x="209550" y="46930"/>
                  <a:pt x="162620" y="0"/>
                  <a:pt x="104775" y="0"/>
                </a:cubicBezTo>
                <a:cubicBezTo>
                  <a:pt x="46930" y="0"/>
                  <a:pt x="0" y="46930"/>
                  <a:pt x="0" y="104775"/>
                </a:cubicBezTo>
                <a:cubicBezTo>
                  <a:pt x="0" y="132715"/>
                  <a:pt x="10914" y="158090"/>
                  <a:pt x="28759" y="176862"/>
                </a:cubicBezTo>
                <a:cubicBezTo>
                  <a:pt x="37763" y="186358"/>
                  <a:pt x="45784" y="197381"/>
                  <a:pt x="49714" y="209550"/>
                </a:cubicBezTo>
                <a:lnTo>
                  <a:pt x="159782" y="209550"/>
                </a:lnTo>
                <a:close/>
                <a:moveTo>
                  <a:pt x="157163" y="235744"/>
                </a:moveTo>
                <a:lnTo>
                  <a:pt x="52388" y="235744"/>
                </a:lnTo>
                <a:lnTo>
                  <a:pt x="52388" y="244475"/>
                </a:lnTo>
                <a:cubicBezTo>
                  <a:pt x="52388" y="268595"/>
                  <a:pt x="71924" y="288131"/>
                  <a:pt x="96044" y="288131"/>
                </a:cubicBezTo>
                <a:lnTo>
                  <a:pt x="113506" y="288131"/>
                </a:lnTo>
                <a:cubicBezTo>
                  <a:pt x="137626" y="288131"/>
                  <a:pt x="157163" y="268595"/>
                  <a:pt x="157163" y="244475"/>
                </a:cubicBezTo>
                <a:lnTo>
                  <a:pt x="157163" y="235744"/>
                </a:lnTo>
                <a:close/>
                <a:moveTo>
                  <a:pt x="100409" y="61119"/>
                </a:moveTo>
                <a:cubicBezTo>
                  <a:pt x="78690" y="61119"/>
                  <a:pt x="61119" y="78690"/>
                  <a:pt x="61119" y="100409"/>
                </a:cubicBezTo>
                <a:cubicBezTo>
                  <a:pt x="61119" y="107667"/>
                  <a:pt x="55280" y="113506"/>
                  <a:pt x="48022" y="113506"/>
                </a:cubicBezTo>
                <a:cubicBezTo>
                  <a:pt x="40764" y="113506"/>
                  <a:pt x="34925" y="107667"/>
                  <a:pt x="34925" y="100409"/>
                </a:cubicBezTo>
                <a:cubicBezTo>
                  <a:pt x="34925" y="64229"/>
                  <a:pt x="64229" y="34925"/>
                  <a:pt x="100409" y="34925"/>
                </a:cubicBezTo>
                <a:cubicBezTo>
                  <a:pt x="107667" y="34925"/>
                  <a:pt x="113506" y="40764"/>
                  <a:pt x="113506" y="48022"/>
                </a:cubicBezTo>
                <a:cubicBezTo>
                  <a:pt x="113506" y="55280"/>
                  <a:pt x="107667" y="61119"/>
                  <a:pt x="100409" y="61119"/>
                </a:cubicBezTo>
                <a:close/>
              </a:path>
            </a:pathLst>
          </a:custGeom>
          <a:solidFill>
            <a:srgbClr val="D4853A"/>
          </a:solidFill>
          <a:ln/>
        </p:spPr>
      </p:sp>
      <p:sp>
        <p:nvSpPr>
          <p:cNvPr id="15" name="Text 12"/>
          <p:cNvSpPr/>
          <p:nvPr/>
        </p:nvSpPr>
        <p:spPr>
          <a:xfrm>
            <a:off x="8991600" y="57404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b="1" dirty="0">
                <a:solidFill>
                  <a:srgbClr val="D485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Explanation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8610600" y="6121400"/>
            <a:ext cx="66548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mouse detects movement and sends it to the computer. The computer then moves the pointer on the screen in the same direction.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762000" y="8636000"/>
            <a:ext cx="762000" cy="38100"/>
          </a:xfrm>
          <a:prstGeom prst="rect">
            <a:avLst/>
          </a:prstGeom>
          <a:solidFill>
            <a:srgbClr val="1B7A6B"/>
          </a:solidFill>
          <a:ln/>
        </p:spPr>
      </p:sp>
      <p:sp>
        <p:nvSpPr>
          <p:cNvPr id="18" name="Text 15"/>
          <p:cNvSpPr/>
          <p:nvPr/>
        </p:nvSpPr>
        <p:spPr>
          <a:xfrm>
            <a:off x="14986000" y="8636000"/>
            <a:ext cx="508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400" dirty="0">
                <a:solidFill>
                  <a:srgbClr val="6B656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304800"/>
            <a:ext cx="1397000" cy="355600"/>
          </a:xfrm>
          <a:prstGeom prst="roundRect">
            <a:avLst>
              <a:gd name="adj" fmla="val 50000"/>
            </a:avLst>
          </a:prstGeom>
          <a:solidFill>
            <a:srgbClr val="1B7A6B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304800"/>
            <a:ext cx="1397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INPUT DEVICES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62000" y="8382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B7A6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Remote Control &amp; Joystick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62000" y="1397000"/>
            <a:ext cx="762000" cy="38100"/>
          </a:xfrm>
          <a:prstGeom prst="rect">
            <a:avLst/>
          </a:prstGeom>
          <a:solidFill>
            <a:srgbClr val="D4853A"/>
          </a:solidFill>
          <a:ln/>
        </p:spPr>
      </p:sp>
      <p:pic>
        <p:nvPicPr>
          <p:cNvPr id="6" name="Image 0" descr="https://kimi-img.moonshot.cn/pub/slides/okc/3jqulld5ie46y/mnt/agents/output/ict_devices/images/1_Shoulder_buttons_of_giants_The_evolution.png">    </p:cNvPr>
          <p:cNvPicPr>
            <a:picLocks noChangeAspect="1"/>
          </p:cNvPicPr>
          <p:nvPr/>
        </p:nvPicPr>
        <p:blipFill>
          <a:blip r:embed="rId1"/>
          <a:srcRect l="10022" r="10022" t="0" b="0"/>
          <a:stretch/>
        </p:blipFill>
        <p:spPr>
          <a:xfrm>
            <a:off x="762000" y="1651000"/>
            <a:ext cx="5334000" cy="3683000"/>
          </a:xfrm>
          <a:prstGeom prst="roundRect">
            <a:avLst>
              <a:gd name="adj" fmla="val 8000"/>
            </a:avLst>
          </a:prstGeom>
        </p:spPr>
      </p:pic>
      <p:sp>
        <p:nvSpPr>
          <p:cNvPr id="7" name="Shape 4"/>
          <p:cNvSpPr/>
          <p:nvPr/>
        </p:nvSpPr>
        <p:spPr>
          <a:xfrm>
            <a:off x="6477000" y="1651000"/>
            <a:ext cx="9017000" cy="3683000"/>
          </a:xfrm>
          <a:prstGeom prst="roundRect">
            <a:avLst>
              <a:gd name="adj" fmla="val 8000"/>
            </a:avLst>
          </a:prstGeom>
          <a:solidFill>
            <a:srgbClr val="EDEAE4"/>
          </a:solidFill>
          <a:ln/>
        </p:spPr>
      </p:sp>
      <p:sp>
        <p:nvSpPr>
          <p:cNvPr id="8" name="Text 5"/>
          <p:cNvSpPr/>
          <p:nvPr/>
        </p:nvSpPr>
        <p:spPr>
          <a:xfrm>
            <a:off x="6731000" y="1803400"/>
            <a:ext cx="8509000" cy="3403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 remote control sends wireless signals to control a device from a distance</a:t>
            </a:r>
            <a:endParaRPr lang="en-US" sz="1800" dirty="0"/>
          </a:p>
          <a:p>
            <a:pPr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It uses infrared (IR) or Bluetooth to communicate</a:t>
            </a:r>
            <a:endParaRPr lang="en-US" sz="1800" dirty="0"/>
          </a:p>
          <a:p>
            <a:pPr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 joystick is a handheld stick used to control games and simulations</a:t>
            </a:r>
            <a:endParaRPr lang="en-US" sz="1800" dirty="0"/>
          </a:p>
          <a:p>
            <a:pPr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 driving wheel is a steering wheel controller for racing games</a:t>
            </a:r>
            <a:endParaRPr lang="en-US" sz="1800" dirty="0"/>
          </a:p>
          <a:p>
            <a:pPr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Both are popular in gaming and entertainment systems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762000" y="5588000"/>
            <a:ext cx="7366000" cy="1397000"/>
          </a:xfrm>
          <a:prstGeom prst="roundRect">
            <a:avLst>
              <a:gd name="adj" fmla="val 8000"/>
            </a:avLst>
          </a:prstGeom>
          <a:solidFill>
            <a:srgbClr val="1B7A6B">
              <a:alpha val="8235"/>
            </a:srgbClr>
          </a:solidFill>
          <a:ln w="12700">
            <a:solidFill>
              <a:srgbClr val="1B7A6B">
                <a:alpha val="25098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990600" y="57658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92033" y="152797"/>
                </a:moveTo>
                <a:lnTo>
                  <a:pt x="87858" y="152797"/>
                </a:lnTo>
                <a:cubicBezTo>
                  <a:pt x="89441" y="187995"/>
                  <a:pt x="97244" y="220409"/>
                  <a:pt x="108322" y="244148"/>
                </a:cubicBezTo>
                <a:cubicBezTo>
                  <a:pt x="114543" y="257517"/>
                  <a:pt x="121255" y="266958"/>
                  <a:pt x="127476" y="272742"/>
                </a:cubicBezTo>
                <a:cubicBezTo>
                  <a:pt x="133588" y="278472"/>
                  <a:pt x="137790" y="279400"/>
                  <a:pt x="139973" y="279400"/>
                </a:cubicBezTo>
                <a:cubicBezTo>
                  <a:pt x="142156" y="279400"/>
                  <a:pt x="146358" y="278472"/>
                  <a:pt x="152469" y="272742"/>
                </a:cubicBezTo>
                <a:cubicBezTo>
                  <a:pt x="158690" y="266958"/>
                  <a:pt x="165403" y="257463"/>
                  <a:pt x="171624" y="244148"/>
                </a:cubicBezTo>
                <a:cubicBezTo>
                  <a:pt x="182701" y="220409"/>
                  <a:pt x="190505" y="187995"/>
                  <a:pt x="192087" y="152797"/>
                </a:cubicBezTo>
                <a:close/>
                <a:moveTo>
                  <a:pt x="87804" y="126603"/>
                </a:moveTo>
                <a:lnTo>
                  <a:pt x="191978" y="126603"/>
                </a:lnTo>
                <a:cubicBezTo>
                  <a:pt x="190450" y="91405"/>
                  <a:pt x="182647" y="58991"/>
                  <a:pt x="171569" y="35252"/>
                </a:cubicBezTo>
                <a:cubicBezTo>
                  <a:pt x="165348" y="21937"/>
                  <a:pt x="158636" y="12442"/>
                  <a:pt x="152415" y="6658"/>
                </a:cubicBezTo>
                <a:cubicBezTo>
                  <a:pt x="146303" y="928"/>
                  <a:pt x="142101" y="0"/>
                  <a:pt x="139918" y="0"/>
                </a:cubicBezTo>
                <a:cubicBezTo>
                  <a:pt x="137735" y="0"/>
                  <a:pt x="133534" y="928"/>
                  <a:pt x="127422" y="6658"/>
                </a:cubicBezTo>
                <a:cubicBezTo>
                  <a:pt x="121201" y="12442"/>
                  <a:pt x="114489" y="21937"/>
                  <a:pt x="108267" y="35252"/>
                </a:cubicBezTo>
                <a:cubicBezTo>
                  <a:pt x="97190" y="58991"/>
                  <a:pt x="89386" y="91405"/>
                  <a:pt x="87804" y="126603"/>
                </a:cubicBezTo>
                <a:close/>
                <a:moveTo>
                  <a:pt x="61610" y="126603"/>
                </a:moveTo>
                <a:cubicBezTo>
                  <a:pt x="63520" y="79891"/>
                  <a:pt x="75580" y="36508"/>
                  <a:pt x="93206" y="8022"/>
                </a:cubicBezTo>
                <a:cubicBezTo>
                  <a:pt x="42947" y="25812"/>
                  <a:pt x="5948" y="71596"/>
                  <a:pt x="819" y="126603"/>
                </a:cubicBezTo>
                <a:lnTo>
                  <a:pt x="61610" y="126603"/>
                </a:lnTo>
                <a:close/>
                <a:moveTo>
                  <a:pt x="819" y="152797"/>
                </a:moveTo>
                <a:cubicBezTo>
                  <a:pt x="5948" y="207804"/>
                  <a:pt x="42947" y="253588"/>
                  <a:pt x="93206" y="271378"/>
                </a:cubicBezTo>
                <a:cubicBezTo>
                  <a:pt x="75580" y="242892"/>
                  <a:pt x="63520" y="199509"/>
                  <a:pt x="61610" y="152797"/>
                </a:cubicBezTo>
                <a:lnTo>
                  <a:pt x="819" y="152797"/>
                </a:lnTo>
                <a:close/>
                <a:moveTo>
                  <a:pt x="218227" y="152797"/>
                </a:moveTo>
                <a:cubicBezTo>
                  <a:pt x="216317" y="199509"/>
                  <a:pt x="204257" y="242892"/>
                  <a:pt x="186630" y="271378"/>
                </a:cubicBezTo>
                <a:cubicBezTo>
                  <a:pt x="236890" y="253534"/>
                  <a:pt x="273888" y="207804"/>
                  <a:pt x="279018" y="152797"/>
                </a:cubicBezTo>
                <a:lnTo>
                  <a:pt x="218227" y="152797"/>
                </a:lnTo>
                <a:close/>
                <a:moveTo>
                  <a:pt x="279018" y="126603"/>
                </a:moveTo>
                <a:cubicBezTo>
                  <a:pt x="273888" y="71596"/>
                  <a:pt x="236890" y="25812"/>
                  <a:pt x="186630" y="8022"/>
                </a:cubicBezTo>
                <a:cubicBezTo>
                  <a:pt x="204257" y="36508"/>
                  <a:pt x="216317" y="79891"/>
                  <a:pt x="218227" y="126603"/>
                </a:cubicBezTo>
                <a:lnTo>
                  <a:pt x="279018" y="126603"/>
                </a:lnTo>
                <a:close/>
              </a:path>
            </a:pathLst>
          </a:custGeom>
          <a:solidFill>
            <a:srgbClr val="1B7A6B"/>
          </a:solidFill>
          <a:ln/>
        </p:spPr>
      </p:sp>
      <p:sp>
        <p:nvSpPr>
          <p:cNvPr id="11" name="Text 8"/>
          <p:cNvSpPr/>
          <p:nvPr/>
        </p:nvSpPr>
        <p:spPr>
          <a:xfrm>
            <a:off x="1371600" y="57404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b="1" dirty="0">
                <a:solidFill>
                  <a:srgbClr val="D485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Real-World Example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990600" y="6121400"/>
            <a:ext cx="69088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 family uses a TV remote to change channels, and a child uses a joystick to play video games on a console.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8382000" y="5588000"/>
            <a:ext cx="7112000" cy="1397000"/>
          </a:xfrm>
          <a:prstGeom prst="roundRect">
            <a:avLst>
              <a:gd name="adj" fmla="val 8000"/>
            </a:avLst>
          </a:prstGeom>
          <a:solidFill>
            <a:srgbClr val="D4853A">
              <a:alpha val="7059"/>
            </a:srgbClr>
          </a:solidFill>
          <a:ln w="12700">
            <a:solidFill>
              <a:srgbClr val="D4853A">
                <a:alpha val="25098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8645525" y="5765800"/>
            <a:ext cx="209550" cy="279400"/>
          </a:xfrm>
          <a:custGeom>
            <a:avLst/>
            <a:gdLst/>
            <a:ahLst/>
            <a:cxnLst/>
            <a:rect l="l" t="t" r="r" b="b"/>
            <a:pathLst>
              <a:path w="209550" h="279400">
                <a:moveTo>
                  <a:pt x="159836" y="209550"/>
                </a:moveTo>
                <a:cubicBezTo>
                  <a:pt x="163820" y="197381"/>
                  <a:pt x="171787" y="186358"/>
                  <a:pt x="180791" y="176862"/>
                </a:cubicBezTo>
                <a:cubicBezTo>
                  <a:pt x="198636" y="158090"/>
                  <a:pt x="209550" y="132715"/>
                  <a:pt x="209550" y="104775"/>
                </a:cubicBezTo>
                <a:cubicBezTo>
                  <a:pt x="209550" y="46930"/>
                  <a:pt x="162620" y="0"/>
                  <a:pt x="104775" y="0"/>
                </a:cubicBezTo>
                <a:cubicBezTo>
                  <a:pt x="46930" y="0"/>
                  <a:pt x="0" y="46930"/>
                  <a:pt x="0" y="104775"/>
                </a:cubicBezTo>
                <a:cubicBezTo>
                  <a:pt x="0" y="132715"/>
                  <a:pt x="10914" y="158090"/>
                  <a:pt x="28759" y="176862"/>
                </a:cubicBezTo>
                <a:cubicBezTo>
                  <a:pt x="37763" y="186358"/>
                  <a:pt x="45784" y="197381"/>
                  <a:pt x="49714" y="209550"/>
                </a:cubicBezTo>
                <a:lnTo>
                  <a:pt x="159782" y="209550"/>
                </a:lnTo>
                <a:close/>
                <a:moveTo>
                  <a:pt x="157163" y="235744"/>
                </a:moveTo>
                <a:lnTo>
                  <a:pt x="52388" y="235744"/>
                </a:lnTo>
                <a:lnTo>
                  <a:pt x="52388" y="244475"/>
                </a:lnTo>
                <a:cubicBezTo>
                  <a:pt x="52388" y="268595"/>
                  <a:pt x="71924" y="288131"/>
                  <a:pt x="96044" y="288131"/>
                </a:cubicBezTo>
                <a:lnTo>
                  <a:pt x="113506" y="288131"/>
                </a:lnTo>
                <a:cubicBezTo>
                  <a:pt x="137626" y="288131"/>
                  <a:pt x="157163" y="268595"/>
                  <a:pt x="157163" y="244475"/>
                </a:cubicBezTo>
                <a:lnTo>
                  <a:pt x="157163" y="235744"/>
                </a:lnTo>
                <a:close/>
                <a:moveTo>
                  <a:pt x="100409" y="61119"/>
                </a:moveTo>
                <a:cubicBezTo>
                  <a:pt x="78690" y="61119"/>
                  <a:pt x="61119" y="78690"/>
                  <a:pt x="61119" y="100409"/>
                </a:cubicBezTo>
                <a:cubicBezTo>
                  <a:pt x="61119" y="107667"/>
                  <a:pt x="55280" y="113506"/>
                  <a:pt x="48022" y="113506"/>
                </a:cubicBezTo>
                <a:cubicBezTo>
                  <a:pt x="40764" y="113506"/>
                  <a:pt x="34925" y="107667"/>
                  <a:pt x="34925" y="100409"/>
                </a:cubicBezTo>
                <a:cubicBezTo>
                  <a:pt x="34925" y="64229"/>
                  <a:pt x="64229" y="34925"/>
                  <a:pt x="100409" y="34925"/>
                </a:cubicBezTo>
                <a:cubicBezTo>
                  <a:pt x="107667" y="34925"/>
                  <a:pt x="113506" y="40764"/>
                  <a:pt x="113506" y="48022"/>
                </a:cubicBezTo>
                <a:cubicBezTo>
                  <a:pt x="113506" y="55280"/>
                  <a:pt x="107667" y="61119"/>
                  <a:pt x="100409" y="61119"/>
                </a:cubicBezTo>
                <a:close/>
              </a:path>
            </a:pathLst>
          </a:custGeom>
          <a:solidFill>
            <a:srgbClr val="D4853A"/>
          </a:solidFill>
          <a:ln/>
        </p:spPr>
      </p:sp>
      <p:sp>
        <p:nvSpPr>
          <p:cNvPr id="15" name="Text 12"/>
          <p:cNvSpPr/>
          <p:nvPr/>
        </p:nvSpPr>
        <p:spPr>
          <a:xfrm>
            <a:off x="8991600" y="57404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b="1" dirty="0">
                <a:solidFill>
                  <a:srgbClr val="D485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Explanation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8610600" y="6121400"/>
            <a:ext cx="66548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Remote controls send signals through the air. Joysticks send movement data to the computer to control what happens in a game.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762000" y="8636000"/>
            <a:ext cx="762000" cy="38100"/>
          </a:xfrm>
          <a:prstGeom prst="rect">
            <a:avLst/>
          </a:prstGeom>
          <a:solidFill>
            <a:srgbClr val="1B7A6B"/>
          </a:solidFill>
          <a:ln/>
        </p:spPr>
      </p:sp>
      <p:sp>
        <p:nvSpPr>
          <p:cNvPr id="18" name="Text 15"/>
          <p:cNvSpPr/>
          <p:nvPr/>
        </p:nvSpPr>
        <p:spPr>
          <a:xfrm>
            <a:off x="14986000" y="8636000"/>
            <a:ext cx="508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400" dirty="0">
                <a:solidFill>
                  <a:srgbClr val="6B656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05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304800"/>
            <a:ext cx="1397000" cy="355600"/>
          </a:xfrm>
          <a:prstGeom prst="roundRect">
            <a:avLst>
              <a:gd name="adj" fmla="val 50000"/>
            </a:avLst>
          </a:prstGeom>
          <a:solidFill>
            <a:srgbClr val="1B7A6B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304800"/>
            <a:ext cx="1397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INPUT DEVICES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62000" y="8382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B7A6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Touch Screen &amp; Scanners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62000" y="1397000"/>
            <a:ext cx="762000" cy="38100"/>
          </a:xfrm>
          <a:prstGeom prst="rect">
            <a:avLst/>
          </a:prstGeom>
          <a:solidFill>
            <a:srgbClr val="D4853A"/>
          </a:solidFill>
          <a:ln/>
        </p:spPr>
      </p:sp>
      <p:pic>
        <p:nvPicPr>
          <p:cNvPr id="6" name="Image 0" descr="https://kimi-img.moonshot.cn/pub/slides/okc/3jqulld5ie46y/mnt/agents/output/ict_devices/images/6_Closeup_Finger_Touching_Screen_On.png">    </p:cNvPr>
          <p:cNvPicPr>
            <a:picLocks noChangeAspect="1"/>
          </p:cNvPicPr>
          <p:nvPr/>
        </p:nvPicPr>
        <p:blipFill>
          <a:blip r:embed="rId1"/>
          <a:srcRect l="0" r="0" t="1543" b="1543"/>
          <a:stretch/>
        </p:blipFill>
        <p:spPr>
          <a:xfrm>
            <a:off x="762000" y="1651000"/>
            <a:ext cx="5334000" cy="3683000"/>
          </a:xfrm>
          <a:prstGeom prst="roundRect">
            <a:avLst>
              <a:gd name="adj" fmla="val 8000"/>
            </a:avLst>
          </a:prstGeom>
        </p:spPr>
      </p:pic>
      <p:sp>
        <p:nvSpPr>
          <p:cNvPr id="7" name="Shape 4"/>
          <p:cNvSpPr/>
          <p:nvPr/>
        </p:nvSpPr>
        <p:spPr>
          <a:xfrm>
            <a:off x="6477000" y="1651000"/>
            <a:ext cx="9017000" cy="3683000"/>
          </a:xfrm>
          <a:prstGeom prst="roundRect">
            <a:avLst>
              <a:gd name="adj" fmla="val 8000"/>
            </a:avLst>
          </a:prstGeom>
          <a:solidFill>
            <a:srgbClr val="EDEAE4"/>
          </a:solidFill>
          <a:ln/>
        </p:spPr>
      </p:sp>
      <p:sp>
        <p:nvSpPr>
          <p:cNvPr id="8" name="Text 5"/>
          <p:cNvSpPr/>
          <p:nvPr/>
        </p:nvSpPr>
        <p:spPr>
          <a:xfrm>
            <a:off x="6731000" y="1803400"/>
            <a:ext cx="8509000" cy="3403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 touch screen is both an input and output device you touch with your finger</a:t>
            </a:r>
            <a:endParaRPr lang="en-US" sz="1800" dirty="0"/>
          </a:p>
          <a:p>
            <a:pPr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It detects where you touch and sends that location to the computer</a:t>
            </a:r>
            <a:endParaRPr lang="en-US" sz="1800" dirty="0"/>
          </a:p>
          <a:p>
            <a:pPr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 scanner copies physical documents and photos into digital files</a:t>
            </a:r>
            <a:endParaRPr lang="en-US" sz="1800" dirty="0"/>
          </a:p>
          <a:p>
            <a:pPr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Flatbed scanners place items on a glass surface to scan</a:t>
            </a:r>
            <a:endParaRPr lang="en-US" sz="1800" dirty="0"/>
          </a:p>
          <a:p>
            <a:pPr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Sheet-fed scanners pull paper through automatically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762000" y="5588000"/>
            <a:ext cx="7366000" cy="1397000"/>
          </a:xfrm>
          <a:prstGeom prst="roundRect">
            <a:avLst>
              <a:gd name="adj" fmla="val 8000"/>
            </a:avLst>
          </a:prstGeom>
          <a:solidFill>
            <a:srgbClr val="1B7A6B">
              <a:alpha val="8235"/>
            </a:srgbClr>
          </a:solidFill>
          <a:ln w="12700">
            <a:solidFill>
              <a:srgbClr val="1B7A6B">
                <a:alpha val="25098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990600" y="57658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92033" y="152797"/>
                </a:moveTo>
                <a:lnTo>
                  <a:pt x="87858" y="152797"/>
                </a:lnTo>
                <a:cubicBezTo>
                  <a:pt x="89441" y="187995"/>
                  <a:pt x="97244" y="220409"/>
                  <a:pt x="108322" y="244148"/>
                </a:cubicBezTo>
                <a:cubicBezTo>
                  <a:pt x="114543" y="257517"/>
                  <a:pt x="121255" y="266958"/>
                  <a:pt x="127476" y="272742"/>
                </a:cubicBezTo>
                <a:cubicBezTo>
                  <a:pt x="133588" y="278472"/>
                  <a:pt x="137790" y="279400"/>
                  <a:pt x="139973" y="279400"/>
                </a:cubicBezTo>
                <a:cubicBezTo>
                  <a:pt x="142156" y="279400"/>
                  <a:pt x="146358" y="278472"/>
                  <a:pt x="152469" y="272742"/>
                </a:cubicBezTo>
                <a:cubicBezTo>
                  <a:pt x="158690" y="266958"/>
                  <a:pt x="165403" y="257463"/>
                  <a:pt x="171624" y="244148"/>
                </a:cubicBezTo>
                <a:cubicBezTo>
                  <a:pt x="182701" y="220409"/>
                  <a:pt x="190505" y="187995"/>
                  <a:pt x="192087" y="152797"/>
                </a:cubicBezTo>
                <a:close/>
                <a:moveTo>
                  <a:pt x="87804" y="126603"/>
                </a:moveTo>
                <a:lnTo>
                  <a:pt x="191978" y="126603"/>
                </a:lnTo>
                <a:cubicBezTo>
                  <a:pt x="190450" y="91405"/>
                  <a:pt x="182647" y="58991"/>
                  <a:pt x="171569" y="35252"/>
                </a:cubicBezTo>
                <a:cubicBezTo>
                  <a:pt x="165348" y="21937"/>
                  <a:pt x="158636" y="12442"/>
                  <a:pt x="152415" y="6658"/>
                </a:cubicBezTo>
                <a:cubicBezTo>
                  <a:pt x="146303" y="928"/>
                  <a:pt x="142101" y="0"/>
                  <a:pt x="139918" y="0"/>
                </a:cubicBezTo>
                <a:cubicBezTo>
                  <a:pt x="137735" y="0"/>
                  <a:pt x="133534" y="928"/>
                  <a:pt x="127422" y="6658"/>
                </a:cubicBezTo>
                <a:cubicBezTo>
                  <a:pt x="121201" y="12442"/>
                  <a:pt x="114489" y="21937"/>
                  <a:pt x="108267" y="35252"/>
                </a:cubicBezTo>
                <a:cubicBezTo>
                  <a:pt x="97190" y="58991"/>
                  <a:pt x="89386" y="91405"/>
                  <a:pt x="87804" y="126603"/>
                </a:cubicBezTo>
                <a:close/>
                <a:moveTo>
                  <a:pt x="61610" y="126603"/>
                </a:moveTo>
                <a:cubicBezTo>
                  <a:pt x="63520" y="79891"/>
                  <a:pt x="75580" y="36508"/>
                  <a:pt x="93206" y="8022"/>
                </a:cubicBezTo>
                <a:cubicBezTo>
                  <a:pt x="42947" y="25812"/>
                  <a:pt x="5948" y="71596"/>
                  <a:pt x="819" y="126603"/>
                </a:cubicBezTo>
                <a:lnTo>
                  <a:pt x="61610" y="126603"/>
                </a:lnTo>
                <a:close/>
                <a:moveTo>
                  <a:pt x="819" y="152797"/>
                </a:moveTo>
                <a:cubicBezTo>
                  <a:pt x="5948" y="207804"/>
                  <a:pt x="42947" y="253588"/>
                  <a:pt x="93206" y="271378"/>
                </a:cubicBezTo>
                <a:cubicBezTo>
                  <a:pt x="75580" y="242892"/>
                  <a:pt x="63520" y="199509"/>
                  <a:pt x="61610" y="152797"/>
                </a:cubicBezTo>
                <a:lnTo>
                  <a:pt x="819" y="152797"/>
                </a:lnTo>
                <a:close/>
                <a:moveTo>
                  <a:pt x="218227" y="152797"/>
                </a:moveTo>
                <a:cubicBezTo>
                  <a:pt x="216317" y="199509"/>
                  <a:pt x="204257" y="242892"/>
                  <a:pt x="186630" y="271378"/>
                </a:cubicBezTo>
                <a:cubicBezTo>
                  <a:pt x="236890" y="253534"/>
                  <a:pt x="273888" y="207804"/>
                  <a:pt x="279018" y="152797"/>
                </a:cubicBezTo>
                <a:lnTo>
                  <a:pt x="218227" y="152797"/>
                </a:lnTo>
                <a:close/>
                <a:moveTo>
                  <a:pt x="279018" y="126603"/>
                </a:moveTo>
                <a:cubicBezTo>
                  <a:pt x="273888" y="71596"/>
                  <a:pt x="236890" y="25812"/>
                  <a:pt x="186630" y="8022"/>
                </a:cubicBezTo>
                <a:cubicBezTo>
                  <a:pt x="204257" y="36508"/>
                  <a:pt x="216317" y="79891"/>
                  <a:pt x="218227" y="126603"/>
                </a:cubicBezTo>
                <a:lnTo>
                  <a:pt x="279018" y="126603"/>
                </a:lnTo>
                <a:close/>
              </a:path>
            </a:pathLst>
          </a:custGeom>
          <a:solidFill>
            <a:srgbClr val="1B7A6B"/>
          </a:solidFill>
          <a:ln/>
        </p:spPr>
      </p:sp>
      <p:sp>
        <p:nvSpPr>
          <p:cNvPr id="11" name="Text 8"/>
          <p:cNvSpPr/>
          <p:nvPr/>
        </p:nvSpPr>
        <p:spPr>
          <a:xfrm>
            <a:off x="1371600" y="57404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b="1" dirty="0">
                <a:solidFill>
                  <a:srgbClr val="D485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Real-World Example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990600" y="6121400"/>
            <a:ext cx="69088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 customer uses a touch screen at a fast-food restaurant to place their order, and an office worker scans documents to email them.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8382000" y="5588000"/>
            <a:ext cx="7112000" cy="1397000"/>
          </a:xfrm>
          <a:prstGeom prst="roundRect">
            <a:avLst>
              <a:gd name="adj" fmla="val 8000"/>
            </a:avLst>
          </a:prstGeom>
          <a:solidFill>
            <a:srgbClr val="D4853A">
              <a:alpha val="7059"/>
            </a:srgbClr>
          </a:solidFill>
          <a:ln w="12700">
            <a:solidFill>
              <a:srgbClr val="D4853A">
                <a:alpha val="25098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8645525" y="5765800"/>
            <a:ext cx="209550" cy="279400"/>
          </a:xfrm>
          <a:custGeom>
            <a:avLst/>
            <a:gdLst/>
            <a:ahLst/>
            <a:cxnLst/>
            <a:rect l="l" t="t" r="r" b="b"/>
            <a:pathLst>
              <a:path w="209550" h="279400">
                <a:moveTo>
                  <a:pt x="159836" y="209550"/>
                </a:moveTo>
                <a:cubicBezTo>
                  <a:pt x="163820" y="197381"/>
                  <a:pt x="171787" y="186358"/>
                  <a:pt x="180791" y="176862"/>
                </a:cubicBezTo>
                <a:cubicBezTo>
                  <a:pt x="198636" y="158090"/>
                  <a:pt x="209550" y="132715"/>
                  <a:pt x="209550" y="104775"/>
                </a:cubicBezTo>
                <a:cubicBezTo>
                  <a:pt x="209550" y="46930"/>
                  <a:pt x="162620" y="0"/>
                  <a:pt x="104775" y="0"/>
                </a:cubicBezTo>
                <a:cubicBezTo>
                  <a:pt x="46930" y="0"/>
                  <a:pt x="0" y="46930"/>
                  <a:pt x="0" y="104775"/>
                </a:cubicBezTo>
                <a:cubicBezTo>
                  <a:pt x="0" y="132715"/>
                  <a:pt x="10914" y="158090"/>
                  <a:pt x="28759" y="176862"/>
                </a:cubicBezTo>
                <a:cubicBezTo>
                  <a:pt x="37763" y="186358"/>
                  <a:pt x="45784" y="197381"/>
                  <a:pt x="49714" y="209550"/>
                </a:cubicBezTo>
                <a:lnTo>
                  <a:pt x="159782" y="209550"/>
                </a:lnTo>
                <a:close/>
                <a:moveTo>
                  <a:pt x="157163" y="235744"/>
                </a:moveTo>
                <a:lnTo>
                  <a:pt x="52388" y="235744"/>
                </a:lnTo>
                <a:lnTo>
                  <a:pt x="52388" y="244475"/>
                </a:lnTo>
                <a:cubicBezTo>
                  <a:pt x="52388" y="268595"/>
                  <a:pt x="71924" y="288131"/>
                  <a:pt x="96044" y="288131"/>
                </a:cubicBezTo>
                <a:lnTo>
                  <a:pt x="113506" y="288131"/>
                </a:lnTo>
                <a:cubicBezTo>
                  <a:pt x="137626" y="288131"/>
                  <a:pt x="157163" y="268595"/>
                  <a:pt x="157163" y="244475"/>
                </a:cubicBezTo>
                <a:lnTo>
                  <a:pt x="157163" y="235744"/>
                </a:lnTo>
                <a:close/>
                <a:moveTo>
                  <a:pt x="100409" y="61119"/>
                </a:moveTo>
                <a:cubicBezTo>
                  <a:pt x="78690" y="61119"/>
                  <a:pt x="61119" y="78690"/>
                  <a:pt x="61119" y="100409"/>
                </a:cubicBezTo>
                <a:cubicBezTo>
                  <a:pt x="61119" y="107667"/>
                  <a:pt x="55280" y="113506"/>
                  <a:pt x="48022" y="113506"/>
                </a:cubicBezTo>
                <a:cubicBezTo>
                  <a:pt x="40764" y="113506"/>
                  <a:pt x="34925" y="107667"/>
                  <a:pt x="34925" y="100409"/>
                </a:cubicBezTo>
                <a:cubicBezTo>
                  <a:pt x="34925" y="64229"/>
                  <a:pt x="64229" y="34925"/>
                  <a:pt x="100409" y="34925"/>
                </a:cubicBezTo>
                <a:cubicBezTo>
                  <a:pt x="107667" y="34925"/>
                  <a:pt x="113506" y="40764"/>
                  <a:pt x="113506" y="48022"/>
                </a:cubicBezTo>
                <a:cubicBezTo>
                  <a:pt x="113506" y="55280"/>
                  <a:pt x="107667" y="61119"/>
                  <a:pt x="100409" y="61119"/>
                </a:cubicBezTo>
                <a:close/>
              </a:path>
            </a:pathLst>
          </a:custGeom>
          <a:solidFill>
            <a:srgbClr val="D4853A"/>
          </a:solidFill>
          <a:ln/>
        </p:spPr>
      </p:sp>
      <p:sp>
        <p:nvSpPr>
          <p:cNvPr id="15" name="Text 12"/>
          <p:cNvSpPr/>
          <p:nvPr/>
        </p:nvSpPr>
        <p:spPr>
          <a:xfrm>
            <a:off x="8991600" y="57404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b="1" dirty="0">
                <a:solidFill>
                  <a:srgbClr val="D485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Explanation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8610600" y="6121400"/>
            <a:ext cx="66548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Touch screens have a special layer that senses your finger. Scanners use light to read an image and save it as a digital file.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762000" y="8636000"/>
            <a:ext cx="762000" cy="38100"/>
          </a:xfrm>
          <a:prstGeom prst="rect">
            <a:avLst/>
          </a:prstGeom>
          <a:solidFill>
            <a:srgbClr val="1B7A6B"/>
          </a:solidFill>
          <a:ln/>
        </p:spPr>
      </p:sp>
      <p:sp>
        <p:nvSpPr>
          <p:cNvPr id="18" name="Text 15"/>
          <p:cNvSpPr/>
          <p:nvPr/>
        </p:nvSpPr>
        <p:spPr>
          <a:xfrm>
            <a:off x="14986000" y="8636000"/>
            <a:ext cx="508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400" dirty="0">
                <a:solidFill>
                  <a:srgbClr val="6B656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06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304800"/>
            <a:ext cx="1397000" cy="355600"/>
          </a:xfrm>
          <a:prstGeom prst="roundRect">
            <a:avLst>
              <a:gd name="adj" fmla="val 50000"/>
            </a:avLst>
          </a:prstGeom>
          <a:solidFill>
            <a:srgbClr val="1B7A6B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304800"/>
            <a:ext cx="1397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INPUT DEVICES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62000" y="8382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B7A6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Camera &amp; Microphone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62000" y="1397000"/>
            <a:ext cx="762000" cy="38100"/>
          </a:xfrm>
          <a:prstGeom prst="rect">
            <a:avLst/>
          </a:prstGeom>
          <a:solidFill>
            <a:srgbClr val="D4853A"/>
          </a:solidFill>
          <a:ln/>
        </p:spPr>
      </p:sp>
      <p:pic>
        <p:nvPicPr>
          <p:cNvPr id="6" name="Image 0" descr="https://kimi-img.moonshot.cn/pub/slides/okc/3jqulld5ie46y/mnt/agents/output/ict_devices/images/1_The_Ultimate_Guide_To_Choosing_Microphones.png">    </p:cNvPr>
          <p:cNvPicPr>
            <a:picLocks noChangeAspect="1"/>
          </p:cNvPicPr>
          <p:nvPr/>
        </p:nvPicPr>
        <p:blipFill>
          <a:blip r:embed="rId1"/>
          <a:srcRect l="4741" r="4741" t="0" b="0"/>
          <a:stretch/>
        </p:blipFill>
        <p:spPr>
          <a:xfrm>
            <a:off x="762000" y="1651000"/>
            <a:ext cx="5334000" cy="3683000"/>
          </a:xfrm>
          <a:prstGeom prst="roundRect">
            <a:avLst>
              <a:gd name="adj" fmla="val 8000"/>
            </a:avLst>
          </a:prstGeom>
        </p:spPr>
      </p:pic>
      <p:sp>
        <p:nvSpPr>
          <p:cNvPr id="7" name="Shape 4"/>
          <p:cNvSpPr/>
          <p:nvPr/>
        </p:nvSpPr>
        <p:spPr>
          <a:xfrm>
            <a:off x="6477000" y="1651000"/>
            <a:ext cx="9017000" cy="3683000"/>
          </a:xfrm>
          <a:prstGeom prst="roundRect">
            <a:avLst>
              <a:gd name="adj" fmla="val 8000"/>
            </a:avLst>
          </a:prstGeom>
          <a:solidFill>
            <a:srgbClr val="EDEAE4"/>
          </a:solidFill>
          <a:ln/>
        </p:spPr>
      </p:sp>
      <p:sp>
        <p:nvSpPr>
          <p:cNvPr id="8" name="Text 5"/>
          <p:cNvSpPr/>
          <p:nvPr/>
        </p:nvSpPr>
        <p:spPr>
          <a:xfrm>
            <a:off x="6731000" y="1803400"/>
            <a:ext cx="8509000" cy="3403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 camera captures photos and videos as digital input</a:t>
            </a:r>
            <a:endParaRPr lang="en-US" sz="1800" dirty="0"/>
          </a:p>
          <a:p>
            <a:pPr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Webcams are small cameras built into computers for video calls</a:t>
            </a:r>
            <a:endParaRPr lang="en-US" sz="1800" dirty="0"/>
          </a:p>
          <a:p>
            <a:pPr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 microphone records sound and voice as digital input</a:t>
            </a:r>
            <a:endParaRPr lang="en-US" sz="1800" dirty="0"/>
          </a:p>
          <a:p>
            <a:pPr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Headsets combine a microphone with headphones</a:t>
            </a:r>
            <a:endParaRPr lang="en-US" sz="1800" dirty="0"/>
          </a:p>
          <a:p>
            <a:pPr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Both are essential for video meetings and content creation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762000" y="5588000"/>
            <a:ext cx="7366000" cy="1397000"/>
          </a:xfrm>
          <a:prstGeom prst="roundRect">
            <a:avLst>
              <a:gd name="adj" fmla="val 8000"/>
            </a:avLst>
          </a:prstGeom>
          <a:solidFill>
            <a:srgbClr val="1B7A6B">
              <a:alpha val="8235"/>
            </a:srgbClr>
          </a:solidFill>
          <a:ln w="12700">
            <a:solidFill>
              <a:srgbClr val="1B7A6B">
                <a:alpha val="25098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990600" y="57658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92033" y="152797"/>
                </a:moveTo>
                <a:lnTo>
                  <a:pt x="87858" y="152797"/>
                </a:lnTo>
                <a:cubicBezTo>
                  <a:pt x="89441" y="187995"/>
                  <a:pt x="97244" y="220409"/>
                  <a:pt x="108322" y="244148"/>
                </a:cubicBezTo>
                <a:cubicBezTo>
                  <a:pt x="114543" y="257517"/>
                  <a:pt x="121255" y="266958"/>
                  <a:pt x="127476" y="272742"/>
                </a:cubicBezTo>
                <a:cubicBezTo>
                  <a:pt x="133588" y="278472"/>
                  <a:pt x="137790" y="279400"/>
                  <a:pt x="139973" y="279400"/>
                </a:cubicBezTo>
                <a:cubicBezTo>
                  <a:pt x="142156" y="279400"/>
                  <a:pt x="146358" y="278472"/>
                  <a:pt x="152469" y="272742"/>
                </a:cubicBezTo>
                <a:cubicBezTo>
                  <a:pt x="158690" y="266958"/>
                  <a:pt x="165403" y="257463"/>
                  <a:pt x="171624" y="244148"/>
                </a:cubicBezTo>
                <a:cubicBezTo>
                  <a:pt x="182701" y="220409"/>
                  <a:pt x="190505" y="187995"/>
                  <a:pt x="192087" y="152797"/>
                </a:cubicBezTo>
                <a:close/>
                <a:moveTo>
                  <a:pt x="87804" y="126603"/>
                </a:moveTo>
                <a:lnTo>
                  <a:pt x="191978" y="126603"/>
                </a:lnTo>
                <a:cubicBezTo>
                  <a:pt x="190450" y="91405"/>
                  <a:pt x="182647" y="58991"/>
                  <a:pt x="171569" y="35252"/>
                </a:cubicBezTo>
                <a:cubicBezTo>
                  <a:pt x="165348" y="21937"/>
                  <a:pt x="158636" y="12442"/>
                  <a:pt x="152415" y="6658"/>
                </a:cubicBezTo>
                <a:cubicBezTo>
                  <a:pt x="146303" y="928"/>
                  <a:pt x="142101" y="0"/>
                  <a:pt x="139918" y="0"/>
                </a:cubicBezTo>
                <a:cubicBezTo>
                  <a:pt x="137735" y="0"/>
                  <a:pt x="133534" y="928"/>
                  <a:pt x="127422" y="6658"/>
                </a:cubicBezTo>
                <a:cubicBezTo>
                  <a:pt x="121201" y="12442"/>
                  <a:pt x="114489" y="21937"/>
                  <a:pt x="108267" y="35252"/>
                </a:cubicBezTo>
                <a:cubicBezTo>
                  <a:pt x="97190" y="58991"/>
                  <a:pt x="89386" y="91405"/>
                  <a:pt x="87804" y="126603"/>
                </a:cubicBezTo>
                <a:close/>
                <a:moveTo>
                  <a:pt x="61610" y="126603"/>
                </a:moveTo>
                <a:cubicBezTo>
                  <a:pt x="63520" y="79891"/>
                  <a:pt x="75580" y="36508"/>
                  <a:pt x="93206" y="8022"/>
                </a:cubicBezTo>
                <a:cubicBezTo>
                  <a:pt x="42947" y="25812"/>
                  <a:pt x="5948" y="71596"/>
                  <a:pt x="819" y="126603"/>
                </a:cubicBezTo>
                <a:lnTo>
                  <a:pt x="61610" y="126603"/>
                </a:lnTo>
                <a:close/>
                <a:moveTo>
                  <a:pt x="819" y="152797"/>
                </a:moveTo>
                <a:cubicBezTo>
                  <a:pt x="5948" y="207804"/>
                  <a:pt x="42947" y="253588"/>
                  <a:pt x="93206" y="271378"/>
                </a:cubicBezTo>
                <a:cubicBezTo>
                  <a:pt x="75580" y="242892"/>
                  <a:pt x="63520" y="199509"/>
                  <a:pt x="61610" y="152797"/>
                </a:cubicBezTo>
                <a:lnTo>
                  <a:pt x="819" y="152797"/>
                </a:lnTo>
                <a:close/>
                <a:moveTo>
                  <a:pt x="218227" y="152797"/>
                </a:moveTo>
                <a:cubicBezTo>
                  <a:pt x="216317" y="199509"/>
                  <a:pt x="204257" y="242892"/>
                  <a:pt x="186630" y="271378"/>
                </a:cubicBezTo>
                <a:cubicBezTo>
                  <a:pt x="236890" y="253534"/>
                  <a:pt x="273888" y="207804"/>
                  <a:pt x="279018" y="152797"/>
                </a:cubicBezTo>
                <a:lnTo>
                  <a:pt x="218227" y="152797"/>
                </a:lnTo>
                <a:close/>
                <a:moveTo>
                  <a:pt x="279018" y="126603"/>
                </a:moveTo>
                <a:cubicBezTo>
                  <a:pt x="273888" y="71596"/>
                  <a:pt x="236890" y="25812"/>
                  <a:pt x="186630" y="8022"/>
                </a:cubicBezTo>
                <a:cubicBezTo>
                  <a:pt x="204257" y="36508"/>
                  <a:pt x="216317" y="79891"/>
                  <a:pt x="218227" y="126603"/>
                </a:cubicBezTo>
                <a:lnTo>
                  <a:pt x="279018" y="126603"/>
                </a:lnTo>
                <a:close/>
              </a:path>
            </a:pathLst>
          </a:custGeom>
          <a:solidFill>
            <a:srgbClr val="1B7A6B"/>
          </a:solidFill>
          <a:ln/>
        </p:spPr>
      </p:sp>
      <p:sp>
        <p:nvSpPr>
          <p:cNvPr id="11" name="Text 8"/>
          <p:cNvSpPr/>
          <p:nvPr/>
        </p:nvSpPr>
        <p:spPr>
          <a:xfrm>
            <a:off x="1371600" y="57404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b="1" dirty="0">
                <a:solidFill>
                  <a:srgbClr val="D485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Real-World Example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990600" y="6121400"/>
            <a:ext cx="69088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 teacher uses a webcam and microphone to teach students online through a video call.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8382000" y="5588000"/>
            <a:ext cx="7112000" cy="1397000"/>
          </a:xfrm>
          <a:prstGeom prst="roundRect">
            <a:avLst>
              <a:gd name="adj" fmla="val 8000"/>
            </a:avLst>
          </a:prstGeom>
          <a:solidFill>
            <a:srgbClr val="D4853A">
              <a:alpha val="7059"/>
            </a:srgbClr>
          </a:solidFill>
          <a:ln w="12700">
            <a:solidFill>
              <a:srgbClr val="D4853A">
                <a:alpha val="25098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8645525" y="5765800"/>
            <a:ext cx="209550" cy="279400"/>
          </a:xfrm>
          <a:custGeom>
            <a:avLst/>
            <a:gdLst/>
            <a:ahLst/>
            <a:cxnLst/>
            <a:rect l="l" t="t" r="r" b="b"/>
            <a:pathLst>
              <a:path w="209550" h="279400">
                <a:moveTo>
                  <a:pt x="159836" y="209550"/>
                </a:moveTo>
                <a:cubicBezTo>
                  <a:pt x="163820" y="197381"/>
                  <a:pt x="171787" y="186358"/>
                  <a:pt x="180791" y="176862"/>
                </a:cubicBezTo>
                <a:cubicBezTo>
                  <a:pt x="198636" y="158090"/>
                  <a:pt x="209550" y="132715"/>
                  <a:pt x="209550" y="104775"/>
                </a:cubicBezTo>
                <a:cubicBezTo>
                  <a:pt x="209550" y="46930"/>
                  <a:pt x="162620" y="0"/>
                  <a:pt x="104775" y="0"/>
                </a:cubicBezTo>
                <a:cubicBezTo>
                  <a:pt x="46930" y="0"/>
                  <a:pt x="0" y="46930"/>
                  <a:pt x="0" y="104775"/>
                </a:cubicBezTo>
                <a:cubicBezTo>
                  <a:pt x="0" y="132715"/>
                  <a:pt x="10914" y="158090"/>
                  <a:pt x="28759" y="176862"/>
                </a:cubicBezTo>
                <a:cubicBezTo>
                  <a:pt x="37763" y="186358"/>
                  <a:pt x="45784" y="197381"/>
                  <a:pt x="49714" y="209550"/>
                </a:cubicBezTo>
                <a:lnTo>
                  <a:pt x="159782" y="209550"/>
                </a:lnTo>
                <a:close/>
                <a:moveTo>
                  <a:pt x="157163" y="235744"/>
                </a:moveTo>
                <a:lnTo>
                  <a:pt x="52388" y="235744"/>
                </a:lnTo>
                <a:lnTo>
                  <a:pt x="52388" y="244475"/>
                </a:lnTo>
                <a:cubicBezTo>
                  <a:pt x="52388" y="268595"/>
                  <a:pt x="71924" y="288131"/>
                  <a:pt x="96044" y="288131"/>
                </a:cubicBezTo>
                <a:lnTo>
                  <a:pt x="113506" y="288131"/>
                </a:lnTo>
                <a:cubicBezTo>
                  <a:pt x="137626" y="288131"/>
                  <a:pt x="157163" y="268595"/>
                  <a:pt x="157163" y="244475"/>
                </a:cubicBezTo>
                <a:lnTo>
                  <a:pt x="157163" y="235744"/>
                </a:lnTo>
                <a:close/>
                <a:moveTo>
                  <a:pt x="100409" y="61119"/>
                </a:moveTo>
                <a:cubicBezTo>
                  <a:pt x="78690" y="61119"/>
                  <a:pt x="61119" y="78690"/>
                  <a:pt x="61119" y="100409"/>
                </a:cubicBezTo>
                <a:cubicBezTo>
                  <a:pt x="61119" y="107667"/>
                  <a:pt x="55280" y="113506"/>
                  <a:pt x="48022" y="113506"/>
                </a:cubicBezTo>
                <a:cubicBezTo>
                  <a:pt x="40764" y="113506"/>
                  <a:pt x="34925" y="107667"/>
                  <a:pt x="34925" y="100409"/>
                </a:cubicBezTo>
                <a:cubicBezTo>
                  <a:pt x="34925" y="64229"/>
                  <a:pt x="64229" y="34925"/>
                  <a:pt x="100409" y="34925"/>
                </a:cubicBezTo>
                <a:cubicBezTo>
                  <a:pt x="107667" y="34925"/>
                  <a:pt x="113506" y="40764"/>
                  <a:pt x="113506" y="48022"/>
                </a:cubicBezTo>
                <a:cubicBezTo>
                  <a:pt x="113506" y="55280"/>
                  <a:pt x="107667" y="61119"/>
                  <a:pt x="100409" y="61119"/>
                </a:cubicBezTo>
                <a:close/>
              </a:path>
            </a:pathLst>
          </a:custGeom>
          <a:solidFill>
            <a:srgbClr val="D4853A"/>
          </a:solidFill>
          <a:ln/>
        </p:spPr>
      </p:sp>
      <p:sp>
        <p:nvSpPr>
          <p:cNvPr id="15" name="Text 12"/>
          <p:cNvSpPr/>
          <p:nvPr/>
        </p:nvSpPr>
        <p:spPr>
          <a:xfrm>
            <a:off x="8991600" y="57404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b="1" dirty="0">
                <a:solidFill>
                  <a:srgbClr val="D485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Explanation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8610600" y="6121400"/>
            <a:ext cx="66548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Cameras capture light and convert it into digital images. Microphones convert sound waves into electrical signals the computer can understand.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762000" y="8636000"/>
            <a:ext cx="762000" cy="38100"/>
          </a:xfrm>
          <a:prstGeom prst="rect">
            <a:avLst/>
          </a:prstGeom>
          <a:solidFill>
            <a:srgbClr val="1B7A6B"/>
          </a:solidFill>
          <a:ln/>
        </p:spPr>
      </p:sp>
      <p:sp>
        <p:nvSpPr>
          <p:cNvPr id="18" name="Text 15"/>
          <p:cNvSpPr/>
          <p:nvPr/>
        </p:nvSpPr>
        <p:spPr>
          <a:xfrm>
            <a:off x="14986000" y="8636000"/>
            <a:ext cx="508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400" dirty="0">
                <a:solidFill>
                  <a:srgbClr val="6B656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07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304800"/>
            <a:ext cx="1397000" cy="355600"/>
          </a:xfrm>
          <a:prstGeom prst="roundRect">
            <a:avLst>
              <a:gd name="adj" fmla="val 50000"/>
            </a:avLst>
          </a:prstGeom>
          <a:solidFill>
            <a:srgbClr val="1B7A6B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304800"/>
            <a:ext cx="1397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INPUT DEVICES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62000" y="8382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B7A6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Sensors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62000" y="1397000"/>
            <a:ext cx="762000" cy="38100"/>
          </a:xfrm>
          <a:prstGeom prst="rect">
            <a:avLst/>
          </a:prstGeom>
          <a:solidFill>
            <a:srgbClr val="D4853A"/>
          </a:solidFill>
          <a:ln/>
        </p:spPr>
      </p:sp>
      <p:sp>
        <p:nvSpPr>
          <p:cNvPr id="6" name="Shape 4"/>
          <p:cNvSpPr/>
          <p:nvPr/>
        </p:nvSpPr>
        <p:spPr>
          <a:xfrm>
            <a:off x="762000" y="1651000"/>
            <a:ext cx="8382000" cy="3683000"/>
          </a:xfrm>
          <a:prstGeom prst="roundRect">
            <a:avLst>
              <a:gd name="adj" fmla="val 8000"/>
            </a:avLst>
          </a:prstGeom>
          <a:solidFill>
            <a:srgbClr val="EDEAE4"/>
          </a:solidFill>
          <a:ln/>
        </p:spPr>
      </p:sp>
      <p:sp>
        <p:nvSpPr>
          <p:cNvPr id="7" name="Text 5"/>
          <p:cNvSpPr/>
          <p:nvPr/>
        </p:nvSpPr>
        <p:spPr>
          <a:xfrm>
            <a:off x="1016000" y="1803400"/>
            <a:ext cx="7874000" cy="3403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Sensors detect changes in the environment and send data to computers</a:t>
            </a:r>
            <a:endParaRPr lang="en-US" sz="1800" dirty="0"/>
          </a:p>
          <a:p>
            <a:pPr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Temperature sensors measure heat and cold</a:t>
            </a:r>
            <a:endParaRPr lang="en-US" sz="1800" dirty="0"/>
          </a:p>
          <a:p>
            <a:pPr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Motion sensors detect movement in a room or area</a:t>
            </a:r>
            <a:endParaRPr lang="en-US" sz="1800" dirty="0"/>
          </a:p>
          <a:p>
            <a:pPr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Light sensors adjust screen brightness based on surrounding light</a:t>
            </a:r>
            <a:endParaRPr lang="en-US" sz="1800" dirty="0"/>
          </a:p>
          <a:p>
            <a:pPr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Proximity sensors detect when something is nearby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525000" y="1651000"/>
            <a:ext cx="5969000" cy="3683000"/>
          </a:xfrm>
          <a:prstGeom prst="roundRect">
            <a:avLst>
              <a:gd name="adj" fmla="val 8000"/>
            </a:avLst>
          </a:prstGeom>
          <a:solidFill>
            <a:srgbClr val="1B7A6B"/>
          </a:solidFill>
          <a:ln/>
        </p:spPr>
      </p:sp>
      <p:sp>
        <p:nvSpPr>
          <p:cNvPr id="9" name="Text 7"/>
          <p:cNvSpPr/>
          <p:nvPr/>
        </p:nvSpPr>
        <p:spPr>
          <a:xfrm>
            <a:off x="9779000" y="1841500"/>
            <a:ext cx="5461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Common Sensor Types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0118725" y="2476500"/>
            <a:ext cx="285750" cy="457200"/>
          </a:xfrm>
          <a:custGeom>
            <a:avLst/>
            <a:gdLst/>
            <a:ahLst/>
            <a:cxnLst/>
            <a:rect l="l" t="t" r="r" b="b"/>
            <a:pathLst>
              <a:path w="285750" h="457200">
                <a:moveTo>
                  <a:pt x="142875" y="0"/>
                </a:moveTo>
                <a:cubicBezTo>
                  <a:pt x="95548" y="0"/>
                  <a:pt x="57150" y="38398"/>
                  <a:pt x="57150" y="85725"/>
                </a:cubicBezTo>
                <a:lnTo>
                  <a:pt x="57150" y="232797"/>
                </a:lnTo>
                <a:cubicBezTo>
                  <a:pt x="30807" y="256282"/>
                  <a:pt x="14288" y="290572"/>
                  <a:pt x="14288" y="328613"/>
                </a:cubicBezTo>
                <a:cubicBezTo>
                  <a:pt x="14288" y="399604"/>
                  <a:pt x="71884" y="457200"/>
                  <a:pt x="142875" y="457200"/>
                </a:cubicBezTo>
                <a:cubicBezTo>
                  <a:pt x="213866" y="457200"/>
                  <a:pt x="271463" y="399604"/>
                  <a:pt x="271463" y="328613"/>
                </a:cubicBezTo>
                <a:cubicBezTo>
                  <a:pt x="271463" y="290572"/>
                  <a:pt x="254943" y="256282"/>
                  <a:pt x="228600" y="232797"/>
                </a:cubicBezTo>
                <a:lnTo>
                  <a:pt x="228600" y="85725"/>
                </a:lnTo>
                <a:cubicBezTo>
                  <a:pt x="228600" y="38398"/>
                  <a:pt x="190202" y="0"/>
                  <a:pt x="142875" y="0"/>
                </a:cubicBezTo>
                <a:close/>
                <a:moveTo>
                  <a:pt x="200025" y="328613"/>
                </a:moveTo>
                <a:cubicBezTo>
                  <a:pt x="200025" y="360134"/>
                  <a:pt x="174397" y="385763"/>
                  <a:pt x="142875" y="385763"/>
                </a:cubicBezTo>
                <a:cubicBezTo>
                  <a:pt x="111353" y="385763"/>
                  <a:pt x="85725" y="360134"/>
                  <a:pt x="85725" y="328613"/>
                </a:cubicBezTo>
                <a:cubicBezTo>
                  <a:pt x="85725" y="304592"/>
                  <a:pt x="100459" y="284053"/>
                  <a:pt x="121444" y="275659"/>
                </a:cubicBezTo>
                <a:lnTo>
                  <a:pt x="121444" y="192881"/>
                </a:lnTo>
                <a:cubicBezTo>
                  <a:pt x="121444" y="181005"/>
                  <a:pt x="130999" y="171450"/>
                  <a:pt x="142875" y="171450"/>
                </a:cubicBezTo>
                <a:cubicBezTo>
                  <a:pt x="154751" y="171450"/>
                  <a:pt x="164306" y="181005"/>
                  <a:pt x="164306" y="192881"/>
                </a:cubicBezTo>
                <a:lnTo>
                  <a:pt x="164306" y="275659"/>
                </a:lnTo>
                <a:cubicBezTo>
                  <a:pt x="185291" y="284143"/>
                  <a:pt x="200025" y="304681"/>
                  <a:pt x="200025" y="328613"/>
                </a:cubicBezTo>
                <a:close/>
              </a:path>
            </a:pathLst>
          </a:custGeom>
          <a:solidFill>
            <a:srgbClr val="D4853A"/>
          </a:solidFill>
          <a:ln/>
        </p:spPr>
      </p:sp>
      <p:sp>
        <p:nvSpPr>
          <p:cNvPr id="11" name="Text 9"/>
          <p:cNvSpPr/>
          <p:nvPr/>
        </p:nvSpPr>
        <p:spPr>
          <a:xfrm>
            <a:off x="10642600" y="2476500"/>
            <a:ext cx="4572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Temperature Sensor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0090150" y="3111500"/>
            <a:ext cx="342900" cy="457200"/>
          </a:xfrm>
          <a:custGeom>
            <a:avLst/>
            <a:gdLst/>
            <a:ahLst/>
            <a:cxnLst/>
            <a:rect l="l" t="t" r="r" b="b"/>
            <a:pathLst>
              <a:path w="342900" h="457200">
                <a:moveTo>
                  <a:pt x="171450" y="71438"/>
                </a:moveTo>
                <a:cubicBezTo>
                  <a:pt x="199049" y="71438"/>
                  <a:pt x="221456" y="49030"/>
                  <a:pt x="221456" y="21431"/>
                </a:cubicBezTo>
                <a:cubicBezTo>
                  <a:pt x="221456" y="-6168"/>
                  <a:pt x="199049" y="-28575"/>
                  <a:pt x="171450" y="-28575"/>
                </a:cubicBezTo>
                <a:cubicBezTo>
                  <a:pt x="143851" y="-28575"/>
                  <a:pt x="121444" y="-6168"/>
                  <a:pt x="121444" y="21431"/>
                </a:cubicBezTo>
                <a:cubicBezTo>
                  <a:pt x="121444" y="49030"/>
                  <a:pt x="143851" y="71438"/>
                  <a:pt x="171450" y="71438"/>
                </a:cubicBezTo>
                <a:close/>
                <a:moveTo>
                  <a:pt x="94119" y="203508"/>
                </a:moveTo>
                <a:lnTo>
                  <a:pt x="114300" y="183326"/>
                </a:lnTo>
                <a:lnTo>
                  <a:pt x="114300" y="245209"/>
                </a:lnTo>
                <a:cubicBezTo>
                  <a:pt x="114300" y="270212"/>
                  <a:pt x="125194" y="294055"/>
                  <a:pt x="144214" y="310307"/>
                </a:cubicBezTo>
                <a:lnTo>
                  <a:pt x="207972" y="364956"/>
                </a:lnTo>
                <a:cubicBezTo>
                  <a:pt x="213241" y="369510"/>
                  <a:pt x="216724" y="375761"/>
                  <a:pt x="217706" y="382637"/>
                </a:cubicBezTo>
                <a:lnTo>
                  <a:pt x="228957" y="461308"/>
                </a:lnTo>
                <a:cubicBezTo>
                  <a:pt x="231190" y="476935"/>
                  <a:pt x="245656" y="487829"/>
                  <a:pt x="261283" y="485596"/>
                </a:cubicBezTo>
                <a:cubicBezTo>
                  <a:pt x="276910" y="483364"/>
                  <a:pt x="287804" y="468898"/>
                  <a:pt x="285571" y="453271"/>
                </a:cubicBezTo>
                <a:lnTo>
                  <a:pt x="274320" y="374600"/>
                </a:lnTo>
                <a:cubicBezTo>
                  <a:pt x="271373" y="353973"/>
                  <a:pt x="261015" y="335220"/>
                  <a:pt x="245209" y="321647"/>
                </a:cubicBezTo>
                <a:lnTo>
                  <a:pt x="214402" y="295215"/>
                </a:lnTo>
                <a:lnTo>
                  <a:pt x="214402" y="192345"/>
                </a:lnTo>
                <a:lnTo>
                  <a:pt x="217795" y="196542"/>
                </a:lnTo>
                <a:cubicBezTo>
                  <a:pt x="234047" y="216902"/>
                  <a:pt x="258693" y="228689"/>
                  <a:pt x="284768" y="228689"/>
                </a:cubicBezTo>
                <a:lnTo>
                  <a:pt x="314414" y="228689"/>
                </a:lnTo>
                <a:cubicBezTo>
                  <a:pt x="330220" y="228689"/>
                  <a:pt x="342989" y="215920"/>
                  <a:pt x="342989" y="200114"/>
                </a:cubicBezTo>
                <a:cubicBezTo>
                  <a:pt x="342989" y="184309"/>
                  <a:pt x="330220" y="171539"/>
                  <a:pt x="314414" y="171539"/>
                </a:cubicBezTo>
                <a:lnTo>
                  <a:pt x="284768" y="171539"/>
                </a:lnTo>
                <a:cubicBezTo>
                  <a:pt x="276106" y="171539"/>
                  <a:pt x="267891" y="167610"/>
                  <a:pt x="262444" y="160824"/>
                </a:cubicBezTo>
                <a:lnTo>
                  <a:pt x="246459" y="140821"/>
                </a:lnTo>
                <a:cubicBezTo>
                  <a:pt x="225921" y="115104"/>
                  <a:pt x="194756" y="100102"/>
                  <a:pt x="161806" y="100102"/>
                </a:cubicBezTo>
                <a:cubicBezTo>
                  <a:pt x="133052" y="100102"/>
                  <a:pt x="105460" y="111532"/>
                  <a:pt x="85189" y="131891"/>
                </a:cubicBezTo>
                <a:lnTo>
                  <a:pt x="53667" y="163056"/>
                </a:lnTo>
                <a:cubicBezTo>
                  <a:pt x="37594" y="179130"/>
                  <a:pt x="28575" y="200918"/>
                  <a:pt x="28575" y="223689"/>
                </a:cubicBezTo>
                <a:lnTo>
                  <a:pt x="28575" y="257175"/>
                </a:lnTo>
                <a:cubicBezTo>
                  <a:pt x="28575" y="272981"/>
                  <a:pt x="41344" y="285750"/>
                  <a:pt x="57150" y="285750"/>
                </a:cubicBezTo>
                <a:cubicBezTo>
                  <a:pt x="72956" y="285750"/>
                  <a:pt x="85725" y="272981"/>
                  <a:pt x="85725" y="257175"/>
                </a:cubicBezTo>
                <a:lnTo>
                  <a:pt x="85725" y="223689"/>
                </a:lnTo>
                <a:cubicBezTo>
                  <a:pt x="85725" y="216098"/>
                  <a:pt x="88761" y="208865"/>
                  <a:pt x="94119" y="203508"/>
                </a:cubicBezTo>
                <a:close/>
                <a:moveTo>
                  <a:pt x="105192" y="363706"/>
                </a:moveTo>
                <a:cubicBezTo>
                  <a:pt x="103852" y="368350"/>
                  <a:pt x="101352" y="372636"/>
                  <a:pt x="97959" y="376029"/>
                </a:cubicBezTo>
                <a:lnTo>
                  <a:pt x="36969" y="437019"/>
                </a:lnTo>
                <a:cubicBezTo>
                  <a:pt x="25807" y="448181"/>
                  <a:pt x="25807" y="466308"/>
                  <a:pt x="36969" y="477470"/>
                </a:cubicBezTo>
                <a:cubicBezTo>
                  <a:pt x="48131" y="488632"/>
                  <a:pt x="66258" y="488632"/>
                  <a:pt x="77420" y="477470"/>
                </a:cubicBezTo>
                <a:lnTo>
                  <a:pt x="138410" y="416481"/>
                </a:lnTo>
                <a:cubicBezTo>
                  <a:pt x="148679" y="406211"/>
                  <a:pt x="156180" y="393442"/>
                  <a:pt x="160199" y="379422"/>
                </a:cubicBezTo>
                <a:lnTo>
                  <a:pt x="162163" y="372636"/>
                </a:lnTo>
                <a:lnTo>
                  <a:pt x="121087" y="337453"/>
                </a:lnTo>
                <a:cubicBezTo>
                  <a:pt x="118854" y="335488"/>
                  <a:pt x="116622" y="333524"/>
                  <a:pt x="114479" y="331381"/>
                </a:cubicBezTo>
                <a:lnTo>
                  <a:pt x="105192" y="363706"/>
                </a:lnTo>
                <a:close/>
              </a:path>
            </a:pathLst>
          </a:custGeom>
          <a:solidFill>
            <a:srgbClr val="D4853A"/>
          </a:solidFill>
          <a:ln/>
        </p:spPr>
      </p:sp>
      <p:sp>
        <p:nvSpPr>
          <p:cNvPr id="13" name="Text 11"/>
          <p:cNvSpPr/>
          <p:nvPr/>
        </p:nvSpPr>
        <p:spPr>
          <a:xfrm>
            <a:off x="10642600" y="3111500"/>
            <a:ext cx="4572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Motion Sensor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0004425" y="3746500"/>
            <a:ext cx="514350" cy="457200"/>
          </a:xfrm>
          <a:custGeom>
            <a:avLst/>
            <a:gdLst/>
            <a:ahLst/>
            <a:cxnLst/>
            <a:rect l="l" t="t" r="r" b="b"/>
            <a:pathLst>
              <a:path w="514350" h="457200">
                <a:moveTo>
                  <a:pt x="159127" y="-9019"/>
                </a:moveTo>
                <a:cubicBezTo>
                  <a:pt x="165735" y="-11787"/>
                  <a:pt x="173236" y="-10984"/>
                  <a:pt x="179219" y="-7054"/>
                </a:cubicBezTo>
                <a:lnTo>
                  <a:pt x="257621" y="44916"/>
                </a:lnTo>
                <a:lnTo>
                  <a:pt x="336024" y="-7054"/>
                </a:lnTo>
                <a:cubicBezTo>
                  <a:pt x="342007" y="-10984"/>
                  <a:pt x="349508" y="-11698"/>
                  <a:pt x="356116" y="-9019"/>
                </a:cubicBezTo>
                <a:cubicBezTo>
                  <a:pt x="362724" y="-6340"/>
                  <a:pt x="367367" y="-446"/>
                  <a:pt x="368796" y="6519"/>
                </a:cubicBezTo>
                <a:lnTo>
                  <a:pt x="387459" y="98673"/>
                </a:lnTo>
                <a:lnTo>
                  <a:pt x="479614" y="117336"/>
                </a:lnTo>
                <a:cubicBezTo>
                  <a:pt x="486579" y="118765"/>
                  <a:pt x="492472" y="123587"/>
                  <a:pt x="495151" y="130106"/>
                </a:cubicBezTo>
                <a:cubicBezTo>
                  <a:pt x="497830" y="136624"/>
                  <a:pt x="497116" y="144214"/>
                  <a:pt x="493187" y="150197"/>
                </a:cubicBezTo>
                <a:lnTo>
                  <a:pt x="441216" y="228600"/>
                </a:lnTo>
                <a:lnTo>
                  <a:pt x="493187" y="307003"/>
                </a:lnTo>
                <a:cubicBezTo>
                  <a:pt x="497116" y="312986"/>
                  <a:pt x="497830" y="320486"/>
                  <a:pt x="495151" y="327094"/>
                </a:cubicBezTo>
                <a:cubicBezTo>
                  <a:pt x="492472" y="333702"/>
                  <a:pt x="486579" y="338524"/>
                  <a:pt x="479614" y="339864"/>
                </a:cubicBezTo>
                <a:lnTo>
                  <a:pt x="387370" y="358438"/>
                </a:lnTo>
                <a:lnTo>
                  <a:pt x="368796" y="450681"/>
                </a:lnTo>
                <a:cubicBezTo>
                  <a:pt x="367367" y="457646"/>
                  <a:pt x="362545" y="463540"/>
                  <a:pt x="356027" y="466219"/>
                </a:cubicBezTo>
                <a:cubicBezTo>
                  <a:pt x="349508" y="468898"/>
                  <a:pt x="341918" y="468184"/>
                  <a:pt x="335935" y="464254"/>
                </a:cubicBezTo>
                <a:lnTo>
                  <a:pt x="257532" y="412284"/>
                </a:lnTo>
                <a:lnTo>
                  <a:pt x="179130" y="464254"/>
                </a:lnTo>
                <a:cubicBezTo>
                  <a:pt x="173147" y="468184"/>
                  <a:pt x="165646" y="468898"/>
                  <a:pt x="159038" y="466219"/>
                </a:cubicBezTo>
                <a:cubicBezTo>
                  <a:pt x="152430" y="463540"/>
                  <a:pt x="147608" y="457646"/>
                  <a:pt x="146268" y="450681"/>
                </a:cubicBezTo>
                <a:lnTo>
                  <a:pt x="127695" y="358438"/>
                </a:lnTo>
                <a:lnTo>
                  <a:pt x="35451" y="339775"/>
                </a:lnTo>
                <a:cubicBezTo>
                  <a:pt x="28486" y="338346"/>
                  <a:pt x="22592" y="333524"/>
                  <a:pt x="19913" y="327005"/>
                </a:cubicBezTo>
                <a:cubicBezTo>
                  <a:pt x="17234" y="320486"/>
                  <a:pt x="17949" y="312896"/>
                  <a:pt x="21878" y="306913"/>
                </a:cubicBezTo>
                <a:lnTo>
                  <a:pt x="73849" y="228600"/>
                </a:lnTo>
                <a:lnTo>
                  <a:pt x="21878" y="150197"/>
                </a:lnTo>
                <a:cubicBezTo>
                  <a:pt x="17949" y="144214"/>
                  <a:pt x="17234" y="136714"/>
                  <a:pt x="19913" y="130106"/>
                </a:cubicBezTo>
                <a:cubicBezTo>
                  <a:pt x="22592" y="123498"/>
                  <a:pt x="28486" y="118676"/>
                  <a:pt x="35451" y="117336"/>
                </a:cubicBezTo>
                <a:lnTo>
                  <a:pt x="127695" y="98762"/>
                </a:lnTo>
                <a:lnTo>
                  <a:pt x="146358" y="6519"/>
                </a:lnTo>
                <a:cubicBezTo>
                  <a:pt x="147786" y="-446"/>
                  <a:pt x="152608" y="-6340"/>
                  <a:pt x="159127" y="-9019"/>
                </a:cubicBezTo>
                <a:close/>
                <a:moveTo>
                  <a:pt x="185380" y="228600"/>
                </a:moveTo>
                <a:cubicBezTo>
                  <a:pt x="185380" y="202950"/>
                  <a:pt x="199064" y="179249"/>
                  <a:pt x="221278" y="166424"/>
                </a:cubicBezTo>
                <a:cubicBezTo>
                  <a:pt x="243491" y="153599"/>
                  <a:pt x="270859" y="153599"/>
                  <a:pt x="293072" y="166424"/>
                </a:cubicBezTo>
                <a:cubicBezTo>
                  <a:pt x="315286" y="179249"/>
                  <a:pt x="328970" y="202950"/>
                  <a:pt x="328970" y="228600"/>
                </a:cubicBezTo>
                <a:cubicBezTo>
                  <a:pt x="328970" y="268225"/>
                  <a:pt x="296800" y="300395"/>
                  <a:pt x="257175" y="300395"/>
                </a:cubicBezTo>
                <a:cubicBezTo>
                  <a:pt x="217550" y="300395"/>
                  <a:pt x="185380" y="268225"/>
                  <a:pt x="185380" y="228600"/>
                </a:cubicBezTo>
                <a:close/>
                <a:moveTo>
                  <a:pt x="371832" y="228600"/>
                </a:moveTo>
                <a:cubicBezTo>
                  <a:pt x="371832" y="165319"/>
                  <a:pt x="320456" y="113943"/>
                  <a:pt x="257175" y="113943"/>
                </a:cubicBezTo>
                <a:cubicBezTo>
                  <a:pt x="193894" y="113943"/>
                  <a:pt x="142518" y="165319"/>
                  <a:pt x="142518" y="228600"/>
                </a:cubicBezTo>
                <a:cubicBezTo>
                  <a:pt x="142518" y="269563"/>
                  <a:pt x="164371" y="307415"/>
                  <a:pt x="199846" y="327896"/>
                </a:cubicBezTo>
                <a:cubicBezTo>
                  <a:pt x="235321" y="348378"/>
                  <a:pt x="279029" y="348378"/>
                  <a:pt x="314504" y="327896"/>
                </a:cubicBezTo>
                <a:cubicBezTo>
                  <a:pt x="349979" y="307415"/>
                  <a:pt x="371832" y="269563"/>
                  <a:pt x="371832" y="228600"/>
                </a:cubicBezTo>
                <a:close/>
              </a:path>
            </a:pathLst>
          </a:custGeom>
          <a:solidFill>
            <a:srgbClr val="D4853A"/>
          </a:solidFill>
          <a:ln/>
        </p:spPr>
      </p:sp>
      <p:sp>
        <p:nvSpPr>
          <p:cNvPr id="15" name="Text 13"/>
          <p:cNvSpPr/>
          <p:nvPr/>
        </p:nvSpPr>
        <p:spPr>
          <a:xfrm>
            <a:off x="10642600" y="3746500"/>
            <a:ext cx="4572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Light Sensor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0033000" y="4381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57175" y="28575"/>
                </a:moveTo>
                <a:cubicBezTo>
                  <a:pt x="257175" y="12769"/>
                  <a:pt x="244406" y="0"/>
                  <a:pt x="228600" y="0"/>
                </a:cubicBezTo>
                <a:cubicBezTo>
                  <a:pt x="212794" y="0"/>
                  <a:pt x="200025" y="12769"/>
                  <a:pt x="200025" y="28575"/>
                </a:cubicBezTo>
                <a:lnTo>
                  <a:pt x="200025" y="214313"/>
                </a:lnTo>
                <a:cubicBezTo>
                  <a:pt x="200025" y="222171"/>
                  <a:pt x="193596" y="228600"/>
                  <a:pt x="185738" y="228600"/>
                </a:cubicBezTo>
                <a:cubicBezTo>
                  <a:pt x="177879" y="228600"/>
                  <a:pt x="171450" y="222171"/>
                  <a:pt x="171450" y="214313"/>
                </a:cubicBezTo>
                <a:lnTo>
                  <a:pt x="171450" y="57150"/>
                </a:lnTo>
                <a:cubicBezTo>
                  <a:pt x="171450" y="41344"/>
                  <a:pt x="158681" y="28575"/>
                  <a:pt x="142875" y="28575"/>
                </a:cubicBezTo>
                <a:cubicBezTo>
                  <a:pt x="127069" y="28575"/>
                  <a:pt x="114300" y="41344"/>
                  <a:pt x="114300" y="57150"/>
                </a:cubicBezTo>
                <a:lnTo>
                  <a:pt x="114300" y="300038"/>
                </a:lnTo>
                <a:cubicBezTo>
                  <a:pt x="114300" y="301377"/>
                  <a:pt x="114300" y="302806"/>
                  <a:pt x="114389" y="304145"/>
                </a:cubicBezTo>
                <a:lnTo>
                  <a:pt x="60365" y="252710"/>
                </a:lnTo>
                <a:cubicBezTo>
                  <a:pt x="46077" y="239137"/>
                  <a:pt x="23485" y="239673"/>
                  <a:pt x="9823" y="253960"/>
                </a:cubicBezTo>
                <a:cubicBezTo>
                  <a:pt x="-3840" y="268248"/>
                  <a:pt x="-3215" y="290840"/>
                  <a:pt x="11073" y="304502"/>
                </a:cubicBezTo>
                <a:lnTo>
                  <a:pt x="111443" y="400050"/>
                </a:lnTo>
                <a:cubicBezTo>
                  <a:pt x="149929" y="436751"/>
                  <a:pt x="201097" y="457200"/>
                  <a:pt x="254318" y="457200"/>
                </a:cubicBezTo>
                <a:lnTo>
                  <a:pt x="271463" y="457200"/>
                </a:lnTo>
                <a:cubicBezTo>
                  <a:pt x="358259" y="457200"/>
                  <a:pt x="428625" y="386834"/>
                  <a:pt x="428625" y="300038"/>
                </a:cubicBezTo>
                <a:lnTo>
                  <a:pt x="428625" y="114300"/>
                </a:lnTo>
                <a:cubicBezTo>
                  <a:pt x="428625" y="98494"/>
                  <a:pt x="415856" y="85725"/>
                  <a:pt x="400050" y="85725"/>
                </a:cubicBezTo>
                <a:cubicBezTo>
                  <a:pt x="384244" y="85725"/>
                  <a:pt x="371475" y="98494"/>
                  <a:pt x="371475" y="114300"/>
                </a:cubicBezTo>
                <a:lnTo>
                  <a:pt x="371475" y="214313"/>
                </a:lnTo>
                <a:cubicBezTo>
                  <a:pt x="371475" y="222171"/>
                  <a:pt x="365046" y="228600"/>
                  <a:pt x="357188" y="228600"/>
                </a:cubicBezTo>
                <a:cubicBezTo>
                  <a:pt x="349329" y="228600"/>
                  <a:pt x="342900" y="222171"/>
                  <a:pt x="342900" y="214313"/>
                </a:cubicBezTo>
                <a:lnTo>
                  <a:pt x="342900" y="57150"/>
                </a:lnTo>
                <a:cubicBezTo>
                  <a:pt x="342900" y="41344"/>
                  <a:pt x="330131" y="28575"/>
                  <a:pt x="314325" y="28575"/>
                </a:cubicBezTo>
                <a:cubicBezTo>
                  <a:pt x="298519" y="28575"/>
                  <a:pt x="285750" y="41344"/>
                  <a:pt x="285750" y="57150"/>
                </a:cubicBezTo>
                <a:lnTo>
                  <a:pt x="285750" y="214313"/>
                </a:lnTo>
                <a:cubicBezTo>
                  <a:pt x="285750" y="222171"/>
                  <a:pt x="279321" y="228600"/>
                  <a:pt x="271463" y="228600"/>
                </a:cubicBezTo>
                <a:cubicBezTo>
                  <a:pt x="263604" y="228600"/>
                  <a:pt x="257175" y="222171"/>
                  <a:pt x="257175" y="214313"/>
                </a:cubicBezTo>
                <a:lnTo>
                  <a:pt x="257175" y="28575"/>
                </a:lnTo>
                <a:close/>
              </a:path>
            </a:pathLst>
          </a:custGeom>
          <a:solidFill>
            <a:srgbClr val="D4853A"/>
          </a:solidFill>
          <a:ln/>
        </p:spPr>
      </p:sp>
      <p:sp>
        <p:nvSpPr>
          <p:cNvPr id="17" name="Text 15"/>
          <p:cNvSpPr/>
          <p:nvPr/>
        </p:nvSpPr>
        <p:spPr>
          <a:xfrm>
            <a:off x="10642600" y="4381500"/>
            <a:ext cx="4572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Proximity Sensor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62000" y="5588000"/>
            <a:ext cx="7366000" cy="1397000"/>
          </a:xfrm>
          <a:prstGeom prst="roundRect">
            <a:avLst>
              <a:gd name="adj" fmla="val 8000"/>
            </a:avLst>
          </a:prstGeom>
          <a:solidFill>
            <a:srgbClr val="1B7A6B">
              <a:alpha val="8235"/>
            </a:srgbClr>
          </a:solidFill>
          <a:ln w="12700">
            <a:solidFill>
              <a:srgbClr val="1B7A6B">
                <a:alpha val="25098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90600" y="57658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92033" y="152797"/>
                </a:moveTo>
                <a:lnTo>
                  <a:pt x="87858" y="152797"/>
                </a:lnTo>
                <a:cubicBezTo>
                  <a:pt x="89441" y="187995"/>
                  <a:pt x="97244" y="220409"/>
                  <a:pt x="108322" y="244148"/>
                </a:cubicBezTo>
                <a:cubicBezTo>
                  <a:pt x="114543" y="257517"/>
                  <a:pt x="121255" y="266958"/>
                  <a:pt x="127476" y="272742"/>
                </a:cubicBezTo>
                <a:cubicBezTo>
                  <a:pt x="133588" y="278472"/>
                  <a:pt x="137790" y="279400"/>
                  <a:pt x="139973" y="279400"/>
                </a:cubicBezTo>
                <a:cubicBezTo>
                  <a:pt x="142156" y="279400"/>
                  <a:pt x="146358" y="278472"/>
                  <a:pt x="152469" y="272742"/>
                </a:cubicBezTo>
                <a:cubicBezTo>
                  <a:pt x="158690" y="266958"/>
                  <a:pt x="165403" y="257463"/>
                  <a:pt x="171624" y="244148"/>
                </a:cubicBezTo>
                <a:cubicBezTo>
                  <a:pt x="182701" y="220409"/>
                  <a:pt x="190505" y="187995"/>
                  <a:pt x="192087" y="152797"/>
                </a:cubicBezTo>
                <a:close/>
                <a:moveTo>
                  <a:pt x="87804" y="126603"/>
                </a:moveTo>
                <a:lnTo>
                  <a:pt x="191978" y="126603"/>
                </a:lnTo>
                <a:cubicBezTo>
                  <a:pt x="190450" y="91405"/>
                  <a:pt x="182647" y="58991"/>
                  <a:pt x="171569" y="35252"/>
                </a:cubicBezTo>
                <a:cubicBezTo>
                  <a:pt x="165348" y="21937"/>
                  <a:pt x="158636" y="12442"/>
                  <a:pt x="152415" y="6658"/>
                </a:cubicBezTo>
                <a:cubicBezTo>
                  <a:pt x="146303" y="928"/>
                  <a:pt x="142101" y="0"/>
                  <a:pt x="139918" y="0"/>
                </a:cubicBezTo>
                <a:cubicBezTo>
                  <a:pt x="137735" y="0"/>
                  <a:pt x="133534" y="928"/>
                  <a:pt x="127422" y="6658"/>
                </a:cubicBezTo>
                <a:cubicBezTo>
                  <a:pt x="121201" y="12442"/>
                  <a:pt x="114489" y="21937"/>
                  <a:pt x="108267" y="35252"/>
                </a:cubicBezTo>
                <a:cubicBezTo>
                  <a:pt x="97190" y="58991"/>
                  <a:pt x="89386" y="91405"/>
                  <a:pt x="87804" y="126603"/>
                </a:cubicBezTo>
                <a:close/>
                <a:moveTo>
                  <a:pt x="61610" y="126603"/>
                </a:moveTo>
                <a:cubicBezTo>
                  <a:pt x="63520" y="79891"/>
                  <a:pt x="75580" y="36508"/>
                  <a:pt x="93206" y="8022"/>
                </a:cubicBezTo>
                <a:cubicBezTo>
                  <a:pt x="42947" y="25812"/>
                  <a:pt x="5948" y="71596"/>
                  <a:pt x="819" y="126603"/>
                </a:cubicBezTo>
                <a:lnTo>
                  <a:pt x="61610" y="126603"/>
                </a:lnTo>
                <a:close/>
                <a:moveTo>
                  <a:pt x="819" y="152797"/>
                </a:moveTo>
                <a:cubicBezTo>
                  <a:pt x="5948" y="207804"/>
                  <a:pt x="42947" y="253588"/>
                  <a:pt x="93206" y="271378"/>
                </a:cubicBezTo>
                <a:cubicBezTo>
                  <a:pt x="75580" y="242892"/>
                  <a:pt x="63520" y="199509"/>
                  <a:pt x="61610" y="152797"/>
                </a:cubicBezTo>
                <a:lnTo>
                  <a:pt x="819" y="152797"/>
                </a:lnTo>
                <a:close/>
                <a:moveTo>
                  <a:pt x="218227" y="152797"/>
                </a:moveTo>
                <a:cubicBezTo>
                  <a:pt x="216317" y="199509"/>
                  <a:pt x="204257" y="242892"/>
                  <a:pt x="186630" y="271378"/>
                </a:cubicBezTo>
                <a:cubicBezTo>
                  <a:pt x="236890" y="253534"/>
                  <a:pt x="273888" y="207804"/>
                  <a:pt x="279018" y="152797"/>
                </a:cubicBezTo>
                <a:lnTo>
                  <a:pt x="218227" y="152797"/>
                </a:lnTo>
                <a:close/>
                <a:moveTo>
                  <a:pt x="279018" y="126603"/>
                </a:moveTo>
                <a:cubicBezTo>
                  <a:pt x="273888" y="71596"/>
                  <a:pt x="236890" y="25812"/>
                  <a:pt x="186630" y="8022"/>
                </a:cubicBezTo>
                <a:cubicBezTo>
                  <a:pt x="204257" y="36508"/>
                  <a:pt x="216317" y="79891"/>
                  <a:pt x="218227" y="126603"/>
                </a:cubicBezTo>
                <a:lnTo>
                  <a:pt x="279018" y="126603"/>
                </a:lnTo>
                <a:close/>
              </a:path>
            </a:pathLst>
          </a:custGeom>
          <a:solidFill>
            <a:srgbClr val="1B7A6B"/>
          </a:solidFill>
          <a:ln/>
        </p:spPr>
      </p:sp>
      <p:sp>
        <p:nvSpPr>
          <p:cNvPr id="20" name="Text 18"/>
          <p:cNvSpPr/>
          <p:nvPr/>
        </p:nvSpPr>
        <p:spPr>
          <a:xfrm>
            <a:off x="1371600" y="57404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b="1" dirty="0">
                <a:solidFill>
                  <a:srgbClr val="D485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Real-World Example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90600" y="6121400"/>
            <a:ext cx="69088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 smartphone uses sensors to rotate the screen when you turn the phone, and to count your daily steps.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8382000" y="5588000"/>
            <a:ext cx="7112000" cy="1397000"/>
          </a:xfrm>
          <a:prstGeom prst="roundRect">
            <a:avLst>
              <a:gd name="adj" fmla="val 8000"/>
            </a:avLst>
          </a:prstGeom>
          <a:solidFill>
            <a:srgbClr val="D4853A">
              <a:alpha val="7059"/>
            </a:srgbClr>
          </a:solidFill>
          <a:ln w="12700">
            <a:solidFill>
              <a:srgbClr val="D4853A">
                <a:alpha val="25098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645525" y="5765800"/>
            <a:ext cx="209550" cy="279400"/>
          </a:xfrm>
          <a:custGeom>
            <a:avLst/>
            <a:gdLst/>
            <a:ahLst/>
            <a:cxnLst/>
            <a:rect l="l" t="t" r="r" b="b"/>
            <a:pathLst>
              <a:path w="209550" h="279400">
                <a:moveTo>
                  <a:pt x="159836" y="209550"/>
                </a:moveTo>
                <a:cubicBezTo>
                  <a:pt x="163820" y="197381"/>
                  <a:pt x="171787" y="186358"/>
                  <a:pt x="180791" y="176862"/>
                </a:cubicBezTo>
                <a:cubicBezTo>
                  <a:pt x="198636" y="158090"/>
                  <a:pt x="209550" y="132715"/>
                  <a:pt x="209550" y="104775"/>
                </a:cubicBezTo>
                <a:cubicBezTo>
                  <a:pt x="209550" y="46930"/>
                  <a:pt x="162620" y="0"/>
                  <a:pt x="104775" y="0"/>
                </a:cubicBezTo>
                <a:cubicBezTo>
                  <a:pt x="46930" y="0"/>
                  <a:pt x="0" y="46930"/>
                  <a:pt x="0" y="104775"/>
                </a:cubicBezTo>
                <a:cubicBezTo>
                  <a:pt x="0" y="132715"/>
                  <a:pt x="10914" y="158090"/>
                  <a:pt x="28759" y="176862"/>
                </a:cubicBezTo>
                <a:cubicBezTo>
                  <a:pt x="37763" y="186358"/>
                  <a:pt x="45784" y="197381"/>
                  <a:pt x="49714" y="209550"/>
                </a:cubicBezTo>
                <a:lnTo>
                  <a:pt x="159782" y="209550"/>
                </a:lnTo>
                <a:close/>
                <a:moveTo>
                  <a:pt x="157163" y="235744"/>
                </a:moveTo>
                <a:lnTo>
                  <a:pt x="52388" y="235744"/>
                </a:lnTo>
                <a:lnTo>
                  <a:pt x="52388" y="244475"/>
                </a:lnTo>
                <a:cubicBezTo>
                  <a:pt x="52388" y="268595"/>
                  <a:pt x="71924" y="288131"/>
                  <a:pt x="96044" y="288131"/>
                </a:cubicBezTo>
                <a:lnTo>
                  <a:pt x="113506" y="288131"/>
                </a:lnTo>
                <a:cubicBezTo>
                  <a:pt x="137626" y="288131"/>
                  <a:pt x="157163" y="268595"/>
                  <a:pt x="157163" y="244475"/>
                </a:cubicBezTo>
                <a:lnTo>
                  <a:pt x="157163" y="235744"/>
                </a:lnTo>
                <a:close/>
                <a:moveTo>
                  <a:pt x="100409" y="61119"/>
                </a:moveTo>
                <a:cubicBezTo>
                  <a:pt x="78690" y="61119"/>
                  <a:pt x="61119" y="78690"/>
                  <a:pt x="61119" y="100409"/>
                </a:cubicBezTo>
                <a:cubicBezTo>
                  <a:pt x="61119" y="107667"/>
                  <a:pt x="55280" y="113506"/>
                  <a:pt x="48022" y="113506"/>
                </a:cubicBezTo>
                <a:cubicBezTo>
                  <a:pt x="40764" y="113506"/>
                  <a:pt x="34925" y="107667"/>
                  <a:pt x="34925" y="100409"/>
                </a:cubicBezTo>
                <a:cubicBezTo>
                  <a:pt x="34925" y="64229"/>
                  <a:pt x="64229" y="34925"/>
                  <a:pt x="100409" y="34925"/>
                </a:cubicBezTo>
                <a:cubicBezTo>
                  <a:pt x="107667" y="34925"/>
                  <a:pt x="113506" y="40764"/>
                  <a:pt x="113506" y="48022"/>
                </a:cubicBezTo>
                <a:cubicBezTo>
                  <a:pt x="113506" y="55280"/>
                  <a:pt x="107667" y="61119"/>
                  <a:pt x="100409" y="61119"/>
                </a:cubicBezTo>
                <a:close/>
              </a:path>
            </a:pathLst>
          </a:custGeom>
          <a:solidFill>
            <a:srgbClr val="D4853A"/>
          </a:solidFill>
          <a:ln/>
        </p:spPr>
      </p:sp>
      <p:sp>
        <p:nvSpPr>
          <p:cNvPr id="24" name="Text 22"/>
          <p:cNvSpPr/>
          <p:nvPr/>
        </p:nvSpPr>
        <p:spPr>
          <a:xfrm>
            <a:off x="8991600" y="57404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b="1" dirty="0">
                <a:solidFill>
                  <a:srgbClr val="D485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Explanation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610600" y="6121400"/>
            <a:ext cx="66548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Sensors are like the computer's senses. They gather information from the real world so the computer can respond automatically.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762000" y="8636000"/>
            <a:ext cx="762000" cy="38100"/>
          </a:xfrm>
          <a:prstGeom prst="rect">
            <a:avLst/>
          </a:prstGeom>
          <a:solidFill>
            <a:srgbClr val="1B7A6B"/>
          </a:solidFill>
          <a:ln/>
        </p:spPr>
      </p:sp>
      <p:sp>
        <p:nvSpPr>
          <p:cNvPr id="27" name="Text 25"/>
          <p:cNvSpPr/>
          <p:nvPr/>
        </p:nvSpPr>
        <p:spPr>
          <a:xfrm>
            <a:off x="14986000" y="8636000"/>
            <a:ext cx="508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400" dirty="0">
                <a:solidFill>
                  <a:srgbClr val="6B656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08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3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1016000"/>
            <a:ext cx="6350000" cy="2032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14000" dirty="0">
                <a:solidFill>
                  <a:srgbClr val="FFFFFF">
                    <a:alpha val="705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762000" y="3302000"/>
            <a:ext cx="1016000" cy="63500"/>
          </a:xfrm>
          <a:prstGeom prst="rect">
            <a:avLst/>
          </a:prstGeom>
          <a:solidFill>
            <a:srgbClr val="D4853A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3556000"/>
            <a:ext cx="6604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Direct Data Entry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62000" y="4445000"/>
            <a:ext cx="6096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FFFFFF">
                    <a:alpha val="73333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Automatic systems that read and input data without typing</a:t>
            </a:r>
            <a:endParaRPr lang="en-US" sz="1600" dirty="0"/>
          </a:p>
        </p:txBody>
      </p:sp>
      <p:pic>
        <p:nvPicPr>
          <p:cNvPr id="6" name="Image 0" descr="https://kimi-img.moonshot.cn/pub/slides/okc/3jqulld5ie46y/mnt/agents/output/ict_devices/images/9_3887_Barcode_cashier_Shutterstoc.png">    </p:cNvPr>
          <p:cNvPicPr>
            <a:picLocks noChangeAspect="1"/>
          </p:cNvPicPr>
          <p:nvPr/>
        </p:nvPicPr>
        <p:blipFill>
          <a:blip r:embed="rId1"/>
          <a:srcRect l="20370" r="20370" t="0" b="0"/>
          <a:stretch/>
        </p:blipFill>
        <p:spPr>
          <a:xfrm>
            <a:off x="8128000" y="0"/>
            <a:ext cx="8128000" cy="91440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128000" y="0"/>
            <a:ext cx="8128000" cy="9144000"/>
          </a:xfrm>
          <a:prstGeom prst="rect">
            <a:avLst/>
          </a:prstGeom>
          <a:gradFill rotWithShape="1" flip="none">
            <a:gsLst>
              <a:gs pos="0">
                <a:srgbClr val="1B3A3A"/>
              </a:gs>
              <a:gs pos="30000">
                <a:srgbClr val="1B3A3A">
                  <a:alpha val="60000"/>
                </a:srgbClr>
              </a:gs>
              <a:gs pos="100000">
                <a:srgbClr val="1B3A3A">
                  <a:alpha val="0"/>
                </a:srgbClr>
              </a:gs>
            </a:gsLst>
            <a:lin ang="0" scaled="1"/>
          </a:gradFill>
          <a:ln/>
        </p:spPr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304800"/>
            <a:ext cx="2032000" cy="355600"/>
          </a:xfrm>
          <a:prstGeom prst="roundRect">
            <a:avLst>
              <a:gd name="adj" fmla="val 50000"/>
            </a:avLst>
          </a:prstGeom>
          <a:solidFill>
            <a:srgbClr val="1B7A6B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304800"/>
            <a:ext cx="203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DIRECT DATA ENTRY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62000" y="838200"/>
            <a:ext cx="9525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B7A6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Magnetic Stripe Reader &amp; Chip and PIN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62000" y="1397000"/>
            <a:ext cx="762000" cy="38100"/>
          </a:xfrm>
          <a:prstGeom prst="rect">
            <a:avLst/>
          </a:prstGeom>
          <a:solidFill>
            <a:srgbClr val="D4853A"/>
          </a:solidFill>
          <a:ln/>
        </p:spPr>
      </p:sp>
      <p:pic>
        <p:nvPicPr>
          <p:cNvPr id="6" name="Image 0" descr="https://kimi-img.moonshot.cn/pub/slides/okc/3jqulld5ie46y/mnt/agents/output/ict_devices/images/8_Chip_and_PIN_machine_What_is_it_and.png">    </p:cNvPr>
          <p:cNvPicPr>
            <a:picLocks noChangeAspect="1"/>
          </p:cNvPicPr>
          <p:nvPr/>
        </p:nvPicPr>
        <p:blipFill>
          <a:blip r:embed="rId1"/>
          <a:srcRect l="1724" r="1724" t="0" b="0"/>
          <a:stretch/>
        </p:blipFill>
        <p:spPr>
          <a:xfrm>
            <a:off x="762000" y="1651000"/>
            <a:ext cx="5334000" cy="3683000"/>
          </a:xfrm>
          <a:prstGeom prst="roundRect">
            <a:avLst>
              <a:gd name="adj" fmla="val 8000"/>
            </a:avLst>
          </a:prstGeom>
        </p:spPr>
      </p:pic>
      <p:sp>
        <p:nvSpPr>
          <p:cNvPr id="7" name="Shape 4"/>
          <p:cNvSpPr/>
          <p:nvPr/>
        </p:nvSpPr>
        <p:spPr>
          <a:xfrm>
            <a:off x="6477000" y="1651000"/>
            <a:ext cx="9017000" cy="3683000"/>
          </a:xfrm>
          <a:prstGeom prst="roundRect">
            <a:avLst>
              <a:gd name="adj" fmla="val 8000"/>
            </a:avLst>
          </a:prstGeom>
          <a:solidFill>
            <a:srgbClr val="EDEAE4"/>
          </a:solidFill>
          <a:ln/>
        </p:spPr>
      </p:sp>
      <p:sp>
        <p:nvSpPr>
          <p:cNvPr id="8" name="Text 5"/>
          <p:cNvSpPr/>
          <p:nvPr/>
        </p:nvSpPr>
        <p:spPr>
          <a:xfrm>
            <a:off x="6731000" y="1803400"/>
            <a:ext cx="8509000" cy="3403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 magnetic stripe reader reads the black stripe on the back of cards</a:t>
            </a:r>
            <a:endParaRPr lang="en-US" sz="1800" dirty="0"/>
          </a:p>
          <a:p>
            <a:pPr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It is used on credit cards, debit cards, and ID cards</a:t>
            </a:r>
            <a:endParaRPr lang="en-US" sz="1800" dirty="0"/>
          </a:p>
          <a:p>
            <a:pPr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 chip and PIN reader reads the small chip embedded in modern cards</a:t>
            </a:r>
            <a:endParaRPr lang="en-US" sz="1800" dirty="0"/>
          </a:p>
          <a:p>
            <a:pPr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Chip and PIN is more secure than magnetic stripe</a:t>
            </a:r>
            <a:endParaRPr lang="en-US" sz="1800" dirty="0"/>
          </a:p>
          <a:p>
            <a:pPr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Both are used for payments and identity verification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762000" y="5588000"/>
            <a:ext cx="7366000" cy="1397000"/>
          </a:xfrm>
          <a:prstGeom prst="roundRect">
            <a:avLst>
              <a:gd name="adj" fmla="val 8000"/>
            </a:avLst>
          </a:prstGeom>
          <a:solidFill>
            <a:srgbClr val="1B7A6B">
              <a:alpha val="8235"/>
            </a:srgbClr>
          </a:solidFill>
          <a:ln w="12700">
            <a:solidFill>
              <a:srgbClr val="1B7A6B">
                <a:alpha val="25098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990600" y="57658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92033" y="152797"/>
                </a:moveTo>
                <a:lnTo>
                  <a:pt x="87858" y="152797"/>
                </a:lnTo>
                <a:cubicBezTo>
                  <a:pt x="89441" y="187995"/>
                  <a:pt x="97244" y="220409"/>
                  <a:pt x="108322" y="244148"/>
                </a:cubicBezTo>
                <a:cubicBezTo>
                  <a:pt x="114543" y="257517"/>
                  <a:pt x="121255" y="266958"/>
                  <a:pt x="127476" y="272742"/>
                </a:cubicBezTo>
                <a:cubicBezTo>
                  <a:pt x="133588" y="278472"/>
                  <a:pt x="137790" y="279400"/>
                  <a:pt x="139973" y="279400"/>
                </a:cubicBezTo>
                <a:cubicBezTo>
                  <a:pt x="142156" y="279400"/>
                  <a:pt x="146358" y="278472"/>
                  <a:pt x="152469" y="272742"/>
                </a:cubicBezTo>
                <a:cubicBezTo>
                  <a:pt x="158690" y="266958"/>
                  <a:pt x="165403" y="257463"/>
                  <a:pt x="171624" y="244148"/>
                </a:cubicBezTo>
                <a:cubicBezTo>
                  <a:pt x="182701" y="220409"/>
                  <a:pt x="190505" y="187995"/>
                  <a:pt x="192087" y="152797"/>
                </a:cubicBezTo>
                <a:close/>
                <a:moveTo>
                  <a:pt x="87804" y="126603"/>
                </a:moveTo>
                <a:lnTo>
                  <a:pt x="191978" y="126603"/>
                </a:lnTo>
                <a:cubicBezTo>
                  <a:pt x="190450" y="91405"/>
                  <a:pt x="182647" y="58991"/>
                  <a:pt x="171569" y="35252"/>
                </a:cubicBezTo>
                <a:cubicBezTo>
                  <a:pt x="165348" y="21937"/>
                  <a:pt x="158636" y="12442"/>
                  <a:pt x="152415" y="6658"/>
                </a:cubicBezTo>
                <a:cubicBezTo>
                  <a:pt x="146303" y="928"/>
                  <a:pt x="142101" y="0"/>
                  <a:pt x="139918" y="0"/>
                </a:cubicBezTo>
                <a:cubicBezTo>
                  <a:pt x="137735" y="0"/>
                  <a:pt x="133534" y="928"/>
                  <a:pt x="127422" y="6658"/>
                </a:cubicBezTo>
                <a:cubicBezTo>
                  <a:pt x="121201" y="12442"/>
                  <a:pt x="114489" y="21937"/>
                  <a:pt x="108267" y="35252"/>
                </a:cubicBezTo>
                <a:cubicBezTo>
                  <a:pt x="97190" y="58991"/>
                  <a:pt x="89386" y="91405"/>
                  <a:pt x="87804" y="126603"/>
                </a:cubicBezTo>
                <a:close/>
                <a:moveTo>
                  <a:pt x="61610" y="126603"/>
                </a:moveTo>
                <a:cubicBezTo>
                  <a:pt x="63520" y="79891"/>
                  <a:pt x="75580" y="36508"/>
                  <a:pt x="93206" y="8022"/>
                </a:cubicBezTo>
                <a:cubicBezTo>
                  <a:pt x="42947" y="25812"/>
                  <a:pt x="5948" y="71596"/>
                  <a:pt x="819" y="126603"/>
                </a:cubicBezTo>
                <a:lnTo>
                  <a:pt x="61610" y="126603"/>
                </a:lnTo>
                <a:close/>
                <a:moveTo>
                  <a:pt x="819" y="152797"/>
                </a:moveTo>
                <a:cubicBezTo>
                  <a:pt x="5948" y="207804"/>
                  <a:pt x="42947" y="253588"/>
                  <a:pt x="93206" y="271378"/>
                </a:cubicBezTo>
                <a:cubicBezTo>
                  <a:pt x="75580" y="242892"/>
                  <a:pt x="63520" y="199509"/>
                  <a:pt x="61610" y="152797"/>
                </a:cubicBezTo>
                <a:lnTo>
                  <a:pt x="819" y="152797"/>
                </a:lnTo>
                <a:close/>
                <a:moveTo>
                  <a:pt x="218227" y="152797"/>
                </a:moveTo>
                <a:cubicBezTo>
                  <a:pt x="216317" y="199509"/>
                  <a:pt x="204257" y="242892"/>
                  <a:pt x="186630" y="271378"/>
                </a:cubicBezTo>
                <a:cubicBezTo>
                  <a:pt x="236890" y="253534"/>
                  <a:pt x="273888" y="207804"/>
                  <a:pt x="279018" y="152797"/>
                </a:cubicBezTo>
                <a:lnTo>
                  <a:pt x="218227" y="152797"/>
                </a:lnTo>
                <a:close/>
                <a:moveTo>
                  <a:pt x="279018" y="126603"/>
                </a:moveTo>
                <a:cubicBezTo>
                  <a:pt x="273888" y="71596"/>
                  <a:pt x="236890" y="25812"/>
                  <a:pt x="186630" y="8022"/>
                </a:cubicBezTo>
                <a:cubicBezTo>
                  <a:pt x="204257" y="36508"/>
                  <a:pt x="216317" y="79891"/>
                  <a:pt x="218227" y="126603"/>
                </a:cubicBezTo>
                <a:lnTo>
                  <a:pt x="279018" y="126603"/>
                </a:lnTo>
                <a:close/>
              </a:path>
            </a:pathLst>
          </a:custGeom>
          <a:solidFill>
            <a:srgbClr val="1B7A6B"/>
          </a:solidFill>
          <a:ln/>
        </p:spPr>
      </p:sp>
      <p:sp>
        <p:nvSpPr>
          <p:cNvPr id="11" name="Text 8"/>
          <p:cNvSpPr/>
          <p:nvPr/>
        </p:nvSpPr>
        <p:spPr>
          <a:xfrm>
            <a:off x="1371600" y="57404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b="1" dirty="0">
                <a:solidFill>
                  <a:srgbClr val="D485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Real-World Example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990600" y="6121400"/>
            <a:ext cx="69088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You swipe your card at an ATM (magnetic stripe) or insert it into a payment terminal (chip and PIN) to withdraw cash.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8382000" y="5588000"/>
            <a:ext cx="7112000" cy="1397000"/>
          </a:xfrm>
          <a:prstGeom prst="roundRect">
            <a:avLst>
              <a:gd name="adj" fmla="val 8000"/>
            </a:avLst>
          </a:prstGeom>
          <a:solidFill>
            <a:srgbClr val="D4853A">
              <a:alpha val="7059"/>
            </a:srgbClr>
          </a:solidFill>
          <a:ln w="12700">
            <a:solidFill>
              <a:srgbClr val="D4853A">
                <a:alpha val="25098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8645525" y="5765800"/>
            <a:ext cx="209550" cy="279400"/>
          </a:xfrm>
          <a:custGeom>
            <a:avLst/>
            <a:gdLst/>
            <a:ahLst/>
            <a:cxnLst/>
            <a:rect l="l" t="t" r="r" b="b"/>
            <a:pathLst>
              <a:path w="209550" h="279400">
                <a:moveTo>
                  <a:pt x="159836" y="209550"/>
                </a:moveTo>
                <a:cubicBezTo>
                  <a:pt x="163820" y="197381"/>
                  <a:pt x="171787" y="186358"/>
                  <a:pt x="180791" y="176862"/>
                </a:cubicBezTo>
                <a:cubicBezTo>
                  <a:pt x="198636" y="158090"/>
                  <a:pt x="209550" y="132715"/>
                  <a:pt x="209550" y="104775"/>
                </a:cubicBezTo>
                <a:cubicBezTo>
                  <a:pt x="209550" y="46930"/>
                  <a:pt x="162620" y="0"/>
                  <a:pt x="104775" y="0"/>
                </a:cubicBezTo>
                <a:cubicBezTo>
                  <a:pt x="46930" y="0"/>
                  <a:pt x="0" y="46930"/>
                  <a:pt x="0" y="104775"/>
                </a:cubicBezTo>
                <a:cubicBezTo>
                  <a:pt x="0" y="132715"/>
                  <a:pt x="10914" y="158090"/>
                  <a:pt x="28759" y="176862"/>
                </a:cubicBezTo>
                <a:cubicBezTo>
                  <a:pt x="37763" y="186358"/>
                  <a:pt x="45784" y="197381"/>
                  <a:pt x="49714" y="209550"/>
                </a:cubicBezTo>
                <a:lnTo>
                  <a:pt x="159782" y="209550"/>
                </a:lnTo>
                <a:close/>
                <a:moveTo>
                  <a:pt x="157163" y="235744"/>
                </a:moveTo>
                <a:lnTo>
                  <a:pt x="52388" y="235744"/>
                </a:lnTo>
                <a:lnTo>
                  <a:pt x="52388" y="244475"/>
                </a:lnTo>
                <a:cubicBezTo>
                  <a:pt x="52388" y="268595"/>
                  <a:pt x="71924" y="288131"/>
                  <a:pt x="96044" y="288131"/>
                </a:cubicBezTo>
                <a:lnTo>
                  <a:pt x="113506" y="288131"/>
                </a:lnTo>
                <a:cubicBezTo>
                  <a:pt x="137626" y="288131"/>
                  <a:pt x="157163" y="268595"/>
                  <a:pt x="157163" y="244475"/>
                </a:cubicBezTo>
                <a:lnTo>
                  <a:pt x="157163" y="235744"/>
                </a:lnTo>
                <a:close/>
                <a:moveTo>
                  <a:pt x="100409" y="61119"/>
                </a:moveTo>
                <a:cubicBezTo>
                  <a:pt x="78690" y="61119"/>
                  <a:pt x="61119" y="78690"/>
                  <a:pt x="61119" y="100409"/>
                </a:cubicBezTo>
                <a:cubicBezTo>
                  <a:pt x="61119" y="107667"/>
                  <a:pt x="55280" y="113506"/>
                  <a:pt x="48022" y="113506"/>
                </a:cubicBezTo>
                <a:cubicBezTo>
                  <a:pt x="40764" y="113506"/>
                  <a:pt x="34925" y="107667"/>
                  <a:pt x="34925" y="100409"/>
                </a:cubicBezTo>
                <a:cubicBezTo>
                  <a:pt x="34925" y="64229"/>
                  <a:pt x="64229" y="34925"/>
                  <a:pt x="100409" y="34925"/>
                </a:cubicBezTo>
                <a:cubicBezTo>
                  <a:pt x="107667" y="34925"/>
                  <a:pt x="113506" y="40764"/>
                  <a:pt x="113506" y="48022"/>
                </a:cubicBezTo>
                <a:cubicBezTo>
                  <a:pt x="113506" y="55280"/>
                  <a:pt x="107667" y="61119"/>
                  <a:pt x="100409" y="61119"/>
                </a:cubicBezTo>
                <a:close/>
              </a:path>
            </a:pathLst>
          </a:custGeom>
          <a:solidFill>
            <a:srgbClr val="D4853A"/>
          </a:solidFill>
          <a:ln/>
        </p:spPr>
      </p:sp>
      <p:sp>
        <p:nvSpPr>
          <p:cNvPr id="15" name="Text 12"/>
          <p:cNvSpPr/>
          <p:nvPr/>
        </p:nvSpPr>
        <p:spPr>
          <a:xfrm>
            <a:off x="8991600" y="57404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b="1" dirty="0">
                <a:solidFill>
                  <a:srgbClr val="D485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Explanation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8610600" y="6121400"/>
            <a:ext cx="66548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stripe stores your account information. The chip creates a unique code for each transaction, making it harder to copy.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762000" y="8636000"/>
            <a:ext cx="762000" cy="38100"/>
          </a:xfrm>
          <a:prstGeom prst="rect">
            <a:avLst/>
          </a:prstGeom>
          <a:solidFill>
            <a:srgbClr val="1B7A6B"/>
          </a:solidFill>
          <a:ln/>
        </p:spPr>
      </p:sp>
      <p:sp>
        <p:nvSpPr>
          <p:cNvPr id="18" name="Text 15"/>
          <p:cNvSpPr/>
          <p:nvPr/>
        </p:nvSpPr>
        <p:spPr>
          <a:xfrm>
            <a:off x="14986000" y="8636000"/>
            <a:ext cx="508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400" dirty="0">
                <a:solidFill>
                  <a:srgbClr val="6B656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10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304800"/>
            <a:ext cx="2032000" cy="355600"/>
          </a:xfrm>
          <a:prstGeom prst="roundRect">
            <a:avLst>
              <a:gd name="adj" fmla="val 50000"/>
            </a:avLst>
          </a:prstGeom>
          <a:solidFill>
            <a:srgbClr val="1B7A6B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304800"/>
            <a:ext cx="203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DIRECT DATA ENTRY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62000" y="8382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B7A6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RFID Reader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62000" y="1397000"/>
            <a:ext cx="762000" cy="38100"/>
          </a:xfrm>
          <a:prstGeom prst="rect">
            <a:avLst/>
          </a:prstGeom>
          <a:solidFill>
            <a:srgbClr val="D4853A"/>
          </a:solidFill>
          <a:ln/>
        </p:spPr>
      </p:sp>
      <p:pic>
        <p:nvPicPr>
          <p:cNvPr id="6" name="Image 0" descr="https://kimi-img.moonshot.cn/pub/slides/okc/3jqulld5ie46y/mnt/agents/output/ict_devices/images/7_Exploring_the_Power_and_Versatility.png">    </p:cNvPr>
          <p:cNvPicPr>
            <a:picLocks noChangeAspect="1"/>
          </p:cNvPicPr>
          <p:nvPr/>
        </p:nvPicPr>
        <p:blipFill>
          <a:blip r:embed="rId1"/>
          <a:srcRect l="8436" r="8436" t="0" b="0"/>
          <a:stretch/>
        </p:blipFill>
        <p:spPr>
          <a:xfrm>
            <a:off x="762000" y="1651000"/>
            <a:ext cx="5334000" cy="3683000"/>
          </a:xfrm>
          <a:prstGeom prst="roundRect">
            <a:avLst>
              <a:gd name="adj" fmla="val 8000"/>
            </a:avLst>
          </a:prstGeom>
        </p:spPr>
      </p:pic>
      <p:sp>
        <p:nvSpPr>
          <p:cNvPr id="7" name="Shape 4"/>
          <p:cNvSpPr/>
          <p:nvPr/>
        </p:nvSpPr>
        <p:spPr>
          <a:xfrm>
            <a:off x="6477000" y="1651000"/>
            <a:ext cx="9017000" cy="3683000"/>
          </a:xfrm>
          <a:prstGeom prst="roundRect">
            <a:avLst>
              <a:gd name="adj" fmla="val 8000"/>
            </a:avLst>
          </a:prstGeom>
          <a:solidFill>
            <a:srgbClr val="EDEAE4"/>
          </a:solidFill>
          <a:ln/>
        </p:spPr>
      </p:sp>
      <p:sp>
        <p:nvSpPr>
          <p:cNvPr id="8" name="Text 5"/>
          <p:cNvSpPr/>
          <p:nvPr/>
        </p:nvSpPr>
        <p:spPr>
          <a:xfrm>
            <a:off x="6731000" y="1803400"/>
            <a:ext cx="8509000" cy="3403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RFID stands for Radio-Frequency Identification</a:t>
            </a:r>
            <a:endParaRPr lang="en-US" sz="1800" dirty="0"/>
          </a:p>
          <a:p>
            <a:pPr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It uses radio waves to read data from a small tag or chip</a:t>
            </a:r>
            <a:endParaRPr lang="en-US" sz="1800" dirty="0"/>
          </a:p>
          <a:p>
            <a:pPr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tag does not need to touch the reader — it works from a distance</a:t>
            </a:r>
            <a:endParaRPr lang="en-US" sz="1800" dirty="0"/>
          </a:p>
          <a:p>
            <a:pPr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RFID tags are used in passports, pet microchips, and inventory tracking</a:t>
            </a:r>
            <a:endParaRPr lang="en-US" sz="1800" dirty="0"/>
          </a:p>
          <a:p>
            <a:pPr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Active RFID has a battery; passive RFID gets power from the reader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762000" y="5588000"/>
            <a:ext cx="7366000" cy="1397000"/>
          </a:xfrm>
          <a:prstGeom prst="roundRect">
            <a:avLst>
              <a:gd name="adj" fmla="val 8000"/>
            </a:avLst>
          </a:prstGeom>
          <a:solidFill>
            <a:srgbClr val="1B7A6B">
              <a:alpha val="8235"/>
            </a:srgbClr>
          </a:solidFill>
          <a:ln w="12700">
            <a:solidFill>
              <a:srgbClr val="1B7A6B">
                <a:alpha val="25098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990600" y="57658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92033" y="152797"/>
                </a:moveTo>
                <a:lnTo>
                  <a:pt x="87858" y="152797"/>
                </a:lnTo>
                <a:cubicBezTo>
                  <a:pt x="89441" y="187995"/>
                  <a:pt x="97244" y="220409"/>
                  <a:pt x="108322" y="244148"/>
                </a:cubicBezTo>
                <a:cubicBezTo>
                  <a:pt x="114543" y="257517"/>
                  <a:pt x="121255" y="266958"/>
                  <a:pt x="127476" y="272742"/>
                </a:cubicBezTo>
                <a:cubicBezTo>
                  <a:pt x="133588" y="278472"/>
                  <a:pt x="137790" y="279400"/>
                  <a:pt x="139973" y="279400"/>
                </a:cubicBezTo>
                <a:cubicBezTo>
                  <a:pt x="142156" y="279400"/>
                  <a:pt x="146358" y="278472"/>
                  <a:pt x="152469" y="272742"/>
                </a:cubicBezTo>
                <a:cubicBezTo>
                  <a:pt x="158690" y="266958"/>
                  <a:pt x="165403" y="257463"/>
                  <a:pt x="171624" y="244148"/>
                </a:cubicBezTo>
                <a:cubicBezTo>
                  <a:pt x="182701" y="220409"/>
                  <a:pt x="190505" y="187995"/>
                  <a:pt x="192087" y="152797"/>
                </a:cubicBezTo>
                <a:close/>
                <a:moveTo>
                  <a:pt x="87804" y="126603"/>
                </a:moveTo>
                <a:lnTo>
                  <a:pt x="191978" y="126603"/>
                </a:lnTo>
                <a:cubicBezTo>
                  <a:pt x="190450" y="91405"/>
                  <a:pt x="182647" y="58991"/>
                  <a:pt x="171569" y="35252"/>
                </a:cubicBezTo>
                <a:cubicBezTo>
                  <a:pt x="165348" y="21937"/>
                  <a:pt x="158636" y="12442"/>
                  <a:pt x="152415" y="6658"/>
                </a:cubicBezTo>
                <a:cubicBezTo>
                  <a:pt x="146303" y="928"/>
                  <a:pt x="142101" y="0"/>
                  <a:pt x="139918" y="0"/>
                </a:cubicBezTo>
                <a:cubicBezTo>
                  <a:pt x="137735" y="0"/>
                  <a:pt x="133534" y="928"/>
                  <a:pt x="127422" y="6658"/>
                </a:cubicBezTo>
                <a:cubicBezTo>
                  <a:pt x="121201" y="12442"/>
                  <a:pt x="114489" y="21937"/>
                  <a:pt x="108267" y="35252"/>
                </a:cubicBezTo>
                <a:cubicBezTo>
                  <a:pt x="97190" y="58991"/>
                  <a:pt x="89386" y="91405"/>
                  <a:pt x="87804" y="126603"/>
                </a:cubicBezTo>
                <a:close/>
                <a:moveTo>
                  <a:pt x="61610" y="126603"/>
                </a:moveTo>
                <a:cubicBezTo>
                  <a:pt x="63520" y="79891"/>
                  <a:pt x="75580" y="36508"/>
                  <a:pt x="93206" y="8022"/>
                </a:cubicBezTo>
                <a:cubicBezTo>
                  <a:pt x="42947" y="25812"/>
                  <a:pt x="5948" y="71596"/>
                  <a:pt x="819" y="126603"/>
                </a:cubicBezTo>
                <a:lnTo>
                  <a:pt x="61610" y="126603"/>
                </a:lnTo>
                <a:close/>
                <a:moveTo>
                  <a:pt x="819" y="152797"/>
                </a:moveTo>
                <a:cubicBezTo>
                  <a:pt x="5948" y="207804"/>
                  <a:pt x="42947" y="253588"/>
                  <a:pt x="93206" y="271378"/>
                </a:cubicBezTo>
                <a:cubicBezTo>
                  <a:pt x="75580" y="242892"/>
                  <a:pt x="63520" y="199509"/>
                  <a:pt x="61610" y="152797"/>
                </a:cubicBezTo>
                <a:lnTo>
                  <a:pt x="819" y="152797"/>
                </a:lnTo>
                <a:close/>
                <a:moveTo>
                  <a:pt x="218227" y="152797"/>
                </a:moveTo>
                <a:cubicBezTo>
                  <a:pt x="216317" y="199509"/>
                  <a:pt x="204257" y="242892"/>
                  <a:pt x="186630" y="271378"/>
                </a:cubicBezTo>
                <a:cubicBezTo>
                  <a:pt x="236890" y="253534"/>
                  <a:pt x="273888" y="207804"/>
                  <a:pt x="279018" y="152797"/>
                </a:cubicBezTo>
                <a:lnTo>
                  <a:pt x="218227" y="152797"/>
                </a:lnTo>
                <a:close/>
                <a:moveTo>
                  <a:pt x="279018" y="126603"/>
                </a:moveTo>
                <a:cubicBezTo>
                  <a:pt x="273888" y="71596"/>
                  <a:pt x="236890" y="25812"/>
                  <a:pt x="186630" y="8022"/>
                </a:cubicBezTo>
                <a:cubicBezTo>
                  <a:pt x="204257" y="36508"/>
                  <a:pt x="216317" y="79891"/>
                  <a:pt x="218227" y="126603"/>
                </a:cubicBezTo>
                <a:lnTo>
                  <a:pt x="279018" y="126603"/>
                </a:lnTo>
                <a:close/>
              </a:path>
            </a:pathLst>
          </a:custGeom>
          <a:solidFill>
            <a:srgbClr val="1B7A6B"/>
          </a:solidFill>
          <a:ln/>
        </p:spPr>
      </p:sp>
      <p:sp>
        <p:nvSpPr>
          <p:cNvPr id="11" name="Text 8"/>
          <p:cNvSpPr/>
          <p:nvPr/>
        </p:nvSpPr>
        <p:spPr>
          <a:xfrm>
            <a:off x="1371600" y="57404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b="1" dirty="0">
                <a:solidFill>
                  <a:srgbClr val="D485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Real-World Example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990600" y="6121400"/>
            <a:ext cx="69088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 delivery company puts RFID tags on packages to track them as they move through warehouses.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8382000" y="5588000"/>
            <a:ext cx="7112000" cy="1397000"/>
          </a:xfrm>
          <a:prstGeom prst="roundRect">
            <a:avLst>
              <a:gd name="adj" fmla="val 8000"/>
            </a:avLst>
          </a:prstGeom>
          <a:solidFill>
            <a:srgbClr val="D4853A">
              <a:alpha val="7059"/>
            </a:srgbClr>
          </a:solidFill>
          <a:ln w="12700">
            <a:solidFill>
              <a:srgbClr val="D4853A">
                <a:alpha val="25098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8645525" y="5765800"/>
            <a:ext cx="209550" cy="279400"/>
          </a:xfrm>
          <a:custGeom>
            <a:avLst/>
            <a:gdLst/>
            <a:ahLst/>
            <a:cxnLst/>
            <a:rect l="l" t="t" r="r" b="b"/>
            <a:pathLst>
              <a:path w="209550" h="279400">
                <a:moveTo>
                  <a:pt x="159836" y="209550"/>
                </a:moveTo>
                <a:cubicBezTo>
                  <a:pt x="163820" y="197381"/>
                  <a:pt x="171787" y="186358"/>
                  <a:pt x="180791" y="176862"/>
                </a:cubicBezTo>
                <a:cubicBezTo>
                  <a:pt x="198636" y="158090"/>
                  <a:pt x="209550" y="132715"/>
                  <a:pt x="209550" y="104775"/>
                </a:cubicBezTo>
                <a:cubicBezTo>
                  <a:pt x="209550" y="46930"/>
                  <a:pt x="162620" y="0"/>
                  <a:pt x="104775" y="0"/>
                </a:cubicBezTo>
                <a:cubicBezTo>
                  <a:pt x="46930" y="0"/>
                  <a:pt x="0" y="46930"/>
                  <a:pt x="0" y="104775"/>
                </a:cubicBezTo>
                <a:cubicBezTo>
                  <a:pt x="0" y="132715"/>
                  <a:pt x="10914" y="158090"/>
                  <a:pt x="28759" y="176862"/>
                </a:cubicBezTo>
                <a:cubicBezTo>
                  <a:pt x="37763" y="186358"/>
                  <a:pt x="45784" y="197381"/>
                  <a:pt x="49714" y="209550"/>
                </a:cubicBezTo>
                <a:lnTo>
                  <a:pt x="159782" y="209550"/>
                </a:lnTo>
                <a:close/>
                <a:moveTo>
                  <a:pt x="157163" y="235744"/>
                </a:moveTo>
                <a:lnTo>
                  <a:pt x="52388" y="235744"/>
                </a:lnTo>
                <a:lnTo>
                  <a:pt x="52388" y="244475"/>
                </a:lnTo>
                <a:cubicBezTo>
                  <a:pt x="52388" y="268595"/>
                  <a:pt x="71924" y="288131"/>
                  <a:pt x="96044" y="288131"/>
                </a:cubicBezTo>
                <a:lnTo>
                  <a:pt x="113506" y="288131"/>
                </a:lnTo>
                <a:cubicBezTo>
                  <a:pt x="137626" y="288131"/>
                  <a:pt x="157163" y="268595"/>
                  <a:pt x="157163" y="244475"/>
                </a:cubicBezTo>
                <a:lnTo>
                  <a:pt x="157163" y="235744"/>
                </a:lnTo>
                <a:close/>
                <a:moveTo>
                  <a:pt x="100409" y="61119"/>
                </a:moveTo>
                <a:cubicBezTo>
                  <a:pt x="78690" y="61119"/>
                  <a:pt x="61119" y="78690"/>
                  <a:pt x="61119" y="100409"/>
                </a:cubicBezTo>
                <a:cubicBezTo>
                  <a:pt x="61119" y="107667"/>
                  <a:pt x="55280" y="113506"/>
                  <a:pt x="48022" y="113506"/>
                </a:cubicBezTo>
                <a:cubicBezTo>
                  <a:pt x="40764" y="113506"/>
                  <a:pt x="34925" y="107667"/>
                  <a:pt x="34925" y="100409"/>
                </a:cubicBezTo>
                <a:cubicBezTo>
                  <a:pt x="34925" y="64229"/>
                  <a:pt x="64229" y="34925"/>
                  <a:pt x="100409" y="34925"/>
                </a:cubicBezTo>
                <a:cubicBezTo>
                  <a:pt x="107667" y="34925"/>
                  <a:pt x="113506" y="40764"/>
                  <a:pt x="113506" y="48022"/>
                </a:cubicBezTo>
                <a:cubicBezTo>
                  <a:pt x="113506" y="55280"/>
                  <a:pt x="107667" y="61119"/>
                  <a:pt x="100409" y="61119"/>
                </a:cubicBezTo>
                <a:close/>
              </a:path>
            </a:pathLst>
          </a:custGeom>
          <a:solidFill>
            <a:srgbClr val="D4853A"/>
          </a:solidFill>
          <a:ln/>
        </p:spPr>
      </p:sp>
      <p:sp>
        <p:nvSpPr>
          <p:cNvPr id="15" name="Text 12"/>
          <p:cNvSpPr/>
          <p:nvPr/>
        </p:nvSpPr>
        <p:spPr>
          <a:xfrm>
            <a:off x="8991600" y="57404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b="1" dirty="0">
                <a:solidFill>
                  <a:srgbClr val="D485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Explanation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8610600" y="6121400"/>
            <a:ext cx="66548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RFID reader sends out radio waves. When a tag is nearby, it wakes up and sends back its stored information.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762000" y="8636000"/>
            <a:ext cx="762000" cy="38100"/>
          </a:xfrm>
          <a:prstGeom prst="rect">
            <a:avLst/>
          </a:prstGeom>
          <a:solidFill>
            <a:srgbClr val="1B7A6B"/>
          </a:solidFill>
          <a:ln/>
        </p:spPr>
      </p:sp>
      <p:sp>
        <p:nvSpPr>
          <p:cNvPr id="18" name="Text 15"/>
          <p:cNvSpPr/>
          <p:nvPr/>
        </p:nvSpPr>
        <p:spPr>
          <a:xfrm>
            <a:off x="14986000" y="8636000"/>
            <a:ext cx="508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400" dirty="0">
                <a:solidFill>
                  <a:srgbClr val="6B656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11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304800"/>
            <a:ext cx="2032000" cy="355600"/>
          </a:xfrm>
          <a:prstGeom prst="roundRect">
            <a:avLst>
              <a:gd name="adj" fmla="val 50000"/>
            </a:avLst>
          </a:prstGeom>
          <a:solidFill>
            <a:srgbClr val="1B7A6B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304800"/>
            <a:ext cx="203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DIRECT DATA ENTRY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62000" y="8382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B7A6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OMR &amp; OCR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62000" y="1397000"/>
            <a:ext cx="762000" cy="38100"/>
          </a:xfrm>
          <a:prstGeom prst="rect">
            <a:avLst/>
          </a:prstGeom>
          <a:solidFill>
            <a:srgbClr val="D4853A"/>
          </a:solidFill>
          <a:ln/>
        </p:spPr>
      </p:sp>
      <p:pic>
        <p:nvPicPr>
          <p:cNvPr id="6" name="Image 0" descr="https://kimi-img.moonshot.cn/pub/slides/okc/3jqulld5ie46y/mnt/agents/output/ict_devices/images/9_Optical_mark_recognition_sheet_OMR.png">    </p:cNvPr>
          <p:cNvPicPr>
            <a:picLocks noChangeAspect="1"/>
          </p:cNvPicPr>
          <p:nvPr/>
        </p:nvPicPr>
        <p:blipFill>
          <a:blip r:embed="rId1"/>
          <a:srcRect l="0" r="0" t="28491" b="28491"/>
          <a:stretch/>
        </p:blipFill>
        <p:spPr>
          <a:xfrm>
            <a:off x="762000" y="1651000"/>
            <a:ext cx="5334000" cy="3683000"/>
          </a:xfrm>
          <a:prstGeom prst="roundRect">
            <a:avLst>
              <a:gd name="adj" fmla="val 8000"/>
            </a:avLst>
          </a:prstGeom>
        </p:spPr>
      </p:pic>
      <p:sp>
        <p:nvSpPr>
          <p:cNvPr id="7" name="Shape 4"/>
          <p:cNvSpPr/>
          <p:nvPr/>
        </p:nvSpPr>
        <p:spPr>
          <a:xfrm>
            <a:off x="6477000" y="1651000"/>
            <a:ext cx="9017000" cy="3683000"/>
          </a:xfrm>
          <a:prstGeom prst="roundRect">
            <a:avLst>
              <a:gd name="adj" fmla="val 8000"/>
            </a:avLst>
          </a:prstGeom>
          <a:solidFill>
            <a:srgbClr val="EDEAE4"/>
          </a:solidFill>
          <a:ln/>
        </p:spPr>
      </p:sp>
      <p:sp>
        <p:nvSpPr>
          <p:cNvPr id="8" name="Text 5"/>
          <p:cNvSpPr/>
          <p:nvPr/>
        </p:nvSpPr>
        <p:spPr>
          <a:xfrm>
            <a:off x="6731000" y="1803400"/>
            <a:ext cx="8509000" cy="3403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OMR (Optical Mark Recognition) reads marks like ticks or filled circles</a:t>
            </a:r>
            <a:endParaRPr lang="en-US" sz="1800" dirty="0"/>
          </a:p>
          <a:p>
            <a:pPr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It is used for multiple-choice exam answer sheets</a:t>
            </a:r>
            <a:endParaRPr lang="en-US" sz="1800" dirty="0"/>
          </a:p>
          <a:p>
            <a:pPr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OCR (Optical Character Recognition) reads printed and handwritten text</a:t>
            </a:r>
            <a:endParaRPr lang="en-US" sz="1800" dirty="0"/>
          </a:p>
          <a:p>
            <a:pPr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OCR turns scanned documents into editable text files</a:t>
            </a:r>
            <a:endParaRPr lang="en-US" sz="1800" dirty="0"/>
          </a:p>
          <a:p>
            <a:pPr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OMR checks where a mark is; OCR reads what the text says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762000" y="5588000"/>
            <a:ext cx="7366000" cy="1397000"/>
          </a:xfrm>
          <a:prstGeom prst="roundRect">
            <a:avLst>
              <a:gd name="adj" fmla="val 8000"/>
            </a:avLst>
          </a:prstGeom>
          <a:solidFill>
            <a:srgbClr val="1B7A6B">
              <a:alpha val="8235"/>
            </a:srgbClr>
          </a:solidFill>
          <a:ln w="12700">
            <a:solidFill>
              <a:srgbClr val="1B7A6B">
                <a:alpha val="25098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990600" y="57658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92033" y="152797"/>
                </a:moveTo>
                <a:lnTo>
                  <a:pt x="87858" y="152797"/>
                </a:lnTo>
                <a:cubicBezTo>
                  <a:pt x="89441" y="187995"/>
                  <a:pt x="97244" y="220409"/>
                  <a:pt x="108322" y="244148"/>
                </a:cubicBezTo>
                <a:cubicBezTo>
                  <a:pt x="114543" y="257517"/>
                  <a:pt x="121255" y="266958"/>
                  <a:pt x="127476" y="272742"/>
                </a:cubicBezTo>
                <a:cubicBezTo>
                  <a:pt x="133588" y="278472"/>
                  <a:pt x="137790" y="279400"/>
                  <a:pt x="139973" y="279400"/>
                </a:cubicBezTo>
                <a:cubicBezTo>
                  <a:pt x="142156" y="279400"/>
                  <a:pt x="146358" y="278472"/>
                  <a:pt x="152469" y="272742"/>
                </a:cubicBezTo>
                <a:cubicBezTo>
                  <a:pt x="158690" y="266958"/>
                  <a:pt x="165403" y="257463"/>
                  <a:pt x="171624" y="244148"/>
                </a:cubicBezTo>
                <a:cubicBezTo>
                  <a:pt x="182701" y="220409"/>
                  <a:pt x="190505" y="187995"/>
                  <a:pt x="192087" y="152797"/>
                </a:cubicBezTo>
                <a:close/>
                <a:moveTo>
                  <a:pt x="87804" y="126603"/>
                </a:moveTo>
                <a:lnTo>
                  <a:pt x="191978" y="126603"/>
                </a:lnTo>
                <a:cubicBezTo>
                  <a:pt x="190450" y="91405"/>
                  <a:pt x="182647" y="58991"/>
                  <a:pt x="171569" y="35252"/>
                </a:cubicBezTo>
                <a:cubicBezTo>
                  <a:pt x="165348" y="21937"/>
                  <a:pt x="158636" y="12442"/>
                  <a:pt x="152415" y="6658"/>
                </a:cubicBezTo>
                <a:cubicBezTo>
                  <a:pt x="146303" y="928"/>
                  <a:pt x="142101" y="0"/>
                  <a:pt x="139918" y="0"/>
                </a:cubicBezTo>
                <a:cubicBezTo>
                  <a:pt x="137735" y="0"/>
                  <a:pt x="133534" y="928"/>
                  <a:pt x="127422" y="6658"/>
                </a:cubicBezTo>
                <a:cubicBezTo>
                  <a:pt x="121201" y="12442"/>
                  <a:pt x="114489" y="21937"/>
                  <a:pt x="108267" y="35252"/>
                </a:cubicBezTo>
                <a:cubicBezTo>
                  <a:pt x="97190" y="58991"/>
                  <a:pt x="89386" y="91405"/>
                  <a:pt x="87804" y="126603"/>
                </a:cubicBezTo>
                <a:close/>
                <a:moveTo>
                  <a:pt x="61610" y="126603"/>
                </a:moveTo>
                <a:cubicBezTo>
                  <a:pt x="63520" y="79891"/>
                  <a:pt x="75580" y="36508"/>
                  <a:pt x="93206" y="8022"/>
                </a:cubicBezTo>
                <a:cubicBezTo>
                  <a:pt x="42947" y="25812"/>
                  <a:pt x="5948" y="71596"/>
                  <a:pt x="819" y="126603"/>
                </a:cubicBezTo>
                <a:lnTo>
                  <a:pt x="61610" y="126603"/>
                </a:lnTo>
                <a:close/>
                <a:moveTo>
                  <a:pt x="819" y="152797"/>
                </a:moveTo>
                <a:cubicBezTo>
                  <a:pt x="5948" y="207804"/>
                  <a:pt x="42947" y="253588"/>
                  <a:pt x="93206" y="271378"/>
                </a:cubicBezTo>
                <a:cubicBezTo>
                  <a:pt x="75580" y="242892"/>
                  <a:pt x="63520" y="199509"/>
                  <a:pt x="61610" y="152797"/>
                </a:cubicBezTo>
                <a:lnTo>
                  <a:pt x="819" y="152797"/>
                </a:lnTo>
                <a:close/>
                <a:moveTo>
                  <a:pt x="218227" y="152797"/>
                </a:moveTo>
                <a:cubicBezTo>
                  <a:pt x="216317" y="199509"/>
                  <a:pt x="204257" y="242892"/>
                  <a:pt x="186630" y="271378"/>
                </a:cubicBezTo>
                <a:cubicBezTo>
                  <a:pt x="236890" y="253534"/>
                  <a:pt x="273888" y="207804"/>
                  <a:pt x="279018" y="152797"/>
                </a:cubicBezTo>
                <a:lnTo>
                  <a:pt x="218227" y="152797"/>
                </a:lnTo>
                <a:close/>
                <a:moveTo>
                  <a:pt x="279018" y="126603"/>
                </a:moveTo>
                <a:cubicBezTo>
                  <a:pt x="273888" y="71596"/>
                  <a:pt x="236890" y="25812"/>
                  <a:pt x="186630" y="8022"/>
                </a:cubicBezTo>
                <a:cubicBezTo>
                  <a:pt x="204257" y="36508"/>
                  <a:pt x="216317" y="79891"/>
                  <a:pt x="218227" y="126603"/>
                </a:cubicBezTo>
                <a:lnTo>
                  <a:pt x="279018" y="126603"/>
                </a:lnTo>
                <a:close/>
              </a:path>
            </a:pathLst>
          </a:custGeom>
          <a:solidFill>
            <a:srgbClr val="1B7A6B"/>
          </a:solidFill>
          <a:ln/>
        </p:spPr>
      </p:sp>
      <p:sp>
        <p:nvSpPr>
          <p:cNvPr id="11" name="Text 8"/>
          <p:cNvSpPr/>
          <p:nvPr/>
        </p:nvSpPr>
        <p:spPr>
          <a:xfrm>
            <a:off x="1371600" y="57404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b="1" dirty="0">
                <a:solidFill>
                  <a:srgbClr val="D485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Real-World Example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990600" y="6121400"/>
            <a:ext cx="69088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Schools use OMR to grade exam papers quickly, and OCR is used to convert old printed books into digital e-books.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8382000" y="5588000"/>
            <a:ext cx="7112000" cy="1397000"/>
          </a:xfrm>
          <a:prstGeom prst="roundRect">
            <a:avLst>
              <a:gd name="adj" fmla="val 8000"/>
            </a:avLst>
          </a:prstGeom>
          <a:solidFill>
            <a:srgbClr val="D4853A">
              <a:alpha val="7059"/>
            </a:srgbClr>
          </a:solidFill>
          <a:ln w="12700">
            <a:solidFill>
              <a:srgbClr val="D4853A">
                <a:alpha val="25098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8645525" y="5765800"/>
            <a:ext cx="209550" cy="279400"/>
          </a:xfrm>
          <a:custGeom>
            <a:avLst/>
            <a:gdLst/>
            <a:ahLst/>
            <a:cxnLst/>
            <a:rect l="l" t="t" r="r" b="b"/>
            <a:pathLst>
              <a:path w="209550" h="279400">
                <a:moveTo>
                  <a:pt x="159836" y="209550"/>
                </a:moveTo>
                <a:cubicBezTo>
                  <a:pt x="163820" y="197381"/>
                  <a:pt x="171787" y="186358"/>
                  <a:pt x="180791" y="176862"/>
                </a:cubicBezTo>
                <a:cubicBezTo>
                  <a:pt x="198636" y="158090"/>
                  <a:pt x="209550" y="132715"/>
                  <a:pt x="209550" y="104775"/>
                </a:cubicBezTo>
                <a:cubicBezTo>
                  <a:pt x="209550" y="46930"/>
                  <a:pt x="162620" y="0"/>
                  <a:pt x="104775" y="0"/>
                </a:cubicBezTo>
                <a:cubicBezTo>
                  <a:pt x="46930" y="0"/>
                  <a:pt x="0" y="46930"/>
                  <a:pt x="0" y="104775"/>
                </a:cubicBezTo>
                <a:cubicBezTo>
                  <a:pt x="0" y="132715"/>
                  <a:pt x="10914" y="158090"/>
                  <a:pt x="28759" y="176862"/>
                </a:cubicBezTo>
                <a:cubicBezTo>
                  <a:pt x="37763" y="186358"/>
                  <a:pt x="45784" y="197381"/>
                  <a:pt x="49714" y="209550"/>
                </a:cubicBezTo>
                <a:lnTo>
                  <a:pt x="159782" y="209550"/>
                </a:lnTo>
                <a:close/>
                <a:moveTo>
                  <a:pt x="157163" y="235744"/>
                </a:moveTo>
                <a:lnTo>
                  <a:pt x="52388" y="235744"/>
                </a:lnTo>
                <a:lnTo>
                  <a:pt x="52388" y="244475"/>
                </a:lnTo>
                <a:cubicBezTo>
                  <a:pt x="52388" y="268595"/>
                  <a:pt x="71924" y="288131"/>
                  <a:pt x="96044" y="288131"/>
                </a:cubicBezTo>
                <a:lnTo>
                  <a:pt x="113506" y="288131"/>
                </a:lnTo>
                <a:cubicBezTo>
                  <a:pt x="137626" y="288131"/>
                  <a:pt x="157163" y="268595"/>
                  <a:pt x="157163" y="244475"/>
                </a:cubicBezTo>
                <a:lnTo>
                  <a:pt x="157163" y="235744"/>
                </a:lnTo>
                <a:close/>
                <a:moveTo>
                  <a:pt x="100409" y="61119"/>
                </a:moveTo>
                <a:cubicBezTo>
                  <a:pt x="78690" y="61119"/>
                  <a:pt x="61119" y="78690"/>
                  <a:pt x="61119" y="100409"/>
                </a:cubicBezTo>
                <a:cubicBezTo>
                  <a:pt x="61119" y="107667"/>
                  <a:pt x="55280" y="113506"/>
                  <a:pt x="48022" y="113506"/>
                </a:cubicBezTo>
                <a:cubicBezTo>
                  <a:pt x="40764" y="113506"/>
                  <a:pt x="34925" y="107667"/>
                  <a:pt x="34925" y="100409"/>
                </a:cubicBezTo>
                <a:cubicBezTo>
                  <a:pt x="34925" y="64229"/>
                  <a:pt x="64229" y="34925"/>
                  <a:pt x="100409" y="34925"/>
                </a:cubicBezTo>
                <a:cubicBezTo>
                  <a:pt x="107667" y="34925"/>
                  <a:pt x="113506" y="40764"/>
                  <a:pt x="113506" y="48022"/>
                </a:cubicBezTo>
                <a:cubicBezTo>
                  <a:pt x="113506" y="55280"/>
                  <a:pt x="107667" y="61119"/>
                  <a:pt x="100409" y="61119"/>
                </a:cubicBezTo>
                <a:close/>
              </a:path>
            </a:pathLst>
          </a:custGeom>
          <a:solidFill>
            <a:srgbClr val="D4853A"/>
          </a:solidFill>
          <a:ln/>
        </p:spPr>
      </p:sp>
      <p:sp>
        <p:nvSpPr>
          <p:cNvPr id="15" name="Text 12"/>
          <p:cNvSpPr/>
          <p:nvPr/>
        </p:nvSpPr>
        <p:spPr>
          <a:xfrm>
            <a:off x="8991600" y="57404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b="1" dirty="0">
                <a:solidFill>
                  <a:srgbClr val="D485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Explanation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8610600" y="6121400"/>
            <a:ext cx="66548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OMR looks for dark marks in specific places. OCR studies the shapes of letters and converts them into computer text.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762000" y="8636000"/>
            <a:ext cx="762000" cy="38100"/>
          </a:xfrm>
          <a:prstGeom prst="rect">
            <a:avLst/>
          </a:prstGeom>
          <a:solidFill>
            <a:srgbClr val="1B7A6B"/>
          </a:solidFill>
          <a:ln/>
        </p:spPr>
      </p:sp>
      <p:sp>
        <p:nvSpPr>
          <p:cNvPr id="18" name="Text 15"/>
          <p:cNvSpPr/>
          <p:nvPr/>
        </p:nvSpPr>
        <p:spPr>
          <a:xfrm>
            <a:off x="14986000" y="8636000"/>
            <a:ext cx="508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400" dirty="0">
                <a:solidFill>
                  <a:srgbClr val="6B656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12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304800"/>
            <a:ext cx="2032000" cy="355600"/>
          </a:xfrm>
          <a:prstGeom prst="roundRect">
            <a:avLst>
              <a:gd name="adj" fmla="val 50000"/>
            </a:avLst>
          </a:prstGeom>
          <a:solidFill>
            <a:srgbClr val="1B7A6B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304800"/>
            <a:ext cx="203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DIRECT DATA ENTRY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62000" y="8382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B7A6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Barcode Reader &amp; QR Scanner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62000" y="1397000"/>
            <a:ext cx="762000" cy="38100"/>
          </a:xfrm>
          <a:prstGeom prst="rect">
            <a:avLst/>
          </a:prstGeom>
          <a:solidFill>
            <a:srgbClr val="D4853A"/>
          </a:solidFill>
          <a:ln/>
        </p:spPr>
      </p:sp>
      <p:pic>
        <p:nvPicPr>
          <p:cNvPr id="6" name="Image 0" descr="https://kimi-img.moonshot.cn/pub/slides/okc/3jqulld5ie46y/mnt/agents/output/ict_devices/images/4_How_to_Scan_a_QR_Code_on_Android.png">    </p:cNvPr>
          <p:cNvPicPr>
            <a:picLocks noChangeAspect="1"/>
          </p:cNvPicPr>
          <p:nvPr/>
        </p:nvPicPr>
        <p:blipFill>
          <a:blip r:embed="rId1"/>
          <a:srcRect l="9267" r="9267" t="0" b="0"/>
          <a:stretch/>
        </p:blipFill>
        <p:spPr>
          <a:xfrm>
            <a:off x="762000" y="1651000"/>
            <a:ext cx="5334000" cy="3683000"/>
          </a:xfrm>
          <a:prstGeom prst="roundRect">
            <a:avLst>
              <a:gd name="adj" fmla="val 8000"/>
            </a:avLst>
          </a:prstGeom>
        </p:spPr>
      </p:pic>
      <p:sp>
        <p:nvSpPr>
          <p:cNvPr id="7" name="Shape 4"/>
          <p:cNvSpPr/>
          <p:nvPr/>
        </p:nvSpPr>
        <p:spPr>
          <a:xfrm>
            <a:off x="6477000" y="1651000"/>
            <a:ext cx="9017000" cy="3683000"/>
          </a:xfrm>
          <a:prstGeom prst="roundRect">
            <a:avLst>
              <a:gd name="adj" fmla="val 8000"/>
            </a:avLst>
          </a:prstGeom>
          <a:solidFill>
            <a:srgbClr val="EDEAE4"/>
          </a:solidFill>
          <a:ln/>
        </p:spPr>
      </p:sp>
      <p:sp>
        <p:nvSpPr>
          <p:cNvPr id="8" name="Text 5"/>
          <p:cNvSpPr/>
          <p:nvPr/>
        </p:nvSpPr>
        <p:spPr>
          <a:xfrm>
            <a:off x="6731000" y="1803400"/>
            <a:ext cx="8509000" cy="3403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 barcode reader scans the black and white lines on products</a:t>
            </a:r>
            <a:endParaRPr lang="en-US" sz="1800" dirty="0"/>
          </a:p>
          <a:p>
            <a:pPr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Each product has a unique barcode with price and item information</a:t>
            </a:r>
            <a:endParaRPr lang="en-US" sz="1800" dirty="0"/>
          </a:p>
          <a:p>
            <a:pPr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 QR scanner reads square-shaped QR codes with a camera</a:t>
            </a:r>
            <a:endParaRPr lang="en-US" sz="1800" dirty="0"/>
          </a:p>
          <a:p>
            <a:pPr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QR codes can store website links, contact info, and payment details</a:t>
            </a:r>
            <a:endParaRPr lang="en-US" sz="1800" dirty="0"/>
          </a:p>
          <a:p>
            <a:pPr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Both make shopping and information sharing faster and easier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762000" y="5588000"/>
            <a:ext cx="7366000" cy="1397000"/>
          </a:xfrm>
          <a:prstGeom prst="roundRect">
            <a:avLst>
              <a:gd name="adj" fmla="val 8000"/>
            </a:avLst>
          </a:prstGeom>
          <a:solidFill>
            <a:srgbClr val="1B7A6B">
              <a:alpha val="8235"/>
            </a:srgbClr>
          </a:solidFill>
          <a:ln w="12700">
            <a:solidFill>
              <a:srgbClr val="1B7A6B">
                <a:alpha val="25098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990600" y="57658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92033" y="152797"/>
                </a:moveTo>
                <a:lnTo>
                  <a:pt x="87858" y="152797"/>
                </a:lnTo>
                <a:cubicBezTo>
                  <a:pt x="89441" y="187995"/>
                  <a:pt x="97244" y="220409"/>
                  <a:pt x="108322" y="244148"/>
                </a:cubicBezTo>
                <a:cubicBezTo>
                  <a:pt x="114543" y="257517"/>
                  <a:pt x="121255" y="266958"/>
                  <a:pt x="127476" y="272742"/>
                </a:cubicBezTo>
                <a:cubicBezTo>
                  <a:pt x="133588" y="278472"/>
                  <a:pt x="137790" y="279400"/>
                  <a:pt x="139973" y="279400"/>
                </a:cubicBezTo>
                <a:cubicBezTo>
                  <a:pt x="142156" y="279400"/>
                  <a:pt x="146358" y="278472"/>
                  <a:pt x="152469" y="272742"/>
                </a:cubicBezTo>
                <a:cubicBezTo>
                  <a:pt x="158690" y="266958"/>
                  <a:pt x="165403" y="257463"/>
                  <a:pt x="171624" y="244148"/>
                </a:cubicBezTo>
                <a:cubicBezTo>
                  <a:pt x="182701" y="220409"/>
                  <a:pt x="190505" y="187995"/>
                  <a:pt x="192087" y="152797"/>
                </a:cubicBezTo>
                <a:close/>
                <a:moveTo>
                  <a:pt x="87804" y="126603"/>
                </a:moveTo>
                <a:lnTo>
                  <a:pt x="191978" y="126603"/>
                </a:lnTo>
                <a:cubicBezTo>
                  <a:pt x="190450" y="91405"/>
                  <a:pt x="182647" y="58991"/>
                  <a:pt x="171569" y="35252"/>
                </a:cubicBezTo>
                <a:cubicBezTo>
                  <a:pt x="165348" y="21937"/>
                  <a:pt x="158636" y="12442"/>
                  <a:pt x="152415" y="6658"/>
                </a:cubicBezTo>
                <a:cubicBezTo>
                  <a:pt x="146303" y="928"/>
                  <a:pt x="142101" y="0"/>
                  <a:pt x="139918" y="0"/>
                </a:cubicBezTo>
                <a:cubicBezTo>
                  <a:pt x="137735" y="0"/>
                  <a:pt x="133534" y="928"/>
                  <a:pt x="127422" y="6658"/>
                </a:cubicBezTo>
                <a:cubicBezTo>
                  <a:pt x="121201" y="12442"/>
                  <a:pt x="114489" y="21937"/>
                  <a:pt x="108267" y="35252"/>
                </a:cubicBezTo>
                <a:cubicBezTo>
                  <a:pt x="97190" y="58991"/>
                  <a:pt x="89386" y="91405"/>
                  <a:pt x="87804" y="126603"/>
                </a:cubicBezTo>
                <a:close/>
                <a:moveTo>
                  <a:pt x="61610" y="126603"/>
                </a:moveTo>
                <a:cubicBezTo>
                  <a:pt x="63520" y="79891"/>
                  <a:pt x="75580" y="36508"/>
                  <a:pt x="93206" y="8022"/>
                </a:cubicBezTo>
                <a:cubicBezTo>
                  <a:pt x="42947" y="25812"/>
                  <a:pt x="5948" y="71596"/>
                  <a:pt x="819" y="126603"/>
                </a:cubicBezTo>
                <a:lnTo>
                  <a:pt x="61610" y="126603"/>
                </a:lnTo>
                <a:close/>
                <a:moveTo>
                  <a:pt x="819" y="152797"/>
                </a:moveTo>
                <a:cubicBezTo>
                  <a:pt x="5948" y="207804"/>
                  <a:pt x="42947" y="253588"/>
                  <a:pt x="93206" y="271378"/>
                </a:cubicBezTo>
                <a:cubicBezTo>
                  <a:pt x="75580" y="242892"/>
                  <a:pt x="63520" y="199509"/>
                  <a:pt x="61610" y="152797"/>
                </a:cubicBezTo>
                <a:lnTo>
                  <a:pt x="819" y="152797"/>
                </a:lnTo>
                <a:close/>
                <a:moveTo>
                  <a:pt x="218227" y="152797"/>
                </a:moveTo>
                <a:cubicBezTo>
                  <a:pt x="216317" y="199509"/>
                  <a:pt x="204257" y="242892"/>
                  <a:pt x="186630" y="271378"/>
                </a:cubicBezTo>
                <a:cubicBezTo>
                  <a:pt x="236890" y="253534"/>
                  <a:pt x="273888" y="207804"/>
                  <a:pt x="279018" y="152797"/>
                </a:cubicBezTo>
                <a:lnTo>
                  <a:pt x="218227" y="152797"/>
                </a:lnTo>
                <a:close/>
                <a:moveTo>
                  <a:pt x="279018" y="126603"/>
                </a:moveTo>
                <a:cubicBezTo>
                  <a:pt x="273888" y="71596"/>
                  <a:pt x="236890" y="25812"/>
                  <a:pt x="186630" y="8022"/>
                </a:cubicBezTo>
                <a:cubicBezTo>
                  <a:pt x="204257" y="36508"/>
                  <a:pt x="216317" y="79891"/>
                  <a:pt x="218227" y="126603"/>
                </a:cubicBezTo>
                <a:lnTo>
                  <a:pt x="279018" y="126603"/>
                </a:lnTo>
                <a:close/>
              </a:path>
            </a:pathLst>
          </a:custGeom>
          <a:solidFill>
            <a:srgbClr val="1B7A6B"/>
          </a:solidFill>
          <a:ln/>
        </p:spPr>
      </p:sp>
      <p:sp>
        <p:nvSpPr>
          <p:cNvPr id="11" name="Text 8"/>
          <p:cNvSpPr/>
          <p:nvPr/>
        </p:nvSpPr>
        <p:spPr>
          <a:xfrm>
            <a:off x="1371600" y="57404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b="1" dirty="0">
                <a:solidFill>
                  <a:srgbClr val="D485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Real-World Example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990600" y="6121400"/>
            <a:ext cx="69088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 supermarket cashier scans barcodes at checkout, and a person scans a QR code at a restaurant to view the menu.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8382000" y="5588000"/>
            <a:ext cx="7112000" cy="1397000"/>
          </a:xfrm>
          <a:prstGeom prst="roundRect">
            <a:avLst>
              <a:gd name="adj" fmla="val 8000"/>
            </a:avLst>
          </a:prstGeom>
          <a:solidFill>
            <a:srgbClr val="D4853A">
              <a:alpha val="7059"/>
            </a:srgbClr>
          </a:solidFill>
          <a:ln w="12700">
            <a:solidFill>
              <a:srgbClr val="D4853A">
                <a:alpha val="25098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8645525" y="5765800"/>
            <a:ext cx="209550" cy="279400"/>
          </a:xfrm>
          <a:custGeom>
            <a:avLst/>
            <a:gdLst/>
            <a:ahLst/>
            <a:cxnLst/>
            <a:rect l="l" t="t" r="r" b="b"/>
            <a:pathLst>
              <a:path w="209550" h="279400">
                <a:moveTo>
                  <a:pt x="159836" y="209550"/>
                </a:moveTo>
                <a:cubicBezTo>
                  <a:pt x="163820" y="197381"/>
                  <a:pt x="171787" y="186358"/>
                  <a:pt x="180791" y="176862"/>
                </a:cubicBezTo>
                <a:cubicBezTo>
                  <a:pt x="198636" y="158090"/>
                  <a:pt x="209550" y="132715"/>
                  <a:pt x="209550" y="104775"/>
                </a:cubicBezTo>
                <a:cubicBezTo>
                  <a:pt x="209550" y="46930"/>
                  <a:pt x="162620" y="0"/>
                  <a:pt x="104775" y="0"/>
                </a:cubicBezTo>
                <a:cubicBezTo>
                  <a:pt x="46930" y="0"/>
                  <a:pt x="0" y="46930"/>
                  <a:pt x="0" y="104775"/>
                </a:cubicBezTo>
                <a:cubicBezTo>
                  <a:pt x="0" y="132715"/>
                  <a:pt x="10914" y="158090"/>
                  <a:pt x="28759" y="176862"/>
                </a:cubicBezTo>
                <a:cubicBezTo>
                  <a:pt x="37763" y="186358"/>
                  <a:pt x="45784" y="197381"/>
                  <a:pt x="49714" y="209550"/>
                </a:cubicBezTo>
                <a:lnTo>
                  <a:pt x="159782" y="209550"/>
                </a:lnTo>
                <a:close/>
                <a:moveTo>
                  <a:pt x="157163" y="235744"/>
                </a:moveTo>
                <a:lnTo>
                  <a:pt x="52388" y="235744"/>
                </a:lnTo>
                <a:lnTo>
                  <a:pt x="52388" y="244475"/>
                </a:lnTo>
                <a:cubicBezTo>
                  <a:pt x="52388" y="268595"/>
                  <a:pt x="71924" y="288131"/>
                  <a:pt x="96044" y="288131"/>
                </a:cubicBezTo>
                <a:lnTo>
                  <a:pt x="113506" y="288131"/>
                </a:lnTo>
                <a:cubicBezTo>
                  <a:pt x="137626" y="288131"/>
                  <a:pt x="157163" y="268595"/>
                  <a:pt x="157163" y="244475"/>
                </a:cubicBezTo>
                <a:lnTo>
                  <a:pt x="157163" y="235744"/>
                </a:lnTo>
                <a:close/>
                <a:moveTo>
                  <a:pt x="100409" y="61119"/>
                </a:moveTo>
                <a:cubicBezTo>
                  <a:pt x="78690" y="61119"/>
                  <a:pt x="61119" y="78690"/>
                  <a:pt x="61119" y="100409"/>
                </a:cubicBezTo>
                <a:cubicBezTo>
                  <a:pt x="61119" y="107667"/>
                  <a:pt x="55280" y="113506"/>
                  <a:pt x="48022" y="113506"/>
                </a:cubicBezTo>
                <a:cubicBezTo>
                  <a:pt x="40764" y="113506"/>
                  <a:pt x="34925" y="107667"/>
                  <a:pt x="34925" y="100409"/>
                </a:cubicBezTo>
                <a:cubicBezTo>
                  <a:pt x="34925" y="64229"/>
                  <a:pt x="64229" y="34925"/>
                  <a:pt x="100409" y="34925"/>
                </a:cubicBezTo>
                <a:cubicBezTo>
                  <a:pt x="107667" y="34925"/>
                  <a:pt x="113506" y="40764"/>
                  <a:pt x="113506" y="48022"/>
                </a:cubicBezTo>
                <a:cubicBezTo>
                  <a:pt x="113506" y="55280"/>
                  <a:pt x="107667" y="61119"/>
                  <a:pt x="100409" y="61119"/>
                </a:cubicBezTo>
                <a:close/>
              </a:path>
            </a:pathLst>
          </a:custGeom>
          <a:solidFill>
            <a:srgbClr val="D4853A"/>
          </a:solidFill>
          <a:ln/>
        </p:spPr>
      </p:sp>
      <p:sp>
        <p:nvSpPr>
          <p:cNvPr id="15" name="Text 12"/>
          <p:cNvSpPr/>
          <p:nvPr/>
        </p:nvSpPr>
        <p:spPr>
          <a:xfrm>
            <a:off x="8991600" y="57404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b="1" dirty="0">
                <a:solidFill>
                  <a:srgbClr val="D485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Explanation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8610600" y="6121400"/>
            <a:ext cx="66548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Barcodes use line patterns to store numbers. QR codes use a grid of dots to store more information, including text and links.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762000" y="8636000"/>
            <a:ext cx="762000" cy="38100"/>
          </a:xfrm>
          <a:prstGeom prst="rect">
            <a:avLst/>
          </a:prstGeom>
          <a:solidFill>
            <a:srgbClr val="1B7A6B"/>
          </a:solidFill>
          <a:ln/>
        </p:spPr>
      </p:sp>
      <p:sp>
        <p:nvSpPr>
          <p:cNvPr id="18" name="Text 15"/>
          <p:cNvSpPr/>
          <p:nvPr/>
        </p:nvSpPr>
        <p:spPr>
          <a:xfrm>
            <a:off x="14986000" y="8636000"/>
            <a:ext cx="508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400" dirty="0">
                <a:solidFill>
                  <a:srgbClr val="6B656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13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B3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1016000"/>
            <a:ext cx="6350000" cy="2032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14000" dirty="0">
                <a:solidFill>
                  <a:srgbClr val="FFFFFF">
                    <a:alpha val="705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762000" y="3302000"/>
            <a:ext cx="1016000" cy="63500"/>
          </a:xfrm>
          <a:prstGeom prst="rect">
            <a:avLst/>
          </a:prstGeom>
          <a:solidFill>
            <a:srgbClr val="D4853A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3556000"/>
            <a:ext cx="6350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0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Output Devices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62000" y="4445000"/>
            <a:ext cx="6096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FFFFFF">
                    <a:alpha val="73333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Devices that show, play, or print results from the computer</a:t>
            </a:r>
            <a:endParaRPr lang="en-US" sz="1600" dirty="0"/>
          </a:p>
        </p:txBody>
      </p:sp>
      <p:pic>
        <p:nvPicPr>
          <p:cNvPr id="6" name="Image 0" descr="https://kimi-img.moonshot.cn/pub/slides/okc/3jqulld5ie46y/mnt/agents/output/ict_devices/images/10_OEM_19_Inch_Monitor_Full_HD_1920.png">    </p:cNvPr>
          <p:cNvPicPr>
            <a:picLocks noChangeAspect="1"/>
          </p:cNvPicPr>
          <p:nvPr/>
        </p:nvPicPr>
        <p:blipFill>
          <a:blip r:embed="rId1"/>
          <a:srcRect l="5556" r="5556" t="0" b="0"/>
          <a:stretch/>
        </p:blipFill>
        <p:spPr>
          <a:xfrm>
            <a:off x="8128000" y="0"/>
            <a:ext cx="8128000" cy="91440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128000" y="0"/>
            <a:ext cx="8128000" cy="9144000"/>
          </a:xfrm>
          <a:prstGeom prst="rect">
            <a:avLst/>
          </a:prstGeom>
          <a:gradFill rotWithShape="1" flip="none">
            <a:gsLst>
              <a:gs pos="0">
                <a:srgbClr val="1B3A3A"/>
              </a:gs>
              <a:gs pos="30000">
                <a:srgbClr val="1B3A3A">
                  <a:alpha val="60000"/>
                </a:srgbClr>
              </a:gs>
              <a:gs pos="100000">
                <a:srgbClr val="1B3A3A">
                  <a:alpha val="0"/>
                </a:srgbClr>
              </a:gs>
            </a:gsLst>
            <a:lin ang="0" scaled="1"/>
          </a:gradFill>
          <a:ln/>
        </p:spPr>
      </p:sp>
    </p:spTree>
  </p:cSld>
  <p:clrMapOvr>
    <a:masterClrMapping/>
  </p:clrMapOvr>
  <p:transition>
    <p:fade/>
    <p:spd val="med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304800"/>
            <a:ext cx="1524000" cy="355600"/>
          </a:xfrm>
          <a:prstGeom prst="roundRect">
            <a:avLst>
              <a:gd name="adj" fmla="val 50000"/>
            </a:avLst>
          </a:prstGeom>
          <a:solidFill>
            <a:srgbClr val="1B7A6B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304800"/>
            <a:ext cx="152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OUTPUT DEVICES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62000" y="838200"/>
            <a:ext cx="9525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B7A6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Monitors &amp; Touch Screen as Output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62000" y="1397000"/>
            <a:ext cx="762000" cy="38100"/>
          </a:xfrm>
          <a:prstGeom prst="rect">
            <a:avLst/>
          </a:prstGeom>
          <a:solidFill>
            <a:srgbClr val="D4853A"/>
          </a:solidFill>
          <a:ln/>
        </p:spPr>
      </p:sp>
      <p:pic>
        <p:nvPicPr>
          <p:cNvPr id="6" name="Image 0" descr="https://kimi-img.moonshot.cn/pub/slides/okc/3jqulld5ie46y/mnt/agents/output/ict_devices/images/10_OEM_19_Inch_Monitor_Full_HD_1920.png">    </p:cNvPr>
          <p:cNvPicPr>
            <a:picLocks noChangeAspect="1"/>
          </p:cNvPicPr>
          <p:nvPr/>
        </p:nvPicPr>
        <p:blipFill>
          <a:blip r:embed="rId1"/>
          <a:srcRect l="0" r="0" t="15476" b="15476"/>
          <a:stretch/>
        </p:blipFill>
        <p:spPr>
          <a:xfrm>
            <a:off x="762000" y="1651000"/>
            <a:ext cx="5334000" cy="3683000"/>
          </a:xfrm>
          <a:prstGeom prst="roundRect">
            <a:avLst>
              <a:gd name="adj" fmla="val 8000"/>
            </a:avLst>
          </a:prstGeom>
        </p:spPr>
      </p:pic>
      <p:sp>
        <p:nvSpPr>
          <p:cNvPr id="7" name="Shape 4"/>
          <p:cNvSpPr/>
          <p:nvPr/>
        </p:nvSpPr>
        <p:spPr>
          <a:xfrm>
            <a:off x="6477000" y="1651000"/>
            <a:ext cx="9017000" cy="3683000"/>
          </a:xfrm>
          <a:prstGeom prst="roundRect">
            <a:avLst>
              <a:gd name="adj" fmla="val 8000"/>
            </a:avLst>
          </a:prstGeom>
          <a:solidFill>
            <a:srgbClr val="EDEAE4"/>
          </a:solidFill>
          <a:ln/>
        </p:spPr>
      </p:sp>
      <p:sp>
        <p:nvSpPr>
          <p:cNvPr id="8" name="Text 5"/>
          <p:cNvSpPr/>
          <p:nvPr/>
        </p:nvSpPr>
        <p:spPr>
          <a:xfrm>
            <a:off x="6731000" y="1803400"/>
            <a:ext cx="8509000" cy="3403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 monitor is the screen that displays text, images, and videos</a:t>
            </a:r>
            <a:endParaRPr lang="en-US" sz="1800" dirty="0"/>
          </a:p>
          <a:p>
            <a:pPr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Common types include LCD, LED, and OLED monitors</a:t>
            </a:r>
            <a:endParaRPr lang="en-US" sz="1800" dirty="0"/>
          </a:p>
          <a:p>
            <a:pPr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Screen size is measured diagonally in inches</a:t>
            </a:r>
            <a:endParaRPr lang="en-US" sz="1800" dirty="0"/>
          </a:p>
          <a:p>
            <a:pPr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Resolution means how many pixels make up the image</a:t>
            </a:r>
            <a:endParaRPr lang="en-US" sz="1800" dirty="0"/>
          </a:p>
          <a:p>
            <a:pPr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 touch screen also works as an output device by displaying results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762000" y="5588000"/>
            <a:ext cx="7366000" cy="1397000"/>
          </a:xfrm>
          <a:prstGeom prst="roundRect">
            <a:avLst>
              <a:gd name="adj" fmla="val 8000"/>
            </a:avLst>
          </a:prstGeom>
          <a:solidFill>
            <a:srgbClr val="1B7A6B">
              <a:alpha val="8235"/>
            </a:srgbClr>
          </a:solidFill>
          <a:ln w="12700">
            <a:solidFill>
              <a:srgbClr val="1B7A6B">
                <a:alpha val="25098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990600" y="57658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92033" y="152797"/>
                </a:moveTo>
                <a:lnTo>
                  <a:pt x="87858" y="152797"/>
                </a:lnTo>
                <a:cubicBezTo>
                  <a:pt x="89441" y="187995"/>
                  <a:pt x="97244" y="220409"/>
                  <a:pt x="108322" y="244148"/>
                </a:cubicBezTo>
                <a:cubicBezTo>
                  <a:pt x="114543" y="257517"/>
                  <a:pt x="121255" y="266958"/>
                  <a:pt x="127476" y="272742"/>
                </a:cubicBezTo>
                <a:cubicBezTo>
                  <a:pt x="133588" y="278472"/>
                  <a:pt x="137790" y="279400"/>
                  <a:pt x="139973" y="279400"/>
                </a:cubicBezTo>
                <a:cubicBezTo>
                  <a:pt x="142156" y="279400"/>
                  <a:pt x="146358" y="278472"/>
                  <a:pt x="152469" y="272742"/>
                </a:cubicBezTo>
                <a:cubicBezTo>
                  <a:pt x="158690" y="266958"/>
                  <a:pt x="165403" y="257463"/>
                  <a:pt x="171624" y="244148"/>
                </a:cubicBezTo>
                <a:cubicBezTo>
                  <a:pt x="182701" y="220409"/>
                  <a:pt x="190505" y="187995"/>
                  <a:pt x="192087" y="152797"/>
                </a:cubicBezTo>
                <a:close/>
                <a:moveTo>
                  <a:pt x="87804" y="126603"/>
                </a:moveTo>
                <a:lnTo>
                  <a:pt x="191978" y="126603"/>
                </a:lnTo>
                <a:cubicBezTo>
                  <a:pt x="190450" y="91405"/>
                  <a:pt x="182647" y="58991"/>
                  <a:pt x="171569" y="35252"/>
                </a:cubicBezTo>
                <a:cubicBezTo>
                  <a:pt x="165348" y="21937"/>
                  <a:pt x="158636" y="12442"/>
                  <a:pt x="152415" y="6658"/>
                </a:cubicBezTo>
                <a:cubicBezTo>
                  <a:pt x="146303" y="928"/>
                  <a:pt x="142101" y="0"/>
                  <a:pt x="139918" y="0"/>
                </a:cubicBezTo>
                <a:cubicBezTo>
                  <a:pt x="137735" y="0"/>
                  <a:pt x="133534" y="928"/>
                  <a:pt x="127422" y="6658"/>
                </a:cubicBezTo>
                <a:cubicBezTo>
                  <a:pt x="121201" y="12442"/>
                  <a:pt x="114489" y="21937"/>
                  <a:pt x="108267" y="35252"/>
                </a:cubicBezTo>
                <a:cubicBezTo>
                  <a:pt x="97190" y="58991"/>
                  <a:pt x="89386" y="91405"/>
                  <a:pt x="87804" y="126603"/>
                </a:cubicBezTo>
                <a:close/>
                <a:moveTo>
                  <a:pt x="61610" y="126603"/>
                </a:moveTo>
                <a:cubicBezTo>
                  <a:pt x="63520" y="79891"/>
                  <a:pt x="75580" y="36508"/>
                  <a:pt x="93206" y="8022"/>
                </a:cubicBezTo>
                <a:cubicBezTo>
                  <a:pt x="42947" y="25812"/>
                  <a:pt x="5948" y="71596"/>
                  <a:pt x="819" y="126603"/>
                </a:cubicBezTo>
                <a:lnTo>
                  <a:pt x="61610" y="126603"/>
                </a:lnTo>
                <a:close/>
                <a:moveTo>
                  <a:pt x="819" y="152797"/>
                </a:moveTo>
                <a:cubicBezTo>
                  <a:pt x="5948" y="207804"/>
                  <a:pt x="42947" y="253588"/>
                  <a:pt x="93206" y="271378"/>
                </a:cubicBezTo>
                <a:cubicBezTo>
                  <a:pt x="75580" y="242892"/>
                  <a:pt x="63520" y="199509"/>
                  <a:pt x="61610" y="152797"/>
                </a:cubicBezTo>
                <a:lnTo>
                  <a:pt x="819" y="152797"/>
                </a:lnTo>
                <a:close/>
                <a:moveTo>
                  <a:pt x="218227" y="152797"/>
                </a:moveTo>
                <a:cubicBezTo>
                  <a:pt x="216317" y="199509"/>
                  <a:pt x="204257" y="242892"/>
                  <a:pt x="186630" y="271378"/>
                </a:cubicBezTo>
                <a:cubicBezTo>
                  <a:pt x="236890" y="253534"/>
                  <a:pt x="273888" y="207804"/>
                  <a:pt x="279018" y="152797"/>
                </a:cubicBezTo>
                <a:lnTo>
                  <a:pt x="218227" y="152797"/>
                </a:lnTo>
                <a:close/>
                <a:moveTo>
                  <a:pt x="279018" y="126603"/>
                </a:moveTo>
                <a:cubicBezTo>
                  <a:pt x="273888" y="71596"/>
                  <a:pt x="236890" y="25812"/>
                  <a:pt x="186630" y="8022"/>
                </a:cubicBezTo>
                <a:cubicBezTo>
                  <a:pt x="204257" y="36508"/>
                  <a:pt x="216317" y="79891"/>
                  <a:pt x="218227" y="126603"/>
                </a:cubicBezTo>
                <a:lnTo>
                  <a:pt x="279018" y="126603"/>
                </a:lnTo>
                <a:close/>
              </a:path>
            </a:pathLst>
          </a:custGeom>
          <a:solidFill>
            <a:srgbClr val="1B7A6B"/>
          </a:solidFill>
          <a:ln/>
        </p:spPr>
      </p:sp>
      <p:sp>
        <p:nvSpPr>
          <p:cNvPr id="11" name="Text 8"/>
          <p:cNvSpPr/>
          <p:nvPr/>
        </p:nvSpPr>
        <p:spPr>
          <a:xfrm>
            <a:off x="1371600" y="57404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b="1" dirty="0">
                <a:solidFill>
                  <a:srgbClr val="D485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Real-World Example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990600" y="6121400"/>
            <a:ext cx="69088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 graphic designer uses a large high-resolution monitor to edit photos, and a tablet uses a touch screen to both show and control apps.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8382000" y="5588000"/>
            <a:ext cx="7112000" cy="1397000"/>
          </a:xfrm>
          <a:prstGeom prst="roundRect">
            <a:avLst>
              <a:gd name="adj" fmla="val 8000"/>
            </a:avLst>
          </a:prstGeom>
          <a:solidFill>
            <a:srgbClr val="D4853A">
              <a:alpha val="7059"/>
            </a:srgbClr>
          </a:solidFill>
          <a:ln w="12700">
            <a:solidFill>
              <a:srgbClr val="D4853A">
                <a:alpha val="25098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8645525" y="5765800"/>
            <a:ext cx="209550" cy="279400"/>
          </a:xfrm>
          <a:custGeom>
            <a:avLst/>
            <a:gdLst/>
            <a:ahLst/>
            <a:cxnLst/>
            <a:rect l="l" t="t" r="r" b="b"/>
            <a:pathLst>
              <a:path w="209550" h="279400">
                <a:moveTo>
                  <a:pt x="159836" y="209550"/>
                </a:moveTo>
                <a:cubicBezTo>
                  <a:pt x="163820" y="197381"/>
                  <a:pt x="171787" y="186358"/>
                  <a:pt x="180791" y="176862"/>
                </a:cubicBezTo>
                <a:cubicBezTo>
                  <a:pt x="198636" y="158090"/>
                  <a:pt x="209550" y="132715"/>
                  <a:pt x="209550" y="104775"/>
                </a:cubicBezTo>
                <a:cubicBezTo>
                  <a:pt x="209550" y="46930"/>
                  <a:pt x="162620" y="0"/>
                  <a:pt x="104775" y="0"/>
                </a:cubicBezTo>
                <a:cubicBezTo>
                  <a:pt x="46930" y="0"/>
                  <a:pt x="0" y="46930"/>
                  <a:pt x="0" y="104775"/>
                </a:cubicBezTo>
                <a:cubicBezTo>
                  <a:pt x="0" y="132715"/>
                  <a:pt x="10914" y="158090"/>
                  <a:pt x="28759" y="176862"/>
                </a:cubicBezTo>
                <a:cubicBezTo>
                  <a:pt x="37763" y="186358"/>
                  <a:pt x="45784" y="197381"/>
                  <a:pt x="49714" y="209550"/>
                </a:cubicBezTo>
                <a:lnTo>
                  <a:pt x="159782" y="209550"/>
                </a:lnTo>
                <a:close/>
                <a:moveTo>
                  <a:pt x="157163" y="235744"/>
                </a:moveTo>
                <a:lnTo>
                  <a:pt x="52388" y="235744"/>
                </a:lnTo>
                <a:lnTo>
                  <a:pt x="52388" y="244475"/>
                </a:lnTo>
                <a:cubicBezTo>
                  <a:pt x="52388" y="268595"/>
                  <a:pt x="71924" y="288131"/>
                  <a:pt x="96044" y="288131"/>
                </a:cubicBezTo>
                <a:lnTo>
                  <a:pt x="113506" y="288131"/>
                </a:lnTo>
                <a:cubicBezTo>
                  <a:pt x="137626" y="288131"/>
                  <a:pt x="157163" y="268595"/>
                  <a:pt x="157163" y="244475"/>
                </a:cubicBezTo>
                <a:lnTo>
                  <a:pt x="157163" y="235744"/>
                </a:lnTo>
                <a:close/>
                <a:moveTo>
                  <a:pt x="100409" y="61119"/>
                </a:moveTo>
                <a:cubicBezTo>
                  <a:pt x="78690" y="61119"/>
                  <a:pt x="61119" y="78690"/>
                  <a:pt x="61119" y="100409"/>
                </a:cubicBezTo>
                <a:cubicBezTo>
                  <a:pt x="61119" y="107667"/>
                  <a:pt x="55280" y="113506"/>
                  <a:pt x="48022" y="113506"/>
                </a:cubicBezTo>
                <a:cubicBezTo>
                  <a:pt x="40764" y="113506"/>
                  <a:pt x="34925" y="107667"/>
                  <a:pt x="34925" y="100409"/>
                </a:cubicBezTo>
                <a:cubicBezTo>
                  <a:pt x="34925" y="64229"/>
                  <a:pt x="64229" y="34925"/>
                  <a:pt x="100409" y="34925"/>
                </a:cubicBezTo>
                <a:cubicBezTo>
                  <a:pt x="107667" y="34925"/>
                  <a:pt x="113506" y="40764"/>
                  <a:pt x="113506" y="48022"/>
                </a:cubicBezTo>
                <a:cubicBezTo>
                  <a:pt x="113506" y="55280"/>
                  <a:pt x="107667" y="61119"/>
                  <a:pt x="100409" y="61119"/>
                </a:cubicBezTo>
                <a:close/>
              </a:path>
            </a:pathLst>
          </a:custGeom>
          <a:solidFill>
            <a:srgbClr val="D4853A"/>
          </a:solidFill>
          <a:ln/>
        </p:spPr>
      </p:sp>
      <p:sp>
        <p:nvSpPr>
          <p:cNvPr id="15" name="Text 12"/>
          <p:cNvSpPr/>
          <p:nvPr/>
        </p:nvSpPr>
        <p:spPr>
          <a:xfrm>
            <a:off x="8991600" y="57404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b="1" dirty="0">
                <a:solidFill>
                  <a:srgbClr val="D485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Explanation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8610600" y="6121400"/>
            <a:ext cx="66548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computer sends image data to the monitor. The monitor lights up tiny dots (pixels) to create the picture you see.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762000" y="8636000"/>
            <a:ext cx="762000" cy="38100"/>
          </a:xfrm>
          <a:prstGeom prst="rect">
            <a:avLst/>
          </a:prstGeom>
          <a:solidFill>
            <a:srgbClr val="1B7A6B"/>
          </a:solidFill>
          <a:ln/>
        </p:spPr>
      </p:sp>
      <p:sp>
        <p:nvSpPr>
          <p:cNvPr id="18" name="Text 15"/>
          <p:cNvSpPr/>
          <p:nvPr/>
        </p:nvSpPr>
        <p:spPr>
          <a:xfrm>
            <a:off x="14986000" y="8636000"/>
            <a:ext cx="508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400" dirty="0">
                <a:solidFill>
                  <a:srgbClr val="6B656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15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304800"/>
            <a:ext cx="1524000" cy="355600"/>
          </a:xfrm>
          <a:prstGeom prst="roundRect">
            <a:avLst>
              <a:gd name="adj" fmla="val 50000"/>
            </a:avLst>
          </a:prstGeom>
          <a:solidFill>
            <a:srgbClr val="1B7A6B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304800"/>
            <a:ext cx="152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OUTPUT DEVICES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62000" y="8382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B7A6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Multimedia Projector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62000" y="1397000"/>
            <a:ext cx="762000" cy="38100"/>
          </a:xfrm>
          <a:prstGeom prst="rect">
            <a:avLst/>
          </a:prstGeom>
          <a:solidFill>
            <a:srgbClr val="D4853A"/>
          </a:solidFill>
          <a:ln/>
        </p:spPr>
      </p:sp>
      <p:sp>
        <p:nvSpPr>
          <p:cNvPr id="6" name="Shape 4"/>
          <p:cNvSpPr/>
          <p:nvPr/>
        </p:nvSpPr>
        <p:spPr>
          <a:xfrm>
            <a:off x="762000" y="1651000"/>
            <a:ext cx="8382000" cy="3683000"/>
          </a:xfrm>
          <a:prstGeom prst="roundRect">
            <a:avLst>
              <a:gd name="adj" fmla="val 8000"/>
            </a:avLst>
          </a:prstGeom>
          <a:solidFill>
            <a:srgbClr val="EDEAE4"/>
          </a:solidFill>
          <a:ln/>
        </p:spPr>
      </p:sp>
      <p:sp>
        <p:nvSpPr>
          <p:cNvPr id="7" name="Text 5"/>
          <p:cNvSpPr/>
          <p:nvPr/>
        </p:nvSpPr>
        <p:spPr>
          <a:xfrm>
            <a:off x="1016000" y="1803400"/>
            <a:ext cx="7874000" cy="3403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 projector displays the computer screen onto a large wall or screen</a:t>
            </a:r>
            <a:endParaRPr lang="en-US" sz="1800" dirty="0"/>
          </a:p>
          <a:p>
            <a:pPr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It uses light and lenses to make a big image</a:t>
            </a:r>
            <a:endParaRPr lang="en-US" sz="1800" dirty="0"/>
          </a:p>
          <a:p>
            <a:pPr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Projectors are used in classrooms, meeting rooms, and cinemas</a:t>
            </a:r>
            <a:endParaRPr lang="en-US" sz="1800" dirty="0"/>
          </a:p>
          <a:p>
            <a:pPr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They can be connected with HDMI, VGA, or wirelessly</a:t>
            </a:r>
            <a:endParaRPr lang="en-US" sz="1800" dirty="0"/>
          </a:p>
          <a:p>
            <a:pPr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image size depends on how far the projector is from the wall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525000" y="1651000"/>
            <a:ext cx="5969000" cy="3683000"/>
          </a:xfrm>
          <a:prstGeom prst="roundRect">
            <a:avLst>
              <a:gd name="adj" fmla="val 8000"/>
            </a:avLst>
          </a:prstGeom>
          <a:solidFill>
            <a:srgbClr val="1B7A6B"/>
          </a:solidFill>
          <a:ln/>
        </p:spPr>
      </p:sp>
      <p:sp>
        <p:nvSpPr>
          <p:cNvPr id="9" name="Text 7"/>
          <p:cNvSpPr/>
          <p:nvPr/>
        </p:nvSpPr>
        <p:spPr>
          <a:xfrm>
            <a:off x="9779000" y="1841500"/>
            <a:ext cx="5461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How a Projector Works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0033000" y="2476500"/>
            <a:ext cx="508000" cy="508000"/>
          </a:xfrm>
          <a:prstGeom prst="ellipse">
            <a:avLst/>
          </a:prstGeom>
          <a:solidFill>
            <a:srgbClr val="D4853A"/>
          </a:solidFill>
          <a:ln/>
        </p:spPr>
      </p:sp>
      <p:sp>
        <p:nvSpPr>
          <p:cNvPr id="11" name="Text 9"/>
          <p:cNvSpPr/>
          <p:nvPr/>
        </p:nvSpPr>
        <p:spPr>
          <a:xfrm>
            <a:off x="10033000" y="2476500"/>
            <a:ext cx="508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668000" y="2476500"/>
            <a:ext cx="457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Computer sends image signal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0033000" y="3175000"/>
            <a:ext cx="508000" cy="508000"/>
          </a:xfrm>
          <a:prstGeom prst="ellipse">
            <a:avLst/>
          </a:prstGeom>
          <a:solidFill>
            <a:srgbClr val="D4853A"/>
          </a:solidFill>
          <a:ln/>
        </p:spPr>
      </p:sp>
      <p:sp>
        <p:nvSpPr>
          <p:cNvPr id="14" name="Text 12"/>
          <p:cNvSpPr/>
          <p:nvPr/>
        </p:nvSpPr>
        <p:spPr>
          <a:xfrm>
            <a:off x="10033000" y="3175000"/>
            <a:ext cx="508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668000" y="3175000"/>
            <a:ext cx="457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Projector receives the signal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0033000" y="3873500"/>
            <a:ext cx="508000" cy="508000"/>
          </a:xfrm>
          <a:prstGeom prst="ellipse">
            <a:avLst/>
          </a:prstGeom>
          <a:solidFill>
            <a:srgbClr val="D4853A"/>
          </a:solidFill>
          <a:ln/>
        </p:spPr>
      </p:sp>
      <p:sp>
        <p:nvSpPr>
          <p:cNvPr id="17" name="Text 15"/>
          <p:cNvSpPr/>
          <p:nvPr/>
        </p:nvSpPr>
        <p:spPr>
          <a:xfrm>
            <a:off x="10033000" y="3873500"/>
            <a:ext cx="508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668000" y="3873500"/>
            <a:ext cx="457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Light shines through lenses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10033000" y="4572000"/>
            <a:ext cx="508000" cy="508000"/>
          </a:xfrm>
          <a:prstGeom prst="ellipse">
            <a:avLst/>
          </a:prstGeom>
          <a:solidFill>
            <a:srgbClr val="D4853A"/>
          </a:solidFill>
          <a:ln/>
        </p:spPr>
      </p:sp>
      <p:sp>
        <p:nvSpPr>
          <p:cNvPr id="20" name="Text 18"/>
          <p:cNvSpPr/>
          <p:nvPr/>
        </p:nvSpPr>
        <p:spPr>
          <a:xfrm>
            <a:off x="10033000" y="4572000"/>
            <a:ext cx="508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0668000" y="4572000"/>
            <a:ext cx="457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Large image appears on wall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62000" y="5588000"/>
            <a:ext cx="7366000" cy="1397000"/>
          </a:xfrm>
          <a:prstGeom prst="roundRect">
            <a:avLst>
              <a:gd name="adj" fmla="val 8000"/>
            </a:avLst>
          </a:prstGeom>
          <a:solidFill>
            <a:srgbClr val="1B7A6B">
              <a:alpha val="8235"/>
            </a:srgbClr>
          </a:solidFill>
          <a:ln w="12700">
            <a:solidFill>
              <a:srgbClr val="1B7A6B">
                <a:alpha val="25098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90600" y="57658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92033" y="152797"/>
                </a:moveTo>
                <a:lnTo>
                  <a:pt x="87858" y="152797"/>
                </a:lnTo>
                <a:cubicBezTo>
                  <a:pt x="89441" y="187995"/>
                  <a:pt x="97244" y="220409"/>
                  <a:pt x="108322" y="244148"/>
                </a:cubicBezTo>
                <a:cubicBezTo>
                  <a:pt x="114543" y="257517"/>
                  <a:pt x="121255" y="266958"/>
                  <a:pt x="127476" y="272742"/>
                </a:cubicBezTo>
                <a:cubicBezTo>
                  <a:pt x="133588" y="278472"/>
                  <a:pt x="137790" y="279400"/>
                  <a:pt x="139973" y="279400"/>
                </a:cubicBezTo>
                <a:cubicBezTo>
                  <a:pt x="142156" y="279400"/>
                  <a:pt x="146358" y="278472"/>
                  <a:pt x="152469" y="272742"/>
                </a:cubicBezTo>
                <a:cubicBezTo>
                  <a:pt x="158690" y="266958"/>
                  <a:pt x="165403" y="257463"/>
                  <a:pt x="171624" y="244148"/>
                </a:cubicBezTo>
                <a:cubicBezTo>
                  <a:pt x="182701" y="220409"/>
                  <a:pt x="190505" y="187995"/>
                  <a:pt x="192087" y="152797"/>
                </a:cubicBezTo>
                <a:close/>
                <a:moveTo>
                  <a:pt x="87804" y="126603"/>
                </a:moveTo>
                <a:lnTo>
                  <a:pt x="191978" y="126603"/>
                </a:lnTo>
                <a:cubicBezTo>
                  <a:pt x="190450" y="91405"/>
                  <a:pt x="182647" y="58991"/>
                  <a:pt x="171569" y="35252"/>
                </a:cubicBezTo>
                <a:cubicBezTo>
                  <a:pt x="165348" y="21937"/>
                  <a:pt x="158636" y="12442"/>
                  <a:pt x="152415" y="6658"/>
                </a:cubicBezTo>
                <a:cubicBezTo>
                  <a:pt x="146303" y="928"/>
                  <a:pt x="142101" y="0"/>
                  <a:pt x="139918" y="0"/>
                </a:cubicBezTo>
                <a:cubicBezTo>
                  <a:pt x="137735" y="0"/>
                  <a:pt x="133534" y="928"/>
                  <a:pt x="127422" y="6658"/>
                </a:cubicBezTo>
                <a:cubicBezTo>
                  <a:pt x="121201" y="12442"/>
                  <a:pt x="114489" y="21937"/>
                  <a:pt x="108267" y="35252"/>
                </a:cubicBezTo>
                <a:cubicBezTo>
                  <a:pt x="97190" y="58991"/>
                  <a:pt x="89386" y="91405"/>
                  <a:pt x="87804" y="126603"/>
                </a:cubicBezTo>
                <a:close/>
                <a:moveTo>
                  <a:pt x="61610" y="126603"/>
                </a:moveTo>
                <a:cubicBezTo>
                  <a:pt x="63520" y="79891"/>
                  <a:pt x="75580" y="36508"/>
                  <a:pt x="93206" y="8022"/>
                </a:cubicBezTo>
                <a:cubicBezTo>
                  <a:pt x="42947" y="25812"/>
                  <a:pt x="5948" y="71596"/>
                  <a:pt x="819" y="126603"/>
                </a:cubicBezTo>
                <a:lnTo>
                  <a:pt x="61610" y="126603"/>
                </a:lnTo>
                <a:close/>
                <a:moveTo>
                  <a:pt x="819" y="152797"/>
                </a:moveTo>
                <a:cubicBezTo>
                  <a:pt x="5948" y="207804"/>
                  <a:pt x="42947" y="253588"/>
                  <a:pt x="93206" y="271378"/>
                </a:cubicBezTo>
                <a:cubicBezTo>
                  <a:pt x="75580" y="242892"/>
                  <a:pt x="63520" y="199509"/>
                  <a:pt x="61610" y="152797"/>
                </a:cubicBezTo>
                <a:lnTo>
                  <a:pt x="819" y="152797"/>
                </a:lnTo>
                <a:close/>
                <a:moveTo>
                  <a:pt x="218227" y="152797"/>
                </a:moveTo>
                <a:cubicBezTo>
                  <a:pt x="216317" y="199509"/>
                  <a:pt x="204257" y="242892"/>
                  <a:pt x="186630" y="271378"/>
                </a:cubicBezTo>
                <a:cubicBezTo>
                  <a:pt x="236890" y="253534"/>
                  <a:pt x="273888" y="207804"/>
                  <a:pt x="279018" y="152797"/>
                </a:cubicBezTo>
                <a:lnTo>
                  <a:pt x="218227" y="152797"/>
                </a:lnTo>
                <a:close/>
                <a:moveTo>
                  <a:pt x="279018" y="126603"/>
                </a:moveTo>
                <a:cubicBezTo>
                  <a:pt x="273888" y="71596"/>
                  <a:pt x="236890" y="25812"/>
                  <a:pt x="186630" y="8022"/>
                </a:cubicBezTo>
                <a:cubicBezTo>
                  <a:pt x="204257" y="36508"/>
                  <a:pt x="216317" y="79891"/>
                  <a:pt x="218227" y="126603"/>
                </a:cubicBezTo>
                <a:lnTo>
                  <a:pt x="279018" y="126603"/>
                </a:lnTo>
                <a:close/>
              </a:path>
            </a:pathLst>
          </a:custGeom>
          <a:solidFill>
            <a:srgbClr val="1B7A6B"/>
          </a:solidFill>
          <a:ln/>
        </p:spPr>
      </p:sp>
      <p:sp>
        <p:nvSpPr>
          <p:cNvPr id="24" name="Text 22"/>
          <p:cNvSpPr/>
          <p:nvPr/>
        </p:nvSpPr>
        <p:spPr>
          <a:xfrm>
            <a:off x="1371600" y="57404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b="1" dirty="0">
                <a:solidFill>
                  <a:srgbClr val="D485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Real-World Example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90600" y="6121400"/>
            <a:ext cx="69088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 teacher connects a laptop to a projector to show a lesson on a big screen so all students can see clearly.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8382000" y="5588000"/>
            <a:ext cx="7112000" cy="1397000"/>
          </a:xfrm>
          <a:prstGeom prst="roundRect">
            <a:avLst>
              <a:gd name="adj" fmla="val 8000"/>
            </a:avLst>
          </a:prstGeom>
          <a:solidFill>
            <a:srgbClr val="D4853A">
              <a:alpha val="7059"/>
            </a:srgbClr>
          </a:solidFill>
          <a:ln w="12700">
            <a:solidFill>
              <a:srgbClr val="D4853A">
                <a:alpha val="25098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645525" y="5765800"/>
            <a:ext cx="209550" cy="279400"/>
          </a:xfrm>
          <a:custGeom>
            <a:avLst/>
            <a:gdLst/>
            <a:ahLst/>
            <a:cxnLst/>
            <a:rect l="l" t="t" r="r" b="b"/>
            <a:pathLst>
              <a:path w="209550" h="279400">
                <a:moveTo>
                  <a:pt x="159836" y="209550"/>
                </a:moveTo>
                <a:cubicBezTo>
                  <a:pt x="163820" y="197381"/>
                  <a:pt x="171787" y="186358"/>
                  <a:pt x="180791" y="176862"/>
                </a:cubicBezTo>
                <a:cubicBezTo>
                  <a:pt x="198636" y="158090"/>
                  <a:pt x="209550" y="132715"/>
                  <a:pt x="209550" y="104775"/>
                </a:cubicBezTo>
                <a:cubicBezTo>
                  <a:pt x="209550" y="46930"/>
                  <a:pt x="162620" y="0"/>
                  <a:pt x="104775" y="0"/>
                </a:cubicBezTo>
                <a:cubicBezTo>
                  <a:pt x="46930" y="0"/>
                  <a:pt x="0" y="46930"/>
                  <a:pt x="0" y="104775"/>
                </a:cubicBezTo>
                <a:cubicBezTo>
                  <a:pt x="0" y="132715"/>
                  <a:pt x="10914" y="158090"/>
                  <a:pt x="28759" y="176862"/>
                </a:cubicBezTo>
                <a:cubicBezTo>
                  <a:pt x="37763" y="186358"/>
                  <a:pt x="45784" y="197381"/>
                  <a:pt x="49714" y="209550"/>
                </a:cubicBezTo>
                <a:lnTo>
                  <a:pt x="159782" y="209550"/>
                </a:lnTo>
                <a:close/>
                <a:moveTo>
                  <a:pt x="157163" y="235744"/>
                </a:moveTo>
                <a:lnTo>
                  <a:pt x="52388" y="235744"/>
                </a:lnTo>
                <a:lnTo>
                  <a:pt x="52388" y="244475"/>
                </a:lnTo>
                <a:cubicBezTo>
                  <a:pt x="52388" y="268595"/>
                  <a:pt x="71924" y="288131"/>
                  <a:pt x="96044" y="288131"/>
                </a:cubicBezTo>
                <a:lnTo>
                  <a:pt x="113506" y="288131"/>
                </a:lnTo>
                <a:cubicBezTo>
                  <a:pt x="137626" y="288131"/>
                  <a:pt x="157163" y="268595"/>
                  <a:pt x="157163" y="244475"/>
                </a:cubicBezTo>
                <a:lnTo>
                  <a:pt x="157163" y="235744"/>
                </a:lnTo>
                <a:close/>
                <a:moveTo>
                  <a:pt x="100409" y="61119"/>
                </a:moveTo>
                <a:cubicBezTo>
                  <a:pt x="78690" y="61119"/>
                  <a:pt x="61119" y="78690"/>
                  <a:pt x="61119" y="100409"/>
                </a:cubicBezTo>
                <a:cubicBezTo>
                  <a:pt x="61119" y="107667"/>
                  <a:pt x="55280" y="113506"/>
                  <a:pt x="48022" y="113506"/>
                </a:cubicBezTo>
                <a:cubicBezTo>
                  <a:pt x="40764" y="113506"/>
                  <a:pt x="34925" y="107667"/>
                  <a:pt x="34925" y="100409"/>
                </a:cubicBezTo>
                <a:cubicBezTo>
                  <a:pt x="34925" y="64229"/>
                  <a:pt x="64229" y="34925"/>
                  <a:pt x="100409" y="34925"/>
                </a:cubicBezTo>
                <a:cubicBezTo>
                  <a:pt x="107667" y="34925"/>
                  <a:pt x="113506" y="40764"/>
                  <a:pt x="113506" y="48022"/>
                </a:cubicBezTo>
                <a:cubicBezTo>
                  <a:pt x="113506" y="55280"/>
                  <a:pt x="107667" y="61119"/>
                  <a:pt x="100409" y="61119"/>
                </a:cubicBezTo>
                <a:close/>
              </a:path>
            </a:pathLst>
          </a:custGeom>
          <a:solidFill>
            <a:srgbClr val="D4853A"/>
          </a:solidFill>
          <a:ln/>
        </p:spPr>
      </p:sp>
      <p:sp>
        <p:nvSpPr>
          <p:cNvPr id="28" name="Text 26"/>
          <p:cNvSpPr/>
          <p:nvPr/>
        </p:nvSpPr>
        <p:spPr>
          <a:xfrm>
            <a:off x="8991600" y="57404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b="1" dirty="0">
                <a:solidFill>
                  <a:srgbClr val="D485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Explanation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610600" y="6121400"/>
            <a:ext cx="66548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projector takes the image from the computer and shines it through a lens. The lens makes the image large enough for everyone to see.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762000" y="8636000"/>
            <a:ext cx="762000" cy="38100"/>
          </a:xfrm>
          <a:prstGeom prst="rect">
            <a:avLst/>
          </a:prstGeom>
          <a:solidFill>
            <a:srgbClr val="1B7A6B"/>
          </a:solidFill>
          <a:ln/>
        </p:spPr>
      </p:sp>
      <p:sp>
        <p:nvSpPr>
          <p:cNvPr id="31" name="Text 29"/>
          <p:cNvSpPr/>
          <p:nvPr/>
        </p:nvSpPr>
        <p:spPr>
          <a:xfrm>
            <a:off x="14986000" y="8636000"/>
            <a:ext cx="508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400" dirty="0">
                <a:solidFill>
                  <a:srgbClr val="6B656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16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304800"/>
            <a:ext cx="1524000" cy="355600"/>
          </a:xfrm>
          <a:prstGeom prst="roundRect">
            <a:avLst>
              <a:gd name="adj" fmla="val 50000"/>
            </a:avLst>
          </a:prstGeom>
          <a:solidFill>
            <a:srgbClr val="1B7A6B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304800"/>
            <a:ext cx="152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OUTPUT DEVICES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62000" y="8382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B7A6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Laser Printer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62000" y="1397000"/>
            <a:ext cx="762000" cy="38100"/>
          </a:xfrm>
          <a:prstGeom prst="rect">
            <a:avLst/>
          </a:prstGeom>
          <a:solidFill>
            <a:srgbClr val="D4853A"/>
          </a:solidFill>
          <a:ln/>
        </p:spPr>
      </p:sp>
      <p:pic>
        <p:nvPicPr>
          <p:cNvPr id="6" name="Image 0" descr="https://kimi-img.moonshot.cn/pub/slides/okc/3jqulld5ie46y/mnt/agents/output/ict_devices/images/9_The_4_Best_Laser_Printers_of_2025.png">    </p:cNvPr>
          <p:cNvPicPr>
            <a:picLocks noChangeAspect="1"/>
          </p:cNvPicPr>
          <p:nvPr/>
        </p:nvPicPr>
        <p:blipFill>
          <a:blip r:embed="rId1"/>
          <a:srcRect l="0" r="0" t="15422" b="15422"/>
          <a:stretch/>
        </p:blipFill>
        <p:spPr>
          <a:xfrm>
            <a:off x="762000" y="1651000"/>
            <a:ext cx="5334000" cy="3683000"/>
          </a:xfrm>
          <a:prstGeom prst="roundRect">
            <a:avLst>
              <a:gd name="adj" fmla="val 8000"/>
            </a:avLst>
          </a:prstGeom>
        </p:spPr>
      </p:pic>
      <p:sp>
        <p:nvSpPr>
          <p:cNvPr id="7" name="Shape 4"/>
          <p:cNvSpPr/>
          <p:nvPr/>
        </p:nvSpPr>
        <p:spPr>
          <a:xfrm>
            <a:off x="6477000" y="1651000"/>
            <a:ext cx="9017000" cy="3683000"/>
          </a:xfrm>
          <a:prstGeom prst="roundRect">
            <a:avLst>
              <a:gd name="adj" fmla="val 8000"/>
            </a:avLst>
          </a:prstGeom>
          <a:solidFill>
            <a:srgbClr val="EDEAE4"/>
          </a:solidFill>
          <a:ln/>
        </p:spPr>
      </p:sp>
      <p:sp>
        <p:nvSpPr>
          <p:cNvPr id="8" name="Text 5"/>
          <p:cNvSpPr/>
          <p:nvPr/>
        </p:nvSpPr>
        <p:spPr>
          <a:xfrm>
            <a:off x="6731000" y="1803400"/>
            <a:ext cx="8509000" cy="3403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 laser printer uses a laser beam and toner powder to print</a:t>
            </a:r>
            <a:endParaRPr lang="en-US" sz="1800" dirty="0"/>
          </a:p>
          <a:p>
            <a:pPr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It prints very fast and produces sharp, professional text</a:t>
            </a:r>
            <a:endParaRPr lang="en-US" sz="1800" dirty="0"/>
          </a:p>
          <a:p>
            <a:pPr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Laser printers are best for offices with lots of printing</a:t>
            </a:r>
            <a:endParaRPr lang="en-US" sz="1800" dirty="0"/>
          </a:p>
          <a:p>
            <a:pPr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Toner cartridges last longer than ink cartridges</a:t>
            </a:r>
            <a:endParaRPr lang="en-US" sz="1800" dirty="0"/>
          </a:p>
          <a:p>
            <a:pPr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They work well for documents, reports, and letters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762000" y="5588000"/>
            <a:ext cx="7366000" cy="1397000"/>
          </a:xfrm>
          <a:prstGeom prst="roundRect">
            <a:avLst>
              <a:gd name="adj" fmla="val 8000"/>
            </a:avLst>
          </a:prstGeom>
          <a:solidFill>
            <a:srgbClr val="1B7A6B">
              <a:alpha val="8235"/>
            </a:srgbClr>
          </a:solidFill>
          <a:ln w="12700">
            <a:solidFill>
              <a:srgbClr val="1B7A6B">
                <a:alpha val="25098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990600" y="57658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92033" y="152797"/>
                </a:moveTo>
                <a:lnTo>
                  <a:pt x="87858" y="152797"/>
                </a:lnTo>
                <a:cubicBezTo>
                  <a:pt x="89441" y="187995"/>
                  <a:pt x="97244" y="220409"/>
                  <a:pt x="108322" y="244148"/>
                </a:cubicBezTo>
                <a:cubicBezTo>
                  <a:pt x="114543" y="257517"/>
                  <a:pt x="121255" y="266958"/>
                  <a:pt x="127476" y="272742"/>
                </a:cubicBezTo>
                <a:cubicBezTo>
                  <a:pt x="133588" y="278472"/>
                  <a:pt x="137790" y="279400"/>
                  <a:pt x="139973" y="279400"/>
                </a:cubicBezTo>
                <a:cubicBezTo>
                  <a:pt x="142156" y="279400"/>
                  <a:pt x="146358" y="278472"/>
                  <a:pt x="152469" y="272742"/>
                </a:cubicBezTo>
                <a:cubicBezTo>
                  <a:pt x="158690" y="266958"/>
                  <a:pt x="165403" y="257463"/>
                  <a:pt x="171624" y="244148"/>
                </a:cubicBezTo>
                <a:cubicBezTo>
                  <a:pt x="182701" y="220409"/>
                  <a:pt x="190505" y="187995"/>
                  <a:pt x="192087" y="152797"/>
                </a:cubicBezTo>
                <a:close/>
                <a:moveTo>
                  <a:pt x="87804" y="126603"/>
                </a:moveTo>
                <a:lnTo>
                  <a:pt x="191978" y="126603"/>
                </a:lnTo>
                <a:cubicBezTo>
                  <a:pt x="190450" y="91405"/>
                  <a:pt x="182647" y="58991"/>
                  <a:pt x="171569" y="35252"/>
                </a:cubicBezTo>
                <a:cubicBezTo>
                  <a:pt x="165348" y="21937"/>
                  <a:pt x="158636" y="12442"/>
                  <a:pt x="152415" y="6658"/>
                </a:cubicBezTo>
                <a:cubicBezTo>
                  <a:pt x="146303" y="928"/>
                  <a:pt x="142101" y="0"/>
                  <a:pt x="139918" y="0"/>
                </a:cubicBezTo>
                <a:cubicBezTo>
                  <a:pt x="137735" y="0"/>
                  <a:pt x="133534" y="928"/>
                  <a:pt x="127422" y="6658"/>
                </a:cubicBezTo>
                <a:cubicBezTo>
                  <a:pt x="121201" y="12442"/>
                  <a:pt x="114489" y="21937"/>
                  <a:pt x="108267" y="35252"/>
                </a:cubicBezTo>
                <a:cubicBezTo>
                  <a:pt x="97190" y="58991"/>
                  <a:pt x="89386" y="91405"/>
                  <a:pt x="87804" y="126603"/>
                </a:cubicBezTo>
                <a:close/>
                <a:moveTo>
                  <a:pt x="61610" y="126603"/>
                </a:moveTo>
                <a:cubicBezTo>
                  <a:pt x="63520" y="79891"/>
                  <a:pt x="75580" y="36508"/>
                  <a:pt x="93206" y="8022"/>
                </a:cubicBezTo>
                <a:cubicBezTo>
                  <a:pt x="42947" y="25812"/>
                  <a:pt x="5948" y="71596"/>
                  <a:pt x="819" y="126603"/>
                </a:cubicBezTo>
                <a:lnTo>
                  <a:pt x="61610" y="126603"/>
                </a:lnTo>
                <a:close/>
                <a:moveTo>
                  <a:pt x="819" y="152797"/>
                </a:moveTo>
                <a:cubicBezTo>
                  <a:pt x="5948" y="207804"/>
                  <a:pt x="42947" y="253588"/>
                  <a:pt x="93206" y="271378"/>
                </a:cubicBezTo>
                <a:cubicBezTo>
                  <a:pt x="75580" y="242892"/>
                  <a:pt x="63520" y="199509"/>
                  <a:pt x="61610" y="152797"/>
                </a:cubicBezTo>
                <a:lnTo>
                  <a:pt x="819" y="152797"/>
                </a:lnTo>
                <a:close/>
                <a:moveTo>
                  <a:pt x="218227" y="152797"/>
                </a:moveTo>
                <a:cubicBezTo>
                  <a:pt x="216317" y="199509"/>
                  <a:pt x="204257" y="242892"/>
                  <a:pt x="186630" y="271378"/>
                </a:cubicBezTo>
                <a:cubicBezTo>
                  <a:pt x="236890" y="253534"/>
                  <a:pt x="273888" y="207804"/>
                  <a:pt x="279018" y="152797"/>
                </a:cubicBezTo>
                <a:lnTo>
                  <a:pt x="218227" y="152797"/>
                </a:lnTo>
                <a:close/>
                <a:moveTo>
                  <a:pt x="279018" y="126603"/>
                </a:moveTo>
                <a:cubicBezTo>
                  <a:pt x="273888" y="71596"/>
                  <a:pt x="236890" y="25812"/>
                  <a:pt x="186630" y="8022"/>
                </a:cubicBezTo>
                <a:cubicBezTo>
                  <a:pt x="204257" y="36508"/>
                  <a:pt x="216317" y="79891"/>
                  <a:pt x="218227" y="126603"/>
                </a:cubicBezTo>
                <a:lnTo>
                  <a:pt x="279018" y="126603"/>
                </a:lnTo>
                <a:close/>
              </a:path>
            </a:pathLst>
          </a:custGeom>
          <a:solidFill>
            <a:srgbClr val="1B7A6B"/>
          </a:solidFill>
          <a:ln/>
        </p:spPr>
      </p:sp>
      <p:sp>
        <p:nvSpPr>
          <p:cNvPr id="11" name="Text 8"/>
          <p:cNvSpPr/>
          <p:nvPr/>
        </p:nvSpPr>
        <p:spPr>
          <a:xfrm>
            <a:off x="1371600" y="57404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b="1" dirty="0">
                <a:solidFill>
                  <a:srgbClr val="D485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Real-World Example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990600" y="6121400"/>
            <a:ext cx="69088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 office worker prints 50 copies of a contract using a laser printer in just a few minutes.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8382000" y="5588000"/>
            <a:ext cx="7112000" cy="1397000"/>
          </a:xfrm>
          <a:prstGeom prst="roundRect">
            <a:avLst>
              <a:gd name="adj" fmla="val 8000"/>
            </a:avLst>
          </a:prstGeom>
          <a:solidFill>
            <a:srgbClr val="D4853A">
              <a:alpha val="7059"/>
            </a:srgbClr>
          </a:solidFill>
          <a:ln w="12700">
            <a:solidFill>
              <a:srgbClr val="D4853A">
                <a:alpha val="25098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8645525" y="5765800"/>
            <a:ext cx="209550" cy="279400"/>
          </a:xfrm>
          <a:custGeom>
            <a:avLst/>
            <a:gdLst/>
            <a:ahLst/>
            <a:cxnLst/>
            <a:rect l="l" t="t" r="r" b="b"/>
            <a:pathLst>
              <a:path w="209550" h="279400">
                <a:moveTo>
                  <a:pt x="159836" y="209550"/>
                </a:moveTo>
                <a:cubicBezTo>
                  <a:pt x="163820" y="197381"/>
                  <a:pt x="171787" y="186358"/>
                  <a:pt x="180791" y="176862"/>
                </a:cubicBezTo>
                <a:cubicBezTo>
                  <a:pt x="198636" y="158090"/>
                  <a:pt x="209550" y="132715"/>
                  <a:pt x="209550" y="104775"/>
                </a:cubicBezTo>
                <a:cubicBezTo>
                  <a:pt x="209550" y="46930"/>
                  <a:pt x="162620" y="0"/>
                  <a:pt x="104775" y="0"/>
                </a:cubicBezTo>
                <a:cubicBezTo>
                  <a:pt x="46930" y="0"/>
                  <a:pt x="0" y="46930"/>
                  <a:pt x="0" y="104775"/>
                </a:cubicBezTo>
                <a:cubicBezTo>
                  <a:pt x="0" y="132715"/>
                  <a:pt x="10914" y="158090"/>
                  <a:pt x="28759" y="176862"/>
                </a:cubicBezTo>
                <a:cubicBezTo>
                  <a:pt x="37763" y="186358"/>
                  <a:pt x="45784" y="197381"/>
                  <a:pt x="49714" y="209550"/>
                </a:cubicBezTo>
                <a:lnTo>
                  <a:pt x="159782" y="209550"/>
                </a:lnTo>
                <a:close/>
                <a:moveTo>
                  <a:pt x="157163" y="235744"/>
                </a:moveTo>
                <a:lnTo>
                  <a:pt x="52388" y="235744"/>
                </a:lnTo>
                <a:lnTo>
                  <a:pt x="52388" y="244475"/>
                </a:lnTo>
                <a:cubicBezTo>
                  <a:pt x="52388" y="268595"/>
                  <a:pt x="71924" y="288131"/>
                  <a:pt x="96044" y="288131"/>
                </a:cubicBezTo>
                <a:lnTo>
                  <a:pt x="113506" y="288131"/>
                </a:lnTo>
                <a:cubicBezTo>
                  <a:pt x="137626" y="288131"/>
                  <a:pt x="157163" y="268595"/>
                  <a:pt x="157163" y="244475"/>
                </a:cubicBezTo>
                <a:lnTo>
                  <a:pt x="157163" y="235744"/>
                </a:lnTo>
                <a:close/>
                <a:moveTo>
                  <a:pt x="100409" y="61119"/>
                </a:moveTo>
                <a:cubicBezTo>
                  <a:pt x="78690" y="61119"/>
                  <a:pt x="61119" y="78690"/>
                  <a:pt x="61119" y="100409"/>
                </a:cubicBezTo>
                <a:cubicBezTo>
                  <a:pt x="61119" y="107667"/>
                  <a:pt x="55280" y="113506"/>
                  <a:pt x="48022" y="113506"/>
                </a:cubicBezTo>
                <a:cubicBezTo>
                  <a:pt x="40764" y="113506"/>
                  <a:pt x="34925" y="107667"/>
                  <a:pt x="34925" y="100409"/>
                </a:cubicBezTo>
                <a:cubicBezTo>
                  <a:pt x="34925" y="64229"/>
                  <a:pt x="64229" y="34925"/>
                  <a:pt x="100409" y="34925"/>
                </a:cubicBezTo>
                <a:cubicBezTo>
                  <a:pt x="107667" y="34925"/>
                  <a:pt x="113506" y="40764"/>
                  <a:pt x="113506" y="48022"/>
                </a:cubicBezTo>
                <a:cubicBezTo>
                  <a:pt x="113506" y="55280"/>
                  <a:pt x="107667" y="61119"/>
                  <a:pt x="100409" y="61119"/>
                </a:cubicBezTo>
                <a:close/>
              </a:path>
            </a:pathLst>
          </a:custGeom>
          <a:solidFill>
            <a:srgbClr val="D4853A"/>
          </a:solidFill>
          <a:ln/>
        </p:spPr>
      </p:sp>
      <p:sp>
        <p:nvSpPr>
          <p:cNvPr id="15" name="Text 12"/>
          <p:cNvSpPr/>
          <p:nvPr/>
        </p:nvSpPr>
        <p:spPr>
          <a:xfrm>
            <a:off x="8991600" y="57404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b="1" dirty="0">
                <a:solidFill>
                  <a:srgbClr val="D485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Explanation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8610600" y="6121400"/>
            <a:ext cx="66548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laser draws the page image on a drum. Toner sticks to the drawn areas, then heat presses the toner onto the paper.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762000" y="8636000"/>
            <a:ext cx="762000" cy="38100"/>
          </a:xfrm>
          <a:prstGeom prst="rect">
            <a:avLst/>
          </a:prstGeom>
          <a:solidFill>
            <a:srgbClr val="1B7A6B"/>
          </a:solidFill>
          <a:ln/>
        </p:spPr>
      </p:sp>
      <p:sp>
        <p:nvSpPr>
          <p:cNvPr id="18" name="Text 15"/>
          <p:cNvSpPr/>
          <p:nvPr/>
        </p:nvSpPr>
        <p:spPr>
          <a:xfrm>
            <a:off x="14986000" y="8636000"/>
            <a:ext cx="508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400" dirty="0">
                <a:solidFill>
                  <a:srgbClr val="6B656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17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304800"/>
            <a:ext cx="1524000" cy="355600"/>
          </a:xfrm>
          <a:prstGeom prst="roundRect">
            <a:avLst>
              <a:gd name="adj" fmla="val 50000"/>
            </a:avLst>
          </a:prstGeom>
          <a:solidFill>
            <a:srgbClr val="1B7A6B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304800"/>
            <a:ext cx="152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OUTPUT DEVICES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62000" y="8382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B7A6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Inkjet Printer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62000" y="1397000"/>
            <a:ext cx="762000" cy="38100"/>
          </a:xfrm>
          <a:prstGeom prst="rect">
            <a:avLst/>
          </a:prstGeom>
          <a:solidFill>
            <a:srgbClr val="D4853A"/>
          </a:solidFill>
          <a:ln/>
        </p:spPr>
      </p:sp>
      <p:pic>
        <p:nvPicPr>
          <p:cNvPr id="6" name="Image 0" descr="https://kimi-img.moonshot.cn/pub/slides/okc/3jqulld5ie46y/mnt/agents/output/ict_devices/images/5_The_6_Best_Photo_Printers_of_2026.png">    </p:cNvPr>
          <p:cNvPicPr>
            <a:picLocks noChangeAspect="1"/>
          </p:cNvPicPr>
          <p:nvPr/>
        </p:nvPicPr>
        <p:blipFill>
          <a:blip r:embed="rId1"/>
          <a:srcRect l="9231" r="9231" t="0" b="0"/>
          <a:stretch/>
        </p:blipFill>
        <p:spPr>
          <a:xfrm>
            <a:off x="762000" y="1651000"/>
            <a:ext cx="5334000" cy="3683000"/>
          </a:xfrm>
          <a:prstGeom prst="roundRect">
            <a:avLst>
              <a:gd name="adj" fmla="val 8000"/>
            </a:avLst>
          </a:prstGeom>
        </p:spPr>
      </p:pic>
      <p:sp>
        <p:nvSpPr>
          <p:cNvPr id="7" name="Shape 4"/>
          <p:cNvSpPr/>
          <p:nvPr/>
        </p:nvSpPr>
        <p:spPr>
          <a:xfrm>
            <a:off x="6477000" y="1651000"/>
            <a:ext cx="9017000" cy="3683000"/>
          </a:xfrm>
          <a:prstGeom prst="roundRect">
            <a:avLst>
              <a:gd name="adj" fmla="val 8000"/>
            </a:avLst>
          </a:prstGeom>
          <a:solidFill>
            <a:srgbClr val="EDEAE4"/>
          </a:solidFill>
          <a:ln/>
        </p:spPr>
      </p:sp>
      <p:sp>
        <p:nvSpPr>
          <p:cNvPr id="8" name="Text 5"/>
          <p:cNvSpPr/>
          <p:nvPr/>
        </p:nvSpPr>
        <p:spPr>
          <a:xfrm>
            <a:off x="6731000" y="1803400"/>
            <a:ext cx="8509000" cy="3403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 inkjet printer sprays tiny drops of liquid ink onto paper</a:t>
            </a:r>
            <a:endParaRPr lang="en-US" sz="1800" dirty="0"/>
          </a:p>
          <a:p>
            <a:pPr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It produces high-quality color photos and images</a:t>
            </a:r>
            <a:endParaRPr lang="en-US" sz="1800" dirty="0"/>
          </a:p>
          <a:p>
            <a:pPr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Inkjet printers are affordable and good for home use</a:t>
            </a:r>
            <a:endParaRPr lang="en-US" sz="1800" dirty="0"/>
          </a:p>
          <a:p>
            <a:pPr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They use cyan, magenta, yellow, and black ink cartridges</a:t>
            </a:r>
            <a:endParaRPr lang="en-US" sz="1800" dirty="0"/>
          </a:p>
          <a:p>
            <a:pPr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Photo paper gives the best results for printing pictures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762000" y="5588000"/>
            <a:ext cx="7366000" cy="1397000"/>
          </a:xfrm>
          <a:prstGeom prst="roundRect">
            <a:avLst>
              <a:gd name="adj" fmla="val 8000"/>
            </a:avLst>
          </a:prstGeom>
          <a:solidFill>
            <a:srgbClr val="1B7A6B">
              <a:alpha val="8235"/>
            </a:srgbClr>
          </a:solidFill>
          <a:ln w="12700">
            <a:solidFill>
              <a:srgbClr val="1B7A6B">
                <a:alpha val="25098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990600" y="57658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92033" y="152797"/>
                </a:moveTo>
                <a:lnTo>
                  <a:pt x="87858" y="152797"/>
                </a:lnTo>
                <a:cubicBezTo>
                  <a:pt x="89441" y="187995"/>
                  <a:pt x="97244" y="220409"/>
                  <a:pt x="108322" y="244148"/>
                </a:cubicBezTo>
                <a:cubicBezTo>
                  <a:pt x="114543" y="257517"/>
                  <a:pt x="121255" y="266958"/>
                  <a:pt x="127476" y="272742"/>
                </a:cubicBezTo>
                <a:cubicBezTo>
                  <a:pt x="133588" y="278472"/>
                  <a:pt x="137790" y="279400"/>
                  <a:pt x="139973" y="279400"/>
                </a:cubicBezTo>
                <a:cubicBezTo>
                  <a:pt x="142156" y="279400"/>
                  <a:pt x="146358" y="278472"/>
                  <a:pt x="152469" y="272742"/>
                </a:cubicBezTo>
                <a:cubicBezTo>
                  <a:pt x="158690" y="266958"/>
                  <a:pt x="165403" y="257463"/>
                  <a:pt x="171624" y="244148"/>
                </a:cubicBezTo>
                <a:cubicBezTo>
                  <a:pt x="182701" y="220409"/>
                  <a:pt x="190505" y="187995"/>
                  <a:pt x="192087" y="152797"/>
                </a:cubicBezTo>
                <a:close/>
                <a:moveTo>
                  <a:pt x="87804" y="126603"/>
                </a:moveTo>
                <a:lnTo>
                  <a:pt x="191978" y="126603"/>
                </a:lnTo>
                <a:cubicBezTo>
                  <a:pt x="190450" y="91405"/>
                  <a:pt x="182647" y="58991"/>
                  <a:pt x="171569" y="35252"/>
                </a:cubicBezTo>
                <a:cubicBezTo>
                  <a:pt x="165348" y="21937"/>
                  <a:pt x="158636" y="12442"/>
                  <a:pt x="152415" y="6658"/>
                </a:cubicBezTo>
                <a:cubicBezTo>
                  <a:pt x="146303" y="928"/>
                  <a:pt x="142101" y="0"/>
                  <a:pt x="139918" y="0"/>
                </a:cubicBezTo>
                <a:cubicBezTo>
                  <a:pt x="137735" y="0"/>
                  <a:pt x="133534" y="928"/>
                  <a:pt x="127422" y="6658"/>
                </a:cubicBezTo>
                <a:cubicBezTo>
                  <a:pt x="121201" y="12442"/>
                  <a:pt x="114489" y="21937"/>
                  <a:pt x="108267" y="35252"/>
                </a:cubicBezTo>
                <a:cubicBezTo>
                  <a:pt x="97190" y="58991"/>
                  <a:pt x="89386" y="91405"/>
                  <a:pt x="87804" y="126603"/>
                </a:cubicBezTo>
                <a:close/>
                <a:moveTo>
                  <a:pt x="61610" y="126603"/>
                </a:moveTo>
                <a:cubicBezTo>
                  <a:pt x="63520" y="79891"/>
                  <a:pt x="75580" y="36508"/>
                  <a:pt x="93206" y="8022"/>
                </a:cubicBezTo>
                <a:cubicBezTo>
                  <a:pt x="42947" y="25812"/>
                  <a:pt x="5948" y="71596"/>
                  <a:pt x="819" y="126603"/>
                </a:cubicBezTo>
                <a:lnTo>
                  <a:pt x="61610" y="126603"/>
                </a:lnTo>
                <a:close/>
                <a:moveTo>
                  <a:pt x="819" y="152797"/>
                </a:moveTo>
                <a:cubicBezTo>
                  <a:pt x="5948" y="207804"/>
                  <a:pt x="42947" y="253588"/>
                  <a:pt x="93206" y="271378"/>
                </a:cubicBezTo>
                <a:cubicBezTo>
                  <a:pt x="75580" y="242892"/>
                  <a:pt x="63520" y="199509"/>
                  <a:pt x="61610" y="152797"/>
                </a:cubicBezTo>
                <a:lnTo>
                  <a:pt x="819" y="152797"/>
                </a:lnTo>
                <a:close/>
                <a:moveTo>
                  <a:pt x="218227" y="152797"/>
                </a:moveTo>
                <a:cubicBezTo>
                  <a:pt x="216317" y="199509"/>
                  <a:pt x="204257" y="242892"/>
                  <a:pt x="186630" y="271378"/>
                </a:cubicBezTo>
                <a:cubicBezTo>
                  <a:pt x="236890" y="253534"/>
                  <a:pt x="273888" y="207804"/>
                  <a:pt x="279018" y="152797"/>
                </a:cubicBezTo>
                <a:lnTo>
                  <a:pt x="218227" y="152797"/>
                </a:lnTo>
                <a:close/>
                <a:moveTo>
                  <a:pt x="279018" y="126603"/>
                </a:moveTo>
                <a:cubicBezTo>
                  <a:pt x="273888" y="71596"/>
                  <a:pt x="236890" y="25812"/>
                  <a:pt x="186630" y="8022"/>
                </a:cubicBezTo>
                <a:cubicBezTo>
                  <a:pt x="204257" y="36508"/>
                  <a:pt x="216317" y="79891"/>
                  <a:pt x="218227" y="126603"/>
                </a:cubicBezTo>
                <a:lnTo>
                  <a:pt x="279018" y="126603"/>
                </a:lnTo>
                <a:close/>
              </a:path>
            </a:pathLst>
          </a:custGeom>
          <a:solidFill>
            <a:srgbClr val="1B7A6B"/>
          </a:solidFill>
          <a:ln/>
        </p:spPr>
      </p:sp>
      <p:sp>
        <p:nvSpPr>
          <p:cNvPr id="11" name="Text 8"/>
          <p:cNvSpPr/>
          <p:nvPr/>
        </p:nvSpPr>
        <p:spPr>
          <a:xfrm>
            <a:off x="1371600" y="57404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b="1" dirty="0">
                <a:solidFill>
                  <a:srgbClr val="D485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Real-World Example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990600" y="6121400"/>
            <a:ext cx="69088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 parent prints colorful family photos at home using an inkjet printer on glossy photo paper.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8382000" y="5588000"/>
            <a:ext cx="7112000" cy="1397000"/>
          </a:xfrm>
          <a:prstGeom prst="roundRect">
            <a:avLst>
              <a:gd name="adj" fmla="val 8000"/>
            </a:avLst>
          </a:prstGeom>
          <a:solidFill>
            <a:srgbClr val="D4853A">
              <a:alpha val="7059"/>
            </a:srgbClr>
          </a:solidFill>
          <a:ln w="12700">
            <a:solidFill>
              <a:srgbClr val="D4853A">
                <a:alpha val="25098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8645525" y="5765800"/>
            <a:ext cx="209550" cy="279400"/>
          </a:xfrm>
          <a:custGeom>
            <a:avLst/>
            <a:gdLst/>
            <a:ahLst/>
            <a:cxnLst/>
            <a:rect l="l" t="t" r="r" b="b"/>
            <a:pathLst>
              <a:path w="209550" h="279400">
                <a:moveTo>
                  <a:pt x="159836" y="209550"/>
                </a:moveTo>
                <a:cubicBezTo>
                  <a:pt x="163820" y="197381"/>
                  <a:pt x="171787" y="186358"/>
                  <a:pt x="180791" y="176862"/>
                </a:cubicBezTo>
                <a:cubicBezTo>
                  <a:pt x="198636" y="158090"/>
                  <a:pt x="209550" y="132715"/>
                  <a:pt x="209550" y="104775"/>
                </a:cubicBezTo>
                <a:cubicBezTo>
                  <a:pt x="209550" y="46930"/>
                  <a:pt x="162620" y="0"/>
                  <a:pt x="104775" y="0"/>
                </a:cubicBezTo>
                <a:cubicBezTo>
                  <a:pt x="46930" y="0"/>
                  <a:pt x="0" y="46930"/>
                  <a:pt x="0" y="104775"/>
                </a:cubicBezTo>
                <a:cubicBezTo>
                  <a:pt x="0" y="132715"/>
                  <a:pt x="10914" y="158090"/>
                  <a:pt x="28759" y="176862"/>
                </a:cubicBezTo>
                <a:cubicBezTo>
                  <a:pt x="37763" y="186358"/>
                  <a:pt x="45784" y="197381"/>
                  <a:pt x="49714" y="209550"/>
                </a:cubicBezTo>
                <a:lnTo>
                  <a:pt x="159782" y="209550"/>
                </a:lnTo>
                <a:close/>
                <a:moveTo>
                  <a:pt x="157163" y="235744"/>
                </a:moveTo>
                <a:lnTo>
                  <a:pt x="52388" y="235744"/>
                </a:lnTo>
                <a:lnTo>
                  <a:pt x="52388" y="244475"/>
                </a:lnTo>
                <a:cubicBezTo>
                  <a:pt x="52388" y="268595"/>
                  <a:pt x="71924" y="288131"/>
                  <a:pt x="96044" y="288131"/>
                </a:cubicBezTo>
                <a:lnTo>
                  <a:pt x="113506" y="288131"/>
                </a:lnTo>
                <a:cubicBezTo>
                  <a:pt x="137626" y="288131"/>
                  <a:pt x="157163" y="268595"/>
                  <a:pt x="157163" y="244475"/>
                </a:cubicBezTo>
                <a:lnTo>
                  <a:pt x="157163" y="235744"/>
                </a:lnTo>
                <a:close/>
                <a:moveTo>
                  <a:pt x="100409" y="61119"/>
                </a:moveTo>
                <a:cubicBezTo>
                  <a:pt x="78690" y="61119"/>
                  <a:pt x="61119" y="78690"/>
                  <a:pt x="61119" y="100409"/>
                </a:cubicBezTo>
                <a:cubicBezTo>
                  <a:pt x="61119" y="107667"/>
                  <a:pt x="55280" y="113506"/>
                  <a:pt x="48022" y="113506"/>
                </a:cubicBezTo>
                <a:cubicBezTo>
                  <a:pt x="40764" y="113506"/>
                  <a:pt x="34925" y="107667"/>
                  <a:pt x="34925" y="100409"/>
                </a:cubicBezTo>
                <a:cubicBezTo>
                  <a:pt x="34925" y="64229"/>
                  <a:pt x="64229" y="34925"/>
                  <a:pt x="100409" y="34925"/>
                </a:cubicBezTo>
                <a:cubicBezTo>
                  <a:pt x="107667" y="34925"/>
                  <a:pt x="113506" y="40764"/>
                  <a:pt x="113506" y="48022"/>
                </a:cubicBezTo>
                <a:cubicBezTo>
                  <a:pt x="113506" y="55280"/>
                  <a:pt x="107667" y="61119"/>
                  <a:pt x="100409" y="61119"/>
                </a:cubicBezTo>
                <a:close/>
              </a:path>
            </a:pathLst>
          </a:custGeom>
          <a:solidFill>
            <a:srgbClr val="D4853A"/>
          </a:solidFill>
          <a:ln/>
        </p:spPr>
      </p:sp>
      <p:sp>
        <p:nvSpPr>
          <p:cNvPr id="15" name="Text 12"/>
          <p:cNvSpPr/>
          <p:nvPr/>
        </p:nvSpPr>
        <p:spPr>
          <a:xfrm>
            <a:off x="8991600" y="57404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b="1" dirty="0">
                <a:solidFill>
                  <a:srgbClr val="D485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Explanation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8610600" y="6121400"/>
            <a:ext cx="66548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print head moves back and forth, spraying thousands of tiny ink dots to build up the image on the paper.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762000" y="8636000"/>
            <a:ext cx="762000" cy="38100"/>
          </a:xfrm>
          <a:prstGeom prst="rect">
            <a:avLst/>
          </a:prstGeom>
          <a:solidFill>
            <a:srgbClr val="1B7A6B"/>
          </a:solidFill>
          <a:ln/>
        </p:spPr>
      </p:sp>
      <p:sp>
        <p:nvSpPr>
          <p:cNvPr id="18" name="Text 15"/>
          <p:cNvSpPr/>
          <p:nvPr/>
        </p:nvSpPr>
        <p:spPr>
          <a:xfrm>
            <a:off x="14986000" y="8636000"/>
            <a:ext cx="508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400" dirty="0">
                <a:solidFill>
                  <a:srgbClr val="6B656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18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304800"/>
            <a:ext cx="1524000" cy="355600"/>
          </a:xfrm>
          <a:prstGeom prst="roundRect">
            <a:avLst>
              <a:gd name="adj" fmla="val 50000"/>
            </a:avLst>
          </a:prstGeom>
          <a:solidFill>
            <a:srgbClr val="1B7A6B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304800"/>
            <a:ext cx="152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OUTPUT DEVICES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62000" y="838200"/>
            <a:ext cx="9525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B7A6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Dot Matrix Printer &amp; Plotter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62000" y="1397000"/>
            <a:ext cx="762000" cy="38100"/>
          </a:xfrm>
          <a:prstGeom prst="rect">
            <a:avLst/>
          </a:prstGeom>
          <a:solidFill>
            <a:srgbClr val="D4853A"/>
          </a:solidFill>
          <a:ln/>
        </p:spPr>
      </p:sp>
      <p:sp>
        <p:nvSpPr>
          <p:cNvPr id="6" name="Shape 4"/>
          <p:cNvSpPr/>
          <p:nvPr/>
        </p:nvSpPr>
        <p:spPr>
          <a:xfrm>
            <a:off x="762000" y="1651000"/>
            <a:ext cx="8382000" cy="3683000"/>
          </a:xfrm>
          <a:prstGeom prst="roundRect">
            <a:avLst>
              <a:gd name="adj" fmla="val 8000"/>
            </a:avLst>
          </a:prstGeom>
          <a:solidFill>
            <a:srgbClr val="EDEAE4"/>
          </a:solidFill>
          <a:ln/>
        </p:spPr>
      </p:sp>
      <p:sp>
        <p:nvSpPr>
          <p:cNvPr id="7" name="Text 5"/>
          <p:cNvSpPr/>
          <p:nvPr/>
        </p:nvSpPr>
        <p:spPr>
          <a:xfrm>
            <a:off x="1016000" y="1803400"/>
            <a:ext cx="7874000" cy="3403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 dot matrix printer uses tiny pins to strike an ink ribbon against paper</a:t>
            </a:r>
            <a:endParaRPr lang="en-US" sz="1800" dirty="0"/>
          </a:p>
          <a:p>
            <a:pPr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It can print on multi-layer forms (carbon copies)</a:t>
            </a:r>
            <a:endParaRPr lang="en-US" sz="1800" dirty="0"/>
          </a:p>
          <a:p>
            <a:pPr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Dot matrix printers are loud but very durable</a:t>
            </a:r>
            <a:endParaRPr lang="en-US" sz="1800" dirty="0"/>
          </a:p>
          <a:p>
            <a:pPr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 plotter uses pens to draw large, detailed designs on paper</a:t>
            </a:r>
            <a:endParaRPr lang="en-US" sz="1800" dirty="0"/>
          </a:p>
          <a:p>
            <a:pPr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Plotters are used for engineering drawings, maps, and banners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525000" y="1651000"/>
            <a:ext cx="5969000" cy="3683000"/>
          </a:xfrm>
          <a:prstGeom prst="roundRect">
            <a:avLst>
              <a:gd name="adj" fmla="val 8000"/>
            </a:avLst>
          </a:prstGeom>
          <a:solidFill>
            <a:srgbClr val="EDEAE4"/>
          </a:solidFill>
          <a:ln w="12700">
            <a:solidFill>
              <a:srgbClr val="D5D0C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779000" y="1841500"/>
            <a:ext cx="5461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1B7A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Quick Comparison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9779000" y="2286000"/>
            <a:ext cx="5461000" cy="12700"/>
          </a:xfrm>
          <a:prstGeom prst="rect">
            <a:avLst/>
          </a:prstGeom>
          <a:solidFill>
            <a:srgbClr val="D5D0C8"/>
          </a:solidFill>
          <a:ln/>
        </p:spPr>
      </p:sp>
      <p:sp>
        <p:nvSpPr>
          <p:cNvPr id="11" name="Text 9"/>
          <p:cNvSpPr/>
          <p:nvPr/>
        </p:nvSpPr>
        <p:spPr>
          <a:xfrm>
            <a:off x="9779000" y="24765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b="1" dirty="0">
                <a:solidFill>
                  <a:srgbClr val="D485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Dot Matrix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779000" y="2819400"/>
            <a:ext cx="5461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Pins hit ribbon • Carbon copies • Loud • Durable • Low cost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779000" y="38100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b="1" dirty="0">
                <a:solidFill>
                  <a:srgbClr val="D485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Plotter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779000" y="4152900"/>
            <a:ext cx="5461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Pens draw lines • Large format • Precise • Quiet • Expensive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62000" y="5588000"/>
            <a:ext cx="7366000" cy="1397000"/>
          </a:xfrm>
          <a:prstGeom prst="roundRect">
            <a:avLst>
              <a:gd name="adj" fmla="val 8000"/>
            </a:avLst>
          </a:prstGeom>
          <a:solidFill>
            <a:srgbClr val="1B7A6B">
              <a:alpha val="8235"/>
            </a:srgbClr>
          </a:solidFill>
          <a:ln w="12700">
            <a:solidFill>
              <a:srgbClr val="1B7A6B">
                <a:alpha val="25098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90600" y="57658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92033" y="152797"/>
                </a:moveTo>
                <a:lnTo>
                  <a:pt x="87858" y="152797"/>
                </a:lnTo>
                <a:cubicBezTo>
                  <a:pt x="89441" y="187995"/>
                  <a:pt x="97244" y="220409"/>
                  <a:pt x="108322" y="244148"/>
                </a:cubicBezTo>
                <a:cubicBezTo>
                  <a:pt x="114543" y="257517"/>
                  <a:pt x="121255" y="266958"/>
                  <a:pt x="127476" y="272742"/>
                </a:cubicBezTo>
                <a:cubicBezTo>
                  <a:pt x="133588" y="278472"/>
                  <a:pt x="137790" y="279400"/>
                  <a:pt x="139973" y="279400"/>
                </a:cubicBezTo>
                <a:cubicBezTo>
                  <a:pt x="142156" y="279400"/>
                  <a:pt x="146358" y="278472"/>
                  <a:pt x="152469" y="272742"/>
                </a:cubicBezTo>
                <a:cubicBezTo>
                  <a:pt x="158690" y="266958"/>
                  <a:pt x="165403" y="257463"/>
                  <a:pt x="171624" y="244148"/>
                </a:cubicBezTo>
                <a:cubicBezTo>
                  <a:pt x="182701" y="220409"/>
                  <a:pt x="190505" y="187995"/>
                  <a:pt x="192087" y="152797"/>
                </a:cubicBezTo>
                <a:close/>
                <a:moveTo>
                  <a:pt x="87804" y="126603"/>
                </a:moveTo>
                <a:lnTo>
                  <a:pt x="191978" y="126603"/>
                </a:lnTo>
                <a:cubicBezTo>
                  <a:pt x="190450" y="91405"/>
                  <a:pt x="182647" y="58991"/>
                  <a:pt x="171569" y="35252"/>
                </a:cubicBezTo>
                <a:cubicBezTo>
                  <a:pt x="165348" y="21937"/>
                  <a:pt x="158636" y="12442"/>
                  <a:pt x="152415" y="6658"/>
                </a:cubicBezTo>
                <a:cubicBezTo>
                  <a:pt x="146303" y="928"/>
                  <a:pt x="142101" y="0"/>
                  <a:pt x="139918" y="0"/>
                </a:cubicBezTo>
                <a:cubicBezTo>
                  <a:pt x="137735" y="0"/>
                  <a:pt x="133534" y="928"/>
                  <a:pt x="127422" y="6658"/>
                </a:cubicBezTo>
                <a:cubicBezTo>
                  <a:pt x="121201" y="12442"/>
                  <a:pt x="114489" y="21937"/>
                  <a:pt x="108267" y="35252"/>
                </a:cubicBezTo>
                <a:cubicBezTo>
                  <a:pt x="97190" y="58991"/>
                  <a:pt x="89386" y="91405"/>
                  <a:pt x="87804" y="126603"/>
                </a:cubicBezTo>
                <a:close/>
                <a:moveTo>
                  <a:pt x="61610" y="126603"/>
                </a:moveTo>
                <a:cubicBezTo>
                  <a:pt x="63520" y="79891"/>
                  <a:pt x="75580" y="36508"/>
                  <a:pt x="93206" y="8022"/>
                </a:cubicBezTo>
                <a:cubicBezTo>
                  <a:pt x="42947" y="25812"/>
                  <a:pt x="5948" y="71596"/>
                  <a:pt x="819" y="126603"/>
                </a:cubicBezTo>
                <a:lnTo>
                  <a:pt x="61610" y="126603"/>
                </a:lnTo>
                <a:close/>
                <a:moveTo>
                  <a:pt x="819" y="152797"/>
                </a:moveTo>
                <a:cubicBezTo>
                  <a:pt x="5948" y="207804"/>
                  <a:pt x="42947" y="253588"/>
                  <a:pt x="93206" y="271378"/>
                </a:cubicBezTo>
                <a:cubicBezTo>
                  <a:pt x="75580" y="242892"/>
                  <a:pt x="63520" y="199509"/>
                  <a:pt x="61610" y="152797"/>
                </a:cubicBezTo>
                <a:lnTo>
                  <a:pt x="819" y="152797"/>
                </a:lnTo>
                <a:close/>
                <a:moveTo>
                  <a:pt x="218227" y="152797"/>
                </a:moveTo>
                <a:cubicBezTo>
                  <a:pt x="216317" y="199509"/>
                  <a:pt x="204257" y="242892"/>
                  <a:pt x="186630" y="271378"/>
                </a:cubicBezTo>
                <a:cubicBezTo>
                  <a:pt x="236890" y="253534"/>
                  <a:pt x="273888" y="207804"/>
                  <a:pt x="279018" y="152797"/>
                </a:cubicBezTo>
                <a:lnTo>
                  <a:pt x="218227" y="152797"/>
                </a:lnTo>
                <a:close/>
                <a:moveTo>
                  <a:pt x="279018" y="126603"/>
                </a:moveTo>
                <a:cubicBezTo>
                  <a:pt x="273888" y="71596"/>
                  <a:pt x="236890" y="25812"/>
                  <a:pt x="186630" y="8022"/>
                </a:cubicBezTo>
                <a:cubicBezTo>
                  <a:pt x="204257" y="36508"/>
                  <a:pt x="216317" y="79891"/>
                  <a:pt x="218227" y="126603"/>
                </a:cubicBezTo>
                <a:lnTo>
                  <a:pt x="279018" y="126603"/>
                </a:lnTo>
                <a:close/>
              </a:path>
            </a:pathLst>
          </a:custGeom>
          <a:solidFill>
            <a:srgbClr val="1B7A6B"/>
          </a:solidFill>
          <a:ln/>
        </p:spPr>
      </p:sp>
      <p:sp>
        <p:nvSpPr>
          <p:cNvPr id="17" name="Text 15"/>
          <p:cNvSpPr/>
          <p:nvPr/>
        </p:nvSpPr>
        <p:spPr>
          <a:xfrm>
            <a:off x="1371600" y="57404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b="1" dirty="0">
                <a:solidFill>
                  <a:srgbClr val="D485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Real-World Example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90600" y="6121400"/>
            <a:ext cx="69088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 warehouse uses a dot matrix printer to print delivery invoices, and an architect uses a plotter to print building blueprints.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382000" y="5588000"/>
            <a:ext cx="7112000" cy="1397000"/>
          </a:xfrm>
          <a:prstGeom prst="roundRect">
            <a:avLst>
              <a:gd name="adj" fmla="val 8000"/>
            </a:avLst>
          </a:prstGeom>
          <a:solidFill>
            <a:srgbClr val="D4853A">
              <a:alpha val="7059"/>
            </a:srgbClr>
          </a:solidFill>
          <a:ln w="12700">
            <a:solidFill>
              <a:srgbClr val="D4853A">
                <a:alpha val="25098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645525" y="5765800"/>
            <a:ext cx="209550" cy="279400"/>
          </a:xfrm>
          <a:custGeom>
            <a:avLst/>
            <a:gdLst/>
            <a:ahLst/>
            <a:cxnLst/>
            <a:rect l="l" t="t" r="r" b="b"/>
            <a:pathLst>
              <a:path w="209550" h="279400">
                <a:moveTo>
                  <a:pt x="159836" y="209550"/>
                </a:moveTo>
                <a:cubicBezTo>
                  <a:pt x="163820" y="197381"/>
                  <a:pt x="171787" y="186358"/>
                  <a:pt x="180791" y="176862"/>
                </a:cubicBezTo>
                <a:cubicBezTo>
                  <a:pt x="198636" y="158090"/>
                  <a:pt x="209550" y="132715"/>
                  <a:pt x="209550" y="104775"/>
                </a:cubicBezTo>
                <a:cubicBezTo>
                  <a:pt x="209550" y="46930"/>
                  <a:pt x="162620" y="0"/>
                  <a:pt x="104775" y="0"/>
                </a:cubicBezTo>
                <a:cubicBezTo>
                  <a:pt x="46930" y="0"/>
                  <a:pt x="0" y="46930"/>
                  <a:pt x="0" y="104775"/>
                </a:cubicBezTo>
                <a:cubicBezTo>
                  <a:pt x="0" y="132715"/>
                  <a:pt x="10914" y="158090"/>
                  <a:pt x="28759" y="176862"/>
                </a:cubicBezTo>
                <a:cubicBezTo>
                  <a:pt x="37763" y="186358"/>
                  <a:pt x="45784" y="197381"/>
                  <a:pt x="49714" y="209550"/>
                </a:cubicBezTo>
                <a:lnTo>
                  <a:pt x="159782" y="209550"/>
                </a:lnTo>
                <a:close/>
                <a:moveTo>
                  <a:pt x="157163" y="235744"/>
                </a:moveTo>
                <a:lnTo>
                  <a:pt x="52388" y="235744"/>
                </a:lnTo>
                <a:lnTo>
                  <a:pt x="52388" y="244475"/>
                </a:lnTo>
                <a:cubicBezTo>
                  <a:pt x="52388" y="268595"/>
                  <a:pt x="71924" y="288131"/>
                  <a:pt x="96044" y="288131"/>
                </a:cubicBezTo>
                <a:lnTo>
                  <a:pt x="113506" y="288131"/>
                </a:lnTo>
                <a:cubicBezTo>
                  <a:pt x="137626" y="288131"/>
                  <a:pt x="157163" y="268595"/>
                  <a:pt x="157163" y="244475"/>
                </a:cubicBezTo>
                <a:lnTo>
                  <a:pt x="157163" y="235744"/>
                </a:lnTo>
                <a:close/>
                <a:moveTo>
                  <a:pt x="100409" y="61119"/>
                </a:moveTo>
                <a:cubicBezTo>
                  <a:pt x="78690" y="61119"/>
                  <a:pt x="61119" y="78690"/>
                  <a:pt x="61119" y="100409"/>
                </a:cubicBezTo>
                <a:cubicBezTo>
                  <a:pt x="61119" y="107667"/>
                  <a:pt x="55280" y="113506"/>
                  <a:pt x="48022" y="113506"/>
                </a:cubicBezTo>
                <a:cubicBezTo>
                  <a:pt x="40764" y="113506"/>
                  <a:pt x="34925" y="107667"/>
                  <a:pt x="34925" y="100409"/>
                </a:cubicBezTo>
                <a:cubicBezTo>
                  <a:pt x="34925" y="64229"/>
                  <a:pt x="64229" y="34925"/>
                  <a:pt x="100409" y="34925"/>
                </a:cubicBezTo>
                <a:cubicBezTo>
                  <a:pt x="107667" y="34925"/>
                  <a:pt x="113506" y="40764"/>
                  <a:pt x="113506" y="48022"/>
                </a:cubicBezTo>
                <a:cubicBezTo>
                  <a:pt x="113506" y="55280"/>
                  <a:pt x="107667" y="61119"/>
                  <a:pt x="100409" y="61119"/>
                </a:cubicBezTo>
                <a:close/>
              </a:path>
            </a:pathLst>
          </a:custGeom>
          <a:solidFill>
            <a:srgbClr val="D4853A"/>
          </a:solidFill>
          <a:ln/>
        </p:spPr>
      </p:sp>
      <p:sp>
        <p:nvSpPr>
          <p:cNvPr id="21" name="Text 19"/>
          <p:cNvSpPr/>
          <p:nvPr/>
        </p:nvSpPr>
        <p:spPr>
          <a:xfrm>
            <a:off x="8991600" y="57404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b="1" dirty="0">
                <a:solidFill>
                  <a:srgbClr val="D485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Explanation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610600" y="6121400"/>
            <a:ext cx="66548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Dot matrix printers hit the paper with pins to make dots. Plotters move pens across large paper to create precise lines and drawings.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762000" y="8636000"/>
            <a:ext cx="762000" cy="38100"/>
          </a:xfrm>
          <a:prstGeom prst="rect">
            <a:avLst/>
          </a:prstGeom>
          <a:solidFill>
            <a:srgbClr val="1B7A6B"/>
          </a:solidFill>
          <a:ln/>
        </p:spPr>
      </p:sp>
      <p:sp>
        <p:nvSpPr>
          <p:cNvPr id="24" name="Text 22"/>
          <p:cNvSpPr/>
          <p:nvPr/>
        </p:nvSpPr>
        <p:spPr>
          <a:xfrm>
            <a:off x="14986000" y="8636000"/>
            <a:ext cx="508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400" dirty="0">
                <a:solidFill>
                  <a:srgbClr val="6B656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19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304800"/>
            <a:ext cx="1524000" cy="355600"/>
          </a:xfrm>
          <a:prstGeom prst="roundRect">
            <a:avLst>
              <a:gd name="adj" fmla="val 50000"/>
            </a:avLst>
          </a:prstGeom>
          <a:solidFill>
            <a:srgbClr val="1B7A6B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304800"/>
            <a:ext cx="152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OUTPUT DEVICES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62000" y="838200"/>
            <a:ext cx="9525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B7A6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3D Printer, Speaker &amp; Actuator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62000" y="1397000"/>
            <a:ext cx="762000" cy="38100"/>
          </a:xfrm>
          <a:prstGeom prst="rect">
            <a:avLst/>
          </a:prstGeom>
          <a:solidFill>
            <a:srgbClr val="D4853A"/>
          </a:solidFill>
          <a:ln/>
        </p:spPr>
      </p:sp>
      <p:pic>
        <p:nvPicPr>
          <p:cNvPr id="6" name="Image 0" descr="https://kimi-img.moonshot.cn/pub/slides/okc/3jqulld5ie46y/mnt/agents/output/ict_devices/images/4_With_This_3_D_Printer_Objects_Emerge.png">    </p:cNvPr>
          <p:cNvPicPr>
            <a:picLocks noChangeAspect="1"/>
          </p:cNvPicPr>
          <p:nvPr/>
        </p:nvPicPr>
        <p:blipFill>
          <a:blip r:embed="rId1"/>
          <a:srcRect l="9267" r="9267" t="0" b="0"/>
          <a:stretch/>
        </p:blipFill>
        <p:spPr>
          <a:xfrm>
            <a:off x="762000" y="1651000"/>
            <a:ext cx="5334000" cy="3683000"/>
          </a:xfrm>
          <a:prstGeom prst="roundRect">
            <a:avLst>
              <a:gd name="adj" fmla="val 8000"/>
            </a:avLst>
          </a:prstGeom>
        </p:spPr>
      </p:pic>
      <p:sp>
        <p:nvSpPr>
          <p:cNvPr id="7" name="Shape 4"/>
          <p:cNvSpPr/>
          <p:nvPr/>
        </p:nvSpPr>
        <p:spPr>
          <a:xfrm>
            <a:off x="6477000" y="1651000"/>
            <a:ext cx="9017000" cy="3683000"/>
          </a:xfrm>
          <a:prstGeom prst="roundRect">
            <a:avLst>
              <a:gd name="adj" fmla="val 8000"/>
            </a:avLst>
          </a:prstGeom>
          <a:solidFill>
            <a:srgbClr val="EDEAE4"/>
          </a:solidFill>
          <a:ln/>
        </p:spPr>
      </p:sp>
      <p:sp>
        <p:nvSpPr>
          <p:cNvPr id="8" name="Text 5"/>
          <p:cNvSpPr/>
          <p:nvPr/>
        </p:nvSpPr>
        <p:spPr>
          <a:xfrm>
            <a:off x="6731000" y="1803400"/>
            <a:ext cx="8509000" cy="3403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 3D printer builds solid objects layer by layer from plastic or resin</a:t>
            </a:r>
            <a:endParaRPr lang="en-US" sz="1800" dirty="0"/>
          </a:p>
          <a:p>
            <a:pPr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It turns digital designs into real physical items</a:t>
            </a:r>
            <a:endParaRPr lang="en-US" sz="1800" dirty="0"/>
          </a:p>
          <a:p>
            <a:pPr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 speaker plays sound and music from the computer</a:t>
            </a:r>
            <a:endParaRPr lang="en-US" sz="1800" dirty="0"/>
          </a:p>
          <a:p>
            <a:pPr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 actuator is a device that moves or controls a physical mechanism</a:t>
            </a:r>
            <a:endParaRPr lang="en-US" sz="1800" dirty="0"/>
          </a:p>
          <a:p>
            <a:pPr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Actuators are used in robots, automatic doors, and factories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762000" y="5588000"/>
            <a:ext cx="7366000" cy="1397000"/>
          </a:xfrm>
          <a:prstGeom prst="roundRect">
            <a:avLst>
              <a:gd name="adj" fmla="val 8000"/>
            </a:avLst>
          </a:prstGeom>
          <a:solidFill>
            <a:srgbClr val="1B7A6B">
              <a:alpha val="8235"/>
            </a:srgbClr>
          </a:solidFill>
          <a:ln w="12700">
            <a:solidFill>
              <a:srgbClr val="1B7A6B">
                <a:alpha val="25098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990600" y="57658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92033" y="152797"/>
                </a:moveTo>
                <a:lnTo>
                  <a:pt x="87858" y="152797"/>
                </a:lnTo>
                <a:cubicBezTo>
                  <a:pt x="89441" y="187995"/>
                  <a:pt x="97244" y="220409"/>
                  <a:pt x="108322" y="244148"/>
                </a:cubicBezTo>
                <a:cubicBezTo>
                  <a:pt x="114543" y="257517"/>
                  <a:pt x="121255" y="266958"/>
                  <a:pt x="127476" y="272742"/>
                </a:cubicBezTo>
                <a:cubicBezTo>
                  <a:pt x="133588" y="278472"/>
                  <a:pt x="137790" y="279400"/>
                  <a:pt x="139973" y="279400"/>
                </a:cubicBezTo>
                <a:cubicBezTo>
                  <a:pt x="142156" y="279400"/>
                  <a:pt x="146358" y="278472"/>
                  <a:pt x="152469" y="272742"/>
                </a:cubicBezTo>
                <a:cubicBezTo>
                  <a:pt x="158690" y="266958"/>
                  <a:pt x="165403" y="257463"/>
                  <a:pt x="171624" y="244148"/>
                </a:cubicBezTo>
                <a:cubicBezTo>
                  <a:pt x="182701" y="220409"/>
                  <a:pt x="190505" y="187995"/>
                  <a:pt x="192087" y="152797"/>
                </a:cubicBezTo>
                <a:close/>
                <a:moveTo>
                  <a:pt x="87804" y="126603"/>
                </a:moveTo>
                <a:lnTo>
                  <a:pt x="191978" y="126603"/>
                </a:lnTo>
                <a:cubicBezTo>
                  <a:pt x="190450" y="91405"/>
                  <a:pt x="182647" y="58991"/>
                  <a:pt x="171569" y="35252"/>
                </a:cubicBezTo>
                <a:cubicBezTo>
                  <a:pt x="165348" y="21937"/>
                  <a:pt x="158636" y="12442"/>
                  <a:pt x="152415" y="6658"/>
                </a:cubicBezTo>
                <a:cubicBezTo>
                  <a:pt x="146303" y="928"/>
                  <a:pt x="142101" y="0"/>
                  <a:pt x="139918" y="0"/>
                </a:cubicBezTo>
                <a:cubicBezTo>
                  <a:pt x="137735" y="0"/>
                  <a:pt x="133534" y="928"/>
                  <a:pt x="127422" y="6658"/>
                </a:cubicBezTo>
                <a:cubicBezTo>
                  <a:pt x="121201" y="12442"/>
                  <a:pt x="114489" y="21937"/>
                  <a:pt x="108267" y="35252"/>
                </a:cubicBezTo>
                <a:cubicBezTo>
                  <a:pt x="97190" y="58991"/>
                  <a:pt x="89386" y="91405"/>
                  <a:pt x="87804" y="126603"/>
                </a:cubicBezTo>
                <a:close/>
                <a:moveTo>
                  <a:pt x="61610" y="126603"/>
                </a:moveTo>
                <a:cubicBezTo>
                  <a:pt x="63520" y="79891"/>
                  <a:pt x="75580" y="36508"/>
                  <a:pt x="93206" y="8022"/>
                </a:cubicBezTo>
                <a:cubicBezTo>
                  <a:pt x="42947" y="25812"/>
                  <a:pt x="5948" y="71596"/>
                  <a:pt x="819" y="126603"/>
                </a:cubicBezTo>
                <a:lnTo>
                  <a:pt x="61610" y="126603"/>
                </a:lnTo>
                <a:close/>
                <a:moveTo>
                  <a:pt x="819" y="152797"/>
                </a:moveTo>
                <a:cubicBezTo>
                  <a:pt x="5948" y="207804"/>
                  <a:pt x="42947" y="253588"/>
                  <a:pt x="93206" y="271378"/>
                </a:cubicBezTo>
                <a:cubicBezTo>
                  <a:pt x="75580" y="242892"/>
                  <a:pt x="63520" y="199509"/>
                  <a:pt x="61610" y="152797"/>
                </a:cubicBezTo>
                <a:lnTo>
                  <a:pt x="819" y="152797"/>
                </a:lnTo>
                <a:close/>
                <a:moveTo>
                  <a:pt x="218227" y="152797"/>
                </a:moveTo>
                <a:cubicBezTo>
                  <a:pt x="216317" y="199509"/>
                  <a:pt x="204257" y="242892"/>
                  <a:pt x="186630" y="271378"/>
                </a:cubicBezTo>
                <a:cubicBezTo>
                  <a:pt x="236890" y="253534"/>
                  <a:pt x="273888" y="207804"/>
                  <a:pt x="279018" y="152797"/>
                </a:cubicBezTo>
                <a:lnTo>
                  <a:pt x="218227" y="152797"/>
                </a:lnTo>
                <a:close/>
                <a:moveTo>
                  <a:pt x="279018" y="126603"/>
                </a:moveTo>
                <a:cubicBezTo>
                  <a:pt x="273888" y="71596"/>
                  <a:pt x="236890" y="25812"/>
                  <a:pt x="186630" y="8022"/>
                </a:cubicBezTo>
                <a:cubicBezTo>
                  <a:pt x="204257" y="36508"/>
                  <a:pt x="216317" y="79891"/>
                  <a:pt x="218227" y="126603"/>
                </a:cubicBezTo>
                <a:lnTo>
                  <a:pt x="279018" y="126603"/>
                </a:lnTo>
                <a:close/>
              </a:path>
            </a:pathLst>
          </a:custGeom>
          <a:solidFill>
            <a:srgbClr val="1B7A6B"/>
          </a:solidFill>
          <a:ln/>
        </p:spPr>
      </p:sp>
      <p:sp>
        <p:nvSpPr>
          <p:cNvPr id="11" name="Text 8"/>
          <p:cNvSpPr/>
          <p:nvPr/>
        </p:nvSpPr>
        <p:spPr>
          <a:xfrm>
            <a:off x="1371600" y="57404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b="1" dirty="0">
                <a:solidFill>
                  <a:srgbClr val="D485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Real-World Example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990600" y="6121400"/>
            <a:ext cx="69088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 doctor uses a 3D printer to make a model of a patient's bone, and a smart speaker plays music when you ask it to.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8382000" y="5588000"/>
            <a:ext cx="7112000" cy="1397000"/>
          </a:xfrm>
          <a:prstGeom prst="roundRect">
            <a:avLst>
              <a:gd name="adj" fmla="val 8000"/>
            </a:avLst>
          </a:prstGeom>
          <a:solidFill>
            <a:srgbClr val="D4853A">
              <a:alpha val="7059"/>
            </a:srgbClr>
          </a:solidFill>
          <a:ln w="12700">
            <a:solidFill>
              <a:srgbClr val="D4853A">
                <a:alpha val="25098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8645525" y="5765800"/>
            <a:ext cx="209550" cy="279400"/>
          </a:xfrm>
          <a:custGeom>
            <a:avLst/>
            <a:gdLst/>
            <a:ahLst/>
            <a:cxnLst/>
            <a:rect l="l" t="t" r="r" b="b"/>
            <a:pathLst>
              <a:path w="209550" h="279400">
                <a:moveTo>
                  <a:pt x="159836" y="209550"/>
                </a:moveTo>
                <a:cubicBezTo>
                  <a:pt x="163820" y="197381"/>
                  <a:pt x="171787" y="186358"/>
                  <a:pt x="180791" y="176862"/>
                </a:cubicBezTo>
                <a:cubicBezTo>
                  <a:pt x="198636" y="158090"/>
                  <a:pt x="209550" y="132715"/>
                  <a:pt x="209550" y="104775"/>
                </a:cubicBezTo>
                <a:cubicBezTo>
                  <a:pt x="209550" y="46930"/>
                  <a:pt x="162620" y="0"/>
                  <a:pt x="104775" y="0"/>
                </a:cubicBezTo>
                <a:cubicBezTo>
                  <a:pt x="46930" y="0"/>
                  <a:pt x="0" y="46930"/>
                  <a:pt x="0" y="104775"/>
                </a:cubicBezTo>
                <a:cubicBezTo>
                  <a:pt x="0" y="132715"/>
                  <a:pt x="10914" y="158090"/>
                  <a:pt x="28759" y="176862"/>
                </a:cubicBezTo>
                <a:cubicBezTo>
                  <a:pt x="37763" y="186358"/>
                  <a:pt x="45784" y="197381"/>
                  <a:pt x="49714" y="209550"/>
                </a:cubicBezTo>
                <a:lnTo>
                  <a:pt x="159782" y="209550"/>
                </a:lnTo>
                <a:close/>
                <a:moveTo>
                  <a:pt x="157163" y="235744"/>
                </a:moveTo>
                <a:lnTo>
                  <a:pt x="52388" y="235744"/>
                </a:lnTo>
                <a:lnTo>
                  <a:pt x="52388" y="244475"/>
                </a:lnTo>
                <a:cubicBezTo>
                  <a:pt x="52388" y="268595"/>
                  <a:pt x="71924" y="288131"/>
                  <a:pt x="96044" y="288131"/>
                </a:cubicBezTo>
                <a:lnTo>
                  <a:pt x="113506" y="288131"/>
                </a:lnTo>
                <a:cubicBezTo>
                  <a:pt x="137626" y="288131"/>
                  <a:pt x="157163" y="268595"/>
                  <a:pt x="157163" y="244475"/>
                </a:cubicBezTo>
                <a:lnTo>
                  <a:pt x="157163" y="235744"/>
                </a:lnTo>
                <a:close/>
                <a:moveTo>
                  <a:pt x="100409" y="61119"/>
                </a:moveTo>
                <a:cubicBezTo>
                  <a:pt x="78690" y="61119"/>
                  <a:pt x="61119" y="78690"/>
                  <a:pt x="61119" y="100409"/>
                </a:cubicBezTo>
                <a:cubicBezTo>
                  <a:pt x="61119" y="107667"/>
                  <a:pt x="55280" y="113506"/>
                  <a:pt x="48022" y="113506"/>
                </a:cubicBezTo>
                <a:cubicBezTo>
                  <a:pt x="40764" y="113506"/>
                  <a:pt x="34925" y="107667"/>
                  <a:pt x="34925" y="100409"/>
                </a:cubicBezTo>
                <a:cubicBezTo>
                  <a:pt x="34925" y="64229"/>
                  <a:pt x="64229" y="34925"/>
                  <a:pt x="100409" y="34925"/>
                </a:cubicBezTo>
                <a:cubicBezTo>
                  <a:pt x="107667" y="34925"/>
                  <a:pt x="113506" y="40764"/>
                  <a:pt x="113506" y="48022"/>
                </a:cubicBezTo>
                <a:cubicBezTo>
                  <a:pt x="113506" y="55280"/>
                  <a:pt x="107667" y="61119"/>
                  <a:pt x="100409" y="61119"/>
                </a:cubicBezTo>
                <a:close/>
              </a:path>
            </a:pathLst>
          </a:custGeom>
          <a:solidFill>
            <a:srgbClr val="D4853A"/>
          </a:solidFill>
          <a:ln/>
        </p:spPr>
      </p:sp>
      <p:sp>
        <p:nvSpPr>
          <p:cNvPr id="15" name="Text 12"/>
          <p:cNvSpPr/>
          <p:nvPr/>
        </p:nvSpPr>
        <p:spPr>
          <a:xfrm>
            <a:off x="8991600" y="57404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b="1" dirty="0">
                <a:solidFill>
                  <a:srgbClr val="D485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Explanation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8610600" y="6121400"/>
            <a:ext cx="66548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3D printers melt material and stack thin layers to build objects. Speakers convert digital sound into vibrations you can hear.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762000" y="8636000"/>
            <a:ext cx="762000" cy="38100"/>
          </a:xfrm>
          <a:prstGeom prst="rect">
            <a:avLst/>
          </a:prstGeom>
          <a:solidFill>
            <a:srgbClr val="1B7A6B"/>
          </a:solidFill>
          <a:ln/>
        </p:spPr>
      </p:sp>
      <p:sp>
        <p:nvSpPr>
          <p:cNvPr id="18" name="Text 15"/>
          <p:cNvSpPr/>
          <p:nvPr/>
        </p:nvSpPr>
        <p:spPr>
          <a:xfrm>
            <a:off x="14986000" y="8636000"/>
            <a:ext cx="508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400" dirty="0">
                <a:solidFill>
                  <a:srgbClr val="6B656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20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B3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1016000"/>
            <a:ext cx="6350000" cy="2032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14000" dirty="0">
                <a:solidFill>
                  <a:srgbClr val="FFFFFF">
                    <a:alpha val="705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762000" y="3302000"/>
            <a:ext cx="1016000" cy="63500"/>
          </a:xfrm>
          <a:prstGeom prst="rect">
            <a:avLst/>
          </a:prstGeom>
          <a:solidFill>
            <a:srgbClr val="D4853A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3556000"/>
            <a:ext cx="6350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0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Storage Devices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62000" y="4445000"/>
            <a:ext cx="6096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FFFFFF">
                    <a:alpha val="73333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Devices that save data so you can use it again later</a:t>
            </a:r>
            <a:endParaRPr lang="en-US" sz="1600" dirty="0"/>
          </a:p>
        </p:txBody>
      </p:sp>
      <p:pic>
        <p:nvPicPr>
          <p:cNvPr id="6" name="Image 0" descr="https://kimi-img.moonshot.cn/pub/slides/okc/3jqulld5ie46y/mnt/agents/output/ict_devices/images/7_The_2_Best_USB_Flash_Drives_of_2026.png">    </p:cNvPr>
          <p:cNvPicPr>
            <a:picLocks noChangeAspect="1"/>
          </p:cNvPicPr>
          <p:nvPr/>
        </p:nvPicPr>
        <p:blipFill>
          <a:blip r:embed="rId1"/>
          <a:srcRect l="16667" r="16667" t="0" b="0"/>
          <a:stretch/>
        </p:blipFill>
        <p:spPr>
          <a:xfrm>
            <a:off x="8128000" y="0"/>
            <a:ext cx="8128000" cy="91440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128000" y="0"/>
            <a:ext cx="8128000" cy="9144000"/>
          </a:xfrm>
          <a:prstGeom prst="rect">
            <a:avLst/>
          </a:prstGeom>
          <a:gradFill rotWithShape="1" flip="none">
            <a:gsLst>
              <a:gs pos="0">
                <a:srgbClr val="1B3A3A"/>
              </a:gs>
              <a:gs pos="30000">
                <a:srgbClr val="1B3A3A">
                  <a:alpha val="60000"/>
                </a:srgbClr>
              </a:gs>
              <a:gs pos="100000">
                <a:srgbClr val="1B3A3A">
                  <a:alpha val="0"/>
                </a:srgbClr>
              </a:gs>
            </a:gsLst>
            <a:lin ang="0" scaled="1"/>
          </a:gradFill>
          <a:ln/>
        </p:spPr>
      </p:sp>
    </p:spTree>
  </p:cSld>
  <p:clrMapOvr>
    <a:masterClrMapping/>
  </p:clrMapOvr>
  <p:transition>
    <p:fade/>
    <p:spd val="med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304800"/>
            <a:ext cx="1524000" cy="355600"/>
          </a:xfrm>
          <a:prstGeom prst="roundRect">
            <a:avLst>
              <a:gd name="adj" fmla="val 50000"/>
            </a:avLst>
          </a:prstGeom>
          <a:solidFill>
            <a:srgbClr val="1B7A6B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304800"/>
            <a:ext cx="152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STORAGE DEVICES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62000" y="8382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B7A6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Introduction to Storage Devices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62000" y="1397000"/>
            <a:ext cx="762000" cy="38100"/>
          </a:xfrm>
          <a:prstGeom prst="rect">
            <a:avLst/>
          </a:prstGeom>
          <a:solidFill>
            <a:srgbClr val="D4853A"/>
          </a:solidFill>
          <a:ln/>
        </p:spPr>
      </p:sp>
      <p:sp>
        <p:nvSpPr>
          <p:cNvPr id="6" name="Shape 4"/>
          <p:cNvSpPr/>
          <p:nvPr/>
        </p:nvSpPr>
        <p:spPr>
          <a:xfrm>
            <a:off x="762000" y="1651000"/>
            <a:ext cx="8382000" cy="3683000"/>
          </a:xfrm>
          <a:prstGeom prst="roundRect">
            <a:avLst>
              <a:gd name="adj" fmla="val 8000"/>
            </a:avLst>
          </a:prstGeom>
          <a:solidFill>
            <a:srgbClr val="EDEAE4"/>
          </a:solidFill>
          <a:ln/>
        </p:spPr>
      </p:sp>
      <p:sp>
        <p:nvSpPr>
          <p:cNvPr id="7" name="Text 5"/>
          <p:cNvSpPr/>
          <p:nvPr/>
        </p:nvSpPr>
        <p:spPr>
          <a:xfrm>
            <a:off x="1016000" y="1803400"/>
            <a:ext cx="7874000" cy="3403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Storage devices save data permanently so it is not lost when power is turned off</a:t>
            </a:r>
            <a:endParaRPr lang="en-US" sz="1800" dirty="0"/>
          </a:p>
          <a:p>
            <a:pPr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Storage capacity is measured in bytes: KB, MB, GB, and TB</a:t>
            </a:r>
            <a:endParaRPr lang="en-US" sz="1800" dirty="0"/>
          </a:p>
          <a:p>
            <a:pPr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All storage devices have advantages and disadvantages</a:t>
            </a:r>
            <a:endParaRPr lang="en-US" sz="1800" dirty="0"/>
          </a:p>
          <a:p>
            <a:pPr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Speed, capacity, cost, and durability are important factors</a:t>
            </a:r>
            <a:endParaRPr lang="en-US" sz="1800" dirty="0"/>
          </a:p>
          <a:p>
            <a:pPr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There are three main types: Magnetic, Optical, and Solid-State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525000" y="1651000"/>
            <a:ext cx="5969000" cy="3683000"/>
          </a:xfrm>
          <a:prstGeom prst="roundRect">
            <a:avLst>
              <a:gd name="adj" fmla="val 8000"/>
            </a:avLst>
          </a:prstGeom>
          <a:solidFill>
            <a:srgbClr val="1B7A6B"/>
          </a:solidFill>
          <a:ln/>
        </p:spPr>
      </p:sp>
      <p:sp>
        <p:nvSpPr>
          <p:cNvPr id="9" name="Text 7"/>
          <p:cNvSpPr/>
          <p:nvPr/>
        </p:nvSpPr>
        <p:spPr>
          <a:xfrm>
            <a:off x="9779000" y="1841500"/>
            <a:ext cx="5461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Three Types of Storage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0061575" y="2476500"/>
            <a:ext cx="400050" cy="457200"/>
          </a:xfrm>
          <a:custGeom>
            <a:avLst/>
            <a:gdLst/>
            <a:ahLst/>
            <a:cxnLst/>
            <a:rect l="l" t="t" r="r" b="b"/>
            <a:pathLst>
              <a:path w="400050" h="457200">
                <a:moveTo>
                  <a:pt x="0" y="157163"/>
                </a:moveTo>
                <a:lnTo>
                  <a:pt x="0" y="257175"/>
                </a:lnTo>
                <a:cubicBezTo>
                  <a:pt x="0" y="367635"/>
                  <a:pt x="89565" y="457200"/>
                  <a:pt x="200025" y="457200"/>
                </a:cubicBezTo>
                <a:cubicBezTo>
                  <a:pt x="310485" y="457200"/>
                  <a:pt x="400050" y="367635"/>
                  <a:pt x="400050" y="257175"/>
                </a:cubicBezTo>
                <a:lnTo>
                  <a:pt x="400050" y="157163"/>
                </a:lnTo>
                <a:lnTo>
                  <a:pt x="285750" y="157163"/>
                </a:lnTo>
                <a:lnTo>
                  <a:pt x="285750" y="257175"/>
                </a:lnTo>
                <a:cubicBezTo>
                  <a:pt x="285750" y="304502"/>
                  <a:pt x="247352" y="342900"/>
                  <a:pt x="200025" y="342900"/>
                </a:cubicBezTo>
                <a:cubicBezTo>
                  <a:pt x="152698" y="342900"/>
                  <a:pt x="114300" y="304502"/>
                  <a:pt x="114300" y="257175"/>
                </a:cubicBezTo>
                <a:lnTo>
                  <a:pt x="114300" y="157163"/>
                </a:lnTo>
                <a:lnTo>
                  <a:pt x="0" y="157163"/>
                </a:lnTo>
                <a:close/>
                <a:moveTo>
                  <a:pt x="0" y="114300"/>
                </a:moveTo>
                <a:lnTo>
                  <a:pt x="114300" y="114300"/>
                </a:lnTo>
                <a:lnTo>
                  <a:pt x="114300" y="57150"/>
                </a:lnTo>
                <a:cubicBezTo>
                  <a:pt x="114300" y="41344"/>
                  <a:pt x="101531" y="28575"/>
                  <a:pt x="85725" y="28575"/>
                </a:cubicBezTo>
                <a:lnTo>
                  <a:pt x="28575" y="28575"/>
                </a:lnTo>
                <a:cubicBezTo>
                  <a:pt x="12769" y="28575"/>
                  <a:pt x="0" y="41344"/>
                  <a:pt x="0" y="57150"/>
                </a:cubicBezTo>
                <a:lnTo>
                  <a:pt x="0" y="114300"/>
                </a:lnTo>
                <a:close/>
                <a:moveTo>
                  <a:pt x="285750" y="114300"/>
                </a:moveTo>
                <a:lnTo>
                  <a:pt x="400050" y="114300"/>
                </a:lnTo>
                <a:lnTo>
                  <a:pt x="400050" y="57150"/>
                </a:lnTo>
                <a:cubicBezTo>
                  <a:pt x="400050" y="41344"/>
                  <a:pt x="387281" y="28575"/>
                  <a:pt x="371475" y="28575"/>
                </a:cubicBezTo>
                <a:lnTo>
                  <a:pt x="314325" y="28575"/>
                </a:lnTo>
                <a:cubicBezTo>
                  <a:pt x="298519" y="28575"/>
                  <a:pt x="285750" y="41344"/>
                  <a:pt x="285750" y="57150"/>
                </a:cubicBezTo>
                <a:lnTo>
                  <a:pt x="285750" y="114300"/>
                </a:lnTo>
                <a:close/>
              </a:path>
            </a:pathLst>
          </a:custGeom>
          <a:solidFill>
            <a:srgbClr val="D4853A"/>
          </a:solidFill>
          <a:ln/>
        </p:spPr>
      </p:sp>
      <p:sp>
        <p:nvSpPr>
          <p:cNvPr id="11" name="Text 9"/>
          <p:cNvSpPr/>
          <p:nvPr/>
        </p:nvSpPr>
        <p:spPr>
          <a:xfrm>
            <a:off x="10642600" y="2476500"/>
            <a:ext cx="4572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Magnetic (HDD, Tape)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0033000" y="3175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0" y="228600"/>
                </a:moveTo>
                <a:cubicBezTo>
                  <a:pt x="0" y="102432"/>
                  <a:pt x="102432" y="0"/>
                  <a:pt x="228600" y="0"/>
                </a:cubicBezTo>
                <a:cubicBezTo>
                  <a:pt x="354768" y="0"/>
                  <a:pt x="457200" y="102432"/>
                  <a:pt x="457200" y="228600"/>
                </a:cubicBezTo>
                <a:cubicBezTo>
                  <a:pt x="457200" y="354768"/>
                  <a:pt x="354768" y="457200"/>
                  <a:pt x="228600" y="457200"/>
                </a:cubicBezTo>
                <a:cubicBezTo>
                  <a:pt x="102432" y="457200"/>
                  <a:pt x="0" y="354768"/>
                  <a:pt x="0" y="228600"/>
                </a:cubicBezTo>
                <a:close/>
                <a:moveTo>
                  <a:pt x="228600" y="257175"/>
                </a:moveTo>
                <a:cubicBezTo>
                  <a:pt x="212829" y="257175"/>
                  <a:pt x="200025" y="244371"/>
                  <a:pt x="200025" y="228600"/>
                </a:cubicBezTo>
                <a:cubicBezTo>
                  <a:pt x="200025" y="212829"/>
                  <a:pt x="212829" y="200025"/>
                  <a:pt x="228600" y="200025"/>
                </a:cubicBezTo>
                <a:cubicBezTo>
                  <a:pt x="244371" y="200025"/>
                  <a:pt x="257175" y="212829"/>
                  <a:pt x="257175" y="228600"/>
                </a:cubicBezTo>
                <a:cubicBezTo>
                  <a:pt x="257175" y="244371"/>
                  <a:pt x="244371" y="257175"/>
                  <a:pt x="228600" y="257175"/>
                </a:cubicBezTo>
                <a:close/>
                <a:moveTo>
                  <a:pt x="142875" y="228600"/>
                </a:moveTo>
                <a:cubicBezTo>
                  <a:pt x="142875" y="275913"/>
                  <a:pt x="181287" y="314325"/>
                  <a:pt x="228600" y="314325"/>
                </a:cubicBezTo>
                <a:cubicBezTo>
                  <a:pt x="275913" y="314325"/>
                  <a:pt x="314325" y="275913"/>
                  <a:pt x="314325" y="228600"/>
                </a:cubicBezTo>
                <a:cubicBezTo>
                  <a:pt x="314325" y="181287"/>
                  <a:pt x="275913" y="142875"/>
                  <a:pt x="228600" y="142875"/>
                </a:cubicBezTo>
                <a:cubicBezTo>
                  <a:pt x="181287" y="142875"/>
                  <a:pt x="142875" y="181287"/>
                  <a:pt x="142875" y="228600"/>
                </a:cubicBezTo>
                <a:close/>
                <a:moveTo>
                  <a:pt x="92869" y="214313"/>
                </a:moveTo>
                <a:cubicBezTo>
                  <a:pt x="92869" y="185380"/>
                  <a:pt x="107424" y="154841"/>
                  <a:pt x="131088" y="131088"/>
                </a:cubicBezTo>
                <a:cubicBezTo>
                  <a:pt x="154751" y="107335"/>
                  <a:pt x="185380" y="92869"/>
                  <a:pt x="214313" y="92869"/>
                </a:cubicBezTo>
                <a:cubicBezTo>
                  <a:pt x="226189" y="92869"/>
                  <a:pt x="235744" y="83314"/>
                  <a:pt x="235744" y="71438"/>
                </a:cubicBezTo>
                <a:cubicBezTo>
                  <a:pt x="235744" y="59561"/>
                  <a:pt x="226189" y="50006"/>
                  <a:pt x="214313" y="50006"/>
                </a:cubicBezTo>
                <a:cubicBezTo>
                  <a:pt x="171539" y="50006"/>
                  <a:pt x="130641" y="70991"/>
                  <a:pt x="100816" y="100816"/>
                </a:cubicBezTo>
                <a:cubicBezTo>
                  <a:pt x="70991" y="130641"/>
                  <a:pt x="50006" y="171539"/>
                  <a:pt x="50006" y="214313"/>
                </a:cubicBezTo>
                <a:cubicBezTo>
                  <a:pt x="50006" y="226189"/>
                  <a:pt x="59561" y="235744"/>
                  <a:pt x="71438" y="235744"/>
                </a:cubicBezTo>
                <a:cubicBezTo>
                  <a:pt x="83314" y="235744"/>
                  <a:pt x="92869" y="226189"/>
                  <a:pt x="92869" y="214313"/>
                </a:cubicBezTo>
                <a:close/>
              </a:path>
            </a:pathLst>
          </a:custGeom>
          <a:solidFill>
            <a:srgbClr val="D4853A"/>
          </a:solidFill>
          <a:ln/>
        </p:spPr>
      </p:sp>
      <p:sp>
        <p:nvSpPr>
          <p:cNvPr id="13" name="Text 11"/>
          <p:cNvSpPr/>
          <p:nvPr/>
        </p:nvSpPr>
        <p:spPr>
          <a:xfrm>
            <a:off x="10642600" y="3175000"/>
            <a:ext cx="4572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Optical (CD, DVD, Blu-ray)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0033000" y="3873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57163" y="21431"/>
                </a:moveTo>
                <a:cubicBezTo>
                  <a:pt x="157163" y="9555"/>
                  <a:pt x="147608" y="0"/>
                  <a:pt x="135731" y="0"/>
                </a:cubicBezTo>
                <a:cubicBezTo>
                  <a:pt x="123855" y="0"/>
                  <a:pt x="114300" y="9555"/>
                  <a:pt x="114300" y="21431"/>
                </a:cubicBezTo>
                <a:lnTo>
                  <a:pt x="114300" y="57150"/>
                </a:lnTo>
                <a:cubicBezTo>
                  <a:pt x="82778" y="57150"/>
                  <a:pt x="57150" y="82778"/>
                  <a:pt x="57150" y="114300"/>
                </a:cubicBezTo>
                <a:lnTo>
                  <a:pt x="21431" y="114300"/>
                </a:lnTo>
                <a:cubicBezTo>
                  <a:pt x="9555" y="114300"/>
                  <a:pt x="0" y="123855"/>
                  <a:pt x="0" y="135731"/>
                </a:cubicBezTo>
                <a:cubicBezTo>
                  <a:pt x="0" y="147608"/>
                  <a:pt x="9555" y="157163"/>
                  <a:pt x="21431" y="157163"/>
                </a:cubicBezTo>
                <a:lnTo>
                  <a:pt x="57150" y="157163"/>
                </a:lnTo>
                <a:lnTo>
                  <a:pt x="57150" y="207169"/>
                </a:lnTo>
                <a:lnTo>
                  <a:pt x="21431" y="207169"/>
                </a:lnTo>
                <a:cubicBezTo>
                  <a:pt x="9555" y="207169"/>
                  <a:pt x="0" y="216724"/>
                  <a:pt x="0" y="228600"/>
                </a:cubicBezTo>
                <a:cubicBezTo>
                  <a:pt x="0" y="240476"/>
                  <a:pt x="9555" y="250031"/>
                  <a:pt x="21431" y="250031"/>
                </a:cubicBezTo>
                <a:lnTo>
                  <a:pt x="57150" y="250031"/>
                </a:lnTo>
                <a:lnTo>
                  <a:pt x="57150" y="300038"/>
                </a:lnTo>
                <a:lnTo>
                  <a:pt x="21431" y="300038"/>
                </a:lnTo>
                <a:cubicBezTo>
                  <a:pt x="9555" y="300038"/>
                  <a:pt x="0" y="309592"/>
                  <a:pt x="0" y="321469"/>
                </a:cubicBezTo>
                <a:cubicBezTo>
                  <a:pt x="0" y="333345"/>
                  <a:pt x="9555" y="342900"/>
                  <a:pt x="21431" y="342900"/>
                </a:cubicBezTo>
                <a:lnTo>
                  <a:pt x="57150" y="342900"/>
                </a:lnTo>
                <a:cubicBezTo>
                  <a:pt x="57150" y="374422"/>
                  <a:pt x="82778" y="400050"/>
                  <a:pt x="114300" y="400050"/>
                </a:cubicBezTo>
                <a:lnTo>
                  <a:pt x="114300" y="435769"/>
                </a:lnTo>
                <a:cubicBezTo>
                  <a:pt x="114300" y="447645"/>
                  <a:pt x="123855" y="457200"/>
                  <a:pt x="135731" y="457200"/>
                </a:cubicBezTo>
                <a:cubicBezTo>
                  <a:pt x="147608" y="457200"/>
                  <a:pt x="157163" y="447645"/>
                  <a:pt x="157163" y="435769"/>
                </a:cubicBezTo>
                <a:lnTo>
                  <a:pt x="157163" y="400050"/>
                </a:lnTo>
                <a:lnTo>
                  <a:pt x="207169" y="400050"/>
                </a:lnTo>
                <a:lnTo>
                  <a:pt x="207169" y="435769"/>
                </a:lnTo>
                <a:cubicBezTo>
                  <a:pt x="207169" y="447645"/>
                  <a:pt x="216724" y="457200"/>
                  <a:pt x="228600" y="457200"/>
                </a:cubicBezTo>
                <a:cubicBezTo>
                  <a:pt x="240476" y="457200"/>
                  <a:pt x="250031" y="447645"/>
                  <a:pt x="250031" y="435769"/>
                </a:cubicBezTo>
                <a:lnTo>
                  <a:pt x="250031" y="400050"/>
                </a:lnTo>
                <a:lnTo>
                  <a:pt x="300038" y="400050"/>
                </a:lnTo>
                <a:lnTo>
                  <a:pt x="300038" y="435769"/>
                </a:lnTo>
                <a:cubicBezTo>
                  <a:pt x="300038" y="447645"/>
                  <a:pt x="309592" y="457200"/>
                  <a:pt x="321469" y="457200"/>
                </a:cubicBezTo>
                <a:cubicBezTo>
                  <a:pt x="333345" y="457200"/>
                  <a:pt x="342900" y="447645"/>
                  <a:pt x="342900" y="435769"/>
                </a:cubicBezTo>
                <a:lnTo>
                  <a:pt x="342900" y="400050"/>
                </a:lnTo>
                <a:cubicBezTo>
                  <a:pt x="374422" y="400050"/>
                  <a:pt x="400050" y="374422"/>
                  <a:pt x="400050" y="342900"/>
                </a:cubicBezTo>
                <a:lnTo>
                  <a:pt x="435769" y="342900"/>
                </a:lnTo>
                <a:cubicBezTo>
                  <a:pt x="447645" y="342900"/>
                  <a:pt x="457200" y="333345"/>
                  <a:pt x="457200" y="321469"/>
                </a:cubicBezTo>
                <a:cubicBezTo>
                  <a:pt x="457200" y="309592"/>
                  <a:pt x="447645" y="300038"/>
                  <a:pt x="435769" y="300038"/>
                </a:cubicBezTo>
                <a:lnTo>
                  <a:pt x="400050" y="300038"/>
                </a:lnTo>
                <a:lnTo>
                  <a:pt x="400050" y="250031"/>
                </a:lnTo>
                <a:lnTo>
                  <a:pt x="435769" y="250031"/>
                </a:lnTo>
                <a:cubicBezTo>
                  <a:pt x="447645" y="250031"/>
                  <a:pt x="457200" y="240476"/>
                  <a:pt x="457200" y="228600"/>
                </a:cubicBezTo>
                <a:cubicBezTo>
                  <a:pt x="457200" y="216724"/>
                  <a:pt x="447645" y="207169"/>
                  <a:pt x="435769" y="207169"/>
                </a:cubicBezTo>
                <a:lnTo>
                  <a:pt x="400050" y="207169"/>
                </a:lnTo>
                <a:lnTo>
                  <a:pt x="400050" y="157163"/>
                </a:lnTo>
                <a:lnTo>
                  <a:pt x="435769" y="157163"/>
                </a:lnTo>
                <a:cubicBezTo>
                  <a:pt x="447645" y="157163"/>
                  <a:pt x="457200" y="147608"/>
                  <a:pt x="457200" y="135731"/>
                </a:cubicBezTo>
                <a:cubicBezTo>
                  <a:pt x="457200" y="123855"/>
                  <a:pt x="447645" y="114300"/>
                  <a:pt x="435769" y="114300"/>
                </a:cubicBezTo>
                <a:lnTo>
                  <a:pt x="400050" y="114300"/>
                </a:lnTo>
                <a:cubicBezTo>
                  <a:pt x="400050" y="82778"/>
                  <a:pt x="374422" y="57150"/>
                  <a:pt x="342900" y="57150"/>
                </a:cubicBezTo>
                <a:lnTo>
                  <a:pt x="342900" y="21431"/>
                </a:lnTo>
                <a:cubicBezTo>
                  <a:pt x="342900" y="9555"/>
                  <a:pt x="333345" y="0"/>
                  <a:pt x="321469" y="0"/>
                </a:cubicBezTo>
                <a:cubicBezTo>
                  <a:pt x="309592" y="0"/>
                  <a:pt x="300038" y="9555"/>
                  <a:pt x="300038" y="21431"/>
                </a:cubicBezTo>
                <a:lnTo>
                  <a:pt x="300038" y="57150"/>
                </a:lnTo>
                <a:lnTo>
                  <a:pt x="250031" y="57150"/>
                </a:lnTo>
                <a:lnTo>
                  <a:pt x="250031" y="21431"/>
                </a:lnTo>
                <a:cubicBezTo>
                  <a:pt x="250031" y="9555"/>
                  <a:pt x="240476" y="0"/>
                  <a:pt x="228600" y="0"/>
                </a:cubicBezTo>
                <a:cubicBezTo>
                  <a:pt x="216724" y="0"/>
                  <a:pt x="207169" y="9555"/>
                  <a:pt x="207169" y="21431"/>
                </a:cubicBezTo>
                <a:lnTo>
                  <a:pt x="207169" y="57150"/>
                </a:lnTo>
                <a:lnTo>
                  <a:pt x="157163" y="57150"/>
                </a:lnTo>
                <a:lnTo>
                  <a:pt x="157163" y="21431"/>
                </a:lnTo>
                <a:close/>
                <a:moveTo>
                  <a:pt x="142875" y="114300"/>
                </a:moveTo>
                <a:lnTo>
                  <a:pt x="314325" y="114300"/>
                </a:lnTo>
                <a:cubicBezTo>
                  <a:pt x="330131" y="114300"/>
                  <a:pt x="342900" y="127069"/>
                  <a:pt x="342900" y="142875"/>
                </a:cubicBezTo>
                <a:lnTo>
                  <a:pt x="342900" y="314325"/>
                </a:lnTo>
                <a:cubicBezTo>
                  <a:pt x="342900" y="330131"/>
                  <a:pt x="330131" y="342900"/>
                  <a:pt x="314325" y="342900"/>
                </a:cubicBezTo>
                <a:lnTo>
                  <a:pt x="142875" y="342900"/>
                </a:lnTo>
                <a:cubicBezTo>
                  <a:pt x="127069" y="342900"/>
                  <a:pt x="114300" y="330131"/>
                  <a:pt x="114300" y="314325"/>
                </a:cubicBezTo>
                <a:lnTo>
                  <a:pt x="114300" y="142875"/>
                </a:lnTo>
                <a:cubicBezTo>
                  <a:pt x="114300" y="127069"/>
                  <a:pt x="127069" y="114300"/>
                  <a:pt x="142875" y="114300"/>
                </a:cubicBezTo>
                <a:close/>
                <a:moveTo>
                  <a:pt x="157163" y="157163"/>
                </a:moveTo>
                <a:lnTo>
                  <a:pt x="157163" y="300038"/>
                </a:lnTo>
                <a:lnTo>
                  <a:pt x="300038" y="300038"/>
                </a:lnTo>
                <a:lnTo>
                  <a:pt x="300038" y="157163"/>
                </a:lnTo>
                <a:lnTo>
                  <a:pt x="157163" y="157163"/>
                </a:lnTo>
                <a:close/>
              </a:path>
            </a:pathLst>
          </a:custGeom>
          <a:solidFill>
            <a:srgbClr val="D4853A"/>
          </a:solidFill>
          <a:ln/>
        </p:spPr>
      </p:sp>
      <p:sp>
        <p:nvSpPr>
          <p:cNvPr id="15" name="Text 13"/>
          <p:cNvSpPr/>
          <p:nvPr/>
        </p:nvSpPr>
        <p:spPr>
          <a:xfrm>
            <a:off x="10642600" y="3873500"/>
            <a:ext cx="4572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Solid-State (SSD, USB)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033000" y="4572000"/>
            <a:ext cx="5207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300" dirty="0">
                <a:solidFill>
                  <a:srgbClr val="FFFFFF">
                    <a:alpha val="66667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Each type has different speed, cost, and capacity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62000" y="5588000"/>
            <a:ext cx="7366000" cy="1397000"/>
          </a:xfrm>
          <a:prstGeom prst="roundRect">
            <a:avLst>
              <a:gd name="adj" fmla="val 8000"/>
            </a:avLst>
          </a:prstGeom>
          <a:solidFill>
            <a:srgbClr val="1B7A6B">
              <a:alpha val="8235"/>
            </a:srgbClr>
          </a:solidFill>
          <a:ln w="12700">
            <a:solidFill>
              <a:srgbClr val="1B7A6B">
                <a:alpha val="25098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90600" y="57658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92033" y="152797"/>
                </a:moveTo>
                <a:lnTo>
                  <a:pt x="87858" y="152797"/>
                </a:lnTo>
                <a:cubicBezTo>
                  <a:pt x="89441" y="187995"/>
                  <a:pt x="97244" y="220409"/>
                  <a:pt x="108322" y="244148"/>
                </a:cubicBezTo>
                <a:cubicBezTo>
                  <a:pt x="114543" y="257517"/>
                  <a:pt x="121255" y="266958"/>
                  <a:pt x="127476" y="272742"/>
                </a:cubicBezTo>
                <a:cubicBezTo>
                  <a:pt x="133588" y="278472"/>
                  <a:pt x="137790" y="279400"/>
                  <a:pt x="139973" y="279400"/>
                </a:cubicBezTo>
                <a:cubicBezTo>
                  <a:pt x="142156" y="279400"/>
                  <a:pt x="146358" y="278472"/>
                  <a:pt x="152469" y="272742"/>
                </a:cubicBezTo>
                <a:cubicBezTo>
                  <a:pt x="158690" y="266958"/>
                  <a:pt x="165403" y="257463"/>
                  <a:pt x="171624" y="244148"/>
                </a:cubicBezTo>
                <a:cubicBezTo>
                  <a:pt x="182701" y="220409"/>
                  <a:pt x="190505" y="187995"/>
                  <a:pt x="192087" y="152797"/>
                </a:cubicBezTo>
                <a:close/>
                <a:moveTo>
                  <a:pt x="87804" y="126603"/>
                </a:moveTo>
                <a:lnTo>
                  <a:pt x="191978" y="126603"/>
                </a:lnTo>
                <a:cubicBezTo>
                  <a:pt x="190450" y="91405"/>
                  <a:pt x="182647" y="58991"/>
                  <a:pt x="171569" y="35252"/>
                </a:cubicBezTo>
                <a:cubicBezTo>
                  <a:pt x="165348" y="21937"/>
                  <a:pt x="158636" y="12442"/>
                  <a:pt x="152415" y="6658"/>
                </a:cubicBezTo>
                <a:cubicBezTo>
                  <a:pt x="146303" y="928"/>
                  <a:pt x="142101" y="0"/>
                  <a:pt x="139918" y="0"/>
                </a:cubicBezTo>
                <a:cubicBezTo>
                  <a:pt x="137735" y="0"/>
                  <a:pt x="133534" y="928"/>
                  <a:pt x="127422" y="6658"/>
                </a:cubicBezTo>
                <a:cubicBezTo>
                  <a:pt x="121201" y="12442"/>
                  <a:pt x="114489" y="21937"/>
                  <a:pt x="108267" y="35252"/>
                </a:cubicBezTo>
                <a:cubicBezTo>
                  <a:pt x="97190" y="58991"/>
                  <a:pt x="89386" y="91405"/>
                  <a:pt x="87804" y="126603"/>
                </a:cubicBezTo>
                <a:close/>
                <a:moveTo>
                  <a:pt x="61610" y="126603"/>
                </a:moveTo>
                <a:cubicBezTo>
                  <a:pt x="63520" y="79891"/>
                  <a:pt x="75580" y="36508"/>
                  <a:pt x="93206" y="8022"/>
                </a:cubicBezTo>
                <a:cubicBezTo>
                  <a:pt x="42947" y="25812"/>
                  <a:pt x="5948" y="71596"/>
                  <a:pt x="819" y="126603"/>
                </a:cubicBezTo>
                <a:lnTo>
                  <a:pt x="61610" y="126603"/>
                </a:lnTo>
                <a:close/>
                <a:moveTo>
                  <a:pt x="819" y="152797"/>
                </a:moveTo>
                <a:cubicBezTo>
                  <a:pt x="5948" y="207804"/>
                  <a:pt x="42947" y="253588"/>
                  <a:pt x="93206" y="271378"/>
                </a:cubicBezTo>
                <a:cubicBezTo>
                  <a:pt x="75580" y="242892"/>
                  <a:pt x="63520" y="199509"/>
                  <a:pt x="61610" y="152797"/>
                </a:cubicBezTo>
                <a:lnTo>
                  <a:pt x="819" y="152797"/>
                </a:lnTo>
                <a:close/>
                <a:moveTo>
                  <a:pt x="218227" y="152797"/>
                </a:moveTo>
                <a:cubicBezTo>
                  <a:pt x="216317" y="199509"/>
                  <a:pt x="204257" y="242892"/>
                  <a:pt x="186630" y="271378"/>
                </a:cubicBezTo>
                <a:cubicBezTo>
                  <a:pt x="236890" y="253534"/>
                  <a:pt x="273888" y="207804"/>
                  <a:pt x="279018" y="152797"/>
                </a:cubicBezTo>
                <a:lnTo>
                  <a:pt x="218227" y="152797"/>
                </a:lnTo>
                <a:close/>
                <a:moveTo>
                  <a:pt x="279018" y="126603"/>
                </a:moveTo>
                <a:cubicBezTo>
                  <a:pt x="273888" y="71596"/>
                  <a:pt x="236890" y="25812"/>
                  <a:pt x="186630" y="8022"/>
                </a:cubicBezTo>
                <a:cubicBezTo>
                  <a:pt x="204257" y="36508"/>
                  <a:pt x="216317" y="79891"/>
                  <a:pt x="218227" y="126603"/>
                </a:cubicBezTo>
                <a:lnTo>
                  <a:pt x="279018" y="126603"/>
                </a:lnTo>
                <a:close/>
              </a:path>
            </a:pathLst>
          </a:custGeom>
          <a:solidFill>
            <a:srgbClr val="1B7A6B"/>
          </a:solidFill>
          <a:ln/>
        </p:spPr>
      </p:sp>
      <p:sp>
        <p:nvSpPr>
          <p:cNvPr id="19" name="Text 17"/>
          <p:cNvSpPr/>
          <p:nvPr/>
        </p:nvSpPr>
        <p:spPr>
          <a:xfrm>
            <a:off x="1371600" y="57404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b="1" dirty="0">
                <a:solidFill>
                  <a:srgbClr val="D485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Real-World Example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90600" y="6121400"/>
            <a:ext cx="69088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You save your school essay on a USB drive so you can open it on a different computer at home.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8382000" y="5588000"/>
            <a:ext cx="7112000" cy="1397000"/>
          </a:xfrm>
          <a:prstGeom prst="roundRect">
            <a:avLst>
              <a:gd name="adj" fmla="val 8000"/>
            </a:avLst>
          </a:prstGeom>
          <a:solidFill>
            <a:srgbClr val="D4853A">
              <a:alpha val="7059"/>
            </a:srgbClr>
          </a:solidFill>
          <a:ln w="12700">
            <a:solidFill>
              <a:srgbClr val="D4853A">
                <a:alpha val="25098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645525" y="5765800"/>
            <a:ext cx="209550" cy="279400"/>
          </a:xfrm>
          <a:custGeom>
            <a:avLst/>
            <a:gdLst/>
            <a:ahLst/>
            <a:cxnLst/>
            <a:rect l="l" t="t" r="r" b="b"/>
            <a:pathLst>
              <a:path w="209550" h="279400">
                <a:moveTo>
                  <a:pt x="159836" y="209550"/>
                </a:moveTo>
                <a:cubicBezTo>
                  <a:pt x="163820" y="197381"/>
                  <a:pt x="171787" y="186358"/>
                  <a:pt x="180791" y="176862"/>
                </a:cubicBezTo>
                <a:cubicBezTo>
                  <a:pt x="198636" y="158090"/>
                  <a:pt x="209550" y="132715"/>
                  <a:pt x="209550" y="104775"/>
                </a:cubicBezTo>
                <a:cubicBezTo>
                  <a:pt x="209550" y="46930"/>
                  <a:pt x="162620" y="0"/>
                  <a:pt x="104775" y="0"/>
                </a:cubicBezTo>
                <a:cubicBezTo>
                  <a:pt x="46930" y="0"/>
                  <a:pt x="0" y="46930"/>
                  <a:pt x="0" y="104775"/>
                </a:cubicBezTo>
                <a:cubicBezTo>
                  <a:pt x="0" y="132715"/>
                  <a:pt x="10914" y="158090"/>
                  <a:pt x="28759" y="176862"/>
                </a:cubicBezTo>
                <a:cubicBezTo>
                  <a:pt x="37763" y="186358"/>
                  <a:pt x="45784" y="197381"/>
                  <a:pt x="49714" y="209550"/>
                </a:cubicBezTo>
                <a:lnTo>
                  <a:pt x="159782" y="209550"/>
                </a:lnTo>
                <a:close/>
                <a:moveTo>
                  <a:pt x="157163" y="235744"/>
                </a:moveTo>
                <a:lnTo>
                  <a:pt x="52388" y="235744"/>
                </a:lnTo>
                <a:lnTo>
                  <a:pt x="52388" y="244475"/>
                </a:lnTo>
                <a:cubicBezTo>
                  <a:pt x="52388" y="268595"/>
                  <a:pt x="71924" y="288131"/>
                  <a:pt x="96044" y="288131"/>
                </a:cubicBezTo>
                <a:lnTo>
                  <a:pt x="113506" y="288131"/>
                </a:lnTo>
                <a:cubicBezTo>
                  <a:pt x="137626" y="288131"/>
                  <a:pt x="157163" y="268595"/>
                  <a:pt x="157163" y="244475"/>
                </a:cubicBezTo>
                <a:lnTo>
                  <a:pt x="157163" y="235744"/>
                </a:lnTo>
                <a:close/>
                <a:moveTo>
                  <a:pt x="100409" y="61119"/>
                </a:moveTo>
                <a:cubicBezTo>
                  <a:pt x="78690" y="61119"/>
                  <a:pt x="61119" y="78690"/>
                  <a:pt x="61119" y="100409"/>
                </a:cubicBezTo>
                <a:cubicBezTo>
                  <a:pt x="61119" y="107667"/>
                  <a:pt x="55280" y="113506"/>
                  <a:pt x="48022" y="113506"/>
                </a:cubicBezTo>
                <a:cubicBezTo>
                  <a:pt x="40764" y="113506"/>
                  <a:pt x="34925" y="107667"/>
                  <a:pt x="34925" y="100409"/>
                </a:cubicBezTo>
                <a:cubicBezTo>
                  <a:pt x="34925" y="64229"/>
                  <a:pt x="64229" y="34925"/>
                  <a:pt x="100409" y="34925"/>
                </a:cubicBezTo>
                <a:cubicBezTo>
                  <a:pt x="107667" y="34925"/>
                  <a:pt x="113506" y="40764"/>
                  <a:pt x="113506" y="48022"/>
                </a:cubicBezTo>
                <a:cubicBezTo>
                  <a:pt x="113506" y="55280"/>
                  <a:pt x="107667" y="61119"/>
                  <a:pt x="100409" y="61119"/>
                </a:cubicBezTo>
                <a:close/>
              </a:path>
            </a:pathLst>
          </a:custGeom>
          <a:solidFill>
            <a:srgbClr val="D4853A"/>
          </a:solidFill>
          <a:ln/>
        </p:spPr>
      </p:sp>
      <p:sp>
        <p:nvSpPr>
          <p:cNvPr id="23" name="Text 21"/>
          <p:cNvSpPr/>
          <p:nvPr/>
        </p:nvSpPr>
        <p:spPr>
          <a:xfrm>
            <a:off x="8991600" y="57404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b="1" dirty="0">
                <a:solidFill>
                  <a:srgbClr val="D485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Explanation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610600" y="6121400"/>
            <a:ext cx="66548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Think of storage like a filing cabinet. Memory (RAM) is your desk — fast but clears when you leave. Storage is the cabinet — it keeps files safe.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762000" y="8636000"/>
            <a:ext cx="762000" cy="38100"/>
          </a:xfrm>
          <a:prstGeom prst="rect">
            <a:avLst/>
          </a:prstGeom>
          <a:solidFill>
            <a:srgbClr val="1B7A6B"/>
          </a:solidFill>
          <a:ln/>
        </p:spPr>
      </p:sp>
      <p:sp>
        <p:nvSpPr>
          <p:cNvPr id="26" name="Text 24"/>
          <p:cNvSpPr/>
          <p:nvPr/>
        </p:nvSpPr>
        <p:spPr>
          <a:xfrm>
            <a:off x="14986000" y="8636000"/>
            <a:ext cx="508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400" dirty="0">
                <a:solidFill>
                  <a:srgbClr val="6B656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22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304800"/>
            <a:ext cx="1524000" cy="355600"/>
          </a:xfrm>
          <a:prstGeom prst="roundRect">
            <a:avLst>
              <a:gd name="adj" fmla="val 50000"/>
            </a:avLst>
          </a:prstGeom>
          <a:solidFill>
            <a:srgbClr val="1B7A6B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304800"/>
            <a:ext cx="152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STORAGE DEVICES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62000" y="838200"/>
            <a:ext cx="9525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B7A6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Magnetic Storage — Hard Disk Drive (HDD)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62000" y="1397000"/>
            <a:ext cx="762000" cy="38100"/>
          </a:xfrm>
          <a:prstGeom prst="rect">
            <a:avLst/>
          </a:prstGeom>
          <a:solidFill>
            <a:srgbClr val="D4853A"/>
          </a:solidFill>
          <a:ln/>
        </p:spPr>
      </p:sp>
      <p:pic>
        <p:nvPicPr>
          <p:cNvPr id="6" name="Image 0" descr="https://kimi-img.moonshot.cn/pub/slides/okc/3jqulld5ie46y/mnt/agents/output/ict_devices/images/5_Internal_Hard_Drives_Built_In_Storage.png">    </p:cNvPr>
          <p:cNvPicPr>
            <a:picLocks noChangeAspect="1"/>
          </p:cNvPicPr>
          <p:nvPr/>
        </p:nvPicPr>
        <p:blipFill>
          <a:blip r:embed="rId1"/>
          <a:srcRect l="0" r="0" t="1451" b="1451"/>
          <a:stretch/>
        </p:blipFill>
        <p:spPr>
          <a:xfrm>
            <a:off x="762000" y="1651000"/>
            <a:ext cx="5334000" cy="3683000"/>
          </a:xfrm>
          <a:prstGeom prst="roundRect">
            <a:avLst>
              <a:gd name="adj" fmla="val 8000"/>
            </a:avLst>
          </a:prstGeom>
        </p:spPr>
      </p:pic>
      <p:sp>
        <p:nvSpPr>
          <p:cNvPr id="7" name="Shape 4"/>
          <p:cNvSpPr/>
          <p:nvPr/>
        </p:nvSpPr>
        <p:spPr>
          <a:xfrm>
            <a:off x="6477000" y="1651000"/>
            <a:ext cx="9017000" cy="3683000"/>
          </a:xfrm>
          <a:prstGeom prst="roundRect">
            <a:avLst>
              <a:gd name="adj" fmla="val 8000"/>
            </a:avLst>
          </a:prstGeom>
          <a:solidFill>
            <a:srgbClr val="EDEAE4"/>
          </a:solidFill>
          <a:ln/>
        </p:spPr>
      </p:sp>
      <p:sp>
        <p:nvSpPr>
          <p:cNvPr id="8" name="Text 5"/>
          <p:cNvSpPr/>
          <p:nvPr/>
        </p:nvSpPr>
        <p:spPr>
          <a:xfrm>
            <a:off x="6731000" y="1803400"/>
            <a:ext cx="8509000" cy="3403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 hard disk drive (HDD) uses spinning magnetic disks to store data</a:t>
            </a:r>
            <a:endParaRPr lang="en-US" sz="1800" dirty="0"/>
          </a:p>
          <a:p>
            <a:pPr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It is the most common storage inside desktop and laptop computers</a:t>
            </a:r>
            <a:endParaRPr lang="en-US" sz="1800" dirty="0"/>
          </a:p>
          <a:p>
            <a:pPr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HDDs offer large storage capacity at a low price</a:t>
            </a:r>
            <a:endParaRPr lang="en-US" sz="1800" dirty="0"/>
          </a:p>
          <a:p>
            <a:pPr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They have moving parts, so they can be damaged by drops or shocks</a:t>
            </a:r>
            <a:endParaRPr lang="en-US" sz="1800" dirty="0"/>
          </a:p>
          <a:p>
            <a:pPr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is read and written by a magnetic head that floats over the disk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762000" y="5588000"/>
            <a:ext cx="7366000" cy="1397000"/>
          </a:xfrm>
          <a:prstGeom prst="roundRect">
            <a:avLst>
              <a:gd name="adj" fmla="val 8000"/>
            </a:avLst>
          </a:prstGeom>
          <a:solidFill>
            <a:srgbClr val="1B7A6B">
              <a:alpha val="8235"/>
            </a:srgbClr>
          </a:solidFill>
          <a:ln w="12700">
            <a:solidFill>
              <a:srgbClr val="1B7A6B">
                <a:alpha val="25098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990600" y="57658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92033" y="152797"/>
                </a:moveTo>
                <a:lnTo>
                  <a:pt x="87858" y="152797"/>
                </a:lnTo>
                <a:cubicBezTo>
                  <a:pt x="89441" y="187995"/>
                  <a:pt x="97244" y="220409"/>
                  <a:pt x="108322" y="244148"/>
                </a:cubicBezTo>
                <a:cubicBezTo>
                  <a:pt x="114543" y="257517"/>
                  <a:pt x="121255" y="266958"/>
                  <a:pt x="127476" y="272742"/>
                </a:cubicBezTo>
                <a:cubicBezTo>
                  <a:pt x="133588" y="278472"/>
                  <a:pt x="137790" y="279400"/>
                  <a:pt x="139973" y="279400"/>
                </a:cubicBezTo>
                <a:cubicBezTo>
                  <a:pt x="142156" y="279400"/>
                  <a:pt x="146358" y="278472"/>
                  <a:pt x="152469" y="272742"/>
                </a:cubicBezTo>
                <a:cubicBezTo>
                  <a:pt x="158690" y="266958"/>
                  <a:pt x="165403" y="257463"/>
                  <a:pt x="171624" y="244148"/>
                </a:cubicBezTo>
                <a:cubicBezTo>
                  <a:pt x="182701" y="220409"/>
                  <a:pt x="190505" y="187995"/>
                  <a:pt x="192087" y="152797"/>
                </a:cubicBezTo>
                <a:close/>
                <a:moveTo>
                  <a:pt x="87804" y="126603"/>
                </a:moveTo>
                <a:lnTo>
                  <a:pt x="191978" y="126603"/>
                </a:lnTo>
                <a:cubicBezTo>
                  <a:pt x="190450" y="91405"/>
                  <a:pt x="182647" y="58991"/>
                  <a:pt x="171569" y="35252"/>
                </a:cubicBezTo>
                <a:cubicBezTo>
                  <a:pt x="165348" y="21937"/>
                  <a:pt x="158636" y="12442"/>
                  <a:pt x="152415" y="6658"/>
                </a:cubicBezTo>
                <a:cubicBezTo>
                  <a:pt x="146303" y="928"/>
                  <a:pt x="142101" y="0"/>
                  <a:pt x="139918" y="0"/>
                </a:cubicBezTo>
                <a:cubicBezTo>
                  <a:pt x="137735" y="0"/>
                  <a:pt x="133534" y="928"/>
                  <a:pt x="127422" y="6658"/>
                </a:cubicBezTo>
                <a:cubicBezTo>
                  <a:pt x="121201" y="12442"/>
                  <a:pt x="114489" y="21937"/>
                  <a:pt x="108267" y="35252"/>
                </a:cubicBezTo>
                <a:cubicBezTo>
                  <a:pt x="97190" y="58991"/>
                  <a:pt x="89386" y="91405"/>
                  <a:pt x="87804" y="126603"/>
                </a:cubicBezTo>
                <a:close/>
                <a:moveTo>
                  <a:pt x="61610" y="126603"/>
                </a:moveTo>
                <a:cubicBezTo>
                  <a:pt x="63520" y="79891"/>
                  <a:pt x="75580" y="36508"/>
                  <a:pt x="93206" y="8022"/>
                </a:cubicBezTo>
                <a:cubicBezTo>
                  <a:pt x="42947" y="25812"/>
                  <a:pt x="5948" y="71596"/>
                  <a:pt x="819" y="126603"/>
                </a:cubicBezTo>
                <a:lnTo>
                  <a:pt x="61610" y="126603"/>
                </a:lnTo>
                <a:close/>
                <a:moveTo>
                  <a:pt x="819" y="152797"/>
                </a:moveTo>
                <a:cubicBezTo>
                  <a:pt x="5948" y="207804"/>
                  <a:pt x="42947" y="253588"/>
                  <a:pt x="93206" y="271378"/>
                </a:cubicBezTo>
                <a:cubicBezTo>
                  <a:pt x="75580" y="242892"/>
                  <a:pt x="63520" y="199509"/>
                  <a:pt x="61610" y="152797"/>
                </a:cubicBezTo>
                <a:lnTo>
                  <a:pt x="819" y="152797"/>
                </a:lnTo>
                <a:close/>
                <a:moveTo>
                  <a:pt x="218227" y="152797"/>
                </a:moveTo>
                <a:cubicBezTo>
                  <a:pt x="216317" y="199509"/>
                  <a:pt x="204257" y="242892"/>
                  <a:pt x="186630" y="271378"/>
                </a:cubicBezTo>
                <a:cubicBezTo>
                  <a:pt x="236890" y="253534"/>
                  <a:pt x="273888" y="207804"/>
                  <a:pt x="279018" y="152797"/>
                </a:cubicBezTo>
                <a:lnTo>
                  <a:pt x="218227" y="152797"/>
                </a:lnTo>
                <a:close/>
                <a:moveTo>
                  <a:pt x="279018" y="126603"/>
                </a:moveTo>
                <a:cubicBezTo>
                  <a:pt x="273888" y="71596"/>
                  <a:pt x="236890" y="25812"/>
                  <a:pt x="186630" y="8022"/>
                </a:cubicBezTo>
                <a:cubicBezTo>
                  <a:pt x="204257" y="36508"/>
                  <a:pt x="216317" y="79891"/>
                  <a:pt x="218227" y="126603"/>
                </a:cubicBezTo>
                <a:lnTo>
                  <a:pt x="279018" y="126603"/>
                </a:lnTo>
                <a:close/>
              </a:path>
            </a:pathLst>
          </a:custGeom>
          <a:solidFill>
            <a:srgbClr val="1B7A6B"/>
          </a:solidFill>
          <a:ln/>
        </p:spPr>
      </p:sp>
      <p:sp>
        <p:nvSpPr>
          <p:cNvPr id="11" name="Text 8"/>
          <p:cNvSpPr/>
          <p:nvPr/>
        </p:nvSpPr>
        <p:spPr>
          <a:xfrm>
            <a:off x="1371600" y="57404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b="1" dirty="0">
                <a:solidFill>
                  <a:srgbClr val="D485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Real-World Example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990600" y="6121400"/>
            <a:ext cx="69088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 family computer has a 1TB hard drive that stores thousands of photos, videos, and documents for years.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8382000" y="5588000"/>
            <a:ext cx="7112000" cy="1397000"/>
          </a:xfrm>
          <a:prstGeom prst="roundRect">
            <a:avLst>
              <a:gd name="adj" fmla="val 8000"/>
            </a:avLst>
          </a:prstGeom>
          <a:solidFill>
            <a:srgbClr val="D4853A">
              <a:alpha val="7059"/>
            </a:srgbClr>
          </a:solidFill>
          <a:ln w="12700">
            <a:solidFill>
              <a:srgbClr val="D4853A">
                <a:alpha val="25098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8645525" y="5765800"/>
            <a:ext cx="209550" cy="279400"/>
          </a:xfrm>
          <a:custGeom>
            <a:avLst/>
            <a:gdLst/>
            <a:ahLst/>
            <a:cxnLst/>
            <a:rect l="l" t="t" r="r" b="b"/>
            <a:pathLst>
              <a:path w="209550" h="279400">
                <a:moveTo>
                  <a:pt x="159836" y="209550"/>
                </a:moveTo>
                <a:cubicBezTo>
                  <a:pt x="163820" y="197381"/>
                  <a:pt x="171787" y="186358"/>
                  <a:pt x="180791" y="176862"/>
                </a:cubicBezTo>
                <a:cubicBezTo>
                  <a:pt x="198636" y="158090"/>
                  <a:pt x="209550" y="132715"/>
                  <a:pt x="209550" y="104775"/>
                </a:cubicBezTo>
                <a:cubicBezTo>
                  <a:pt x="209550" y="46930"/>
                  <a:pt x="162620" y="0"/>
                  <a:pt x="104775" y="0"/>
                </a:cubicBezTo>
                <a:cubicBezTo>
                  <a:pt x="46930" y="0"/>
                  <a:pt x="0" y="46930"/>
                  <a:pt x="0" y="104775"/>
                </a:cubicBezTo>
                <a:cubicBezTo>
                  <a:pt x="0" y="132715"/>
                  <a:pt x="10914" y="158090"/>
                  <a:pt x="28759" y="176862"/>
                </a:cubicBezTo>
                <a:cubicBezTo>
                  <a:pt x="37763" y="186358"/>
                  <a:pt x="45784" y="197381"/>
                  <a:pt x="49714" y="209550"/>
                </a:cubicBezTo>
                <a:lnTo>
                  <a:pt x="159782" y="209550"/>
                </a:lnTo>
                <a:close/>
                <a:moveTo>
                  <a:pt x="157163" y="235744"/>
                </a:moveTo>
                <a:lnTo>
                  <a:pt x="52388" y="235744"/>
                </a:lnTo>
                <a:lnTo>
                  <a:pt x="52388" y="244475"/>
                </a:lnTo>
                <a:cubicBezTo>
                  <a:pt x="52388" y="268595"/>
                  <a:pt x="71924" y="288131"/>
                  <a:pt x="96044" y="288131"/>
                </a:cubicBezTo>
                <a:lnTo>
                  <a:pt x="113506" y="288131"/>
                </a:lnTo>
                <a:cubicBezTo>
                  <a:pt x="137626" y="288131"/>
                  <a:pt x="157163" y="268595"/>
                  <a:pt x="157163" y="244475"/>
                </a:cubicBezTo>
                <a:lnTo>
                  <a:pt x="157163" y="235744"/>
                </a:lnTo>
                <a:close/>
                <a:moveTo>
                  <a:pt x="100409" y="61119"/>
                </a:moveTo>
                <a:cubicBezTo>
                  <a:pt x="78690" y="61119"/>
                  <a:pt x="61119" y="78690"/>
                  <a:pt x="61119" y="100409"/>
                </a:cubicBezTo>
                <a:cubicBezTo>
                  <a:pt x="61119" y="107667"/>
                  <a:pt x="55280" y="113506"/>
                  <a:pt x="48022" y="113506"/>
                </a:cubicBezTo>
                <a:cubicBezTo>
                  <a:pt x="40764" y="113506"/>
                  <a:pt x="34925" y="107667"/>
                  <a:pt x="34925" y="100409"/>
                </a:cubicBezTo>
                <a:cubicBezTo>
                  <a:pt x="34925" y="64229"/>
                  <a:pt x="64229" y="34925"/>
                  <a:pt x="100409" y="34925"/>
                </a:cubicBezTo>
                <a:cubicBezTo>
                  <a:pt x="107667" y="34925"/>
                  <a:pt x="113506" y="40764"/>
                  <a:pt x="113506" y="48022"/>
                </a:cubicBezTo>
                <a:cubicBezTo>
                  <a:pt x="113506" y="55280"/>
                  <a:pt x="107667" y="61119"/>
                  <a:pt x="100409" y="61119"/>
                </a:cubicBezTo>
                <a:close/>
              </a:path>
            </a:pathLst>
          </a:custGeom>
          <a:solidFill>
            <a:srgbClr val="D4853A"/>
          </a:solidFill>
          <a:ln/>
        </p:spPr>
      </p:sp>
      <p:sp>
        <p:nvSpPr>
          <p:cNvPr id="15" name="Text 12"/>
          <p:cNvSpPr/>
          <p:nvPr/>
        </p:nvSpPr>
        <p:spPr>
          <a:xfrm>
            <a:off x="8991600" y="57404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b="1" dirty="0">
                <a:solidFill>
                  <a:srgbClr val="D485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Explanation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8610600" y="6121400"/>
            <a:ext cx="66548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Imagine a tiny record player inside your computer. The disk spins very fast, and a needle-like head reads and writes data magnetically.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762000" y="8636000"/>
            <a:ext cx="762000" cy="38100"/>
          </a:xfrm>
          <a:prstGeom prst="rect">
            <a:avLst/>
          </a:prstGeom>
          <a:solidFill>
            <a:srgbClr val="1B7A6B"/>
          </a:solidFill>
          <a:ln/>
        </p:spPr>
      </p:sp>
      <p:sp>
        <p:nvSpPr>
          <p:cNvPr id="18" name="Text 15"/>
          <p:cNvSpPr/>
          <p:nvPr/>
        </p:nvSpPr>
        <p:spPr>
          <a:xfrm>
            <a:off x="14986000" y="8636000"/>
            <a:ext cx="508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400" dirty="0">
                <a:solidFill>
                  <a:srgbClr val="6B656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23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304800"/>
            <a:ext cx="1524000" cy="355600"/>
          </a:xfrm>
          <a:prstGeom prst="roundRect">
            <a:avLst>
              <a:gd name="adj" fmla="val 50000"/>
            </a:avLst>
          </a:prstGeom>
          <a:solidFill>
            <a:srgbClr val="1B7A6B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304800"/>
            <a:ext cx="152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STORAGE DEVICES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62000" y="8382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B7A6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Magnetic Storage — Tape Drive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62000" y="1397000"/>
            <a:ext cx="762000" cy="38100"/>
          </a:xfrm>
          <a:prstGeom prst="rect">
            <a:avLst/>
          </a:prstGeom>
          <a:solidFill>
            <a:srgbClr val="D4853A"/>
          </a:solidFill>
          <a:ln/>
        </p:spPr>
      </p:sp>
      <p:sp>
        <p:nvSpPr>
          <p:cNvPr id="6" name="Shape 4"/>
          <p:cNvSpPr/>
          <p:nvPr/>
        </p:nvSpPr>
        <p:spPr>
          <a:xfrm>
            <a:off x="762000" y="1651000"/>
            <a:ext cx="8382000" cy="3683000"/>
          </a:xfrm>
          <a:prstGeom prst="roundRect">
            <a:avLst>
              <a:gd name="adj" fmla="val 8000"/>
            </a:avLst>
          </a:prstGeom>
          <a:solidFill>
            <a:srgbClr val="EDEAE4"/>
          </a:solidFill>
          <a:ln/>
        </p:spPr>
      </p:sp>
      <p:sp>
        <p:nvSpPr>
          <p:cNvPr id="7" name="Text 5"/>
          <p:cNvSpPr/>
          <p:nvPr/>
        </p:nvSpPr>
        <p:spPr>
          <a:xfrm>
            <a:off x="1016000" y="1803400"/>
            <a:ext cx="7874000" cy="3403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 tape drive stores data on a long magnetic tape, like a cassette</a:t>
            </a:r>
            <a:endParaRPr lang="en-US" sz="1800" dirty="0"/>
          </a:p>
          <a:p>
            <a:pPr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Tapes can hold enormous amounts of data very cheaply</a:t>
            </a:r>
            <a:endParaRPr lang="en-US" sz="1800" dirty="0"/>
          </a:p>
          <a:p>
            <a:pPr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is stored in a sequence, so finding a file takes longer</a:t>
            </a:r>
            <a:endParaRPr lang="en-US" sz="1800" dirty="0"/>
          </a:p>
          <a:p>
            <a:pPr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Tape drives are mainly used for backup and archiving old data</a:t>
            </a:r>
            <a:endParaRPr lang="en-US" sz="1800" dirty="0"/>
          </a:p>
          <a:p>
            <a:pPr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They are not suitable for everyday file access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525000" y="1651000"/>
            <a:ext cx="5969000" cy="3683000"/>
          </a:xfrm>
          <a:prstGeom prst="roundRect">
            <a:avLst>
              <a:gd name="adj" fmla="val 8000"/>
            </a:avLst>
          </a:prstGeom>
          <a:solidFill>
            <a:srgbClr val="1B7A6B"/>
          </a:solidFill>
          <a:ln/>
        </p:spPr>
      </p:sp>
      <p:sp>
        <p:nvSpPr>
          <p:cNvPr id="9" name="Text 7"/>
          <p:cNvSpPr/>
          <p:nvPr/>
        </p:nvSpPr>
        <p:spPr>
          <a:xfrm>
            <a:off x="9779000" y="1841500"/>
            <a:ext cx="5461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HDD vs Tape Drive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779000" y="24130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b="1" dirty="0">
                <a:solidFill>
                  <a:srgbClr val="D485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Hard Disk Drive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779000" y="2768600"/>
            <a:ext cx="5461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Fast random access • Good for daily use • Moderate cost • Can find files quickly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779000" y="37846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b="1" dirty="0">
                <a:solidFill>
                  <a:srgbClr val="D485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Tape Drive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779000" y="4140200"/>
            <a:ext cx="5461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Sequential access • Very cheap per GB • Huge capacity • Slow file finding • Backup only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62000" y="5588000"/>
            <a:ext cx="7366000" cy="1397000"/>
          </a:xfrm>
          <a:prstGeom prst="roundRect">
            <a:avLst>
              <a:gd name="adj" fmla="val 8000"/>
            </a:avLst>
          </a:prstGeom>
          <a:solidFill>
            <a:srgbClr val="1B7A6B">
              <a:alpha val="8235"/>
            </a:srgbClr>
          </a:solidFill>
          <a:ln w="12700">
            <a:solidFill>
              <a:srgbClr val="1B7A6B">
                <a:alpha val="25098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90600" y="57658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92033" y="152797"/>
                </a:moveTo>
                <a:lnTo>
                  <a:pt x="87858" y="152797"/>
                </a:lnTo>
                <a:cubicBezTo>
                  <a:pt x="89441" y="187995"/>
                  <a:pt x="97244" y="220409"/>
                  <a:pt x="108322" y="244148"/>
                </a:cubicBezTo>
                <a:cubicBezTo>
                  <a:pt x="114543" y="257517"/>
                  <a:pt x="121255" y="266958"/>
                  <a:pt x="127476" y="272742"/>
                </a:cubicBezTo>
                <a:cubicBezTo>
                  <a:pt x="133588" y="278472"/>
                  <a:pt x="137790" y="279400"/>
                  <a:pt x="139973" y="279400"/>
                </a:cubicBezTo>
                <a:cubicBezTo>
                  <a:pt x="142156" y="279400"/>
                  <a:pt x="146358" y="278472"/>
                  <a:pt x="152469" y="272742"/>
                </a:cubicBezTo>
                <a:cubicBezTo>
                  <a:pt x="158690" y="266958"/>
                  <a:pt x="165403" y="257463"/>
                  <a:pt x="171624" y="244148"/>
                </a:cubicBezTo>
                <a:cubicBezTo>
                  <a:pt x="182701" y="220409"/>
                  <a:pt x="190505" y="187995"/>
                  <a:pt x="192087" y="152797"/>
                </a:cubicBezTo>
                <a:close/>
                <a:moveTo>
                  <a:pt x="87804" y="126603"/>
                </a:moveTo>
                <a:lnTo>
                  <a:pt x="191978" y="126603"/>
                </a:lnTo>
                <a:cubicBezTo>
                  <a:pt x="190450" y="91405"/>
                  <a:pt x="182647" y="58991"/>
                  <a:pt x="171569" y="35252"/>
                </a:cubicBezTo>
                <a:cubicBezTo>
                  <a:pt x="165348" y="21937"/>
                  <a:pt x="158636" y="12442"/>
                  <a:pt x="152415" y="6658"/>
                </a:cubicBezTo>
                <a:cubicBezTo>
                  <a:pt x="146303" y="928"/>
                  <a:pt x="142101" y="0"/>
                  <a:pt x="139918" y="0"/>
                </a:cubicBezTo>
                <a:cubicBezTo>
                  <a:pt x="137735" y="0"/>
                  <a:pt x="133534" y="928"/>
                  <a:pt x="127422" y="6658"/>
                </a:cubicBezTo>
                <a:cubicBezTo>
                  <a:pt x="121201" y="12442"/>
                  <a:pt x="114489" y="21937"/>
                  <a:pt x="108267" y="35252"/>
                </a:cubicBezTo>
                <a:cubicBezTo>
                  <a:pt x="97190" y="58991"/>
                  <a:pt x="89386" y="91405"/>
                  <a:pt x="87804" y="126603"/>
                </a:cubicBezTo>
                <a:close/>
                <a:moveTo>
                  <a:pt x="61610" y="126603"/>
                </a:moveTo>
                <a:cubicBezTo>
                  <a:pt x="63520" y="79891"/>
                  <a:pt x="75580" y="36508"/>
                  <a:pt x="93206" y="8022"/>
                </a:cubicBezTo>
                <a:cubicBezTo>
                  <a:pt x="42947" y="25812"/>
                  <a:pt x="5948" y="71596"/>
                  <a:pt x="819" y="126603"/>
                </a:cubicBezTo>
                <a:lnTo>
                  <a:pt x="61610" y="126603"/>
                </a:lnTo>
                <a:close/>
                <a:moveTo>
                  <a:pt x="819" y="152797"/>
                </a:moveTo>
                <a:cubicBezTo>
                  <a:pt x="5948" y="207804"/>
                  <a:pt x="42947" y="253588"/>
                  <a:pt x="93206" y="271378"/>
                </a:cubicBezTo>
                <a:cubicBezTo>
                  <a:pt x="75580" y="242892"/>
                  <a:pt x="63520" y="199509"/>
                  <a:pt x="61610" y="152797"/>
                </a:cubicBezTo>
                <a:lnTo>
                  <a:pt x="819" y="152797"/>
                </a:lnTo>
                <a:close/>
                <a:moveTo>
                  <a:pt x="218227" y="152797"/>
                </a:moveTo>
                <a:cubicBezTo>
                  <a:pt x="216317" y="199509"/>
                  <a:pt x="204257" y="242892"/>
                  <a:pt x="186630" y="271378"/>
                </a:cubicBezTo>
                <a:cubicBezTo>
                  <a:pt x="236890" y="253534"/>
                  <a:pt x="273888" y="207804"/>
                  <a:pt x="279018" y="152797"/>
                </a:cubicBezTo>
                <a:lnTo>
                  <a:pt x="218227" y="152797"/>
                </a:lnTo>
                <a:close/>
                <a:moveTo>
                  <a:pt x="279018" y="126603"/>
                </a:moveTo>
                <a:cubicBezTo>
                  <a:pt x="273888" y="71596"/>
                  <a:pt x="236890" y="25812"/>
                  <a:pt x="186630" y="8022"/>
                </a:cubicBezTo>
                <a:cubicBezTo>
                  <a:pt x="204257" y="36508"/>
                  <a:pt x="216317" y="79891"/>
                  <a:pt x="218227" y="126603"/>
                </a:cubicBezTo>
                <a:lnTo>
                  <a:pt x="279018" y="126603"/>
                </a:lnTo>
                <a:close/>
              </a:path>
            </a:pathLst>
          </a:custGeom>
          <a:solidFill>
            <a:srgbClr val="1B7A6B"/>
          </a:solidFill>
          <a:ln/>
        </p:spPr>
      </p:sp>
      <p:sp>
        <p:nvSpPr>
          <p:cNvPr id="16" name="Text 14"/>
          <p:cNvSpPr/>
          <p:nvPr/>
        </p:nvSpPr>
        <p:spPr>
          <a:xfrm>
            <a:off x="1371600" y="57404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b="1" dirty="0">
                <a:solidFill>
                  <a:srgbClr val="D485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Real-World Example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90600" y="6121400"/>
            <a:ext cx="69088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 large hospital backs up all patient records every night onto magnetic tape and stores the tapes in a secure vault.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382000" y="5588000"/>
            <a:ext cx="7112000" cy="1397000"/>
          </a:xfrm>
          <a:prstGeom prst="roundRect">
            <a:avLst>
              <a:gd name="adj" fmla="val 8000"/>
            </a:avLst>
          </a:prstGeom>
          <a:solidFill>
            <a:srgbClr val="D4853A">
              <a:alpha val="7059"/>
            </a:srgbClr>
          </a:solidFill>
          <a:ln w="12700">
            <a:solidFill>
              <a:srgbClr val="D4853A">
                <a:alpha val="25098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645525" y="5765800"/>
            <a:ext cx="209550" cy="279400"/>
          </a:xfrm>
          <a:custGeom>
            <a:avLst/>
            <a:gdLst/>
            <a:ahLst/>
            <a:cxnLst/>
            <a:rect l="l" t="t" r="r" b="b"/>
            <a:pathLst>
              <a:path w="209550" h="279400">
                <a:moveTo>
                  <a:pt x="159836" y="209550"/>
                </a:moveTo>
                <a:cubicBezTo>
                  <a:pt x="163820" y="197381"/>
                  <a:pt x="171787" y="186358"/>
                  <a:pt x="180791" y="176862"/>
                </a:cubicBezTo>
                <a:cubicBezTo>
                  <a:pt x="198636" y="158090"/>
                  <a:pt x="209550" y="132715"/>
                  <a:pt x="209550" y="104775"/>
                </a:cubicBezTo>
                <a:cubicBezTo>
                  <a:pt x="209550" y="46930"/>
                  <a:pt x="162620" y="0"/>
                  <a:pt x="104775" y="0"/>
                </a:cubicBezTo>
                <a:cubicBezTo>
                  <a:pt x="46930" y="0"/>
                  <a:pt x="0" y="46930"/>
                  <a:pt x="0" y="104775"/>
                </a:cubicBezTo>
                <a:cubicBezTo>
                  <a:pt x="0" y="132715"/>
                  <a:pt x="10914" y="158090"/>
                  <a:pt x="28759" y="176862"/>
                </a:cubicBezTo>
                <a:cubicBezTo>
                  <a:pt x="37763" y="186358"/>
                  <a:pt x="45784" y="197381"/>
                  <a:pt x="49714" y="209550"/>
                </a:cubicBezTo>
                <a:lnTo>
                  <a:pt x="159782" y="209550"/>
                </a:lnTo>
                <a:close/>
                <a:moveTo>
                  <a:pt x="157163" y="235744"/>
                </a:moveTo>
                <a:lnTo>
                  <a:pt x="52388" y="235744"/>
                </a:lnTo>
                <a:lnTo>
                  <a:pt x="52388" y="244475"/>
                </a:lnTo>
                <a:cubicBezTo>
                  <a:pt x="52388" y="268595"/>
                  <a:pt x="71924" y="288131"/>
                  <a:pt x="96044" y="288131"/>
                </a:cubicBezTo>
                <a:lnTo>
                  <a:pt x="113506" y="288131"/>
                </a:lnTo>
                <a:cubicBezTo>
                  <a:pt x="137626" y="288131"/>
                  <a:pt x="157163" y="268595"/>
                  <a:pt x="157163" y="244475"/>
                </a:cubicBezTo>
                <a:lnTo>
                  <a:pt x="157163" y="235744"/>
                </a:lnTo>
                <a:close/>
                <a:moveTo>
                  <a:pt x="100409" y="61119"/>
                </a:moveTo>
                <a:cubicBezTo>
                  <a:pt x="78690" y="61119"/>
                  <a:pt x="61119" y="78690"/>
                  <a:pt x="61119" y="100409"/>
                </a:cubicBezTo>
                <a:cubicBezTo>
                  <a:pt x="61119" y="107667"/>
                  <a:pt x="55280" y="113506"/>
                  <a:pt x="48022" y="113506"/>
                </a:cubicBezTo>
                <a:cubicBezTo>
                  <a:pt x="40764" y="113506"/>
                  <a:pt x="34925" y="107667"/>
                  <a:pt x="34925" y="100409"/>
                </a:cubicBezTo>
                <a:cubicBezTo>
                  <a:pt x="34925" y="64229"/>
                  <a:pt x="64229" y="34925"/>
                  <a:pt x="100409" y="34925"/>
                </a:cubicBezTo>
                <a:cubicBezTo>
                  <a:pt x="107667" y="34925"/>
                  <a:pt x="113506" y="40764"/>
                  <a:pt x="113506" y="48022"/>
                </a:cubicBezTo>
                <a:cubicBezTo>
                  <a:pt x="113506" y="55280"/>
                  <a:pt x="107667" y="61119"/>
                  <a:pt x="100409" y="61119"/>
                </a:cubicBezTo>
                <a:close/>
              </a:path>
            </a:pathLst>
          </a:custGeom>
          <a:solidFill>
            <a:srgbClr val="D4853A"/>
          </a:solidFill>
          <a:ln/>
        </p:spPr>
      </p:sp>
      <p:sp>
        <p:nvSpPr>
          <p:cNvPr id="20" name="Text 18"/>
          <p:cNvSpPr/>
          <p:nvPr/>
        </p:nvSpPr>
        <p:spPr>
          <a:xfrm>
            <a:off x="8991600" y="57404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b="1" dirty="0">
                <a:solidFill>
                  <a:srgbClr val="D485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Explanation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610600" y="6121400"/>
            <a:ext cx="66548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Tape is like a ribbon with data written along it. To find a file, it winds forward or backward — slow but very cheap for huge data.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62000" y="8636000"/>
            <a:ext cx="762000" cy="38100"/>
          </a:xfrm>
          <a:prstGeom prst="rect">
            <a:avLst/>
          </a:prstGeom>
          <a:solidFill>
            <a:srgbClr val="1B7A6B"/>
          </a:solidFill>
          <a:ln/>
        </p:spPr>
      </p:sp>
      <p:sp>
        <p:nvSpPr>
          <p:cNvPr id="23" name="Text 21"/>
          <p:cNvSpPr/>
          <p:nvPr/>
        </p:nvSpPr>
        <p:spPr>
          <a:xfrm>
            <a:off x="14986000" y="8636000"/>
            <a:ext cx="508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400" dirty="0">
                <a:solidFill>
                  <a:srgbClr val="6B656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24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304800"/>
            <a:ext cx="1524000" cy="355600"/>
          </a:xfrm>
          <a:prstGeom prst="roundRect">
            <a:avLst>
              <a:gd name="adj" fmla="val 50000"/>
            </a:avLst>
          </a:prstGeom>
          <a:solidFill>
            <a:srgbClr val="1B7A6B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304800"/>
            <a:ext cx="152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STORAGE DEVICES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62000" y="8382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B7A6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Optical Storage — CD &amp; DVD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62000" y="1397000"/>
            <a:ext cx="762000" cy="38100"/>
          </a:xfrm>
          <a:prstGeom prst="rect">
            <a:avLst/>
          </a:prstGeom>
          <a:solidFill>
            <a:srgbClr val="D4853A"/>
          </a:solidFill>
          <a:ln/>
        </p:spPr>
      </p:sp>
      <p:pic>
        <p:nvPicPr>
          <p:cNvPr id="6" name="Image 0" descr="https://kimi-img.moonshot.cn/pub/slides/okc/3jqulld5ie46y/mnt/agents/output/ict_devices/images/5_What_s_CD_DVD_Blu_Ray_And_How_It.png">    </p:cNvPr>
          <p:cNvPicPr>
            <a:picLocks noChangeAspect="1"/>
          </p:cNvPicPr>
          <p:nvPr/>
        </p:nvPicPr>
        <p:blipFill>
          <a:blip r:embed="rId1"/>
          <a:srcRect l="16379" r="16379" t="0" b="0"/>
          <a:stretch/>
        </p:blipFill>
        <p:spPr>
          <a:xfrm>
            <a:off x="762000" y="1651000"/>
            <a:ext cx="5334000" cy="3683000"/>
          </a:xfrm>
          <a:prstGeom prst="roundRect">
            <a:avLst>
              <a:gd name="adj" fmla="val 8000"/>
            </a:avLst>
          </a:prstGeom>
        </p:spPr>
      </p:pic>
      <p:sp>
        <p:nvSpPr>
          <p:cNvPr id="7" name="Shape 4"/>
          <p:cNvSpPr/>
          <p:nvPr/>
        </p:nvSpPr>
        <p:spPr>
          <a:xfrm>
            <a:off x="6477000" y="1651000"/>
            <a:ext cx="9017000" cy="3683000"/>
          </a:xfrm>
          <a:prstGeom prst="roundRect">
            <a:avLst>
              <a:gd name="adj" fmla="val 8000"/>
            </a:avLst>
          </a:prstGeom>
          <a:solidFill>
            <a:srgbClr val="EDEAE4"/>
          </a:solidFill>
          <a:ln/>
        </p:spPr>
      </p:sp>
      <p:sp>
        <p:nvSpPr>
          <p:cNvPr id="8" name="Text 5"/>
          <p:cNvSpPr/>
          <p:nvPr/>
        </p:nvSpPr>
        <p:spPr>
          <a:xfrm>
            <a:off x="6731000" y="1803400"/>
            <a:ext cx="8509000" cy="3403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CDs and DVDs use a laser to read data stored as tiny bumps on a disc</a:t>
            </a:r>
            <a:endParaRPr lang="en-US" sz="1800" dirty="0"/>
          </a:p>
          <a:p>
            <a:pPr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 CD holds about 700 MB of data — enough for 80 minutes of music</a:t>
            </a:r>
            <a:endParaRPr lang="en-US" sz="1800" dirty="0"/>
          </a:p>
          <a:p>
            <a:pPr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 DVD holds 4.7 GB — enough for a full movie</a:t>
            </a:r>
            <a:endParaRPr lang="en-US" sz="1800" dirty="0"/>
          </a:p>
          <a:p>
            <a:pPr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is written once on CD-R/DVD-R and cannot be changed</a:t>
            </a:r>
            <a:endParaRPr lang="en-US" sz="1800" dirty="0"/>
          </a:p>
          <a:p>
            <a:pPr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CD-RW and DVD-RW discs can be erased and rewritten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762000" y="5588000"/>
            <a:ext cx="7366000" cy="1397000"/>
          </a:xfrm>
          <a:prstGeom prst="roundRect">
            <a:avLst>
              <a:gd name="adj" fmla="val 8000"/>
            </a:avLst>
          </a:prstGeom>
          <a:solidFill>
            <a:srgbClr val="1B7A6B">
              <a:alpha val="8235"/>
            </a:srgbClr>
          </a:solidFill>
          <a:ln w="12700">
            <a:solidFill>
              <a:srgbClr val="1B7A6B">
                <a:alpha val="25098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990600" y="57658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92033" y="152797"/>
                </a:moveTo>
                <a:lnTo>
                  <a:pt x="87858" y="152797"/>
                </a:lnTo>
                <a:cubicBezTo>
                  <a:pt x="89441" y="187995"/>
                  <a:pt x="97244" y="220409"/>
                  <a:pt x="108322" y="244148"/>
                </a:cubicBezTo>
                <a:cubicBezTo>
                  <a:pt x="114543" y="257517"/>
                  <a:pt x="121255" y="266958"/>
                  <a:pt x="127476" y="272742"/>
                </a:cubicBezTo>
                <a:cubicBezTo>
                  <a:pt x="133588" y="278472"/>
                  <a:pt x="137790" y="279400"/>
                  <a:pt x="139973" y="279400"/>
                </a:cubicBezTo>
                <a:cubicBezTo>
                  <a:pt x="142156" y="279400"/>
                  <a:pt x="146358" y="278472"/>
                  <a:pt x="152469" y="272742"/>
                </a:cubicBezTo>
                <a:cubicBezTo>
                  <a:pt x="158690" y="266958"/>
                  <a:pt x="165403" y="257463"/>
                  <a:pt x="171624" y="244148"/>
                </a:cubicBezTo>
                <a:cubicBezTo>
                  <a:pt x="182701" y="220409"/>
                  <a:pt x="190505" y="187995"/>
                  <a:pt x="192087" y="152797"/>
                </a:cubicBezTo>
                <a:close/>
                <a:moveTo>
                  <a:pt x="87804" y="126603"/>
                </a:moveTo>
                <a:lnTo>
                  <a:pt x="191978" y="126603"/>
                </a:lnTo>
                <a:cubicBezTo>
                  <a:pt x="190450" y="91405"/>
                  <a:pt x="182647" y="58991"/>
                  <a:pt x="171569" y="35252"/>
                </a:cubicBezTo>
                <a:cubicBezTo>
                  <a:pt x="165348" y="21937"/>
                  <a:pt x="158636" y="12442"/>
                  <a:pt x="152415" y="6658"/>
                </a:cubicBezTo>
                <a:cubicBezTo>
                  <a:pt x="146303" y="928"/>
                  <a:pt x="142101" y="0"/>
                  <a:pt x="139918" y="0"/>
                </a:cubicBezTo>
                <a:cubicBezTo>
                  <a:pt x="137735" y="0"/>
                  <a:pt x="133534" y="928"/>
                  <a:pt x="127422" y="6658"/>
                </a:cubicBezTo>
                <a:cubicBezTo>
                  <a:pt x="121201" y="12442"/>
                  <a:pt x="114489" y="21937"/>
                  <a:pt x="108267" y="35252"/>
                </a:cubicBezTo>
                <a:cubicBezTo>
                  <a:pt x="97190" y="58991"/>
                  <a:pt x="89386" y="91405"/>
                  <a:pt x="87804" y="126603"/>
                </a:cubicBezTo>
                <a:close/>
                <a:moveTo>
                  <a:pt x="61610" y="126603"/>
                </a:moveTo>
                <a:cubicBezTo>
                  <a:pt x="63520" y="79891"/>
                  <a:pt x="75580" y="36508"/>
                  <a:pt x="93206" y="8022"/>
                </a:cubicBezTo>
                <a:cubicBezTo>
                  <a:pt x="42947" y="25812"/>
                  <a:pt x="5948" y="71596"/>
                  <a:pt x="819" y="126603"/>
                </a:cubicBezTo>
                <a:lnTo>
                  <a:pt x="61610" y="126603"/>
                </a:lnTo>
                <a:close/>
                <a:moveTo>
                  <a:pt x="819" y="152797"/>
                </a:moveTo>
                <a:cubicBezTo>
                  <a:pt x="5948" y="207804"/>
                  <a:pt x="42947" y="253588"/>
                  <a:pt x="93206" y="271378"/>
                </a:cubicBezTo>
                <a:cubicBezTo>
                  <a:pt x="75580" y="242892"/>
                  <a:pt x="63520" y="199509"/>
                  <a:pt x="61610" y="152797"/>
                </a:cubicBezTo>
                <a:lnTo>
                  <a:pt x="819" y="152797"/>
                </a:lnTo>
                <a:close/>
                <a:moveTo>
                  <a:pt x="218227" y="152797"/>
                </a:moveTo>
                <a:cubicBezTo>
                  <a:pt x="216317" y="199509"/>
                  <a:pt x="204257" y="242892"/>
                  <a:pt x="186630" y="271378"/>
                </a:cubicBezTo>
                <a:cubicBezTo>
                  <a:pt x="236890" y="253534"/>
                  <a:pt x="273888" y="207804"/>
                  <a:pt x="279018" y="152797"/>
                </a:cubicBezTo>
                <a:lnTo>
                  <a:pt x="218227" y="152797"/>
                </a:lnTo>
                <a:close/>
                <a:moveTo>
                  <a:pt x="279018" y="126603"/>
                </a:moveTo>
                <a:cubicBezTo>
                  <a:pt x="273888" y="71596"/>
                  <a:pt x="236890" y="25812"/>
                  <a:pt x="186630" y="8022"/>
                </a:cubicBezTo>
                <a:cubicBezTo>
                  <a:pt x="204257" y="36508"/>
                  <a:pt x="216317" y="79891"/>
                  <a:pt x="218227" y="126603"/>
                </a:cubicBezTo>
                <a:lnTo>
                  <a:pt x="279018" y="126603"/>
                </a:lnTo>
                <a:close/>
              </a:path>
            </a:pathLst>
          </a:custGeom>
          <a:solidFill>
            <a:srgbClr val="1B7A6B"/>
          </a:solidFill>
          <a:ln/>
        </p:spPr>
      </p:sp>
      <p:sp>
        <p:nvSpPr>
          <p:cNvPr id="11" name="Text 8"/>
          <p:cNvSpPr/>
          <p:nvPr/>
        </p:nvSpPr>
        <p:spPr>
          <a:xfrm>
            <a:off x="1371600" y="57404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b="1" dirty="0">
                <a:solidFill>
                  <a:srgbClr val="D485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Real-World Example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990600" y="6121400"/>
            <a:ext cx="69088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 musician sells their album on CD, and a movie studio releases a film on DVD for home viewing.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8382000" y="5588000"/>
            <a:ext cx="7112000" cy="1397000"/>
          </a:xfrm>
          <a:prstGeom prst="roundRect">
            <a:avLst>
              <a:gd name="adj" fmla="val 8000"/>
            </a:avLst>
          </a:prstGeom>
          <a:solidFill>
            <a:srgbClr val="D4853A">
              <a:alpha val="7059"/>
            </a:srgbClr>
          </a:solidFill>
          <a:ln w="12700">
            <a:solidFill>
              <a:srgbClr val="D4853A">
                <a:alpha val="25098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8645525" y="5765800"/>
            <a:ext cx="209550" cy="279400"/>
          </a:xfrm>
          <a:custGeom>
            <a:avLst/>
            <a:gdLst/>
            <a:ahLst/>
            <a:cxnLst/>
            <a:rect l="l" t="t" r="r" b="b"/>
            <a:pathLst>
              <a:path w="209550" h="279400">
                <a:moveTo>
                  <a:pt x="159836" y="209550"/>
                </a:moveTo>
                <a:cubicBezTo>
                  <a:pt x="163820" y="197381"/>
                  <a:pt x="171787" y="186358"/>
                  <a:pt x="180791" y="176862"/>
                </a:cubicBezTo>
                <a:cubicBezTo>
                  <a:pt x="198636" y="158090"/>
                  <a:pt x="209550" y="132715"/>
                  <a:pt x="209550" y="104775"/>
                </a:cubicBezTo>
                <a:cubicBezTo>
                  <a:pt x="209550" y="46930"/>
                  <a:pt x="162620" y="0"/>
                  <a:pt x="104775" y="0"/>
                </a:cubicBezTo>
                <a:cubicBezTo>
                  <a:pt x="46930" y="0"/>
                  <a:pt x="0" y="46930"/>
                  <a:pt x="0" y="104775"/>
                </a:cubicBezTo>
                <a:cubicBezTo>
                  <a:pt x="0" y="132715"/>
                  <a:pt x="10914" y="158090"/>
                  <a:pt x="28759" y="176862"/>
                </a:cubicBezTo>
                <a:cubicBezTo>
                  <a:pt x="37763" y="186358"/>
                  <a:pt x="45784" y="197381"/>
                  <a:pt x="49714" y="209550"/>
                </a:cubicBezTo>
                <a:lnTo>
                  <a:pt x="159782" y="209550"/>
                </a:lnTo>
                <a:close/>
                <a:moveTo>
                  <a:pt x="157163" y="235744"/>
                </a:moveTo>
                <a:lnTo>
                  <a:pt x="52388" y="235744"/>
                </a:lnTo>
                <a:lnTo>
                  <a:pt x="52388" y="244475"/>
                </a:lnTo>
                <a:cubicBezTo>
                  <a:pt x="52388" y="268595"/>
                  <a:pt x="71924" y="288131"/>
                  <a:pt x="96044" y="288131"/>
                </a:cubicBezTo>
                <a:lnTo>
                  <a:pt x="113506" y="288131"/>
                </a:lnTo>
                <a:cubicBezTo>
                  <a:pt x="137626" y="288131"/>
                  <a:pt x="157163" y="268595"/>
                  <a:pt x="157163" y="244475"/>
                </a:cubicBezTo>
                <a:lnTo>
                  <a:pt x="157163" y="235744"/>
                </a:lnTo>
                <a:close/>
                <a:moveTo>
                  <a:pt x="100409" y="61119"/>
                </a:moveTo>
                <a:cubicBezTo>
                  <a:pt x="78690" y="61119"/>
                  <a:pt x="61119" y="78690"/>
                  <a:pt x="61119" y="100409"/>
                </a:cubicBezTo>
                <a:cubicBezTo>
                  <a:pt x="61119" y="107667"/>
                  <a:pt x="55280" y="113506"/>
                  <a:pt x="48022" y="113506"/>
                </a:cubicBezTo>
                <a:cubicBezTo>
                  <a:pt x="40764" y="113506"/>
                  <a:pt x="34925" y="107667"/>
                  <a:pt x="34925" y="100409"/>
                </a:cubicBezTo>
                <a:cubicBezTo>
                  <a:pt x="34925" y="64229"/>
                  <a:pt x="64229" y="34925"/>
                  <a:pt x="100409" y="34925"/>
                </a:cubicBezTo>
                <a:cubicBezTo>
                  <a:pt x="107667" y="34925"/>
                  <a:pt x="113506" y="40764"/>
                  <a:pt x="113506" y="48022"/>
                </a:cubicBezTo>
                <a:cubicBezTo>
                  <a:pt x="113506" y="55280"/>
                  <a:pt x="107667" y="61119"/>
                  <a:pt x="100409" y="61119"/>
                </a:cubicBezTo>
                <a:close/>
              </a:path>
            </a:pathLst>
          </a:custGeom>
          <a:solidFill>
            <a:srgbClr val="D4853A"/>
          </a:solidFill>
          <a:ln/>
        </p:spPr>
      </p:sp>
      <p:sp>
        <p:nvSpPr>
          <p:cNvPr id="15" name="Text 12"/>
          <p:cNvSpPr/>
          <p:nvPr/>
        </p:nvSpPr>
        <p:spPr>
          <a:xfrm>
            <a:off x="8991600" y="57404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b="1" dirty="0">
                <a:solidFill>
                  <a:srgbClr val="D485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Explanation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8610600" y="6121400"/>
            <a:ext cx="66548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 laser beam shines on the spinning disc. The bumps reflect light differently, and the drive reads these reflections as data.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762000" y="8636000"/>
            <a:ext cx="762000" cy="38100"/>
          </a:xfrm>
          <a:prstGeom prst="rect">
            <a:avLst/>
          </a:prstGeom>
          <a:solidFill>
            <a:srgbClr val="1B7A6B"/>
          </a:solidFill>
          <a:ln/>
        </p:spPr>
      </p:sp>
      <p:sp>
        <p:nvSpPr>
          <p:cNvPr id="18" name="Text 15"/>
          <p:cNvSpPr/>
          <p:nvPr/>
        </p:nvSpPr>
        <p:spPr>
          <a:xfrm>
            <a:off x="14986000" y="8636000"/>
            <a:ext cx="508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400" dirty="0">
                <a:solidFill>
                  <a:srgbClr val="6B656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25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304800"/>
            <a:ext cx="1524000" cy="355600"/>
          </a:xfrm>
          <a:prstGeom prst="roundRect">
            <a:avLst>
              <a:gd name="adj" fmla="val 50000"/>
            </a:avLst>
          </a:prstGeom>
          <a:solidFill>
            <a:srgbClr val="1B7A6B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304800"/>
            <a:ext cx="152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STORAGE DEVICES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62000" y="8382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B7A6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Optical Storage — Blu-ray Disc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62000" y="1397000"/>
            <a:ext cx="762000" cy="38100"/>
          </a:xfrm>
          <a:prstGeom prst="rect">
            <a:avLst/>
          </a:prstGeom>
          <a:solidFill>
            <a:srgbClr val="D4853A"/>
          </a:solidFill>
          <a:ln/>
        </p:spPr>
      </p:sp>
      <p:pic>
        <p:nvPicPr>
          <p:cNvPr id="6" name="Image 0" descr="https://kimi-img.moonshot.cn/pub/slides/okc/3jqulld5ie46y/mnt/agents/output/ict_devices/images/2_Optical_Storage_Desez_Geek.png">    </p:cNvPr>
          <p:cNvPicPr>
            <a:picLocks noChangeAspect="1"/>
          </p:cNvPicPr>
          <p:nvPr/>
        </p:nvPicPr>
        <p:blipFill>
          <a:blip r:embed="rId1"/>
          <a:srcRect l="0" r="0" t="4016" b="4016"/>
          <a:stretch/>
        </p:blipFill>
        <p:spPr>
          <a:xfrm>
            <a:off x="762000" y="1651000"/>
            <a:ext cx="5334000" cy="3683000"/>
          </a:xfrm>
          <a:prstGeom prst="roundRect">
            <a:avLst>
              <a:gd name="adj" fmla="val 8000"/>
            </a:avLst>
          </a:prstGeom>
        </p:spPr>
      </p:pic>
      <p:sp>
        <p:nvSpPr>
          <p:cNvPr id="7" name="Shape 4"/>
          <p:cNvSpPr/>
          <p:nvPr/>
        </p:nvSpPr>
        <p:spPr>
          <a:xfrm>
            <a:off x="6477000" y="1651000"/>
            <a:ext cx="9017000" cy="3683000"/>
          </a:xfrm>
          <a:prstGeom prst="roundRect">
            <a:avLst>
              <a:gd name="adj" fmla="val 8000"/>
            </a:avLst>
          </a:prstGeom>
          <a:solidFill>
            <a:srgbClr val="EDEAE4"/>
          </a:solidFill>
          <a:ln/>
        </p:spPr>
      </p:sp>
      <p:sp>
        <p:nvSpPr>
          <p:cNvPr id="8" name="Text 5"/>
          <p:cNvSpPr/>
          <p:nvPr/>
        </p:nvSpPr>
        <p:spPr>
          <a:xfrm>
            <a:off x="6731000" y="1803400"/>
            <a:ext cx="8509000" cy="3403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 Blu-ray disc uses a blue laser to read and write data</a:t>
            </a:r>
            <a:endParaRPr lang="en-US" sz="1800" dirty="0"/>
          </a:p>
          <a:p>
            <a:pPr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It can store 25 GB on a single layer — five times more than a DVD</a:t>
            </a:r>
            <a:endParaRPr lang="en-US" sz="1800" dirty="0"/>
          </a:p>
          <a:p>
            <a:pPr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Dual-layer Blu-ray discs hold up to 50 GB</a:t>
            </a:r>
            <a:endParaRPr lang="en-US" sz="1800" dirty="0"/>
          </a:p>
          <a:p>
            <a:pPr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Blu-ray is used for high-definition movies and large game files</a:t>
            </a:r>
            <a:endParaRPr lang="en-US" sz="1800" dirty="0"/>
          </a:p>
          <a:p>
            <a:pPr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blue laser has a shorter wavelength, allowing smaller data bumps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762000" y="5588000"/>
            <a:ext cx="7366000" cy="1397000"/>
          </a:xfrm>
          <a:prstGeom prst="roundRect">
            <a:avLst>
              <a:gd name="adj" fmla="val 8000"/>
            </a:avLst>
          </a:prstGeom>
          <a:solidFill>
            <a:srgbClr val="1B7A6B">
              <a:alpha val="8235"/>
            </a:srgbClr>
          </a:solidFill>
          <a:ln w="12700">
            <a:solidFill>
              <a:srgbClr val="1B7A6B">
                <a:alpha val="25098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990600" y="57658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92033" y="152797"/>
                </a:moveTo>
                <a:lnTo>
                  <a:pt x="87858" y="152797"/>
                </a:lnTo>
                <a:cubicBezTo>
                  <a:pt x="89441" y="187995"/>
                  <a:pt x="97244" y="220409"/>
                  <a:pt x="108322" y="244148"/>
                </a:cubicBezTo>
                <a:cubicBezTo>
                  <a:pt x="114543" y="257517"/>
                  <a:pt x="121255" y="266958"/>
                  <a:pt x="127476" y="272742"/>
                </a:cubicBezTo>
                <a:cubicBezTo>
                  <a:pt x="133588" y="278472"/>
                  <a:pt x="137790" y="279400"/>
                  <a:pt x="139973" y="279400"/>
                </a:cubicBezTo>
                <a:cubicBezTo>
                  <a:pt x="142156" y="279400"/>
                  <a:pt x="146358" y="278472"/>
                  <a:pt x="152469" y="272742"/>
                </a:cubicBezTo>
                <a:cubicBezTo>
                  <a:pt x="158690" y="266958"/>
                  <a:pt x="165403" y="257463"/>
                  <a:pt x="171624" y="244148"/>
                </a:cubicBezTo>
                <a:cubicBezTo>
                  <a:pt x="182701" y="220409"/>
                  <a:pt x="190505" y="187995"/>
                  <a:pt x="192087" y="152797"/>
                </a:cubicBezTo>
                <a:close/>
                <a:moveTo>
                  <a:pt x="87804" y="126603"/>
                </a:moveTo>
                <a:lnTo>
                  <a:pt x="191978" y="126603"/>
                </a:lnTo>
                <a:cubicBezTo>
                  <a:pt x="190450" y="91405"/>
                  <a:pt x="182647" y="58991"/>
                  <a:pt x="171569" y="35252"/>
                </a:cubicBezTo>
                <a:cubicBezTo>
                  <a:pt x="165348" y="21937"/>
                  <a:pt x="158636" y="12442"/>
                  <a:pt x="152415" y="6658"/>
                </a:cubicBezTo>
                <a:cubicBezTo>
                  <a:pt x="146303" y="928"/>
                  <a:pt x="142101" y="0"/>
                  <a:pt x="139918" y="0"/>
                </a:cubicBezTo>
                <a:cubicBezTo>
                  <a:pt x="137735" y="0"/>
                  <a:pt x="133534" y="928"/>
                  <a:pt x="127422" y="6658"/>
                </a:cubicBezTo>
                <a:cubicBezTo>
                  <a:pt x="121201" y="12442"/>
                  <a:pt x="114489" y="21937"/>
                  <a:pt x="108267" y="35252"/>
                </a:cubicBezTo>
                <a:cubicBezTo>
                  <a:pt x="97190" y="58991"/>
                  <a:pt x="89386" y="91405"/>
                  <a:pt x="87804" y="126603"/>
                </a:cubicBezTo>
                <a:close/>
                <a:moveTo>
                  <a:pt x="61610" y="126603"/>
                </a:moveTo>
                <a:cubicBezTo>
                  <a:pt x="63520" y="79891"/>
                  <a:pt x="75580" y="36508"/>
                  <a:pt x="93206" y="8022"/>
                </a:cubicBezTo>
                <a:cubicBezTo>
                  <a:pt x="42947" y="25812"/>
                  <a:pt x="5948" y="71596"/>
                  <a:pt x="819" y="126603"/>
                </a:cubicBezTo>
                <a:lnTo>
                  <a:pt x="61610" y="126603"/>
                </a:lnTo>
                <a:close/>
                <a:moveTo>
                  <a:pt x="819" y="152797"/>
                </a:moveTo>
                <a:cubicBezTo>
                  <a:pt x="5948" y="207804"/>
                  <a:pt x="42947" y="253588"/>
                  <a:pt x="93206" y="271378"/>
                </a:cubicBezTo>
                <a:cubicBezTo>
                  <a:pt x="75580" y="242892"/>
                  <a:pt x="63520" y="199509"/>
                  <a:pt x="61610" y="152797"/>
                </a:cubicBezTo>
                <a:lnTo>
                  <a:pt x="819" y="152797"/>
                </a:lnTo>
                <a:close/>
                <a:moveTo>
                  <a:pt x="218227" y="152797"/>
                </a:moveTo>
                <a:cubicBezTo>
                  <a:pt x="216317" y="199509"/>
                  <a:pt x="204257" y="242892"/>
                  <a:pt x="186630" y="271378"/>
                </a:cubicBezTo>
                <a:cubicBezTo>
                  <a:pt x="236890" y="253534"/>
                  <a:pt x="273888" y="207804"/>
                  <a:pt x="279018" y="152797"/>
                </a:cubicBezTo>
                <a:lnTo>
                  <a:pt x="218227" y="152797"/>
                </a:lnTo>
                <a:close/>
                <a:moveTo>
                  <a:pt x="279018" y="126603"/>
                </a:moveTo>
                <a:cubicBezTo>
                  <a:pt x="273888" y="71596"/>
                  <a:pt x="236890" y="25812"/>
                  <a:pt x="186630" y="8022"/>
                </a:cubicBezTo>
                <a:cubicBezTo>
                  <a:pt x="204257" y="36508"/>
                  <a:pt x="216317" y="79891"/>
                  <a:pt x="218227" y="126603"/>
                </a:cubicBezTo>
                <a:lnTo>
                  <a:pt x="279018" y="126603"/>
                </a:lnTo>
                <a:close/>
              </a:path>
            </a:pathLst>
          </a:custGeom>
          <a:solidFill>
            <a:srgbClr val="1B7A6B"/>
          </a:solidFill>
          <a:ln/>
        </p:spPr>
      </p:sp>
      <p:sp>
        <p:nvSpPr>
          <p:cNvPr id="11" name="Text 8"/>
          <p:cNvSpPr/>
          <p:nvPr/>
        </p:nvSpPr>
        <p:spPr>
          <a:xfrm>
            <a:off x="1371600" y="57404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b="1" dirty="0">
                <a:solidFill>
                  <a:srgbClr val="D485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Real-World Example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990600" y="6121400"/>
            <a:ext cx="69088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 gamer buys a PlayStation game on Blu-ray disc because the game file is too large for a DVD.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8382000" y="5588000"/>
            <a:ext cx="7112000" cy="1397000"/>
          </a:xfrm>
          <a:prstGeom prst="roundRect">
            <a:avLst>
              <a:gd name="adj" fmla="val 8000"/>
            </a:avLst>
          </a:prstGeom>
          <a:solidFill>
            <a:srgbClr val="D4853A">
              <a:alpha val="7059"/>
            </a:srgbClr>
          </a:solidFill>
          <a:ln w="12700">
            <a:solidFill>
              <a:srgbClr val="D4853A">
                <a:alpha val="25098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8645525" y="5765800"/>
            <a:ext cx="209550" cy="279400"/>
          </a:xfrm>
          <a:custGeom>
            <a:avLst/>
            <a:gdLst/>
            <a:ahLst/>
            <a:cxnLst/>
            <a:rect l="l" t="t" r="r" b="b"/>
            <a:pathLst>
              <a:path w="209550" h="279400">
                <a:moveTo>
                  <a:pt x="159836" y="209550"/>
                </a:moveTo>
                <a:cubicBezTo>
                  <a:pt x="163820" y="197381"/>
                  <a:pt x="171787" y="186358"/>
                  <a:pt x="180791" y="176862"/>
                </a:cubicBezTo>
                <a:cubicBezTo>
                  <a:pt x="198636" y="158090"/>
                  <a:pt x="209550" y="132715"/>
                  <a:pt x="209550" y="104775"/>
                </a:cubicBezTo>
                <a:cubicBezTo>
                  <a:pt x="209550" y="46930"/>
                  <a:pt x="162620" y="0"/>
                  <a:pt x="104775" y="0"/>
                </a:cubicBezTo>
                <a:cubicBezTo>
                  <a:pt x="46930" y="0"/>
                  <a:pt x="0" y="46930"/>
                  <a:pt x="0" y="104775"/>
                </a:cubicBezTo>
                <a:cubicBezTo>
                  <a:pt x="0" y="132715"/>
                  <a:pt x="10914" y="158090"/>
                  <a:pt x="28759" y="176862"/>
                </a:cubicBezTo>
                <a:cubicBezTo>
                  <a:pt x="37763" y="186358"/>
                  <a:pt x="45784" y="197381"/>
                  <a:pt x="49714" y="209550"/>
                </a:cubicBezTo>
                <a:lnTo>
                  <a:pt x="159782" y="209550"/>
                </a:lnTo>
                <a:close/>
                <a:moveTo>
                  <a:pt x="157163" y="235744"/>
                </a:moveTo>
                <a:lnTo>
                  <a:pt x="52388" y="235744"/>
                </a:lnTo>
                <a:lnTo>
                  <a:pt x="52388" y="244475"/>
                </a:lnTo>
                <a:cubicBezTo>
                  <a:pt x="52388" y="268595"/>
                  <a:pt x="71924" y="288131"/>
                  <a:pt x="96044" y="288131"/>
                </a:cubicBezTo>
                <a:lnTo>
                  <a:pt x="113506" y="288131"/>
                </a:lnTo>
                <a:cubicBezTo>
                  <a:pt x="137626" y="288131"/>
                  <a:pt x="157163" y="268595"/>
                  <a:pt x="157163" y="244475"/>
                </a:cubicBezTo>
                <a:lnTo>
                  <a:pt x="157163" y="235744"/>
                </a:lnTo>
                <a:close/>
                <a:moveTo>
                  <a:pt x="100409" y="61119"/>
                </a:moveTo>
                <a:cubicBezTo>
                  <a:pt x="78690" y="61119"/>
                  <a:pt x="61119" y="78690"/>
                  <a:pt x="61119" y="100409"/>
                </a:cubicBezTo>
                <a:cubicBezTo>
                  <a:pt x="61119" y="107667"/>
                  <a:pt x="55280" y="113506"/>
                  <a:pt x="48022" y="113506"/>
                </a:cubicBezTo>
                <a:cubicBezTo>
                  <a:pt x="40764" y="113506"/>
                  <a:pt x="34925" y="107667"/>
                  <a:pt x="34925" y="100409"/>
                </a:cubicBezTo>
                <a:cubicBezTo>
                  <a:pt x="34925" y="64229"/>
                  <a:pt x="64229" y="34925"/>
                  <a:pt x="100409" y="34925"/>
                </a:cubicBezTo>
                <a:cubicBezTo>
                  <a:pt x="107667" y="34925"/>
                  <a:pt x="113506" y="40764"/>
                  <a:pt x="113506" y="48022"/>
                </a:cubicBezTo>
                <a:cubicBezTo>
                  <a:pt x="113506" y="55280"/>
                  <a:pt x="107667" y="61119"/>
                  <a:pt x="100409" y="61119"/>
                </a:cubicBezTo>
                <a:close/>
              </a:path>
            </a:pathLst>
          </a:custGeom>
          <a:solidFill>
            <a:srgbClr val="D4853A"/>
          </a:solidFill>
          <a:ln/>
        </p:spPr>
      </p:sp>
      <p:sp>
        <p:nvSpPr>
          <p:cNvPr id="15" name="Text 12"/>
          <p:cNvSpPr/>
          <p:nvPr/>
        </p:nvSpPr>
        <p:spPr>
          <a:xfrm>
            <a:off x="8991600" y="57404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b="1" dirty="0">
                <a:solidFill>
                  <a:srgbClr val="D485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Explanation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8610600" y="6121400"/>
            <a:ext cx="66548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blue laser is more precise than a red laser. This means it can read much smaller bumps, fitting more data on the same-sized disc.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762000" y="8636000"/>
            <a:ext cx="762000" cy="38100"/>
          </a:xfrm>
          <a:prstGeom prst="rect">
            <a:avLst/>
          </a:prstGeom>
          <a:solidFill>
            <a:srgbClr val="1B7A6B"/>
          </a:solidFill>
          <a:ln/>
        </p:spPr>
      </p:sp>
      <p:sp>
        <p:nvSpPr>
          <p:cNvPr id="18" name="Text 15"/>
          <p:cNvSpPr/>
          <p:nvPr/>
        </p:nvSpPr>
        <p:spPr>
          <a:xfrm>
            <a:off x="14986000" y="8636000"/>
            <a:ext cx="508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400" dirty="0">
                <a:solidFill>
                  <a:srgbClr val="6B656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26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304800"/>
            <a:ext cx="1524000" cy="355600"/>
          </a:xfrm>
          <a:prstGeom prst="roundRect">
            <a:avLst>
              <a:gd name="adj" fmla="val 50000"/>
            </a:avLst>
          </a:prstGeom>
          <a:solidFill>
            <a:srgbClr val="1B7A6B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304800"/>
            <a:ext cx="152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STORAGE DEVICES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62000" y="8382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B7A6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Solid-State Storage — SSD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62000" y="1397000"/>
            <a:ext cx="762000" cy="38100"/>
          </a:xfrm>
          <a:prstGeom prst="rect">
            <a:avLst/>
          </a:prstGeom>
          <a:solidFill>
            <a:srgbClr val="D4853A"/>
          </a:solidFill>
          <a:ln/>
        </p:spPr>
      </p:sp>
      <p:pic>
        <p:nvPicPr>
          <p:cNvPr id="6" name="Image 0" descr="https://kimi-img.moonshot.cn/pub/slides/okc/3jqulld5ie46y/mnt/agents/output/ict_devices/images/7_6849_Solid_state_drives_Shutterstoc.png">    </p:cNvPr>
          <p:cNvPicPr>
            <a:picLocks noChangeAspect="1"/>
          </p:cNvPicPr>
          <p:nvPr/>
        </p:nvPicPr>
        <p:blipFill>
          <a:blip r:embed="rId1"/>
          <a:srcRect l="6113" r="6113" t="0" b="0"/>
          <a:stretch/>
        </p:blipFill>
        <p:spPr>
          <a:xfrm>
            <a:off x="762000" y="1651000"/>
            <a:ext cx="5334000" cy="3683000"/>
          </a:xfrm>
          <a:prstGeom prst="roundRect">
            <a:avLst>
              <a:gd name="adj" fmla="val 8000"/>
            </a:avLst>
          </a:prstGeom>
        </p:spPr>
      </p:pic>
      <p:sp>
        <p:nvSpPr>
          <p:cNvPr id="7" name="Shape 4"/>
          <p:cNvSpPr/>
          <p:nvPr/>
        </p:nvSpPr>
        <p:spPr>
          <a:xfrm>
            <a:off x="6477000" y="1651000"/>
            <a:ext cx="9017000" cy="3683000"/>
          </a:xfrm>
          <a:prstGeom prst="roundRect">
            <a:avLst>
              <a:gd name="adj" fmla="val 8000"/>
            </a:avLst>
          </a:prstGeom>
          <a:solidFill>
            <a:srgbClr val="EDEAE4"/>
          </a:solidFill>
          <a:ln/>
        </p:spPr>
      </p:sp>
      <p:sp>
        <p:nvSpPr>
          <p:cNvPr id="8" name="Text 5"/>
          <p:cNvSpPr/>
          <p:nvPr/>
        </p:nvSpPr>
        <p:spPr>
          <a:xfrm>
            <a:off x="6731000" y="1803400"/>
            <a:ext cx="8509000" cy="3403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 SSD (Solid-State Drive) stores data on memory chips with no moving parts</a:t>
            </a:r>
            <a:endParaRPr lang="en-US" sz="1800" dirty="0"/>
          </a:p>
          <a:p>
            <a:pPr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It is much faster than a hard disk drive (HDD)</a:t>
            </a:r>
            <a:endParaRPr lang="en-US" sz="1800" dirty="0"/>
          </a:p>
          <a:p>
            <a:pPr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SSDs are lighter, quieter, and more shock-resistant than HDDs</a:t>
            </a:r>
            <a:endParaRPr lang="en-US" sz="1800" dirty="0"/>
          </a:p>
          <a:p>
            <a:pPr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They use less battery power, making them ideal for laptops</a:t>
            </a:r>
            <a:endParaRPr lang="en-US" sz="1800" dirty="0"/>
          </a:p>
          <a:p>
            <a:pPr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SSDs are more expensive per gigabyte than HDDs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762000" y="5588000"/>
            <a:ext cx="7366000" cy="1397000"/>
          </a:xfrm>
          <a:prstGeom prst="roundRect">
            <a:avLst>
              <a:gd name="adj" fmla="val 8000"/>
            </a:avLst>
          </a:prstGeom>
          <a:solidFill>
            <a:srgbClr val="1B7A6B">
              <a:alpha val="8235"/>
            </a:srgbClr>
          </a:solidFill>
          <a:ln w="12700">
            <a:solidFill>
              <a:srgbClr val="1B7A6B">
                <a:alpha val="25098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990600" y="57658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92033" y="152797"/>
                </a:moveTo>
                <a:lnTo>
                  <a:pt x="87858" y="152797"/>
                </a:lnTo>
                <a:cubicBezTo>
                  <a:pt x="89441" y="187995"/>
                  <a:pt x="97244" y="220409"/>
                  <a:pt x="108322" y="244148"/>
                </a:cubicBezTo>
                <a:cubicBezTo>
                  <a:pt x="114543" y="257517"/>
                  <a:pt x="121255" y="266958"/>
                  <a:pt x="127476" y="272742"/>
                </a:cubicBezTo>
                <a:cubicBezTo>
                  <a:pt x="133588" y="278472"/>
                  <a:pt x="137790" y="279400"/>
                  <a:pt x="139973" y="279400"/>
                </a:cubicBezTo>
                <a:cubicBezTo>
                  <a:pt x="142156" y="279400"/>
                  <a:pt x="146358" y="278472"/>
                  <a:pt x="152469" y="272742"/>
                </a:cubicBezTo>
                <a:cubicBezTo>
                  <a:pt x="158690" y="266958"/>
                  <a:pt x="165403" y="257463"/>
                  <a:pt x="171624" y="244148"/>
                </a:cubicBezTo>
                <a:cubicBezTo>
                  <a:pt x="182701" y="220409"/>
                  <a:pt x="190505" y="187995"/>
                  <a:pt x="192087" y="152797"/>
                </a:cubicBezTo>
                <a:close/>
                <a:moveTo>
                  <a:pt x="87804" y="126603"/>
                </a:moveTo>
                <a:lnTo>
                  <a:pt x="191978" y="126603"/>
                </a:lnTo>
                <a:cubicBezTo>
                  <a:pt x="190450" y="91405"/>
                  <a:pt x="182647" y="58991"/>
                  <a:pt x="171569" y="35252"/>
                </a:cubicBezTo>
                <a:cubicBezTo>
                  <a:pt x="165348" y="21937"/>
                  <a:pt x="158636" y="12442"/>
                  <a:pt x="152415" y="6658"/>
                </a:cubicBezTo>
                <a:cubicBezTo>
                  <a:pt x="146303" y="928"/>
                  <a:pt x="142101" y="0"/>
                  <a:pt x="139918" y="0"/>
                </a:cubicBezTo>
                <a:cubicBezTo>
                  <a:pt x="137735" y="0"/>
                  <a:pt x="133534" y="928"/>
                  <a:pt x="127422" y="6658"/>
                </a:cubicBezTo>
                <a:cubicBezTo>
                  <a:pt x="121201" y="12442"/>
                  <a:pt x="114489" y="21937"/>
                  <a:pt x="108267" y="35252"/>
                </a:cubicBezTo>
                <a:cubicBezTo>
                  <a:pt x="97190" y="58991"/>
                  <a:pt x="89386" y="91405"/>
                  <a:pt x="87804" y="126603"/>
                </a:cubicBezTo>
                <a:close/>
                <a:moveTo>
                  <a:pt x="61610" y="126603"/>
                </a:moveTo>
                <a:cubicBezTo>
                  <a:pt x="63520" y="79891"/>
                  <a:pt x="75580" y="36508"/>
                  <a:pt x="93206" y="8022"/>
                </a:cubicBezTo>
                <a:cubicBezTo>
                  <a:pt x="42947" y="25812"/>
                  <a:pt x="5948" y="71596"/>
                  <a:pt x="819" y="126603"/>
                </a:cubicBezTo>
                <a:lnTo>
                  <a:pt x="61610" y="126603"/>
                </a:lnTo>
                <a:close/>
                <a:moveTo>
                  <a:pt x="819" y="152797"/>
                </a:moveTo>
                <a:cubicBezTo>
                  <a:pt x="5948" y="207804"/>
                  <a:pt x="42947" y="253588"/>
                  <a:pt x="93206" y="271378"/>
                </a:cubicBezTo>
                <a:cubicBezTo>
                  <a:pt x="75580" y="242892"/>
                  <a:pt x="63520" y="199509"/>
                  <a:pt x="61610" y="152797"/>
                </a:cubicBezTo>
                <a:lnTo>
                  <a:pt x="819" y="152797"/>
                </a:lnTo>
                <a:close/>
                <a:moveTo>
                  <a:pt x="218227" y="152797"/>
                </a:moveTo>
                <a:cubicBezTo>
                  <a:pt x="216317" y="199509"/>
                  <a:pt x="204257" y="242892"/>
                  <a:pt x="186630" y="271378"/>
                </a:cubicBezTo>
                <a:cubicBezTo>
                  <a:pt x="236890" y="253534"/>
                  <a:pt x="273888" y="207804"/>
                  <a:pt x="279018" y="152797"/>
                </a:cubicBezTo>
                <a:lnTo>
                  <a:pt x="218227" y="152797"/>
                </a:lnTo>
                <a:close/>
                <a:moveTo>
                  <a:pt x="279018" y="126603"/>
                </a:moveTo>
                <a:cubicBezTo>
                  <a:pt x="273888" y="71596"/>
                  <a:pt x="236890" y="25812"/>
                  <a:pt x="186630" y="8022"/>
                </a:cubicBezTo>
                <a:cubicBezTo>
                  <a:pt x="204257" y="36508"/>
                  <a:pt x="216317" y="79891"/>
                  <a:pt x="218227" y="126603"/>
                </a:cubicBezTo>
                <a:lnTo>
                  <a:pt x="279018" y="126603"/>
                </a:lnTo>
                <a:close/>
              </a:path>
            </a:pathLst>
          </a:custGeom>
          <a:solidFill>
            <a:srgbClr val="1B7A6B"/>
          </a:solidFill>
          <a:ln/>
        </p:spPr>
      </p:sp>
      <p:sp>
        <p:nvSpPr>
          <p:cNvPr id="11" name="Text 8"/>
          <p:cNvSpPr/>
          <p:nvPr/>
        </p:nvSpPr>
        <p:spPr>
          <a:xfrm>
            <a:off x="1371600" y="57404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b="1" dirty="0">
                <a:solidFill>
                  <a:srgbClr val="D485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Real-World Example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990600" y="6121400"/>
            <a:ext cx="69088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 photographer uses an SSD because it opens large photo files in seconds and fits easily in a camera bag.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8382000" y="5588000"/>
            <a:ext cx="7112000" cy="1397000"/>
          </a:xfrm>
          <a:prstGeom prst="roundRect">
            <a:avLst>
              <a:gd name="adj" fmla="val 8000"/>
            </a:avLst>
          </a:prstGeom>
          <a:solidFill>
            <a:srgbClr val="D4853A">
              <a:alpha val="7059"/>
            </a:srgbClr>
          </a:solidFill>
          <a:ln w="12700">
            <a:solidFill>
              <a:srgbClr val="D4853A">
                <a:alpha val="25098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8645525" y="5765800"/>
            <a:ext cx="209550" cy="279400"/>
          </a:xfrm>
          <a:custGeom>
            <a:avLst/>
            <a:gdLst/>
            <a:ahLst/>
            <a:cxnLst/>
            <a:rect l="l" t="t" r="r" b="b"/>
            <a:pathLst>
              <a:path w="209550" h="279400">
                <a:moveTo>
                  <a:pt x="159836" y="209550"/>
                </a:moveTo>
                <a:cubicBezTo>
                  <a:pt x="163820" y="197381"/>
                  <a:pt x="171787" y="186358"/>
                  <a:pt x="180791" y="176862"/>
                </a:cubicBezTo>
                <a:cubicBezTo>
                  <a:pt x="198636" y="158090"/>
                  <a:pt x="209550" y="132715"/>
                  <a:pt x="209550" y="104775"/>
                </a:cubicBezTo>
                <a:cubicBezTo>
                  <a:pt x="209550" y="46930"/>
                  <a:pt x="162620" y="0"/>
                  <a:pt x="104775" y="0"/>
                </a:cubicBezTo>
                <a:cubicBezTo>
                  <a:pt x="46930" y="0"/>
                  <a:pt x="0" y="46930"/>
                  <a:pt x="0" y="104775"/>
                </a:cubicBezTo>
                <a:cubicBezTo>
                  <a:pt x="0" y="132715"/>
                  <a:pt x="10914" y="158090"/>
                  <a:pt x="28759" y="176862"/>
                </a:cubicBezTo>
                <a:cubicBezTo>
                  <a:pt x="37763" y="186358"/>
                  <a:pt x="45784" y="197381"/>
                  <a:pt x="49714" y="209550"/>
                </a:cubicBezTo>
                <a:lnTo>
                  <a:pt x="159782" y="209550"/>
                </a:lnTo>
                <a:close/>
                <a:moveTo>
                  <a:pt x="157163" y="235744"/>
                </a:moveTo>
                <a:lnTo>
                  <a:pt x="52388" y="235744"/>
                </a:lnTo>
                <a:lnTo>
                  <a:pt x="52388" y="244475"/>
                </a:lnTo>
                <a:cubicBezTo>
                  <a:pt x="52388" y="268595"/>
                  <a:pt x="71924" y="288131"/>
                  <a:pt x="96044" y="288131"/>
                </a:cubicBezTo>
                <a:lnTo>
                  <a:pt x="113506" y="288131"/>
                </a:lnTo>
                <a:cubicBezTo>
                  <a:pt x="137626" y="288131"/>
                  <a:pt x="157163" y="268595"/>
                  <a:pt x="157163" y="244475"/>
                </a:cubicBezTo>
                <a:lnTo>
                  <a:pt x="157163" y="235744"/>
                </a:lnTo>
                <a:close/>
                <a:moveTo>
                  <a:pt x="100409" y="61119"/>
                </a:moveTo>
                <a:cubicBezTo>
                  <a:pt x="78690" y="61119"/>
                  <a:pt x="61119" y="78690"/>
                  <a:pt x="61119" y="100409"/>
                </a:cubicBezTo>
                <a:cubicBezTo>
                  <a:pt x="61119" y="107667"/>
                  <a:pt x="55280" y="113506"/>
                  <a:pt x="48022" y="113506"/>
                </a:cubicBezTo>
                <a:cubicBezTo>
                  <a:pt x="40764" y="113506"/>
                  <a:pt x="34925" y="107667"/>
                  <a:pt x="34925" y="100409"/>
                </a:cubicBezTo>
                <a:cubicBezTo>
                  <a:pt x="34925" y="64229"/>
                  <a:pt x="64229" y="34925"/>
                  <a:pt x="100409" y="34925"/>
                </a:cubicBezTo>
                <a:cubicBezTo>
                  <a:pt x="107667" y="34925"/>
                  <a:pt x="113506" y="40764"/>
                  <a:pt x="113506" y="48022"/>
                </a:cubicBezTo>
                <a:cubicBezTo>
                  <a:pt x="113506" y="55280"/>
                  <a:pt x="107667" y="61119"/>
                  <a:pt x="100409" y="61119"/>
                </a:cubicBezTo>
                <a:close/>
              </a:path>
            </a:pathLst>
          </a:custGeom>
          <a:solidFill>
            <a:srgbClr val="D4853A"/>
          </a:solidFill>
          <a:ln/>
        </p:spPr>
      </p:sp>
      <p:sp>
        <p:nvSpPr>
          <p:cNvPr id="15" name="Text 12"/>
          <p:cNvSpPr/>
          <p:nvPr/>
        </p:nvSpPr>
        <p:spPr>
          <a:xfrm>
            <a:off x="8991600" y="57404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b="1" dirty="0">
                <a:solidFill>
                  <a:srgbClr val="D485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Explanation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8610600" y="6121400"/>
            <a:ext cx="66548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Unlike HDDs that spin disks, SSDs use electronic chips. This makes them super fast and durable because nothing moves inside.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762000" y="8636000"/>
            <a:ext cx="762000" cy="38100"/>
          </a:xfrm>
          <a:prstGeom prst="rect">
            <a:avLst/>
          </a:prstGeom>
          <a:solidFill>
            <a:srgbClr val="1B7A6B"/>
          </a:solidFill>
          <a:ln/>
        </p:spPr>
      </p:sp>
      <p:sp>
        <p:nvSpPr>
          <p:cNvPr id="18" name="Text 15"/>
          <p:cNvSpPr/>
          <p:nvPr/>
        </p:nvSpPr>
        <p:spPr>
          <a:xfrm>
            <a:off x="14986000" y="8636000"/>
            <a:ext cx="508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400" dirty="0">
                <a:solidFill>
                  <a:srgbClr val="6B656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27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304800"/>
            <a:ext cx="1524000" cy="355600"/>
          </a:xfrm>
          <a:prstGeom prst="roundRect">
            <a:avLst>
              <a:gd name="adj" fmla="val 50000"/>
            </a:avLst>
          </a:prstGeom>
          <a:solidFill>
            <a:srgbClr val="1B7A6B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304800"/>
            <a:ext cx="152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STORAGE DEVICES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62000" y="838200"/>
            <a:ext cx="9525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B7A6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Solid-State Storage — Pen Drive &amp; Flash Drive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62000" y="1397000"/>
            <a:ext cx="762000" cy="38100"/>
          </a:xfrm>
          <a:prstGeom prst="rect">
            <a:avLst/>
          </a:prstGeom>
          <a:solidFill>
            <a:srgbClr val="D4853A"/>
          </a:solidFill>
          <a:ln/>
        </p:spPr>
      </p:sp>
      <p:pic>
        <p:nvPicPr>
          <p:cNvPr id="6" name="Image 0" descr="https://kimi-img.moonshot.cn/pub/slides/okc/3jqulld5ie46y/mnt/agents/output/ict_devices/images/7_The_2_Best_USB_Flash_Drives_of_2026.png">    </p:cNvPr>
          <p:cNvPicPr>
            <a:picLocks noChangeAspect="1"/>
          </p:cNvPicPr>
          <p:nvPr/>
        </p:nvPicPr>
        <p:blipFill>
          <a:blip r:embed="rId1"/>
          <a:srcRect l="0" r="0" t="3968" b="3968"/>
          <a:stretch/>
        </p:blipFill>
        <p:spPr>
          <a:xfrm>
            <a:off x="762000" y="1651000"/>
            <a:ext cx="5334000" cy="3683000"/>
          </a:xfrm>
          <a:prstGeom prst="roundRect">
            <a:avLst>
              <a:gd name="adj" fmla="val 8000"/>
            </a:avLst>
          </a:prstGeom>
        </p:spPr>
      </p:pic>
      <p:sp>
        <p:nvSpPr>
          <p:cNvPr id="7" name="Shape 4"/>
          <p:cNvSpPr/>
          <p:nvPr/>
        </p:nvSpPr>
        <p:spPr>
          <a:xfrm>
            <a:off x="6477000" y="1651000"/>
            <a:ext cx="9017000" cy="3683000"/>
          </a:xfrm>
          <a:prstGeom prst="roundRect">
            <a:avLst>
              <a:gd name="adj" fmla="val 8000"/>
            </a:avLst>
          </a:prstGeom>
          <a:solidFill>
            <a:srgbClr val="EDEAE4"/>
          </a:solidFill>
          <a:ln/>
        </p:spPr>
      </p:sp>
      <p:sp>
        <p:nvSpPr>
          <p:cNvPr id="8" name="Text 5"/>
          <p:cNvSpPr/>
          <p:nvPr/>
        </p:nvSpPr>
        <p:spPr>
          <a:xfrm>
            <a:off x="6731000" y="1803400"/>
            <a:ext cx="8509000" cy="3403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 pen drive (USB flash drive) is a small, portable solid-state storage device</a:t>
            </a:r>
            <a:endParaRPr lang="en-US" sz="1800" dirty="0"/>
          </a:p>
          <a:p>
            <a:pPr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It plugs into a USB port and works on any computer</a:t>
            </a:r>
            <a:endParaRPr lang="en-US" sz="1800" dirty="0"/>
          </a:p>
          <a:p>
            <a:pPr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Flash drives are lightweight, durable, and easy to carry</a:t>
            </a:r>
            <a:endParaRPr lang="en-US" sz="1800" dirty="0"/>
          </a:p>
          <a:p>
            <a:pPr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They come in sizes from a few GB to over 1 TB</a:t>
            </a:r>
            <a:endParaRPr lang="en-US" sz="1800" dirty="0"/>
          </a:p>
          <a:p>
            <a:pPr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They are perfect for transferring files between computers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762000" y="5588000"/>
            <a:ext cx="7366000" cy="1397000"/>
          </a:xfrm>
          <a:prstGeom prst="roundRect">
            <a:avLst>
              <a:gd name="adj" fmla="val 8000"/>
            </a:avLst>
          </a:prstGeom>
          <a:solidFill>
            <a:srgbClr val="1B7A6B">
              <a:alpha val="8235"/>
            </a:srgbClr>
          </a:solidFill>
          <a:ln w="12700">
            <a:solidFill>
              <a:srgbClr val="1B7A6B">
                <a:alpha val="25098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990600" y="57658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92033" y="152797"/>
                </a:moveTo>
                <a:lnTo>
                  <a:pt x="87858" y="152797"/>
                </a:lnTo>
                <a:cubicBezTo>
                  <a:pt x="89441" y="187995"/>
                  <a:pt x="97244" y="220409"/>
                  <a:pt x="108322" y="244148"/>
                </a:cubicBezTo>
                <a:cubicBezTo>
                  <a:pt x="114543" y="257517"/>
                  <a:pt x="121255" y="266958"/>
                  <a:pt x="127476" y="272742"/>
                </a:cubicBezTo>
                <a:cubicBezTo>
                  <a:pt x="133588" y="278472"/>
                  <a:pt x="137790" y="279400"/>
                  <a:pt x="139973" y="279400"/>
                </a:cubicBezTo>
                <a:cubicBezTo>
                  <a:pt x="142156" y="279400"/>
                  <a:pt x="146358" y="278472"/>
                  <a:pt x="152469" y="272742"/>
                </a:cubicBezTo>
                <a:cubicBezTo>
                  <a:pt x="158690" y="266958"/>
                  <a:pt x="165403" y="257463"/>
                  <a:pt x="171624" y="244148"/>
                </a:cubicBezTo>
                <a:cubicBezTo>
                  <a:pt x="182701" y="220409"/>
                  <a:pt x="190505" y="187995"/>
                  <a:pt x="192087" y="152797"/>
                </a:cubicBezTo>
                <a:close/>
                <a:moveTo>
                  <a:pt x="87804" y="126603"/>
                </a:moveTo>
                <a:lnTo>
                  <a:pt x="191978" y="126603"/>
                </a:lnTo>
                <a:cubicBezTo>
                  <a:pt x="190450" y="91405"/>
                  <a:pt x="182647" y="58991"/>
                  <a:pt x="171569" y="35252"/>
                </a:cubicBezTo>
                <a:cubicBezTo>
                  <a:pt x="165348" y="21937"/>
                  <a:pt x="158636" y="12442"/>
                  <a:pt x="152415" y="6658"/>
                </a:cubicBezTo>
                <a:cubicBezTo>
                  <a:pt x="146303" y="928"/>
                  <a:pt x="142101" y="0"/>
                  <a:pt x="139918" y="0"/>
                </a:cubicBezTo>
                <a:cubicBezTo>
                  <a:pt x="137735" y="0"/>
                  <a:pt x="133534" y="928"/>
                  <a:pt x="127422" y="6658"/>
                </a:cubicBezTo>
                <a:cubicBezTo>
                  <a:pt x="121201" y="12442"/>
                  <a:pt x="114489" y="21937"/>
                  <a:pt x="108267" y="35252"/>
                </a:cubicBezTo>
                <a:cubicBezTo>
                  <a:pt x="97190" y="58991"/>
                  <a:pt x="89386" y="91405"/>
                  <a:pt x="87804" y="126603"/>
                </a:cubicBezTo>
                <a:close/>
                <a:moveTo>
                  <a:pt x="61610" y="126603"/>
                </a:moveTo>
                <a:cubicBezTo>
                  <a:pt x="63520" y="79891"/>
                  <a:pt x="75580" y="36508"/>
                  <a:pt x="93206" y="8022"/>
                </a:cubicBezTo>
                <a:cubicBezTo>
                  <a:pt x="42947" y="25812"/>
                  <a:pt x="5948" y="71596"/>
                  <a:pt x="819" y="126603"/>
                </a:cubicBezTo>
                <a:lnTo>
                  <a:pt x="61610" y="126603"/>
                </a:lnTo>
                <a:close/>
                <a:moveTo>
                  <a:pt x="819" y="152797"/>
                </a:moveTo>
                <a:cubicBezTo>
                  <a:pt x="5948" y="207804"/>
                  <a:pt x="42947" y="253588"/>
                  <a:pt x="93206" y="271378"/>
                </a:cubicBezTo>
                <a:cubicBezTo>
                  <a:pt x="75580" y="242892"/>
                  <a:pt x="63520" y="199509"/>
                  <a:pt x="61610" y="152797"/>
                </a:cubicBezTo>
                <a:lnTo>
                  <a:pt x="819" y="152797"/>
                </a:lnTo>
                <a:close/>
                <a:moveTo>
                  <a:pt x="218227" y="152797"/>
                </a:moveTo>
                <a:cubicBezTo>
                  <a:pt x="216317" y="199509"/>
                  <a:pt x="204257" y="242892"/>
                  <a:pt x="186630" y="271378"/>
                </a:cubicBezTo>
                <a:cubicBezTo>
                  <a:pt x="236890" y="253534"/>
                  <a:pt x="273888" y="207804"/>
                  <a:pt x="279018" y="152797"/>
                </a:cubicBezTo>
                <a:lnTo>
                  <a:pt x="218227" y="152797"/>
                </a:lnTo>
                <a:close/>
                <a:moveTo>
                  <a:pt x="279018" y="126603"/>
                </a:moveTo>
                <a:cubicBezTo>
                  <a:pt x="273888" y="71596"/>
                  <a:pt x="236890" y="25812"/>
                  <a:pt x="186630" y="8022"/>
                </a:cubicBezTo>
                <a:cubicBezTo>
                  <a:pt x="204257" y="36508"/>
                  <a:pt x="216317" y="79891"/>
                  <a:pt x="218227" y="126603"/>
                </a:cubicBezTo>
                <a:lnTo>
                  <a:pt x="279018" y="126603"/>
                </a:lnTo>
                <a:close/>
              </a:path>
            </a:pathLst>
          </a:custGeom>
          <a:solidFill>
            <a:srgbClr val="1B7A6B"/>
          </a:solidFill>
          <a:ln/>
        </p:spPr>
      </p:sp>
      <p:sp>
        <p:nvSpPr>
          <p:cNvPr id="11" name="Text 8"/>
          <p:cNvSpPr/>
          <p:nvPr/>
        </p:nvSpPr>
        <p:spPr>
          <a:xfrm>
            <a:off x="1371600" y="57404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b="1" dirty="0">
                <a:solidFill>
                  <a:srgbClr val="D485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Real-World Example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990600" y="6121400"/>
            <a:ext cx="69088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 student saves their presentation on a pen drive and plugs it into the classroom computer to give their talk.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8382000" y="5588000"/>
            <a:ext cx="7112000" cy="1397000"/>
          </a:xfrm>
          <a:prstGeom prst="roundRect">
            <a:avLst>
              <a:gd name="adj" fmla="val 8000"/>
            </a:avLst>
          </a:prstGeom>
          <a:solidFill>
            <a:srgbClr val="D4853A">
              <a:alpha val="7059"/>
            </a:srgbClr>
          </a:solidFill>
          <a:ln w="12700">
            <a:solidFill>
              <a:srgbClr val="D4853A">
                <a:alpha val="25098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8645525" y="5765800"/>
            <a:ext cx="209550" cy="279400"/>
          </a:xfrm>
          <a:custGeom>
            <a:avLst/>
            <a:gdLst/>
            <a:ahLst/>
            <a:cxnLst/>
            <a:rect l="l" t="t" r="r" b="b"/>
            <a:pathLst>
              <a:path w="209550" h="279400">
                <a:moveTo>
                  <a:pt x="159836" y="209550"/>
                </a:moveTo>
                <a:cubicBezTo>
                  <a:pt x="163820" y="197381"/>
                  <a:pt x="171787" y="186358"/>
                  <a:pt x="180791" y="176862"/>
                </a:cubicBezTo>
                <a:cubicBezTo>
                  <a:pt x="198636" y="158090"/>
                  <a:pt x="209550" y="132715"/>
                  <a:pt x="209550" y="104775"/>
                </a:cubicBezTo>
                <a:cubicBezTo>
                  <a:pt x="209550" y="46930"/>
                  <a:pt x="162620" y="0"/>
                  <a:pt x="104775" y="0"/>
                </a:cubicBezTo>
                <a:cubicBezTo>
                  <a:pt x="46930" y="0"/>
                  <a:pt x="0" y="46930"/>
                  <a:pt x="0" y="104775"/>
                </a:cubicBezTo>
                <a:cubicBezTo>
                  <a:pt x="0" y="132715"/>
                  <a:pt x="10914" y="158090"/>
                  <a:pt x="28759" y="176862"/>
                </a:cubicBezTo>
                <a:cubicBezTo>
                  <a:pt x="37763" y="186358"/>
                  <a:pt x="45784" y="197381"/>
                  <a:pt x="49714" y="209550"/>
                </a:cubicBezTo>
                <a:lnTo>
                  <a:pt x="159782" y="209550"/>
                </a:lnTo>
                <a:close/>
                <a:moveTo>
                  <a:pt x="157163" y="235744"/>
                </a:moveTo>
                <a:lnTo>
                  <a:pt x="52388" y="235744"/>
                </a:lnTo>
                <a:lnTo>
                  <a:pt x="52388" y="244475"/>
                </a:lnTo>
                <a:cubicBezTo>
                  <a:pt x="52388" y="268595"/>
                  <a:pt x="71924" y="288131"/>
                  <a:pt x="96044" y="288131"/>
                </a:cubicBezTo>
                <a:lnTo>
                  <a:pt x="113506" y="288131"/>
                </a:lnTo>
                <a:cubicBezTo>
                  <a:pt x="137626" y="288131"/>
                  <a:pt x="157163" y="268595"/>
                  <a:pt x="157163" y="244475"/>
                </a:cubicBezTo>
                <a:lnTo>
                  <a:pt x="157163" y="235744"/>
                </a:lnTo>
                <a:close/>
                <a:moveTo>
                  <a:pt x="100409" y="61119"/>
                </a:moveTo>
                <a:cubicBezTo>
                  <a:pt x="78690" y="61119"/>
                  <a:pt x="61119" y="78690"/>
                  <a:pt x="61119" y="100409"/>
                </a:cubicBezTo>
                <a:cubicBezTo>
                  <a:pt x="61119" y="107667"/>
                  <a:pt x="55280" y="113506"/>
                  <a:pt x="48022" y="113506"/>
                </a:cubicBezTo>
                <a:cubicBezTo>
                  <a:pt x="40764" y="113506"/>
                  <a:pt x="34925" y="107667"/>
                  <a:pt x="34925" y="100409"/>
                </a:cubicBezTo>
                <a:cubicBezTo>
                  <a:pt x="34925" y="64229"/>
                  <a:pt x="64229" y="34925"/>
                  <a:pt x="100409" y="34925"/>
                </a:cubicBezTo>
                <a:cubicBezTo>
                  <a:pt x="107667" y="34925"/>
                  <a:pt x="113506" y="40764"/>
                  <a:pt x="113506" y="48022"/>
                </a:cubicBezTo>
                <a:cubicBezTo>
                  <a:pt x="113506" y="55280"/>
                  <a:pt x="107667" y="61119"/>
                  <a:pt x="100409" y="61119"/>
                </a:cubicBezTo>
                <a:close/>
              </a:path>
            </a:pathLst>
          </a:custGeom>
          <a:solidFill>
            <a:srgbClr val="D4853A"/>
          </a:solidFill>
          <a:ln/>
        </p:spPr>
      </p:sp>
      <p:sp>
        <p:nvSpPr>
          <p:cNvPr id="15" name="Text 12"/>
          <p:cNvSpPr/>
          <p:nvPr/>
        </p:nvSpPr>
        <p:spPr>
          <a:xfrm>
            <a:off x="8991600" y="57404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b="1" dirty="0">
                <a:solidFill>
                  <a:srgbClr val="D485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Explanation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8610600" y="6121400"/>
            <a:ext cx="66548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 pen drive uses the same chip technology as an SSD but in a tiny, portable case. It needs no power when not plugged in.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762000" y="8636000"/>
            <a:ext cx="762000" cy="38100"/>
          </a:xfrm>
          <a:prstGeom prst="rect">
            <a:avLst/>
          </a:prstGeom>
          <a:solidFill>
            <a:srgbClr val="1B7A6B"/>
          </a:solidFill>
          <a:ln/>
        </p:spPr>
      </p:sp>
      <p:sp>
        <p:nvSpPr>
          <p:cNvPr id="18" name="Text 15"/>
          <p:cNvSpPr/>
          <p:nvPr/>
        </p:nvSpPr>
        <p:spPr>
          <a:xfrm>
            <a:off x="14986000" y="8636000"/>
            <a:ext cx="508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400" dirty="0">
                <a:solidFill>
                  <a:srgbClr val="6B656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28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304800"/>
            <a:ext cx="1524000" cy="355600"/>
          </a:xfrm>
          <a:prstGeom prst="roundRect">
            <a:avLst>
              <a:gd name="adj" fmla="val 50000"/>
            </a:avLst>
          </a:prstGeom>
          <a:solidFill>
            <a:srgbClr val="1B7A6B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304800"/>
            <a:ext cx="152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STORAGE DEVICES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62000" y="8382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B7A6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Storage Comparison — HDD vs SSD vs Optical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62000" y="1397000"/>
            <a:ext cx="762000" cy="38100"/>
          </a:xfrm>
          <a:prstGeom prst="rect">
            <a:avLst/>
          </a:prstGeom>
          <a:solidFill>
            <a:srgbClr val="D4853A"/>
          </a:solidFill>
          <a:ln/>
        </p:spPr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1651000"/>
          <a:ext cx="14732000" cy="3683000"/>
        </p:xfrm>
        <a:graphic>
          <a:graphicData uri="http://schemas.openxmlformats.org/drawingml/2006/table">
            <a:tbl>
              <a:tblPr/>
              <a:tblGrid>
                <a:gridCol w="3241040"/>
                <a:gridCol w="2651760"/>
                <a:gridCol w="2651760"/>
                <a:gridCol w="2946400"/>
                <a:gridCol w="3241040"/>
              </a:tblGrid>
              <a:tr h="664986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Feature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7A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HDD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7A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SSD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7A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Optical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7A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USB Flash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7A6B"/>
                    </a:solidFill>
                  </a:tcPr>
                </a:tc>
              </a:tr>
              <a:tr h="754503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Speed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Slow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D4853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Very Fast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Slow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Fast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F"/>
                    </a:solidFill>
                  </a:tcPr>
                </a:tc>
              </a:tr>
              <a:tr h="754503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Capacity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AE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D4853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Very Large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AE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Large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AE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Small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AE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Medium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AE4"/>
                    </a:solidFill>
                  </a:tcPr>
                </a:tc>
              </a:tr>
              <a:tr h="754503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Cost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D4853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Low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High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Very Low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Medium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F"/>
                    </a:solidFill>
                  </a:tcPr>
                </a:tc>
              </a:tr>
              <a:tr h="754503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Durability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AE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Fragile (moving parts)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AE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D4853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Very Durable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AE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Can scratch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AE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Very Durable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AE4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762000" y="5588000"/>
            <a:ext cx="7366000" cy="1397000"/>
          </a:xfrm>
          <a:prstGeom prst="roundRect">
            <a:avLst>
              <a:gd name="adj" fmla="val 8000"/>
            </a:avLst>
          </a:prstGeom>
          <a:solidFill>
            <a:srgbClr val="1B7A6B">
              <a:alpha val="8235"/>
            </a:srgbClr>
          </a:solidFill>
          <a:ln w="12700">
            <a:solidFill>
              <a:srgbClr val="1B7A6B">
                <a:alpha val="25098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990600" y="57658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92033" y="152797"/>
                </a:moveTo>
                <a:lnTo>
                  <a:pt x="87858" y="152797"/>
                </a:lnTo>
                <a:cubicBezTo>
                  <a:pt x="89441" y="187995"/>
                  <a:pt x="97244" y="220409"/>
                  <a:pt x="108322" y="244148"/>
                </a:cubicBezTo>
                <a:cubicBezTo>
                  <a:pt x="114543" y="257517"/>
                  <a:pt x="121255" y="266958"/>
                  <a:pt x="127476" y="272742"/>
                </a:cubicBezTo>
                <a:cubicBezTo>
                  <a:pt x="133588" y="278472"/>
                  <a:pt x="137790" y="279400"/>
                  <a:pt x="139973" y="279400"/>
                </a:cubicBezTo>
                <a:cubicBezTo>
                  <a:pt x="142156" y="279400"/>
                  <a:pt x="146358" y="278472"/>
                  <a:pt x="152469" y="272742"/>
                </a:cubicBezTo>
                <a:cubicBezTo>
                  <a:pt x="158690" y="266958"/>
                  <a:pt x="165403" y="257463"/>
                  <a:pt x="171624" y="244148"/>
                </a:cubicBezTo>
                <a:cubicBezTo>
                  <a:pt x="182701" y="220409"/>
                  <a:pt x="190505" y="187995"/>
                  <a:pt x="192087" y="152797"/>
                </a:cubicBezTo>
                <a:close/>
                <a:moveTo>
                  <a:pt x="87804" y="126603"/>
                </a:moveTo>
                <a:lnTo>
                  <a:pt x="191978" y="126603"/>
                </a:lnTo>
                <a:cubicBezTo>
                  <a:pt x="190450" y="91405"/>
                  <a:pt x="182647" y="58991"/>
                  <a:pt x="171569" y="35252"/>
                </a:cubicBezTo>
                <a:cubicBezTo>
                  <a:pt x="165348" y="21937"/>
                  <a:pt x="158636" y="12442"/>
                  <a:pt x="152415" y="6658"/>
                </a:cubicBezTo>
                <a:cubicBezTo>
                  <a:pt x="146303" y="928"/>
                  <a:pt x="142101" y="0"/>
                  <a:pt x="139918" y="0"/>
                </a:cubicBezTo>
                <a:cubicBezTo>
                  <a:pt x="137735" y="0"/>
                  <a:pt x="133534" y="928"/>
                  <a:pt x="127422" y="6658"/>
                </a:cubicBezTo>
                <a:cubicBezTo>
                  <a:pt x="121201" y="12442"/>
                  <a:pt x="114489" y="21937"/>
                  <a:pt x="108267" y="35252"/>
                </a:cubicBezTo>
                <a:cubicBezTo>
                  <a:pt x="97190" y="58991"/>
                  <a:pt x="89386" y="91405"/>
                  <a:pt x="87804" y="126603"/>
                </a:cubicBezTo>
                <a:close/>
                <a:moveTo>
                  <a:pt x="61610" y="126603"/>
                </a:moveTo>
                <a:cubicBezTo>
                  <a:pt x="63520" y="79891"/>
                  <a:pt x="75580" y="36508"/>
                  <a:pt x="93206" y="8022"/>
                </a:cubicBezTo>
                <a:cubicBezTo>
                  <a:pt x="42947" y="25812"/>
                  <a:pt x="5948" y="71596"/>
                  <a:pt x="819" y="126603"/>
                </a:cubicBezTo>
                <a:lnTo>
                  <a:pt x="61610" y="126603"/>
                </a:lnTo>
                <a:close/>
                <a:moveTo>
                  <a:pt x="819" y="152797"/>
                </a:moveTo>
                <a:cubicBezTo>
                  <a:pt x="5948" y="207804"/>
                  <a:pt x="42947" y="253588"/>
                  <a:pt x="93206" y="271378"/>
                </a:cubicBezTo>
                <a:cubicBezTo>
                  <a:pt x="75580" y="242892"/>
                  <a:pt x="63520" y="199509"/>
                  <a:pt x="61610" y="152797"/>
                </a:cubicBezTo>
                <a:lnTo>
                  <a:pt x="819" y="152797"/>
                </a:lnTo>
                <a:close/>
                <a:moveTo>
                  <a:pt x="218227" y="152797"/>
                </a:moveTo>
                <a:cubicBezTo>
                  <a:pt x="216317" y="199509"/>
                  <a:pt x="204257" y="242892"/>
                  <a:pt x="186630" y="271378"/>
                </a:cubicBezTo>
                <a:cubicBezTo>
                  <a:pt x="236890" y="253534"/>
                  <a:pt x="273888" y="207804"/>
                  <a:pt x="279018" y="152797"/>
                </a:cubicBezTo>
                <a:lnTo>
                  <a:pt x="218227" y="152797"/>
                </a:lnTo>
                <a:close/>
                <a:moveTo>
                  <a:pt x="279018" y="126603"/>
                </a:moveTo>
                <a:cubicBezTo>
                  <a:pt x="273888" y="71596"/>
                  <a:pt x="236890" y="25812"/>
                  <a:pt x="186630" y="8022"/>
                </a:cubicBezTo>
                <a:cubicBezTo>
                  <a:pt x="204257" y="36508"/>
                  <a:pt x="216317" y="79891"/>
                  <a:pt x="218227" y="126603"/>
                </a:cubicBezTo>
                <a:lnTo>
                  <a:pt x="279018" y="126603"/>
                </a:lnTo>
                <a:close/>
              </a:path>
            </a:pathLst>
          </a:custGeom>
          <a:solidFill>
            <a:srgbClr val="1B7A6B"/>
          </a:solidFill>
          <a:ln/>
        </p:spPr>
      </p:sp>
      <p:sp>
        <p:nvSpPr>
          <p:cNvPr id="9" name="Text 6"/>
          <p:cNvSpPr/>
          <p:nvPr/>
        </p:nvSpPr>
        <p:spPr>
          <a:xfrm>
            <a:off x="1371600" y="57404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b="1" dirty="0">
                <a:solidFill>
                  <a:srgbClr val="D485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Real-World Example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90600" y="6121400"/>
            <a:ext cx="69088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 video editor uses an SSD for active projects (speed), an HDD for archived footage (capacity), and Blu-ray for delivering final films.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8382000" y="5588000"/>
            <a:ext cx="7112000" cy="1397000"/>
          </a:xfrm>
          <a:prstGeom prst="roundRect">
            <a:avLst>
              <a:gd name="adj" fmla="val 8000"/>
            </a:avLst>
          </a:prstGeom>
          <a:solidFill>
            <a:srgbClr val="D4853A">
              <a:alpha val="7059"/>
            </a:srgbClr>
          </a:solidFill>
          <a:ln w="12700">
            <a:solidFill>
              <a:srgbClr val="D4853A">
                <a:alpha val="25098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8645525" y="5765800"/>
            <a:ext cx="209550" cy="279400"/>
          </a:xfrm>
          <a:custGeom>
            <a:avLst/>
            <a:gdLst/>
            <a:ahLst/>
            <a:cxnLst/>
            <a:rect l="l" t="t" r="r" b="b"/>
            <a:pathLst>
              <a:path w="209550" h="279400">
                <a:moveTo>
                  <a:pt x="159836" y="209550"/>
                </a:moveTo>
                <a:cubicBezTo>
                  <a:pt x="163820" y="197381"/>
                  <a:pt x="171787" y="186358"/>
                  <a:pt x="180791" y="176862"/>
                </a:cubicBezTo>
                <a:cubicBezTo>
                  <a:pt x="198636" y="158090"/>
                  <a:pt x="209550" y="132715"/>
                  <a:pt x="209550" y="104775"/>
                </a:cubicBezTo>
                <a:cubicBezTo>
                  <a:pt x="209550" y="46930"/>
                  <a:pt x="162620" y="0"/>
                  <a:pt x="104775" y="0"/>
                </a:cubicBezTo>
                <a:cubicBezTo>
                  <a:pt x="46930" y="0"/>
                  <a:pt x="0" y="46930"/>
                  <a:pt x="0" y="104775"/>
                </a:cubicBezTo>
                <a:cubicBezTo>
                  <a:pt x="0" y="132715"/>
                  <a:pt x="10914" y="158090"/>
                  <a:pt x="28759" y="176862"/>
                </a:cubicBezTo>
                <a:cubicBezTo>
                  <a:pt x="37763" y="186358"/>
                  <a:pt x="45784" y="197381"/>
                  <a:pt x="49714" y="209550"/>
                </a:cubicBezTo>
                <a:lnTo>
                  <a:pt x="159782" y="209550"/>
                </a:lnTo>
                <a:close/>
                <a:moveTo>
                  <a:pt x="157163" y="235744"/>
                </a:moveTo>
                <a:lnTo>
                  <a:pt x="52388" y="235744"/>
                </a:lnTo>
                <a:lnTo>
                  <a:pt x="52388" y="244475"/>
                </a:lnTo>
                <a:cubicBezTo>
                  <a:pt x="52388" y="268595"/>
                  <a:pt x="71924" y="288131"/>
                  <a:pt x="96044" y="288131"/>
                </a:cubicBezTo>
                <a:lnTo>
                  <a:pt x="113506" y="288131"/>
                </a:lnTo>
                <a:cubicBezTo>
                  <a:pt x="137626" y="288131"/>
                  <a:pt x="157163" y="268595"/>
                  <a:pt x="157163" y="244475"/>
                </a:cubicBezTo>
                <a:lnTo>
                  <a:pt x="157163" y="235744"/>
                </a:lnTo>
                <a:close/>
                <a:moveTo>
                  <a:pt x="100409" y="61119"/>
                </a:moveTo>
                <a:cubicBezTo>
                  <a:pt x="78690" y="61119"/>
                  <a:pt x="61119" y="78690"/>
                  <a:pt x="61119" y="100409"/>
                </a:cubicBezTo>
                <a:cubicBezTo>
                  <a:pt x="61119" y="107667"/>
                  <a:pt x="55280" y="113506"/>
                  <a:pt x="48022" y="113506"/>
                </a:cubicBezTo>
                <a:cubicBezTo>
                  <a:pt x="40764" y="113506"/>
                  <a:pt x="34925" y="107667"/>
                  <a:pt x="34925" y="100409"/>
                </a:cubicBezTo>
                <a:cubicBezTo>
                  <a:pt x="34925" y="64229"/>
                  <a:pt x="64229" y="34925"/>
                  <a:pt x="100409" y="34925"/>
                </a:cubicBezTo>
                <a:cubicBezTo>
                  <a:pt x="107667" y="34925"/>
                  <a:pt x="113506" y="40764"/>
                  <a:pt x="113506" y="48022"/>
                </a:cubicBezTo>
                <a:cubicBezTo>
                  <a:pt x="113506" y="55280"/>
                  <a:pt x="107667" y="61119"/>
                  <a:pt x="100409" y="61119"/>
                </a:cubicBezTo>
                <a:close/>
              </a:path>
            </a:pathLst>
          </a:custGeom>
          <a:solidFill>
            <a:srgbClr val="D4853A"/>
          </a:solidFill>
          <a:ln/>
        </p:spPr>
      </p:sp>
      <p:sp>
        <p:nvSpPr>
          <p:cNvPr id="13" name="Text 10"/>
          <p:cNvSpPr/>
          <p:nvPr/>
        </p:nvSpPr>
        <p:spPr>
          <a:xfrm>
            <a:off x="8991600" y="57404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b="1" dirty="0">
                <a:solidFill>
                  <a:srgbClr val="D485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Explanation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8610600" y="6121400"/>
            <a:ext cx="66548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Each storage type has its own strengths. Choosing the right one depends on whether you need speed, capacity, portability, or low cost.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762000" y="8636000"/>
            <a:ext cx="762000" cy="38100"/>
          </a:xfrm>
          <a:prstGeom prst="rect">
            <a:avLst/>
          </a:prstGeom>
          <a:solidFill>
            <a:srgbClr val="1B7A6B"/>
          </a:solidFill>
          <a:ln/>
        </p:spPr>
      </p:sp>
      <p:sp>
        <p:nvSpPr>
          <p:cNvPr id="16" name="Text 13"/>
          <p:cNvSpPr/>
          <p:nvPr/>
        </p:nvSpPr>
        <p:spPr>
          <a:xfrm>
            <a:off x="14986000" y="8636000"/>
            <a:ext cx="508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400" dirty="0">
                <a:solidFill>
                  <a:srgbClr val="6B656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29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B3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762000"/>
            <a:ext cx="2540000" cy="50800"/>
          </a:xfrm>
          <a:prstGeom prst="rect">
            <a:avLst/>
          </a:prstGeom>
          <a:solidFill>
            <a:srgbClr val="D4853A"/>
          </a:solidFill>
          <a:ln/>
        </p:spPr>
      </p:sp>
      <p:sp>
        <p:nvSpPr>
          <p:cNvPr id="3" name="Text 1"/>
          <p:cNvSpPr/>
          <p:nvPr/>
        </p:nvSpPr>
        <p:spPr>
          <a:xfrm>
            <a:off x="1270000" y="1016000"/>
            <a:ext cx="13716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Summary — What You Have Learned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858000" y="1905000"/>
            <a:ext cx="2540000" cy="38100"/>
          </a:xfrm>
          <a:prstGeom prst="rect">
            <a:avLst/>
          </a:prstGeom>
          <a:solidFill>
            <a:srgbClr val="D4853A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2286000"/>
            <a:ext cx="7112000" cy="1397000"/>
          </a:xfrm>
          <a:prstGeom prst="roundRect">
            <a:avLst>
              <a:gd name="adj" fmla="val 8000"/>
            </a:avLst>
          </a:prstGeom>
          <a:solidFill>
            <a:srgbClr val="FFFFFF">
              <a:alpha val="6275"/>
            </a:srgbClr>
          </a:solidFill>
          <a:ln w="12700">
            <a:solidFill>
              <a:srgbClr val="FFFFFF">
                <a:alpha val="1451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93775" y="2540000"/>
            <a:ext cx="400050" cy="355600"/>
          </a:xfrm>
          <a:custGeom>
            <a:avLst/>
            <a:gdLst/>
            <a:ahLst/>
            <a:cxnLst/>
            <a:rect l="l" t="t" r="r" b="b"/>
            <a:pathLst>
              <a:path w="400050" h="355600">
                <a:moveTo>
                  <a:pt x="44450" y="44450"/>
                </a:moveTo>
                <a:cubicBezTo>
                  <a:pt x="19933" y="44450"/>
                  <a:pt x="0" y="64383"/>
                  <a:pt x="0" y="88900"/>
                </a:cubicBezTo>
                <a:lnTo>
                  <a:pt x="0" y="266700"/>
                </a:lnTo>
                <a:cubicBezTo>
                  <a:pt x="0" y="291217"/>
                  <a:pt x="19933" y="311150"/>
                  <a:pt x="44450" y="311150"/>
                </a:cubicBezTo>
                <a:lnTo>
                  <a:pt x="355600" y="311150"/>
                </a:lnTo>
                <a:cubicBezTo>
                  <a:pt x="380117" y="311150"/>
                  <a:pt x="400050" y="291217"/>
                  <a:pt x="400050" y="266700"/>
                </a:cubicBezTo>
                <a:lnTo>
                  <a:pt x="400050" y="88900"/>
                </a:lnTo>
                <a:cubicBezTo>
                  <a:pt x="400050" y="64383"/>
                  <a:pt x="380117" y="44450"/>
                  <a:pt x="355600" y="44450"/>
                </a:cubicBezTo>
                <a:lnTo>
                  <a:pt x="44450" y="44450"/>
                </a:lnTo>
                <a:close/>
                <a:moveTo>
                  <a:pt x="55563" y="88900"/>
                </a:moveTo>
                <a:lnTo>
                  <a:pt x="77788" y="88900"/>
                </a:lnTo>
                <a:cubicBezTo>
                  <a:pt x="83899" y="88900"/>
                  <a:pt x="88900" y="93901"/>
                  <a:pt x="88900" y="100013"/>
                </a:cubicBezTo>
                <a:lnTo>
                  <a:pt x="88900" y="122238"/>
                </a:lnTo>
                <a:cubicBezTo>
                  <a:pt x="88900" y="128349"/>
                  <a:pt x="83899" y="133350"/>
                  <a:pt x="77788" y="133350"/>
                </a:cubicBezTo>
                <a:lnTo>
                  <a:pt x="55563" y="133350"/>
                </a:lnTo>
                <a:cubicBezTo>
                  <a:pt x="49451" y="133350"/>
                  <a:pt x="44450" y="128349"/>
                  <a:pt x="44450" y="122238"/>
                </a:cubicBezTo>
                <a:lnTo>
                  <a:pt x="44450" y="100013"/>
                </a:lnTo>
                <a:cubicBezTo>
                  <a:pt x="44450" y="93901"/>
                  <a:pt x="49451" y="88900"/>
                  <a:pt x="55563" y="88900"/>
                </a:cubicBezTo>
                <a:close/>
                <a:moveTo>
                  <a:pt x="44450" y="166688"/>
                </a:moveTo>
                <a:cubicBezTo>
                  <a:pt x="44450" y="160576"/>
                  <a:pt x="49451" y="155575"/>
                  <a:pt x="55563" y="155575"/>
                </a:cubicBezTo>
                <a:lnTo>
                  <a:pt x="77788" y="155575"/>
                </a:lnTo>
                <a:cubicBezTo>
                  <a:pt x="83899" y="155575"/>
                  <a:pt x="88900" y="160576"/>
                  <a:pt x="88900" y="166688"/>
                </a:cubicBezTo>
                <a:lnTo>
                  <a:pt x="88900" y="188913"/>
                </a:lnTo>
                <a:cubicBezTo>
                  <a:pt x="88900" y="195024"/>
                  <a:pt x="83899" y="200025"/>
                  <a:pt x="77788" y="200025"/>
                </a:cubicBezTo>
                <a:lnTo>
                  <a:pt x="55563" y="200025"/>
                </a:lnTo>
                <a:cubicBezTo>
                  <a:pt x="49451" y="200025"/>
                  <a:pt x="44450" y="195024"/>
                  <a:pt x="44450" y="188913"/>
                </a:cubicBezTo>
                <a:lnTo>
                  <a:pt x="44450" y="166688"/>
                </a:lnTo>
                <a:close/>
                <a:moveTo>
                  <a:pt x="122238" y="88900"/>
                </a:moveTo>
                <a:lnTo>
                  <a:pt x="144463" y="88900"/>
                </a:lnTo>
                <a:cubicBezTo>
                  <a:pt x="150574" y="88900"/>
                  <a:pt x="155575" y="93901"/>
                  <a:pt x="155575" y="100013"/>
                </a:cubicBezTo>
                <a:lnTo>
                  <a:pt x="155575" y="122238"/>
                </a:lnTo>
                <a:cubicBezTo>
                  <a:pt x="155575" y="128349"/>
                  <a:pt x="150574" y="133350"/>
                  <a:pt x="144463" y="133350"/>
                </a:cubicBezTo>
                <a:lnTo>
                  <a:pt x="122238" y="133350"/>
                </a:lnTo>
                <a:cubicBezTo>
                  <a:pt x="116126" y="133350"/>
                  <a:pt x="111125" y="128349"/>
                  <a:pt x="111125" y="122238"/>
                </a:cubicBezTo>
                <a:lnTo>
                  <a:pt x="111125" y="100013"/>
                </a:lnTo>
                <a:cubicBezTo>
                  <a:pt x="111125" y="93901"/>
                  <a:pt x="116126" y="88900"/>
                  <a:pt x="122238" y="88900"/>
                </a:cubicBezTo>
                <a:close/>
                <a:moveTo>
                  <a:pt x="111125" y="166688"/>
                </a:moveTo>
                <a:cubicBezTo>
                  <a:pt x="111125" y="160576"/>
                  <a:pt x="116126" y="155575"/>
                  <a:pt x="122238" y="155575"/>
                </a:cubicBezTo>
                <a:lnTo>
                  <a:pt x="144463" y="155575"/>
                </a:lnTo>
                <a:cubicBezTo>
                  <a:pt x="150574" y="155575"/>
                  <a:pt x="155575" y="160576"/>
                  <a:pt x="155575" y="166688"/>
                </a:cubicBezTo>
                <a:lnTo>
                  <a:pt x="155575" y="188913"/>
                </a:lnTo>
                <a:cubicBezTo>
                  <a:pt x="155575" y="195024"/>
                  <a:pt x="150574" y="200025"/>
                  <a:pt x="144463" y="200025"/>
                </a:cubicBezTo>
                <a:lnTo>
                  <a:pt x="122238" y="200025"/>
                </a:lnTo>
                <a:cubicBezTo>
                  <a:pt x="116126" y="200025"/>
                  <a:pt x="111125" y="195024"/>
                  <a:pt x="111125" y="188913"/>
                </a:cubicBezTo>
                <a:lnTo>
                  <a:pt x="111125" y="166688"/>
                </a:lnTo>
                <a:close/>
                <a:moveTo>
                  <a:pt x="122238" y="222250"/>
                </a:moveTo>
                <a:lnTo>
                  <a:pt x="277813" y="222250"/>
                </a:lnTo>
                <a:cubicBezTo>
                  <a:pt x="283924" y="222250"/>
                  <a:pt x="288925" y="227251"/>
                  <a:pt x="288925" y="233363"/>
                </a:cubicBezTo>
                <a:lnTo>
                  <a:pt x="288925" y="255587"/>
                </a:lnTo>
                <a:cubicBezTo>
                  <a:pt x="288925" y="261699"/>
                  <a:pt x="283924" y="266700"/>
                  <a:pt x="277813" y="266700"/>
                </a:cubicBezTo>
                <a:lnTo>
                  <a:pt x="122238" y="266700"/>
                </a:lnTo>
                <a:cubicBezTo>
                  <a:pt x="116126" y="266700"/>
                  <a:pt x="111125" y="261699"/>
                  <a:pt x="111125" y="255587"/>
                </a:cubicBezTo>
                <a:lnTo>
                  <a:pt x="111125" y="233363"/>
                </a:lnTo>
                <a:cubicBezTo>
                  <a:pt x="111125" y="227251"/>
                  <a:pt x="116126" y="222250"/>
                  <a:pt x="122238" y="222250"/>
                </a:cubicBezTo>
                <a:close/>
                <a:moveTo>
                  <a:pt x="177800" y="100013"/>
                </a:moveTo>
                <a:cubicBezTo>
                  <a:pt x="177800" y="93901"/>
                  <a:pt x="182801" y="88900"/>
                  <a:pt x="188913" y="88900"/>
                </a:cubicBezTo>
                <a:lnTo>
                  <a:pt x="211138" y="88900"/>
                </a:lnTo>
                <a:cubicBezTo>
                  <a:pt x="217249" y="88900"/>
                  <a:pt x="222250" y="93901"/>
                  <a:pt x="222250" y="100013"/>
                </a:cubicBezTo>
                <a:lnTo>
                  <a:pt x="222250" y="122238"/>
                </a:lnTo>
                <a:cubicBezTo>
                  <a:pt x="222250" y="128349"/>
                  <a:pt x="217249" y="133350"/>
                  <a:pt x="211138" y="133350"/>
                </a:cubicBezTo>
                <a:lnTo>
                  <a:pt x="188913" y="133350"/>
                </a:lnTo>
                <a:cubicBezTo>
                  <a:pt x="182801" y="133350"/>
                  <a:pt x="177800" y="128349"/>
                  <a:pt x="177800" y="122238"/>
                </a:cubicBezTo>
                <a:lnTo>
                  <a:pt x="177800" y="100013"/>
                </a:lnTo>
                <a:close/>
                <a:moveTo>
                  <a:pt x="188913" y="155575"/>
                </a:moveTo>
                <a:lnTo>
                  <a:pt x="211138" y="155575"/>
                </a:lnTo>
                <a:cubicBezTo>
                  <a:pt x="217249" y="155575"/>
                  <a:pt x="222250" y="160576"/>
                  <a:pt x="222250" y="166688"/>
                </a:cubicBezTo>
                <a:lnTo>
                  <a:pt x="222250" y="188913"/>
                </a:lnTo>
                <a:cubicBezTo>
                  <a:pt x="222250" y="195024"/>
                  <a:pt x="217249" y="200025"/>
                  <a:pt x="211138" y="200025"/>
                </a:cubicBezTo>
                <a:lnTo>
                  <a:pt x="188913" y="200025"/>
                </a:lnTo>
                <a:cubicBezTo>
                  <a:pt x="182801" y="200025"/>
                  <a:pt x="177800" y="195024"/>
                  <a:pt x="177800" y="188913"/>
                </a:cubicBezTo>
                <a:lnTo>
                  <a:pt x="177800" y="166688"/>
                </a:lnTo>
                <a:cubicBezTo>
                  <a:pt x="177800" y="160576"/>
                  <a:pt x="182801" y="155575"/>
                  <a:pt x="188913" y="155575"/>
                </a:cubicBezTo>
                <a:close/>
                <a:moveTo>
                  <a:pt x="244475" y="100013"/>
                </a:moveTo>
                <a:cubicBezTo>
                  <a:pt x="244475" y="93901"/>
                  <a:pt x="249476" y="88900"/>
                  <a:pt x="255587" y="88900"/>
                </a:cubicBezTo>
                <a:lnTo>
                  <a:pt x="277813" y="88900"/>
                </a:lnTo>
                <a:cubicBezTo>
                  <a:pt x="283924" y="88900"/>
                  <a:pt x="288925" y="93901"/>
                  <a:pt x="288925" y="100013"/>
                </a:cubicBezTo>
                <a:lnTo>
                  <a:pt x="288925" y="122238"/>
                </a:lnTo>
                <a:cubicBezTo>
                  <a:pt x="288925" y="128349"/>
                  <a:pt x="283924" y="133350"/>
                  <a:pt x="277813" y="133350"/>
                </a:cubicBezTo>
                <a:lnTo>
                  <a:pt x="255587" y="133350"/>
                </a:lnTo>
                <a:cubicBezTo>
                  <a:pt x="249476" y="133350"/>
                  <a:pt x="244475" y="128349"/>
                  <a:pt x="244475" y="122238"/>
                </a:cubicBezTo>
                <a:lnTo>
                  <a:pt x="244475" y="100013"/>
                </a:lnTo>
                <a:close/>
                <a:moveTo>
                  <a:pt x="255587" y="155575"/>
                </a:moveTo>
                <a:lnTo>
                  <a:pt x="277813" y="155575"/>
                </a:lnTo>
                <a:cubicBezTo>
                  <a:pt x="283924" y="155575"/>
                  <a:pt x="288925" y="160576"/>
                  <a:pt x="288925" y="166688"/>
                </a:cubicBezTo>
                <a:lnTo>
                  <a:pt x="288925" y="188913"/>
                </a:lnTo>
                <a:cubicBezTo>
                  <a:pt x="288925" y="195024"/>
                  <a:pt x="283924" y="200025"/>
                  <a:pt x="277813" y="200025"/>
                </a:cubicBezTo>
                <a:lnTo>
                  <a:pt x="255587" y="200025"/>
                </a:lnTo>
                <a:cubicBezTo>
                  <a:pt x="249476" y="200025"/>
                  <a:pt x="244475" y="195024"/>
                  <a:pt x="244475" y="188913"/>
                </a:cubicBezTo>
                <a:lnTo>
                  <a:pt x="244475" y="166688"/>
                </a:lnTo>
                <a:cubicBezTo>
                  <a:pt x="244475" y="160576"/>
                  <a:pt x="249476" y="155575"/>
                  <a:pt x="255587" y="155575"/>
                </a:cubicBezTo>
                <a:close/>
                <a:moveTo>
                  <a:pt x="311150" y="100013"/>
                </a:moveTo>
                <a:cubicBezTo>
                  <a:pt x="311150" y="93901"/>
                  <a:pt x="316151" y="88900"/>
                  <a:pt x="322263" y="88900"/>
                </a:cubicBezTo>
                <a:lnTo>
                  <a:pt x="344488" y="88900"/>
                </a:lnTo>
                <a:cubicBezTo>
                  <a:pt x="350599" y="88900"/>
                  <a:pt x="355600" y="93901"/>
                  <a:pt x="355600" y="100013"/>
                </a:cubicBezTo>
                <a:lnTo>
                  <a:pt x="355600" y="122238"/>
                </a:lnTo>
                <a:cubicBezTo>
                  <a:pt x="355600" y="128349"/>
                  <a:pt x="350599" y="133350"/>
                  <a:pt x="344488" y="133350"/>
                </a:cubicBezTo>
                <a:lnTo>
                  <a:pt x="322263" y="133350"/>
                </a:lnTo>
                <a:cubicBezTo>
                  <a:pt x="316151" y="133350"/>
                  <a:pt x="311150" y="128349"/>
                  <a:pt x="311150" y="122238"/>
                </a:cubicBezTo>
                <a:lnTo>
                  <a:pt x="311150" y="100013"/>
                </a:lnTo>
                <a:close/>
                <a:moveTo>
                  <a:pt x="322263" y="155575"/>
                </a:moveTo>
                <a:lnTo>
                  <a:pt x="344488" y="155575"/>
                </a:lnTo>
                <a:cubicBezTo>
                  <a:pt x="350599" y="155575"/>
                  <a:pt x="355600" y="160576"/>
                  <a:pt x="355600" y="166688"/>
                </a:cubicBezTo>
                <a:lnTo>
                  <a:pt x="355600" y="188913"/>
                </a:lnTo>
                <a:cubicBezTo>
                  <a:pt x="355600" y="195024"/>
                  <a:pt x="350599" y="200025"/>
                  <a:pt x="344488" y="200025"/>
                </a:cubicBezTo>
                <a:lnTo>
                  <a:pt x="322263" y="200025"/>
                </a:lnTo>
                <a:cubicBezTo>
                  <a:pt x="316151" y="200025"/>
                  <a:pt x="311150" y="195024"/>
                  <a:pt x="311150" y="188913"/>
                </a:cubicBezTo>
                <a:lnTo>
                  <a:pt x="311150" y="166688"/>
                </a:lnTo>
                <a:cubicBezTo>
                  <a:pt x="311150" y="160576"/>
                  <a:pt x="316151" y="155575"/>
                  <a:pt x="322263" y="155575"/>
                </a:cubicBezTo>
                <a:close/>
              </a:path>
            </a:pathLst>
          </a:custGeom>
          <a:solidFill>
            <a:srgbClr val="D4853A"/>
          </a:solidFill>
          <a:ln/>
        </p:spPr>
      </p:sp>
      <p:sp>
        <p:nvSpPr>
          <p:cNvPr id="7" name="Text 5"/>
          <p:cNvSpPr/>
          <p:nvPr/>
        </p:nvSpPr>
        <p:spPr>
          <a:xfrm>
            <a:off x="1498600" y="2514600"/>
            <a:ext cx="254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D485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Input Devices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16000" y="2984500"/>
            <a:ext cx="6604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FFFFFF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Keyboard, mouse, scanner, camera, microphone, touch screen, sensors, remote, joystick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382000" y="2286000"/>
            <a:ext cx="7112000" cy="1397000"/>
          </a:xfrm>
          <a:prstGeom prst="roundRect">
            <a:avLst>
              <a:gd name="adj" fmla="val 8000"/>
            </a:avLst>
          </a:prstGeom>
          <a:solidFill>
            <a:srgbClr val="FFFFFF">
              <a:alpha val="6275"/>
            </a:srgbClr>
          </a:solidFill>
          <a:ln w="12700">
            <a:solidFill>
              <a:srgbClr val="FFFFFF">
                <a:alpha val="1451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658225" y="2540000"/>
            <a:ext cx="311150" cy="355600"/>
          </a:xfrm>
          <a:custGeom>
            <a:avLst/>
            <a:gdLst/>
            <a:ahLst/>
            <a:cxnLst/>
            <a:rect l="l" t="t" r="r" b="b"/>
            <a:pathLst>
              <a:path w="311150" h="355600">
                <a:moveTo>
                  <a:pt x="22225" y="22225"/>
                </a:moveTo>
                <a:cubicBezTo>
                  <a:pt x="9932" y="22225"/>
                  <a:pt x="0" y="32157"/>
                  <a:pt x="0" y="44450"/>
                </a:cubicBezTo>
                <a:lnTo>
                  <a:pt x="0" y="311150"/>
                </a:lnTo>
                <a:cubicBezTo>
                  <a:pt x="0" y="323443"/>
                  <a:pt x="9932" y="333375"/>
                  <a:pt x="22225" y="333375"/>
                </a:cubicBezTo>
                <a:cubicBezTo>
                  <a:pt x="34518" y="333375"/>
                  <a:pt x="44450" y="323443"/>
                  <a:pt x="44450" y="311150"/>
                </a:cubicBezTo>
                <a:lnTo>
                  <a:pt x="44450" y="44450"/>
                </a:lnTo>
                <a:cubicBezTo>
                  <a:pt x="44450" y="32157"/>
                  <a:pt x="34518" y="22225"/>
                  <a:pt x="22225" y="22225"/>
                </a:cubicBezTo>
                <a:close/>
                <a:moveTo>
                  <a:pt x="83344" y="22225"/>
                </a:moveTo>
                <a:cubicBezTo>
                  <a:pt x="74106" y="22225"/>
                  <a:pt x="66675" y="29656"/>
                  <a:pt x="66675" y="38894"/>
                </a:cubicBezTo>
                <a:lnTo>
                  <a:pt x="66675" y="316706"/>
                </a:lnTo>
                <a:cubicBezTo>
                  <a:pt x="66675" y="325944"/>
                  <a:pt x="74106" y="333375"/>
                  <a:pt x="83344" y="333375"/>
                </a:cubicBezTo>
                <a:cubicBezTo>
                  <a:pt x="92581" y="333375"/>
                  <a:pt x="100013" y="325944"/>
                  <a:pt x="100013" y="316706"/>
                </a:cubicBezTo>
                <a:lnTo>
                  <a:pt x="100013" y="38894"/>
                </a:lnTo>
                <a:cubicBezTo>
                  <a:pt x="100013" y="29656"/>
                  <a:pt x="92581" y="22225"/>
                  <a:pt x="83344" y="22225"/>
                </a:cubicBezTo>
                <a:close/>
                <a:moveTo>
                  <a:pt x="133350" y="44450"/>
                </a:moveTo>
                <a:lnTo>
                  <a:pt x="133350" y="311150"/>
                </a:lnTo>
                <a:cubicBezTo>
                  <a:pt x="133350" y="323443"/>
                  <a:pt x="143282" y="333375"/>
                  <a:pt x="155575" y="333375"/>
                </a:cubicBezTo>
                <a:cubicBezTo>
                  <a:pt x="167868" y="333375"/>
                  <a:pt x="177800" y="323443"/>
                  <a:pt x="177800" y="311150"/>
                </a:cubicBezTo>
                <a:lnTo>
                  <a:pt x="177800" y="44450"/>
                </a:lnTo>
                <a:cubicBezTo>
                  <a:pt x="177800" y="32157"/>
                  <a:pt x="167868" y="22225"/>
                  <a:pt x="155575" y="22225"/>
                </a:cubicBezTo>
                <a:cubicBezTo>
                  <a:pt x="143282" y="22225"/>
                  <a:pt x="133350" y="32157"/>
                  <a:pt x="133350" y="44450"/>
                </a:cubicBezTo>
                <a:close/>
                <a:moveTo>
                  <a:pt x="277813" y="38894"/>
                </a:moveTo>
                <a:lnTo>
                  <a:pt x="277813" y="316706"/>
                </a:lnTo>
                <a:cubicBezTo>
                  <a:pt x="277813" y="325944"/>
                  <a:pt x="285244" y="333375"/>
                  <a:pt x="294481" y="333375"/>
                </a:cubicBezTo>
                <a:cubicBezTo>
                  <a:pt x="303719" y="333375"/>
                  <a:pt x="311150" y="325944"/>
                  <a:pt x="311150" y="316706"/>
                </a:cubicBezTo>
                <a:lnTo>
                  <a:pt x="311150" y="38894"/>
                </a:lnTo>
                <a:cubicBezTo>
                  <a:pt x="311150" y="29656"/>
                  <a:pt x="303719" y="22225"/>
                  <a:pt x="294481" y="22225"/>
                </a:cubicBezTo>
                <a:cubicBezTo>
                  <a:pt x="285244" y="22225"/>
                  <a:pt x="277813" y="29656"/>
                  <a:pt x="277813" y="38894"/>
                </a:cubicBezTo>
                <a:close/>
                <a:moveTo>
                  <a:pt x="211138" y="38894"/>
                </a:moveTo>
                <a:lnTo>
                  <a:pt x="211138" y="316706"/>
                </a:lnTo>
                <a:cubicBezTo>
                  <a:pt x="211138" y="325944"/>
                  <a:pt x="218569" y="333375"/>
                  <a:pt x="227806" y="333375"/>
                </a:cubicBezTo>
                <a:cubicBezTo>
                  <a:pt x="237044" y="333375"/>
                  <a:pt x="244475" y="325944"/>
                  <a:pt x="244475" y="316706"/>
                </a:cubicBezTo>
                <a:lnTo>
                  <a:pt x="244475" y="38894"/>
                </a:lnTo>
                <a:cubicBezTo>
                  <a:pt x="244475" y="29656"/>
                  <a:pt x="237044" y="22225"/>
                  <a:pt x="227806" y="22225"/>
                </a:cubicBezTo>
                <a:cubicBezTo>
                  <a:pt x="218569" y="22225"/>
                  <a:pt x="211138" y="29656"/>
                  <a:pt x="211138" y="38894"/>
                </a:cubicBezTo>
                <a:close/>
              </a:path>
            </a:pathLst>
          </a:custGeom>
          <a:solidFill>
            <a:srgbClr val="D4853A"/>
          </a:solidFill>
          <a:ln/>
        </p:spPr>
      </p:sp>
      <p:sp>
        <p:nvSpPr>
          <p:cNvPr id="11" name="Text 9"/>
          <p:cNvSpPr/>
          <p:nvPr/>
        </p:nvSpPr>
        <p:spPr>
          <a:xfrm>
            <a:off x="9118600" y="2514600"/>
            <a:ext cx="3175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D485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Direct Data Entry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636000" y="2984500"/>
            <a:ext cx="6604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FFFFFF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Barcode, RFID, OMR, OCR, magnetic stripe, chip and PIN, QR scanner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62000" y="3937000"/>
            <a:ext cx="7112000" cy="1397000"/>
          </a:xfrm>
          <a:prstGeom prst="roundRect">
            <a:avLst>
              <a:gd name="adj" fmla="val 8000"/>
            </a:avLst>
          </a:prstGeom>
          <a:solidFill>
            <a:srgbClr val="FFFFFF">
              <a:alpha val="6275"/>
            </a:srgbClr>
          </a:solidFill>
          <a:ln w="12700">
            <a:solidFill>
              <a:srgbClr val="FFFFFF">
                <a:alpha val="1451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16000" y="4191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44450" y="22225"/>
                </a:moveTo>
                <a:cubicBezTo>
                  <a:pt x="19933" y="22225"/>
                  <a:pt x="0" y="42158"/>
                  <a:pt x="0" y="66675"/>
                </a:cubicBezTo>
                <a:lnTo>
                  <a:pt x="0" y="244475"/>
                </a:lnTo>
                <a:cubicBezTo>
                  <a:pt x="0" y="268992"/>
                  <a:pt x="19933" y="288925"/>
                  <a:pt x="44450" y="288925"/>
                </a:cubicBezTo>
                <a:lnTo>
                  <a:pt x="144463" y="288925"/>
                </a:lnTo>
                <a:lnTo>
                  <a:pt x="133350" y="322263"/>
                </a:lnTo>
                <a:lnTo>
                  <a:pt x="83344" y="322263"/>
                </a:lnTo>
                <a:cubicBezTo>
                  <a:pt x="74106" y="322263"/>
                  <a:pt x="66675" y="329694"/>
                  <a:pt x="66675" y="338931"/>
                </a:cubicBezTo>
                <a:cubicBezTo>
                  <a:pt x="66675" y="348169"/>
                  <a:pt x="74106" y="355600"/>
                  <a:pt x="83344" y="355600"/>
                </a:cubicBezTo>
                <a:lnTo>
                  <a:pt x="272256" y="355600"/>
                </a:lnTo>
                <a:cubicBezTo>
                  <a:pt x="281494" y="355600"/>
                  <a:pt x="288925" y="348169"/>
                  <a:pt x="288925" y="338931"/>
                </a:cubicBezTo>
                <a:cubicBezTo>
                  <a:pt x="288925" y="329694"/>
                  <a:pt x="281494" y="322263"/>
                  <a:pt x="272256" y="322263"/>
                </a:cubicBezTo>
                <a:lnTo>
                  <a:pt x="222250" y="322263"/>
                </a:lnTo>
                <a:lnTo>
                  <a:pt x="211138" y="288925"/>
                </a:lnTo>
                <a:lnTo>
                  <a:pt x="311150" y="288925"/>
                </a:lnTo>
                <a:cubicBezTo>
                  <a:pt x="335667" y="288925"/>
                  <a:pt x="355600" y="268992"/>
                  <a:pt x="355600" y="244475"/>
                </a:cubicBezTo>
                <a:lnTo>
                  <a:pt x="355600" y="66675"/>
                </a:lnTo>
                <a:cubicBezTo>
                  <a:pt x="355600" y="42158"/>
                  <a:pt x="335667" y="22225"/>
                  <a:pt x="311150" y="22225"/>
                </a:cubicBezTo>
                <a:lnTo>
                  <a:pt x="44450" y="22225"/>
                </a:lnTo>
                <a:close/>
                <a:moveTo>
                  <a:pt x="66675" y="66675"/>
                </a:moveTo>
                <a:lnTo>
                  <a:pt x="288925" y="66675"/>
                </a:lnTo>
                <a:cubicBezTo>
                  <a:pt x="301218" y="66675"/>
                  <a:pt x="311150" y="76607"/>
                  <a:pt x="311150" y="88900"/>
                </a:cubicBezTo>
                <a:lnTo>
                  <a:pt x="311150" y="200025"/>
                </a:lnTo>
                <a:cubicBezTo>
                  <a:pt x="311150" y="212318"/>
                  <a:pt x="301218" y="222250"/>
                  <a:pt x="288925" y="222250"/>
                </a:cubicBezTo>
                <a:lnTo>
                  <a:pt x="66675" y="222250"/>
                </a:lnTo>
                <a:cubicBezTo>
                  <a:pt x="54382" y="222250"/>
                  <a:pt x="44450" y="212318"/>
                  <a:pt x="44450" y="200025"/>
                </a:cubicBezTo>
                <a:lnTo>
                  <a:pt x="44450" y="88900"/>
                </a:lnTo>
                <a:cubicBezTo>
                  <a:pt x="44450" y="76607"/>
                  <a:pt x="54382" y="66675"/>
                  <a:pt x="66675" y="66675"/>
                </a:cubicBezTo>
                <a:close/>
              </a:path>
            </a:pathLst>
          </a:custGeom>
          <a:solidFill>
            <a:srgbClr val="D4853A"/>
          </a:solidFill>
          <a:ln/>
        </p:spPr>
      </p:sp>
      <p:sp>
        <p:nvSpPr>
          <p:cNvPr id="15" name="Text 13"/>
          <p:cNvSpPr/>
          <p:nvPr/>
        </p:nvSpPr>
        <p:spPr>
          <a:xfrm>
            <a:off x="1498600" y="4165600"/>
            <a:ext cx="254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D485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Output Devices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16000" y="4635500"/>
            <a:ext cx="6604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FFFFFF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Monitor, printer (laser, inkjet, dot matrix), speaker, projector, 3D printer, plotter, actuator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382000" y="3937000"/>
            <a:ext cx="7112000" cy="1397000"/>
          </a:xfrm>
          <a:prstGeom prst="roundRect">
            <a:avLst>
              <a:gd name="adj" fmla="val 8000"/>
            </a:avLst>
          </a:prstGeom>
          <a:solidFill>
            <a:srgbClr val="FFFFFF">
              <a:alpha val="6275"/>
            </a:srgbClr>
          </a:solidFill>
          <a:ln w="12700">
            <a:solidFill>
              <a:srgbClr val="FFFFFF">
                <a:alpha val="1451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658225" y="4191000"/>
            <a:ext cx="311150" cy="355600"/>
          </a:xfrm>
          <a:custGeom>
            <a:avLst/>
            <a:gdLst/>
            <a:ahLst/>
            <a:cxnLst/>
            <a:rect l="l" t="t" r="r" b="b"/>
            <a:pathLst>
              <a:path w="311150" h="355600">
                <a:moveTo>
                  <a:pt x="44450" y="22225"/>
                </a:moveTo>
                <a:cubicBezTo>
                  <a:pt x="19933" y="22225"/>
                  <a:pt x="0" y="42158"/>
                  <a:pt x="0" y="66675"/>
                </a:cubicBezTo>
                <a:lnTo>
                  <a:pt x="0" y="180648"/>
                </a:lnTo>
                <a:cubicBezTo>
                  <a:pt x="12571" y="171827"/>
                  <a:pt x="27920" y="166688"/>
                  <a:pt x="44450" y="166688"/>
                </a:cubicBezTo>
                <a:lnTo>
                  <a:pt x="266700" y="166688"/>
                </a:lnTo>
                <a:cubicBezTo>
                  <a:pt x="283230" y="166688"/>
                  <a:pt x="298579" y="171827"/>
                  <a:pt x="311150" y="180648"/>
                </a:cubicBezTo>
                <a:lnTo>
                  <a:pt x="311150" y="66675"/>
                </a:lnTo>
                <a:cubicBezTo>
                  <a:pt x="311150" y="42158"/>
                  <a:pt x="291217" y="22225"/>
                  <a:pt x="266700" y="22225"/>
                </a:cubicBezTo>
                <a:lnTo>
                  <a:pt x="44450" y="22225"/>
                </a:lnTo>
                <a:close/>
                <a:moveTo>
                  <a:pt x="311150" y="244475"/>
                </a:moveTo>
                <a:cubicBezTo>
                  <a:pt x="311150" y="219958"/>
                  <a:pt x="291217" y="200025"/>
                  <a:pt x="266700" y="200025"/>
                </a:cubicBezTo>
                <a:lnTo>
                  <a:pt x="44450" y="200025"/>
                </a:lnTo>
                <a:cubicBezTo>
                  <a:pt x="19933" y="200025"/>
                  <a:pt x="0" y="219958"/>
                  <a:pt x="0" y="244475"/>
                </a:cubicBezTo>
                <a:lnTo>
                  <a:pt x="0" y="288925"/>
                </a:lnTo>
                <a:cubicBezTo>
                  <a:pt x="0" y="313442"/>
                  <a:pt x="19933" y="333375"/>
                  <a:pt x="44450" y="333375"/>
                </a:cubicBezTo>
                <a:lnTo>
                  <a:pt x="266700" y="333375"/>
                </a:lnTo>
                <a:cubicBezTo>
                  <a:pt x="291217" y="333375"/>
                  <a:pt x="311150" y="313442"/>
                  <a:pt x="311150" y="288925"/>
                </a:cubicBezTo>
                <a:lnTo>
                  <a:pt x="311150" y="244475"/>
                </a:lnTo>
                <a:close/>
                <a:moveTo>
                  <a:pt x="155575" y="266700"/>
                </a:moveTo>
                <a:cubicBezTo>
                  <a:pt x="155575" y="254434"/>
                  <a:pt x="165534" y="244475"/>
                  <a:pt x="177800" y="244475"/>
                </a:cubicBezTo>
                <a:cubicBezTo>
                  <a:pt x="190066" y="244475"/>
                  <a:pt x="200025" y="254434"/>
                  <a:pt x="200025" y="266700"/>
                </a:cubicBezTo>
                <a:cubicBezTo>
                  <a:pt x="200025" y="278966"/>
                  <a:pt x="190066" y="288925"/>
                  <a:pt x="177800" y="288925"/>
                </a:cubicBezTo>
                <a:cubicBezTo>
                  <a:pt x="165534" y="288925"/>
                  <a:pt x="155575" y="278966"/>
                  <a:pt x="155575" y="266700"/>
                </a:cubicBezTo>
                <a:close/>
                <a:moveTo>
                  <a:pt x="244475" y="244475"/>
                </a:moveTo>
                <a:cubicBezTo>
                  <a:pt x="256741" y="244475"/>
                  <a:pt x="266700" y="254434"/>
                  <a:pt x="266700" y="266700"/>
                </a:cubicBezTo>
                <a:cubicBezTo>
                  <a:pt x="266700" y="278966"/>
                  <a:pt x="256741" y="288925"/>
                  <a:pt x="244475" y="288925"/>
                </a:cubicBezTo>
                <a:cubicBezTo>
                  <a:pt x="232209" y="288925"/>
                  <a:pt x="222250" y="278966"/>
                  <a:pt x="222250" y="266700"/>
                </a:cubicBezTo>
                <a:cubicBezTo>
                  <a:pt x="222250" y="254434"/>
                  <a:pt x="232209" y="244475"/>
                  <a:pt x="244475" y="244475"/>
                </a:cubicBezTo>
                <a:close/>
              </a:path>
            </a:pathLst>
          </a:custGeom>
          <a:solidFill>
            <a:srgbClr val="D4853A"/>
          </a:solidFill>
          <a:ln/>
        </p:spPr>
      </p:sp>
      <p:sp>
        <p:nvSpPr>
          <p:cNvPr id="19" name="Text 17"/>
          <p:cNvSpPr/>
          <p:nvPr/>
        </p:nvSpPr>
        <p:spPr>
          <a:xfrm>
            <a:off x="9118600" y="4165600"/>
            <a:ext cx="254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D485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Storage Devices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636000" y="4635500"/>
            <a:ext cx="6604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FFFFFF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HDD, SSD, optical discs (CD, DVD, Blu-ray), USB flash drives, magnetic tape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2032000" y="5715000"/>
            <a:ext cx="12192000" cy="1016000"/>
          </a:xfrm>
          <a:prstGeom prst="roundRect">
            <a:avLst>
              <a:gd name="adj" fmla="val 8000"/>
            </a:avLst>
          </a:prstGeom>
          <a:solidFill>
            <a:srgbClr val="D4853A">
              <a:alpha val="14510"/>
            </a:srgbClr>
          </a:solidFill>
          <a:ln w="12700">
            <a:solidFill>
              <a:srgbClr val="D4853A">
                <a:alpha val="37647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286000" y="5816600"/>
            <a:ext cx="116840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Each device has advantages and disadvantages —</a:t>
            </a:r>
            <a:endParaRPr lang="en-US" sz="1600" dirty="0"/>
          </a:p>
          <a:p>
            <a:pPr algn="ctr">
              <a:lnSpc>
                <a:spcPct val="15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choose the right tool for the task!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858000" y="7112000"/>
            <a:ext cx="2540000" cy="38100"/>
          </a:xfrm>
          <a:prstGeom prst="rect">
            <a:avLst/>
          </a:prstGeom>
          <a:solidFill>
            <a:srgbClr val="D4853A"/>
          </a:solidFill>
          <a:ln/>
        </p:spPr>
      </p:sp>
      <p:sp>
        <p:nvSpPr>
          <p:cNvPr id="24" name="Text 22"/>
          <p:cNvSpPr/>
          <p:nvPr/>
        </p:nvSpPr>
        <p:spPr>
          <a:xfrm>
            <a:off x="3810000" y="7366000"/>
            <a:ext cx="863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400" dirty="0">
                <a:solidFill>
                  <a:srgbClr val="FFFFFF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Thank You for Learning!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445000" y="8128000"/>
            <a:ext cx="736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4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Week 3 — Lecture 5 &amp; 6 | Applications of ICT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Applications of ICT – Input, Output, and Storage Devices</dc:title>
  <dc:subject>Applications of ICT – Input, Output, and Storage Devices</dc:subject>
  <dc:creator>Kimi</dc:creator>
  <cp:lastModifiedBy>Kimi</cp:lastModifiedBy>
  <cp:revision>1</cp:revision>
  <dcterms:created xsi:type="dcterms:W3CDTF">2026-05-03T14:09:43Z</dcterms:created>
  <dcterms:modified xsi:type="dcterms:W3CDTF">2026-05-03T14:09:43Z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{"Label":"Applications of ICT – Input, Output, and Storage Devices","ContentProducer":"001191110108MACG2KBH8F10000","ProduceID":"19dee28e-f272-8769-8000-00004e636071","ReservedCode1":"","ContentPropagator":"001191110108MACG2KBH8F20000","PropagateID":"19dee28e-f272-8769-8000-00004e636071","ReservedCode2":""}</vt:lpwstr>
  </property>
</Properties>
</file>