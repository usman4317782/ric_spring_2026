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6256000" cy="9144000"/>
  <p:notesSz cx="9144000" cy="16256000"/>
  <p:embeddedFontLst>
    <p:embeddedFont>
      <p:font typeface="Liter" charset="-122" pitchFamily="34"/>
      <p:regular r:id="rId37"/>
    </p:embeddedFont>
    <p:embeddedFont>
      <p:font typeface="Quattrocento Sans" charset="-122" pitchFamily="34"/>
      <p:regular r:id="rId3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Relationship Id="rId37" Type="http://schemas.openxmlformats.org/officeDocument/2006/relationships/font" Target="fonts/font1.fntdata"/><Relationship Id="rId3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43l4uytbpee4/mnt/agents/output/sql-joins/images/3_Abstract_Digital_Network_Grid_With.png">    </p:cNvPr>
          <p:cNvPicPr>
            <a:picLocks noChangeAspect="1"/>
          </p:cNvPicPr>
          <p:nvPr/>
        </p:nvPicPr>
        <p:blipFill>
          <a:blip r:embed="rId1"/>
          <a:srcRect l="1481" r="148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D4D">
                  <a:alpha val="91000"/>
                </a:srgbClr>
              </a:gs>
              <a:gs pos="60000">
                <a:srgbClr val="1B4D4D">
                  <a:alpha val="82000"/>
                </a:srgbClr>
              </a:gs>
              <a:gs pos="100000">
                <a:srgbClr val="1B4D4D">
                  <a:alpha val="69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762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DBMS LECTURE SERIES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2667000"/>
            <a:ext cx="11430000" cy="184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5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Multi-table Select</a:t>
            </a:r>
            <a:endParaRPr lang="en-US" sz="4000" dirty="0"/>
          </a:p>
          <a:p>
            <a:pPr>
              <a:lnSpc>
                <a:spcPct val="115000"/>
              </a:lnSpc>
            </a:pPr>
            <a:r>
              <a:rPr lang="en-US" sz="5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&amp; Joins in SQL</a:t>
            </a:r>
            <a:endParaRPr lang="en-US" sz="4000" dirty="0"/>
          </a:p>
        </p:txBody>
      </p:sp>
      <p:sp>
        <p:nvSpPr>
          <p:cNvPr id="6" name="Shape 3"/>
          <p:cNvSpPr/>
          <p:nvPr/>
        </p:nvSpPr>
        <p:spPr>
          <a:xfrm>
            <a:off x="762000" y="4572000"/>
            <a:ext cx="1016000" cy="50800"/>
          </a:xfrm>
          <a:prstGeom prst="rect">
            <a:avLst/>
          </a:prstGeom>
          <a:solidFill>
            <a:srgbClr val="C97B3A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4889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TOPICS COVERED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62000" y="5270500"/>
            <a:ext cx="6350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Multi-table Select (Cross Product)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Inner Join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▶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Natural Join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762000" y="673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PREPARED FOR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62000" y="7112000"/>
            <a:ext cx="635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dirty="0">
                <a:solidFill>
                  <a:srgbClr val="FFFFFF">
                    <a:alpha val="8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Database Management Systems (DBMS)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7B3A"/>
          </a:solidFill>
          <a:ln/>
        </p:spPr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After this lecture, students will be able to: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68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2235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66675"/>
                </a:moveTo>
                <a:lnTo>
                  <a:pt x="266700" y="111125"/>
                </a:lnTo>
                <a:lnTo>
                  <a:pt x="222250" y="111125"/>
                </a:lnTo>
                <a:lnTo>
                  <a:pt x="222250" y="66675"/>
                </a:lnTo>
                <a:lnTo>
                  <a:pt x="266700" y="66675"/>
                </a:lnTo>
                <a:close/>
                <a:moveTo>
                  <a:pt x="266700" y="155575"/>
                </a:moveTo>
                <a:lnTo>
                  <a:pt x="266700" y="200025"/>
                </a:lnTo>
                <a:lnTo>
                  <a:pt x="222250" y="200025"/>
                </a:lnTo>
                <a:lnTo>
                  <a:pt x="222250" y="155575"/>
                </a:lnTo>
                <a:lnTo>
                  <a:pt x="266700" y="155575"/>
                </a:lnTo>
                <a:close/>
                <a:moveTo>
                  <a:pt x="266700" y="244475"/>
                </a:moveTo>
                <a:lnTo>
                  <a:pt x="266700" y="288925"/>
                </a:lnTo>
                <a:lnTo>
                  <a:pt x="222250" y="288925"/>
                </a:lnTo>
                <a:lnTo>
                  <a:pt x="222250" y="244475"/>
                </a:lnTo>
                <a:lnTo>
                  <a:pt x="266700" y="244475"/>
                </a:lnTo>
                <a:close/>
                <a:moveTo>
                  <a:pt x="177800" y="200025"/>
                </a:moveTo>
                <a:lnTo>
                  <a:pt x="133350" y="200025"/>
                </a:lnTo>
                <a:lnTo>
                  <a:pt x="133350" y="155575"/>
                </a:lnTo>
                <a:lnTo>
                  <a:pt x="177800" y="155575"/>
                </a:lnTo>
                <a:lnTo>
                  <a:pt x="177800" y="200025"/>
                </a:lnTo>
                <a:close/>
                <a:moveTo>
                  <a:pt x="133350" y="244475"/>
                </a:moveTo>
                <a:lnTo>
                  <a:pt x="177800" y="244475"/>
                </a:lnTo>
                <a:lnTo>
                  <a:pt x="177800" y="288925"/>
                </a:lnTo>
                <a:lnTo>
                  <a:pt x="133350" y="288925"/>
                </a:lnTo>
                <a:lnTo>
                  <a:pt x="133350" y="244475"/>
                </a:lnTo>
                <a:close/>
                <a:moveTo>
                  <a:pt x="88900" y="200025"/>
                </a:moveTo>
                <a:lnTo>
                  <a:pt x="44450" y="200025"/>
                </a:lnTo>
                <a:lnTo>
                  <a:pt x="44450" y="155575"/>
                </a:lnTo>
                <a:lnTo>
                  <a:pt x="88900" y="155575"/>
                </a:lnTo>
                <a:lnTo>
                  <a:pt x="88900" y="200025"/>
                </a:lnTo>
                <a:close/>
                <a:moveTo>
                  <a:pt x="44450" y="244475"/>
                </a:moveTo>
                <a:lnTo>
                  <a:pt x="88900" y="244475"/>
                </a:lnTo>
                <a:lnTo>
                  <a:pt x="88900" y="288925"/>
                </a:lnTo>
                <a:lnTo>
                  <a:pt x="44450" y="288925"/>
                </a:lnTo>
                <a:lnTo>
                  <a:pt x="44450" y="244475"/>
                </a:lnTo>
                <a:close/>
                <a:moveTo>
                  <a:pt x="44450" y="111125"/>
                </a:moveTo>
                <a:lnTo>
                  <a:pt x="44450" y="66675"/>
                </a:lnTo>
                <a:lnTo>
                  <a:pt x="88900" y="66675"/>
                </a:lnTo>
                <a:lnTo>
                  <a:pt x="88900" y="111125"/>
                </a:lnTo>
                <a:lnTo>
                  <a:pt x="44450" y="111125"/>
                </a:lnTo>
                <a:close/>
                <a:moveTo>
                  <a:pt x="133350" y="111125"/>
                </a:moveTo>
                <a:lnTo>
                  <a:pt x="133350" y="66675"/>
                </a:lnTo>
                <a:lnTo>
                  <a:pt x="177800" y="66675"/>
                </a:lnTo>
                <a:lnTo>
                  <a:pt x="177800" y="111125"/>
                </a:lnTo>
                <a:lnTo>
                  <a:pt x="133350" y="111125"/>
                </a:lnTo>
                <a:close/>
                <a:moveTo>
                  <a:pt x="44450" y="22225"/>
                </a:moveTo>
                <a:cubicBezTo>
                  <a:pt x="19933" y="22225"/>
                  <a:pt x="0" y="42158"/>
                  <a:pt x="0" y="66675"/>
                </a:cubicBezTo>
                <a:lnTo>
                  <a:pt x="0" y="288925"/>
                </a:lnTo>
                <a:cubicBezTo>
                  <a:pt x="0" y="313442"/>
                  <a:pt x="19933" y="333375"/>
                  <a:pt x="44450" y="333375"/>
                </a:cubicBezTo>
                <a:lnTo>
                  <a:pt x="266700" y="333375"/>
                </a:lnTo>
                <a:cubicBezTo>
                  <a:pt x="291217" y="333375"/>
                  <a:pt x="311150" y="313442"/>
                  <a:pt x="311150" y="288925"/>
                </a:cubicBezTo>
                <a:lnTo>
                  <a:pt x="311150" y="66675"/>
                </a:lnTo>
                <a:cubicBezTo>
                  <a:pt x="311150" y="42158"/>
                  <a:pt x="291217" y="22225"/>
                  <a:pt x="266700" y="22225"/>
                </a:cubicBezTo>
                <a:lnTo>
                  <a:pt x="44450" y="22225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1524000" y="1968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multi-table select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88000" y="1968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9" name="Shape 7"/>
          <p:cNvSpPr/>
          <p:nvPr/>
        </p:nvSpPr>
        <p:spPr>
          <a:xfrm>
            <a:off x="5886450" y="22352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38269" y="50979"/>
                </a:moveTo>
                <a:cubicBezTo>
                  <a:pt x="29587" y="42297"/>
                  <a:pt x="15488" y="42297"/>
                  <a:pt x="6806" y="50979"/>
                </a:cubicBezTo>
                <a:cubicBezTo>
                  <a:pt x="-1875" y="59660"/>
                  <a:pt x="-1875" y="73759"/>
                  <a:pt x="6806" y="82441"/>
                </a:cubicBezTo>
                <a:lnTo>
                  <a:pt x="102235" y="177800"/>
                </a:lnTo>
                <a:lnTo>
                  <a:pt x="6876" y="273229"/>
                </a:lnTo>
                <a:cubicBezTo>
                  <a:pt x="-1806" y="281910"/>
                  <a:pt x="-1806" y="296009"/>
                  <a:pt x="6876" y="304691"/>
                </a:cubicBezTo>
                <a:cubicBezTo>
                  <a:pt x="15558" y="313373"/>
                  <a:pt x="29656" y="313373"/>
                  <a:pt x="38338" y="304691"/>
                </a:cubicBezTo>
                <a:lnTo>
                  <a:pt x="133697" y="209262"/>
                </a:lnTo>
                <a:lnTo>
                  <a:pt x="229126" y="304621"/>
                </a:lnTo>
                <a:cubicBezTo>
                  <a:pt x="237808" y="313303"/>
                  <a:pt x="251906" y="313303"/>
                  <a:pt x="260588" y="304621"/>
                </a:cubicBezTo>
                <a:cubicBezTo>
                  <a:pt x="269270" y="295940"/>
                  <a:pt x="269270" y="281841"/>
                  <a:pt x="260588" y="273159"/>
                </a:cubicBezTo>
                <a:lnTo>
                  <a:pt x="165160" y="177800"/>
                </a:lnTo>
                <a:lnTo>
                  <a:pt x="260519" y="82371"/>
                </a:lnTo>
                <a:cubicBezTo>
                  <a:pt x="269200" y="73690"/>
                  <a:pt x="269200" y="59591"/>
                  <a:pt x="260519" y="50909"/>
                </a:cubicBezTo>
                <a:cubicBezTo>
                  <a:pt x="251837" y="42228"/>
                  <a:pt x="237738" y="42228"/>
                  <a:pt x="229056" y="50909"/>
                </a:cubicBezTo>
                <a:lnTo>
                  <a:pt x="133697" y="146338"/>
                </a:lnTo>
                <a:lnTo>
                  <a:pt x="38269" y="50979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0" name="Text 8"/>
          <p:cNvSpPr/>
          <p:nvPr/>
        </p:nvSpPr>
        <p:spPr>
          <a:xfrm>
            <a:off x="6350000" y="1968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cross product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414000" y="1968500"/>
            <a:ext cx="5080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45775" y="2235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11176000" y="1968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Learn joins in SQL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111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5" name="Shape 13"/>
          <p:cNvSpPr/>
          <p:nvPr/>
        </p:nvSpPr>
        <p:spPr>
          <a:xfrm>
            <a:off x="1016000" y="3378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/>
            </a:pathLst>
          </a:custGeom>
          <a:solidFill>
            <a:srgbClr val="1B4D4D"/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111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Inner Join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88000" y="3111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5864225" y="3378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35307" y="-6876"/>
                </a:moveTo>
                <a:cubicBezTo>
                  <a:pt x="243572" y="-903"/>
                  <a:pt x="246628" y="9932"/>
                  <a:pt x="242878" y="19377"/>
                </a:cubicBezTo>
                <a:lnTo>
                  <a:pt x="188426" y="155575"/>
                </a:lnTo>
                <a:lnTo>
                  <a:pt x="288925" y="155575"/>
                </a:lnTo>
                <a:cubicBezTo>
                  <a:pt x="298301" y="155575"/>
                  <a:pt x="306636" y="161409"/>
                  <a:pt x="309830" y="170230"/>
                </a:cubicBezTo>
                <a:cubicBezTo>
                  <a:pt x="313025" y="179050"/>
                  <a:pt x="310317" y="188913"/>
                  <a:pt x="303163" y="194885"/>
                </a:cubicBezTo>
                <a:lnTo>
                  <a:pt x="103138" y="361573"/>
                </a:lnTo>
                <a:cubicBezTo>
                  <a:pt x="95290" y="368102"/>
                  <a:pt x="84108" y="368449"/>
                  <a:pt x="75843" y="362476"/>
                </a:cubicBezTo>
                <a:cubicBezTo>
                  <a:pt x="67578" y="356503"/>
                  <a:pt x="64522" y="345668"/>
                  <a:pt x="68272" y="336223"/>
                </a:cubicBezTo>
                <a:lnTo>
                  <a:pt x="122724" y="200025"/>
                </a:lnTo>
                <a:lnTo>
                  <a:pt x="22225" y="200025"/>
                </a:lnTo>
                <a:cubicBezTo>
                  <a:pt x="12849" y="200025"/>
                  <a:pt x="4514" y="194191"/>
                  <a:pt x="1320" y="185370"/>
                </a:cubicBezTo>
                <a:cubicBezTo>
                  <a:pt x="-1875" y="176550"/>
                  <a:pt x="833" y="166688"/>
                  <a:pt x="7987" y="160715"/>
                </a:cubicBezTo>
                <a:lnTo>
                  <a:pt x="208012" y="-5973"/>
                </a:lnTo>
                <a:cubicBezTo>
                  <a:pt x="215860" y="-12502"/>
                  <a:pt x="227042" y="-12849"/>
                  <a:pt x="235307" y="-6876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6350000" y="3111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Natural Join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414000" y="3111500"/>
            <a:ext cx="5080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645775" y="33782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50587" y="833"/>
                </a:moveTo>
                <a:cubicBezTo>
                  <a:pt x="238780" y="-2570"/>
                  <a:pt x="226487" y="4306"/>
                  <a:pt x="223083" y="16113"/>
                </a:cubicBezTo>
                <a:lnTo>
                  <a:pt x="134183" y="327263"/>
                </a:lnTo>
                <a:cubicBezTo>
                  <a:pt x="130780" y="339070"/>
                  <a:pt x="137656" y="351363"/>
                  <a:pt x="149463" y="354767"/>
                </a:cubicBezTo>
                <a:cubicBezTo>
                  <a:pt x="161270" y="358170"/>
                  <a:pt x="173563" y="351294"/>
                  <a:pt x="176967" y="339487"/>
                </a:cubicBezTo>
                <a:lnTo>
                  <a:pt x="265867" y="28337"/>
                </a:lnTo>
                <a:cubicBezTo>
                  <a:pt x="269270" y="16530"/>
                  <a:pt x="262394" y="4237"/>
                  <a:pt x="250587" y="833"/>
                </a:cubicBezTo>
                <a:close/>
                <a:moveTo>
                  <a:pt x="295454" y="95359"/>
                </a:moveTo>
                <a:cubicBezTo>
                  <a:pt x="286772" y="104041"/>
                  <a:pt x="286772" y="118140"/>
                  <a:pt x="295454" y="126821"/>
                </a:cubicBezTo>
                <a:lnTo>
                  <a:pt x="346432" y="177800"/>
                </a:lnTo>
                <a:lnTo>
                  <a:pt x="295454" y="228779"/>
                </a:lnTo>
                <a:cubicBezTo>
                  <a:pt x="286772" y="237460"/>
                  <a:pt x="286772" y="251559"/>
                  <a:pt x="295454" y="260241"/>
                </a:cubicBezTo>
                <a:cubicBezTo>
                  <a:pt x="304135" y="268922"/>
                  <a:pt x="318234" y="268922"/>
                  <a:pt x="326916" y="260241"/>
                </a:cubicBezTo>
                <a:lnTo>
                  <a:pt x="393591" y="193566"/>
                </a:lnTo>
                <a:cubicBezTo>
                  <a:pt x="402273" y="184884"/>
                  <a:pt x="402273" y="170785"/>
                  <a:pt x="393591" y="162104"/>
                </a:cubicBezTo>
                <a:lnTo>
                  <a:pt x="326916" y="95429"/>
                </a:lnTo>
                <a:cubicBezTo>
                  <a:pt x="318234" y="86747"/>
                  <a:pt x="304135" y="86747"/>
                  <a:pt x="295454" y="95429"/>
                </a:cubicBezTo>
                <a:close/>
                <a:moveTo>
                  <a:pt x="104666" y="95359"/>
                </a:moveTo>
                <a:cubicBezTo>
                  <a:pt x="95984" y="86678"/>
                  <a:pt x="81885" y="86678"/>
                  <a:pt x="73204" y="95359"/>
                </a:cubicBezTo>
                <a:lnTo>
                  <a:pt x="6529" y="162034"/>
                </a:lnTo>
                <a:cubicBezTo>
                  <a:pt x="-2153" y="170716"/>
                  <a:pt x="-2153" y="184815"/>
                  <a:pt x="6529" y="193496"/>
                </a:cubicBezTo>
                <a:lnTo>
                  <a:pt x="73204" y="260171"/>
                </a:lnTo>
                <a:cubicBezTo>
                  <a:pt x="81885" y="268853"/>
                  <a:pt x="95984" y="268853"/>
                  <a:pt x="104666" y="260171"/>
                </a:cubicBezTo>
                <a:cubicBezTo>
                  <a:pt x="113348" y="251490"/>
                  <a:pt x="113348" y="237391"/>
                  <a:pt x="104666" y="228709"/>
                </a:cubicBezTo>
                <a:lnTo>
                  <a:pt x="53687" y="177800"/>
                </a:lnTo>
                <a:lnTo>
                  <a:pt x="104596" y="126821"/>
                </a:lnTo>
                <a:cubicBezTo>
                  <a:pt x="113278" y="118140"/>
                  <a:pt x="113278" y="104041"/>
                  <a:pt x="104596" y="95359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11176000" y="3111500"/>
            <a:ext cx="4064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 SQL queries using joins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762000" y="4254500"/>
            <a:ext cx="457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4" name="Shape 22"/>
          <p:cNvSpPr/>
          <p:nvPr/>
        </p:nvSpPr>
        <p:spPr>
          <a:xfrm>
            <a:off x="1038225" y="45212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311150" y="142935"/>
                </a:moveTo>
                <a:cubicBezTo>
                  <a:pt x="300871" y="149741"/>
                  <a:pt x="289064" y="155228"/>
                  <a:pt x="276771" y="159603"/>
                </a:cubicBezTo>
                <a:cubicBezTo>
                  <a:pt x="244128" y="171271"/>
                  <a:pt x="201275" y="177800"/>
                  <a:pt x="155575" y="177800"/>
                </a:cubicBezTo>
                <a:cubicBezTo>
                  <a:pt x="109875" y="177800"/>
                  <a:pt x="66953" y="171202"/>
                  <a:pt x="34379" y="159603"/>
                </a:cubicBezTo>
                <a:cubicBezTo>
                  <a:pt x="22156" y="155228"/>
                  <a:pt x="10279" y="149741"/>
                  <a:pt x="0" y="142935"/>
                </a:cubicBezTo>
                <a:lnTo>
                  <a:pt x="0" y="200025"/>
                </a:lnTo>
                <a:cubicBezTo>
                  <a:pt x="0" y="230723"/>
                  <a:pt x="69661" y="255587"/>
                  <a:pt x="155575" y="255587"/>
                </a:cubicBezTo>
                <a:cubicBezTo>
                  <a:pt x="241489" y="255587"/>
                  <a:pt x="311150" y="230723"/>
                  <a:pt x="311150" y="200025"/>
                </a:cubicBezTo>
                <a:lnTo>
                  <a:pt x="311150" y="142935"/>
                </a:lnTo>
                <a:close/>
                <a:moveTo>
                  <a:pt x="311150" y="88900"/>
                </a:moveTo>
                <a:lnTo>
                  <a:pt x="311150" y="55563"/>
                </a:lnTo>
                <a:cubicBezTo>
                  <a:pt x="311150" y="24864"/>
                  <a:pt x="241489" y="0"/>
                  <a:pt x="155575" y="0"/>
                </a:cubicBezTo>
                <a:cubicBezTo>
                  <a:pt x="69661" y="0"/>
                  <a:pt x="0" y="24864"/>
                  <a:pt x="0" y="55563"/>
                </a:cubicBezTo>
                <a:lnTo>
                  <a:pt x="0" y="88900"/>
                </a:lnTo>
                <a:cubicBezTo>
                  <a:pt x="0" y="119598"/>
                  <a:pt x="69661" y="144463"/>
                  <a:pt x="155575" y="144463"/>
                </a:cubicBezTo>
                <a:cubicBezTo>
                  <a:pt x="241489" y="144463"/>
                  <a:pt x="311150" y="119598"/>
                  <a:pt x="311150" y="88900"/>
                </a:cubicBezTo>
                <a:close/>
                <a:moveTo>
                  <a:pt x="276771" y="270728"/>
                </a:moveTo>
                <a:cubicBezTo>
                  <a:pt x="244197" y="282327"/>
                  <a:pt x="201345" y="288925"/>
                  <a:pt x="155575" y="288925"/>
                </a:cubicBezTo>
                <a:cubicBezTo>
                  <a:pt x="109805" y="288925"/>
                  <a:pt x="66953" y="282327"/>
                  <a:pt x="34379" y="270728"/>
                </a:cubicBezTo>
                <a:cubicBezTo>
                  <a:pt x="22156" y="266353"/>
                  <a:pt x="10279" y="260866"/>
                  <a:pt x="0" y="254060"/>
                </a:cubicBezTo>
                <a:lnTo>
                  <a:pt x="0" y="300038"/>
                </a:lnTo>
                <a:cubicBezTo>
                  <a:pt x="0" y="330736"/>
                  <a:pt x="69661" y="355600"/>
                  <a:pt x="155575" y="355600"/>
                </a:cubicBezTo>
                <a:cubicBezTo>
                  <a:pt x="241489" y="355600"/>
                  <a:pt x="311150" y="330736"/>
                  <a:pt x="311150" y="300038"/>
                </a:cubicBezTo>
                <a:lnTo>
                  <a:pt x="311150" y="254060"/>
                </a:lnTo>
                <a:cubicBezTo>
                  <a:pt x="300871" y="260866"/>
                  <a:pt x="289064" y="266353"/>
                  <a:pt x="276771" y="270728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1524000" y="4254500"/>
            <a:ext cx="355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real life database connections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is Multi-table Select?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11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87500"/>
            <a:ext cx="660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"Getting data from more than one table together."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921000"/>
            <a:ext cx="381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do we need it?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429000"/>
            <a:ext cx="7112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real databases, information is divided into multiple tables to avoid redundancy and maintain data integrity.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445000"/>
            <a:ext cx="508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000" b="1" dirty="0">
                <a:solidFill>
                  <a:srgbClr val="1B4D4D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Real Life Example: School DB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762000" y="50165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1552575" y="5181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215473" y="-11609"/>
                </a:moveTo>
                <a:cubicBezTo>
                  <a:pt x="205294" y="-13662"/>
                  <a:pt x="194846" y="-13662"/>
                  <a:pt x="184666" y="-11609"/>
                </a:cubicBezTo>
                <a:lnTo>
                  <a:pt x="17234" y="21878"/>
                </a:lnTo>
                <a:cubicBezTo>
                  <a:pt x="7233" y="23842"/>
                  <a:pt x="0" y="32683"/>
                  <a:pt x="0" y="42863"/>
                </a:cubicBezTo>
                <a:cubicBezTo>
                  <a:pt x="0" y="52060"/>
                  <a:pt x="5804" y="60097"/>
                  <a:pt x="14288" y="63044"/>
                </a:cubicBezTo>
                <a:lnTo>
                  <a:pt x="14288" y="128588"/>
                </a:lnTo>
                <a:lnTo>
                  <a:pt x="268" y="198775"/>
                </a:lnTo>
                <a:cubicBezTo>
                  <a:pt x="89" y="199579"/>
                  <a:pt x="0" y="200471"/>
                  <a:pt x="0" y="201364"/>
                </a:cubicBezTo>
                <a:cubicBezTo>
                  <a:pt x="0" y="208508"/>
                  <a:pt x="5804" y="214402"/>
                  <a:pt x="13037" y="214402"/>
                </a:cubicBezTo>
                <a:lnTo>
                  <a:pt x="44202" y="214402"/>
                </a:lnTo>
                <a:cubicBezTo>
                  <a:pt x="51346" y="214402"/>
                  <a:pt x="57239" y="208598"/>
                  <a:pt x="57239" y="201364"/>
                </a:cubicBezTo>
                <a:cubicBezTo>
                  <a:pt x="57239" y="200471"/>
                  <a:pt x="57150" y="199668"/>
                  <a:pt x="56971" y="198775"/>
                </a:cubicBezTo>
                <a:lnTo>
                  <a:pt x="42863" y="128588"/>
                </a:lnTo>
                <a:lnTo>
                  <a:pt x="42863" y="69026"/>
                </a:lnTo>
                <a:lnTo>
                  <a:pt x="85725" y="77599"/>
                </a:lnTo>
                <a:lnTo>
                  <a:pt x="85725" y="128588"/>
                </a:lnTo>
                <a:cubicBezTo>
                  <a:pt x="85725" y="191720"/>
                  <a:pt x="136892" y="242888"/>
                  <a:pt x="200025" y="242888"/>
                </a:cubicBezTo>
                <a:cubicBezTo>
                  <a:pt x="263158" y="242888"/>
                  <a:pt x="314325" y="191720"/>
                  <a:pt x="314325" y="128588"/>
                </a:cubicBezTo>
                <a:lnTo>
                  <a:pt x="314325" y="77599"/>
                </a:lnTo>
                <a:lnTo>
                  <a:pt x="382816" y="63937"/>
                </a:lnTo>
                <a:cubicBezTo>
                  <a:pt x="392817" y="61883"/>
                  <a:pt x="400050" y="53042"/>
                  <a:pt x="400050" y="42863"/>
                </a:cubicBezTo>
                <a:cubicBezTo>
                  <a:pt x="400050" y="32683"/>
                  <a:pt x="392817" y="23842"/>
                  <a:pt x="382816" y="21878"/>
                </a:cubicBezTo>
                <a:lnTo>
                  <a:pt x="215473" y="-11609"/>
                </a:lnTo>
                <a:close/>
                <a:moveTo>
                  <a:pt x="200025" y="200025"/>
                </a:moveTo>
                <a:cubicBezTo>
                  <a:pt x="160556" y="200025"/>
                  <a:pt x="128588" y="168057"/>
                  <a:pt x="128588" y="128588"/>
                </a:cubicBezTo>
                <a:lnTo>
                  <a:pt x="271463" y="128588"/>
                </a:lnTo>
                <a:cubicBezTo>
                  <a:pt x="271463" y="168057"/>
                  <a:pt x="239494" y="200025"/>
                  <a:pt x="200025" y="200025"/>
                </a:cubicBezTo>
                <a:close/>
                <a:moveTo>
                  <a:pt x="107246" y="285839"/>
                </a:moveTo>
                <a:cubicBezTo>
                  <a:pt x="52417" y="311021"/>
                  <a:pt x="14288" y="366385"/>
                  <a:pt x="14288" y="430679"/>
                </a:cubicBezTo>
                <a:cubicBezTo>
                  <a:pt x="14288" y="445324"/>
                  <a:pt x="26164" y="457200"/>
                  <a:pt x="40809" y="457200"/>
                </a:cubicBezTo>
                <a:lnTo>
                  <a:pt x="178594" y="457200"/>
                </a:lnTo>
                <a:lnTo>
                  <a:pt x="178594" y="326827"/>
                </a:lnTo>
                <a:lnTo>
                  <a:pt x="127337" y="288429"/>
                </a:lnTo>
                <a:cubicBezTo>
                  <a:pt x="121533" y="284053"/>
                  <a:pt x="113764" y="282893"/>
                  <a:pt x="107156" y="285929"/>
                </a:cubicBezTo>
                <a:close/>
                <a:moveTo>
                  <a:pt x="221456" y="457200"/>
                </a:moveTo>
                <a:lnTo>
                  <a:pt x="359241" y="457200"/>
                </a:lnTo>
                <a:cubicBezTo>
                  <a:pt x="373886" y="457200"/>
                  <a:pt x="385763" y="445324"/>
                  <a:pt x="385763" y="430679"/>
                </a:cubicBezTo>
                <a:cubicBezTo>
                  <a:pt x="385763" y="366385"/>
                  <a:pt x="347633" y="311021"/>
                  <a:pt x="292804" y="285929"/>
                </a:cubicBezTo>
                <a:cubicBezTo>
                  <a:pt x="286196" y="282893"/>
                  <a:pt x="278428" y="284053"/>
                  <a:pt x="272623" y="288429"/>
                </a:cubicBezTo>
                <a:lnTo>
                  <a:pt x="221367" y="326827"/>
                </a:lnTo>
                <a:lnTo>
                  <a:pt x="221367" y="457200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825500" y="5715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 info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0" y="5651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683000" y="50165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4473575" y="5181600"/>
            <a:ext cx="400050" cy="457200"/>
          </a:xfrm>
          <a:custGeom>
            <a:avLst/>
            <a:gdLst/>
            <a:ahLst/>
            <a:cxnLst/>
            <a:rect l="l" t="t" r="r" b="b"/>
            <a:pathLst>
              <a:path w="400050" h="457200">
                <a:moveTo>
                  <a:pt x="342900" y="457200"/>
                </a:moveTo>
                <a:lnTo>
                  <a:pt x="85725" y="457200"/>
                </a:lnTo>
                <a:cubicBezTo>
                  <a:pt x="38398" y="457200"/>
                  <a:pt x="0" y="418802"/>
                  <a:pt x="0" y="371475"/>
                </a:cubicBezTo>
                <a:lnTo>
                  <a:pt x="0" y="85725"/>
                </a:lnTo>
                <a:cubicBezTo>
                  <a:pt x="0" y="38398"/>
                  <a:pt x="38398" y="0"/>
                  <a:pt x="85725" y="0"/>
                </a:cubicBezTo>
                <a:lnTo>
                  <a:pt x="357188" y="0"/>
                </a:lnTo>
                <a:cubicBezTo>
                  <a:pt x="380851" y="0"/>
                  <a:pt x="400050" y="19199"/>
                  <a:pt x="400050" y="42863"/>
                </a:cubicBezTo>
                <a:lnTo>
                  <a:pt x="400050" y="300038"/>
                </a:lnTo>
                <a:cubicBezTo>
                  <a:pt x="400050" y="318701"/>
                  <a:pt x="388084" y="334595"/>
                  <a:pt x="371475" y="340489"/>
                </a:cubicBezTo>
                <a:lnTo>
                  <a:pt x="371475" y="400050"/>
                </a:lnTo>
                <a:cubicBezTo>
                  <a:pt x="387281" y="400050"/>
                  <a:pt x="400050" y="412819"/>
                  <a:pt x="400050" y="428625"/>
                </a:cubicBezTo>
                <a:cubicBezTo>
                  <a:pt x="400050" y="444431"/>
                  <a:pt x="387281" y="457200"/>
                  <a:pt x="371475" y="457200"/>
                </a:cubicBezTo>
                <a:lnTo>
                  <a:pt x="342900" y="457200"/>
                </a:lnTo>
                <a:close/>
                <a:moveTo>
                  <a:pt x="85725" y="342900"/>
                </a:moveTo>
                <a:cubicBezTo>
                  <a:pt x="69919" y="342900"/>
                  <a:pt x="57150" y="355669"/>
                  <a:pt x="57150" y="371475"/>
                </a:cubicBezTo>
                <a:cubicBezTo>
                  <a:pt x="57150" y="387281"/>
                  <a:pt x="69919" y="400050"/>
                  <a:pt x="85725" y="400050"/>
                </a:cubicBezTo>
                <a:lnTo>
                  <a:pt x="314325" y="400050"/>
                </a:lnTo>
                <a:lnTo>
                  <a:pt x="314325" y="342900"/>
                </a:lnTo>
                <a:lnTo>
                  <a:pt x="85725" y="342900"/>
                </a:lnTo>
                <a:close/>
                <a:moveTo>
                  <a:pt x="114300" y="135731"/>
                </a:moveTo>
                <a:cubicBezTo>
                  <a:pt x="114300" y="147608"/>
                  <a:pt x="123855" y="157163"/>
                  <a:pt x="135731" y="157163"/>
                </a:cubicBezTo>
                <a:lnTo>
                  <a:pt x="292894" y="157163"/>
                </a:lnTo>
                <a:cubicBezTo>
                  <a:pt x="304770" y="157163"/>
                  <a:pt x="314325" y="147608"/>
                  <a:pt x="314325" y="135731"/>
                </a:cubicBezTo>
                <a:cubicBezTo>
                  <a:pt x="314325" y="123855"/>
                  <a:pt x="304770" y="114300"/>
                  <a:pt x="292894" y="114300"/>
                </a:cubicBezTo>
                <a:lnTo>
                  <a:pt x="135731" y="114300"/>
                </a:lnTo>
                <a:cubicBezTo>
                  <a:pt x="123855" y="114300"/>
                  <a:pt x="114300" y="123855"/>
                  <a:pt x="114300" y="135731"/>
                </a:cubicBezTo>
                <a:close/>
                <a:moveTo>
                  <a:pt x="135731" y="200025"/>
                </a:moveTo>
                <a:cubicBezTo>
                  <a:pt x="123855" y="200025"/>
                  <a:pt x="114300" y="209580"/>
                  <a:pt x="114300" y="221456"/>
                </a:cubicBezTo>
                <a:cubicBezTo>
                  <a:pt x="114300" y="233333"/>
                  <a:pt x="123855" y="242888"/>
                  <a:pt x="135731" y="242888"/>
                </a:cubicBezTo>
                <a:lnTo>
                  <a:pt x="292894" y="242888"/>
                </a:lnTo>
                <a:cubicBezTo>
                  <a:pt x="304770" y="242888"/>
                  <a:pt x="314325" y="233333"/>
                  <a:pt x="314325" y="221456"/>
                </a:cubicBezTo>
                <a:cubicBezTo>
                  <a:pt x="314325" y="209580"/>
                  <a:pt x="304770" y="200025"/>
                  <a:pt x="292894" y="200025"/>
                </a:cubicBezTo>
                <a:lnTo>
                  <a:pt x="135731" y="200025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3746500" y="5715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 info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5651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604000" y="5016500"/>
            <a:ext cx="2159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7423150" y="51816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278070" y="28575"/>
                </a:moveTo>
                <a:lnTo>
                  <a:pt x="285750" y="28575"/>
                </a:lnTo>
                <a:cubicBezTo>
                  <a:pt x="317272" y="28575"/>
                  <a:pt x="342900" y="54203"/>
                  <a:pt x="342900" y="85725"/>
                </a:cubicBezTo>
                <a:lnTo>
                  <a:pt x="342900" y="400050"/>
                </a:lnTo>
                <a:cubicBezTo>
                  <a:pt x="342900" y="431572"/>
                  <a:pt x="317272" y="457200"/>
                  <a:pt x="285750" y="457200"/>
                </a:cubicBezTo>
                <a:lnTo>
                  <a:pt x="57150" y="457200"/>
                </a:lnTo>
                <a:cubicBezTo>
                  <a:pt x="25628" y="457200"/>
                  <a:pt x="0" y="431572"/>
                  <a:pt x="0" y="400050"/>
                </a:cubicBezTo>
                <a:lnTo>
                  <a:pt x="0" y="85725"/>
                </a:lnTo>
                <a:cubicBezTo>
                  <a:pt x="0" y="54203"/>
                  <a:pt x="25628" y="28575"/>
                  <a:pt x="57150" y="28575"/>
                </a:cubicBezTo>
                <a:lnTo>
                  <a:pt x="64830" y="28575"/>
                </a:lnTo>
                <a:cubicBezTo>
                  <a:pt x="74652" y="11519"/>
                  <a:pt x="93137" y="0"/>
                  <a:pt x="114300" y="0"/>
                </a:cubicBezTo>
                <a:lnTo>
                  <a:pt x="228600" y="0"/>
                </a:lnTo>
                <a:cubicBezTo>
                  <a:pt x="249763" y="0"/>
                  <a:pt x="268248" y="11519"/>
                  <a:pt x="278070" y="28575"/>
                </a:cubicBezTo>
                <a:close/>
                <a:moveTo>
                  <a:pt x="221456" y="100013"/>
                </a:moveTo>
                <a:cubicBezTo>
                  <a:pt x="233333" y="100013"/>
                  <a:pt x="242888" y="90458"/>
                  <a:pt x="242888" y="78581"/>
                </a:cubicBezTo>
                <a:cubicBezTo>
                  <a:pt x="242888" y="66705"/>
                  <a:pt x="233333" y="57150"/>
                  <a:pt x="221456" y="57150"/>
                </a:cubicBezTo>
                <a:lnTo>
                  <a:pt x="121444" y="57150"/>
                </a:lnTo>
                <a:cubicBezTo>
                  <a:pt x="109567" y="57150"/>
                  <a:pt x="100013" y="66705"/>
                  <a:pt x="100013" y="78581"/>
                </a:cubicBezTo>
                <a:cubicBezTo>
                  <a:pt x="100013" y="90458"/>
                  <a:pt x="109567" y="100013"/>
                  <a:pt x="121444" y="100013"/>
                </a:cubicBezTo>
                <a:lnTo>
                  <a:pt x="221456" y="100013"/>
                </a:lnTo>
                <a:close/>
                <a:moveTo>
                  <a:pt x="114300" y="228600"/>
                </a:moveTo>
                <a:cubicBezTo>
                  <a:pt x="114300" y="212829"/>
                  <a:pt x="101496" y="200025"/>
                  <a:pt x="85725" y="200025"/>
                </a:cubicBezTo>
                <a:cubicBezTo>
                  <a:pt x="69954" y="200025"/>
                  <a:pt x="57150" y="212829"/>
                  <a:pt x="57150" y="228600"/>
                </a:cubicBezTo>
                <a:cubicBezTo>
                  <a:pt x="57150" y="244371"/>
                  <a:pt x="69954" y="257175"/>
                  <a:pt x="85725" y="257175"/>
                </a:cubicBezTo>
                <a:cubicBezTo>
                  <a:pt x="101496" y="257175"/>
                  <a:pt x="114300" y="244371"/>
                  <a:pt x="114300" y="228600"/>
                </a:cubicBezTo>
                <a:close/>
                <a:moveTo>
                  <a:pt x="142875" y="228600"/>
                </a:moveTo>
                <a:cubicBezTo>
                  <a:pt x="142875" y="240476"/>
                  <a:pt x="152430" y="250031"/>
                  <a:pt x="164306" y="250031"/>
                </a:cubicBezTo>
                <a:lnTo>
                  <a:pt x="264319" y="250031"/>
                </a:lnTo>
                <a:cubicBezTo>
                  <a:pt x="276195" y="250031"/>
                  <a:pt x="285750" y="240476"/>
                  <a:pt x="285750" y="228600"/>
                </a:cubicBezTo>
                <a:cubicBezTo>
                  <a:pt x="285750" y="216724"/>
                  <a:pt x="276195" y="207169"/>
                  <a:pt x="264319" y="207169"/>
                </a:cubicBezTo>
                <a:lnTo>
                  <a:pt x="164306" y="207169"/>
                </a:lnTo>
                <a:cubicBezTo>
                  <a:pt x="152430" y="207169"/>
                  <a:pt x="142875" y="216724"/>
                  <a:pt x="142875" y="228600"/>
                </a:cubicBezTo>
                <a:close/>
                <a:moveTo>
                  <a:pt x="142875" y="342900"/>
                </a:moveTo>
                <a:cubicBezTo>
                  <a:pt x="142875" y="354776"/>
                  <a:pt x="152430" y="364331"/>
                  <a:pt x="164306" y="364331"/>
                </a:cubicBezTo>
                <a:lnTo>
                  <a:pt x="264319" y="364331"/>
                </a:lnTo>
                <a:cubicBezTo>
                  <a:pt x="276195" y="364331"/>
                  <a:pt x="285750" y="354776"/>
                  <a:pt x="285750" y="342900"/>
                </a:cubicBezTo>
                <a:cubicBezTo>
                  <a:pt x="285750" y="331024"/>
                  <a:pt x="276195" y="321469"/>
                  <a:pt x="264319" y="321469"/>
                </a:cubicBezTo>
                <a:lnTo>
                  <a:pt x="164306" y="321469"/>
                </a:lnTo>
                <a:cubicBezTo>
                  <a:pt x="152430" y="321469"/>
                  <a:pt x="142875" y="331024"/>
                  <a:pt x="142875" y="342900"/>
                </a:cubicBezTo>
                <a:close/>
                <a:moveTo>
                  <a:pt x="85725" y="371475"/>
                </a:moveTo>
                <a:cubicBezTo>
                  <a:pt x="101496" y="371475"/>
                  <a:pt x="114300" y="358671"/>
                  <a:pt x="114300" y="342900"/>
                </a:cubicBezTo>
                <a:cubicBezTo>
                  <a:pt x="114300" y="327129"/>
                  <a:pt x="101496" y="314325"/>
                  <a:pt x="85725" y="314325"/>
                </a:cubicBezTo>
                <a:cubicBezTo>
                  <a:pt x="69954" y="314325"/>
                  <a:pt x="57150" y="327129"/>
                  <a:pt x="57150" y="342900"/>
                </a:cubicBezTo>
                <a:cubicBezTo>
                  <a:pt x="57150" y="358671"/>
                  <a:pt x="69954" y="371475"/>
                  <a:pt x="85725" y="371475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0" y="5715000"/>
            <a:ext cx="2032000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student-course link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144000" y="1397000"/>
            <a:ext cx="6350000" cy="5334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1" name="Text 19"/>
          <p:cNvSpPr/>
          <p:nvPr/>
        </p:nvSpPr>
        <p:spPr>
          <a:xfrm>
            <a:off x="9398000" y="1587500"/>
            <a:ext cx="5842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RELATIONSHIPS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9398000" y="2032000"/>
            <a:ext cx="5842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3" name="Shape 21"/>
          <p:cNvSpPr/>
          <p:nvPr/>
        </p:nvSpPr>
        <p:spPr>
          <a:xfrm>
            <a:off x="9652000" y="2349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4" name="Text 22"/>
          <p:cNvSpPr/>
          <p:nvPr/>
        </p:nvSpPr>
        <p:spPr>
          <a:xfrm>
            <a:off x="9652000" y="2349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 | Name | Age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2700000" y="23495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6" name="Text 24"/>
          <p:cNvSpPr/>
          <p:nvPr/>
        </p:nvSpPr>
        <p:spPr>
          <a:xfrm>
            <a:off x="12700000" y="23495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CID | Name | Credits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1176000" y="4064000"/>
            <a:ext cx="2286000" cy="1016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28" name="Text 26"/>
          <p:cNvSpPr/>
          <p:nvPr/>
        </p:nvSpPr>
        <p:spPr>
          <a:xfrm>
            <a:off x="11176000" y="4064000"/>
            <a:ext cx="228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</a:t>
            </a:r>
            <a:endParaRPr lang="en-US" sz="1600" dirty="0"/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SID | CID | Grade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795000" y="3365500"/>
            <a:ext cx="1143000" cy="69850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ysDot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12700000" y="3365500"/>
            <a:ext cx="0" cy="69850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ysDot"/>
            <a:headEnd type="non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9779000" y="3556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1-to-Many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2827000" y="3556000"/>
            <a:ext cx="1016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100" dirty="0">
                <a:solidFill>
                  <a:srgbClr val="6B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1-to-Many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62000" y="6858000"/>
            <a:ext cx="14732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Idea: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We combine tables to get </a:t>
            </a:r>
            <a:pPr algn="ctr"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complete information</a:t>
            </a:r>
            <a:pPr algn="ctr"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about students and their courses.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Database Tables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Table</a:t>
            </a:r>
            <a:endParaRPr lang="en-US" sz="1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14500"/>
          <a:ext cx="4318000" cy="2032000"/>
        </p:xfrm>
        <a:graphic>
          <a:graphicData uri="http://schemas.openxmlformats.org/drawingml/2006/table">
            <a:tbl>
              <a:tblPr/>
              <a:tblGrid>
                <a:gridCol w="1727200"/>
                <a:gridCol w="2590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8000" y="1333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 Table</a:t>
            </a:r>
            <a:endParaRPr lang="en-US" sz="16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8000" y="1714500"/>
          <a:ext cx="4318000" cy="2032000"/>
        </p:xfrm>
        <a:graphic>
          <a:graphicData uri="http://schemas.openxmlformats.org/drawingml/2006/table">
            <a:tbl>
              <a:tblPr/>
              <a:tblGrid>
                <a:gridCol w="1727200"/>
                <a:gridCol w="25908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Python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10414000" y="1333500"/>
            <a:ext cx="317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 Table</a:t>
            </a:r>
            <a:endParaRPr lang="en-US" sz="160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414000" y="1714500"/>
          <a:ext cx="5080000" cy="1651000"/>
        </p:xfrm>
        <a:graphic>
          <a:graphicData uri="http://schemas.openxmlformats.org/drawingml/2006/table">
            <a:tbl>
              <a:tblPr/>
              <a:tblGrid>
                <a:gridCol w="2032000"/>
                <a:gridCol w="1778000"/>
                <a:gridCol w="12700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Grade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102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10" name="Shape 5"/>
          <p:cNvSpPr/>
          <p:nvPr/>
        </p:nvSpPr>
        <p:spPr>
          <a:xfrm>
            <a:off x="762000" y="4191000"/>
            <a:ext cx="14732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1" name="Shape 6"/>
          <p:cNvSpPr/>
          <p:nvPr/>
        </p:nvSpPr>
        <p:spPr>
          <a:xfrm>
            <a:off x="812800" y="45720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232489" y="304800"/>
                </a:moveTo>
                <a:cubicBezTo>
                  <a:pt x="238284" y="287099"/>
                  <a:pt x="249872" y="271066"/>
                  <a:pt x="262969" y="257254"/>
                </a:cubicBezTo>
                <a:cubicBezTo>
                  <a:pt x="288925" y="229949"/>
                  <a:pt x="304800" y="193040"/>
                  <a:pt x="304800" y="152400"/>
                </a:cubicBezTo>
                <a:cubicBezTo>
                  <a:pt x="304800" y="68263"/>
                  <a:pt x="236537" y="0"/>
                  <a:pt x="152400" y="0"/>
                </a:cubicBezTo>
                <a:cubicBezTo>
                  <a:pt x="68262" y="0"/>
                  <a:pt x="0" y="68263"/>
                  <a:pt x="0" y="152400"/>
                </a:cubicBezTo>
                <a:cubicBezTo>
                  <a:pt x="0" y="193040"/>
                  <a:pt x="15875" y="229949"/>
                  <a:pt x="41831" y="257254"/>
                </a:cubicBezTo>
                <a:cubicBezTo>
                  <a:pt x="54928" y="271066"/>
                  <a:pt x="66596" y="287099"/>
                  <a:pt x="72311" y="304800"/>
                </a:cubicBezTo>
                <a:lnTo>
                  <a:pt x="232410" y="304800"/>
                </a:lnTo>
                <a:close/>
                <a:moveTo>
                  <a:pt x="228600" y="342900"/>
                </a:moveTo>
                <a:lnTo>
                  <a:pt x="76200" y="342900"/>
                </a:lnTo>
                <a:lnTo>
                  <a:pt x="76200" y="355600"/>
                </a:lnTo>
                <a:cubicBezTo>
                  <a:pt x="76200" y="390684"/>
                  <a:pt x="104616" y="419100"/>
                  <a:pt x="139700" y="419100"/>
                </a:cubicBezTo>
                <a:lnTo>
                  <a:pt x="165100" y="419100"/>
                </a:lnTo>
                <a:cubicBezTo>
                  <a:pt x="200184" y="419100"/>
                  <a:pt x="228600" y="390684"/>
                  <a:pt x="228600" y="355600"/>
                </a:cubicBezTo>
                <a:lnTo>
                  <a:pt x="228600" y="342900"/>
                </a:lnTo>
                <a:close/>
                <a:moveTo>
                  <a:pt x="146050" y="88900"/>
                </a:moveTo>
                <a:cubicBezTo>
                  <a:pt x="114459" y="88900"/>
                  <a:pt x="88900" y="114459"/>
                  <a:pt x="88900" y="146050"/>
                </a:cubicBezTo>
                <a:cubicBezTo>
                  <a:pt x="88900" y="156607"/>
                  <a:pt x="80407" y="165100"/>
                  <a:pt x="69850" y="165100"/>
                </a:cubicBezTo>
                <a:cubicBezTo>
                  <a:pt x="59293" y="165100"/>
                  <a:pt x="50800" y="156607"/>
                  <a:pt x="50800" y="146050"/>
                </a:cubicBezTo>
                <a:cubicBezTo>
                  <a:pt x="50800" y="93424"/>
                  <a:pt x="93424" y="50800"/>
                  <a:pt x="146050" y="50800"/>
                </a:cubicBezTo>
                <a:cubicBezTo>
                  <a:pt x="156607" y="50800"/>
                  <a:pt x="165100" y="59293"/>
                  <a:pt x="165100" y="69850"/>
                </a:cubicBezTo>
                <a:cubicBezTo>
                  <a:pt x="165100" y="80407"/>
                  <a:pt x="156607" y="88900"/>
                  <a:pt x="146050" y="889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2" name="Text 7"/>
          <p:cNvSpPr/>
          <p:nvPr/>
        </p:nvSpPr>
        <p:spPr>
          <a:xfrm>
            <a:off x="1295400" y="45974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Idea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762000" y="5143500"/>
            <a:ext cx="711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tables store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different types of information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Each table has a specific purpose: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→ personal information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Courses → academic offerings</a:t>
            </a:r>
            <a:endParaRPr lang="en-US" sz="1800" dirty="0"/>
          </a:p>
          <a:p>
            <a:pPr marL="285750" indent="-285750">
              <a:lnSpc>
                <a:spcPct val="160000"/>
              </a:lnSpc>
              <a:spcBef>
                <a:spcPts val="10"/>
              </a:spcBef>
              <a:buSzPct val="100000"/>
              <a:buChar char="•"/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Enrollment → relationship records</a:t>
            </a:r>
            <a:endParaRPr lang="en-US" sz="1800" dirty="0"/>
          </a:p>
        </p:txBody>
      </p:sp>
      <p:sp>
        <p:nvSpPr>
          <p:cNvPr id="14" name="Shape 9"/>
          <p:cNvSpPr/>
          <p:nvPr/>
        </p:nvSpPr>
        <p:spPr>
          <a:xfrm>
            <a:off x="8636000" y="4572000"/>
            <a:ext cx="6858000" cy="2032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5" name="Text 10"/>
          <p:cNvSpPr/>
          <p:nvPr/>
        </p:nvSpPr>
        <p:spPr>
          <a:xfrm>
            <a:off x="8890000" y="46990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STRUCTURE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8890000" y="5143500"/>
            <a:ext cx="1905000" cy="635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7" name="Text 12"/>
          <p:cNvSpPr/>
          <p:nvPr/>
        </p:nvSpPr>
        <p:spPr>
          <a:xfrm>
            <a:off x="8890000" y="5143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10922000" y="5397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9" name="Shape 14"/>
          <p:cNvSpPr/>
          <p:nvPr/>
        </p:nvSpPr>
        <p:spPr>
          <a:xfrm>
            <a:off x="11557000" y="5143500"/>
            <a:ext cx="1905000" cy="635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0" name="Text 15"/>
          <p:cNvSpPr/>
          <p:nvPr/>
        </p:nvSpPr>
        <p:spPr>
          <a:xfrm>
            <a:off x="11557000" y="5143500"/>
            <a:ext cx="1905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13589000" y="5397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22" name="Shape 17"/>
          <p:cNvSpPr/>
          <p:nvPr/>
        </p:nvSpPr>
        <p:spPr>
          <a:xfrm>
            <a:off x="14224000" y="5143500"/>
            <a:ext cx="1016000" cy="635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23" name="Text 18"/>
          <p:cNvSpPr/>
          <p:nvPr/>
        </p:nvSpPr>
        <p:spPr>
          <a:xfrm>
            <a:off x="14224000" y="5143500"/>
            <a:ext cx="101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8890000" y="5969000"/>
            <a:ext cx="635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300" dirty="0">
                <a:solidFill>
                  <a:srgbClr val="6B8F8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 connects Students and Courses</a:t>
            </a:r>
            <a:endParaRPr lang="en-US" sz="1600" dirty="0"/>
          </a:p>
        </p:txBody>
      </p:sp>
      <p:sp>
        <p:nvSpPr>
          <p:cNvPr id="25" name="Text 20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889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 Product (Cartesian Product)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620000" cy="101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711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"Every row of first table combines with every row of second table."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30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Formula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175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Text 6"/>
          <p:cNvSpPr/>
          <p:nvPr/>
        </p:nvSpPr>
        <p:spPr>
          <a:xfrm>
            <a:off x="1016000" y="3302000"/>
            <a:ext cx="6604000" cy="1397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If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A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rows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and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Table B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has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rows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Then: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3 x 2 = 6 rows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result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36000" y="2730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636000" y="3175000"/>
            <a:ext cx="6858000" cy="1651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1" name="Text 9"/>
          <p:cNvSpPr/>
          <p:nvPr/>
        </p:nvSpPr>
        <p:spPr>
          <a:xfrm>
            <a:off x="8890000" y="3365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890000" y="3708400"/>
            <a:ext cx="1016000" cy="10795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8890000" y="3708400"/>
            <a:ext cx="101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A1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A2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033000" y="3810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3365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0668000" y="3708400"/>
            <a:ext cx="1016000" cy="889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17" name="Text 15"/>
          <p:cNvSpPr/>
          <p:nvPr/>
        </p:nvSpPr>
        <p:spPr>
          <a:xfrm>
            <a:off x="10668000" y="3708400"/>
            <a:ext cx="101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B1</a:t>
            </a:r>
            <a:endParaRPr lang="en-US" sz="1600" dirty="0"/>
          </a:p>
          <a:p>
            <a:pPr algn="ctr"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B2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0" y="3810000"/>
            <a:ext cx="508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800" b="1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=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6000" y="3365500"/>
            <a:ext cx="127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 Rows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2446000" y="3708400"/>
            <a:ext cx="2794000" cy="889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21" name="Text 19"/>
          <p:cNvSpPr/>
          <p:nvPr/>
        </p:nvSpPr>
        <p:spPr>
          <a:xfrm>
            <a:off x="12509500" y="3746500"/>
            <a:ext cx="2667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A1-B1, A1-B2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A2-B1, A2-B2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1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A3-B1, A3-B2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2000" y="5207000"/>
            <a:ext cx="14732000" cy="1016000"/>
          </a:xfrm>
          <a:prstGeom prst="roundRect">
            <a:avLst>
              <a:gd name="adj" fmla="val 8000"/>
            </a:avLst>
          </a:prstGeom>
          <a:solidFill>
            <a:srgbClr val="C97B3A">
              <a:alpha val="9412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016000" y="5461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4" name="Text 22"/>
          <p:cNvSpPr/>
          <p:nvPr/>
        </p:nvSpPr>
        <p:spPr>
          <a:xfrm>
            <a:off x="1498600" y="5334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498600" y="5651500"/>
            <a:ext cx="137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Cross product creates many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unnecessary rows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that may not have meaningful relationships.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 Product Diagram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</a:t>
            </a:r>
            <a:endParaRPr lang="en-US" sz="1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2540000" cy="1397000"/>
        </p:xfrm>
        <a:graphic>
          <a:graphicData uri="http://schemas.openxmlformats.org/drawingml/2006/table">
            <a:tbl>
              <a:tblPr/>
              <a:tblGrid>
                <a:gridCol w="254000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810000" y="13970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</a:t>
            </a:r>
            <a:endParaRPr lang="en-US" sz="16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10000" y="1778000"/>
          <a:ext cx="2540000" cy="1397000"/>
        </p:xfrm>
        <a:graphic>
          <a:graphicData uri="http://schemas.openxmlformats.org/drawingml/2006/table">
            <a:tbl>
              <a:tblPr/>
              <a:tblGrid>
                <a:gridCol w="254000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3302000" y="2159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x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7112000" y="1397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(Cross Product)</a:t>
            </a:r>
            <a:endParaRPr lang="en-US" sz="160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112000" y="1778000"/>
          <a:ext cx="3556000" cy="2159000"/>
        </p:xfrm>
        <a:graphic>
          <a:graphicData uri="http://schemas.openxmlformats.org/drawingml/2006/table">
            <a:tbl>
              <a:tblPr/>
              <a:tblGrid>
                <a:gridCol w="1422400"/>
                <a:gridCol w="21336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Color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Blue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11" name="Shape 6"/>
          <p:cNvSpPr/>
          <p:nvPr/>
        </p:nvSpPr>
        <p:spPr>
          <a:xfrm>
            <a:off x="6477000" y="2476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2" name="Shape 7"/>
          <p:cNvSpPr/>
          <p:nvPr/>
        </p:nvSpPr>
        <p:spPr>
          <a:xfrm>
            <a:off x="762000" y="4318000"/>
            <a:ext cx="14732000" cy="114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Shape 8"/>
          <p:cNvSpPr/>
          <p:nvPr/>
        </p:nvSpPr>
        <p:spPr>
          <a:xfrm>
            <a:off x="993775" y="4572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4" name="Text 9"/>
          <p:cNvSpPr/>
          <p:nvPr/>
        </p:nvSpPr>
        <p:spPr>
          <a:xfrm>
            <a:off x="1498600" y="4445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498600" y="48006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row from Table A is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matched with every row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Table B. This produces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2 x 2 = 4 rows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total.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762000" y="5842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 COMBINATION MAP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762000" y="6350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8" name="Text 13"/>
          <p:cNvSpPr/>
          <p:nvPr/>
        </p:nvSpPr>
        <p:spPr>
          <a:xfrm>
            <a:off x="762000" y="6350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 1 (ID:1)</a:t>
            </a:r>
            <a:endParaRPr lang="en-US" sz="1600" dirty="0"/>
          </a:p>
        </p:txBody>
      </p:sp>
      <p:sp>
        <p:nvSpPr>
          <p:cNvPr id="19" name="Shape 14"/>
          <p:cNvSpPr/>
          <p:nvPr/>
        </p:nvSpPr>
        <p:spPr>
          <a:xfrm>
            <a:off x="2032000" y="6477000"/>
            <a:ext cx="762000" cy="0"/>
          </a:xfrm>
          <a:prstGeom prst="straightConnector1">
            <a:avLst/>
          </a:prstGeom>
          <a:noFill/>
          <a:ln w="12700">
            <a:solidFill>
              <a:srgbClr val="6B8F8F"/>
            </a:solidFill>
            <a:prstDash val="solid"/>
            <a:headEnd type="none"/>
            <a:tailEnd type="none"/>
          </a:ln>
        </p:spPr>
      </p:sp>
      <p:sp>
        <p:nvSpPr>
          <p:cNvPr id="20" name="Shape 15"/>
          <p:cNvSpPr/>
          <p:nvPr/>
        </p:nvSpPr>
        <p:spPr>
          <a:xfrm>
            <a:off x="2921000" y="62230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921000" y="6223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+ Red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2921000" y="67310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2921000" y="6731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+ Blue</a:t>
            </a:r>
            <a:endParaRPr lang="en-US" sz="1600" dirty="0"/>
          </a:p>
        </p:txBody>
      </p:sp>
      <p:sp>
        <p:nvSpPr>
          <p:cNvPr id="24" name="Shape 19"/>
          <p:cNvSpPr/>
          <p:nvPr/>
        </p:nvSpPr>
        <p:spPr>
          <a:xfrm>
            <a:off x="762000" y="7239000"/>
            <a:ext cx="1270000" cy="4572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5" name="Text 20"/>
          <p:cNvSpPr/>
          <p:nvPr/>
        </p:nvSpPr>
        <p:spPr>
          <a:xfrm>
            <a:off x="762000" y="7239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 2 (ID:2)</a:t>
            </a:r>
            <a:endParaRPr lang="en-US" sz="1600" dirty="0"/>
          </a:p>
        </p:txBody>
      </p:sp>
      <p:sp>
        <p:nvSpPr>
          <p:cNvPr id="26" name="Shape 21"/>
          <p:cNvSpPr/>
          <p:nvPr/>
        </p:nvSpPr>
        <p:spPr>
          <a:xfrm>
            <a:off x="2032000" y="7366000"/>
            <a:ext cx="762000" cy="0"/>
          </a:xfrm>
          <a:prstGeom prst="straightConnector1">
            <a:avLst/>
          </a:prstGeom>
          <a:noFill/>
          <a:ln w="12700">
            <a:solidFill>
              <a:srgbClr val="6B8F8F"/>
            </a:solidFill>
            <a:prstDash val="solid"/>
            <a:headEnd type="none"/>
            <a:tailEnd type="none"/>
          </a:ln>
        </p:spPr>
      </p:sp>
      <p:sp>
        <p:nvSpPr>
          <p:cNvPr id="27" name="Shape 22"/>
          <p:cNvSpPr/>
          <p:nvPr/>
        </p:nvSpPr>
        <p:spPr>
          <a:xfrm>
            <a:off x="2921000" y="71120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2921000" y="7112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+ Red</a:t>
            </a:r>
            <a:endParaRPr lang="en-US" sz="1600" dirty="0"/>
          </a:p>
        </p:txBody>
      </p:sp>
      <p:sp>
        <p:nvSpPr>
          <p:cNvPr id="29" name="Shape 24"/>
          <p:cNvSpPr/>
          <p:nvPr/>
        </p:nvSpPr>
        <p:spPr>
          <a:xfrm>
            <a:off x="2921000" y="7620000"/>
            <a:ext cx="1524000" cy="38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 w="12700">
            <a:solidFill>
              <a:srgbClr val="1B4D4D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2921000" y="7620000"/>
            <a:ext cx="152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+ Blue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 for Cross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16510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165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30400"/>
            <a:ext cx="1397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6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Students, Courses;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492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3937000"/>
            <a:ext cx="6858000" cy="1778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089400"/>
            <a:ext cx="6350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Students table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Courses table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Every student combines with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every course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No matching condition is specified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0" y="3492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Problem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3937000"/>
            <a:ext cx="7366000" cy="1778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82000" y="4127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4" name="Text 12"/>
          <p:cNvSpPr/>
          <p:nvPr/>
        </p:nvSpPr>
        <p:spPr>
          <a:xfrm>
            <a:off x="8890000" y="4089400"/>
            <a:ext cx="6350000" cy="147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This may create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wrong or unnecessary data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Not all combinations make sense in real-world scenarios.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62000" y="6096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6" name="Shape 14"/>
          <p:cNvSpPr/>
          <p:nvPr/>
        </p:nvSpPr>
        <p:spPr>
          <a:xfrm>
            <a:off x="1060450" y="6413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7" name="Text 15"/>
          <p:cNvSpPr/>
          <p:nvPr/>
        </p:nvSpPr>
        <p:spPr>
          <a:xfrm>
            <a:off x="1498600" y="6286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98600" y="6667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comma (,) between table names is what creates the cross product in SQL.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Cross Product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Table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689100"/>
          <a:ext cx="3556000" cy="1397000"/>
        </p:xfrm>
        <a:graphic>
          <a:graphicData uri="http://schemas.openxmlformats.org/drawingml/2006/table">
            <a:tbl>
              <a:tblPr/>
              <a:tblGrid>
                <a:gridCol w="1244600"/>
                <a:gridCol w="231140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826000" y="1333500"/>
            <a:ext cx="317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 Table</a:t>
            </a:r>
            <a:endParaRPr lang="en-US" sz="16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26000" y="1689100"/>
          <a:ext cx="3556000" cy="1397000"/>
        </p:xfrm>
        <a:graphic>
          <a:graphicData uri="http://schemas.openxmlformats.org/drawingml/2006/table">
            <a:tbl>
              <a:tblPr/>
              <a:tblGrid>
                <a:gridCol w="3556000"/>
              </a:tblGrid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61394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4211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762000" y="3429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762000" y="3784600"/>
            <a:ext cx="7620000" cy="7620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10" name="Shape 6"/>
          <p:cNvSpPr/>
          <p:nvPr/>
        </p:nvSpPr>
        <p:spPr>
          <a:xfrm>
            <a:off x="762000" y="3784600"/>
            <a:ext cx="63500" cy="762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11" name="Text 7"/>
          <p:cNvSpPr/>
          <p:nvPr/>
        </p:nvSpPr>
        <p:spPr>
          <a:xfrm>
            <a:off x="1016000" y="3873500"/>
            <a:ext cx="7112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Students, Courses;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7620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</a:t>
            </a:r>
            <a:endParaRPr lang="en-US" sz="16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5270500"/>
          <a:ext cx="6096000" cy="2286000"/>
        </p:xfrm>
        <a:graphic>
          <a:graphicData uri="http://schemas.openxmlformats.org/drawingml/2006/table">
            <a:tbl>
              <a:tblPr/>
              <a:tblGrid>
                <a:gridCol w="1524000"/>
                <a:gridCol w="2133600"/>
                <a:gridCol w="243840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7112000" y="5270500"/>
            <a:ext cx="2032000" cy="635000"/>
          </a:xfrm>
          <a:prstGeom prst="roundRect">
            <a:avLst>
              <a:gd name="adj" fmla="val 10000"/>
            </a:avLst>
          </a:prstGeom>
          <a:solidFill>
            <a:srgbClr val="C97B3A"/>
          </a:solidFill>
          <a:ln/>
        </p:spPr>
      </p:sp>
      <p:sp>
        <p:nvSpPr>
          <p:cNvPr id="15" name="Text 10"/>
          <p:cNvSpPr/>
          <p:nvPr/>
        </p:nvSpPr>
        <p:spPr>
          <a:xfrm>
            <a:off x="7112000" y="5270500"/>
            <a:ext cx="2032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x 2 = 4 Rows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9144000" y="1333500"/>
            <a:ext cx="6350000" cy="6223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7" name="Text 12"/>
          <p:cNvSpPr/>
          <p:nvPr/>
        </p:nvSpPr>
        <p:spPr>
          <a:xfrm>
            <a:off x="9461500" y="1524000"/>
            <a:ext cx="5715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STEP-BY-STEP ANALYSIS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9461500" y="1930400"/>
            <a:ext cx="5715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9" name="Shape 14"/>
          <p:cNvSpPr/>
          <p:nvPr/>
        </p:nvSpPr>
        <p:spPr>
          <a:xfrm>
            <a:off x="9461500" y="21844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20" name="Text 15"/>
          <p:cNvSpPr/>
          <p:nvPr/>
        </p:nvSpPr>
        <p:spPr>
          <a:xfrm>
            <a:off x="9461500" y="21844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0033000" y="21590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Students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Courses</a:t>
            </a:r>
            <a:endParaRPr lang="en-US" sz="1600" dirty="0"/>
          </a:p>
        </p:txBody>
      </p:sp>
      <p:sp>
        <p:nvSpPr>
          <p:cNvPr id="22" name="Shape 17"/>
          <p:cNvSpPr/>
          <p:nvPr/>
        </p:nvSpPr>
        <p:spPr>
          <a:xfrm>
            <a:off x="9461500" y="31115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23" name="Text 18"/>
          <p:cNvSpPr/>
          <p:nvPr/>
        </p:nvSpPr>
        <p:spPr>
          <a:xfrm>
            <a:off x="9461500" y="31115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10033000" y="30861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Students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Courses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9461500" y="40386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26" name="Text 21"/>
          <p:cNvSpPr/>
          <p:nvPr/>
        </p:nvSpPr>
        <p:spPr>
          <a:xfrm>
            <a:off x="9461500" y="40386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10033000" y="40132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Students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DBMS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Courses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9461500" y="49657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29" name="Text 24"/>
          <p:cNvSpPr/>
          <p:nvPr/>
        </p:nvSpPr>
        <p:spPr>
          <a:xfrm>
            <a:off x="9461500" y="49657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30" name="Text 25"/>
          <p:cNvSpPr/>
          <p:nvPr/>
        </p:nvSpPr>
        <p:spPr>
          <a:xfrm>
            <a:off x="10033000" y="4940300"/>
            <a:ext cx="5080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Take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Students table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with </a:t>
            </a:r>
            <a:pPr>
              <a:lnSpc>
                <a:spcPct val="15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Java</a:t>
            </a:r>
            <a:pPr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Courses</a:t>
            </a:r>
            <a:endParaRPr lang="en-US" sz="1600" dirty="0"/>
          </a:p>
        </p:txBody>
      </p:sp>
      <p:sp>
        <p:nvSpPr>
          <p:cNvPr id="31" name="Text 26"/>
          <p:cNvSpPr/>
          <p:nvPr/>
        </p:nvSpPr>
        <p:spPr>
          <a:xfrm>
            <a:off x="9461500" y="5969000"/>
            <a:ext cx="5715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All 4 combinations produced</a:t>
            </a:r>
            <a:endParaRPr lang="en-US" sz="1600" dirty="0"/>
          </a:p>
        </p:txBody>
      </p:sp>
      <p:sp>
        <p:nvSpPr>
          <p:cNvPr id="32" name="Text 27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Advantages of Cross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60581" y="30718"/>
                </a:moveTo>
                <a:cubicBezTo>
                  <a:pt x="371296" y="26253"/>
                  <a:pt x="383530" y="28754"/>
                  <a:pt x="391745" y="36880"/>
                </a:cubicBezTo>
                <a:lnTo>
                  <a:pt x="448895" y="94030"/>
                </a:lnTo>
                <a:cubicBezTo>
                  <a:pt x="454253" y="99387"/>
                  <a:pt x="457289" y="106620"/>
                  <a:pt x="457289" y="114211"/>
                </a:cubicBezTo>
                <a:cubicBezTo>
                  <a:pt x="457289" y="121801"/>
                  <a:pt x="454253" y="129034"/>
                  <a:pt x="448895" y="134392"/>
                </a:cubicBezTo>
                <a:lnTo>
                  <a:pt x="391745" y="191542"/>
                </a:lnTo>
                <a:cubicBezTo>
                  <a:pt x="383530" y="199757"/>
                  <a:pt x="371296" y="202168"/>
                  <a:pt x="360581" y="197703"/>
                </a:cubicBezTo>
                <a:cubicBezTo>
                  <a:pt x="349865" y="193238"/>
                  <a:pt x="342900" y="182969"/>
                  <a:pt x="342900" y="171450"/>
                </a:cubicBezTo>
                <a:lnTo>
                  <a:pt x="342900" y="142875"/>
                </a:lnTo>
                <a:lnTo>
                  <a:pt x="314325" y="142875"/>
                </a:lnTo>
                <a:cubicBezTo>
                  <a:pt x="305306" y="142875"/>
                  <a:pt x="296823" y="147072"/>
                  <a:pt x="291465" y="154305"/>
                </a:cubicBezTo>
                <a:lnTo>
                  <a:pt x="262533" y="192881"/>
                </a:lnTo>
                <a:lnTo>
                  <a:pt x="226814" y="145286"/>
                </a:lnTo>
                <a:lnTo>
                  <a:pt x="245745" y="120015"/>
                </a:lnTo>
                <a:cubicBezTo>
                  <a:pt x="261908" y="98405"/>
                  <a:pt x="287357" y="85725"/>
                  <a:pt x="314325" y="85725"/>
                </a:cubicBezTo>
                <a:lnTo>
                  <a:pt x="342900" y="85725"/>
                </a:lnTo>
                <a:lnTo>
                  <a:pt x="342900" y="57150"/>
                </a:lnTo>
                <a:cubicBezTo>
                  <a:pt x="342900" y="45631"/>
                  <a:pt x="349865" y="35183"/>
                  <a:pt x="360581" y="30718"/>
                </a:cubicBezTo>
                <a:close/>
                <a:moveTo>
                  <a:pt x="137517" y="264319"/>
                </a:moveTo>
                <a:lnTo>
                  <a:pt x="173236" y="311914"/>
                </a:lnTo>
                <a:lnTo>
                  <a:pt x="154305" y="337185"/>
                </a:lnTo>
                <a:cubicBezTo>
                  <a:pt x="138142" y="358795"/>
                  <a:pt x="112693" y="371475"/>
                  <a:pt x="85725" y="371475"/>
                </a:cubicBezTo>
                <a:lnTo>
                  <a:pt x="28575" y="371475"/>
                </a:lnTo>
                <a:cubicBezTo>
                  <a:pt x="12769" y="371475"/>
                  <a:pt x="0" y="358706"/>
                  <a:pt x="0" y="342900"/>
                </a:cubicBezTo>
                <a:cubicBezTo>
                  <a:pt x="0" y="327094"/>
                  <a:pt x="12769" y="314325"/>
                  <a:pt x="28575" y="314325"/>
                </a:cubicBezTo>
                <a:lnTo>
                  <a:pt x="85725" y="314325"/>
                </a:lnTo>
                <a:cubicBezTo>
                  <a:pt x="94744" y="314325"/>
                  <a:pt x="103227" y="310128"/>
                  <a:pt x="108585" y="302895"/>
                </a:cubicBezTo>
                <a:lnTo>
                  <a:pt x="137517" y="264319"/>
                </a:lnTo>
                <a:close/>
                <a:moveTo>
                  <a:pt x="391656" y="420231"/>
                </a:moveTo>
                <a:cubicBezTo>
                  <a:pt x="383441" y="428446"/>
                  <a:pt x="371207" y="430857"/>
                  <a:pt x="360491" y="426393"/>
                </a:cubicBezTo>
                <a:cubicBezTo>
                  <a:pt x="349776" y="421928"/>
                  <a:pt x="342900" y="411569"/>
                  <a:pt x="342900" y="400050"/>
                </a:cubicBezTo>
                <a:lnTo>
                  <a:pt x="342900" y="371475"/>
                </a:lnTo>
                <a:lnTo>
                  <a:pt x="314325" y="371475"/>
                </a:lnTo>
                <a:cubicBezTo>
                  <a:pt x="287357" y="371475"/>
                  <a:pt x="261908" y="358795"/>
                  <a:pt x="245745" y="337185"/>
                </a:cubicBezTo>
                <a:lnTo>
                  <a:pt x="108585" y="154305"/>
                </a:lnTo>
                <a:cubicBezTo>
                  <a:pt x="103227" y="147072"/>
                  <a:pt x="94744" y="142875"/>
                  <a:pt x="85725" y="142875"/>
                </a:cubicBezTo>
                <a:lnTo>
                  <a:pt x="28575" y="142875"/>
                </a:lnTo>
                <a:cubicBezTo>
                  <a:pt x="12769" y="142875"/>
                  <a:pt x="0" y="130106"/>
                  <a:pt x="0" y="114300"/>
                </a:cubicBezTo>
                <a:cubicBezTo>
                  <a:pt x="0" y="98494"/>
                  <a:pt x="12769" y="85725"/>
                  <a:pt x="28575" y="85725"/>
                </a:cubicBezTo>
                <a:lnTo>
                  <a:pt x="85725" y="85725"/>
                </a:lnTo>
                <a:cubicBezTo>
                  <a:pt x="112693" y="85725"/>
                  <a:pt x="138142" y="98405"/>
                  <a:pt x="154305" y="120015"/>
                </a:cubicBezTo>
                <a:lnTo>
                  <a:pt x="291465" y="302895"/>
                </a:lnTo>
                <a:cubicBezTo>
                  <a:pt x="296823" y="310128"/>
                  <a:pt x="305306" y="314325"/>
                  <a:pt x="314325" y="314325"/>
                </a:cubicBezTo>
                <a:lnTo>
                  <a:pt x="342900" y="314325"/>
                </a:lnTo>
                <a:lnTo>
                  <a:pt x="342900" y="285750"/>
                </a:lnTo>
                <a:cubicBezTo>
                  <a:pt x="342900" y="274231"/>
                  <a:pt x="349865" y="263783"/>
                  <a:pt x="360581" y="259318"/>
                </a:cubicBezTo>
                <a:cubicBezTo>
                  <a:pt x="371296" y="254853"/>
                  <a:pt x="383530" y="257354"/>
                  <a:pt x="391745" y="265480"/>
                </a:cubicBezTo>
                <a:lnTo>
                  <a:pt x="448895" y="322630"/>
                </a:lnTo>
                <a:cubicBezTo>
                  <a:pt x="454253" y="327987"/>
                  <a:pt x="457289" y="335220"/>
                  <a:pt x="457289" y="342811"/>
                </a:cubicBezTo>
                <a:cubicBezTo>
                  <a:pt x="457289" y="350401"/>
                  <a:pt x="454253" y="357634"/>
                  <a:pt x="448895" y="362992"/>
                </a:cubicBezTo>
                <a:lnTo>
                  <a:pt x="391745" y="420142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1016000" y="23622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Combinations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16000" y="2768600"/>
            <a:ext cx="406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way to generate all possible combinations of rows from multiple tables.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588000" y="1524000"/>
            <a:ext cx="4572000" cy="254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9" name="Shape 7"/>
          <p:cNvSpPr/>
          <p:nvPr/>
        </p:nvSpPr>
        <p:spPr>
          <a:xfrm>
            <a:off x="5842000" y="1778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305931" y="8394"/>
                </a:moveTo>
                <a:cubicBezTo>
                  <a:pt x="294769" y="-2768"/>
                  <a:pt x="276642" y="-2768"/>
                  <a:pt x="265480" y="8394"/>
                </a:cubicBezTo>
                <a:cubicBezTo>
                  <a:pt x="254318" y="19556"/>
                  <a:pt x="254318" y="37683"/>
                  <a:pt x="265480" y="48845"/>
                </a:cubicBezTo>
                <a:lnTo>
                  <a:pt x="273874" y="57150"/>
                </a:lnTo>
                <a:lnTo>
                  <a:pt x="25092" y="305931"/>
                </a:lnTo>
                <a:cubicBezTo>
                  <a:pt x="9019" y="322005"/>
                  <a:pt x="0" y="343793"/>
                  <a:pt x="0" y="366564"/>
                </a:cubicBezTo>
                <a:lnTo>
                  <a:pt x="0" y="371475"/>
                </a:lnTo>
                <a:cubicBezTo>
                  <a:pt x="0" y="418802"/>
                  <a:pt x="38398" y="457200"/>
                  <a:pt x="85725" y="457200"/>
                </a:cubicBezTo>
                <a:lnTo>
                  <a:pt x="90636" y="457200"/>
                </a:lnTo>
                <a:cubicBezTo>
                  <a:pt x="113407" y="457200"/>
                  <a:pt x="135195" y="448181"/>
                  <a:pt x="151269" y="432108"/>
                </a:cubicBezTo>
                <a:lnTo>
                  <a:pt x="400050" y="183326"/>
                </a:lnTo>
                <a:lnTo>
                  <a:pt x="408444" y="191720"/>
                </a:lnTo>
                <a:cubicBezTo>
                  <a:pt x="419606" y="202882"/>
                  <a:pt x="437733" y="202882"/>
                  <a:pt x="448895" y="191720"/>
                </a:cubicBezTo>
                <a:cubicBezTo>
                  <a:pt x="460058" y="180558"/>
                  <a:pt x="460058" y="162431"/>
                  <a:pt x="448895" y="151269"/>
                </a:cubicBezTo>
                <a:lnTo>
                  <a:pt x="306020" y="8394"/>
                </a:lnTo>
                <a:close/>
                <a:moveTo>
                  <a:pt x="183326" y="228600"/>
                </a:moveTo>
                <a:lnTo>
                  <a:pt x="314325" y="97601"/>
                </a:lnTo>
                <a:lnTo>
                  <a:pt x="359599" y="142875"/>
                </a:lnTo>
                <a:lnTo>
                  <a:pt x="273874" y="228600"/>
                </a:lnTo>
                <a:lnTo>
                  <a:pt x="183237" y="22860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5842000" y="2362200"/>
            <a:ext cx="4064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Useful in Testing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842000" y="2768600"/>
            <a:ext cx="406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Helpful for generating test data and verifying database behavior with all combinations.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414000" y="1524000"/>
            <a:ext cx="5080000" cy="254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725150" y="1778000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57150" y="0"/>
                </a:moveTo>
                <a:cubicBezTo>
                  <a:pt x="25628" y="0"/>
                  <a:pt x="0" y="25628"/>
                  <a:pt x="0" y="57150"/>
                </a:cubicBezTo>
                <a:lnTo>
                  <a:pt x="0" y="400050"/>
                </a:lnTo>
                <a:cubicBezTo>
                  <a:pt x="0" y="431572"/>
                  <a:pt x="25628" y="457200"/>
                  <a:pt x="57150" y="457200"/>
                </a:cubicBezTo>
                <a:lnTo>
                  <a:pt x="285750" y="457200"/>
                </a:lnTo>
                <a:cubicBezTo>
                  <a:pt x="317272" y="457200"/>
                  <a:pt x="342900" y="431572"/>
                  <a:pt x="342900" y="400050"/>
                </a:cubicBezTo>
                <a:lnTo>
                  <a:pt x="342900" y="57150"/>
                </a:lnTo>
                <a:cubicBezTo>
                  <a:pt x="342900" y="25628"/>
                  <a:pt x="317272" y="0"/>
                  <a:pt x="285750" y="0"/>
                </a:cubicBezTo>
                <a:lnTo>
                  <a:pt x="57150" y="0"/>
                </a:lnTo>
                <a:close/>
                <a:moveTo>
                  <a:pt x="85725" y="57150"/>
                </a:moveTo>
                <a:lnTo>
                  <a:pt x="257175" y="57150"/>
                </a:lnTo>
                <a:cubicBezTo>
                  <a:pt x="272981" y="57150"/>
                  <a:pt x="285750" y="69919"/>
                  <a:pt x="285750" y="85725"/>
                </a:cubicBezTo>
                <a:lnTo>
                  <a:pt x="285750" y="114300"/>
                </a:lnTo>
                <a:cubicBezTo>
                  <a:pt x="285750" y="130106"/>
                  <a:pt x="272981" y="142875"/>
                  <a:pt x="257175" y="142875"/>
                </a:cubicBezTo>
                <a:lnTo>
                  <a:pt x="85725" y="142875"/>
                </a:lnTo>
                <a:cubicBezTo>
                  <a:pt x="69919" y="142875"/>
                  <a:pt x="57150" y="130106"/>
                  <a:pt x="57150" y="114300"/>
                </a:cubicBezTo>
                <a:lnTo>
                  <a:pt x="57150" y="85725"/>
                </a:lnTo>
                <a:cubicBezTo>
                  <a:pt x="57150" y="69919"/>
                  <a:pt x="69919" y="57150"/>
                  <a:pt x="85725" y="57150"/>
                </a:cubicBezTo>
                <a:close/>
                <a:moveTo>
                  <a:pt x="100013" y="207169"/>
                </a:moveTo>
                <a:cubicBezTo>
                  <a:pt x="100013" y="218997"/>
                  <a:pt x="90409" y="228600"/>
                  <a:pt x="78581" y="228600"/>
                </a:cubicBezTo>
                <a:cubicBezTo>
                  <a:pt x="66753" y="228600"/>
                  <a:pt x="57150" y="218997"/>
                  <a:pt x="57150" y="207169"/>
                </a:cubicBezTo>
                <a:cubicBezTo>
                  <a:pt x="57150" y="195341"/>
                  <a:pt x="66753" y="185738"/>
                  <a:pt x="78581" y="185738"/>
                </a:cubicBezTo>
                <a:cubicBezTo>
                  <a:pt x="90409" y="185738"/>
                  <a:pt x="100013" y="195341"/>
                  <a:pt x="100013" y="207169"/>
                </a:cubicBezTo>
                <a:close/>
                <a:moveTo>
                  <a:pt x="171450" y="228600"/>
                </a:moveTo>
                <a:cubicBezTo>
                  <a:pt x="159622" y="228600"/>
                  <a:pt x="150019" y="218997"/>
                  <a:pt x="150019" y="207169"/>
                </a:cubicBezTo>
                <a:cubicBezTo>
                  <a:pt x="150019" y="195341"/>
                  <a:pt x="159622" y="185738"/>
                  <a:pt x="171450" y="185738"/>
                </a:cubicBezTo>
                <a:cubicBezTo>
                  <a:pt x="183278" y="185738"/>
                  <a:pt x="192881" y="195341"/>
                  <a:pt x="192881" y="207169"/>
                </a:cubicBezTo>
                <a:cubicBezTo>
                  <a:pt x="192881" y="218997"/>
                  <a:pt x="183278" y="228600"/>
                  <a:pt x="171450" y="228600"/>
                </a:cubicBezTo>
                <a:close/>
                <a:moveTo>
                  <a:pt x="285750" y="207169"/>
                </a:moveTo>
                <a:cubicBezTo>
                  <a:pt x="285750" y="218997"/>
                  <a:pt x="276147" y="228600"/>
                  <a:pt x="264319" y="228600"/>
                </a:cubicBezTo>
                <a:cubicBezTo>
                  <a:pt x="252491" y="228600"/>
                  <a:pt x="242888" y="218997"/>
                  <a:pt x="242888" y="207169"/>
                </a:cubicBezTo>
                <a:cubicBezTo>
                  <a:pt x="242888" y="195341"/>
                  <a:pt x="252491" y="185738"/>
                  <a:pt x="264319" y="185738"/>
                </a:cubicBezTo>
                <a:cubicBezTo>
                  <a:pt x="276147" y="185738"/>
                  <a:pt x="285750" y="195341"/>
                  <a:pt x="285750" y="207169"/>
                </a:cubicBezTo>
                <a:close/>
                <a:moveTo>
                  <a:pt x="78581" y="314325"/>
                </a:moveTo>
                <a:cubicBezTo>
                  <a:pt x="66753" y="314325"/>
                  <a:pt x="57150" y="304722"/>
                  <a:pt x="57150" y="292894"/>
                </a:cubicBezTo>
                <a:cubicBezTo>
                  <a:pt x="57150" y="281066"/>
                  <a:pt x="66753" y="271463"/>
                  <a:pt x="78581" y="271463"/>
                </a:cubicBezTo>
                <a:cubicBezTo>
                  <a:pt x="90409" y="271463"/>
                  <a:pt x="100013" y="281066"/>
                  <a:pt x="100013" y="292894"/>
                </a:cubicBezTo>
                <a:cubicBezTo>
                  <a:pt x="100013" y="304722"/>
                  <a:pt x="90409" y="314325"/>
                  <a:pt x="78581" y="314325"/>
                </a:cubicBezTo>
                <a:close/>
                <a:moveTo>
                  <a:pt x="192881" y="292894"/>
                </a:moveTo>
                <a:cubicBezTo>
                  <a:pt x="192881" y="304722"/>
                  <a:pt x="183278" y="314325"/>
                  <a:pt x="171450" y="314325"/>
                </a:cubicBezTo>
                <a:cubicBezTo>
                  <a:pt x="159622" y="314325"/>
                  <a:pt x="150019" y="304722"/>
                  <a:pt x="150019" y="292894"/>
                </a:cubicBezTo>
                <a:cubicBezTo>
                  <a:pt x="150019" y="281066"/>
                  <a:pt x="159622" y="271463"/>
                  <a:pt x="171450" y="271463"/>
                </a:cubicBezTo>
                <a:cubicBezTo>
                  <a:pt x="183278" y="271463"/>
                  <a:pt x="192881" y="281066"/>
                  <a:pt x="192881" y="292894"/>
                </a:cubicBezTo>
                <a:close/>
                <a:moveTo>
                  <a:pt x="264319" y="314325"/>
                </a:moveTo>
                <a:cubicBezTo>
                  <a:pt x="252491" y="314325"/>
                  <a:pt x="242888" y="304722"/>
                  <a:pt x="242888" y="292894"/>
                </a:cubicBezTo>
                <a:cubicBezTo>
                  <a:pt x="242888" y="281066"/>
                  <a:pt x="252491" y="271463"/>
                  <a:pt x="264319" y="271463"/>
                </a:cubicBezTo>
                <a:cubicBezTo>
                  <a:pt x="276147" y="271463"/>
                  <a:pt x="285750" y="281066"/>
                  <a:pt x="285750" y="292894"/>
                </a:cubicBezTo>
                <a:cubicBezTo>
                  <a:pt x="285750" y="304722"/>
                  <a:pt x="276147" y="314325"/>
                  <a:pt x="264319" y="314325"/>
                </a:cubicBezTo>
                <a:close/>
                <a:moveTo>
                  <a:pt x="57150" y="378619"/>
                </a:moveTo>
                <a:cubicBezTo>
                  <a:pt x="57150" y="366742"/>
                  <a:pt x="66705" y="357188"/>
                  <a:pt x="78581" y="357188"/>
                </a:cubicBezTo>
                <a:lnTo>
                  <a:pt x="178594" y="357188"/>
                </a:lnTo>
                <a:cubicBezTo>
                  <a:pt x="190470" y="357188"/>
                  <a:pt x="200025" y="366742"/>
                  <a:pt x="200025" y="378619"/>
                </a:cubicBezTo>
                <a:cubicBezTo>
                  <a:pt x="200025" y="390495"/>
                  <a:pt x="190470" y="400050"/>
                  <a:pt x="178594" y="400050"/>
                </a:cubicBezTo>
                <a:lnTo>
                  <a:pt x="78581" y="400050"/>
                </a:lnTo>
                <a:cubicBezTo>
                  <a:pt x="66705" y="400050"/>
                  <a:pt x="57150" y="390495"/>
                  <a:pt x="57150" y="378619"/>
                </a:cubicBezTo>
                <a:close/>
                <a:moveTo>
                  <a:pt x="264319" y="357188"/>
                </a:moveTo>
                <a:cubicBezTo>
                  <a:pt x="276195" y="357188"/>
                  <a:pt x="285750" y="366742"/>
                  <a:pt x="285750" y="378619"/>
                </a:cubicBezTo>
                <a:cubicBezTo>
                  <a:pt x="285750" y="390495"/>
                  <a:pt x="276195" y="400050"/>
                  <a:pt x="264319" y="400050"/>
                </a:cubicBezTo>
                <a:cubicBezTo>
                  <a:pt x="252442" y="400050"/>
                  <a:pt x="242888" y="390495"/>
                  <a:pt x="242888" y="378619"/>
                </a:cubicBezTo>
                <a:cubicBezTo>
                  <a:pt x="242888" y="366742"/>
                  <a:pt x="252442" y="357188"/>
                  <a:pt x="264319" y="35718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10668000" y="2362200"/>
            <a:ext cx="4572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Mathematical Operations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668000" y="27686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Useful for mathematical set operations and Cartesian product calculations.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62000" y="4508500"/>
            <a:ext cx="14732000" cy="2286000"/>
          </a:xfrm>
          <a:prstGeom prst="roundRect">
            <a:avLst>
              <a:gd name="adj" fmla="val 6000"/>
            </a:avLst>
          </a:prstGeom>
          <a:solidFill>
            <a:srgbClr val="1B4D4D"/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4762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21322" y="50215"/>
                </a:moveTo>
                <a:cubicBezTo>
                  <a:pt x="26114" y="33615"/>
                  <a:pt x="41325" y="22225"/>
                  <a:pt x="58618" y="22225"/>
                </a:cubicBezTo>
                <a:lnTo>
                  <a:pt x="297537" y="22225"/>
                </a:lnTo>
                <a:cubicBezTo>
                  <a:pt x="314831" y="22225"/>
                  <a:pt x="330041" y="33615"/>
                  <a:pt x="334903" y="50215"/>
                </a:cubicBezTo>
                <a:lnTo>
                  <a:pt x="351155" y="105916"/>
                </a:lnTo>
                <a:cubicBezTo>
                  <a:pt x="360045" y="136267"/>
                  <a:pt x="337195" y="166688"/>
                  <a:pt x="305594" y="166688"/>
                </a:cubicBezTo>
                <a:cubicBezTo>
                  <a:pt x="287328" y="166688"/>
                  <a:pt x="271284" y="156339"/>
                  <a:pt x="263366" y="140920"/>
                </a:cubicBezTo>
                <a:cubicBezTo>
                  <a:pt x="255310" y="156131"/>
                  <a:pt x="239335" y="166688"/>
                  <a:pt x="220722" y="166688"/>
                </a:cubicBezTo>
                <a:cubicBezTo>
                  <a:pt x="202248" y="166688"/>
                  <a:pt x="186204" y="156270"/>
                  <a:pt x="178147" y="140990"/>
                </a:cubicBezTo>
                <a:cubicBezTo>
                  <a:pt x="170091" y="156270"/>
                  <a:pt x="154047" y="166688"/>
                  <a:pt x="135572" y="166688"/>
                </a:cubicBezTo>
                <a:cubicBezTo>
                  <a:pt x="116959" y="166688"/>
                  <a:pt x="100985" y="156200"/>
                  <a:pt x="92928" y="140920"/>
                </a:cubicBezTo>
                <a:cubicBezTo>
                  <a:pt x="85011" y="156270"/>
                  <a:pt x="68967" y="166688"/>
                  <a:pt x="50701" y="166688"/>
                </a:cubicBezTo>
                <a:cubicBezTo>
                  <a:pt x="19030" y="166688"/>
                  <a:pt x="-3750" y="136336"/>
                  <a:pt x="5140" y="105916"/>
                </a:cubicBezTo>
                <a:lnTo>
                  <a:pt x="21322" y="50215"/>
                </a:lnTo>
                <a:close/>
                <a:moveTo>
                  <a:pt x="66953" y="244475"/>
                </a:moveTo>
                <a:lnTo>
                  <a:pt x="289203" y="244475"/>
                </a:lnTo>
                <a:lnTo>
                  <a:pt x="289203" y="198358"/>
                </a:lnTo>
                <a:cubicBezTo>
                  <a:pt x="294481" y="199469"/>
                  <a:pt x="299968" y="200025"/>
                  <a:pt x="305524" y="200025"/>
                </a:cubicBezTo>
                <a:cubicBezTo>
                  <a:pt x="315456" y="200025"/>
                  <a:pt x="324971" y="198219"/>
                  <a:pt x="333653" y="195024"/>
                </a:cubicBezTo>
                <a:lnTo>
                  <a:pt x="333653" y="300038"/>
                </a:lnTo>
                <a:cubicBezTo>
                  <a:pt x="333653" y="318443"/>
                  <a:pt x="318720" y="333375"/>
                  <a:pt x="300315" y="333375"/>
                </a:cubicBezTo>
                <a:lnTo>
                  <a:pt x="55840" y="333375"/>
                </a:lnTo>
                <a:cubicBezTo>
                  <a:pt x="37435" y="333375"/>
                  <a:pt x="22503" y="318443"/>
                  <a:pt x="22503" y="300038"/>
                </a:cubicBezTo>
                <a:lnTo>
                  <a:pt x="22503" y="195024"/>
                </a:lnTo>
                <a:cubicBezTo>
                  <a:pt x="31184" y="198219"/>
                  <a:pt x="40630" y="200025"/>
                  <a:pt x="50631" y="200025"/>
                </a:cubicBezTo>
                <a:cubicBezTo>
                  <a:pt x="56257" y="200025"/>
                  <a:pt x="61674" y="199469"/>
                  <a:pt x="66953" y="198358"/>
                </a:cubicBezTo>
                <a:lnTo>
                  <a:pt x="66953" y="244475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4699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16000" y="5270500"/>
            <a:ext cx="14224000" cy="149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Online Store Product Combinations: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Creating all possible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shirt and shoe combinations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a product catalog. If there are 5 shirts and 4 shoes, the cross product generates all 20 combinations for display.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Disadvantages of Cross Product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84547" y="4128"/>
                </a:moveTo>
                <a:cubicBezTo>
                  <a:pt x="196374" y="-1349"/>
                  <a:pt x="210026" y="-1349"/>
                  <a:pt x="221853" y="4128"/>
                </a:cubicBezTo>
                <a:lnTo>
                  <a:pt x="395367" y="84296"/>
                </a:lnTo>
                <a:cubicBezTo>
                  <a:pt x="402114" y="87392"/>
                  <a:pt x="406400" y="94139"/>
                  <a:pt x="406400" y="101600"/>
                </a:cubicBezTo>
                <a:cubicBezTo>
                  <a:pt x="406400" y="109061"/>
                  <a:pt x="402114" y="115808"/>
                  <a:pt x="395367" y="118904"/>
                </a:cubicBezTo>
                <a:lnTo>
                  <a:pt x="221853" y="199073"/>
                </a:lnTo>
                <a:cubicBezTo>
                  <a:pt x="210026" y="204549"/>
                  <a:pt x="196374" y="204549"/>
                  <a:pt x="184547" y="199073"/>
                </a:cubicBezTo>
                <a:lnTo>
                  <a:pt x="11033" y="118904"/>
                </a:lnTo>
                <a:cubicBezTo>
                  <a:pt x="4286" y="115729"/>
                  <a:pt x="0" y="108982"/>
                  <a:pt x="0" y="101600"/>
                </a:cubicBezTo>
                <a:cubicBezTo>
                  <a:pt x="0" y="94218"/>
                  <a:pt x="4286" y="87392"/>
                  <a:pt x="11033" y="84296"/>
                </a:cubicBezTo>
                <a:lnTo>
                  <a:pt x="184547" y="4128"/>
                </a:lnTo>
                <a:close/>
                <a:moveTo>
                  <a:pt x="38179" y="173355"/>
                </a:moveTo>
                <a:lnTo>
                  <a:pt x="168593" y="233601"/>
                </a:lnTo>
                <a:cubicBezTo>
                  <a:pt x="190579" y="243761"/>
                  <a:pt x="215900" y="243761"/>
                  <a:pt x="237887" y="233601"/>
                </a:cubicBezTo>
                <a:lnTo>
                  <a:pt x="368300" y="173355"/>
                </a:lnTo>
                <a:lnTo>
                  <a:pt x="395367" y="185896"/>
                </a:lnTo>
                <a:cubicBezTo>
                  <a:pt x="402114" y="188992"/>
                  <a:pt x="406400" y="195739"/>
                  <a:pt x="406400" y="203200"/>
                </a:cubicBezTo>
                <a:cubicBezTo>
                  <a:pt x="406400" y="210661"/>
                  <a:pt x="402114" y="217408"/>
                  <a:pt x="395367" y="220504"/>
                </a:cubicBezTo>
                <a:lnTo>
                  <a:pt x="221853" y="300673"/>
                </a:lnTo>
                <a:cubicBezTo>
                  <a:pt x="210026" y="306149"/>
                  <a:pt x="196374" y="306149"/>
                  <a:pt x="184547" y="300673"/>
                </a:cubicBezTo>
                <a:lnTo>
                  <a:pt x="11033" y="220504"/>
                </a:lnTo>
                <a:cubicBezTo>
                  <a:pt x="4286" y="217329"/>
                  <a:pt x="0" y="210582"/>
                  <a:pt x="0" y="203200"/>
                </a:cubicBezTo>
                <a:cubicBezTo>
                  <a:pt x="0" y="195818"/>
                  <a:pt x="4286" y="188992"/>
                  <a:pt x="11033" y="185896"/>
                </a:cubicBezTo>
                <a:lnTo>
                  <a:pt x="38100" y="173355"/>
                </a:lnTo>
                <a:close/>
                <a:moveTo>
                  <a:pt x="11033" y="287496"/>
                </a:moveTo>
                <a:lnTo>
                  <a:pt x="38100" y="274955"/>
                </a:lnTo>
                <a:lnTo>
                  <a:pt x="168513" y="335201"/>
                </a:lnTo>
                <a:cubicBezTo>
                  <a:pt x="190500" y="345361"/>
                  <a:pt x="215821" y="345361"/>
                  <a:pt x="237808" y="335201"/>
                </a:cubicBezTo>
                <a:lnTo>
                  <a:pt x="368221" y="274955"/>
                </a:lnTo>
                <a:lnTo>
                  <a:pt x="395288" y="287496"/>
                </a:lnTo>
                <a:cubicBezTo>
                  <a:pt x="402034" y="290592"/>
                  <a:pt x="406321" y="297339"/>
                  <a:pt x="406321" y="304800"/>
                </a:cubicBezTo>
                <a:cubicBezTo>
                  <a:pt x="406321" y="312261"/>
                  <a:pt x="402034" y="319008"/>
                  <a:pt x="395288" y="322104"/>
                </a:cubicBezTo>
                <a:lnTo>
                  <a:pt x="221774" y="402273"/>
                </a:lnTo>
                <a:cubicBezTo>
                  <a:pt x="209947" y="407749"/>
                  <a:pt x="196294" y="407749"/>
                  <a:pt x="184468" y="402273"/>
                </a:cubicBezTo>
                <a:lnTo>
                  <a:pt x="11033" y="322104"/>
                </a:lnTo>
                <a:cubicBezTo>
                  <a:pt x="4286" y="318929"/>
                  <a:pt x="0" y="312182"/>
                  <a:pt x="0" y="304800"/>
                </a:cubicBezTo>
                <a:cubicBezTo>
                  <a:pt x="0" y="297418"/>
                  <a:pt x="4286" y="290592"/>
                  <a:pt x="11033" y="287496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6" name="Text 4"/>
          <p:cNvSpPr/>
          <p:nvPr/>
        </p:nvSpPr>
        <p:spPr>
          <a:xfrm>
            <a:off x="15875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Produces Too Many Rows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2032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result set grows exponentially with table sizes.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4605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0" y="184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203200"/>
                </a:moveTo>
                <a:cubicBezTo>
                  <a:pt x="0" y="91051"/>
                  <a:pt x="91051" y="0"/>
                  <a:pt x="203200" y="0"/>
                </a:cubicBezTo>
                <a:cubicBezTo>
                  <a:pt x="315349" y="0"/>
                  <a:pt x="406400" y="91051"/>
                  <a:pt x="406400" y="203200"/>
                </a:cubicBezTo>
                <a:cubicBezTo>
                  <a:pt x="406400" y="315349"/>
                  <a:pt x="315349" y="406400"/>
                  <a:pt x="203200" y="406400"/>
                </a:cubicBezTo>
                <a:cubicBezTo>
                  <a:pt x="91051" y="406400"/>
                  <a:pt x="0" y="315349"/>
                  <a:pt x="0" y="203200"/>
                </a:cubicBezTo>
                <a:close/>
                <a:moveTo>
                  <a:pt x="228600" y="76200"/>
                </a:moveTo>
                <a:cubicBezTo>
                  <a:pt x="228600" y="62181"/>
                  <a:pt x="217219" y="50800"/>
                  <a:pt x="203200" y="50800"/>
                </a:cubicBezTo>
                <a:cubicBezTo>
                  <a:pt x="189181" y="50800"/>
                  <a:pt x="177800" y="62181"/>
                  <a:pt x="177800" y="76200"/>
                </a:cubicBezTo>
                <a:cubicBezTo>
                  <a:pt x="177800" y="90219"/>
                  <a:pt x="189181" y="101600"/>
                  <a:pt x="203200" y="101600"/>
                </a:cubicBezTo>
                <a:cubicBezTo>
                  <a:pt x="217219" y="101600"/>
                  <a:pt x="228600" y="90219"/>
                  <a:pt x="228600" y="76200"/>
                </a:cubicBezTo>
                <a:close/>
                <a:moveTo>
                  <a:pt x="203200" y="330200"/>
                </a:moveTo>
                <a:cubicBezTo>
                  <a:pt x="231219" y="330200"/>
                  <a:pt x="254000" y="307419"/>
                  <a:pt x="254000" y="279400"/>
                </a:cubicBezTo>
                <a:cubicBezTo>
                  <a:pt x="254000" y="266541"/>
                  <a:pt x="249237" y="254714"/>
                  <a:pt x="241300" y="245824"/>
                </a:cubicBezTo>
                <a:lnTo>
                  <a:pt x="296466" y="135572"/>
                </a:lnTo>
                <a:cubicBezTo>
                  <a:pt x="301149" y="126127"/>
                  <a:pt x="297339" y="114697"/>
                  <a:pt x="287973" y="110014"/>
                </a:cubicBezTo>
                <a:cubicBezTo>
                  <a:pt x="278606" y="105331"/>
                  <a:pt x="267097" y="109141"/>
                  <a:pt x="262414" y="118507"/>
                </a:cubicBezTo>
                <a:lnTo>
                  <a:pt x="207248" y="228759"/>
                </a:lnTo>
                <a:cubicBezTo>
                  <a:pt x="205899" y="228679"/>
                  <a:pt x="204549" y="228600"/>
                  <a:pt x="203200" y="228600"/>
                </a:cubicBezTo>
                <a:cubicBezTo>
                  <a:pt x="175181" y="228600"/>
                  <a:pt x="152400" y="251381"/>
                  <a:pt x="152400" y="279400"/>
                </a:cubicBezTo>
                <a:cubicBezTo>
                  <a:pt x="152400" y="307419"/>
                  <a:pt x="175181" y="330200"/>
                  <a:pt x="203200" y="330200"/>
                </a:cubicBezTo>
                <a:close/>
                <a:moveTo>
                  <a:pt x="139700" y="114300"/>
                </a:moveTo>
                <a:cubicBezTo>
                  <a:pt x="139700" y="100281"/>
                  <a:pt x="128319" y="88900"/>
                  <a:pt x="114300" y="88900"/>
                </a:cubicBezTo>
                <a:cubicBezTo>
                  <a:pt x="100281" y="88900"/>
                  <a:pt x="88900" y="100281"/>
                  <a:pt x="88900" y="114300"/>
                </a:cubicBezTo>
                <a:cubicBezTo>
                  <a:pt x="88900" y="128319"/>
                  <a:pt x="100281" y="139700"/>
                  <a:pt x="114300" y="139700"/>
                </a:cubicBezTo>
                <a:cubicBezTo>
                  <a:pt x="128319" y="139700"/>
                  <a:pt x="139700" y="128319"/>
                  <a:pt x="139700" y="114300"/>
                </a:cubicBezTo>
                <a:close/>
                <a:moveTo>
                  <a:pt x="76200" y="228600"/>
                </a:moveTo>
                <a:cubicBezTo>
                  <a:pt x="90219" y="228600"/>
                  <a:pt x="101600" y="217219"/>
                  <a:pt x="101600" y="203200"/>
                </a:cubicBezTo>
                <a:cubicBezTo>
                  <a:pt x="101600" y="189181"/>
                  <a:pt x="90219" y="177800"/>
                  <a:pt x="76200" y="177800"/>
                </a:cubicBezTo>
                <a:cubicBezTo>
                  <a:pt x="62181" y="177800"/>
                  <a:pt x="50800" y="189181"/>
                  <a:pt x="50800" y="203200"/>
                </a:cubicBezTo>
                <a:cubicBezTo>
                  <a:pt x="50800" y="217219"/>
                  <a:pt x="62181" y="228600"/>
                  <a:pt x="76200" y="228600"/>
                </a:cubicBezTo>
                <a:close/>
                <a:moveTo>
                  <a:pt x="355600" y="203200"/>
                </a:moveTo>
                <a:cubicBezTo>
                  <a:pt x="355600" y="189181"/>
                  <a:pt x="344219" y="177800"/>
                  <a:pt x="330200" y="177800"/>
                </a:cubicBezTo>
                <a:cubicBezTo>
                  <a:pt x="316181" y="177800"/>
                  <a:pt x="304800" y="189181"/>
                  <a:pt x="304800" y="203200"/>
                </a:cubicBezTo>
                <a:cubicBezTo>
                  <a:pt x="304800" y="217219"/>
                  <a:pt x="316181" y="228600"/>
                  <a:pt x="330200" y="228600"/>
                </a:cubicBezTo>
                <a:cubicBezTo>
                  <a:pt x="344219" y="228600"/>
                  <a:pt x="355600" y="217219"/>
                  <a:pt x="355600" y="2032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0" name="Text 8"/>
          <p:cNvSpPr/>
          <p:nvPr/>
        </p:nvSpPr>
        <p:spPr>
          <a:xfrm>
            <a:off x="8953500" y="1651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Slow Performance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953500" y="20320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Large result sets consume memory and processing time.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111500"/>
            <a:ext cx="7112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41400" y="34925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08506" y="4683"/>
                </a:moveTo>
                <a:cubicBezTo>
                  <a:pt x="111998" y="-5715"/>
                  <a:pt x="121682" y="-12700"/>
                  <a:pt x="132636" y="-12700"/>
                </a:cubicBezTo>
                <a:lnTo>
                  <a:pt x="223044" y="-12700"/>
                </a:lnTo>
                <a:cubicBezTo>
                  <a:pt x="233998" y="-12700"/>
                  <a:pt x="243681" y="-5715"/>
                  <a:pt x="247174" y="4683"/>
                </a:cubicBezTo>
                <a:lnTo>
                  <a:pt x="254000" y="25400"/>
                </a:lnTo>
                <a:lnTo>
                  <a:pt x="330200" y="25400"/>
                </a:lnTo>
                <a:cubicBezTo>
                  <a:pt x="344249" y="25400"/>
                  <a:pt x="355600" y="36751"/>
                  <a:pt x="355600" y="50800"/>
                </a:cubicBezTo>
                <a:cubicBezTo>
                  <a:pt x="355600" y="64849"/>
                  <a:pt x="344249" y="76200"/>
                  <a:pt x="330200" y="76200"/>
                </a:cubicBezTo>
                <a:lnTo>
                  <a:pt x="25400" y="76200"/>
                </a:lnTo>
                <a:cubicBezTo>
                  <a:pt x="11351" y="76200"/>
                  <a:pt x="0" y="64849"/>
                  <a:pt x="0" y="50800"/>
                </a:cubicBezTo>
                <a:cubicBezTo>
                  <a:pt x="0" y="36751"/>
                  <a:pt x="11351" y="25400"/>
                  <a:pt x="25400" y="25400"/>
                </a:cubicBezTo>
                <a:lnTo>
                  <a:pt x="101600" y="25400"/>
                </a:lnTo>
                <a:lnTo>
                  <a:pt x="108506" y="4683"/>
                </a:lnTo>
                <a:close/>
                <a:moveTo>
                  <a:pt x="25400" y="114300"/>
                </a:moveTo>
                <a:lnTo>
                  <a:pt x="330200" y="114300"/>
                </a:lnTo>
                <a:lnTo>
                  <a:pt x="330200" y="355600"/>
                </a:lnTo>
                <a:cubicBezTo>
                  <a:pt x="330200" y="383619"/>
                  <a:pt x="307419" y="406400"/>
                  <a:pt x="279400" y="406400"/>
                </a:cubicBezTo>
                <a:lnTo>
                  <a:pt x="76200" y="406400"/>
                </a:lnTo>
                <a:cubicBezTo>
                  <a:pt x="48181" y="406400"/>
                  <a:pt x="25400" y="383619"/>
                  <a:pt x="25400" y="355600"/>
                </a:cubicBezTo>
                <a:lnTo>
                  <a:pt x="25400" y="114300"/>
                </a:lnTo>
                <a:close/>
                <a:moveTo>
                  <a:pt x="95250" y="165100"/>
                </a:moveTo>
                <a:cubicBezTo>
                  <a:pt x="84693" y="165100"/>
                  <a:pt x="76200" y="173593"/>
                  <a:pt x="76200" y="184150"/>
                </a:cubicBezTo>
                <a:lnTo>
                  <a:pt x="76200" y="336550"/>
                </a:lnTo>
                <a:cubicBezTo>
                  <a:pt x="76200" y="347107"/>
                  <a:pt x="84693" y="355600"/>
                  <a:pt x="95250" y="355600"/>
                </a:cubicBezTo>
                <a:cubicBezTo>
                  <a:pt x="105807" y="355600"/>
                  <a:pt x="114300" y="347107"/>
                  <a:pt x="114300" y="336550"/>
                </a:cubicBezTo>
                <a:lnTo>
                  <a:pt x="114300" y="184150"/>
                </a:lnTo>
                <a:cubicBezTo>
                  <a:pt x="114300" y="173593"/>
                  <a:pt x="105807" y="165100"/>
                  <a:pt x="95250" y="165100"/>
                </a:cubicBezTo>
                <a:close/>
                <a:moveTo>
                  <a:pt x="177800" y="165100"/>
                </a:moveTo>
                <a:cubicBezTo>
                  <a:pt x="167243" y="165100"/>
                  <a:pt x="158750" y="173593"/>
                  <a:pt x="158750" y="184150"/>
                </a:cubicBezTo>
                <a:lnTo>
                  <a:pt x="158750" y="336550"/>
                </a:lnTo>
                <a:cubicBezTo>
                  <a:pt x="158750" y="347107"/>
                  <a:pt x="167243" y="355600"/>
                  <a:pt x="177800" y="355600"/>
                </a:cubicBezTo>
                <a:cubicBezTo>
                  <a:pt x="188357" y="355600"/>
                  <a:pt x="196850" y="347107"/>
                  <a:pt x="196850" y="336550"/>
                </a:cubicBezTo>
                <a:lnTo>
                  <a:pt x="196850" y="184150"/>
                </a:lnTo>
                <a:cubicBezTo>
                  <a:pt x="196850" y="173593"/>
                  <a:pt x="188357" y="165100"/>
                  <a:pt x="177800" y="165100"/>
                </a:cubicBezTo>
                <a:close/>
                <a:moveTo>
                  <a:pt x="260350" y="165100"/>
                </a:moveTo>
                <a:cubicBezTo>
                  <a:pt x="249793" y="165100"/>
                  <a:pt x="241300" y="173593"/>
                  <a:pt x="241300" y="184150"/>
                </a:cubicBezTo>
                <a:lnTo>
                  <a:pt x="241300" y="336550"/>
                </a:lnTo>
                <a:cubicBezTo>
                  <a:pt x="241300" y="347107"/>
                  <a:pt x="249793" y="355600"/>
                  <a:pt x="260350" y="355600"/>
                </a:cubicBezTo>
                <a:cubicBezTo>
                  <a:pt x="270907" y="355600"/>
                  <a:pt x="279400" y="347107"/>
                  <a:pt x="279400" y="336550"/>
                </a:cubicBezTo>
                <a:lnTo>
                  <a:pt x="279400" y="184150"/>
                </a:lnTo>
                <a:cubicBezTo>
                  <a:pt x="279400" y="173593"/>
                  <a:pt x="270907" y="165100"/>
                  <a:pt x="260350" y="1651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4" name="Text 12"/>
          <p:cNvSpPr/>
          <p:nvPr/>
        </p:nvSpPr>
        <p:spPr>
          <a:xfrm>
            <a:off x="1587500" y="3302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Unnecessary Data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87500" y="3683000"/>
            <a:ext cx="6032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Most generated rows have no meaningful relationship.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8000" y="3111500"/>
            <a:ext cx="7366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382000" y="3492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203200" y="406400"/>
                </a:moveTo>
                <a:cubicBezTo>
                  <a:pt x="315349" y="406400"/>
                  <a:pt x="406400" y="315349"/>
                  <a:pt x="406400" y="203200"/>
                </a:cubicBezTo>
                <a:cubicBezTo>
                  <a:pt x="406400" y="91051"/>
                  <a:pt x="315349" y="0"/>
                  <a:pt x="203200" y="0"/>
                </a:cubicBezTo>
                <a:cubicBezTo>
                  <a:pt x="91051" y="0"/>
                  <a:pt x="0" y="91051"/>
                  <a:pt x="0" y="203200"/>
                </a:cubicBezTo>
                <a:cubicBezTo>
                  <a:pt x="0" y="315349"/>
                  <a:pt x="91051" y="406400"/>
                  <a:pt x="203200" y="406400"/>
                </a:cubicBezTo>
                <a:close/>
                <a:moveTo>
                  <a:pt x="203200" y="139700"/>
                </a:moveTo>
                <a:cubicBezTo>
                  <a:pt x="189151" y="139700"/>
                  <a:pt x="177800" y="151051"/>
                  <a:pt x="177800" y="165100"/>
                </a:cubicBezTo>
                <a:cubicBezTo>
                  <a:pt x="177800" y="175657"/>
                  <a:pt x="169307" y="184150"/>
                  <a:pt x="158750" y="184150"/>
                </a:cubicBezTo>
                <a:cubicBezTo>
                  <a:pt x="148193" y="184150"/>
                  <a:pt x="139700" y="175657"/>
                  <a:pt x="139700" y="165100"/>
                </a:cubicBezTo>
                <a:cubicBezTo>
                  <a:pt x="139700" y="130016"/>
                  <a:pt x="168116" y="101600"/>
                  <a:pt x="203200" y="101600"/>
                </a:cubicBezTo>
                <a:cubicBezTo>
                  <a:pt x="238284" y="101600"/>
                  <a:pt x="266700" y="130016"/>
                  <a:pt x="266700" y="165100"/>
                </a:cubicBezTo>
                <a:cubicBezTo>
                  <a:pt x="266700" y="202565"/>
                  <a:pt x="238125" y="218440"/>
                  <a:pt x="222250" y="224234"/>
                </a:cubicBezTo>
                <a:lnTo>
                  <a:pt x="222250" y="227251"/>
                </a:lnTo>
                <a:cubicBezTo>
                  <a:pt x="222250" y="237808"/>
                  <a:pt x="213757" y="246301"/>
                  <a:pt x="203200" y="246301"/>
                </a:cubicBezTo>
                <a:cubicBezTo>
                  <a:pt x="192643" y="246301"/>
                  <a:pt x="184150" y="237808"/>
                  <a:pt x="184150" y="227251"/>
                </a:cubicBezTo>
                <a:lnTo>
                  <a:pt x="184150" y="220821"/>
                </a:lnTo>
                <a:cubicBezTo>
                  <a:pt x="184150" y="204549"/>
                  <a:pt x="195898" y="192881"/>
                  <a:pt x="208042" y="188913"/>
                </a:cubicBezTo>
                <a:cubicBezTo>
                  <a:pt x="213122" y="187246"/>
                  <a:pt x="218519" y="184547"/>
                  <a:pt x="222488" y="180737"/>
                </a:cubicBezTo>
                <a:cubicBezTo>
                  <a:pt x="225901" y="177403"/>
                  <a:pt x="228600" y="172799"/>
                  <a:pt x="228600" y="165179"/>
                </a:cubicBezTo>
                <a:cubicBezTo>
                  <a:pt x="228600" y="151130"/>
                  <a:pt x="217249" y="139779"/>
                  <a:pt x="203200" y="139779"/>
                </a:cubicBezTo>
                <a:close/>
                <a:moveTo>
                  <a:pt x="177800" y="292100"/>
                </a:moveTo>
                <a:cubicBezTo>
                  <a:pt x="177800" y="278081"/>
                  <a:pt x="189181" y="266700"/>
                  <a:pt x="203200" y="266700"/>
                </a:cubicBezTo>
                <a:cubicBezTo>
                  <a:pt x="217219" y="266700"/>
                  <a:pt x="228600" y="278081"/>
                  <a:pt x="228600" y="292100"/>
                </a:cubicBezTo>
                <a:cubicBezTo>
                  <a:pt x="228600" y="306119"/>
                  <a:pt x="217219" y="317500"/>
                  <a:pt x="203200" y="317500"/>
                </a:cubicBezTo>
                <a:cubicBezTo>
                  <a:pt x="189181" y="317500"/>
                  <a:pt x="177800" y="306119"/>
                  <a:pt x="177800" y="2921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6"/>
          <p:cNvSpPr/>
          <p:nvPr/>
        </p:nvSpPr>
        <p:spPr>
          <a:xfrm>
            <a:off x="8953500" y="3302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to Understand Output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953500" y="3683000"/>
            <a:ext cx="6286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Hard to extract meaningful insights from the data.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4953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5207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" y="5156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715000"/>
            <a:ext cx="14224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100 students x 50 courses = 5,000 rows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 a university database, a cross product of students and courses would generate 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5,000 meaningless rows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. Most students are not enrolled in most courses, making this data useless without proper filtering.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are Joins?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7620000" cy="101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711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Joins are used to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combine related data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from multiple tables based on a common column.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 Purpose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2000" y="3238500"/>
            <a:ext cx="711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Get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meaningful information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by connecting related tables intelligently.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762000" y="412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Works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63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0" name="Shape 8"/>
          <p:cNvSpPr/>
          <p:nvPr/>
        </p:nvSpPr>
        <p:spPr>
          <a:xfrm>
            <a:off x="1546225" y="47625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55575" y="172244"/>
                </a:moveTo>
                <a:cubicBezTo>
                  <a:pt x="201574" y="172244"/>
                  <a:pt x="238919" y="134899"/>
                  <a:pt x="238919" y="88900"/>
                </a:cubicBezTo>
                <a:cubicBezTo>
                  <a:pt x="238919" y="42901"/>
                  <a:pt x="201574" y="5556"/>
                  <a:pt x="155575" y="5556"/>
                </a:cubicBezTo>
                <a:cubicBezTo>
                  <a:pt x="109576" y="5556"/>
                  <a:pt x="72231" y="42901"/>
                  <a:pt x="72231" y="88900"/>
                </a:cubicBezTo>
                <a:cubicBezTo>
                  <a:pt x="72231" y="134899"/>
                  <a:pt x="109576" y="172244"/>
                  <a:pt x="155575" y="172244"/>
                </a:cubicBezTo>
                <a:close/>
                <a:moveTo>
                  <a:pt x="134947" y="211138"/>
                </a:moveTo>
                <a:cubicBezTo>
                  <a:pt x="66536" y="211138"/>
                  <a:pt x="11112" y="266561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66561"/>
                  <a:pt x="244614" y="211138"/>
                  <a:pt x="176203" y="211138"/>
                </a:cubicBezTo>
                <a:lnTo>
                  <a:pt x="134947" y="211138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25500" y="51816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names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48000" y="5143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3" name="Shape 11"/>
          <p:cNvSpPr/>
          <p:nvPr/>
        </p:nvSpPr>
        <p:spPr>
          <a:xfrm>
            <a:off x="3683000" y="463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14" name="Shape 12"/>
          <p:cNvSpPr/>
          <p:nvPr/>
        </p:nvSpPr>
        <p:spPr>
          <a:xfrm>
            <a:off x="4489450" y="4762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16277" y="22225"/>
                </a:moveTo>
                <a:lnTo>
                  <a:pt x="222250" y="22225"/>
                </a:lnTo>
                <a:cubicBezTo>
                  <a:pt x="246767" y="22225"/>
                  <a:pt x="266700" y="42158"/>
                  <a:pt x="266700" y="66675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66675"/>
                </a:lnTo>
                <a:cubicBezTo>
                  <a:pt x="0" y="42158"/>
                  <a:pt x="19933" y="22225"/>
                  <a:pt x="44450" y="22225"/>
                </a:cubicBezTo>
                <a:lnTo>
                  <a:pt x="50423" y="22225"/>
                </a:lnTo>
                <a:cubicBezTo>
                  <a:pt x="58063" y="8959"/>
                  <a:pt x="72440" y="0"/>
                  <a:pt x="88900" y="0"/>
                </a:cubicBezTo>
                <a:lnTo>
                  <a:pt x="177800" y="0"/>
                </a:lnTo>
                <a:cubicBezTo>
                  <a:pt x="194260" y="0"/>
                  <a:pt x="208637" y="8959"/>
                  <a:pt x="216277" y="22225"/>
                </a:cubicBezTo>
                <a:close/>
                <a:moveTo>
                  <a:pt x="172244" y="77788"/>
                </a:moveTo>
                <a:cubicBezTo>
                  <a:pt x="181481" y="77788"/>
                  <a:pt x="188913" y="70356"/>
                  <a:pt x="188913" y="61119"/>
                </a:cubicBezTo>
                <a:cubicBezTo>
                  <a:pt x="188913" y="51881"/>
                  <a:pt x="181481" y="44450"/>
                  <a:pt x="172244" y="44450"/>
                </a:cubicBezTo>
                <a:lnTo>
                  <a:pt x="94456" y="44450"/>
                </a:lnTo>
                <a:cubicBezTo>
                  <a:pt x="85219" y="44450"/>
                  <a:pt x="77788" y="51881"/>
                  <a:pt x="77788" y="61119"/>
                </a:cubicBezTo>
                <a:cubicBezTo>
                  <a:pt x="77788" y="70356"/>
                  <a:pt x="85219" y="77788"/>
                  <a:pt x="94456" y="77788"/>
                </a:cubicBezTo>
                <a:lnTo>
                  <a:pt x="172244" y="77788"/>
                </a:lnTo>
                <a:close/>
                <a:moveTo>
                  <a:pt x="88900" y="177800"/>
                </a:moveTo>
                <a:cubicBezTo>
                  <a:pt x="88900" y="165534"/>
                  <a:pt x="78941" y="155575"/>
                  <a:pt x="66675" y="155575"/>
                </a:cubicBezTo>
                <a:cubicBezTo>
                  <a:pt x="54409" y="155575"/>
                  <a:pt x="44450" y="165534"/>
                  <a:pt x="44450" y="177800"/>
                </a:cubicBezTo>
                <a:cubicBezTo>
                  <a:pt x="44450" y="190066"/>
                  <a:pt x="54409" y="200025"/>
                  <a:pt x="66675" y="200025"/>
                </a:cubicBezTo>
                <a:cubicBezTo>
                  <a:pt x="78941" y="200025"/>
                  <a:pt x="88900" y="190066"/>
                  <a:pt x="88900" y="177800"/>
                </a:cubicBezTo>
                <a:close/>
                <a:moveTo>
                  <a:pt x="111125" y="177800"/>
                </a:moveTo>
                <a:cubicBezTo>
                  <a:pt x="111125" y="187037"/>
                  <a:pt x="118556" y="194469"/>
                  <a:pt x="127794" y="194469"/>
                </a:cubicBezTo>
                <a:lnTo>
                  <a:pt x="205581" y="194469"/>
                </a:lnTo>
                <a:cubicBezTo>
                  <a:pt x="214819" y="194469"/>
                  <a:pt x="222250" y="187037"/>
                  <a:pt x="222250" y="177800"/>
                </a:cubicBezTo>
                <a:cubicBezTo>
                  <a:pt x="222250" y="168563"/>
                  <a:pt x="214819" y="161131"/>
                  <a:pt x="205581" y="161131"/>
                </a:cubicBezTo>
                <a:lnTo>
                  <a:pt x="127794" y="161131"/>
                </a:lnTo>
                <a:cubicBezTo>
                  <a:pt x="118556" y="161131"/>
                  <a:pt x="111125" y="168563"/>
                  <a:pt x="111125" y="177800"/>
                </a:cubicBezTo>
                <a:close/>
                <a:moveTo>
                  <a:pt x="111125" y="266700"/>
                </a:moveTo>
                <a:cubicBezTo>
                  <a:pt x="111125" y="275937"/>
                  <a:pt x="118556" y="283369"/>
                  <a:pt x="127794" y="283369"/>
                </a:cubicBezTo>
                <a:lnTo>
                  <a:pt x="205581" y="283369"/>
                </a:lnTo>
                <a:cubicBezTo>
                  <a:pt x="214819" y="283369"/>
                  <a:pt x="222250" y="275937"/>
                  <a:pt x="222250" y="266700"/>
                </a:cubicBezTo>
                <a:cubicBezTo>
                  <a:pt x="222250" y="257463"/>
                  <a:pt x="214819" y="250031"/>
                  <a:pt x="205581" y="250031"/>
                </a:cubicBezTo>
                <a:lnTo>
                  <a:pt x="127794" y="250031"/>
                </a:lnTo>
                <a:cubicBezTo>
                  <a:pt x="118556" y="250031"/>
                  <a:pt x="111125" y="257463"/>
                  <a:pt x="111125" y="266700"/>
                </a:cubicBezTo>
                <a:close/>
                <a:moveTo>
                  <a:pt x="66675" y="288925"/>
                </a:moveTo>
                <a:cubicBezTo>
                  <a:pt x="78941" y="288925"/>
                  <a:pt x="88900" y="278966"/>
                  <a:pt x="88900" y="266700"/>
                </a:cubicBezTo>
                <a:cubicBezTo>
                  <a:pt x="88900" y="254434"/>
                  <a:pt x="78941" y="244475"/>
                  <a:pt x="66675" y="244475"/>
                </a:cubicBezTo>
                <a:cubicBezTo>
                  <a:pt x="54409" y="244475"/>
                  <a:pt x="44450" y="254434"/>
                  <a:pt x="44450" y="266700"/>
                </a:cubicBezTo>
                <a:cubicBezTo>
                  <a:pt x="44450" y="278966"/>
                  <a:pt x="54409" y="288925"/>
                  <a:pt x="66675" y="28892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746500" y="51816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courses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969000" y="5143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7" name="Shape 15"/>
          <p:cNvSpPr/>
          <p:nvPr/>
        </p:nvSpPr>
        <p:spPr>
          <a:xfrm>
            <a:off x="6604000" y="4635500"/>
            <a:ext cx="2159000" cy="1270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18" name="Shape 16"/>
          <p:cNvSpPr/>
          <p:nvPr/>
        </p:nvSpPr>
        <p:spPr>
          <a:xfrm>
            <a:off x="7343775" y="4762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91356" y="66675"/>
                </a:moveTo>
                <a:cubicBezTo>
                  <a:pt x="279827" y="66675"/>
                  <a:pt x="268645" y="69800"/>
                  <a:pt x="258852" y="75496"/>
                </a:cubicBezTo>
                <a:cubicBezTo>
                  <a:pt x="247878" y="64383"/>
                  <a:pt x="235099" y="55076"/>
                  <a:pt x="221000" y="48062"/>
                </a:cubicBezTo>
                <a:cubicBezTo>
                  <a:pt x="240586" y="31393"/>
                  <a:pt x="265519" y="22225"/>
                  <a:pt x="291356" y="22225"/>
                </a:cubicBezTo>
                <a:cubicBezTo>
                  <a:pt x="351363" y="22225"/>
                  <a:pt x="400050" y="70842"/>
                  <a:pt x="400050" y="130919"/>
                </a:cubicBezTo>
                <a:cubicBezTo>
                  <a:pt x="400050" y="159742"/>
                  <a:pt x="388590" y="187385"/>
                  <a:pt x="368240" y="207734"/>
                </a:cubicBezTo>
                <a:lnTo>
                  <a:pt x="318859" y="257115"/>
                </a:lnTo>
                <a:cubicBezTo>
                  <a:pt x="298510" y="277465"/>
                  <a:pt x="270867" y="288925"/>
                  <a:pt x="242044" y="288925"/>
                </a:cubicBezTo>
                <a:cubicBezTo>
                  <a:pt x="182037" y="288925"/>
                  <a:pt x="133350" y="240308"/>
                  <a:pt x="133350" y="180231"/>
                </a:cubicBezTo>
                <a:cubicBezTo>
                  <a:pt x="133350" y="179189"/>
                  <a:pt x="133350" y="178147"/>
                  <a:pt x="133419" y="177105"/>
                </a:cubicBezTo>
                <a:cubicBezTo>
                  <a:pt x="133767" y="164812"/>
                  <a:pt x="143976" y="155158"/>
                  <a:pt x="156270" y="155506"/>
                </a:cubicBezTo>
                <a:cubicBezTo>
                  <a:pt x="168563" y="155853"/>
                  <a:pt x="178217" y="166062"/>
                  <a:pt x="177869" y="178356"/>
                </a:cubicBezTo>
                <a:cubicBezTo>
                  <a:pt x="177869" y="178981"/>
                  <a:pt x="177869" y="179606"/>
                  <a:pt x="177869" y="180161"/>
                </a:cubicBezTo>
                <a:cubicBezTo>
                  <a:pt x="177869" y="215652"/>
                  <a:pt x="206623" y="244406"/>
                  <a:pt x="242114" y="244406"/>
                </a:cubicBezTo>
                <a:cubicBezTo>
                  <a:pt x="259130" y="244406"/>
                  <a:pt x="275451" y="237669"/>
                  <a:pt x="287536" y="225584"/>
                </a:cubicBezTo>
                <a:lnTo>
                  <a:pt x="336917" y="176203"/>
                </a:lnTo>
                <a:cubicBezTo>
                  <a:pt x="348933" y="164187"/>
                  <a:pt x="355739" y="147796"/>
                  <a:pt x="355739" y="130780"/>
                </a:cubicBezTo>
                <a:cubicBezTo>
                  <a:pt x="355739" y="95290"/>
                  <a:pt x="326985" y="66536"/>
                  <a:pt x="291495" y="66536"/>
                </a:cubicBezTo>
                <a:close/>
                <a:moveTo>
                  <a:pt x="191135" y="120362"/>
                </a:moveTo>
                <a:cubicBezTo>
                  <a:pt x="189815" y="119807"/>
                  <a:pt x="188496" y="119043"/>
                  <a:pt x="187315" y="118209"/>
                </a:cubicBezTo>
                <a:cubicBezTo>
                  <a:pt x="178564" y="113695"/>
                  <a:pt x="168563" y="111125"/>
                  <a:pt x="158075" y="111125"/>
                </a:cubicBezTo>
                <a:cubicBezTo>
                  <a:pt x="141059" y="111125"/>
                  <a:pt x="124738" y="117862"/>
                  <a:pt x="112653" y="129947"/>
                </a:cubicBezTo>
                <a:lnTo>
                  <a:pt x="63272" y="179328"/>
                </a:lnTo>
                <a:cubicBezTo>
                  <a:pt x="51256" y="191343"/>
                  <a:pt x="44450" y="207734"/>
                  <a:pt x="44450" y="224750"/>
                </a:cubicBezTo>
                <a:cubicBezTo>
                  <a:pt x="44450" y="260241"/>
                  <a:pt x="73204" y="288994"/>
                  <a:pt x="108694" y="288994"/>
                </a:cubicBezTo>
                <a:cubicBezTo>
                  <a:pt x="120154" y="288994"/>
                  <a:pt x="131336" y="285939"/>
                  <a:pt x="141129" y="280243"/>
                </a:cubicBezTo>
                <a:cubicBezTo>
                  <a:pt x="152102" y="291356"/>
                  <a:pt x="164882" y="300663"/>
                  <a:pt x="179050" y="307677"/>
                </a:cubicBezTo>
                <a:cubicBezTo>
                  <a:pt x="159464" y="324277"/>
                  <a:pt x="134600" y="333514"/>
                  <a:pt x="108694" y="333514"/>
                </a:cubicBezTo>
                <a:cubicBezTo>
                  <a:pt x="48687" y="333514"/>
                  <a:pt x="0" y="284897"/>
                  <a:pt x="0" y="224820"/>
                </a:cubicBezTo>
                <a:cubicBezTo>
                  <a:pt x="0" y="195997"/>
                  <a:pt x="11460" y="168354"/>
                  <a:pt x="31810" y="148005"/>
                </a:cubicBezTo>
                <a:lnTo>
                  <a:pt x="81191" y="98623"/>
                </a:lnTo>
                <a:cubicBezTo>
                  <a:pt x="101540" y="78274"/>
                  <a:pt x="129183" y="66814"/>
                  <a:pt x="158006" y="66814"/>
                </a:cubicBezTo>
                <a:cubicBezTo>
                  <a:pt x="218152" y="66814"/>
                  <a:pt x="266700" y="115848"/>
                  <a:pt x="266700" y="175786"/>
                </a:cubicBezTo>
                <a:cubicBezTo>
                  <a:pt x="266700" y="176689"/>
                  <a:pt x="266700" y="177592"/>
                  <a:pt x="266700" y="178495"/>
                </a:cubicBezTo>
                <a:cubicBezTo>
                  <a:pt x="266422" y="190788"/>
                  <a:pt x="256213" y="200442"/>
                  <a:pt x="243919" y="200164"/>
                </a:cubicBezTo>
                <a:cubicBezTo>
                  <a:pt x="231626" y="199886"/>
                  <a:pt x="221972" y="189676"/>
                  <a:pt x="222250" y="177383"/>
                </a:cubicBezTo>
                <a:cubicBezTo>
                  <a:pt x="222250" y="176828"/>
                  <a:pt x="222250" y="176341"/>
                  <a:pt x="222250" y="175786"/>
                </a:cubicBezTo>
                <a:cubicBezTo>
                  <a:pt x="222250" y="152380"/>
                  <a:pt x="209748" y="131822"/>
                  <a:pt x="191135" y="12050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6667500" y="5181600"/>
            <a:ext cx="2032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3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Join</a:t>
            </a:r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connects</a:t>
            </a:r>
            <a:endParaRPr lang="en-US" sz="1600" dirty="0"/>
          </a:p>
          <a:p>
            <a:pPr algn="ctr">
              <a:lnSpc>
                <a:spcPct val="14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tables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762000" y="6350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Types Covered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62000" y="68580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990600" y="708660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/>
            </a:pathLst>
          </a:custGeom>
          <a:solidFill>
            <a:srgbClr val="1B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1422400" y="6858000"/>
            <a:ext cx="2476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318000" y="6858000"/>
            <a:ext cx="3556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5" name="Shape 23"/>
          <p:cNvSpPr/>
          <p:nvPr/>
        </p:nvSpPr>
        <p:spPr>
          <a:xfrm>
            <a:off x="4567238" y="7086600"/>
            <a:ext cx="288925" cy="330200"/>
          </a:xfrm>
          <a:custGeom>
            <a:avLst/>
            <a:gdLst/>
            <a:ahLst/>
            <a:cxnLst/>
            <a:rect l="l" t="t" r="r" b="b"/>
            <a:pathLst>
              <a:path w="288925" h="330200">
                <a:moveTo>
                  <a:pt x="218500" y="-6385"/>
                </a:moveTo>
                <a:cubicBezTo>
                  <a:pt x="226174" y="-838"/>
                  <a:pt x="229012" y="9222"/>
                  <a:pt x="225529" y="17993"/>
                </a:cubicBezTo>
                <a:lnTo>
                  <a:pt x="174967" y="144463"/>
                </a:lnTo>
                <a:lnTo>
                  <a:pt x="268288" y="144463"/>
                </a:lnTo>
                <a:cubicBezTo>
                  <a:pt x="276994" y="144463"/>
                  <a:pt x="284733" y="149880"/>
                  <a:pt x="287700" y="158070"/>
                </a:cubicBezTo>
                <a:cubicBezTo>
                  <a:pt x="290666" y="166261"/>
                  <a:pt x="288151" y="175419"/>
                  <a:pt x="281508" y="180965"/>
                </a:cubicBezTo>
                <a:lnTo>
                  <a:pt x="95771" y="335746"/>
                </a:lnTo>
                <a:cubicBezTo>
                  <a:pt x="88483" y="341809"/>
                  <a:pt x="78100" y="342131"/>
                  <a:pt x="70425" y="336585"/>
                </a:cubicBezTo>
                <a:cubicBezTo>
                  <a:pt x="62751" y="331038"/>
                  <a:pt x="59913" y="320978"/>
                  <a:pt x="63396" y="312207"/>
                </a:cubicBezTo>
                <a:lnTo>
                  <a:pt x="113958" y="185738"/>
                </a:lnTo>
                <a:lnTo>
                  <a:pt x="20638" y="185738"/>
                </a:lnTo>
                <a:cubicBezTo>
                  <a:pt x="11931" y="185738"/>
                  <a:pt x="4192" y="180320"/>
                  <a:pt x="1225" y="172130"/>
                </a:cubicBezTo>
                <a:cubicBezTo>
                  <a:pt x="-1741" y="163939"/>
                  <a:pt x="774" y="154781"/>
                  <a:pt x="7417" y="149235"/>
                </a:cubicBezTo>
                <a:lnTo>
                  <a:pt x="193154" y="-5546"/>
                </a:lnTo>
                <a:cubicBezTo>
                  <a:pt x="200442" y="-11609"/>
                  <a:pt x="210825" y="-11931"/>
                  <a:pt x="218500" y="-6385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4978400" y="6858000"/>
            <a:ext cx="2730500" cy="889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1E1E1E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9144000" y="2794000"/>
            <a:ext cx="6350000" cy="4953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8" name="Text 26"/>
          <p:cNvSpPr/>
          <p:nvPr/>
        </p:nvSpPr>
        <p:spPr>
          <a:xfrm>
            <a:off x="9461500" y="3048000"/>
            <a:ext cx="571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CONCEPT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9461500" y="3429000"/>
            <a:ext cx="5715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30" name="Shape 28"/>
          <p:cNvSpPr/>
          <p:nvPr/>
        </p:nvSpPr>
        <p:spPr>
          <a:xfrm>
            <a:off x="9652000" y="3937000"/>
            <a:ext cx="2032000" cy="2032000"/>
          </a:xfrm>
          <a:prstGeom prst="ellipse">
            <a:avLst/>
          </a:prstGeom>
          <a:solidFill>
            <a:srgbClr val="1B4D4D">
              <a:alpha val="18824"/>
            </a:srgbClr>
          </a:solidFill>
          <a:ln w="25400">
            <a:solidFill>
              <a:srgbClr val="1B4D4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033000" y="463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2192000" y="3937000"/>
            <a:ext cx="2032000" cy="2032000"/>
          </a:xfrm>
          <a:prstGeom prst="ellipse">
            <a:avLst/>
          </a:prstGeom>
          <a:solidFill>
            <a:srgbClr val="C97B3A">
              <a:alpha val="12549"/>
            </a:srgbClr>
          </a:solidFill>
          <a:ln w="25400">
            <a:solidFill>
              <a:srgbClr val="C97B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2573000" y="46355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11430000" y="4762500"/>
            <a:ext cx="1016000" cy="381000"/>
          </a:xfrm>
          <a:prstGeom prst="roundRect">
            <a:avLst>
              <a:gd name="adj" fmla="val 15000"/>
            </a:avLst>
          </a:prstGeom>
          <a:solidFill>
            <a:srgbClr val="1B4D4D"/>
          </a:solidFill>
          <a:ln/>
        </p:spPr>
      </p:sp>
      <p:sp>
        <p:nvSpPr>
          <p:cNvPr id="35" name="Text 33"/>
          <p:cNvSpPr/>
          <p:nvPr/>
        </p:nvSpPr>
        <p:spPr>
          <a:xfrm>
            <a:off x="11430000" y="4762500"/>
            <a:ext cx="101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461500" y="6350000"/>
            <a:ext cx="5715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 algn="ctr">
              <a:lnSpc>
                <a:spcPct val="160000"/>
              </a:lnSpc>
            </a:pPr>
            <a:r>
              <a:rPr lang="en-US" sz="15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overlapping area</a:t>
            </a:r>
            <a:pPr algn="ctr">
              <a:lnSpc>
                <a:spcPct val="16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represents rows that exist in both tables with matching values.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 of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Online Shopping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6" name="Shape 4"/>
          <p:cNvSpPr/>
          <p:nvPr/>
        </p:nvSpPr>
        <p:spPr>
          <a:xfrm>
            <a:off x="965200" y="2133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254000" y="12700"/>
                </a:moveTo>
                <a:cubicBezTo>
                  <a:pt x="299561" y="12700"/>
                  <a:pt x="336550" y="49689"/>
                  <a:pt x="336550" y="95250"/>
                </a:cubicBezTo>
                <a:cubicBezTo>
                  <a:pt x="336550" y="140811"/>
                  <a:pt x="299561" y="177800"/>
                  <a:pt x="254000" y="177800"/>
                </a:cubicBezTo>
                <a:cubicBezTo>
                  <a:pt x="208439" y="177800"/>
                  <a:pt x="171450" y="140811"/>
                  <a:pt x="171450" y="95250"/>
                </a:cubicBezTo>
                <a:cubicBezTo>
                  <a:pt x="171450" y="49689"/>
                  <a:pt x="208439" y="12700"/>
                  <a:pt x="254000" y="12700"/>
                </a:cubicBezTo>
                <a:close/>
                <a:moveTo>
                  <a:pt x="76200" y="69850"/>
                </a:moveTo>
                <a:cubicBezTo>
                  <a:pt x="107742" y="69850"/>
                  <a:pt x="133350" y="95458"/>
                  <a:pt x="133350" y="127000"/>
                </a:cubicBezTo>
                <a:cubicBezTo>
                  <a:pt x="133350" y="158542"/>
                  <a:pt x="107742" y="184150"/>
                  <a:pt x="76200" y="184150"/>
                </a:cubicBezTo>
                <a:cubicBezTo>
                  <a:pt x="44658" y="184150"/>
                  <a:pt x="19050" y="158542"/>
                  <a:pt x="19050" y="127000"/>
                </a:cubicBezTo>
                <a:cubicBezTo>
                  <a:pt x="19050" y="95458"/>
                  <a:pt x="44658" y="69850"/>
                  <a:pt x="76200" y="69850"/>
                </a:cubicBezTo>
                <a:close/>
                <a:moveTo>
                  <a:pt x="0" y="330200"/>
                </a:moveTo>
                <a:cubicBezTo>
                  <a:pt x="0" y="274082"/>
                  <a:pt x="45482" y="228600"/>
                  <a:pt x="101600" y="228600"/>
                </a:cubicBezTo>
                <a:cubicBezTo>
                  <a:pt x="111760" y="228600"/>
                  <a:pt x="121603" y="230108"/>
                  <a:pt x="130889" y="232886"/>
                </a:cubicBezTo>
                <a:cubicBezTo>
                  <a:pt x="104775" y="262096"/>
                  <a:pt x="88900" y="300672"/>
                  <a:pt x="88900" y="342900"/>
                </a:cubicBezTo>
                <a:lnTo>
                  <a:pt x="88900" y="355600"/>
                </a:lnTo>
                <a:cubicBezTo>
                  <a:pt x="88900" y="364649"/>
                  <a:pt x="90805" y="373221"/>
                  <a:pt x="94218" y="381000"/>
                </a:cubicBezTo>
                <a:lnTo>
                  <a:pt x="25400" y="381000"/>
                </a:lnTo>
                <a:cubicBezTo>
                  <a:pt x="11351" y="381000"/>
                  <a:pt x="0" y="369649"/>
                  <a:pt x="0" y="355600"/>
                </a:cubicBezTo>
                <a:lnTo>
                  <a:pt x="0" y="330200"/>
                </a:lnTo>
                <a:close/>
                <a:moveTo>
                  <a:pt x="413782" y="381000"/>
                </a:moveTo>
                <a:cubicBezTo>
                  <a:pt x="417195" y="373221"/>
                  <a:pt x="419100" y="364649"/>
                  <a:pt x="419100" y="355600"/>
                </a:cubicBezTo>
                <a:lnTo>
                  <a:pt x="419100" y="342900"/>
                </a:lnTo>
                <a:cubicBezTo>
                  <a:pt x="419100" y="300673"/>
                  <a:pt x="403225" y="262096"/>
                  <a:pt x="377111" y="232886"/>
                </a:cubicBezTo>
                <a:cubicBezTo>
                  <a:pt x="386398" y="230108"/>
                  <a:pt x="396240" y="228600"/>
                  <a:pt x="406400" y="228600"/>
                </a:cubicBezTo>
                <a:cubicBezTo>
                  <a:pt x="462518" y="228600"/>
                  <a:pt x="508000" y="274082"/>
                  <a:pt x="508000" y="330200"/>
                </a:cubicBezTo>
                <a:lnTo>
                  <a:pt x="508000" y="355600"/>
                </a:lnTo>
                <a:cubicBezTo>
                  <a:pt x="508000" y="369649"/>
                  <a:pt x="496649" y="381000"/>
                  <a:pt x="482600" y="381000"/>
                </a:cubicBezTo>
                <a:lnTo>
                  <a:pt x="413782" y="381000"/>
                </a:lnTo>
                <a:close/>
                <a:moveTo>
                  <a:pt x="374650" y="127000"/>
                </a:moveTo>
                <a:cubicBezTo>
                  <a:pt x="374650" y="95458"/>
                  <a:pt x="400258" y="69850"/>
                  <a:pt x="431800" y="69850"/>
                </a:cubicBezTo>
                <a:cubicBezTo>
                  <a:pt x="463342" y="69850"/>
                  <a:pt x="488950" y="95458"/>
                  <a:pt x="488950" y="127000"/>
                </a:cubicBezTo>
                <a:cubicBezTo>
                  <a:pt x="488950" y="158542"/>
                  <a:pt x="463342" y="184150"/>
                  <a:pt x="431800" y="184150"/>
                </a:cubicBezTo>
                <a:cubicBezTo>
                  <a:pt x="400258" y="184150"/>
                  <a:pt x="374650" y="158542"/>
                  <a:pt x="374650" y="127000"/>
                </a:cubicBezTo>
                <a:close/>
                <a:moveTo>
                  <a:pt x="127000" y="342900"/>
                </a:moveTo>
                <a:cubicBezTo>
                  <a:pt x="127000" y="272733"/>
                  <a:pt x="183833" y="215900"/>
                  <a:pt x="254000" y="215900"/>
                </a:cubicBezTo>
                <a:cubicBezTo>
                  <a:pt x="324167" y="215900"/>
                  <a:pt x="381000" y="272733"/>
                  <a:pt x="381000" y="342900"/>
                </a:cubicBezTo>
                <a:lnTo>
                  <a:pt x="381000" y="355600"/>
                </a:lnTo>
                <a:cubicBezTo>
                  <a:pt x="381000" y="369649"/>
                  <a:pt x="369649" y="381000"/>
                  <a:pt x="355600" y="381000"/>
                </a:cubicBezTo>
                <a:lnTo>
                  <a:pt x="152400" y="381000"/>
                </a:lnTo>
                <a:cubicBezTo>
                  <a:pt x="138351" y="381000"/>
                  <a:pt x="127000" y="369649"/>
                  <a:pt x="127000" y="355600"/>
                </a:cubicBezTo>
                <a:lnTo>
                  <a:pt x="127000" y="342900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7" name="Text 5"/>
          <p:cNvSpPr/>
          <p:nvPr/>
        </p:nvSpPr>
        <p:spPr>
          <a:xfrm>
            <a:off x="1549400" y="2133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Customers Table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266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customer information: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CustomerID, Name, Email, Address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588000" y="1905000"/>
            <a:ext cx="4318000" cy="2032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10" name="Shape 8"/>
          <p:cNvSpPr/>
          <p:nvPr/>
        </p:nvSpPr>
        <p:spPr>
          <a:xfrm>
            <a:off x="5791200" y="2133600"/>
            <a:ext cx="508000" cy="406400"/>
          </a:xfrm>
          <a:custGeom>
            <a:avLst/>
            <a:gdLst/>
            <a:ahLst/>
            <a:cxnLst/>
            <a:rect l="l" t="t" r="r" b="b"/>
            <a:pathLst>
              <a:path w="508000" h="406400">
                <a:moveTo>
                  <a:pt x="19050" y="-12700"/>
                </a:moveTo>
                <a:cubicBezTo>
                  <a:pt x="8493" y="-12700"/>
                  <a:pt x="0" y="-4207"/>
                  <a:pt x="0" y="6350"/>
                </a:cubicBezTo>
                <a:cubicBezTo>
                  <a:pt x="0" y="16907"/>
                  <a:pt x="8493" y="25400"/>
                  <a:pt x="19050" y="25400"/>
                </a:cubicBezTo>
                <a:lnTo>
                  <a:pt x="55007" y="25400"/>
                </a:lnTo>
                <a:cubicBezTo>
                  <a:pt x="58103" y="25400"/>
                  <a:pt x="60722" y="27622"/>
                  <a:pt x="61278" y="30639"/>
                </a:cubicBezTo>
                <a:lnTo>
                  <a:pt x="102632" y="257889"/>
                </a:lnTo>
                <a:cubicBezTo>
                  <a:pt x="107553" y="285036"/>
                  <a:pt x="131207" y="304800"/>
                  <a:pt x="158829" y="304800"/>
                </a:cubicBezTo>
                <a:lnTo>
                  <a:pt x="361950" y="304800"/>
                </a:lnTo>
                <a:cubicBezTo>
                  <a:pt x="372507" y="304800"/>
                  <a:pt x="381000" y="296307"/>
                  <a:pt x="381000" y="285750"/>
                </a:cubicBezTo>
                <a:cubicBezTo>
                  <a:pt x="381000" y="275193"/>
                  <a:pt x="372507" y="266700"/>
                  <a:pt x="361950" y="266700"/>
                </a:cubicBezTo>
                <a:lnTo>
                  <a:pt x="158829" y="266700"/>
                </a:lnTo>
                <a:cubicBezTo>
                  <a:pt x="149622" y="266700"/>
                  <a:pt x="141764" y="260112"/>
                  <a:pt x="140097" y="251063"/>
                </a:cubicBezTo>
                <a:lnTo>
                  <a:pt x="136049" y="228600"/>
                </a:lnTo>
                <a:lnTo>
                  <a:pt x="377031" y="228600"/>
                </a:lnTo>
                <a:cubicBezTo>
                  <a:pt x="401479" y="228600"/>
                  <a:pt x="422434" y="211217"/>
                  <a:pt x="426958" y="187166"/>
                </a:cubicBezTo>
                <a:lnTo>
                  <a:pt x="451564" y="55483"/>
                </a:lnTo>
                <a:cubicBezTo>
                  <a:pt x="454501" y="39846"/>
                  <a:pt x="442516" y="25400"/>
                  <a:pt x="426561" y="25400"/>
                </a:cubicBezTo>
                <a:lnTo>
                  <a:pt x="98981" y="25400"/>
                </a:lnTo>
                <a:lnTo>
                  <a:pt x="98663" y="23813"/>
                </a:lnTo>
                <a:cubicBezTo>
                  <a:pt x="94853" y="2699"/>
                  <a:pt x="76438" y="-12700"/>
                  <a:pt x="54927" y="-12700"/>
                </a:cubicBezTo>
                <a:lnTo>
                  <a:pt x="19050" y="-12700"/>
                </a:lnTo>
                <a:close/>
                <a:moveTo>
                  <a:pt x="165100" y="406400"/>
                </a:moveTo>
                <a:cubicBezTo>
                  <a:pt x="186128" y="406400"/>
                  <a:pt x="203200" y="389328"/>
                  <a:pt x="203200" y="368300"/>
                </a:cubicBezTo>
                <a:cubicBezTo>
                  <a:pt x="203200" y="347272"/>
                  <a:pt x="186128" y="330200"/>
                  <a:pt x="165100" y="330200"/>
                </a:cubicBezTo>
                <a:cubicBezTo>
                  <a:pt x="144072" y="330200"/>
                  <a:pt x="127000" y="347272"/>
                  <a:pt x="127000" y="368300"/>
                </a:cubicBezTo>
                <a:cubicBezTo>
                  <a:pt x="127000" y="389328"/>
                  <a:pt x="144072" y="406400"/>
                  <a:pt x="165100" y="406400"/>
                </a:cubicBezTo>
                <a:close/>
                <a:moveTo>
                  <a:pt x="342900" y="406400"/>
                </a:moveTo>
                <a:cubicBezTo>
                  <a:pt x="363928" y="406400"/>
                  <a:pt x="381000" y="389328"/>
                  <a:pt x="381000" y="368300"/>
                </a:cubicBezTo>
                <a:cubicBezTo>
                  <a:pt x="381000" y="347272"/>
                  <a:pt x="363928" y="330200"/>
                  <a:pt x="342900" y="330200"/>
                </a:cubicBezTo>
                <a:cubicBezTo>
                  <a:pt x="321872" y="330200"/>
                  <a:pt x="304800" y="347272"/>
                  <a:pt x="304800" y="368300"/>
                </a:cubicBezTo>
                <a:cubicBezTo>
                  <a:pt x="304800" y="389328"/>
                  <a:pt x="321872" y="406400"/>
                  <a:pt x="342900" y="406400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375400" y="2133600"/>
            <a:ext cx="3175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Orders Table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2000" y="2667000"/>
            <a:ext cx="3810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order information: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OrderID, CustomerID, Product, Date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0414000" y="1905000"/>
            <a:ext cx="5080000" cy="2032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93400" y="21336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293211" y="101600"/>
                </a:moveTo>
                <a:lnTo>
                  <a:pt x="265986" y="63500"/>
                </a:lnTo>
                <a:lnTo>
                  <a:pt x="89694" y="63500"/>
                </a:lnTo>
                <a:lnTo>
                  <a:pt x="62468" y="101600"/>
                </a:lnTo>
                <a:lnTo>
                  <a:pt x="293211" y="101600"/>
                </a:lnTo>
                <a:close/>
                <a:moveTo>
                  <a:pt x="0" y="117872"/>
                </a:moveTo>
                <a:cubicBezTo>
                  <a:pt x="0" y="107315"/>
                  <a:pt x="3334" y="96996"/>
                  <a:pt x="9446" y="88344"/>
                </a:cubicBezTo>
                <a:lnTo>
                  <a:pt x="48339" y="33973"/>
                </a:lnTo>
                <a:cubicBezTo>
                  <a:pt x="57864" y="20638"/>
                  <a:pt x="73263" y="12700"/>
                  <a:pt x="89614" y="12700"/>
                </a:cubicBezTo>
                <a:lnTo>
                  <a:pt x="265906" y="12700"/>
                </a:lnTo>
                <a:cubicBezTo>
                  <a:pt x="282337" y="12700"/>
                  <a:pt x="297736" y="20638"/>
                  <a:pt x="307261" y="33973"/>
                </a:cubicBezTo>
                <a:lnTo>
                  <a:pt x="346075" y="88344"/>
                </a:lnTo>
                <a:cubicBezTo>
                  <a:pt x="352266" y="96996"/>
                  <a:pt x="355521" y="107315"/>
                  <a:pt x="355521" y="117872"/>
                </a:cubicBezTo>
                <a:lnTo>
                  <a:pt x="355600" y="330200"/>
                </a:lnTo>
                <a:cubicBezTo>
                  <a:pt x="355600" y="358219"/>
                  <a:pt x="332819" y="381000"/>
                  <a:pt x="304800" y="381000"/>
                </a:cubicBezTo>
                <a:lnTo>
                  <a:pt x="50800" y="381000"/>
                </a:lnTo>
                <a:cubicBezTo>
                  <a:pt x="22781" y="381000"/>
                  <a:pt x="0" y="358219"/>
                  <a:pt x="0" y="330200"/>
                </a:cubicBezTo>
                <a:lnTo>
                  <a:pt x="0" y="117872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11201400" y="2133600"/>
            <a:ext cx="4064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Products Table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0" y="2667000"/>
            <a:ext cx="4572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Stores product information: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ProductID, Name, Price, Category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921000" y="3937000"/>
            <a:ext cx="0" cy="508000"/>
          </a:xfrm>
          <a:prstGeom prst="straightConnector1">
            <a:avLst/>
          </a:prstGeom>
          <a:noFill/>
          <a:ln w="25400">
            <a:solidFill>
              <a:srgbClr val="1B4D4D"/>
            </a:solidFill>
            <a:prstDash val="solid"/>
            <a:headEnd type="none"/>
            <a:tailEnd type="arrow"/>
          </a:ln>
        </p:spPr>
      </p:sp>
      <p:sp>
        <p:nvSpPr>
          <p:cNvPr id="18" name="Shape 16"/>
          <p:cNvSpPr/>
          <p:nvPr/>
        </p:nvSpPr>
        <p:spPr>
          <a:xfrm>
            <a:off x="7747000" y="3937000"/>
            <a:ext cx="0" cy="50800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9" name="Shape 17"/>
          <p:cNvSpPr/>
          <p:nvPr/>
        </p:nvSpPr>
        <p:spPr>
          <a:xfrm>
            <a:off x="12954000" y="3937000"/>
            <a:ext cx="0" cy="50800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olid"/>
            <a:headEnd type="none"/>
            <a:tailEnd type="arrow"/>
          </a:ln>
        </p:spPr>
      </p:sp>
      <p:sp>
        <p:nvSpPr>
          <p:cNvPr id="20" name="Shape 18"/>
          <p:cNvSpPr/>
          <p:nvPr/>
        </p:nvSpPr>
        <p:spPr>
          <a:xfrm>
            <a:off x="762000" y="4572000"/>
            <a:ext cx="14732000" cy="2032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48260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0" y="63500"/>
                </a:moveTo>
                <a:cubicBezTo>
                  <a:pt x="0" y="42466"/>
                  <a:pt x="17066" y="25400"/>
                  <a:pt x="38100" y="25400"/>
                </a:cubicBezTo>
                <a:lnTo>
                  <a:pt x="114300" y="25400"/>
                </a:lnTo>
                <a:cubicBezTo>
                  <a:pt x="135334" y="25400"/>
                  <a:pt x="152400" y="42466"/>
                  <a:pt x="152400" y="63500"/>
                </a:cubicBezTo>
                <a:lnTo>
                  <a:pt x="152400" y="76200"/>
                </a:lnTo>
                <a:lnTo>
                  <a:pt x="254000" y="76200"/>
                </a:lnTo>
                <a:lnTo>
                  <a:pt x="254000" y="63500"/>
                </a:lnTo>
                <a:cubicBezTo>
                  <a:pt x="254000" y="42466"/>
                  <a:pt x="271066" y="25400"/>
                  <a:pt x="292100" y="25400"/>
                </a:cubicBezTo>
                <a:lnTo>
                  <a:pt x="368300" y="25400"/>
                </a:lnTo>
                <a:cubicBezTo>
                  <a:pt x="389334" y="25400"/>
                  <a:pt x="406400" y="42466"/>
                  <a:pt x="406400" y="63500"/>
                </a:cubicBezTo>
                <a:lnTo>
                  <a:pt x="406400" y="139700"/>
                </a:lnTo>
                <a:cubicBezTo>
                  <a:pt x="406400" y="160734"/>
                  <a:pt x="389334" y="177800"/>
                  <a:pt x="368300" y="177800"/>
                </a:cubicBezTo>
                <a:lnTo>
                  <a:pt x="292100" y="177800"/>
                </a:lnTo>
                <a:cubicBezTo>
                  <a:pt x="271066" y="177800"/>
                  <a:pt x="254000" y="160734"/>
                  <a:pt x="254000" y="139700"/>
                </a:cubicBezTo>
                <a:lnTo>
                  <a:pt x="254000" y="127000"/>
                </a:lnTo>
                <a:lnTo>
                  <a:pt x="152400" y="127000"/>
                </a:lnTo>
                <a:lnTo>
                  <a:pt x="152400" y="139700"/>
                </a:lnTo>
                <a:cubicBezTo>
                  <a:pt x="152400" y="145494"/>
                  <a:pt x="151051" y="151051"/>
                  <a:pt x="148749" y="155972"/>
                </a:cubicBezTo>
                <a:lnTo>
                  <a:pt x="203200" y="228600"/>
                </a:lnTo>
                <a:lnTo>
                  <a:pt x="266700" y="228600"/>
                </a:lnTo>
                <a:cubicBezTo>
                  <a:pt x="287734" y="228600"/>
                  <a:pt x="304800" y="245666"/>
                  <a:pt x="304800" y="266700"/>
                </a:cubicBezTo>
                <a:lnTo>
                  <a:pt x="304800" y="342900"/>
                </a:lnTo>
                <a:cubicBezTo>
                  <a:pt x="304800" y="363934"/>
                  <a:pt x="287734" y="381000"/>
                  <a:pt x="266700" y="381000"/>
                </a:cubicBezTo>
                <a:lnTo>
                  <a:pt x="190500" y="381000"/>
                </a:lnTo>
                <a:cubicBezTo>
                  <a:pt x="169466" y="381000"/>
                  <a:pt x="152400" y="363934"/>
                  <a:pt x="152400" y="342900"/>
                </a:cubicBezTo>
                <a:lnTo>
                  <a:pt x="152400" y="266700"/>
                </a:lnTo>
                <a:cubicBezTo>
                  <a:pt x="152400" y="260906"/>
                  <a:pt x="153749" y="255349"/>
                  <a:pt x="156051" y="250428"/>
                </a:cubicBezTo>
                <a:lnTo>
                  <a:pt x="101600" y="177800"/>
                </a:lnTo>
                <a:lnTo>
                  <a:pt x="38100" y="177800"/>
                </a:lnTo>
                <a:cubicBezTo>
                  <a:pt x="17066" y="177800"/>
                  <a:pt x="0" y="160734"/>
                  <a:pt x="0" y="139700"/>
                </a:cubicBezTo>
                <a:lnTo>
                  <a:pt x="0" y="63500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1549400" y="48006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 Result Shows: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5334000"/>
            <a:ext cx="14224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Which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customer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ordered which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product</a:t>
            </a:r>
            <a:endParaRPr lang="en-US" sz="18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Complete order history with customer and product details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62000" y="7048500"/>
            <a:ext cx="762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Flow: Customer -&gt; Order -&gt; Product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7556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762000" y="7556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Customer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4699000" y="7810500"/>
            <a:ext cx="762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28" name="Shape 26"/>
          <p:cNvSpPr/>
          <p:nvPr/>
        </p:nvSpPr>
        <p:spPr>
          <a:xfrm>
            <a:off x="5588000" y="7556500"/>
            <a:ext cx="3810000" cy="635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9" name="Text 27"/>
          <p:cNvSpPr/>
          <p:nvPr/>
        </p:nvSpPr>
        <p:spPr>
          <a:xfrm>
            <a:off x="5588000" y="7556500"/>
            <a:ext cx="381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Order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525000" y="7810500"/>
            <a:ext cx="762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10414000" y="7556500"/>
            <a:ext cx="5080000" cy="635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32" name="Text 30"/>
          <p:cNvSpPr/>
          <p:nvPr/>
        </p:nvSpPr>
        <p:spPr>
          <a:xfrm>
            <a:off x="10414000" y="7556500"/>
            <a:ext cx="5080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8890000" cy="101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838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i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 returns "Only matching rows from both tables."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62000" y="2794000"/>
            <a:ext cx="7112000" cy="15875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016000" y="304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77800" y="94456"/>
                </a:moveTo>
                <a:cubicBezTo>
                  <a:pt x="187037" y="94456"/>
                  <a:pt x="194469" y="101888"/>
                  <a:pt x="194469" y="111125"/>
                </a:cubicBezTo>
                <a:lnTo>
                  <a:pt x="194469" y="188913"/>
                </a:lnTo>
                <a:cubicBezTo>
                  <a:pt x="194469" y="198150"/>
                  <a:pt x="187037" y="205581"/>
                  <a:pt x="177800" y="205581"/>
                </a:cubicBezTo>
                <a:cubicBezTo>
                  <a:pt x="168563" y="205581"/>
                  <a:pt x="161131" y="198150"/>
                  <a:pt x="161131" y="188913"/>
                </a:cubicBezTo>
                <a:lnTo>
                  <a:pt x="161131" y="111125"/>
                </a:lnTo>
                <a:cubicBezTo>
                  <a:pt x="161131" y="101888"/>
                  <a:pt x="168563" y="94456"/>
                  <a:pt x="177800" y="94456"/>
                </a:cubicBezTo>
                <a:close/>
                <a:moveTo>
                  <a:pt x="159256" y="244475"/>
                </a:moveTo>
                <a:cubicBezTo>
                  <a:pt x="158834" y="237592"/>
                  <a:pt x="162267" y="231043"/>
                  <a:pt x="168168" y="227474"/>
                </a:cubicBezTo>
                <a:cubicBezTo>
                  <a:pt x="174068" y="223904"/>
                  <a:pt x="181462" y="223904"/>
                  <a:pt x="187363" y="227474"/>
                </a:cubicBezTo>
                <a:cubicBezTo>
                  <a:pt x="193264" y="231043"/>
                  <a:pt x="196696" y="237592"/>
                  <a:pt x="196275" y="244475"/>
                </a:cubicBezTo>
                <a:cubicBezTo>
                  <a:pt x="196696" y="251358"/>
                  <a:pt x="193264" y="257907"/>
                  <a:pt x="187363" y="261476"/>
                </a:cubicBezTo>
                <a:cubicBezTo>
                  <a:pt x="181462" y="265046"/>
                  <a:pt x="174068" y="265046"/>
                  <a:pt x="168168" y="261476"/>
                </a:cubicBezTo>
                <a:cubicBezTo>
                  <a:pt x="162267" y="257907"/>
                  <a:pt x="158834" y="251358"/>
                  <a:pt x="159256" y="2444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8" name="Text 6"/>
          <p:cNvSpPr/>
          <p:nvPr/>
        </p:nvSpPr>
        <p:spPr>
          <a:xfrm>
            <a:off x="1498600" y="29464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498600" y="3276600"/>
            <a:ext cx="6096000" cy="1041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Non-matching rows are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ignored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and not included in the result.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2000" y="450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62000" y="5016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2" name="Shape 10"/>
          <p:cNvSpPr/>
          <p:nvPr/>
        </p:nvSpPr>
        <p:spPr>
          <a:xfrm>
            <a:off x="1041400" y="5334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91532" y="-10319"/>
                </a:moveTo>
                <a:cubicBezTo>
                  <a:pt x="182483" y="-12144"/>
                  <a:pt x="173196" y="-12144"/>
                  <a:pt x="164148" y="-10319"/>
                </a:cubicBezTo>
                <a:lnTo>
                  <a:pt x="15319" y="19447"/>
                </a:lnTo>
                <a:cubicBezTo>
                  <a:pt x="6429" y="21193"/>
                  <a:pt x="0" y="29051"/>
                  <a:pt x="0" y="38100"/>
                </a:cubicBezTo>
                <a:cubicBezTo>
                  <a:pt x="0" y="46276"/>
                  <a:pt x="5159" y="53419"/>
                  <a:pt x="12700" y="56039"/>
                </a:cubicBezTo>
                <a:lnTo>
                  <a:pt x="12700" y="114300"/>
                </a:lnTo>
                <a:lnTo>
                  <a:pt x="238" y="176689"/>
                </a:lnTo>
                <a:cubicBezTo>
                  <a:pt x="79" y="177403"/>
                  <a:pt x="0" y="178197"/>
                  <a:pt x="0" y="178991"/>
                </a:cubicBezTo>
                <a:cubicBezTo>
                  <a:pt x="0" y="185341"/>
                  <a:pt x="5159" y="190579"/>
                  <a:pt x="11589" y="190579"/>
                </a:cubicBezTo>
                <a:lnTo>
                  <a:pt x="39291" y="190579"/>
                </a:lnTo>
                <a:cubicBezTo>
                  <a:pt x="45641" y="190579"/>
                  <a:pt x="50879" y="185420"/>
                  <a:pt x="50879" y="178991"/>
                </a:cubicBezTo>
                <a:cubicBezTo>
                  <a:pt x="50879" y="178197"/>
                  <a:pt x="50800" y="177483"/>
                  <a:pt x="50641" y="176689"/>
                </a:cubicBezTo>
                <a:lnTo>
                  <a:pt x="38100" y="114300"/>
                </a:lnTo>
                <a:lnTo>
                  <a:pt x="38100" y="61357"/>
                </a:lnTo>
                <a:lnTo>
                  <a:pt x="76200" y="68977"/>
                </a:lnTo>
                <a:lnTo>
                  <a:pt x="76200" y="114300"/>
                </a:lnTo>
                <a:cubicBezTo>
                  <a:pt x="76200" y="170418"/>
                  <a:pt x="121682" y="215900"/>
                  <a:pt x="177800" y="215900"/>
                </a:cubicBezTo>
                <a:cubicBezTo>
                  <a:pt x="233918" y="215900"/>
                  <a:pt x="279400" y="170418"/>
                  <a:pt x="279400" y="114300"/>
                </a:cubicBezTo>
                <a:lnTo>
                  <a:pt x="279400" y="68977"/>
                </a:lnTo>
                <a:lnTo>
                  <a:pt x="340281" y="56833"/>
                </a:lnTo>
                <a:cubicBezTo>
                  <a:pt x="349171" y="55007"/>
                  <a:pt x="355600" y="47149"/>
                  <a:pt x="355600" y="38100"/>
                </a:cubicBezTo>
                <a:cubicBezTo>
                  <a:pt x="355600" y="29051"/>
                  <a:pt x="349171" y="21193"/>
                  <a:pt x="340281" y="19447"/>
                </a:cubicBezTo>
                <a:lnTo>
                  <a:pt x="191532" y="-10319"/>
                </a:lnTo>
                <a:close/>
                <a:moveTo>
                  <a:pt x="177800" y="177800"/>
                </a:moveTo>
                <a:cubicBezTo>
                  <a:pt x="142716" y="177800"/>
                  <a:pt x="114300" y="149384"/>
                  <a:pt x="114300" y="114300"/>
                </a:cubicBezTo>
                <a:lnTo>
                  <a:pt x="241300" y="114300"/>
                </a:lnTo>
                <a:cubicBezTo>
                  <a:pt x="241300" y="149384"/>
                  <a:pt x="212884" y="177800"/>
                  <a:pt x="177800" y="177800"/>
                </a:cubicBezTo>
                <a:close/>
                <a:moveTo>
                  <a:pt x="95329" y="254079"/>
                </a:moveTo>
                <a:cubicBezTo>
                  <a:pt x="46593" y="276463"/>
                  <a:pt x="12700" y="325676"/>
                  <a:pt x="12700" y="382826"/>
                </a:cubicBezTo>
                <a:cubicBezTo>
                  <a:pt x="12700" y="395843"/>
                  <a:pt x="23257" y="406400"/>
                  <a:pt x="36274" y="406400"/>
                </a:cubicBezTo>
                <a:lnTo>
                  <a:pt x="158750" y="406400"/>
                </a:lnTo>
                <a:lnTo>
                  <a:pt x="158750" y="290513"/>
                </a:lnTo>
                <a:lnTo>
                  <a:pt x="113189" y="256381"/>
                </a:lnTo>
                <a:cubicBezTo>
                  <a:pt x="108029" y="252492"/>
                  <a:pt x="101124" y="251460"/>
                  <a:pt x="95250" y="254159"/>
                </a:cubicBezTo>
                <a:close/>
                <a:moveTo>
                  <a:pt x="196850" y="406400"/>
                </a:moveTo>
                <a:lnTo>
                  <a:pt x="319326" y="406400"/>
                </a:lnTo>
                <a:cubicBezTo>
                  <a:pt x="332343" y="406400"/>
                  <a:pt x="342900" y="395843"/>
                  <a:pt x="342900" y="382826"/>
                </a:cubicBezTo>
                <a:cubicBezTo>
                  <a:pt x="342900" y="325676"/>
                  <a:pt x="309007" y="276463"/>
                  <a:pt x="260271" y="254159"/>
                </a:cubicBezTo>
                <a:cubicBezTo>
                  <a:pt x="254397" y="251460"/>
                  <a:pt x="247491" y="252492"/>
                  <a:pt x="242332" y="256381"/>
                </a:cubicBezTo>
                <a:lnTo>
                  <a:pt x="196771" y="290513"/>
                </a:lnTo>
                <a:lnTo>
                  <a:pt x="196771" y="406400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13" name="Text 11"/>
          <p:cNvSpPr/>
          <p:nvPr/>
        </p:nvSpPr>
        <p:spPr>
          <a:xfrm>
            <a:off x="1587500" y="5143500"/>
            <a:ext cx="60325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Only students who are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enrolled in courses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are shown in the result.</a:t>
            </a:r>
            <a:endParaRPr lang="en-US" sz="18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Students without enrollment records are excluded.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36000" y="2540000"/>
            <a:ext cx="6858000" cy="4318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5" name="Text 13"/>
          <p:cNvSpPr/>
          <p:nvPr/>
        </p:nvSpPr>
        <p:spPr>
          <a:xfrm>
            <a:off x="8953500" y="2730500"/>
            <a:ext cx="6223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VISUAL REPRESENTATION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953500" y="3111500"/>
            <a:ext cx="6223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9398000" y="3556000"/>
            <a:ext cx="2159000" cy="2159000"/>
          </a:xfrm>
          <a:prstGeom prst="ellipse">
            <a:avLst/>
          </a:prstGeom>
          <a:solidFill>
            <a:srgbClr val="1B4D4D">
              <a:alpha val="14510"/>
            </a:srgbClr>
          </a:solidFill>
          <a:ln w="25400">
            <a:solidFill>
              <a:srgbClr val="1B4D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779000" y="43180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1049000" y="3556000"/>
            <a:ext cx="2159000" cy="2159000"/>
          </a:xfrm>
          <a:prstGeom prst="ellipse">
            <a:avLst/>
          </a:prstGeom>
          <a:solidFill>
            <a:srgbClr val="C97B3A">
              <a:alpha val="8235"/>
            </a:srgbClr>
          </a:solidFill>
          <a:ln w="25400">
            <a:solidFill>
              <a:srgbClr val="C97B3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430000" y="4318000"/>
            <a:ext cx="1397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53500" y="6032500"/>
            <a:ext cx="6223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50000"/>
              </a:lnSpc>
            </a:pPr>
            <a:r>
              <a:rPr lang="en-US" sz="15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 Result</a:t>
            </a:r>
            <a:pPr algn="ctr">
              <a:lnSpc>
                <a:spcPct val="15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= Only the overlapping (matched) rows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 of Inner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14732000" cy="26035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460500"/>
            <a:ext cx="63500" cy="2476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5875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879600"/>
            <a:ext cx="13970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column_names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table2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</a:t>
            </a:r>
            <a:pPr>
              <a:lnSpc>
                <a:spcPct val="180000"/>
              </a:lnSpc>
            </a:pPr>
            <a:r>
              <a:rPr lang="en-US" sz="20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table1.column = table2.column;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1275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Explanation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6355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508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889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Connects two tables together for comparison and matching.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588000" y="4635500"/>
            <a:ext cx="4572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Text 11"/>
          <p:cNvSpPr/>
          <p:nvPr/>
        </p:nvSpPr>
        <p:spPr>
          <a:xfrm>
            <a:off x="5842000" y="4508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42000" y="4889500"/>
            <a:ext cx="4064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Defines the matching condition between the two tables.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414000" y="4635500"/>
            <a:ext cx="5080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6" name="Text 14"/>
          <p:cNvSpPr/>
          <p:nvPr/>
        </p:nvSpPr>
        <p:spPr>
          <a:xfrm>
            <a:off x="10668000" y="4508500"/>
            <a:ext cx="254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table1.column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668000" y="4889500"/>
            <a:ext cx="4572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common column used to match rows between tables.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62000" y="6477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9" name="Shape 17"/>
          <p:cNvSpPr/>
          <p:nvPr/>
        </p:nvSpPr>
        <p:spPr>
          <a:xfrm>
            <a:off x="1060450" y="6794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666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98600" y="7048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 clause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is what makes Inner Join different from Cross Product — it filters for meaningful matches.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Tables for Inner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Table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4318000" cy="2032000"/>
        </p:xfrm>
        <a:graphic>
          <a:graphicData uri="http://schemas.openxmlformats.org/drawingml/2006/table">
            <a:tbl>
              <a:tblPr/>
              <a:tblGrid>
                <a:gridCol w="1511300"/>
                <a:gridCol w="2806700"/>
              </a:tblGrid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5080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3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Ahmed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8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 Table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8000" y="1778000"/>
          <a:ext cx="4318000" cy="1651000"/>
        </p:xfrm>
        <a:graphic>
          <a:graphicData uri="http://schemas.openxmlformats.org/drawingml/2006/table">
            <a:tbl>
              <a:tblPr/>
              <a:tblGrid>
                <a:gridCol w="1727200"/>
                <a:gridCol w="25908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0414000" y="1397000"/>
            <a:ext cx="5080000" cy="2413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9" name="Text 5"/>
          <p:cNvSpPr/>
          <p:nvPr/>
        </p:nvSpPr>
        <p:spPr>
          <a:xfrm>
            <a:off x="10668000" y="1524000"/>
            <a:ext cx="4572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MATCHING VISUAL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668000" y="1879600"/>
            <a:ext cx="4572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1" name="Text 7"/>
          <p:cNvSpPr/>
          <p:nvPr/>
        </p:nvSpPr>
        <p:spPr>
          <a:xfrm>
            <a:off x="10668000" y="20320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(ID:1)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matches DBMS (ID:1)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0668000" y="24130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 (ID:2)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matches Java (ID:2)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668000" y="27940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(ID:3) 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0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match found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10668000" y="3200400"/>
            <a:ext cx="4572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5" name="Text 11"/>
          <p:cNvSpPr/>
          <p:nvPr/>
        </p:nvSpPr>
        <p:spPr>
          <a:xfrm>
            <a:off x="10668000" y="33274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Only 2 rows will match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762000" y="4318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93775" y="4635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4"/>
          <p:cNvSpPr/>
          <p:nvPr/>
        </p:nvSpPr>
        <p:spPr>
          <a:xfrm>
            <a:off x="1498600" y="4508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98600" y="4889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Ahmed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in the Students table but has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no matching record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Enrollment table. He will be excluded from the Inner Join result.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762000" y="60325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ROW MATCHING DIAGRAM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62000" y="6477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2" name="Text 18"/>
          <p:cNvSpPr/>
          <p:nvPr/>
        </p:nvSpPr>
        <p:spPr>
          <a:xfrm>
            <a:off x="889000" y="6578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889000" y="69215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1 - Ali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CFC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2 - Sara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CFC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3 - Ahmed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FF6B6B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3810000" y="6477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5" name="Text 21"/>
          <p:cNvSpPr/>
          <p:nvPr/>
        </p:nvSpPr>
        <p:spPr>
          <a:xfrm>
            <a:off x="3937000" y="6578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</a:t>
            </a:r>
            <a:endParaRPr lang="en-US" sz="1600" dirty="0"/>
          </a:p>
        </p:txBody>
      </p:sp>
      <p:sp>
        <p:nvSpPr>
          <p:cNvPr id="26" name="Text 22"/>
          <p:cNvSpPr/>
          <p:nvPr/>
        </p:nvSpPr>
        <p:spPr>
          <a:xfrm>
            <a:off x="3937000" y="69215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1 - DBMS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CFC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2 - Java 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7CFC7C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6858000" y="6477000"/>
            <a:ext cx="2540000" cy="1651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28" name="Text 24"/>
          <p:cNvSpPr/>
          <p:nvPr/>
        </p:nvSpPr>
        <p:spPr>
          <a:xfrm>
            <a:off x="6985000" y="6578600"/>
            <a:ext cx="2286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</a:t>
            </a:r>
            <a:endParaRPr lang="en-US" sz="1600" dirty="0"/>
          </a:p>
        </p:txBody>
      </p:sp>
      <p:sp>
        <p:nvSpPr>
          <p:cNvPr id="29" name="Text 25"/>
          <p:cNvSpPr/>
          <p:nvPr/>
        </p:nvSpPr>
        <p:spPr>
          <a:xfrm>
            <a:off x="6985000" y="6921500"/>
            <a:ext cx="2286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- DBMS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 - Java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(Ahmed excluded)</a:t>
            </a:r>
            <a:endParaRPr lang="en-US" sz="1600" dirty="0"/>
          </a:p>
        </p:txBody>
      </p:sp>
      <p:sp>
        <p:nvSpPr>
          <p:cNvPr id="30" name="Shape 26"/>
          <p:cNvSpPr/>
          <p:nvPr/>
        </p:nvSpPr>
        <p:spPr>
          <a:xfrm>
            <a:off x="3429000" y="7175500"/>
            <a:ext cx="254000" cy="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olid"/>
            <a:headEnd type="none"/>
            <a:tailEnd type="arrow"/>
          </a:ln>
        </p:spPr>
      </p:sp>
      <p:sp>
        <p:nvSpPr>
          <p:cNvPr id="31" name="Shape 27"/>
          <p:cNvSpPr/>
          <p:nvPr/>
        </p:nvSpPr>
        <p:spPr>
          <a:xfrm>
            <a:off x="6477000" y="7175500"/>
            <a:ext cx="254000" cy="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olid"/>
            <a:headEnd type="none"/>
            <a:tailEnd type="arrow"/>
          </a:ln>
        </p:spPr>
      </p:sp>
      <p:sp>
        <p:nvSpPr>
          <p:cNvPr id="32" name="Text 28"/>
          <p:cNvSpPr/>
          <p:nvPr/>
        </p:nvSpPr>
        <p:spPr>
          <a:xfrm>
            <a:off x="3429000" y="7366000"/>
            <a:ext cx="3302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ON StudentID</a:t>
            </a: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Example Query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3500" cy="2286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30400"/>
            <a:ext cx="13970000" cy="2476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Students.Name, Enrollment.Course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Enrollment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Students.StudentID = Enrollment.StudentID;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Query Breakdown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889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50800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889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9400" y="4889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SELECT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Choose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Name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Students and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Course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from Enrollment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9690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61595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969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49400" y="59690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INNER JOIN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Connect Students table with Enrollment table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7048500"/>
            <a:ext cx="711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72390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7048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49400" y="7048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6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Match rows where </a:t>
            </a:r>
            <a:pPr>
              <a:lnSpc>
                <a:spcPct val="16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is equal in both tables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4191000"/>
            <a:ext cx="7112000" cy="3556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4381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QUERY WORKS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99500" y="47625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890000" y="50165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5016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Students Table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0287000" y="5651500"/>
            <a:ext cx="0" cy="31750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890000" y="59690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59690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Read Enrollment Table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0287000" y="6604000"/>
            <a:ext cx="0" cy="31750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890000" y="6921500"/>
            <a:ext cx="2794000" cy="635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000" y="6921500"/>
            <a:ext cx="2794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 on StudentID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1938000" y="5080000"/>
            <a:ext cx="3302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Compare each StudentID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Find matching pairs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Return only matches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Exclude non-matches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of Inner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Table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5080000" cy="1651000"/>
        </p:xfrm>
        <a:graphic>
          <a:graphicData uri="http://schemas.openxmlformats.org/drawingml/2006/table">
            <a:tbl>
              <a:tblPr/>
              <a:tblGrid>
                <a:gridCol w="2540000"/>
                <a:gridCol w="25400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3746500"/>
            <a:ext cx="2286000" cy="558800"/>
          </a:xfrm>
          <a:prstGeom prst="roundRect">
            <a:avLst>
              <a:gd name="adj" fmla="val 10000"/>
            </a:avLst>
          </a:prstGeom>
          <a:solidFill>
            <a:srgbClr val="4A7C59"/>
          </a:solidFill>
          <a:ln/>
        </p:spPr>
      </p:sp>
      <p:sp>
        <p:nvSpPr>
          <p:cNvPr id="7" name="Text 4"/>
          <p:cNvSpPr/>
          <p:nvPr/>
        </p:nvSpPr>
        <p:spPr>
          <a:xfrm>
            <a:off x="762000" y="3746500"/>
            <a:ext cx="2286000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 Rows Returned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2000" y="4699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993775" y="5016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0" name="Text 7"/>
          <p:cNvSpPr/>
          <p:nvPr/>
        </p:nvSpPr>
        <p:spPr>
          <a:xfrm>
            <a:off x="1498600" y="4889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498600" y="5270500"/>
            <a:ext cx="6096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Ahmed is missing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because there is no matching record in the Enrollment table.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762000" y="6731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BEFORE vs AFTER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762000" y="71755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4" name="Text 11"/>
          <p:cNvSpPr/>
          <p:nvPr/>
        </p:nvSpPr>
        <p:spPr>
          <a:xfrm>
            <a:off x="889000" y="7239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Before Join: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3 students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(Ali, Sara, Ahmed)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191000" y="7556500"/>
            <a:ext cx="508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16" name="Shape 13"/>
          <p:cNvSpPr/>
          <p:nvPr/>
        </p:nvSpPr>
        <p:spPr>
          <a:xfrm>
            <a:off x="4826000" y="7175500"/>
            <a:ext cx="3302000" cy="889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7" name="Text 14"/>
          <p:cNvSpPr/>
          <p:nvPr/>
        </p:nvSpPr>
        <p:spPr>
          <a:xfrm>
            <a:off x="4953000" y="7239000"/>
            <a:ext cx="3048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4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After Join:</a:t>
            </a:r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2 records</a:t>
            </a:r>
            <a:endParaRPr lang="en-US" sz="1600" dirty="0"/>
          </a:p>
          <a:p>
            <a:pPr algn="ctr">
              <a:lnSpc>
                <a:spcPct val="15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(Ali-DBMS, Sara-Java)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8382000" y="1460500"/>
            <a:ext cx="7112000" cy="6604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9" name="Text 16"/>
          <p:cNvSpPr/>
          <p:nvPr/>
        </p:nvSpPr>
        <p:spPr>
          <a:xfrm>
            <a:off x="8699500" y="1651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AHMED IS EXCLUDED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8699500" y="20320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1" name="Text 18"/>
          <p:cNvSpPr/>
          <p:nvPr/>
        </p:nvSpPr>
        <p:spPr>
          <a:xfrm>
            <a:off x="8699500" y="2222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 Table contains: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8890000" y="2603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Ali (ID: 1)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8890000" y="292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Sara (ID: 2)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890000" y="323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Ahmed (ID: 3)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699500" y="3810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 Table contains: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8890000" y="4191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ID: 1 (DBMS)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890000" y="45085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ID: 2 (Java)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8699500" y="50800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9" name="Text 26"/>
          <p:cNvSpPr/>
          <p:nvPr/>
        </p:nvSpPr>
        <p:spPr>
          <a:xfrm>
            <a:off x="8699500" y="5270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Matching Analysis: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8890000" y="56515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(ID:1)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matches Enrollment ID:1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890000" y="59944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 (ID:2)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✓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matches Enrollment ID:2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8890000" y="6337300"/>
            <a:ext cx="6223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5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(ID:3) 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✗</a:t>
            </a:r>
            <a:pPr>
              <a:lnSpc>
                <a:spcPct val="100000"/>
              </a:lnSpc>
            </a:pPr>
            <a:r>
              <a:rPr lang="en-US" sz="15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no match in Enrollment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699500" y="6921500"/>
            <a:ext cx="6477000" cy="76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34" name="Text 31"/>
          <p:cNvSpPr/>
          <p:nvPr/>
        </p:nvSpPr>
        <p:spPr>
          <a:xfrm>
            <a:off x="8890000" y="698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Only Ali and Sara appear in the output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Diagram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14732000" cy="4826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1270000" y="1905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397000" y="20066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Table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97000" y="2413000"/>
            <a:ext cx="330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1 | Name: Ali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 | Name: Sara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3 | Name: Ahmed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Primary Key: StudentID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588000" y="1905000"/>
            <a:ext cx="3556000" cy="2286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9" name="Text 7"/>
          <p:cNvSpPr/>
          <p:nvPr/>
        </p:nvSpPr>
        <p:spPr>
          <a:xfrm>
            <a:off x="5715000" y="2006600"/>
            <a:ext cx="330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 Table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15000" y="2413000"/>
            <a:ext cx="3302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1 | Course: DBMS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ID: 2 | Course: Java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2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Foreign Key: StudentID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953000" y="2984500"/>
            <a:ext cx="508000" cy="0"/>
          </a:xfrm>
          <a:prstGeom prst="straightConnector1">
            <a:avLst/>
          </a:prstGeom>
          <a:noFill/>
          <a:ln w="38100">
            <a:solidFill>
              <a:srgbClr val="4A7C59"/>
            </a:solidFill>
            <a:prstDash val="solid"/>
            <a:headEnd type="none"/>
            <a:tailEnd type="arrow"/>
          </a:ln>
        </p:spPr>
      </p:sp>
      <p:sp>
        <p:nvSpPr>
          <p:cNvPr id="12" name="Text 10"/>
          <p:cNvSpPr/>
          <p:nvPr/>
        </p:nvSpPr>
        <p:spPr>
          <a:xfrm>
            <a:off x="4318000" y="3111500"/>
            <a:ext cx="1905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>
              <a:lnSpc>
                <a:spcPct val="100000"/>
              </a:lnSpc>
            </a:pPr>
            <a:r>
              <a:rPr lang="en-US" sz="1200" b="1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 StudentID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271000" y="2984500"/>
            <a:ext cx="508000" cy="0"/>
          </a:xfrm>
          <a:prstGeom prst="straightConnector1">
            <a:avLst/>
          </a:prstGeom>
          <a:noFill/>
          <a:ln w="38100">
            <a:solidFill>
              <a:srgbClr val="4A7C59"/>
            </a:solidFill>
            <a:prstDash val="solid"/>
            <a:headEnd type="none"/>
            <a:tailEnd type="arrow"/>
          </a:ln>
        </p:spPr>
      </p:sp>
      <p:sp>
        <p:nvSpPr>
          <p:cNvPr id="14" name="Shape 12"/>
          <p:cNvSpPr/>
          <p:nvPr/>
        </p:nvSpPr>
        <p:spPr>
          <a:xfrm>
            <a:off x="9906000" y="1905000"/>
            <a:ext cx="5080000" cy="2286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15" name="Text 13"/>
          <p:cNvSpPr/>
          <p:nvPr/>
        </p:nvSpPr>
        <p:spPr>
          <a:xfrm>
            <a:off x="10033000" y="2006600"/>
            <a:ext cx="4826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(Inner Join)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33000" y="2413000"/>
            <a:ext cx="4826000" cy="158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 Ali | Course: DBMS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Name: Sara | Course: Java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400" dirty="0">
                <a:solidFill>
                  <a:srgbClr val="FFFFFF">
                    <a:alpha val="66700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excluded (no match)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270000" y="4445000"/>
            <a:ext cx="3556000" cy="381000"/>
          </a:xfrm>
          <a:prstGeom prst="roundRect">
            <a:avLst>
              <a:gd name="adj" fmla="val 10000"/>
            </a:avLst>
          </a:prstGeom>
          <a:solidFill>
            <a:srgbClr val="4A7C59">
              <a:alpha val="18824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270000" y="444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Ali (ID:1) MATCHES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588000" y="4445000"/>
            <a:ext cx="3556000" cy="381000"/>
          </a:xfrm>
          <a:prstGeom prst="roundRect">
            <a:avLst>
              <a:gd name="adj" fmla="val 10000"/>
            </a:avLst>
          </a:prstGeom>
          <a:solidFill>
            <a:srgbClr val="4A7C59">
              <a:alpha val="18824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5588000" y="4445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Sara (ID:2) MATCHES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270000" y="4953000"/>
            <a:ext cx="3556000" cy="381000"/>
          </a:xfrm>
          <a:prstGeom prst="roundRect">
            <a:avLst>
              <a:gd name="adj" fmla="val 10000"/>
            </a:avLst>
          </a:prstGeom>
          <a:solidFill>
            <a:srgbClr val="C97B3A">
              <a:alpha val="12549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270000" y="4953000"/>
            <a:ext cx="3556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Ahmed (ID:3) NO MATCH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906000" y="4445000"/>
            <a:ext cx="5080000" cy="381000"/>
          </a:xfrm>
          <a:prstGeom prst="roundRect">
            <a:avLst>
              <a:gd name="adj" fmla="val 10000"/>
            </a:avLst>
          </a:prstGeom>
          <a:solidFill>
            <a:srgbClr val="4A7C59">
              <a:alpha val="25098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906000" y="4445000"/>
            <a:ext cx="508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matching rows returned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62000" y="6604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16000" y="6921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" y="679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498600" y="7175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 focuses only on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data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rows must exist in both tables to appear in the result.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Benefits of Inner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1016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400050" y="228600"/>
                </a:moveTo>
                <a:cubicBezTo>
                  <a:pt x="400050" y="133974"/>
                  <a:pt x="323226" y="57150"/>
                  <a:pt x="228600" y="57150"/>
                </a:cubicBezTo>
                <a:cubicBezTo>
                  <a:pt x="133974" y="57150"/>
                  <a:pt x="57150" y="133974"/>
                  <a:pt x="57150" y="228600"/>
                </a:cubicBezTo>
                <a:cubicBezTo>
                  <a:pt x="57150" y="323226"/>
                  <a:pt x="133974" y="400050"/>
                  <a:pt x="228600" y="400050"/>
                </a:cubicBezTo>
                <a:cubicBezTo>
                  <a:pt x="323226" y="400050"/>
                  <a:pt x="400050" y="323226"/>
                  <a:pt x="400050" y="228600"/>
                </a:cubicBezTo>
                <a:close/>
                <a:moveTo>
                  <a:pt x="0" y="228600"/>
                </a:moveTo>
                <a:cubicBezTo>
                  <a:pt x="0" y="102432"/>
                  <a:pt x="102432" y="0"/>
                  <a:pt x="228600" y="0"/>
                </a:cubicBezTo>
                <a:cubicBezTo>
                  <a:pt x="354768" y="0"/>
                  <a:pt x="457200" y="102432"/>
                  <a:pt x="457200" y="228600"/>
                </a:cubicBezTo>
                <a:cubicBezTo>
                  <a:pt x="457200" y="354768"/>
                  <a:pt x="354768" y="457200"/>
                  <a:pt x="228600" y="457200"/>
                </a:cubicBezTo>
                <a:cubicBezTo>
                  <a:pt x="102432" y="457200"/>
                  <a:pt x="0" y="354768"/>
                  <a:pt x="0" y="228600"/>
                </a:cubicBezTo>
                <a:close/>
                <a:moveTo>
                  <a:pt x="228600" y="300038"/>
                </a:moveTo>
                <a:cubicBezTo>
                  <a:pt x="268027" y="300038"/>
                  <a:pt x="300038" y="268027"/>
                  <a:pt x="300038" y="228600"/>
                </a:cubicBezTo>
                <a:cubicBezTo>
                  <a:pt x="300038" y="189173"/>
                  <a:pt x="268027" y="157163"/>
                  <a:pt x="228600" y="157163"/>
                </a:cubicBezTo>
                <a:cubicBezTo>
                  <a:pt x="189173" y="157163"/>
                  <a:pt x="157163" y="189173"/>
                  <a:pt x="157163" y="228600"/>
                </a:cubicBezTo>
                <a:cubicBezTo>
                  <a:pt x="157163" y="268027"/>
                  <a:pt x="189173" y="300038"/>
                  <a:pt x="228600" y="300038"/>
                </a:cubicBezTo>
                <a:close/>
                <a:moveTo>
                  <a:pt x="228600" y="100013"/>
                </a:moveTo>
                <a:cubicBezTo>
                  <a:pt x="299569" y="100013"/>
                  <a:pt x="357188" y="157631"/>
                  <a:pt x="357188" y="228600"/>
                </a:cubicBezTo>
                <a:cubicBezTo>
                  <a:pt x="357188" y="299569"/>
                  <a:pt x="299569" y="357188"/>
                  <a:pt x="228600" y="357188"/>
                </a:cubicBezTo>
                <a:cubicBezTo>
                  <a:pt x="157631" y="357188"/>
                  <a:pt x="100013" y="299569"/>
                  <a:pt x="100013" y="228600"/>
                </a:cubicBezTo>
                <a:cubicBezTo>
                  <a:pt x="100013" y="157631"/>
                  <a:pt x="157631" y="100013"/>
                  <a:pt x="228600" y="100013"/>
                </a:cubicBezTo>
                <a:close/>
                <a:moveTo>
                  <a:pt x="200025" y="228600"/>
                </a:moveTo>
                <a:cubicBezTo>
                  <a:pt x="200025" y="212829"/>
                  <a:pt x="212829" y="200025"/>
                  <a:pt x="228600" y="200025"/>
                </a:cubicBezTo>
                <a:cubicBezTo>
                  <a:pt x="244371" y="200025"/>
                  <a:pt x="257175" y="212829"/>
                  <a:pt x="257175" y="228600"/>
                </a:cubicBezTo>
                <a:cubicBezTo>
                  <a:pt x="257175" y="244371"/>
                  <a:pt x="244371" y="257175"/>
                  <a:pt x="228600" y="257175"/>
                </a:cubicBezTo>
                <a:cubicBezTo>
                  <a:pt x="212829" y="257175"/>
                  <a:pt x="200025" y="244371"/>
                  <a:pt x="200025" y="22860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6" name="Text 4"/>
          <p:cNvSpPr/>
          <p:nvPr/>
        </p:nvSpPr>
        <p:spPr>
          <a:xfrm>
            <a:off x="1651000" y="171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Gives Accurate Data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51000" y="20955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Returns only verified, matching records from both tables. No guesswork.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128000" y="14605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9" name="Shape 7"/>
          <p:cNvSpPr/>
          <p:nvPr/>
        </p:nvSpPr>
        <p:spPr>
          <a:xfrm>
            <a:off x="8382000" y="1841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8575" y="57150"/>
                </a:moveTo>
                <a:cubicBezTo>
                  <a:pt x="17056" y="57150"/>
                  <a:pt x="6608" y="64115"/>
                  <a:pt x="2143" y="74831"/>
                </a:cubicBezTo>
                <a:cubicBezTo>
                  <a:pt x="-2322" y="85546"/>
                  <a:pt x="179" y="97780"/>
                  <a:pt x="8394" y="105906"/>
                </a:cubicBezTo>
                <a:lnTo>
                  <a:pt x="171450" y="269051"/>
                </a:lnTo>
                <a:lnTo>
                  <a:pt x="171450" y="371475"/>
                </a:lnTo>
                <a:cubicBezTo>
                  <a:pt x="171450" y="379065"/>
                  <a:pt x="174486" y="386298"/>
                  <a:pt x="179844" y="391656"/>
                </a:cubicBezTo>
                <a:lnTo>
                  <a:pt x="236994" y="448806"/>
                </a:lnTo>
                <a:cubicBezTo>
                  <a:pt x="245209" y="457021"/>
                  <a:pt x="257443" y="459432"/>
                  <a:pt x="268159" y="454968"/>
                </a:cubicBezTo>
                <a:cubicBezTo>
                  <a:pt x="278874" y="450503"/>
                  <a:pt x="285750" y="440144"/>
                  <a:pt x="285750" y="428625"/>
                </a:cubicBezTo>
                <a:lnTo>
                  <a:pt x="285750" y="269051"/>
                </a:lnTo>
                <a:lnTo>
                  <a:pt x="448806" y="105995"/>
                </a:lnTo>
                <a:cubicBezTo>
                  <a:pt x="457021" y="97780"/>
                  <a:pt x="459432" y="85546"/>
                  <a:pt x="454968" y="74831"/>
                </a:cubicBezTo>
                <a:cubicBezTo>
                  <a:pt x="450503" y="64115"/>
                  <a:pt x="440144" y="57150"/>
                  <a:pt x="428625" y="57150"/>
                </a:cubicBezTo>
                <a:lnTo>
                  <a:pt x="28575" y="57150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0" name="Text 8"/>
          <p:cNvSpPr/>
          <p:nvPr/>
        </p:nvSpPr>
        <p:spPr>
          <a:xfrm>
            <a:off x="9017000" y="17145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Removes Unrelated Rows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17000" y="20955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filters out data that doesn't have a matching relationship.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62000" y="3429000"/>
            <a:ext cx="7112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16000" y="38100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126176"/>
                </a:moveTo>
                <a:lnTo>
                  <a:pt x="228600" y="402372"/>
                </a:lnTo>
                <a:lnTo>
                  <a:pt x="229046" y="402193"/>
                </a:lnTo>
                <a:cubicBezTo>
                  <a:pt x="277803" y="381923"/>
                  <a:pt x="330131" y="371475"/>
                  <a:pt x="382905" y="371475"/>
                </a:cubicBezTo>
                <a:lnTo>
                  <a:pt x="400050" y="371475"/>
                </a:lnTo>
                <a:lnTo>
                  <a:pt x="400050" y="85725"/>
                </a:lnTo>
                <a:lnTo>
                  <a:pt x="382905" y="85725"/>
                </a:lnTo>
                <a:cubicBezTo>
                  <a:pt x="345222" y="85725"/>
                  <a:pt x="307806" y="93226"/>
                  <a:pt x="272981" y="107692"/>
                </a:cubicBezTo>
                <a:cubicBezTo>
                  <a:pt x="257979" y="113943"/>
                  <a:pt x="243155" y="120104"/>
                  <a:pt x="228600" y="126176"/>
                </a:cubicBezTo>
                <a:close/>
                <a:moveTo>
                  <a:pt x="206186" y="54918"/>
                </a:moveTo>
                <a:lnTo>
                  <a:pt x="228600" y="64294"/>
                </a:lnTo>
                <a:lnTo>
                  <a:pt x="251014" y="54918"/>
                </a:lnTo>
                <a:cubicBezTo>
                  <a:pt x="292804" y="37505"/>
                  <a:pt x="337631" y="28575"/>
                  <a:pt x="382905" y="28575"/>
                </a:cubicBezTo>
                <a:lnTo>
                  <a:pt x="414338" y="28575"/>
                </a:lnTo>
                <a:cubicBezTo>
                  <a:pt x="438001" y="28575"/>
                  <a:pt x="457200" y="47774"/>
                  <a:pt x="457200" y="71438"/>
                </a:cubicBezTo>
                <a:lnTo>
                  <a:pt x="457200" y="385763"/>
                </a:lnTo>
                <a:cubicBezTo>
                  <a:pt x="457200" y="409426"/>
                  <a:pt x="438001" y="428625"/>
                  <a:pt x="414338" y="428625"/>
                </a:cubicBezTo>
                <a:lnTo>
                  <a:pt x="382905" y="428625"/>
                </a:lnTo>
                <a:cubicBezTo>
                  <a:pt x="337631" y="428625"/>
                  <a:pt x="292804" y="437555"/>
                  <a:pt x="251014" y="454968"/>
                </a:cubicBezTo>
                <a:lnTo>
                  <a:pt x="239584" y="459700"/>
                </a:lnTo>
                <a:cubicBezTo>
                  <a:pt x="232529" y="462647"/>
                  <a:pt x="224671" y="462647"/>
                  <a:pt x="217616" y="459700"/>
                </a:cubicBezTo>
                <a:lnTo>
                  <a:pt x="206186" y="454968"/>
                </a:lnTo>
                <a:cubicBezTo>
                  <a:pt x="164396" y="437555"/>
                  <a:pt x="119569" y="428625"/>
                  <a:pt x="74295" y="428625"/>
                </a:cubicBezTo>
                <a:lnTo>
                  <a:pt x="42863" y="428625"/>
                </a:lnTo>
                <a:cubicBezTo>
                  <a:pt x="19199" y="428625"/>
                  <a:pt x="0" y="409426"/>
                  <a:pt x="0" y="385763"/>
                </a:cubicBezTo>
                <a:lnTo>
                  <a:pt x="0" y="71438"/>
                </a:lnTo>
                <a:cubicBezTo>
                  <a:pt x="0" y="47774"/>
                  <a:pt x="19199" y="28575"/>
                  <a:pt x="42863" y="28575"/>
                </a:cubicBezTo>
                <a:lnTo>
                  <a:pt x="74295" y="28575"/>
                </a:lnTo>
                <a:cubicBezTo>
                  <a:pt x="119569" y="28575"/>
                  <a:pt x="164396" y="37505"/>
                  <a:pt x="206186" y="54918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4" name="Text 12"/>
          <p:cNvSpPr/>
          <p:nvPr/>
        </p:nvSpPr>
        <p:spPr>
          <a:xfrm>
            <a:off x="1651000" y="3683000"/>
            <a:ext cx="381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Easy to Understand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51000" y="4064000"/>
            <a:ext cx="5969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Simple and intuitive concept — only show what exists in both places.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8128000" y="3429000"/>
            <a:ext cx="7366000" cy="1651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7" name="Shape 15"/>
          <p:cNvSpPr/>
          <p:nvPr/>
        </p:nvSpPr>
        <p:spPr>
          <a:xfrm>
            <a:off x="8353425" y="3810000"/>
            <a:ext cx="514350" cy="457200"/>
          </a:xfrm>
          <a:custGeom>
            <a:avLst/>
            <a:gdLst/>
            <a:ahLst/>
            <a:cxnLst/>
            <a:rect l="l" t="t" r="r" b="b"/>
            <a:pathLst>
              <a:path w="514350" h="457200">
                <a:moveTo>
                  <a:pt x="276374" y="-16877"/>
                </a:moveTo>
                <a:cubicBezTo>
                  <a:pt x="272713" y="-24021"/>
                  <a:pt x="265301" y="-28575"/>
                  <a:pt x="257264" y="-28575"/>
                </a:cubicBezTo>
                <a:cubicBezTo>
                  <a:pt x="249228" y="-28575"/>
                  <a:pt x="241816" y="-24021"/>
                  <a:pt x="238155" y="-16877"/>
                </a:cubicBezTo>
                <a:lnTo>
                  <a:pt x="172432" y="111889"/>
                </a:lnTo>
                <a:lnTo>
                  <a:pt x="29647" y="134570"/>
                </a:lnTo>
                <a:cubicBezTo>
                  <a:pt x="21699" y="135821"/>
                  <a:pt x="15091" y="141446"/>
                  <a:pt x="12591" y="149126"/>
                </a:cubicBezTo>
                <a:cubicBezTo>
                  <a:pt x="10091" y="156805"/>
                  <a:pt x="12144" y="165199"/>
                  <a:pt x="17770" y="170914"/>
                </a:cubicBezTo>
                <a:lnTo>
                  <a:pt x="119926" y="273159"/>
                </a:lnTo>
                <a:lnTo>
                  <a:pt x="97423" y="415945"/>
                </a:lnTo>
                <a:cubicBezTo>
                  <a:pt x="96173" y="423892"/>
                  <a:pt x="99477" y="431929"/>
                  <a:pt x="105995" y="436662"/>
                </a:cubicBezTo>
                <a:cubicBezTo>
                  <a:pt x="112514" y="441394"/>
                  <a:pt x="121087" y="442109"/>
                  <a:pt x="128320" y="438448"/>
                </a:cubicBezTo>
                <a:lnTo>
                  <a:pt x="257264" y="372904"/>
                </a:lnTo>
                <a:lnTo>
                  <a:pt x="386120" y="438448"/>
                </a:lnTo>
                <a:cubicBezTo>
                  <a:pt x="393263" y="442109"/>
                  <a:pt x="401925" y="441394"/>
                  <a:pt x="408444" y="436662"/>
                </a:cubicBezTo>
                <a:cubicBezTo>
                  <a:pt x="414963" y="431929"/>
                  <a:pt x="418267" y="423982"/>
                  <a:pt x="417016" y="415945"/>
                </a:cubicBezTo>
                <a:lnTo>
                  <a:pt x="394424" y="273159"/>
                </a:lnTo>
                <a:lnTo>
                  <a:pt x="496580" y="170914"/>
                </a:lnTo>
                <a:cubicBezTo>
                  <a:pt x="502295" y="165199"/>
                  <a:pt x="504259" y="156805"/>
                  <a:pt x="501759" y="149126"/>
                </a:cubicBezTo>
                <a:cubicBezTo>
                  <a:pt x="499259" y="141446"/>
                  <a:pt x="492740" y="135821"/>
                  <a:pt x="484703" y="134570"/>
                </a:cubicBezTo>
                <a:lnTo>
                  <a:pt x="342007" y="111889"/>
                </a:lnTo>
                <a:lnTo>
                  <a:pt x="276374" y="-16877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8" name="Text 16"/>
          <p:cNvSpPr/>
          <p:nvPr/>
        </p:nvSpPr>
        <p:spPr>
          <a:xfrm>
            <a:off x="9017000" y="3683000"/>
            <a:ext cx="5080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Most Commonly Used Join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017000" y="4064000"/>
            <a:ext cx="6223000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go-to join for most database queries in real-world applications.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62000" y="5524500"/>
            <a:ext cx="14732000" cy="2286000"/>
          </a:xfrm>
          <a:prstGeom prst="roundRect">
            <a:avLst>
              <a:gd name="adj" fmla="val 6000"/>
            </a:avLst>
          </a:prstGeom>
          <a:solidFill>
            <a:srgbClr val="1B4D4D"/>
          </a:solidFill>
          <a:ln/>
        </p:spPr>
      </p:sp>
      <p:sp>
        <p:nvSpPr>
          <p:cNvPr id="21" name="Shape 19"/>
          <p:cNvSpPr/>
          <p:nvPr/>
        </p:nvSpPr>
        <p:spPr>
          <a:xfrm>
            <a:off x="1016000" y="5842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88843" y="14030"/>
                </a:moveTo>
                <a:cubicBezTo>
                  <a:pt x="182037" y="10140"/>
                  <a:pt x="173633" y="10140"/>
                  <a:pt x="166757" y="14030"/>
                </a:cubicBezTo>
                <a:lnTo>
                  <a:pt x="11182" y="102930"/>
                </a:lnTo>
                <a:cubicBezTo>
                  <a:pt x="2431" y="107930"/>
                  <a:pt x="-1875" y="118209"/>
                  <a:pt x="695" y="127933"/>
                </a:cubicBezTo>
                <a:cubicBezTo>
                  <a:pt x="3264" y="137656"/>
                  <a:pt x="12154" y="144463"/>
                  <a:pt x="22225" y="144463"/>
                </a:cubicBezTo>
                <a:lnTo>
                  <a:pt x="44450" y="144463"/>
                </a:lnTo>
                <a:lnTo>
                  <a:pt x="44450" y="288925"/>
                </a:lnTo>
                <a:lnTo>
                  <a:pt x="44450" y="288925"/>
                </a:lnTo>
                <a:lnTo>
                  <a:pt x="8890" y="315595"/>
                </a:lnTo>
                <a:cubicBezTo>
                  <a:pt x="3264" y="319762"/>
                  <a:pt x="0" y="326360"/>
                  <a:pt x="0" y="333375"/>
                </a:cubicBezTo>
                <a:cubicBezTo>
                  <a:pt x="0" y="345668"/>
                  <a:pt x="9932" y="355600"/>
                  <a:pt x="22225" y="355600"/>
                </a:cubicBezTo>
                <a:lnTo>
                  <a:pt x="333375" y="355600"/>
                </a:lnTo>
                <a:cubicBezTo>
                  <a:pt x="345668" y="355600"/>
                  <a:pt x="355600" y="345668"/>
                  <a:pt x="355600" y="333375"/>
                </a:cubicBezTo>
                <a:cubicBezTo>
                  <a:pt x="355600" y="326360"/>
                  <a:pt x="352336" y="319762"/>
                  <a:pt x="346710" y="315595"/>
                </a:cubicBezTo>
                <a:lnTo>
                  <a:pt x="311150" y="288925"/>
                </a:lnTo>
                <a:lnTo>
                  <a:pt x="311150" y="144463"/>
                </a:lnTo>
                <a:lnTo>
                  <a:pt x="333375" y="144463"/>
                </a:lnTo>
                <a:cubicBezTo>
                  <a:pt x="343446" y="144463"/>
                  <a:pt x="352266" y="137656"/>
                  <a:pt x="354836" y="127933"/>
                </a:cubicBezTo>
                <a:cubicBezTo>
                  <a:pt x="357406" y="118209"/>
                  <a:pt x="353100" y="107930"/>
                  <a:pt x="344349" y="102930"/>
                </a:cubicBezTo>
                <a:lnTo>
                  <a:pt x="188774" y="14030"/>
                </a:lnTo>
                <a:close/>
                <a:moveTo>
                  <a:pt x="277813" y="144463"/>
                </a:moveTo>
                <a:lnTo>
                  <a:pt x="277813" y="288925"/>
                </a:lnTo>
                <a:lnTo>
                  <a:pt x="233363" y="288925"/>
                </a:lnTo>
                <a:lnTo>
                  <a:pt x="233363" y="144463"/>
                </a:lnTo>
                <a:lnTo>
                  <a:pt x="277813" y="144463"/>
                </a:lnTo>
                <a:close/>
                <a:moveTo>
                  <a:pt x="200025" y="144463"/>
                </a:moveTo>
                <a:lnTo>
                  <a:pt x="200025" y="288925"/>
                </a:lnTo>
                <a:lnTo>
                  <a:pt x="155575" y="288925"/>
                </a:lnTo>
                <a:lnTo>
                  <a:pt x="155575" y="144463"/>
                </a:lnTo>
                <a:lnTo>
                  <a:pt x="200025" y="144463"/>
                </a:lnTo>
                <a:close/>
                <a:moveTo>
                  <a:pt x="122238" y="144463"/>
                </a:moveTo>
                <a:lnTo>
                  <a:pt x="122238" y="288925"/>
                </a:lnTo>
                <a:lnTo>
                  <a:pt x="77788" y="288925"/>
                </a:lnTo>
                <a:lnTo>
                  <a:pt x="77788" y="144463"/>
                </a:lnTo>
                <a:lnTo>
                  <a:pt x="122238" y="144463"/>
                </a:lnTo>
                <a:close/>
                <a:moveTo>
                  <a:pt x="177800" y="66675"/>
                </a:moveTo>
                <a:cubicBezTo>
                  <a:pt x="190066" y="66675"/>
                  <a:pt x="200025" y="76634"/>
                  <a:pt x="200025" y="88900"/>
                </a:cubicBezTo>
                <a:cubicBezTo>
                  <a:pt x="200025" y="101166"/>
                  <a:pt x="190066" y="111125"/>
                  <a:pt x="177800" y="111125"/>
                </a:cubicBezTo>
                <a:cubicBezTo>
                  <a:pt x="165534" y="111125"/>
                  <a:pt x="155575" y="101166"/>
                  <a:pt x="155575" y="88900"/>
                </a:cubicBezTo>
                <a:cubicBezTo>
                  <a:pt x="155575" y="76634"/>
                  <a:pt x="165534" y="66675"/>
                  <a:pt x="177800" y="666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2" name="Text 20"/>
          <p:cNvSpPr/>
          <p:nvPr/>
        </p:nvSpPr>
        <p:spPr>
          <a:xfrm>
            <a:off x="1498600" y="5778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 Life Example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016000" y="6350000"/>
            <a:ext cx="14224000" cy="146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Bank System: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Showing customers with active accounts only.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An Inner Join between the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Customers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 and 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Accounts</a:t>
            </a:r>
            <a:pPr>
              <a:lnSpc>
                <a:spcPct val="170000"/>
              </a:lnSpc>
              <a:spcBef>
                <a:spcPts val="6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table ensures only customers who actually have accounts are displayed — inactive or closed accounts are excluded.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Problems Without Joins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2700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joins, databases face serious challenges: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9906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32544" y="-19764"/>
                </a:moveTo>
                <a:cubicBezTo>
                  <a:pt x="25083" y="-27226"/>
                  <a:pt x="13017" y="-27226"/>
                  <a:pt x="5636" y="-19764"/>
                </a:cubicBezTo>
                <a:cubicBezTo>
                  <a:pt x="-1746" y="-12303"/>
                  <a:pt x="-1826" y="-238"/>
                  <a:pt x="5556" y="7223"/>
                </a:cubicBezTo>
                <a:lnTo>
                  <a:pt x="424656" y="426323"/>
                </a:lnTo>
                <a:cubicBezTo>
                  <a:pt x="432118" y="433784"/>
                  <a:pt x="444183" y="433784"/>
                  <a:pt x="451564" y="426323"/>
                </a:cubicBezTo>
                <a:cubicBezTo>
                  <a:pt x="458946" y="418862"/>
                  <a:pt x="459026" y="406797"/>
                  <a:pt x="451564" y="399415"/>
                </a:cubicBezTo>
                <a:lnTo>
                  <a:pt x="354727" y="302578"/>
                </a:lnTo>
                <a:cubicBezTo>
                  <a:pt x="358061" y="299879"/>
                  <a:pt x="361315" y="296942"/>
                  <a:pt x="364331" y="293926"/>
                </a:cubicBezTo>
                <a:lnTo>
                  <a:pt x="420767" y="237490"/>
                </a:lnTo>
                <a:cubicBezTo>
                  <a:pt x="444024" y="214233"/>
                  <a:pt x="457121" y="182642"/>
                  <a:pt x="457121" y="149701"/>
                </a:cubicBezTo>
                <a:cubicBezTo>
                  <a:pt x="457121" y="81121"/>
                  <a:pt x="401558" y="25479"/>
                  <a:pt x="332899" y="25479"/>
                </a:cubicBezTo>
                <a:cubicBezTo>
                  <a:pt x="303292" y="25479"/>
                  <a:pt x="274876" y="36036"/>
                  <a:pt x="252492" y="55007"/>
                </a:cubicBezTo>
                <a:cubicBezTo>
                  <a:pt x="268605" y="63024"/>
                  <a:pt x="283210" y="73660"/>
                  <a:pt x="295751" y="86360"/>
                </a:cubicBezTo>
                <a:cubicBezTo>
                  <a:pt x="306943" y="79772"/>
                  <a:pt x="319723" y="76279"/>
                  <a:pt x="332899" y="76279"/>
                </a:cubicBezTo>
                <a:cubicBezTo>
                  <a:pt x="373459" y="76279"/>
                  <a:pt x="406321" y="109141"/>
                  <a:pt x="406321" y="149701"/>
                </a:cubicBezTo>
                <a:cubicBezTo>
                  <a:pt x="406321" y="169148"/>
                  <a:pt x="398621" y="187801"/>
                  <a:pt x="384810" y="201613"/>
                </a:cubicBezTo>
                <a:lnTo>
                  <a:pt x="328374" y="258048"/>
                </a:lnTo>
                <a:cubicBezTo>
                  <a:pt x="325279" y="261144"/>
                  <a:pt x="321945" y="263922"/>
                  <a:pt x="318373" y="266383"/>
                </a:cubicBezTo>
                <a:lnTo>
                  <a:pt x="280670" y="228679"/>
                </a:lnTo>
                <a:cubicBezTo>
                  <a:pt x="293767" y="227965"/>
                  <a:pt x="304244" y="217249"/>
                  <a:pt x="304641" y="203994"/>
                </a:cubicBezTo>
                <a:cubicBezTo>
                  <a:pt x="304641" y="202962"/>
                  <a:pt x="304641" y="201930"/>
                  <a:pt x="304641" y="200898"/>
                </a:cubicBezTo>
                <a:cubicBezTo>
                  <a:pt x="304641" y="132398"/>
                  <a:pt x="249158" y="76359"/>
                  <a:pt x="180419" y="76359"/>
                </a:cubicBezTo>
                <a:cubicBezTo>
                  <a:pt x="165179" y="76359"/>
                  <a:pt x="150336" y="79137"/>
                  <a:pt x="136366" y="84455"/>
                </a:cubicBezTo>
                <a:lnTo>
                  <a:pt x="32544" y="-19764"/>
                </a:lnTo>
                <a:close/>
                <a:moveTo>
                  <a:pt x="179308" y="127000"/>
                </a:moveTo>
                <a:cubicBezTo>
                  <a:pt x="179784" y="127000"/>
                  <a:pt x="180181" y="127000"/>
                  <a:pt x="180658" y="127000"/>
                </a:cubicBezTo>
                <a:cubicBezTo>
                  <a:pt x="192643" y="127000"/>
                  <a:pt x="204073" y="129937"/>
                  <a:pt x="214074" y="135096"/>
                </a:cubicBezTo>
                <a:cubicBezTo>
                  <a:pt x="215503" y="136049"/>
                  <a:pt x="216932" y="136922"/>
                  <a:pt x="218440" y="137557"/>
                </a:cubicBezTo>
                <a:cubicBezTo>
                  <a:pt x="239713" y="150495"/>
                  <a:pt x="254000" y="173990"/>
                  <a:pt x="254000" y="200739"/>
                </a:cubicBezTo>
                <a:cubicBezTo>
                  <a:pt x="254000" y="201057"/>
                  <a:pt x="254000" y="201374"/>
                  <a:pt x="254000" y="201692"/>
                </a:cubicBezTo>
                <a:lnTo>
                  <a:pt x="179308" y="127000"/>
                </a:lnTo>
                <a:close/>
                <a:moveTo>
                  <a:pt x="274796" y="330200"/>
                </a:moveTo>
                <a:lnTo>
                  <a:pt x="152400" y="207804"/>
                </a:lnTo>
                <a:cubicBezTo>
                  <a:pt x="153353" y="274955"/>
                  <a:pt x="207645" y="329168"/>
                  <a:pt x="274717" y="330121"/>
                </a:cubicBezTo>
                <a:close/>
                <a:moveTo>
                  <a:pt x="110887" y="166291"/>
                </a:moveTo>
                <a:lnTo>
                  <a:pt x="74930" y="130334"/>
                </a:lnTo>
                <a:lnTo>
                  <a:pt x="36354" y="168910"/>
                </a:lnTo>
                <a:cubicBezTo>
                  <a:pt x="13097" y="192167"/>
                  <a:pt x="0" y="223758"/>
                  <a:pt x="0" y="256699"/>
                </a:cubicBezTo>
                <a:cubicBezTo>
                  <a:pt x="0" y="325279"/>
                  <a:pt x="55563" y="380921"/>
                  <a:pt x="124222" y="380921"/>
                </a:cubicBezTo>
                <a:cubicBezTo>
                  <a:pt x="153749" y="380921"/>
                  <a:pt x="182245" y="370364"/>
                  <a:pt x="204629" y="351393"/>
                </a:cubicBezTo>
                <a:cubicBezTo>
                  <a:pt x="188516" y="343376"/>
                  <a:pt x="173831" y="332740"/>
                  <a:pt x="161290" y="320040"/>
                </a:cubicBezTo>
                <a:cubicBezTo>
                  <a:pt x="150178" y="326549"/>
                  <a:pt x="137398" y="330041"/>
                  <a:pt x="124222" y="330041"/>
                </a:cubicBezTo>
                <a:cubicBezTo>
                  <a:pt x="83661" y="330041"/>
                  <a:pt x="50800" y="297180"/>
                  <a:pt x="50800" y="256619"/>
                </a:cubicBezTo>
                <a:cubicBezTo>
                  <a:pt x="50800" y="237173"/>
                  <a:pt x="58499" y="218519"/>
                  <a:pt x="72311" y="204708"/>
                </a:cubicBezTo>
                <a:lnTo>
                  <a:pt x="110887" y="166132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2667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Disconnected Data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16000" y="3048000"/>
            <a:ext cx="406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Data becomes fragmented and isolated across multiple tables.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88000" y="1905000"/>
            <a:ext cx="4572000" cy="2032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816600" y="21590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76200" y="0"/>
                </a:moveTo>
                <a:cubicBezTo>
                  <a:pt x="48181" y="0"/>
                  <a:pt x="25400" y="22781"/>
                  <a:pt x="25400" y="50800"/>
                </a:cubicBezTo>
                <a:lnTo>
                  <a:pt x="25400" y="355600"/>
                </a:lnTo>
                <a:cubicBezTo>
                  <a:pt x="25400" y="383619"/>
                  <a:pt x="48181" y="406400"/>
                  <a:pt x="76200" y="406400"/>
                </a:cubicBezTo>
                <a:lnTo>
                  <a:pt x="219075" y="406400"/>
                </a:lnTo>
                <a:cubicBezTo>
                  <a:pt x="201057" y="381397"/>
                  <a:pt x="190500" y="350679"/>
                  <a:pt x="190500" y="317500"/>
                </a:cubicBezTo>
                <a:cubicBezTo>
                  <a:pt x="190500" y="237649"/>
                  <a:pt x="251936" y="172085"/>
                  <a:pt x="330200" y="165656"/>
                </a:cubicBezTo>
                <a:lnTo>
                  <a:pt x="330200" y="135414"/>
                </a:lnTo>
                <a:cubicBezTo>
                  <a:pt x="330200" y="121920"/>
                  <a:pt x="324882" y="108982"/>
                  <a:pt x="315357" y="99457"/>
                </a:cubicBezTo>
                <a:lnTo>
                  <a:pt x="230743" y="14843"/>
                </a:lnTo>
                <a:cubicBezTo>
                  <a:pt x="221218" y="5318"/>
                  <a:pt x="208359" y="0"/>
                  <a:pt x="194866" y="0"/>
                </a:cubicBezTo>
                <a:lnTo>
                  <a:pt x="76200" y="0"/>
                </a:lnTo>
                <a:close/>
                <a:moveTo>
                  <a:pt x="283766" y="139700"/>
                </a:moveTo>
                <a:lnTo>
                  <a:pt x="209550" y="139700"/>
                </a:lnTo>
                <a:cubicBezTo>
                  <a:pt x="198993" y="139700"/>
                  <a:pt x="190500" y="131207"/>
                  <a:pt x="190500" y="120650"/>
                </a:cubicBezTo>
                <a:lnTo>
                  <a:pt x="190500" y="46434"/>
                </a:lnTo>
                <a:lnTo>
                  <a:pt x="283766" y="139700"/>
                </a:lnTo>
                <a:close/>
                <a:moveTo>
                  <a:pt x="342900" y="431800"/>
                </a:moveTo>
                <a:cubicBezTo>
                  <a:pt x="405984" y="431800"/>
                  <a:pt x="457200" y="380584"/>
                  <a:pt x="457200" y="317500"/>
                </a:cubicBezTo>
                <a:cubicBezTo>
                  <a:pt x="457200" y="254416"/>
                  <a:pt x="405984" y="203200"/>
                  <a:pt x="342900" y="203200"/>
                </a:cubicBezTo>
                <a:cubicBezTo>
                  <a:pt x="279816" y="203200"/>
                  <a:pt x="228600" y="254416"/>
                  <a:pt x="228600" y="317500"/>
                </a:cubicBezTo>
                <a:cubicBezTo>
                  <a:pt x="228600" y="380584"/>
                  <a:pt x="279816" y="431800"/>
                  <a:pt x="342900" y="431800"/>
                </a:cubicBezTo>
                <a:close/>
                <a:moveTo>
                  <a:pt x="389969" y="288369"/>
                </a:moveTo>
                <a:lnTo>
                  <a:pt x="360839" y="317500"/>
                </a:lnTo>
                <a:lnTo>
                  <a:pt x="389969" y="346631"/>
                </a:lnTo>
                <a:cubicBezTo>
                  <a:pt x="394891" y="351552"/>
                  <a:pt x="394891" y="359648"/>
                  <a:pt x="389969" y="364569"/>
                </a:cubicBezTo>
                <a:cubicBezTo>
                  <a:pt x="385048" y="369491"/>
                  <a:pt x="376952" y="369491"/>
                  <a:pt x="372031" y="364569"/>
                </a:cubicBezTo>
                <a:lnTo>
                  <a:pt x="342900" y="335439"/>
                </a:lnTo>
                <a:lnTo>
                  <a:pt x="313769" y="364569"/>
                </a:lnTo>
                <a:cubicBezTo>
                  <a:pt x="308848" y="369491"/>
                  <a:pt x="300752" y="369491"/>
                  <a:pt x="295831" y="364569"/>
                </a:cubicBezTo>
                <a:cubicBezTo>
                  <a:pt x="290909" y="359648"/>
                  <a:pt x="290909" y="351552"/>
                  <a:pt x="295831" y="346631"/>
                </a:cubicBezTo>
                <a:lnTo>
                  <a:pt x="324961" y="317500"/>
                </a:lnTo>
                <a:lnTo>
                  <a:pt x="295831" y="288369"/>
                </a:lnTo>
                <a:cubicBezTo>
                  <a:pt x="290909" y="283448"/>
                  <a:pt x="290909" y="275352"/>
                  <a:pt x="295831" y="270431"/>
                </a:cubicBezTo>
                <a:cubicBezTo>
                  <a:pt x="300752" y="265509"/>
                  <a:pt x="308848" y="265509"/>
                  <a:pt x="313769" y="270431"/>
                </a:cubicBezTo>
                <a:lnTo>
                  <a:pt x="342900" y="299561"/>
                </a:lnTo>
                <a:lnTo>
                  <a:pt x="372031" y="270431"/>
                </a:lnTo>
                <a:cubicBezTo>
                  <a:pt x="376952" y="265509"/>
                  <a:pt x="385048" y="265509"/>
                  <a:pt x="389969" y="270431"/>
                </a:cubicBezTo>
                <a:cubicBezTo>
                  <a:pt x="394891" y="275352"/>
                  <a:pt x="394891" y="283448"/>
                  <a:pt x="389969" y="288369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1" name="Text 9"/>
          <p:cNvSpPr/>
          <p:nvPr/>
        </p:nvSpPr>
        <p:spPr>
          <a:xfrm>
            <a:off x="5842000" y="2667000"/>
            <a:ext cx="4064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Difficult Reports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842000" y="3048000"/>
            <a:ext cx="4064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Generating meaningful reports becomes extremely difficult.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14000" y="1905000"/>
            <a:ext cx="5080000" cy="2032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10693400" y="2159000"/>
            <a:ext cx="355600" cy="406400"/>
          </a:xfrm>
          <a:custGeom>
            <a:avLst/>
            <a:gdLst/>
            <a:ahLst/>
            <a:cxnLst/>
            <a:rect l="l" t="t" r="r" b="b"/>
            <a:pathLst>
              <a:path w="355600" h="406400">
                <a:moveTo>
                  <a:pt x="152400" y="0"/>
                </a:moveTo>
                <a:cubicBezTo>
                  <a:pt x="124381" y="0"/>
                  <a:pt x="101600" y="22781"/>
                  <a:pt x="101600" y="50800"/>
                </a:cubicBezTo>
                <a:lnTo>
                  <a:pt x="101600" y="254000"/>
                </a:lnTo>
                <a:cubicBezTo>
                  <a:pt x="101600" y="282019"/>
                  <a:pt x="124381" y="304800"/>
                  <a:pt x="152400" y="304800"/>
                </a:cubicBezTo>
                <a:lnTo>
                  <a:pt x="304800" y="304800"/>
                </a:lnTo>
                <a:cubicBezTo>
                  <a:pt x="332819" y="304800"/>
                  <a:pt x="355600" y="282019"/>
                  <a:pt x="355600" y="254000"/>
                </a:cubicBezTo>
                <a:lnTo>
                  <a:pt x="355600" y="94774"/>
                </a:lnTo>
                <a:cubicBezTo>
                  <a:pt x="355600" y="80963"/>
                  <a:pt x="349964" y="67707"/>
                  <a:pt x="339963" y="58103"/>
                </a:cubicBezTo>
                <a:lnTo>
                  <a:pt x="294164" y="14129"/>
                </a:lnTo>
                <a:cubicBezTo>
                  <a:pt x="284718" y="5080"/>
                  <a:pt x="272098" y="0"/>
                  <a:pt x="259001" y="0"/>
                </a:cubicBezTo>
                <a:lnTo>
                  <a:pt x="152400" y="0"/>
                </a:lnTo>
                <a:close/>
                <a:moveTo>
                  <a:pt x="50800" y="101600"/>
                </a:moveTo>
                <a:cubicBezTo>
                  <a:pt x="22781" y="101600"/>
                  <a:pt x="0" y="124381"/>
                  <a:pt x="0" y="152400"/>
                </a:cubicBezTo>
                <a:lnTo>
                  <a:pt x="0" y="355600"/>
                </a:lnTo>
                <a:cubicBezTo>
                  <a:pt x="0" y="383619"/>
                  <a:pt x="22781" y="406400"/>
                  <a:pt x="50800" y="406400"/>
                </a:cubicBezTo>
                <a:lnTo>
                  <a:pt x="203200" y="406400"/>
                </a:lnTo>
                <a:cubicBezTo>
                  <a:pt x="231219" y="406400"/>
                  <a:pt x="254000" y="383619"/>
                  <a:pt x="254000" y="355600"/>
                </a:cubicBezTo>
                <a:lnTo>
                  <a:pt x="254000" y="342900"/>
                </a:lnTo>
                <a:lnTo>
                  <a:pt x="203200" y="342900"/>
                </a:lnTo>
                <a:lnTo>
                  <a:pt x="203200" y="355600"/>
                </a:lnTo>
                <a:lnTo>
                  <a:pt x="50800" y="355600"/>
                </a:lnTo>
                <a:lnTo>
                  <a:pt x="50800" y="152400"/>
                </a:lnTo>
                <a:lnTo>
                  <a:pt x="63500" y="152400"/>
                </a:lnTo>
                <a:lnTo>
                  <a:pt x="63500" y="101600"/>
                </a:lnTo>
                <a:lnTo>
                  <a:pt x="50800" y="101600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5" name="Text 13"/>
          <p:cNvSpPr/>
          <p:nvPr/>
        </p:nvSpPr>
        <p:spPr>
          <a:xfrm>
            <a:off x="10668000" y="2667000"/>
            <a:ext cx="457200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Duplicate Information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668000" y="3048000"/>
            <a:ext cx="4572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Duplicate data increases storage and maintenance costs.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62000" y="4381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Example: Hospital System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889500"/>
            <a:ext cx="14732000" cy="2921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9" name="Shape 17"/>
          <p:cNvSpPr/>
          <p:nvPr/>
        </p:nvSpPr>
        <p:spPr>
          <a:xfrm>
            <a:off x="990600" y="5143500"/>
            <a:ext cx="457200" cy="406400"/>
          </a:xfrm>
          <a:custGeom>
            <a:avLst/>
            <a:gdLst/>
            <a:ahLst/>
            <a:cxnLst/>
            <a:rect l="l" t="t" r="r" b="b"/>
            <a:pathLst>
              <a:path w="457200" h="406400">
                <a:moveTo>
                  <a:pt x="101600" y="50800"/>
                </a:moveTo>
                <a:cubicBezTo>
                  <a:pt x="101600" y="22781"/>
                  <a:pt x="124381" y="0"/>
                  <a:pt x="152400" y="0"/>
                </a:cubicBezTo>
                <a:lnTo>
                  <a:pt x="304800" y="0"/>
                </a:lnTo>
                <a:cubicBezTo>
                  <a:pt x="332819" y="0"/>
                  <a:pt x="355600" y="22781"/>
                  <a:pt x="355600" y="50800"/>
                </a:cubicBezTo>
                <a:lnTo>
                  <a:pt x="355600" y="101600"/>
                </a:lnTo>
                <a:lnTo>
                  <a:pt x="406400" y="101600"/>
                </a:lnTo>
                <a:cubicBezTo>
                  <a:pt x="434419" y="101600"/>
                  <a:pt x="457200" y="124381"/>
                  <a:pt x="457200" y="152400"/>
                </a:cubicBezTo>
                <a:lnTo>
                  <a:pt x="457200" y="355600"/>
                </a:lnTo>
                <a:cubicBezTo>
                  <a:pt x="457200" y="383619"/>
                  <a:pt x="434419" y="406400"/>
                  <a:pt x="406400" y="406400"/>
                </a:cubicBezTo>
                <a:lnTo>
                  <a:pt x="50800" y="406400"/>
                </a:lnTo>
                <a:cubicBezTo>
                  <a:pt x="22781" y="406400"/>
                  <a:pt x="0" y="383619"/>
                  <a:pt x="0" y="355600"/>
                </a:cubicBezTo>
                <a:lnTo>
                  <a:pt x="0" y="152400"/>
                </a:lnTo>
                <a:cubicBezTo>
                  <a:pt x="0" y="124381"/>
                  <a:pt x="22781" y="101600"/>
                  <a:pt x="50800" y="101600"/>
                </a:cubicBezTo>
                <a:lnTo>
                  <a:pt x="101600" y="101600"/>
                </a:lnTo>
                <a:lnTo>
                  <a:pt x="101600" y="50800"/>
                </a:lnTo>
                <a:close/>
                <a:moveTo>
                  <a:pt x="215900" y="279400"/>
                </a:moveTo>
                <a:cubicBezTo>
                  <a:pt x="201851" y="279400"/>
                  <a:pt x="190500" y="290751"/>
                  <a:pt x="190500" y="304800"/>
                </a:cubicBezTo>
                <a:lnTo>
                  <a:pt x="190500" y="368300"/>
                </a:lnTo>
                <a:lnTo>
                  <a:pt x="266700" y="368300"/>
                </a:lnTo>
                <a:lnTo>
                  <a:pt x="266700" y="304800"/>
                </a:lnTo>
                <a:cubicBezTo>
                  <a:pt x="266700" y="290751"/>
                  <a:pt x="255349" y="279400"/>
                  <a:pt x="241300" y="279400"/>
                </a:cubicBezTo>
                <a:lnTo>
                  <a:pt x="215900" y="279400"/>
                </a:lnTo>
                <a:close/>
                <a:moveTo>
                  <a:pt x="101600" y="292100"/>
                </a:moveTo>
                <a:lnTo>
                  <a:pt x="101600" y="266700"/>
                </a:lnTo>
                <a:cubicBezTo>
                  <a:pt x="101600" y="259715"/>
                  <a:pt x="95885" y="254000"/>
                  <a:pt x="88900" y="254000"/>
                </a:cubicBezTo>
                <a:lnTo>
                  <a:pt x="63500" y="254000"/>
                </a:lnTo>
                <a:cubicBezTo>
                  <a:pt x="56515" y="254000"/>
                  <a:pt x="50800" y="259715"/>
                  <a:pt x="50800" y="266700"/>
                </a:cubicBezTo>
                <a:lnTo>
                  <a:pt x="50800" y="292100"/>
                </a:lnTo>
                <a:cubicBezTo>
                  <a:pt x="50800" y="299085"/>
                  <a:pt x="56515" y="304800"/>
                  <a:pt x="63500" y="304800"/>
                </a:cubicBezTo>
                <a:lnTo>
                  <a:pt x="88900" y="304800"/>
                </a:lnTo>
                <a:cubicBezTo>
                  <a:pt x="95885" y="304800"/>
                  <a:pt x="101600" y="299085"/>
                  <a:pt x="101600" y="292100"/>
                </a:cubicBezTo>
                <a:close/>
                <a:moveTo>
                  <a:pt x="88900" y="203200"/>
                </a:moveTo>
                <a:cubicBezTo>
                  <a:pt x="95885" y="203200"/>
                  <a:pt x="101600" y="197485"/>
                  <a:pt x="101600" y="190500"/>
                </a:cubicBezTo>
                <a:lnTo>
                  <a:pt x="101600" y="165100"/>
                </a:lnTo>
                <a:cubicBezTo>
                  <a:pt x="101600" y="158115"/>
                  <a:pt x="95885" y="152400"/>
                  <a:pt x="88900" y="152400"/>
                </a:cubicBezTo>
                <a:lnTo>
                  <a:pt x="63500" y="152400"/>
                </a:lnTo>
                <a:cubicBezTo>
                  <a:pt x="56515" y="152400"/>
                  <a:pt x="50800" y="158115"/>
                  <a:pt x="50800" y="165100"/>
                </a:cubicBezTo>
                <a:lnTo>
                  <a:pt x="50800" y="190500"/>
                </a:lnTo>
                <a:cubicBezTo>
                  <a:pt x="50800" y="197485"/>
                  <a:pt x="56515" y="203200"/>
                  <a:pt x="63500" y="203200"/>
                </a:cubicBezTo>
                <a:lnTo>
                  <a:pt x="88900" y="203200"/>
                </a:lnTo>
                <a:close/>
                <a:moveTo>
                  <a:pt x="406400" y="292100"/>
                </a:moveTo>
                <a:lnTo>
                  <a:pt x="406400" y="266700"/>
                </a:lnTo>
                <a:cubicBezTo>
                  <a:pt x="406400" y="259715"/>
                  <a:pt x="400685" y="254000"/>
                  <a:pt x="393700" y="254000"/>
                </a:cubicBezTo>
                <a:lnTo>
                  <a:pt x="368300" y="254000"/>
                </a:lnTo>
                <a:cubicBezTo>
                  <a:pt x="361315" y="254000"/>
                  <a:pt x="355600" y="259715"/>
                  <a:pt x="355600" y="266700"/>
                </a:cubicBezTo>
                <a:lnTo>
                  <a:pt x="355600" y="292100"/>
                </a:lnTo>
                <a:cubicBezTo>
                  <a:pt x="355600" y="299085"/>
                  <a:pt x="361315" y="304800"/>
                  <a:pt x="368300" y="304800"/>
                </a:cubicBezTo>
                <a:lnTo>
                  <a:pt x="393700" y="304800"/>
                </a:lnTo>
                <a:cubicBezTo>
                  <a:pt x="400685" y="304800"/>
                  <a:pt x="406400" y="299085"/>
                  <a:pt x="406400" y="292100"/>
                </a:cubicBezTo>
                <a:close/>
                <a:moveTo>
                  <a:pt x="393700" y="203200"/>
                </a:moveTo>
                <a:cubicBezTo>
                  <a:pt x="400685" y="203200"/>
                  <a:pt x="406400" y="197485"/>
                  <a:pt x="406400" y="190500"/>
                </a:cubicBezTo>
                <a:lnTo>
                  <a:pt x="406400" y="165100"/>
                </a:lnTo>
                <a:cubicBezTo>
                  <a:pt x="406400" y="158115"/>
                  <a:pt x="400685" y="152400"/>
                  <a:pt x="393700" y="152400"/>
                </a:cubicBezTo>
                <a:lnTo>
                  <a:pt x="368300" y="152400"/>
                </a:lnTo>
                <a:cubicBezTo>
                  <a:pt x="361315" y="152400"/>
                  <a:pt x="355600" y="158115"/>
                  <a:pt x="355600" y="165100"/>
                </a:cubicBezTo>
                <a:lnTo>
                  <a:pt x="355600" y="190500"/>
                </a:lnTo>
                <a:cubicBezTo>
                  <a:pt x="355600" y="197485"/>
                  <a:pt x="361315" y="203200"/>
                  <a:pt x="368300" y="203200"/>
                </a:cubicBezTo>
                <a:lnTo>
                  <a:pt x="393700" y="203200"/>
                </a:lnTo>
                <a:close/>
                <a:moveTo>
                  <a:pt x="209550" y="82550"/>
                </a:moveTo>
                <a:lnTo>
                  <a:pt x="209550" y="107950"/>
                </a:lnTo>
                <a:lnTo>
                  <a:pt x="184150" y="107950"/>
                </a:lnTo>
                <a:cubicBezTo>
                  <a:pt x="177165" y="107950"/>
                  <a:pt x="171450" y="113665"/>
                  <a:pt x="171450" y="120650"/>
                </a:cubicBezTo>
                <a:lnTo>
                  <a:pt x="171450" y="133350"/>
                </a:lnTo>
                <a:cubicBezTo>
                  <a:pt x="171450" y="140335"/>
                  <a:pt x="177165" y="146050"/>
                  <a:pt x="184150" y="146050"/>
                </a:cubicBezTo>
                <a:lnTo>
                  <a:pt x="209550" y="146050"/>
                </a:lnTo>
                <a:lnTo>
                  <a:pt x="209550" y="171450"/>
                </a:lnTo>
                <a:cubicBezTo>
                  <a:pt x="209550" y="178435"/>
                  <a:pt x="215265" y="184150"/>
                  <a:pt x="222250" y="184150"/>
                </a:cubicBezTo>
                <a:lnTo>
                  <a:pt x="234950" y="184150"/>
                </a:lnTo>
                <a:cubicBezTo>
                  <a:pt x="241935" y="184150"/>
                  <a:pt x="247650" y="178435"/>
                  <a:pt x="247650" y="171450"/>
                </a:cubicBezTo>
                <a:lnTo>
                  <a:pt x="247650" y="146050"/>
                </a:lnTo>
                <a:lnTo>
                  <a:pt x="273050" y="146050"/>
                </a:lnTo>
                <a:cubicBezTo>
                  <a:pt x="280035" y="146050"/>
                  <a:pt x="285750" y="140335"/>
                  <a:pt x="285750" y="133350"/>
                </a:cubicBezTo>
                <a:lnTo>
                  <a:pt x="285750" y="120650"/>
                </a:lnTo>
                <a:cubicBezTo>
                  <a:pt x="285750" y="113665"/>
                  <a:pt x="280035" y="107950"/>
                  <a:pt x="273050" y="107950"/>
                </a:cubicBezTo>
                <a:lnTo>
                  <a:pt x="247650" y="107950"/>
                </a:lnTo>
                <a:lnTo>
                  <a:pt x="247650" y="82550"/>
                </a:lnTo>
                <a:cubicBezTo>
                  <a:pt x="247650" y="75565"/>
                  <a:pt x="241935" y="69850"/>
                  <a:pt x="234950" y="69850"/>
                </a:cubicBezTo>
                <a:lnTo>
                  <a:pt x="222250" y="69850"/>
                </a:lnTo>
                <a:cubicBezTo>
                  <a:pt x="215265" y="69850"/>
                  <a:pt x="209550" y="75565"/>
                  <a:pt x="209550" y="82550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1587500" y="5080000"/>
            <a:ext cx="13589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 hospital database typically has three separate tables: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016000" y="5969000"/>
            <a:ext cx="4191000" cy="76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2" name="Text 20"/>
          <p:cNvSpPr/>
          <p:nvPr/>
        </p:nvSpPr>
        <p:spPr>
          <a:xfrm>
            <a:off x="1016000" y="5969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Patients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personal data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5461000" y="5969000"/>
            <a:ext cx="4191000" cy="762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4" name="Text 22"/>
          <p:cNvSpPr/>
          <p:nvPr/>
        </p:nvSpPr>
        <p:spPr>
          <a:xfrm>
            <a:off x="5461000" y="5969000"/>
            <a:ext cx="4191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Doctors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specialist info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9906000" y="5969000"/>
            <a:ext cx="5334000" cy="762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26" name="Text 24"/>
          <p:cNvSpPr/>
          <p:nvPr/>
        </p:nvSpPr>
        <p:spPr>
          <a:xfrm>
            <a:off x="9906000" y="5969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Appointments</a:t>
            </a:r>
            <a:pPr algn="ctr">
              <a:lnSpc>
                <a:spcPct val="100000"/>
              </a:lnSpc>
            </a:pPr>
            <a:r>
              <a:rPr lang="en-US" sz="16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— scheduling data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985000"/>
            <a:ext cx="14224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Without joins, complete information cannot be shown.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397000"/>
            <a:ext cx="8890000" cy="1016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498600"/>
            <a:ext cx="8382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Join </a:t>
            </a:r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automatically joins tables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using columns with the same name.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62000" y="2794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Features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62000" y="33020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8" name="Shape 6"/>
          <p:cNvSpPr/>
          <p:nvPr/>
        </p:nvSpPr>
        <p:spPr>
          <a:xfrm>
            <a:off x="993775" y="3619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82940" y="-18752"/>
                </a:moveTo>
                <a:lnTo>
                  <a:pt x="193219" y="6806"/>
                </a:lnTo>
                <a:lnTo>
                  <a:pt x="218777" y="17085"/>
                </a:lnTo>
                <a:cubicBezTo>
                  <a:pt x="220861" y="17919"/>
                  <a:pt x="222250" y="20003"/>
                  <a:pt x="222250" y="22225"/>
                </a:cubicBezTo>
                <a:cubicBezTo>
                  <a:pt x="222250" y="24448"/>
                  <a:pt x="220861" y="26531"/>
                  <a:pt x="218777" y="27365"/>
                </a:cubicBezTo>
                <a:lnTo>
                  <a:pt x="193219" y="37644"/>
                </a:lnTo>
                <a:lnTo>
                  <a:pt x="182940" y="63202"/>
                </a:lnTo>
                <a:cubicBezTo>
                  <a:pt x="182106" y="65286"/>
                  <a:pt x="180022" y="66675"/>
                  <a:pt x="177800" y="66675"/>
                </a:cubicBezTo>
                <a:cubicBezTo>
                  <a:pt x="175577" y="66675"/>
                  <a:pt x="173494" y="65286"/>
                  <a:pt x="172660" y="63202"/>
                </a:cubicBezTo>
                <a:lnTo>
                  <a:pt x="162381" y="37644"/>
                </a:lnTo>
                <a:lnTo>
                  <a:pt x="136823" y="27365"/>
                </a:lnTo>
                <a:cubicBezTo>
                  <a:pt x="134739" y="26531"/>
                  <a:pt x="133350" y="24447"/>
                  <a:pt x="133350" y="22225"/>
                </a:cubicBezTo>
                <a:cubicBezTo>
                  <a:pt x="133350" y="20003"/>
                  <a:pt x="134739" y="17919"/>
                  <a:pt x="136823" y="17085"/>
                </a:cubicBezTo>
                <a:lnTo>
                  <a:pt x="162381" y="6806"/>
                </a:lnTo>
                <a:lnTo>
                  <a:pt x="172660" y="-18752"/>
                </a:lnTo>
                <a:cubicBezTo>
                  <a:pt x="173494" y="-20836"/>
                  <a:pt x="175577" y="-22225"/>
                  <a:pt x="177800" y="-22225"/>
                </a:cubicBezTo>
                <a:cubicBezTo>
                  <a:pt x="180023" y="-22225"/>
                  <a:pt x="182106" y="-20836"/>
                  <a:pt x="182940" y="-18752"/>
                </a:cubicBezTo>
                <a:close/>
                <a:moveTo>
                  <a:pt x="76885" y="28962"/>
                </a:moveTo>
                <a:lnTo>
                  <a:pt x="91817" y="63758"/>
                </a:lnTo>
                <a:lnTo>
                  <a:pt x="126613" y="78690"/>
                </a:lnTo>
                <a:cubicBezTo>
                  <a:pt x="130711" y="80427"/>
                  <a:pt x="133350" y="84455"/>
                  <a:pt x="133350" y="88900"/>
                </a:cubicBezTo>
                <a:cubicBezTo>
                  <a:pt x="133350" y="93345"/>
                  <a:pt x="130711" y="97373"/>
                  <a:pt x="126613" y="99110"/>
                </a:cubicBezTo>
                <a:lnTo>
                  <a:pt x="91817" y="114042"/>
                </a:lnTo>
                <a:lnTo>
                  <a:pt x="76885" y="148838"/>
                </a:lnTo>
                <a:cubicBezTo>
                  <a:pt x="75148" y="152936"/>
                  <a:pt x="71120" y="155575"/>
                  <a:pt x="66675" y="155575"/>
                </a:cubicBezTo>
                <a:cubicBezTo>
                  <a:pt x="62230" y="155575"/>
                  <a:pt x="58202" y="152936"/>
                  <a:pt x="56465" y="148838"/>
                </a:cubicBezTo>
                <a:lnTo>
                  <a:pt x="41533" y="114042"/>
                </a:lnTo>
                <a:lnTo>
                  <a:pt x="6737" y="99110"/>
                </a:lnTo>
                <a:cubicBezTo>
                  <a:pt x="2639" y="97373"/>
                  <a:pt x="0" y="93345"/>
                  <a:pt x="0" y="88900"/>
                </a:cubicBezTo>
                <a:cubicBezTo>
                  <a:pt x="0" y="84455"/>
                  <a:pt x="2639" y="80427"/>
                  <a:pt x="6737" y="78690"/>
                </a:cubicBezTo>
                <a:lnTo>
                  <a:pt x="41533" y="63758"/>
                </a:lnTo>
                <a:lnTo>
                  <a:pt x="56465" y="28962"/>
                </a:lnTo>
                <a:cubicBezTo>
                  <a:pt x="58202" y="24864"/>
                  <a:pt x="62230" y="22225"/>
                  <a:pt x="66675" y="22225"/>
                </a:cubicBezTo>
                <a:cubicBezTo>
                  <a:pt x="71120" y="22225"/>
                  <a:pt x="75148" y="24864"/>
                  <a:pt x="76885" y="28962"/>
                </a:cubicBezTo>
                <a:close/>
                <a:moveTo>
                  <a:pt x="322263" y="211138"/>
                </a:moveTo>
                <a:cubicBezTo>
                  <a:pt x="326708" y="211138"/>
                  <a:pt x="330736" y="213777"/>
                  <a:pt x="332472" y="217874"/>
                </a:cubicBezTo>
                <a:lnTo>
                  <a:pt x="347405" y="252670"/>
                </a:lnTo>
                <a:lnTo>
                  <a:pt x="382201" y="267603"/>
                </a:lnTo>
                <a:cubicBezTo>
                  <a:pt x="386298" y="269339"/>
                  <a:pt x="388938" y="273368"/>
                  <a:pt x="388938" y="277813"/>
                </a:cubicBezTo>
                <a:cubicBezTo>
                  <a:pt x="388938" y="282257"/>
                  <a:pt x="386298" y="286286"/>
                  <a:pt x="382201" y="288022"/>
                </a:cubicBezTo>
                <a:lnTo>
                  <a:pt x="347405" y="302955"/>
                </a:lnTo>
                <a:lnTo>
                  <a:pt x="332472" y="337751"/>
                </a:lnTo>
                <a:cubicBezTo>
                  <a:pt x="330736" y="341848"/>
                  <a:pt x="326707" y="344488"/>
                  <a:pt x="322263" y="344488"/>
                </a:cubicBezTo>
                <a:cubicBezTo>
                  <a:pt x="317818" y="344488"/>
                  <a:pt x="313789" y="341848"/>
                  <a:pt x="312053" y="337751"/>
                </a:cubicBezTo>
                <a:lnTo>
                  <a:pt x="297120" y="302955"/>
                </a:lnTo>
                <a:lnTo>
                  <a:pt x="262324" y="288022"/>
                </a:lnTo>
                <a:cubicBezTo>
                  <a:pt x="258227" y="286286"/>
                  <a:pt x="255587" y="282257"/>
                  <a:pt x="255587" y="277813"/>
                </a:cubicBezTo>
                <a:cubicBezTo>
                  <a:pt x="255587" y="273368"/>
                  <a:pt x="258227" y="269339"/>
                  <a:pt x="262324" y="267603"/>
                </a:cubicBezTo>
                <a:lnTo>
                  <a:pt x="297120" y="252670"/>
                </a:lnTo>
                <a:lnTo>
                  <a:pt x="312053" y="217874"/>
                </a:lnTo>
                <a:cubicBezTo>
                  <a:pt x="313789" y="213777"/>
                  <a:pt x="317818" y="211138"/>
                  <a:pt x="322263" y="211138"/>
                </a:cubicBezTo>
                <a:close/>
                <a:moveTo>
                  <a:pt x="319484" y="0"/>
                </a:moveTo>
                <a:cubicBezTo>
                  <a:pt x="327124" y="0"/>
                  <a:pt x="334486" y="3056"/>
                  <a:pt x="339973" y="8473"/>
                </a:cubicBezTo>
                <a:lnTo>
                  <a:pt x="369352" y="37852"/>
                </a:lnTo>
                <a:cubicBezTo>
                  <a:pt x="374769" y="43339"/>
                  <a:pt x="377825" y="50701"/>
                  <a:pt x="377825" y="58341"/>
                </a:cubicBezTo>
                <a:cubicBezTo>
                  <a:pt x="377825" y="65980"/>
                  <a:pt x="374769" y="73343"/>
                  <a:pt x="369352" y="78829"/>
                </a:cubicBezTo>
                <a:lnTo>
                  <a:pt x="308094" y="140087"/>
                </a:lnTo>
                <a:lnTo>
                  <a:pt x="237738" y="69731"/>
                </a:lnTo>
                <a:lnTo>
                  <a:pt x="298996" y="8473"/>
                </a:lnTo>
                <a:cubicBezTo>
                  <a:pt x="304483" y="3056"/>
                  <a:pt x="311845" y="0"/>
                  <a:pt x="319484" y="0"/>
                </a:cubicBezTo>
                <a:close/>
                <a:moveTo>
                  <a:pt x="30698" y="276771"/>
                </a:moveTo>
                <a:lnTo>
                  <a:pt x="214193" y="93276"/>
                </a:lnTo>
                <a:lnTo>
                  <a:pt x="284549" y="163632"/>
                </a:lnTo>
                <a:lnTo>
                  <a:pt x="101054" y="347127"/>
                </a:lnTo>
                <a:cubicBezTo>
                  <a:pt x="95567" y="352544"/>
                  <a:pt x="88205" y="355600"/>
                  <a:pt x="80566" y="355600"/>
                </a:cubicBezTo>
                <a:cubicBezTo>
                  <a:pt x="72926" y="355600"/>
                  <a:pt x="65564" y="352544"/>
                  <a:pt x="60077" y="347127"/>
                </a:cubicBezTo>
                <a:lnTo>
                  <a:pt x="30698" y="317748"/>
                </a:lnTo>
                <a:cubicBezTo>
                  <a:pt x="25281" y="312261"/>
                  <a:pt x="22225" y="304899"/>
                  <a:pt x="22225" y="297259"/>
                </a:cubicBezTo>
                <a:cubicBezTo>
                  <a:pt x="22225" y="289620"/>
                  <a:pt x="25281" y="282257"/>
                  <a:pt x="30698" y="276771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9" name="Text 7"/>
          <p:cNvSpPr/>
          <p:nvPr/>
        </p:nvSpPr>
        <p:spPr>
          <a:xfrm>
            <a:off x="1498600" y="3492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column names are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matched automatically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62000" y="4635500"/>
            <a:ext cx="7112000" cy="1143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1" name="Shape 9"/>
          <p:cNvSpPr/>
          <p:nvPr/>
        </p:nvSpPr>
        <p:spPr>
          <a:xfrm>
            <a:off x="993775" y="49530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123974" y="288925"/>
                </a:moveTo>
                <a:lnTo>
                  <a:pt x="209401" y="288925"/>
                </a:lnTo>
                <a:lnTo>
                  <a:pt x="254754" y="243572"/>
                </a:lnTo>
                <a:lnTo>
                  <a:pt x="134253" y="123071"/>
                </a:lnTo>
                <a:lnTo>
                  <a:pt x="46256" y="211068"/>
                </a:lnTo>
                <a:lnTo>
                  <a:pt x="124043" y="288856"/>
                </a:lnTo>
                <a:close/>
                <a:moveTo>
                  <a:pt x="155575" y="333375"/>
                </a:moveTo>
                <a:lnTo>
                  <a:pt x="123974" y="333375"/>
                </a:lnTo>
                <a:cubicBezTo>
                  <a:pt x="112167" y="333375"/>
                  <a:pt x="100846" y="328722"/>
                  <a:pt x="92512" y="320387"/>
                </a:cubicBezTo>
                <a:lnTo>
                  <a:pt x="11807" y="239613"/>
                </a:lnTo>
                <a:cubicBezTo>
                  <a:pt x="4237" y="232043"/>
                  <a:pt x="0" y="221833"/>
                  <a:pt x="0" y="211138"/>
                </a:cubicBezTo>
                <a:cubicBezTo>
                  <a:pt x="0" y="200442"/>
                  <a:pt x="4237" y="190232"/>
                  <a:pt x="11807" y="182662"/>
                </a:cubicBezTo>
                <a:lnTo>
                  <a:pt x="182662" y="11807"/>
                </a:lnTo>
                <a:cubicBezTo>
                  <a:pt x="190232" y="4237"/>
                  <a:pt x="200442" y="0"/>
                  <a:pt x="211138" y="0"/>
                </a:cubicBezTo>
                <a:cubicBezTo>
                  <a:pt x="221833" y="0"/>
                  <a:pt x="232043" y="4237"/>
                  <a:pt x="239613" y="11807"/>
                </a:cubicBezTo>
                <a:lnTo>
                  <a:pt x="366018" y="138212"/>
                </a:lnTo>
                <a:cubicBezTo>
                  <a:pt x="373588" y="145782"/>
                  <a:pt x="377825" y="155992"/>
                  <a:pt x="377825" y="166688"/>
                </a:cubicBezTo>
                <a:cubicBezTo>
                  <a:pt x="377825" y="177383"/>
                  <a:pt x="373588" y="187593"/>
                  <a:pt x="366018" y="195163"/>
                </a:cubicBezTo>
                <a:lnTo>
                  <a:pt x="272256" y="288925"/>
                </a:lnTo>
                <a:lnTo>
                  <a:pt x="355600" y="288925"/>
                </a:lnTo>
                <a:cubicBezTo>
                  <a:pt x="367893" y="288925"/>
                  <a:pt x="377825" y="298857"/>
                  <a:pt x="377825" y="311150"/>
                </a:cubicBezTo>
                <a:cubicBezTo>
                  <a:pt x="377825" y="323443"/>
                  <a:pt x="367893" y="333375"/>
                  <a:pt x="355600" y="333375"/>
                </a:cubicBezTo>
                <a:lnTo>
                  <a:pt x="155575" y="333375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2" name="Text 10"/>
          <p:cNvSpPr/>
          <p:nvPr/>
        </p:nvSpPr>
        <p:spPr>
          <a:xfrm>
            <a:off x="1498600" y="48260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ON condition is not required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— SQL handles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382000" y="2794000"/>
            <a:ext cx="7112000" cy="29845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4" name="Text 12"/>
          <p:cNvSpPr/>
          <p:nvPr/>
        </p:nvSpPr>
        <p:spPr>
          <a:xfrm>
            <a:off x="8699500" y="29845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NATURAL JOIN WORKS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699500" y="33655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8890000" y="3619500"/>
            <a:ext cx="2794000" cy="76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7" name="Text 15"/>
          <p:cNvSpPr/>
          <p:nvPr/>
        </p:nvSpPr>
        <p:spPr>
          <a:xfrm>
            <a:off x="8890000" y="3619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A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| Name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11000" y="3810000"/>
            <a:ext cx="1270000" cy="381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3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2192000" y="3619500"/>
            <a:ext cx="2794000" cy="762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0" name="Text 18"/>
          <p:cNvSpPr/>
          <p:nvPr/>
        </p:nvSpPr>
        <p:spPr>
          <a:xfrm>
            <a:off x="12192000" y="3619500"/>
            <a:ext cx="279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 B</a:t>
            </a:r>
            <a:endParaRPr lang="en-US" sz="1600" dirty="0"/>
          </a:p>
          <a:p>
            <a:pPr algn="ctr">
              <a:lnSpc>
                <a:spcPct val="100000"/>
              </a:lnSpc>
            </a:pPr>
            <a:r>
              <a:rPr lang="en-US" sz="120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 | Course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890000" y="4699000"/>
            <a:ext cx="6096000" cy="635000"/>
          </a:xfrm>
          <a:prstGeom prst="roundRect">
            <a:avLst>
              <a:gd name="adj" fmla="val 8000"/>
            </a:avLst>
          </a:prstGeom>
          <a:solidFill>
            <a:srgbClr val="C97B3A">
              <a:alpha val="9412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0" y="4762500"/>
            <a:ext cx="5588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detects </a:t>
            </a:r>
            <a:pPr algn="ctr">
              <a:lnSpc>
                <a:spcPct val="100000"/>
              </a:lnSpc>
            </a:pPr>
            <a:r>
              <a:rPr lang="en-US" sz="1500" b="1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StudentID</a:t>
            </a:r>
            <a:pPr algn="ctr">
              <a:lnSpc>
                <a:spcPct val="100000"/>
              </a:lnSpc>
            </a:pPr>
            <a:r>
              <a:rPr lang="en-US" sz="15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common column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62000" y="6223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4" name="Shape 22"/>
          <p:cNvSpPr/>
          <p:nvPr/>
        </p:nvSpPr>
        <p:spPr>
          <a:xfrm>
            <a:off x="1016000" y="6540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355600"/>
                </a:moveTo>
                <a:cubicBezTo>
                  <a:pt x="275930" y="355600"/>
                  <a:pt x="355600" y="275930"/>
                  <a:pt x="355600" y="177800"/>
                </a:cubicBezTo>
                <a:cubicBezTo>
                  <a:pt x="355600" y="79670"/>
                  <a:pt x="275930" y="0"/>
                  <a:pt x="177800" y="0"/>
                </a:cubicBezTo>
                <a:cubicBezTo>
                  <a:pt x="79670" y="0"/>
                  <a:pt x="0" y="79670"/>
                  <a:pt x="0" y="177800"/>
                </a:cubicBezTo>
                <a:cubicBezTo>
                  <a:pt x="0" y="275930"/>
                  <a:pt x="79670" y="355600"/>
                  <a:pt x="177800" y="355600"/>
                </a:cubicBezTo>
                <a:close/>
                <a:moveTo>
                  <a:pt x="155575" y="111125"/>
                </a:moveTo>
                <a:cubicBezTo>
                  <a:pt x="155575" y="98859"/>
                  <a:pt x="165534" y="88900"/>
                  <a:pt x="177800" y="88900"/>
                </a:cubicBezTo>
                <a:cubicBezTo>
                  <a:pt x="190066" y="88900"/>
                  <a:pt x="200025" y="98859"/>
                  <a:pt x="200025" y="111125"/>
                </a:cubicBezTo>
                <a:cubicBezTo>
                  <a:pt x="200025" y="123391"/>
                  <a:pt x="190066" y="133350"/>
                  <a:pt x="177800" y="133350"/>
                </a:cubicBezTo>
                <a:cubicBezTo>
                  <a:pt x="165534" y="133350"/>
                  <a:pt x="155575" y="123391"/>
                  <a:pt x="155575" y="111125"/>
                </a:cubicBezTo>
                <a:close/>
                <a:moveTo>
                  <a:pt x="150019" y="155575"/>
                </a:moveTo>
                <a:lnTo>
                  <a:pt x="183356" y="155575"/>
                </a:lnTo>
                <a:cubicBezTo>
                  <a:pt x="192594" y="155575"/>
                  <a:pt x="200025" y="163006"/>
                  <a:pt x="200025" y="172244"/>
                </a:cubicBezTo>
                <a:lnTo>
                  <a:pt x="200025" y="233363"/>
                </a:lnTo>
                <a:lnTo>
                  <a:pt x="205581" y="233363"/>
                </a:lnTo>
                <a:cubicBezTo>
                  <a:pt x="214819" y="233363"/>
                  <a:pt x="222250" y="240794"/>
                  <a:pt x="222250" y="250031"/>
                </a:cubicBezTo>
                <a:cubicBezTo>
                  <a:pt x="222250" y="259269"/>
                  <a:pt x="214819" y="266700"/>
                  <a:pt x="205581" y="266700"/>
                </a:cubicBezTo>
                <a:lnTo>
                  <a:pt x="150019" y="266700"/>
                </a:lnTo>
                <a:cubicBezTo>
                  <a:pt x="140781" y="266700"/>
                  <a:pt x="133350" y="259269"/>
                  <a:pt x="133350" y="250031"/>
                </a:cubicBezTo>
                <a:cubicBezTo>
                  <a:pt x="133350" y="240794"/>
                  <a:pt x="140781" y="233363"/>
                  <a:pt x="150019" y="233363"/>
                </a:cubicBezTo>
                <a:lnTo>
                  <a:pt x="166688" y="233363"/>
                </a:lnTo>
                <a:lnTo>
                  <a:pt x="166688" y="188913"/>
                </a:lnTo>
                <a:lnTo>
                  <a:pt x="150019" y="188913"/>
                </a:lnTo>
                <a:cubicBezTo>
                  <a:pt x="140781" y="188913"/>
                  <a:pt x="133350" y="181481"/>
                  <a:pt x="133350" y="172244"/>
                </a:cubicBezTo>
                <a:cubicBezTo>
                  <a:pt x="133350" y="163006"/>
                  <a:pt x="140781" y="155575"/>
                  <a:pt x="150019" y="1555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5" name="Text 23"/>
          <p:cNvSpPr/>
          <p:nvPr/>
        </p:nvSpPr>
        <p:spPr>
          <a:xfrm>
            <a:off x="1498600" y="6413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98600" y="6794500"/>
            <a:ext cx="13716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tables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must have a column with the exact same name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for Natural Join to work.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Syntax of Natural Join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20955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3500" cy="20955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30400"/>
            <a:ext cx="1397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table2;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73500"/>
            <a:ext cx="635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Compare: Inner Join vs Natural Join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381500"/>
            <a:ext cx="7112000" cy="1778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Text 8"/>
          <p:cNvSpPr/>
          <p:nvPr/>
        </p:nvSpPr>
        <p:spPr>
          <a:xfrm>
            <a:off x="10160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16000" y="4635500"/>
            <a:ext cx="6604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 </a:t>
            </a:r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table2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table1.column = table2.column;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28000" y="4381500"/>
            <a:ext cx="7366000" cy="1778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3" name="Text 11"/>
          <p:cNvSpPr/>
          <p:nvPr/>
        </p:nvSpPr>
        <p:spPr>
          <a:xfrm>
            <a:off x="83820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82000" y="4635500"/>
            <a:ext cx="6858000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table1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5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pPr>
              <a:lnSpc>
                <a:spcPct val="170000"/>
              </a:lnSpc>
            </a:pPr>
            <a:r>
              <a:rPr lang="en-US" sz="15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table2;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7937500" y="4826000"/>
            <a:ext cx="127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arrow"/>
            <a:tailEnd type="arrow"/>
          </a:ln>
        </p:spPr>
      </p:sp>
      <p:sp>
        <p:nvSpPr>
          <p:cNvPr id="16" name="Shape 14"/>
          <p:cNvSpPr/>
          <p:nvPr/>
        </p:nvSpPr>
        <p:spPr>
          <a:xfrm>
            <a:off x="762000" y="6477000"/>
            <a:ext cx="14732000" cy="1397000"/>
          </a:xfrm>
          <a:prstGeom prst="roundRect">
            <a:avLst>
              <a:gd name="adj" fmla="val 8000"/>
            </a:avLst>
          </a:prstGeom>
          <a:solidFill>
            <a:srgbClr val="C97B3A">
              <a:alpha val="7059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016000" y="68580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cubicBezTo>
                  <a:pt x="188010" y="0"/>
                  <a:pt x="197386" y="5626"/>
                  <a:pt x="202248" y="14585"/>
                </a:cubicBezTo>
                <a:lnTo>
                  <a:pt x="352266" y="292398"/>
                </a:lnTo>
                <a:cubicBezTo>
                  <a:pt x="356920" y="301010"/>
                  <a:pt x="356711" y="311428"/>
                  <a:pt x="351711" y="319832"/>
                </a:cubicBezTo>
                <a:cubicBezTo>
                  <a:pt x="346710" y="328235"/>
                  <a:pt x="337612" y="333375"/>
                  <a:pt x="327819" y="333375"/>
                </a:cubicBezTo>
                <a:lnTo>
                  <a:pt x="27781" y="333375"/>
                </a:lnTo>
                <a:cubicBezTo>
                  <a:pt x="17988" y="333375"/>
                  <a:pt x="8959" y="328235"/>
                  <a:pt x="3889" y="319832"/>
                </a:cubicBezTo>
                <a:cubicBezTo>
                  <a:pt x="-1181" y="311428"/>
                  <a:pt x="-1320" y="301010"/>
                  <a:pt x="3334" y="292398"/>
                </a:cubicBezTo>
                <a:lnTo>
                  <a:pt x="153353" y="14585"/>
                </a:lnTo>
                <a:cubicBezTo>
                  <a:pt x="158214" y="5626"/>
                  <a:pt x="167590" y="0"/>
                  <a:pt x="177800" y="0"/>
                </a:cubicBezTo>
                <a:close/>
                <a:moveTo>
                  <a:pt x="177800" y="116681"/>
                </a:moveTo>
                <a:cubicBezTo>
                  <a:pt x="168563" y="116681"/>
                  <a:pt x="161131" y="124113"/>
                  <a:pt x="161131" y="133350"/>
                </a:cubicBezTo>
                <a:lnTo>
                  <a:pt x="161131" y="211138"/>
                </a:lnTo>
                <a:cubicBezTo>
                  <a:pt x="161131" y="220375"/>
                  <a:pt x="168563" y="227806"/>
                  <a:pt x="177800" y="227806"/>
                </a:cubicBezTo>
                <a:cubicBezTo>
                  <a:pt x="187037" y="227806"/>
                  <a:pt x="194469" y="220375"/>
                  <a:pt x="194469" y="211138"/>
                </a:cubicBezTo>
                <a:lnTo>
                  <a:pt x="194469" y="133350"/>
                </a:lnTo>
                <a:cubicBezTo>
                  <a:pt x="194469" y="124113"/>
                  <a:pt x="187037" y="116681"/>
                  <a:pt x="177800" y="116681"/>
                </a:cubicBezTo>
                <a:close/>
                <a:moveTo>
                  <a:pt x="196344" y="266700"/>
                </a:moveTo>
                <a:cubicBezTo>
                  <a:pt x="196766" y="259817"/>
                  <a:pt x="193333" y="253268"/>
                  <a:pt x="187432" y="249699"/>
                </a:cubicBezTo>
                <a:cubicBezTo>
                  <a:pt x="181532" y="246129"/>
                  <a:pt x="174138" y="246129"/>
                  <a:pt x="168237" y="249699"/>
                </a:cubicBezTo>
                <a:cubicBezTo>
                  <a:pt x="162336" y="253268"/>
                  <a:pt x="158904" y="259817"/>
                  <a:pt x="159325" y="266700"/>
                </a:cubicBezTo>
                <a:cubicBezTo>
                  <a:pt x="158904" y="273583"/>
                  <a:pt x="162336" y="280132"/>
                  <a:pt x="168237" y="283701"/>
                </a:cubicBezTo>
                <a:cubicBezTo>
                  <a:pt x="174138" y="287271"/>
                  <a:pt x="181532" y="287271"/>
                  <a:pt x="187432" y="283701"/>
                </a:cubicBezTo>
                <a:cubicBezTo>
                  <a:pt x="193333" y="280132"/>
                  <a:pt x="196766" y="273583"/>
                  <a:pt x="196344" y="266700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6"/>
          <p:cNvSpPr/>
          <p:nvPr/>
        </p:nvSpPr>
        <p:spPr>
          <a:xfrm>
            <a:off x="1498600" y="6731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Important Requirement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498600" y="7112000"/>
            <a:ext cx="13716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 common column name </a:t>
            </a:r>
            <a:pPr>
              <a:lnSpc>
                <a:spcPct val="15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must exist in both tables</a:t>
            </a:r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with the exact same name for Natural Join to work correctly.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Tables for Natural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Table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778000"/>
          <a:ext cx="4318000" cy="1651000"/>
        </p:xfrm>
        <a:graphic>
          <a:graphicData uri="http://schemas.openxmlformats.org/drawingml/2006/table">
            <a:tbl>
              <a:tblPr/>
              <a:tblGrid>
                <a:gridCol w="1511300"/>
                <a:gridCol w="28067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8000" y="1397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 Table</a:t>
            </a:r>
            <a:endParaRPr lang="en-US" sz="1600" dirty="0"/>
          </a:p>
        </p:txBody>
      </p:sp>
      <p:graphicFrame>
        <p:nvGraphicFramePr>
          <p:cNvPr id="4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8000" y="1778000"/>
          <a:ext cx="4318000" cy="1651000"/>
        </p:xfrm>
        <a:graphic>
          <a:graphicData uri="http://schemas.openxmlformats.org/drawingml/2006/table">
            <a:tbl>
              <a:tblPr/>
              <a:tblGrid>
                <a:gridCol w="1511300"/>
                <a:gridCol w="28067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10414000" y="1397000"/>
            <a:ext cx="5080000" cy="2286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9" name="Text 5"/>
          <p:cNvSpPr/>
          <p:nvPr/>
        </p:nvSpPr>
        <p:spPr>
          <a:xfrm>
            <a:off x="10668000" y="1587500"/>
            <a:ext cx="4572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COMMON COLUMN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10668000" y="1968500"/>
            <a:ext cx="4572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11" name="Shape 7"/>
          <p:cNvSpPr/>
          <p:nvPr/>
        </p:nvSpPr>
        <p:spPr>
          <a:xfrm>
            <a:off x="11176000" y="2222500"/>
            <a:ext cx="3556000" cy="635000"/>
          </a:xfrm>
          <a:prstGeom prst="roundRect">
            <a:avLst>
              <a:gd name="adj" fmla="val 10000"/>
            </a:avLst>
          </a:prstGeom>
          <a:solidFill>
            <a:srgbClr val="C97B3A"/>
          </a:solidFill>
          <a:ln/>
        </p:spPr>
      </p:sp>
      <p:sp>
        <p:nvSpPr>
          <p:cNvPr id="12" name="Text 8"/>
          <p:cNvSpPr/>
          <p:nvPr/>
        </p:nvSpPr>
        <p:spPr>
          <a:xfrm>
            <a:off x="11176000" y="2222500"/>
            <a:ext cx="355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10668000" y="3048000"/>
            <a:ext cx="45720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This column exists in </a:t>
            </a:r>
            <a:pPr algn="ctr">
              <a:lnSpc>
                <a:spcPct val="140000"/>
              </a:lnSpc>
            </a:pPr>
            <a:r>
              <a:rPr lang="en-US" sz="14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both tables</a:t>
            </a:r>
            <a:pPr algn="ctr">
              <a:lnSpc>
                <a:spcPct val="14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with the same name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62000" y="1778000"/>
            <a:ext cx="1511300" cy="546100"/>
          </a:xfrm>
          <a:prstGeom prst="rect">
            <a:avLst/>
          </a:prstGeom>
          <a:solidFill>
            <a:srgbClr val="C97B3A">
              <a:alpha val="14510"/>
            </a:srgbClr>
          </a:solidFill>
          <a:ln w="25400">
            <a:solidFill>
              <a:srgbClr val="C97B3A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8000" y="1778000"/>
            <a:ext cx="1511300" cy="546100"/>
          </a:xfrm>
          <a:prstGeom prst="rect">
            <a:avLst/>
          </a:prstGeom>
          <a:solidFill>
            <a:srgbClr val="C97B3A">
              <a:alpha val="14510"/>
            </a:srgbClr>
          </a:solidFill>
          <a:ln w="25400">
            <a:solidFill>
              <a:srgbClr val="C97B3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62000" y="4064000"/>
            <a:ext cx="14732000" cy="1143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7" name="Shape 13"/>
          <p:cNvSpPr/>
          <p:nvPr/>
        </p:nvSpPr>
        <p:spPr>
          <a:xfrm>
            <a:off x="1060450" y="4381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4"/>
          <p:cNvSpPr/>
          <p:nvPr/>
        </p:nvSpPr>
        <p:spPr>
          <a:xfrm>
            <a:off x="1498600" y="4254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Point</a:t>
            </a:r>
            <a:endParaRPr lang="en-US" sz="1600" dirty="0"/>
          </a:p>
        </p:txBody>
      </p:sp>
      <p:sp>
        <p:nvSpPr>
          <p:cNvPr id="19" name="Text 15"/>
          <p:cNvSpPr/>
          <p:nvPr/>
        </p:nvSpPr>
        <p:spPr>
          <a:xfrm>
            <a:off x="1498600" y="4635500"/>
            <a:ext cx="1371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Join will automatically detect and use </a:t>
            </a:r>
            <a:pPr>
              <a:lnSpc>
                <a:spcPct val="14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StudentID</a:t>
            </a:r>
            <a:pPr>
              <a:lnSpc>
                <a:spcPct val="14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as the matching column.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762000" y="5588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COLUMN MATCHING DIAGRAM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762000" y="60960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2" name="Text 18"/>
          <p:cNvSpPr/>
          <p:nvPr/>
        </p:nvSpPr>
        <p:spPr>
          <a:xfrm>
            <a:off x="952500" y="61595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Students:</a:t>
            </a:r>
            <a:endParaRPr lang="en-US" sz="1600" dirty="0"/>
          </a:p>
        </p:txBody>
      </p:sp>
      <p:sp>
        <p:nvSpPr>
          <p:cNvPr id="23" name="Shape 19"/>
          <p:cNvSpPr/>
          <p:nvPr/>
        </p:nvSpPr>
        <p:spPr>
          <a:xfrm>
            <a:off x="2921000" y="6223000"/>
            <a:ext cx="1524000" cy="457200"/>
          </a:xfrm>
          <a:prstGeom prst="roundRect">
            <a:avLst>
              <a:gd name="adj" fmla="val 10000"/>
            </a:avLst>
          </a:prstGeom>
          <a:solidFill>
            <a:srgbClr val="C97B3A"/>
          </a:solidFill>
          <a:ln/>
        </p:spPr>
      </p:sp>
      <p:sp>
        <p:nvSpPr>
          <p:cNvPr id="24" name="Text 20"/>
          <p:cNvSpPr/>
          <p:nvPr/>
        </p:nvSpPr>
        <p:spPr>
          <a:xfrm>
            <a:off x="2921000" y="62230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</a:t>
            </a:r>
            <a:endParaRPr lang="en-US" sz="1600" dirty="0"/>
          </a:p>
        </p:txBody>
      </p:sp>
      <p:sp>
        <p:nvSpPr>
          <p:cNvPr id="25" name="Shape 21"/>
          <p:cNvSpPr/>
          <p:nvPr/>
        </p:nvSpPr>
        <p:spPr>
          <a:xfrm>
            <a:off x="4572000" y="6223000"/>
            <a:ext cx="1270000" cy="457200"/>
          </a:xfrm>
          <a:prstGeom prst="roundRect">
            <a:avLst>
              <a:gd name="adj" fmla="val 10000"/>
            </a:avLst>
          </a:prstGeom>
          <a:solidFill>
            <a:srgbClr val="1B4D4D"/>
          </a:solidFill>
          <a:ln/>
        </p:spPr>
      </p:sp>
      <p:sp>
        <p:nvSpPr>
          <p:cNvPr id="26" name="Text 22"/>
          <p:cNvSpPr/>
          <p:nvPr/>
        </p:nvSpPr>
        <p:spPr>
          <a:xfrm>
            <a:off x="4572000" y="6223000"/>
            <a:ext cx="1270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Name</a:t>
            </a: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762000" y="7048500"/>
            <a:ext cx="6350000" cy="762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8" name="Text 24"/>
          <p:cNvSpPr/>
          <p:nvPr/>
        </p:nvSpPr>
        <p:spPr>
          <a:xfrm>
            <a:off x="952500" y="7112000"/>
            <a:ext cx="1905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Enrollment:</a:t>
            </a: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2921000" y="7175500"/>
            <a:ext cx="1524000" cy="457200"/>
          </a:xfrm>
          <a:prstGeom prst="roundRect">
            <a:avLst>
              <a:gd name="adj" fmla="val 10000"/>
            </a:avLst>
          </a:prstGeom>
          <a:solidFill>
            <a:srgbClr val="C97B3A"/>
          </a:solidFill>
          <a:ln/>
        </p:spPr>
      </p:sp>
      <p:sp>
        <p:nvSpPr>
          <p:cNvPr id="30" name="Text 26"/>
          <p:cNvSpPr/>
          <p:nvPr/>
        </p:nvSpPr>
        <p:spPr>
          <a:xfrm>
            <a:off x="2921000" y="7175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StudentID</a:t>
            </a: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4572000" y="7175500"/>
            <a:ext cx="1524000" cy="457200"/>
          </a:xfrm>
          <a:prstGeom prst="roundRect">
            <a:avLst>
              <a:gd name="adj" fmla="val 10000"/>
            </a:avLst>
          </a:prstGeom>
          <a:solidFill>
            <a:srgbClr val="C97B3A"/>
          </a:solidFill>
          <a:ln/>
        </p:spPr>
      </p:sp>
      <p:sp>
        <p:nvSpPr>
          <p:cNvPr id="32" name="Text 28"/>
          <p:cNvSpPr/>
          <p:nvPr/>
        </p:nvSpPr>
        <p:spPr>
          <a:xfrm>
            <a:off x="4572000" y="7175500"/>
            <a:ext cx="15240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</a:t>
            </a:r>
            <a:endParaRPr lang="en-US" sz="1600" dirty="0"/>
          </a:p>
        </p:txBody>
      </p:sp>
      <p:sp>
        <p:nvSpPr>
          <p:cNvPr id="33" name="Shape 29"/>
          <p:cNvSpPr/>
          <p:nvPr/>
        </p:nvSpPr>
        <p:spPr>
          <a:xfrm>
            <a:off x="3683000" y="6680200"/>
            <a:ext cx="0" cy="368300"/>
          </a:xfrm>
          <a:prstGeom prst="straightConnector1">
            <a:avLst/>
          </a:prstGeom>
          <a:noFill/>
          <a:ln w="25400">
            <a:solidFill>
              <a:srgbClr val="4A7C59"/>
            </a:solidFill>
            <a:prstDash val="solid"/>
            <a:headEnd type="none"/>
            <a:tailEnd type="arrow"/>
          </a:ln>
        </p:spPr>
      </p:sp>
      <p:sp>
        <p:nvSpPr>
          <p:cNvPr id="34" name="Text 30"/>
          <p:cNvSpPr/>
          <p:nvPr/>
        </p:nvSpPr>
        <p:spPr>
          <a:xfrm>
            <a:off x="3810000" y="6731000"/>
            <a:ext cx="12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100" b="1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MATCH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 Query Example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524000"/>
            <a:ext cx="14732000" cy="2159000"/>
          </a:xfrm>
          <a:prstGeom prst="roundRect">
            <a:avLst>
              <a:gd name="adj" fmla="val 6000"/>
            </a:avLst>
          </a:prstGeom>
          <a:solidFill>
            <a:srgbClr val="EAE6DF"/>
          </a:solidFill>
          <a:ln/>
        </p:spPr>
      </p:sp>
      <p:sp>
        <p:nvSpPr>
          <p:cNvPr id="5" name="Shape 3"/>
          <p:cNvSpPr/>
          <p:nvPr/>
        </p:nvSpPr>
        <p:spPr>
          <a:xfrm>
            <a:off x="762000" y="1524000"/>
            <a:ext cx="63500" cy="165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1079500" y="1651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200" b="1" spc="2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SQL QUERY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79500" y="1930400"/>
            <a:ext cx="13970000" cy="187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SELECT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*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FROM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Students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22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</a:t>
            </a:r>
            <a:pPr>
              <a:lnSpc>
                <a:spcPct val="180000"/>
              </a:lnSpc>
            </a:pPr>
            <a:r>
              <a:rPr lang="en-US" sz="2200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Enrollment;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3873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happens?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62000" y="43815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952500" y="46355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952500" y="4381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9400" y="4381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scans both tables for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columns with the same name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62000" y="55880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952500" y="58420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952500" y="55880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549400" y="55880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Finds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C97B3A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both tables — uses it for matching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6794500"/>
            <a:ext cx="7112000" cy="1016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7048500"/>
            <a:ext cx="457200" cy="4572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6794500"/>
            <a:ext cx="45720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549400" y="6794500"/>
            <a:ext cx="60960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Automatically matches rows and returns the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combined result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8382000" y="3810000"/>
            <a:ext cx="7112000" cy="37465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22" name="Text 20"/>
          <p:cNvSpPr/>
          <p:nvPr/>
        </p:nvSpPr>
        <p:spPr>
          <a:xfrm>
            <a:off x="8699500" y="3937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AUTOMATIC DETECTION FLOW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699500" y="43180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4" name="Shape 22"/>
          <p:cNvSpPr/>
          <p:nvPr/>
        </p:nvSpPr>
        <p:spPr>
          <a:xfrm>
            <a:off x="8890000" y="4445000"/>
            <a:ext cx="6096000" cy="635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5" name="Text 23"/>
          <p:cNvSpPr/>
          <p:nvPr/>
        </p:nvSpPr>
        <p:spPr>
          <a:xfrm>
            <a:off x="8890000" y="4445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1. Scan Students columns: StudentID, Name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11938000" y="5080000"/>
            <a:ext cx="0" cy="25400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27" name="Shape 25"/>
          <p:cNvSpPr/>
          <p:nvPr/>
        </p:nvSpPr>
        <p:spPr>
          <a:xfrm>
            <a:off x="8890000" y="5334000"/>
            <a:ext cx="6096000" cy="635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8" name="Text 26"/>
          <p:cNvSpPr/>
          <p:nvPr/>
        </p:nvSpPr>
        <p:spPr>
          <a:xfrm>
            <a:off x="8890000" y="5334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2. Scan Enrollment columns: StudentID, Course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11938000" y="5969000"/>
            <a:ext cx="0" cy="19050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30" name="Shape 28"/>
          <p:cNvSpPr/>
          <p:nvPr/>
        </p:nvSpPr>
        <p:spPr>
          <a:xfrm>
            <a:off x="8890000" y="6223000"/>
            <a:ext cx="6096000" cy="635000"/>
          </a:xfrm>
          <a:prstGeom prst="roundRect">
            <a:avLst>
              <a:gd name="adj" fmla="val 8000"/>
            </a:avLst>
          </a:prstGeom>
          <a:solidFill>
            <a:srgbClr val="4A7C59"/>
          </a:solidFill>
          <a:ln/>
        </p:spPr>
      </p:sp>
      <p:sp>
        <p:nvSpPr>
          <p:cNvPr id="31" name="Text 29"/>
          <p:cNvSpPr/>
          <p:nvPr/>
        </p:nvSpPr>
        <p:spPr>
          <a:xfrm>
            <a:off x="8890000" y="6223000"/>
            <a:ext cx="60960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3. Match on StudentID = Return result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890000" y="6921500"/>
            <a:ext cx="6096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No ON clause needed!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Output of Natural Join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4605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Result Table</a:t>
            </a:r>
            <a:endParaRPr lang="en-US" sz="16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841500"/>
          <a:ext cx="6350000" cy="1651000"/>
        </p:xfrm>
        <a:graphic>
          <a:graphicData uri="http://schemas.openxmlformats.org/drawingml/2006/table">
            <a:tbl>
              <a:tblPr/>
              <a:tblGrid>
                <a:gridCol w="1905000"/>
                <a:gridCol w="2222500"/>
                <a:gridCol w="2222500"/>
              </a:tblGrid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StudentID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Name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Course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5461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1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Ali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DBMS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2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Sara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Java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62000" y="3937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4A7C59">
              <a:alpha val="7059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993775" y="4254500"/>
            <a:ext cx="400050" cy="355600"/>
          </a:xfrm>
          <a:custGeom>
            <a:avLst/>
            <a:gdLst/>
            <a:ahLst/>
            <a:cxnLst/>
            <a:rect l="l" t="t" r="r" b="b"/>
            <a:pathLst>
              <a:path w="400050" h="355600">
                <a:moveTo>
                  <a:pt x="200025" y="22225"/>
                </a:moveTo>
                <a:cubicBezTo>
                  <a:pt x="143907" y="22225"/>
                  <a:pt x="98971" y="47784"/>
                  <a:pt x="66258" y="78204"/>
                </a:cubicBezTo>
                <a:cubicBezTo>
                  <a:pt x="33754" y="108416"/>
                  <a:pt x="12015" y="144463"/>
                  <a:pt x="1667" y="169257"/>
                </a:cubicBezTo>
                <a:cubicBezTo>
                  <a:pt x="-625" y="174744"/>
                  <a:pt x="-625" y="180856"/>
                  <a:pt x="1667" y="186343"/>
                </a:cubicBezTo>
                <a:cubicBezTo>
                  <a:pt x="12015" y="211138"/>
                  <a:pt x="33754" y="247253"/>
                  <a:pt x="66258" y="277396"/>
                </a:cubicBezTo>
                <a:cubicBezTo>
                  <a:pt x="98971" y="307747"/>
                  <a:pt x="143907" y="333375"/>
                  <a:pt x="200025" y="333375"/>
                </a:cubicBezTo>
                <a:cubicBezTo>
                  <a:pt x="256143" y="333375"/>
                  <a:pt x="301079" y="307816"/>
                  <a:pt x="333792" y="277396"/>
                </a:cubicBezTo>
                <a:cubicBezTo>
                  <a:pt x="366296" y="247184"/>
                  <a:pt x="388035" y="211138"/>
                  <a:pt x="398383" y="186343"/>
                </a:cubicBezTo>
                <a:cubicBezTo>
                  <a:pt x="400675" y="180856"/>
                  <a:pt x="400675" y="174744"/>
                  <a:pt x="398383" y="169257"/>
                </a:cubicBezTo>
                <a:cubicBezTo>
                  <a:pt x="388035" y="144462"/>
                  <a:pt x="366296" y="108347"/>
                  <a:pt x="333792" y="78204"/>
                </a:cubicBezTo>
                <a:cubicBezTo>
                  <a:pt x="301079" y="47853"/>
                  <a:pt x="256143" y="22225"/>
                  <a:pt x="200025" y="22225"/>
                </a:cubicBezTo>
                <a:close/>
                <a:moveTo>
                  <a:pt x="100013" y="177800"/>
                </a:moveTo>
                <a:cubicBezTo>
                  <a:pt x="100013" y="122602"/>
                  <a:pt x="144827" y="77788"/>
                  <a:pt x="200025" y="77788"/>
                </a:cubicBezTo>
                <a:cubicBezTo>
                  <a:pt x="255223" y="77788"/>
                  <a:pt x="300038" y="122602"/>
                  <a:pt x="300038" y="177800"/>
                </a:cubicBezTo>
                <a:cubicBezTo>
                  <a:pt x="300038" y="232998"/>
                  <a:pt x="255223" y="277813"/>
                  <a:pt x="200025" y="277813"/>
                </a:cubicBezTo>
                <a:cubicBezTo>
                  <a:pt x="144827" y="277813"/>
                  <a:pt x="100013" y="232998"/>
                  <a:pt x="100013" y="177800"/>
                </a:cubicBezTo>
                <a:close/>
                <a:moveTo>
                  <a:pt x="200025" y="133350"/>
                </a:moveTo>
                <a:cubicBezTo>
                  <a:pt x="200025" y="157867"/>
                  <a:pt x="180092" y="177800"/>
                  <a:pt x="155575" y="177800"/>
                </a:cubicBezTo>
                <a:cubicBezTo>
                  <a:pt x="147588" y="177800"/>
                  <a:pt x="140087" y="175716"/>
                  <a:pt x="133558" y="171966"/>
                </a:cubicBezTo>
                <a:cubicBezTo>
                  <a:pt x="132864" y="179536"/>
                  <a:pt x="133489" y="187315"/>
                  <a:pt x="135573" y="195024"/>
                </a:cubicBezTo>
                <a:cubicBezTo>
                  <a:pt x="145088" y="230584"/>
                  <a:pt x="181689" y="251698"/>
                  <a:pt x="217249" y="242183"/>
                </a:cubicBezTo>
                <a:cubicBezTo>
                  <a:pt x="252809" y="232668"/>
                  <a:pt x="273923" y="196066"/>
                  <a:pt x="264408" y="160506"/>
                </a:cubicBezTo>
                <a:cubicBezTo>
                  <a:pt x="255935" y="128766"/>
                  <a:pt x="225862" y="108555"/>
                  <a:pt x="194191" y="111333"/>
                </a:cubicBezTo>
                <a:cubicBezTo>
                  <a:pt x="197872" y="117793"/>
                  <a:pt x="200025" y="125293"/>
                  <a:pt x="200025" y="133350"/>
                </a:cubicBez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8" name="Text 5"/>
          <p:cNvSpPr/>
          <p:nvPr/>
        </p:nvSpPr>
        <p:spPr>
          <a:xfrm>
            <a:off x="1498600" y="4127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4A7C5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Observation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98600" y="4508500"/>
            <a:ext cx="6096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Common column </a:t>
            </a:r>
            <a:pPr>
              <a:lnSpc>
                <a:spcPct val="160000"/>
              </a:lnSpc>
            </a:pPr>
            <a:r>
              <a:rPr lang="en-US" sz="18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StudentID appears only once</a:t>
            </a:r>
            <a:pPr>
              <a:lnSpc>
                <a:spcPct val="16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in the result.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62000" y="5905500"/>
            <a:ext cx="635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vs NATURAL JOIN OUTPUT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762000" y="6350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2" name="Text 9"/>
          <p:cNvSpPr/>
          <p:nvPr/>
        </p:nvSpPr>
        <p:spPr>
          <a:xfrm>
            <a:off x="1016000" y="647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Output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16000" y="6794500"/>
            <a:ext cx="6604000" cy="1079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Students.StudentID, Students.Name,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Enrollment.StudentID, Enrollment.Course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(Common column appears twice)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8128000" y="6350000"/>
            <a:ext cx="7366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5" name="Text 12"/>
          <p:cNvSpPr/>
          <p:nvPr/>
        </p:nvSpPr>
        <p:spPr>
          <a:xfrm>
            <a:off x="8382000" y="6477000"/>
            <a:ext cx="2540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Natural Join Output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382000" y="6832600"/>
            <a:ext cx="68580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StudentID, Name, Course</a:t>
            </a:r>
            <a:endParaRPr lang="en-US" sz="1600" dirty="0"/>
          </a:p>
          <a:p>
            <a:pPr>
              <a:lnSpc>
                <a:spcPct val="160000"/>
              </a:lnSpc>
            </a:pPr>
            <a:r>
              <a:rPr lang="en-US" sz="1400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(Common column appears once — cleaner!)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82000" y="1460500"/>
            <a:ext cx="7112000" cy="3937000"/>
          </a:xfrm>
          <a:prstGeom prst="roundRect">
            <a:avLst>
              <a:gd name="adj" fmla="val 6000"/>
            </a:avLst>
          </a:prstGeom>
          <a:solidFill>
            <a:srgbClr val="EDEAE4"/>
          </a:solidFill>
          <a:ln/>
        </p:spPr>
      </p:sp>
      <p:sp>
        <p:nvSpPr>
          <p:cNvPr id="18" name="Text 15"/>
          <p:cNvSpPr/>
          <p:nvPr/>
        </p:nvSpPr>
        <p:spPr>
          <a:xfrm>
            <a:off x="8699500" y="1651000"/>
            <a:ext cx="6477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4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DIFFERENCE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8699500" y="2032000"/>
            <a:ext cx="6477000" cy="0"/>
          </a:xfrm>
          <a:prstGeom prst="straightConnector1">
            <a:avLst/>
          </a:prstGeom>
          <a:noFill/>
          <a:ln w="12700">
            <a:solidFill>
              <a:srgbClr val="D5D0C8"/>
            </a:solidFill>
            <a:prstDash val="solid"/>
            <a:headEnd type="none"/>
            <a:tailEnd type="none"/>
          </a:ln>
        </p:spPr>
      </p:sp>
      <p:sp>
        <p:nvSpPr>
          <p:cNvPr id="20" name="Text 17"/>
          <p:cNvSpPr/>
          <p:nvPr/>
        </p:nvSpPr>
        <p:spPr>
          <a:xfrm>
            <a:off x="8699500" y="2222500"/>
            <a:ext cx="6477000" cy="279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80000"/>
              </a:lnSpc>
            </a:pPr>
            <a:r>
              <a:rPr lang="en-US" sz="1600" b="1" dirty="0">
                <a:solidFill>
                  <a:srgbClr val="1B4D4D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column appears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twice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(once from each table)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Join:</a:t>
            </a:r>
            <a:endParaRPr lang="en-US" sz="1600" dirty="0"/>
          </a:p>
          <a:p>
            <a:pPr>
              <a:lnSpc>
                <a:spcPct val="18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Common column appears </a:t>
            </a:r>
            <a:pPr>
              <a:lnSpc>
                <a:spcPct val="18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only once</a:t>
            </a:r>
            <a:pPr>
              <a:lnSpc>
                <a:spcPct val="180000"/>
              </a:lnSpc>
            </a:pPr>
            <a:r>
              <a:rPr lang="en-US" sz="1600" dirty="0">
                <a:solidFill>
                  <a:srgbClr val="1E1E1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(automatically deduplicated)</a:t>
            </a:r>
            <a:endParaRPr lang="en-US" sz="1600" dirty="0"/>
          </a:p>
          <a:p>
            <a:pPr>
              <a:lnSpc>
                <a:spcPct val="180000"/>
              </a:lnSpc>
              <a:spcBef>
                <a:spcPts val="1200"/>
              </a:spcBef>
            </a:pPr>
            <a:r>
              <a:rPr lang="en-US" sz="1600" b="1" dirty="0">
                <a:solidFill>
                  <a:srgbClr val="4A7C59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Result: Cleaner output with Natural Join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Inner Join vs Natural Join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62000" y="1460500"/>
          <a:ext cx="14732000" cy="3556000"/>
        </p:xfrm>
        <a:graphic>
          <a:graphicData uri="http://schemas.openxmlformats.org/drawingml/2006/table">
            <a:tbl>
              <a:tblPr/>
              <a:tblGrid>
                <a:gridCol w="4419600"/>
                <a:gridCol w="5156200"/>
                <a:gridCol w="5156200"/>
              </a:tblGrid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Feature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Inner Join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 u="none" dirty="0">
                          <a:solidFill>
                            <a:srgbClr val="FFFFFF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Natural Join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4D4D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Matching Condition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Written manually (ON clause)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Automatic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Uses ON clause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Yes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7B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More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Less control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200"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1E1E1E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Common Column Required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4A7C59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Not necessary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u="none" dirty="0">
                          <a:solidFill>
                            <a:srgbClr val="C97B3A"/>
                          </a:solidFill>
                          <a:latin typeface="QuattrocentoSans" pitchFamily="34" charset="0"/>
                          <a:ea typeface="QuattrocentoSans" pitchFamily="34" charset="-122"/>
                          <a:cs typeface="QuattrocentoSans" pitchFamily="34" charset="-120"/>
                        </a:rPr>
                        <a:t>Necessary</a:t>
                      </a:r>
                      <a:endParaRPr lang="en-US" sz="1400" dirty="0">
                        <a:latin typeface="QuattrocentoSans" charset="0"/>
                        <a:ea typeface="QuattrocentoSans" charset="0"/>
                        <a:cs typeface="QuattrocentoSans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5D0C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2ED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62000" y="5461000"/>
            <a:ext cx="14732000" cy="1651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6" name="Shape 3"/>
          <p:cNvSpPr/>
          <p:nvPr/>
        </p:nvSpPr>
        <p:spPr>
          <a:xfrm>
            <a:off x="1066800" y="5778500"/>
            <a:ext cx="304800" cy="406400"/>
          </a:xfrm>
          <a:custGeom>
            <a:avLst/>
            <a:gdLst/>
            <a:ahLst/>
            <a:cxnLst/>
            <a:rect l="l" t="t" r="r" b="b"/>
            <a:pathLst>
              <a:path w="304800" h="406400">
                <a:moveTo>
                  <a:pt x="198358" y="53022"/>
                </a:moveTo>
                <a:cubicBezTo>
                  <a:pt x="206613" y="41672"/>
                  <a:pt x="204073" y="25797"/>
                  <a:pt x="192723" y="17542"/>
                </a:cubicBezTo>
                <a:cubicBezTo>
                  <a:pt x="181372" y="9287"/>
                  <a:pt x="165497" y="11827"/>
                  <a:pt x="157242" y="23177"/>
                </a:cubicBezTo>
                <a:lnTo>
                  <a:pt x="73104" y="138827"/>
                </a:lnTo>
                <a:lnTo>
                  <a:pt x="43339" y="109061"/>
                </a:lnTo>
                <a:cubicBezTo>
                  <a:pt x="33417" y="99139"/>
                  <a:pt x="17304" y="99139"/>
                  <a:pt x="7382" y="109061"/>
                </a:cubicBezTo>
                <a:cubicBezTo>
                  <a:pt x="-2540" y="118983"/>
                  <a:pt x="-2540" y="135096"/>
                  <a:pt x="7382" y="145018"/>
                </a:cubicBezTo>
                <a:lnTo>
                  <a:pt x="58182" y="195818"/>
                </a:lnTo>
                <a:cubicBezTo>
                  <a:pt x="63421" y="201057"/>
                  <a:pt x="70723" y="203756"/>
                  <a:pt x="78105" y="203200"/>
                </a:cubicBezTo>
                <a:cubicBezTo>
                  <a:pt x="85487" y="202644"/>
                  <a:pt x="92313" y="198834"/>
                  <a:pt x="96679" y="192802"/>
                </a:cubicBezTo>
                <a:lnTo>
                  <a:pt x="198279" y="53102"/>
                </a:lnTo>
                <a:close/>
                <a:moveTo>
                  <a:pt x="299958" y="160973"/>
                </a:moveTo>
                <a:cubicBezTo>
                  <a:pt x="308213" y="149622"/>
                  <a:pt x="305673" y="133747"/>
                  <a:pt x="294322" y="125492"/>
                </a:cubicBezTo>
                <a:cubicBezTo>
                  <a:pt x="282972" y="117237"/>
                  <a:pt x="267097" y="119777"/>
                  <a:pt x="258842" y="131128"/>
                </a:cubicBezTo>
                <a:lnTo>
                  <a:pt x="123904" y="316627"/>
                </a:lnTo>
                <a:lnTo>
                  <a:pt x="68739" y="261461"/>
                </a:lnTo>
                <a:cubicBezTo>
                  <a:pt x="58817" y="251539"/>
                  <a:pt x="42704" y="251539"/>
                  <a:pt x="32782" y="261461"/>
                </a:cubicBezTo>
                <a:cubicBezTo>
                  <a:pt x="22860" y="271383"/>
                  <a:pt x="22860" y="287496"/>
                  <a:pt x="32782" y="297418"/>
                </a:cubicBezTo>
                <a:lnTo>
                  <a:pt x="108982" y="373618"/>
                </a:lnTo>
                <a:cubicBezTo>
                  <a:pt x="114221" y="378857"/>
                  <a:pt x="121523" y="381556"/>
                  <a:pt x="128905" y="381000"/>
                </a:cubicBezTo>
                <a:cubicBezTo>
                  <a:pt x="136287" y="380444"/>
                  <a:pt x="143113" y="376634"/>
                  <a:pt x="147479" y="370602"/>
                </a:cubicBezTo>
                <a:lnTo>
                  <a:pt x="299879" y="161052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7" name="Text 4"/>
          <p:cNvSpPr/>
          <p:nvPr/>
        </p:nvSpPr>
        <p:spPr>
          <a:xfrm>
            <a:off x="1549400" y="5651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Conclusion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49400" y="6070600"/>
            <a:ext cx="135890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 is more flexible</a:t>
            </a:r>
            <a:pPr>
              <a:lnSpc>
                <a:spcPct val="150000"/>
              </a:lnSpc>
            </a:pPr>
            <a:r>
              <a:rPr lang="en-US" sz="20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because you can specify any matching condition, while Natural Join is limited to columns with identical names.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62000" y="7366000"/>
            <a:ext cx="14732000" cy="762000"/>
          </a:xfrm>
          <a:prstGeom prst="roundRect">
            <a:avLst>
              <a:gd name="adj" fmla="val 8000"/>
            </a:avLst>
          </a:prstGeom>
          <a:solidFill>
            <a:srgbClr val="4A7C59">
              <a:alpha val="9412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996950" y="75311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184249" y="-11251"/>
                </a:moveTo>
                <a:cubicBezTo>
                  <a:pt x="181808" y="-16014"/>
                  <a:pt x="176867" y="-19050"/>
                  <a:pt x="171510" y="-19050"/>
                </a:cubicBezTo>
                <a:cubicBezTo>
                  <a:pt x="166152" y="-19050"/>
                  <a:pt x="161211" y="-16014"/>
                  <a:pt x="158770" y="-11251"/>
                </a:cubicBezTo>
                <a:lnTo>
                  <a:pt x="114955" y="74593"/>
                </a:lnTo>
                <a:lnTo>
                  <a:pt x="19764" y="89714"/>
                </a:lnTo>
                <a:cubicBezTo>
                  <a:pt x="14466" y="90547"/>
                  <a:pt x="10061" y="94298"/>
                  <a:pt x="8394" y="99417"/>
                </a:cubicBezTo>
                <a:cubicBezTo>
                  <a:pt x="6727" y="104537"/>
                  <a:pt x="8096" y="110133"/>
                  <a:pt x="11847" y="113943"/>
                </a:cubicBezTo>
                <a:lnTo>
                  <a:pt x="79950" y="182106"/>
                </a:lnTo>
                <a:lnTo>
                  <a:pt x="64949" y="277297"/>
                </a:lnTo>
                <a:cubicBezTo>
                  <a:pt x="64115" y="282595"/>
                  <a:pt x="66318" y="287953"/>
                  <a:pt x="70664" y="291108"/>
                </a:cubicBezTo>
                <a:cubicBezTo>
                  <a:pt x="75009" y="294263"/>
                  <a:pt x="80724" y="294739"/>
                  <a:pt x="85546" y="292298"/>
                </a:cubicBezTo>
                <a:lnTo>
                  <a:pt x="171510" y="248603"/>
                </a:lnTo>
                <a:lnTo>
                  <a:pt x="257413" y="292298"/>
                </a:lnTo>
                <a:cubicBezTo>
                  <a:pt x="262176" y="294739"/>
                  <a:pt x="267950" y="294263"/>
                  <a:pt x="272296" y="291108"/>
                </a:cubicBezTo>
                <a:cubicBezTo>
                  <a:pt x="276642" y="287953"/>
                  <a:pt x="278844" y="282654"/>
                  <a:pt x="278011" y="277297"/>
                </a:cubicBezTo>
                <a:lnTo>
                  <a:pt x="262950" y="182106"/>
                </a:lnTo>
                <a:lnTo>
                  <a:pt x="331053" y="113943"/>
                </a:lnTo>
                <a:cubicBezTo>
                  <a:pt x="334863" y="110133"/>
                  <a:pt x="336173" y="104537"/>
                  <a:pt x="334506" y="99417"/>
                </a:cubicBezTo>
                <a:cubicBezTo>
                  <a:pt x="332839" y="94298"/>
                  <a:pt x="328493" y="90547"/>
                  <a:pt x="323136" y="89714"/>
                </a:cubicBezTo>
                <a:lnTo>
                  <a:pt x="228005" y="74593"/>
                </a:lnTo>
                <a:lnTo>
                  <a:pt x="184249" y="-11251"/>
                </a:lnTo>
                <a:close/>
              </a:path>
            </a:pathLst>
          </a:custGeom>
          <a:solidFill>
            <a:srgbClr val="4A7C59"/>
          </a:solidFill>
          <a:ln/>
        </p:spPr>
      </p:sp>
      <p:sp>
        <p:nvSpPr>
          <p:cNvPr id="11" name="Text 8"/>
          <p:cNvSpPr/>
          <p:nvPr/>
        </p:nvSpPr>
        <p:spPr>
          <a:xfrm>
            <a:off x="1460500" y="7429500"/>
            <a:ext cx="1377950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Best Practice:</a:t>
            </a:r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 Use Inner Join for most scenarios. Use Natural Join only when tables are designed with consistent naming conventions.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University Database Example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970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Tables in the System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905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6" name="Shape 4"/>
          <p:cNvSpPr/>
          <p:nvPr/>
        </p:nvSpPr>
        <p:spPr>
          <a:xfrm>
            <a:off x="10382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167590" y="-9029"/>
                </a:moveTo>
                <a:cubicBezTo>
                  <a:pt x="159673" y="-10626"/>
                  <a:pt x="151547" y="-10626"/>
                  <a:pt x="143629" y="-9029"/>
                </a:cubicBezTo>
                <a:lnTo>
                  <a:pt x="13404" y="17016"/>
                </a:lnTo>
                <a:cubicBezTo>
                  <a:pt x="5626" y="18544"/>
                  <a:pt x="0" y="25420"/>
                  <a:pt x="0" y="33337"/>
                </a:cubicBezTo>
                <a:cubicBezTo>
                  <a:pt x="0" y="40491"/>
                  <a:pt x="4514" y="46742"/>
                  <a:pt x="11112" y="49034"/>
                </a:cubicBezTo>
                <a:lnTo>
                  <a:pt x="11112" y="100013"/>
                </a:lnTo>
                <a:lnTo>
                  <a:pt x="208" y="154603"/>
                </a:lnTo>
                <a:cubicBezTo>
                  <a:pt x="69" y="155228"/>
                  <a:pt x="0" y="155922"/>
                  <a:pt x="0" y="156617"/>
                </a:cubicBezTo>
                <a:cubicBezTo>
                  <a:pt x="0" y="162173"/>
                  <a:pt x="4514" y="166757"/>
                  <a:pt x="10140" y="166757"/>
                </a:cubicBezTo>
                <a:lnTo>
                  <a:pt x="34379" y="166757"/>
                </a:lnTo>
                <a:cubicBezTo>
                  <a:pt x="39936" y="166757"/>
                  <a:pt x="44519" y="162243"/>
                  <a:pt x="44519" y="156617"/>
                </a:cubicBezTo>
                <a:cubicBezTo>
                  <a:pt x="44519" y="155922"/>
                  <a:pt x="44450" y="155297"/>
                  <a:pt x="44311" y="154603"/>
                </a:cubicBezTo>
                <a:lnTo>
                  <a:pt x="33337" y="100013"/>
                </a:lnTo>
                <a:lnTo>
                  <a:pt x="33337" y="53687"/>
                </a:lnTo>
                <a:lnTo>
                  <a:pt x="66675" y="60355"/>
                </a:lnTo>
                <a:lnTo>
                  <a:pt x="66675" y="100013"/>
                </a:lnTo>
                <a:cubicBezTo>
                  <a:pt x="66675" y="149116"/>
                  <a:pt x="106472" y="188913"/>
                  <a:pt x="155575" y="188913"/>
                </a:cubicBezTo>
                <a:cubicBezTo>
                  <a:pt x="204678" y="188913"/>
                  <a:pt x="244475" y="149116"/>
                  <a:pt x="244475" y="100013"/>
                </a:cubicBezTo>
                <a:lnTo>
                  <a:pt x="244475" y="60355"/>
                </a:lnTo>
                <a:lnTo>
                  <a:pt x="297746" y="49728"/>
                </a:lnTo>
                <a:cubicBezTo>
                  <a:pt x="305524" y="48131"/>
                  <a:pt x="311150" y="41255"/>
                  <a:pt x="311150" y="33337"/>
                </a:cubicBezTo>
                <a:cubicBezTo>
                  <a:pt x="311150" y="25420"/>
                  <a:pt x="305524" y="18544"/>
                  <a:pt x="297746" y="17016"/>
                </a:cubicBezTo>
                <a:lnTo>
                  <a:pt x="167590" y="-9029"/>
                </a:lnTo>
                <a:close/>
                <a:moveTo>
                  <a:pt x="155575" y="155575"/>
                </a:moveTo>
                <a:cubicBezTo>
                  <a:pt x="124877" y="155575"/>
                  <a:pt x="100013" y="130711"/>
                  <a:pt x="100013" y="100013"/>
                </a:cubicBezTo>
                <a:lnTo>
                  <a:pt x="211138" y="100013"/>
                </a:lnTo>
                <a:cubicBezTo>
                  <a:pt x="211138" y="130711"/>
                  <a:pt x="186273" y="155575"/>
                  <a:pt x="155575" y="155575"/>
                </a:cubicBezTo>
                <a:close/>
                <a:moveTo>
                  <a:pt x="83413" y="222319"/>
                </a:moveTo>
                <a:cubicBezTo>
                  <a:pt x="40769" y="241905"/>
                  <a:pt x="11112" y="284966"/>
                  <a:pt x="11112" y="334972"/>
                </a:cubicBezTo>
                <a:cubicBezTo>
                  <a:pt x="11112" y="346363"/>
                  <a:pt x="20350" y="355600"/>
                  <a:pt x="31740" y="355600"/>
                </a:cubicBezTo>
                <a:lnTo>
                  <a:pt x="138906" y="355600"/>
                </a:lnTo>
                <a:lnTo>
                  <a:pt x="138906" y="254198"/>
                </a:lnTo>
                <a:lnTo>
                  <a:pt x="99040" y="224334"/>
                </a:lnTo>
                <a:cubicBezTo>
                  <a:pt x="94526" y="220930"/>
                  <a:pt x="88483" y="220028"/>
                  <a:pt x="83344" y="222389"/>
                </a:cubicBezTo>
                <a:close/>
                <a:moveTo>
                  <a:pt x="172244" y="355600"/>
                </a:moveTo>
                <a:lnTo>
                  <a:pt x="279410" y="355600"/>
                </a:lnTo>
                <a:cubicBezTo>
                  <a:pt x="290800" y="355600"/>
                  <a:pt x="300038" y="346363"/>
                  <a:pt x="300038" y="334972"/>
                </a:cubicBezTo>
                <a:cubicBezTo>
                  <a:pt x="300038" y="284966"/>
                  <a:pt x="270381" y="241905"/>
                  <a:pt x="227737" y="222389"/>
                </a:cubicBezTo>
                <a:cubicBezTo>
                  <a:pt x="222597" y="220028"/>
                  <a:pt x="216555" y="220930"/>
                  <a:pt x="212040" y="224334"/>
                </a:cubicBezTo>
                <a:lnTo>
                  <a:pt x="172174" y="254198"/>
                </a:lnTo>
                <a:lnTo>
                  <a:pt x="172174" y="355600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7" name="Text 5"/>
          <p:cNvSpPr/>
          <p:nvPr/>
        </p:nvSpPr>
        <p:spPr>
          <a:xfrm>
            <a:off x="1498600" y="20320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Students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Personal info, enrollment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318000" y="1905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9" name="Shape 7"/>
          <p:cNvSpPr/>
          <p:nvPr/>
        </p:nvSpPr>
        <p:spPr>
          <a:xfrm>
            <a:off x="4527550" y="21590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66675"/>
                </a:moveTo>
                <a:cubicBezTo>
                  <a:pt x="88900" y="42158"/>
                  <a:pt x="108833" y="22225"/>
                  <a:pt x="133350" y="22225"/>
                </a:cubicBezTo>
                <a:lnTo>
                  <a:pt x="377825" y="22225"/>
                </a:lnTo>
                <a:cubicBezTo>
                  <a:pt x="402342" y="22225"/>
                  <a:pt x="422275" y="42158"/>
                  <a:pt x="422275" y="66675"/>
                </a:cubicBezTo>
                <a:lnTo>
                  <a:pt x="422275" y="233363"/>
                </a:lnTo>
                <a:lnTo>
                  <a:pt x="355600" y="233363"/>
                </a:lnTo>
                <a:lnTo>
                  <a:pt x="355600" y="222250"/>
                </a:lnTo>
                <a:cubicBezTo>
                  <a:pt x="355600" y="209957"/>
                  <a:pt x="345668" y="200025"/>
                  <a:pt x="333375" y="200025"/>
                </a:cubicBezTo>
                <a:lnTo>
                  <a:pt x="288925" y="200025"/>
                </a:lnTo>
                <a:cubicBezTo>
                  <a:pt x="276632" y="200025"/>
                  <a:pt x="266700" y="209957"/>
                  <a:pt x="266700" y="222250"/>
                </a:cubicBezTo>
                <a:lnTo>
                  <a:pt x="266700" y="233363"/>
                </a:lnTo>
                <a:lnTo>
                  <a:pt x="177036" y="233363"/>
                </a:lnTo>
                <a:cubicBezTo>
                  <a:pt x="184606" y="220305"/>
                  <a:pt x="188913" y="205095"/>
                  <a:pt x="188913" y="188913"/>
                </a:cubicBezTo>
                <a:cubicBezTo>
                  <a:pt x="188913" y="139809"/>
                  <a:pt x="149116" y="100013"/>
                  <a:pt x="100013" y="100013"/>
                </a:cubicBezTo>
                <a:cubicBezTo>
                  <a:pt x="96262" y="100013"/>
                  <a:pt x="92512" y="100221"/>
                  <a:pt x="88900" y="100707"/>
                </a:cubicBezTo>
                <a:lnTo>
                  <a:pt x="88900" y="66675"/>
                </a:lnTo>
                <a:close/>
                <a:moveTo>
                  <a:pt x="231279" y="311150"/>
                </a:moveTo>
                <a:cubicBezTo>
                  <a:pt x="227737" y="294342"/>
                  <a:pt x="219958" y="279132"/>
                  <a:pt x="208984" y="266700"/>
                </a:cubicBezTo>
                <a:lnTo>
                  <a:pt x="422275" y="266700"/>
                </a:lnTo>
                <a:cubicBezTo>
                  <a:pt x="422275" y="291217"/>
                  <a:pt x="402342" y="311150"/>
                  <a:pt x="377825" y="311150"/>
                </a:cubicBezTo>
                <a:lnTo>
                  <a:pt x="231279" y="311150"/>
                </a:lnTo>
                <a:close/>
                <a:moveTo>
                  <a:pt x="44450" y="188913"/>
                </a:moveTo>
                <a:cubicBezTo>
                  <a:pt x="44450" y="158247"/>
                  <a:pt x="69347" y="133350"/>
                  <a:pt x="100012" y="133350"/>
                </a:cubicBezTo>
                <a:cubicBezTo>
                  <a:pt x="130678" y="133350"/>
                  <a:pt x="155575" y="158247"/>
                  <a:pt x="155575" y="188913"/>
                </a:cubicBezTo>
                <a:cubicBezTo>
                  <a:pt x="155575" y="219578"/>
                  <a:pt x="130678" y="244475"/>
                  <a:pt x="100013" y="244475"/>
                </a:cubicBezTo>
                <a:cubicBezTo>
                  <a:pt x="69347" y="244475"/>
                  <a:pt x="44450" y="219578"/>
                  <a:pt x="44450" y="188913"/>
                </a:cubicBezTo>
                <a:close/>
                <a:moveTo>
                  <a:pt x="0" y="333375"/>
                </a:moveTo>
                <a:cubicBezTo>
                  <a:pt x="0" y="296565"/>
                  <a:pt x="29865" y="266700"/>
                  <a:pt x="66675" y="266700"/>
                </a:cubicBezTo>
                <a:lnTo>
                  <a:pt x="133350" y="266700"/>
                </a:lnTo>
                <a:cubicBezTo>
                  <a:pt x="170160" y="266700"/>
                  <a:pt x="200025" y="296565"/>
                  <a:pt x="200025" y="333375"/>
                </a:cubicBezTo>
                <a:cubicBezTo>
                  <a:pt x="200025" y="345668"/>
                  <a:pt x="190093" y="355600"/>
                  <a:pt x="177800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54600" y="20320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Teachers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Faculty, department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874000" y="1905000"/>
            <a:ext cx="3302000" cy="1270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12" name="Shape 10"/>
          <p:cNvSpPr/>
          <p:nvPr/>
        </p:nvSpPr>
        <p:spPr>
          <a:xfrm>
            <a:off x="8150225" y="2159000"/>
            <a:ext cx="311150" cy="355600"/>
          </a:xfrm>
          <a:custGeom>
            <a:avLst/>
            <a:gdLst/>
            <a:ahLst/>
            <a:cxnLst/>
            <a:rect l="l" t="t" r="r" b="b"/>
            <a:pathLst>
              <a:path w="311150" h="355600">
                <a:moveTo>
                  <a:pt x="266700" y="355600"/>
                </a:moveTo>
                <a:lnTo>
                  <a:pt x="66675" y="355600"/>
                </a:lnTo>
                <a:cubicBezTo>
                  <a:pt x="29865" y="355600"/>
                  <a:pt x="0" y="325735"/>
                  <a:pt x="0" y="288925"/>
                </a:cubicBezTo>
                <a:lnTo>
                  <a:pt x="0" y="66675"/>
                </a:lnTo>
                <a:cubicBezTo>
                  <a:pt x="0" y="29865"/>
                  <a:pt x="29865" y="0"/>
                  <a:pt x="66675" y="0"/>
                </a:cubicBezTo>
                <a:lnTo>
                  <a:pt x="277813" y="0"/>
                </a:lnTo>
                <a:cubicBezTo>
                  <a:pt x="296218" y="0"/>
                  <a:pt x="311150" y="14932"/>
                  <a:pt x="311150" y="33337"/>
                </a:cubicBezTo>
                <a:lnTo>
                  <a:pt x="311150" y="233363"/>
                </a:lnTo>
                <a:cubicBezTo>
                  <a:pt x="311150" y="247878"/>
                  <a:pt x="301843" y="260241"/>
                  <a:pt x="288925" y="264825"/>
                </a:cubicBezTo>
                <a:lnTo>
                  <a:pt x="288925" y="311150"/>
                </a:lnTo>
                <a:cubicBezTo>
                  <a:pt x="301218" y="311150"/>
                  <a:pt x="311150" y="321082"/>
                  <a:pt x="311150" y="333375"/>
                </a:cubicBezTo>
                <a:cubicBezTo>
                  <a:pt x="311150" y="345668"/>
                  <a:pt x="301218" y="355600"/>
                  <a:pt x="288925" y="355600"/>
                </a:cubicBezTo>
                <a:lnTo>
                  <a:pt x="266700" y="355600"/>
                </a:lnTo>
                <a:close/>
                <a:moveTo>
                  <a:pt x="66675" y="266700"/>
                </a:moveTo>
                <a:cubicBezTo>
                  <a:pt x="54382" y="266700"/>
                  <a:pt x="44450" y="276632"/>
                  <a:pt x="44450" y="288925"/>
                </a:cubicBezTo>
                <a:cubicBezTo>
                  <a:pt x="44450" y="301218"/>
                  <a:pt x="54382" y="311150"/>
                  <a:pt x="66675" y="311150"/>
                </a:cubicBezTo>
                <a:lnTo>
                  <a:pt x="244475" y="311150"/>
                </a:lnTo>
                <a:lnTo>
                  <a:pt x="244475" y="266700"/>
                </a:lnTo>
                <a:lnTo>
                  <a:pt x="66675" y="266700"/>
                </a:lnTo>
                <a:close/>
                <a:moveTo>
                  <a:pt x="88900" y="105569"/>
                </a:moveTo>
                <a:cubicBezTo>
                  <a:pt x="88900" y="114806"/>
                  <a:pt x="96331" y="122238"/>
                  <a:pt x="105569" y="122238"/>
                </a:cubicBezTo>
                <a:lnTo>
                  <a:pt x="227806" y="122238"/>
                </a:lnTo>
                <a:cubicBezTo>
                  <a:pt x="237044" y="122238"/>
                  <a:pt x="244475" y="114806"/>
                  <a:pt x="244475" y="105569"/>
                </a:cubicBezTo>
                <a:cubicBezTo>
                  <a:pt x="244475" y="96331"/>
                  <a:pt x="237044" y="88900"/>
                  <a:pt x="227806" y="88900"/>
                </a:cubicBezTo>
                <a:lnTo>
                  <a:pt x="105569" y="88900"/>
                </a:lnTo>
                <a:cubicBezTo>
                  <a:pt x="96331" y="88900"/>
                  <a:pt x="88900" y="96331"/>
                  <a:pt x="88900" y="105569"/>
                </a:cubicBezTo>
                <a:close/>
                <a:moveTo>
                  <a:pt x="105569" y="155575"/>
                </a:moveTo>
                <a:cubicBezTo>
                  <a:pt x="96331" y="155575"/>
                  <a:pt x="88900" y="163006"/>
                  <a:pt x="88900" y="172244"/>
                </a:cubicBezTo>
                <a:cubicBezTo>
                  <a:pt x="88900" y="181481"/>
                  <a:pt x="96331" y="188913"/>
                  <a:pt x="105569" y="188913"/>
                </a:cubicBezTo>
                <a:lnTo>
                  <a:pt x="227806" y="188913"/>
                </a:lnTo>
                <a:cubicBezTo>
                  <a:pt x="237044" y="188913"/>
                  <a:pt x="244475" y="181481"/>
                  <a:pt x="244475" y="172244"/>
                </a:cubicBezTo>
                <a:cubicBezTo>
                  <a:pt x="244475" y="163006"/>
                  <a:pt x="237044" y="155575"/>
                  <a:pt x="227806" y="155575"/>
                </a:cubicBezTo>
                <a:lnTo>
                  <a:pt x="105569" y="155575"/>
                </a:ln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8610600" y="2032000"/>
            <a:ext cx="234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Courses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Syllabus, credits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1430000" y="1905000"/>
            <a:ext cx="4064000" cy="1270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15" name="Shape 13"/>
          <p:cNvSpPr/>
          <p:nvPr/>
        </p:nvSpPr>
        <p:spPr>
          <a:xfrm>
            <a:off x="11728450" y="2159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44450" y="0"/>
                </a:moveTo>
                <a:cubicBezTo>
                  <a:pt x="19933" y="0"/>
                  <a:pt x="0" y="19933"/>
                  <a:pt x="0" y="44450"/>
                </a:cubicBezTo>
                <a:lnTo>
                  <a:pt x="0" y="311150"/>
                </a:lnTo>
                <a:cubicBezTo>
                  <a:pt x="0" y="335667"/>
                  <a:pt x="19933" y="355600"/>
                  <a:pt x="44450" y="355600"/>
                </a:cubicBezTo>
                <a:lnTo>
                  <a:pt x="222250" y="355600"/>
                </a:lnTo>
                <a:cubicBezTo>
                  <a:pt x="246767" y="355600"/>
                  <a:pt x="266700" y="335667"/>
                  <a:pt x="266700" y="311150"/>
                </a:cubicBezTo>
                <a:lnTo>
                  <a:pt x="266700" y="44450"/>
                </a:lnTo>
                <a:cubicBezTo>
                  <a:pt x="266700" y="19933"/>
                  <a:pt x="246767" y="0"/>
                  <a:pt x="222250" y="0"/>
                </a:cubicBezTo>
                <a:lnTo>
                  <a:pt x="44450" y="0"/>
                </a:lnTo>
                <a:close/>
                <a:moveTo>
                  <a:pt x="122238" y="244475"/>
                </a:moveTo>
                <a:lnTo>
                  <a:pt x="144463" y="244475"/>
                </a:lnTo>
                <a:cubicBezTo>
                  <a:pt x="156756" y="244475"/>
                  <a:pt x="166688" y="254407"/>
                  <a:pt x="166688" y="266700"/>
                </a:cubicBezTo>
                <a:lnTo>
                  <a:pt x="166688" y="322263"/>
                </a:lnTo>
                <a:lnTo>
                  <a:pt x="100013" y="322263"/>
                </a:lnTo>
                <a:lnTo>
                  <a:pt x="100013" y="266700"/>
                </a:lnTo>
                <a:cubicBezTo>
                  <a:pt x="100013" y="254407"/>
                  <a:pt x="109944" y="244475"/>
                  <a:pt x="122238" y="244475"/>
                </a:cubicBezTo>
                <a:close/>
                <a:moveTo>
                  <a:pt x="66675" y="77788"/>
                </a:moveTo>
                <a:cubicBezTo>
                  <a:pt x="66675" y="71676"/>
                  <a:pt x="71676" y="66675"/>
                  <a:pt x="77788" y="66675"/>
                </a:cubicBezTo>
                <a:lnTo>
                  <a:pt x="100013" y="66675"/>
                </a:lnTo>
                <a:cubicBezTo>
                  <a:pt x="106124" y="66675"/>
                  <a:pt x="111125" y="71676"/>
                  <a:pt x="111125" y="77788"/>
                </a:cubicBezTo>
                <a:lnTo>
                  <a:pt x="111125" y="100013"/>
                </a:lnTo>
                <a:cubicBezTo>
                  <a:pt x="111125" y="106124"/>
                  <a:pt x="106124" y="111125"/>
                  <a:pt x="100013" y="111125"/>
                </a:cubicBezTo>
                <a:lnTo>
                  <a:pt x="77788" y="111125"/>
                </a:lnTo>
                <a:cubicBezTo>
                  <a:pt x="71676" y="111125"/>
                  <a:pt x="66675" y="106124"/>
                  <a:pt x="66675" y="100013"/>
                </a:cubicBezTo>
                <a:lnTo>
                  <a:pt x="66675" y="77788"/>
                </a:lnTo>
                <a:close/>
                <a:moveTo>
                  <a:pt x="166688" y="66675"/>
                </a:moveTo>
                <a:lnTo>
                  <a:pt x="188913" y="66675"/>
                </a:lnTo>
                <a:cubicBezTo>
                  <a:pt x="195024" y="66675"/>
                  <a:pt x="200025" y="71676"/>
                  <a:pt x="200025" y="77788"/>
                </a:cubicBezTo>
                <a:lnTo>
                  <a:pt x="200025" y="100013"/>
                </a:lnTo>
                <a:cubicBezTo>
                  <a:pt x="200025" y="106124"/>
                  <a:pt x="195024" y="111125"/>
                  <a:pt x="188913" y="111125"/>
                </a:cubicBezTo>
                <a:lnTo>
                  <a:pt x="166688" y="111125"/>
                </a:lnTo>
                <a:cubicBezTo>
                  <a:pt x="160576" y="111125"/>
                  <a:pt x="155575" y="106124"/>
                  <a:pt x="155575" y="100013"/>
                </a:cubicBezTo>
                <a:lnTo>
                  <a:pt x="155575" y="77788"/>
                </a:lnTo>
                <a:cubicBezTo>
                  <a:pt x="155575" y="71676"/>
                  <a:pt x="160576" y="66675"/>
                  <a:pt x="166688" y="66675"/>
                </a:cubicBezTo>
                <a:close/>
                <a:moveTo>
                  <a:pt x="66675" y="166688"/>
                </a:moveTo>
                <a:cubicBezTo>
                  <a:pt x="66675" y="160576"/>
                  <a:pt x="71676" y="155575"/>
                  <a:pt x="77788" y="155575"/>
                </a:cubicBezTo>
                <a:lnTo>
                  <a:pt x="100013" y="155575"/>
                </a:lnTo>
                <a:cubicBezTo>
                  <a:pt x="106124" y="155575"/>
                  <a:pt x="111125" y="160576"/>
                  <a:pt x="111125" y="166688"/>
                </a:cubicBezTo>
                <a:lnTo>
                  <a:pt x="111125" y="188913"/>
                </a:lnTo>
                <a:cubicBezTo>
                  <a:pt x="111125" y="195024"/>
                  <a:pt x="106124" y="200025"/>
                  <a:pt x="100013" y="200025"/>
                </a:cubicBezTo>
                <a:lnTo>
                  <a:pt x="77788" y="200025"/>
                </a:lnTo>
                <a:cubicBezTo>
                  <a:pt x="71676" y="200025"/>
                  <a:pt x="66675" y="195024"/>
                  <a:pt x="66675" y="188913"/>
                </a:cubicBezTo>
                <a:lnTo>
                  <a:pt x="66675" y="166688"/>
                </a:lnTo>
                <a:close/>
                <a:moveTo>
                  <a:pt x="166688" y="155575"/>
                </a:moveTo>
                <a:lnTo>
                  <a:pt x="188913" y="155575"/>
                </a:lnTo>
                <a:cubicBezTo>
                  <a:pt x="195024" y="155575"/>
                  <a:pt x="200025" y="160576"/>
                  <a:pt x="200025" y="166688"/>
                </a:cubicBezTo>
                <a:lnTo>
                  <a:pt x="200025" y="188913"/>
                </a:lnTo>
                <a:cubicBezTo>
                  <a:pt x="200025" y="195024"/>
                  <a:pt x="195024" y="200025"/>
                  <a:pt x="188913" y="200025"/>
                </a:cubicBezTo>
                <a:lnTo>
                  <a:pt x="166688" y="200025"/>
                </a:lnTo>
                <a:cubicBezTo>
                  <a:pt x="160576" y="200025"/>
                  <a:pt x="155575" y="195024"/>
                  <a:pt x="155575" y="188913"/>
                </a:cubicBezTo>
                <a:lnTo>
                  <a:pt x="155575" y="166688"/>
                </a:lnTo>
                <a:cubicBezTo>
                  <a:pt x="155575" y="160576"/>
                  <a:pt x="160576" y="155575"/>
                  <a:pt x="166688" y="15557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6" name="Text 14"/>
          <p:cNvSpPr/>
          <p:nvPr/>
        </p:nvSpPr>
        <p:spPr>
          <a:xfrm>
            <a:off x="12166600" y="2032000"/>
            <a:ext cx="3111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Departments</a:t>
            </a: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3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Budget, location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2000" y="36195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Joins Help To: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62000" y="4127500"/>
            <a:ext cx="4572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9" name="Shape 17"/>
          <p:cNvSpPr/>
          <p:nvPr/>
        </p:nvSpPr>
        <p:spPr>
          <a:xfrm>
            <a:off x="1016000" y="45085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92928" y="25211"/>
                </a:moveTo>
                <a:cubicBezTo>
                  <a:pt x="100499" y="30490"/>
                  <a:pt x="102304" y="40908"/>
                  <a:pt x="97026" y="48409"/>
                </a:cubicBezTo>
                <a:lnTo>
                  <a:pt x="58132" y="103971"/>
                </a:lnTo>
                <a:cubicBezTo>
                  <a:pt x="55285" y="108000"/>
                  <a:pt x="50840" y="110569"/>
                  <a:pt x="45909" y="110986"/>
                </a:cubicBezTo>
                <a:cubicBezTo>
                  <a:pt x="40977" y="111403"/>
                  <a:pt x="36116" y="109736"/>
                  <a:pt x="32643" y="106263"/>
                </a:cubicBezTo>
                <a:lnTo>
                  <a:pt x="4862" y="78482"/>
                </a:lnTo>
                <a:cubicBezTo>
                  <a:pt x="-1597" y="71953"/>
                  <a:pt x="-1597" y="61397"/>
                  <a:pt x="4862" y="54868"/>
                </a:cubicBezTo>
                <a:cubicBezTo>
                  <a:pt x="11321" y="48339"/>
                  <a:pt x="21947" y="48409"/>
                  <a:pt x="28476" y="54868"/>
                </a:cubicBezTo>
                <a:lnTo>
                  <a:pt x="42228" y="68620"/>
                </a:lnTo>
                <a:lnTo>
                  <a:pt x="69731" y="29309"/>
                </a:lnTo>
                <a:cubicBezTo>
                  <a:pt x="75009" y="21739"/>
                  <a:pt x="85427" y="19933"/>
                  <a:pt x="92928" y="25211"/>
                </a:cubicBezTo>
                <a:close/>
                <a:moveTo>
                  <a:pt x="92928" y="136336"/>
                </a:moveTo>
                <a:cubicBezTo>
                  <a:pt x="100499" y="141615"/>
                  <a:pt x="102304" y="152033"/>
                  <a:pt x="97026" y="159534"/>
                </a:cubicBezTo>
                <a:lnTo>
                  <a:pt x="58132" y="215096"/>
                </a:lnTo>
                <a:cubicBezTo>
                  <a:pt x="55285" y="219125"/>
                  <a:pt x="50840" y="221694"/>
                  <a:pt x="45909" y="222111"/>
                </a:cubicBezTo>
                <a:cubicBezTo>
                  <a:pt x="40977" y="222528"/>
                  <a:pt x="36116" y="220861"/>
                  <a:pt x="32643" y="217388"/>
                </a:cubicBezTo>
                <a:lnTo>
                  <a:pt x="4862" y="189607"/>
                </a:lnTo>
                <a:cubicBezTo>
                  <a:pt x="-1667" y="183078"/>
                  <a:pt x="-1667" y="172522"/>
                  <a:pt x="4862" y="166062"/>
                </a:cubicBezTo>
                <a:cubicBezTo>
                  <a:pt x="11390" y="159603"/>
                  <a:pt x="21947" y="159534"/>
                  <a:pt x="28406" y="166062"/>
                </a:cubicBezTo>
                <a:lnTo>
                  <a:pt x="42158" y="179814"/>
                </a:lnTo>
                <a:lnTo>
                  <a:pt x="69661" y="140504"/>
                </a:lnTo>
                <a:cubicBezTo>
                  <a:pt x="74940" y="132933"/>
                  <a:pt x="85358" y="131128"/>
                  <a:pt x="92859" y="136406"/>
                </a:cubicBezTo>
                <a:close/>
                <a:moveTo>
                  <a:pt x="155575" y="66675"/>
                </a:moveTo>
                <a:cubicBezTo>
                  <a:pt x="155575" y="54382"/>
                  <a:pt x="165507" y="44450"/>
                  <a:pt x="177800" y="44450"/>
                </a:cubicBezTo>
                <a:lnTo>
                  <a:pt x="333375" y="44450"/>
                </a:lnTo>
                <a:cubicBezTo>
                  <a:pt x="345668" y="44450"/>
                  <a:pt x="355600" y="54382"/>
                  <a:pt x="355600" y="66675"/>
                </a:cubicBezTo>
                <a:cubicBezTo>
                  <a:pt x="355600" y="78968"/>
                  <a:pt x="345668" y="88900"/>
                  <a:pt x="333375" y="88900"/>
                </a:cubicBezTo>
                <a:lnTo>
                  <a:pt x="177800" y="88900"/>
                </a:lnTo>
                <a:cubicBezTo>
                  <a:pt x="165507" y="88900"/>
                  <a:pt x="155575" y="78968"/>
                  <a:pt x="155575" y="66675"/>
                </a:cubicBezTo>
                <a:close/>
                <a:moveTo>
                  <a:pt x="155575" y="177800"/>
                </a:moveTo>
                <a:cubicBezTo>
                  <a:pt x="155575" y="165507"/>
                  <a:pt x="165507" y="155575"/>
                  <a:pt x="177800" y="155575"/>
                </a:cubicBezTo>
                <a:lnTo>
                  <a:pt x="333375" y="155575"/>
                </a:lnTo>
                <a:cubicBezTo>
                  <a:pt x="345668" y="155575"/>
                  <a:pt x="355600" y="165507"/>
                  <a:pt x="355600" y="177800"/>
                </a:cubicBezTo>
                <a:cubicBezTo>
                  <a:pt x="355600" y="190093"/>
                  <a:pt x="345668" y="200025"/>
                  <a:pt x="333375" y="200025"/>
                </a:cubicBezTo>
                <a:lnTo>
                  <a:pt x="177800" y="200025"/>
                </a:lnTo>
                <a:cubicBezTo>
                  <a:pt x="165507" y="200025"/>
                  <a:pt x="155575" y="190093"/>
                  <a:pt x="155575" y="177800"/>
                </a:cubicBezTo>
                <a:close/>
                <a:moveTo>
                  <a:pt x="111125" y="288925"/>
                </a:moveTo>
                <a:cubicBezTo>
                  <a:pt x="111125" y="276632"/>
                  <a:pt x="121057" y="266700"/>
                  <a:pt x="133350" y="266700"/>
                </a:cubicBezTo>
                <a:lnTo>
                  <a:pt x="333375" y="266700"/>
                </a:lnTo>
                <a:cubicBezTo>
                  <a:pt x="345668" y="266700"/>
                  <a:pt x="355600" y="276632"/>
                  <a:pt x="355600" y="288925"/>
                </a:cubicBezTo>
                <a:cubicBezTo>
                  <a:pt x="355600" y="301218"/>
                  <a:pt x="345668" y="311150"/>
                  <a:pt x="333375" y="311150"/>
                </a:cubicBezTo>
                <a:lnTo>
                  <a:pt x="133350" y="311150"/>
                </a:lnTo>
                <a:cubicBezTo>
                  <a:pt x="121057" y="311150"/>
                  <a:pt x="111125" y="301218"/>
                  <a:pt x="111125" y="288925"/>
                </a:cubicBezTo>
                <a:close/>
                <a:moveTo>
                  <a:pt x="44450" y="261144"/>
                </a:moveTo>
                <a:cubicBezTo>
                  <a:pt x="59783" y="261144"/>
                  <a:pt x="72231" y="273592"/>
                  <a:pt x="72231" y="288925"/>
                </a:cubicBezTo>
                <a:cubicBezTo>
                  <a:pt x="72231" y="304258"/>
                  <a:pt x="59783" y="316706"/>
                  <a:pt x="44450" y="316706"/>
                </a:cubicBezTo>
                <a:cubicBezTo>
                  <a:pt x="29117" y="316706"/>
                  <a:pt x="16669" y="304258"/>
                  <a:pt x="16669" y="288925"/>
                </a:cubicBezTo>
                <a:cubicBezTo>
                  <a:pt x="16669" y="273592"/>
                  <a:pt x="29117" y="261144"/>
                  <a:pt x="44450" y="261144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0" name="Text 18"/>
          <p:cNvSpPr/>
          <p:nvPr/>
        </p:nvSpPr>
        <p:spPr>
          <a:xfrm>
            <a:off x="1498600" y="43815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student course details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Which student takes which course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88000" y="4127500"/>
            <a:ext cx="4572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797550" y="4508500"/>
            <a:ext cx="444500" cy="355600"/>
          </a:xfrm>
          <a:custGeom>
            <a:avLst/>
            <a:gdLst/>
            <a:ahLst/>
            <a:cxnLst/>
            <a:rect l="l" t="t" r="r" b="b"/>
            <a:pathLst>
              <a:path w="444500" h="355600">
                <a:moveTo>
                  <a:pt x="88900" y="66675"/>
                </a:moveTo>
                <a:cubicBezTo>
                  <a:pt x="88900" y="42158"/>
                  <a:pt x="108833" y="22225"/>
                  <a:pt x="133350" y="22225"/>
                </a:cubicBezTo>
                <a:lnTo>
                  <a:pt x="377825" y="22225"/>
                </a:lnTo>
                <a:cubicBezTo>
                  <a:pt x="402342" y="22225"/>
                  <a:pt x="422275" y="42158"/>
                  <a:pt x="422275" y="66675"/>
                </a:cubicBezTo>
                <a:lnTo>
                  <a:pt x="422275" y="233363"/>
                </a:lnTo>
                <a:lnTo>
                  <a:pt x="355600" y="233363"/>
                </a:lnTo>
                <a:lnTo>
                  <a:pt x="355600" y="222250"/>
                </a:lnTo>
                <a:cubicBezTo>
                  <a:pt x="355600" y="209957"/>
                  <a:pt x="345668" y="200025"/>
                  <a:pt x="333375" y="200025"/>
                </a:cubicBezTo>
                <a:lnTo>
                  <a:pt x="288925" y="200025"/>
                </a:lnTo>
                <a:cubicBezTo>
                  <a:pt x="276632" y="200025"/>
                  <a:pt x="266700" y="209957"/>
                  <a:pt x="266700" y="222250"/>
                </a:cubicBezTo>
                <a:lnTo>
                  <a:pt x="266700" y="233363"/>
                </a:lnTo>
                <a:lnTo>
                  <a:pt x="177036" y="233363"/>
                </a:lnTo>
                <a:cubicBezTo>
                  <a:pt x="184606" y="220305"/>
                  <a:pt x="188913" y="205095"/>
                  <a:pt x="188913" y="188913"/>
                </a:cubicBezTo>
                <a:cubicBezTo>
                  <a:pt x="188913" y="139809"/>
                  <a:pt x="149116" y="100013"/>
                  <a:pt x="100013" y="100013"/>
                </a:cubicBezTo>
                <a:cubicBezTo>
                  <a:pt x="96262" y="100013"/>
                  <a:pt x="92512" y="100221"/>
                  <a:pt x="88900" y="100707"/>
                </a:cubicBezTo>
                <a:lnTo>
                  <a:pt x="88900" y="66675"/>
                </a:lnTo>
                <a:close/>
                <a:moveTo>
                  <a:pt x="231279" y="311150"/>
                </a:moveTo>
                <a:cubicBezTo>
                  <a:pt x="227737" y="294342"/>
                  <a:pt x="219958" y="279132"/>
                  <a:pt x="208984" y="266700"/>
                </a:cubicBezTo>
                <a:lnTo>
                  <a:pt x="422275" y="266700"/>
                </a:lnTo>
                <a:cubicBezTo>
                  <a:pt x="422275" y="291217"/>
                  <a:pt x="402342" y="311150"/>
                  <a:pt x="377825" y="311150"/>
                </a:cubicBezTo>
                <a:lnTo>
                  <a:pt x="231279" y="311150"/>
                </a:lnTo>
                <a:close/>
                <a:moveTo>
                  <a:pt x="44450" y="188913"/>
                </a:moveTo>
                <a:cubicBezTo>
                  <a:pt x="44450" y="158247"/>
                  <a:pt x="69347" y="133350"/>
                  <a:pt x="100012" y="133350"/>
                </a:cubicBezTo>
                <a:cubicBezTo>
                  <a:pt x="130678" y="133350"/>
                  <a:pt x="155575" y="158247"/>
                  <a:pt x="155575" y="188913"/>
                </a:cubicBezTo>
                <a:cubicBezTo>
                  <a:pt x="155575" y="219578"/>
                  <a:pt x="130678" y="244475"/>
                  <a:pt x="100013" y="244475"/>
                </a:cubicBezTo>
                <a:cubicBezTo>
                  <a:pt x="69347" y="244475"/>
                  <a:pt x="44450" y="219578"/>
                  <a:pt x="44450" y="188913"/>
                </a:cubicBezTo>
                <a:close/>
                <a:moveTo>
                  <a:pt x="0" y="333375"/>
                </a:moveTo>
                <a:cubicBezTo>
                  <a:pt x="0" y="296565"/>
                  <a:pt x="29865" y="266700"/>
                  <a:pt x="66675" y="266700"/>
                </a:cubicBezTo>
                <a:lnTo>
                  <a:pt x="133350" y="266700"/>
                </a:lnTo>
                <a:cubicBezTo>
                  <a:pt x="170160" y="266700"/>
                  <a:pt x="200025" y="296565"/>
                  <a:pt x="200025" y="333375"/>
                </a:cubicBezTo>
                <a:cubicBezTo>
                  <a:pt x="200025" y="345668"/>
                  <a:pt x="190093" y="355600"/>
                  <a:pt x="177800" y="355600"/>
                </a:cubicBezTo>
                <a:lnTo>
                  <a:pt x="22225" y="355600"/>
                </a:lnTo>
                <a:cubicBezTo>
                  <a:pt x="9932" y="355600"/>
                  <a:pt x="0" y="345668"/>
                  <a:pt x="0" y="333375"/>
                </a:cubicBez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6324600" y="4381500"/>
            <a:ext cx="3619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Show teacher assignments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Which teacher teaches which course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0414000" y="4127500"/>
            <a:ext cx="5080000" cy="1397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5" name="Shape 23"/>
          <p:cNvSpPr/>
          <p:nvPr/>
        </p:nvSpPr>
        <p:spPr>
          <a:xfrm>
            <a:off x="10712450" y="45085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0" y="44450"/>
                </a:moveTo>
                <a:cubicBezTo>
                  <a:pt x="0" y="19933"/>
                  <a:pt x="19933" y="0"/>
                  <a:pt x="44450" y="0"/>
                </a:cubicBezTo>
                <a:lnTo>
                  <a:pt x="148282" y="0"/>
                </a:lnTo>
                <a:cubicBezTo>
                  <a:pt x="160089" y="0"/>
                  <a:pt x="171410" y="4653"/>
                  <a:pt x="179745" y="12988"/>
                </a:cubicBezTo>
                <a:lnTo>
                  <a:pt x="253712" y="87025"/>
                </a:lnTo>
                <a:cubicBezTo>
                  <a:pt x="262047" y="95359"/>
                  <a:pt x="266700" y="106680"/>
                  <a:pt x="266700" y="118487"/>
                </a:cubicBezTo>
                <a:lnTo>
                  <a:pt x="266700" y="311150"/>
                </a:lnTo>
                <a:cubicBezTo>
                  <a:pt x="266700" y="335667"/>
                  <a:pt x="246767" y="355600"/>
                  <a:pt x="222250" y="355600"/>
                </a:cubicBezTo>
                <a:lnTo>
                  <a:pt x="44450" y="355600"/>
                </a:lnTo>
                <a:cubicBezTo>
                  <a:pt x="19933" y="355600"/>
                  <a:pt x="0" y="335667"/>
                  <a:pt x="0" y="311150"/>
                </a:cubicBezTo>
                <a:lnTo>
                  <a:pt x="0" y="44450"/>
                </a:lnTo>
                <a:close/>
                <a:moveTo>
                  <a:pt x="144463" y="40630"/>
                </a:moveTo>
                <a:lnTo>
                  <a:pt x="144463" y="105569"/>
                </a:lnTo>
                <a:cubicBezTo>
                  <a:pt x="144463" y="114806"/>
                  <a:pt x="151894" y="122238"/>
                  <a:pt x="161131" y="122238"/>
                </a:cubicBezTo>
                <a:lnTo>
                  <a:pt x="226070" y="122238"/>
                </a:lnTo>
                <a:lnTo>
                  <a:pt x="144463" y="40630"/>
                </a:lnTo>
                <a:close/>
                <a:moveTo>
                  <a:pt x="83344" y="177800"/>
                </a:moveTo>
                <a:cubicBezTo>
                  <a:pt x="74106" y="177800"/>
                  <a:pt x="66675" y="185231"/>
                  <a:pt x="66675" y="194469"/>
                </a:cubicBezTo>
                <a:cubicBezTo>
                  <a:pt x="66675" y="203706"/>
                  <a:pt x="74106" y="211138"/>
                  <a:pt x="83344" y="211138"/>
                </a:cubicBezTo>
                <a:lnTo>
                  <a:pt x="183356" y="211138"/>
                </a:lnTo>
                <a:cubicBezTo>
                  <a:pt x="192594" y="211138"/>
                  <a:pt x="200025" y="203706"/>
                  <a:pt x="200025" y="194469"/>
                </a:cubicBezTo>
                <a:cubicBezTo>
                  <a:pt x="200025" y="185231"/>
                  <a:pt x="192594" y="177800"/>
                  <a:pt x="183356" y="177800"/>
                </a:cubicBezTo>
                <a:lnTo>
                  <a:pt x="83344" y="177800"/>
                </a:lnTo>
                <a:close/>
                <a:moveTo>
                  <a:pt x="83344" y="244475"/>
                </a:moveTo>
                <a:cubicBezTo>
                  <a:pt x="74106" y="244475"/>
                  <a:pt x="66675" y="251906"/>
                  <a:pt x="66675" y="261144"/>
                </a:cubicBezTo>
                <a:cubicBezTo>
                  <a:pt x="66675" y="270381"/>
                  <a:pt x="74106" y="277813"/>
                  <a:pt x="83344" y="277813"/>
                </a:cubicBezTo>
                <a:lnTo>
                  <a:pt x="183356" y="277813"/>
                </a:lnTo>
                <a:cubicBezTo>
                  <a:pt x="192594" y="277813"/>
                  <a:pt x="200025" y="270381"/>
                  <a:pt x="200025" y="261144"/>
                </a:cubicBezTo>
                <a:cubicBezTo>
                  <a:pt x="200025" y="251906"/>
                  <a:pt x="192594" y="244475"/>
                  <a:pt x="183356" y="244475"/>
                </a:cubicBezTo>
                <a:lnTo>
                  <a:pt x="83344" y="244475"/>
                </a:lnTo>
                <a:close/>
              </a:path>
            </a:pathLst>
          </a:custGeom>
          <a:solidFill>
            <a:srgbClr val="1B4D4D"/>
          </a:solidFill>
          <a:ln/>
        </p:spPr>
      </p:sp>
      <p:sp>
        <p:nvSpPr>
          <p:cNvPr id="26" name="Text 24"/>
          <p:cNvSpPr/>
          <p:nvPr/>
        </p:nvSpPr>
        <p:spPr>
          <a:xfrm>
            <a:off x="11150600" y="4381500"/>
            <a:ext cx="41275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Generate result cards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Student grades with course info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762000" y="5969000"/>
            <a:ext cx="508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spc="100" kern="0" dirty="0">
                <a:solidFill>
                  <a:srgbClr val="6B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DATABASE RELATIONSHIP DIAGRAM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1270000" y="6477000"/>
            <a:ext cx="2286000" cy="762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29" name="Text 27"/>
          <p:cNvSpPr/>
          <p:nvPr/>
        </p:nvSpPr>
        <p:spPr>
          <a:xfrm>
            <a:off x="1270000" y="6477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3683000" y="6794500"/>
            <a:ext cx="1016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31" name="Shape 29"/>
          <p:cNvSpPr/>
          <p:nvPr/>
        </p:nvSpPr>
        <p:spPr>
          <a:xfrm>
            <a:off x="4826000" y="6477000"/>
            <a:ext cx="2286000" cy="762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32" name="Text 30"/>
          <p:cNvSpPr/>
          <p:nvPr/>
        </p:nvSpPr>
        <p:spPr>
          <a:xfrm>
            <a:off x="4826000" y="6477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Courses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7239000" y="6794500"/>
            <a:ext cx="1016000" cy="0"/>
          </a:xfrm>
          <a:prstGeom prst="straightConnector1">
            <a:avLst/>
          </a:prstGeom>
          <a:noFill/>
          <a:ln w="25400">
            <a:solidFill>
              <a:srgbClr val="C97B3A"/>
            </a:solidFill>
            <a:prstDash val="solid"/>
            <a:headEnd type="none"/>
            <a:tailEnd type="arrow"/>
          </a:ln>
        </p:spPr>
      </p:sp>
      <p:sp>
        <p:nvSpPr>
          <p:cNvPr id="34" name="Shape 32"/>
          <p:cNvSpPr/>
          <p:nvPr/>
        </p:nvSpPr>
        <p:spPr>
          <a:xfrm>
            <a:off x="8382000" y="6477000"/>
            <a:ext cx="2286000" cy="762000"/>
          </a:xfrm>
          <a:prstGeom prst="roundRect">
            <a:avLst>
              <a:gd name="adj" fmla="val 8000"/>
            </a:avLst>
          </a:prstGeom>
          <a:solidFill>
            <a:srgbClr val="6B8F8F"/>
          </a:solidFill>
          <a:ln/>
        </p:spPr>
      </p:sp>
      <p:sp>
        <p:nvSpPr>
          <p:cNvPr id="35" name="Text 33"/>
          <p:cNvSpPr/>
          <p:nvPr/>
        </p:nvSpPr>
        <p:spPr>
          <a:xfrm>
            <a:off x="8382000" y="6477000"/>
            <a:ext cx="2286000" cy="762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Teachers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 flipV="1">
            <a:off x="6604000" y="7239000"/>
            <a:ext cx="0" cy="381000"/>
          </a:xfrm>
          <a:prstGeom prst="straightConnector1">
            <a:avLst/>
          </a:prstGeom>
          <a:noFill/>
          <a:ln w="25400">
            <a:solidFill>
              <a:srgbClr val="6B8F8F"/>
            </a:solidFill>
            <a:prstDash val="sysDot"/>
            <a:headEnd type="none"/>
            <a:tailEnd type="arrow"/>
          </a:ln>
        </p:spPr>
      </p:sp>
      <p:sp>
        <p:nvSpPr>
          <p:cNvPr id="37" name="Shape 35"/>
          <p:cNvSpPr/>
          <p:nvPr/>
        </p:nvSpPr>
        <p:spPr>
          <a:xfrm>
            <a:off x="5969000" y="7620000"/>
            <a:ext cx="2286000" cy="635000"/>
          </a:xfrm>
          <a:prstGeom prst="roundRect">
            <a:avLst>
              <a:gd name="adj" fmla="val 8000"/>
            </a:avLst>
          </a:prstGeom>
          <a:solidFill>
            <a:srgbClr val="1B4D4D"/>
          </a:solidFill>
          <a:ln/>
        </p:spPr>
      </p:sp>
      <p:sp>
        <p:nvSpPr>
          <p:cNvPr id="38" name="Text 36"/>
          <p:cNvSpPr/>
          <p:nvPr/>
        </p:nvSpPr>
        <p:spPr>
          <a:xfrm>
            <a:off x="5969000" y="7620000"/>
            <a:ext cx="2286000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Departments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762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Best Practices for Joins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62000" y="1333500"/>
            <a:ext cx="254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Tips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2000" y="1841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6" name="Shape 4"/>
          <p:cNvSpPr/>
          <p:nvPr/>
        </p:nvSpPr>
        <p:spPr>
          <a:xfrm>
            <a:off x="952500" y="20320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7" name="Text 5"/>
          <p:cNvSpPr/>
          <p:nvPr/>
        </p:nvSpPr>
        <p:spPr>
          <a:xfrm>
            <a:off x="952500" y="2032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98600" y="1968500"/>
            <a:ext cx="361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meaningful table names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Clear names improve readability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588000" y="1841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5778500" y="20320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5778500" y="2032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24600" y="1968500"/>
            <a:ext cx="361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primary keys correctly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Ensure unique identifiers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414000" y="1841500"/>
            <a:ext cx="5080000" cy="127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4" name="Shape 12"/>
          <p:cNvSpPr/>
          <p:nvPr/>
        </p:nvSpPr>
        <p:spPr>
          <a:xfrm>
            <a:off x="10604500" y="20320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5" name="Text 13"/>
          <p:cNvSpPr/>
          <p:nvPr/>
        </p:nvSpPr>
        <p:spPr>
          <a:xfrm>
            <a:off x="10604500" y="2032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150600" y="1968500"/>
            <a:ext cx="4127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Avoid unnecessary cross products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They create too much data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762000" y="3365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8" name="Shape 16"/>
          <p:cNvSpPr/>
          <p:nvPr/>
        </p:nvSpPr>
        <p:spPr>
          <a:xfrm>
            <a:off x="952500" y="35560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9" name="Text 17"/>
          <p:cNvSpPr/>
          <p:nvPr/>
        </p:nvSpPr>
        <p:spPr>
          <a:xfrm>
            <a:off x="952500" y="355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498600" y="3492500"/>
            <a:ext cx="361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Use joins carefully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Understand the data relationships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588000" y="3365500"/>
            <a:ext cx="4572000" cy="1270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2" name="Shape 20"/>
          <p:cNvSpPr/>
          <p:nvPr/>
        </p:nvSpPr>
        <p:spPr>
          <a:xfrm>
            <a:off x="5778500" y="3556000"/>
            <a:ext cx="406400" cy="4064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23" name="Text 21"/>
          <p:cNvSpPr/>
          <p:nvPr/>
        </p:nvSpPr>
        <p:spPr>
          <a:xfrm>
            <a:off x="5778500" y="3556000"/>
            <a:ext cx="406400" cy="4064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24600" y="3492500"/>
            <a:ext cx="3619500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Test with small data first</a:t>
            </a: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Verify before running on full DB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2000" y="5080000"/>
            <a:ext cx="14732000" cy="2794000"/>
          </a:xfrm>
          <a:prstGeom prst="roundRect">
            <a:avLst>
              <a:gd name="adj" fmla="val 6000"/>
            </a:avLst>
          </a:prstGeom>
          <a:solidFill>
            <a:srgbClr val="1B4D4D"/>
          </a:solidFill>
          <a:ln/>
        </p:spPr>
      </p:sp>
      <p:sp>
        <p:nvSpPr>
          <p:cNvPr id="26" name="Shape 24"/>
          <p:cNvSpPr/>
          <p:nvPr/>
        </p:nvSpPr>
        <p:spPr>
          <a:xfrm>
            <a:off x="1060450" y="5334000"/>
            <a:ext cx="266700" cy="355600"/>
          </a:xfrm>
          <a:custGeom>
            <a:avLst/>
            <a:gdLst/>
            <a:ahLst/>
            <a:cxnLst/>
            <a:rect l="l" t="t" r="r" b="b"/>
            <a:pathLst>
              <a:path w="266700" h="355600">
                <a:moveTo>
                  <a:pt x="203428" y="266700"/>
                </a:moveTo>
                <a:cubicBezTo>
                  <a:pt x="208498" y="251212"/>
                  <a:pt x="218638" y="237182"/>
                  <a:pt x="230098" y="225098"/>
                </a:cubicBezTo>
                <a:cubicBezTo>
                  <a:pt x="252809" y="201206"/>
                  <a:pt x="266700" y="168910"/>
                  <a:pt x="266700" y="133350"/>
                </a:cubicBezTo>
                <a:cubicBezTo>
                  <a:pt x="266700" y="59730"/>
                  <a:pt x="206970" y="0"/>
                  <a:pt x="133350" y="0"/>
                </a:cubicBezTo>
                <a:cubicBezTo>
                  <a:pt x="59730" y="0"/>
                  <a:pt x="0" y="59730"/>
                  <a:pt x="0" y="133350"/>
                </a:cubicBezTo>
                <a:cubicBezTo>
                  <a:pt x="0" y="168910"/>
                  <a:pt x="13891" y="201206"/>
                  <a:pt x="36602" y="225098"/>
                </a:cubicBezTo>
                <a:cubicBezTo>
                  <a:pt x="48062" y="237182"/>
                  <a:pt x="58271" y="251212"/>
                  <a:pt x="63272" y="266700"/>
                </a:cubicBezTo>
                <a:lnTo>
                  <a:pt x="203359" y="266700"/>
                </a:lnTo>
                <a:close/>
                <a:moveTo>
                  <a:pt x="200025" y="300038"/>
                </a:moveTo>
                <a:lnTo>
                  <a:pt x="66675" y="300038"/>
                </a:lnTo>
                <a:lnTo>
                  <a:pt x="66675" y="311150"/>
                </a:lnTo>
                <a:cubicBezTo>
                  <a:pt x="66675" y="341848"/>
                  <a:pt x="91539" y="366712"/>
                  <a:pt x="122238" y="366712"/>
                </a:cubicBezTo>
                <a:lnTo>
                  <a:pt x="144463" y="366712"/>
                </a:lnTo>
                <a:cubicBezTo>
                  <a:pt x="175161" y="366712"/>
                  <a:pt x="200025" y="341848"/>
                  <a:pt x="200025" y="311150"/>
                </a:cubicBezTo>
                <a:lnTo>
                  <a:pt x="200025" y="300038"/>
                </a:lnTo>
                <a:close/>
                <a:moveTo>
                  <a:pt x="127794" y="77788"/>
                </a:moveTo>
                <a:cubicBezTo>
                  <a:pt x="100151" y="77788"/>
                  <a:pt x="77788" y="100151"/>
                  <a:pt x="77788" y="127794"/>
                </a:cubicBezTo>
                <a:cubicBezTo>
                  <a:pt x="77788" y="137031"/>
                  <a:pt x="70356" y="144463"/>
                  <a:pt x="61119" y="144463"/>
                </a:cubicBezTo>
                <a:cubicBezTo>
                  <a:pt x="51881" y="144463"/>
                  <a:pt x="44450" y="137031"/>
                  <a:pt x="44450" y="127794"/>
                </a:cubicBezTo>
                <a:cubicBezTo>
                  <a:pt x="44450" y="81746"/>
                  <a:pt x="81746" y="44450"/>
                  <a:pt x="127794" y="44450"/>
                </a:cubicBezTo>
                <a:cubicBezTo>
                  <a:pt x="137031" y="44450"/>
                  <a:pt x="144463" y="51881"/>
                  <a:pt x="144463" y="61119"/>
                </a:cubicBezTo>
                <a:cubicBezTo>
                  <a:pt x="144463" y="70356"/>
                  <a:pt x="137031" y="77788"/>
                  <a:pt x="127794" y="77788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7" name="Text 25"/>
          <p:cNvSpPr/>
          <p:nvPr/>
        </p:nvSpPr>
        <p:spPr>
          <a:xfrm>
            <a:off x="1498600" y="5283200"/>
            <a:ext cx="381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Remember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16000" y="5842000"/>
            <a:ext cx="14224000" cy="177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Always connect related columns.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When writing a join query, make sure the columns you are matching actually have a logical relationship.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StudentID in Students table connects to StudentID in Enrollment table</a:t>
            </a:r>
            <a:endParaRPr lang="en-US" sz="1600" dirty="0"/>
          </a:p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C97B3A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•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CourseID in Courses table connects to CourseID in Enrollment table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2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635000"/>
            <a:ext cx="50800" cy="381000"/>
          </a:xfrm>
          <a:prstGeom prst="rect">
            <a:avLst/>
          </a:prstGeom>
          <a:solidFill>
            <a:srgbClr val="1B4D4D"/>
          </a:solidFill>
          <a:ln/>
        </p:spPr>
      </p:sp>
      <p:sp>
        <p:nvSpPr>
          <p:cNvPr id="3" name="Text 1"/>
          <p:cNvSpPr/>
          <p:nvPr/>
        </p:nvSpPr>
        <p:spPr>
          <a:xfrm>
            <a:off x="965200" y="596900"/>
            <a:ext cx="6350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8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Practice Questions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62000" y="14605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5" name="Shape 3"/>
          <p:cNvSpPr/>
          <p:nvPr/>
        </p:nvSpPr>
        <p:spPr>
          <a:xfrm>
            <a:off x="952500" y="1714500"/>
            <a:ext cx="508000" cy="5080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6" name="Text 4"/>
          <p:cNvSpPr/>
          <p:nvPr/>
        </p:nvSpPr>
        <p:spPr>
          <a:xfrm>
            <a:off x="9525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87500" y="165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87500" y="20320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a cross product? Explain with an example.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8128000" y="1460500"/>
            <a:ext cx="7366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0" name="Shape 8"/>
          <p:cNvSpPr/>
          <p:nvPr/>
        </p:nvSpPr>
        <p:spPr>
          <a:xfrm>
            <a:off x="8318500" y="1714500"/>
            <a:ext cx="508000" cy="508000"/>
          </a:xfrm>
          <a:prstGeom prst="ellipse">
            <a:avLst/>
          </a:prstGeom>
          <a:solidFill>
            <a:srgbClr val="1B4D4D"/>
          </a:solidFill>
          <a:ln/>
        </p:spPr>
      </p:sp>
      <p:sp>
        <p:nvSpPr>
          <p:cNvPr id="11" name="Text 9"/>
          <p:cNvSpPr/>
          <p:nvPr/>
        </p:nvSpPr>
        <p:spPr>
          <a:xfrm>
            <a:off x="8318500" y="17145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953500" y="16510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1B4D4D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53500" y="20320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What is the difference between Inner Join and Natural Join?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762000" y="3302000"/>
            <a:ext cx="7112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15" name="Shape 13"/>
          <p:cNvSpPr/>
          <p:nvPr/>
        </p:nvSpPr>
        <p:spPr>
          <a:xfrm>
            <a:off x="952500" y="3556000"/>
            <a:ext cx="508000" cy="508000"/>
          </a:xfrm>
          <a:prstGeom prst="ellipse">
            <a:avLst/>
          </a:prstGeom>
          <a:solidFill>
            <a:srgbClr val="C97B3A"/>
          </a:solidFill>
          <a:ln/>
        </p:spPr>
      </p:sp>
      <p:sp>
        <p:nvSpPr>
          <p:cNvPr id="16" name="Text 14"/>
          <p:cNvSpPr/>
          <p:nvPr/>
        </p:nvSpPr>
        <p:spPr>
          <a:xfrm>
            <a:off x="952500" y="355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87500" y="349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3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87500" y="3873500"/>
            <a:ext cx="6032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Write an SQL query for Inner Join between two tables.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8128000" y="3302000"/>
            <a:ext cx="7366000" cy="1524000"/>
          </a:xfrm>
          <a:prstGeom prst="roundRect">
            <a:avLst>
              <a:gd name="adj" fmla="val 8000"/>
            </a:avLst>
          </a:prstGeom>
          <a:solidFill>
            <a:srgbClr val="EDEAE4"/>
          </a:solidFill>
          <a:ln/>
        </p:spPr>
      </p:sp>
      <p:sp>
        <p:nvSpPr>
          <p:cNvPr id="20" name="Shape 18"/>
          <p:cNvSpPr/>
          <p:nvPr/>
        </p:nvSpPr>
        <p:spPr>
          <a:xfrm>
            <a:off x="8318500" y="3556000"/>
            <a:ext cx="508000" cy="508000"/>
          </a:xfrm>
          <a:prstGeom prst="ellipse">
            <a:avLst/>
          </a:prstGeom>
          <a:solidFill>
            <a:srgbClr val="C97B3A"/>
          </a:solidFill>
          <a:ln/>
        </p:spPr>
      </p:sp>
      <p:sp>
        <p:nvSpPr>
          <p:cNvPr id="21" name="Text 19"/>
          <p:cNvSpPr/>
          <p:nvPr/>
        </p:nvSpPr>
        <p:spPr>
          <a:xfrm>
            <a:off x="8318500" y="3556000"/>
            <a:ext cx="508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953500" y="3492500"/>
            <a:ext cx="254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6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Question 4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953500" y="3873500"/>
            <a:ext cx="6286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rgbClr val="1E1E1E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Why are joins important in databases?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762000" y="5334000"/>
            <a:ext cx="14732000" cy="2540000"/>
          </a:xfrm>
          <a:prstGeom prst="roundRect">
            <a:avLst>
              <a:gd name="adj" fmla="val 6000"/>
            </a:avLst>
          </a:prstGeom>
          <a:solidFill>
            <a:srgbClr val="1B4D4D"/>
          </a:solidFill>
          <a:ln/>
        </p:spPr>
      </p:sp>
      <p:sp>
        <p:nvSpPr>
          <p:cNvPr id="25" name="Shape 23"/>
          <p:cNvSpPr/>
          <p:nvPr/>
        </p:nvSpPr>
        <p:spPr>
          <a:xfrm>
            <a:off x="1016000" y="5651500"/>
            <a:ext cx="406400" cy="406400"/>
          </a:xfrm>
          <a:custGeom>
            <a:avLst/>
            <a:gdLst/>
            <a:ahLst/>
            <a:cxnLst/>
            <a:rect l="l" t="t" r="r" b="b"/>
            <a:pathLst>
              <a:path w="406400" h="406400">
                <a:moveTo>
                  <a:pt x="114538" y="0"/>
                </a:moveTo>
                <a:lnTo>
                  <a:pt x="292338" y="0"/>
                </a:lnTo>
                <a:cubicBezTo>
                  <a:pt x="313373" y="0"/>
                  <a:pt x="330518" y="17304"/>
                  <a:pt x="329724" y="38259"/>
                </a:cubicBezTo>
                <a:cubicBezTo>
                  <a:pt x="329565" y="42466"/>
                  <a:pt x="329406" y="46673"/>
                  <a:pt x="329168" y="50800"/>
                </a:cubicBezTo>
                <a:lnTo>
                  <a:pt x="368538" y="50800"/>
                </a:lnTo>
                <a:cubicBezTo>
                  <a:pt x="389255" y="50800"/>
                  <a:pt x="407511" y="67945"/>
                  <a:pt x="405924" y="90329"/>
                </a:cubicBezTo>
                <a:cubicBezTo>
                  <a:pt x="399971" y="172641"/>
                  <a:pt x="357902" y="217884"/>
                  <a:pt x="312261" y="241538"/>
                </a:cubicBezTo>
                <a:cubicBezTo>
                  <a:pt x="299720" y="248047"/>
                  <a:pt x="286941" y="252889"/>
                  <a:pt x="274796" y="256461"/>
                </a:cubicBezTo>
                <a:cubicBezTo>
                  <a:pt x="258763" y="279162"/>
                  <a:pt x="242094" y="291148"/>
                  <a:pt x="228838" y="297577"/>
                </a:cubicBezTo>
                <a:lnTo>
                  <a:pt x="228838" y="355600"/>
                </a:lnTo>
                <a:lnTo>
                  <a:pt x="279638" y="355600"/>
                </a:lnTo>
                <a:cubicBezTo>
                  <a:pt x="293688" y="355600"/>
                  <a:pt x="305038" y="366951"/>
                  <a:pt x="305038" y="381000"/>
                </a:cubicBezTo>
                <a:cubicBezTo>
                  <a:pt x="305038" y="395049"/>
                  <a:pt x="293688" y="406400"/>
                  <a:pt x="279638" y="406400"/>
                </a:cubicBezTo>
                <a:lnTo>
                  <a:pt x="127238" y="406400"/>
                </a:lnTo>
                <a:cubicBezTo>
                  <a:pt x="113189" y="406400"/>
                  <a:pt x="101838" y="395049"/>
                  <a:pt x="101838" y="381000"/>
                </a:cubicBezTo>
                <a:cubicBezTo>
                  <a:pt x="101838" y="366951"/>
                  <a:pt x="113189" y="355600"/>
                  <a:pt x="127238" y="355600"/>
                </a:cubicBezTo>
                <a:lnTo>
                  <a:pt x="178038" y="355600"/>
                </a:lnTo>
                <a:lnTo>
                  <a:pt x="178038" y="297577"/>
                </a:lnTo>
                <a:cubicBezTo>
                  <a:pt x="165338" y="291465"/>
                  <a:pt x="149543" y="280114"/>
                  <a:pt x="134144" y="259239"/>
                </a:cubicBezTo>
                <a:cubicBezTo>
                  <a:pt x="119539" y="255429"/>
                  <a:pt x="103664" y="249634"/>
                  <a:pt x="88186" y="240903"/>
                </a:cubicBezTo>
                <a:cubicBezTo>
                  <a:pt x="45244" y="216852"/>
                  <a:pt x="6509" y="171529"/>
                  <a:pt x="953" y="90170"/>
                </a:cubicBezTo>
                <a:cubicBezTo>
                  <a:pt x="-556" y="67866"/>
                  <a:pt x="17621" y="50721"/>
                  <a:pt x="38338" y="50721"/>
                </a:cubicBezTo>
                <a:lnTo>
                  <a:pt x="77708" y="50721"/>
                </a:lnTo>
                <a:cubicBezTo>
                  <a:pt x="77470" y="46593"/>
                  <a:pt x="77311" y="42466"/>
                  <a:pt x="77153" y="38179"/>
                </a:cubicBezTo>
                <a:cubicBezTo>
                  <a:pt x="76359" y="17145"/>
                  <a:pt x="93504" y="-79"/>
                  <a:pt x="114538" y="-79"/>
                </a:cubicBezTo>
                <a:close/>
                <a:moveTo>
                  <a:pt x="80566" y="88900"/>
                </a:moveTo>
                <a:lnTo>
                  <a:pt x="38973" y="88900"/>
                </a:lnTo>
                <a:cubicBezTo>
                  <a:pt x="43894" y="156131"/>
                  <a:pt x="74771" y="189786"/>
                  <a:pt x="106601" y="207645"/>
                </a:cubicBezTo>
                <a:cubicBezTo>
                  <a:pt x="95171" y="178038"/>
                  <a:pt x="85725" y="139383"/>
                  <a:pt x="80566" y="88900"/>
                </a:cubicBezTo>
                <a:close/>
                <a:moveTo>
                  <a:pt x="301625" y="203835"/>
                </a:moveTo>
                <a:cubicBezTo>
                  <a:pt x="333772" y="184944"/>
                  <a:pt x="362823" y="151368"/>
                  <a:pt x="367744" y="88900"/>
                </a:cubicBezTo>
                <a:lnTo>
                  <a:pt x="326231" y="88900"/>
                </a:lnTo>
                <a:cubicBezTo>
                  <a:pt x="321310" y="137239"/>
                  <a:pt x="312420" y="174784"/>
                  <a:pt x="301625" y="203835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6" name="Text 24"/>
          <p:cNvSpPr/>
          <p:nvPr/>
        </p:nvSpPr>
        <p:spPr>
          <a:xfrm>
            <a:off x="1549400" y="5588000"/>
            <a:ext cx="50800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000" b="1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Bonus Challenge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16000" y="6159500"/>
            <a:ext cx="14224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Consider a library database with three tables: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Books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(BookID, Title, Author),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Members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(MemberID, Name), and </a:t>
            </a:r>
            <a:pPr>
              <a:lnSpc>
                <a:spcPct val="170000"/>
              </a:lnSpc>
            </a:pPr>
            <a:r>
              <a:rPr lang="en-US" sz="18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Borrowed</a:t>
            </a:r>
            <a:pPr>
              <a:lnSpc>
                <a:spcPct val="17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(MemberID, BookID, Date).</a:t>
            </a:r>
            <a:endParaRPr lang="en-US" sz="1600" dirty="0"/>
          </a:p>
          <a:p>
            <a:pPr>
              <a:lnSpc>
                <a:spcPct val="170000"/>
              </a:lnSpc>
              <a:spcBef>
                <a:spcPts val="800"/>
              </a:spcBef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Write a query to show which member borrowed which book, using an appropriate join type.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954000" y="8763000"/>
            <a:ext cx="254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>
              <a:lnSpc>
                <a:spcPct val="140000"/>
              </a:lnSpc>
            </a:pPr>
            <a:r>
              <a:rPr lang="en-US" sz="1200" dirty="0">
                <a:solidFill>
                  <a:srgbClr val="6B8F8F"/>
                </a:solidFill>
                <a:latin typeface="QuattrocentoSans" pitchFamily="34" charset="0"/>
                <a:ea typeface="QuattrocentoSans" pitchFamily="34" charset="-122"/>
                <a:cs typeface="QuattrocentoSans" pitchFamily="34" charset="-120"/>
              </a:rPr>
              <a:t>SQL Multi-table Select &amp; Joins</a:t>
            </a:r>
            <a:endParaRPr lang="en-US" sz="1200" dirty="0"/>
          </a:p>
        </p:txBody>
      </p:sp>
    </p:spTree>
  </p:cSld>
  <p:clrMapOvr>
    <a:masterClrMapping/>
  </p:clrMapOvr>
  <p:transition>
    <p:fade/>
    <p:spd val="med"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okc/q43l4uytbpee4/mnt/agents/output/sql-joins/images/3_Abstract_Digital_Network_Grid_With.png">    </p:cNvPr>
          <p:cNvPicPr>
            <a:picLocks noChangeAspect="1"/>
          </p:cNvPicPr>
          <p:nvPr/>
        </p:nvPicPr>
        <p:blipFill>
          <a:blip r:embed="rId1"/>
          <a:srcRect l="1481" r="1481" t="0" b="0"/>
          <a:stretch/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6256000" cy="9144000"/>
          </a:xfrm>
          <a:prstGeom prst="rect">
            <a:avLst/>
          </a:prstGeom>
          <a:gradFill rotWithShape="1" flip="none">
            <a:gsLst>
              <a:gs pos="0">
                <a:srgbClr val="1B4D4D">
                  <a:alpha val="91000"/>
                </a:srgbClr>
              </a:gs>
              <a:gs pos="50000">
                <a:srgbClr val="1B4D4D">
                  <a:alpha val="85000"/>
                </a:srgbClr>
              </a:gs>
              <a:gs pos="100000">
                <a:srgbClr val="1B4D4D">
                  <a:alpha val="75000"/>
                </a:srgbClr>
              </a:gs>
            </a:gsLst>
            <a:lin ang="5400000" scaled="1"/>
          </a:gra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2000" y="635000"/>
            <a:ext cx="3810000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300" b="1" spc="300" kern="0" dirty="0">
                <a:solidFill>
                  <a:srgbClr val="C97B3A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LECTURE SUMMARY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62000" y="1143000"/>
            <a:ext cx="7620000" cy="6985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4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Today We Learned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62000" y="1968500"/>
            <a:ext cx="1016000" cy="50800"/>
          </a:xfrm>
          <a:prstGeom prst="rect">
            <a:avLst/>
          </a:prstGeom>
          <a:solidFill>
            <a:srgbClr val="C97B3A"/>
          </a:solidFill>
          <a:ln/>
        </p:spPr>
      </p:sp>
      <p:sp>
        <p:nvSpPr>
          <p:cNvPr id="7" name="Shape 4"/>
          <p:cNvSpPr/>
          <p:nvPr/>
        </p:nvSpPr>
        <p:spPr>
          <a:xfrm>
            <a:off x="762000" y="2286000"/>
            <a:ext cx="4572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1009650" y="2413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28600" y="57150"/>
                </a:moveTo>
                <a:lnTo>
                  <a:pt x="228600" y="95250"/>
                </a:lnTo>
                <a:lnTo>
                  <a:pt x="190500" y="95250"/>
                </a:lnTo>
                <a:lnTo>
                  <a:pt x="190500" y="57150"/>
                </a:lnTo>
                <a:lnTo>
                  <a:pt x="228600" y="57150"/>
                </a:lnTo>
                <a:close/>
                <a:moveTo>
                  <a:pt x="228600" y="133350"/>
                </a:moveTo>
                <a:lnTo>
                  <a:pt x="228600" y="171450"/>
                </a:lnTo>
                <a:lnTo>
                  <a:pt x="190500" y="171450"/>
                </a:lnTo>
                <a:lnTo>
                  <a:pt x="190500" y="133350"/>
                </a:lnTo>
                <a:lnTo>
                  <a:pt x="228600" y="133350"/>
                </a:lnTo>
                <a:close/>
                <a:moveTo>
                  <a:pt x="228600" y="209550"/>
                </a:moveTo>
                <a:lnTo>
                  <a:pt x="228600" y="247650"/>
                </a:lnTo>
                <a:lnTo>
                  <a:pt x="190500" y="247650"/>
                </a:lnTo>
                <a:lnTo>
                  <a:pt x="190500" y="209550"/>
                </a:lnTo>
                <a:lnTo>
                  <a:pt x="228600" y="209550"/>
                </a:lnTo>
                <a:close/>
                <a:moveTo>
                  <a:pt x="152400" y="171450"/>
                </a:moveTo>
                <a:lnTo>
                  <a:pt x="114300" y="171450"/>
                </a:lnTo>
                <a:lnTo>
                  <a:pt x="114300" y="133350"/>
                </a:lnTo>
                <a:lnTo>
                  <a:pt x="152400" y="133350"/>
                </a:lnTo>
                <a:lnTo>
                  <a:pt x="152400" y="171450"/>
                </a:lnTo>
                <a:close/>
                <a:moveTo>
                  <a:pt x="114300" y="209550"/>
                </a:moveTo>
                <a:lnTo>
                  <a:pt x="152400" y="209550"/>
                </a:lnTo>
                <a:lnTo>
                  <a:pt x="152400" y="247650"/>
                </a:lnTo>
                <a:lnTo>
                  <a:pt x="114300" y="247650"/>
                </a:lnTo>
                <a:lnTo>
                  <a:pt x="114300" y="209550"/>
                </a:lnTo>
                <a:close/>
                <a:moveTo>
                  <a:pt x="76200" y="171450"/>
                </a:moveTo>
                <a:lnTo>
                  <a:pt x="38100" y="171450"/>
                </a:lnTo>
                <a:lnTo>
                  <a:pt x="38100" y="133350"/>
                </a:lnTo>
                <a:lnTo>
                  <a:pt x="76200" y="133350"/>
                </a:lnTo>
                <a:lnTo>
                  <a:pt x="76200" y="171450"/>
                </a:lnTo>
                <a:close/>
                <a:moveTo>
                  <a:pt x="38100" y="209550"/>
                </a:moveTo>
                <a:lnTo>
                  <a:pt x="76200" y="209550"/>
                </a:lnTo>
                <a:lnTo>
                  <a:pt x="76200" y="247650"/>
                </a:lnTo>
                <a:lnTo>
                  <a:pt x="38100" y="247650"/>
                </a:lnTo>
                <a:lnTo>
                  <a:pt x="38100" y="209550"/>
                </a:lnTo>
                <a:close/>
                <a:moveTo>
                  <a:pt x="38100" y="95250"/>
                </a:moveTo>
                <a:lnTo>
                  <a:pt x="38100" y="57150"/>
                </a:lnTo>
                <a:lnTo>
                  <a:pt x="76200" y="57150"/>
                </a:lnTo>
                <a:lnTo>
                  <a:pt x="76200" y="95250"/>
                </a:lnTo>
                <a:lnTo>
                  <a:pt x="38100" y="95250"/>
                </a:lnTo>
                <a:close/>
                <a:moveTo>
                  <a:pt x="114300" y="95250"/>
                </a:moveTo>
                <a:lnTo>
                  <a:pt x="114300" y="57150"/>
                </a:lnTo>
                <a:lnTo>
                  <a:pt x="152400" y="57150"/>
                </a:lnTo>
                <a:lnTo>
                  <a:pt x="152400" y="95250"/>
                </a:lnTo>
                <a:lnTo>
                  <a:pt x="114300" y="95250"/>
                </a:lnTo>
                <a:close/>
                <a:moveTo>
                  <a:pt x="38100" y="19050"/>
                </a:moveTo>
                <a:cubicBezTo>
                  <a:pt x="17085" y="19050"/>
                  <a:pt x="0" y="36135"/>
                  <a:pt x="0" y="57150"/>
                </a:cubicBezTo>
                <a:lnTo>
                  <a:pt x="0" y="247650"/>
                </a:lnTo>
                <a:cubicBezTo>
                  <a:pt x="0" y="268665"/>
                  <a:pt x="17085" y="285750"/>
                  <a:pt x="38100" y="285750"/>
                </a:cubicBezTo>
                <a:lnTo>
                  <a:pt x="228600" y="285750"/>
                </a:lnTo>
                <a:cubicBezTo>
                  <a:pt x="249615" y="285750"/>
                  <a:pt x="266700" y="268665"/>
                  <a:pt x="266700" y="247650"/>
                </a:cubicBezTo>
                <a:lnTo>
                  <a:pt x="266700" y="57150"/>
                </a:lnTo>
                <a:cubicBezTo>
                  <a:pt x="266700" y="36135"/>
                  <a:pt x="249615" y="19050"/>
                  <a:pt x="228600" y="19050"/>
                </a:cubicBezTo>
                <a:lnTo>
                  <a:pt x="38100" y="19050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9" name="Text 6"/>
          <p:cNvSpPr/>
          <p:nvPr/>
        </p:nvSpPr>
        <p:spPr>
          <a:xfrm>
            <a:off x="1422400" y="2286000"/>
            <a:ext cx="36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Multi-table Select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588000" y="2286000"/>
            <a:ext cx="4572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854700" y="2413000"/>
            <a:ext cx="228600" cy="304800"/>
          </a:xfrm>
          <a:custGeom>
            <a:avLst/>
            <a:gdLst/>
            <a:ahLst/>
            <a:cxnLst/>
            <a:rect l="l" t="t" r="r" b="b"/>
            <a:pathLst>
              <a:path w="228600" h="304800">
                <a:moveTo>
                  <a:pt x="32802" y="43696"/>
                </a:moveTo>
                <a:cubicBezTo>
                  <a:pt x="25360" y="36255"/>
                  <a:pt x="13275" y="36255"/>
                  <a:pt x="5834" y="43696"/>
                </a:cubicBezTo>
                <a:cubicBezTo>
                  <a:pt x="-1607" y="51137"/>
                  <a:pt x="-1607" y="63222"/>
                  <a:pt x="5834" y="70664"/>
                </a:cubicBezTo>
                <a:lnTo>
                  <a:pt x="87630" y="152400"/>
                </a:lnTo>
                <a:lnTo>
                  <a:pt x="5894" y="234196"/>
                </a:lnTo>
                <a:cubicBezTo>
                  <a:pt x="-1548" y="241637"/>
                  <a:pt x="-1548" y="253722"/>
                  <a:pt x="5894" y="261164"/>
                </a:cubicBezTo>
                <a:cubicBezTo>
                  <a:pt x="13335" y="268605"/>
                  <a:pt x="25420" y="268605"/>
                  <a:pt x="32861" y="261164"/>
                </a:cubicBezTo>
                <a:lnTo>
                  <a:pt x="114598" y="179368"/>
                </a:lnTo>
                <a:lnTo>
                  <a:pt x="196394" y="261104"/>
                </a:lnTo>
                <a:cubicBezTo>
                  <a:pt x="203835" y="268545"/>
                  <a:pt x="215920" y="268545"/>
                  <a:pt x="223361" y="261104"/>
                </a:cubicBezTo>
                <a:cubicBezTo>
                  <a:pt x="230803" y="253663"/>
                  <a:pt x="230803" y="241578"/>
                  <a:pt x="223361" y="234136"/>
                </a:cubicBezTo>
                <a:lnTo>
                  <a:pt x="141565" y="152400"/>
                </a:lnTo>
                <a:lnTo>
                  <a:pt x="223302" y="70604"/>
                </a:lnTo>
                <a:cubicBezTo>
                  <a:pt x="230743" y="63163"/>
                  <a:pt x="230743" y="51078"/>
                  <a:pt x="223302" y="43636"/>
                </a:cubicBezTo>
                <a:cubicBezTo>
                  <a:pt x="215860" y="36195"/>
                  <a:pt x="203775" y="36195"/>
                  <a:pt x="196334" y="43636"/>
                </a:cubicBezTo>
                <a:lnTo>
                  <a:pt x="114598" y="125432"/>
                </a:lnTo>
                <a:lnTo>
                  <a:pt x="32802" y="43696"/>
                </a:ln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2" name="Text 9"/>
          <p:cNvSpPr/>
          <p:nvPr/>
        </p:nvSpPr>
        <p:spPr>
          <a:xfrm>
            <a:off x="6248400" y="2286000"/>
            <a:ext cx="36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Cross Product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0414000" y="2286000"/>
            <a:ext cx="5080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10642600" y="241300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/>
            </a:pathLst>
          </a:custGeom>
          <a:solidFill>
            <a:srgbClr val="C97B3A"/>
          </a:solidFill>
          <a:ln/>
        </p:spPr>
      </p:sp>
      <p:sp>
        <p:nvSpPr>
          <p:cNvPr id="15" name="Text 12"/>
          <p:cNvSpPr/>
          <p:nvPr/>
        </p:nvSpPr>
        <p:spPr>
          <a:xfrm>
            <a:off x="11074400" y="2286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Inner Join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62000" y="3302000"/>
            <a:ext cx="4572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1009650" y="342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01692" y="-5894"/>
                </a:moveTo>
                <a:cubicBezTo>
                  <a:pt x="208776" y="-774"/>
                  <a:pt x="211395" y="8513"/>
                  <a:pt x="208181" y="16609"/>
                </a:cubicBezTo>
                <a:lnTo>
                  <a:pt x="161508" y="133350"/>
                </a:lnTo>
                <a:lnTo>
                  <a:pt x="247650" y="133350"/>
                </a:lnTo>
                <a:cubicBezTo>
                  <a:pt x="255687" y="133350"/>
                  <a:pt x="262830" y="138351"/>
                  <a:pt x="265569" y="145911"/>
                </a:cubicBezTo>
                <a:cubicBezTo>
                  <a:pt x="268307" y="153472"/>
                  <a:pt x="265986" y="161925"/>
                  <a:pt x="259854" y="167045"/>
                </a:cubicBezTo>
                <a:lnTo>
                  <a:pt x="88404" y="309920"/>
                </a:lnTo>
                <a:cubicBezTo>
                  <a:pt x="81677" y="315516"/>
                  <a:pt x="72092" y="315813"/>
                  <a:pt x="65008" y="310694"/>
                </a:cubicBezTo>
                <a:cubicBezTo>
                  <a:pt x="57924" y="305574"/>
                  <a:pt x="55305" y="296287"/>
                  <a:pt x="58519" y="288191"/>
                </a:cubicBezTo>
                <a:lnTo>
                  <a:pt x="105192" y="171450"/>
                </a:lnTo>
                <a:lnTo>
                  <a:pt x="19050" y="171450"/>
                </a:lnTo>
                <a:cubicBezTo>
                  <a:pt x="11013" y="171450"/>
                  <a:pt x="3870" y="166449"/>
                  <a:pt x="1131" y="158889"/>
                </a:cubicBezTo>
                <a:cubicBezTo>
                  <a:pt x="-1607" y="151328"/>
                  <a:pt x="714" y="142875"/>
                  <a:pt x="6846" y="137755"/>
                </a:cubicBezTo>
                <a:lnTo>
                  <a:pt x="178296" y="-5120"/>
                </a:lnTo>
                <a:cubicBezTo>
                  <a:pt x="185023" y="-10716"/>
                  <a:pt x="194608" y="-11013"/>
                  <a:pt x="201692" y="-5894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18" name="Text 15"/>
          <p:cNvSpPr/>
          <p:nvPr/>
        </p:nvSpPr>
        <p:spPr>
          <a:xfrm>
            <a:off x="1422400" y="3302000"/>
            <a:ext cx="36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Natural Join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588000" y="3302000"/>
            <a:ext cx="4572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20" name="Shape 17"/>
          <p:cNvSpPr/>
          <p:nvPr/>
        </p:nvSpPr>
        <p:spPr>
          <a:xfrm>
            <a:off x="5797550" y="3429000"/>
            <a:ext cx="342900" cy="304800"/>
          </a:xfrm>
          <a:custGeom>
            <a:avLst/>
            <a:gdLst/>
            <a:ahLst/>
            <a:cxnLst/>
            <a:rect l="l" t="t" r="r" b="b"/>
            <a:pathLst>
              <a:path w="342900" h="304800">
                <a:moveTo>
                  <a:pt x="214789" y="714"/>
                </a:moveTo>
                <a:cubicBezTo>
                  <a:pt x="204668" y="-2203"/>
                  <a:pt x="194131" y="3691"/>
                  <a:pt x="191214" y="13811"/>
                </a:cubicBezTo>
                <a:lnTo>
                  <a:pt x="115014" y="280511"/>
                </a:lnTo>
                <a:cubicBezTo>
                  <a:pt x="112097" y="290632"/>
                  <a:pt x="117991" y="301169"/>
                  <a:pt x="128111" y="304086"/>
                </a:cubicBezTo>
                <a:cubicBezTo>
                  <a:pt x="138232" y="307003"/>
                  <a:pt x="148769" y="301109"/>
                  <a:pt x="151686" y="290989"/>
                </a:cubicBezTo>
                <a:lnTo>
                  <a:pt x="227886" y="24289"/>
                </a:lnTo>
                <a:cubicBezTo>
                  <a:pt x="230803" y="14168"/>
                  <a:pt x="224909" y="3631"/>
                  <a:pt x="214789" y="714"/>
                </a:cubicBezTo>
                <a:close/>
                <a:moveTo>
                  <a:pt x="253246" y="81736"/>
                </a:moveTo>
                <a:cubicBezTo>
                  <a:pt x="245805" y="89178"/>
                  <a:pt x="245805" y="101263"/>
                  <a:pt x="253246" y="108704"/>
                </a:cubicBezTo>
                <a:lnTo>
                  <a:pt x="296942" y="152400"/>
                </a:lnTo>
                <a:lnTo>
                  <a:pt x="253246" y="196096"/>
                </a:lnTo>
                <a:cubicBezTo>
                  <a:pt x="245805" y="203537"/>
                  <a:pt x="245805" y="215622"/>
                  <a:pt x="253246" y="223064"/>
                </a:cubicBezTo>
                <a:cubicBezTo>
                  <a:pt x="260687" y="230505"/>
                  <a:pt x="272772" y="230505"/>
                  <a:pt x="280214" y="223064"/>
                </a:cubicBezTo>
                <a:lnTo>
                  <a:pt x="337364" y="165914"/>
                </a:lnTo>
                <a:cubicBezTo>
                  <a:pt x="344805" y="158472"/>
                  <a:pt x="344805" y="146387"/>
                  <a:pt x="337364" y="138946"/>
                </a:cubicBezTo>
                <a:lnTo>
                  <a:pt x="280214" y="81796"/>
                </a:lnTo>
                <a:cubicBezTo>
                  <a:pt x="272772" y="74355"/>
                  <a:pt x="260687" y="74355"/>
                  <a:pt x="253246" y="81796"/>
                </a:cubicBezTo>
                <a:close/>
                <a:moveTo>
                  <a:pt x="89714" y="81736"/>
                </a:moveTo>
                <a:cubicBezTo>
                  <a:pt x="82272" y="74295"/>
                  <a:pt x="70187" y="74295"/>
                  <a:pt x="62746" y="81736"/>
                </a:cubicBezTo>
                <a:lnTo>
                  <a:pt x="5596" y="138886"/>
                </a:lnTo>
                <a:cubicBezTo>
                  <a:pt x="-1845" y="146328"/>
                  <a:pt x="-1845" y="158413"/>
                  <a:pt x="5596" y="165854"/>
                </a:cubicBezTo>
                <a:lnTo>
                  <a:pt x="62746" y="223004"/>
                </a:lnTo>
                <a:cubicBezTo>
                  <a:pt x="70187" y="230445"/>
                  <a:pt x="82272" y="230445"/>
                  <a:pt x="89714" y="223004"/>
                </a:cubicBezTo>
                <a:cubicBezTo>
                  <a:pt x="97155" y="215563"/>
                  <a:pt x="97155" y="203478"/>
                  <a:pt x="89714" y="196036"/>
                </a:cubicBezTo>
                <a:lnTo>
                  <a:pt x="46018" y="152400"/>
                </a:lnTo>
                <a:lnTo>
                  <a:pt x="89654" y="108704"/>
                </a:lnTo>
                <a:cubicBezTo>
                  <a:pt x="97095" y="101263"/>
                  <a:pt x="97095" y="89178"/>
                  <a:pt x="89654" y="81736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1" name="Text 18"/>
          <p:cNvSpPr/>
          <p:nvPr/>
        </p:nvSpPr>
        <p:spPr>
          <a:xfrm>
            <a:off x="6248400" y="3302000"/>
            <a:ext cx="3683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SQL Queries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414000" y="3302000"/>
            <a:ext cx="5080000" cy="571500"/>
          </a:xfrm>
          <a:prstGeom prst="roundRect">
            <a:avLst>
              <a:gd name="adj" fmla="val 8000"/>
            </a:avLst>
          </a:prstGeom>
          <a:solidFill>
            <a:srgbClr val="FFFFFF">
              <a:alpha val="9412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10661650" y="3429000"/>
            <a:ext cx="266700" cy="304800"/>
          </a:xfrm>
          <a:custGeom>
            <a:avLst/>
            <a:gdLst/>
            <a:ahLst/>
            <a:cxnLst/>
            <a:rect l="l" t="t" r="r" b="b"/>
            <a:pathLst>
              <a:path w="266700" h="304800">
                <a:moveTo>
                  <a:pt x="266700" y="122515"/>
                </a:moveTo>
                <a:cubicBezTo>
                  <a:pt x="257889" y="128349"/>
                  <a:pt x="247769" y="133052"/>
                  <a:pt x="237232" y="136803"/>
                </a:cubicBezTo>
                <a:cubicBezTo>
                  <a:pt x="209252" y="146804"/>
                  <a:pt x="172522" y="152400"/>
                  <a:pt x="133350" y="152400"/>
                </a:cubicBezTo>
                <a:cubicBezTo>
                  <a:pt x="94178" y="152400"/>
                  <a:pt x="57388" y="146745"/>
                  <a:pt x="29468" y="136803"/>
                </a:cubicBezTo>
                <a:cubicBezTo>
                  <a:pt x="18990" y="133052"/>
                  <a:pt x="8811" y="128349"/>
                  <a:pt x="0" y="122515"/>
                </a:cubicBezTo>
                <a:lnTo>
                  <a:pt x="0" y="171450"/>
                </a:lnTo>
                <a:cubicBezTo>
                  <a:pt x="0" y="197763"/>
                  <a:pt x="59710" y="219075"/>
                  <a:pt x="133350" y="219075"/>
                </a:cubicBezTo>
                <a:cubicBezTo>
                  <a:pt x="206990" y="219075"/>
                  <a:pt x="266700" y="197763"/>
                  <a:pt x="266700" y="171450"/>
                </a:cubicBezTo>
                <a:lnTo>
                  <a:pt x="266700" y="122515"/>
                </a:lnTo>
                <a:close/>
                <a:moveTo>
                  <a:pt x="266700" y="76200"/>
                </a:moveTo>
                <a:lnTo>
                  <a:pt x="266700" y="47625"/>
                </a:lnTo>
                <a:cubicBezTo>
                  <a:pt x="266700" y="21312"/>
                  <a:pt x="206990" y="0"/>
                  <a:pt x="133350" y="0"/>
                </a:cubicBezTo>
                <a:cubicBezTo>
                  <a:pt x="59710" y="0"/>
                  <a:pt x="0" y="21312"/>
                  <a:pt x="0" y="47625"/>
                </a:cubicBezTo>
                <a:lnTo>
                  <a:pt x="0" y="76200"/>
                </a:lnTo>
                <a:cubicBezTo>
                  <a:pt x="0" y="102513"/>
                  <a:pt x="59710" y="123825"/>
                  <a:pt x="133350" y="123825"/>
                </a:cubicBezTo>
                <a:cubicBezTo>
                  <a:pt x="206990" y="123825"/>
                  <a:pt x="266700" y="102513"/>
                  <a:pt x="266700" y="76200"/>
                </a:cubicBezTo>
                <a:close/>
                <a:moveTo>
                  <a:pt x="237232" y="232053"/>
                </a:moveTo>
                <a:cubicBezTo>
                  <a:pt x="209312" y="241995"/>
                  <a:pt x="172581" y="247650"/>
                  <a:pt x="133350" y="247650"/>
                </a:cubicBezTo>
                <a:cubicBezTo>
                  <a:pt x="94119" y="247650"/>
                  <a:pt x="57388" y="241995"/>
                  <a:pt x="29468" y="232053"/>
                </a:cubicBezTo>
                <a:cubicBezTo>
                  <a:pt x="18990" y="228302"/>
                  <a:pt x="8811" y="223599"/>
                  <a:pt x="0" y="217765"/>
                </a:cubicBezTo>
                <a:lnTo>
                  <a:pt x="0" y="257175"/>
                </a:lnTo>
                <a:cubicBezTo>
                  <a:pt x="0" y="283488"/>
                  <a:pt x="59710" y="304800"/>
                  <a:pt x="133350" y="304800"/>
                </a:cubicBezTo>
                <a:cubicBezTo>
                  <a:pt x="206990" y="304800"/>
                  <a:pt x="266700" y="283488"/>
                  <a:pt x="266700" y="257175"/>
                </a:cubicBezTo>
                <a:lnTo>
                  <a:pt x="266700" y="217765"/>
                </a:lnTo>
                <a:cubicBezTo>
                  <a:pt x="257889" y="223599"/>
                  <a:pt x="247769" y="228302"/>
                  <a:pt x="237232" y="232053"/>
                </a:cubicBezTo>
                <a:close/>
              </a:path>
            </a:pathLst>
          </a:custGeom>
          <a:solidFill>
            <a:srgbClr val="C97B3A"/>
          </a:solidFill>
          <a:ln/>
        </p:spPr>
      </p:sp>
      <p:sp>
        <p:nvSpPr>
          <p:cNvPr id="24" name="Text 21"/>
          <p:cNvSpPr/>
          <p:nvPr/>
        </p:nvSpPr>
        <p:spPr>
          <a:xfrm>
            <a:off x="11074400" y="3302000"/>
            <a:ext cx="4191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Real Life Database Examples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62000" y="4572000"/>
            <a:ext cx="14732000" cy="1270000"/>
          </a:xfrm>
          <a:prstGeom prst="roundRect">
            <a:avLst>
              <a:gd name="adj" fmla="val 8000"/>
            </a:avLst>
          </a:prstGeom>
          <a:solidFill>
            <a:srgbClr val="C97B3A"/>
          </a:solidFill>
          <a:ln/>
        </p:spPr>
      </p:sp>
      <p:sp>
        <p:nvSpPr>
          <p:cNvPr id="26" name="Text 23"/>
          <p:cNvSpPr/>
          <p:nvPr/>
        </p:nvSpPr>
        <p:spPr>
          <a:xfrm>
            <a:off x="1016000" y="4635500"/>
            <a:ext cx="14224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50000"/>
              </a:lnSpc>
            </a:pPr>
            <a:r>
              <a:rPr lang="en-US" sz="2200" b="1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Final Idea:</a:t>
            </a:r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FFFFFF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 Joins help us connect related information from different tables.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62000" y="6350000"/>
            <a:ext cx="14732000" cy="1016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5600" b="1" spc="400" kern="0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762000" y="7493000"/>
            <a:ext cx="14732000" cy="5080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400" i="1" dirty="0">
                <a:solidFill>
                  <a:srgbClr val="FFFFFF">
                    <a:alpha val="66667"/>
                  </a:srgbClr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Questions?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0" y="8890000"/>
            <a:ext cx="16256000" cy="254000"/>
          </a:xfrm>
          <a:prstGeom prst="rect">
            <a:avLst/>
          </a:prstGeom>
          <a:solidFill>
            <a:srgbClr val="C97B3A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Multi-table Select &amp; Joins in SQL</dc:title>
  <dc:subject>Multi-table Select &amp; Joins in SQL</dc:subject>
  <dc:creator>Kimi</dc:creator>
  <cp:lastModifiedBy>Kimi</cp:lastModifiedBy>
  <cp:revision>1</cp:revision>
  <dcterms:created xsi:type="dcterms:W3CDTF">2026-05-22T12:40:52Z</dcterms:created>
  <dcterms:modified xsi:type="dcterms:W3CDTF">2026-05-22T12:40:52Z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{"Label":"Multi-table Select &amp; Joins in SQL","ContentProducer":"001191110108MACG2KBH8F10000","ProduceID":"19e4f5d0-5822-828d-8000-000022556cf1","ReservedCode1":"","ContentPropagator":"001191110108MACG2KBH8F20000","PropagateID":"19e4f5d0-5822-828d-8000-000022556cf1","ReservedCode2":""}</vt:lpwstr>
  </property>
</Properties>
</file>