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6256000" cy="9144000"/>
  <p:notesSz cx="9144000" cy="16256000"/>
  <p:embeddedFontLst>
    <p:embeddedFont>
      <p:font typeface="Liter" charset="-122" pitchFamily="34"/>
      <p:regular r:id="rId37"/>
    </p:embeddedFont>
    <p:embeddedFont>
      <p:font typeface="Quattrocento Sans" charset="-122" pitchFamily="34"/>
      <p:regular r:id="rId3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openxmlformats.org/officeDocument/2006/relationships/font" Target="fonts/font1.fntdata"/><Relationship Id="rId3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tr7nwfymto4ke/mnt/agents/output/sql_ddl_intro/images/6_139_Colorful_Data_Visualization_Dark.png">    </p:cNvPr>
          <p:cNvPicPr>
            <a:picLocks noChangeAspect="1"/>
          </p:cNvPicPr>
          <p:nvPr/>
        </p:nvPicPr>
        <p:blipFill>
          <a:blip r:embed="rId1"/>
          <a:srcRect l="0" r="0" t="12687" b="12687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52E31">
                  <a:alpha val="90000"/>
                </a:srgbClr>
              </a:gs>
              <a:gs pos="50000">
                <a:srgbClr val="152E31">
                  <a:alpha val="80000"/>
                </a:srgbClr>
              </a:gs>
              <a:gs pos="100000">
                <a:srgbClr val="152E31">
                  <a:alpha val="95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2540000"/>
            <a:ext cx="2540000" cy="38100"/>
          </a:xfrm>
          <a:prstGeom prst="rect">
            <a:avLst/>
          </a:prstGeom>
          <a:solidFill>
            <a:srgbClr val="C9843E"/>
          </a:solidFill>
          <a:ln/>
        </p:spPr>
      </p:sp>
      <p:sp>
        <p:nvSpPr>
          <p:cNvPr id="5" name="Text 2"/>
          <p:cNvSpPr/>
          <p:nvPr/>
        </p:nvSpPr>
        <p:spPr>
          <a:xfrm>
            <a:off x="1778000" y="2794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b="1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SQL (DDL)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4318000" y="37465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5 — Lecture 9 &amp; 10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223000" y="4445000"/>
            <a:ext cx="3810000" cy="12700"/>
          </a:xfrm>
          <a:prstGeom prst="rect">
            <a:avLst/>
          </a:prstGeom>
          <a:solidFill>
            <a:srgbClr val="FFFFFF">
              <a:alpha val="25098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318000" y="4699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spc="300" kern="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TOPICS COVERED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048000" y="5207000"/>
            <a:ext cx="1016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Database · Show Database · Create Table · Constraints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Drop Database · Desc Table · Drop Table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318000" y="6985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spc="300" kern="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 WORLD FOCUS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048000" y="74295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Banking System · School System · Online Shopping System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0" y="635000"/>
            <a:ext cx="21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8A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SQL?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17600"/>
            <a:ext cx="1016000" cy="38100"/>
          </a:xfrm>
          <a:prstGeom prst="rect">
            <a:avLst/>
          </a:prstGeom>
          <a:solidFill>
            <a:srgbClr val="C9843E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60500"/>
            <a:ext cx="6858000" cy="2667000"/>
          </a:xfrm>
          <a:prstGeom prst="roundRect">
            <a:avLst>
              <a:gd name="adj" fmla="val 8000"/>
            </a:avLst>
          </a:prstGeom>
          <a:solidFill>
            <a:srgbClr val="E8F0F1"/>
          </a:solidFill>
          <a:ln/>
        </p:spPr>
      </p:sp>
      <p:sp>
        <p:nvSpPr>
          <p:cNvPr id="6" name="Shape 4"/>
          <p:cNvSpPr/>
          <p:nvPr/>
        </p:nvSpPr>
        <p:spPr>
          <a:xfrm>
            <a:off x="1108075" y="17145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400050" y="183773"/>
                </a:moveTo>
                <a:cubicBezTo>
                  <a:pt x="386834" y="192524"/>
                  <a:pt x="371654" y="199579"/>
                  <a:pt x="355848" y="205204"/>
                </a:cubicBezTo>
                <a:cubicBezTo>
                  <a:pt x="313879" y="220206"/>
                  <a:pt x="258782" y="228600"/>
                  <a:pt x="200025" y="228600"/>
                </a:cubicBezTo>
                <a:cubicBezTo>
                  <a:pt x="141268" y="228600"/>
                  <a:pt x="86082" y="220117"/>
                  <a:pt x="44202" y="205204"/>
                </a:cubicBezTo>
                <a:cubicBezTo>
                  <a:pt x="28486" y="199579"/>
                  <a:pt x="13216" y="192524"/>
                  <a:pt x="0" y="183773"/>
                </a:cubicBezTo>
                <a:lnTo>
                  <a:pt x="0" y="257175"/>
                </a:lnTo>
                <a:cubicBezTo>
                  <a:pt x="0" y="296644"/>
                  <a:pt x="89565" y="328613"/>
                  <a:pt x="200025" y="328613"/>
                </a:cubicBezTo>
                <a:cubicBezTo>
                  <a:pt x="310485" y="328613"/>
                  <a:pt x="400050" y="296644"/>
                  <a:pt x="400050" y="257175"/>
                </a:cubicBezTo>
                <a:lnTo>
                  <a:pt x="400050" y="183773"/>
                </a:lnTo>
                <a:close/>
                <a:moveTo>
                  <a:pt x="400050" y="114300"/>
                </a:moveTo>
                <a:lnTo>
                  <a:pt x="400050" y="71438"/>
                </a:lnTo>
                <a:cubicBezTo>
                  <a:pt x="400050" y="31968"/>
                  <a:pt x="310485" y="0"/>
                  <a:pt x="200025" y="0"/>
                </a:cubicBezTo>
                <a:cubicBezTo>
                  <a:pt x="89565" y="0"/>
                  <a:pt x="0" y="31968"/>
                  <a:pt x="0" y="71438"/>
                </a:cubicBezTo>
                <a:lnTo>
                  <a:pt x="0" y="114300"/>
                </a:lnTo>
                <a:cubicBezTo>
                  <a:pt x="0" y="153769"/>
                  <a:pt x="89565" y="185738"/>
                  <a:pt x="200025" y="185738"/>
                </a:cubicBezTo>
                <a:cubicBezTo>
                  <a:pt x="310485" y="185738"/>
                  <a:pt x="400050" y="153769"/>
                  <a:pt x="400050" y="114300"/>
                </a:cubicBezTo>
                <a:close/>
                <a:moveTo>
                  <a:pt x="355848" y="348079"/>
                </a:moveTo>
                <a:cubicBezTo>
                  <a:pt x="313968" y="362992"/>
                  <a:pt x="258872" y="371475"/>
                  <a:pt x="200025" y="371475"/>
                </a:cubicBezTo>
                <a:cubicBezTo>
                  <a:pt x="141178" y="371475"/>
                  <a:pt x="86082" y="362992"/>
                  <a:pt x="44202" y="348079"/>
                </a:cubicBezTo>
                <a:cubicBezTo>
                  <a:pt x="28486" y="342454"/>
                  <a:pt x="13216" y="335399"/>
                  <a:pt x="0" y="326648"/>
                </a:cubicBezTo>
                <a:lnTo>
                  <a:pt x="0" y="385763"/>
                </a:lnTo>
                <a:cubicBezTo>
                  <a:pt x="0" y="425232"/>
                  <a:pt x="89565" y="457200"/>
                  <a:pt x="200025" y="457200"/>
                </a:cubicBezTo>
                <a:cubicBezTo>
                  <a:pt x="310485" y="457200"/>
                  <a:pt x="400050" y="425232"/>
                  <a:pt x="400050" y="385763"/>
                </a:cubicBezTo>
                <a:lnTo>
                  <a:pt x="400050" y="326648"/>
                </a:lnTo>
                <a:cubicBezTo>
                  <a:pt x="386834" y="335399"/>
                  <a:pt x="371654" y="342454"/>
                  <a:pt x="355848" y="348079"/>
                </a:cubicBezTo>
                <a:close/>
              </a:path>
            </a:pathLst>
          </a:custGeom>
          <a:solidFill>
            <a:srgbClr val="1B3A3E"/>
          </a:solidFill>
          <a:ln/>
        </p:spPr>
      </p:sp>
      <p:sp>
        <p:nvSpPr>
          <p:cNvPr id="7" name="Text 5"/>
          <p:cNvSpPr/>
          <p:nvPr/>
        </p:nvSpPr>
        <p:spPr>
          <a:xfrm>
            <a:off x="1714500" y="1714500"/>
            <a:ext cx="558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 Definition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79500" y="2349500"/>
            <a:ext cx="6223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SQL stands for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Structured Query Language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20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It is used to store, manage, retrieve data, and create databases and tables.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62000" y="4445000"/>
            <a:ext cx="685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Uses of SQL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62000" y="5016500"/>
            <a:ext cx="6858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C984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Store data in organized structures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C984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Manage and modify existing data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C984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Retrieve data with precise queries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C984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Create databases and tables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128000" y="1460500"/>
            <a:ext cx="7366000" cy="5842000"/>
          </a:xfrm>
          <a:prstGeom prst="roundRect">
            <a:avLst>
              <a:gd name="adj" fmla="val 8000"/>
            </a:avLst>
          </a:prstGeom>
          <a:solidFill>
            <a:srgbClr val="152E31"/>
          </a:solidFill>
          <a:ln/>
        </p:spPr>
      </p:sp>
      <p:sp>
        <p:nvSpPr>
          <p:cNvPr id="12" name="Shape 10"/>
          <p:cNvSpPr/>
          <p:nvPr/>
        </p:nvSpPr>
        <p:spPr>
          <a:xfrm>
            <a:off x="8509000" y="1714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42798" y="18038"/>
                </a:moveTo>
                <a:cubicBezTo>
                  <a:pt x="234047" y="13037"/>
                  <a:pt x="223242" y="13037"/>
                  <a:pt x="214402" y="18038"/>
                </a:cubicBezTo>
                <a:lnTo>
                  <a:pt x="14377" y="132338"/>
                </a:lnTo>
                <a:cubicBezTo>
                  <a:pt x="3125" y="138767"/>
                  <a:pt x="-2411" y="151983"/>
                  <a:pt x="893" y="164485"/>
                </a:cubicBezTo>
                <a:cubicBezTo>
                  <a:pt x="4197" y="176986"/>
                  <a:pt x="15627" y="185738"/>
                  <a:pt x="28575" y="185738"/>
                </a:cubicBezTo>
                <a:lnTo>
                  <a:pt x="57150" y="185738"/>
                </a:lnTo>
                <a:lnTo>
                  <a:pt x="57150" y="371475"/>
                </a:lnTo>
                <a:lnTo>
                  <a:pt x="57150" y="371475"/>
                </a:lnTo>
                <a:lnTo>
                  <a:pt x="11430" y="405765"/>
                </a:lnTo>
                <a:cubicBezTo>
                  <a:pt x="4197" y="411123"/>
                  <a:pt x="0" y="419606"/>
                  <a:pt x="0" y="428625"/>
                </a:cubicBezTo>
                <a:cubicBezTo>
                  <a:pt x="0" y="444431"/>
                  <a:pt x="12769" y="457200"/>
                  <a:pt x="28575" y="457200"/>
                </a:cubicBezTo>
                <a:lnTo>
                  <a:pt x="428625" y="457200"/>
                </a:lnTo>
                <a:cubicBezTo>
                  <a:pt x="444431" y="457200"/>
                  <a:pt x="457200" y="444431"/>
                  <a:pt x="457200" y="428625"/>
                </a:cubicBezTo>
                <a:cubicBezTo>
                  <a:pt x="457200" y="419606"/>
                  <a:pt x="453003" y="411123"/>
                  <a:pt x="445770" y="405765"/>
                </a:cubicBezTo>
                <a:lnTo>
                  <a:pt x="400050" y="371475"/>
                </a:lnTo>
                <a:lnTo>
                  <a:pt x="400050" y="185738"/>
                </a:lnTo>
                <a:lnTo>
                  <a:pt x="428625" y="185738"/>
                </a:lnTo>
                <a:cubicBezTo>
                  <a:pt x="441573" y="185738"/>
                  <a:pt x="452914" y="176986"/>
                  <a:pt x="456218" y="164485"/>
                </a:cubicBezTo>
                <a:cubicBezTo>
                  <a:pt x="459522" y="151983"/>
                  <a:pt x="453985" y="138767"/>
                  <a:pt x="442734" y="132338"/>
                </a:cubicBezTo>
                <a:lnTo>
                  <a:pt x="242709" y="18038"/>
                </a:lnTo>
                <a:close/>
                <a:moveTo>
                  <a:pt x="357188" y="185738"/>
                </a:moveTo>
                <a:lnTo>
                  <a:pt x="357188" y="371475"/>
                </a:lnTo>
                <a:lnTo>
                  <a:pt x="300038" y="371475"/>
                </a:lnTo>
                <a:lnTo>
                  <a:pt x="300038" y="185738"/>
                </a:lnTo>
                <a:lnTo>
                  <a:pt x="357188" y="185738"/>
                </a:lnTo>
                <a:close/>
                <a:moveTo>
                  <a:pt x="257175" y="185738"/>
                </a:moveTo>
                <a:lnTo>
                  <a:pt x="257175" y="371475"/>
                </a:lnTo>
                <a:lnTo>
                  <a:pt x="200025" y="371475"/>
                </a:lnTo>
                <a:lnTo>
                  <a:pt x="200025" y="185738"/>
                </a:lnTo>
                <a:lnTo>
                  <a:pt x="257175" y="185738"/>
                </a:lnTo>
                <a:close/>
                <a:moveTo>
                  <a:pt x="157163" y="185738"/>
                </a:moveTo>
                <a:lnTo>
                  <a:pt x="157163" y="371475"/>
                </a:lnTo>
                <a:lnTo>
                  <a:pt x="100013" y="371475"/>
                </a:lnTo>
                <a:lnTo>
                  <a:pt x="100013" y="185738"/>
                </a:lnTo>
                <a:lnTo>
                  <a:pt x="157163" y="185738"/>
                </a:lnTo>
                <a:close/>
                <a:moveTo>
                  <a:pt x="228600" y="85725"/>
                </a:moveTo>
                <a:cubicBezTo>
                  <a:pt x="244371" y="85725"/>
                  <a:pt x="257175" y="98529"/>
                  <a:pt x="257175" y="114300"/>
                </a:cubicBezTo>
                <a:cubicBezTo>
                  <a:pt x="257175" y="130071"/>
                  <a:pt x="244371" y="142875"/>
                  <a:pt x="228600" y="142875"/>
                </a:cubicBezTo>
                <a:cubicBezTo>
                  <a:pt x="212829" y="142875"/>
                  <a:pt x="200025" y="130071"/>
                  <a:pt x="200025" y="114300"/>
                </a:cubicBezTo>
                <a:cubicBezTo>
                  <a:pt x="200025" y="98529"/>
                  <a:pt x="212829" y="85725"/>
                  <a:pt x="228600" y="85725"/>
                </a:cubicBezTo>
                <a:close/>
              </a:path>
            </a:pathLst>
          </a:custGeom>
          <a:solidFill>
            <a:srgbClr val="C9843E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0" y="1714500"/>
            <a:ext cx="596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 Life Example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09000" y="2413000"/>
            <a:ext cx="660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university stores all its information using SQL databases: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09000" y="4064000"/>
            <a:ext cx="6604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984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Student records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984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Teacher records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984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Result records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986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8A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0" y="635000"/>
            <a:ext cx="21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8A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DDL?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17600"/>
            <a:ext cx="1016000" cy="38100"/>
          </a:xfrm>
          <a:prstGeom prst="rect">
            <a:avLst/>
          </a:prstGeom>
          <a:solidFill>
            <a:srgbClr val="C9843E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60500"/>
            <a:ext cx="6858000" cy="2667000"/>
          </a:xfrm>
          <a:prstGeom prst="roundRect">
            <a:avLst>
              <a:gd name="adj" fmla="val 8000"/>
            </a:avLst>
          </a:prstGeom>
          <a:solidFill>
            <a:srgbClr val="E8F0F1"/>
          </a:solidFill>
          <a:ln/>
        </p:spPr>
      </p:sp>
      <p:sp>
        <p:nvSpPr>
          <p:cNvPr id="6" name="Shape 4"/>
          <p:cNvSpPr/>
          <p:nvPr/>
        </p:nvSpPr>
        <p:spPr>
          <a:xfrm>
            <a:off x="1050925" y="17145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322183" y="1072"/>
                </a:moveTo>
                <a:cubicBezTo>
                  <a:pt x="307003" y="-3304"/>
                  <a:pt x="291197" y="5536"/>
                  <a:pt x="286822" y="20717"/>
                </a:cubicBezTo>
                <a:lnTo>
                  <a:pt x="172522" y="420767"/>
                </a:lnTo>
                <a:cubicBezTo>
                  <a:pt x="168146" y="435947"/>
                  <a:pt x="176986" y="451753"/>
                  <a:pt x="192167" y="456128"/>
                </a:cubicBezTo>
                <a:cubicBezTo>
                  <a:pt x="207347" y="460504"/>
                  <a:pt x="223153" y="451664"/>
                  <a:pt x="227528" y="436483"/>
                </a:cubicBezTo>
                <a:lnTo>
                  <a:pt x="341828" y="36433"/>
                </a:lnTo>
                <a:cubicBezTo>
                  <a:pt x="346204" y="21253"/>
                  <a:pt x="337364" y="5447"/>
                  <a:pt x="322183" y="1072"/>
                </a:cubicBezTo>
                <a:close/>
                <a:moveTo>
                  <a:pt x="379869" y="122605"/>
                </a:moveTo>
                <a:cubicBezTo>
                  <a:pt x="368707" y="133767"/>
                  <a:pt x="368707" y="151894"/>
                  <a:pt x="379869" y="163056"/>
                </a:cubicBezTo>
                <a:lnTo>
                  <a:pt x="445413" y="228600"/>
                </a:lnTo>
                <a:lnTo>
                  <a:pt x="379869" y="294144"/>
                </a:lnTo>
                <a:cubicBezTo>
                  <a:pt x="368707" y="305306"/>
                  <a:pt x="368707" y="323433"/>
                  <a:pt x="379869" y="334595"/>
                </a:cubicBezTo>
                <a:cubicBezTo>
                  <a:pt x="391031" y="345758"/>
                  <a:pt x="409158" y="345758"/>
                  <a:pt x="420320" y="334595"/>
                </a:cubicBezTo>
                <a:lnTo>
                  <a:pt x="506045" y="248870"/>
                </a:lnTo>
                <a:cubicBezTo>
                  <a:pt x="517208" y="237708"/>
                  <a:pt x="517208" y="219581"/>
                  <a:pt x="506045" y="208419"/>
                </a:cubicBezTo>
                <a:lnTo>
                  <a:pt x="420320" y="122694"/>
                </a:lnTo>
                <a:cubicBezTo>
                  <a:pt x="409158" y="111532"/>
                  <a:pt x="391031" y="111532"/>
                  <a:pt x="379869" y="122694"/>
                </a:cubicBezTo>
                <a:close/>
                <a:moveTo>
                  <a:pt x="134570" y="122605"/>
                </a:moveTo>
                <a:cubicBezTo>
                  <a:pt x="123408" y="111442"/>
                  <a:pt x="105281" y="111442"/>
                  <a:pt x="94119" y="122605"/>
                </a:cubicBezTo>
                <a:lnTo>
                  <a:pt x="8394" y="208330"/>
                </a:lnTo>
                <a:cubicBezTo>
                  <a:pt x="-2768" y="219492"/>
                  <a:pt x="-2768" y="237619"/>
                  <a:pt x="8394" y="248781"/>
                </a:cubicBezTo>
                <a:lnTo>
                  <a:pt x="94119" y="334506"/>
                </a:lnTo>
                <a:cubicBezTo>
                  <a:pt x="105281" y="345668"/>
                  <a:pt x="123408" y="345668"/>
                  <a:pt x="134570" y="334506"/>
                </a:cubicBezTo>
                <a:cubicBezTo>
                  <a:pt x="145733" y="323344"/>
                  <a:pt x="145733" y="305217"/>
                  <a:pt x="134570" y="294055"/>
                </a:cubicBezTo>
                <a:lnTo>
                  <a:pt x="69026" y="228600"/>
                </a:lnTo>
                <a:lnTo>
                  <a:pt x="134481" y="163056"/>
                </a:lnTo>
                <a:cubicBezTo>
                  <a:pt x="145643" y="151894"/>
                  <a:pt x="145643" y="133767"/>
                  <a:pt x="134481" y="122605"/>
                </a:cubicBezTo>
                <a:close/>
              </a:path>
            </a:pathLst>
          </a:custGeom>
          <a:solidFill>
            <a:srgbClr val="1B3A3E"/>
          </a:solidFill>
          <a:ln/>
        </p:spPr>
      </p:sp>
      <p:sp>
        <p:nvSpPr>
          <p:cNvPr id="7" name="Text 5"/>
          <p:cNvSpPr/>
          <p:nvPr/>
        </p:nvSpPr>
        <p:spPr>
          <a:xfrm>
            <a:off x="1714500" y="1714500"/>
            <a:ext cx="558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DDL Definition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79500" y="2349500"/>
            <a:ext cx="6223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DDL stands for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 Definition Language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20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Commands used to create, modify, and delete database objects.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62000" y="4445000"/>
            <a:ext cx="685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DDL Commands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62000" y="5080000"/>
            <a:ext cx="3238500" cy="1016000"/>
          </a:xfrm>
          <a:prstGeom prst="roundRect">
            <a:avLst>
              <a:gd name="adj" fmla="val 8000"/>
            </a:avLst>
          </a:prstGeom>
          <a:solidFill>
            <a:srgbClr val="1B3A3E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5080000"/>
            <a:ext cx="32385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54500" y="5080000"/>
            <a:ext cx="3238500" cy="1016000"/>
          </a:xfrm>
          <a:prstGeom prst="roundRect">
            <a:avLst>
              <a:gd name="adj" fmla="val 8000"/>
            </a:avLst>
          </a:prstGeom>
          <a:solidFill>
            <a:srgbClr val="1B3A3E"/>
          </a:solidFill>
          <a:ln/>
        </p:spPr>
      </p:sp>
      <p:sp>
        <p:nvSpPr>
          <p:cNvPr id="13" name="Text 11"/>
          <p:cNvSpPr/>
          <p:nvPr/>
        </p:nvSpPr>
        <p:spPr>
          <a:xfrm>
            <a:off x="4254500" y="5080000"/>
            <a:ext cx="32385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ALTER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6350000"/>
            <a:ext cx="3238500" cy="1016000"/>
          </a:xfrm>
          <a:prstGeom prst="roundRect">
            <a:avLst>
              <a:gd name="adj" fmla="val 8000"/>
            </a:avLst>
          </a:prstGeom>
          <a:solidFill>
            <a:srgbClr val="1B3A3E"/>
          </a:solidFill>
          <a:ln/>
        </p:spPr>
      </p:sp>
      <p:sp>
        <p:nvSpPr>
          <p:cNvPr id="15" name="Text 13"/>
          <p:cNvSpPr/>
          <p:nvPr/>
        </p:nvSpPr>
        <p:spPr>
          <a:xfrm>
            <a:off x="762000" y="6350000"/>
            <a:ext cx="32385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DROP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54500" y="6350000"/>
            <a:ext cx="3238500" cy="1016000"/>
          </a:xfrm>
          <a:prstGeom prst="roundRect">
            <a:avLst>
              <a:gd name="adj" fmla="val 8000"/>
            </a:avLst>
          </a:prstGeom>
          <a:solidFill>
            <a:srgbClr val="1B3A3E"/>
          </a:solidFill>
          <a:ln/>
        </p:spPr>
      </p:sp>
      <p:sp>
        <p:nvSpPr>
          <p:cNvPr id="17" name="Text 15"/>
          <p:cNvSpPr/>
          <p:nvPr/>
        </p:nvSpPr>
        <p:spPr>
          <a:xfrm>
            <a:off x="4254500" y="6350000"/>
            <a:ext cx="32385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TRUNCATE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28000" y="1460500"/>
            <a:ext cx="7366000" cy="5842000"/>
          </a:xfrm>
          <a:prstGeom prst="roundRect">
            <a:avLst>
              <a:gd name="adj" fmla="val 8000"/>
            </a:avLst>
          </a:prstGeom>
          <a:solidFill>
            <a:srgbClr val="152E31"/>
          </a:solidFill>
          <a:ln/>
        </p:spPr>
      </p:sp>
      <p:sp>
        <p:nvSpPr>
          <p:cNvPr id="19" name="Shape 17"/>
          <p:cNvSpPr/>
          <p:nvPr/>
        </p:nvSpPr>
        <p:spPr>
          <a:xfrm>
            <a:off x="8509000" y="1714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71450" y="57150"/>
                </a:moveTo>
                <a:cubicBezTo>
                  <a:pt x="171450" y="41344"/>
                  <a:pt x="184219" y="28575"/>
                  <a:pt x="200025" y="28575"/>
                </a:cubicBezTo>
                <a:lnTo>
                  <a:pt x="257175" y="28575"/>
                </a:lnTo>
                <a:cubicBezTo>
                  <a:pt x="272981" y="28575"/>
                  <a:pt x="285750" y="41344"/>
                  <a:pt x="285750" y="57150"/>
                </a:cubicBezTo>
                <a:lnTo>
                  <a:pt x="285750" y="114300"/>
                </a:lnTo>
                <a:cubicBezTo>
                  <a:pt x="285750" y="130106"/>
                  <a:pt x="272981" y="142875"/>
                  <a:pt x="257175" y="142875"/>
                </a:cubicBezTo>
                <a:lnTo>
                  <a:pt x="250031" y="142875"/>
                </a:lnTo>
                <a:lnTo>
                  <a:pt x="250031" y="200025"/>
                </a:lnTo>
                <a:lnTo>
                  <a:pt x="357188" y="200025"/>
                </a:lnTo>
                <a:cubicBezTo>
                  <a:pt x="392728" y="200025"/>
                  <a:pt x="421481" y="228779"/>
                  <a:pt x="421481" y="264319"/>
                </a:cubicBezTo>
                <a:lnTo>
                  <a:pt x="421481" y="314325"/>
                </a:lnTo>
                <a:lnTo>
                  <a:pt x="428625" y="314325"/>
                </a:lnTo>
                <a:cubicBezTo>
                  <a:pt x="444431" y="314325"/>
                  <a:pt x="457200" y="327094"/>
                  <a:pt x="457200" y="342900"/>
                </a:cubicBezTo>
                <a:lnTo>
                  <a:pt x="457200" y="400050"/>
                </a:lnTo>
                <a:cubicBezTo>
                  <a:pt x="457200" y="415856"/>
                  <a:pt x="444431" y="428625"/>
                  <a:pt x="428625" y="428625"/>
                </a:cubicBezTo>
                <a:lnTo>
                  <a:pt x="371475" y="428625"/>
                </a:lnTo>
                <a:cubicBezTo>
                  <a:pt x="355669" y="428625"/>
                  <a:pt x="342900" y="415856"/>
                  <a:pt x="342900" y="400050"/>
                </a:cubicBezTo>
                <a:lnTo>
                  <a:pt x="342900" y="342900"/>
                </a:lnTo>
                <a:cubicBezTo>
                  <a:pt x="342900" y="327094"/>
                  <a:pt x="355669" y="314325"/>
                  <a:pt x="371475" y="314325"/>
                </a:cubicBezTo>
                <a:lnTo>
                  <a:pt x="378619" y="314325"/>
                </a:lnTo>
                <a:lnTo>
                  <a:pt x="378619" y="264319"/>
                </a:lnTo>
                <a:cubicBezTo>
                  <a:pt x="378619" y="252442"/>
                  <a:pt x="369064" y="242888"/>
                  <a:pt x="357188" y="242888"/>
                </a:cubicBezTo>
                <a:lnTo>
                  <a:pt x="250031" y="242888"/>
                </a:lnTo>
                <a:lnTo>
                  <a:pt x="250031" y="314325"/>
                </a:lnTo>
                <a:lnTo>
                  <a:pt x="257175" y="314325"/>
                </a:lnTo>
                <a:cubicBezTo>
                  <a:pt x="272981" y="314325"/>
                  <a:pt x="285750" y="327094"/>
                  <a:pt x="285750" y="342900"/>
                </a:cubicBezTo>
                <a:lnTo>
                  <a:pt x="285750" y="400050"/>
                </a:lnTo>
                <a:cubicBezTo>
                  <a:pt x="285750" y="415856"/>
                  <a:pt x="272981" y="428625"/>
                  <a:pt x="257175" y="428625"/>
                </a:cubicBezTo>
                <a:lnTo>
                  <a:pt x="200025" y="428625"/>
                </a:lnTo>
                <a:cubicBezTo>
                  <a:pt x="184219" y="428625"/>
                  <a:pt x="171450" y="415856"/>
                  <a:pt x="171450" y="400050"/>
                </a:cubicBezTo>
                <a:lnTo>
                  <a:pt x="171450" y="342900"/>
                </a:lnTo>
                <a:cubicBezTo>
                  <a:pt x="171450" y="327094"/>
                  <a:pt x="184219" y="314325"/>
                  <a:pt x="200025" y="314325"/>
                </a:cubicBezTo>
                <a:lnTo>
                  <a:pt x="207169" y="314325"/>
                </a:lnTo>
                <a:lnTo>
                  <a:pt x="207169" y="242888"/>
                </a:lnTo>
                <a:lnTo>
                  <a:pt x="100013" y="242888"/>
                </a:lnTo>
                <a:cubicBezTo>
                  <a:pt x="88136" y="242888"/>
                  <a:pt x="78581" y="252442"/>
                  <a:pt x="78581" y="264319"/>
                </a:cubicBezTo>
                <a:lnTo>
                  <a:pt x="78581" y="314325"/>
                </a:lnTo>
                <a:lnTo>
                  <a:pt x="85725" y="314325"/>
                </a:lnTo>
                <a:cubicBezTo>
                  <a:pt x="101531" y="314325"/>
                  <a:pt x="114300" y="327094"/>
                  <a:pt x="114300" y="342900"/>
                </a:cubicBezTo>
                <a:lnTo>
                  <a:pt x="114300" y="400050"/>
                </a:lnTo>
                <a:cubicBezTo>
                  <a:pt x="114300" y="415856"/>
                  <a:pt x="101531" y="428625"/>
                  <a:pt x="85725" y="428625"/>
                </a:cubicBezTo>
                <a:lnTo>
                  <a:pt x="28575" y="428625"/>
                </a:lnTo>
                <a:cubicBezTo>
                  <a:pt x="12769" y="428625"/>
                  <a:pt x="0" y="415856"/>
                  <a:pt x="0" y="400050"/>
                </a:cubicBezTo>
                <a:lnTo>
                  <a:pt x="0" y="342900"/>
                </a:lnTo>
                <a:cubicBezTo>
                  <a:pt x="0" y="327094"/>
                  <a:pt x="12769" y="314325"/>
                  <a:pt x="28575" y="314325"/>
                </a:cubicBezTo>
                <a:lnTo>
                  <a:pt x="35719" y="314325"/>
                </a:lnTo>
                <a:lnTo>
                  <a:pt x="35719" y="264319"/>
                </a:lnTo>
                <a:cubicBezTo>
                  <a:pt x="35719" y="228779"/>
                  <a:pt x="64472" y="200025"/>
                  <a:pt x="100013" y="200025"/>
                </a:cubicBezTo>
                <a:lnTo>
                  <a:pt x="207169" y="200025"/>
                </a:lnTo>
                <a:lnTo>
                  <a:pt x="207169" y="142875"/>
                </a:lnTo>
                <a:lnTo>
                  <a:pt x="200025" y="142875"/>
                </a:lnTo>
                <a:cubicBezTo>
                  <a:pt x="184219" y="142875"/>
                  <a:pt x="171450" y="130106"/>
                  <a:pt x="171450" y="114300"/>
                </a:cubicBezTo>
                <a:lnTo>
                  <a:pt x="171450" y="57150"/>
                </a:lnTo>
                <a:close/>
              </a:path>
            </a:pathLst>
          </a:custGeom>
          <a:solidFill>
            <a:srgbClr val="C9843E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0" y="1714500"/>
            <a:ext cx="596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DDL Commands Do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09000" y="2476500"/>
            <a:ext cx="6604000" cy="444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984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➤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database objects like tables and databases</a:t>
            </a:r>
            <a:endParaRPr lang="en-US" sz="1600" dirty="0"/>
          </a:p>
          <a:p>
            <a:pPr>
              <a:lnSpc>
                <a:spcPct val="18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C984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➤</a:t>
            </a:r>
            <a:pPr>
              <a:lnSpc>
                <a:spcPct val="18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8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Modify</a:t>
            </a:r>
            <a:pPr>
              <a:lnSpc>
                <a:spcPct val="18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existing database structure</a:t>
            </a:r>
            <a:endParaRPr lang="en-US" sz="1600" dirty="0"/>
          </a:p>
          <a:p>
            <a:pPr>
              <a:lnSpc>
                <a:spcPct val="18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C984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➤</a:t>
            </a:r>
            <a:pPr>
              <a:lnSpc>
                <a:spcPct val="18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8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Delete</a:t>
            </a:r>
            <a:pPr>
              <a:lnSpc>
                <a:spcPct val="18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database objects when no longer needed</a:t>
            </a:r>
            <a:endParaRPr lang="en-US" sz="1600" dirty="0"/>
          </a:p>
          <a:p>
            <a:pPr>
              <a:lnSpc>
                <a:spcPct val="18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C984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➤</a:t>
            </a:r>
            <a:pPr>
              <a:lnSpc>
                <a:spcPct val="18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8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Define</a:t>
            </a:r>
            <a:pPr>
              <a:lnSpc>
                <a:spcPct val="18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structure and schema of data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986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8A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0" y="635000"/>
            <a:ext cx="21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8A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Fundamentals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 in Real Life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17600"/>
            <a:ext cx="1016000" cy="38100"/>
          </a:xfrm>
          <a:prstGeom prst="rect">
            <a:avLst/>
          </a:prstGeom>
          <a:solidFill>
            <a:srgbClr val="C9843E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60500"/>
            <a:ext cx="6858000" cy="2032000"/>
          </a:xfrm>
          <a:prstGeom prst="roundRect">
            <a:avLst>
              <a:gd name="adj" fmla="val 8000"/>
            </a:avLst>
          </a:prstGeom>
          <a:solidFill>
            <a:srgbClr val="E8F0F1"/>
          </a:solidFill>
          <a:ln/>
        </p:spPr>
      </p:sp>
      <p:sp>
        <p:nvSpPr>
          <p:cNvPr id="6" name="Shape 4"/>
          <p:cNvSpPr/>
          <p:nvPr/>
        </p:nvSpPr>
        <p:spPr>
          <a:xfrm>
            <a:off x="1108075" y="17145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342900" y="457200"/>
                </a:moveTo>
                <a:lnTo>
                  <a:pt x="85725" y="457200"/>
                </a:lnTo>
                <a:cubicBezTo>
                  <a:pt x="38398" y="457200"/>
                  <a:pt x="0" y="418802"/>
                  <a:pt x="0" y="371475"/>
                </a:cubicBezTo>
                <a:lnTo>
                  <a:pt x="0" y="85725"/>
                </a:lnTo>
                <a:cubicBezTo>
                  <a:pt x="0" y="38398"/>
                  <a:pt x="38398" y="0"/>
                  <a:pt x="85725" y="0"/>
                </a:cubicBezTo>
                <a:lnTo>
                  <a:pt x="357188" y="0"/>
                </a:lnTo>
                <a:cubicBezTo>
                  <a:pt x="380851" y="0"/>
                  <a:pt x="400050" y="19199"/>
                  <a:pt x="400050" y="42863"/>
                </a:cubicBezTo>
                <a:lnTo>
                  <a:pt x="400050" y="300038"/>
                </a:lnTo>
                <a:cubicBezTo>
                  <a:pt x="400050" y="318701"/>
                  <a:pt x="388084" y="334595"/>
                  <a:pt x="371475" y="340489"/>
                </a:cubicBezTo>
                <a:lnTo>
                  <a:pt x="371475" y="400050"/>
                </a:lnTo>
                <a:cubicBezTo>
                  <a:pt x="387281" y="400050"/>
                  <a:pt x="400050" y="412819"/>
                  <a:pt x="400050" y="428625"/>
                </a:cubicBezTo>
                <a:cubicBezTo>
                  <a:pt x="400050" y="444431"/>
                  <a:pt x="387281" y="457200"/>
                  <a:pt x="371475" y="457200"/>
                </a:cubicBezTo>
                <a:lnTo>
                  <a:pt x="342900" y="457200"/>
                </a:lnTo>
                <a:close/>
                <a:moveTo>
                  <a:pt x="85725" y="342900"/>
                </a:moveTo>
                <a:cubicBezTo>
                  <a:pt x="69919" y="342900"/>
                  <a:pt x="57150" y="355669"/>
                  <a:pt x="57150" y="371475"/>
                </a:cubicBezTo>
                <a:cubicBezTo>
                  <a:pt x="57150" y="387281"/>
                  <a:pt x="69919" y="400050"/>
                  <a:pt x="85725" y="400050"/>
                </a:cubicBezTo>
                <a:lnTo>
                  <a:pt x="314325" y="400050"/>
                </a:lnTo>
                <a:lnTo>
                  <a:pt x="314325" y="342900"/>
                </a:lnTo>
                <a:lnTo>
                  <a:pt x="85725" y="342900"/>
                </a:lnTo>
                <a:close/>
                <a:moveTo>
                  <a:pt x="114300" y="135731"/>
                </a:moveTo>
                <a:cubicBezTo>
                  <a:pt x="114300" y="147608"/>
                  <a:pt x="123855" y="157163"/>
                  <a:pt x="135731" y="157163"/>
                </a:cubicBezTo>
                <a:lnTo>
                  <a:pt x="292894" y="157163"/>
                </a:lnTo>
                <a:cubicBezTo>
                  <a:pt x="304770" y="157163"/>
                  <a:pt x="314325" y="147608"/>
                  <a:pt x="314325" y="135731"/>
                </a:cubicBezTo>
                <a:cubicBezTo>
                  <a:pt x="314325" y="123855"/>
                  <a:pt x="304770" y="114300"/>
                  <a:pt x="292894" y="114300"/>
                </a:cubicBezTo>
                <a:lnTo>
                  <a:pt x="135731" y="114300"/>
                </a:lnTo>
                <a:cubicBezTo>
                  <a:pt x="123855" y="114300"/>
                  <a:pt x="114300" y="123855"/>
                  <a:pt x="114300" y="135731"/>
                </a:cubicBezTo>
                <a:close/>
                <a:moveTo>
                  <a:pt x="135731" y="200025"/>
                </a:moveTo>
                <a:cubicBezTo>
                  <a:pt x="123855" y="200025"/>
                  <a:pt x="114300" y="209580"/>
                  <a:pt x="114300" y="221456"/>
                </a:cubicBezTo>
                <a:cubicBezTo>
                  <a:pt x="114300" y="233333"/>
                  <a:pt x="123855" y="242888"/>
                  <a:pt x="135731" y="242888"/>
                </a:cubicBezTo>
                <a:lnTo>
                  <a:pt x="292894" y="242888"/>
                </a:lnTo>
                <a:cubicBezTo>
                  <a:pt x="304770" y="242888"/>
                  <a:pt x="314325" y="233333"/>
                  <a:pt x="314325" y="221456"/>
                </a:cubicBezTo>
                <a:cubicBezTo>
                  <a:pt x="314325" y="209580"/>
                  <a:pt x="304770" y="200025"/>
                  <a:pt x="292894" y="200025"/>
                </a:cubicBezTo>
                <a:lnTo>
                  <a:pt x="135731" y="200025"/>
                </a:lnTo>
                <a:close/>
              </a:path>
            </a:pathLst>
          </a:custGeom>
          <a:solidFill>
            <a:srgbClr val="1B3A3E"/>
          </a:solidFill>
          <a:ln/>
        </p:spPr>
      </p:sp>
      <p:sp>
        <p:nvSpPr>
          <p:cNvPr id="7" name="Text 5"/>
          <p:cNvSpPr/>
          <p:nvPr/>
        </p:nvSpPr>
        <p:spPr>
          <a:xfrm>
            <a:off x="1714500" y="1714500"/>
            <a:ext cx="558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a Database?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79500" y="2349500"/>
            <a:ext cx="6223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database is an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organized collection of data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stored and accessed electronically.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62000" y="3810000"/>
            <a:ext cx="685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 Bank Database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445000"/>
          <a:ext cx="6858000" cy="2540000"/>
        </p:xfrm>
        <a:graphic>
          <a:graphicData uri="http://schemas.openxmlformats.org/drawingml/2006/table">
            <a:tbl>
              <a:tblPr/>
              <a:tblGrid>
                <a:gridCol w="2057400"/>
                <a:gridCol w="2743200"/>
                <a:gridCol w="2057400"/>
              </a:tblGrid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Account No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Customer Name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Balance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3E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1001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50000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1002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Ahmed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70000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1003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Sara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45000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8128000" y="1460500"/>
            <a:ext cx="7366000" cy="5842000"/>
          </a:xfrm>
          <a:prstGeom prst="roundRect">
            <a:avLst>
              <a:gd name="adj" fmla="val 8000"/>
            </a:avLst>
          </a:prstGeom>
          <a:solidFill>
            <a:srgbClr val="152E31"/>
          </a:solidFill>
          <a:ln/>
        </p:spPr>
      </p:sp>
      <p:sp>
        <p:nvSpPr>
          <p:cNvPr id="12" name="Shape 9"/>
          <p:cNvSpPr/>
          <p:nvPr/>
        </p:nvSpPr>
        <p:spPr>
          <a:xfrm>
            <a:off x="8509000" y="1714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71450" y="57150"/>
                </a:moveTo>
                <a:cubicBezTo>
                  <a:pt x="171450" y="41344"/>
                  <a:pt x="184219" y="28575"/>
                  <a:pt x="200025" y="28575"/>
                </a:cubicBezTo>
                <a:lnTo>
                  <a:pt x="257175" y="28575"/>
                </a:lnTo>
                <a:cubicBezTo>
                  <a:pt x="272981" y="28575"/>
                  <a:pt x="285750" y="41344"/>
                  <a:pt x="285750" y="57150"/>
                </a:cubicBezTo>
                <a:lnTo>
                  <a:pt x="285750" y="114300"/>
                </a:lnTo>
                <a:cubicBezTo>
                  <a:pt x="285750" y="130106"/>
                  <a:pt x="272981" y="142875"/>
                  <a:pt x="257175" y="142875"/>
                </a:cubicBezTo>
                <a:lnTo>
                  <a:pt x="250031" y="142875"/>
                </a:lnTo>
                <a:lnTo>
                  <a:pt x="250031" y="200025"/>
                </a:lnTo>
                <a:lnTo>
                  <a:pt x="357188" y="200025"/>
                </a:lnTo>
                <a:cubicBezTo>
                  <a:pt x="392728" y="200025"/>
                  <a:pt x="421481" y="228779"/>
                  <a:pt x="421481" y="264319"/>
                </a:cubicBezTo>
                <a:lnTo>
                  <a:pt x="421481" y="314325"/>
                </a:lnTo>
                <a:lnTo>
                  <a:pt x="428625" y="314325"/>
                </a:lnTo>
                <a:cubicBezTo>
                  <a:pt x="444431" y="314325"/>
                  <a:pt x="457200" y="327094"/>
                  <a:pt x="457200" y="342900"/>
                </a:cubicBezTo>
                <a:lnTo>
                  <a:pt x="457200" y="400050"/>
                </a:lnTo>
                <a:cubicBezTo>
                  <a:pt x="457200" y="415856"/>
                  <a:pt x="444431" y="428625"/>
                  <a:pt x="428625" y="428625"/>
                </a:cubicBezTo>
                <a:lnTo>
                  <a:pt x="371475" y="428625"/>
                </a:lnTo>
                <a:cubicBezTo>
                  <a:pt x="355669" y="428625"/>
                  <a:pt x="342900" y="415856"/>
                  <a:pt x="342900" y="400050"/>
                </a:cubicBezTo>
                <a:lnTo>
                  <a:pt x="342900" y="342900"/>
                </a:lnTo>
                <a:cubicBezTo>
                  <a:pt x="342900" y="327094"/>
                  <a:pt x="355669" y="314325"/>
                  <a:pt x="371475" y="314325"/>
                </a:cubicBezTo>
                <a:lnTo>
                  <a:pt x="378619" y="314325"/>
                </a:lnTo>
                <a:lnTo>
                  <a:pt x="378619" y="264319"/>
                </a:lnTo>
                <a:cubicBezTo>
                  <a:pt x="378619" y="252442"/>
                  <a:pt x="369064" y="242888"/>
                  <a:pt x="357188" y="242888"/>
                </a:cubicBezTo>
                <a:lnTo>
                  <a:pt x="250031" y="242888"/>
                </a:lnTo>
                <a:lnTo>
                  <a:pt x="250031" y="314325"/>
                </a:lnTo>
                <a:lnTo>
                  <a:pt x="257175" y="314325"/>
                </a:lnTo>
                <a:cubicBezTo>
                  <a:pt x="272981" y="314325"/>
                  <a:pt x="285750" y="327094"/>
                  <a:pt x="285750" y="342900"/>
                </a:cubicBezTo>
                <a:lnTo>
                  <a:pt x="285750" y="400050"/>
                </a:lnTo>
                <a:cubicBezTo>
                  <a:pt x="285750" y="415856"/>
                  <a:pt x="272981" y="428625"/>
                  <a:pt x="257175" y="428625"/>
                </a:cubicBezTo>
                <a:lnTo>
                  <a:pt x="200025" y="428625"/>
                </a:lnTo>
                <a:cubicBezTo>
                  <a:pt x="184219" y="428625"/>
                  <a:pt x="171450" y="415856"/>
                  <a:pt x="171450" y="400050"/>
                </a:cubicBezTo>
                <a:lnTo>
                  <a:pt x="171450" y="342900"/>
                </a:lnTo>
                <a:cubicBezTo>
                  <a:pt x="171450" y="327094"/>
                  <a:pt x="184219" y="314325"/>
                  <a:pt x="200025" y="314325"/>
                </a:cubicBezTo>
                <a:lnTo>
                  <a:pt x="207169" y="314325"/>
                </a:lnTo>
                <a:lnTo>
                  <a:pt x="207169" y="242888"/>
                </a:lnTo>
                <a:lnTo>
                  <a:pt x="100013" y="242888"/>
                </a:lnTo>
                <a:cubicBezTo>
                  <a:pt x="88136" y="242888"/>
                  <a:pt x="78581" y="252442"/>
                  <a:pt x="78581" y="264319"/>
                </a:cubicBezTo>
                <a:lnTo>
                  <a:pt x="78581" y="314325"/>
                </a:lnTo>
                <a:lnTo>
                  <a:pt x="85725" y="314325"/>
                </a:lnTo>
                <a:cubicBezTo>
                  <a:pt x="101531" y="314325"/>
                  <a:pt x="114300" y="327094"/>
                  <a:pt x="114300" y="342900"/>
                </a:cubicBezTo>
                <a:lnTo>
                  <a:pt x="114300" y="400050"/>
                </a:lnTo>
                <a:cubicBezTo>
                  <a:pt x="114300" y="415856"/>
                  <a:pt x="101531" y="428625"/>
                  <a:pt x="85725" y="428625"/>
                </a:cubicBezTo>
                <a:lnTo>
                  <a:pt x="28575" y="428625"/>
                </a:lnTo>
                <a:cubicBezTo>
                  <a:pt x="12769" y="428625"/>
                  <a:pt x="0" y="415856"/>
                  <a:pt x="0" y="400050"/>
                </a:cubicBezTo>
                <a:lnTo>
                  <a:pt x="0" y="342900"/>
                </a:lnTo>
                <a:cubicBezTo>
                  <a:pt x="0" y="327094"/>
                  <a:pt x="12769" y="314325"/>
                  <a:pt x="28575" y="314325"/>
                </a:cubicBezTo>
                <a:lnTo>
                  <a:pt x="35719" y="314325"/>
                </a:lnTo>
                <a:lnTo>
                  <a:pt x="35719" y="264319"/>
                </a:lnTo>
                <a:cubicBezTo>
                  <a:pt x="35719" y="228779"/>
                  <a:pt x="64472" y="200025"/>
                  <a:pt x="100013" y="200025"/>
                </a:cubicBezTo>
                <a:lnTo>
                  <a:pt x="207169" y="200025"/>
                </a:lnTo>
                <a:lnTo>
                  <a:pt x="207169" y="142875"/>
                </a:lnTo>
                <a:lnTo>
                  <a:pt x="200025" y="142875"/>
                </a:lnTo>
                <a:cubicBezTo>
                  <a:pt x="184219" y="142875"/>
                  <a:pt x="171450" y="130106"/>
                  <a:pt x="171450" y="114300"/>
                </a:cubicBezTo>
                <a:lnTo>
                  <a:pt x="171450" y="57150"/>
                </a:lnTo>
                <a:close/>
              </a:path>
            </a:pathLst>
          </a:custGeom>
          <a:solidFill>
            <a:srgbClr val="C9843E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0" y="1714500"/>
            <a:ext cx="596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 Structure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0922000" y="2667000"/>
            <a:ext cx="1778000" cy="635000"/>
          </a:xfrm>
          <a:prstGeom prst="roundRect">
            <a:avLst>
              <a:gd name="adj" fmla="val 10000"/>
            </a:avLst>
          </a:prstGeom>
          <a:solidFill>
            <a:srgbClr val="C9843E"/>
          </a:solidFill>
          <a:ln/>
        </p:spPr>
      </p:sp>
      <p:sp>
        <p:nvSpPr>
          <p:cNvPr id="15" name="Text 12"/>
          <p:cNvSpPr/>
          <p:nvPr/>
        </p:nvSpPr>
        <p:spPr>
          <a:xfrm>
            <a:off x="10922000" y="266700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1811000" y="3302000"/>
            <a:ext cx="0" cy="508000"/>
          </a:xfrm>
          <a:prstGeom prst="straightConnector1">
            <a:avLst/>
          </a:prstGeom>
          <a:noFill/>
          <a:ln w="25400">
            <a:solidFill>
              <a:srgbClr val="C9843E"/>
            </a:solidFill>
            <a:prstDash val="solid"/>
            <a:headEnd type="none"/>
            <a:tailEnd type="none"/>
          </a:ln>
        </p:spPr>
      </p:sp>
      <p:sp>
        <p:nvSpPr>
          <p:cNvPr id="17" name="Shape 14"/>
          <p:cNvSpPr/>
          <p:nvPr/>
        </p:nvSpPr>
        <p:spPr>
          <a:xfrm>
            <a:off x="9398000" y="3810000"/>
            <a:ext cx="4826000" cy="0"/>
          </a:xfrm>
          <a:prstGeom prst="straightConnector1">
            <a:avLst/>
          </a:prstGeom>
          <a:noFill/>
          <a:ln w="25400">
            <a:solidFill>
              <a:srgbClr val="C9843E"/>
            </a:solidFill>
            <a:prstDash val="solid"/>
            <a:headEnd type="none"/>
            <a:tailEnd type="none"/>
          </a:ln>
        </p:spPr>
      </p:sp>
      <p:sp>
        <p:nvSpPr>
          <p:cNvPr id="18" name="Shape 15"/>
          <p:cNvSpPr/>
          <p:nvPr/>
        </p:nvSpPr>
        <p:spPr>
          <a:xfrm>
            <a:off x="9398000" y="3810000"/>
            <a:ext cx="0" cy="508000"/>
          </a:xfrm>
          <a:prstGeom prst="straightConnector1">
            <a:avLst/>
          </a:prstGeom>
          <a:noFill/>
          <a:ln w="25400">
            <a:solidFill>
              <a:srgbClr val="C9843E"/>
            </a:solidFill>
            <a:prstDash val="solid"/>
            <a:headEnd type="none"/>
            <a:tailEnd type="none"/>
          </a:ln>
        </p:spPr>
      </p:sp>
      <p:sp>
        <p:nvSpPr>
          <p:cNvPr id="19" name="Shape 16"/>
          <p:cNvSpPr/>
          <p:nvPr/>
        </p:nvSpPr>
        <p:spPr>
          <a:xfrm>
            <a:off x="11811000" y="3810000"/>
            <a:ext cx="0" cy="508000"/>
          </a:xfrm>
          <a:prstGeom prst="straightConnector1">
            <a:avLst/>
          </a:prstGeom>
          <a:noFill/>
          <a:ln w="25400">
            <a:solidFill>
              <a:srgbClr val="C9843E"/>
            </a:solidFill>
            <a:prstDash val="solid"/>
            <a:headEnd type="none"/>
            <a:tailEnd type="none"/>
          </a:ln>
        </p:spPr>
      </p:sp>
      <p:sp>
        <p:nvSpPr>
          <p:cNvPr id="20" name="Shape 17"/>
          <p:cNvSpPr/>
          <p:nvPr/>
        </p:nvSpPr>
        <p:spPr>
          <a:xfrm>
            <a:off x="14224000" y="3810000"/>
            <a:ext cx="0" cy="508000"/>
          </a:xfrm>
          <a:prstGeom prst="straightConnector1">
            <a:avLst/>
          </a:prstGeom>
          <a:noFill/>
          <a:ln w="25400">
            <a:solidFill>
              <a:srgbClr val="C9843E"/>
            </a:solidFill>
            <a:prstDash val="solid"/>
            <a:headEnd type="none"/>
            <a:tailEnd type="none"/>
          </a:ln>
        </p:spPr>
      </p:sp>
      <p:sp>
        <p:nvSpPr>
          <p:cNvPr id="21" name="Shape 18"/>
          <p:cNvSpPr/>
          <p:nvPr/>
        </p:nvSpPr>
        <p:spPr>
          <a:xfrm>
            <a:off x="8509000" y="4318000"/>
            <a:ext cx="1778000" cy="571500"/>
          </a:xfrm>
          <a:prstGeom prst="roundRect">
            <a:avLst>
              <a:gd name="adj" fmla="val 10000"/>
            </a:avLst>
          </a:prstGeom>
          <a:solidFill>
            <a:srgbClr val="2A5A5E"/>
          </a:solidFill>
          <a:ln/>
        </p:spPr>
      </p:sp>
      <p:sp>
        <p:nvSpPr>
          <p:cNvPr id="22" name="Text 19"/>
          <p:cNvSpPr/>
          <p:nvPr/>
        </p:nvSpPr>
        <p:spPr>
          <a:xfrm>
            <a:off x="8509000" y="4318000"/>
            <a:ext cx="177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10922000" y="4318000"/>
            <a:ext cx="1778000" cy="571500"/>
          </a:xfrm>
          <a:prstGeom prst="roundRect">
            <a:avLst>
              <a:gd name="adj" fmla="val 10000"/>
            </a:avLst>
          </a:prstGeom>
          <a:solidFill>
            <a:srgbClr val="2A5A5E"/>
          </a:solidFill>
          <a:ln/>
        </p:spPr>
      </p:sp>
      <p:sp>
        <p:nvSpPr>
          <p:cNvPr id="24" name="Text 21"/>
          <p:cNvSpPr/>
          <p:nvPr/>
        </p:nvSpPr>
        <p:spPr>
          <a:xfrm>
            <a:off x="10922000" y="4318000"/>
            <a:ext cx="177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Accounts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13335000" y="4318000"/>
            <a:ext cx="1778000" cy="571500"/>
          </a:xfrm>
          <a:prstGeom prst="roundRect">
            <a:avLst>
              <a:gd name="adj" fmla="val 10000"/>
            </a:avLst>
          </a:prstGeom>
          <a:solidFill>
            <a:srgbClr val="2A5A5E"/>
          </a:solidFill>
          <a:ln/>
        </p:spPr>
      </p:sp>
      <p:sp>
        <p:nvSpPr>
          <p:cNvPr id="26" name="Text 23"/>
          <p:cNvSpPr/>
          <p:nvPr/>
        </p:nvSpPr>
        <p:spPr>
          <a:xfrm>
            <a:off x="13335000" y="4318000"/>
            <a:ext cx="177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Transactions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509000" y="5334000"/>
            <a:ext cx="660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single database can contain multiple related tables that store different types of data.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4986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8A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0" y="635000"/>
            <a:ext cx="21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8A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Database Commands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Database Command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17600"/>
            <a:ext cx="1016000" cy="38100"/>
          </a:xfrm>
          <a:prstGeom prst="rect">
            <a:avLst/>
          </a:prstGeom>
          <a:solidFill>
            <a:srgbClr val="C9843E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60500"/>
            <a:ext cx="6858000" cy="1841500"/>
          </a:xfrm>
          <a:prstGeom prst="roundRect">
            <a:avLst>
              <a:gd name="adj" fmla="val 8000"/>
            </a:avLst>
          </a:prstGeom>
          <a:solidFill>
            <a:srgbClr val="E8F0F1"/>
          </a:solidFill>
          <a:ln/>
        </p:spPr>
      </p:sp>
      <p:sp>
        <p:nvSpPr>
          <p:cNvPr id="6" name="Shape 4"/>
          <p:cNvSpPr/>
          <p:nvPr/>
        </p:nvSpPr>
        <p:spPr>
          <a:xfrm>
            <a:off x="1079500" y="165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cubicBezTo>
                  <a:pt x="354768" y="457200"/>
                  <a:pt x="457200" y="354768"/>
                  <a:pt x="457200" y="228600"/>
                </a:cubicBezTo>
                <a:cubicBezTo>
                  <a:pt x="457200" y="102432"/>
                  <a:pt x="354768" y="0"/>
                  <a:pt x="228600" y="0"/>
                </a:cubicBezTo>
                <a:cubicBezTo>
                  <a:pt x="102432" y="0"/>
                  <a:pt x="0" y="102432"/>
                  <a:pt x="0" y="228600"/>
                </a:cubicBezTo>
                <a:cubicBezTo>
                  <a:pt x="0" y="354768"/>
                  <a:pt x="102432" y="457200"/>
                  <a:pt x="228600" y="457200"/>
                </a:cubicBezTo>
                <a:close/>
                <a:moveTo>
                  <a:pt x="207169" y="307181"/>
                </a:moveTo>
                <a:lnTo>
                  <a:pt x="207169" y="250031"/>
                </a:lnTo>
                <a:lnTo>
                  <a:pt x="150019" y="250031"/>
                </a:lnTo>
                <a:cubicBezTo>
                  <a:pt x="138142" y="250031"/>
                  <a:pt x="128588" y="240476"/>
                  <a:pt x="128588" y="228600"/>
                </a:cubicBezTo>
                <a:cubicBezTo>
                  <a:pt x="128588" y="216724"/>
                  <a:pt x="138142" y="207169"/>
                  <a:pt x="150019" y="207169"/>
                </a:cubicBezTo>
                <a:lnTo>
                  <a:pt x="207169" y="207169"/>
                </a:lnTo>
                <a:lnTo>
                  <a:pt x="207169" y="150019"/>
                </a:lnTo>
                <a:cubicBezTo>
                  <a:pt x="207169" y="138142"/>
                  <a:pt x="216724" y="128588"/>
                  <a:pt x="228600" y="128588"/>
                </a:cubicBezTo>
                <a:cubicBezTo>
                  <a:pt x="240476" y="128588"/>
                  <a:pt x="250031" y="138142"/>
                  <a:pt x="250031" y="150019"/>
                </a:cubicBezTo>
                <a:lnTo>
                  <a:pt x="250031" y="207169"/>
                </a:lnTo>
                <a:lnTo>
                  <a:pt x="307181" y="207169"/>
                </a:lnTo>
                <a:cubicBezTo>
                  <a:pt x="319058" y="207169"/>
                  <a:pt x="328613" y="216724"/>
                  <a:pt x="328613" y="228600"/>
                </a:cubicBezTo>
                <a:cubicBezTo>
                  <a:pt x="328613" y="240476"/>
                  <a:pt x="319058" y="250031"/>
                  <a:pt x="307181" y="250031"/>
                </a:cubicBezTo>
                <a:lnTo>
                  <a:pt x="250031" y="250031"/>
                </a:lnTo>
                <a:lnTo>
                  <a:pt x="250031" y="307181"/>
                </a:lnTo>
                <a:cubicBezTo>
                  <a:pt x="250031" y="319058"/>
                  <a:pt x="240476" y="328613"/>
                  <a:pt x="228600" y="328613"/>
                </a:cubicBezTo>
                <a:cubicBezTo>
                  <a:pt x="216724" y="328613"/>
                  <a:pt x="207169" y="319058"/>
                  <a:pt x="207169" y="307181"/>
                </a:cubicBezTo>
                <a:close/>
              </a:path>
            </a:pathLst>
          </a:custGeom>
          <a:solidFill>
            <a:srgbClr val="1B3A3E"/>
          </a:solidFill>
          <a:ln/>
        </p:spPr>
      </p:sp>
      <p:sp>
        <p:nvSpPr>
          <p:cNvPr id="7" name="Text 5"/>
          <p:cNvSpPr/>
          <p:nvPr/>
        </p:nvSpPr>
        <p:spPr>
          <a:xfrm>
            <a:off x="1714500" y="1651000"/>
            <a:ext cx="558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79500" y="2222500"/>
            <a:ext cx="6223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C984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CREATE DATABASE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command is used to create a new database.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62000" y="3429000"/>
            <a:ext cx="685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62000" y="4000500"/>
            <a:ext cx="6858000" cy="889000"/>
          </a:xfrm>
          <a:prstGeom prst="roundRect">
            <a:avLst>
              <a:gd name="adj" fmla="val 8000"/>
            </a:avLst>
          </a:prstGeom>
          <a:solidFill>
            <a:srgbClr val="152E31"/>
          </a:solidFill>
          <a:ln/>
        </p:spPr>
      </p:sp>
      <p:sp>
        <p:nvSpPr>
          <p:cNvPr id="11" name="Text 9"/>
          <p:cNvSpPr/>
          <p:nvPr/>
        </p:nvSpPr>
        <p:spPr>
          <a:xfrm>
            <a:off x="1079500" y="4000500"/>
            <a:ext cx="6223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DATABASE database_name;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2000" y="5270500"/>
            <a:ext cx="685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62000" y="5842000"/>
            <a:ext cx="6858000" cy="889000"/>
          </a:xfrm>
          <a:prstGeom prst="roundRect">
            <a:avLst>
              <a:gd name="adj" fmla="val 8000"/>
            </a:avLst>
          </a:prstGeom>
          <a:solidFill>
            <a:srgbClr val="152E31"/>
          </a:solidFill>
          <a:ln/>
        </p:spPr>
      </p:sp>
      <p:sp>
        <p:nvSpPr>
          <p:cNvPr id="14" name="Text 12"/>
          <p:cNvSpPr/>
          <p:nvPr/>
        </p:nvSpPr>
        <p:spPr>
          <a:xfrm>
            <a:off x="1079500" y="5842000"/>
            <a:ext cx="6223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DATABASE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SchoolDB;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62000" y="6921500"/>
            <a:ext cx="685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This creates a database named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SchoolDB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128000" y="1460500"/>
            <a:ext cx="7366000" cy="5842000"/>
          </a:xfrm>
          <a:prstGeom prst="roundRect">
            <a:avLst>
              <a:gd name="adj" fmla="val 8000"/>
            </a:avLst>
          </a:prstGeom>
          <a:solidFill>
            <a:srgbClr val="1B3A3E"/>
          </a:solidFill>
          <a:ln/>
        </p:spPr>
      </p:sp>
      <p:sp>
        <p:nvSpPr>
          <p:cNvPr id="17" name="Shape 15"/>
          <p:cNvSpPr/>
          <p:nvPr/>
        </p:nvSpPr>
        <p:spPr>
          <a:xfrm>
            <a:off x="8585200" y="1778000"/>
            <a:ext cx="457200" cy="609600"/>
          </a:xfrm>
          <a:custGeom>
            <a:avLst/>
            <a:gdLst/>
            <a:ahLst/>
            <a:cxnLst/>
            <a:rect l="l" t="t" r="r" b="b"/>
            <a:pathLst>
              <a:path w="457200" h="609600">
                <a:moveTo>
                  <a:pt x="348734" y="457200"/>
                </a:moveTo>
                <a:cubicBezTo>
                  <a:pt x="357426" y="430649"/>
                  <a:pt x="374809" y="406598"/>
                  <a:pt x="394454" y="385882"/>
                </a:cubicBezTo>
                <a:cubicBezTo>
                  <a:pt x="433387" y="344924"/>
                  <a:pt x="457200" y="289560"/>
                  <a:pt x="457200" y="228600"/>
                </a:cubicBezTo>
                <a:cubicBezTo>
                  <a:pt x="457200" y="102394"/>
                  <a:pt x="354806" y="0"/>
                  <a:pt x="228600" y="0"/>
                </a:cubicBezTo>
                <a:cubicBezTo>
                  <a:pt x="102394" y="0"/>
                  <a:pt x="0" y="102394"/>
                  <a:pt x="0" y="228600"/>
                </a:cubicBezTo>
                <a:cubicBezTo>
                  <a:pt x="0" y="289560"/>
                  <a:pt x="23813" y="344924"/>
                  <a:pt x="62746" y="385882"/>
                </a:cubicBezTo>
                <a:cubicBezTo>
                  <a:pt x="82391" y="406598"/>
                  <a:pt x="99893" y="430649"/>
                  <a:pt x="108466" y="457200"/>
                </a:cubicBezTo>
                <a:lnTo>
                  <a:pt x="348615" y="457200"/>
                </a:lnTo>
                <a:close/>
                <a:moveTo>
                  <a:pt x="342900" y="514350"/>
                </a:moveTo>
                <a:lnTo>
                  <a:pt x="114300" y="514350"/>
                </a:lnTo>
                <a:lnTo>
                  <a:pt x="114300" y="533400"/>
                </a:lnTo>
                <a:cubicBezTo>
                  <a:pt x="114300" y="586026"/>
                  <a:pt x="156924" y="628650"/>
                  <a:pt x="209550" y="628650"/>
                </a:cubicBezTo>
                <a:lnTo>
                  <a:pt x="247650" y="628650"/>
                </a:lnTo>
                <a:cubicBezTo>
                  <a:pt x="300276" y="628650"/>
                  <a:pt x="342900" y="586026"/>
                  <a:pt x="342900" y="533400"/>
                </a:cubicBezTo>
                <a:lnTo>
                  <a:pt x="342900" y="514350"/>
                </a:lnTo>
                <a:close/>
                <a:moveTo>
                  <a:pt x="219075" y="133350"/>
                </a:moveTo>
                <a:cubicBezTo>
                  <a:pt x="171688" y="133350"/>
                  <a:pt x="133350" y="171688"/>
                  <a:pt x="133350" y="219075"/>
                </a:cubicBezTo>
                <a:cubicBezTo>
                  <a:pt x="133350" y="234910"/>
                  <a:pt x="120610" y="247650"/>
                  <a:pt x="104775" y="247650"/>
                </a:cubicBezTo>
                <a:cubicBezTo>
                  <a:pt x="88940" y="247650"/>
                  <a:pt x="76200" y="234910"/>
                  <a:pt x="76200" y="219075"/>
                </a:cubicBezTo>
                <a:cubicBezTo>
                  <a:pt x="76200" y="140137"/>
                  <a:pt x="140137" y="76200"/>
                  <a:pt x="219075" y="76200"/>
                </a:cubicBezTo>
                <a:cubicBezTo>
                  <a:pt x="234910" y="76200"/>
                  <a:pt x="247650" y="88940"/>
                  <a:pt x="247650" y="104775"/>
                </a:cubicBezTo>
                <a:cubicBezTo>
                  <a:pt x="247650" y="120610"/>
                  <a:pt x="234910" y="133350"/>
                  <a:pt x="219075" y="133350"/>
                </a:cubicBezTo>
                <a:close/>
              </a:path>
            </a:pathLst>
          </a:custGeom>
          <a:solidFill>
            <a:srgbClr val="C9843E"/>
          </a:solidFill>
          <a:ln/>
        </p:spPr>
      </p:sp>
      <p:sp>
        <p:nvSpPr>
          <p:cNvPr id="18" name="Text 16"/>
          <p:cNvSpPr/>
          <p:nvPr/>
        </p:nvSpPr>
        <p:spPr>
          <a:xfrm>
            <a:off x="8509000" y="2667000"/>
            <a:ext cx="660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Points to Remember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09000" y="3365500"/>
            <a:ext cx="6604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984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Database name should be meaningful and descriptive</a:t>
            </a:r>
            <a:endParaRPr lang="en-US" sz="1600" dirty="0"/>
          </a:p>
          <a:p>
            <a:pPr>
              <a:lnSpc>
                <a:spcPct val="18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C984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pPr>
              <a:lnSpc>
                <a:spcPct val="18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Each database is independent and isolated</a:t>
            </a:r>
            <a:endParaRPr lang="en-US" sz="1600" dirty="0"/>
          </a:p>
          <a:p>
            <a:pPr>
              <a:lnSpc>
                <a:spcPct val="18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C984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pPr>
              <a:lnSpc>
                <a:spcPct val="18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One MySQL server can host multiple databases</a:t>
            </a:r>
            <a:endParaRPr lang="en-US" sz="1600" dirty="0"/>
          </a:p>
          <a:p>
            <a:pPr>
              <a:lnSpc>
                <a:spcPct val="18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C984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pPr>
              <a:lnSpc>
                <a:spcPct val="18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Database names are case-insensitive on Windows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986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8A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0" y="635000"/>
            <a:ext cx="21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8A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Database Commands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 Life Example — Create Database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17600"/>
            <a:ext cx="1016000" cy="38100"/>
          </a:xfrm>
          <a:prstGeom prst="rect">
            <a:avLst/>
          </a:prstGeom>
          <a:solidFill>
            <a:srgbClr val="C9843E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147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School Management System — Different Databases for Different Purposes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62000" y="2222500"/>
            <a:ext cx="3429000" cy="2032000"/>
          </a:xfrm>
          <a:prstGeom prst="roundRect">
            <a:avLst>
              <a:gd name="adj" fmla="val 8000"/>
            </a:avLst>
          </a:prstGeom>
          <a:solidFill>
            <a:srgbClr val="1B3A3E"/>
          </a:solidFill>
          <a:ln/>
        </p:spPr>
      </p:sp>
      <p:sp>
        <p:nvSpPr>
          <p:cNvPr id="7" name="Shape 5"/>
          <p:cNvSpPr/>
          <p:nvPr/>
        </p:nvSpPr>
        <p:spPr>
          <a:xfrm>
            <a:off x="2000250" y="2413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0" y="190500"/>
                </a:moveTo>
                <a:cubicBezTo>
                  <a:pt x="0" y="155476"/>
                  <a:pt x="28476" y="127000"/>
                  <a:pt x="63500" y="127000"/>
                </a:cubicBezTo>
                <a:lnTo>
                  <a:pt x="127000" y="127000"/>
                </a:lnTo>
                <a:lnTo>
                  <a:pt x="253901" y="12799"/>
                </a:lnTo>
                <a:cubicBezTo>
                  <a:pt x="272058" y="-3473"/>
                  <a:pt x="299541" y="-3473"/>
                  <a:pt x="317599" y="12799"/>
                </a:cubicBezTo>
                <a:lnTo>
                  <a:pt x="444500" y="127000"/>
                </a:lnTo>
                <a:lnTo>
                  <a:pt x="508000" y="127000"/>
                </a:lnTo>
                <a:cubicBezTo>
                  <a:pt x="543024" y="127000"/>
                  <a:pt x="571500" y="155476"/>
                  <a:pt x="571500" y="190500"/>
                </a:cubicBezTo>
                <a:lnTo>
                  <a:pt x="571500" y="444500"/>
                </a:lnTo>
                <a:cubicBezTo>
                  <a:pt x="571500" y="479524"/>
                  <a:pt x="543024" y="508000"/>
                  <a:pt x="508000" y="508000"/>
                </a:cubicBezTo>
                <a:lnTo>
                  <a:pt x="63500" y="508000"/>
                </a:lnTo>
                <a:cubicBezTo>
                  <a:pt x="28476" y="508000"/>
                  <a:pt x="0" y="479524"/>
                  <a:pt x="0" y="444500"/>
                </a:cubicBezTo>
                <a:lnTo>
                  <a:pt x="0" y="190500"/>
                </a:lnTo>
                <a:close/>
                <a:moveTo>
                  <a:pt x="222250" y="373063"/>
                </a:moveTo>
                <a:lnTo>
                  <a:pt x="222250" y="460375"/>
                </a:lnTo>
                <a:lnTo>
                  <a:pt x="349250" y="460375"/>
                </a:lnTo>
                <a:lnTo>
                  <a:pt x="349250" y="373063"/>
                </a:lnTo>
                <a:cubicBezTo>
                  <a:pt x="349250" y="351135"/>
                  <a:pt x="331490" y="333375"/>
                  <a:pt x="309562" y="333375"/>
                </a:cubicBezTo>
                <a:lnTo>
                  <a:pt x="261937" y="333375"/>
                </a:lnTo>
                <a:cubicBezTo>
                  <a:pt x="240010" y="333375"/>
                  <a:pt x="222250" y="351135"/>
                  <a:pt x="222250" y="373063"/>
                </a:cubicBezTo>
                <a:close/>
                <a:moveTo>
                  <a:pt x="111125" y="381000"/>
                </a:moveTo>
                <a:cubicBezTo>
                  <a:pt x="119856" y="381000"/>
                  <a:pt x="127000" y="373856"/>
                  <a:pt x="127000" y="365125"/>
                </a:cubicBezTo>
                <a:lnTo>
                  <a:pt x="127000" y="333375"/>
                </a:lnTo>
                <a:cubicBezTo>
                  <a:pt x="127000" y="324644"/>
                  <a:pt x="119856" y="317500"/>
                  <a:pt x="111125" y="317500"/>
                </a:cubicBezTo>
                <a:lnTo>
                  <a:pt x="79375" y="317500"/>
                </a:lnTo>
                <a:cubicBezTo>
                  <a:pt x="70644" y="317500"/>
                  <a:pt x="63500" y="324644"/>
                  <a:pt x="63500" y="333375"/>
                </a:cubicBezTo>
                <a:lnTo>
                  <a:pt x="63500" y="365125"/>
                </a:lnTo>
                <a:cubicBezTo>
                  <a:pt x="63500" y="373856"/>
                  <a:pt x="70644" y="381000"/>
                  <a:pt x="79375" y="381000"/>
                </a:cubicBezTo>
                <a:lnTo>
                  <a:pt x="111125" y="381000"/>
                </a:lnTo>
                <a:close/>
                <a:moveTo>
                  <a:pt x="127000" y="238125"/>
                </a:moveTo>
                <a:lnTo>
                  <a:pt x="127000" y="206375"/>
                </a:lnTo>
                <a:cubicBezTo>
                  <a:pt x="127000" y="197644"/>
                  <a:pt x="119856" y="190500"/>
                  <a:pt x="111125" y="190500"/>
                </a:cubicBezTo>
                <a:lnTo>
                  <a:pt x="79375" y="190500"/>
                </a:lnTo>
                <a:cubicBezTo>
                  <a:pt x="70644" y="190500"/>
                  <a:pt x="63500" y="197644"/>
                  <a:pt x="63500" y="206375"/>
                </a:cubicBezTo>
                <a:lnTo>
                  <a:pt x="63500" y="238125"/>
                </a:lnTo>
                <a:cubicBezTo>
                  <a:pt x="63500" y="246856"/>
                  <a:pt x="70644" y="254000"/>
                  <a:pt x="79375" y="254000"/>
                </a:cubicBezTo>
                <a:lnTo>
                  <a:pt x="111125" y="254000"/>
                </a:lnTo>
                <a:cubicBezTo>
                  <a:pt x="119856" y="254000"/>
                  <a:pt x="127000" y="246856"/>
                  <a:pt x="127000" y="238125"/>
                </a:cubicBezTo>
                <a:close/>
                <a:moveTo>
                  <a:pt x="492125" y="381000"/>
                </a:moveTo>
                <a:cubicBezTo>
                  <a:pt x="500856" y="381000"/>
                  <a:pt x="508000" y="373856"/>
                  <a:pt x="508000" y="365125"/>
                </a:cubicBezTo>
                <a:lnTo>
                  <a:pt x="508000" y="333375"/>
                </a:lnTo>
                <a:cubicBezTo>
                  <a:pt x="508000" y="324644"/>
                  <a:pt x="500856" y="317500"/>
                  <a:pt x="492125" y="317500"/>
                </a:cubicBezTo>
                <a:lnTo>
                  <a:pt x="460375" y="317500"/>
                </a:lnTo>
                <a:cubicBezTo>
                  <a:pt x="451644" y="317500"/>
                  <a:pt x="444500" y="324644"/>
                  <a:pt x="444500" y="333375"/>
                </a:cubicBezTo>
                <a:lnTo>
                  <a:pt x="444500" y="365125"/>
                </a:lnTo>
                <a:cubicBezTo>
                  <a:pt x="444500" y="373856"/>
                  <a:pt x="451644" y="381000"/>
                  <a:pt x="460375" y="381000"/>
                </a:cubicBezTo>
                <a:lnTo>
                  <a:pt x="492125" y="381000"/>
                </a:lnTo>
                <a:close/>
                <a:moveTo>
                  <a:pt x="508000" y="238125"/>
                </a:moveTo>
                <a:lnTo>
                  <a:pt x="508000" y="206375"/>
                </a:lnTo>
                <a:cubicBezTo>
                  <a:pt x="508000" y="197644"/>
                  <a:pt x="500856" y="190500"/>
                  <a:pt x="492125" y="190500"/>
                </a:cubicBezTo>
                <a:lnTo>
                  <a:pt x="460375" y="190500"/>
                </a:lnTo>
                <a:cubicBezTo>
                  <a:pt x="451644" y="190500"/>
                  <a:pt x="444500" y="197644"/>
                  <a:pt x="444500" y="206375"/>
                </a:cubicBezTo>
                <a:lnTo>
                  <a:pt x="444500" y="238125"/>
                </a:lnTo>
                <a:cubicBezTo>
                  <a:pt x="444500" y="246856"/>
                  <a:pt x="451644" y="254000"/>
                  <a:pt x="460375" y="254000"/>
                </a:cubicBezTo>
                <a:lnTo>
                  <a:pt x="492125" y="254000"/>
                </a:lnTo>
                <a:cubicBezTo>
                  <a:pt x="500856" y="254000"/>
                  <a:pt x="508000" y="246856"/>
                  <a:pt x="508000" y="238125"/>
                </a:cubicBezTo>
                <a:close/>
                <a:moveTo>
                  <a:pt x="285750" y="254000"/>
                </a:moveTo>
                <a:cubicBezTo>
                  <a:pt x="320797" y="254000"/>
                  <a:pt x="349250" y="225547"/>
                  <a:pt x="349250" y="190500"/>
                </a:cubicBezTo>
                <a:cubicBezTo>
                  <a:pt x="349250" y="155453"/>
                  <a:pt x="320797" y="127000"/>
                  <a:pt x="285750" y="127000"/>
                </a:cubicBezTo>
                <a:cubicBezTo>
                  <a:pt x="250703" y="127000"/>
                  <a:pt x="222250" y="155453"/>
                  <a:pt x="222250" y="190500"/>
                </a:cubicBezTo>
                <a:cubicBezTo>
                  <a:pt x="222250" y="225547"/>
                  <a:pt x="250703" y="254000"/>
                  <a:pt x="285750" y="254000"/>
                </a:cubicBezTo>
                <a:close/>
              </a:path>
            </a:pathLst>
          </a:custGeom>
          <a:solidFill>
            <a:srgbClr val="C9843E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30480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SchoolDB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89000" y="3492500"/>
            <a:ext cx="317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Students, Teachers, Courses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08500" y="2222500"/>
            <a:ext cx="3429000" cy="2032000"/>
          </a:xfrm>
          <a:prstGeom prst="roundRect">
            <a:avLst>
              <a:gd name="adj" fmla="val 8000"/>
            </a:avLst>
          </a:prstGeom>
          <a:solidFill>
            <a:srgbClr val="1B3A3E"/>
          </a:solidFill>
          <a:ln/>
        </p:spPr>
      </p:sp>
      <p:sp>
        <p:nvSpPr>
          <p:cNvPr id="11" name="Shape 9"/>
          <p:cNvSpPr/>
          <p:nvPr/>
        </p:nvSpPr>
        <p:spPr>
          <a:xfrm>
            <a:off x="5746750" y="2413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127000" y="63500"/>
                </a:moveTo>
                <a:cubicBezTo>
                  <a:pt x="127000" y="28476"/>
                  <a:pt x="155476" y="0"/>
                  <a:pt x="190500" y="0"/>
                </a:cubicBezTo>
                <a:lnTo>
                  <a:pt x="381000" y="0"/>
                </a:lnTo>
                <a:cubicBezTo>
                  <a:pt x="416024" y="0"/>
                  <a:pt x="444500" y="28476"/>
                  <a:pt x="444500" y="63500"/>
                </a:cubicBezTo>
                <a:lnTo>
                  <a:pt x="444500" y="127000"/>
                </a:lnTo>
                <a:lnTo>
                  <a:pt x="508000" y="127000"/>
                </a:lnTo>
                <a:cubicBezTo>
                  <a:pt x="543024" y="127000"/>
                  <a:pt x="571500" y="155476"/>
                  <a:pt x="571500" y="190500"/>
                </a:cubicBezTo>
                <a:lnTo>
                  <a:pt x="571500" y="444500"/>
                </a:lnTo>
                <a:cubicBezTo>
                  <a:pt x="571500" y="479524"/>
                  <a:pt x="543024" y="508000"/>
                  <a:pt x="508000" y="508000"/>
                </a:cubicBezTo>
                <a:lnTo>
                  <a:pt x="63500" y="508000"/>
                </a:lnTo>
                <a:cubicBezTo>
                  <a:pt x="28476" y="508000"/>
                  <a:pt x="0" y="479524"/>
                  <a:pt x="0" y="444500"/>
                </a:cubicBezTo>
                <a:lnTo>
                  <a:pt x="0" y="190500"/>
                </a:lnTo>
                <a:cubicBezTo>
                  <a:pt x="0" y="155476"/>
                  <a:pt x="28476" y="127000"/>
                  <a:pt x="63500" y="127000"/>
                </a:cubicBezTo>
                <a:lnTo>
                  <a:pt x="127000" y="127000"/>
                </a:lnTo>
                <a:lnTo>
                  <a:pt x="127000" y="63500"/>
                </a:lnTo>
                <a:close/>
                <a:moveTo>
                  <a:pt x="269875" y="349250"/>
                </a:moveTo>
                <a:cubicBezTo>
                  <a:pt x="252313" y="349250"/>
                  <a:pt x="238125" y="363438"/>
                  <a:pt x="238125" y="381000"/>
                </a:cubicBezTo>
                <a:lnTo>
                  <a:pt x="238125" y="460375"/>
                </a:lnTo>
                <a:lnTo>
                  <a:pt x="333375" y="460375"/>
                </a:lnTo>
                <a:lnTo>
                  <a:pt x="333375" y="381000"/>
                </a:lnTo>
                <a:cubicBezTo>
                  <a:pt x="333375" y="363438"/>
                  <a:pt x="319187" y="349250"/>
                  <a:pt x="301625" y="349250"/>
                </a:cubicBezTo>
                <a:lnTo>
                  <a:pt x="269875" y="349250"/>
                </a:lnTo>
                <a:close/>
                <a:moveTo>
                  <a:pt x="127000" y="365125"/>
                </a:moveTo>
                <a:lnTo>
                  <a:pt x="127000" y="333375"/>
                </a:lnTo>
                <a:cubicBezTo>
                  <a:pt x="127000" y="324644"/>
                  <a:pt x="119856" y="317500"/>
                  <a:pt x="111125" y="317500"/>
                </a:cubicBezTo>
                <a:lnTo>
                  <a:pt x="79375" y="317500"/>
                </a:lnTo>
                <a:cubicBezTo>
                  <a:pt x="70644" y="317500"/>
                  <a:pt x="63500" y="324644"/>
                  <a:pt x="63500" y="333375"/>
                </a:cubicBezTo>
                <a:lnTo>
                  <a:pt x="63500" y="365125"/>
                </a:lnTo>
                <a:cubicBezTo>
                  <a:pt x="63500" y="373856"/>
                  <a:pt x="70644" y="381000"/>
                  <a:pt x="79375" y="381000"/>
                </a:cubicBezTo>
                <a:lnTo>
                  <a:pt x="111125" y="381000"/>
                </a:lnTo>
                <a:cubicBezTo>
                  <a:pt x="119856" y="381000"/>
                  <a:pt x="127000" y="373856"/>
                  <a:pt x="127000" y="365125"/>
                </a:cubicBezTo>
                <a:close/>
                <a:moveTo>
                  <a:pt x="111125" y="254000"/>
                </a:moveTo>
                <a:cubicBezTo>
                  <a:pt x="119856" y="254000"/>
                  <a:pt x="127000" y="246856"/>
                  <a:pt x="127000" y="238125"/>
                </a:cubicBezTo>
                <a:lnTo>
                  <a:pt x="127000" y="206375"/>
                </a:lnTo>
                <a:cubicBezTo>
                  <a:pt x="127000" y="197644"/>
                  <a:pt x="119856" y="190500"/>
                  <a:pt x="111125" y="190500"/>
                </a:cubicBezTo>
                <a:lnTo>
                  <a:pt x="79375" y="190500"/>
                </a:lnTo>
                <a:cubicBezTo>
                  <a:pt x="70644" y="190500"/>
                  <a:pt x="63500" y="197644"/>
                  <a:pt x="63500" y="206375"/>
                </a:cubicBezTo>
                <a:lnTo>
                  <a:pt x="63500" y="238125"/>
                </a:lnTo>
                <a:cubicBezTo>
                  <a:pt x="63500" y="246856"/>
                  <a:pt x="70644" y="254000"/>
                  <a:pt x="79375" y="254000"/>
                </a:cubicBezTo>
                <a:lnTo>
                  <a:pt x="111125" y="254000"/>
                </a:lnTo>
                <a:close/>
                <a:moveTo>
                  <a:pt x="508000" y="365125"/>
                </a:moveTo>
                <a:lnTo>
                  <a:pt x="508000" y="333375"/>
                </a:lnTo>
                <a:cubicBezTo>
                  <a:pt x="508000" y="324644"/>
                  <a:pt x="500856" y="317500"/>
                  <a:pt x="492125" y="317500"/>
                </a:cubicBezTo>
                <a:lnTo>
                  <a:pt x="460375" y="317500"/>
                </a:lnTo>
                <a:cubicBezTo>
                  <a:pt x="451644" y="317500"/>
                  <a:pt x="444500" y="324644"/>
                  <a:pt x="444500" y="333375"/>
                </a:cubicBezTo>
                <a:lnTo>
                  <a:pt x="444500" y="365125"/>
                </a:lnTo>
                <a:cubicBezTo>
                  <a:pt x="444500" y="373856"/>
                  <a:pt x="451644" y="381000"/>
                  <a:pt x="460375" y="381000"/>
                </a:cubicBezTo>
                <a:lnTo>
                  <a:pt x="492125" y="381000"/>
                </a:lnTo>
                <a:cubicBezTo>
                  <a:pt x="500856" y="381000"/>
                  <a:pt x="508000" y="373856"/>
                  <a:pt x="508000" y="365125"/>
                </a:cubicBezTo>
                <a:close/>
                <a:moveTo>
                  <a:pt x="492125" y="254000"/>
                </a:moveTo>
                <a:cubicBezTo>
                  <a:pt x="500856" y="254000"/>
                  <a:pt x="508000" y="246856"/>
                  <a:pt x="508000" y="238125"/>
                </a:cubicBezTo>
                <a:lnTo>
                  <a:pt x="508000" y="206375"/>
                </a:lnTo>
                <a:cubicBezTo>
                  <a:pt x="508000" y="197644"/>
                  <a:pt x="500856" y="190500"/>
                  <a:pt x="492125" y="190500"/>
                </a:cubicBezTo>
                <a:lnTo>
                  <a:pt x="460375" y="190500"/>
                </a:lnTo>
                <a:cubicBezTo>
                  <a:pt x="451644" y="190500"/>
                  <a:pt x="444500" y="197644"/>
                  <a:pt x="444500" y="206375"/>
                </a:cubicBezTo>
                <a:lnTo>
                  <a:pt x="444500" y="238125"/>
                </a:lnTo>
                <a:cubicBezTo>
                  <a:pt x="444500" y="246856"/>
                  <a:pt x="451644" y="254000"/>
                  <a:pt x="460375" y="254000"/>
                </a:cubicBezTo>
                <a:lnTo>
                  <a:pt x="492125" y="254000"/>
                </a:lnTo>
                <a:close/>
                <a:moveTo>
                  <a:pt x="261937" y="103188"/>
                </a:moveTo>
                <a:lnTo>
                  <a:pt x="261937" y="134938"/>
                </a:lnTo>
                <a:lnTo>
                  <a:pt x="230188" y="134938"/>
                </a:lnTo>
                <a:cubicBezTo>
                  <a:pt x="221456" y="134938"/>
                  <a:pt x="214313" y="142081"/>
                  <a:pt x="214313" y="150813"/>
                </a:cubicBezTo>
                <a:lnTo>
                  <a:pt x="214313" y="166688"/>
                </a:lnTo>
                <a:cubicBezTo>
                  <a:pt x="214313" y="175419"/>
                  <a:pt x="221456" y="182563"/>
                  <a:pt x="230188" y="182563"/>
                </a:cubicBezTo>
                <a:lnTo>
                  <a:pt x="261937" y="182563"/>
                </a:lnTo>
                <a:lnTo>
                  <a:pt x="261937" y="214313"/>
                </a:lnTo>
                <a:cubicBezTo>
                  <a:pt x="261937" y="223044"/>
                  <a:pt x="269081" y="230188"/>
                  <a:pt x="277813" y="230188"/>
                </a:cubicBezTo>
                <a:lnTo>
                  <a:pt x="293688" y="230188"/>
                </a:lnTo>
                <a:cubicBezTo>
                  <a:pt x="302419" y="230188"/>
                  <a:pt x="309562" y="223044"/>
                  <a:pt x="309562" y="214313"/>
                </a:cubicBezTo>
                <a:lnTo>
                  <a:pt x="309562" y="182563"/>
                </a:lnTo>
                <a:lnTo>
                  <a:pt x="341313" y="182563"/>
                </a:lnTo>
                <a:cubicBezTo>
                  <a:pt x="350044" y="182563"/>
                  <a:pt x="357188" y="175419"/>
                  <a:pt x="357188" y="166688"/>
                </a:cubicBezTo>
                <a:lnTo>
                  <a:pt x="357188" y="150813"/>
                </a:lnTo>
                <a:cubicBezTo>
                  <a:pt x="357188" y="142081"/>
                  <a:pt x="350044" y="134938"/>
                  <a:pt x="341313" y="134938"/>
                </a:cubicBezTo>
                <a:lnTo>
                  <a:pt x="309562" y="134938"/>
                </a:lnTo>
                <a:lnTo>
                  <a:pt x="309562" y="103188"/>
                </a:lnTo>
                <a:cubicBezTo>
                  <a:pt x="309562" y="94456"/>
                  <a:pt x="302419" y="87313"/>
                  <a:pt x="293688" y="87313"/>
                </a:cubicBezTo>
                <a:lnTo>
                  <a:pt x="277813" y="87313"/>
                </a:lnTo>
                <a:cubicBezTo>
                  <a:pt x="269081" y="87313"/>
                  <a:pt x="261937" y="94456"/>
                  <a:pt x="261937" y="103188"/>
                </a:cubicBezTo>
                <a:close/>
              </a:path>
            </a:pathLst>
          </a:custGeom>
          <a:solidFill>
            <a:srgbClr val="C9843E"/>
          </a:solidFill>
          <a:ln/>
        </p:spPr>
      </p:sp>
      <p:sp>
        <p:nvSpPr>
          <p:cNvPr id="12" name="Text 10"/>
          <p:cNvSpPr/>
          <p:nvPr/>
        </p:nvSpPr>
        <p:spPr>
          <a:xfrm>
            <a:off x="4508500" y="30480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HospitalDB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35500" y="3492500"/>
            <a:ext cx="317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Patients, Doctors, Appointments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55000" y="2222500"/>
            <a:ext cx="3429000" cy="2032000"/>
          </a:xfrm>
          <a:prstGeom prst="roundRect">
            <a:avLst>
              <a:gd name="adj" fmla="val 8000"/>
            </a:avLst>
          </a:prstGeom>
          <a:solidFill>
            <a:srgbClr val="1B3A3E"/>
          </a:solidFill>
          <a:ln/>
        </p:spPr>
      </p:sp>
      <p:sp>
        <p:nvSpPr>
          <p:cNvPr id="15" name="Shape 13"/>
          <p:cNvSpPr/>
          <p:nvPr/>
        </p:nvSpPr>
        <p:spPr>
          <a:xfrm>
            <a:off x="9525000" y="2413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69776" y="20042"/>
                </a:moveTo>
                <a:cubicBezTo>
                  <a:pt x="260052" y="14486"/>
                  <a:pt x="248047" y="14486"/>
                  <a:pt x="238224" y="20042"/>
                </a:cubicBezTo>
                <a:lnTo>
                  <a:pt x="15974" y="147042"/>
                </a:lnTo>
                <a:cubicBezTo>
                  <a:pt x="3473" y="154186"/>
                  <a:pt x="-2679" y="168870"/>
                  <a:pt x="992" y="182761"/>
                </a:cubicBezTo>
                <a:cubicBezTo>
                  <a:pt x="4663" y="196652"/>
                  <a:pt x="17363" y="206375"/>
                  <a:pt x="31750" y="206375"/>
                </a:cubicBezTo>
                <a:lnTo>
                  <a:pt x="63500" y="206375"/>
                </a:lnTo>
                <a:lnTo>
                  <a:pt x="63500" y="412750"/>
                </a:lnTo>
                <a:lnTo>
                  <a:pt x="63500" y="412750"/>
                </a:lnTo>
                <a:lnTo>
                  <a:pt x="12700" y="450850"/>
                </a:lnTo>
                <a:cubicBezTo>
                  <a:pt x="4663" y="456803"/>
                  <a:pt x="0" y="466229"/>
                  <a:pt x="0" y="476250"/>
                </a:cubicBezTo>
                <a:cubicBezTo>
                  <a:pt x="0" y="493812"/>
                  <a:pt x="14188" y="508000"/>
                  <a:pt x="31750" y="508000"/>
                </a:cubicBezTo>
                <a:lnTo>
                  <a:pt x="476250" y="508000"/>
                </a:lnTo>
                <a:cubicBezTo>
                  <a:pt x="493812" y="508000"/>
                  <a:pt x="508000" y="493812"/>
                  <a:pt x="508000" y="476250"/>
                </a:cubicBezTo>
                <a:cubicBezTo>
                  <a:pt x="508000" y="466229"/>
                  <a:pt x="503337" y="456803"/>
                  <a:pt x="495300" y="450850"/>
                </a:cubicBezTo>
                <a:lnTo>
                  <a:pt x="444500" y="412750"/>
                </a:lnTo>
                <a:lnTo>
                  <a:pt x="444500" y="206375"/>
                </a:lnTo>
                <a:lnTo>
                  <a:pt x="476250" y="206375"/>
                </a:lnTo>
                <a:cubicBezTo>
                  <a:pt x="490637" y="206375"/>
                  <a:pt x="503238" y="196652"/>
                  <a:pt x="506909" y="182761"/>
                </a:cubicBezTo>
                <a:cubicBezTo>
                  <a:pt x="510580" y="168870"/>
                  <a:pt x="504428" y="154186"/>
                  <a:pt x="491927" y="147042"/>
                </a:cubicBezTo>
                <a:lnTo>
                  <a:pt x="269677" y="20042"/>
                </a:lnTo>
                <a:close/>
                <a:moveTo>
                  <a:pt x="396875" y="206375"/>
                </a:moveTo>
                <a:lnTo>
                  <a:pt x="396875" y="412750"/>
                </a:lnTo>
                <a:lnTo>
                  <a:pt x="333375" y="412750"/>
                </a:lnTo>
                <a:lnTo>
                  <a:pt x="333375" y="206375"/>
                </a:lnTo>
                <a:lnTo>
                  <a:pt x="396875" y="206375"/>
                </a:lnTo>
                <a:close/>
                <a:moveTo>
                  <a:pt x="285750" y="206375"/>
                </a:moveTo>
                <a:lnTo>
                  <a:pt x="285750" y="412750"/>
                </a:lnTo>
                <a:lnTo>
                  <a:pt x="222250" y="412750"/>
                </a:lnTo>
                <a:lnTo>
                  <a:pt x="222250" y="206375"/>
                </a:lnTo>
                <a:lnTo>
                  <a:pt x="285750" y="206375"/>
                </a:lnTo>
                <a:close/>
                <a:moveTo>
                  <a:pt x="174625" y="206375"/>
                </a:moveTo>
                <a:lnTo>
                  <a:pt x="174625" y="412750"/>
                </a:lnTo>
                <a:lnTo>
                  <a:pt x="111125" y="412750"/>
                </a:lnTo>
                <a:lnTo>
                  <a:pt x="111125" y="206375"/>
                </a:lnTo>
                <a:lnTo>
                  <a:pt x="174625" y="206375"/>
                </a:lnTo>
                <a:close/>
                <a:moveTo>
                  <a:pt x="254000" y="95250"/>
                </a:moveTo>
                <a:cubicBezTo>
                  <a:pt x="271523" y="95250"/>
                  <a:pt x="285750" y="109477"/>
                  <a:pt x="285750" y="127000"/>
                </a:cubicBezTo>
                <a:cubicBezTo>
                  <a:pt x="285750" y="144523"/>
                  <a:pt x="271523" y="158750"/>
                  <a:pt x="254000" y="158750"/>
                </a:cubicBezTo>
                <a:cubicBezTo>
                  <a:pt x="236477" y="158750"/>
                  <a:pt x="222250" y="144523"/>
                  <a:pt x="222250" y="127000"/>
                </a:cubicBezTo>
                <a:cubicBezTo>
                  <a:pt x="222250" y="109477"/>
                  <a:pt x="236477" y="95250"/>
                  <a:pt x="254000" y="95250"/>
                </a:cubicBezTo>
                <a:close/>
              </a:path>
            </a:pathLst>
          </a:custGeom>
          <a:solidFill>
            <a:srgbClr val="C9843E"/>
          </a:solidFill>
          <a:ln/>
        </p:spPr>
      </p:sp>
      <p:sp>
        <p:nvSpPr>
          <p:cNvPr id="16" name="Text 14"/>
          <p:cNvSpPr/>
          <p:nvPr/>
        </p:nvSpPr>
        <p:spPr>
          <a:xfrm>
            <a:off x="8255000" y="30480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BankDB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82000" y="3492500"/>
            <a:ext cx="317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Accounts, Transactions, Loans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001500" y="2222500"/>
            <a:ext cx="3429000" cy="2032000"/>
          </a:xfrm>
          <a:prstGeom prst="roundRect">
            <a:avLst>
              <a:gd name="adj" fmla="val 8000"/>
            </a:avLst>
          </a:prstGeom>
          <a:solidFill>
            <a:srgbClr val="1B3A3E"/>
          </a:solidFill>
          <a:ln/>
        </p:spPr>
      </p:sp>
      <p:sp>
        <p:nvSpPr>
          <p:cNvPr id="19" name="Shape 17"/>
          <p:cNvSpPr/>
          <p:nvPr/>
        </p:nvSpPr>
        <p:spPr>
          <a:xfrm>
            <a:off x="13303250" y="24130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381000" y="508000"/>
                </a:moveTo>
                <a:lnTo>
                  <a:pt x="95250" y="508000"/>
                </a:lnTo>
                <a:cubicBezTo>
                  <a:pt x="42664" y="508000"/>
                  <a:pt x="0" y="465336"/>
                  <a:pt x="0" y="412750"/>
                </a:cubicBezTo>
                <a:lnTo>
                  <a:pt x="0" y="95250"/>
                </a:lnTo>
                <a:cubicBezTo>
                  <a:pt x="0" y="42664"/>
                  <a:pt x="42664" y="0"/>
                  <a:pt x="95250" y="0"/>
                </a:cubicBezTo>
                <a:lnTo>
                  <a:pt x="396875" y="0"/>
                </a:lnTo>
                <a:cubicBezTo>
                  <a:pt x="423168" y="0"/>
                  <a:pt x="444500" y="21332"/>
                  <a:pt x="444500" y="47625"/>
                </a:cubicBezTo>
                <a:lnTo>
                  <a:pt x="444500" y="333375"/>
                </a:lnTo>
                <a:cubicBezTo>
                  <a:pt x="444500" y="354112"/>
                  <a:pt x="431205" y="371773"/>
                  <a:pt x="412750" y="378321"/>
                </a:cubicBezTo>
                <a:lnTo>
                  <a:pt x="412750" y="444500"/>
                </a:lnTo>
                <a:cubicBezTo>
                  <a:pt x="430312" y="444500"/>
                  <a:pt x="444500" y="458688"/>
                  <a:pt x="444500" y="476250"/>
                </a:cubicBezTo>
                <a:cubicBezTo>
                  <a:pt x="444500" y="493812"/>
                  <a:pt x="430312" y="508000"/>
                  <a:pt x="412750" y="508000"/>
                </a:cubicBezTo>
                <a:lnTo>
                  <a:pt x="381000" y="508000"/>
                </a:lnTo>
                <a:close/>
                <a:moveTo>
                  <a:pt x="95250" y="381000"/>
                </a:moveTo>
                <a:cubicBezTo>
                  <a:pt x="77688" y="381000"/>
                  <a:pt x="63500" y="395188"/>
                  <a:pt x="63500" y="412750"/>
                </a:cubicBezTo>
                <a:cubicBezTo>
                  <a:pt x="63500" y="430312"/>
                  <a:pt x="77688" y="444500"/>
                  <a:pt x="95250" y="444500"/>
                </a:cubicBezTo>
                <a:lnTo>
                  <a:pt x="349250" y="444500"/>
                </a:lnTo>
                <a:lnTo>
                  <a:pt x="349250" y="381000"/>
                </a:lnTo>
                <a:lnTo>
                  <a:pt x="95250" y="381000"/>
                </a:lnTo>
                <a:close/>
                <a:moveTo>
                  <a:pt x="127000" y="150813"/>
                </a:moveTo>
                <a:cubicBezTo>
                  <a:pt x="127000" y="164009"/>
                  <a:pt x="137616" y="174625"/>
                  <a:pt x="150813" y="174625"/>
                </a:cubicBezTo>
                <a:lnTo>
                  <a:pt x="325438" y="174625"/>
                </a:lnTo>
                <a:cubicBezTo>
                  <a:pt x="338634" y="174625"/>
                  <a:pt x="349250" y="164009"/>
                  <a:pt x="349250" y="150813"/>
                </a:cubicBezTo>
                <a:cubicBezTo>
                  <a:pt x="349250" y="137616"/>
                  <a:pt x="338634" y="127000"/>
                  <a:pt x="325438" y="127000"/>
                </a:cubicBezTo>
                <a:lnTo>
                  <a:pt x="150813" y="127000"/>
                </a:lnTo>
                <a:cubicBezTo>
                  <a:pt x="137616" y="127000"/>
                  <a:pt x="127000" y="137616"/>
                  <a:pt x="127000" y="150813"/>
                </a:cubicBezTo>
                <a:close/>
                <a:moveTo>
                  <a:pt x="150813" y="222250"/>
                </a:moveTo>
                <a:cubicBezTo>
                  <a:pt x="137616" y="222250"/>
                  <a:pt x="127000" y="232866"/>
                  <a:pt x="127000" y="246063"/>
                </a:cubicBezTo>
                <a:cubicBezTo>
                  <a:pt x="127000" y="259259"/>
                  <a:pt x="137616" y="269875"/>
                  <a:pt x="150813" y="269875"/>
                </a:cubicBezTo>
                <a:lnTo>
                  <a:pt x="325438" y="269875"/>
                </a:lnTo>
                <a:cubicBezTo>
                  <a:pt x="338634" y="269875"/>
                  <a:pt x="349250" y="259259"/>
                  <a:pt x="349250" y="246063"/>
                </a:cubicBezTo>
                <a:cubicBezTo>
                  <a:pt x="349250" y="232866"/>
                  <a:pt x="338634" y="222250"/>
                  <a:pt x="325438" y="222250"/>
                </a:cubicBezTo>
                <a:lnTo>
                  <a:pt x="150813" y="222250"/>
                </a:lnTo>
                <a:close/>
              </a:path>
            </a:pathLst>
          </a:custGeom>
          <a:solidFill>
            <a:srgbClr val="C9843E"/>
          </a:solidFill>
          <a:ln/>
        </p:spPr>
      </p:sp>
      <p:sp>
        <p:nvSpPr>
          <p:cNvPr id="20" name="Text 18"/>
          <p:cNvSpPr/>
          <p:nvPr/>
        </p:nvSpPr>
        <p:spPr>
          <a:xfrm>
            <a:off x="12001500" y="30480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LibraryDB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128500" y="3492500"/>
            <a:ext cx="317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Books, Members, Borrowings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2000" y="4699000"/>
            <a:ext cx="147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 Creating HospitalDB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762000" y="5334000"/>
            <a:ext cx="14732000" cy="889000"/>
          </a:xfrm>
          <a:prstGeom prst="roundRect">
            <a:avLst>
              <a:gd name="adj" fmla="val 6000"/>
            </a:avLst>
          </a:prstGeom>
          <a:solidFill>
            <a:srgbClr val="152E31"/>
          </a:solidFill>
          <a:ln/>
        </p:spPr>
      </p:sp>
      <p:sp>
        <p:nvSpPr>
          <p:cNvPr id="24" name="Text 22"/>
          <p:cNvSpPr/>
          <p:nvPr/>
        </p:nvSpPr>
        <p:spPr>
          <a:xfrm>
            <a:off x="1143000" y="5334000"/>
            <a:ext cx="1397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DATABASE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HospitalDB;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62000" y="6604000"/>
            <a:ext cx="14732000" cy="1524000"/>
          </a:xfrm>
          <a:prstGeom prst="roundRect">
            <a:avLst>
              <a:gd name="adj" fmla="val 6000"/>
            </a:avLst>
          </a:prstGeom>
          <a:solidFill>
            <a:srgbClr val="E8F0F1"/>
          </a:solidFill>
          <a:ln/>
        </p:spPr>
      </p:sp>
      <p:sp>
        <p:nvSpPr>
          <p:cNvPr id="26" name="Shape 24"/>
          <p:cNvSpPr/>
          <p:nvPr/>
        </p:nvSpPr>
        <p:spPr>
          <a:xfrm>
            <a:off x="1079500" y="6858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381000"/>
                </a:moveTo>
                <a:cubicBezTo>
                  <a:pt x="295640" y="381000"/>
                  <a:pt x="381000" y="295640"/>
                  <a:pt x="381000" y="190500"/>
                </a:cubicBezTo>
                <a:cubicBezTo>
                  <a:pt x="381000" y="85360"/>
                  <a:pt x="295640" y="0"/>
                  <a:pt x="190500" y="0"/>
                </a:cubicBezTo>
                <a:cubicBezTo>
                  <a:pt x="85360" y="0"/>
                  <a:pt x="0" y="85360"/>
                  <a:pt x="0" y="190500"/>
                </a:cubicBezTo>
                <a:cubicBezTo>
                  <a:pt x="0" y="295640"/>
                  <a:pt x="85360" y="381000"/>
                  <a:pt x="190500" y="381000"/>
                </a:cubicBezTo>
                <a:close/>
                <a:moveTo>
                  <a:pt x="166688" y="119063"/>
                </a:moveTo>
                <a:cubicBezTo>
                  <a:pt x="166688" y="105920"/>
                  <a:pt x="177358" y="95250"/>
                  <a:pt x="190500" y="95250"/>
                </a:cubicBezTo>
                <a:cubicBezTo>
                  <a:pt x="203642" y="95250"/>
                  <a:pt x="214313" y="105920"/>
                  <a:pt x="214313" y="119063"/>
                </a:cubicBezTo>
                <a:cubicBezTo>
                  <a:pt x="214313" y="132205"/>
                  <a:pt x="203642" y="142875"/>
                  <a:pt x="190500" y="142875"/>
                </a:cubicBezTo>
                <a:cubicBezTo>
                  <a:pt x="177358" y="142875"/>
                  <a:pt x="166688" y="132205"/>
                  <a:pt x="166688" y="119063"/>
                </a:cubicBezTo>
                <a:close/>
                <a:moveTo>
                  <a:pt x="160734" y="166688"/>
                </a:moveTo>
                <a:lnTo>
                  <a:pt x="196453" y="166688"/>
                </a:lnTo>
                <a:cubicBezTo>
                  <a:pt x="206350" y="166688"/>
                  <a:pt x="214313" y="174650"/>
                  <a:pt x="214313" y="184547"/>
                </a:cubicBezTo>
                <a:lnTo>
                  <a:pt x="214313" y="250031"/>
                </a:lnTo>
                <a:lnTo>
                  <a:pt x="220266" y="250031"/>
                </a:lnTo>
                <a:cubicBezTo>
                  <a:pt x="230163" y="250031"/>
                  <a:pt x="238125" y="257994"/>
                  <a:pt x="238125" y="267891"/>
                </a:cubicBezTo>
                <a:cubicBezTo>
                  <a:pt x="238125" y="277788"/>
                  <a:pt x="230163" y="285750"/>
                  <a:pt x="220266" y="285750"/>
                </a:cubicBezTo>
                <a:lnTo>
                  <a:pt x="160734" y="285750"/>
                </a:lnTo>
                <a:cubicBezTo>
                  <a:pt x="150837" y="285750"/>
                  <a:pt x="142875" y="277788"/>
                  <a:pt x="142875" y="267891"/>
                </a:cubicBezTo>
                <a:cubicBezTo>
                  <a:pt x="142875" y="257994"/>
                  <a:pt x="150837" y="250031"/>
                  <a:pt x="160734" y="250031"/>
                </a:cubicBezTo>
                <a:lnTo>
                  <a:pt x="178594" y="250031"/>
                </a:lnTo>
                <a:lnTo>
                  <a:pt x="178594" y="202406"/>
                </a:lnTo>
                <a:lnTo>
                  <a:pt x="160734" y="202406"/>
                </a:lnTo>
                <a:cubicBezTo>
                  <a:pt x="150837" y="202406"/>
                  <a:pt x="142875" y="194444"/>
                  <a:pt x="142875" y="184547"/>
                </a:cubicBezTo>
                <a:cubicBezTo>
                  <a:pt x="142875" y="174650"/>
                  <a:pt x="150837" y="166688"/>
                  <a:pt x="160734" y="166688"/>
                </a:cubicBezTo>
                <a:close/>
              </a:path>
            </a:pathLst>
          </a:custGeom>
          <a:solidFill>
            <a:srgbClr val="C9843E"/>
          </a:solidFill>
          <a:ln/>
        </p:spPr>
      </p:sp>
      <p:sp>
        <p:nvSpPr>
          <p:cNvPr id="27" name="Text 25"/>
          <p:cNvSpPr/>
          <p:nvPr/>
        </p:nvSpPr>
        <p:spPr>
          <a:xfrm>
            <a:off x="1587500" y="67945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Used to Store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079500" y="7366000"/>
            <a:ext cx="1397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C984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Patient records   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C984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Doctor information   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C984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Appointment schedules   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C984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Medical history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4986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8A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0" y="635000"/>
            <a:ext cx="21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8A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Database Commands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Show Database Command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17600"/>
            <a:ext cx="1016000" cy="38100"/>
          </a:xfrm>
          <a:prstGeom prst="rect">
            <a:avLst/>
          </a:prstGeom>
          <a:solidFill>
            <a:srgbClr val="C9843E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60500"/>
            <a:ext cx="6858000" cy="1651000"/>
          </a:xfrm>
          <a:prstGeom prst="roundRect">
            <a:avLst>
              <a:gd name="adj" fmla="val 8000"/>
            </a:avLst>
          </a:prstGeom>
          <a:solidFill>
            <a:srgbClr val="E8F0F1"/>
          </a:solidFill>
          <a:ln/>
        </p:spPr>
      </p:sp>
      <p:sp>
        <p:nvSpPr>
          <p:cNvPr id="6" name="Shape 4"/>
          <p:cNvSpPr/>
          <p:nvPr/>
        </p:nvSpPr>
        <p:spPr>
          <a:xfrm>
            <a:off x="1050925" y="1651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57175" y="28575"/>
                </a:moveTo>
                <a:cubicBezTo>
                  <a:pt x="185023" y="28575"/>
                  <a:pt x="127248" y="61436"/>
                  <a:pt x="85189" y="100548"/>
                </a:cubicBezTo>
                <a:cubicBezTo>
                  <a:pt x="43398" y="139392"/>
                  <a:pt x="15448" y="185738"/>
                  <a:pt x="2143" y="217616"/>
                </a:cubicBezTo>
                <a:cubicBezTo>
                  <a:pt x="-804" y="224671"/>
                  <a:pt x="-804" y="232529"/>
                  <a:pt x="2143" y="239584"/>
                </a:cubicBezTo>
                <a:cubicBezTo>
                  <a:pt x="15448" y="271463"/>
                  <a:pt x="43398" y="317897"/>
                  <a:pt x="85189" y="356652"/>
                </a:cubicBezTo>
                <a:cubicBezTo>
                  <a:pt x="127248" y="395674"/>
                  <a:pt x="185023" y="428625"/>
                  <a:pt x="257175" y="428625"/>
                </a:cubicBezTo>
                <a:cubicBezTo>
                  <a:pt x="329327" y="428625"/>
                  <a:pt x="387102" y="395764"/>
                  <a:pt x="429161" y="356652"/>
                </a:cubicBezTo>
                <a:cubicBezTo>
                  <a:pt x="470952" y="317808"/>
                  <a:pt x="498902" y="271463"/>
                  <a:pt x="512207" y="239584"/>
                </a:cubicBezTo>
                <a:cubicBezTo>
                  <a:pt x="515154" y="232529"/>
                  <a:pt x="515154" y="224671"/>
                  <a:pt x="512207" y="217616"/>
                </a:cubicBezTo>
                <a:cubicBezTo>
                  <a:pt x="498902" y="185737"/>
                  <a:pt x="470952" y="139303"/>
                  <a:pt x="429161" y="100548"/>
                </a:cubicBezTo>
                <a:cubicBezTo>
                  <a:pt x="387102" y="61526"/>
                  <a:pt x="329327" y="28575"/>
                  <a:pt x="257175" y="28575"/>
                </a:cubicBezTo>
                <a:close/>
                <a:moveTo>
                  <a:pt x="128588" y="228600"/>
                </a:moveTo>
                <a:cubicBezTo>
                  <a:pt x="128588" y="157631"/>
                  <a:pt x="186206" y="100013"/>
                  <a:pt x="257175" y="100013"/>
                </a:cubicBezTo>
                <a:cubicBezTo>
                  <a:pt x="328144" y="100013"/>
                  <a:pt x="385763" y="157631"/>
                  <a:pt x="385763" y="228600"/>
                </a:cubicBezTo>
                <a:cubicBezTo>
                  <a:pt x="385763" y="299569"/>
                  <a:pt x="328144" y="357188"/>
                  <a:pt x="257175" y="357188"/>
                </a:cubicBezTo>
                <a:cubicBezTo>
                  <a:pt x="186206" y="357188"/>
                  <a:pt x="128588" y="299569"/>
                  <a:pt x="128588" y="228600"/>
                </a:cubicBezTo>
                <a:close/>
                <a:moveTo>
                  <a:pt x="257175" y="171450"/>
                </a:moveTo>
                <a:cubicBezTo>
                  <a:pt x="257175" y="202972"/>
                  <a:pt x="231547" y="228600"/>
                  <a:pt x="200025" y="228600"/>
                </a:cubicBezTo>
                <a:cubicBezTo>
                  <a:pt x="189756" y="228600"/>
                  <a:pt x="180112" y="225921"/>
                  <a:pt x="171718" y="221099"/>
                </a:cubicBezTo>
                <a:cubicBezTo>
                  <a:pt x="170825" y="230832"/>
                  <a:pt x="171629" y="240834"/>
                  <a:pt x="174308" y="250746"/>
                </a:cubicBezTo>
                <a:cubicBezTo>
                  <a:pt x="186541" y="296466"/>
                  <a:pt x="233601" y="323612"/>
                  <a:pt x="279321" y="311378"/>
                </a:cubicBezTo>
                <a:cubicBezTo>
                  <a:pt x="325041" y="299145"/>
                  <a:pt x="352187" y="252085"/>
                  <a:pt x="339953" y="206365"/>
                </a:cubicBezTo>
                <a:cubicBezTo>
                  <a:pt x="329059" y="165556"/>
                  <a:pt x="290393" y="139571"/>
                  <a:pt x="249674" y="143143"/>
                </a:cubicBezTo>
                <a:cubicBezTo>
                  <a:pt x="254407" y="151448"/>
                  <a:pt x="257175" y="161092"/>
                  <a:pt x="257175" y="171450"/>
                </a:cubicBezTo>
                <a:close/>
              </a:path>
            </a:pathLst>
          </a:custGeom>
          <a:solidFill>
            <a:srgbClr val="1B3A3E"/>
          </a:solidFill>
          <a:ln/>
        </p:spPr>
      </p:sp>
      <p:sp>
        <p:nvSpPr>
          <p:cNvPr id="7" name="Text 5"/>
          <p:cNvSpPr/>
          <p:nvPr/>
        </p:nvSpPr>
        <p:spPr>
          <a:xfrm>
            <a:off x="1714500" y="1651000"/>
            <a:ext cx="558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79500" y="2222500"/>
            <a:ext cx="622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Used to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display all databases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available in the system.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62000" y="3429000"/>
            <a:ext cx="685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62000" y="4000500"/>
            <a:ext cx="6858000" cy="889000"/>
          </a:xfrm>
          <a:prstGeom prst="roundRect">
            <a:avLst>
              <a:gd name="adj" fmla="val 8000"/>
            </a:avLst>
          </a:prstGeom>
          <a:solidFill>
            <a:srgbClr val="152E31"/>
          </a:solidFill>
          <a:ln/>
        </p:spPr>
      </p:sp>
      <p:sp>
        <p:nvSpPr>
          <p:cNvPr id="11" name="Text 9"/>
          <p:cNvSpPr/>
          <p:nvPr/>
        </p:nvSpPr>
        <p:spPr>
          <a:xfrm>
            <a:off x="1079500" y="4000500"/>
            <a:ext cx="6223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SHOW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DATABASES;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2000" y="5270500"/>
            <a:ext cx="685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 Output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62000" y="5778500"/>
            <a:ext cx="6858000" cy="3365500"/>
          </a:xfrm>
          <a:prstGeom prst="roundRect">
            <a:avLst>
              <a:gd name="adj" fmla="val 8000"/>
            </a:avLst>
          </a:prstGeom>
          <a:solidFill>
            <a:srgbClr val="152E31"/>
          </a:solidFill>
          <a:ln/>
        </p:spPr>
      </p:sp>
      <p:sp>
        <p:nvSpPr>
          <p:cNvPr id="14" name="Text 12"/>
          <p:cNvSpPr/>
          <p:nvPr/>
        </p:nvSpPr>
        <p:spPr>
          <a:xfrm>
            <a:off x="1079500" y="5969000"/>
            <a:ext cx="6223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+--------------------+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| 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|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+--------------------+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| SchoolDB |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| HospitalDB |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| LibraryDB |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128000" y="1460500"/>
            <a:ext cx="7366000" cy="5842000"/>
          </a:xfrm>
          <a:prstGeom prst="roundRect">
            <a:avLst>
              <a:gd name="adj" fmla="val 8000"/>
            </a:avLst>
          </a:prstGeom>
          <a:solidFill>
            <a:srgbClr val="1B3A3E"/>
          </a:solidFill>
          <a:ln/>
        </p:spPr>
      </p:sp>
      <p:sp>
        <p:nvSpPr>
          <p:cNvPr id="16" name="Shape 14"/>
          <p:cNvSpPr/>
          <p:nvPr/>
        </p:nvSpPr>
        <p:spPr>
          <a:xfrm>
            <a:off x="8509000" y="1778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495300" y="247650"/>
                </a:moveTo>
                <a:cubicBezTo>
                  <a:pt x="495300" y="302300"/>
                  <a:pt x="477560" y="352782"/>
                  <a:pt x="447675" y="393740"/>
                </a:cubicBezTo>
                <a:lnTo>
                  <a:pt x="598408" y="544592"/>
                </a:lnTo>
                <a:cubicBezTo>
                  <a:pt x="613291" y="559475"/>
                  <a:pt x="613291" y="583644"/>
                  <a:pt x="598408" y="598527"/>
                </a:cubicBezTo>
                <a:cubicBezTo>
                  <a:pt x="583525" y="613410"/>
                  <a:pt x="559356" y="613410"/>
                  <a:pt x="544473" y="598527"/>
                </a:cubicBezTo>
                <a:lnTo>
                  <a:pt x="393740" y="447675"/>
                </a:lnTo>
                <a:cubicBezTo>
                  <a:pt x="352782" y="477560"/>
                  <a:pt x="302300" y="495300"/>
                  <a:pt x="247650" y="495300"/>
                </a:cubicBezTo>
                <a:cubicBezTo>
                  <a:pt x="110847" y="495300"/>
                  <a:pt x="0" y="384453"/>
                  <a:pt x="0" y="247650"/>
                </a:cubicBezTo>
                <a:cubicBezTo>
                  <a:pt x="0" y="110847"/>
                  <a:pt x="110847" y="0"/>
                  <a:pt x="247650" y="0"/>
                </a:cubicBezTo>
                <a:cubicBezTo>
                  <a:pt x="384453" y="0"/>
                  <a:pt x="495300" y="110847"/>
                  <a:pt x="495300" y="247650"/>
                </a:cubicBezTo>
                <a:close/>
                <a:moveTo>
                  <a:pt x="247650" y="419100"/>
                </a:moveTo>
                <a:cubicBezTo>
                  <a:pt x="342276" y="419100"/>
                  <a:pt x="419100" y="342276"/>
                  <a:pt x="419100" y="247650"/>
                </a:cubicBezTo>
                <a:cubicBezTo>
                  <a:pt x="419100" y="153024"/>
                  <a:pt x="342276" y="76200"/>
                  <a:pt x="247650" y="76200"/>
                </a:cubicBezTo>
                <a:cubicBezTo>
                  <a:pt x="153024" y="76200"/>
                  <a:pt x="76200" y="153024"/>
                  <a:pt x="76200" y="247650"/>
                </a:cubicBezTo>
                <a:cubicBezTo>
                  <a:pt x="76200" y="342276"/>
                  <a:pt x="153024" y="419100"/>
                  <a:pt x="247650" y="419100"/>
                </a:cubicBezTo>
                <a:close/>
              </a:path>
            </a:pathLst>
          </a:custGeom>
          <a:solidFill>
            <a:srgbClr val="C9843E"/>
          </a:solidFill>
          <a:ln/>
        </p:spPr>
      </p:sp>
      <p:sp>
        <p:nvSpPr>
          <p:cNvPr id="17" name="Text 15"/>
          <p:cNvSpPr/>
          <p:nvPr/>
        </p:nvSpPr>
        <p:spPr>
          <a:xfrm>
            <a:off x="8509000" y="2667000"/>
            <a:ext cx="660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to Use SHOW DATABASES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09000" y="3365500"/>
            <a:ext cx="6604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984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After creating a database — to verify it exists</a:t>
            </a:r>
            <a:endParaRPr lang="en-US" sz="1600" dirty="0"/>
          </a:p>
          <a:p>
            <a:pPr>
              <a:lnSpc>
                <a:spcPct val="18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C984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8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When starting work — to see what's available</a:t>
            </a:r>
            <a:endParaRPr lang="en-US" sz="1600" dirty="0"/>
          </a:p>
          <a:p>
            <a:pPr>
              <a:lnSpc>
                <a:spcPct val="18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C984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8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Before dropping — to confirm the correct name</a:t>
            </a:r>
            <a:endParaRPr lang="en-US" sz="1600" dirty="0"/>
          </a:p>
          <a:p>
            <a:pPr>
              <a:lnSpc>
                <a:spcPct val="18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C984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8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administration — to monitor all databases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986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8A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0" y="635000"/>
            <a:ext cx="21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8A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Database Commands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Show Databases is Important?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17600"/>
            <a:ext cx="1016000" cy="38100"/>
          </a:xfrm>
          <a:prstGeom prst="rect">
            <a:avLst/>
          </a:prstGeom>
          <a:solidFill>
            <a:srgbClr val="C9843E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685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Uses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62000" y="2159000"/>
            <a:ext cx="6858000" cy="1016000"/>
          </a:xfrm>
          <a:prstGeom prst="roundRect">
            <a:avLst>
              <a:gd name="adj" fmla="val 8000"/>
            </a:avLst>
          </a:prstGeom>
          <a:solidFill>
            <a:srgbClr val="E8F0F1"/>
          </a:solidFill>
          <a:ln/>
        </p:spPr>
      </p:sp>
      <p:sp>
        <p:nvSpPr>
          <p:cNvPr id="7" name="Shape 5"/>
          <p:cNvSpPr/>
          <p:nvPr/>
        </p:nvSpPr>
        <p:spPr>
          <a:xfrm>
            <a:off x="1079500" y="2476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381000"/>
                </a:moveTo>
                <a:cubicBezTo>
                  <a:pt x="295640" y="381000"/>
                  <a:pt x="381000" y="295640"/>
                  <a:pt x="381000" y="190500"/>
                </a:cubicBezTo>
                <a:cubicBezTo>
                  <a:pt x="381000" y="85360"/>
                  <a:pt x="295640" y="0"/>
                  <a:pt x="190500" y="0"/>
                </a:cubicBezTo>
                <a:cubicBezTo>
                  <a:pt x="85360" y="0"/>
                  <a:pt x="0" y="85360"/>
                  <a:pt x="0" y="190500"/>
                </a:cubicBezTo>
                <a:cubicBezTo>
                  <a:pt x="0" y="295640"/>
                  <a:pt x="85360" y="381000"/>
                  <a:pt x="190500" y="381000"/>
                </a:cubicBezTo>
                <a:close/>
                <a:moveTo>
                  <a:pt x="253305" y="158279"/>
                </a:moveTo>
                <a:lnTo>
                  <a:pt x="193774" y="253529"/>
                </a:lnTo>
                <a:cubicBezTo>
                  <a:pt x="190649" y="258514"/>
                  <a:pt x="185291" y="261640"/>
                  <a:pt x="179412" y="261938"/>
                </a:cubicBezTo>
                <a:cubicBezTo>
                  <a:pt x="173534" y="262235"/>
                  <a:pt x="167878" y="259556"/>
                  <a:pt x="164381" y="254794"/>
                </a:cubicBezTo>
                <a:lnTo>
                  <a:pt x="128662" y="207169"/>
                </a:lnTo>
                <a:cubicBezTo>
                  <a:pt x="122709" y="199281"/>
                  <a:pt x="124346" y="188119"/>
                  <a:pt x="132234" y="182166"/>
                </a:cubicBezTo>
                <a:cubicBezTo>
                  <a:pt x="140122" y="176212"/>
                  <a:pt x="151284" y="177850"/>
                  <a:pt x="157237" y="185738"/>
                </a:cubicBezTo>
                <a:lnTo>
                  <a:pt x="177329" y="212527"/>
                </a:lnTo>
                <a:lnTo>
                  <a:pt x="223019" y="139378"/>
                </a:lnTo>
                <a:cubicBezTo>
                  <a:pt x="228228" y="131043"/>
                  <a:pt x="239241" y="128439"/>
                  <a:pt x="247650" y="133722"/>
                </a:cubicBezTo>
                <a:cubicBezTo>
                  <a:pt x="256059" y="139005"/>
                  <a:pt x="258589" y="149944"/>
                  <a:pt x="253305" y="158353"/>
                </a:cubicBezTo>
                <a:close/>
              </a:path>
            </a:pathLst>
          </a:custGeom>
          <a:solidFill>
            <a:srgbClr val="C9843E"/>
          </a:solidFill>
          <a:ln/>
        </p:spPr>
      </p:sp>
      <p:sp>
        <p:nvSpPr>
          <p:cNvPr id="8" name="Text 6"/>
          <p:cNvSpPr/>
          <p:nvPr/>
        </p:nvSpPr>
        <p:spPr>
          <a:xfrm>
            <a:off x="1651000" y="2159000"/>
            <a:ext cx="571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Check which databases are available on the server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62000" y="3365500"/>
            <a:ext cx="6858000" cy="1016000"/>
          </a:xfrm>
          <a:prstGeom prst="roundRect">
            <a:avLst>
              <a:gd name="adj" fmla="val 8000"/>
            </a:avLst>
          </a:prstGeom>
          <a:solidFill>
            <a:srgbClr val="E8F0F1"/>
          </a:solidFill>
          <a:ln/>
        </p:spPr>
      </p:sp>
      <p:sp>
        <p:nvSpPr>
          <p:cNvPr id="10" name="Shape 8"/>
          <p:cNvSpPr/>
          <p:nvPr/>
        </p:nvSpPr>
        <p:spPr>
          <a:xfrm>
            <a:off x="1079500" y="3683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381000"/>
                </a:moveTo>
                <a:cubicBezTo>
                  <a:pt x="295640" y="381000"/>
                  <a:pt x="381000" y="295640"/>
                  <a:pt x="381000" y="190500"/>
                </a:cubicBezTo>
                <a:cubicBezTo>
                  <a:pt x="381000" y="85360"/>
                  <a:pt x="295640" y="0"/>
                  <a:pt x="190500" y="0"/>
                </a:cubicBezTo>
                <a:cubicBezTo>
                  <a:pt x="85360" y="0"/>
                  <a:pt x="0" y="85360"/>
                  <a:pt x="0" y="190500"/>
                </a:cubicBezTo>
                <a:cubicBezTo>
                  <a:pt x="0" y="295640"/>
                  <a:pt x="85360" y="381000"/>
                  <a:pt x="190500" y="381000"/>
                </a:cubicBezTo>
                <a:close/>
                <a:moveTo>
                  <a:pt x="253305" y="158279"/>
                </a:moveTo>
                <a:lnTo>
                  <a:pt x="193774" y="253529"/>
                </a:lnTo>
                <a:cubicBezTo>
                  <a:pt x="190649" y="258514"/>
                  <a:pt x="185291" y="261640"/>
                  <a:pt x="179412" y="261938"/>
                </a:cubicBezTo>
                <a:cubicBezTo>
                  <a:pt x="173534" y="262235"/>
                  <a:pt x="167878" y="259556"/>
                  <a:pt x="164381" y="254794"/>
                </a:cubicBezTo>
                <a:lnTo>
                  <a:pt x="128662" y="207169"/>
                </a:lnTo>
                <a:cubicBezTo>
                  <a:pt x="122709" y="199281"/>
                  <a:pt x="124346" y="188119"/>
                  <a:pt x="132234" y="182166"/>
                </a:cubicBezTo>
                <a:cubicBezTo>
                  <a:pt x="140122" y="176212"/>
                  <a:pt x="151284" y="177850"/>
                  <a:pt x="157237" y="185738"/>
                </a:cubicBezTo>
                <a:lnTo>
                  <a:pt x="177329" y="212527"/>
                </a:lnTo>
                <a:lnTo>
                  <a:pt x="223019" y="139378"/>
                </a:lnTo>
                <a:cubicBezTo>
                  <a:pt x="228228" y="131043"/>
                  <a:pt x="239241" y="128439"/>
                  <a:pt x="247650" y="133722"/>
                </a:cubicBezTo>
                <a:cubicBezTo>
                  <a:pt x="256059" y="139005"/>
                  <a:pt x="258589" y="149944"/>
                  <a:pt x="253305" y="158353"/>
                </a:cubicBezTo>
                <a:close/>
              </a:path>
            </a:pathLst>
          </a:custGeom>
          <a:solidFill>
            <a:srgbClr val="C9843E"/>
          </a:solidFill>
          <a:ln/>
        </p:spPr>
      </p:sp>
      <p:sp>
        <p:nvSpPr>
          <p:cNvPr id="11" name="Text 9"/>
          <p:cNvSpPr/>
          <p:nvPr/>
        </p:nvSpPr>
        <p:spPr>
          <a:xfrm>
            <a:off x="1651000" y="3365500"/>
            <a:ext cx="571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Verify that a database was created successfully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62000" y="4572000"/>
            <a:ext cx="6858000" cy="1016000"/>
          </a:xfrm>
          <a:prstGeom prst="roundRect">
            <a:avLst>
              <a:gd name="adj" fmla="val 8000"/>
            </a:avLst>
          </a:prstGeom>
          <a:solidFill>
            <a:srgbClr val="E8F0F1"/>
          </a:solidFill>
          <a:ln/>
        </p:spPr>
      </p:sp>
      <p:sp>
        <p:nvSpPr>
          <p:cNvPr id="13" name="Shape 11"/>
          <p:cNvSpPr/>
          <p:nvPr/>
        </p:nvSpPr>
        <p:spPr>
          <a:xfrm>
            <a:off x="1079500" y="4889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381000"/>
                </a:moveTo>
                <a:cubicBezTo>
                  <a:pt x="295640" y="381000"/>
                  <a:pt x="381000" y="295640"/>
                  <a:pt x="381000" y="190500"/>
                </a:cubicBezTo>
                <a:cubicBezTo>
                  <a:pt x="381000" y="85360"/>
                  <a:pt x="295640" y="0"/>
                  <a:pt x="190500" y="0"/>
                </a:cubicBezTo>
                <a:cubicBezTo>
                  <a:pt x="85360" y="0"/>
                  <a:pt x="0" y="85360"/>
                  <a:pt x="0" y="190500"/>
                </a:cubicBezTo>
                <a:cubicBezTo>
                  <a:pt x="0" y="295640"/>
                  <a:pt x="85360" y="381000"/>
                  <a:pt x="190500" y="381000"/>
                </a:cubicBezTo>
                <a:close/>
                <a:moveTo>
                  <a:pt x="253305" y="158279"/>
                </a:moveTo>
                <a:lnTo>
                  <a:pt x="193774" y="253529"/>
                </a:lnTo>
                <a:cubicBezTo>
                  <a:pt x="190649" y="258514"/>
                  <a:pt x="185291" y="261640"/>
                  <a:pt x="179412" y="261938"/>
                </a:cubicBezTo>
                <a:cubicBezTo>
                  <a:pt x="173534" y="262235"/>
                  <a:pt x="167878" y="259556"/>
                  <a:pt x="164381" y="254794"/>
                </a:cubicBezTo>
                <a:lnTo>
                  <a:pt x="128662" y="207169"/>
                </a:lnTo>
                <a:cubicBezTo>
                  <a:pt x="122709" y="199281"/>
                  <a:pt x="124346" y="188119"/>
                  <a:pt x="132234" y="182166"/>
                </a:cubicBezTo>
                <a:cubicBezTo>
                  <a:pt x="140122" y="176212"/>
                  <a:pt x="151284" y="177850"/>
                  <a:pt x="157237" y="185738"/>
                </a:cubicBezTo>
                <a:lnTo>
                  <a:pt x="177329" y="212527"/>
                </a:lnTo>
                <a:lnTo>
                  <a:pt x="223019" y="139378"/>
                </a:lnTo>
                <a:cubicBezTo>
                  <a:pt x="228228" y="131043"/>
                  <a:pt x="239241" y="128439"/>
                  <a:pt x="247650" y="133722"/>
                </a:cubicBezTo>
                <a:cubicBezTo>
                  <a:pt x="256059" y="139005"/>
                  <a:pt x="258589" y="149944"/>
                  <a:pt x="253305" y="158353"/>
                </a:cubicBezTo>
                <a:close/>
              </a:path>
            </a:pathLst>
          </a:custGeom>
          <a:solidFill>
            <a:srgbClr val="C9843E"/>
          </a:solidFill>
          <a:ln/>
        </p:spPr>
      </p:sp>
      <p:sp>
        <p:nvSpPr>
          <p:cNvPr id="14" name="Text 12"/>
          <p:cNvSpPr/>
          <p:nvPr/>
        </p:nvSpPr>
        <p:spPr>
          <a:xfrm>
            <a:off x="1651000" y="4572000"/>
            <a:ext cx="571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Select the correct database before working with tables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62000" y="6032500"/>
            <a:ext cx="685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 World Example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62000" y="6604000"/>
            <a:ext cx="6858000" cy="1270000"/>
          </a:xfrm>
          <a:prstGeom prst="roundRect">
            <a:avLst>
              <a:gd name="adj" fmla="val 8000"/>
            </a:avLst>
          </a:prstGeom>
          <a:solidFill>
            <a:srgbClr val="152E31"/>
          </a:solidFill>
          <a:ln/>
        </p:spPr>
      </p:sp>
      <p:sp>
        <p:nvSpPr>
          <p:cNvPr id="17" name="Text 15"/>
          <p:cNvSpPr/>
          <p:nvPr/>
        </p:nvSpPr>
        <p:spPr>
          <a:xfrm>
            <a:off x="1079500" y="6731000"/>
            <a:ext cx="622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company server may contain: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EmployeeDB, PayrollDB, SalesDB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28000" y="1460500"/>
            <a:ext cx="7366000" cy="6477000"/>
          </a:xfrm>
          <a:prstGeom prst="roundRect">
            <a:avLst>
              <a:gd name="adj" fmla="val 8000"/>
            </a:avLst>
          </a:prstGeom>
          <a:solidFill>
            <a:srgbClr val="152E31"/>
          </a:solidFill>
          <a:ln/>
        </p:spPr>
      </p:sp>
      <p:sp>
        <p:nvSpPr>
          <p:cNvPr id="19" name="Shape 17"/>
          <p:cNvSpPr/>
          <p:nvPr/>
        </p:nvSpPr>
        <p:spPr>
          <a:xfrm>
            <a:off x="8509000" y="1714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8394" y="105906"/>
                </a:moveTo>
                <a:cubicBezTo>
                  <a:pt x="-2768" y="94744"/>
                  <a:pt x="-2768" y="76617"/>
                  <a:pt x="8394" y="65455"/>
                </a:cubicBezTo>
                <a:cubicBezTo>
                  <a:pt x="19556" y="54293"/>
                  <a:pt x="37683" y="54293"/>
                  <a:pt x="48845" y="65455"/>
                </a:cubicBezTo>
                <a:lnTo>
                  <a:pt x="191720" y="208330"/>
                </a:lnTo>
                <a:cubicBezTo>
                  <a:pt x="202883" y="219492"/>
                  <a:pt x="202883" y="237619"/>
                  <a:pt x="191720" y="248781"/>
                </a:cubicBezTo>
                <a:lnTo>
                  <a:pt x="48845" y="391656"/>
                </a:lnTo>
                <a:cubicBezTo>
                  <a:pt x="37683" y="402818"/>
                  <a:pt x="19556" y="402818"/>
                  <a:pt x="8394" y="391656"/>
                </a:cubicBezTo>
                <a:cubicBezTo>
                  <a:pt x="-2768" y="380494"/>
                  <a:pt x="-2768" y="362367"/>
                  <a:pt x="8394" y="351205"/>
                </a:cubicBezTo>
                <a:lnTo>
                  <a:pt x="130999" y="228600"/>
                </a:lnTo>
                <a:lnTo>
                  <a:pt x="8394" y="105906"/>
                </a:lnTo>
                <a:close/>
                <a:moveTo>
                  <a:pt x="200025" y="342900"/>
                </a:moveTo>
                <a:lnTo>
                  <a:pt x="428625" y="342900"/>
                </a:lnTo>
                <a:cubicBezTo>
                  <a:pt x="444431" y="342900"/>
                  <a:pt x="457200" y="355669"/>
                  <a:pt x="457200" y="371475"/>
                </a:cubicBezTo>
                <a:cubicBezTo>
                  <a:pt x="457200" y="387281"/>
                  <a:pt x="444431" y="400050"/>
                  <a:pt x="428625" y="400050"/>
                </a:cubicBezTo>
                <a:lnTo>
                  <a:pt x="200025" y="400050"/>
                </a:lnTo>
                <a:cubicBezTo>
                  <a:pt x="184219" y="400050"/>
                  <a:pt x="171450" y="387281"/>
                  <a:pt x="171450" y="371475"/>
                </a:cubicBezTo>
                <a:cubicBezTo>
                  <a:pt x="171450" y="355669"/>
                  <a:pt x="184219" y="342900"/>
                  <a:pt x="200025" y="342900"/>
                </a:cubicBezTo>
                <a:close/>
              </a:path>
            </a:pathLst>
          </a:custGeom>
          <a:solidFill>
            <a:srgbClr val="C9843E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0" y="1714500"/>
            <a:ext cx="596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Administrator's View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09000" y="2413000"/>
            <a:ext cx="6604000" cy="539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6B8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mysql&gt;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SHOW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DATABASES;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+--------------------+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| Database |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+--------------------+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| information_schema |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| EmployeeDB |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| PayrollDB |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| SalesDB |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| mysql |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| performance_schema |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+--------------------+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6B8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 rows in set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986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8A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0" y="635000"/>
            <a:ext cx="21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8A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Database Commands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Using a Database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17600"/>
            <a:ext cx="1016000" cy="38100"/>
          </a:xfrm>
          <a:prstGeom prst="rect">
            <a:avLst/>
          </a:prstGeom>
          <a:solidFill>
            <a:srgbClr val="C9843E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60500"/>
            <a:ext cx="6858000" cy="1841500"/>
          </a:xfrm>
          <a:prstGeom prst="roundRect">
            <a:avLst>
              <a:gd name="adj" fmla="val 8000"/>
            </a:avLst>
          </a:prstGeom>
          <a:solidFill>
            <a:srgbClr val="E8F0F1"/>
          </a:solidFill>
          <a:ln/>
        </p:spPr>
      </p:sp>
      <p:sp>
        <p:nvSpPr>
          <p:cNvPr id="6" name="Shape 4"/>
          <p:cNvSpPr/>
          <p:nvPr/>
        </p:nvSpPr>
        <p:spPr>
          <a:xfrm>
            <a:off x="1108075" y="1651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69026" y="2232"/>
                </a:moveTo>
                <a:cubicBezTo>
                  <a:pt x="76260" y="-1429"/>
                  <a:pt x="85011" y="-625"/>
                  <a:pt x="91440" y="4286"/>
                </a:cubicBezTo>
                <a:lnTo>
                  <a:pt x="377190" y="218509"/>
                </a:lnTo>
                <a:cubicBezTo>
                  <a:pt x="384602" y="224046"/>
                  <a:pt x="387548" y="233690"/>
                  <a:pt x="384691" y="242441"/>
                </a:cubicBezTo>
                <a:cubicBezTo>
                  <a:pt x="381833" y="251192"/>
                  <a:pt x="373618" y="257086"/>
                  <a:pt x="364331" y="257086"/>
                </a:cubicBezTo>
                <a:lnTo>
                  <a:pt x="228332" y="257086"/>
                </a:lnTo>
                <a:lnTo>
                  <a:pt x="307717" y="415766"/>
                </a:lnTo>
                <a:cubicBezTo>
                  <a:pt x="314771" y="429875"/>
                  <a:pt x="309056" y="447020"/>
                  <a:pt x="294948" y="454075"/>
                </a:cubicBezTo>
                <a:cubicBezTo>
                  <a:pt x="280839" y="461129"/>
                  <a:pt x="263694" y="455414"/>
                  <a:pt x="256639" y="441305"/>
                </a:cubicBezTo>
                <a:lnTo>
                  <a:pt x="177254" y="282625"/>
                </a:lnTo>
                <a:lnTo>
                  <a:pt x="95726" y="391388"/>
                </a:lnTo>
                <a:cubicBezTo>
                  <a:pt x="90190" y="398800"/>
                  <a:pt x="80546" y="401747"/>
                  <a:pt x="71795" y="398889"/>
                </a:cubicBezTo>
                <a:cubicBezTo>
                  <a:pt x="63044" y="396032"/>
                  <a:pt x="57150" y="387816"/>
                  <a:pt x="57150" y="378619"/>
                </a:cubicBezTo>
                <a:lnTo>
                  <a:pt x="57150" y="21431"/>
                </a:lnTo>
                <a:cubicBezTo>
                  <a:pt x="57150" y="13305"/>
                  <a:pt x="61704" y="5894"/>
                  <a:pt x="69026" y="2232"/>
                </a:cubicBezTo>
                <a:close/>
              </a:path>
            </a:pathLst>
          </a:custGeom>
          <a:solidFill>
            <a:srgbClr val="1B3A3E"/>
          </a:solidFill>
          <a:ln/>
        </p:spPr>
      </p:sp>
      <p:sp>
        <p:nvSpPr>
          <p:cNvPr id="7" name="Text 5"/>
          <p:cNvSpPr/>
          <p:nvPr/>
        </p:nvSpPr>
        <p:spPr>
          <a:xfrm>
            <a:off x="1714500" y="1651000"/>
            <a:ext cx="558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79500" y="2222500"/>
            <a:ext cx="6223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Before creating tables, we must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select a database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work with.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62000" y="3429000"/>
            <a:ext cx="685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62000" y="4000500"/>
            <a:ext cx="6858000" cy="889000"/>
          </a:xfrm>
          <a:prstGeom prst="roundRect">
            <a:avLst>
              <a:gd name="adj" fmla="val 8000"/>
            </a:avLst>
          </a:prstGeom>
          <a:solidFill>
            <a:srgbClr val="152E31"/>
          </a:solidFill>
          <a:ln/>
        </p:spPr>
      </p:sp>
      <p:sp>
        <p:nvSpPr>
          <p:cNvPr id="11" name="Text 9"/>
          <p:cNvSpPr/>
          <p:nvPr/>
        </p:nvSpPr>
        <p:spPr>
          <a:xfrm>
            <a:off x="1079500" y="4000500"/>
            <a:ext cx="6223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database_name;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2000" y="5270500"/>
            <a:ext cx="685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62000" y="5842000"/>
            <a:ext cx="6858000" cy="889000"/>
          </a:xfrm>
          <a:prstGeom prst="roundRect">
            <a:avLst>
              <a:gd name="adj" fmla="val 8000"/>
            </a:avLst>
          </a:prstGeom>
          <a:solidFill>
            <a:srgbClr val="152E31"/>
          </a:solidFill>
          <a:ln/>
        </p:spPr>
      </p:sp>
      <p:sp>
        <p:nvSpPr>
          <p:cNvPr id="14" name="Text 12"/>
          <p:cNvSpPr/>
          <p:nvPr/>
        </p:nvSpPr>
        <p:spPr>
          <a:xfrm>
            <a:off x="1079500" y="5842000"/>
            <a:ext cx="6223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SchoolDB;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62000" y="6921500"/>
            <a:ext cx="685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Now all tables will be created inside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SchoolDB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128000" y="1460500"/>
            <a:ext cx="7366000" cy="5842000"/>
          </a:xfrm>
          <a:prstGeom prst="roundRect">
            <a:avLst>
              <a:gd name="adj" fmla="val 8000"/>
            </a:avLst>
          </a:prstGeom>
          <a:solidFill>
            <a:srgbClr val="1B3A3E"/>
          </a:solidFill>
          <a:ln/>
        </p:spPr>
      </p:sp>
      <p:sp>
        <p:nvSpPr>
          <p:cNvPr id="17" name="Shape 15"/>
          <p:cNvSpPr/>
          <p:nvPr/>
        </p:nvSpPr>
        <p:spPr>
          <a:xfrm>
            <a:off x="8509000" y="1778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609600" y="114300"/>
                </a:moveTo>
                <a:cubicBezTo>
                  <a:pt x="609600" y="174069"/>
                  <a:pt x="539234" y="263247"/>
                  <a:pt x="508873" y="298847"/>
                </a:cubicBezTo>
                <a:cubicBezTo>
                  <a:pt x="504349" y="304086"/>
                  <a:pt x="497681" y="306110"/>
                  <a:pt x="491609" y="304800"/>
                </a:cubicBezTo>
                <a:lnTo>
                  <a:pt x="381000" y="304800"/>
                </a:lnTo>
                <a:cubicBezTo>
                  <a:pt x="359926" y="304800"/>
                  <a:pt x="342900" y="321826"/>
                  <a:pt x="342900" y="342900"/>
                </a:cubicBezTo>
                <a:cubicBezTo>
                  <a:pt x="342900" y="363974"/>
                  <a:pt x="359926" y="381000"/>
                  <a:pt x="381000" y="381000"/>
                </a:cubicBezTo>
                <a:lnTo>
                  <a:pt x="495300" y="381000"/>
                </a:lnTo>
                <a:cubicBezTo>
                  <a:pt x="558403" y="381000"/>
                  <a:pt x="609600" y="432197"/>
                  <a:pt x="609600" y="495300"/>
                </a:cubicBezTo>
                <a:cubicBezTo>
                  <a:pt x="609600" y="558403"/>
                  <a:pt x="558403" y="609600"/>
                  <a:pt x="495300" y="609600"/>
                </a:cubicBezTo>
                <a:lnTo>
                  <a:pt x="166211" y="609600"/>
                </a:lnTo>
                <a:cubicBezTo>
                  <a:pt x="176570" y="597813"/>
                  <a:pt x="189190" y="582692"/>
                  <a:pt x="201930" y="565785"/>
                </a:cubicBezTo>
                <a:cubicBezTo>
                  <a:pt x="209431" y="555784"/>
                  <a:pt x="217170" y="544830"/>
                  <a:pt x="224552" y="533400"/>
                </a:cubicBezTo>
                <a:lnTo>
                  <a:pt x="495300" y="533400"/>
                </a:lnTo>
                <a:cubicBezTo>
                  <a:pt x="516374" y="533400"/>
                  <a:pt x="533400" y="516374"/>
                  <a:pt x="533400" y="495300"/>
                </a:cubicBezTo>
                <a:cubicBezTo>
                  <a:pt x="533400" y="474226"/>
                  <a:pt x="516374" y="457200"/>
                  <a:pt x="495300" y="457200"/>
                </a:cubicBezTo>
                <a:lnTo>
                  <a:pt x="381000" y="457200"/>
                </a:lnTo>
                <a:cubicBezTo>
                  <a:pt x="317897" y="457200"/>
                  <a:pt x="266700" y="406003"/>
                  <a:pt x="266700" y="342900"/>
                </a:cubicBezTo>
                <a:cubicBezTo>
                  <a:pt x="266700" y="279797"/>
                  <a:pt x="317897" y="228600"/>
                  <a:pt x="381000" y="228600"/>
                </a:cubicBezTo>
                <a:lnTo>
                  <a:pt x="428387" y="228600"/>
                </a:lnTo>
                <a:cubicBezTo>
                  <a:pt x="403384" y="191095"/>
                  <a:pt x="381000" y="147995"/>
                  <a:pt x="381000" y="114300"/>
                </a:cubicBezTo>
                <a:cubicBezTo>
                  <a:pt x="381000" y="51197"/>
                  <a:pt x="432197" y="0"/>
                  <a:pt x="495300" y="0"/>
                </a:cubicBezTo>
                <a:cubicBezTo>
                  <a:pt x="558403" y="0"/>
                  <a:pt x="609600" y="51197"/>
                  <a:pt x="609600" y="114300"/>
                </a:cubicBezTo>
                <a:close/>
                <a:moveTo>
                  <a:pt x="139422" y="582335"/>
                </a:moveTo>
                <a:cubicBezTo>
                  <a:pt x="134898" y="587454"/>
                  <a:pt x="130850" y="591979"/>
                  <a:pt x="127397" y="595789"/>
                </a:cubicBezTo>
                <a:lnTo>
                  <a:pt x="125254" y="598170"/>
                </a:lnTo>
                <a:lnTo>
                  <a:pt x="125016" y="597932"/>
                </a:lnTo>
                <a:cubicBezTo>
                  <a:pt x="117872" y="603409"/>
                  <a:pt x="107633" y="602694"/>
                  <a:pt x="101203" y="595789"/>
                </a:cubicBezTo>
                <a:cubicBezTo>
                  <a:pt x="71199" y="563166"/>
                  <a:pt x="0" y="479227"/>
                  <a:pt x="0" y="419100"/>
                </a:cubicBezTo>
                <a:cubicBezTo>
                  <a:pt x="0" y="355997"/>
                  <a:pt x="51197" y="304800"/>
                  <a:pt x="114300" y="304800"/>
                </a:cubicBezTo>
                <a:cubicBezTo>
                  <a:pt x="177403" y="304800"/>
                  <a:pt x="228600" y="355997"/>
                  <a:pt x="228600" y="419100"/>
                </a:cubicBezTo>
                <a:cubicBezTo>
                  <a:pt x="228600" y="454819"/>
                  <a:pt x="203478" y="498872"/>
                  <a:pt x="176808" y="535662"/>
                </a:cubicBezTo>
                <a:cubicBezTo>
                  <a:pt x="164068" y="553164"/>
                  <a:pt x="150971" y="569000"/>
                  <a:pt x="140137" y="581501"/>
                </a:cubicBezTo>
                <a:lnTo>
                  <a:pt x="139422" y="582335"/>
                </a:lnTo>
                <a:close/>
                <a:moveTo>
                  <a:pt x="152400" y="419100"/>
                </a:moveTo>
                <a:cubicBezTo>
                  <a:pt x="152400" y="398072"/>
                  <a:pt x="135328" y="381000"/>
                  <a:pt x="114300" y="381000"/>
                </a:cubicBezTo>
                <a:cubicBezTo>
                  <a:pt x="93272" y="381000"/>
                  <a:pt x="76200" y="398072"/>
                  <a:pt x="76200" y="419100"/>
                </a:cubicBezTo>
                <a:cubicBezTo>
                  <a:pt x="76200" y="440128"/>
                  <a:pt x="93272" y="457200"/>
                  <a:pt x="114300" y="457200"/>
                </a:cubicBezTo>
                <a:cubicBezTo>
                  <a:pt x="135328" y="457200"/>
                  <a:pt x="152400" y="440128"/>
                  <a:pt x="152400" y="419100"/>
                </a:cubicBezTo>
                <a:close/>
                <a:moveTo>
                  <a:pt x="495300" y="152400"/>
                </a:moveTo>
                <a:cubicBezTo>
                  <a:pt x="516328" y="152400"/>
                  <a:pt x="533400" y="135328"/>
                  <a:pt x="533400" y="114300"/>
                </a:cubicBezTo>
                <a:cubicBezTo>
                  <a:pt x="533400" y="93272"/>
                  <a:pt x="516328" y="76200"/>
                  <a:pt x="495300" y="76200"/>
                </a:cubicBezTo>
                <a:cubicBezTo>
                  <a:pt x="474272" y="76200"/>
                  <a:pt x="457200" y="93272"/>
                  <a:pt x="457200" y="114300"/>
                </a:cubicBezTo>
                <a:cubicBezTo>
                  <a:pt x="457200" y="135328"/>
                  <a:pt x="474272" y="152400"/>
                  <a:pt x="495300" y="152400"/>
                </a:cubicBezTo>
                <a:close/>
              </a:path>
            </a:pathLst>
          </a:custGeom>
          <a:solidFill>
            <a:srgbClr val="C9843E"/>
          </a:solidFill>
          <a:ln/>
        </p:spPr>
      </p:sp>
      <p:sp>
        <p:nvSpPr>
          <p:cNvPr id="18" name="Text 16"/>
          <p:cNvSpPr/>
          <p:nvPr/>
        </p:nvSpPr>
        <p:spPr>
          <a:xfrm>
            <a:off x="8509000" y="2667000"/>
            <a:ext cx="660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Workflow Reminder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763000" y="3429000"/>
            <a:ext cx="508000" cy="508000"/>
          </a:xfrm>
          <a:prstGeom prst="ellipse">
            <a:avLst/>
          </a:prstGeom>
          <a:solidFill>
            <a:srgbClr val="C9843E"/>
          </a:solidFill>
          <a:ln/>
        </p:spPr>
      </p:sp>
      <p:sp>
        <p:nvSpPr>
          <p:cNvPr id="20" name="Text 18"/>
          <p:cNvSpPr/>
          <p:nvPr/>
        </p:nvSpPr>
        <p:spPr>
          <a:xfrm>
            <a:off x="8763000" y="3429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461500" y="3429000"/>
            <a:ext cx="558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the database (if it doesn't exist)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991600" y="3937000"/>
            <a:ext cx="0" cy="317500"/>
          </a:xfrm>
          <a:prstGeom prst="straightConnector1">
            <a:avLst/>
          </a:prstGeom>
          <a:noFill/>
          <a:ln w="25400">
            <a:solidFill>
              <a:srgbClr val="C9843E"/>
            </a:solidFill>
            <a:prstDash val="solid"/>
            <a:headEnd type="none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8763000" y="4318000"/>
            <a:ext cx="508000" cy="508000"/>
          </a:xfrm>
          <a:prstGeom prst="ellipse">
            <a:avLst/>
          </a:prstGeom>
          <a:solidFill>
            <a:srgbClr val="C9843E"/>
          </a:solidFill>
          <a:ln/>
        </p:spPr>
      </p:sp>
      <p:sp>
        <p:nvSpPr>
          <p:cNvPr id="24" name="Text 22"/>
          <p:cNvSpPr/>
          <p:nvPr/>
        </p:nvSpPr>
        <p:spPr>
          <a:xfrm>
            <a:off x="8763000" y="4318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461500" y="4318000"/>
            <a:ext cx="558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 the database with USE command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991600" y="4826000"/>
            <a:ext cx="0" cy="317500"/>
          </a:xfrm>
          <a:prstGeom prst="straightConnector1">
            <a:avLst/>
          </a:prstGeom>
          <a:noFill/>
          <a:ln w="25400">
            <a:solidFill>
              <a:srgbClr val="C9843E"/>
            </a:solidFill>
            <a:prstDash val="solid"/>
            <a:headEnd type="none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8763000" y="5207000"/>
            <a:ext cx="508000" cy="508000"/>
          </a:xfrm>
          <a:prstGeom prst="ellipse">
            <a:avLst/>
          </a:prstGeom>
          <a:solidFill>
            <a:srgbClr val="C9843E"/>
          </a:solidFill>
          <a:ln/>
        </p:spPr>
      </p:sp>
      <p:sp>
        <p:nvSpPr>
          <p:cNvPr id="28" name="Text 26"/>
          <p:cNvSpPr/>
          <p:nvPr/>
        </p:nvSpPr>
        <p:spPr>
          <a:xfrm>
            <a:off x="8763000" y="5207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461500" y="5207000"/>
            <a:ext cx="558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tables inside the selected database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991600" y="5715000"/>
            <a:ext cx="0" cy="317500"/>
          </a:xfrm>
          <a:prstGeom prst="straightConnector1">
            <a:avLst/>
          </a:prstGeom>
          <a:noFill/>
          <a:ln w="25400">
            <a:solidFill>
              <a:srgbClr val="C9843E"/>
            </a:solidFill>
            <a:prstDash val="solid"/>
            <a:headEnd type="none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8763000" y="6096000"/>
            <a:ext cx="508000" cy="508000"/>
          </a:xfrm>
          <a:prstGeom prst="ellipse">
            <a:avLst/>
          </a:prstGeom>
          <a:solidFill>
            <a:srgbClr val="C9843E"/>
          </a:solidFill>
          <a:ln/>
        </p:spPr>
      </p:sp>
      <p:sp>
        <p:nvSpPr>
          <p:cNvPr id="32" name="Text 30"/>
          <p:cNvSpPr/>
          <p:nvPr/>
        </p:nvSpPr>
        <p:spPr>
          <a:xfrm>
            <a:off x="8763000" y="6096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461500" y="6096000"/>
            <a:ext cx="558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Insert and manage data in tables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4986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8A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0" y="635000"/>
            <a:ext cx="21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8A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Table Concepts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a Table?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17600"/>
            <a:ext cx="1016000" cy="38100"/>
          </a:xfrm>
          <a:prstGeom prst="rect">
            <a:avLst/>
          </a:prstGeom>
          <a:solidFill>
            <a:srgbClr val="C9843E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60500"/>
            <a:ext cx="6858000" cy="1651000"/>
          </a:xfrm>
          <a:prstGeom prst="roundRect">
            <a:avLst>
              <a:gd name="adj" fmla="val 8000"/>
            </a:avLst>
          </a:prstGeom>
          <a:solidFill>
            <a:srgbClr val="E8F0F1"/>
          </a:solidFill>
          <a:ln/>
        </p:spPr>
      </p:sp>
      <p:sp>
        <p:nvSpPr>
          <p:cNvPr id="6" name="Shape 4"/>
          <p:cNvSpPr/>
          <p:nvPr/>
        </p:nvSpPr>
        <p:spPr>
          <a:xfrm>
            <a:off x="1108075" y="1651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228600" y="142875"/>
                </a:moveTo>
                <a:lnTo>
                  <a:pt x="228600" y="228600"/>
                </a:lnTo>
                <a:lnTo>
                  <a:pt x="342900" y="228600"/>
                </a:lnTo>
                <a:lnTo>
                  <a:pt x="342900" y="142875"/>
                </a:lnTo>
                <a:lnTo>
                  <a:pt x="228600" y="142875"/>
                </a:lnTo>
                <a:close/>
                <a:moveTo>
                  <a:pt x="171450" y="142875"/>
                </a:moveTo>
                <a:lnTo>
                  <a:pt x="57150" y="142875"/>
                </a:lnTo>
                <a:lnTo>
                  <a:pt x="57150" y="228600"/>
                </a:lnTo>
                <a:lnTo>
                  <a:pt x="171450" y="228600"/>
                </a:lnTo>
                <a:lnTo>
                  <a:pt x="171450" y="142875"/>
                </a:lnTo>
                <a:close/>
                <a:moveTo>
                  <a:pt x="0" y="285750"/>
                </a:moveTo>
                <a:lnTo>
                  <a:pt x="0" y="85725"/>
                </a:lnTo>
                <a:cubicBezTo>
                  <a:pt x="0" y="54203"/>
                  <a:pt x="25628" y="28575"/>
                  <a:pt x="57150" y="28575"/>
                </a:cubicBezTo>
                <a:lnTo>
                  <a:pt x="342900" y="28575"/>
                </a:lnTo>
                <a:cubicBezTo>
                  <a:pt x="374422" y="28575"/>
                  <a:pt x="400050" y="54203"/>
                  <a:pt x="400050" y="85725"/>
                </a:cubicBezTo>
                <a:lnTo>
                  <a:pt x="400050" y="371475"/>
                </a:lnTo>
                <a:cubicBezTo>
                  <a:pt x="400050" y="402997"/>
                  <a:pt x="374422" y="428625"/>
                  <a:pt x="342900" y="428625"/>
                </a:cubicBezTo>
                <a:lnTo>
                  <a:pt x="57150" y="428625"/>
                </a:lnTo>
                <a:cubicBezTo>
                  <a:pt x="25628" y="428625"/>
                  <a:pt x="0" y="402997"/>
                  <a:pt x="0" y="371475"/>
                </a:cubicBezTo>
                <a:lnTo>
                  <a:pt x="0" y="285750"/>
                </a:lnTo>
                <a:close/>
                <a:moveTo>
                  <a:pt x="342900" y="285750"/>
                </a:moveTo>
                <a:lnTo>
                  <a:pt x="228600" y="285750"/>
                </a:lnTo>
                <a:lnTo>
                  <a:pt x="228600" y="371475"/>
                </a:lnTo>
                <a:lnTo>
                  <a:pt x="342900" y="371475"/>
                </a:lnTo>
                <a:lnTo>
                  <a:pt x="342900" y="285750"/>
                </a:lnTo>
                <a:close/>
                <a:moveTo>
                  <a:pt x="171450" y="371475"/>
                </a:moveTo>
                <a:lnTo>
                  <a:pt x="171450" y="285750"/>
                </a:lnTo>
                <a:lnTo>
                  <a:pt x="57150" y="285750"/>
                </a:lnTo>
                <a:lnTo>
                  <a:pt x="57150" y="371475"/>
                </a:lnTo>
                <a:lnTo>
                  <a:pt x="171450" y="371475"/>
                </a:lnTo>
                <a:close/>
              </a:path>
            </a:pathLst>
          </a:custGeom>
          <a:solidFill>
            <a:srgbClr val="1B3A3E"/>
          </a:solidFill>
          <a:ln/>
        </p:spPr>
      </p:sp>
      <p:sp>
        <p:nvSpPr>
          <p:cNvPr id="7" name="Text 5"/>
          <p:cNvSpPr/>
          <p:nvPr/>
        </p:nvSpPr>
        <p:spPr>
          <a:xfrm>
            <a:off x="1714500" y="1651000"/>
            <a:ext cx="558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79500" y="2222500"/>
            <a:ext cx="622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table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stores data in rows and columns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like a spreadsheet.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62000" y="3429000"/>
            <a:ext cx="685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 Table: Students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064000"/>
          <a:ext cx="6858000" cy="2032000"/>
        </p:xfrm>
        <a:graphic>
          <a:graphicData uri="http://schemas.openxmlformats.org/drawingml/2006/table">
            <a:tbl>
              <a:tblPr/>
              <a:tblGrid>
                <a:gridCol w="1714500"/>
                <a:gridCol w="2400300"/>
                <a:gridCol w="2743200"/>
              </a:tblGrid>
              <a:tr h="6731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StudentID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Department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3E"/>
                    </a:solidFill>
                  </a:tcPr>
                </a:tc>
              </a:tr>
              <a:tr h="6731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Sara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762000" y="6477000"/>
            <a:ext cx="685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 Structure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62000" y="7048500"/>
            <a:ext cx="685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Each column has a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name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datatype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Each row is one record.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8128000" y="1460500"/>
            <a:ext cx="7366000" cy="5842000"/>
          </a:xfrm>
          <a:prstGeom prst="roundRect">
            <a:avLst>
              <a:gd name="adj" fmla="val 8000"/>
            </a:avLst>
          </a:prstGeom>
          <a:solidFill>
            <a:srgbClr val="152E31"/>
          </a:solidFill>
          <a:ln/>
        </p:spPr>
      </p:sp>
      <p:sp>
        <p:nvSpPr>
          <p:cNvPr id="14" name="Shape 11"/>
          <p:cNvSpPr/>
          <p:nvPr/>
        </p:nvSpPr>
        <p:spPr>
          <a:xfrm>
            <a:off x="8537575" y="17145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0" y="85725"/>
                </a:moveTo>
                <a:cubicBezTo>
                  <a:pt x="0" y="54203"/>
                  <a:pt x="25628" y="28575"/>
                  <a:pt x="57150" y="28575"/>
                </a:cubicBezTo>
                <a:lnTo>
                  <a:pt x="342900" y="28575"/>
                </a:lnTo>
                <a:cubicBezTo>
                  <a:pt x="374422" y="28575"/>
                  <a:pt x="400050" y="54203"/>
                  <a:pt x="400050" y="85725"/>
                </a:cubicBezTo>
                <a:lnTo>
                  <a:pt x="400050" y="371475"/>
                </a:lnTo>
                <a:cubicBezTo>
                  <a:pt x="400050" y="402997"/>
                  <a:pt x="374422" y="428625"/>
                  <a:pt x="342900" y="428625"/>
                </a:cubicBezTo>
                <a:lnTo>
                  <a:pt x="57150" y="428625"/>
                </a:lnTo>
                <a:cubicBezTo>
                  <a:pt x="25628" y="428625"/>
                  <a:pt x="0" y="402997"/>
                  <a:pt x="0" y="371475"/>
                </a:cubicBezTo>
                <a:lnTo>
                  <a:pt x="0" y="85725"/>
                </a:lnTo>
                <a:close/>
                <a:moveTo>
                  <a:pt x="57150" y="142875"/>
                </a:moveTo>
                <a:lnTo>
                  <a:pt x="57150" y="371475"/>
                </a:lnTo>
                <a:lnTo>
                  <a:pt x="171450" y="371475"/>
                </a:lnTo>
                <a:lnTo>
                  <a:pt x="171450" y="142875"/>
                </a:lnTo>
                <a:lnTo>
                  <a:pt x="57150" y="142875"/>
                </a:lnTo>
                <a:close/>
                <a:moveTo>
                  <a:pt x="342900" y="142875"/>
                </a:moveTo>
                <a:lnTo>
                  <a:pt x="228600" y="142875"/>
                </a:lnTo>
                <a:lnTo>
                  <a:pt x="228600" y="371475"/>
                </a:lnTo>
                <a:lnTo>
                  <a:pt x="342900" y="371475"/>
                </a:lnTo>
                <a:lnTo>
                  <a:pt x="342900" y="142875"/>
                </a:lnTo>
                <a:close/>
              </a:path>
            </a:pathLst>
          </a:custGeom>
          <a:solidFill>
            <a:srgbClr val="C9843E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0" y="1714500"/>
            <a:ext cx="596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Visualizing a Table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763000" y="2540000"/>
            <a:ext cx="6096000" cy="571500"/>
          </a:xfrm>
          <a:prstGeom prst="rect">
            <a:avLst/>
          </a:prstGeom>
          <a:solidFill>
            <a:srgbClr val="C9843E"/>
          </a:solidFill>
          <a:ln/>
        </p:spPr>
      </p:sp>
      <p:sp>
        <p:nvSpPr>
          <p:cNvPr id="17" name="Text 14"/>
          <p:cNvSpPr/>
          <p:nvPr/>
        </p:nvSpPr>
        <p:spPr>
          <a:xfrm>
            <a:off x="8763000" y="2540000"/>
            <a:ext cx="609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Table: Students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763000" y="3111500"/>
            <a:ext cx="2032000" cy="508000"/>
          </a:xfrm>
          <a:prstGeom prst="rect">
            <a:avLst/>
          </a:prstGeom>
          <a:solidFill>
            <a:srgbClr val="2A5A5E"/>
          </a:solidFill>
          <a:ln/>
        </p:spPr>
      </p:sp>
      <p:sp>
        <p:nvSpPr>
          <p:cNvPr id="19" name="Text 16"/>
          <p:cNvSpPr/>
          <p:nvPr/>
        </p:nvSpPr>
        <p:spPr>
          <a:xfrm>
            <a:off x="8763000" y="311150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StudentID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10795000" y="3111500"/>
            <a:ext cx="2032000" cy="508000"/>
          </a:xfrm>
          <a:prstGeom prst="rect">
            <a:avLst/>
          </a:prstGeom>
          <a:solidFill>
            <a:srgbClr val="2A5A5E"/>
          </a:solidFill>
          <a:ln/>
        </p:spPr>
      </p:sp>
      <p:sp>
        <p:nvSpPr>
          <p:cNvPr id="21" name="Text 18"/>
          <p:cNvSpPr/>
          <p:nvPr/>
        </p:nvSpPr>
        <p:spPr>
          <a:xfrm>
            <a:off x="10795000" y="311150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Name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12827000" y="3111500"/>
            <a:ext cx="2032000" cy="508000"/>
          </a:xfrm>
          <a:prstGeom prst="rect">
            <a:avLst/>
          </a:prstGeom>
          <a:solidFill>
            <a:srgbClr val="2A5A5E"/>
          </a:solidFill>
          <a:ln/>
        </p:spPr>
      </p:sp>
      <p:sp>
        <p:nvSpPr>
          <p:cNvPr id="23" name="Text 20"/>
          <p:cNvSpPr/>
          <p:nvPr/>
        </p:nvSpPr>
        <p:spPr>
          <a:xfrm>
            <a:off x="12827000" y="311150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Department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8763000" y="3619500"/>
            <a:ext cx="2032000" cy="508000"/>
          </a:xfrm>
          <a:prstGeom prst="rect">
            <a:avLst/>
          </a:prstGeom>
          <a:solidFill>
            <a:srgbClr val="1B3A3E"/>
          </a:solidFill>
          <a:ln/>
        </p:spPr>
      </p:sp>
      <p:sp>
        <p:nvSpPr>
          <p:cNvPr id="25" name="Text 22"/>
          <p:cNvSpPr/>
          <p:nvPr/>
        </p:nvSpPr>
        <p:spPr>
          <a:xfrm>
            <a:off x="8763000" y="361950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10795000" y="3619500"/>
            <a:ext cx="2032000" cy="508000"/>
          </a:xfrm>
          <a:prstGeom prst="rect">
            <a:avLst/>
          </a:prstGeom>
          <a:solidFill>
            <a:srgbClr val="1B3A3E"/>
          </a:solidFill>
          <a:ln/>
        </p:spPr>
      </p:sp>
      <p:sp>
        <p:nvSpPr>
          <p:cNvPr id="27" name="Text 24"/>
          <p:cNvSpPr/>
          <p:nvPr/>
        </p:nvSpPr>
        <p:spPr>
          <a:xfrm>
            <a:off x="10795000" y="361950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Ali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12827000" y="3619500"/>
            <a:ext cx="2032000" cy="508000"/>
          </a:xfrm>
          <a:prstGeom prst="rect">
            <a:avLst/>
          </a:prstGeom>
          <a:solidFill>
            <a:srgbClr val="1B3A3E"/>
          </a:solidFill>
          <a:ln/>
        </p:spPr>
      </p:sp>
      <p:sp>
        <p:nvSpPr>
          <p:cNvPr id="29" name="Text 26"/>
          <p:cNvSpPr/>
          <p:nvPr/>
        </p:nvSpPr>
        <p:spPr>
          <a:xfrm>
            <a:off x="12827000" y="361950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CS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8763000" y="4127500"/>
            <a:ext cx="2032000" cy="508000"/>
          </a:xfrm>
          <a:prstGeom prst="rect">
            <a:avLst/>
          </a:prstGeom>
          <a:solidFill>
            <a:srgbClr val="152E31"/>
          </a:solidFill>
          <a:ln/>
        </p:spPr>
      </p:sp>
      <p:sp>
        <p:nvSpPr>
          <p:cNvPr id="31" name="Text 28"/>
          <p:cNvSpPr/>
          <p:nvPr/>
        </p:nvSpPr>
        <p:spPr>
          <a:xfrm>
            <a:off x="8763000" y="412750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10795000" y="4127500"/>
            <a:ext cx="2032000" cy="508000"/>
          </a:xfrm>
          <a:prstGeom prst="rect">
            <a:avLst/>
          </a:prstGeom>
          <a:solidFill>
            <a:srgbClr val="152E31"/>
          </a:solidFill>
          <a:ln/>
        </p:spPr>
      </p:sp>
      <p:sp>
        <p:nvSpPr>
          <p:cNvPr id="33" name="Text 30"/>
          <p:cNvSpPr/>
          <p:nvPr/>
        </p:nvSpPr>
        <p:spPr>
          <a:xfrm>
            <a:off x="10795000" y="412750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Sara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12827000" y="4127500"/>
            <a:ext cx="2032000" cy="508000"/>
          </a:xfrm>
          <a:prstGeom prst="rect">
            <a:avLst/>
          </a:prstGeom>
          <a:solidFill>
            <a:srgbClr val="152E31"/>
          </a:solidFill>
          <a:ln/>
        </p:spPr>
      </p:sp>
      <p:sp>
        <p:nvSpPr>
          <p:cNvPr id="35" name="Text 32"/>
          <p:cNvSpPr/>
          <p:nvPr/>
        </p:nvSpPr>
        <p:spPr>
          <a:xfrm>
            <a:off x="12827000" y="412750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8763000" y="4953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← Columns (Fields)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8763000" y="5334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← Rows (Records)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14986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8A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0" y="635000"/>
            <a:ext cx="21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8A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Table Commands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Table Command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17600"/>
            <a:ext cx="1016000" cy="38100"/>
          </a:xfrm>
          <a:prstGeom prst="rect">
            <a:avLst/>
          </a:prstGeom>
          <a:solidFill>
            <a:srgbClr val="C9843E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60500"/>
            <a:ext cx="6858000" cy="1841500"/>
          </a:xfrm>
          <a:prstGeom prst="roundRect">
            <a:avLst>
              <a:gd name="adj" fmla="val 8000"/>
            </a:avLst>
          </a:prstGeom>
          <a:solidFill>
            <a:srgbClr val="E8F0F1"/>
          </a:solidFill>
          <a:ln/>
        </p:spPr>
      </p:sp>
      <p:sp>
        <p:nvSpPr>
          <p:cNvPr id="6" name="Shape 4"/>
          <p:cNvSpPr/>
          <p:nvPr/>
        </p:nvSpPr>
        <p:spPr>
          <a:xfrm>
            <a:off x="1108075" y="1651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57150" y="28575"/>
                </a:moveTo>
                <a:cubicBezTo>
                  <a:pt x="25628" y="28575"/>
                  <a:pt x="0" y="54203"/>
                  <a:pt x="0" y="85725"/>
                </a:cubicBezTo>
                <a:lnTo>
                  <a:pt x="0" y="371475"/>
                </a:lnTo>
                <a:cubicBezTo>
                  <a:pt x="0" y="402997"/>
                  <a:pt x="25628" y="428625"/>
                  <a:pt x="57150" y="428625"/>
                </a:cubicBezTo>
                <a:lnTo>
                  <a:pt x="342900" y="428625"/>
                </a:lnTo>
                <a:cubicBezTo>
                  <a:pt x="374422" y="428625"/>
                  <a:pt x="400050" y="402997"/>
                  <a:pt x="400050" y="371475"/>
                </a:cubicBezTo>
                <a:lnTo>
                  <a:pt x="400050" y="85725"/>
                </a:lnTo>
                <a:cubicBezTo>
                  <a:pt x="400050" y="54203"/>
                  <a:pt x="374422" y="28575"/>
                  <a:pt x="342900" y="28575"/>
                </a:cubicBezTo>
                <a:lnTo>
                  <a:pt x="57150" y="28575"/>
                </a:lnTo>
                <a:close/>
                <a:moveTo>
                  <a:pt x="178594" y="307181"/>
                </a:moveTo>
                <a:lnTo>
                  <a:pt x="178594" y="250031"/>
                </a:lnTo>
                <a:lnTo>
                  <a:pt x="121444" y="250031"/>
                </a:lnTo>
                <a:cubicBezTo>
                  <a:pt x="109567" y="250031"/>
                  <a:pt x="100013" y="240476"/>
                  <a:pt x="100013" y="228600"/>
                </a:cubicBezTo>
                <a:cubicBezTo>
                  <a:pt x="100013" y="216724"/>
                  <a:pt x="109567" y="207169"/>
                  <a:pt x="121444" y="207169"/>
                </a:cubicBezTo>
                <a:lnTo>
                  <a:pt x="178594" y="207169"/>
                </a:lnTo>
                <a:lnTo>
                  <a:pt x="178594" y="150019"/>
                </a:lnTo>
                <a:cubicBezTo>
                  <a:pt x="178594" y="138142"/>
                  <a:pt x="188149" y="128588"/>
                  <a:pt x="200025" y="128588"/>
                </a:cubicBezTo>
                <a:cubicBezTo>
                  <a:pt x="211901" y="128588"/>
                  <a:pt x="221456" y="138142"/>
                  <a:pt x="221456" y="150019"/>
                </a:cubicBezTo>
                <a:lnTo>
                  <a:pt x="221456" y="207169"/>
                </a:lnTo>
                <a:lnTo>
                  <a:pt x="278606" y="207169"/>
                </a:lnTo>
                <a:cubicBezTo>
                  <a:pt x="290483" y="207169"/>
                  <a:pt x="300038" y="216724"/>
                  <a:pt x="300038" y="228600"/>
                </a:cubicBezTo>
                <a:cubicBezTo>
                  <a:pt x="300038" y="240476"/>
                  <a:pt x="290483" y="250031"/>
                  <a:pt x="278606" y="250031"/>
                </a:cubicBezTo>
                <a:lnTo>
                  <a:pt x="221456" y="250031"/>
                </a:lnTo>
                <a:lnTo>
                  <a:pt x="221456" y="307181"/>
                </a:lnTo>
                <a:cubicBezTo>
                  <a:pt x="221456" y="319058"/>
                  <a:pt x="211901" y="328613"/>
                  <a:pt x="200025" y="328613"/>
                </a:cubicBezTo>
                <a:cubicBezTo>
                  <a:pt x="188149" y="328613"/>
                  <a:pt x="178594" y="319058"/>
                  <a:pt x="178594" y="307181"/>
                </a:cubicBezTo>
                <a:close/>
              </a:path>
            </a:pathLst>
          </a:custGeom>
          <a:solidFill>
            <a:srgbClr val="1B3A3E"/>
          </a:solidFill>
          <a:ln/>
        </p:spPr>
      </p:sp>
      <p:sp>
        <p:nvSpPr>
          <p:cNvPr id="7" name="Text 5"/>
          <p:cNvSpPr/>
          <p:nvPr/>
        </p:nvSpPr>
        <p:spPr>
          <a:xfrm>
            <a:off x="1714500" y="1651000"/>
            <a:ext cx="558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79500" y="2222500"/>
            <a:ext cx="6223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Used to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create a table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inside a database with specified columns.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62000" y="3429000"/>
            <a:ext cx="685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62000" y="4000500"/>
            <a:ext cx="6858000" cy="1778000"/>
          </a:xfrm>
          <a:prstGeom prst="roundRect">
            <a:avLst>
              <a:gd name="adj" fmla="val 8000"/>
            </a:avLst>
          </a:prstGeom>
          <a:solidFill>
            <a:srgbClr val="152E31"/>
          </a:solidFill>
          <a:ln/>
        </p:spPr>
      </p:sp>
      <p:sp>
        <p:nvSpPr>
          <p:cNvPr id="11" name="Text 9"/>
          <p:cNvSpPr/>
          <p:nvPr/>
        </p:nvSpPr>
        <p:spPr>
          <a:xfrm>
            <a:off x="1079500" y="4038600"/>
            <a:ext cx="6223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TABLE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table_name (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column1 datatype,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column2 datatype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2000" y="5842000"/>
            <a:ext cx="685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62000" y="6413500"/>
            <a:ext cx="6858000" cy="1752600"/>
          </a:xfrm>
          <a:prstGeom prst="roundRect">
            <a:avLst>
              <a:gd name="adj" fmla="val 8000"/>
            </a:avLst>
          </a:prstGeom>
          <a:solidFill>
            <a:srgbClr val="152E31"/>
          </a:solidFill>
          <a:ln/>
        </p:spPr>
      </p:sp>
      <p:sp>
        <p:nvSpPr>
          <p:cNvPr id="14" name="Text 12"/>
          <p:cNvSpPr/>
          <p:nvPr/>
        </p:nvSpPr>
        <p:spPr>
          <a:xfrm>
            <a:off x="1079500" y="6451600"/>
            <a:ext cx="6223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TABLE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Students (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StudentID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Name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VARCHAR(50)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128000" y="1460500"/>
            <a:ext cx="7366000" cy="5842000"/>
          </a:xfrm>
          <a:prstGeom prst="roundRect">
            <a:avLst>
              <a:gd name="adj" fmla="val 8000"/>
            </a:avLst>
          </a:prstGeom>
          <a:solidFill>
            <a:srgbClr val="1B3A3E"/>
          </a:solidFill>
          <a:ln/>
        </p:spPr>
      </p:sp>
      <p:sp>
        <p:nvSpPr>
          <p:cNvPr id="16" name="Shape 14"/>
          <p:cNvSpPr/>
          <p:nvPr/>
        </p:nvSpPr>
        <p:spPr>
          <a:xfrm>
            <a:off x="8509000" y="1778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609600"/>
                </a:moveTo>
                <a:cubicBezTo>
                  <a:pt x="473024" y="609600"/>
                  <a:pt x="609600" y="473024"/>
                  <a:pt x="609600" y="304800"/>
                </a:cubicBezTo>
                <a:cubicBezTo>
                  <a:pt x="609600" y="136576"/>
                  <a:pt x="473024" y="0"/>
                  <a:pt x="304800" y="0"/>
                </a:cubicBezTo>
                <a:cubicBezTo>
                  <a:pt x="136576" y="0"/>
                  <a:pt x="0" y="136576"/>
                  <a:pt x="0" y="304800"/>
                </a:cubicBezTo>
                <a:cubicBezTo>
                  <a:pt x="0" y="473024"/>
                  <a:pt x="136576" y="609600"/>
                  <a:pt x="304800" y="609600"/>
                </a:cubicBezTo>
                <a:close/>
                <a:moveTo>
                  <a:pt x="266700" y="190500"/>
                </a:moveTo>
                <a:cubicBezTo>
                  <a:pt x="266700" y="169472"/>
                  <a:pt x="283772" y="152400"/>
                  <a:pt x="304800" y="152400"/>
                </a:cubicBezTo>
                <a:cubicBezTo>
                  <a:pt x="325828" y="152400"/>
                  <a:pt x="342900" y="169472"/>
                  <a:pt x="342900" y="190500"/>
                </a:cubicBezTo>
                <a:cubicBezTo>
                  <a:pt x="342900" y="211528"/>
                  <a:pt x="325828" y="228600"/>
                  <a:pt x="304800" y="228600"/>
                </a:cubicBezTo>
                <a:cubicBezTo>
                  <a:pt x="283772" y="228600"/>
                  <a:pt x="266700" y="211528"/>
                  <a:pt x="266700" y="190500"/>
                </a:cubicBezTo>
                <a:close/>
                <a:moveTo>
                  <a:pt x="257175" y="266700"/>
                </a:moveTo>
                <a:lnTo>
                  <a:pt x="314325" y="266700"/>
                </a:lnTo>
                <a:cubicBezTo>
                  <a:pt x="330160" y="266700"/>
                  <a:pt x="342900" y="279440"/>
                  <a:pt x="342900" y="295275"/>
                </a:cubicBezTo>
                <a:lnTo>
                  <a:pt x="342900" y="400050"/>
                </a:lnTo>
                <a:lnTo>
                  <a:pt x="352425" y="400050"/>
                </a:lnTo>
                <a:cubicBezTo>
                  <a:pt x="368260" y="400050"/>
                  <a:pt x="381000" y="412790"/>
                  <a:pt x="381000" y="428625"/>
                </a:cubicBezTo>
                <a:cubicBezTo>
                  <a:pt x="381000" y="444460"/>
                  <a:pt x="368260" y="457200"/>
                  <a:pt x="352425" y="457200"/>
                </a:cubicBezTo>
                <a:lnTo>
                  <a:pt x="257175" y="457200"/>
                </a:lnTo>
                <a:cubicBezTo>
                  <a:pt x="241340" y="457200"/>
                  <a:pt x="228600" y="444460"/>
                  <a:pt x="228600" y="428625"/>
                </a:cubicBezTo>
                <a:cubicBezTo>
                  <a:pt x="228600" y="412790"/>
                  <a:pt x="241340" y="400050"/>
                  <a:pt x="257175" y="400050"/>
                </a:cubicBezTo>
                <a:lnTo>
                  <a:pt x="285750" y="400050"/>
                </a:lnTo>
                <a:lnTo>
                  <a:pt x="285750" y="323850"/>
                </a:lnTo>
                <a:lnTo>
                  <a:pt x="257175" y="323850"/>
                </a:lnTo>
                <a:cubicBezTo>
                  <a:pt x="241340" y="323850"/>
                  <a:pt x="228600" y="311110"/>
                  <a:pt x="228600" y="295275"/>
                </a:cubicBezTo>
                <a:cubicBezTo>
                  <a:pt x="228600" y="279440"/>
                  <a:pt x="241340" y="266700"/>
                  <a:pt x="257175" y="266700"/>
                </a:cubicBezTo>
                <a:close/>
              </a:path>
            </a:pathLst>
          </a:custGeom>
          <a:solidFill>
            <a:srgbClr val="C9843E"/>
          </a:solidFill>
          <a:ln/>
        </p:spPr>
      </p:sp>
      <p:sp>
        <p:nvSpPr>
          <p:cNvPr id="17" name="Text 15"/>
          <p:cNvSpPr/>
          <p:nvPr/>
        </p:nvSpPr>
        <p:spPr>
          <a:xfrm>
            <a:off x="8509000" y="2667000"/>
            <a:ext cx="660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Datatypes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509000" y="3365500"/>
          <a:ext cx="6604000" cy="3556000"/>
        </p:xfrm>
        <a:graphic>
          <a:graphicData uri="http://schemas.openxmlformats.org/drawingml/2006/table">
            <a:tbl>
              <a:tblPr/>
              <a:tblGrid>
                <a:gridCol w="2311400"/>
                <a:gridCol w="4292600"/>
              </a:tblGrid>
              <a:tr h="569466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Datatype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Description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3E"/>
                    </a:solidFill>
                  </a:tcPr>
                </a:tc>
              </a:tr>
              <a:tr h="569466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Whole numbers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9466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VARCHAR(n)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Variable text, max n chars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</a:tr>
              <a:tr h="569466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DATE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Date values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9466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DECIMAL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Decimal numbers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</a:tr>
              <a:tr h="708669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BOOLEAN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True or False values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14986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8A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0" y="635000"/>
            <a:ext cx="21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8A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Table Commands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 Life Table Example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17600"/>
            <a:ext cx="1016000" cy="38100"/>
          </a:xfrm>
          <a:prstGeom prst="rect">
            <a:avLst/>
          </a:prstGeom>
          <a:solidFill>
            <a:srgbClr val="C9843E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147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Online Shopping System — Customers Table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159000"/>
          <a:ext cx="14732000" cy="2032000"/>
        </p:xfrm>
        <a:graphic>
          <a:graphicData uri="http://schemas.openxmlformats.org/drawingml/2006/table">
            <a:tbl>
              <a:tblPr/>
              <a:tblGrid>
                <a:gridCol w="2946400"/>
                <a:gridCol w="4419600"/>
                <a:gridCol w="3683000"/>
                <a:gridCol w="3683000"/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CustomerID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City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Email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3E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Hamza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Lahore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hamza@email.com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Ayesha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Islamabad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ayesha@email.com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103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Usman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Karachi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usman@email.com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62000" y="4572000"/>
            <a:ext cx="147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 Code to Create This Table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762000" y="5207000"/>
            <a:ext cx="14732000" cy="3022600"/>
          </a:xfrm>
          <a:prstGeom prst="roundRect">
            <a:avLst>
              <a:gd name="adj" fmla="val 6000"/>
            </a:avLst>
          </a:prstGeom>
          <a:solidFill>
            <a:srgbClr val="152E31"/>
          </a:solidFill>
          <a:ln/>
        </p:spPr>
      </p:sp>
      <p:sp>
        <p:nvSpPr>
          <p:cNvPr id="9" name="Text 6"/>
          <p:cNvSpPr/>
          <p:nvPr/>
        </p:nvSpPr>
        <p:spPr>
          <a:xfrm>
            <a:off x="1143000" y="5270500"/>
            <a:ext cx="13970000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TABLE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Customers (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CustomerID 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Name 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VARCHAR(50)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City 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VARCHAR(30)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Email 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VARCHAR(100)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4986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8A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0" y="635000"/>
            <a:ext cx="21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8A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Constraints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are Constraints?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17600"/>
            <a:ext cx="1016000" cy="38100"/>
          </a:xfrm>
          <a:prstGeom prst="rect">
            <a:avLst/>
          </a:prstGeom>
          <a:solidFill>
            <a:srgbClr val="C9843E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60500"/>
            <a:ext cx="6858000" cy="2667000"/>
          </a:xfrm>
          <a:prstGeom prst="roundRect">
            <a:avLst>
              <a:gd name="adj" fmla="val 8000"/>
            </a:avLst>
          </a:prstGeom>
          <a:solidFill>
            <a:srgbClr val="E8F0F1"/>
          </a:solidFill>
          <a:ln/>
        </p:spPr>
      </p:sp>
      <p:sp>
        <p:nvSpPr>
          <p:cNvPr id="6" name="Shape 4"/>
          <p:cNvSpPr/>
          <p:nvPr/>
        </p:nvSpPr>
        <p:spPr>
          <a:xfrm>
            <a:off x="1079500" y="1714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32708" y="0"/>
                  <a:pt x="236815" y="893"/>
                  <a:pt x="240566" y="2590"/>
                </a:cubicBezTo>
                <a:lnTo>
                  <a:pt x="408801" y="73938"/>
                </a:lnTo>
                <a:cubicBezTo>
                  <a:pt x="428446" y="82242"/>
                  <a:pt x="443091" y="101620"/>
                  <a:pt x="443002" y="125016"/>
                </a:cubicBezTo>
                <a:cubicBezTo>
                  <a:pt x="442555" y="213598"/>
                  <a:pt x="406122" y="375672"/>
                  <a:pt x="252264" y="449342"/>
                </a:cubicBezTo>
                <a:cubicBezTo>
                  <a:pt x="237351" y="456486"/>
                  <a:pt x="220028" y="456486"/>
                  <a:pt x="205115" y="449342"/>
                </a:cubicBezTo>
                <a:cubicBezTo>
                  <a:pt x="51167" y="375672"/>
                  <a:pt x="14823" y="213598"/>
                  <a:pt x="14377" y="125016"/>
                </a:cubicBezTo>
                <a:cubicBezTo>
                  <a:pt x="14287" y="101620"/>
                  <a:pt x="28932" y="82242"/>
                  <a:pt x="48577" y="73938"/>
                </a:cubicBezTo>
                <a:lnTo>
                  <a:pt x="216724" y="2590"/>
                </a:lnTo>
                <a:cubicBezTo>
                  <a:pt x="220474" y="893"/>
                  <a:pt x="224492" y="0"/>
                  <a:pt x="228600" y="0"/>
                </a:cubicBezTo>
                <a:close/>
                <a:moveTo>
                  <a:pt x="228600" y="59650"/>
                </a:moveTo>
                <a:lnTo>
                  <a:pt x="228600" y="397282"/>
                </a:lnTo>
                <a:cubicBezTo>
                  <a:pt x="351830" y="337631"/>
                  <a:pt x="384959" y="205472"/>
                  <a:pt x="385763" y="126355"/>
                </a:cubicBezTo>
                <a:lnTo>
                  <a:pt x="228600" y="59740"/>
                </a:lnTo>
                <a:lnTo>
                  <a:pt x="228600" y="59740"/>
                </a:lnTo>
                <a:close/>
              </a:path>
            </a:pathLst>
          </a:custGeom>
          <a:solidFill>
            <a:srgbClr val="1B3A3E"/>
          </a:solidFill>
          <a:ln/>
        </p:spPr>
      </p:sp>
      <p:sp>
        <p:nvSpPr>
          <p:cNvPr id="7" name="Text 5"/>
          <p:cNvSpPr/>
          <p:nvPr/>
        </p:nvSpPr>
        <p:spPr>
          <a:xfrm>
            <a:off x="1714500" y="1714500"/>
            <a:ext cx="558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79500" y="2349500"/>
            <a:ext cx="6223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Constraints are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rules applied on table columns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ensure data quality and consistency.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62000" y="4445000"/>
            <a:ext cx="685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Use Constraints?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62000" y="5080000"/>
            <a:ext cx="6858000" cy="762000"/>
          </a:xfrm>
          <a:prstGeom prst="roundRect">
            <a:avLst>
              <a:gd name="adj" fmla="val 8000"/>
            </a:avLst>
          </a:prstGeom>
          <a:solidFill>
            <a:srgbClr val="E8F0F1"/>
          </a:solidFill>
          <a:ln/>
        </p:spPr>
      </p:sp>
      <p:sp>
        <p:nvSpPr>
          <p:cNvPr id="11" name="Shape 9"/>
          <p:cNvSpPr/>
          <p:nvPr/>
        </p:nvSpPr>
        <p:spPr>
          <a:xfrm>
            <a:off x="1038225" y="5270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301982" y="48687"/>
                </a:moveTo>
                <a:cubicBezTo>
                  <a:pt x="311914" y="55910"/>
                  <a:pt x="314136" y="69800"/>
                  <a:pt x="306913" y="79732"/>
                </a:cubicBezTo>
                <a:lnTo>
                  <a:pt x="129113" y="324207"/>
                </a:lnTo>
                <a:cubicBezTo>
                  <a:pt x="125293" y="329486"/>
                  <a:pt x="119390" y="332750"/>
                  <a:pt x="112861" y="333306"/>
                </a:cubicBezTo>
                <a:cubicBezTo>
                  <a:pt x="106333" y="333861"/>
                  <a:pt x="100013" y="331430"/>
                  <a:pt x="95429" y="326846"/>
                </a:cubicBezTo>
                <a:lnTo>
                  <a:pt x="6529" y="237946"/>
                </a:lnTo>
                <a:cubicBezTo>
                  <a:pt x="-2153" y="229265"/>
                  <a:pt x="-2153" y="215166"/>
                  <a:pt x="6529" y="206484"/>
                </a:cubicBezTo>
                <a:cubicBezTo>
                  <a:pt x="15210" y="197803"/>
                  <a:pt x="29309" y="197803"/>
                  <a:pt x="37991" y="206484"/>
                </a:cubicBezTo>
                <a:lnTo>
                  <a:pt x="108486" y="276979"/>
                </a:lnTo>
                <a:lnTo>
                  <a:pt x="271006" y="53548"/>
                </a:lnTo>
                <a:cubicBezTo>
                  <a:pt x="278229" y="43617"/>
                  <a:pt x="292120" y="41394"/>
                  <a:pt x="302052" y="48617"/>
                </a:cubicBezTo>
                <a:close/>
              </a:path>
            </a:pathLst>
          </a:custGeom>
          <a:solidFill>
            <a:srgbClr val="C9843E"/>
          </a:solidFill>
          <a:ln/>
        </p:spPr>
      </p:sp>
      <p:sp>
        <p:nvSpPr>
          <p:cNvPr id="12" name="Text 10"/>
          <p:cNvSpPr/>
          <p:nvPr/>
        </p:nvSpPr>
        <p:spPr>
          <a:xfrm>
            <a:off x="1524000" y="5080000"/>
            <a:ext cx="584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Maintain data accuracy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62000" y="6032500"/>
            <a:ext cx="6858000" cy="762000"/>
          </a:xfrm>
          <a:prstGeom prst="roundRect">
            <a:avLst>
              <a:gd name="adj" fmla="val 8000"/>
            </a:avLst>
          </a:prstGeom>
          <a:solidFill>
            <a:srgbClr val="E8F0F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38225" y="6223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301982" y="48687"/>
                </a:moveTo>
                <a:cubicBezTo>
                  <a:pt x="311914" y="55910"/>
                  <a:pt x="314136" y="69800"/>
                  <a:pt x="306913" y="79732"/>
                </a:cubicBezTo>
                <a:lnTo>
                  <a:pt x="129113" y="324207"/>
                </a:lnTo>
                <a:cubicBezTo>
                  <a:pt x="125293" y="329486"/>
                  <a:pt x="119390" y="332750"/>
                  <a:pt x="112861" y="333306"/>
                </a:cubicBezTo>
                <a:cubicBezTo>
                  <a:pt x="106333" y="333861"/>
                  <a:pt x="100013" y="331430"/>
                  <a:pt x="95429" y="326846"/>
                </a:cubicBezTo>
                <a:lnTo>
                  <a:pt x="6529" y="237946"/>
                </a:lnTo>
                <a:cubicBezTo>
                  <a:pt x="-2153" y="229265"/>
                  <a:pt x="-2153" y="215166"/>
                  <a:pt x="6529" y="206484"/>
                </a:cubicBezTo>
                <a:cubicBezTo>
                  <a:pt x="15210" y="197803"/>
                  <a:pt x="29309" y="197803"/>
                  <a:pt x="37991" y="206484"/>
                </a:cubicBezTo>
                <a:lnTo>
                  <a:pt x="108486" y="276979"/>
                </a:lnTo>
                <a:lnTo>
                  <a:pt x="271006" y="53548"/>
                </a:lnTo>
                <a:cubicBezTo>
                  <a:pt x="278229" y="43617"/>
                  <a:pt x="292120" y="41394"/>
                  <a:pt x="302052" y="48617"/>
                </a:cubicBezTo>
                <a:close/>
              </a:path>
            </a:pathLst>
          </a:custGeom>
          <a:solidFill>
            <a:srgbClr val="C9843E"/>
          </a:solidFill>
          <a:ln/>
        </p:spPr>
      </p:sp>
      <p:sp>
        <p:nvSpPr>
          <p:cNvPr id="15" name="Text 13"/>
          <p:cNvSpPr/>
          <p:nvPr/>
        </p:nvSpPr>
        <p:spPr>
          <a:xfrm>
            <a:off x="1524000" y="6032500"/>
            <a:ext cx="584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Prevent invalid data entry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62000" y="6985000"/>
            <a:ext cx="6858000" cy="762000"/>
          </a:xfrm>
          <a:prstGeom prst="roundRect">
            <a:avLst>
              <a:gd name="adj" fmla="val 8000"/>
            </a:avLst>
          </a:prstGeom>
          <a:solidFill>
            <a:srgbClr val="E8F0F1"/>
          </a:solidFill>
          <a:ln/>
        </p:spPr>
      </p:sp>
      <p:sp>
        <p:nvSpPr>
          <p:cNvPr id="17" name="Shape 15"/>
          <p:cNvSpPr/>
          <p:nvPr/>
        </p:nvSpPr>
        <p:spPr>
          <a:xfrm>
            <a:off x="1038225" y="7175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301982" y="48687"/>
                </a:moveTo>
                <a:cubicBezTo>
                  <a:pt x="311914" y="55910"/>
                  <a:pt x="314136" y="69800"/>
                  <a:pt x="306913" y="79732"/>
                </a:cubicBezTo>
                <a:lnTo>
                  <a:pt x="129113" y="324207"/>
                </a:lnTo>
                <a:cubicBezTo>
                  <a:pt x="125293" y="329486"/>
                  <a:pt x="119390" y="332750"/>
                  <a:pt x="112861" y="333306"/>
                </a:cubicBezTo>
                <a:cubicBezTo>
                  <a:pt x="106333" y="333861"/>
                  <a:pt x="100013" y="331430"/>
                  <a:pt x="95429" y="326846"/>
                </a:cubicBezTo>
                <a:lnTo>
                  <a:pt x="6529" y="237946"/>
                </a:lnTo>
                <a:cubicBezTo>
                  <a:pt x="-2153" y="229265"/>
                  <a:pt x="-2153" y="215166"/>
                  <a:pt x="6529" y="206484"/>
                </a:cubicBezTo>
                <a:cubicBezTo>
                  <a:pt x="15210" y="197803"/>
                  <a:pt x="29309" y="197803"/>
                  <a:pt x="37991" y="206484"/>
                </a:cubicBezTo>
                <a:lnTo>
                  <a:pt x="108486" y="276979"/>
                </a:lnTo>
                <a:lnTo>
                  <a:pt x="271006" y="53548"/>
                </a:lnTo>
                <a:cubicBezTo>
                  <a:pt x="278229" y="43617"/>
                  <a:pt x="292120" y="41394"/>
                  <a:pt x="302052" y="48617"/>
                </a:cubicBezTo>
                <a:close/>
              </a:path>
            </a:pathLst>
          </a:custGeom>
          <a:solidFill>
            <a:srgbClr val="C9843E"/>
          </a:solidFill>
          <a:ln/>
        </p:spPr>
      </p:sp>
      <p:sp>
        <p:nvSpPr>
          <p:cNvPr id="18" name="Text 16"/>
          <p:cNvSpPr/>
          <p:nvPr/>
        </p:nvSpPr>
        <p:spPr>
          <a:xfrm>
            <a:off x="1524000" y="6985000"/>
            <a:ext cx="584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Improve data integrity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128000" y="1460500"/>
            <a:ext cx="7366000" cy="6032500"/>
          </a:xfrm>
          <a:prstGeom prst="roundRect">
            <a:avLst>
              <a:gd name="adj" fmla="val 8000"/>
            </a:avLst>
          </a:prstGeom>
          <a:solidFill>
            <a:srgbClr val="1B3A3E"/>
          </a:solidFill>
          <a:ln/>
        </p:spPr>
      </p:sp>
      <p:sp>
        <p:nvSpPr>
          <p:cNvPr id="20" name="Shape 18"/>
          <p:cNvSpPr/>
          <p:nvPr/>
        </p:nvSpPr>
        <p:spPr>
          <a:xfrm>
            <a:off x="8509000" y="1778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9306" y="43220"/>
                </a:moveTo>
                <a:cubicBezTo>
                  <a:pt x="172283" y="52268"/>
                  <a:pt x="175379" y="70128"/>
                  <a:pt x="166330" y="82987"/>
                </a:cubicBezTo>
                <a:lnTo>
                  <a:pt x="99655" y="178237"/>
                </a:lnTo>
                <a:cubicBezTo>
                  <a:pt x="94774" y="185142"/>
                  <a:pt x="87154" y="189548"/>
                  <a:pt x="78700" y="190262"/>
                </a:cubicBezTo>
                <a:cubicBezTo>
                  <a:pt x="70247" y="190976"/>
                  <a:pt x="61912" y="188119"/>
                  <a:pt x="55959" y="182166"/>
                </a:cubicBezTo>
                <a:lnTo>
                  <a:pt x="8334" y="134541"/>
                </a:lnTo>
                <a:cubicBezTo>
                  <a:pt x="-2738" y="123349"/>
                  <a:pt x="-2738" y="105251"/>
                  <a:pt x="8334" y="94059"/>
                </a:cubicBezTo>
                <a:cubicBezTo>
                  <a:pt x="19407" y="82867"/>
                  <a:pt x="37624" y="82987"/>
                  <a:pt x="48816" y="94059"/>
                </a:cubicBezTo>
                <a:lnTo>
                  <a:pt x="72390" y="117634"/>
                </a:lnTo>
                <a:lnTo>
                  <a:pt x="119539" y="50244"/>
                </a:lnTo>
                <a:cubicBezTo>
                  <a:pt x="128588" y="37267"/>
                  <a:pt x="146447" y="34171"/>
                  <a:pt x="159306" y="43220"/>
                </a:cubicBezTo>
                <a:close/>
                <a:moveTo>
                  <a:pt x="159306" y="233720"/>
                </a:moveTo>
                <a:cubicBezTo>
                  <a:pt x="172283" y="242768"/>
                  <a:pt x="175379" y="260628"/>
                  <a:pt x="166330" y="273487"/>
                </a:cubicBezTo>
                <a:lnTo>
                  <a:pt x="99655" y="368737"/>
                </a:lnTo>
                <a:cubicBezTo>
                  <a:pt x="94774" y="375642"/>
                  <a:pt x="87154" y="380048"/>
                  <a:pt x="78700" y="380762"/>
                </a:cubicBezTo>
                <a:cubicBezTo>
                  <a:pt x="70247" y="381476"/>
                  <a:pt x="61912" y="378619"/>
                  <a:pt x="55959" y="372666"/>
                </a:cubicBezTo>
                <a:lnTo>
                  <a:pt x="8334" y="325041"/>
                </a:lnTo>
                <a:cubicBezTo>
                  <a:pt x="-2858" y="313849"/>
                  <a:pt x="-2858" y="295751"/>
                  <a:pt x="8334" y="284678"/>
                </a:cubicBezTo>
                <a:cubicBezTo>
                  <a:pt x="19526" y="273606"/>
                  <a:pt x="37624" y="273487"/>
                  <a:pt x="48697" y="284678"/>
                </a:cubicBezTo>
                <a:lnTo>
                  <a:pt x="72271" y="308253"/>
                </a:lnTo>
                <a:lnTo>
                  <a:pt x="119420" y="240863"/>
                </a:lnTo>
                <a:cubicBezTo>
                  <a:pt x="128468" y="227886"/>
                  <a:pt x="146328" y="224790"/>
                  <a:pt x="159187" y="233839"/>
                </a:cubicBezTo>
                <a:close/>
                <a:moveTo>
                  <a:pt x="266700" y="114300"/>
                </a:moveTo>
                <a:cubicBezTo>
                  <a:pt x="266700" y="93226"/>
                  <a:pt x="283726" y="76200"/>
                  <a:pt x="304800" y="76200"/>
                </a:cubicBezTo>
                <a:lnTo>
                  <a:pt x="571500" y="76200"/>
                </a:lnTo>
                <a:cubicBezTo>
                  <a:pt x="592574" y="76200"/>
                  <a:pt x="609600" y="93226"/>
                  <a:pt x="609600" y="114300"/>
                </a:cubicBezTo>
                <a:cubicBezTo>
                  <a:pt x="609600" y="135374"/>
                  <a:pt x="592574" y="152400"/>
                  <a:pt x="571500" y="152400"/>
                </a:cubicBezTo>
                <a:lnTo>
                  <a:pt x="304800" y="152400"/>
                </a:lnTo>
                <a:cubicBezTo>
                  <a:pt x="283726" y="152400"/>
                  <a:pt x="266700" y="135374"/>
                  <a:pt x="266700" y="114300"/>
                </a:cubicBezTo>
                <a:close/>
                <a:moveTo>
                  <a:pt x="266700" y="304800"/>
                </a:moveTo>
                <a:cubicBezTo>
                  <a:pt x="266700" y="283726"/>
                  <a:pt x="283726" y="266700"/>
                  <a:pt x="304800" y="266700"/>
                </a:cubicBezTo>
                <a:lnTo>
                  <a:pt x="571500" y="266700"/>
                </a:lnTo>
                <a:cubicBezTo>
                  <a:pt x="592574" y="266700"/>
                  <a:pt x="609600" y="283726"/>
                  <a:pt x="609600" y="304800"/>
                </a:cubicBezTo>
                <a:cubicBezTo>
                  <a:pt x="609600" y="325874"/>
                  <a:pt x="592574" y="342900"/>
                  <a:pt x="571500" y="342900"/>
                </a:cubicBezTo>
                <a:lnTo>
                  <a:pt x="304800" y="342900"/>
                </a:lnTo>
                <a:cubicBezTo>
                  <a:pt x="283726" y="342900"/>
                  <a:pt x="266700" y="325874"/>
                  <a:pt x="266700" y="304800"/>
                </a:cubicBezTo>
                <a:close/>
                <a:moveTo>
                  <a:pt x="190500" y="495300"/>
                </a:moveTo>
                <a:cubicBezTo>
                  <a:pt x="190500" y="474226"/>
                  <a:pt x="207526" y="457200"/>
                  <a:pt x="228600" y="457200"/>
                </a:cubicBezTo>
                <a:lnTo>
                  <a:pt x="571500" y="457200"/>
                </a:lnTo>
                <a:cubicBezTo>
                  <a:pt x="592574" y="457200"/>
                  <a:pt x="609600" y="474226"/>
                  <a:pt x="609600" y="495300"/>
                </a:cubicBezTo>
                <a:cubicBezTo>
                  <a:pt x="609600" y="516374"/>
                  <a:pt x="592574" y="533400"/>
                  <a:pt x="571500" y="533400"/>
                </a:cubicBezTo>
                <a:lnTo>
                  <a:pt x="228600" y="533400"/>
                </a:lnTo>
                <a:cubicBezTo>
                  <a:pt x="207526" y="533400"/>
                  <a:pt x="190500" y="516374"/>
                  <a:pt x="190500" y="495300"/>
                </a:cubicBezTo>
                <a:close/>
                <a:moveTo>
                  <a:pt x="76200" y="447675"/>
                </a:moveTo>
                <a:cubicBezTo>
                  <a:pt x="102485" y="447675"/>
                  <a:pt x="123825" y="469015"/>
                  <a:pt x="123825" y="495300"/>
                </a:cubicBezTo>
                <a:cubicBezTo>
                  <a:pt x="123825" y="521585"/>
                  <a:pt x="102485" y="542925"/>
                  <a:pt x="76200" y="542925"/>
                </a:cubicBezTo>
                <a:cubicBezTo>
                  <a:pt x="49915" y="542925"/>
                  <a:pt x="28575" y="521585"/>
                  <a:pt x="28575" y="495300"/>
                </a:cubicBezTo>
                <a:cubicBezTo>
                  <a:pt x="28575" y="469015"/>
                  <a:pt x="49915" y="447675"/>
                  <a:pt x="76200" y="447675"/>
                </a:cubicBezTo>
                <a:close/>
              </a:path>
            </a:pathLst>
          </a:custGeom>
          <a:solidFill>
            <a:srgbClr val="C9843E"/>
          </a:solidFill>
          <a:ln/>
        </p:spPr>
      </p:sp>
      <p:sp>
        <p:nvSpPr>
          <p:cNvPr id="21" name="Text 19"/>
          <p:cNvSpPr/>
          <p:nvPr/>
        </p:nvSpPr>
        <p:spPr>
          <a:xfrm>
            <a:off x="8509000" y="2667000"/>
            <a:ext cx="660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Constraints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509000" y="3429000"/>
            <a:ext cx="6604000" cy="635000"/>
          </a:xfrm>
          <a:prstGeom prst="roundRect">
            <a:avLst>
              <a:gd name="adj" fmla="val 8000"/>
            </a:avLst>
          </a:prstGeom>
          <a:solidFill>
            <a:srgbClr val="2A5A5E"/>
          </a:solidFill>
          <a:ln/>
        </p:spPr>
      </p:sp>
      <p:sp>
        <p:nvSpPr>
          <p:cNvPr id="23" name="Shape 21"/>
          <p:cNvSpPr/>
          <p:nvPr/>
        </p:nvSpPr>
        <p:spPr>
          <a:xfrm>
            <a:off x="8763000" y="3594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00025" y="209550"/>
                </a:moveTo>
                <a:cubicBezTo>
                  <a:pt x="257889" y="209550"/>
                  <a:pt x="304800" y="162639"/>
                  <a:pt x="304800" y="104775"/>
                </a:cubicBezTo>
                <a:cubicBezTo>
                  <a:pt x="304800" y="46911"/>
                  <a:pt x="257889" y="0"/>
                  <a:pt x="200025" y="0"/>
                </a:cubicBezTo>
                <a:cubicBezTo>
                  <a:pt x="142161" y="0"/>
                  <a:pt x="95250" y="46911"/>
                  <a:pt x="95250" y="104775"/>
                </a:cubicBezTo>
                <a:cubicBezTo>
                  <a:pt x="95250" y="115907"/>
                  <a:pt x="96976" y="126683"/>
                  <a:pt x="100191" y="136743"/>
                </a:cubicBezTo>
                <a:lnTo>
                  <a:pt x="4167" y="232767"/>
                </a:lnTo>
                <a:cubicBezTo>
                  <a:pt x="1488" y="235446"/>
                  <a:pt x="0" y="239078"/>
                  <a:pt x="0" y="242888"/>
                </a:cubicBezTo>
                <a:lnTo>
                  <a:pt x="0" y="290513"/>
                </a:lnTo>
                <a:cubicBezTo>
                  <a:pt x="0" y="298430"/>
                  <a:pt x="6370" y="304800"/>
                  <a:pt x="14288" y="304800"/>
                </a:cubicBezTo>
                <a:lnTo>
                  <a:pt x="61912" y="304800"/>
                </a:lnTo>
                <a:cubicBezTo>
                  <a:pt x="69830" y="304800"/>
                  <a:pt x="76200" y="298430"/>
                  <a:pt x="76200" y="290513"/>
                </a:cubicBezTo>
                <a:lnTo>
                  <a:pt x="76200" y="266700"/>
                </a:lnTo>
                <a:lnTo>
                  <a:pt x="100013" y="266700"/>
                </a:lnTo>
                <a:cubicBezTo>
                  <a:pt x="107930" y="266700"/>
                  <a:pt x="114300" y="260330"/>
                  <a:pt x="114300" y="252413"/>
                </a:cubicBezTo>
                <a:lnTo>
                  <a:pt x="114300" y="228600"/>
                </a:lnTo>
                <a:lnTo>
                  <a:pt x="138113" y="228600"/>
                </a:lnTo>
                <a:cubicBezTo>
                  <a:pt x="141923" y="228600"/>
                  <a:pt x="145554" y="227112"/>
                  <a:pt x="148233" y="224433"/>
                </a:cubicBezTo>
                <a:lnTo>
                  <a:pt x="168057" y="204609"/>
                </a:lnTo>
                <a:cubicBezTo>
                  <a:pt x="178117" y="207824"/>
                  <a:pt x="188893" y="209550"/>
                  <a:pt x="200025" y="209550"/>
                </a:cubicBezTo>
                <a:close/>
                <a:moveTo>
                  <a:pt x="223838" y="57150"/>
                </a:moveTo>
                <a:cubicBezTo>
                  <a:pt x="236980" y="57150"/>
                  <a:pt x="247650" y="67820"/>
                  <a:pt x="247650" y="80962"/>
                </a:cubicBezTo>
                <a:cubicBezTo>
                  <a:pt x="247650" y="94105"/>
                  <a:pt x="236980" y="104775"/>
                  <a:pt x="223838" y="104775"/>
                </a:cubicBezTo>
                <a:cubicBezTo>
                  <a:pt x="210695" y="104775"/>
                  <a:pt x="200025" y="94105"/>
                  <a:pt x="200025" y="80962"/>
                </a:cubicBezTo>
                <a:cubicBezTo>
                  <a:pt x="200025" y="67820"/>
                  <a:pt x="210695" y="57150"/>
                  <a:pt x="223838" y="57150"/>
                </a:cubicBezTo>
                <a:close/>
              </a:path>
            </a:pathLst>
          </a:custGeom>
          <a:solidFill>
            <a:srgbClr val="C9843E"/>
          </a:solidFill>
          <a:ln/>
        </p:spPr>
      </p:sp>
      <p:sp>
        <p:nvSpPr>
          <p:cNvPr id="24" name="Text 22"/>
          <p:cNvSpPr/>
          <p:nvPr/>
        </p:nvSpPr>
        <p:spPr>
          <a:xfrm>
            <a:off x="9207500" y="3429000"/>
            <a:ext cx="56515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PRIMARY KEY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509000" y="4254500"/>
            <a:ext cx="6604000" cy="635000"/>
          </a:xfrm>
          <a:prstGeom prst="roundRect">
            <a:avLst>
              <a:gd name="adj" fmla="val 8000"/>
            </a:avLst>
          </a:prstGeom>
          <a:solidFill>
            <a:srgbClr val="2A5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8743950" y="44196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49734" y="57150"/>
                </a:moveTo>
                <a:cubicBezTo>
                  <a:pt x="239851" y="57150"/>
                  <a:pt x="230267" y="59829"/>
                  <a:pt x="221873" y="64710"/>
                </a:cubicBezTo>
                <a:cubicBezTo>
                  <a:pt x="212467" y="55185"/>
                  <a:pt x="201513" y="47208"/>
                  <a:pt x="189428" y="41196"/>
                </a:cubicBezTo>
                <a:cubicBezTo>
                  <a:pt x="206216" y="26908"/>
                  <a:pt x="227588" y="19050"/>
                  <a:pt x="249734" y="19050"/>
                </a:cubicBezTo>
                <a:cubicBezTo>
                  <a:pt x="301169" y="19050"/>
                  <a:pt x="342900" y="60722"/>
                  <a:pt x="342900" y="112216"/>
                </a:cubicBezTo>
                <a:cubicBezTo>
                  <a:pt x="342900" y="136922"/>
                  <a:pt x="333077" y="160615"/>
                  <a:pt x="315635" y="178058"/>
                </a:cubicBezTo>
                <a:lnTo>
                  <a:pt x="273308" y="220385"/>
                </a:lnTo>
                <a:cubicBezTo>
                  <a:pt x="255865" y="237827"/>
                  <a:pt x="232172" y="247650"/>
                  <a:pt x="207466" y="247650"/>
                </a:cubicBezTo>
                <a:cubicBezTo>
                  <a:pt x="156031" y="247650"/>
                  <a:pt x="114300" y="205978"/>
                  <a:pt x="114300" y="154484"/>
                </a:cubicBezTo>
                <a:cubicBezTo>
                  <a:pt x="114300" y="153591"/>
                  <a:pt x="114300" y="152698"/>
                  <a:pt x="114360" y="151805"/>
                </a:cubicBezTo>
                <a:cubicBezTo>
                  <a:pt x="114657" y="141268"/>
                  <a:pt x="123408" y="132993"/>
                  <a:pt x="133945" y="133290"/>
                </a:cubicBezTo>
                <a:cubicBezTo>
                  <a:pt x="144482" y="133588"/>
                  <a:pt x="152757" y="142339"/>
                  <a:pt x="152460" y="152876"/>
                </a:cubicBezTo>
                <a:cubicBezTo>
                  <a:pt x="152460" y="153412"/>
                  <a:pt x="152460" y="153948"/>
                  <a:pt x="152460" y="154424"/>
                </a:cubicBezTo>
                <a:cubicBezTo>
                  <a:pt x="152460" y="184845"/>
                  <a:pt x="177105" y="209490"/>
                  <a:pt x="207526" y="209490"/>
                </a:cubicBezTo>
                <a:cubicBezTo>
                  <a:pt x="222111" y="209490"/>
                  <a:pt x="236101" y="203716"/>
                  <a:pt x="246459" y="193358"/>
                </a:cubicBezTo>
                <a:lnTo>
                  <a:pt x="288786" y="151031"/>
                </a:lnTo>
                <a:cubicBezTo>
                  <a:pt x="299085" y="140732"/>
                  <a:pt x="304919" y="126683"/>
                  <a:pt x="304919" y="112097"/>
                </a:cubicBezTo>
                <a:cubicBezTo>
                  <a:pt x="304919" y="81677"/>
                  <a:pt x="280273" y="57031"/>
                  <a:pt x="249853" y="57031"/>
                </a:cubicBezTo>
                <a:close/>
                <a:moveTo>
                  <a:pt x="163830" y="103168"/>
                </a:moveTo>
                <a:cubicBezTo>
                  <a:pt x="162699" y="102691"/>
                  <a:pt x="161568" y="102037"/>
                  <a:pt x="160556" y="101322"/>
                </a:cubicBezTo>
                <a:cubicBezTo>
                  <a:pt x="153055" y="97453"/>
                  <a:pt x="144482" y="95250"/>
                  <a:pt x="135493" y="95250"/>
                </a:cubicBezTo>
                <a:cubicBezTo>
                  <a:pt x="120908" y="95250"/>
                  <a:pt x="106918" y="101025"/>
                  <a:pt x="96560" y="111383"/>
                </a:cubicBezTo>
                <a:lnTo>
                  <a:pt x="54233" y="153710"/>
                </a:lnTo>
                <a:cubicBezTo>
                  <a:pt x="43934" y="164009"/>
                  <a:pt x="38100" y="178058"/>
                  <a:pt x="38100" y="192643"/>
                </a:cubicBezTo>
                <a:cubicBezTo>
                  <a:pt x="38100" y="223064"/>
                  <a:pt x="62746" y="247710"/>
                  <a:pt x="93166" y="247710"/>
                </a:cubicBezTo>
                <a:cubicBezTo>
                  <a:pt x="102989" y="247710"/>
                  <a:pt x="112574" y="245090"/>
                  <a:pt x="120967" y="240209"/>
                </a:cubicBezTo>
                <a:cubicBezTo>
                  <a:pt x="130373" y="249734"/>
                  <a:pt x="141327" y="257711"/>
                  <a:pt x="153472" y="263723"/>
                </a:cubicBezTo>
                <a:cubicBezTo>
                  <a:pt x="136684" y="277951"/>
                  <a:pt x="115372" y="285869"/>
                  <a:pt x="93166" y="285869"/>
                </a:cubicBezTo>
                <a:cubicBezTo>
                  <a:pt x="41731" y="285869"/>
                  <a:pt x="0" y="244197"/>
                  <a:pt x="0" y="192703"/>
                </a:cubicBezTo>
                <a:cubicBezTo>
                  <a:pt x="0" y="167997"/>
                  <a:pt x="9823" y="144304"/>
                  <a:pt x="27265" y="126861"/>
                </a:cubicBezTo>
                <a:lnTo>
                  <a:pt x="69592" y="84534"/>
                </a:lnTo>
                <a:cubicBezTo>
                  <a:pt x="87035" y="67092"/>
                  <a:pt x="110728" y="57269"/>
                  <a:pt x="135434" y="57269"/>
                </a:cubicBezTo>
                <a:cubicBezTo>
                  <a:pt x="186988" y="57269"/>
                  <a:pt x="228600" y="99298"/>
                  <a:pt x="228600" y="150674"/>
                </a:cubicBezTo>
                <a:cubicBezTo>
                  <a:pt x="228600" y="151448"/>
                  <a:pt x="228600" y="152221"/>
                  <a:pt x="228600" y="152995"/>
                </a:cubicBezTo>
                <a:cubicBezTo>
                  <a:pt x="228362" y="163532"/>
                  <a:pt x="219611" y="171807"/>
                  <a:pt x="209074" y="171569"/>
                </a:cubicBezTo>
                <a:cubicBezTo>
                  <a:pt x="198537" y="171331"/>
                  <a:pt x="190262" y="162580"/>
                  <a:pt x="190500" y="152043"/>
                </a:cubicBezTo>
                <a:cubicBezTo>
                  <a:pt x="190500" y="151567"/>
                  <a:pt x="190500" y="151150"/>
                  <a:pt x="190500" y="150674"/>
                </a:cubicBezTo>
                <a:cubicBezTo>
                  <a:pt x="190500" y="130612"/>
                  <a:pt x="179784" y="112990"/>
                  <a:pt x="163830" y="103287"/>
                </a:cubicBezTo>
                <a:close/>
              </a:path>
            </a:pathLst>
          </a:custGeom>
          <a:solidFill>
            <a:srgbClr val="C9843E"/>
          </a:solidFill>
          <a:ln/>
        </p:spPr>
      </p:sp>
      <p:sp>
        <p:nvSpPr>
          <p:cNvPr id="27" name="Text 25"/>
          <p:cNvSpPr/>
          <p:nvPr/>
        </p:nvSpPr>
        <p:spPr>
          <a:xfrm>
            <a:off x="9207500" y="4254500"/>
            <a:ext cx="56515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FOREIGN KEY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509000" y="5080000"/>
            <a:ext cx="6604000" cy="635000"/>
          </a:xfrm>
          <a:prstGeom prst="roundRect">
            <a:avLst>
              <a:gd name="adj" fmla="val 8000"/>
            </a:avLst>
          </a:prstGeom>
          <a:solidFill>
            <a:srgbClr val="2A5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8763000" y="5245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18599" y="245566"/>
                </a:moveTo>
                <a:lnTo>
                  <a:pt x="59234" y="86201"/>
                </a:lnTo>
                <a:cubicBezTo>
                  <a:pt x="45899" y="104894"/>
                  <a:pt x="38100" y="127754"/>
                  <a:pt x="38100" y="152400"/>
                </a:cubicBezTo>
                <a:cubicBezTo>
                  <a:pt x="38100" y="215503"/>
                  <a:pt x="89297" y="266700"/>
                  <a:pt x="152400" y="266700"/>
                </a:cubicBezTo>
                <a:cubicBezTo>
                  <a:pt x="177105" y="266700"/>
                  <a:pt x="199965" y="258901"/>
                  <a:pt x="218599" y="245566"/>
                </a:cubicBezTo>
                <a:close/>
                <a:moveTo>
                  <a:pt x="245566" y="218599"/>
                </a:moveTo>
                <a:cubicBezTo>
                  <a:pt x="258901" y="199906"/>
                  <a:pt x="266700" y="177046"/>
                  <a:pt x="266700" y="152400"/>
                </a:cubicBezTo>
                <a:cubicBezTo>
                  <a:pt x="266700" y="89297"/>
                  <a:pt x="215503" y="38100"/>
                  <a:pt x="152400" y="38100"/>
                </a:cubicBezTo>
                <a:cubicBezTo>
                  <a:pt x="127695" y="38100"/>
                  <a:pt x="104835" y="45899"/>
                  <a:pt x="86201" y="59234"/>
                </a:cubicBezTo>
                <a:lnTo>
                  <a:pt x="245566" y="218599"/>
                </a:lnTo>
                <a:close/>
                <a:moveTo>
                  <a:pt x="0" y="152400"/>
                </a:moveTo>
                <a:cubicBezTo>
                  <a:pt x="0" y="68288"/>
                  <a:pt x="68288" y="0"/>
                  <a:pt x="152400" y="0"/>
                </a:cubicBez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lose/>
              </a:path>
            </a:pathLst>
          </a:custGeom>
          <a:solidFill>
            <a:srgbClr val="C9843E"/>
          </a:solidFill>
          <a:ln/>
        </p:spPr>
      </p:sp>
      <p:sp>
        <p:nvSpPr>
          <p:cNvPr id="30" name="Text 28"/>
          <p:cNvSpPr/>
          <p:nvPr/>
        </p:nvSpPr>
        <p:spPr>
          <a:xfrm>
            <a:off x="9207500" y="5080000"/>
            <a:ext cx="56515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 NULL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509000" y="5905500"/>
            <a:ext cx="6604000" cy="635000"/>
          </a:xfrm>
          <a:prstGeom prst="roundRect">
            <a:avLst>
              <a:gd name="adj" fmla="val 8000"/>
            </a:avLst>
          </a:prstGeom>
          <a:solidFill>
            <a:srgbClr val="2A5A5E"/>
          </a:solidFill>
          <a:ln/>
        </p:spPr>
      </p:sp>
      <p:sp>
        <p:nvSpPr>
          <p:cNvPr id="32" name="Shape 30"/>
          <p:cNvSpPr/>
          <p:nvPr/>
        </p:nvSpPr>
        <p:spPr>
          <a:xfrm>
            <a:off x="8763000" y="607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8575" y="152400"/>
                </a:moveTo>
                <a:cubicBezTo>
                  <a:pt x="28575" y="83999"/>
                  <a:pt x="83999" y="28575"/>
                  <a:pt x="152400" y="28575"/>
                </a:cubicBezTo>
                <a:cubicBezTo>
                  <a:pt x="189964" y="28575"/>
                  <a:pt x="223599" y="45303"/>
                  <a:pt x="246340" y="71735"/>
                </a:cubicBezTo>
                <a:cubicBezTo>
                  <a:pt x="251460" y="77748"/>
                  <a:pt x="260509" y="78403"/>
                  <a:pt x="266462" y="73283"/>
                </a:cubicBezTo>
                <a:cubicBezTo>
                  <a:pt x="272415" y="68163"/>
                  <a:pt x="273129" y="59115"/>
                  <a:pt x="268010" y="53161"/>
                </a:cubicBezTo>
                <a:cubicBezTo>
                  <a:pt x="240090" y="20598"/>
                  <a:pt x="198656" y="0"/>
                  <a:pt x="152400" y="0"/>
                </a:cubicBezTo>
                <a:cubicBezTo>
                  <a:pt x="68223" y="0"/>
                  <a:pt x="0" y="68223"/>
                  <a:pt x="0" y="152400"/>
                </a:cubicBezTo>
                <a:lnTo>
                  <a:pt x="0" y="176212"/>
                </a:lnTo>
                <a:cubicBezTo>
                  <a:pt x="0" y="184130"/>
                  <a:pt x="6370" y="190500"/>
                  <a:pt x="14288" y="190500"/>
                </a:cubicBezTo>
                <a:cubicBezTo>
                  <a:pt x="22205" y="190500"/>
                  <a:pt x="28575" y="184130"/>
                  <a:pt x="28575" y="176212"/>
                </a:cubicBezTo>
                <a:lnTo>
                  <a:pt x="28575" y="152400"/>
                </a:lnTo>
                <a:close/>
                <a:moveTo>
                  <a:pt x="301526" y="120908"/>
                </a:moveTo>
                <a:cubicBezTo>
                  <a:pt x="299918" y="113169"/>
                  <a:pt x="292298" y="108228"/>
                  <a:pt x="284619" y="109895"/>
                </a:cubicBezTo>
                <a:cubicBezTo>
                  <a:pt x="276939" y="111562"/>
                  <a:pt x="271939" y="119122"/>
                  <a:pt x="273606" y="126802"/>
                </a:cubicBezTo>
                <a:cubicBezTo>
                  <a:pt x="275332" y="135076"/>
                  <a:pt x="276285" y="143649"/>
                  <a:pt x="276285" y="152460"/>
                </a:cubicBezTo>
                <a:lnTo>
                  <a:pt x="276285" y="176272"/>
                </a:lnTo>
                <a:cubicBezTo>
                  <a:pt x="276285" y="184190"/>
                  <a:pt x="282654" y="190560"/>
                  <a:pt x="290572" y="190560"/>
                </a:cubicBezTo>
                <a:cubicBezTo>
                  <a:pt x="298490" y="190560"/>
                  <a:pt x="304860" y="184190"/>
                  <a:pt x="304860" y="176272"/>
                </a:cubicBezTo>
                <a:lnTo>
                  <a:pt x="304860" y="152460"/>
                </a:lnTo>
                <a:cubicBezTo>
                  <a:pt x="304860" y="141684"/>
                  <a:pt x="303728" y="131147"/>
                  <a:pt x="301585" y="120968"/>
                </a:cubicBezTo>
                <a:close/>
                <a:moveTo>
                  <a:pt x="152400" y="47625"/>
                </a:moveTo>
                <a:cubicBezTo>
                  <a:pt x="141089" y="47625"/>
                  <a:pt x="130135" y="49411"/>
                  <a:pt x="119955" y="52745"/>
                </a:cubicBezTo>
                <a:cubicBezTo>
                  <a:pt x="110907" y="55721"/>
                  <a:pt x="108823" y="66854"/>
                  <a:pt x="115014" y="74116"/>
                </a:cubicBezTo>
                <a:cubicBezTo>
                  <a:pt x="119241" y="79058"/>
                  <a:pt x="126206" y="80546"/>
                  <a:pt x="132517" y="78819"/>
                </a:cubicBezTo>
                <a:cubicBezTo>
                  <a:pt x="138827" y="77093"/>
                  <a:pt x="145494" y="76200"/>
                  <a:pt x="152400" y="76200"/>
                </a:cubicBezTo>
                <a:cubicBezTo>
                  <a:pt x="194489" y="76200"/>
                  <a:pt x="228600" y="110311"/>
                  <a:pt x="228600" y="152400"/>
                </a:cubicBezTo>
                <a:lnTo>
                  <a:pt x="228600" y="167223"/>
                </a:lnTo>
                <a:cubicBezTo>
                  <a:pt x="228600" y="182225"/>
                  <a:pt x="227707" y="197167"/>
                  <a:pt x="225981" y="212050"/>
                </a:cubicBezTo>
                <a:cubicBezTo>
                  <a:pt x="224969" y="220742"/>
                  <a:pt x="231577" y="228600"/>
                  <a:pt x="240387" y="228600"/>
                </a:cubicBezTo>
                <a:cubicBezTo>
                  <a:pt x="247412" y="228600"/>
                  <a:pt x="253425" y="223480"/>
                  <a:pt x="254258" y="216515"/>
                </a:cubicBezTo>
                <a:cubicBezTo>
                  <a:pt x="256223" y="200204"/>
                  <a:pt x="257235" y="183773"/>
                  <a:pt x="257235" y="167283"/>
                </a:cubicBezTo>
                <a:lnTo>
                  <a:pt x="257235" y="152460"/>
                </a:lnTo>
                <a:cubicBezTo>
                  <a:pt x="257235" y="94595"/>
                  <a:pt x="210324" y="47685"/>
                  <a:pt x="152460" y="47685"/>
                </a:cubicBezTo>
                <a:close/>
                <a:moveTo>
                  <a:pt x="89714" y="88523"/>
                </a:moveTo>
                <a:cubicBezTo>
                  <a:pt x="84296" y="82213"/>
                  <a:pt x="74652" y="81736"/>
                  <a:pt x="69533" y="88285"/>
                </a:cubicBezTo>
                <a:cubicBezTo>
                  <a:pt x="55781" y="106025"/>
                  <a:pt x="47625" y="128230"/>
                  <a:pt x="47625" y="152400"/>
                </a:cubicBezTo>
                <a:lnTo>
                  <a:pt x="47625" y="167223"/>
                </a:lnTo>
                <a:cubicBezTo>
                  <a:pt x="47625" y="181630"/>
                  <a:pt x="46077" y="196036"/>
                  <a:pt x="42982" y="210026"/>
                </a:cubicBezTo>
                <a:cubicBezTo>
                  <a:pt x="40957" y="219313"/>
                  <a:pt x="47685" y="228540"/>
                  <a:pt x="57210" y="228540"/>
                </a:cubicBezTo>
                <a:cubicBezTo>
                  <a:pt x="63460" y="228540"/>
                  <a:pt x="69056" y="224373"/>
                  <a:pt x="70425" y="218242"/>
                </a:cubicBezTo>
                <a:cubicBezTo>
                  <a:pt x="74235" y="201513"/>
                  <a:pt x="76200" y="184428"/>
                  <a:pt x="76200" y="167164"/>
                </a:cubicBezTo>
                <a:lnTo>
                  <a:pt x="76200" y="152340"/>
                </a:lnTo>
                <a:cubicBezTo>
                  <a:pt x="76200" y="136148"/>
                  <a:pt x="81260" y="121146"/>
                  <a:pt x="89833" y="108823"/>
                </a:cubicBezTo>
                <a:cubicBezTo>
                  <a:pt x="94119" y="102632"/>
                  <a:pt x="94595" y="94178"/>
                  <a:pt x="89714" y="88463"/>
                </a:cubicBezTo>
                <a:close/>
                <a:moveTo>
                  <a:pt x="152400" y="95250"/>
                </a:moveTo>
                <a:cubicBezTo>
                  <a:pt x="120848" y="95250"/>
                  <a:pt x="95250" y="120848"/>
                  <a:pt x="95250" y="152400"/>
                </a:cubicBezTo>
                <a:lnTo>
                  <a:pt x="95250" y="167223"/>
                </a:lnTo>
                <a:cubicBezTo>
                  <a:pt x="95250" y="188595"/>
                  <a:pt x="92512" y="209788"/>
                  <a:pt x="87035" y="230386"/>
                </a:cubicBezTo>
                <a:cubicBezTo>
                  <a:pt x="84772" y="238899"/>
                  <a:pt x="91023" y="247650"/>
                  <a:pt x="99834" y="247650"/>
                </a:cubicBezTo>
                <a:cubicBezTo>
                  <a:pt x="105489" y="247650"/>
                  <a:pt x="110490" y="243959"/>
                  <a:pt x="111978" y="238482"/>
                </a:cubicBezTo>
                <a:cubicBezTo>
                  <a:pt x="118229" y="215265"/>
                  <a:pt x="121444" y="191333"/>
                  <a:pt x="121444" y="167223"/>
                </a:cubicBezTo>
                <a:lnTo>
                  <a:pt x="121444" y="152400"/>
                </a:lnTo>
                <a:cubicBezTo>
                  <a:pt x="121444" y="135315"/>
                  <a:pt x="135315" y="121444"/>
                  <a:pt x="152400" y="121444"/>
                </a:cubicBezTo>
                <a:cubicBezTo>
                  <a:pt x="169485" y="121444"/>
                  <a:pt x="183356" y="135315"/>
                  <a:pt x="183356" y="152400"/>
                </a:cubicBezTo>
                <a:lnTo>
                  <a:pt x="183356" y="167223"/>
                </a:lnTo>
                <a:cubicBezTo>
                  <a:pt x="183356" y="188833"/>
                  <a:pt x="181273" y="210324"/>
                  <a:pt x="177165" y="231458"/>
                </a:cubicBezTo>
                <a:cubicBezTo>
                  <a:pt x="175558" y="239732"/>
                  <a:pt x="181749" y="247650"/>
                  <a:pt x="190143" y="247650"/>
                </a:cubicBezTo>
                <a:cubicBezTo>
                  <a:pt x="196215" y="247650"/>
                  <a:pt x="201454" y="243483"/>
                  <a:pt x="202644" y="237530"/>
                </a:cubicBezTo>
                <a:cubicBezTo>
                  <a:pt x="207228" y="214432"/>
                  <a:pt x="209550" y="190917"/>
                  <a:pt x="209550" y="167223"/>
                </a:cubicBezTo>
                <a:lnTo>
                  <a:pt x="209550" y="152400"/>
                </a:lnTo>
                <a:cubicBezTo>
                  <a:pt x="209550" y="120848"/>
                  <a:pt x="183952" y="95250"/>
                  <a:pt x="152400" y="95250"/>
                </a:cubicBezTo>
                <a:close/>
                <a:moveTo>
                  <a:pt x="166688" y="152400"/>
                </a:moveTo>
                <a:cubicBezTo>
                  <a:pt x="166688" y="144482"/>
                  <a:pt x="160318" y="138113"/>
                  <a:pt x="152400" y="138113"/>
                </a:cubicBezTo>
                <a:cubicBezTo>
                  <a:pt x="144482" y="138113"/>
                  <a:pt x="138113" y="144482"/>
                  <a:pt x="138113" y="152400"/>
                </a:cubicBezTo>
                <a:lnTo>
                  <a:pt x="138113" y="167223"/>
                </a:lnTo>
                <a:cubicBezTo>
                  <a:pt x="138113" y="202882"/>
                  <a:pt x="131564" y="238244"/>
                  <a:pt x="118765" y="271522"/>
                </a:cubicBezTo>
                <a:lnTo>
                  <a:pt x="115253" y="280630"/>
                </a:lnTo>
                <a:cubicBezTo>
                  <a:pt x="112395" y="288012"/>
                  <a:pt x="116086" y="296287"/>
                  <a:pt x="123468" y="299085"/>
                </a:cubicBezTo>
                <a:cubicBezTo>
                  <a:pt x="130850" y="301883"/>
                  <a:pt x="139125" y="298252"/>
                  <a:pt x="141923" y="290870"/>
                </a:cubicBezTo>
                <a:lnTo>
                  <a:pt x="145435" y="281761"/>
                </a:lnTo>
                <a:cubicBezTo>
                  <a:pt x="159484" y="245209"/>
                  <a:pt x="166688" y="206395"/>
                  <a:pt x="166688" y="167223"/>
                </a:cubicBezTo>
                <a:lnTo>
                  <a:pt x="166688" y="152400"/>
                </a:lnTo>
                <a:close/>
              </a:path>
            </a:pathLst>
          </a:custGeom>
          <a:solidFill>
            <a:srgbClr val="C9843E"/>
          </a:solidFill>
          <a:ln/>
        </p:spPr>
      </p:sp>
      <p:sp>
        <p:nvSpPr>
          <p:cNvPr id="33" name="Text 31"/>
          <p:cNvSpPr/>
          <p:nvPr/>
        </p:nvSpPr>
        <p:spPr>
          <a:xfrm>
            <a:off x="9207500" y="5905500"/>
            <a:ext cx="56515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UNIQUE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509000" y="6731000"/>
            <a:ext cx="6604000" cy="635000"/>
          </a:xfrm>
          <a:prstGeom prst="roundRect">
            <a:avLst>
              <a:gd name="adj" fmla="val 8000"/>
            </a:avLst>
          </a:prstGeom>
          <a:solidFill>
            <a:srgbClr val="2A5A5E"/>
          </a:solidFill>
          <a:ln/>
        </p:spPr>
      </p:sp>
      <p:sp>
        <p:nvSpPr>
          <p:cNvPr id="35" name="Shape 33"/>
          <p:cNvSpPr/>
          <p:nvPr/>
        </p:nvSpPr>
        <p:spPr>
          <a:xfrm>
            <a:off x="8763000" y="6896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16145" y="5655"/>
                </a:moveTo>
                <a:cubicBezTo>
                  <a:pt x="117931" y="-3155"/>
                  <a:pt x="125730" y="-9525"/>
                  <a:pt x="134779" y="-9525"/>
                </a:cubicBezTo>
                <a:lnTo>
                  <a:pt x="170378" y="-9525"/>
                </a:lnTo>
                <a:cubicBezTo>
                  <a:pt x="179427" y="-9525"/>
                  <a:pt x="187226" y="-3155"/>
                  <a:pt x="189012" y="5655"/>
                </a:cubicBezTo>
                <a:lnTo>
                  <a:pt x="197644" y="47327"/>
                </a:lnTo>
                <a:cubicBezTo>
                  <a:pt x="206038" y="50899"/>
                  <a:pt x="213896" y="55483"/>
                  <a:pt x="221040" y="60900"/>
                </a:cubicBezTo>
                <a:lnTo>
                  <a:pt x="261402" y="47506"/>
                </a:lnTo>
                <a:cubicBezTo>
                  <a:pt x="269974" y="44648"/>
                  <a:pt x="279380" y="48220"/>
                  <a:pt x="283905" y="56078"/>
                </a:cubicBezTo>
                <a:lnTo>
                  <a:pt x="301704" y="86916"/>
                </a:lnTo>
                <a:cubicBezTo>
                  <a:pt x="306229" y="94774"/>
                  <a:pt x="304621" y="104656"/>
                  <a:pt x="297835" y="110669"/>
                </a:cubicBezTo>
                <a:lnTo>
                  <a:pt x="266105" y="138886"/>
                </a:lnTo>
                <a:cubicBezTo>
                  <a:pt x="266640" y="143292"/>
                  <a:pt x="266879" y="147816"/>
                  <a:pt x="266879" y="152400"/>
                </a:cubicBezTo>
                <a:cubicBezTo>
                  <a:pt x="266879" y="156984"/>
                  <a:pt x="266581" y="161508"/>
                  <a:pt x="266105" y="165914"/>
                </a:cubicBezTo>
                <a:lnTo>
                  <a:pt x="297894" y="194191"/>
                </a:lnTo>
                <a:cubicBezTo>
                  <a:pt x="304681" y="200204"/>
                  <a:pt x="306229" y="210145"/>
                  <a:pt x="301764" y="217944"/>
                </a:cubicBezTo>
                <a:lnTo>
                  <a:pt x="283964" y="248781"/>
                </a:lnTo>
                <a:cubicBezTo>
                  <a:pt x="279440" y="256580"/>
                  <a:pt x="270034" y="260211"/>
                  <a:pt x="261461" y="257354"/>
                </a:cubicBezTo>
                <a:lnTo>
                  <a:pt x="221099" y="243959"/>
                </a:lnTo>
                <a:cubicBezTo>
                  <a:pt x="213896" y="249376"/>
                  <a:pt x="206038" y="253901"/>
                  <a:pt x="197703" y="257532"/>
                </a:cubicBezTo>
                <a:lnTo>
                  <a:pt x="189131" y="299145"/>
                </a:lnTo>
                <a:cubicBezTo>
                  <a:pt x="187285" y="308015"/>
                  <a:pt x="179487" y="314325"/>
                  <a:pt x="170497" y="314325"/>
                </a:cubicBezTo>
                <a:lnTo>
                  <a:pt x="134898" y="314325"/>
                </a:lnTo>
                <a:cubicBezTo>
                  <a:pt x="125849" y="314325"/>
                  <a:pt x="118050" y="307955"/>
                  <a:pt x="116265" y="299145"/>
                </a:cubicBezTo>
                <a:lnTo>
                  <a:pt x="107692" y="257532"/>
                </a:lnTo>
                <a:cubicBezTo>
                  <a:pt x="99298" y="253960"/>
                  <a:pt x="91500" y="249376"/>
                  <a:pt x="84296" y="243959"/>
                </a:cubicBezTo>
                <a:lnTo>
                  <a:pt x="43755" y="257354"/>
                </a:lnTo>
                <a:cubicBezTo>
                  <a:pt x="35183" y="260211"/>
                  <a:pt x="25777" y="256639"/>
                  <a:pt x="21253" y="248781"/>
                </a:cubicBezTo>
                <a:lnTo>
                  <a:pt x="3453" y="217944"/>
                </a:lnTo>
                <a:cubicBezTo>
                  <a:pt x="-1072" y="210086"/>
                  <a:pt x="536" y="200204"/>
                  <a:pt x="7322" y="194191"/>
                </a:cubicBezTo>
                <a:lnTo>
                  <a:pt x="39112" y="165914"/>
                </a:lnTo>
                <a:cubicBezTo>
                  <a:pt x="38576" y="161508"/>
                  <a:pt x="38338" y="156984"/>
                  <a:pt x="38338" y="152400"/>
                </a:cubicBezTo>
                <a:cubicBezTo>
                  <a:pt x="38338" y="147816"/>
                  <a:pt x="38636" y="143292"/>
                  <a:pt x="39112" y="138886"/>
                </a:cubicBezTo>
                <a:lnTo>
                  <a:pt x="7322" y="110609"/>
                </a:lnTo>
                <a:cubicBezTo>
                  <a:pt x="536" y="104596"/>
                  <a:pt x="-1012" y="94655"/>
                  <a:pt x="3453" y="86856"/>
                </a:cubicBezTo>
                <a:lnTo>
                  <a:pt x="21253" y="56019"/>
                </a:lnTo>
                <a:cubicBezTo>
                  <a:pt x="25777" y="48161"/>
                  <a:pt x="35183" y="44589"/>
                  <a:pt x="43755" y="47446"/>
                </a:cubicBezTo>
                <a:lnTo>
                  <a:pt x="84118" y="60841"/>
                </a:lnTo>
                <a:cubicBezTo>
                  <a:pt x="91321" y="55424"/>
                  <a:pt x="99179" y="50899"/>
                  <a:pt x="107513" y="47268"/>
                </a:cubicBezTo>
                <a:lnTo>
                  <a:pt x="116145" y="5655"/>
                </a:lnTo>
                <a:close/>
                <a:moveTo>
                  <a:pt x="152579" y="200025"/>
                </a:moveTo>
                <a:cubicBezTo>
                  <a:pt x="169593" y="199961"/>
                  <a:pt x="185282" y="190825"/>
                  <a:pt x="193734" y="176058"/>
                </a:cubicBezTo>
                <a:cubicBezTo>
                  <a:pt x="202186" y="161291"/>
                  <a:pt x="202118" y="143136"/>
                  <a:pt x="193555" y="128433"/>
                </a:cubicBezTo>
                <a:cubicBezTo>
                  <a:pt x="184993" y="113730"/>
                  <a:pt x="169236" y="104711"/>
                  <a:pt x="152221" y="104775"/>
                </a:cubicBezTo>
                <a:cubicBezTo>
                  <a:pt x="135207" y="104839"/>
                  <a:pt x="119518" y="113975"/>
                  <a:pt x="111066" y="128742"/>
                </a:cubicBezTo>
                <a:cubicBezTo>
                  <a:pt x="102614" y="143509"/>
                  <a:pt x="102682" y="161664"/>
                  <a:pt x="111245" y="176367"/>
                </a:cubicBezTo>
                <a:cubicBezTo>
                  <a:pt x="119807" y="191070"/>
                  <a:pt x="135564" y="200089"/>
                  <a:pt x="152579" y="200025"/>
                </a:cubicBezTo>
                <a:close/>
              </a:path>
            </a:pathLst>
          </a:custGeom>
          <a:solidFill>
            <a:srgbClr val="C9843E"/>
          </a:solidFill>
          <a:ln/>
        </p:spPr>
      </p:sp>
      <p:sp>
        <p:nvSpPr>
          <p:cNvPr id="36" name="Text 34"/>
          <p:cNvSpPr/>
          <p:nvPr/>
        </p:nvSpPr>
        <p:spPr>
          <a:xfrm>
            <a:off x="9207500" y="6731000"/>
            <a:ext cx="56515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DEFAULT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4986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8A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0" y="635000"/>
            <a:ext cx="21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8A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Constraints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 NULL Constraint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17600"/>
            <a:ext cx="1016000" cy="38100"/>
          </a:xfrm>
          <a:prstGeom prst="rect">
            <a:avLst/>
          </a:prstGeom>
          <a:solidFill>
            <a:srgbClr val="C9843E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60500"/>
            <a:ext cx="6858000" cy="1651000"/>
          </a:xfrm>
          <a:prstGeom prst="roundRect">
            <a:avLst>
              <a:gd name="adj" fmla="val 8000"/>
            </a:avLst>
          </a:prstGeom>
          <a:solidFill>
            <a:srgbClr val="E8F0F1"/>
          </a:solidFill>
          <a:ln/>
        </p:spPr>
      </p:sp>
      <p:sp>
        <p:nvSpPr>
          <p:cNvPr id="6" name="Shape 4"/>
          <p:cNvSpPr/>
          <p:nvPr/>
        </p:nvSpPr>
        <p:spPr>
          <a:xfrm>
            <a:off x="1079500" y="165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27898" y="368350"/>
                </a:moveTo>
                <a:lnTo>
                  <a:pt x="88850" y="129302"/>
                </a:lnTo>
                <a:cubicBezTo>
                  <a:pt x="68848" y="157341"/>
                  <a:pt x="57150" y="191631"/>
                  <a:pt x="57150" y="228600"/>
                </a:cubicBezTo>
                <a:cubicBezTo>
                  <a:pt x="57150" y="323255"/>
                  <a:pt x="133945" y="400050"/>
                  <a:pt x="228600" y="400050"/>
                </a:cubicBezTo>
                <a:cubicBezTo>
                  <a:pt x="265658" y="400050"/>
                  <a:pt x="299948" y="388352"/>
                  <a:pt x="327898" y="368350"/>
                </a:cubicBezTo>
                <a:close/>
                <a:moveTo>
                  <a:pt x="368350" y="327898"/>
                </a:moveTo>
                <a:cubicBezTo>
                  <a:pt x="388352" y="299859"/>
                  <a:pt x="400050" y="265569"/>
                  <a:pt x="400050" y="228600"/>
                </a:cubicBezTo>
                <a:cubicBezTo>
                  <a:pt x="400050" y="133945"/>
                  <a:pt x="323255" y="57150"/>
                  <a:pt x="228600" y="57150"/>
                </a:cubicBezTo>
                <a:cubicBezTo>
                  <a:pt x="191542" y="57150"/>
                  <a:pt x="157252" y="68848"/>
                  <a:pt x="129302" y="88850"/>
                </a:cubicBezTo>
                <a:lnTo>
                  <a:pt x="368350" y="327898"/>
                </a:lnTo>
                <a:close/>
                <a:moveTo>
                  <a:pt x="0" y="228600"/>
                </a:moveTo>
                <a:cubicBezTo>
                  <a:pt x="0" y="102432"/>
                  <a:pt x="102432" y="0"/>
                  <a:pt x="228600" y="0"/>
                </a:cubicBez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lose/>
              </a:path>
            </a:pathLst>
          </a:custGeom>
          <a:solidFill>
            <a:srgbClr val="1B3A3E"/>
          </a:solidFill>
          <a:ln/>
        </p:spPr>
      </p:sp>
      <p:sp>
        <p:nvSpPr>
          <p:cNvPr id="7" name="Text 5"/>
          <p:cNvSpPr/>
          <p:nvPr/>
        </p:nvSpPr>
        <p:spPr>
          <a:xfrm>
            <a:off x="1714500" y="1651000"/>
            <a:ext cx="558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79500" y="2222500"/>
            <a:ext cx="622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Column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cannot contain empty (NULL) values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62000" y="3429000"/>
            <a:ext cx="685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62000" y="4000500"/>
            <a:ext cx="6858000" cy="762000"/>
          </a:xfrm>
          <a:prstGeom prst="roundRect">
            <a:avLst>
              <a:gd name="adj" fmla="val 8000"/>
            </a:avLst>
          </a:prstGeom>
          <a:solidFill>
            <a:srgbClr val="152E31"/>
          </a:solidFill>
          <a:ln/>
        </p:spPr>
      </p:sp>
      <p:sp>
        <p:nvSpPr>
          <p:cNvPr id="11" name="Text 9"/>
          <p:cNvSpPr/>
          <p:nvPr/>
        </p:nvSpPr>
        <p:spPr>
          <a:xfrm>
            <a:off x="1079500" y="4000500"/>
            <a:ext cx="6223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column_name datatype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 NULL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2000" y="5080000"/>
            <a:ext cx="685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62000" y="5651500"/>
            <a:ext cx="6858000" cy="1778000"/>
          </a:xfrm>
          <a:prstGeom prst="roundRect">
            <a:avLst>
              <a:gd name="adj" fmla="val 8000"/>
            </a:avLst>
          </a:prstGeom>
          <a:solidFill>
            <a:srgbClr val="152E31"/>
          </a:solidFill>
          <a:ln/>
        </p:spPr>
      </p:sp>
      <p:sp>
        <p:nvSpPr>
          <p:cNvPr id="14" name="Text 12"/>
          <p:cNvSpPr/>
          <p:nvPr/>
        </p:nvSpPr>
        <p:spPr>
          <a:xfrm>
            <a:off x="1079500" y="5715000"/>
            <a:ext cx="6223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TABLE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Employees (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EmpID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Name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VARCHAR(50) NOT NULL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128000" y="1460500"/>
            <a:ext cx="7366000" cy="5842000"/>
          </a:xfrm>
          <a:prstGeom prst="roundRect">
            <a:avLst>
              <a:gd name="adj" fmla="val 8000"/>
            </a:avLst>
          </a:prstGeom>
          <a:solidFill>
            <a:srgbClr val="1B3A3E"/>
          </a:solidFill>
          <a:ln/>
        </p:spPr>
      </p:sp>
      <p:sp>
        <p:nvSpPr>
          <p:cNvPr id="16" name="Shape 14"/>
          <p:cNvSpPr/>
          <p:nvPr/>
        </p:nvSpPr>
        <p:spPr>
          <a:xfrm>
            <a:off x="8509000" y="1778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cubicBezTo>
                  <a:pt x="322302" y="0"/>
                  <a:pt x="338376" y="9644"/>
                  <a:pt x="346710" y="25003"/>
                </a:cubicBezTo>
                <a:lnTo>
                  <a:pt x="603885" y="501253"/>
                </a:lnTo>
                <a:cubicBezTo>
                  <a:pt x="611862" y="516017"/>
                  <a:pt x="611505" y="533876"/>
                  <a:pt x="602933" y="548283"/>
                </a:cubicBezTo>
                <a:cubicBezTo>
                  <a:pt x="594360" y="562689"/>
                  <a:pt x="578763" y="571500"/>
                  <a:pt x="561975" y="571500"/>
                </a:cubicBezTo>
                <a:lnTo>
                  <a:pt x="47625" y="571500"/>
                </a:lnTo>
                <a:cubicBezTo>
                  <a:pt x="30837" y="571500"/>
                  <a:pt x="15359" y="562689"/>
                  <a:pt x="6668" y="548283"/>
                </a:cubicBezTo>
                <a:cubicBezTo>
                  <a:pt x="-2024" y="533876"/>
                  <a:pt x="-2262" y="516017"/>
                  <a:pt x="5715" y="501253"/>
                </a:cubicBezTo>
                <a:lnTo>
                  <a:pt x="262890" y="25003"/>
                </a:lnTo>
                <a:cubicBezTo>
                  <a:pt x="271224" y="9644"/>
                  <a:pt x="287298" y="0"/>
                  <a:pt x="304800" y="0"/>
                </a:cubicBezTo>
                <a:close/>
                <a:moveTo>
                  <a:pt x="304800" y="200025"/>
                </a:moveTo>
                <a:cubicBezTo>
                  <a:pt x="288965" y="200025"/>
                  <a:pt x="276225" y="212765"/>
                  <a:pt x="276225" y="228600"/>
                </a:cubicBezTo>
                <a:lnTo>
                  <a:pt x="276225" y="361950"/>
                </a:lnTo>
                <a:cubicBezTo>
                  <a:pt x="276225" y="377785"/>
                  <a:pt x="288965" y="390525"/>
                  <a:pt x="304800" y="390525"/>
                </a:cubicBezTo>
                <a:cubicBezTo>
                  <a:pt x="320635" y="390525"/>
                  <a:pt x="333375" y="377785"/>
                  <a:pt x="333375" y="361950"/>
                </a:cubicBezTo>
                <a:lnTo>
                  <a:pt x="333375" y="228600"/>
                </a:lnTo>
                <a:cubicBezTo>
                  <a:pt x="333375" y="212765"/>
                  <a:pt x="320635" y="200025"/>
                  <a:pt x="304800" y="200025"/>
                </a:cubicBezTo>
                <a:close/>
                <a:moveTo>
                  <a:pt x="336590" y="457200"/>
                </a:moveTo>
                <a:cubicBezTo>
                  <a:pt x="337313" y="445400"/>
                  <a:pt x="331428" y="434173"/>
                  <a:pt x="321313" y="428055"/>
                </a:cubicBezTo>
                <a:cubicBezTo>
                  <a:pt x="311197" y="421936"/>
                  <a:pt x="298522" y="421936"/>
                  <a:pt x="288406" y="428055"/>
                </a:cubicBezTo>
                <a:cubicBezTo>
                  <a:pt x="278291" y="434173"/>
                  <a:pt x="272406" y="445400"/>
                  <a:pt x="273129" y="457200"/>
                </a:cubicBezTo>
                <a:cubicBezTo>
                  <a:pt x="272406" y="469000"/>
                  <a:pt x="278291" y="480227"/>
                  <a:pt x="288406" y="486345"/>
                </a:cubicBezTo>
                <a:cubicBezTo>
                  <a:pt x="298522" y="492464"/>
                  <a:pt x="311197" y="492464"/>
                  <a:pt x="321313" y="486345"/>
                </a:cubicBezTo>
                <a:cubicBezTo>
                  <a:pt x="331428" y="480227"/>
                  <a:pt x="337313" y="469000"/>
                  <a:pt x="336590" y="457200"/>
                </a:cubicBezTo>
                <a:close/>
              </a:path>
            </a:pathLst>
          </a:custGeom>
          <a:solidFill>
            <a:srgbClr val="C9843E"/>
          </a:solidFill>
          <a:ln/>
        </p:spPr>
      </p:sp>
      <p:sp>
        <p:nvSpPr>
          <p:cNvPr id="17" name="Text 15"/>
          <p:cNvSpPr/>
          <p:nvPr/>
        </p:nvSpPr>
        <p:spPr>
          <a:xfrm>
            <a:off x="8509000" y="2667000"/>
            <a:ext cx="660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Important Rule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09000" y="3429000"/>
            <a:ext cx="660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 name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must always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 entered. Leaving it empty will cause an error.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09000" y="46990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4CA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 VALID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509000" y="5143500"/>
            <a:ext cx="3048000" cy="406400"/>
          </a:xfrm>
          <a:prstGeom prst="roundRect">
            <a:avLst>
              <a:gd name="adj" fmla="val 8000"/>
            </a:avLst>
          </a:prstGeom>
          <a:solidFill>
            <a:srgbClr val="2A5A5E"/>
          </a:solidFill>
          <a:ln/>
        </p:spPr>
      </p:sp>
      <p:sp>
        <p:nvSpPr>
          <p:cNvPr id="21" name="Text 19"/>
          <p:cNvSpPr/>
          <p:nvPr/>
        </p:nvSpPr>
        <p:spPr>
          <a:xfrm>
            <a:off x="8699500" y="5143500"/>
            <a:ext cx="2667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EmpID: 1, Name: 'Ali'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938000" y="46990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443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✗ INVALID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1938000" y="5143500"/>
            <a:ext cx="3048000" cy="406400"/>
          </a:xfrm>
          <a:prstGeom prst="roundRect">
            <a:avLst>
              <a:gd name="adj" fmla="val 8000"/>
            </a:avLst>
          </a:prstGeom>
          <a:solidFill>
            <a:srgbClr val="2A5A5E"/>
          </a:solidFill>
          <a:ln/>
        </p:spPr>
      </p:sp>
      <p:sp>
        <p:nvSpPr>
          <p:cNvPr id="24" name="Text 22"/>
          <p:cNvSpPr/>
          <p:nvPr/>
        </p:nvSpPr>
        <p:spPr>
          <a:xfrm>
            <a:off x="12128500" y="5143500"/>
            <a:ext cx="2667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EmpID: 1, Name: NULL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09000" y="6286500"/>
            <a:ext cx="660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second row will be rejected because NOT NULL requires a value.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986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8A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0" y="635000"/>
            <a:ext cx="21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8A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Constraints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 Life Example — NOT NULL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17600"/>
            <a:ext cx="1016000" cy="38100"/>
          </a:xfrm>
          <a:prstGeom prst="rect">
            <a:avLst/>
          </a:prstGeom>
          <a:solidFill>
            <a:srgbClr val="C9843E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147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University System — Student Name Cannot Be Empty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62000" y="2286000"/>
            <a:ext cx="7048500" cy="3556000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25400">
            <a:solidFill>
              <a:srgbClr val="F443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9500" y="2540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cubicBezTo>
                  <a:pt x="354768" y="457200"/>
                  <a:pt x="457200" y="354768"/>
                  <a:pt x="457200" y="228600"/>
                </a:cubicBezTo>
                <a:cubicBezTo>
                  <a:pt x="457200" y="102432"/>
                  <a:pt x="354768" y="0"/>
                  <a:pt x="228600" y="0"/>
                </a:cubicBezTo>
                <a:cubicBezTo>
                  <a:pt x="102432" y="0"/>
                  <a:pt x="0" y="102432"/>
                  <a:pt x="0" y="228600"/>
                </a:cubicBezTo>
                <a:cubicBezTo>
                  <a:pt x="0" y="354768"/>
                  <a:pt x="102432" y="457200"/>
                  <a:pt x="228600" y="457200"/>
                </a:cubicBezTo>
                <a:close/>
                <a:moveTo>
                  <a:pt x="149126" y="149126"/>
                </a:moveTo>
                <a:cubicBezTo>
                  <a:pt x="157520" y="140732"/>
                  <a:pt x="171093" y="140732"/>
                  <a:pt x="179397" y="149126"/>
                </a:cubicBezTo>
                <a:lnTo>
                  <a:pt x="228511" y="198239"/>
                </a:lnTo>
                <a:lnTo>
                  <a:pt x="277624" y="149126"/>
                </a:lnTo>
                <a:cubicBezTo>
                  <a:pt x="286018" y="140732"/>
                  <a:pt x="299591" y="140732"/>
                  <a:pt x="307896" y="149126"/>
                </a:cubicBezTo>
                <a:cubicBezTo>
                  <a:pt x="316200" y="157520"/>
                  <a:pt x="316290" y="171093"/>
                  <a:pt x="307896" y="179397"/>
                </a:cubicBezTo>
                <a:lnTo>
                  <a:pt x="258782" y="228511"/>
                </a:lnTo>
                <a:lnTo>
                  <a:pt x="307896" y="277624"/>
                </a:lnTo>
                <a:cubicBezTo>
                  <a:pt x="316290" y="286018"/>
                  <a:pt x="316290" y="299591"/>
                  <a:pt x="307896" y="307896"/>
                </a:cubicBezTo>
                <a:cubicBezTo>
                  <a:pt x="299502" y="316200"/>
                  <a:pt x="285929" y="316290"/>
                  <a:pt x="277624" y="307896"/>
                </a:cubicBezTo>
                <a:lnTo>
                  <a:pt x="228511" y="258782"/>
                </a:lnTo>
                <a:lnTo>
                  <a:pt x="179397" y="307896"/>
                </a:lnTo>
                <a:cubicBezTo>
                  <a:pt x="171004" y="316290"/>
                  <a:pt x="157430" y="316290"/>
                  <a:pt x="149126" y="307896"/>
                </a:cubicBezTo>
                <a:cubicBezTo>
                  <a:pt x="140821" y="299502"/>
                  <a:pt x="140732" y="285929"/>
                  <a:pt x="149126" y="277624"/>
                </a:cubicBezTo>
                <a:lnTo>
                  <a:pt x="198239" y="228511"/>
                </a:lnTo>
                <a:lnTo>
                  <a:pt x="149126" y="179397"/>
                </a:lnTo>
                <a:cubicBezTo>
                  <a:pt x="140732" y="171004"/>
                  <a:pt x="140732" y="157430"/>
                  <a:pt x="149126" y="149126"/>
                </a:cubicBezTo>
                <a:close/>
              </a:path>
            </a:pathLst>
          </a:custGeom>
          <a:solidFill>
            <a:srgbClr val="F44336"/>
          </a:solidFill>
          <a:ln/>
        </p:spPr>
      </p:sp>
      <p:sp>
        <p:nvSpPr>
          <p:cNvPr id="8" name="Text 6"/>
          <p:cNvSpPr/>
          <p:nvPr/>
        </p:nvSpPr>
        <p:spPr>
          <a:xfrm>
            <a:off x="1714500" y="2540000"/>
            <a:ext cx="558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443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Wrong Data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79500" y="3302000"/>
          <a:ext cx="6413500" cy="1524000"/>
        </p:xfrm>
        <a:graphic>
          <a:graphicData uri="http://schemas.openxmlformats.org/drawingml/2006/table">
            <a:tbl>
              <a:tblPr/>
              <a:tblGrid>
                <a:gridCol w="2565400"/>
                <a:gridCol w="1924050"/>
                <a:gridCol w="1924050"/>
              </a:tblGrid>
              <a:tr h="503802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StudentID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Status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3E"/>
                    </a:solidFill>
                  </a:tcPr>
                </a:tc>
              </a:tr>
              <a:tr h="503802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443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NULL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443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Rejected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639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&lt;p&gt;&lt;span&gt;&lt;/span&gt;&lt;/p&gt;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443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Rejected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1079500" y="5080000"/>
            <a:ext cx="6413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443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These records will be rejected by the database.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191500" y="2286000"/>
            <a:ext cx="7302500" cy="3556000"/>
          </a:xfrm>
          <a:prstGeom prst="roundRect">
            <a:avLst>
              <a:gd name="adj" fmla="val 8000"/>
            </a:avLst>
          </a:prstGeom>
          <a:solidFill>
            <a:srgbClr val="F5FFF5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509000" y="2540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cubicBezTo>
                  <a:pt x="354768" y="457200"/>
                  <a:pt x="457200" y="354768"/>
                  <a:pt x="457200" y="228600"/>
                </a:cubicBezTo>
                <a:cubicBezTo>
                  <a:pt x="457200" y="102432"/>
                  <a:pt x="354768" y="0"/>
                  <a:pt x="228600" y="0"/>
                </a:cubicBezTo>
                <a:cubicBezTo>
                  <a:pt x="102432" y="0"/>
                  <a:pt x="0" y="102432"/>
                  <a:pt x="0" y="228600"/>
                </a:cubicBezTo>
                <a:cubicBezTo>
                  <a:pt x="0" y="354768"/>
                  <a:pt x="102432" y="457200"/>
                  <a:pt x="228600" y="457200"/>
                </a:cubicBezTo>
                <a:close/>
                <a:moveTo>
                  <a:pt x="303967" y="189934"/>
                </a:moveTo>
                <a:lnTo>
                  <a:pt x="232529" y="304234"/>
                </a:lnTo>
                <a:cubicBezTo>
                  <a:pt x="228779" y="310217"/>
                  <a:pt x="222349" y="313968"/>
                  <a:pt x="215295" y="314325"/>
                </a:cubicBezTo>
                <a:cubicBezTo>
                  <a:pt x="208240" y="314682"/>
                  <a:pt x="201454" y="311468"/>
                  <a:pt x="197257" y="305753"/>
                </a:cubicBezTo>
                <a:lnTo>
                  <a:pt x="154394" y="248602"/>
                </a:lnTo>
                <a:cubicBezTo>
                  <a:pt x="147251" y="239137"/>
                  <a:pt x="149215" y="225743"/>
                  <a:pt x="158681" y="218599"/>
                </a:cubicBezTo>
                <a:cubicBezTo>
                  <a:pt x="168146" y="211455"/>
                  <a:pt x="181541" y="213420"/>
                  <a:pt x="188684" y="222885"/>
                </a:cubicBezTo>
                <a:lnTo>
                  <a:pt x="212794" y="255032"/>
                </a:lnTo>
                <a:lnTo>
                  <a:pt x="267623" y="167253"/>
                </a:lnTo>
                <a:cubicBezTo>
                  <a:pt x="273874" y="157252"/>
                  <a:pt x="287089" y="154126"/>
                  <a:pt x="297180" y="160466"/>
                </a:cubicBezTo>
                <a:cubicBezTo>
                  <a:pt x="307271" y="166807"/>
                  <a:pt x="310307" y="179933"/>
                  <a:pt x="303967" y="190024"/>
                </a:cubicBezTo>
                <a:close/>
              </a:path>
            </a:pathLst>
          </a:custGeom>
          <a:solidFill>
            <a:srgbClr val="4CAF50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0" y="2540000"/>
            <a:ext cx="596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4CA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Correct Data</a:t>
            </a:r>
            <a:endParaRPr lang="en-US" sz="16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509000" y="3302000"/>
          <a:ext cx="6667500" cy="1524000"/>
        </p:xfrm>
        <a:graphic>
          <a:graphicData uri="http://schemas.openxmlformats.org/drawingml/2006/table">
            <a:tbl>
              <a:tblPr/>
              <a:tblGrid>
                <a:gridCol w="2667000"/>
                <a:gridCol w="2000250"/>
                <a:gridCol w="2000250"/>
              </a:tblGrid>
              <a:tr h="503802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StudentID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Status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3E"/>
                    </a:solidFill>
                  </a:tcPr>
                </a:tc>
              </a:tr>
              <a:tr h="503802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4CAF5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Accepted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639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Sara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4CAF5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Accepted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</a:tr>
            </a:tbl>
          </a:graphicData>
        </a:graphic>
      </p:graphicFrame>
      <p:sp>
        <p:nvSpPr>
          <p:cNvPr id="15" name="Text 11"/>
          <p:cNvSpPr/>
          <p:nvPr/>
        </p:nvSpPr>
        <p:spPr>
          <a:xfrm>
            <a:off x="8509000" y="5080000"/>
            <a:ext cx="6667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4CAF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These records will be accepted by the database.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762000" y="6286500"/>
            <a:ext cx="147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 Behind This Example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762000" y="6921500"/>
            <a:ext cx="14732000" cy="889000"/>
          </a:xfrm>
          <a:prstGeom prst="roundRect">
            <a:avLst>
              <a:gd name="adj" fmla="val 6000"/>
            </a:avLst>
          </a:prstGeom>
          <a:solidFill>
            <a:srgbClr val="152E31"/>
          </a:solidFill>
          <a:ln/>
        </p:spPr>
      </p:sp>
      <p:sp>
        <p:nvSpPr>
          <p:cNvPr id="18" name="Text 14"/>
          <p:cNvSpPr/>
          <p:nvPr/>
        </p:nvSpPr>
        <p:spPr>
          <a:xfrm>
            <a:off x="1143000" y="6921500"/>
            <a:ext cx="1397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TABLE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Students (StudentID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Name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VARCHAR(50) NOT NULL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14986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8A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0" y="635000"/>
            <a:ext cx="21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8A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Constraints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UNIQUE Constraint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17600"/>
            <a:ext cx="1016000" cy="38100"/>
          </a:xfrm>
          <a:prstGeom prst="rect">
            <a:avLst/>
          </a:prstGeom>
          <a:solidFill>
            <a:srgbClr val="C9843E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60500"/>
            <a:ext cx="6858000" cy="1651000"/>
          </a:xfrm>
          <a:prstGeom prst="roundRect">
            <a:avLst>
              <a:gd name="adj" fmla="val 8000"/>
            </a:avLst>
          </a:prstGeom>
          <a:solidFill>
            <a:srgbClr val="E8F0F1"/>
          </a:solidFill>
          <a:ln/>
        </p:spPr>
      </p:sp>
      <p:sp>
        <p:nvSpPr>
          <p:cNvPr id="6" name="Shape 4"/>
          <p:cNvSpPr/>
          <p:nvPr/>
        </p:nvSpPr>
        <p:spPr>
          <a:xfrm>
            <a:off x="1079500" y="165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2863" y="228600"/>
                </a:moveTo>
                <a:cubicBezTo>
                  <a:pt x="42863" y="125998"/>
                  <a:pt x="125998" y="42863"/>
                  <a:pt x="228600" y="42863"/>
                </a:cubicBezTo>
                <a:cubicBezTo>
                  <a:pt x="284946" y="42863"/>
                  <a:pt x="335399" y="67955"/>
                  <a:pt x="369510" y="107603"/>
                </a:cubicBezTo>
                <a:cubicBezTo>
                  <a:pt x="377190" y="116622"/>
                  <a:pt x="390763" y="117604"/>
                  <a:pt x="399693" y="109924"/>
                </a:cubicBezTo>
                <a:cubicBezTo>
                  <a:pt x="408623" y="102245"/>
                  <a:pt x="409694" y="88672"/>
                  <a:pt x="402015" y="79742"/>
                </a:cubicBezTo>
                <a:cubicBezTo>
                  <a:pt x="360134" y="30897"/>
                  <a:pt x="297984" y="0"/>
                  <a:pt x="228600" y="0"/>
                </a:cubicBezTo>
                <a:cubicBezTo>
                  <a:pt x="102334" y="0"/>
                  <a:pt x="0" y="102334"/>
                  <a:pt x="0" y="228600"/>
                </a:cubicBezTo>
                <a:lnTo>
                  <a:pt x="0" y="264319"/>
                </a:lnTo>
                <a:cubicBezTo>
                  <a:pt x="0" y="276195"/>
                  <a:pt x="9555" y="285750"/>
                  <a:pt x="21431" y="285750"/>
                </a:cubicBezTo>
                <a:cubicBezTo>
                  <a:pt x="33308" y="285750"/>
                  <a:pt x="42863" y="276195"/>
                  <a:pt x="42863" y="264319"/>
                </a:cubicBezTo>
                <a:lnTo>
                  <a:pt x="42863" y="228600"/>
                </a:lnTo>
                <a:close/>
                <a:moveTo>
                  <a:pt x="452289" y="181362"/>
                </a:moveTo>
                <a:cubicBezTo>
                  <a:pt x="449878" y="169753"/>
                  <a:pt x="438448" y="162342"/>
                  <a:pt x="426928" y="164842"/>
                </a:cubicBezTo>
                <a:cubicBezTo>
                  <a:pt x="415409" y="167342"/>
                  <a:pt x="407908" y="178683"/>
                  <a:pt x="410408" y="190202"/>
                </a:cubicBezTo>
                <a:cubicBezTo>
                  <a:pt x="412998" y="202615"/>
                  <a:pt x="414427" y="215473"/>
                  <a:pt x="414427" y="228689"/>
                </a:cubicBezTo>
                <a:lnTo>
                  <a:pt x="414427" y="264408"/>
                </a:lnTo>
                <a:cubicBezTo>
                  <a:pt x="414427" y="276285"/>
                  <a:pt x="423982" y="285839"/>
                  <a:pt x="435858" y="285839"/>
                </a:cubicBezTo>
                <a:cubicBezTo>
                  <a:pt x="447735" y="285839"/>
                  <a:pt x="457289" y="276285"/>
                  <a:pt x="457289" y="264408"/>
                </a:cubicBezTo>
                <a:lnTo>
                  <a:pt x="457289" y="228689"/>
                </a:lnTo>
                <a:cubicBezTo>
                  <a:pt x="457289" y="212527"/>
                  <a:pt x="455593" y="196721"/>
                  <a:pt x="452378" y="181451"/>
                </a:cubicBezTo>
                <a:close/>
                <a:moveTo>
                  <a:pt x="228600" y="71438"/>
                </a:moveTo>
                <a:cubicBezTo>
                  <a:pt x="211634" y="71438"/>
                  <a:pt x="195203" y="74116"/>
                  <a:pt x="179933" y="79117"/>
                </a:cubicBezTo>
                <a:cubicBezTo>
                  <a:pt x="166360" y="83582"/>
                  <a:pt x="163235" y="100280"/>
                  <a:pt x="172522" y="111175"/>
                </a:cubicBezTo>
                <a:cubicBezTo>
                  <a:pt x="178862" y="118586"/>
                  <a:pt x="189309" y="120819"/>
                  <a:pt x="198775" y="118229"/>
                </a:cubicBezTo>
                <a:cubicBezTo>
                  <a:pt x="208240" y="115639"/>
                  <a:pt x="218242" y="114300"/>
                  <a:pt x="228600" y="114300"/>
                </a:cubicBezTo>
                <a:cubicBezTo>
                  <a:pt x="291733" y="114300"/>
                  <a:pt x="342900" y="165467"/>
                  <a:pt x="342900" y="228600"/>
                </a:cubicBezTo>
                <a:lnTo>
                  <a:pt x="342900" y="250835"/>
                </a:lnTo>
                <a:cubicBezTo>
                  <a:pt x="342900" y="273338"/>
                  <a:pt x="341561" y="295751"/>
                  <a:pt x="338971" y="318075"/>
                </a:cubicBezTo>
                <a:cubicBezTo>
                  <a:pt x="337453" y="331113"/>
                  <a:pt x="347365" y="342900"/>
                  <a:pt x="360581" y="342900"/>
                </a:cubicBezTo>
                <a:cubicBezTo>
                  <a:pt x="371118" y="342900"/>
                  <a:pt x="380137" y="335220"/>
                  <a:pt x="381387" y="324773"/>
                </a:cubicBezTo>
                <a:cubicBezTo>
                  <a:pt x="384334" y="300305"/>
                  <a:pt x="385852" y="275659"/>
                  <a:pt x="385852" y="250924"/>
                </a:cubicBezTo>
                <a:lnTo>
                  <a:pt x="385852" y="228689"/>
                </a:lnTo>
                <a:cubicBezTo>
                  <a:pt x="385852" y="141893"/>
                  <a:pt x="315486" y="71527"/>
                  <a:pt x="228689" y="71527"/>
                </a:cubicBezTo>
                <a:close/>
                <a:moveTo>
                  <a:pt x="134570" y="132784"/>
                </a:moveTo>
                <a:cubicBezTo>
                  <a:pt x="126444" y="123319"/>
                  <a:pt x="111978" y="122605"/>
                  <a:pt x="104299" y="132427"/>
                </a:cubicBezTo>
                <a:cubicBezTo>
                  <a:pt x="83671" y="159038"/>
                  <a:pt x="71437" y="192345"/>
                  <a:pt x="71437" y="228600"/>
                </a:cubicBezTo>
                <a:lnTo>
                  <a:pt x="71437" y="250835"/>
                </a:lnTo>
                <a:cubicBezTo>
                  <a:pt x="71437" y="272445"/>
                  <a:pt x="69116" y="294055"/>
                  <a:pt x="64472" y="315039"/>
                </a:cubicBezTo>
                <a:cubicBezTo>
                  <a:pt x="61436" y="328970"/>
                  <a:pt x="71527" y="342811"/>
                  <a:pt x="85814" y="342811"/>
                </a:cubicBezTo>
                <a:cubicBezTo>
                  <a:pt x="95190" y="342811"/>
                  <a:pt x="103584" y="336560"/>
                  <a:pt x="105638" y="327362"/>
                </a:cubicBezTo>
                <a:cubicBezTo>
                  <a:pt x="111353" y="302270"/>
                  <a:pt x="114300" y="276642"/>
                  <a:pt x="114300" y="250746"/>
                </a:cubicBezTo>
                <a:lnTo>
                  <a:pt x="114300" y="228511"/>
                </a:lnTo>
                <a:cubicBezTo>
                  <a:pt x="114300" y="204222"/>
                  <a:pt x="121890" y="181719"/>
                  <a:pt x="134749" y="163235"/>
                </a:cubicBezTo>
                <a:cubicBezTo>
                  <a:pt x="141178" y="153948"/>
                  <a:pt x="141893" y="141268"/>
                  <a:pt x="134570" y="132695"/>
                </a:cubicBezTo>
                <a:close/>
                <a:moveTo>
                  <a:pt x="228600" y="142875"/>
                </a:moveTo>
                <a:cubicBezTo>
                  <a:pt x="181273" y="142875"/>
                  <a:pt x="142875" y="181273"/>
                  <a:pt x="142875" y="228600"/>
                </a:cubicBezTo>
                <a:lnTo>
                  <a:pt x="142875" y="250835"/>
                </a:lnTo>
                <a:cubicBezTo>
                  <a:pt x="142875" y="282892"/>
                  <a:pt x="138767" y="314682"/>
                  <a:pt x="130552" y="345579"/>
                </a:cubicBezTo>
                <a:cubicBezTo>
                  <a:pt x="127159" y="358348"/>
                  <a:pt x="136535" y="371475"/>
                  <a:pt x="149751" y="371475"/>
                </a:cubicBezTo>
                <a:cubicBezTo>
                  <a:pt x="158234" y="371475"/>
                  <a:pt x="165735" y="365939"/>
                  <a:pt x="167967" y="357723"/>
                </a:cubicBezTo>
                <a:cubicBezTo>
                  <a:pt x="177344" y="322898"/>
                  <a:pt x="182166" y="287000"/>
                  <a:pt x="182166" y="250835"/>
                </a:cubicBezTo>
                <a:lnTo>
                  <a:pt x="182166" y="228600"/>
                </a:lnTo>
                <a:cubicBezTo>
                  <a:pt x="182166" y="202972"/>
                  <a:pt x="202972" y="182166"/>
                  <a:pt x="228600" y="182166"/>
                </a:cubicBezTo>
                <a:cubicBezTo>
                  <a:pt x="254228" y="182166"/>
                  <a:pt x="275034" y="202972"/>
                  <a:pt x="275034" y="228600"/>
                </a:cubicBezTo>
                <a:lnTo>
                  <a:pt x="275034" y="250835"/>
                </a:lnTo>
                <a:cubicBezTo>
                  <a:pt x="275034" y="283250"/>
                  <a:pt x="271909" y="315486"/>
                  <a:pt x="265748" y="347186"/>
                </a:cubicBezTo>
                <a:cubicBezTo>
                  <a:pt x="263336" y="359599"/>
                  <a:pt x="272623" y="371475"/>
                  <a:pt x="285214" y="371475"/>
                </a:cubicBezTo>
                <a:cubicBezTo>
                  <a:pt x="294323" y="371475"/>
                  <a:pt x="302181" y="365224"/>
                  <a:pt x="303967" y="356295"/>
                </a:cubicBezTo>
                <a:cubicBezTo>
                  <a:pt x="310842" y="321647"/>
                  <a:pt x="314325" y="286375"/>
                  <a:pt x="314325" y="250835"/>
                </a:cubicBezTo>
                <a:lnTo>
                  <a:pt x="314325" y="228600"/>
                </a:lnTo>
                <a:cubicBezTo>
                  <a:pt x="314325" y="181273"/>
                  <a:pt x="275927" y="142875"/>
                  <a:pt x="228600" y="142875"/>
                </a:cubicBezTo>
                <a:close/>
                <a:moveTo>
                  <a:pt x="250031" y="228600"/>
                </a:moveTo>
                <a:cubicBezTo>
                  <a:pt x="250031" y="216724"/>
                  <a:pt x="240476" y="207169"/>
                  <a:pt x="228600" y="207169"/>
                </a:cubicBezTo>
                <a:cubicBezTo>
                  <a:pt x="216724" y="207169"/>
                  <a:pt x="207169" y="216724"/>
                  <a:pt x="207169" y="228600"/>
                </a:cubicBezTo>
                <a:lnTo>
                  <a:pt x="207169" y="250835"/>
                </a:lnTo>
                <a:cubicBezTo>
                  <a:pt x="207169" y="304324"/>
                  <a:pt x="197346" y="357366"/>
                  <a:pt x="178147" y="407283"/>
                </a:cubicBezTo>
                <a:lnTo>
                  <a:pt x="172879" y="420945"/>
                </a:lnTo>
                <a:cubicBezTo>
                  <a:pt x="168592" y="432018"/>
                  <a:pt x="174129" y="444431"/>
                  <a:pt x="185202" y="448628"/>
                </a:cubicBezTo>
                <a:cubicBezTo>
                  <a:pt x="196275" y="452824"/>
                  <a:pt x="208687" y="447377"/>
                  <a:pt x="212884" y="436305"/>
                </a:cubicBezTo>
                <a:lnTo>
                  <a:pt x="218152" y="422642"/>
                </a:lnTo>
                <a:cubicBezTo>
                  <a:pt x="239226" y="367814"/>
                  <a:pt x="250031" y="309592"/>
                  <a:pt x="250031" y="250835"/>
                </a:cubicBezTo>
                <a:lnTo>
                  <a:pt x="250031" y="228600"/>
                </a:lnTo>
                <a:close/>
              </a:path>
            </a:pathLst>
          </a:custGeom>
          <a:solidFill>
            <a:srgbClr val="1B3A3E"/>
          </a:solidFill>
          <a:ln/>
        </p:spPr>
      </p:sp>
      <p:sp>
        <p:nvSpPr>
          <p:cNvPr id="7" name="Text 5"/>
          <p:cNvSpPr/>
          <p:nvPr/>
        </p:nvSpPr>
        <p:spPr>
          <a:xfrm>
            <a:off x="1714500" y="1651000"/>
            <a:ext cx="558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79500" y="2222500"/>
            <a:ext cx="622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Prevents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duplicate values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a column.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62000" y="3429000"/>
            <a:ext cx="685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62000" y="4000500"/>
            <a:ext cx="6858000" cy="1270000"/>
          </a:xfrm>
          <a:prstGeom prst="roundRect">
            <a:avLst>
              <a:gd name="adj" fmla="val 8000"/>
            </a:avLst>
          </a:prstGeom>
          <a:solidFill>
            <a:srgbClr val="152E31"/>
          </a:solidFill>
          <a:ln/>
        </p:spPr>
      </p:sp>
      <p:sp>
        <p:nvSpPr>
          <p:cNvPr id="11" name="Text 9"/>
          <p:cNvSpPr/>
          <p:nvPr/>
        </p:nvSpPr>
        <p:spPr>
          <a:xfrm>
            <a:off x="1079500" y="4064000"/>
            <a:ext cx="622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TABLE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Users (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Email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VARCHAR(100) UNIQUE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5588000"/>
            <a:ext cx="6858000" cy="1016000"/>
          </a:xfrm>
          <a:prstGeom prst="roundRect">
            <a:avLst>
              <a:gd name="adj" fmla="val 8000"/>
            </a:avLst>
          </a:prstGeom>
          <a:solidFill>
            <a:srgbClr val="E8F0F1"/>
          </a:solidFill>
          <a:ln/>
        </p:spPr>
      </p:sp>
      <p:sp>
        <p:nvSpPr>
          <p:cNvPr id="13" name="Shape 11"/>
          <p:cNvSpPr/>
          <p:nvPr/>
        </p:nvSpPr>
        <p:spPr>
          <a:xfrm>
            <a:off x="1079500" y="5905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55575" y="111125"/>
                </a:moveTo>
                <a:cubicBezTo>
                  <a:pt x="155575" y="98859"/>
                  <a:pt x="165534" y="88900"/>
                  <a:pt x="177800" y="88900"/>
                </a:cubicBezTo>
                <a:cubicBezTo>
                  <a:pt x="190066" y="88900"/>
                  <a:pt x="200025" y="98859"/>
                  <a:pt x="200025" y="111125"/>
                </a:cubicBezTo>
                <a:cubicBezTo>
                  <a:pt x="200025" y="123391"/>
                  <a:pt x="190066" y="133350"/>
                  <a:pt x="177800" y="133350"/>
                </a:cubicBezTo>
                <a:cubicBezTo>
                  <a:pt x="165534" y="133350"/>
                  <a:pt x="155575" y="123391"/>
                  <a:pt x="155575" y="111125"/>
                </a:cubicBezTo>
                <a:close/>
                <a:moveTo>
                  <a:pt x="150019" y="155575"/>
                </a:moveTo>
                <a:lnTo>
                  <a:pt x="183356" y="155575"/>
                </a:lnTo>
                <a:cubicBezTo>
                  <a:pt x="192594" y="155575"/>
                  <a:pt x="200025" y="163006"/>
                  <a:pt x="200025" y="172244"/>
                </a:cubicBezTo>
                <a:lnTo>
                  <a:pt x="200025" y="233363"/>
                </a:lnTo>
                <a:lnTo>
                  <a:pt x="205581" y="233363"/>
                </a:lnTo>
                <a:cubicBezTo>
                  <a:pt x="214819" y="233363"/>
                  <a:pt x="222250" y="240794"/>
                  <a:pt x="222250" y="250031"/>
                </a:cubicBezTo>
                <a:cubicBezTo>
                  <a:pt x="222250" y="259269"/>
                  <a:pt x="214819" y="266700"/>
                  <a:pt x="205581" y="266700"/>
                </a:cubicBezTo>
                <a:lnTo>
                  <a:pt x="150019" y="266700"/>
                </a:lnTo>
                <a:cubicBezTo>
                  <a:pt x="140781" y="266700"/>
                  <a:pt x="133350" y="259269"/>
                  <a:pt x="133350" y="250031"/>
                </a:cubicBezTo>
                <a:cubicBezTo>
                  <a:pt x="133350" y="240794"/>
                  <a:pt x="140781" y="233363"/>
                  <a:pt x="150019" y="233363"/>
                </a:cubicBezTo>
                <a:lnTo>
                  <a:pt x="166688" y="233363"/>
                </a:lnTo>
                <a:lnTo>
                  <a:pt x="166688" y="188913"/>
                </a:lnTo>
                <a:lnTo>
                  <a:pt x="150019" y="188913"/>
                </a:lnTo>
                <a:cubicBezTo>
                  <a:pt x="140781" y="188913"/>
                  <a:pt x="133350" y="181481"/>
                  <a:pt x="133350" y="172244"/>
                </a:cubicBezTo>
                <a:cubicBezTo>
                  <a:pt x="133350" y="163006"/>
                  <a:pt x="140781" y="155575"/>
                  <a:pt x="150019" y="155575"/>
                </a:cubicBezTo>
                <a:close/>
              </a:path>
            </a:pathLst>
          </a:custGeom>
          <a:solidFill>
            <a:srgbClr val="C9843E"/>
          </a:solidFill>
          <a:ln/>
        </p:spPr>
      </p:sp>
      <p:sp>
        <p:nvSpPr>
          <p:cNvPr id="14" name="Text 12"/>
          <p:cNvSpPr/>
          <p:nvPr/>
        </p:nvSpPr>
        <p:spPr>
          <a:xfrm>
            <a:off x="1587500" y="5588000"/>
            <a:ext cx="5778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Two users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cannot have the same email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address.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128000" y="1460500"/>
            <a:ext cx="7366000" cy="5842000"/>
          </a:xfrm>
          <a:prstGeom prst="roundRect">
            <a:avLst>
              <a:gd name="adj" fmla="val 8000"/>
            </a:avLst>
          </a:prstGeom>
          <a:solidFill>
            <a:srgbClr val="1B3A3E"/>
          </a:solidFill>
          <a:ln/>
        </p:spPr>
      </p:sp>
      <p:sp>
        <p:nvSpPr>
          <p:cNvPr id="16" name="Shape 14"/>
          <p:cNvSpPr/>
          <p:nvPr/>
        </p:nvSpPr>
        <p:spPr>
          <a:xfrm>
            <a:off x="8509000" y="1778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7150" y="76200"/>
                </a:moveTo>
                <a:cubicBezTo>
                  <a:pt x="25598" y="76200"/>
                  <a:pt x="0" y="101798"/>
                  <a:pt x="0" y="133350"/>
                </a:cubicBezTo>
                <a:cubicBezTo>
                  <a:pt x="0" y="151328"/>
                  <a:pt x="8453" y="168235"/>
                  <a:pt x="22860" y="179070"/>
                </a:cubicBezTo>
                <a:lnTo>
                  <a:pt x="270510" y="364808"/>
                </a:lnTo>
                <a:cubicBezTo>
                  <a:pt x="290870" y="380048"/>
                  <a:pt x="318730" y="380048"/>
                  <a:pt x="339090" y="364808"/>
                </a:cubicBezTo>
                <a:lnTo>
                  <a:pt x="586740" y="179070"/>
                </a:lnTo>
                <a:cubicBezTo>
                  <a:pt x="601147" y="168235"/>
                  <a:pt x="609600" y="151328"/>
                  <a:pt x="609600" y="133350"/>
                </a:cubicBezTo>
                <a:cubicBezTo>
                  <a:pt x="609600" y="101798"/>
                  <a:pt x="584002" y="76200"/>
                  <a:pt x="552450" y="76200"/>
                </a:cubicBezTo>
                <a:lnTo>
                  <a:pt x="57150" y="76200"/>
                </a:lnTo>
                <a:close/>
                <a:moveTo>
                  <a:pt x="0" y="233363"/>
                </a:moveTo>
                <a:lnTo>
                  <a:pt x="0" y="457200"/>
                </a:lnTo>
                <a:cubicBezTo>
                  <a:pt x="0" y="499229"/>
                  <a:pt x="34171" y="533400"/>
                  <a:pt x="76200" y="533400"/>
                </a:cubicBezTo>
                <a:lnTo>
                  <a:pt x="533400" y="533400"/>
                </a:lnTo>
                <a:cubicBezTo>
                  <a:pt x="575429" y="533400"/>
                  <a:pt x="609600" y="499229"/>
                  <a:pt x="609600" y="457200"/>
                </a:cubicBezTo>
                <a:lnTo>
                  <a:pt x="609600" y="233363"/>
                </a:lnTo>
                <a:lnTo>
                  <a:pt x="373380" y="410528"/>
                </a:lnTo>
                <a:cubicBezTo>
                  <a:pt x="332780" y="441008"/>
                  <a:pt x="276820" y="441008"/>
                  <a:pt x="236220" y="410528"/>
                </a:cubicBezTo>
                <a:lnTo>
                  <a:pt x="0" y="233363"/>
                </a:lnTo>
                <a:close/>
              </a:path>
            </a:pathLst>
          </a:custGeom>
          <a:solidFill>
            <a:srgbClr val="C9843E"/>
          </a:solidFill>
          <a:ln/>
        </p:spPr>
      </p:sp>
      <p:sp>
        <p:nvSpPr>
          <p:cNvPr id="17" name="Text 15"/>
          <p:cNvSpPr/>
          <p:nvPr/>
        </p:nvSpPr>
        <p:spPr>
          <a:xfrm>
            <a:off x="8509000" y="2667000"/>
            <a:ext cx="660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UNIQUE Works</a:t>
            </a:r>
            <a:endParaRPr lang="en-US" sz="1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509000" y="3429000"/>
          <a:ext cx="6604000" cy="2032000"/>
        </p:xfrm>
        <a:graphic>
          <a:graphicData uri="http://schemas.openxmlformats.org/drawingml/2006/table">
            <a:tbl>
              <a:tblPr/>
              <a:tblGrid>
                <a:gridCol w="1651000"/>
                <a:gridCol w="3302000"/>
                <a:gridCol w="1651000"/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UserID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Email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Result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3E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ali@mail.com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4CAF5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OK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sara@mail.com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4CAF5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OK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443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ali@mail.com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443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Error!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8509000" y="5778500"/>
            <a:ext cx="660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third row is rejected because the email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ali@mail.com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already exists in the table.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4986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8A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0" y="635000"/>
            <a:ext cx="21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8A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Constraints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 Life Example — UNIQUE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17600"/>
            <a:ext cx="1016000" cy="38100"/>
          </a:xfrm>
          <a:prstGeom prst="rect">
            <a:avLst/>
          </a:prstGeom>
          <a:solidFill>
            <a:srgbClr val="C9843E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147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CNIC System — Every Person Has a Unique CNIC Number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62000" y="2286000"/>
            <a:ext cx="5080000" cy="3048000"/>
          </a:xfrm>
          <a:prstGeom prst="roundRect">
            <a:avLst>
              <a:gd name="adj" fmla="val 8000"/>
            </a:avLst>
          </a:prstGeom>
          <a:solidFill>
            <a:srgbClr val="1B3A3E"/>
          </a:solidFill>
          <a:ln/>
        </p:spPr>
      </p:sp>
      <p:sp>
        <p:nvSpPr>
          <p:cNvPr id="7" name="Shape 5"/>
          <p:cNvSpPr/>
          <p:nvPr/>
        </p:nvSpPr>
        <p:spPr>
          <a:xfrm>
            <a:off x="2492375" y="2540000"/>
            <a:ext cx="857250" cy="762000"/>
          </a:xfrm>
          <a:custGeom>
            <a:avLst/>
            <a:gdLst/>
            <a:ahLst/>
            <a:cxnLst/>
            <a:rect l="l" t="t" r="r" b="b"/>
            <a:pathLst>
              <a:path w="857250" h="762000">
                <a:moveTo>
                  <a:pt x="0" y="142875"/>
                </a:moveTo>
                <a:cubicBezTo>
                  <a:pt x="0" y="90339"/>
                  <a:pt x="42714" y="47625"/>
                  <a:pt x="95250" y="47625"/>
                </a:cubicBezTo>
                <a:lnTo>
                  <a:pt x="762000" y="47625"/>
                </a:lnTo>
                <a:cubicBezTo>
                  <a:pt x="814536" y="47625"/>
                  <a:pt x="857250" y="90339"/>
                  <a:pt x="857250" y="142875"/>
                </a:cubicBezTo>
                <a:lnTo>
                  <a:pt x="0" y="142875"/>
                </a:lnTo>
                <a:close/>
                <a:moveTo>
                  <a:pt x="0" y="214313"/>
                </a:moveTo>
                <a:lnTo>
                  <a:pt x="857250" y="214313"/>
                </a:lnTo>
                <a:lnTo>
                  <a:pt x="857250" y="619125"/>
                </a:lnTo>
                <a:cubicBezTo>
                  <a:pt x="857250" y="671661"/>
                  <a:pt x="814536" y="714375"/>
                  <a:pt x="762000" y="714375"/>
                </a:cubicBezTo>
                <a:lnTo>
                  <a:pt x="95250" y="714375"/>
                </a:lnTo>
                <a:cubicBezTo>
                  <a:pt x="42714" y="714375"/>
                  <a:pt x="0" y="671661"/>
                  <a:pt x="0" y="619125"/>
                </a:cubicBezTo>
                <a:lnTo>
                  <a:pt x="0" y="214313"/>
                </a:lnTo>
                <a:close/>
                <a:moveTo>
                  <a:pt x="368052" y="619125"/>
                </a:moveTo>
                <a:cubicBezTo>
                  <a:pt x="398115" y="619125"/>
                  <a:pt x="420588" y="590252"/>
                  <a:pt x="401389" y="567035"/>
                </a:cubicBezTo>
                <a:cubicBezTo>
                  <a:pt x="379512" y="540693"/>
                  <a:pt x="346472" y="523875"/>
                  <a:pt x="309563" y="523875"/>
                </a:cubicBezTo>
                <a:lnTo>
                  <a:pt x="214313" y="523875"/>
                </a:lnTo>
                <a:cubicBezTo>
                  <a:pt x="177403" y="523875"/>
                  <a:pt x="144363" y="540693"/>
                  <a:pt x="122486" y="567035"/>
                </a:cubicBezTo>
                <a:cubicBezTo>
                  <a:pt x="103287" y="590252"/>
                  <a:pt x="125760" y="619125"/>
                  <a:pt x="155823" y="619125"/>
                </a:cubicBezTo>
                <a:lnTo>
                  <a:pt x="367903" y="619125"/>
                </a:lnTo>
                <a:close/>
                <a:moveTo>
                  <a:pt x="261938" y="464344"/>
                </a:moveTo>
                <a:cubicBezTo>
                  <a:pt x="307936" y="464344"/>
                  <a:pt x="345281" y="426999"/>
                  <a:pt x="345281" y="381000"/>
                </a:cubicBezTo>
                <a:cubicBezTo>
                  <a:pt x="345281" y="335001"/>
                  <a:pt x="307936" y="297656"/>
                  <a:pt x="261938" y="297656"/>
                </a:cubicBezTo>
                <a:cubicBezTo>
                  <a:pt x="215939" y="297656"/>
                  <a:pt x="178594" y="335001"/>
                  <a:pt x="178594" y="381000"/>
                </a:cubicBezTo>
                <a:cubicBezTo>
                  <a:pt x="178594" y="426999"/>
                  <a:pt x="215939" y="464344"/>
                  <a:pt x="261938" y="464344"/>
                </a:cubicBezTo>
                <a:close/>
                <a:moveTo>
                  <a:pt x="535781" y="309563"/>
                </a:moveTo>
                <a:cubicBezTo>
                  <a:pt x="515987" y="309563"/>
                  <a:pt x="500063" y="325487"/>
                  <a:pt x="500063" y="345281"/>
                </a:cubicBezTo>
                <a:cubicBezTo>
                  <a:pt x="500063" y="365075"/>
                  <a:pt x="515987" y="381000"/>
                  <a:pt x="535781" y="381000"/>
                </a:cubicBezTo>
                <a:lnTo>
                  <a:pt x="702469" y="381000"/>
                </a:lnTo>
                <a:cubicBezTo>
                  <a:pt x="722263" y="381000"/>
                  <a:pt x="738188" y="365075"/>
                  <a:pt x="738188" y="345281"/>
                </a:cubicBezTo>
                <a:cubicBezTo>
                  <a:pt x="738188" y="325487"/>
                  <a:pt x="722263" y="309563"/>
                  <a:pt x="702469" y="309563"/>
                </a:cubicBezTo>
                <a:lnTo>
                  <a:pt x="535781" y="309563"/>
                </a:lnTo>
                <a:close/>
                <a:moveTo>
                  <a:pt x="535781" y="452438"/>
                </a:moveTo>
                <a:cubicBezTo>
                  <a:pt x="515987" y="452438"/>
                  <a:pt x="500063" y="468362"/>
                  <a:pt x="500063" y="488156"/>
                </a:cubicBezTo>
                <a:cubicBezTo>
                  <a:pt x="500063" y="507950"/>
                  <a:pt x="515987" y="523875"/>
                  <a:pt x="535781" y="523875"/>
                </a:cubicBezTo>
                <a:lnTo>
                  <a:pt x="702469" y="523875"/>
                </a:lnTo>
                <a:cubicBezTo>
                  <a:pt x="722263" y="523875"/>
                  <a:pt x="738188" y="507950"/>
                  <a:pt x="738188" y="488156"/>
                </a:cubicBezTo>
                <a:cubicBezTo>
                  <a:pt x="738188" y="468362"/>
                  <a:pt x="722263" y="452438"/>
                  <a:pt x="702469" y="452438"/>
                </a:cubicBezTo>
                <a:lnTo>
                  <a:pt x="535781" y="452438"/>
                </a:lnTo>
                <a:close/>
              </a:path>
            </a:pathLst>
          </a:custGeom>
          <a:solidFill>
            <a:srgbClr val="C9843E"/>
          </a:solidFill>
          <a:ln/>
        </p:spPr>
      </p:sp>
      <p:sp>
        <p:nvSpPr>
          <p:cNvPr id="8" name="Text 6"/>
          <p:cNvSpPr/>
          <p:nvPr/>
        </p:nvSpPr>
        <p:spPr>
          <a:xfrm>
            <a:off x="889000" y="3492500"/>
            <a:ext cx="482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spc="100" kern="0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NATIONAL IDENTITY CARD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4000500"/>
            <a:ext cx="457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35202-1234567-1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4635500"/>
            <a:ext cx="457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number is unique to one person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50000" y="2286000"/>
            <a:ext cx="9144000" cy="3048000"/>
          </a:xfrm>
          <a:prstGeom prst="roundRect">
            <a:avLst>
              <a:gd name="adj" fmla="val 8000"/>
            </a:avLst>
          </a:prstGeom>
          <a:solidFill>
            <a:srgbClr val="E8F0F1"/>
          </a:solidFill>
          <a:ln/>
        </p:spPr>
      </p:sp>
      <p:sp>
        <p:nvSpPr>
          <p:cNvPr id="12" name="Shape 10"/>
          <p:cNvSpPr/>
          <p:nvPr/>
        </p:nvSpPr>
        <p:spPr>
          <a:xfrm>
            <a:off x="6724650" y="25400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261551" y="342900"/>
                </a:moveTo>
                <a:cubicBezTo>
                  <a:pt x="268069" y="322987"/>
                  <a:pt x="281107" y="304949"/>
                  <a:pt x="295841" y="289411"/>
                </a:cubicBezTo>
                <a:cubicBezTo>
                  <a:pt x="325041" y="258693"/>
                  <a:pt x="342900" y="217170"/>
                  <a:pt x="342900" y="171450"/>
                </a:cubicBezTo>
                <a:cubicBezTo>
                  <a:pt x="342900" y="76795"/>
                  <a:pt x="266105" y="0"/>
                  <a:pt x="171450" y="0"/>
                </a:cubicBezTo>
                <a:cubicBezTo>
                  <a:pt x="76795" y="0"/>
                  <a:pt x="0" y="76795"/>
                  <a:pt x="0" y="171450"/>
                </a:cubicBezTo>
                <a:cubicBezTo>
                  <a:pt x="0" y="217170"/>
                  <a:pt x="17859" y="258693"/>
                  <a:pt x="47059" y="289411"/>
                </a:cubicBezTo>
                <a:cubicBezTo>
                  <a:pt x="61793" y="304949"/>
                  <a:pt x="74920" y="322987"/>
                  <a:pt x="81349" y="342900"/>
                </a:cubicBezTo>
                <a:lnTo>
                  <a:pt x="261461" y="342900"/>
                </a:lnTo>
                <a:close/>
                <a:moveTo>
                  <a:pt x="257175" y="385763"/>
                </a:moveTo>
                <a:lnTo>
                  <a:pt x="85725" y="385763"/>
                </a:lnTo>
                <a:lnTo>
                  <a:pt x="85725" y="400050"/>
                </a:lnTo>
                <a:cubicBezTo>
                  <a:pt x="85725" y="439519"/>
                  <a:pt x="117693" y="471488"/>
                  <a:pt x="157163" y="471488"/>
                </a:cubicBezTo>
                <a:lnTo>
                  <a:pt x="185738" y="471488"/>
                </a:lnTo>
                <a:cubicBezTo>
                  <a:pt x="225207" y="471488"/>
                  <a:pt x="257175" y="439519"/>
                  <a:pt x="257175" y="400050"/>
                </a:cubicBezTo>
                <a:lnTo>
                  <a:pt x="257175" y="385763"/>
                </a:lnTo>
                <a:close/>
                <a:moveTo>
                  <a:pt x="164306" y="100013"/>
                </a:moveTo>
                <a:cubicBezTo>
                  <a:pt x="128766" y="100013"/>
                  <a:pt x="100013" y="128766"/>
                  <a:pt x="100013" y="164306"/>
                </a:cubicBezTo>
                <a:cubicBezTo>
                  <a:pt x="100013" y="176183"/>
                  <a:pt x="90458" y="185738"/>
                  <a:pt x="78581" y="185738"/>
                </a:cubicBezTo>
                <a:cubicBezTo>
                  <a:pt x="66705" y="185738"/>
                  <a:pt x="57150" y="176183"/>
                  <a:pt x="57150" y="164306"/>
                </a:cubicBezTo>
                <a:cubicBezTo>
                  <a:pt x="57150" y="105102"/>
                  <a:pt x="105102" y="57150"/>
                  <a:pt x="164306" y="57150"/>
                </a:cubicBezTo>
                <a:cubicBezTo>
                  <a:pt x="176183" y="57150"/>
                  <a:pt x="185738" y="66705"/>
                  <a:pt x="185738" y="78581"/>
                </a:cubicBezTo>
                <a:cubicBezTo>
                  <a:pt x="185738" y="90458"/>
                  <a:pt x="176183" y="100013"/>
                  <a:pt x="164306" y="100013"/>
                </a:cubicBezTo>
                <a:close/>
              </a:path>
            </a:pathLst>
          </a:custGeom>
          <a:solidFill>
            <a:srgbClr val="C9843E"/>
          </a:solidFill>
          <a:ln/>
        </p:spPr>
      </p:sp>
      <p:sp>
        <p:nvSpPr>
          <p:cNvPr id="13" name="Text 11"/>
          <p:cNvSpPr/>
          <p:nvPr/>
        </p:nvSpPr>
        <p:spPr>
          <a:xfrm>
            <a:off x="7302500" y="2540000"/>
            <a:ext cx="787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UNIQUE Matters Here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667500" y="3238500"/>
            <a:ext cx="8509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C984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Every citizen has one unique CNIC number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C984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No two people can share the same CNIC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C984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database enforces this with UNIQUE constraint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C984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Duplicate CNIC entry will be rejected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62000" y="5778500"/>
            <a:ext cx="147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 Implementation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62000" y="64135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152E31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6413500"/>
            <a:ext cx="1397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TABLE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Citizens (CNIC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VARCHAR(15) UNIQUE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Name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VARCHAR(50)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986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8A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0" y="635000"/>
            <a:ext cx="21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8A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Constraints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PRIMARY KEY Constraint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17600"/>
            <a:ext cx="1016000" cy="38100"/>
          </a:xfrm>
          <a:prstGeom prst="rect">
            <a:avLst/>
          </a:prstGeom>
          <a:solidFill>
            <a:srgbClr val="C9843E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60500"/>
            <a:ext cx="6858000" cy="1651000"/>
          </a:xfrm>
          <a:prstGeom prst="roundRect">
            <a:avLst>
              <a:gd name="adj" fmla="val 8000"/>
            </a:avLst>
          </a:prstGeom>
          <a:solidFill>
            <a:srgbClr val="E8F0F1"/>
          </a:solidFill>
          <a:ln/>
        </p:spPr>
      </p:sp>
      <p:sp>
        <p:nvSpPr>
          <p:cNvPr id="6" name="Shape 4"/>
          <p:cNvSpPr/>
          <p:nvPr/>
        </p:nvSpPr>
        <p:spPr>
          <a:xfrm>
            <a:off x="1079500" y="165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00038" y="314325"/>
                </a:moveTo>
                <a:cubicBezTo>
                  <a:pt x="386834" y="314325"/>
                  <a:pt x="457200" y="243959"/>
                  <a:pt x="457200" y="157163"/>
                </a:cubicBezTo>
                <a:cubicBezTo>
                  <a:pt x="457200" y="70366"/>
                  <a:pt x="386834" y="0"/>
                  <a:pt x="300038" y="0"/>
                </a:cubicBezTo>
                <a:cubicBezTo>
                  <a:pt x="213241" y="0"/>
                  <a:pt x="142875" y="70366"/>
                  <a:pt x="142875" y="157163"/>
                </a:cubicBezTo>
                <a:cubicBezTo>
                  <a:pt x="142875" y="173861"/>
                  <a:pt x="145465" y="190024"/>
                  <a:pt x="150287" y="205115"/>
                </a:cubicBezTo>
                <a:lnTo>
                  <a:pt x="6251" y="349151"/>
                </a:lnTo>
                <a:cubicBezTo>
                  <a:pt x="2232" y="353169"/>
                  <a:pt x="0" y="358616"/>
                  <a:pt x="0" y="364331"/>
                </a:cubicBezTo>
                <a:lnTo>
                  <a:pt x="0" y="435769"/>
                </a:lnTo>
                <a:cubicBezTo>
                  <a:pt x="0" y="447645"/>
                  <a:pt x="9555" y="457200"/>
                  <a:pt x="21431" y="457200"/>
                </a:cubicBezTo>
                <a:lnTo>
                  <a:pt x="92869" y="457200"/>
                </a:lnTo>
                <a:cubicBezTo>
                  <a:pt x="104745" y="457200"/>
                  <a:pt x="114300" y="447645"/>
                  <a:pt x="114300" y="435769"/>
                </a:cubicBezTo>
                <a:lnTo>
                  <a:pt x="114300" y="400050"/>
                </a:lnTo>
                <a:lnTo>
                  <a:pt x="150019" y="400050"/>
                </a:lnTo>
                <a:cubicBezTo>
                  <a:pt x="161895" y="400050"/>
                  <a:pt x="171450" y="390495"/>
                  <a:pt x="171450" y="378619"/>
                </a:cubicBezTo>
                <a:lnTo>
                  <a:pt x="171450" y="342900"/>
                </a:lnTo>
                <a:lnTo>
                  <a:pt x="207169" y="342900"/>
                </a:lnTo>
                <a:cubicBezTo>
                  <a:pt x="212884" y="342900"/>
                  <a:pt x="218331" y="340668"/>
                  <a:pt x="222349" y="336649"/>
                </a:cubicBezTo>
                <a:lnTo>
                  <a:pt x="252085" y="306913"/>
                </a:lnTo>
                <a:cubicBezTo>
                  <a:pt x="267176" y="311735"/>
                  <a:pt x="283339" y="314325"/>
                  <a:pt x="300038" y="314325"/>
                </a:cubicBezTo>
                <a:close/>
                <a:moveTo>
                  <a:pt x="335756" y="85725"/>
                </a:moveTo>
                <a:cubicBezTo>
                  <a:pt x="355470" y="85725"/>
                  <a:pt x="371475" y="101730"/>
                  <a:pt x="371475" y="121444"/>
                </a:cubicBezTo>
                <a:cubicBezTo>
                  <a:pt x="371475" y="141157"/>
                  <a:pt x="355470" y="157163"/>
                  <a:pt x="335756" y="157163"/>
                </a:cubicBezTo>
                <a:cubicBezTo>
                  <a:pt x="316043" y="157163"/>
                  <a:pt x="300038" y="141157"/>
                  <a:pt x="300038" y="121444"/>
                </a:cubicBezTo>
                <a:cubicBezTo>
                  <a:pt x="300038" y="101730"/>
                  <a:pt x="316043" y="85725"/>
                  <a:pt x="335756" y="85725"/>
                </a:cubicBezTo>
                <a:close/>
              </a:path>
            </a:pathLst>
          </a:custGeom>
          <a:solidFill>
            <a:srgbClr val="1B3A3E"/>
          </a:solidFill>
          <a:ln/>
        </p:spPr>
      </p:sp>
      <p:sp>
        <p:nvSpPr>
          <p:cNvPr id="7" name="Text 5"/>
          <p:cNvSpPr/>
          <p:nvPr/>
        </p:nvSpPr>
        <p:spPr>
          <a:xfrm>
            <a:off x="1714500" y="1651000"/>
            <a:ext cx="558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79500" y="2222500"/>
            <a:ext cx="622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Uniquely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identifies each row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a table.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62000" y="3429000"/>
            <a:ext cx="685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62000" y="4064000"/>
            <a:ext cx="3238500" cy="1016000"/>
          </a:xfrm>
          <a:prstGeom prst="roundRect">
            <a:avLst>
              <a:gd name="adj" fmla="val 8000"/>
            </a:avLst>
          </a:prstGeom>
          <a:solidFill>
            <a:srgbClr val="1B3A3E"/>
          </a:solidFill>
          <a:ln/>
        </p:spPr>
      </p:sp>
      <p:sp>
        <p:nvSpPr>
          <p:cNvPr id="11" name="Shape 9"/>
          <p:cNvSpPr/>
          <p:nvPr/>
        </p:nvSpPr>
        <p:spPr>
          <a:xfrm>
            <a:off x="1881187" y="41910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230312" y="-14064"/>
                </a:moveTo>
                <a:cubicBezTo>
                  <a:pt x="227261" y="-20017"/>
                  <a:pt x="221084" y="-23812"/>
                  <a:pt x="214387" y="-23812"/>
                </a:cubicBezTo>
                <a:cubicBezTo>
                  <a:pt x="207690" y="-23812"/>
                  <a:pt x="201513" y="-20017"/>
                  <a:pt x="198462" y="-14064"/>
                </a:cubicBezTo>
                <a:lnTo>
                  <a:pt x="143694" y="93241"/>
                </a:lnTo>
                <a:lnTo>
                  <a:pt x="24705" y="112142"/>
                </a:lnTo>
                <a:cubicBezTo>
                  <a:pt x="18083" y="113184"/>
                  <a:pt x="12576" y="117872"/>
                  <a:pt x="10492" y="124271"/>
                </a:cubicBezTo>
                <a:cubicBezTo>
                  <a:pt x="8409" y="130671"/>
                  <a:pt x="10120" y="137666"/>
                  <a:pt x="14808" y="142429"/>
                </a:cubicBezTo>
                <a:lnTo>
                  <a:pt x="99938" y="227633"/>
                </a:lnTo>
                <a:lnTo>
                  <a:pt x="81186" y="346621"/>
                </a:lnTo>
                <a:cubicBezTo>
                  <a:pt x="80144" y="353244"/>
                  <a:pt x="82897" y="359941"/>
                  <a:pt x="88329" y="363885"/>
                </a:cubicBezTo>
                <a:cubicBezTo>
                  <a:pt x="93762" y="367829"/>
                  <a:pt x="100905" y="368424"/>
                  <a:pt x="106933" y="365373"/>
                </a:cubicBezTo>
                <a:lnTo>
                  <a:pt x="214387" y="310753"/>
                </a:lnTo>
                <a:lnTo>
                  <a:pt x="321766" y="365373"/>
                </a:lnTo>
                <a:cubicBezTo>
                  <a:pt x="327720" y="368424"/>
                  <a:pt x="334938" y="367829"/>
                  <a:pt x="340370" y="363885"/>
                </a:cubicBezTo>
                <a:cubicBezTo>
                  <a:pt x="345802" y="359941"/>
                  <a:pt x="348555" y="353318"/>
                  <a:pt x="347514" y="346621"/>
                </a:cubicBezTo>
                <a:lnTo>
                  <a:pt x="328687" y="227633"/>
                </a:lnTo>
                <a:lnTo>
                  <a:pt x="413817" y="142429"/>
                </a:lnTo>
                <a:cubicBezTo>
                  <a:pt x="418579" y="137666"/>
                  <a:pt x="420216" y="130671"/>
                  <a:pt x="418133" y="124271"/>
                </a:cubicBezTo>
                <a:cubicBezTo>
                  <a:pt x="416049" y="117872"/>
                  <a:pt x="410617" y="113184"/>
                  <a:pt x="403920" y="112142"/>
                </a:cubicBezTo>
                <a:lnTo>
                  <a:pt x="285006" y="93241"/>
                </a:lnTo>
                <a:lnTo>
                  <a:pt x="230312" y="-14064"/>
                </a:lnTo>
                <a:close/>
              </a:path>
            </a:pathLst>
          </a:custGeom>
          <a:solidFill>
            <a:srgbClr val="C9843E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4635500"/>
            <a:ext cx="3238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Unique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54500" y="4064000"/>
            <a:ext cx="3238500" cy="1016000"/>
          </a:xfrm>
          <a:prstGeom prst="roundRect">
            <a:avLst>
              <a:gd name="adj" fmla="val 8000"/>
            </a:avLst>
          </a:prstGeom>
          <a:solidFill>
            <a:srgbClr val="1B3A3E"/>
          </a:solidFill>
          <a:ln/>
        </p:spPr>
      </p:sp>
      <p:sp>
        <p:nvSpPr>
          <p:cNvPr id="14" name="Shape 12"/>
          <p:cNvSpPr/>
          <p:nvPr/>
        </p:nvSpPr>
        <p:spPr>
          <a:xfrm>
            <a:off x="5397500" y="419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273248" y="306958"/>
                </a:moveTo>
                <a:lnTo>
                  <a:pt x="74042" y="107752"/>
                </a:lnTo>
                <a:cubicBezTo>
                  <a:pt x="57373" y="131118"/>
                  <a:pt x="47625" y="159693"/>
                  <a:pt x="47625" y="190500"/>
                </a:cubicBezTo>
                <a:cubicBezTo>
                  <a:pt x="47625" y="269379"/>
                  <a:pt x="111621" y="333375"/>
                  <a:pt x="190500" y="333375"/>
                </a:cubicBezTo>
                <a:cubicBezTo>
                  <a:pt x="221382" y="333375"/>
                  <a:pt x="249957" y="323627"/>
                  <a:pt x="273248" y="306958"/>
                </a:cubicBezTo>
                <a:close/>
                <a:moveTo>
                  <a:pt x="306958" y="273248"/>
                </a:moveTo>
                <a:cubicBezTo>
                  <a:pt x="323627" y="249882"/>
                  <a:pt x="333375" y="221307"/>
                  <a:pt x="333375" y="190500"/>
                </a:cubicBezTo>
                <a:cubicBezTo>
                  <a:pt x="333375" y="111621"/>
                  <a:pt x="269379" y="47625"/>
                  <a:pt x="190500" y="47625"/>
                </a:cubicBezTo>
                <a:cubicBezTo>
                  <a:pt x="159618" y="47625"/>
                  <a:pt x="131043" y="57373"/>
                  <a:pt x="107752" y="74042"/>
                </a:cubicBezTo>
                <a:lnTo>
                  <a:pt x="306958" y="273248"/>
                </a:lnTo>
                <a:close/>
                <a:moveTo>
                  <a:pt x="0" y="190500"/>
                </a:moveTo>
                <a:cubicBezTo>
                  <a:pt x="0" y="85360"/>
                  <a:pt x="85360" y="0"/>
                  <a:pt x="190500" y="0"/>
                </a:cubicBezTo>
                <a:cubicBezTo>
                  <a:pt x="295640" y="0"/>
                  <a:pt x="381000" y="85360"/>
                  <a:pt x="381000" y="190500"/>
                </a:cubicBezTo>
                <a:cubicBezTo>
                  <a:pt x="381000" y="295640"/>
                  <a:pt x="295640" y="381000"/>
                  <a:pt x="190500" y="381000"/>
                </a:cubicBezTo>
                <a:cubicBezTo>
                  <a:pt x="85360" y="381000"/>
                  <a:pt x="0" y="295640"/>
                  <a:pt x="0" y="190500"/>
                </a:cubicBezTo>
                <a:close/>
              </a:path>
            </a:pathLst>
          </a:custGeom>
          <a:solidFill>
            <a:srgbClr val="C9843E"/>
          </a:solidFill>
          <a:ln/>
        </p:spPr>
      </p:sp>
      <p:sp>
        <p:nvSpPr>
          <p:cNvPr id="15" name="Text 13"/>
          <p:cNvSpPr/>
          <p:nvPr/>
        </p:nvSpPr>
        <p:spPr>
          <a:xfrm>
            <a:off x="4254500" y="4635500"/>
            <a:ext cx="3238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Cannot be NULL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5397500"/>
            <a:ext cx="685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62000" y="5969000"/>
            <a:ext cx="6858000" cy="1803400"/>
          </a:xfrm>
          <a:prstGeom prst="roundRect">
            <a:avLst>
              <a:gd name="adj" fmla="val 8000"/>
            </a:avLst>
          </a:prstGeom>
          <a:solidFill>
            <a:srgbClr val="152E31"/>
          </a:solidFill>
          <a:ln/>
        </p:spPr>
      </p:sp>
      <p:sp>
        <p:nvSpPr>
          <p:cNvPr id="18" name="Text 16"/>
          <p:cNvSpPr/>
          <p:nvPr/>
        </p:nvSpPr>
        <p:spPr>
          <a:xfrm>
            <a:off x="1079500" y="6007100"/>
            <a:ext cx="6223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TABLE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Students (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StudentID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 PRIMARY KEY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Name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VARCHAR(50)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128000" y="1460500"/>
            <a:ext cx="7366000" cy="5842000"/>
          </a:xfrm>
          <a:prstGeom prst="roundRect">
            <a:avLst>
              <a:gd name="adj" fmla="val 8000"/>
            </a:avLst>
          </a:prstGeom>
          <a:solidFill>
            <a:srgbClr val="1B3A3E"/>
          </a:solidFill>
          <a:ln/>
        </p:spPr>
      </p:sp>
      <p:sp>
        <p:nvSpPr>
          <p:cNvPr id="20" name="Shape 18"/>
          <p:cNvSpPr/>
          <p:nvPr/>
        </p:nvSpPr>
        <p:spPr>
          <a:xfrm>
            <a:off x="8509000" y="1778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7150" y="304800"/>
                </a:moveTo>
                <a:cubicBezTo>
                  <a:pt x="57150" y="167997"/>
                  <a:pt x="167997" y="57150"/>
                  <a:pt x="304800" y="57150"/>
                </a:cubicBezTo>
                <a:cubicBezTo>
                  <a:pt x="379928" y="57150"/>
                  <a:pt x="447199" y="90607"/>
                  <a:pt x="492681" y="143470"/>
                </a:cubicBezTo>
                <a:cubicBezTo>
                  <a:pt x="502920" y="155496"/>
                  <a:pt x="521018" y="156805"/>
                  <a:pt x="532924" y="146566"/>
                </a:cubicBezTo>
                <a:cubicBezTo>
                  <a:pt x="544830" y="136327"/>
                  <a:pt x="546259" y="118229"/>
                  <a:pt x="536019" y="106323"/>
                </a:cubicBezTo>
                <a:cubicBezTo>
                  <a:pt x="480179" y="41196"/>
                  <a:pt x="397312" y="0"/>
                  <a:pt x="304800" y="0"/>
                </a:cubicBezTo>
                <a:cubicBezTo>
                  <a:pt x="136446" y="0"/>
                  <a:pt x="0" y="136446"/>
                  <a:pt x="0" y="304800"/>
                </a:cubicBezTo>
                <a:lnTo>
                  <a:pt x="0" y="352425"/>
                </a:lnTo>
                <a:cubicBezTo>
                  <a:pt x="0" y="368260"/>
                  <a:pt x="12740" y="381000"/>
                  <a:pt x="28575" y="381000"/>
                </a:cubicBezTo>
                <a:cubicBezTo>
                  <a:pt x="44410" y="381000"/>
                  <a:pt x="57150" y="368260"/>
                  <a:pt x="57150" y="352425"/>
                </a:cubicBezTo>
                <a:lnTo>
                  <a:pt x="57150" y="304800"/>
                </a:lnTo>
                <a:close/>
                <a:moveTo>
                  <a:pt x="603052" y="241816"/>
                </a:moveTo>
                <a:cubicBezTo>
                  <a:pt x="599837" y="226338"/>
                  <a:pt x="584597" y="216456"/>
                  <a:pt x="569238" y="219789"/>
                </a:cubicBezTo>
                <a:cubicBezTo>
                  <a:pt x="553879" y="223123"/>
                  <a:pt x="543878" y="238244"/>
                  <a:pt x="547211" y="253603"/>
                </a:cubicBezTo>
                <a:cubicBezTo>
                  <a:pt x="550664" y="270153"/>
                  <a:pt x="552569" y="287298"/>
                  <a:pt x="552569" y="304919"/>
                </a:cubicBezTo>
                <a:lnTo>
                  <a:pt x="552569" y="352544"/>
                </a:lnTo>
                <a:cubicBezTo>
                  <a:pt x="552569" y="368379"/>
                  <a:pt x="565309" y="381119"/>
                  <a:pt x="581144" y="381119"/>
                </a:cubicBezTo>
                <a:cubicBezTo>
                  <a:pt x="596979" y="381119"/>
                  <a:pt x="609719" y="368379"/>
                  <a:pt x="609719" y="352544"/>
                </a:cubicBezTo>
                <a:lnTo>
                  <a:pt x="609719" y="304919"/>
                </a:lnTo>
                <a:cubicBezTo>
                  <a:pt x="609719" y="283369"/>
                  <a:pt x="607457" y="262295"/>
                  <a:pt x="603171" y="241935"/>
                </a:cubicBezTo>
                <a:close/>
                <a:moveTo>
                  <a:pt x="304800" y="95250"/>
                </a:moveTo>
                <a:cubicBezTo>
                  <a:pt x="282178" y="95250"/>
                  <a:pt x="260271" y="98822"/>
                  <a:pt x="239911" y="105489"/>
                </a:cubicBezTo>
                <a:cubicBezTo>
                  <a:pt x="221813" y="111442"/>
                  <a:pt x="217646" y="133707"/>
                  <a:pt x="230029" y="148233"/>
                </a:cubicBezTo>
                <a:cubicBezTo>
                  <a:pt x="238482" y="158115"/>
                  <a:pt x="252413" y="161092"/>
                  <a:pt x="265033" y="157639"/>
                </a:cubicBezTo>
                <a:cubicBezTo>
                  <a:pt x="277654" y="154186"/>
                  <a:pt x="290989" y="152400"/>
                  <a:pt x="304800" y="152400"/>
                </a:cubicBezTo>
                <a:cubicBezTo>
                  <a:pt x="388977" y="152400"/>
                  <a:pt x="457200" y="220623"/>
                  <a:pt x="457200" y="304800"/>
                </a:cubicBezTo>
                <a:lnTo>
                  <a:pt x="457200" y="334447"/>
                </a:lnTo>
                <a:cubicBezTo>
                  <a:pt x="457200" y="364450"/>
                  <a:pt x="455414" y="394335"/>
                  <a:pt x="451961" y="424101"/>
                </a:cubicBezTo>
                <a:cubicBezTo>
                  <a:pt x="449937" y="441484"/>
                  <a:pt x="463153" y="457200"/>
                  <a:pt x="480774" y="457200"/>
                </a:cubicBezTo>
                <a:cubicBezTo>
                  <a:pt x="494824" y="457200"/>
                  <a:pt x="506849" y="446961"/>
                  <a:pt x="508516" y="433030"/>
                </a:cubicBezTo>
                <a:cubicBezTo>
                  <a:pt x="512445" y="400407"/>
                  <a:pt x="514469" y="367546"/>
                  <a:pt x="514469" y="334566"/>
                </a:cubicBezTo>
                <a:lnTo>
                  <a:pt x="514469" y="304919"/>
                </a:lnTo>
                <a:cubicBezTo>
                  <a:pt x="514469" y="189190"/>
                  <a:pt x="420648" y="95369"/>
                  <a:pt x="304919" y="95369"/>
                </a:cubicBezTo>
                <a:close/>
                <a:moveTo>
                  <a:pt x="179427" y="177046"/>
                </a:moveTo>
                <a:cubicBezTo>
                  <a:pt x="168592" y="164425"/>
                  <a:pt x="149304" y="163473"/>
                  <a:pt x="139065" y="176570"/>
                </a:cubicBezTo>
                <a:cubicBezTo>
                  <a:pt x="111562" y="212050"/>
                  <a:pt x="95250" y="256461"/>
                  <a:pt x="95250" y="304800"/>
                </a:cubicBezTo>
                <a:lnTo>
                  <a:pt x="95250" y="334447"/>
                </a:lnTo>
                <a:cubicBezTo>
                  <a:pt x="95250" y="363260"/>
                  <a:pt x="92154" y="392073"/>
                  <a:pt x="85963" y="420053"/>
                </a:cubicBezTo>
                <a:cubicBezTo>
                  <a:pt x="81915" y="438626"/>
                  <a:pt x="95369" y="457081"/>
                  <a:pt x="114419" y="457081"/>
                </a:cubicBezTo>
                <a:cubicBezTo>
                  <a:pt x="126921" y="457081"/>
                  <a:pt x="138113" y="448747"/>
                  <a:pt x="140851" y="436483"/>
                </a:cubicBezTo>
                <a:cubicBezTo>
                  <a:pt x="148471" y="403027"/>
                  <a:pt x="152400" y="368856"/>
                  <a:pt x="152400" y="334328"/>
                </a:cubicBezTo>
                <a:lnTo>
                  <a:pt x="152400" y="304681"/>
                </a:lnTo>
                <a:cubicBezTo>
                  <a:pt x="152400" y="272296"/>
                  <a:pt x="162520" y="242292"/>
                  <a:pt x="179665" y="217646"/>
                </a:cubicBezTo>
                <a:cubicBezTo>
                  <a:pt x="188238" y="205264"/>
                  <a:pt x="189190" y="188357"/>
                  <a:pt x="179427" y="176927"/>
                </a:cubicBezTo>
                <a:close/>
                <a:moveTo>
                  <a:pt x="304800" y="190500"/>
                </a:moveTo>
                <a:cubicBezTo>
                  <a:pt x="241697" y="190500"/>
                  <a:pt x="190500" y="241697"/>
                  <a:pt x="190500" y="304800"/>
                </a:cubicBezTo>
                <a:lnTo>
                  <a:pt x="190500" y="334447"/>
                </a:lnTo>
                <a:cubicBezTo>
                  <a:pt x="190500" y="377190"/>
                  <a:pt x="185023" y="419576"/>
                  <a:pt x="174069" y="460772"/>
                </a:cubicBezTo>
                <a:cubicBezTo>
                  <a:pt x="169545" y="477798"/>
                  <a:pt x="182047" y="495300"/>
                  <a:pt x="199668" y="495300"/>
                </a:cubicBezTo>
                <a:cubicBezTo>
                  <a:pt x="210979" y="495300"/>
                  <a:pt x="220980" y="487918"/>
                  <a:pt x="223957" y="476964"/>
                </a:cubicBezTo>
                <a:cubicBezTo>
                  <a:pt x="236458" y="430530"/>
                  <a:pt x="242888" y="382667"/>
                  <a:pt x="242888" y="334447"/>
                </a:cubicBezTo>
                <a:lnTo>
                  <a:pt x="242888" y="304800"/>
                </a:lnTo>
                <a:cubicBezTo>
                  <a:pt x="242888" y="270629"/>
                  <a:pt x="270629" y="242888"/>
                  <a:pt x="304800" y="242888"/>
                </a:cubicBezTo>
                <a:cubicBezTo>
                  <a:pt x="338971" y="242888"/>
                  <a:pt x="366712" y="270629"/>
                  <a:pt x="366712" y="304800"/>
                </a:cubicBezTo>
                <a:lnTo>
                  <a:pt x="366712" y="334447"/>
                </a:lnTo>
                <a:cubicBezTo>
                  <a:pt x="366712" y="377666"/>
                  <a:pt x="362545" y="420648"/>
                  <a:pt x="354330" y="462915"/>
                </a:cubicBezTo>
                <a:cubicBezTo>
                  <a:pt x="351115" y="479465"/>
                  <a:pt x="363498" y="495300"/>
                  <a:pt x="380286" y="495300"/>
                </a:cubicBezTo>
                <a:cubicBezTo>
                  <a:pt x="392430" y="495300"/>
                  <a:pt x="402908" y="486966"/>
                  <a:pt x="405289" y="475059"/>
                </a:cubicBezTo>
                <a:cubicBezTo>
                  <a:pt x="414457" y="428863"/>
                  <a:pt x="419100" y="381833"/>
                  <a:pt x="419100" y="334447"/>
                </a:cubicBezTo>
                <a:lnTo>
                  <a:pt x="419100" y="304800"/>
                </a:lnTo>
                <a:cubicBezTo>
                  <a:pt x="419100" y="241697"/>
                  <a:pt x="367903" y="190500"/>
                  <a:pt x="304800" y="190500"/>
                </a:cubicBezTo>
                <a:close/>
                <a:moveTo>
                  <a:pt x="333375" y="304800"/>
                </a:moveTo>
                <a:cubicBezTo>
                  <a:pt x="333375" y="288965"/>
                  <a:pt x="320635" y="276225"/>
                  <a:pt x="304800" y="276225"/>
                </a:cubicBezTo>
                <a:cubicBezTo>
                  <a:pt x="288965" y="276225"/>
                  <a:pt x="276225" y="288965"/>
                  <a:pt x="276225" y="304800"/>
                </a:cubicBezTo>
                <a:lnTo>
                  <a:pt x="276225" y="334447"/>
                </a:lnTo>
                <a:cubicBezTo>
                  <a:pt x="276225" y="405765"/>
                  <a:pt x="263128" y="476488"/>
                  <a:pt x="237530" y="543044"/>
                </a:cubicBezTo>
                <a:lnTo>
                  <a:pt x="230505" y="561261"/>
                </a:lnTo>
                <a:cubicBezTo>
                  <a:pt x="224790" y="576024"/>
                  <a:pt x="232172" y="592574"/>
                  <a:pt x="246936" y="598170"/>
                </a:cubicBezTo>
                <a:cubicBezTo>
                  <a:pt x="261699" y="603766"/>
                  <a:pt x="278249" y="596503"/>
                  <a:pt x="283845" y="581739"/>
                </a:cubicBezTo>
                <a:lnTo>
                  <a:pt x="290870" y="563523"/>
                </a:lnTo>
                <a:cubicBezTo>
                  <a:pt x="318968" y="490418"/>
                  <a:pt x="333375" y="412790"/>
                  <a:pt x="333375" y="334447"/>
                </a:cubicBezTo>
                <a:lnTo>
                  <a:pt x="333375" y="304800"/>
                </a:lnTo>
                <a:close/>
              </a:path>
            </a:pathLst>
          </a:custGeom>
          <a:solidFill>
            <a:srgbClr val="C9843E"/>
          </a:solidFill>
          <a:ln/>
        </p:spPr>
      </p:sp>
      <p:sp>
        <p:nvSpPr>
          <p:cNvPr id="21" name="Text 19"/>
          <p:cNvSpPr/>
          <p:nvPr/>
        </p:nvSpPr>
        <p:spPr>
          <a:xfrm>
            <a:off x="8509000" y="2667000"/>
            <a:ext cx="660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PRIMARY KEY = Unique + NOT NULL</a:t>
            </a:r>
            <a:endParaRPr lang="en-US" sz="1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509000" y="3429000"/>
          <a:ext cx="6604000" cy="2286000"/>
        </p:xfrm>
        <a:graphic>
          <a:graphicData uri="http://schemas.openxmlformats.org/drawingml/2006/table">
            <a:tbl>
              <a:tblPr/>
              <a:tblGrid>
                <a:gridCol w="1981200"/>
                <a:gridCol w="2311400"/>
                <a:gridCol w="231140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Feature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UNIQUE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PRIMARY KEY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3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 duplicates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4CAF5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✓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4CAF5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✓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 NULLs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443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✗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4CAF5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✓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One per table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443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✗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4CAF5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✓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8509000" y="6032500"/>
            <a:ext cx="660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table can have only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PRIMARY KEY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but multiple UNIQUE columns.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4986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8A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0" y="635000"/>
            <a:ext cx="21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8A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Constraints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 Life Example — PRIMARY KEY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17600"/>
            <a:ext cx="1016000" cy="38100"/>
          </a:xfrm>
          <a:prstGeom prst="rect">
            <a:avLst/>
          </a:prstGeom>
          <a:solidFill>
            <a:srgbClr val="C9843E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147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 Roll Numbers Must Always Be Unique</a:t>
            </a:r>
            <a:endParaRPr lang="en-US" sz="2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286000"/>
          <a:ext cx="14732000" cy="2032000"/>
        </p:xfrm>
        <a:graphic>
          <a:graphicData uri="http://schemas.openxmlformats.org/drawingml/2006/table">
            <a:tbl>
              <a:tblPr/>
              <a:tblGrid>
                <a:gridCol w="2946400"/>
                <a:gridCol w="4419600"/>
                <a:gridCol w="3683000"/>
                <a:gridCol w="3683000"/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RollNo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Class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Status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3E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10th 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4CAF5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Unique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Ahmed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10th B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4CAF5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Unique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103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Sara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10th 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4CAF5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Unique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62000" y="46990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E8F0F1"/>
          </a:solidFill>
          <a:ln/>
        </p:spPr>
      </p:sp>
      <p:sp>
        <p:nvSpPr>
          <p:cNvPr id="8" name="Shape 5"/>
          <p:cNvSpPr/>
          <p:nvPr/>
        </p:nvSpPr>
        <p:spPr>
          <a:xfrm>
            <a:off x="1079500" y="5016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381000"/>
                </a:moveTo>
                <a:cubicBezTo>
                  <a:pt x="295640" y="381000"/>
                  <a:pt x="381000" y="295640"/>
                  <a:pt x="381000" y="190500"/>
                </a:cubicBezTo>
                <a:cubicBezTo>
                  <a:pt x="381000" y="85360"/>
                  <a:pt x="295640" y="0"/>
                  <a:pt x="190500" y="0"/>
                </a:cubicBezTo>
                <a:cubicBezTo>
                  <a:pt x="85360" y="0"/>
                  <a:pt x="0" y="85360"/>
                  <a:pt x="0" y="190500"/>
                </a:cubicBezTo>
                <a:cubicBezTo>
                  <a:pt x="0" y="295640"/>
                  <a:pt x="85360" y="381000"/>
                  <a:pt x="190500" y="381000"/>
                </a:cubicBezTo>
                <a:close/>
                <a:moveTo>
                  <a:pt x="166688" y="119063"/>
                </a:moveTo>
                <a:cubicBezTo>
                  <a:pt x="166688" y="105920"/>
                  <a:pt x="177358" y="95250"/>
                  <a:pt x="190500" y="95250"/>
                </a:cubicBezTo>
                <a:cubicBezTo>
                  <a:pt x="203642" y="95250"/>
                  <a:pt x="214313" y="105920"/>
                  <a:pt x="214313" y="119063"/>
                </a:cubicBezTo>
                <a:cubicBezTo>
                  <a:pt x="214313" y="132205"/>
                  <a:pt x="203642" y="142875"/>
                  <a:pt x="190500" y="142875"/>
                </a:cubicBezTo>
                <a:cubicBezTo>
                  <a:pt x="177358" y="142875"/>
                  <a:pt x="166688" y="132205"/>
                  <a:pt x="166688" y="119063"/>
                </a:cubicBezTo>
                <a:close/>
                <a:moveTo>
                  <a:pt x="160734" y="166688"/>
                </a:moveTo>
                <a:lnTo>
                  <a:pt x="196453" y="166688"/>
                </a:lnTo>
                <a:cubicBezTo>
                  <a:pt x="206350" y="166688"/>
                  <a:pt x="214313" y="174650"/>
                  <a:pt x="214313" y="184547"/>
                </a:cubicBezTo>
                <a:lnTo>
                  <a:pt x="214313" y="250031"/>
                </a:lnTo>
                <a:lnTo>
                  <a:pt x="220266" y="250031"/>
                </a:lnTo>
                <a:cubicBezTo>
                  <a:pt x="230163" y="250031"/>
                  <a:pt x="238125" y="257994"/>
                  <a:pt x="238125" y="267891"/>
                </a:cubicBezTo>
                <a:cubicBezTo>
                  <a:pt x="238125" y="277788"/>
                  <a:pt x="230163" y="285750"/>
                  <a:pt x="220266" y="285750"/>
                </a:cubicBezTo>
                <a:lnTo>
                  <a:pt x="160734" y="285750"/>
                </a:lnTo>
                <a:cubicBezTo>
                  <a:pt x="150837" y="285750"/>
                  <a:pt x="142875" y="277788"/>
                  <a:pt x="142875" y="267891"/>
                </a:cubicBezTo>
                <a:cubicBezTo>
                  <a:pt x="142875" y="257994"/>
                  <a:pt x="150837" y="250031"/>
                  <a:pt x="160734" y="250031"/>
                </a:cubicBezTo>
                <a:lnTo>
                  <a:pt x="178594" y="250031"/>
                </a:lnTo>
                <a:lnTo>
                  <a:pt x="178594" y="202406"/>
                </a:lnTo>
                <a:lnTo>
                  <a:pt x="160734" y="202406"/>
                </a:lnTo>
                <a:cubicBezTo>
                  <a:pt x="150837" y="202406"/>
                  <a:pt x="142875" y="194444"/>
                  <a:pt x="142875" y="184547"/>
                </a:cubicBezTo>
                <a:cubicBezTo>
                  <a:pt x="142875" y="174650"/>
                  <a:pt x="150837" y="166688"/>
                  <a:pt x="160734" y="166688"/>
                </a:cubicBezTo>
                <a:close/>
              </a:path>
            </a:pathLst>
          </a:custGeom>
          <a:solidFill>
            <a:srgbClr val="C9843E"/>
          </a:solidFill>
          <a:ln/>
        </p:spPr>
      </p:sp>
      <p:sp>
        <p:nvSpPr>
          <p:cNvPr id="9" name="Text 6"/>
          <p:cNvSpPr/>
          <p:nvPr/>
        </p:nvSpPr>
        <p:spPr>
          <a:xfrm>
            <a:off x="1651000" y="4699000"/>
            <a:ext cx="1346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Each student gets a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unique roll number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that identifies them. No two students can share the same roll number, and no roll number can be left empty.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62000" y="6096000"/>
            <a:ext cx="147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 Code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762000" y="67310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152E31"/>
          </a:solidFill>
          <a:ln/>
        </p:spPr>
      </p:sp>
      <p:sp>
        <p:nvSpPr>
          <p:cNvPr id="12" name="Text 9"/>
          <p:cNvSpPr/>
          <p:nvPr/>
        </p:nvSpPr>
        <p:spPr>
          <a:xfrm>
            <a:off x="1143000" y="6731000"/>
            <a:ext cx="1397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TABLE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Students (RollNo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 PRIMARY KEY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Name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VARCHAR(50)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Class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VARCHAR(10)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4986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8A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19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0" y="635000"/>
            <a:ext cx="21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8A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Constraints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DEFAULT Constraint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17600"/>
            <a:ext cx="1016000" cy="38100"/>
          </a:xfrm>
          <a:prstGeom prst="rect">
            <a:avLst/>
          </a:prstGeom>
          <a:solidFill>
            <a:srgbClr val="C9843E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60500"/>
            <a:ext cx="6858000" cy="1841500"/>
          </a:xfrm>
          <a:prstGeom prst="roundRect">
            <a:avLst>
              <a:gd name="adj" fmla="val 8000"/>
            </a:avLst>
          </a:prstGeom>
          <a:solidFill>
            <a:srgbClr val="E8F0F1"/>
          </a:solidFill>
          <a:ln/>
        </p:spPr>
      </p:sp>
      <p:sp>
        <p:nvSpPr>
          <p:cNvPr id="6" name="Shape 4"/>
          <p:cNvSpPr/>
          <p:nvPr/>
        </p:nvSpPr>
        <p:spPr>
          <a:xfrm>
            <a:off x="1079500" y="165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74218" y="8483"/>
                </a:moveTo>
                <a:cubicBezTo>
                  <a:pt x="176897" y="-4733"/>
                  <a:pt x="188595" y="-14287"/>
                  <a:pt x="202168" y="-14287"/>
                </a:cubicBezTo>
                <a:lnTo>
                  <a:pt x="255568" y="-14287"/>
                </a:lnTo>
                <a:cubicBezTo>
                  <a:pt x="269141" y="-14287"/>
                  <a:pt x="280839" y="-4733"/>
                  <a:pt x="283518" y="8483"/>
                </a:cubicBezTo>
                <a:lnTo>
                  <a:pt x="296466" y="70991"/>
                </a:lnTo>
                <a:cubicBezTo>
                  <a:pt x="309056" y="76349"/>
                  <a:pt x="320844" y="83225"/>
                  <a:pt x="331559" y="91351"/>
                </a:cubicBezTo>
                <a:lnTo>
                  <a:pt x="392103" y="71259"/>
                </a:lnTo>
                <a:cubicBezTo>
                  <a:pt x="404961" y="66973"/>
                  <a:pt x="419070" y="72330"/>
                  <a:pt x="425857" y="84118"/>
                </a:cubicBezTo>
                <a:lnTo>
                  <a:pt x="452557" y="130373"/>
                </a:lnTo>
                <a:cubicBezTo>
                  <a:pt x="459343" y="142161"/>
                  <a:pt x="456932" y="156984"/>
                  <a:pt x="446752" y="166003"/>
                </a:cubicBezTo>
                <a:lnTo>
                  <a:pt x="399157" y="208330"/>
                </a:lnTo>
                <a:cubicBezTo>
                  <a:pt x="399961" y="214938"/>
                  <a:pt x="400318" y="221724"/>
                  <a:pt x="400318" y="228600"/>
                </a:cubicBezTo>
                <a:cubicBezTo>
                  <a:pt x="400318" y="235476"/>
                  <a:pt x="399871" y="242262"/>
                  <a:pt x="399157" y="248870"/>
                </a:cubicBezTo>
                <a:lnTo>
                  <a:pt x="446842" y="291286"/>
                </a:lnTo>
                <a:cubicBezTo>
                  <a:pt x="457021" y="300305"/>
                  <a:pt x="459343" y="315218"/>
                  <a:pt x="452646" y="326916"/>
                </a:cubicBezTo>
                <a:lnTo>
                  <a:pt x="425946" y="373172"/>
                </a:lnTo>
                <a:cubicBezTo>
                  <a:pt x="419160" y="384870"/>
                  <a:pt x="405051" y="390317"/>
                  <a:pt x="392192" y="386030"/>
                </a:cubicBezTo>
                <a:lnTo>
                  <a:pt x="331649" y="365939"/>
                </a:lnTo>
                <a:cubicBezTo>
                  <a:pt x="320844" y="374065"/>
                  <a:pt x="309056" y="380851"/>
                  <a:pt x="296555" y="386298"/>
                </a:cubicBezTo>
                <a:lnTo>
                  <a:pt x="283696" y="448717"/>
                </a:lnTo>
                <a:cubicBezTo>
                  <a:pt x="280928" y="462022"/>
                  <a:pt x="269230" y="471488"/>
                  <a:pt x="255746" y="471488"/>
                </a:cubicBezTo>
                <a:lnTo>
                  <a:pt x="202347" y="471488"/>
                </a:lnTo>
                <a:cubicBezTo>
                  <a:pt x="188774" y="471488"/>
                  <a:pt x="177076" y="461933"/>
                  <a:pt x="174397" y="448717"/>
                </a:cubicBezTo>
                <a:lnTo>
                  <a:pt x="161538" y="386298"/>
                </a:lnTo>
                <a:cubicBezTo>
                  <a:pt x="148947" y="380940"/>
                  <a:pt x="137249" y="374065"/>
                  <a:pt x="126444" y="365939"/>
                </a:cubicBezTo>
                <a:lnTo>
                  <a:pt x="65633" y="386030"/>
                </a:lnTo>
                <a:cubicBezTo>
                  <a:pt x="52774" y="390317"/>
                  <a:pt x="38666" y="384959"/>
                  <a:pt x="31879" y="373172"/>
                </a:cubicBezTo>
                <a:lnTo>
                  <a:pt x="5179" y="326916"/>
                </a:lnTo>
                <a:cubicBezTo>
                  <a:pt x="-1607" y="315129"/>
                  <a:pt x="804" y="300305"/>
                  <a:pt x="10984" y="291286"/>
                </a:cubicBezTo>
                <a:lnTo>
                  <a:pt x="58668" y="248870"/>
                </a:lnTo>
                <a:cubicBezTo>
                  <a:pt x="57864" y="242262"/>
                  <a:pt x="57507" y="235476"/>
                  <a:pt x="57507" y="228600"/>
                </a:cubicBezTo>
                <a:cubicBezTo>
                  <a:pt x="57507" y="221724"/>
                  <a:pt x="57954" y="214938"/>
                  <a:pt x="58668" y="208330"/>
                </a:cubicBezTo>
                <a:lnTo>
                  <a:pt x="10984" y="165914"/>
                </a:lnTo>
                <a:cubicBezTo>
                  <a:pt x="804" y="156895"/>
                  <a:pt x="-1518" y="141982"/>
                  <a:pt x="5179" y="130284"/>
                </a:cubicBezTo>
                <a:lnTo>
                  <a:pt x="31879" y="84028"/>
                </a:lnTo>
                <a:cubicBezTo>
                  <a:pt x="38666" y="72241"/>
                  <a:pt x="52774" y="66883"/>
                  <a:pt x="65633" y="71170"/>
                </a:cubicBezTo>
                <a:lnTo>
                  <a:pt x="126176" y="91261"/>
                </a:lnTo>
                <a:cubicBezTo>
                  <a:pt x="136981" y="83135"/>
                  <a:pt x="148769" y="76349"/>
                  <a:pt x="161270" y="70902"/>
                </a:cubicBezTo>
                <a:lnTo>
                  <a:pt x="174218" y="8483"/>
                </a:lnTo>
                <a:close/>
                <a:moveTo>
                  <a:pt x="228868" y="300038"/>
                </a:moveTo>
                <a:cubicBezTo>
                  <a:pt x="254390" y="299942"/>
                  <a:pt x="277922" y="286237"/>
                  <a:pt x="290601" y="264087"/>
                </a:cubicBezTo>
                <a:cubicBezTo>
                  <a:pt x="303279" y="241936"/>
                  <a:pt x="303177" y="214704"/>
                  <a:pt x="290333" y="192649"/>
                </a:cubicBezTo>
                <a:cubicBezTo>
                  <a:pt x="277489" y="170594"/>
                  <a:pt x="253854" y="157067"/>
                  <a:pt x="228332" y="157162"/>
                </a:cubicBezTo>
                <a:cubicBezTo>
                  <a:pt x="202810" y="157258"/>
                  <a:pt x="179278" y="170963"/>
                  <a:pt x="166599" y="193113"/>
                </a:cubicBezTo>
                <a:cubicBezTo>
                  <a:pt x="153921" y="215264"/>
                  <a:pt x="154023" y="242496"/>
                  <a:pt x="166867" y="264551"/>
                </a:cubicBezTo>
                <a:cubicBezTo>
                  <a:pt x="179711" y="286606"/>
                  <a:pt x="203346" y="300133"/>
                  <a:pt x="228868" y="300038"/>
                </a:cubicBezTo>
                <a:close/>
              </a:path>
            </a:pathLst>
          </a:custGeom>
          <a:solidFill>
            <a:srgbClr val="1B3A3E"/>
          </a:solidFill>
          <a:ln/>
        </p:spPr>
      </p:sp>
      <p:sp>
        <p:nvSpPr>
          <p:cNvPr id="7" name="Text 5"/>
          <p:cNvSpPr/>
          <p:nvPr/>
        </p:nvSpPr>
        <p:spPr>
          <a:xfrm>
            <a:off x="1714500" y="1651000"/>
            <a:ext cx="558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79500" y="2222500"/>
            <a:ext cx="6223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Assigns a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default value automatically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when no value is provided.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62000" y="3429000"/>
            <a:ext cx="685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62000" y="4000500"/>
            <a:ext cx="6858000" cy="1270000"/>
          </a:xfrm>
          <a:prstGeom prst="roundRect">
            <a:avLst>
              <a:gd name="adj" fmla="val 8000"/>
            </a:avLst>
          </a:prstGeom>
          <a:solidFill>
            <a:srgbClr val="152E31"/>
          </a:solidFill>
          <a:ln/>
        </p:spPr>
      </p:sp>
      <p:sp>
        <p:nvSpPr>
          <p:cNvPr id="11" name="Text 9"/>
          <p:cNvSpPr/>
          <p:nvPr/>
        </p:nvSpPr>
        <p:spPr>
          <a:xfrm>
            <a:off x="1079500" y="4064000"/>
            <a:ext cx="622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TABLE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Employees (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Status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VARCHAR(20) DEFAULT 'Active'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5588000"/>
            <a:ext cx="6858000" cy="1016000"/>
          </a:xfrm>
          <a:prstGeom prst="roundRect">
            <a:avLst>
              <a:gd name="adj" fmla="val 8000"/>
            </a:avLst>
          </a:prstGeom>
          <a:solidFill>
            <a:srgbClr val="E8F0F1"/>
          </a:solidFill>
          <a:ln/>
        </p:spPr>
      </p:sp>
      <p:sp>
        <p:nvSpPr>
          <p:cNvPr id="13" name="Shape 11"/>
          <p:cNvSpPr/>
          <p:nvPr/>
        </p:nvSpPr>
        <p:spPr>
          <a:xfrm>
            <a:off x="1079500" y="5905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55575" y="111125"/>
                </a:moveTo>
                <a:cubicBezTo>
                  <a:pt x="155575" y="98859"/>
                  <a:pt x="165534" y="88900"/>
                  <a:pt x="177800" y="88900"/>
                </a:cubicBezTo>
                <a:cubicBezTo>
                  <a:pt x="190066" y="88900"/>
                  <a:pt x="200025" y="98859"/>
                  <a:pt x="200025" y="111125"/>
                </a:cubicBezTo>
                <a:cubicBezTo>
                  <a:pt x="200025" y="123391"/>
                  <a:pt x="190066" y="133350"/>
                  <a:pt x="177800" y="133350"/>
                </a:cubicBezTo>
                <a:cubicBezTo>
                  <a:pt x="165534" y="133350"/>
                  <a:pt x="155575" y="123391"/>
                  <a:pt x="155575" y="111125"/>
                </a:cubicBezTo>
                <a:close/>
                <a:moveTo>
                  <a:pt x="150019" y="155575"/>
                </a:moveTo>
                <a:lnTo>
                  <a:pt x="183356" y="155575"/>
                </a:lnTo>
                <a:cubicBezTo>
                  <a:pt x="192594" y="155575"/>
                  <a:pt x="200025" y="163006"/>
                  <a:pt x="200025" y="172244"/>
                </a:cubicBezTo>
                <a:lnTo>
                  <a:pt x="200025" y="233363"/>
                </a:lnTo>
                <a:lnTo>
                  <a:pt x="205581" y="233363"/>
                </a:lnTo>
                <a:cubicBezTo>
                  <a:pt x="214819" y="233363"/>
                  <a:pt x="222250" y="240794"/>
                  <a:pt x="222250" y="250031"/>
                </a:cubicBezTo>
                <a:cubicBezTo>
                  <a:pt x="222250" y="259269"/>
                  <a:pt x="214819" y="266700"/>
                  <a:pt x="205581" y="266700"/>
                </a:cubicBezTo>
                <a:lnTo>
                  <a:pt x="150019" y="266700"/>
                </a:lnTo>
                <a:cubicBezTo>
                  <a:pt x="140781" y="266700"/>
                  <a:pt x="133350" y="259269"/>
                  <a:pt x="133350" y="250031"/>
                </a:cubicBezTo>
                <a:cubicBezTo>
                  <a:pt x="133350" y="240794"/>
                  <a:pt x="140781" y="233363"/>
                  <a:pt x="150019" y="233363"/>
                </a:cubicBezTo>
                <a:lnTo>
                  <a:pt x="166688" y="233363"/>
                </a:lnTo>
                <a:lnTo>
                  <a:pt x="166688" y="188913"/>
                </a:lnTo>
                <a:lnTo>
                  <a:pt x="150019" y="188913"/>
                </a:lnTo>
                <a:cubicBezTo>
                  <a:pt x="140781" y="188913"/>
                  <a:pt x="133350" y="181481"/>
                  <a:pt x="133350" y="172244"/>
                </a:cubicBezTo>
                <a:cubicBezTo>
                  <a:pt x="133350" y="163006"/>
                  <a:pt x="140781" y="155575"/>
                  <a:pt x="150019" y="155575"/>
                </a:cubicBezTo>
                <a:close/>
              </a:path>
            </a:pathLst>
          </a:custGeom>
          <a:solidFill>
            <a:srgbClr val="C9843E"/>
          </a:solidFill>
          <a:ln/>
        </p:spPr>
      </p:sp>
      <p:sp>
        <p:nvSpPr>
          <p:cNvPr id="14" name="Text 12"/>
          <p:cNvSpPr/>
          <p:nvPr/>
        </p:nvSpPr>
        <p:spPr>
          <a:xfrm>
            <a:off x="1587500" y="5588000"/>
            <a:ext cx="5778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If no value entered, system stores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"Active"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128000" y="1460500"/>
            <a:ext cx="7366000" cy="5842000"/>
          </a:xfrm>
          <a:prstGeom prst="roundRect">
            <a:avLst>
              <a:gd name="adj" fmla="val 8000"/>
            </a:avLst>
          </a:prstGeom>
          <a:solidFill>
            <a:srgbClr val="1B3A3E"/>
          </a:solidFill>
          <a:ln/>
        </p:spPr>
      </p:sp>
      <p:sp>
        <p:nvSpPr>
          <p:cNvPr id="16" name="Shape 14"/>
          <p:cNvSpPr/>
          <p:nvPr/>
        </p:nvSpPr>
        <p:spPr>
          <a:xfrm>
            <a:off x="8509000" y="1778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474464" y="14526"/>
                </a:moveTo>
                <a:lnTo>
                  <a:pt x="369451" y="119539"/>
                </a:lnTo>
                <a:lnTo>
                  <a:pt x="490061" y="240149"/>
                </a:lnTo>
                <a:lnTo>
                  <a:pt x="595074" y="135136"/>
                </a:lnTo>
                <a:cubicBezTo>
                  <a:pt x="604361" y="125730"/>
                  <a:pt x="609600" y="113109"/>
                  <a:pt x="609600" y="100013"/>
                </a:cubicBezTo>
                <a:cubicBezTo>
                  <a:pt x="609600" y="86916"/>
                  <a:pt x="604361" y="74295"/>
                  <a:pt x="595074" y="64889"/>
                </a:cubicBezTo>
                <a:lnTo>
                  <a:pt x="544711" y="14526"/>
                </a:lnTo>
                <a:cubicBezTo>
                  <a:pt x="535305" y="5239"/>
                  <a:pt x="522684" y="0"/>
                  <a:pt x="509588" y="0"/>
                </a:cubicBezTo>
                <a:cubicBezTo>
                  <a:pt x="496491" y="0"/>
                  <a:pt x="483870" y="5239"/>
                  <a:pt x="474464" y="14526"/>
                </a:cubicBezTo>
                <a:close/>
                <a:moveTo>
                  <a:pt x="329089" y="159901"/>
                </a:moveTo>
                <a:lnTo>
                  <a:pt x="14526" y="474464"/>
                </a:lnTo>
                <a:cubicBezTo>
                  <a:pt x="5239" y="483870"/>
                  <a:pt x="0" y="496491"/>
                  <a:pt x="0" y="509588"/>
                </a:cubicBezTo>
                <a:cubicBezTo>
                  <a:pt x="0" y="522684"/>
                  <a:pt x="5239" y="535305"/>
                  <a:pt x="14526" y="544711"/>
                </a:cubicBezTo>
                <a:lnTo>
                  <a:pt x="64889" y="595074"/>
                </a:lnTo>
                <a:cubicBezTo>
                  <a:pt x="74295" y="604361"/>
                  <a:pt x="86916" y="609600"/>
                  <a:pt x="100013" y="609600"/>
                </a:cubicBezTo>
                <a:cubicBezTo>
                  <a:pt x="113109" y="609600"/>
                  <a:pt x="125730" y="604361"/>
                  <a:pt x="135136" y="595074"/>
                </a:cubicBezTo>
                <a:lnTo>
                  <a:pt x="449699" y="280511"/>
                </a:lnTo>
                <a:lnTo>
                  <a:pt x="329089" y="159901"/>
                </a:lnTo>
                <a:close/>
              </a:path>
            </a:pathLst>
          </a:custGeom>
          <a:solidFill>
            <a:srgbClr val="C9843E"/>
          </a:solidFill>
          <a:ln/>
        </p:spPr>
      </p:sp>
      <p:sp>
        <p:nvSpPr>
          <p:cNvPr id="17" name="Text 15"/>
          <p:cNvSpPr/>
          <p:nvPr/>
        </p:nvSpPr>
        <p:spPr>
          <a:xfrm>
            <a:off x="8509000" y="2667000"/>
            <a:ext cx="660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DEFAULT Works</a:t>
            </a:r>
            <a:endParaRPr lang="en-US" sz="1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509000" y="3429000"/>
          <a:ext cx="6604000" cy="2032000"/>
        </p:xfrm>
        <a:graphic>
          <a:graphicData uri="http://schemas.openxmlformats.org/drawingml/2006/table">
            <a:tbl>
              <a:tblPr/>
              <a:tblGrid>
                <a:gridCol w="1320800"/>
                <a:gridCol w="2311400"/>
                <a:gridCol w="2971800"/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EmpID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Status (Entered)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Status (Stored)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3E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'Active'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Active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9843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(no value)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9843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Active (default)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'Inactive'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Inactive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8509000" y="5778500"/>
            <a:ext cx="660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Row 2 receives 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default value "Active"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because no value was specified during insertion.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4986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8A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0" y="635000"/>
            <a:ext cx="21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8A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Constraints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 Life Example — DEFAULT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17600"/>
            <a:ext cx="1016000" cy="38100"/>
          </a:xfrm>
          <a:prstGeom prst="rect">
            <a:avLst/>
          </a:prstGeom>
          <a:solidFill>
            <a:srgbClr val="C9843E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147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Banking System — Default Account Status is "Pending"</a:t>
            </a:r>
            <a:endParaRPr lang="en-US" sz="2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286000"/>
          <a:ext cx="14732000" cy="2032000"/>
        </p:xfrm>
        <a:graphic>
          <a:graphicData uri="http://schemas.openxmlformats.org/drawingml/2006/table">
            <a:tbl>
              <a:tblPr/>
              <a:tblGrid>
                <a:gridCol w="2946400"/>
                <a:gridCol w="3683000"/>
                <a:gridCol w="4419600"/>
                <a:gridCol w="3683000"/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AccountNo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Customer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Status (Entered)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Status (Stored)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3E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1001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9843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(no value)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9843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Pending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1002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Sara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'Active'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Active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1003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Ahmed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9843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(no value)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9843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Pending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62000" y="46990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E8F0F1"/>
          </a:solidFill>
          <a:ln/>
        </p:spPr>
      </p:sp>
      <p:sp>
        <p:nvSpPr>
          <p:cNvPr id="8" name="Shape 5"/>
          <p:cNvSpPr/>
          <p:nvPr/>
        </p:nvSpPr>
        <p:spPr>
          <a:xfrm>
            <a:off x="1127125" y="50165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217959" y="285750"/>
                </a:moveTo>
                <a:cubicBezTo>
                  <a:pt x="223391" y="269156"/>
                  <a:pt x="234255" y="254124"/>
                  <a:pt x="246534" y="241176"/>
                </a:cubicBezTo>
                <a:cubicBezTo>
                  <a:pt x="270867" y="215578"/>
                  <a:pt x="285750" y="180975"/>
                  <a:pt x="285750" y="142875"/>
                </a:cubicBezTo>
                <a:cubicBezTo>
                  <a:pt x="285750" y="63996"/>
                  <a:pt x="221754" y="0"/>
                  <a:pt x="142875" y="0"/>
                </a:cubicBezTo>
                <a:cubicBezTo>
                  <a:pt x="63996" y="0"/>
                  <a:pt x="0" y="63996"/>
                  <a:pt x="0" y="142875"/>
                </a:cubicBezTo>
                <a:cubicBezTo>
                  <a:pt x="0" y="180975"/>
                  <a:pt x="14883" y="215578"/>
                  <a:pt x="39216" y="241176"/>
                </a:cubicBezTo>
                <a:cubicBezTo>
                  <a:pt x="51495" y="254124"/>
                  <a:pt x="62433" y="269156"/>
                  <a:pt x="67791" y="285750"/>
                </a:cubicBezTo>
                <a:lnTo>
                  <a:pt x="217884" y="285750"/>
                </a:lnTo>
                <a:close/>
                <a:moveTo>
                  <a:pt x="214313" y="321469"/>
                </a:moveTo>
                <a:lnTo>
                  <a:pt x="71438" y="321469"/>
                </a:lnTo>
                <a:lnTo>
                  <a:pt x="71438" y="333375"/>
                </a:lnTo>
                <a:cubicBezTo>
                  <a:pt x="71438" y="366266"/>
                  <a:pt x="98078" y="392906"/>
                  <a:pt x="130969" y="392906"/>
                </a:cubicBezTo>
                <a:lnTo>
                  <a:pt x="154781" y="392906"/>
                </a:lnTo>
                <a:cubicBezTo>
                  <a:pt x="187672" y="392906"/>
                  <a:pt x="214313" y="366266"/>
                  <a:pt x="214313" y="333375"/>
                </a:cubicBezTo>
                <a:lnTo>
                  <a:pt x="214313" y="321469"/>
                </a:lnTo>
                <a:close/>
                <a:moveTo>
                  <a:pt x="136922" y="83344"/>
                </a:moveTo>
                <a:cubicBezTo>
                  <a:pt x="107305" y="83344"/>
                  <a:pt x="83344" y="107305"/>
                  <a:pt x="83344" y="136922"/>
                </a:cubicBezTo>
                <a:cubicBezTo>
                  <a:pt x="83344" y="146819"/>
                  <a:pt x="75381" y="154781"/>
                  <a:pt x="65484" y="154781"/>
                </a:cubicBezTo>
                <a:cubicBezTo>
                  <a:pt x="55587" y="154781"/>
                  <a:pt x="47625" y="146819"/>
                  <a:pt x="47625" y="136922"/>
                </a:cubicBezTo>
                <a:cubicBezTo>
                  <a:pt x="47625" y="87585"/>
                  <a:pt x="87585" y="47625"/>
                  <a:pt x="136922" y="47625"/>
                </a:cubicBezTo>
                <a:cubicBezTo>
                  <a:pt x="146819" y="47625"/>
                  <a:pt x="154781" y="55587"/>
                  <a:pt x="154781" y="65484"/>
                </a:cubicBezTo>
                <a:cubicBezTo>
                  <a:pt x="154781" y="75381"/>
                  <a:pt x="146819" y="83344"/>
                  <a:pt x="136922" y="83344"/>
                </a:cubicBezTo>
                <a:close/>
              </a:path>
            </a:pathLst>
          </a:custGeom>
          <a:solidFill>
            <a:srgbClr val="C9843E"/>
          </a:solidFill>
          <a:ln/>
        </p:spPr>
      </p:sp>
      <p:sp>
        <p:nvSpPr>
          <p:cNvPr id="9" name="Text 6"/>
          <p:cNvSpPr/>
          <p:nvPr/>
        </p:nvSpPr>
        <p:spPr>
          <a:xfrm>
            <a:off x="1651000" y="4699000"/>
            <a:ext cx="1346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New accounts automatically get status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"Pending"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until approved by the bank. The DEFAULT constraint handles this automatically.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62000" y="6096000"/>
            <a:ext cx="147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 Code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762000" y="67310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152E31"/>
          </a:solidFill>
          <a:ln/>
        </p:spPr>
      </p:sp>
      <p:sp>
        <p:nvSpPr>
          <p:cNvPr id="12" name="Text 9"/>
          <p:cNvSpPr/>
          <p:nvPr/>
        </p:nvSpPr>
        <p:spPr>
          <a:xfrm>
            <a:off x="1143000" y="6731000"/>
            <a:ext cx="1397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TABLE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Accounts (AccountNo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Customer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VARCHAR(50)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Status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VARCHAR(20) DEFAULT 'Pending'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4986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8A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21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0" y="635000"/>
            <a:ext cx="21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8A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Constraints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FOREIGN KEY Constraint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17600"/>
            <a:ext cx="1016000" cy="38100"/>
          </a:xfrm>
          <a:prstGeom prst="rect">
            <a:avLst/>
          </a:prstGeom>
          <a:solidFill>
            <a:srgbClr val="C9843E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60500"/>
            <a:ext cx="6858000" cy="1651000"/>
          </a:xfrm>
          <a:prstGeom prst="roundRect">
            <a:avLst>
              <a:gd name="adj" fmla="val 8000"/>
            </a:avLst>
          </a:prstGeom>
          <a:solidFill>
            <a:srgbClr val="E8F0F1"/>
          </a:solidFill>
          <a:ln/>
        </p:spPr>
      </p:sp>
      <p:sp>
        <p:nvSpPr>
          <p:cNvPr id="6" name="Shape 4"/>
          <p:cNvSpPr/>
          <p:nvPr/>
        </p:nvSpPr>
        <p:spPr>
          <a:xfrm>
            <a:off x="1050925" y="1651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374600" y="85725"/>
                </a:moveTo>
                <a:cubicBezTo>
                  <a:pt x="359777" y="85725"/>
                  <a:pt x="345400" y="89743"/>
                  <a:pt x="332809" y="97066"/>
                </a:cubicBezTo>
                <a:cubicBezTo>
                  <a:pt x="318701" y="82778"/>
                  <a:pt x="302270" y="70812"/>
                  <a:pt x="284143" y="61793"/>
                </a:cubicBezTo>
                <a:cubicBezTo>
                  <a:pt x="309324" y="40362"/>
                  <a:pt x="341382" y="28575"/>
                  <a:pt x="374600" y="28575"/>
                </a:cubicBezTo>
                <a:cubicBezTo>
                  <a:pt x="451753" y="28575"/>
                  <a:pt x="514350" y="91083"/>
                  <a:pt x="514350" y="168325"/>
                </a:cubicBezTo>
                <a:cubicBezTo>
                  <a:pt x="514350" y="205383"/>
                  <a:pt x="499616" y="240923"/>
                  <a:pt x="473452" y="267087"/>
                </a:cubicBezTo>
                <a:lnTo>
                  <a:pt x="409962" y="330577"/>
                </a:lnTo>
                <a:cubicBezTo>
                  <a:pt x="383798" y="356741"/>
                  <a:pt x="348258" y="371475"/>
                  <a:pt x="311200" y="371475"/>
                </a:cubicBezTo>
                <a:cubicBezTo>
                  <a:pt x="234047" y="371475"/>
                  <a:pt x="171450" y="308967"/>
                  <a:pt x="171450" y="231725"/>
                </a:cubicBezTo>
                <a:cubicBezTo>
                  <a:pt x="171450" y="230386"/>
                  <a:pt x="171450" y="229046"/>
                  <a:pt x="171539" y="227707"/>
                </a:cubicBezTo>
                <a:cubicBezTo>
                  <a:pt x="171986" y="211901"/>
                  <a:pt x="185112" y="199489"/>
                  <a:pt x="200918" y="199936"/>
                </a:cubicBezTo>
                <a:cubicBezTo>
                  <a:pt x="216724" y="200382"/>
                  <a:pt x="229136" y="213509"/>
                  <a:pt x="228689" y="229314"/>
                </a:cubicBezTo>
                <a:cubicBezTo>
                  <a:pt x="228689" y="230118"/>
                  <a:pt x="228689" y="230922"/>
                  <a:pt x="228689" y="231636"/>
                </a:cubicBezTo>
                <a:cubicBezTo>
                  <a:pt x="228689" y="277267"/>
                  <a:pt x="265658" y="314236"/>
                  <a:pt x="311289" y="314236"/>
                </a:cubicBezTo>
                <a:cubicBezTo>
                  <a:pt x="333167" y="314236"/>
                  <a:pt x="354151" y="305574"/>
                  <a:pt x="369689" y="290036"/>
                </a:cubicBezTo>
                <a:lnTo>
                  <a:pt x="433179" y="226546"/>
                </a:lnTo>
                <a:cubicBezTo>
                  <a:pt x="448628" y="211098"/>
                  <a:pt x="457379" y="190024"/>
                  <a:pt x="457379" y="168146"/>
                </a:cubicBezTo>
                <a:cubicBezTo>
                  <a:pt x="457379" y="122515"/>
                  <a:pt x="420410" y="85546"/>
                  <a:pt x="374779" y="85546"/>
                </a:cubicBezTo>
                <a:close/>
                <a:moveTo>
                  <a:pt x="245745" y="154751"/>
                </a:moveTo>
                <a:cubicBezTo>
                  <a:pt x="244048" y="154037"/>
                  <a:pt x="242352" y="153055"/>
                  <a:pt x="240834" y="151983"/>
                </a:cubicBezTo>
                <a:cubicBezTo>
                  <a:pt x="229582" y="146179"/>
                  <a:pt x="216724" y="142875"/>
                  <a:pt x="203240" y="142875"/>
                </a:cubicBezTo>
                <a:cubicBezTo>
                  <a:pt x="181362" y="142875"/>
                  <a:pt x="160377" y="151537"/>
                  <a:pt x="144840" y="167074"/>
                </a:cubicBezTo>
                <a:lnTo>
                  <a:pt x="81349" y="230565"/>
                </a:lnTo>
                <a:cubicBezTo>
                  <a:pt x="65901" y="246013"/>
                  <a:pt x="57150" y="267087"/>
                  <a:pt x="57150" y="288965"/>
                </a:cubicBezTo>
                <a:cubicBezTo>
                  <a:pt x="57150" y="334595"/>
                  <a:pt x="94119" y="371564"/>
                  <a:pt x="139750" y="371564"/>
                </a:cubicBezTo>
                <a:cubicBezTo>
                  <a:pt x="154484" y="371564"/>
                  <a:pt x="168860" y="367635"/>
                  <a:pt x="181451" y="360313"/>
                </a:cubicBezTo>
                <a:cubicBezTo>
                  <a:pt x="195560" y="374600"/>
                  <a:pt x="211991" y="386566"/>
                  <a:pt x="230207" y="395585"/>
                </a:cubicBezTo>
                <a:cubicBezTo>
                  <a:pt x="205026" y="416927"/>
                  <a:pt x="173057" y="428804"/>
                  <a:pt x="139750" y="428804"/>
                </a:cubicBezTo>
                <a:cubicBezTo>
                  <a:pt x="62597" y="428804"/>
                  <a:pt x="0" y="366296"/>
                  <a:pt x="0" y="289054"/>
                </a:cubicBezTo>
                <a:cubicBezTo>
                  <a:pt x="0" y="251996"/>
                  <a:pt x="14734" y="216456"/>
                  <a:pt x="40898" y="190292"/>
                </a:cubicBezTo>
                <a:lnTo>
                  <a:pt x="104388" y="126802"/>
                </a:lnTo>
                <a:cubicBezTo>
                  <a:pt x="130552" y="100638"/>
                  <a:pt x="166092" y="85904"/>
                  <a:pt x="203150" y="85904"/>
                </a:cubicBezTo>
                <a:cubicBezTo>
                  <a:pt x="280481" y="85904"/>
                  <a:pt x="342900" y="148947"/>
                  <a:pt x="342900" y="226010"/>
                </a:cubicBezTo>
                <a:cubicBezTo>
                  <a:pt x="342900" y="227171"/>
                  <a:pt x="342900" y="228332"/>
                  <a:pt x="342900" y="229493"/>
                </a:cubicBezTo>
                <a:cubicBezTo>
                  <a:pt x="342543" y="245299"/>
                  <a:pt x="329416" y="257711"/>
                  <a:pt x="313611" y="257354"/>
                </a:cubicBezTo>
                <a:cubicBezTo>
                  <a:pt x="297805" y="256996"/>
                  <a:pt x="285393" y="243870"/>
                  <a:pt x="285750" y="228064"/>
                </a:cubicBezTo>
                <a:cubicBezTo>
                  <a:pt x="285750" y="227350"/>
                  <a:pt x="285750" y="226725"/>
                  <a:pt x="285750" y="226010"/>
                </a:cubicBezTo>
                <a:cubicBezTo>
                  <a:pt x="285750" y="195917"/>
                  <a:pt x="269677" y="169485"/>
                  <a:pt x="245745" y="154930"/>
                </a:cubicBezTo>
                <a:close/>
              </a:path>
            </a:pathLst>
          </a:custGeom>
          <a:solidFill>
            <a:srgbClr val="1B3A3E"/>
          </a:solidFill>
          <a:ln/>
        </p:spPr>
      </p:sp>
      <p:sp>
        <p:nvSpPr>
          <p:cNvPr id="7" name="Text 5"/>
          <p:cNvSpPr/>
          <p:nvPr/>
        </p:nvSpPr>
        <p:spPr>
          <a:xfrm>
            <a:off x="1714500" y="1651000"/>
            <a:ext cx="558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79500" y="2222500"/>
            <a:ext cx="622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Creates a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relationship between two tables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62000" y="3429000"/>
            <a:ext cx="685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62000" y="4000500"/>
            <a:ext cx="6858000" cy="2857500"/>
          </a:xfrm>
          <a:prstGeom prst="roundRect">
            <a:avLst>
              <a:gd name="adj" fmla="val 8000"/>
            </a:avLst>
          </a:prstGeom>
          <a:solidFill>
            <a:srgbClr val="152E31"/>
          </a:solidFill>
          <a:ln/>
        </p:spPr>
      </p:sp>
      <p:sp>
        <p:nvSpPr>
          <p:cNvPr id="11" name="Text 9"/>
          <p:cNvSpPr/>
          <p:nvPr/>
        </p:nvSpPr>
        <p:spPr>
          <a:xfrm>
            <a:off x="1079500" y="4038600"/>
            <a:ext cx="6223000" cy="276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TABLE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Orders (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OrderID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CustomerID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FOREIGN KEY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(CustomerID)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REFERENCES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Customers(CustomerID)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6921500"/>
            <a:ext cx="6858000" cy="762000"/>
          </a:xfrm>
          <a:prstGeom prst="roundRect">
            <a:avLst>
              <a:gd name="adj" fmla="val 8000"/>
            </a:avLst>
          </a:prstGeom>
          <a:solidFill>
            <a:srgbClr val="E8F0F1"/>
          </a:solidFill>
          <a:ln/>
        </p:spPr>
      </p:sp>
      <p:sp>
        <p:nvSpPr>
          <p:cNvPr id="13" name="Shape 11"/>
          <p:cNvSpPr/>
          <p:nvPr/>
        </p:nvSpPr>
        <p:spPr>
          <a:xfrm>
            <a:off x="1079500" y="7137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55575" y="111125"/>
                </a:moveTo>
                <a:cubicBezTo>
                  <a:pt x="155575" y="98859"/>
                  <a:pt x="165534" y="88900"/>
                  <a:pt x="177800" y="88900"/>
                </a:cubicBezTo>
                <a:cubicBezTo>
                  <a:pt x="190066" y="88900"/>
                  <a:pt x="200025" y="98859"/>
                  <a:pt x="200025" y="111125"/>
                </a:cubicBezTo>
                <a:cubicBezTo>
                  <a:pt x="200025" y="123391"/>
                  <a:pt x="190066" y="133350"/>
                  <a:pt x="177800" y="133350"/>
                </a:cubicBezTo>
                <a:cubicBezTo>
                  <a:pt x="165534" y="133350"/>
                  <a:pt x="155575" y="123391"/>
                  <a:pt x="155575" y="111125"/>
                </a:cubicBezTo>
                <a:close/>
                <a:moveTo>
                  <a:pt x="150019" y="155575"/>
                </a:moveTo>
                <a:lnTo>
                  <a:pt x="183356" y="155575"/>
                </a:lnTo>
                <a:cubicBezTo>
                  <a:pt x="192594" y="155575"/>
                  <a:pt x="200025" y="163006"/>
                  <a:pt x="200025" y="172244"/>
                </a:cubicBezTo>
                <a:lnTo>
                  <a:pt x="200025" y="233363"/>
                </a:lnTo>
                <a:lnTo>
                  <a:pt x="205581" y="233363"/>
                </a:lnTo>
                <a:cubicBezTo>
                  <a:pt x="214819" y="233363"/>
                  <a:pt x="222250" y="240794"/>
                  <a:pt x="222250" y="250031"/>
                </a:cubicBezTo>
                <a:cubicBezTo>
                  <a:pt x="222250" y="259269"/>
                  <a:pt x="214819" y="266700"/>
                  <a:pt x="205581" y="266700"/>
                </a:cubicBezTo>
                <a:lnTo>
                  <a:pt x="150019" y="266700"/>
                </a:lnTo>
                <a:cubicBezTo>
                  <a:pt x="140781" y="266700"/>
                  <a:pt x="133350" y="259269"/>
                  <a:pt x="133350" y="250031"/>
                </a:cubicBezTo>
                <a:cubicBezTo>
                  <a:pt x="133350" y="240794"/>
                  <a:pt x="140781" y="233363"/>
                  <a:pt x="150019" y="233363"/>
                </a:cubicBezTo>
                <a:lnTo>
                  <a:pt x="166688" y="233363"/>
                </a:lnTo>
                <a:lnTo>
                  <a:pt x="166688" y="188913"/>
                </a:lnTo>
                <a:lnTo>
                  <a:pt x="150019" y="188913"/>
                </a:lnTo>
                <a:cubicBezTo>
                  <a:pt x="140781" y="188913"/>
                  <a:pt x="133350" y="181481"/>
                  <a:pt x="133350" y="172244"/>
                </a:cubicBezTo>
                <a:cubicBezTo>
                  <a:pt x="133350" y="163006"/>
                  <a:pt x="140781" y="155575"/>
                  <a:pt x="150019" y="155575"/>
                </a:cubicBezTo>
                <a:close/>
              </a:path>
            </a:pathLst>
          </a:custGeom>
          <a:solidFill>
            <a:srgbClr val="C9843E"/>
          </a:solidFill>
          <a:ln/>
        </p:spPr>
      </p:sp>
      <p:sp>
        <p:nvSpPr>
          <p:cNvPr id="14" name="Text 12"/>
          <p:cNvSpPr/>
          <p:nvPr/>
        </p:nvSpPr>
        <p:spPr>
          <a:xfrm>
            <a:off x="1587500" y="6921500"/>
            <a:ext cx="57785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Links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Orders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table to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Customers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table.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128000" y="1460500"/>
            <a:ext cx="7366000" cy="5842000"/>
          </a:xfrm>
          <a:prstGeom prst="roundRect">
            <a:avLst>
              <a:gd name="adj" fmla="val 8000"/>
            </a:avLst>
          </a:prstGeom>
          <a:solidFill>
            <a:srgbClr val="1B3A3E"/>
          </a:solidFill>
          <a:ln/>
        </p:spPr>
      </p:sp>
      <p:sp>
        <p:nvSpPr>
          <p:cNvPr id="16" name="Shape 14"/>
          <p:cNvSpPr/>
          <p:nvPr/>
        </p:nvSpPr>
        <p:spPr>
          <a:xfrm>
            <a:off x="8509000" y="1778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95250"/>
                </a:moveTo>
                <a:cubicBezTo>
                  <a:pt x="0" y="63698"/>
                  <a:pt x="25598" y="38100"/>
                  <a:pt x="57150" y="38100"/>
                </a:cubicBezTo>
                <a:lnTo>
                  <a:pt x="171450" y="38100"/>
                </a:lnTo>
                <a:cubicBezTo>
                  <a:pt x="203002" y="38100"/>
                  <a:pt x="228600" y="63698"/>
                  <a:pt x="228600" y="95250"/>
                </a:cubicBezTo>
                <a:lnTo>
                  <a:pt x="228600" y="114300"/>
                </a:lnTo>
                <a:lnTo>
                  <a:pt x="381000" y="114300"/>
                </a:lnTo>
                <a:lnTo>
                  <a:pt x="381000" y="95250"/>
                </a:lnTo>
                <a:cubicBezTo>
                  <a:pt x="381000" y="63698"/>
                  <a:pt x="406598" y="38100"/>
                  <a:pt x="438150" y="38100"/>
                </a:cubicBezTo>
                <a:lnTo>
                  <a:pt x="552450" y="38100"/>
                </a:lnTo>
                <a:cubicBezTo>
                  <a:pt x="584002" y="38100"/>
                  <a:pt x="609600" y="63698"/>
                  <a:pt x="609600" y="95250"/>
                </a:cubicBezTo>
                <a:lnTo>
                  <a:pt x="609600" y="209550"/>
                </a:lnTo>
                <a:cubicBezTo>
                  <a:pt x="609600" y="241102"/>
                  <a:pt x="584002" y="266700"/>
                  <a:pt x="552450" y="266700"/>
                </a:cubicBezTo>
                <a:lnTo>
                  <a:pt x="438150" y="266700"/>
                </a:lnTo>
                <a:cubicBezTo>
                  <a:pt x="406598" y="266700"/>
                  <a:pt x="381000" y="241102"/>
                  <a:pt x="381000" y="209550"/>
                </a:cubicBezTo>
                <a:lnTo>
                  <a:pt x="381000" y="190500"/>
                </a:lnTo>
                <a:lnTo>
                  <a:pt x="228600" y="190500"/>
                </a:lnTo>
                <a:lnTo>
                  <a:pt x="228600" y="209550"/>
                </a:lnTo>
                <a:cubicBezTo>
                  <a:pt x="228600" y="218242"/>
                  <a:pt x="226576" y="226576"/>
                  <a:pt x="223123" y="233958"/>
                </a:cubicBezTo>
                <a:lnTo>
                  <a:pt x="304800" y="342900"/>
                </a:lnTo>
                <a:lnTo>
                  <a:pt x="400050" y="342900"/>
                </a:lnTo>
                <a:cubicBezTo>
                  <a:pt x="431602" y="342900"/>
                  <a:pt x="457200" y="368498"/>
                  <a:pt x="457200" y="400050"/>
                </a:cubicBezTo>
                <a:lnTo>
                  <a:pt x="457200" y="514350"/>
                </a:lnTo>
                <a:cubicBezTo>
                  <a:pt x="457200" y="545902"/>
                  <a:pt x="431602" y="571500"/>
                  <a:pt x="400050" y="571500"/>
                </a:cubicBezTo>
                <a:lnTo>
                  <a:pt x="285750" y="571500"/>
                </a:lnTo>
                <a:cubicBezTo>
                  <a:pt x="254198" y="571500"/>
                  <a:pt x="228600" y="545902"/>
                  <a:pt x="228600" y="514350"/>
                </a:cubicBezTo>
                <a:lnTo>
                  <a:pt x="228600" y="400050"/>
                </a:lnTo>
                <a:cubicBezTo>
                  <a:pt x="228600" y="391358"/>
                  <a:pt x="230624" y="383024"/>
                  <a:pt x="234077" y="375642"/>
                </a:cubicBezTo>
                <a:lnTo>
                  <a:pt x="152400" y="266700"/>
                </a:lnTo>
                <a:lnTo>
                  <a:pt x="57150" y="266700"/>
                </a:lnTo>
                <a:cubicBezTo>
                  <a:pt x="25598" y="266700"/>
                  <a:pt x="0" y="241102"/>
                  <a:pt x="0" y="209550"/>
                </a:cubicBezTo>
                <a:lnTo>
                  <a:pt x="0" y="95250"/>
                </a:lnTo>
                <a:close/>
              </a:path>
            </a:pathLst>
          </a:custGeom>
          <a:solidFill>
            <a:srgbClr val="C9843E"/>
          </a:solidFill>
          <a:ln/>
        </p:spPr>
      </p:sp>
      <p:sp>
        <p:nvSpPr>
          <p:cNvPr id="17" name="Text 15"/>
          <p:cNvSpPr/>
          <p:nvPr/>
        </p:nvSpPr>
        <p:spPr>
          <a:xfrm>
            <a:off x="8509000" y="2667000"/>
            <a:ext cx="660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Relationships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398000" y="3556000"/>
            <a:ext cx="2286000" cy="609600"/>
          </a:xfrm>
          <a:prstGeom prst="roundRect">
            <a:avLst>
              <a:gd name="adj" fmla="val 10000"/>
            </a:avLst>
          </a:prstGeom>
          <a:solidFill>
            <a:srgbClr val="C9843E"/>
          </a:solidFill>
          <a:ln/>
        </p:spPr>
      </p:sp>
      <p:sp>
        <p:nvSpPr>
          <p:cNvPr id="19" name="Text 17"/>
          <p:cNvSpPr/>
          <p:nvPr/>
        </p:nvSpPr>
        <p:spPr>
          <a:xfrm>
            <a:off x="9398000" y="3556000"/>
            <a:ext cx="2286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Parent Table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398000" y="4572000"/>
            <a:ext cx="2286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1938000" y="3556000"/>
            <a:ext cx="2286000" cy="609600"/>
          </a:xfrm>
          <a:prstGeom prst="roundRect">
            <a:avLst>
              <a:gd name="adj" fmla="val 10000"/>
            </a:avLst>
          </a:prstGeom>
          <a:solidFill>
            <a:srgbClr val="2A5A5E"/>
          </a:solidFill>
          <a:ln/>
        </p:spPr>
      </p:sp>
      <p:sp>
        <p:nvSpPr>
          <p:cNvPr id="22" name="Text 20"/>
          <p:cNvSpPr/>
          <p:nvPr/>
        </p:nvSpPr>
        <p:spPr>
          <a:xfrm>
            <a:off x="11938000" y="3556000"/>
            <a:ext cx="2286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Child Table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938000" y="4572000"/>
            <a:ext cx="2286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1684000" y="4191000"/>
            <a:ext cx="508000" cy="0"/>
          </a:xfrm>
          <a:prstGeom prst="straightConnector1">
            <a:avLst/>
          </a:prstGeom>
          <a:noFill/>
          <a:ln w="25400">
            <a:solidFill>
              <a:srgbClr val="C9843E"/>
            </a:solidFill>
            <a:prstDash val="solid"/>
            <a:headEnd type="none"/>
            <a:tailEnd type="arrow"/>
          </a:ln>
        </p:spPr>
      </p:sp>
      <p:sp>
        <p:nvSpPr>
          <p:cNvPr id="25" name="Text 23"/>
          <p:cNvSpPr/>
          <p:nvPr/>
        </p:nvSpPr>
        <p:spPr>
          <a:xfrm>
            <a:off x="11557000" y="42164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FK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509000" y="5016500"/>
            <a:ext cx="6604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C984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➤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parent table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contains the primary key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C984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➤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child table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references it via foreign key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C984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➤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Ensures referential integrity between tables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C984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➤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Prevents orphan records in the child table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986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8A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0" y="635000"/>
            <a:ext cx="21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8A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Constraints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Foreign Key Diagram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17600"/>
            <a:ext cx="1016000" cy="38100"/>
          </a:xfrm>
          <a:prstGeom prst="rect">
            <a:avLst/>
          </a:prstGeom>
          <a:solidFill>
            <a:srgbClr val="C9843E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60500"/>
            <a:ext cx="14732000" cy="6096000"/>
          </a:xfrm>
          <a:prstGeom prst="roundRect">
            <a:avLst>
              <a:gd name="adj" fmla="val 4000"/>
            </a:avLst>
          </a:prstGeom>
          <a:solidFill>
            <a:srgbClr val="152E31"/>
          </a:solidFill>
          <a:ln/>
        </p:spPr>
      </p:sp>
      <p:sp>
        <p:nvSpPr>
          <p:cNvPr id="6" name="Shape 4"/>
          <p:cNvSpPr/>
          <p:nvPr/>
        </p:nvSpPr>
        <p:spPr>
          <a:xfrm>
            <a:off x="1524000" y="2032000"/>
            <a:ext cx="5080000" cy="635000"/>
          </a:xfrm>
          <a:prstGeom prst="roundRect">
            <a:avLst>
              <a:gd name="adj" fmla="val 8000"/>
            </a:avLst>
          </a:prstGeom>
          <a:solidFill>
            <a:srgbClr val="C9843E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2032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Customers Table (Parent)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651000" y="2857500"/>
            <a:ext cx="1270000" cy="355600"/>
          </a:xfrm>
          <a:prstGeom prst="roundRect">
            <a:avLst>
              <a:gd name="adj" fmla="val 15000"/>
            </a:avLst>
          </a:prstGeom>
          <a:solidFill>
            <a:srgbClr val="4CAF50"/>
          </a:solidFill>
          <a:ln/>
        </p:spPr>
      </p:sp>
      <p:sp>
        <p:nvSpPr>
          <p:cNvPr id="9" name="Text 7"/>
          <p:cNvSpPr/>
          <p:nvPr/>
        </p:nvSpPr>
        <p:spPr>
          <a:xfrm>
            <a:off x="1651000" y="2857500"/>
            <a:ext cx="127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PRIMARY KEY</a:t>
            </a:r>
            <a:endParaRPr lang="en-US" sz="1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24000" y="3365500"/>
          <a:ext cx="5080000" cy="1778000"/>
        </p:xfrm>
        <a:graphic>
          <a:graphicData uri="http://schemas.openxmlformats.org/drawingml/2006/table">
            <a:tbl>
              <a:tblPr/>
              <a:tblGrid>
                <a:gridCol w="2032000"/>
                <a:gridCol w="1778000"/>
                <a:gridCol w="1270000"/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CustomerID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City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3E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9843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Hamza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Lahore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9843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Ayesha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Islamabad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064000" y="5143500"/>
            <a:ext cx="0" cy="635000"/>
          </a:xfrm>
          <a:prstGeom prst="straightConnector1">
            <a:avLst/>
          </a:prstGeom>
          <a:noFill/>
          <a:ln w="25400">
            <a:solidFill>
              <a:srgbClr val="C9843E"/>
            </a:solidFill>
            <a:prstDash val="sysDot"/>
            <a:headEnd type="none"/>
            <a:tailEnd type="none"/>
          </a:ln>
        </p:spPr>
      </p:sp>
      <p:sp>
        <p:nvSpPr>
          <p:cNvPr id="12" name="Shape 9"/>
          <p:cNvSpPr/>
          <p:nvPr/>
        </p:nvSpPr>
        <p:spPr>
          <a:xfrm>
            <a:off x="4064000" y="5778500"/>
            <a:ext cx="0" cy="0"/>
          </a:xfrm>
          <a:prstGeom prst="straightConnector1">
            <a:avLst/>
          </a:prstGeom>
          <a:noFill/>
          <a:ln w="25400">
            <a:solidFill>
              <a:srgbClr val="C9843E"/>
            </a:solidFill>
            <a:prstDash val="solid"/>
            <a:headEnd type="none"/>
            <a:tailEnd type="none"/>
          </a:ln>
        </p:spPr>
      </p:sp>
      <p:sp>
        <p:nvSpPr>
          <p:cNvPr id="13" name="Text 10"/>
          <p:cNvSpPr/>
          <p:nvPr/>
        </p:nvSpPr>
        <p:spPr>
          <a:xfrm>
            <a:off x="4254500" y="5270500"/>
            <a:ext cx="1524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FOREIGN KEY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524000" y="5842000"/>
            <a:ext cx="5080000" cy="635000"/>
          </a:xfrm>
          <a:prstGeom prst="roundRect">
            <a:avLst>
              <a:gd name="adj" fmla="val 8000"/>
            </a:avLst>
          </a:prstGeom>
          <a:solidFill>
            <a:srgbClr val="2A5A5E"/>
          </a:solidFill>
          <a:ln/>
        </p:spPr>
      </p:sp>
      <p:sp>
        <p:nvSpPr>
          <p:cNvPr id="15" name="Text 12"/>
          <p:cNvSpPr/>
          <p:nvPr/>
        </p:nvSpPr>
        <p:spPr>
          <a:xfrm>
            <a:off x="1524000" y="5842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Orders Table (Child)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651000" y="6667500"/>
            <a:ext cx="1270000" cy="355600"/>
          </a:xfrm>
          <a:prstGeom prst="roundRect">
            <a:avLst>
              <a:gd name="adj" fmla="val 15000"/>
            </a:avLst>
          </a:prstGeom>
          <a:solidFill>
            <a:srgbClr val="C9843E"/>
          </a:solidFill>
          <a:ln/>
        </p:spPr>
      </p:sp>
      <p:sp>
        <p:nvSpPr>
          <p:cNvPr id="17" name="Text 14"/>
          <p:cNvSpPr/>
          <p:nvPr/>
        </p:nvSpPr>
        <p:spPr>
          <a:xfrm>
            <a:off x="1651000" y="6667500"/>
            <a:ext cx="127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FOREIGN KEY</a:t>
            </a:r>
            <a:endParaRPr lang="en-US" sz="1600" dirty="0"/>
          </a:p>
        </p:txBody>
      </p:sp>
      <p:graphicFrame>
        <p:nvGraphicFramePr>
          <p:cNvPr id="4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24000" y="7175500"/>
          <a:ext cx="5080000" cy="1270000"/>
        </p:xfrm>
        <a:graphic>
          <a:graphicData uri="http://schemas.openxmlformats.org/drawingml/2006/table">
            <a:tbl>
              <a:tblPr/>
              <a:tblGrid>
                <a:gridCol w="1778000"/>
                <a:gridCol w="1778000"/>
                <a:gridCol w="1524000"/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OrderID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C9843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CustomerID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Amount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3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9843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2500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9843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1800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7366000" y="2032000"/>
            <a:ext cx="7620000" cy="5461000"/>
          </a:xfrm>
          <a:prstGeom prst="roundRect">
            <a:avLst>
              <a:gd name="adj" fmla="val 6000"/>
            </a:avLst>
          </a:prstGeom>
          <a:solidFill>
            <a:srgbClr val="1B3A3E"/>
          </a:solidFill>
          <a:ln/>
        </p:spPr>
      </p:sp>
      <p:sp>
        <p:nvSpPr>
          <p:cNvPr id="20" name="Shape 16"/>
          <p:cNvSpPr/>
          <p:nvPr/>
        </p:nvSpPr>
        <p:spPr>
          <a:xfrm>
            <a:off x="7804150" y="23495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261551" y="342900"/>
                </a:moveTo>
                <a:cubicBezTo>
                  <a:pt x="268069" y="322987"/>
                  <a:pt x="281107" y="304949"/>
                  <a:pt x="295841" y="289411"/>
                </a:cubicBezTo>
                <a:cubicBezTo>
                  <a:pt x="325041" y="258693"/>
                  <a:pt x="342900" y="217170"/>
                  <a:pt x="342900" y="171450"/>
                </a:cubicBezTo>
                <a:cubicBezTo>
                  <a:pt x="342900" y="76795"/>
                  <a:pt x="266105" y="0"/>
                  <a:pt x="171450" y="0"/>
                </a:cubicBezTo>
                <a:cubicBezTo>
                  <a:pt x="76795" y="0"/>
                  <a:pt x="0" y="76795"/>
                  <a:pt x="0" y="171450"/>
                </a:cubicBezTo>
                <a:cubicBezTo>
                  <a:pt x="0" y="217170"/>
                  <a:pt x="17859" y="258693"/>
                  <a:pt x="47059" y="289411"/>
                </a:cubicBezTo>
                <a:cubicBezTo>
                  <a:pt x="61793" y="304949"/>
                  <a:pt x="74920" y="322987"/>
                  <a:pt x="81349" y="342900"/>
                </a:cubicBezTo>
                <a:lnTo>
                  <a:pt x="261461" y="342900"/>
                </a:lnTo>
                <a:close/>
                <a:moveTo>
                  <a:pt x="257175" y="385763"/>
                </a:moveTo>
                <a:lnTo>
                  <a:pt x="85725" y="385763"/>
                </a:lnTo>
                <a:lnTo>
                  <a:pt x="85725" y="400050"/>
                </a:lnTo>
                <a:cubicBezTo>
                  <a:pt x="85725" y="439519"/>
                  <a:pt x="117693" y="471488"/>
                  <a:pt x="157163" y="471488"/>
                </a:cubicBezTo>
                <a:lnTo>
                  <a:pt x="185738" y="471488"/>
                </a:lnTo>
                <a:cubicBezTo>
                  <a:pt x="225207" y="471488"/>
                  <a:pt x="257175" y="439519"/>
                  <a:pt x="257175" y="400050"/>
                </a:cubicBezTo>
                <a:lnTo>
                  <a:pt x="257175" y="385763"/>
                </a:lnTo>
                <a:close/>
                <a:moveTo>
                  <a:pt x="164306" y="100013"/>
                </a:moveTo>
                <a:cubicBezTo>
                  <a:pt x="128766" y="100013"/>
                  <a:pt x="100013" y="128766"/>
                  <a:pt x="100013" y="164306"/>
                </a:cubicBezTo>
                <a:cubicBezTo>
                  <a:pt x="100013" y="176183"/>
                  <a:pt x="90458" y="185738"/>
                  <a:pt x="78581" y="185738"/>
                </a:cubicBezTo>
                <a:cubicBezTo>
                  <a:pt x="66705" y="185738"/>
                  <a:pt x="57150" y="176183"/>
                  <a:pt x="57150" y="164306"/>
                </a:cubicBezTo>
                <a:cubicBezTo>
                  <a:pt x="57150" y="105102"/>
                  <a:pt x="105102" y="57150"/>
                  <a:pt x="164306" y="57150"/>
                </a:cubicBezTo>
                <a:cubicBezTo>
                  <a:pt x="176183" y="57150"/>
                  <a:pt x="185738" y="66705"/>
                  <a:pt x="185738" y="78581"/>
                </a:cubicBezTo>
                <a:cubicBezTo>
                  <a:pt x="185738" y="90458"/>
                  <a:pt x="176183" y="100013"/>
                  <a:pt x="164306" y="100013"/>
                </a:cubicBezTo>
                <a:close/>
              </a:path>
            </a:pathLst>
          </a:custGeom>
          <a:solidFill>
            <a:srgbClr val="C9843E"/>
          </a:solidFill>
          <a:ln/>
        </p:spPr>
      </p:sp>
      <p:sp>
        <p:nvSpPr>
          <p:cNvPr id="21" name="Text 17"/>
          <p:cNvSpPr/>
          <p:nvPr/>
        </p:nvSpPr>
        <p:spPr>
          <a:xfrm>
            <a:off x="8382000" y="2349500"/>
            <a:ext cx="6223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7747000" y="3111500"/>
            <a:ext cx="68580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984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CustomerID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Customers is the PRIMARY KEY</a:t>
            </a:r>
            <a:endParaRPr lang="en-US" sz="1600" dirty="0"/>
          </a:p>
          <a:p>
            <a:pPr>
              <a:lnSpc>
                <a:spcPct val="18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C984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pPr>
              <a:lnSpc>
                <a:spcPct val="18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8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CustomerID</a:t>
            </a:r>
            <a:pPr>
              <a:lnSpc>
                <a:spcPct val="18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Orders is the FOREIGN KEY</a:t>
            </a:r>
            <a:endParaRPr lang="en-US" sz="1600" dirty="0"/>
          </a:p>
          <a:p>
            <a:pPr>
              <a:lnSpc>
                <a:spcPct val="18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C984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pPr>
              <a:lnSpc>
                <a:spcPct val="18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Both columns link the two tables together</a:t>
            </a:r>
            <a:endParaRPr lang="en-US" sz="1600" dirty="0"/>
          </a:p>
          <a:p>
            <a:pPr>
              <a:lnSpc>
                <a:spcPct val="18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C984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pPr>
              <a:lnSpc>
                <a:spcPct val="18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Every Order must belong to a valid Customer</a:t>
            </a:r>
            <a:endParaRPr lang="en-US" sz="1600" dirty="0"/>
          </a:p>
          <a:p>
            <a:pPr>
              <a:lnSpc>
                <a:spcPct val="18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C984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</a:t>
            </a:r>
            <a:pPr>
              <a:lnSpc>
                <a:spcPct val="18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You cannot delete a Customer who has Orders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14986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8A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0" y="635000"/>
            <a:ext cx="21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8A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Constraints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CASCADE in Foreign Key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17600"/>
            <a:ext cx="1016000" cy="38100"/>
          </a:xfrm>
          <a:prstGeom prst="rect">
            <a:avLst/>
          </a:prstGeom>
          <a:solidFill>
            <a:srgbClr val="C9843E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60500"/>
            <a:ext cx="6858000" cy="1651000"/>
          </a:xfrm>
          <a:prstGeom prst="roundRect">
            <a:avLst>
              <a:gd name="adj" fmla="val 8000"/>
            </a:avLst>
          </a:prstGeom>
          <a:solidFill>
            <a:srgbClr val="E8F0F1"/>
          </a:solidFill>
          <a:ln/>
        </p:spPr>
      </p:sp>
      <p:sp>
        <p:nvSpPr>
          <p:cNvPr id="6" name="Shape 4"/>
          <p:cNvSpPr/>
          <p:nvPr/>
        </p:nvSpPr>
        <p:spPr>
          <a:xfrm>
            <a:off x="1079500" y="165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28714" y="171450"/>
                </a:moveTo>
                <a:lnTo>
                  <a:pt x="435769" y="171450"/>
                </a:lnTo>
                <a:cubicBezTo>
                  <a:pt x="447645" y="171450"/>
                  <a:pt x="457200" y="161895"/>
                  <a:pt x="457200" y="150019"/>
                </a:cubicBezTo>
                <a:lnTo>
                  <a:pt x="457200" y="21431"/>
                </a:lnTo>
                <a:cubicBezTo>
                  <a:pt x="457200" y="12769"/>
                  <a:pt x="452021" y="4911"/>
                  <a:pt x="443984" y="1607"/>
                </a:cubicBezTo>
                <a:cubicBezTo>
                  <a:pt x="435947" y="-1697"/>
                  <a:pt x="426750" y="179"/>
                  <a:pt x="420588" y="6251"/>
                </a:cubicBezTo>
                <a:lnTo>
                  <a:pt x="374422" y="52507"/>
                </a:lnTo>
                <a:cubicBezTo>
                  <a:pt x="334863" y="19735"/>
                  <a:pt x="283964" y="0"/>
                  <a:pt x="228600" y="0"/>
                </a:cubicBezTo>
                <a:cubicBezTo>
                  <a:pt x="113407" y="0"/>
                  <a:pt x="18127" y="85189"/>
                  <a:pt x="2322" y="196007"/>
                </a:cubicBezTo>
                <a:cubicBezTo>
                  <a:pt x="89" y="211634"/>
                  <a:pt x="10894" y="226100"/>
                  <a:pt x="26521" y="228332"/>
                </a:cubicBezTo>
                <a:cubicBezTo>
                  <a:pt x="42148" y="230565"/>
                  <a:pt x="56614" y="219670"/>
                  <a:pt x="58847" y="204133"/>
                </a:cubicBezTo>
                <a:cubicBezTo>
                  <a:pt x="70723" y="120997"/>
                  <a:pt x="142250" y="57150"/>
                  <a:pt x="228600" y="57150"/>
                </a:cubicBezTo>
                <a:cubicBezTo>
                  <a:pt x="268248" y="57150"/>
                  <a:pt x="304681" y="70545"/>
                  <a:pt x="333702" y="93137"/>
                </a:cubicBezTo>
                <a:lnTo>
                  <a:pt x="292001" y="134838"/>
                </a:lnTo>
                <a:cubicBezTo>
                  <a:pt x="285839" y="141000"/>
                  <a:pt x="284053" y="150197"/>
                  <a:pt x="287357" y="158234"/>
                </a:cubicBezTo>
                <a:cubicBezTo>
                  <a:pt x="290661" y="166271"/>
                  <a:pt x="298519" y="171450"/>
                  <a:pt x="307181" y="171450"/>
                </a:cubicBezTo>
                <a:lnTo>
                  <a:pt x="428714" y="171450"/>
                </a:lnTo>
                <a:close/>
                <a:moveTo>
                  <a:pt x="454968" y="261193"/>
                </a:moveTo>
                <a:cubicBezTo>
                  <a:pt x="457200" y="245566"/>
                  <a:pt x="446306" y="231100"/>
                  <a:pt x="430768" y="228868"/>
                </a:cubicBezTo>
                <a:cubicBezTo>
                  <a:pt x="415230" y="226635"/>
                  <a:pt x="400675" y="237530"/>
                  <a:pt x="398443" y="253067"/>
                </a:cubicBezTo>
                <a:cubicBezTo>
                  <a:pt x="386566" y="336113"/>
                  <a:pt x="315039" y="399961"/>
                  <a:pt x="228689" y="399961"/>
                </a:cubicBezTo>
                <a:cubicBezTo>
                  <a:pt x="189041" y="399961"/>
                  <a:pt x="152608" y="386566"/>
                  <a:pt x="123587" y="363974"/>
                </a:cubicBezTo>
                <a:lnTo>
                  <a:pt x="165199" y="322362"/>
                </a:lnTo>
                <a:cubicBezTo>
                  <a:pt x="171361" y="316200"/>
                  <a:pt x="173147" y="307003"/>
                  <a:pt x="169843" y="298966"/>
                </a:cubicBezTo>
                <a:cubicBezTo>
                  <a:pt x="166539" y="290929"/>
                  <a:pt x="158681" y="285750"/>
                  <a:pt x="150019" y="285750"/>
                </a:cubicBezTo>
                <a:lnTo>
                  <a:pt x="21431" y="285750"/>
                </a:lnTo>
                <a:cubicBezTo>
                  <a:pt x="9555" y="285750"/>
                  <a:pt x="0" y="295305"/>
                  <a:pt x="0" y="307181"/>
                </a:cubicBezTo>
                <a:lnTo>
                  <a:pt x="0" y="435769"/>
                </a:lnTo>
                <a:cubicBezTo>
                  <a:pt x="0" y="444431"/>
                  <a:pt x="5179" y="452289"/>
                  <a:pt x="13216" y="455593"/>
                </a:cubicBezTo>
                <a:cubicBezTo>
                  <a:pt x="21253" y="458897"/>
                  <a:pt x="30450" y="457021"/>
                  <a:pt x="36612" y="450949"/>
                </a:cubicBezTo>
                <a:lnTo>
                  <a:pt x="82867" y="404693"/>
                </a:lnTo>
                <a:cubicBezTo>
                  <a:pt x="122337" y="437465"/>
                  <a:pt x="173236" y="457200"/>
                  <a:pt x="228600" y="457200"/>
                </a:cubicBezTo>
                <a:cubicBezTo>
                  <a:pt x="343793" y="457200"/>
                  <a:pt x="439073" y="372011"/>
                  <a:pt x="454878" y="261193"/>
                </a:cubicBezTo>
                <a:close/>
              </a:path>
            </a:pathLst>
          </a:custGeom>
          <a:solidFill>
            <a:srgbClr val="1B3A3E"/>
          </a:solidFill>
          <a:ln/>
        </p:spPr>
      </p:sp>
      <p:sp>
        <p:nvSpPr>
          <p:cNvPr id="7" name="Text 5"/>
          <p:cNvSpPr/>
          <p:nvPr/>
        </p:nvSpPr>
        <p:spPr>
          <a:xfrm>
            <a:off x="1714500" y="1651000"/>
            <a:ext cx="558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79500" y="2222500"/>
            <a:ext cx="622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Automatically updates or deletes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related records.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62000" y="3429000"/>
            <a:ext cx="685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 with ON DELETE CASCADE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62000" y="4000500"/>
            <a:ext cx="6858000" cy="2413000"/>
          </a:xfrm>
          <a:prstGeom prst="roundRect">
            <a:avLst>
              <a:gd name="adj" fmla="val 8000"/>
            </a:avLst>
          </a:prstGeom>
          <a:solidFill>
            <a:srgbClr val="152E31"/>
          </a:solidFill>
          <a:ln/>
        </p:spPr>
      </p:sp>
      <p:sp>
        <p:nvSpPr>
          <p:cNvPr id="11" name="Text 9"/>
          <p:cNvSpPr/>
          <p:nvPr/>
        </p:nvSpPr>
        <p:spPr>
          <a:xfrm>
            <a:off x="1079500" y="4064000"/>
            <a:ext cx="6223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FOREIGN KEY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(CustomerID)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REFERENCES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Customers(CustomerID)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 DELETE CASCADE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6731000"/>
            <a:ext cx="6858000" cy="889000"/>
          </a:xfrm>
          <a:prstGeom prst="roundRect">
            <a:avLst>
              <a:gd name="adj" fmla="val 8000"/>
            </a:avLst>
          </a:prstGeom>
          <a:solidFill>
            <a:srgbClr val="E8F0F1"/>
          </a:solidFill>
          <a:ln/>
        </p:spPr>
      </p:sp>
      <p:sp>
        <p:nvSpPr>
          <p:cNvPr id="13" name="Shape 11"/>
          <p:cNvSpPr/>
          <p:nvPr/>
        </p:nvSpPr>
        <p:spPr>
          <a:xfrm>
            <a:off x="1079500" y="6985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77800" y="94456"/>
                </a:moveTo>
                <a:cubicBezTo>
                  <a:pt x="187037" y="94456"/>
                  <a:pt x="194469" y="101888"/>
                  <a:pt x="194469" y="111125"/>
                </a:cubicBezTo>
                <a:lnTo>
                  <a:pt x="194469" y="188913"/>
                </a:lnTo>
                <a:cubicBezTo>
                  <a:pt x="194469" y="198150"/>
                  <a:pt x="187037" y="205581"/>
                  <a:pt x="177800" y="205581"/>
                </a:cubicBezTo>
                <a:cubicBezTo>
                  <a:pt x="168563" y="205581"/>
                  <a:pt x="161131" y="198150"/>
                  <a:pt x="161131" y="188913"/>
                </a:cubicBezTo>
                <a:lnTo>
                  <a:pt x="161131" y="111125"/>
                </a:lnTo>
                <a:cubicBezTo>
                  <a:pt x="161131" y="101888"/>
                  <a:pt x="168563" y="94456"/>
                  <a:pt x="177800" y="94456"/>
                </a:cubicBezTo>
                <a:close/>
                <a:moveTo>
                  <a:pt x="159256" y="244475"/>
                </a:moveTo>
                <a:cubicBezTo>
                  <a:pt x="158834" y="237592"/>
                  <a:pt x="162267" y="231043"/>
                  <a:pt x="168168" y="227474"/>
                </a:cubicBezTo>
                <a:cubicBezTo>
                  <a:pt x="174068" y="223904"/>
                  <a:pt x="181462" y="223904"/>
                  <a:pt x="187363" y="227474"/>
                </a:cubicBezTo>
                <a:cubicBezTo>
                  <a:pt x="193264" y="231043"/>
                  <a:pt x="196696" y="237592"/>
                  <a:pt x="196275" y="244475"/>
                </a:cubicBezTo>
                <a:cubicBezTo>
                  <a:pt x="196696" y="251358"/>
                  <a:pt x="193264" y="257907"/>
                  <a:pt x="187363" y="261476"/>
                </a:cubicBezTo>
                <a:cubicBezTo>
                  <a:pt x="181462" y="265046"/>
                  <a:pt x="174068" y="265046"/>
                  <a:pt x="168168" y="261476"/>
                </a:cubicBezTo>
                <a:cubicBezTo>
                  <a:pt x="162267" y="257907"/>
                  <a:pt x="158834" y="251358"/>
                  <a:pt x="159256" y="244475"/>
                </a:cubicBezTo>
                <a:close/>
              </a:path>
            </a:pathLst>
          </a:custGeom>
          <a:solidFill>
            <a:srgbClr val="C9843E"/>
          </a:solidFill>
          <a:ln/>
        </p:spPr>
      </p:sp>
      <p:sp>
        <p:nvSpPr>
          <p:cNvPr id="14" name="Text 12"/>
          <p:cNvSpPr/>
          <p:nvPr/>
        </p:nvSpPr>
        <p:spPr>
          <a:xfrm>
            <a:off x="1587500" y="6731000"/>
            <a:ext cx="5778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If customer deleted,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related orders also deleted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128000" y="1460500"/>
            <a:ext cx="7366000" cy="5842000"/>
          </a:xfrm>
          <a:prstGeom prst="roundRect">
            <a:avLst>
              <a:gd name="adj" fmla="val 8000"/>
            </a:avLst>
          </a:prstGeom>
          <a:solidFill>
            <a:srgbClr val="1B3A3E"/>
          </a:solidFill>
          <a:ln/>
        </p:spPr>
      </p:sp>
      <p:sp>
        <p:nvSpPr>
          <p:cNvPr id="16" name="Shape 14"/>
          <p:cNvSpPr/>
          <p:nvPr/>
        </p:nvSpPr>
        <p:spPr>
          <a:xfrm>
            <a:off x="8547100" y="17780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162758" y="7025"/>
                </a:moveTo>
                <a:cubicBezTo>
                  <a:pt x="167997" y="-8573"/>
                  <a:pt x="182523" y="-19050"/>
                  <a:pt x="198953" y="-19050"/>
                </a:cubicBezTo>
                <a:lnTo>
                  <a:pt x="334566" y="-19050"/>
                </a:lnTo>
                <a:cubicBezTo>
                  <a:pt x="350996" y="-19050"/>
                  <a:pt x="365522" y="-8572"/>
                  <a:pt x="370761" y="7025"/>
                </a:cubicBezTo>
                <a:lnTo>
                  <a:pt x="381000" y="38100"/>
                </a:lnTo>
                <a:lnTo>
                  <a:pt x="495300" y="38100"/>
                </a:lnTo>
                <a:cubicBezTo>
                  <a:pt x="516374" y="38100"/>
                  <a:pt x="533400" y="55126"/>
                  <a:pt x="533400" y="76200"/>
                </a:cubicBezTo>
                <a:cubicBezTo>
                  <a:pt x="533400" y="97274"/>
                  <a:pt x="516374" y="114300"/>
                  <a:pt x="495300" y="114300"/>
                </a:cubicBezTo>
                <a:lnTo>
                  <a:pt x="38100" y="114300"/>
                </a:lnTo>
                <a:cubicBezTo>
                  <a:pt x="17026" y="114300"/>
                  <a:pt x="0" y="97274"/>
                  <a:pt x="0" y="76200"/>
                </a:cubicBezTo>
                <a:cubicBezTo>
                  <a:pt x="0" y="55126"/>
                  <a:pt x="17026" y="38100"/>
                  <a:pt x="38100" y="38100"/>
                </a:cubicBezTo>
                <a:lnTo>
                  <a:pt x="152400" y="38100"/>
                </a:lnTo>
                <a:lnTo>
                  <a:pt x="162758" y="7025"/>
                </a:lnTo>
                <a:close/>
                <a:moveTo>
                  <a:pt x="38100" y="171450"/>
                </a:moveTo>
                <a:lnTo>
                  <a:pt x="495300" y="171450"/>
                </a:lnTo>
                <a:lnTo>
                  <a:pt x="495300" y="533400"/>
                </a:lnTo>
                <a:cubicBezTo>
                  <a:pt x="495300" y="575429"/>
                  <a:pt x="461129" y="609600"/>
                  <a:pt x="419100" y="609600"/>
                </a:cubicBezTo>
                <a:lnTo>
                  <a:pt x="114300" y="609600"/>
                </a:lnTo>
                <a:cubicBezTo>
                  <a:pt x="72271" y="609600"/>
                  <a:pt x="38100" y="575429"/>
                  <a:pt x="38100" y="533400"/>
                </a:cubicBezTo>
                <a:lnTo>
                  <a:pt x="38100" y="171450"/>
                </a:lnTo>
                <a:close/>
                <a:moveTo>
                  <a:pt x="142875" y="247650"/>
                </a:moveTo>
                <a:cubicBezTo>
                  <a:pt x="127040" y="247650"/>
                  <a:pt x="114300" y="260390"/>
                  <a:pt x="114300" y="276225"/>
                </a:cubicBezTo>
                <a:lnTo>
                  <a:pt x="114300" y="504825"/>
                </a:lnTo>
                <a:cubicBezTo>
                  <a:pt x="114300" y="520660"/>
                  <a:pt x="127040" y="533400"/>
                  <a:pt x="142875" y="533400"/>
                </a:cubicBezTo>
                <a:cubicBezTo>
                  <a:pt x="158710" y="533400"/>
                  <a:pt x="171450" y="520660"/>
                  <a:pt x="171450" y="504825"/>
                </a:cubicBezTo>
                <a:lnTo>
                  <a:pt x="171450" y="276225"/>
                </a:lnTo>
                <a:cubicBezTo>
                  <a:pt x="171450" y="260390"/>
                  <a:pt x="158710" y="247650"/>
                  <a:pt x="142875" y="247650"/>
                </a:cubicBezTo>
                <a:close/>
                <a:moveTo>
                  <a:pt x="266700" y="247650"/>
                </a:moveTo>
                <a:cubicBezTo>
                  <a:pt x="250865" y="247650"/>
                  <a:pt x="238125" y="260390"/>
                  <a:pt x="238125" y="276225"/>
                </a:cubicBezTo>
                <a:lnTo>
                  <a:pt x="238125" y="504825"/>
                </a:lnTo>
                <a:cubicBezTo>
                  <a:pt x="238125" y="520660"/>
                  <a:pt x="250865" y="533400"/>
                  <a:pt x="266700" y="533400"/>
                </a:cubicBezTo>
                <a:cubicBezTo>
                  <a:pt x="282535" y="533400"/>
                  <a:pt x="295275" y="520660"/>
                  <a:pt x="295275" y="504825"/>
                </a:cubicBezTo>
                <a:lnTo>
                  <a:pt x="295275" y="276225"/>
                </a:lnTo>
                <a:cubicBezTo>
                  <a:pt x="295275" y="260390"/>
                  <a:pt x="282535" y="247650"/>
                  <a:pt x="266700" y="247650"/>
                </a:cubicBezTo>
                <a:close/>
                <a:moveTo>
                  <a:pt x="390525" y="247650"/>
                </a:moveTo>
                <a:cubicBezTo>
                  <a:pt x="374690" y="247650"/>
                  <a:pt x="361950" y="260390"/>
                  <a:pt x="361950" y="276225"/>
                </a:cubicBezTo>
                <a:lnTo>
                  <a:pt x="361950" y="504825"/>
                </a:lnTo>
                <a:cubicBezTo>
                  <a:pt x="361950" y="520660"/>
                  <a:pt x="374690" y="533400"/>
                  <a:pt x="390525" y="533400"/>
                </a:cubicBezTo>
                <a:cubicBezTo>
                  <a:pt x="406360" y="533400"/>
                  <a:pt x="419100" y="520660"/>
                  <a:pt x="419100" y="504825"/>
                </a:cubicBezTo>
                <a:lnTo>
                  <a:pt x="419100" y="276225"/>
                </a:lnTo>
                <a:cubicBezTo>
                  <a:pt x="419100" y="260390"/>
                  <a:pt x="406360" y="247650"/>
                  <a:pt x="390525" y="247650"/>
                </a:cubicBezTo>
                <a:close/>
              </a:path>
            </a:pathLst>
          </a:custGeom>
          <a:solidFill>
            <a:srgbClr val="C9843E"/>
          </a:solidFill>
          <a:ln/>
        </p:spPr>
      </p:sp>
      <p:sp>
        <p:nvSpPr>
          <p:cNvPr id="17" name="Text 15"/>
          <p:cNvSpPr/>
          <p:nvPr/>
        </p:nvSpPr>
        <p:spPr>
          <a:xfrm>
            <a:off x="8509000" y="2667000"/>
            <a:ext cx="660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CASCADE Behavior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09000" y="33655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BEFORE DELETE</a:t>
            </a:r>
            <a:endParaRPr lang="en-US" sz="1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509000" y="3810000"/>
          <a:ext cx="3048000" cy="1270000"/>
        </p:xfrm>
        <a:graphic>
          <a:graphicData uri="http://schemas.openxmlformats.org/drawingml/2006/table">
            <a:tbl>
              <a:tblPr/>
              <a:tblGrid>
                <a:gridCol w="1524000"/>
                <a:gridCol w="152400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OrderID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CustID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3E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9969500" y="5143500"/>
            <a:ext cx="0" cy="381000"/>
          </a:xfrm>
          <a:prstGeom prst="straightConnector1">
            <a:avLst/>
          </a:prstGeom>
          <a:noFill/>
          <a:ln w="25400">
            <a:solidFill>
              <a:srgbClr val="C9843E"/>
            </a:solidFill>
            <a:prstDash val="solid"/>
            <a:headEnd type="none"/>
            <a:tailEnd type="arrow"/>
          </a:ln>
        </p:spPr>
      </p:sp>
      <p:sp>
        <p:nvSpPr>
          <p:cNvPr id="21" name="Text 18"/>
          <p:cNvSpPr/>
          <p:nvPr/>
        </p:nvSpPr>
        <p:spPr>
          <a:xfrm>
            <a:off x="8509000" y="5588000"/>
            <a:ext cx="304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DELETE Customer 101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509000" y="59055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AFTER DELETE</a:t>
            </a:r>
            <a:endParaRPr lang="en-US" sz="1600" dirty="0"/>
          </a:p>
        </p:txBody>
      </p:sp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509000" y="6350000"/>
          <a:ext cx="3048000" cy="825500"/>
        </p:xfrm>
        <a:graphic>
          <a:graphicData uri="http://schemas.openxmlformats.org/drawingml/2006/table">
            <a:tbl>
              <a:tblPr/>
              <a:tblGrid>
                <a:gridCol w="1524000"/>
                <a:gridCol w="1524000"/>
              </a:tblGrid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OrderID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CustID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3E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443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--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443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--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 20"/>
          <p:cNvSpPr/>
          <p:nvPr/>
        </p:nvSpPr>
        <p:spPr>
          <a:xfrm>
            <a:off x="11938000" y="3365500"/>
            <a:ext cx="3175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CASCADE Types: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C984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 DELETE CASCADE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C984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 UPDATE CASCADE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C984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 DELETE SET NULL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C984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 DELETE RESTRICT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14986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8A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0" y="635000"/>
            <a:ext cx="21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8A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Constraints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 Life Example — CASCADE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17600"/>
            <a:ext cx="1016000" cy="38100"/>
          </a:xfrm>
          <a:prstGeom prst="rect">
            <a:avLst/>
          </a:prstGeom>
          <a:solidFill>
            <a:srgbClr val="C9843E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147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Online Shopping System — Automatic Cleanup with CASCADE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62000" y="2349500"/>
            <a:ext cx="4445000" cy="1270000"/>
          </a:xfrm>
          <a:prstGeom prst="roundRect">
            <a:avLst>
              <a:gd name="adj" fmla="val 8000"/>
            </a:avLst>
          </a:prstGeom>
          <a:solidFill>
            <a:srgbClr val="1B3A3E"/>
          </a:solidFill>
          <a:ln/>
        </p:spPr>
      </p:sp>
      <p:sp>
        <p:nvSpPr>
          <p:cNvPr id="7" name="Shape 5"/>
          <p:cNvSpPr/>
          <p:nvPr/>
        </p:nvSpPr>
        <p:spPr>
          <a:xfrm>
            <a:off x="987425" y="2667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36612" y="-22235"/>
                </a:moveTo>
                <a:cubicBezTo>
                  <a:pt x="28218" y="-30629"/>
                  <a:pt x="14645" y="-30629"/>
                  <a:pt x="6340" y="-22235"/>
                </a:cubicBezTo>
                <a:cubicBezTo>
                  <a:pt x="-1965" y="-13841"/>
                  <a:pt x="-2054" y="-268"/>
                  <a:pt x="6251" y="8126"/>
                </a:cubicBezTo>
                <a:lnTo>
                  <a:pt x="477738" y="479614"/>
                </a:lnTo>
                <a:cubicBezTo>
                  <a:pt x="486132" y="488007"/>
                  <a:pt x="499705" y="488007"/>
                  <a:pt x="508010" y="479614"/>
                </a:cubicBezTo>
                <a:cubicBezTo>
                  <a:pt x="516315" y="471220"/>
                  <a:pt x="516404" y="457646"/>
                  <a:pt x="508010" y="449342"/>
                </a:cubicBezTo>
                <a:lnTo>
                  <a:pt x="278160" y="219402"/>
                </a:lnTo>
                <a:cubicBezTo>
                  <a:pt x="327273" y="209669"/>
                  <a:pt x="364331" y="166271"/>
                  <a:pt x="364331" y="114300"/>
                </a:cubicBezTo>
                <a:cubicBezTo>
                  <a:pt x="364331" y="55096"/>
                  <a:pt x="316379" y="7144"/>
                  <a:pt x="257175" y="7144"/>
                </a:cubicBezTo>
                <a:cubicBezTo>
                  <a:pt x="205204" y="7144"/>
                  <a:pt x="161806" y="44202"/>
                  <a:pt x="152073" y="93315"/>
                </a:cubicBezTo>
                <a:lnTo>
                  <a:pt x="36612" y="-22235"/>
                </a:lnTo>
                <a:close/>
                <a:moveTo>
                  <a:pt x="210383" y="272713"/>
                </a:moveTo>
                <a:cubicBezTo>
                  <a:pt x="132070" y="282714"/>
                  <a:pt x="71438" y="349597"/>
                  <a:pt x="71438" y="430679"/>
                </a:cubicBezTo>
                <a:cubicBezTo>
                  <a:pt x="71438" y="445324"/>
                  <a:pt x="83314" y="457200"/>
                  <a:pt x="97959" y="457200"/>
                </a:cubicBezTo>
                <a:lnTo>
                  <a:pt x="394871" y="457200"/>
                </a:lnTo>
                <a:lnTo>
                  <a:pt x="210383" y="272713"/>
                </a:lnTo>
                <a:close/>
              </a:path>
            </a:pathLst>
          </a:custGeom>
          <a:solidFill>
            <a:srgbClr val="C9843E"/>
          </a:solidFill>
          <a:ln/>
        </p:spPr>
      </p:sp>
      <p:sp>
        <p:nvSpPr>
          <p:cNvPr id="8" name="Text 6"/>
          <p:cNvSpPr/>
          <p:nvPr/>
        </p:nvSpPr>
        <p:spPr>
          <a:xfrm>
            <a:off x="1651000" y="2349500"/>
            <a:ext cx="330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account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removed from the system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34000" y="2857500"/>
            <a:ext cx="762000" cy="0"/>
          </a:xfrm>
          <a:prstGeom prst="straightConnector1">
            <a:avLst/>
          </a:prstGeom>
          <a:noFill/>
          <a:ln w="38100">
            <a:solidFill>
              <a:srgbClr val="C9843E"/>
            </a:solidFill>
            <a:prstDash val="solid"/>
            <a:headEnd type="none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6223000" y="2349500"/>
            <a:ext cx="4445000" cy="1270000"/>
          </a:xfrm>
          <a:prstGeom prst="roundRect">
            <a:avLst>
              <a:gd name="adj" fmla="val 8000"/>
            </a:avLst>
          </a:prstGeom>
          <a:solidFill>
            <a:srgbClr val="C9843E"/>
          </a:solidFill>
          <a:ln/>
        </p:spPr>
      </p:sp>
      <p:sp>
        <p:nvSpPr>
          <p:cNvPr id="11" name="Shape 9"/>
          <p:cNvSpPr/>
          <p:nvPr/>
        </p:nvSpPr>
        <p:spPr>
          <a:xfrm>
            <a:off x="6477000" y="2667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28714" y="171450"/>
                </a:moveTo>
                <a:lnTo>
                  <a:pt x="435769" y="171450"/>
                </a:lnTo>
                <a:cubicBezTo>
                  <a:pt x="447645" y="171450"/>
                  <a:pt x="457200" y="161895"/>
                  <a:pt x="457200" y="150019"/>
                </a:cubicBezTo>
                <a:lnTo>
                  <a:pt x="457200" y="21431"/>
                </a:lnTo>
                <a:cubicBezTo>
                  <a:pt x="457200" y="12769"/>
                  <a:pt x="452021" y="4911"/>
                  <a:pt x="443984" y="1607"/>
                </a:cubicBezTo>
                <a:cubicBezTo>
                  <a:pt x="435947" y="-1697"/>
                  <a:pt x="426750" y="179"/>
                  <a:pt x="420588" y="6251"/>
                </a:cubicBezTo>
                <a:lnTo>
                  <a:pt x="374422" y="52507"/>
                </a:lnTo>
                <a:cubicBezTo>
                  <a:pt x="334863" y="19735"/>
                  <a:pt x="283964" y="0"/>
                  <a:pt x="228600" y="0"/>
                </a:cubicBezTo>
                <a:cubicBezTo>
                  <a:pt x="113407" y="0"/>
                  <a:pt x="18127" y="85189"/>
                  <a:pt x="2322" y="196007"/>
                </a:cubicBezTo>
                <a:cubicBezTo>
                  <a:pt x="89" y="211634"/>
                  <a:pt x="10894" y="226100"/>
                  <a:pt x="26521" y="228332"/>
                </a:cubicBezTo>
                <a:cubicBezTo>
                  <a:pt x="42148" y="230565"/>
                  <a:pt x="56614" y="219670"/>
                  <a:pt x="58847" y="204133"/>
                </a:cubicBezTo>
                <a:cubicBezTo>
                  <a:pt x="70723" y="120997"/>
                  <a:pt x="142250" y="57150"/>
                  <a:pt x="228600" y="57150"/>
                </a:cubicBezTo>
                <a:cubicBezTo>
                  <a:pt x="268248" y="57150"/>
                  <a:pt x="304681" y="70545"/>
                  <a:pt x="333702" y="93137"/>
                </a:cubicBezTo>
                <a:lnTo>
                  <a:pt x="292001" y="134838"/>
                </a:lnTo>
                <a:cubicBezTo>
                  <a:pt x="285839" y="141000"/>
                  <a:pt x="284053" y="150197"/>
                  <a:pt x="287357" y="158234"/>
                </a:cubicBezTo>
                <a:cubicBezTo>
                  <a:pt x="290661" y="166271"/>
                  <a:pt x="298519" y="171450"/>
                  <a:pt x="307181" y="171450"/>
                </a:cubicBezTo>
                <a:lnTo>
                  <a:pt x="428714" y="171450"/>
                </a:lnTo>
                <a:close/>
                <a:moveTo>
                  <a:pt x="454968" y="261193"/>
                </a:moveTo>
                <a:cubicBezTo>
                  <a:pt x="457200" y="245566"/>
                  <a:pt x="446306" y="231100"/>
                  <a:pt x="430768" y="228868"/>
                </a:cubicBezTo>
                <a:cubicBezTo>
                  <a:pt x="415230" y="226635"/>
                  <a:pt x="400675" y="237530"/>
                  <a:pt x="398443" y="253067"/>
                </a:cubicBezTo>
                <a:cubicBezTo>
                  <a:pt x="386566" y="336113"/>
                  <a:pt x="315039" y="399961"/>
                  <a:pt x="228689" y="399961"/>
                </a:cubicBezTo>
                <a:cubicBezTo>
                  <a:pt x="189041" y="399961"/>
                  <a:pt x="152608" y="386566"/>
                  <a:pt x="123587" y="363974"/>
                </a:cubicBezTo>
                <a:lnTo>
                  <a:pt x="165199" y="322362"/>
                </a:lnTo>
                <a:cubicBezTo>
                  <a:pt x="171361" y="316200"/>
                  <a:pt x="173147" y="307003"/>
                  <a:pt x="169843" y="298966"/>
                </a:cubicBezTo>
                <a:cubicBezTo>
                  <a:pt x="166539" y="290929"/>
                  <a:pt x="158681" y="285750"/>
                  <a:pt x="150019" y="285750"/>
                </a:cubicBezTo>
                <a:lnTo>
                  <a:pt x="21431" y="285750"/>
                </a:lnTo>
                <a:cubicBezTo>
                  <a:pt x="9555" y="285750"/>
                  <a:pt x="0" y="295305"/>
                  <a:pt x="0" y="307181"/>
                </a:cubicBezTo>
                <a:lnTo>
                  <a:pt x="0" y="435769"/>
                </a:lnTo>
                <a:cubicBezTo>
                  <a:pt x="0" y="444431"/>
                  <a:pt x="5179" y="452289"/>
                  <a:pt x="13216" y="455593"/>
                </a:cubicBezTo>
                <a:cubicBezTo>
                  <a:pt x="21253" y="458897"/>
                  <a:pt x="30450" y="457021"/>
                  <a:pt x="36612" y="450949"/>
                </a:cubicBezTo>
                <a:lnTo>
                  <a:pt x="82867" y="404693"/>
                </a:lnTo>
                <a:cubicBezTo>
                  <a:pt x="122337" y="437465"/>
                  <a:pt x="173236" y="457200"/>
                  <a:pt x="228600" y="457200"/>
                </a:cubicBezTo>
                <a:cubicBezTo>
                  <a:pt x="343793" y="457200"/>
                  <a:pt x="439073" y="372011"/>
                  <a:pt x="454878" y="26119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7112000" y="2349500"/>
            <a:ext cx="330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CASCADE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automatically triggers on related records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795000" y="2857500"/>
            <a:ext cx="762000" cy="0"/>
          </a:xfrm>
          <a:prstGeom prst="straightConnector1">
            <a:avLst/>
          </a:prstGeom>
          <a:noFill/>
          <a:ln w="38100">
            <a:solidFill>
              <a:srgbClr val="C9843E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11684000" y="2349500"/>
            <a:ext cx="3810000" cy="1270000"/>
          </a:xfrm>
          <a:prstGeom prst="roundRect">
            <a:avLst>
              <a:gd name="adj" fmla="val 8000"/>
            </a:avLst>
          </a:prstGeom>
          <a:solidFill>
            <a:srgbClr val="2A5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11966575" y="2667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122069" y="5269"/>
                </a:moveTo>
                <a:cubicBezTo>
                  <a:pt x="125998" y="-6429"/>
                  <a:pt x="136892" y="-14287"/>
                  <a:pt x="149215" y="-14287"/>
                </a:cubicBezTo>
                <a:lnTo>
                  <a:pt x="250924" y="-14287"/>
                </a:lnTo>
                <a:cubicBezTo>
                  <a:pt x="263247" y="-14287"/>
                  <a:pt x="274141" y="-6429"/>
                  <a:pt x="278070" y="5269"/>
                </a:cubicBezTo>
                <a:lnTo>
                  <a:pt x="285750" y="28575"/>
                </a:lnTo>
                <a:lnTo>
                  <a:pt x="371475" y="28575"/>
                </a:lnTo>
                <a:cubicBezTo>
                  <a:pt x="387281" y="28575"/>
                  <a:pt x="400050" y="41344"/>
                  <a:pt x="400050" y="57150"/>
                </a:cubicBezTo>
                <a:cubicBezTo>
                  <a:pt x="400050" y="72956"/>
                  <a:pt x="387281" y="85725"/>
                  <a:pt x="371475" y="85725"/>
                </a:cubicBezTo>
                <a:lnTo>
                  <a:pt x="28575" y="85725"/>
                </a:lnTo>
                <a:cubicBezTo>
                  <a:pt x="12769" y="85725"/>
                  <a:pt x="0" y="72956"/>
                  <a:pt x="0" y="57150"/>
                </a:cubicBezTo>
                <a:cubicBezTo>
                  <a:pt x="0" y="41344"/>
                  <a:pt x="12769" y="28575"/>
                  <a:pt x="28575" y="28575"/>
                </a:cubicBezTo>
                <a:lnTo>
                  <a:pt x="114300" y="28575"/>
                </a:lnTo>
                <a:lnTo>
                  <a:pt x="122069" y="5269"/>
                </a:lnTo>
                <a:close/>
                <a:moveTo>
                  <a:pt x="28575" y="128588"/>
                </a:moveTo>
                <a:lnTo>
                  <a:pt x="371475" y="128588"/>
                </a:lnTo>
                <a:lnTo>
                  <a:pt x="371475" y="400050"/>
                </a:lnTo>
                <a:cubicBezTo>
                  <a:pt x="371475" y="431572"/>
                  <a:pt x="345847" y="457200"/>
                  <a:pt x="314325" y="457200"/>
                </a:cubicBezTo>
                <a:lnTo>
                  <a:pt x="85725" y="457200"/>
                </a:lnTo>
                <a:cubicBezTo>
                  <a:pt x="54203" y="457200"/>
                  <a:pt x="28575" y="431572"/>
                  <a:pt x="28575" y="400050"/>
                </a:cubicBezTo>
                <a:lnTo>
                  <a:pt x="28575" y="128588"/>
                </a:lnTo>
                <a:close/>
                <a:moveTo>
                  <a:pt x="107156" y="185738"/>
                </a:moveTo>
                <a:cubicBezTo>
                  <a:pt x="95280" y="185738"/>
                  <a:pt x="85725" y="195292"/>
                  <a:pt x="85725" y="207169"/>
                </a:cubicBezTo>
                <a:lnTo>
                  <a:pt x="85725" y="378619"/>
                </a:lnTo>
                <a:cubicBezTo>
                  <a:pt x="85725" y="390495"/>
                  <a:pt x="95280" y="400050"/>
                  <a:pt x="107156" y="400050"/>
                </a:cubicBezTo>
                <a:cubicBezTo>
                  <a:pt x="119033" y="400050"/>
                  <a:pt x="128588" y="390495"/>
                  <a:pt x="128588" y="378619"/>
                </a:cubicBezTo>
                <a:lnTo>
                  <a:pt x="128588" y="207169"/>
                </a:lnTo>
                <a:cubicBezTo>
                  <a:pt x="128588" y="195292"/>
                  <a:pt x="119033" y="185738"/>
                  <a:pt x="107156" y="185738"/>
                </a:cubicBezTo>
                <a:close/>
                <a:moveTo>
                  <a:pt x="200025" y="185738"/>
                </a:moveTo>
                <a:cubicBezTo>
                  <a:pt x="188149" y="185738"/>
                  <a:pt x="178594" y="195292"/>
                  <a:pt x="178594" y="207169"/>
                </a:cubicBezTo>
                <a:lnTo>
                  <a:pt x="178594" y="378619"/>
                </a:lnTo>
                <a:cubicBezTo>
                  <a:pt x="178594" y="390495"/>
                  <a:pt x="188149" y="400050"/>
                  <a:pt x="200025" y="400050"/>
                </a:cubicBezTo>
                <a:cubicBezTo>
                  <a:pt x="211901" y="400050"/>
                  <a:pt x="221456" y="390495"/>
                  <a:pt x="221456" y="378619"/>
                </a:cubicBezTo>
                <a:lnTo>
                  <a:pt x="221456" y="207169"/>
                </a:lnTo>
                <a:cubicBezTo>
                  <a:pt x="221456" y="195292"/>
                  <a:pt x="211901" y="185738"/>
                  <a:pt x="200025" y="185738"/>
                </a:cubicBezTo>
                <a:close/>
                <a:moveTo>
                  <a:pt x="292894" y="185738"/>
                </a:moveTo>
                <a:cubicBezTo>
                  <a:pt x="281017" y="185738"/>
                  <a:pt x="271463" y="195292"/>
                  <a:pt x="271463" y="207169"/>
                </a:cubicBezTo>
                <a:lnTo>
                  <a:pt x="271463" y="378619"/>
                </a:lnTo>
                <a:cubicBezTo>
                  <a:pt x="271463" y="390495"/>
                  <a:pt x="281017" y="400050"/>
                  <a:pt x="292894" y="400050"/>
                </a:cubicBezTo>
                <a:cubicBezTo>
                  <a:pt x="304770" y="400050"/>
                  <a:pt x="314325" y="390495"/>
                  <a:pt x="314325" y="378619"/>
                </a:cubicBezTo>
                <a:lnTo>
                  <a:pt x="314325" y="207169"/>
                </a:lnTo>
                <a:cubicBezTo>
                  <a:pt x="314325" y="195292"/>
                  <a:pt x="304770" y="185738"/>
                  <a:pt x="292894" y="185738"/>
                </a:cubicBezTo>
                <a:close/>
              </a:path>
            </a:pathLst>
          </a:custGeom>
          <a:solidFill>
            <a:srgbClr val="C9843E"/>
          </a:solidFill>
          <a:ln/>
        </p:spPr>
      </p:sp>
      <p:sp>
        <p:nvSpPr>
          <p:cNvPr id="16" name="Text 14"/>
          <p:cNvSpPr/>
          <p:nvPr/>
        </p:nvSpPr>
        <p:spPr>
          <a:xfrm>
            <a:off x="12573000" y="2349500"/>
            <a:ext cx="2667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linked orders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are also removed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4127500"/>
            <a:ext cx="14732000" cy="1270000"/>
          </a:xfrm>
          <a:prstGeom prst="roundRect">
            <a:avLst>
              <a:gd name="adj" fmla="val 6000"/>
            </a:avLst>
          </a:prstGeom>
          <a:solidFill>
            <a:srgbClr val="E8F0F1"/>
          </a:solidFill>
          <a:ln/>
        </p:spPr>
      </p:sp>
      <p:sp>
        <p:nvSpPr>
          <p:cNvPr id="18" name="Shape 16"/>
          <p:cNvSpPr/>
          <p:nvPr/>
        </p:nvSpPr>
        <p:spPr>
          <a:xfrm>
            <a:off x="1079500" y="4508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381000"/>
                </a:moveTo>
                <a:cubicBezTo>
                  <a:pt x="295640" y="381000"/>
                  <a:pt x="381000" y="295640"/>
                  <a:pt x="381000" y="190500"/>
                </a:cubicBezTo>
                <a:cubicBezTo>
                  <a:pt x="381000" y="85360"/>
                  <a:pt x="295640" y="0"/>
                  <a:pt x="190500" y="0"/>
                </a:cubicBezTo>
                <a:cubicBezTo>
                  <a:pt x="85360" y="0"/>
                  <a:pt x="0" y="85360"/>
                  <a:pt x="0" y="190500"/>
                </a:cubicBezTo>
                <a:cubicBezTo>
                  <a:pt x="0" y="295640"/>
                  <a:pt x="85360" y="381000"/>
                  <a:pt x="190500" y="381000"/>
                </a:cubicBezTo>
                <a:close/>
                <a:moveTo>
                  <a:pt x="253305" y="158279"/>
                </a:moveTo>
                <a:lnTo>
                  <a:pt x="193774" y="253529"/>
                </a:lnTo>
                <a:cubicBezTo>
                  <a:pt x="190649" y="258514"/>
                  <a:pt x="185291" y="261640"/>
                  <a:pt x="179412" y="261938"/>
                </a:cubicBezTo>
                <a:cubicBezTo>
                  <a:pt x="173534" y="262235"/>
                  <a:pt x="167878" y="259556"/>
                  <a:pt x="164381" y="254794"/>
                </a:cubicBezTo>
                <a:lnTo>
                  <a:pt x="128662" y="207169"/>
                </a:lnTo>
                <a:cubicBezTo>
                  <a:pt x="122709" y="199281"/>
                  <a:pt x="124346" y="188119"/>
                  <a:pt x="132234" y="182166"/>
                </a:cubicBezTo>
                <a:cubicBezTo>
                  <a:pt x="140122" y="176212"/>
                  <a:pt x="151284" y="177850"/>
                  <a:pt x="157237" y="185738"/>
                </a:cubicBezTo>
                <a:lnTo>
                  <a:pt x="177329" y="212527"/>
                </a:lnTo>
                <a:lnTo>
                  <a:pt x="223019" y="139378"/>
                </a:lnTo>
                <a:cubicBezTo>
                  <a:pt x="228228" y="131043"/>
                  <a:pt x="239241" y="128439"/>
                  <a:pt x="247650" y="133722"/>
                </a:cubicBezTo>
                <a:cubicBezTo>
                  <a:pt x="256059" y="139005"/>
                  <a:pt x="258589" y="149944"/>
                  <a:pt x="253305" y="158353"/>
                </a:cubicBezTo>
                <a:close/>
              </a:path>
            </a:pathLst>
          </a:custGeom>
          <a:solidFill>
            <a:srgbClr val="4CAF50"/>
          </a:solidFill>
          <a:ln/>
        </p:spPr>
      </p:sp>
      <p:sp>
        <p:nvSpPr>
          <p:cNvPr id="19" name="Text 17"/>
          <p:cNvSpPr/>
          <p:nvPr/>
        </p:nvSpPr>
        <p:spPr>
          <a:xfrm>
            <a:off x="1651000" y="4127500"/>
            <a:ext cx="1346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This prevents </a:t>
            </a:r>
            <a:pPr>
              <a:lnSpc>
                <a:spcPct val="150000"/>
              </a:lnSpc>
            </a:pPr>
            <a:r>
              <a:rPr lang="en-US" sz="2000" b="1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unused records</a:t>
            </a:r>
            <a:pPr>
              <a:lnSpc>
                <a:spcPct val="150000"/>
              </a:lnSpc>
            </a:pPr>
            <a:r>
              <a:rPr lang="en-US" sz="20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from remaining in the database. Without CASCADE, orders would become orphaned with no associated customer.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62000" y="5842000"/>
            <a:ext cx="147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 Implementation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762000" y="6477000"/>
            <a:ext cx="14732000" cy="1778000"/>
          </a:xfrm>
          <a:prstGeom prst="roundRect">
            <a:avLst>
              <a:gd name="adj" fmla="val 6000"/>
            </a:avLst>
          </a:prstGeom>
          <a:solidFill>
            <a:srgbClr val="152E31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6502400"/>
            <a:ext cx="13970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TABLE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Orders (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OrderID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CustomerID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FOREIGN KEY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(CustomerID)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REFERENCES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Customers(CustomerID)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 DELETE CASCADE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986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8A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0" y="635000"/>
            <a:ext cx="21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8A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Complete Example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Create Table Example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17600"/>
            <a:ext cx="1016000" cy="38100"/>
          </a:xfrm>
          <a:prstGeom prst="rect">
            <a:avLst/>
          </a:prstGeom>
          <a:solidFill>
            <a:srgbClr val="C9843E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60500"/>
            <a:ext cx="8890000" cy="3556000"/>
          </a:xfrm>
          <a:prstGeom prst="roundRect">
            <a:avLst>
              <a:gd name="adj" fmla="val 6000"/>
            </a:avLst>
          </a:prstGeom>
          <a:solidFill>
            <a:srgbClr val="152E31"/>
          </a:solidFill>
          <a:ln/>
        </p:spPr>
      </p:sp>
      <p:sp>
        <p:nvSpPr>
          <p:cNvPr id="6" name="Shape 4"/>
          <p:cNvSpPr/>
          <p:nvPr/>
        </p:nvSpPr>
        <p:spPr>
          <a:xfrm>
            <a:off x="1055688" y="16510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268486" y="893"/>
                </a:moveTo>
                <a:cubicBezTo>
                  <a:pt x="255836" y="-2753"/>
                  <a:pt x="242664" y="4614"/>
                  <a:pt x="239018" y="17264"/>
                </a:cubicBezTo>
                <a:lnTo>
                  <a:pt x="143768" y="350639"/>
                </a:lnTo>
                <a:cubicBezTo>
                  <a:pt x="140122" y="363289"/>
                  <a:pt x="147489" y="376461"/>
                  <a:pt x="160139" y="380107"/>
                </a:cubicBezTo>
                <a:cubicBezTo>
                  <a:pt x="172789" y="383753"/>
                  <a:pt x="185961" y="376386"/>
                  <a:pt x="189607" y="363736"/>
                </a:cubicBezTo>
                <a:lnTo>
                  <a:pt x="284857" y="30361"/>
                </a:lnTo>
                <a:cubicBezTo>
                  <a:pt x="288503" y="17711"/>
                  <a:pt x="281136" y="4539"/>
                  <a:pt x="268486" y="893"/>
                </a:cubicBezTo>
                <a:close/>
                <a:moveTo>
                  <a:pt x="316557" y="102171"/>
                </a:moveTo>
                <a:cubicBezTo>
                  <a:pt x="307256" y="111472"/>
                  <a:pt x="307256" y="126578"/>
                  <a:pt x="316557" y="135880"/>
                </a:cubicBezTo>
                <a:lnTo>
                  <a:pt x="371177" y="190500"/>
                </a:lnTo>
                <a:lnTo>
                  <a:pt x="316557" y="245120"/>
                </a:lnTo>
                <a:cubicBezTo>
                  <a:pt x="307256" y="254422"/>
                  <a:pt x="307256" y="269528"/>
                  <a:pt x="316557" y="278829"/>
                </a:cubicBezTo>
                <a:cubicBezTo>
                  <a:pt x="325859" y="288131"/>
                  <a:pt x="340965" y="288131"/>
                  <a:pt x="350267" y="278829"/>
                </a:cubicBezTo>
                <a:lnTo>
                  <a:pt x="421704" y="207392"/>
                </a:lnTo>
                <a:cubicBezTo>
                  <a:pt x="431006" y="198090"/>
                  <a:pt x="431006" y="182984"/>
                  <a:pt x="421704" y="173682"/>
                </a:cubicBezTo>
                <a:lnTo>
                  <a:pt x="350267" y="102245"/>
                </a:lnTo>
                <a:cubicBezTo>
                  <a:pt x="340965" y="92943"/>
                  <a:pt x="325859" y="92943"/>
                  <a:pt x="316557" y="102245"/>
                </a:cubicBezTo>
                <a:close/>
                <a:moveTo>
                  <a:pt x="112142" y="102171"/>
                </a:moveTo>
                <a:cubicBezTo>
                  <a:pt x="102840" y="92869"/>
                  <a:pt x="87734" y="92869"/>
                  <a:pt x="78432" y="102171"/>
                </a:cubicBezTo>
                <a:lnTo>
                  <a:pt x="6995" y="173608"/>
                </a:lnTo>
                <a:cubicBezTo>
                  <a:pt x="-2307" y="182910"/>
                  <a:pt x="-2307" y="198016"/>
                  <a:pt x="6995" y="207318"/>
                </a:cubicBezTo>
                <a:lnTo>
                  <a:pt x="78432" y="278755"/>
                </a:lnTo>
                <a:cubicBezTo>
                  <a:pt x="87734" y="288057"/>
                  <a:pt x="102840" y="288057"/>
                  <a:pt x="112142" y="278755"/>
                </a:cubicBezTo>
                <a:cubicBezTo>
                  <a:pt x="121444" y="269453"/>
                  <a:pt x="121444" y="254347"/>
                  <a:pt x="112142" y="245046"/>
                </a:cubicBezTo>
                <a:lnTo>
                  <a:pt x="57522" y="190500"/>
                </a:lnTo>
                <a:lnTo>
                  <a:pt x="112068" y="135880"/>
                </a:lnTo>
                <a:cubicBezTo>
                  <a:pt x="121369" y="126578"/>
                  <a:pt x="121369" y="111472"/>
                  <a:pt x="112068" y="102171"/>
                </a:cubicBezTo>
                <a:close/>
              </a:path>
            </a:pathLst>
          </a:custGeom>
          <a:solidFill>
            <a:srgbClr val="C9843E"/>
          </a:solidFill>
          <a:ln/>
        </p:spPr>
      </p:sp>
      <p:sp>
        <p:nvSpPr>
          <p:cNvPr id="7" name="Text 5"/>
          <p:cNvSpPr/>
          <p:nvPr/>
        </p:nvSpPr>
        <p:spPr>
          <a:xfrm>
            <a:off x="1587500" y="1651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 SQL CODE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" y="2222500"/>
            <a:ext cx="8255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TABLE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Students (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StudentID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 PRIMARY KEY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Name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VARCHAR(50) NOT NULL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Email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VARCHAR(100) UNIQUE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City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VARCHAR(30) DEFAULT 'Lahore'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53340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Constraints Applied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62000" y="6032500"/>
            <a:ext cx="2032000" cy="571500"/>
          </a:xfrm>
          <a:prstGeom prst="roundRect">
            <a:avLst>
              <a:gd name="adj" fmla="val 12000"/>
            </a:avLst>
          </a:prstGeom>
          <a:solidFill>
            <a:srgbClr val="1B3A3E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6032500"/>
            <a:ext cx="203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PRIMARY KEY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984500" y="6032500"/>
            <a:ext cx="2032000" cy="571500"/>
          </a:xfrm>
          <a:prstGeom prst="roundRect">
            <a:avLst>
              <a:gd name="adj" fmla="val 12000"/>
            </a:avLst>
          </a:prstGeom>
          <a:solidFill>
            <a:srgbClr val="1B3A3E"/>
          </a:solidFill>
          <a:ln/>
        </p:spPr>
      </p:sp>
      <p:sp>
        <p:nvSpPr>
          <p:cNvPr id="13" name="Text 11"/>
          <p:cNvSpPr/>
          <p:nvPr/>
        </p:nvSpPr>
        <p:spPr>
          <a:xfrm>
            <a:off x="2984500" y="6032500"/>
            <a:ext cx="203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 NULL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207000" y="6032500"/>
            <a:ext cx="2032000" cy="571500"/>
          </a:xfrm>
          <a:prstGeom prst="roundRect">
            <a:avLst>
              <a:gd name="adj" fmla="val 12000"/>
            </a:avLst>
          </a:prstGeom>
          <a:solidFill>
            <a:srgbClr val="1B3A3E"/>
          </a:solidFill>
          <a:ln/>
        </p:spPr>
      </p:sp>
      <p:sp>
        <p:nvSpPr>
          <p:cNvPr id="15" name="Text 13"/>
          <p:cNvSpPr/>
          <p:nvPr/>
        </p:nvSpPr>
        <p:spPr>
          <a:xfrm>
            <a:off x="5207000" y="6032500"/>
            <a:ext cx="203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UNIQUE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429500" y="6032500"/>
            <a:ext cx="2032000" cy="571500"/>
          </a:xfrm>
          <a:prstGeom prst="roundRect">
            <a:avLst>
              <a:gd name="adj" fmla="val 12000"/>
            </a:avLst>
          </a:prstGeom>
          <a:solidFill>
            <a:srgbClr val="1B3A3E"/>
          </a:solidFill>
          <a:ln/>
        </p:spPr>
      </p:sp>
      <p:sp>
        <p:nvSpPr>
          <p:cNvPr id="17" name="Text 15"/>
          <p:cNvSpPr/>
          <p:nvPr/>
        </p:nvSpPr>
        <p:spPr>
          <a:xfrm>
            <a:off x="7429500" y="6032500"/>
            <a:ext cx="203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DEFAULT</a:t>
            </a:r>
            <a:endParaRPr lang="en-US" sz="16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6921500"/>
          <a:ext cx="8890000" cy="1270000"/>
        </p:xfrm>
        <a:graphic>
          <a:graphicData uri="http://schemas.openxmlformats.org/drawingml/2006/table">
            <a:tbl>
              <a:tblPr/>
              <a:tblGrid>
                <a:gridCol w="2222500"/>
                <a:gridCol w="3111500"/>
                <a:gridCol w="1778000"/>
                <a:gridCol w="177800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StudentID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Email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City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3E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ali@mail.com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Lahore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Sara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sara@mail.com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Lahore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10033000" y="1460500"/>
            <a:ext cx="5461000" cy="5842000"/>
          </a:xfrm>
          <a:prstGeom prst="roundRect">
            <a:avLst>
              <a:gd name="adj" fmla="val 8000"/>
            </a:avLst>
          </a:prstGeom>
          <a:solidFill>
            <a:srgbClr val="1B3A3E"/>
          </a:solidFill>
          <a:ln/>
        </p:spPr>
      </p:sp>
      <p:sp>
        <p:nvSpPr>
          <p:cNvPr id="20" name="Shape 17"/>
          <p:cNvSpPr/>
          <p:nvPr/>
        </p:nvSpPr>
        <p:spPr>
          <a:xfrm>
            <a:off x="10490200" y="1778000"/>
            <a:ext cx="457200" cy="609600"/>
          </a:xfrm>
          <a:custGeom>
            <a:avLst/>
            <a:gdLst/>
            <a:ahLst/>
            <a:cxnLst/>
            <a:rect l="l" t="t" r="r" b="b"/>
            <a:pathLst>
              <a:path w="457200" h="609600">
                <a:moveTo>
                  <a:pt x="370761" y="38100"/>
                </a:moveTo>
                <a:lnTo>
                  <a:pt x="381000" y="38100"/>
                </a:lnTo>
                <a:cubicBezTo>
                  <a:pt x="423029" y="38100"/>
                  <a:pt x="457200" y="72271"/>
                  <a:pt x="457200" y="114300"/>
                </a:cubicBezTo>
                <a:lnTo>
                  <a:pt x="457200" y="533400"/>
                </a:lnTo>
                <a:cubicBezTo>
                  <a:pt x="457200" y="575429"/>
                  <a:pt x="423029" y="609600"/>
                  <a:pt x="381000" y="609600"/>
                </a:cubicBezTo>
                <a:lnTo>
                  <a:pt x="76200" y="609600"/>
                </a:lnTo>
                <a:cubicBezTo>
                  <a:pt x="34171" y="609600"/>
                  <a:pt x="0" y="575429"/>
                  <a:pt x="0" y="533400"/>
                </a:cubicBezTo>
                <a:lnTo>
                  <a:pt x="0" y="114300"/>
                </a:lnTo>
                <a:cubicBezTo>
                  <a:pt x="0" y="72271"/>
                  <a:pt x="34171" y="38100"/>
                  <a:pt x="76200" y="38100"/>
                </a:cubicBezTo>
                <a:lnTo>
                  <a:pt x="86439" y="38100"/>
                </a:lnTo>
                <a:cubicBezTo>
                  <a:pt x="99536" y="15359"/>
                  <a:pt x="124182" y="0"/>
                  <a:pt x="152400" y="0"/>
                </a:cubicBezTo>
                <a:lnTo>
                  <a:pt x="304800" y="0"/>
                </a:lnTo>
                <a:cubicBezTo>
                  <a:pt x="333018" y="0"/>
                  <a:pt x="357664" y="15359"/>
                  <a:pt x="370761" y="38100"/>
                </a:cubicBezTo>
                <a:close/>
                <a:moveTo>
                  <a:pt x="295275" y="133350"/>
                </a:moveTo>
                <a:cubicBezTo>
                  <a:pt x="311110" y="133350"/>
                  <a:pt x="323850" y="120610"/>
                  <a:pt x="323850" y="104775"/>
                </a:cubicBezTo>
                <a:cubicBezTo>
                  <a:pt x="323850" y="88940"/>
                  <a:pt x="311110" y="76200"/>
                  <a:pt x="295275" y="76200"/>
                </a:cubicBezTo>
                <a:lnTo>
                  <a:pt x="161925" y="76200"/>
                </a:lnTo>
                <a:cubicBezTo>
                  <a:pt x="146090" y="76200"/>
                  <a:pt x="133350" y="88940"/>
                  <a:pt x="133350" y="104775"/>
                </a:cubicBezTo>
                <a:cubicBezTo>
                  <a:pt x="133350" y="120610"/>
                  <a:pt x="146090" y="133350"/>
                  <a:pt x="161925" y="133350"/>
                </a:cubicBezTo>
                <a:lnTo>
                  <a:pt x="295275" y="133350"/>
                </a:lnTo>
                <a:close/>
                <a:moveTo>
                  <a:pt x="329089" y="310396"/>
                </a:moveTo>
                <a:cubicBezTo>
                  <a:pt x="337423" y="297061"/>
                  <a:pt x="333375" y="279440"/>
                  <a:pt x="320040" y="270986"/>
                </a:cubicBezTo>
                <a:cubicBezTo>
                  <a:pt x="306705" y="262533"/>
                  <a:pt x="289084" y="266700"/>
                  <a:pt x="280630" y="280035"/>
                </a:cubicBezTo>
                <a:lnTo>
                  <a:pt x="207526" y="397073"/>
                </a:lnTo>
                <a:lnTo>
                  <a:pt x="175379" y="354211"/>
                </a:lnTo>
                <a:cubicBezTo>
                  <a:pt x="165854" y="341590"/>
                  <a:pt x="147995" y="338971"/>
                  <a:pt x="135374" y="348496"/>
                </a:cubicBezTo>
                <a:cubicBezTo>
                  <a:pt x="122753" y="358021"/>
                  <a:pt x="120134" y="375880"/>
                  <a:pt x="129659" y="388501"/>
                </a:cubicBezTo>
                <a:lnTo>
                  <a:pt x="186809" y="464701"/>
                </a:lnTo>
                <a:cubicBezTo>
                  <a:pt x="192405" y="472202"/>
                  <a:pt x="201454" y="476488"/>
                  <a:pt x="210860" y="476131"/>
                </a:cubicBezTo>
                <a:cubicBezTo>
                  <a:pt x="220266" y="475774"/>
                  <a:pt x="228838" y="470773"/>
                  <a:pt x="233839" y="462677"/>
                </a:cubicBezTo>
                <a:lnTo>
                  <a:pt x="329089" y="310277"/>
                </a:lnTo>
                <a:close/>
              </a:path>
            </a:pathLst>
          </a:custGeom>
          <a:solidFill>
            <a:srgbClr val="C9843E"/>
          </a:solidFill>
          <a:ln/>
        </p:spPr>
      </p:sp>
      <p:sp>
        <p:nvSpPr>
          <p:cNvPr id="21" name="Text 18"/>
          <p:cNvSpPr/>
          <p:nvPr/>
        </p:nvSpPr>
        <p:spPr>
          <a:xfrm>
            <a:off x="10414000" y="2667000"/>
            <a:ext cx="469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Each Constraint Does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0414000" y="3365500"/>
            <a:ext cx="4699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600" b="1" dirty="0">
                <a:solidFill>
                  <a:srgbClr val="C984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 KEY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StudentID must be unique and not NULL</a:t>
            </a:r>
            <a:endParaRPr lang="en-US" sz="1600" dirty="0"/>
          </a:p>
          <a:p>
            <a:pPr>
              <a:lnSpc>
                <a:spcPct val="18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C984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NULL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Name cannot be left empty</a:t>
            </a:r>
            <a:endParaRPr lang="en-US" sz="1600" dirty="0"/>
          </a:p>
          <a:p>
            <a:pPr>
              <a:lnSpc>
                <a:spcPct val="18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C984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UNIQUE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two students can share an email</a:t>
            </a:r>
            <a:endParaRPr lang="en-US" sz="1600" dirty="0"/>
          </a:p>
          <a:p>
            <a:pPr>
              <a:lnSpc>
                <a:spcPct val="18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C984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DEFAULT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City becomes "Lahore" if not specified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4986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8A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0" y="635000"/>
            <a:ext cx="21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8A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Table Commands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DESC Table Command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17600"/>
            <a:ext cx="1016000" cy="38100"/>
          </a:xfrm>
          <a:prstGeom prst="rect">
            <a:avLst/>
          </a:prstGeom>
          <a:solidFill>
            <a:srgbClr val="C9843E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60500"/>
            <a:ext cx="6858000" cy="1841500"/>
          </a:xfrm>
          <a:prstGeom prst="roundRect">
            <a:avLst>
              <a:gd name="adj" fmla="val 8000"/>
            </a:avLst>
          </a:prstGeom>
          <a:solidFill>
            <a:srgbClr val="E8F0F1"/>
          </a:solidFill>
          <a:ln/>
        </p:spPr>
      </p:sp>
      <p:sp>
        <p:nvSpPr>
          <p:cNvPr id="6" name="Shape 4"/>
          <p:cNvSpPr/>
          <p:nvPr/>
        </p:nvSpPr>
        <p:spPr>
          <a:xfrm>
            <a:off x="1079500" y="165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5719" y="42863"/>
                </a:moveTo>
                <a:cubicBezTo>
                  <a:pt x="23842" y="42863"/>
                  <a:pt x="14288" y="52417"/>
                  <a:pt x="14288" y="64294"/>
                </a:cubicBezTo>
                <a:lnTo>
                  <a:pt x="14288" y="107156"/>
                </a:lnTo>
                <a:cubicBezTo>
                  <a:pt x="14288" y="119033"/>
                  <a:pt x="23842" y="128588"/>
                  <a:pt x="35719" y="128588"/>
                </a:cubicBezTo>
                <a:lnTo>
                  <a:pt x="78581" y="128588"/>
                </a:lnTo>
                <a:cubicBezTo>
                  <a:pt x="90458" y="128588"/>
                  <a:pt x="100013" y="119033"/>
                  <a:pt x="100013" y="107156"/>
                </a:cubicBezTo>
                <a:lnTo>
                  <a:pt x="100013" y="64294"/>
                </a:lnTo>
                <a:cubicBezTo>
                  <a:pt x="100013" y="52417"/>
                  <a:pt x="90458" y="42863"/>
                  <a:pt x="78581" y="42863"/>
                </a:cubicBezTo>
                <a:lnTo>
                  <a:pt x="35719" y="42863"/>
                </a:lnTo>
                <a:close/>
                <a:moveTo>
                  <a:pt x="171450" y="57150"/>
                </a:moveTo>
                <a:cubicBezTo>
                  <a:pt x="155644" y="57150"/>
                  <a:pt x="142875" y="69919"/>
                  <a:pt x="142875" y="85725"/>
                </a:cubicBezTo>
                <a:cubicBezTo>
                  <a:pt x="142875" y="101531"/>
                  <a:pt x="155644" y="114300"/>
                  <a:pt x="171450" y="114300"/>
                </a:cubicBezTo>
                <a:lnTo>
                  <a:pt x="428625" y="114300"/>
                </a:lnTo>
                <a:cubicBezTo>
                  <a:pt x="444431" y="114300"/>
                  <a:pt x="457200" y="101531"/>
                  <a:pt x="457200" y="85725"/>
                </a:cubicBezTo>
                <a:cubicBezTo>
                  <a:pt x="457200" y="69919"/>
                  <a:pt x="444431" y="57150"/>
                  <a:pt x="428625" y="57150"/>
                </a:cubicBezTo>
                <a:lnTo>
                  <a:pt x="171450" y="57150"/>
                </a:lnTo>
                <a:close/>
                <a:moveTo>
                  <a:pt x="171450" y="200025"/>
                </a:moveTo>
                <a:cubicBezTo>
                  <a:pt x="155644" y="200025"/>
                  <a:pt x="142875" y="212794"/>
                  <a:pt x="142875" y="228600"/>
                </a:cubicBezTo>
                <a:cubicBezTo>
                  <a:pt x="142875" y="244406"/>
                  <a:pt x="155644" y="257175"/>
                  <a:pt x="171450" y="257175"/>
                </a:cubicBezTo>
                <a:lnTo>
                  <a:pt x="428625" y="257175"/>
                </a:lnTo>
                <a:cubicBezTo>
                  <a:pt x="444431" y="257175"/>
                  <a:pt x="457200" y="244406"/>
                  <a:pt x="457200" y="228600"/>
                </a:cubicBezTo>
                <a:cubicBezTo>
                  <a:pt x="457200" y="212794"/>
                  <a:pt x="444431" y="200025"/>
                  <a:pt x="428625" y="200025"/>
                </a:cubicBezTo>
                <a:lnTo>
                  <a:pt x="171450" y="200025"/>
                </a:lnTo>
                <a:close/>
                <a:moveTo>
                  <a:pt x="171450" y="342900"/>
                </a:moveTo>
                <a:cubicBezTo>
                  <a:pt x="155644" y="342900"/>
                  <a:pt x="142875" y="355669"/>
                  <a:pt x="142875" y="371475"/>
                </a:cubicBezTo>
                <a:cubicBezTo>
                  <a:pt x="142875" y="387281"/>
                  <a:pt x="155644" y="400050"/>
                  <a:pt x="171450" y="400050"/>
                </a:cubicBezTo>
                <a:lnTo>
                  <a:pt x="428625" y="400050"/>
                </a:lnTo>
                <a:cubicBezTo>
                  <a:pt x="444431" y="400050"/>
                  <a:pt x="457200" y="387281"/>
                  <a:pt x="457200" y="371475"/>
                </a:cubicBezTo>
                <a:cubicBezTo>
                  <a:pt x="457200" y="355669"/>
                  <a:pt x="444431" y="342900"/>
                  <a:pt x="428625" y="342900"/>
                </a:cubicBezTo>
                <a:lnTo>
                  <a:pt x="171450" y="342900"/>
                </a:lnTo>
                <a:close/>
                <a:moveTo>
                  <a:pt x="14288" y="207169"/>
                </a:moveTo>
                <a:lnTo>
                  <a:pt x="14288" y="250031"/>
                </a:lnTo>
                <a:cubicBezTo>
                  <a:pt x="14288" y="261908"/>
                  <a:pt x="23842" y="271463"/>
                  <a:pt x="35719" y="271463"/>
                </a:cubicBezTo>
                <a:lnTo>
                  <a:pt x="78581" y="271463"/>
                </a:lnTo>
                <a:cubicBezTo>
                  <a:pt x="90458" y="271463"/>
                  <a:pt x="100013" y="261908"/>
                  <a:pt x="100013" y="250031"/>
                </a:cubicBezTo>
                <a:lnTo>
                  <a:pt x="100013" y="207169"/>
                </a:lnTo>
                <a:cubicBezTo>
                  <a:pt x="100013" y="195292"/>
                  <a:pt x="90458" y="185738"/>
                  <a:pt x="78581" y="185738"/>
                </a:cubicBezTo>
                <a:lnTo>
                  <a:pt x="35719" y="185738"/>
                </a:lnTo>
                <a:cubicBezTo>
                  <a:pt x="23842" y="185738"/>
                  <a:pt x="14288" y="195292"/>
                  <a:pt x="14288" y="207169"/>
                </a:cubicBezTo>
                <a:close/>
                <a:moveTo>
                  <a:pt x="35719" y="328613"/>
                </a:moveTo>
                <a:cubicBezTo>
                  <a:pt x="23842" y="328613"/>
                  <a:pt x="14288" y="338167"/>
                  <a:pt x="14288" y="350044"/>
                </a:cubicBezTo>
                <a:lnTo>
                  <a:pt x="14288" y="392906"/>
                </a:lnTo>
                <a:cubicBezTo>
                  <a:pt x="14288" y="404783"/>
                  <a:pt x="23842" y="414338"/>
                  <a:pt x="35719" y="414338"/>
                </a:cubicBezTo>
                <a:lnTo>
                  <a:pt x="78581" y="414338"/>
                </a:lnTo>
                <a:cubicBezTo>
                  <a:pt x="90458" y="414338"/>
                  <a:pt x="100013" y="404783"/>
                  <a:pt x="100013" y="392906"/>
                </a:cubicBezTo>
                <a:lnTo>
                  <a:pt x="100013" y="350044"/>
                </a:lnTo>
                <a:cubicBezTo>
                  <a:pt x="100013" y="338167"/>
                  <a:pt x="90458" y="328613"/>
                  <a:pt x="78581" y="328613"/>
                </a:cubicBezTo>
                <a:lnTo>
                  <a:pt x="35719" y="328613"/>
                </a:lnTo>
                <a:close/>
              </a:path>
            </a:pathLst>
          </a:custGeom>
          <a:solidFill>
            <a:srgbClr val="1B3A3E"/>
          </a:solidFill>
          <a:ln/>
        </p:spPr>
      </p:sp>
      <p:sp>
        <p:nvSpPr>
          <p:cNvPr id="7" name="Text 5"/>
          <p:cNvSpPr/>
          <p:nvPr/>
        </p:nvSpPr>
        <p:spPr>
          <a:xfrm>
            <a:off x="1714500" y="1651000"/>
            <a:ext cx="558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79500" y="2222500"/>
            <a:ext cx="6223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Displays the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structure of a table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columns, datatypes, and constraints.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62000" y="3429000"/>
            <a:ext cx="685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62000" y="4000500"/>
            <a:ext cx="6858000" cy="889000"/>
          </a:xfrm>
          <a:prstGeom prst="roundRect">
            <a:avLst>
              <a:gd name="adj" fmla="val 8000"/>
            </a:avLst>
          </a:prstGeom>
          <a:solidFill>
            <a:srgbClr val="152E31"/>
          </a:solidFill>
          <a:ln/>
        </p:spPr>
      </p:sp>
      <p:sp>
        <p:nvSpPr>
          <p:cNvPr id="11" name="Text 9"/>
          <p:cNvSpPr/>
          <p:nvPr/>
        </p:nvSpPr>
        <p:spPr>
          <a:xfrm>
            <a:off x="1079500" y="4000500"/>
            <a:ext cx="6223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DESC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table_name;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2000" y="5270500"/>
            <a:ext cx="685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62000" y="5842000"/>
            <a:ext cx="6858000" cy="889000"/>
          </a:xfrm>
          <a:prstGeom prst="roundRect">
            <a:avLst>
              <a:gd name="adj" fmla="val 8000"/>
            </a:avLst>
          </a:prstGeom>
          <a:solidFill>
            <a:srgbClr val="152E31"/>
          </a:solidFill>
          <a:ln/>
        </p:spPr>
      </p:sp>
      <p:sp>
        <p:nvSpPr>
          <p:cNvPr id="14" name="Text 12"/>
          <p:cNvSpPr/>
          <p:nvPr/>
        </p:nvSpPr>
        <p:spPr>
          <a:xfrm>
            <a:off x="1079500" y="5842000"/>
            <a:ext cx="6223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DESC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Students;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62000" y="7048500"/>
            <a:ext cx="685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 Includes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62000" y="7620000"/>
            <a:ext cx="685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C984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Column names   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C984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Datatypes   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C984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Constraints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128000" y="1460500"/>
            <a:ext cx="7366000" cy="5842000"/>
          </a:xfrm>
          <a:prstGeom prst="roundRect">
            <a:avLst>
              <a:gd name="adj" fmla="val 8000"/>
            </a:avLst>
          </a:prstGeom>
          <a:solidFill>
            <a:srgbClr val="152E31"/>
          </a:solidFill>
          <a:ln/>
        </p:spPr>
      </p:sp>
      <p:sp>
        <p:nvSpPr>
          <p:cNvPr id="18" name="Shape 16"/>
          <p:cNvSpPr/>
          <p:nvPr/>
        </p:nvSpPr>
        <p:spPr>
          <a:xfrm>
            <a:off x="8509000" y="1714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8394" y="105906"/>
                </a:moveTo>
                <a:cubicBezTo>
                  <a:pt x="-2768" y="94744"/>
                  <a:pt x="-2768" y="76617"/>
                  <a:pt x="8394" y="65455"/>
                </a:cubicBezTo>
                <a:cubicBezTo>
                  <a:pt x="19556" y="54293"/>
                  <a:pt x="37683" y="54293"/>
                  <a:pt x="48845" y="65455"/>
                </a:cubicBezTo>
                <a:lnTo>
                  <a:pt x="191720" y="208330"/>
                </a:lnTo>
                <a:cubicBezTo>
                  <a:pt x="202883" y="219492"/>
                  <a:pt x="202883" y="237619"/>
                  <a:pt x="191720" y="248781"/>
                </a:cubicBezTo>
                <a:lnTo>
                  <a:pt x="48845" y="391656"/>
                </a:lnTo>
                <a:cubicBezTo>
                  <a:pt x="37683" y="402818"/>
                  <a:pt x="19556" y="402818"/>
                  <a:pt x="8394" y="391656"/>
                </a:cubicBezTo>
                <a:cubicBezTo>
                  <a:pt x="-2768" y="380494"/>
                  <a:pt x="-2768" y="362367"/>
                  <a:pt x="8394" y="351205"/>
                </a:cubicBezTo>
                <a:lnTo>
                  <a:pt x="130999" y="228600"/>
                </a:lnTo>
                <a:lnTo>
                  <a:pt x="8394" y="105906"/>
                </a:lnTo>
                <a:close/>
                <a:moveTo>
                  <a:pt x="200025" y="342900"/>
                </a:moveTo>
                <a:lnTo>
                  <a:pt x="428625" y="342900"/>
                </a:lnTo>
                <a:cubicBezTo>
                  <a:pt x="444431" y="342900"/>
                  <a:pt x="457200" y="355669"/>
                  <a:pt x="457200" y="371475"/>
                </a:cubicBezTo>
                <a:cubicBezTo>
                  <a:pt x="457200" y="387281"/>
                  <a:pt x="444431" y="400050"/>
                  <a:pt x="428625" y="400050"/>
                </a:cubicBezTo>
                <a:lnTo>
                  <a:pt x="200025" y="400050"/>
                </a:lnTo>
                <a:cubicBezTo>
                  <a:pt x="184219" y="400050"/>
                  <a:pt x="171450" y="387281"/>
                  <a:pt x="171450" y="371475"/>
                </a:cubicBezTo>
                <a:cubicBezTo>
                  <a:pt x="171450" y="355669"/>
                  <a:pt x="184219" y="342900"/>
                  <a:pt x="200025" y="342900"/>
                </a:cubicBezTo>
                <a:close/>
              </a:path>
            </a:pathLst>
          </a:custGeom>
          <a:solidFill>
            <a:srgbClr val="C9843E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0" y="1714500"/>
            <a:ext cx="596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Sample Output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09000" y="2476500"/>
            <a:ext cx="6604000" cy="444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6B8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mysql&gt;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DESC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Students;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+----------+--------------+------+-----+---------+-------+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| Field | Type | Null | Key | Default | Extra |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+----------+--------------+------+-----+---------+-------+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| StudentID|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| NO | PRI | NULL | |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| Name |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varchar(50)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| NO | | NULL | |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| Email |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varchar(100)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| YES | UNI | NULL | |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| City |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varchar(30)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| YES | | Lahore | |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+----------+--------------+------+-----+---------+-------+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6B8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 rows in set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986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8A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0" y="635000"/>
            <a:ext cx="21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8A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Drop Commands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DROP TABLE Command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17600"/>
            <a:ext cx="1016000" cy="38100"/>
          </a:xfrm>
          <a:prstGeom prst="rect">
            <a:avLst/>
          </a:prstGeom>
          <a:solidFill>
            <a:srgbClr val="C9843E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60500"/>
            <a:ext cx="14732000" cy="1651000"/>
          </a:xfrm>
          <a:prstGeom prst="roundRect">
            <a:avLst>
              <a:gd name="adj" fmla="val 8000"/>
            </a:avLst>
          </a:prstGeom>
          <a:solidFill>
            <a:srgbClr val="E8F0F1"/>
          </a:solidFill>
          <a:ln/>
        </p:spPr>
      </p:sp>
      <p:sp>
        <p:nvSpPr>
          <p:cNvPr id="6" name="Shape 4"/>
          <p:cNvSpPr/>
          <p:nvPr/>
        </p:nvSpPr>
        <p:spPr>
          <a:xfrm>
            <a:off x="1108075" y="17145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228600" y="142875"/>
                </a:moveTo>
                <a:lnTo>
                  <a:pt x="228600" y="228600"/>
                </a:lnTo>
                <a:lnTo>
                  <a:pt x="342900" y="228600"/>
                </a:lnTo>
                <a:lnTo>
                  <a:pt x="342900" y="142875"/>
                </a:lnTo>
                <a:lnTo>
                  <a:pt x="228600" y="142875"/>
                </a:lnTo>
                <a:close/>
                <a:moveTo>
                  <a:pt x="171450" y="142875"/>
                </a:moveTo>
                <a:lnTo>
                  <a:pt x="57150" y="142875"/>
                </a:lnTo>
                <a:lnTo>
                  <a:pt x="57150" y="228600"/>
                </a:lnTo>
                <a:lnTo>
                  <a:pt x="171450" y="228600"/>
                </a:lnTo>
                <a:lnTo>
                  <a:pt x="171450" y="142875"/>
                </a:lnTo>
                <a:close/>
                <a:moveTo>
                  <a:pt x="0" y="285750"/>
                </a:moveTo>
                <a:lnTo>
                  <a:pt x="0" y="85725"/>
                </a:lnTo>
                <a:cubicBezTo>
                  <a:pt x="0" y="54203"/>
                  <a:pt x="25628" y="28575"/>
                  <a:pt x="57150" y="28575"/>
                </a:cubicBezTo>
                <a:lnTo>
                  <a:pt x="342900" y="28575"/>
                </a:lnTo>
                <a:cubicBezTo>
                  <a:pt x="374422" y="28575"/>
                  <a:pt x="400050" y="54203"/>
                  <a:pt x="400050" y="85725"/>
                </a:cubicBezTo>
                <a:lnTo>
                  <a:pt x="400050" y="371475"/>
                </a:lnTo>
                <a:cubicBezTo>
                  <a:pt x="400050" y="402997"/>
                  <a:pt x="374422" y="428625"/>
                  <a:pt x="342900" y="428625"/>
                </a:cubicBezTo>
                <a:lnTo>
                  <a:pt x="57150" y="428625"/>
                </a:lnTo>
                <a:cubicBezTo>
                  <a:pt x="25628" y="428625"/>
                  <a:pt x="0" y="402997"/>
                  <a:pt x="0" y="371475"/>
                </a:cubicBezTo>
                <a:lnTo>
                  <a:pt x="0" y="285750"/>
                </a:lnTo>
                <a:close/>
                <a:moveTo>
                  <a:pt x="342900" y="285750"/>
                </a:moveTo>
                <a:lnTo>
                  <a:pt x="228600" y="285750"/>
                </a:lnTo>
                <a:lnTo>
                  <a:pt x="228600" y="371475"/>
                </a:lnTo>
                <a:lnTo>
                  <a:pt x="342900" y="371475"/>
                </a:lnTo>
                <a:lnTo>
                  <a:pt x="342900" y="285750"/>
                </a:lnTo>
                <a:close/>
                <a:moveTo>
                  <a:pt x="171450" y="371475"/>
                </a:moveTo>
                <a:lnTo>
                  <a:pt x="171450" y="285750"/>
                </a:lnTo>
                <a:lnTo>
                  <a:pt x="57150" y="285750"/>
                </a:lnTo>
                <a:lnTo>
                  <a:pt x="57150" y="371475"/>
                </a:lnTo>
                <a:lnTo>
                  <a:pt x="171450" y="371475"/>
                </a:lnTo>
                <a:close/>
              </a:path>
            </a:pathLst>
          </a:custGeom>
          <a:solidFill>
            <a:srgbClr val="1B3A3E"/>
          </a:solidFill>
          <a:ln/>
        </p:spPr>
      </p:sp>
      <p:sp>
        <p:nvSpPr>
          <p:cNvPr id="7" name="Text 5"/>
          <p:cNvSpPr/>
          <p:nvPr/>
        </p:nvSpPr>
        <p:spPr>
          <a:xfrm>
            <a:off x="1714500" y="1714500"/>
            <a:ext cx="134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79500" y="2286000"/>
            <a:ext cx="1397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Deletes a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table permanently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along with all its data. The entire table structure and all rows are removed.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62000" y="3492500"/>
            <a:ext cx="685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62000" y="4064000"/>
            <a:ext cx="6858000" cy="889000"/>
          </a:xfrm>
          <a:prstGeom prst="roundRect">
            <a:avLst>
              <a:gd name="adj" fmla="val 8000"/>
            </a:avLst>
          </a:prstGeom>
          <a:solidFill>
            <a:srgbClr val="152E31"/>
          </a:solidFill>
          <a:ln/>
        </p:spPr>
      </p:sp>
      <p:sp>
        <p:nvSpPr>
          <p:cNvPr id="11" name="Text 9"/>
          <p:cNvSpPr/>
          <p:nvPr/>
        </p:nvSpPr>
        <p:spPr>
          <a:xfrm>
            <a:off x="1079500" y="4064000"/>
            <a:ext cx="6223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DROP TABLE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table_name;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2000" y="5334000"/>
            <a:ext cx="685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62000" y="5905500"/>
            <a:ext cx="6858000" cy="889000"/>
          </a:xfrm>
          <a:prstGeom prst="roundRect">
            <a:avLst>
              <a:gd name="adj" fmla="val 8000"/>
            </a:avLst>
          </a:prstGeom>
          <a:solidFill>
            <a:srgbClr val="152E31"/>
          </a:solidFill>
          <a:ln/>
        </p:spPr>
      </p:sp>
      <p:sp>
        <p:nvSpPr>
          <p:cNvPr id="14" name="Text 12"/>
          <p:cNvSpPr/>
          <p:nvPr/>
        </p:nvSpPr>
        <p:spPr>
          <a:xfrm>
            <a:off x="1079500" y="5905500"/>
            <a:ext cx="6223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DROP TABLE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Students;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62000" y="7175500"/>
            <a:ext cx="6858000" cy="889000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25400">
            <a:solidFill>
              <a:srgbClr val="F4433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79500" y="742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F44336"/>
          </a:solidFill>
          <a:ln/>
        </p:spPr>
      </p:sp>
      <p:sp>
        <p:nvSpPr>
          <p:cNvPr id="17" name="Text 15"/>
          <p:cNvSpPr/>
          <p:nvPr/>
        </p:nvSpPr>
        <p:spPr>
          <a:xfrm>
            <a:off x="1587500" y="7175500"/>
            <a:ext cx="5778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F443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Warning: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This action cannot be undone!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128000" y="3492500"/>
            <a:ext cx="7366000" cy="4572000"/>
          </a:xfrm>
          <a:prstGeom prst="roundRect">
            <a:avLst>
              <a:gd name="adj" fmla="val 8000"/>
            </a:avLst>
          </a:prstGeom>
          <a:solidFill>
            <a:srgbClr val="1B3A3E"/>
          </a:solidFill>
          <a:ln/>
        </p:spPr>
      </p:sp>
      <p:sp>
        <p:nvSpPr>
          <p:cNvPr id="19" name="Shape 17"/>
          <p:cNvSpPr/>
          <p:nvPr/>
        </p:nvSpPr>
        <p:spPr>
          <a:xfrm>
            <a:off x="8547100" y="38100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162758" y="7025"/>
                </a:moveTo>
                <a:cubicBezTo>
                  <a:pt x="167997" y="-8573"/>
                  <a:pt x="182523" y="-19050"/>
                  <a:pt x="198953" y="-19050"/>
                </a:cubicBezTo>
                <a:lnTo>
                  <a:pt x="334566" y="-19050"/>
                </a:lnTo>
                <a:cubicBezTo>
                  <a:pt x="350996" y="-19050"/>
                  <a:pt x="365522" y="-8572"/>
                  <a:pt x="370761" y="7025"/>
                </a:cubicBezTo>
                <a:lnTo>
                  <a:pt x="381000" y="38100"/>
                </a:lnTo>
                <a:lnTo>
                  <a:pt x="495300" y="38100"/>
                </a:lnTo>
                <a:cubicBezTo>
                  <a:pt x="516374" y="38100"/>
                  <a:pt x="533400" y="55126"/>
                  <a:pt x="533400" y="76200"/>
                </a:cubicBezTo>
                <a:cubicBezTo>
                  <a:pt x="533400" y="97274"/>
                  <a:pt x="516374" y="114300"/>
                  <a:pt x="495300" y="114300"/>
                </a:cubicBezTo>
                <a:lnTo>
                  <a:pt x="38100" y="114300"/>
                </a:lnTo>
                <a:cubicBezTo>
                  <a:pt x="17026" y="114300"/>
                  <a:pt x="0" y="97274"/>
                  <a:pt x="0" y="76200"/>
                </a:cubicBezTo>
                <a:cubicBezTo>
                  <a:pt x="0" y="55126"/>
                  <a:pt x="17026" y="38100"/>
                  <a:pt x="38100" y="38100"/>
                </a:cubicBezTo>
                <a:lnTo>
                  <a:pt x="152400" y="38100"/>
                </a:lnTo>
                <a:lnTo>
                  <a:pt x="162758" y="7025"/>
                </a:lnTo>
                <a:close/>
                <a:moveTo>
                  <a:pt x="38100" y="171450"/>
                </a:moveTo>
                <a:lnTo>
                  <a:pt x="495300" y="171450"/>
                </a:lnTo>
                <a:lnTo>
                  <a:pt x="495300" y="533400"/>
                </a:lnTo>
                <a:cubicBezTo>
                  <a:pt x="495300" y="575429"/>
                  <a:pt x="461129" y="609600"/>
                  <a:pt x="419100" y="609600"/>
                </a:cubicBezTo>
                <a:lnTo>
                  <a:pt x="114300" y="609600"/>
                </a:lnTo>
                <a:cubicBezTo>
                  <a:pt x="72271" y="609600"/>
                  <a:pt x="38100" y="575429"/>
                  <a:pt x="38100" y="533400"/>
                </a:cubicBezTo>
                <a:lnTo>
                  <a:pt x="38100" y="171450"/>
                </a:lnTo>
                <a:close/>
                <a:moveTo>
                  <a:pt x="142875" y="247650"/>
                </a:moveTo>
                <a:cubicBezTo>
                  <a:pt x="127040" y="247650"/>
                  <a:pt x="114300" y="260390"/>
                  <a:pt x="114300" y="276225"/>
                </a:cubicBezTo>
                <a:lnTo>
                  <a:pt x="114300" y="504825"/>
                </a:lnTo>
                <a:cubicBezTo>
                  <a:pt x="114300" y="520660"/>
                  <a:pt x="127040" y="533400"/>
                  <a:pt x="142875" y="533400"/>
                </a:cubicBezTo>
                <a:cubicBezTo>
                  <a:pt x="158710" y="533400"/>
                  <a:pt x="171450" y="520660"/>
                  <a:pt x="171450" y="504825"/>
                </a:cubicBezTo>
                <a:lnTo>
                  <a:pt x="171450" y="276225"/>
                </a:lnTo>
                <a:cubicBezTo>
                  <a:pt x="171450" y="260390"/>
                  <a:pt x="158710" y="247650"/>
                  <a:pt x="142875" y="247650"/>
                </a:cubicBezTo>
                <a:close/>
                <a:moveTo>
                  <a:pt x="266700" y="247650"/>
                </a:moveTo>
                <a:cubicBezTo>
                  <a:pt x="250865" y="247650"/>
                  <a:pt x="238125" y="260390"/>
                  <a:pt x="238125" y="276225"/>
                </a:cubicBezTo>
                <a:lnTo>
                  <a:pt x="238125" y="504825"/>
                </a:lnTo>
                <a:cubicBezTo>
                  <a:pt x="238125" y="520660"/>
                  <a:pt x="250865" y="533400"/>
                  <a:pt x="266700" y="533400"/>
                </a:cubicBezTo>
                <a:cubicBezTo>
                  <a:pt x="282535" y="533400"/>
                  <a:pt x="295275" y="520660"/>
                  <a:pt x="295275" y="504825"/>
                </a:cubicBezTo>
                <a:lnTo>
                  <a:pt x="295275" y="276225"/>
                </a:lnTo>
                <a:cubicBezTo>
                  <a:pt x="295275" y="260390"/>
                  <a:pt x="282535" y="247650"/>
                  <a:pt x="266700" y="247650"/>
                </a:cubicBezTo>
                <a:close/>
                <a:moveTo>
                  <a:pt x="390525" y="247650"/>
                </a:moveTo>
                <a:cubicBezTo>
                  <a:pt x="374690" y="247650"/>
                  <a:pt x="361950" y="260390"/>
                  <a:pt x="361950" y="276225"/>
                </a:cubicBezTo>
                <a:lnTo>
                  <a:pt x="361950" y="504825"/>
                </a:lnTo>
                <a:cubicBezTo>
                  <a:pt x="361950" y="520660"/>
                  <a:pt x="374690" y="533400"/>
                  <a:pt x="390525" y="533400"/>
                </a:cubicBezTo>
                <a:cubicBezTo>
                  <a:pt x="406360" y="533400"/>
                  <a:pt x="419100" y="520660"/>
                  <a:pt x="419100" y="504825"/>
                </a:cubicBezTo>
                <a:lnTo>
                  <a:pt x="419100" y="276225"/>
                </a:lnTo>
                <a:cubicBezTo>
                  <a:pt x="419100" y="260390"/>
                  <a:pt x="406360" y="247650"/>
                  <a:pt x="390525" y="247650"/>
                </a:cubicBezTo>
                <a:close/>
              </a:path>
            </a:pathLst>
          </a:custGeom>
          <a:solidFill>
            <a:srgbClr val="C9843E"/>
          </a:solidFill>
          <a:ln/>
        </p:spPr>
      </p:sp>
      <p:sp>
        <p:nvSpPr>
          <p:cNvPr id="20" name="Text 18"/>
          <p:cNvSpPr/>
          <p:nvPr/>
        </p:nvSpPr>
        <p:spPr>
          <a:xfrm>
            <a:off x="8509000" y="4699000"/>
            <a:ext cx="660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Important Reminder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09000" y="5397500"/>
            <a:ext cx="660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984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All table data is permanently lost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984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Table structure is also deleted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984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with extreme caution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984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Always backup before dropping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986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8A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0" y="635000"/>
            <a:ext cx="21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8A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Drop Commands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DROP DATABASE Command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17600"/>
            <a:ext cx="1016000" cy="38100"/>
          </a:xfrm>
          <a:prstGeom prst="rect">
            <a:avLst/>
          </a:prstGeom>
          <a:solidFill>
            <a:srgbClr val="C9843E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60500"/>
            <a:ext cx="14732000" cy="1651000"/>
          </a:xfrm>
          <a:prstGeom prst="roundRect">
            <a:avLst>
              <a:gd name="adj" fmla="val 8000"/>
            </a:avLst>
          </a:prstGeom>
          <a:solidFill>
            <a:srgbClr val="E8F0F1"/>
          </a:solidFill>
          <a:ln/>
        </p:spPr>
      </p:sp>
      <p:sp>
        <p:nvSpPr>
          <p:cNvPr id="6" name="Shape 4"/>
          <p:cNvSpPr/>
          <p:nvPr/>
        </p:nvSpPr>
        <p:spPr>
          <a:xfrm>
            <a:off x="1108075" y="17145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400050" y="183773"/>
                </a:moveTo>
                <a:cubicBezTo>
                  <a:pt x="386834" y="192524"/>
                  <a:pt x="371654" y="199579"/>
                  <a:pt x="355848" y="205204"/>
                </a:cubicBezTo>
                <a:cubicBezTo>
                  <a:pt x="313879" y="220206"/>
                  <a:pt x="258782" y="228600"/>
                  <a:pt x="200025" y="228600"/>
                </a:cubicBezTo>
                <a:cubicBezTo>
                  <a:pt x="141268" y="228600"/>
                  <a:pt x="86082" y="220117"/>
                  <a:pt x="44202" y="205204"/>
                </a:cubicBezTo>
                <a:cubicBezTo>
                  <a:pt x="28486" y="199579"/>
                  <a:pt x="13216" y="192524"/>
                  <a:pt x="0" y="183773"/>
                </a:cubicBezTo>
                <a:lnTo>
                  <a:pt x="0" y="257175"/>
                </a:lnTo>
                <a:cubicBezTo>
                  <a:pt x="0" y="296644"/>
                  <a:pt x="89565" y="328613"/>
                  <a:pt x="200025" y="328613"/>
                </a:cubicBezTo>
                <a:cubicBezTo>
                  <a:pt x="310485" y="328613"/>
                  <a:pt x="400050" y="296644"/>
                  <a:pt x="400050" y="257175"/>
                </a:cubicBezTo>
                <a:lnTo>
                  <a:pt x="400050" y="183773"/>
                </a:lnTo>
                <a:close/>
                <a:moveTo>
                  <a:pt x="400050" y="114300"/>
                </a:moveTo>
                <a:lnTo>
                  <a:pt x="400050" y="71438"/>
                </a:lnTo>
                <a:cubicBezTo>
                  <a:pt x="400050" y="31968"/>
                  <a:pt x="310485" y="0"/>
                  <a:pt x="200025" y="0"/>
                </a:cubicBezTo>
                <a:cubicBezTo>
                  <a:pt x="89565" y="0"/>
                  <a:pt x="0" y="31968"/>
                  <a:pt x="0" y="71438"/>
                </a:cubicBezTo>
                <a:lnTo>
                  <a:pt x="0" y="114300"/>
                </a:lnTo>
                <a:cubicBezTo>
                  <a:pt x="0" y="153769"/>
                  <a:pt x="89565" y="185738"/>
                  <a:pt x="200025" y="185738"/>
                </a:cubicBezTo>
                <a:cubicBezTo>
                  <a:pt x="310485" y="185738"/>
                  <a:pt x="400050" y="153769"/>
                  <a:pt x="400050" y="114300"/>
                </a:cubicBezTo>
                <a:close/>
                <a:moveTo>
                  <a:pt x="355848" y="348079"/>
                </a:moveTo>
                <a:cubicBezTo>
                  <a:pt x="313968" y="362992"/>
                  <a:pt x="258872" y="371475"/>
                  <a:pt x="200025" y="371475"/>
                </a:cubicBezTo>
                <a:cubicBezTo>
                  <a:pt x="141178" y="371475"/>
                  <a:pt x="86082" y="362992"/>
                  <a:pt x="44202" y="348079"/>
                </a:cubicBezTo>
                <a:cubicBezTo>
                  <a:pt x="28486" y="342454"/>
                  <a:pt x="13216" y="335399"/>
                  <a:pt x="0" y="326648"/>
                </a:cubicBezTo>
                <a:lnTo>
                  <a:pt x="0" y="385763"/>
                </a:lnTo>
                <a:cubicBezTo>
                  <a:pt x="0" y="425232"/>
                  <a:pt x="89565" y="457200"/>
                  <a:pt x="200025" y="457200"/>
                </a:cubicBezTo>
                <a:cubicBezTo>
                  <a:pt x="310485" y="457200"/>
                  <a:pt x="400050" y="425232"/>
                  <a:pt x="400050" y="385763"/>
                </a:cubicBezTo>
                <a:lnTo>
                  <a:pt x="400050" y="326648"/>
                </a:lnTo>
                <a:cubicBezTo>
                  <a:pt x="386834" y="335399"/>
                  <a:pt x="371654" y="342454"/>
                  <a:pt x="355848" y="348079"/>
                </a:cubicBezTo>
                <a:close/>
              </a:path>
            </a:pathLst>
          </a:custGeom>
          <a:solidFill>
            <a:srgbClr val="1B3A3E"/>
          </a:solidFill>
          <a:ln/>
        </p:spPr>
      </p:sp>
      <p:sp>
        <p:nvSpPr>
          <p:cNvPr id="7" name="Text 5"/>
          <p:cNvSpPr/>
          <p:nvPr/>
        </p:nvSpPr>
        <p:spPr>
          <a:xfrm>
            <a:off x="1714500" y="1714500"/>
            <a:ext cx="134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79500" y="2286000"/>
            <a:ext cx="1397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Deletes a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complete database permanently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with all its tables and data.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62000" y="3492500"/>
            <a:ext cx="685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62000" y="4064000"/>
            <a:ext cx="6858000" cy="889000"/>
          </a:xfrm>
          <a:prstGeom prst="roundRect">
            <a:avLst>
              <a:gd name="adj" fmla="val 8000"/>
            </a:avLst>
          </a:prstGeom>
          <a:solidFill>
            <a:srgbClr val="152E31"/>
          </a:solidFill>
          <a:ln/>
        </p:spPr>
      </p:sp>
      <p:sp>
        <p:nvSpPr>
          <p:cNvPr id="11" name="Text 9"/>
          <p:cNvSpPr/>
          <p:nvPr/>
        </p:nvSpPr>
        <p:spPr>
          <a:xfrm>
            <a:off x="1079500" y="4064000"/>
            <a:ext cx="6223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DROP DATABASE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database_name;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2000" y="5334000"/>
            <a:ext cx="685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62000" y="5905500"/>
            <a:ext cx="6858000" cy="889000"/>
          </a:xfrm>
          <a:prstGeom prst="roundRect">
            <a:avLst>
              <a:gd name="adj" fmla="val 8000"/>
            </a:avLst>
          </a:prstGeom>
          <a:solidFill>
            <a:srgbClr val="152E31"/>
          </a:solidFill>
          <a:ln/>
        </p:spPr>
      </p:sp>
      <p:sp>
        <p:nvSpPr>
          <p:cNvPr id="14" name="Text 12"/>
          <p:cNvSpPr/>
          <p:nvPr/>
        </p:nvSpPr>
        <p:spPr>
          <a:xfrm>
            <a:off x="1079500" y="5905500"/>
            <a:ext cx="6223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DROP DATABASE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SchoolDB;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62000" y="7175500"/>
            <a:ext cx="6858000" cy="889000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25400">
            <a:solidFill>
              <a:srgbClr val="F4433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79500" y="742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F44336"/>
          </a:solidFill>
          <a:ln/>
        </p:spPr>
      </p:sp>
      <p:sp>
        <p:nvSpPr>
          <p:cNvPr id="17" name="Text 15"/>
          <p:cNvSpPr/>
          <p:nvPr/>
        </p:nvSpPr>
        <p:spPr>
          <a:xfrm>
            <a:off x="1587500" y="7175500"/>
            <a:ext cx="5778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F443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Warning: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All tables and data are lost forever!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128000" y="3492500"/>
            <a:ext cx="7366000" cy="4572000"/>
          </a:xfrm>
          <a:prstGeom prst="roundRect">
            <a:avLst>
              <a:gd name="adj" fmla="val 8000"/>
            </a:avLst>
          </a:prstGeom>
          <a:solidFill>
            <a:srgbClr val="1B3A3E"/>
          </a:solidFill>
          <a:ln/>
        </p:spPr>
      </p:sp>
      <p:sp>
        <p:nvSpPr>
          <p:cNvPr id="19" name="Shape 17"/>
          <p:cNvSpPr/>
          <p:nvPr/>
        </p:nvSpPr>
        <p:spPr>
          <a:xfrm>
            <a:off x="8470900" y="38100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571500" y="-19050"/>
                </a:moveTo>
                <a:cubicBezTo>
                  <a:pt x="579715" y="-19050"/>
                  <a:pt x="586978" y="-13811"/>
                  <a:pt x="589598" y="-6072"/>
                </a:cubicBezTo>
                <a:lnTo>
                  <a:pt x="605671" y="42029"/>
                </a:lnTo>
                <a:lnTo>
                  <a:pt x="653772" y="58103"/>
                </a:lnTo>
                <a:cubicBezTo>
                  <a:pt x="661511" y="60722"/>
                  <a:pt x="666750" y="67985"/>
                  <a:pt x="666750" y="76200"/>
                </a:cubicBezTo>
                <a:cubicBezTo>
                  <a:pt x="666750" y="84415"/>
                  <a:pt x="661511" y="91678"/>
                  <a:pt x="653772" y="94298"/>
                </a:cubicBezTo>
                <a:lnTo>
                  <a:pt x="605671" y="110371"/>
                </a:lnTo>
                <a:lnTo>
                  <a:pt x="589598" y="158472"/>
                </a:lnTo>
                <a:cubicBezTo>
                  <a:pt x="586978" y="166211"/>
                  <a:pt x="579715" y="171450"/>
                  <a:pt x="571500" y="171450"/>
                </a:cubicBezTo>
                <a:cubicBezTo>
                  <a:pt x="563285" y="171450"/>
                  <a:pt x="556022" y="166211"/>
                  <a:pt x="553403" y="158472"/>
                </a:cubicBezTo>
                <a:lnTo>
                  <a:pt x="537329" y="110371"/>
                </a:lnTo>
                <a:lnTo>
                  <a:pt x="489228" y="94298"/>
                </a:lnTo>
                <a:cubicBezTo>
                  <a:pt x="481489" y="91678"/>
                  <a:pt x="476250" y="84415"/>
                  <a:pt x="476250" y="76200"/>
                </a:cubicBezTo>
                <a:cubicBezTo>
                  <a:pt x="476250" y="67985"/>
                  <a:pt x="481489" y="60722"/>
                  <a:pt x="489228" y="58103"/>
                </a:cubicBezTo>
                <a:lnTo>
                  <a:pt x="537329" y="42029"/>
                </a:lnTo>
                <a:lnTo>
                  <a:pt x="553402" y="-6072"/>
                </a:lnTo>
                <a:cubicBezTo>
                  <a:pt x="556022" y="-13811"/>
                  <a:pt x="563285" y="-19050"/>
                  <a:pt x="571500" y="-19050"/>
                </a:cubicBezTo>
                <a:close/>
                <a:moveTo>
                  <a:pt x="382667" y="115967"/>
                </a:moveTo>
                <a:cubicBezTo>
                  <a:pt x="397550" y="101084"/>
                  <a:pt x="421719" y="101084"/>
                  <a:pt x="436602" y="115967"/>
                </a:cubicBezTo>
                <a:lnTo>
                  <a:pt x="531852" y="211217"/>
                </a:lnTo>
                <a:cubicBezTo>
                  <a:pt x="546735" y="226100"/>
                  <a:pt x="546735" y="250269"/>
                  <a:pt x="531852" y="265152"/>
                </a:cubicBezTo>
                <a:lnTo>
                  <a:pt x="518874" y="278130"/>
                </a:lnTo>
                <a:cubicBezTo>
                  <a:pt x="528280" y="304324"/>
                  <a:pt x="533400" y="332542"/>
                  <a:pt x="533400" y="362069"/>
                </a:cubicBezTo>
                <a:cubicBezTo>
                  <a:pt x="533400" y="498872"/>
                  <a:pt x="422553" y="609719"/>
                  <a:pt x="285750" y="609719"/>
                </a:cubicBezTo>
                <a:cubicBezTo>
                  <a:pt x="148947" y="609719"/>
                  <a:pt x="38100" y="498753"/>
                  <a:pt x="38100" y="361950"/>
                </a:cubicBezTo>
                <a:cubicBezTo>
                  <a:pt x="38100" y="225147"/>
                  <a:pt x="148947" y="114300"/>
                  <a:pt x="285750" y="114300"/>
                </a:cubicBezTo>
                <a:cubicBezTo>
                  <a:pt x="315158" y="114300"/>
                  <a:pt x="343495" y="119420"/>
                  <a:pt x="369689" y="128945"/>
                </a:cubicBezTo>
                <a:lnTo>
                  <a:pt x="382667" y="115967"/>
                </a:lnTo>
                <a:close/>
                <a:moveTo>
                  <a:pt x="171450" y="361950"/>
                </a:moveTo>
                <a:cubicBezTo>
                  <a:pt x="171450" y="298847"/>
                  <a:pt x="222647" y="247650"/>
                  <a:pt x="285750" y="247650"/>
                </a:cubicBezTo>
                <a:cubicBezTo>
                  <a:pt x="301585" y="247650"/>
                  <a:pt x="314325" y="234910"/>
                  <a:pt x="314325" y="219075"/>
                </a:cubicBezTo>
                <a:cubicBezTo>
                  <a:pt x="314325" y="203240"/>
                  <a:pt x="301585" y="190500"/>
                  <a:pt x="285750" y="190500"/>
                </a:cubicBezTo>
                <a:cubicBezTo>
                  <a:pt x="191095" y="190500"/>
                  <a:pt x="114300" y="267295"/>
                  <a:pt x="114300" y="361950"/>
                </a:cubicBezTo>
                <a:cubicBezTo>
                  <a:pt x="114300" y="377785"/>
                  <a:pt x="127040" y="390525"/>
                  <a:pt x="142875" y="390525"/>
                </a:cubicBezTo>
                <a:cubicBezTo>
                  <a:pt x="158710" y="390525"/>
                  <a:pt x="171450" y="377785"/>
                  <a:pt x="171450" y="361950"/>
                </a:cubicBezTo>
                <a:close/>
              </a:path>
            </a:pathLst>
          </a:custGeom>
          <a:solidFill>
            <a:srgbClr val="C9843E"/>
          </a:solidFill>
          <a:ln/>
        </p:spPr>
      </p:sp>
      <p:sp>
        <p:nvSpPr>
          <p:cNvPr id="20" name="Text 18"/>
          <p:cNvSpPr/>
          <p:nvPr/>
        </p:nvSpPr>
        <p:spPr>
          <a:xfrm>
            <a:off x="8509000" y="4699000"/>
            <a:ext cx="660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Warning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09000" y="5397500"/>
            <a:ext cx="660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984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All tables inside are deleted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984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All data is permanently lost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984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This is irreversible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984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Double-check the database name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986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8A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29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tr7nwfymto4ke/mnt/agents/output/sql_ddl_intro/images/6_139_Colorful_Data_Visualization_Dark.png">    </p:cNvPr>
          <p:cNvPicPr>
            <a:picLocks noChangeAspect="1"/>
          </p:cNvPicPr>
          <p:nvPr/>
        </p:nvPicPr>
        <p:blipFill>
          <a:blip r:embed="rId1"/>
          <a:srcRect l="0" r="0" t="12687" b="12687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52E31">
                  <a:alpha val="90000"/>
                </a:srgbClr>
              </a:gs>
              <a:gs pos="50000">
                <a:srgbClr val="152E31">
                  <a:alpha val="80000"/>
                </a:srgbClr>
              </a:gs>
              <a:gs pos="100000">
                <a:srgbClr val="152E31">
                  <a:alpha val="95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635000"/>
            <a:ext cx="2540000" cy="38100"/>
          </a:xfrm>
          <a:prstGeom prst="rect">
            <a:avLst/>
          </a:prstGeom>
          <a:solidFill>
            <a:srgbClr val="C9843E"/>
          </a:solidFill>
          <a:ln/>
        </p:spPr>
      </p:sp>
      <p:sp>
        <p:nvSpPr>
          <p:cNvPr id="5" name="Text 2"/>
          <p:cNvSpPr/>
          <p:nvPr/>
        </p:nvSpPr>
        <p:spPr>
          <a:xfrm>
            <a:off x="1778000" y="825500"/>
            <a:ext cx="1270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b="1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SUMMARY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6223000" y="1651000"/>
            <a:ext cx="3810000" cy="12700"/>
          </a:xfrm>
          <a:prstGeom prst="rect">
            <a:avLst/>
          </a:prstGeom>
          <a:solidFill>
            <a:srgbClr val="FFFFFF">
              <a:alpha val="25098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1968500"/>
            <a:ext cx="7048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spc="200" kern="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COMMANDS LEARNED</a:t>
            </a:r>
            <a:endParaRPr lang="en-US" sz="16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603500"/>
          <a:ext cx="7048500" cy="3302000"/>
        </p:xfrm>
        <a:graphic>
          <a:graphicData uri="http://schemas.openxmlformats.org/drawingml/2006/table">
            <a:tbl>
              <a:tblPr/>
              <a:tblGrid>
                <a:gridCol w="3171825"/>
                <a:gridCol w="3876675"/>
              </a:tblGrid>
              <a:tr h="415901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Command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Purpose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3E"/>
                    </a:solidFill>
                  </a:tcPr>
                </a:tc>
              </a:tr>
              <a:tr h="41590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CREATE DATABASE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Create a new database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590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SHOW DATABASES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Display all databases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</a:tr>
              <a:tr h="41590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Select a database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590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CREATE TABLE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Create a new table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</a:tr>
              <a:tr h="41590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Show table structure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3298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DROP TABLE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Delete a table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</a:tr>
              <a:tr h="403298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DROP DATABASE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Delete a database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8445500" y="1968500"/>
            <a:ext cx="7048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spc="200" kern="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CONSTRAINTS LEARNED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445500" y="2603500"/>
            <a:ext cx="70485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984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 KEY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Uniquely identifies each row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984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FOREIGN KEY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Links two tables together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984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NULL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Column cannot be empty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984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UNIQUE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No duplicate values allowed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984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DEFAULT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Auto-assigns a value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984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CASCADE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Auto-delete related records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4318000" y="6350000"/>
            <a:ext cx="7620000" cy="12700"/>
          </a:xfrm>
          <a:prstGeom prst="rect">
            <a:avLst/>
          </a:prstGeom>
          <a:solidFill>
            <a:srgbClr val="FFFFFF">
              <a:alpha val="25098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1778000" y="6604000"/>
            <a:ext cx="1270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DDL commands define the structure of databases and tables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used in real-world systems like </a:t>
            </a:r>
            <a:pPr algn="ctr">
              <a:lnSpc>
                <a:spcPct val="16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schools, hospitals, banks,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 </a:t>
            </a:r>
            <a:pPr algn="ctr">
              <a:lnSpc>
                <a:spcPct val="16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shopping websites</a:t>
            </a:r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588000" y="8318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spc="300" kern="0" dirty="0">
                <a:solidFill>
                  <a:srgbClr val="C984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5 — LECTURE 9 &amp; 10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SQL (DDL)</dc:title>
  <dc:subject>Introduction to SQL (DDL)</dc:subject>
  <dc:creator>Kimi</dc:creator>
  <cp:lastModifiedBy>Kimi</cp:lastModifiedBy>
  <cp:revision>1</cp:revision>
  <dcterms:created xsi:type="dcterms:W3CDTF">2026-05-22T10:37:52Z</dcterms:created>
  <dcterms:modified xsi:type="dcterms:W3CDTF">2026-05-22T10:37:52Z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{"Label":"Introduction to SQL (DDL)","ContentProducer":"001191110108MACG2KBH8F10000","ProduceID":"19e4f37e-0392-87e9-8000-000034c8b0e9","ReservedCode1":"","ContentPropagator":"001191110108MACG2KBH8F20000","PropagateID":"19e4f37e-0392-87e9-8000-000034c8b0e9","ReservedCode2":""}</vt:lpwstr>
  </property>
</Properties>
</file>