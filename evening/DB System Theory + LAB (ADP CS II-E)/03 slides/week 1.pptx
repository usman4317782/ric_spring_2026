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6256000" cy="9144000"/>
  <p:notesSz cx="9144000" cy="16256000"/>
  <p:embeddedFontLst>
    <p:embeddedFont>
      <p:font typeface="Quattrocento Sans" charset="-122" pitchFamily="34"/>
      <p:regular r:id="rId37"/>
    </p:embeddedFont>
    <p:embeddedFont>
      <p:font typeface="Liter" charset="-122" pitchFamily="34"/>
      <p:regular r:id="rId38"/>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font" Target="fonts/font1.fntdata"/><Relationship Id="rId38"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ttps://kimi-img.moonshot.cn/pub/slides/okc/iw55rugbchvnc/mnt/agents/output/db-intro/images/1_Concept_of_a_Data_Center_Room_with.png">    </p:cNvPr>
          <p:cNvPicPr>
            <a:picLocks noChangeAspect="1"/>
          </p:cNvPicPr>
          <p:nvPr/>
        </p:nvPicPr>
        <p:blipFill>
          <a:blip r:embed="rId1"/>
          <a:srcRect l="0" r="0" t="9386" b="9386"/>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2D5A4C">
                  <a:alpha val="0"/>
                </a:srgbClr>
              </a:gs>
              <a:gs pos="40000">
                <a:srgbClr val="2D5A4C">
                  <a:alpha val="60000"/>
                </a:srgbClr>
              </a:gs>
              <a:gs pos="100000">
                <a:srgbClr val="2D5A4C">
                  <a:alpha val="90000"/>
                </a:srgbClr>
              </a:gs>
            </a:gsLst>
            <a:lin ang="5400000" scaled="1"/>
          </a:gradFill>
          <a:ln w="12700">
            <a:solidFill>
              <a:srgbClr val="333333"/>
            </a:solidFill>
            <a:prstDash val="solid"/>
          </a:ln>
        </p:spPr>
      </p:sp>
      <p:sp>
        <p:nvSpPr>
          <p:cNvPr id="4" name="Shape 1"/>
          <p:cNvSpPr/>
          <p:nvPr/>
        </p:nvSpPr>
        <p:spPr>
          <a:xfrm>
            <a:off x="0" y="0"/>
            <a:ext cx="16256000" cy="50800"/>
          </a:xfrm>
          <a:prstGeom prst="rect">
            <a:avLst/>
          </a:prstGeom>
          <a:solidFill>
            <a:srgbClr val="D4943A"/>
          </a:solidFill>
          <a:ln/>
        </p:spPr>
      </p:sp>
      <p:sp>
        <p:nvSpPr>
          <p:cNvPr id="5" name="Text 2"/>
          <p:cNvSpPr/>
          <p:nvPr/>
        </p:nvSpPr>
        <p:spPr>
          <a:xfrm>
            <a:off x="1778000" y="3048000"/>
            <a:ext cx="12700000" cy="1524000"/>
          </a:xfrm>
          <a:prstGeom prst="rect">
            <a:avLst/>
          </a:prstGeom>
          <a:noFill/>
          <a:ln/>
        </p:spPr>
        <p:txBody>
          <a:bodyPr wrap="square" lIns="0" tIns="0" rIns="0" bIns="0" rtlCol="0" anchor="ctr"/>
          <a:lstStyle/>
          <a:p>
            <a:pPr algn="ctr">
              <a:lnSpc>
                <a:spcPct val="120000"/>
              </a:lnSpc>
            </a:pPr>
            <a:r>
              <a:rPr lang="en-US" sz="4000" b="1" dirty="0">
                <a:solidFill>
                  <a:srgbClr val="FFFFFF"/>
                </a:solidFill>
                <a:latin typeface="Liter" pitchFamily="34" charset="0"/>
                <a:ea typeface="Liter" pitchFamily="34" charset="-122"/>
                <a:cs typeface="Liter" pitchFamily="34" charset="-120"/>
              </a:rPr>
              <a:t>Database Systems</a:t>
            </a:r>
            <a:endParaRPr lang="en-US" sz="4000" dirty="0"/>
          </a:p>
          <a:p>
            <a:pPr algn="ctr">
              <a:lnSpc>
                <a:spcPct val="120000"/>
              </a:lnSpc>
            </a:pPr>
            <a:r>
              <a:rPr lang="en-US" sz="3200" dirty="0">
                <a:solidFill>
                  <a:srgbClr val="FFFFFF"/>
                </a:solidFill>
                <a:latin typeface="Liter" pitchFamily="34" charset="0"/>
                <a:ea typeface="Liter" pitchFamily="34" charset="-122"/>
                <a:cs typeface="Liter" pitchFamily="34" charset="-120"/>
              </a:rPr>
              <a:t>Introduction and Conceptual Data Modeling</a:t>
            </a:r>
            <a:endParaRPr lang="en-US" sz="4000" dirty="0"/>
          </a:p>
        </p:txBody>
      </p:sp>
      <p:sp>
        <p:nvSpPr>
          <p:cNvPr id="6" name="Text 3"/>
          <p:cNvSpPr/>
          <p:nvPr/>
        </p:nvSpPr>
        <p:spPr>
          <a:xfrm>
            <a:off x="1778000" y="4826000"/>
            <a:ext cx="12700000" cy="508000"/>
          </a:xfrm>
          <a:prstGeom prst="rect">
            <a:avLst/>
          </a:prstGeom>
          <a:noFill/>
          <a:ln/>
        </p:spPr>
        <p:txBody>
          <a:bodyPr wrap="none" lIns="0" tIns="0" rIns="0" bIns="0" rtlCol="0" anchor="ctr"/>
          <a:lstStyle/>
          <a:p>
            <a:pPr algn="ctr">
              <a:lnSpc>
                <a:spcPct val="100000"/>
              </a:lnSpc>
            </a:pPr>
            <a:r>
              <a:rPr lang="en-US" sz="2000" dirty="0">
                <a:solidFill>
                  <a:srgbClr val="FFFFFF">
                    <a:alpha val="80000"/>
                  </a:srgbClr>
                </a:solidFill>
                <a:latin typeface="Quattrocento Sans" pitchFamily="34" charset="0"/>
                <a:ea typeface="Quattrocento Sans" pitchFamily="34" charset="-122"/>
                <a:cs typeface="Quattrocento Sans" pitchFamily="34" charset="-120"/>
              </a:rPr>
              <a:t>Week 1 Lecture | Beginner-Friendly Guide</a:t>
            </a:r>
            <a:endParaRPr lang="en-US" sz="1600" dirty="0"/>
          </a:p>
        </p:txBody>
      </p:sp>
      <p:sp>
        <p:nvSpPr>
          <p:cNvPr id="7" name="Shape 4"/>
          <p:cNvSpPr/>
          <p:nvPr/>
        </p:nvSpPr>
        <p:spPr>
          <a:xfrm>
            <a:off x="6223000" y="5588000"/>
            <a:ext cx="3810000" cy="25400"/>
          </a:xfrm>
          <a:prstGeom prst="rect">
            <a:avLst/>
          </a:prstGeom>
          <a:solidFill>
            <a:srgbClr val="D4943A"/>
          </a:solidFill>
          <a:ln/>
        </p:spPr>
      </p:sp>
      <p:sp>
        <p:nvSpPr>
          <p:cNvPr id="8" name="Text 5"/>
          <p:cNvSpPr/>
          <p:nvPr/>
        </p:nvSpPr>
        <p:spPr>
          <a:xfrm>
            <a:off x="1778000" y="5842000"/>
            <a:ext cx="12700000" cy="381000"/>
          </a:xfrm>
          <a:prstGeom prst="rect">
            <a:avLst/>
          </a:prstGeom>
          <a:noFill/>
          <a:ln/>
        </p:spPr>
        <p:txBody>
          <a:bodyPr wrap="none" lIns="0" tIns="0" rIns="0" bIns="0" rtlCol="0" anchor="ctr"/>
          <a:lstStyle/>
          <a:p>
            <a:pPr algn="ctr">
              <a:lnSpc>
                <a:spcPct val="100000"/>
              </a:lnSpc>
            </a:pPr>
            <a:r>
              <a:rPr lang="en-US" sz="1400" dirty="0">
                <a:solidFill>
                  <a:srgbClr val="FFFFFF">
                    <a:alpha val="60000"/>
                  </a:srgbClr>
                </a:solidFill>
                <a:latin typeface="Quattrocento Sans" pitchFamily="34" charset="0"/>
                <a:ea typeface="Quattrocento Sans" pitchFamily="34" charset="-122"/>
                <a:cs typeface="Quattrocento Sans" pitchFamily="34" charset="-120"/>
              </a:rPr>
              <a:t>Entities • Attributes • Keys • Relationships • ER Diagrams</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D4943A"/>
          </a:solidFill>
          <a:ln/>
        </p:spPr>
      </p:sp>
      <p:sp>
        <p:nvSpPr>
          <p:cNvPr id="3" name="Text 1"/>
          <p:cNvSpPr/>
          <p:nvPr/>
        </p:nvSpPr>
        <p:spPr>
          <a:xfrm>
            <a:off x="762000" y="381000"/>
            <a:ext cx="10160000" cy="508000"/>
          </a:xfrm>
          <a:prstGeom prst="rect">
            <a:avLst/>
          </a:prstGeom>
          <a:noFill/>
          <a:ln/>
        </p:spPr>
        <p:txBody>
          <a:bodyPr wrap="none" lIns="0" tIns="0" rIns="0" bIns="0" rtlCol="0" anchor="ctr"/>
          <a:lstStyle/>
          <a:p>
            <a:pPr>
              <a:lnSpc>
                <a:spcPct val="130000"/>
              </a:lnSpc>
            </a:pPr>
            <a:r>
              <a:rPr lang="en-US" sz="2800" dirty="0">
                <a:solidFill>
                  <a:srgbClr val="2D5A4C"/>
                </a:solidFill>
                <a:latin typeface="Liter" pitchFamily="34" charset="0"/>
                <a:ea typeface="Liter" pitchFamily="34" charset="-122"/>
                <a:cs typeface="Liter" pitchFamily="34" charset="-120"/>
              </a:rPr>
              <a:t>What Is a Database?</a:t>
            </a:r>
            <a:endParaRPr lang="en-US" sz="2800" dirty="0"/>
          </a:p>
        </p:txBody>
      </p:sp>
      <p:sp>
        <p:nvSpPr>
          <p:cNvPr id="4" name="Text 2"/>
          <p:cNvSpPr/>
          <p:nvPr/>
        </p:nvSpPr>
        <p:spPr>
          <a:xfrm>
            <a:off x="762000" y="1143000"/>
            <a:ext cx="8128000" cy="3810000"/>
          </a:xfrm>
          <a:prstGeom prst="rect">
            <a:avLst/>
          </a:prstGeom>
          <a:noFill/>
          <a:ln/>
        </p:spPr>
        <p:txBody>
          <a:bodyPr wrap="square" lIns="0" tIns="0" rIns="0" bIns="0" rtlCol="0" anchor="t"/>
          <a:lstStyle/>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A database is an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organized collection of data</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that can be easily accessed, managed, and updated</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Think of it as a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digital filing cabinet</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where information is stored in a structured way</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Databases help us store large amounts of information without getting lost or confused</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Unlike scattered notes, a database keeps everything in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one central place</a:t>
            </a:r>
            <a:endParaRPr lang="en-US" sz="2000" dirty="0"/>
          </a:p>
        </p:txBody>
      </p:sp>
      <p:sp>
        <p:nvSpPr>
          <p:cNvPr id="5" name="Shape 3"/>
          <p:cNvSpPr/>
          <p:nvPr/>
        </p:nvSpPr>
        <p:spPr>
          <a:xfrm>
            <a:off x="9398000" y="1016000"/>
            <a:ext cx="6096000" cy="3937000"/>
          </a:xfrm>
          <a:prstGeom prst="roundRect">
            <a:avLst>
              <a:gd name="adj" fmla="val 8000"/>
            </a:avLst>
          </a:prstGeom>
          <a:solidFill>
            <a:srgbClr val="2D5A4C">
              <a:alpha val="8235"/>
            </a:srgbClr>
          </a:solidFill>
          <a:ln/>
        </p:spPr>
      </p:sp>
      <p:sp>
        <p:nvSpPr>
          <p:cNvPr id="6" name="Text 4"/>
          <p:cNvSpPr/>
          <p:nvPr/>
        </p:nvSpPr>
        <p:spPr>
          <a:xfrm>
            <a:off x="9398000" y="1079500"/>
            <a:ext cx="6096000" cy="355600"/>
          </a:xfrm>
          <a:prstGeom prst="rect">
            <a:avLst/>
          </a:prstGeom>
          <a:noFill/>
          <a:ln/>
        </p:spPr>
        <p:txBody>
          <a:bodyPr wrap="none" lIns="0" tIns="0" rIns="0" bIns="0" rtlCol="0" anchor="ctr"/>
          <a:lstStyle/>
          <a:p>
            <a:pPr algn="ctr">
              <a:lnSpc>
                <a:spcPct val="100000"/>
              </a:lnSpc>
            </a:pPr>
            <a:r>
              <a:rPr lang="en-US" sz="1400" b="1" dirty="0">
                <a:solidFill>
                  <a:srgbClr val="2D5A4C"/>
                </a:solidFill>
                <a:latin typeface="Liter" pitchFamily="34" charset="0"/>
                <a:ea typeface="Liter" pitchFamily="34" charset="-122"/>
                <a:cs typeface="Liter" pitchFamily="34" charset="-120"/>
              </a:rPr>
              <a:t>DATABASE CONCEPT</a:t>
            </a:r>
            <a:endParaRPr lang="en-US" sz="1600" dirty="0"/>
          </a:p>
        </p:txBody>
      </p:sp>
      <p:sp>
        <p:nvSpPr>
          <p:cNvPr id="7" name="Shape 5"/>
          <p:cNvSpPr/>
          <p:nvPr/>
        </p:nvSpPr>
        <p:spPr>
          <a:xfrm>
            <a:off x="11049000" y="1651000"/>
            <a:ext cx="2794000" cy="762000"/>
          </a:xfrm>
          <a:prstGeom prst="roundRect">
            <a:avLst>
              <a:gd name="adj" fmla="val 8000"/>
            </a:avLst>
          </a:prstGeom>
          <a:solidFill>
            <a:srgbClr val="2D5A4C"/>
          </a:solidFill>
          <a:ln/>
        </p:spPr>
      </p:sp>
      <p:sp>
        <p:nvSpPr>
          <p:cNvPr id="8" name="Text 6"/>
          <p:cNvSpPr/>
          <p:nvPr/>
        </p:nvSpPr>
        <p:spPr>
          <a:xfrm>
            <a:off x="11049000" y="1651000"/>
            <a:ext cx="2794000" cy="762000"/>
          </a:xfrm>
          <a:prstGeom prst="rect">
            <a:avLst/>
          </a:prstGeom>
          <a:noFill/>
          <a:ln/>
        </p:spPr>
        <p:txBody>
          <a:bodyPr wrap="none" lIns="0" tIns="0" rIns="0" bIns="0" rtlCol="0" anchor="ctr"/>
          <a:lstStyle/>
          <a:p>
            <a:pPr algn="ctr">
              <a:lnSpc>
                <a:spcPct val="100000"/>
              </a:lnSpc>
            </a:pPr>
            <a:r>
              <a:rPr lang="en-US" sz="1600" b="1" dirty="0">
                <a:solidFill>
                  <a:srgbClr val="FFFFFF"/>
                </a:solidFill>
                <a:latin typeface="Liter" pitchFamily="34" charset="0"/>
                <a:ea typeface="Liter" pitchFamily="34" charset="-122"/>
                <a:cs typeface="Liter" pitchFamily="34" charset="-120"/>
              </a:rPr>
              <a:t>DATABASE</a:t>
            </a:r>
            <a:endParaRPr lang="en-US" sz="1600" dirty="0"/>
          </a:p>
        </p:txBody>
      </p:sp>
      <p:sp>
        <p:nvSpPr>
          <p:cNvPr id="9" name="Shape 7"/>
          <p:cNvSpPr/>
          <p:nvPr/>
        </p:nvSpPr>
        <p:spPr>
          <a:xfrm>
            <a:off x="9779000" y="2794000"/>
            <a:ext cx="1270000" cy="508000"/>
          </a:xfrm>
          <a:prstGeom prst="roundRect">
            <a:avLst>
              <a:gd name="adj" fmla="val 8000"/>
            </a:avLst>
          </a:prstGeom>
          <a:solidFill>
            <a:srgbClr val="D4943A"/>
          </a:solidFill>
          <a:ln/>
        </p:spPr>
      </p:sp>
      <p:sp>
        <p:nvSpPr>
          <p:cNvPr id="10" name="Text 8"/>
          <p:cNvSpPr/>
          <p:nvPr/>
        </p:nvSpPr>
        <p:spPr>
          <a:xfrm>
            <a:off x="9779000" y="2794000"/>
            <a:ext cx="1270000" cy="508000"/>
          </a:xfrm>
          <a:prstGeom prst="rect">
            <a:avLst/>
          </a:prstGeom>
          <a:noFill/>
          <a:ln/>
        </p:spPr>
        <p:txBody>
          <a:bodyPr wrap="none" lIns="0" tIns="0" rIns="0" bIns="0" rtlCol="0" anchor="ctr"/>
          <a:lstStyle/>
          <a:p>
            <a:pPr algn="ctr">
              <a:lnSpc>
                <a:spcPct val="100000"/>
              </a:lnSpc>
            </a:pPr>
            <a:r>
              <a:rPr lang="en-US" sz="1200" dirty="0">
                <a:solidFill>
                  <a:srgbClr val="FFFFFF"/>
                </a:solidFill>
                <a:latin typeface="Quattrocento Sans" pitchFamily="34" charset="0"/>
                <a:ea typeface="Quattrocento Sans" pitchFamily="34" charset="-122"/>
                <a:cs typeface="Quattrocento Sans" pitchFamily="34" charset="-120"/>
              </a:rPr>
              <a:t>Students</a:t>
            </a:r>
            <a:endParaRPr lang="en-US" sz="1600" dirty="0"/>
          </a:p>
        </p:txBody>
      </p:sp>
      <p:sp>
        <p:nvSpPr>
          <p:cNvPr id="11" name="Shape 9"/>
          <p:cNvSpPr/>
          <p:nvPr/>
        </p:nvSpPr>
        <p:spPr>
          <a:xfrm>
            <a:off x="11303000" y="2794000"/>
            <a:ext cx="1270000" cy="508000"/>
          </a:xfrm>
          <a:prstGeom prst="roundRect">
            <a:avLst>
              <a:gd name="adj" fmla="val 8000"/>
            </a:avLst>
          </a:prstGeom>
          <a:solidFill>
            <a:srgbClr val="D4943A"/>
          </a:solidFill>
          <a:ln/>
        </p:spPr>
      </p:sp>
      <p:sp>
        <p:nvSpPr>
          <p:cNvPr id="12" name="Text 10"/>
          <p:cNvSpPr/>
          <p:nvPr/>
        </p:nvSpPr>
        <p:spPr>
          <a:xfrm>
            <a:off x="11303000" y="2794000"/>
            <a:ext cx="1270000" cy="508000"/>
          </a:xfrm>
          <a:prstGeom prst="rect">
            <a:avLst/>
          </a:prstGeom>
          <a:noFill/>
          <a:ln/>
        </p:spPr>
        <p:txBody>
          <a:bodyPr wrap="none" lIns="0" tIns="0" rIns="0" bIns="0" rtlCol="0" anchor="ctr"/>
          <a:lstStyle/>
          <a:p>
            <a:pPr algn="ctr">
              <a:lnSpc>
                <a:spcPct val="100000"/>
              </a:lnSpc>
            </a:pPr>
            <a:r>
              <a:rPr lang="en-US" sz="1200" dirty="0">
                <a:solidFill>
                  <a:srgbClr val="FFFFFF"/>
                </a:solidFill>
                <a:latin typeface="Quattrocento Sans" pitchFamily="34" charset="0"/>
                <a:ea typeface="Quattrocento Sans" pitchFamily="34" charset="-122"/>
                <a:cs typeface="Quattrocento Sans" pitchFamily="34" charset="-120"/>
              </a:rPr>
              <a:t>Courses</a:t>
            </a:r>
            <a:endParaRPr lang="en-US" sz="1600" dirty="0"/>
          </a:p>
        </p:txBody>
      </p:sp>
      <p:sp>
        <p:nvSpPr>
          <p:cNvPr id="13" name="Shape 11"/>
          <p:cNvSpPr/>
          <p:nvPr/>
        </p:nvSpPr>
        <p:spPr>
          <a:xfrm>
            <a:off x="12827000" y="2794000"/>
            <a:ext cx="1270000" cy="508000"/>
          </a:xfrm>
          <a:prstGeom prst="roundRect">
            <a:avLst>
              <a:gd name="adj" fmla="val 8000"/>
            </a:avLst>
          </a:prstGeom>
          <a:solidFill>
            <a:srgbClr val="D4943A"/>
          </a:solidFill>
          <a:ln/>
        </p:spPr>
      </p:sp>
      <p:sp>
        <p:nvSpPr>
          <p:cNvPr id="14" name="Text 12"/>
          <p:cNvSpPr/>
          <p:nvPr/>
        </p:nvSpPr>
        <p:spPr>
          <a:xfrm>
            <a:off x="12827000" y="2794000"/>
            <a:ext cx="1270000" cy="508000"/>
          </a:xfrm>
          <a:prstGeom prst="rect">
            <a:avLst/>
          </a:prstGeom>
          <a:noFill/>
          <a:ln/>
        </p:spPr>
        <p:txBody>
          <a:bodyPr wrap="none" lIns="0" tIns="0" rIns="0" bIns="0" rtlCol="0" anchor="ctr"/>
          <a:lstStyle/>
          <a:p>
            <a:pPr algn="ctr">
              <a:lnSpc>
                <a:spcPct val="100000"/>
              </a:lnSpc>
            </a:pPr>
            <a:r>
              <a:rPr lang="en-US" sz="1200" dirty="0">
                <a:solidFill>
                  <a:srgbClr val="FFFFFF"/>
                </a:solidFill>
                <a:latin typeface="Quattrocento Sans" pitchFamily="34" charset="0"/>
                <a:ea typeface="Quattrocento Sans" pitchFamily="34" charset="-122"/>
                <a:cs typeface="Quattrocento Sans" pitchFamily="34" charset="-120"/>
              </a:rPr>
              <a:t>Grades</a:t>
            </a:r>
            <a:endParaRPr lang="en-US" sz="1600" dirty="0"/>
          </a:p>
        </p:txBody>
      </p:sp>
      <p:sp>
        <p:nvSpPr>
          <p:cNvPr id="15" name="Shape 13"/>
          <p:cNvSpPr/>
          <p:nvPr/>
        </p:nvSpPr>
        <p:spPr>
          <a:xfrm>
            <a:off x="10414000" y="2540000"/>
            <a:ext cx="635000" cy="254000"/>
          </a:xfrm>
          <a:prstGeom prst="straightConnector1">
            <a:avLst/>
          </a:prstGeom>
          <a:noFill/>
          <a:ln w="25400">
            <a:solidFill>
              <a:srgbClr val="2D5A4C"/>
            </a:solidFill>
            <a:prstDash val="solid"/>
            <a:headEnd type="none"/>
            <a:tailEnd type="arrow"/>
          </a:ln>
        </p:spPr>
      </p:sp>
      <p:sp>
        <p:nvSpPr>
          <p:cNvPr id="16" name="Shape 14"/>
          <p:cNvSpPr/>
          <p:nvPr/>
        </p:nvSpPr>
        <p:spPr>
          <a:xfrm>
            <a:off x="12446000" y="2540000"/>
            <a:ext cx="635000" cy="254000"/>
          </a:xfrm>
          <a:prstGeom prst="straightConnector1">
            <a:avLst/>
          </a:prstGeom>
          <a:noFill/>
          <a:ln w="25400">
            <a:solidFill>
              <a:srgbClr val="2D5A4C"/>
            </a:solidFill>
            <a:prstDash val="solid"/>
            <a:headEnd type="none"/>
            <a:tailEnd type="arrow"/>
          </a:ln>
        </p:spPr>
      </p:sp>
      <p:sp>
        <p:nvSpPr>
          <p:cNvPr id="17" name="Shape 15"/>
          <p:cNvSpPr/>
          <p:nvPr/>
        </p:nvSpPr>
        <p:spPr>
          <a:xfrm>
            <a:off x="12446000" y="2413000"/>
            <a:ext cx="0" cy="381000"/>
          </a:xfrm>
          <a:prstGeom prst="straightConnector1">
            <a:avLst/>
          </a:prstGeom>
          <a:noFill/>
          <a:ln w="25400">
            <a:solidFill>
              <a:srgbClr val="2D5A4C"/>
            </a:solidFill>
            <a:prstDash val="solid"/>
            <a:headEnd type="none"/>
            <a:tailEnd type="arrow"/>
          </a:ln>
        </p:spPr>
      </p:sp>
      <p:sp>
        <p:nvSpPr>
          <p:cNvPr id="18" name="Text 16"/>
          <p:cNvSpPr/>
          <p:nvPr/>
        </p:nvSpPr>
        <p:spPr>
          <a:xfrm>
            <a:off x="9779000" y="3556000"/>
            <a:ext cx="5588000" cy="381000"/>
          </a:xfrm>
          <a:prstGeom prst="rect">
            <a:avLst/>
          </a:prstGeom>
          <a:noFill/>
          <a:ln/>
        </p:spPr>
        <p:txBody>
          <a:bodyPr wrap="none" lIns="0" tIns="0" rIns="0" bIns="0" rtlCol="0" anchor="ctr"/>
          <a:lstStyle/>
          <a:p>
            <a:pPr algn="ctr">
              <a:lnSpc>
                <a:spcPct val="100000"/>
              </a:lnSpc>
            </a:pPr>
            <a:r>
              <a:rPr lang="en-US" sz="1300" dirty="0">
                <a:solidFill>
                  <a:srgbClr val="2C2C2C"/>
                </a:solidFill>
                <a:latin typeface="Quattrocento Sans" pitchFamily="34" charset="0"/>
                <a:ea typeface="Quattrocento Sans" pitchFamily="34" charset="-122"/>
                <a:cs typeface="Quattrocento Sans" pitchFamily="34" charset="-120"/>
              </a:rPr>
              <a:t>All data organized in one structured place</a:t>
            </a:r>
            <a:endParaRPr lang="en-US" sz="1600" dirty="0"/>
          </a:p>
        </p:txBody>
      </p:sp>
      <p:sp>
        <p:nvSpPr>
          <p:cNvPr id="19" name="Shape 17"/>
          <p:cNvSpPr/>
          <p:nvPr/>
        </p:nvSpPr>
        <p:spPr>
          <a:xfrm>
            <a:off x="762000" y="5207000"/>
            <a:ext cx="14732000" cy="1016000"/>
          </a:xfrm>
          <a:prstGeom prst="roundRect">
            <a:avLst>
              <a:gd name="adj" fmla="val 6000"/>
            </a:avLst>
          </a:prstGeom>
          <a:solidFill>
            <a:srgbClr val="E8E2DA"/>
          </a:solidFill>
          <a:ln/>
        </p:spPr>
      </p:sp>
      <p:sp>
        <p:nvSpPr>
          <p:cNvPr id="20" name="Shape 18"/>
          <p:cNvSpPr/>
          <p:nvPr/>
        </p:nvSpPr>
        <p:spPr>
          <a:xfrm>
            <a:off x="1060450" y="5435600"/>
            <a:ext cx="266700" cy="355600"/>
          </a:xfrm>
          <a:custGeom>
            <a:avLst/>
            <a:gdLst/>
            <a:ahLst/>
            <a:cxnLst/>
            <a:rect l="l" t="t" r="r" b="b"/>
            <a:pathLst>
              <a:path w="266700" h="355600">
                <a:moveTo>
                  <a:pt x="203428" y="266700"/>
                </a:moveTo>
                <a:cubicBezTo>
                  <a:pt x="208498" y="251212"/>
                  <a:pt x="218638" y="237182"/>
                  <a:pt x="230098" y="225098"/>
                </a:cubicBezTo>
                <a:cubicBezTo>
                  <a:pt x="252809" y="201206"/>
                  <a:pt x="266700" y="168910"/>
                  <a:pt x="266700" y="133350"/>
                </a:cubicBezTo>
                <a:cubicBezTo>
                  <a:pt x="266700" y="59730"/>
                  <a:pt x="206970" y="0"/>
                  <a:pt x="133350" y="0"/>
                </a:cubicBezTo>
                <a:cubicBezTo>
                  <a:pt x="59730" y="0"/>
                  <a:pt x="0" y="59730"/>
                  <a:pt x="0" y="133350"/>
                </a:cubicBezTo>
                <a:cubicBezTo>
                  <a:pt x="0" y="168910"/>
                  <a:pt x="13891" y="201206"/>
                  <a:pt x="36602" y="225098"/>
                </a:cubicBezTo>
                <a:cubicBezTo>
                  <a:pt x="48062" y="237182"/>
                  <a:pt x="58271" y="251212"/>
                  <a:pt x="63272" y="266700"/>
                </a:cubicBezTo>
                <a:lnTo>
                  <a:pt x="203359" y="266700"/>
                </a:lnTo>
                <a:close/>
                <a:moveTo>
                  <a:pt x="200025" y="300038"/>
                </a:moveTo>
                <a:lnTo>
                  <a:pt x="66675" y="300038"/>
                </a:lnTo>
                <a:lnTo>
                  <a:pt x="66675" y="311150"/>
                </a:lnTo>
                <a:cubicBezTo>
                  <a:pt x="66675" y="341848"/>
                  <a:pt x="91539" y="366712"/>
                  <a:pt x="122238" y="366712"/>
                </a:cubicBezTo>
                <a:lnTo>
                  <a:pt x="144463" y="366712"/>
                </a:lnTo>
                <a:cubicBezTo>
                  <a:pt x="175161" y="366712"/>
                  <a:pt x="200025" y="341848"/>
                  <a:pt x="200025" y="311150"/>
                </a:cubicBezTo>
                <a:lnTo>
                  <a:pt x="200025" y="300038"/>
                </a:lnTo>
                <a:close/>
                <a:moveTo>
                  <a:pt x="127794" y="77788"/>
                </a:moveTo>
                <a:cubicBezTo>
                  <a:pt x="100151" y="77788"/>
                  <a:pt x="77788" y="100151"/>
                  <a:pt x="77788" y="127794"/>
                </a:cubicBezTo>
                <a:cubicBezTo>
                  <a:pt x="77788" y="137031"/>
                  <a:pt x="70356" y="144463"/>
                  <a:pt x="61119" y="144463"/>
                </a:cubicBezTo>
                <a:cubicBezTo>
                  <a:pt x="51881" y="144463"/>
                  <a:pt x="44450" y="137031"/>
                  <a:pt x="44450" y="127794"/>
                </a:cubicBezTo>
                <a:cubicBezTo>
                  <a:pt x="44450" y="81746"/>
                  <a:pt x="81746" y="44450"/>
                  <a:pt x="127794" y="44450"/>
                </a:cubicBezTo>
                <a:cubicBezTo>
                  <a:pt x="137031" y="44450"/>
                  <a:pt x="144463" y="51881"/>
                  <a:pt x="144463" y="61119"/>
                </a:cubicBezTo>
                <a:cubicBezTo>
                  <a:pt x="144463" y="70356"/>
                  <a:pt x="137031" y="77788"/>
                  <a:pt x="127794" y="77788"/>
                </a:cubicBezTo>
                <a:close/>
              </a:path>
            </a:pathLst>
          </a:custGeom>
          <a:solidFill>
            <a:srgbClr val="D4943A"/>
          </a:solidFill>
          <a:ln/>
        </p:spPr>
      </p:sp>
      <p:sp>
        <p:nvSpPr>
          <p:cNvPr id="21" name="Text 19"/>
          <p:cNvSpPr/>
          <p:nvPr/>
        </p:nvSpPr>
        <p:spPr>
          <a:xfrm>
            <a:off x="1498600" y="5270500"/>
            <a:ext cx="2540000" cy="304800"/>
          </a:xfrm>
          <a:prstGeom prst="rect">
            <a:avLst/>
          </a:prstGeom>
          <a:noFill/>
          <a:ln/>
        </p:spPr>
        <p:txBody>
          <a:bodyPr wrap="none" lIns="0" tIns="0" rIns="0" bIns="0" rtlCol="0" anchor="ctr"/>
          <a:lstStyle/>
          <a:p>
            <a:pPr>
              <a:lnSpc>
                <a:spcPct val="100000"/>
              </a:lnSpc>
            </a:pPr>
            <a:r>
              <a:rPr lang="en-US" sz="1400" b="1" dirty="0">
                <a:solidFill>
                  <a:srgbClr val="2D5A4C"/>
                </a:solidFill>
                <a:latin typeface="Liter" pitchFamily="34" charset="0"/>
                <a:ea typeface="Liter" pitchFamily="34" charset="-122"/>
                <a:cs typeface="Liter" pitchFamily="34" charset="-120"/>
              </a:rPr>
              <a:t>EXPLANATION</a:t>
            </a:r>
            <a:endParaRPr lang="en-US" sz="1600" dirty="0"/>
          </a:p>
        </p:txBody>
      </p:sp>
      <p:sp>
        <p:nvSpPr>
          <p:cNvPr id="22" name="Text 20"/>
          <p:cNvSpPr/>
          <p:nvPr/>
        </p:nvSpPr>
        <p:spPr>
          <a:xfrm>
            <a:off x="1498600" y="5613400"/>
            <a:ext cx="13716000" cy="6096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A database is a structured way to store information so you can find it quickly. Imagine a library — books are organized by category, author, and title. A database does the same for digital data.</a:t>
            </a:r>
            <a:endParaRPr lang="en-US" sz="1600" dirty="0"/>
          </a:p>
        </p:txBody>
      </p:sp>
      <p:sp>
        <p:nvSpPr>
          <p:cNvPr id="23" name="Shape 21"/>
          <p:cNvSpPr/>
          <p:nvPr/>
        </p:nvSpPr>
        <p:spPr>
          <a:xfrm>
            <a:off x="762000" y="6477000"/>
            <a:ext cx="14732000" cy="1270000"/>
          </a:xfrm>
          <a:prstGeom prst="roundRect">
            <a:avLst>
              <a:gd name="adj" fmla="val 6000"/>
            </a:avLst>
          </a:prstGeom>
          <a:solidFill>
            <a:srgbClr val="D4943A">
              <a:alpha val="8235"/>
            </a:srgbClr>
          </a:solidFill>
          <a:ln/>
        </p:spPr>
      </p:sp>
      <p:sp>
        <p:nvSpPr>
          <p:cNvPr id="24" name="Shape 22"/>
          <p:cNvSpPr/>
          <p:nvPr/>
        </p:nvSpPr>
        <p:spPr>
          <a:xfrm>
            <a:off x="1016000" y="6604000"/>
            <a:ext cx="304800" cy="304800"/>
          </a:xfrm>
          <a:custGeom>
            <a:avLst/>
            <a:gdLst/>
            <a:ahLst/>
            <a:cxnLst/>
            <a:rect l="l" t="t" r="r" b="b"/>
            <a:pathLst>
              <a:path w="304800" h="304800">
                <a:moveTo>
                  <a:pt x="209490" y="166688"/>
                </a:moveTo>
                <a:lnTo>
                  <a:pt x="95845" y="166688"/>
                </a:lnTo>
                <a:cubicBezTo>
                  <a:pt x="97572" y="205085"/>
                  <a:pt x="106085" y="240447"/>
                  <a:pt x="118170" y="266343"/>
                </a:cubicBezTo>
                <a:cubicBezTo>
                  <a:pt x="124956" y="280928"/>
                  <a:pt x="132278" y="291227"/>
                  <a:pt x="139065" y="297537"/>
                </a:cubicBezTo>
                <a:cubicBezTo>
                  <a:pt x="145733" y="303788"/>
                  <a:pt x="150316" y="304800"/>
                  <a:pt x="152698" y="304800"/>
                </a:cubicBezTo>
                <a:cubicBezTo>
                  <a:pt x="155079" y="304800"/>
                  <a:pt x="159663" y="303788"/>
                  <a:pt x="166330" y="297537"/>
                </a:cubicBezTo>
                <a:cubicBezTo>
                  <a:pt x="173117" y="291227"/>
                  <a:pt x="180439" y="280868"/>
                  <a:pt x="187226" y="266343"/>
                </a:cubicBezTo>
                <a:cubicBezTo>
                  <a:pt x="199311" y="240447"/>
                  <a:pt x="207824" y="205085"/>
                  <a:pt x="209550" y="166688"/>
                </a:cubicBezTo>
                <a:close/>
                <a:moveTo>
                  <a:pt x="95786" y="138113"/>
                </a:moveTo>
                <a:lnTo>
                  <a:pt x="209431" y="138113"/>
                </a:lnTo>
                <a:cubicBezTo>
                  <a:pt x="207764" y="99715"/>
                  <a:pt x="199251" y="64353"/>
                  <a:pt x="187166" y="38457"/>
                </a:cubicBezTo>
                <a:cubicBezTo>
                  <a:pt x="180380" y="23932"/>
                  <a:pt x="173057" y="13573"/>
                  <a:pt x="166271" y="7263"/>
                </a:cubicBezTo>
                <a:cubicBezTo>
                  <a:pt x="159603" y="1012"/>
                  <a:pt x="155019" y="0"/>
                  <a:pt x="152638" y="0"/>
                </a:cubicBezTo>
                <a:cubicBezTo>
                  <a:pt x="150257" y="0"/>
                  <a:pt x="145673" y="1012"/>
                  <a:pt x="139005" y="7263"/>
                </a:cubicBezTo>
                <a:cubicBezTo>
                  <a:pt x="132219" y="13573"/>
                  <a:pt x="124897" y="23932"/>
                  <a:pt x="118110" y="38457"/>
                </a:cubicBezTo>
                <a:cubicBezTo>
                  <a:pt x="106025" y="64353"/>
                  <a:pt x="97512" y="99715"/>
                  <a:pt x="95786" y="138113"/>
                </a:cubicBezTo>
                <a:close/>
                <a:moveTo>
                  <a:pt x="67211" y="138113"/>
                </a:moveTo>
                <a:cubicBezTo>
                  <a:pt x="69294" y="87154"/>
                  <a:pt x="82451" y="39826"/>
                  <a:pt x="101679" y="8751"/>
                </a:cubicBezTo>
                <a:cubicBezTo>
                  <a:pt x="46851" y="28158"/>
                  <a:pt x="6489" y="78105"/>
                  <a:pt x="893" y="138113"/>
                </a:cubicBezTo>
                <a:lnTo>
                  <a:pt x="67211" y="138113"/>
                </a:lnTo>
                <a:close/>
                <a:moveTo>
                  <a:pt x="893" y="166688"/>
                </a:moveTo>
                <a:cubicBezTo>
                  <a:pt x="6489" y="226695"/>
                  <a:pt x="46851" y="276642"/>
                  <a:pt x="101679" y="296049"/>
                </a:cubicBezTo>
                <a:cubicBezTo>
                  <a:pt x="82451" y="264974"/>
                  <a:pt x="69294" y="217646"/>
                  <a:pt x="67211" y="166688"/>
                </a:cubicBezTo>
                <a:lnTo>
                  <a:pt x="893" y="166688"/>
                </a:lnTo>
                <a:close/>
                <a:moveTo>
                  <a:pt x="238065" y="166688"/>
                </a:moveTo>
                <a:cubicBezTo>
                  <a:pt x="235982" y="217646"/>
                  <a:pt x="222825" y="264974"/>
                  <a:pt x="203597" y="296049"/>
                </a:cubicBezTo>
                <a:cubicBezTo>
                  <a:pt x="258425" y="276582"/>
                  <a:pt x="298787" y="226695"/>
                  <a:pt x="304383" y="166688"/>
                </a:cubicBezTo>
                <a:lnTo>
                  <a:pt x="238065" y="166688"/>
                </a:lnTo>
                <a:close/>
                <a:moveTo>
                  <a:pt x="304383" y="138113"/>
                </a:moveTo>
                <a:cubicBezTo>
                  <a:pt x="298787" y="78105"/>
                  <a:pt x="258425" y="28158"/>
                  <a:pt x="203597" y="8751"/>
                </a:cubicBezTo>
                <a:cubicBezTo>
                  <a:pt x="222825" y="39826"/>
                  <a:pt x="235982" y="87154"/>
                  <a:pt x="238065" y="138113"/>
                </a:cubicBezTo>
                <a:lnTo>
                  <a:pt x="304383" y="138113"/>
                </a:lnTo>
                <a:close/>
              </a:path>
            </a:pathLst>
          </a:custGeom>
          <a:solidFill>
            <a:srgbClr val="D4943A"/>
          </a:solidFill>
          <a:ln/>
        </p:spPr>
      </p:sp>
      <p:sp>
        <p:nvSpPr>
          <p:cNvPr id="25" name="Text 23"/>
          <p:cNvSpPr/>
          <p:nvPr/>
        </p:nvSpPr>
        <p:spPr>
          <a:xfrm>
            <a:off x="1422400" y="6565900"/>
            <a:ext cx="3175000" cy="304800"/>
          </a:xfrm>
          <a:prstGeom prst="rect">
            <a:avLst/>
          </a:prstGeom>
          <a:noFill/>
          <a:ln/>
        </p:spPr>
        <p:txBody>
          <a:bodyPr wrap="none" lIns="0" tIns="0" rIns="0" bIns="0" rtlCol="0" anchor="ctr"/>
          <a:lstStyle/>
          <a:p>
            <a:pPr>
              <a:lnSpc>
                <a:spcPct val="100000"/>
              </a:lnSpc>
            </a:pPr>
            <a:r>
              <a:rPr lang="en-US" sz="1400" b="1" dirty="0">
                <a:solidFill>
                  <a:srgbClr val="D4943A"/>
                </a:solidFill>
                <a:latin typeface="Liter" pitchFamily="34" charset="0"/>
                <a:ea typeface="Liter" pitchFamily="34" charset="-122"/>
                <a:cs typeface="Liter" pitchFamily="34" charset="-120"/>
              </a:rPr>
              <a:t>REAL-WORLD EXAMPLE</a:t>
            </a:r>
            <a:endParaRPr lang="en-US" sz="1600" dirty="0"/>
          </a:p>
        </p:txBody>
      </p:sp>
      <p:sp>
        <p:nvSpPr>
          <p:cNvPr id="26" name="Text 24"/>
          <p:cNvSpPr/>
          <p:nvPr/>
        </p:nvSpPr>
        <p:spPr>
          <a:xfrm>
            <a:off x="1016000" y="6959600"/>
            <a:ext cx="14224000" cy="6604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Your school's student management system stores names, grades, attendance, and schedules for thousands of students in one organized database. Teachers can look up any student's record in seconds.</a:t>
            </a:r>
            <a:endParaRPr lang="en-US" sz="1600" dirty="0"/>
          </a:p>
        </p:txBody>
      </p:sp>
      <p:sp>
        <p:nvSpPr>
          <p:cNvPr id="27" name="Shape 25"/>
          <p:cNvSpPr/>
          <p:nvPr/>
        </p:nvSpPr>
        <p:spPr>
          <a:xfrm>
            <a:off x="762000" y="8001000"/>
            <a:ext cx="14732000" cy="635000"/>
          </a:xfrm>
          <a:prstGeom prst="roundRect">
            <a:avLst>
              <a:gd name="adj" fmla="val 6000"/>
            </a:avLst>
          </a:prstGeom>
          <a:solidFill>
            <a:srgbClr val="2D5A4C">
              <a:alpha val="8235"/>
            </a:srgbClr>
          </a:solidFill>
          <a:ln/>
        </p:spPr>
      </p:sp>
      <p:sp>
        <p:nvSpPr>
          <p:cNvPr id="28" name="Shape 26"/>
          <p:cNvSpPr/>
          <p:nvPr/>
        </p:nvSpPr>
        <p:spPr>
          <a:xfrm>
            <a:off x="1016000" y="8153400"/>
            <a:ext cx="254000" cy="254000"/>
          </a:xfrm>
          <a:custGeom>
            <a:avLst/>
            <a:gdLst/>
            <a:ahLst/>
            <a:cxnLst/>
            <a:rect l="l" t="t" r="r" b="b"/>
            <a:pathLst>
              <a:path w="254000" h="254000">
                <a:moveTo>
                  <a:pt x="175071" y="10517"/>
                </a:moveTo>
                <a:lnTo>
                  <a:pt x="152797" y="32792"/>
                </a:lnTo>
                <a:lnTo>
                  <a:pt x="221208" y="101203"/>
                </a:lnTo>
                <a:lnTo>
                  <a:pt x="243483" y="78929"/>
                </a:lnTo>
                <a:cubicBezTo>
                  <a:pt x="250230" y="72231"/>
                  <a:pt x="254000" y="63103"/>
                  <a:pt x="254000" y="53578"/>
                </a:cubicBezTo>
                <a:cubicBezTo>
                  <a:pt x="254000" y="44053"/>
                  <a:pt x="250230" y="34925"/>
                  <a:pt x="243483" y="28228"/>
                </a:cubicBezTo>
                <a:lnTo>
                  <a:pt x="225772" y="10517"/>
                </a:lnTo>
                <a:cubicBezTo>
                  <a:pt x="219075" y="3770"/>
                  <a:pt x="209947" y="0"/>
                  <a:pt x="200422" y="0"/>
                </a:cubicBezTo>
                <a:cubicBezTo>
                  <a:pt x="190897" y="0"/>
                  <a:pt x="181769" y="3770"/>
                  <a:pt x="175071" y="10517"/>
                </a:cubicBezTo>
                <a:close/>
                <a:moveTo>
                  <a:pt x="135979" y="49609"/>
                </a:moveTo>
                <a:lnTo>
                  <a:pt x="29220" y="156319"/>
                </a:lnTo>
                <a:cubicBezTo>
                  <a:pt x="23912" y="161627"/>
                  <a:pt x="20042" y="168275"/>
                  <a:pt x="18008" y="175518"/>
                </a:cubicBezTo>
                <a:lnTo>
                  <a:pt x="446" y="238919"/>
                </a:lnTo>
                <a:cubicBezTo>
                  <a:pt x="-695" y="243036"/>
                  <a:pt x="446" y="247501"/>
                  <a:pt x="3522" y="250527"/>
                </a:cubicBezTo>
                <a:cubicBezTo>
                  <a:pt x="6598" y="253554"/>
                  <a:pt x="11013" y="254744"/>
                  <a:pt x="15131" y="253603"/>
                </a:cubicBezTo>
                <a:lnTo>
                  <a:pt x="78532" y="235992"/>
                </a:lnTo>
                <a:cubicBezTo>
                  <a:pt x="85775" y="233958"/>
                  <a:pt x="92373" y="230138"/>
                  <a:pt x="97730" y="224780"/>
                </a:cubicBezTo>
                <a:lnTo>
                  <a:pt x="204391" y="118021"/>
                </a:lnTo>
                <a:lnTo>
                  <a:pt x="135979" y="49609"/>
                </a:lnTo>
                <a:close/>
              </a:path>
            </a:pathLst>
          </a:custGeom>
          <a:solidFill>
            <a:srgbClr val="2D5A4C"/>
          </a:solidFill>
          <a:ln/>
        </p:spPr>
      </p:sp>
      <p:sp>
        <p:nvSpPr>
          <p:cNvPr id="29" name="Text 27"/>
          <p:cNvSpPr/>
          <p:nvPr/>
        </p:nvSpPr>
        <p:spPr>
          <a:xfrm>
            <a:off x="1371600" y="8064500"/>
            <a:ext cx="13970000" cy="508000"/>
          </a:xfrm>
          <a:prstGeom prst="rect">
            <a:avLst/>
          </a:prstGeom>
          <a:noFill/>
          <a:ln/>
        </p:spPr>
        <p:txBody>
          <a:bodyPr wrap="square" lIns="0" tIns="0" rIns="0" bIns="0" rtlCol="0" anchor="ctr"/>
          <a:lstStyle/>
          <a:p>
            <a:pPr>
              <a:lnSpc>
                <a:spcPct val="140000"/>
              </a:lnSpc>
            </a:pPr>
            <a:r>
              <a:rPr lang="en-US" sz="1400" b="1" dirty="0">
                <a:solidFill>
                  <a:srgbClr val="2D5A4C"/>
                </a:solidFill>
                <a:latin typeface="Quattrocento Sans" pitchFamily="34" charset="0"/>
                <a:ea typeface="Quattrocento Sans" pitchFamily="34" charset="-122"/>
                <a:cs typeface="Quattrocento Sans" pitchFamily="34" charset="-120"/>
              </a:rPr>
              <a:t>Practice:</a:t>
            </a:r>
            <a:pPr>
              <a:lnSpc>
                <a:spcPct val="140000"/>
              </a:lnSpc>
            </a:pPr>
            <a:r>
              <a:rPr lang="en-US" sz="1400" dirty="0">
                <a:solidFill>
                  <a:srgbClr val="2D5A4C"/>
                </a:solidFill>
                <a:latin typeface="Quattrocento Sans" pitchFamily="34" charset="0"/>
                <a:ea typeface="Quattrocento Sans" pitchFamily="34" charset="-122"/>
                <a:cs typeface="Quattrocento Sans" pitchFamily="34" charset="-120"/>
              </a:rPr>
              <a:t> Name three places where databases might be used in your daily life.</a:t>
            </a:r>
            <a:endParaRPr lang="en-US" sz="1600" dirty="0"/>
          </a:p>
        </p:txBody>
      </p:sp>
      <p:sp>
        <p:nvSpPr>
          <p:cNvPr id="30" name="Text 28"/>
          <p:cNvSpPr/>
          <p:nvPr/>
        </p:nvSpPr>
        <p:spPr>
          <a:xfrm>
            <a:off x="13462000" y="8788400"/>
            <a:ext cx="2286000" cy="254000"/>
          </a:xfrm>
          <a:prstGeom prst="rect">
            <a:avLst/>
          </a:prstGeom>
          <a:noFill/>
          <a:ln/>
        </p:spPr>
        <p:txBody>
          <a:bodyPr wrap="none" lIns="0" tIns="0" rIns="0" bIns="0" rtlCol="0" anchor="ctr"/>
          <a:lstStyle/>
          <a:p>
            <a:pPr algn="r">
              <a:lnSpc>
                <a:spcPct val="140000"/>
              </a:lnSpc>
            </a:pPr>
            <a:r>
              <a:rPr lang="en-US" sz="1400" dirty="0">
                <a:solidFill>
                  <a:srgbClr val="8B7355"/>
                </a:solidFill>
                <a:latin typeface="QuattrocentoSans" pitchFamily="34" charset="0"/>
                <a:ea typeface="QuattrocentoSans" pitchFamily="34" charset="-122"/>
                <a:cs typeface="QuattrocentoSans" pitchFamily="34" charset="-120"/>
              </a:rPr>
              <a:t>Introduction to Databases</a:t>
            </a:r>
            <a:endParaRPr lang="en-US" sz="14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D4943A"/>
          </a:solidFill>
          <a:ln/>
        </p:spPr>
      </p:sp>
      <p:sp>
        <p:nvSpPr>
          <p:cNvPr id="3" name="Text 1"/>
          <p:cNvSpPr/>
          <p:nvPr/>
        </p:nvSpPr>
        <p:spPr>
          <a:xfrm>
            <a:off x="762000" y="381000"/>
            <a:ext cx="10160000" cy="508000"/>
          </a:xfrm>
          <a:prstGeom prst="rect">
            <a:avLst/>
          </a:prstGeom>
          <a:noFill/>
          <a:ln/>
        </p:spPr>
        <p:txBody>
          <a:bodyPr wrap="none" lIns="0" tIns="0" rIns="0" bIns="0" rtlCol="0" anchor="ctr"/>
          <a:lstStyle/>
          <a:p>
            <a:pPr>
              <a:lnSpc>
                <a:spcPct val="130000"/>
              </a:lnSpc>
            </a:pPr>
            <a:r>
              <a:rPr lang="en-US" sz="2800" dirty="0">
                <a:solidFill>
                  <a:srgbClr val="2D5A4C"/>
                </a:solidFill>
                <a:latin typeface="Liter" pitchFamily="34" charset="0"/>
                <a:ea typeface="Liter" pitchFamily="34" charset="-122"/>
                <a:cs typeface="Liter" pitchFamily="34" charset="-120"/>
              </a:rPr>
              <a:t>Why Do We Need Databases?</a:t>
            </a:r>
            <a:endParaRPr lang="en-US" sz="2800" dirty="0"/>
          </a:p>
        </p:txBody>
      </p:sp>
      <p:sp>
        <p:nvSpPr>
          <p:cNvPr id="4" name="Text 2"/>
          <p:cNvSpPr/>
          <p:nvPr/>
        </p:nvSpPr>
        <p:spPr>
          <a:xfrm>
            <a:off x="762000" y="1143000"/>
            <a:ext cx="8128000" cy="3683000"/>
          </a:xfrm>
          <a:prstGeom prst="rect">
            <a:avLst/>
          </a:prstGeom>
          <a:noFill/>
          <a:ln/>
        </p:spPr>
        <p:txBody>
          <a:bodyPr wrap="square" lIns="0" tIns="0" rIns="0" bIns="0" rtlCol="0" anchor="t"/>
          <a:lstStyle/>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The world generates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massive amounts of data</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every second — emails, transactions, photos</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Without databases, finding specific info would be like finding a needle in a haystack</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Databases allow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multiple people</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to access and update information simultaneously</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They protect data from being lost, duplicated, or corrupted</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Businesses, schools, hospitals, and governments all depend on databases</a:t>
            </a:r>
            <a:endParaRPr lang="en-US" sz="2000" dirty="0"/>
          </a:p>
        </p:txBody>
      </p:sp>
      <p:sp>
        <p:nvSpPr>
          <p:cNvPr id="5" name="Shape 3"/>
          <p:cNvSpPr/>
          <p:nvPr/>
        </p:nvSpPr>
        <p:spPr>
          <a:xfrm>
            <a:off x="9398000" y="1016000"/>
            <a:ext cx="6096000" cy="3810000"/>
          </a:xfrm>
          <a:prstGeom prst="roundRect">
            <a:avLst>
              <a:gd name="adj" fmla="val 8000"/>
            </a:avLst>
          </a:prstGeom>
          <a:solidFill>
            <a:srgbClr val="2D5A4C">
              <a:alpha val="8235"/>
            </a:srgbClr>
          </a:solidFill>
          <a:ln/>
        </p:spPr>
      </p:sp>
      <p:sp>
        <p:nvSpPr>
          <p:cNvPr id="6" name="Text 4"/>
          <p:cNvSpPr/>
          <p:nvPr/>
        </p:nvSpPr>
        <p:spPr>
          <a:xfrm>
            <a:off x="9398000" y="1117600"/>
            <a:ext cx="6096000" cy="355600"/>
          </a:xfrm>
          <a:prstGeom prst="rect">
            <a:avLst/>
          </a:prstGeom>
          <a:noFill/>
          <a:ln/>
        </p:spPr>
        <p:txBody>
          <a:bodyPr wrap="none" lIns="0" tIns="0" rIns="0" bIns="0" rtlCol="0" anchor="ctr"/>
          <a:lstStyle/>
          <a:p>
            <a:pPr algn="ctr">
              <a:lnSpc>
                <a:spcPct val="100000"/>
              </a:lnSpc>
            </a:pPr>
            <a:r>
              <a:rPr lang="en-US" sz="1400" b="1" dirty="0">
                <a:solidFill>
                  <a:srgbClr val="2D5A4C"/>
                </a:solidFill>
                <a:latin typeface="Liter" pitchFamily="34" charset="0"/>
                <a:ea typeface="Liter" pitchFamily="34" charset="-122"/>
                <a:cs typeface="Liter" pitchFamily="34" charset="-120"/>
              </a:rPr>
              <a:t>DATA EVERYWHERE</a:t>
            </a:r>
            <a:endParaRPr lang="en-US" sz="1600" dirty="0"/>
          </a:p>
        </p:txBody>
      </p:sp>
      <p:sp>
        <p:nvSpPr>
          <p:cNvPr id="7" name="Shape 5"/>
          <p:cNvSpPr/>
          <p:nvPr/>
        </p:nvSpPr>
        <p:spPr>
          <a:xfrm>
            <a:off x="10001250" y="1778000"/>
            <a:ext cx="571500" cy="508000"/>
          </a:xfrm>
          <a:custGeom>
            <a:avLst/>
            <a:gdLst/>
            <a:ahLst/>
            <a:cxnLst/>
            <a:rect l="l" t="t" r="r" b="b"/>
            <a:pathLst>
              <a:path w="571500" h="508000">
                <a:moveTo>
                  <a:pt x="381000" y="142875"/>
                </a:moveTo>
                <a:cubicBezTo>
                  <a:pt x="381000" y="239316"/>
                  <a:pt x="295672" y="317500"/>
                  <a:pt x="190500" y="317500"/>
                </a:cubicBezTo>
                <a:cubicBezTo>
                  <a:pt x="164009" y="317500"/>
                  <a:pt x="138807" y="312539"/>
                  <a:pt x="115888" y="303609"/>
                </a:cubicBezTo>
                <a:lnTo>
                  <a:pt x="34925" y="346472"/>
                </a:lnTo>
                <a:cubicBezTo>
                  <a:pt x="25698" y="351334"/>
                  <a:pt x="14387" y="349647"/>
                  <a:pt x="6945" y="342305"/>
                </a:cubicBezTo>
                <a:cubicBezTo>
                  <a:pt x="-496" y="334963"/>
                  <a:pt x="-2183" y="323552"/>
                  <a:pt x="2778" y="314325"/>
                </a:cubicBezTo>
                <a:lnTo>
                  <a:pt x="38100" y="247650"/>
                </a:lnTo>
                <a:cubicBezTo>
                  <a:pt x="14188" y="218480"/>
                  <a:pt x="0" y="182166"/>
                  <a:pt x="0" y="142875"/>
                </a:cubicBezTo>
                <a:cubicBezTo>
                  <a:pt x="0" y="46434"/>
                  <a:pt x="85328" y="-31750"/>
                  <a:pt x="190500" y="-31750"/>
                </a:cubicBezTo>
                <a:cubicBezTo>
                  <a:pt x="295672" y="-31750"/>
                  <a:pt x="381000" y="46434"/>
                  <a:pt x="381000" y="142875"/>
                </a:cubicBezTo>
                <a:close/>
                <a:moveTo>
                  <a:pt x="381000" y="508000"/>
                </a:moveTo>
                <a:cubicBezTo>
                  <a:pt x="287635" y="508000"/>
                  <a:pt x="209947" y="446385"/>
                  <a:pt x="193675" y="365125"/>
                </a:cubicBezTo>
                <a:cubicBezTo>
                  <a:pt x="312737" y="363637"/>
                  <a:pt x="416223" y="278904"/>
                  <a:pt x="427633" y="164009"/>
                </a:cubicBezTo>
                <a:cubicBezTo>
                  <a:pt x="510282" y="183059"/>
                  <a:pt x="571500" y="251619"/>
                  <a:pt x="571500" y="333375"/>
                </a:cubicBezTo>
                <a:cubicBezTo>
                  <a:pt x="571500" y="372666"/>
                  <a:pt x="557312" y="408980"/>
                  <a:pt x="533400" y="438150"/>
                </a:cubicBezTo>
                <a:lnTo>
                  <a:pt x="568722" y="504825"/>
                </a:lnTo>
                <a:cubicBezTo>
                  <a:pt x="573584" y="514052"/>
                  <a:pt x="571897" y="525363"/>
                  <a:pt x="564555" y="532805"/>
                </a:cubicBezTo>
                <a:cubicBezTo>
                  <a:pt x="557212" y="540246"/>
                  <a:pt x="545802" y="541933"/>
                  <a:pt x="536575" y="536972"/>
                </a:cubicBezTo>
                <a:lnTo>
                  <a:pt x="455612" y="494109"/>
                </a:lnTo>
                <a:cubicBezTo>
                  <a:pt x="432693" y="503039"/>
                  <a:pt x="407491" y="508000"/>
                  <a:pt x="381000" y="508000"/>
                </a:cubicBezTo>
                <a:close/>
              </a:path>
            </a:pathLst>
          </a:custGeom>
          <a:solidFill>
            <a:srgbClr val="2D5A4C"/>
          </a:solidFill>
          <a:ln/>
        </p:spPr>
      </p:sp>
      <p:sp>
        <p:nvSpPr>
          <p:cNvPr id="8" name="Text 6"/>
          <p:cNvSpPr/>
          <p:nvPr/>
        </p:nvSpPr>
        <p:spPr>
          <a:xfrm>
            <a:off x="10668000" y="1778000"/>
            <a:ext cx="1778000" cy="508000"/>
          </a:xfrm>
          <a:prstGeom prst="rect">
            <a:avLst/>
          </a:prstGeom>
          <a:noFill/>
          <a:ln/>
        </p:spPr>
        <p:txBody>
          <a:bodyPr wrap="none" lIns="0" tIns="0" rIns="0" bIns="0" rtlCol="0" anchor="ctr"/>
          <a:lstStyle/>
          <a:p>
            <a:pPr>
              <a:lnSpc>
                <a:spcPct val="100000"/>
              </a:lnSpc>
            </a:pPr>
            <a:r>
              <a:rPr lang="en-US" sz="1400" dirty="0">
                <a:solidFill>
                  <a:srgbClr val="2C2C2C"/>
                </a:solidFill>
                <a:latin typeface="Quattrocento Sans" pitchFamily="34" charset="0"/>
                <a:ea typeface="Quattrocento Sans" pitchFamily="34" charset="-122"/>
                <a:cs typeface="Quattrocento Sans" pitchFamily="34" charset="-120"/>
              </a:rPr>
              <a:t>Social Media</a:t>
            </a:r>
            <a:endParaRPr lang="en-US" sz="1600" dirty="0"/>
          </a:p>
        </p:txBody>
      </p:sp>
      <p:sp>
        <p:nvSpPr>
          <p:cNvPr id="9" name="Shape 7"/>
          <p:cNvSpPr/>
          <p:nvPr/>
        </p:nvSpPr>
        <p:spPr>
          <a:xfrm>
            <a:off x="9969500" y="2476500"/>
            <a:ext cx="635000" cy="508000"/>
          </a:xfrm>
          <a:custGeom>
            <a:avLst/>
            <a:gdLst/>
            <a:ahLst/>
            <a:cxnLst/>
            <a:rect l="l" t="t" r="r" b="b"/>
            <a:pathLst>
              <a:path w="635000" h="508000">
                <a:moveTo>
                  <a:pt x="23812" y="-15875"/>
                </a:moveTo>
                <a:cubicBezTo>
                  <a:pt x="10616" y="-15875"/>
                  <a:pt x="0" y="-5259"/>
                  <a:pt x="0" y="7938"/>
                </a:cubicBezTo>
                <a:cubicBezTo>
                  <a:pt x="0" y="21134"/>
                  <a:pt x="10616" y="31750"/>
                  <a:pt x="23812" y="31750"/>
                </a:cubicBezTo>
                <a:lnTo>
                  <a:pt x="68759" y="31750"/>
                </a:lnTo>
                <a:cubicBezTo>
                  <a:pt x="72628" y="31750"/>
                  <a:pt x="75902" y="34528"/>
                  <a:pt x="76597" y="38298"/>
                </a:cubicBezTo>
                <a:lnTo>
                  <a:pt x="128290" y="322362"/>
                </a:lnTo>
                <a:cubicBezTo>
                  <a:pt x="134441" y="356295"/>
                  <a:pt x="164009" y="381000"/>
                  <a:pt x="198537" y="381000"/>
                </a:cubicBezTo>
                <a:lnTo>
                  <a:pt x="452437" y="381000"/>
                </a:lnTo>
                <a:cubicBezTo>
                  <a:pt x="465634" y="381000"/>
                  <a:pt x="476250" y="370384"/>
                  <a:pt x="476250" y="357188"/>
                </a:cubicBezTo>
                <a:cubicBezTo>
                  <a:pt x="476250" y="343991"/>
                  <a:pt x="465634" y="333375"/>
                  <a:pt x="452437" y="333375"/>
                </a:cubicBezTo>
                <a:lnTo>
                  <a:pt x="198537" y="333375"/>
                </a:lnTo>
                <a:cubicBezTo>
                  <a:pt x="187027" y="333375"/>
                  <a:pt x="177205" y="325140"/>
                  <a:pt x="175121" y="313829"/>
                </a:cubicBezTo>
                <a:lnTo>
                  <a:pt x="170061" y="285750"/>
                </a:lnTo>
                <a:lnTo>
                  <a:pt x="471289" y="285750"/>
                </a:lnTo>
                <a:cubicBezTo>
                  <a:pt x="501848" y="285750"/>
                  <a:pt x="528042" y="264021"/>
                  <a:pt x="533698" y="233958"/>
                </a:cubicBezTo>
                <a:lnTo>
                  <a:pt x="564455" y="69354"/>
                </a:lnTo>
                <a:cubicBezTo>
                  <a:pt x="568127" y="49808"/>
                  <a:pt x="553145" y="31750"/>
                  <a:pt x="533202" y="31750"/>
                </a:cubicBezTo>
                <a:lnTo>
                  <a:pt x="123726" y="31750"/>
                </a:lnTo>
                <a:lnTo>
                  <a:pt x="123329" y="29766"/>
                </a:lnTo>
                <a:cubicBezTo>
                  <a:pt x="118566" y="3373"/>
                  <a:pt x="95548" y="-15875"/>
                  <a:pt x="68659" y="-15875"/>
                </a:cubicBezTo>
                <a:lnTo>
                  <a:pt x="23812" y="-15875"/>
                </a:lnTo>
                <a:close/>
                <a:moveTo>
                  <a:pt x="206375" y="508000"/>
                </a:moveTo>
                <a:cubicBezTo>
                  <a:pt x="232660" y="508000"/>
                  <a:pt x="254000" y="486660"/>
                  <a:pt x="254000" y="460375"/>
                </a:cubicBezTo>
                <a:cubicBezTo>
                  <a:pt x="254000" y="434090"/>
                  <a:pt x="232660" y="412750"/>
                  <a:pt x="206375" y="412750"/>
                </a:cubicBezTo>
                <a:cubicBezTo>
                  <a:pt x="180090" y="412750"/>
                  <a:pt x="158750" y="434090"/>
                  <a:pt x="158750" y="460375"/>
                </a:cubicBezTo>
                <a:cubicBezTo>
                  <a:pt x="158750" y="486660"/>
                  <a:pt x="180090" y="508000"/>
                  <a:pt x="206375" y="508000"/>
                </a:cubicBezTo>
                <a:close/>
                <a:moveTo>
                  <a:pt x="428625" y="508000"/>
                </a:moveTo>
                <a:cubicBezTo>
                  <a:pt x="454910" y="508000"/>
                  <a:pt x="476250" y="486660"/>
                  <a:pt x="476250" y="460375"/>
                </a:cubicBezTo>
                <a:cubicBezTo>
                  <a:pt x="476250" y="434090"/>
                  <a:pt x="454910" y="412750"/>
                  <a:pt x="428625" y="412750"/>
                </a:cubicBezTo>
                <a:cubicBezTo>
                  <a:pt x="402340" y="412750"/>
                  <a:pt x="381000" y="434090"/>
                  <a:pt x="381000" y="460375"/>
                </a:cubicBezTo>
                <a:cubicBezTo>
                  <a:pt x="381000" y="486660"/>
                  <a:pt x="402340" y="508000"/>
                  <a:pt x="428625" y="508000"/>
                </a:cubicBezTo>
                <a:close/>
              </a:path>
            </a:pathLst>
          </a:custGeom>
          <a:solidFill>
            <a:srgbClr val="2D5A4C"/>
          </a:solidFill>
          <a:ln/>
        </p:spPr>
      </p:sp>
      <p:sp>
        <p:nvSpPr>
          <p:cNvPr id="10" name="Text 8"/>
          <p:cNvSpPr/>
          <p:nvPr/>
        </p:nvSpPr>
        <p:spPr>
          <a:xfrm>
            <a:off x="10668000" y="2476500"/>
            <a:ext cx="1778000" cy="508000"/>
          </a:xfrm>
          <a:prstGeom prst="rect">
            <a:avLst/>
          </a:prstGeom>
          <a:noFill/>
          <a:ln/>
        </p:spPr>
        <p:txBody>
          <a:bodyPr wrap="none" lIns="0" tIns="0" rIns="0" bIns="0" rtlCol="0" anchor="ctr"/>
          <a:lstStyle/>
          <a:p>
            <a:pPr>
              <a:lnSpc>
                <a:spcPct val="100000"/>
              </a:lnSpc>
            </a:pPr>
            <a:r>
              <a:rPr lang="en-US" sz="1400" dirty="0">
                <a:solidFill>
                  <a:srgbClr val="2C2C2C"/>
                </a:solidFill>
                <a:latin typeface="Quattrocento Sans" pitchFamily="34" charset="0"/>
                <a:ea typeface="Quattrocento Sans" pitchFamily="34" charset="-122"/>
                <a:cs typeface="Quattrocento Sans" pitchFamily="34" charset="-120"/>
              </a:rPr>
              <a:t>Online Shopping</a:t>
            </a:r>
            <a:endParaRPr lang="en-US" sz="1600" dirty="0"/>
          </a:p>
        </p:txBody>
      </p:sp>
      <p:sp>
        <p:nvSpPr>
          <p:cNvPr id="11" name="Shape 9"/>
          <p:cNvSpPr/>
          <p:nvPr/>
        </p:nvSpPr>
        <p:spPr>
          <a:xfrm>
            <a:off x="10033000" y="3175000"/>
            <a:ext cx="508000" cy="508000"/>
          </a:xfrm>
          <a:custGeom>
            <a:avLst/>
            <a:gdLst/>
            <a:ahLst/>
            <a:cxnLst/>
            <a:rect l="l" t="t" r="r" b="b"/>
            <a:pathLst>
              <a:path w="508000" h="508000">
                <a:moveTo>
                  <a:pt x="269776" y="20042"/>
                </a:moveTo>
                <a:cubicBezTo>
                  <a:pt x="260052" y="14486"/>
                  <a:pt x="248047" y="14486"/>
                  <a:pt x="238224" y="20042"/>
                </a:cubicBezTo>
                <a:lnTo>
                  <a:pt x="15974" y="147042"/>
                </a:lnTo>
                <a:cubicBezTo>
                  <a:pt x="3473" y="154186"/>
                  <a:pt x="-2679" y="168870"/>
                  <a:pt x="992" y="182761"/>
                </a:cubicBezTo>
                <a:cubicBezTo>
                  <a:pt x="4663" y="196652"/>
                  <a:pt x="17363" y="206375"/>
                  <a:pt x="31750" y="206375"/>
                </a:cubicBezTo>
                <a:lnTo>
                  <a:pt x="63500" y="206375"/>
                </a:lnTo>
                <a:lnTo>
                  <a:pt x="63500" y="412750"/>
                </a:lnTo>
                <a:lnTo>
                  <a:pt x="63500" y="412750"/>
                </a:lnTo>
                <a:lnTo>
                  <a:pt x="12700" y="450850"/>
                </a:lnTo>
                <a:cubicBezTo>
                  <a:pt x="4663" y="456803"/>
                  <a:pt x="0" y="466229"/>
                  <a:pt x="0" y="476250"/>
                </a:cubicBezTo>
                <a:cubicBezTo>
                  <a:pt x="0" y="493812"/>
                  <a:pt x="14188" y="508000"/>
                  <a:pt x="31750" y="508000"/>
                </a:cubicBezTo>
                <a:lnTo>
                  <a:pt x="476250" y="508000"/>
                </a:lnTo>
                <a:cubicBezTo>
                  <a:pt x="493812" y="508000"/>
                  <a:pt x="508000" y="493812"/>
                  <a:pt x="508000" y="476250"/>
                </a:cubicBezTo>
                <a:cubicBezTo>
                  <a:pt x="508000" y="466229"/>
                  <a:pt x="503337" y="456803"/>
                  <a:pt x="495300" y="450850"/>
                </a:cubicBezTo>
                <a:lnTo>
                  <a:pt x="444500" y="412750"/>
                </a:lnTo>
                <a:lnTo>
                  <a:pt x="444500" y="206375"/>
                </a:lnTo>
                <a:lnTo>
                  <a:pt x="476250" y="206375"/>
                </a:lnTo>
                <a:cubicBezTo>
                  <a:pt x="490637" y="206375"/>
                  <a:pt x="503238" y="196652"/>
                  <a:pt x="506909" y="182761"/>
                </a:cubicBezTo>
                <a:cubicBezTo>
                  <a:pt x="510580" y="168870"/>
                  <a:pt x="504428" y="154186"/>
                  <a:pt x="491927" y="147042"/>
                </a:cubicBezTo>
                <a:lnTo>
                  <a:pt x="269677" y="20042"/>
                </a:lnTo>
                <a:close/>
                <a:moveTo>
                  <a:pt x="396875" y="206375"/>
                </a:moveTo>
                <a:lnTo>
                  <a:pt x="396875" y="412750"/>
                </a:lnTo>
                <a:lnTo>
                  <a:pt x="333375" y="412750"/>
                </a:lnTo>
                <a:lnTo>
                  <a:pt x="333375" y="206375"/>
                </a:lnTo>
                <a:lnTo>
                  <a:pt x="396875" y="206375"/>
                </a:lnTo>
                <a:close/>
                <a:moveTo>
                  <a:pt x="285750" y="206375"/>
                </a:moveTo>
                <a:lnTo>
                  <a:pt x="285750" y="412750"/>
                </a:lnTo>
                <a:lnTo>
                  <a:pt x="222250" y="412750"/>
                </a:lnTo>
                <a:lnTo>
                  <a:pt x="222250" y="206375"/>
                </a:lnTo>
                <a:lnTo>
                  <a:pt x="285750" y="206375"/>
                </a:lnTo>
                <a:close/>
                <a:moveTo>
                  <a:pt x="174625" y="206375"/>
                </a:moveTo>
                <a:lnTo>
                  <a:pt x="174625" y="412750"/>
                </a:lnTo>
                <a:lnTo>
                  <a:pt x="111125" y="412750"/>
                </a:lnTo>
                <a:lnTo>
                  <a:pt x="111125" y="206375"/>
                </a:lnTo>
                <a:lnTo>
                  <a:pt x="174625" y="206375"/>
                </a:lnTo>
                <a:close/>
                <a:moveTo>
                  <a:pt x="254000" y="95250"/>
                </a:moveTo>
                <a:cubicBezTo>
                  <a:pt x="271523" y="95250"/>
                  <a:pt x="285750" y="109477"/>
                  <a:pt x="285750" y="127000"/>
                </a:cubicBezTo>
                <a:cubicBezTo>
                  <a:pt x="285750" y="144523"/>
                  <a:pt x="271523" y="158750"/>
                  <a:pt x="254000" y="158750"/>
                </a:cubicBezTo>
                <a:cubicBezTo>
                  <a:pt x="236477" y="158750"/>
                  <a:pt x="222250" y="144523"/>
                  <a:pt x="222250" y="127000"/>
                </a:cubicBezTo>
                <a:cubicBezTo>
                  <a:pt x="222250" y="109477"/>
                  <a:pt x="236477" y="95250"/>
                  <a:pt x="254000" y="95250"/>
                </a:cubicBezTo>
                <a:close/>
              </a:path>
            </a:pathLst>
          </a:custGeom>
          <a:solidFill>
            <a:srgbClr val="2D5A4C"/>
          </a:solidFill>
          <a:ln/>
        </p:spPr>
      </p:sp>
      <p:sp>
        <p:nvSpPr>
          <p:cNvPr id="12" name="Text 10"/>
          <p:cNvSpPr/>
          <p:nvPr/>
        </p:nvSpPr>
        <p:spPr>
          <a:xfrm>
            <a:off x="10668000" y="3175000"/>
            <a:ext cx="1778000" cy="508000"/>
          </a:xfrm>
          <a:prstGeom prst="rect">
            <a:avLst/>
          </a:prstGeom>
          <a:noFill/>
          <a:ln/>
        </p:spPr>
        <p:txBody>
          <a:bodyPr wrap="none" lIns="0" tIns="0" rIns="0" bIns="0" rtlCol="0" anchor="ctr"/>
          <a:lstStyle/>
          <a:p>
            <a:pPr>
              <a:lnSpc>
                <a:spcPct val="100000"/>
              </a:lnSpc>
            </a:pPr>
            <a:r>
              <a:rPr lang="en-US" sz="1400" dirty="0">
                <a:solidFill>
                  <a:srgbClr val="2C2C2C"/>
                </a:solidFill>
                <a:latin typeface="Quattrocento Sans" pitchFamily="34" charset="0"/>
                <a:ea typeface="Quattrocento Sans" pitchFamily="34" charset="-122"/>
                <a:cs typeface="Quattrocento Sans" pitchFamily="34" charset="-120"/>
              </a:rPr>
              <a:t>Banking</a:t>
            </a:r>
            <a:endParaRPr lang="en-US" sz="1600" dirty="0"/>
          </a:p>
        </p:txBody>
      </p:sp>
      <p:sp>
        <p:nvSpPr>
          <p:cNvPr id="13" name="Shape 11"/>
          <p:cNvSpPr/>
          <p:nvPr/>
        </p:nvSpPr>
        <p:spPr>
          <a:xfrm>
            <a:off x="13303250" y="1778000"/>
            <a:ext cx="571500" cy="508000"/>
          </a:xfrm>
          <a:custGeom>
            <a:avLst/>
            <a:gdLst/>
            <a:ahLst/>
            <a:cxnLst/>
            <a:rect l="l" t="t" r="r" b="b"/>
            <a:pathLst>
              <a:path w="571500" h="508000">
                <a:moveTo>
                  <a:pt x="127000" y="63500"/>
                </a:moveTo>
                <a:cubicBezTo>
                  <a:pt x="127000" y="28476"/>
                  <a:pt x="155476" y="0"/>
                  <a:pt x="190500" y="0"/>
                </a:cubicBezTo>
                <a:lnTo>
                  <a:pt x="381000" y="0"/>
                </a:lnTo>
                <a:cubicBezTo>
                  <a:pt x="416024" y="0"/>
                  <a:pt x="444500" y="28476"/>
                  <a:pt x="444500" y="63500"/>
                </a:cubicBezTo>
                <a:lnTo>
                  <a:pt x="444500" y="127000"/>
                </a:lnTo>
                <a:lnTo>
                  <a:pt x="508000" y="127000"/>
                </a:lnTo>
                <a:cubicBezTo>
                  <a:pt x="543024" y="127000"/>
                  <a:pt x="571500" y="155476"/>
                  <a:pt x="571500" y="190500"/>
                </a:cubicBezTo>
                <a:lnTo>
                  <a:pt x="571500" y="444500"/>
                </a:lnTo>
                <a:cubicBezTo>
                  <a:pt x="571500" y="479524"/>
                  <a:pt x="543024" y="508000"/>
                  <a:pt x="508000" y="508000"/>
                </a:cubicBezTo>
                <a:lnTo>
                  <a:pt x="63500" y="508000"/>
                </a:lnTo>
                <a:cubicBezTo>
                  <a:pt x="28476" y="508000"/>
                  <a:pt x="0" y="479524"/>
                  <a:pt x="0" y="444500"/>
                </a:cubicBezTo>
                <a:lnTo>
                  <a:pt x="0" y="190500"/>
                </a:lnTo>
                <a:cubicBezTo>
                  <a:pt x="0" y="155476"/>
                  <a:pt x="28476" y="127000"/>
                  <a:pt x="63500" y="127000"/>
                </a:cubicBezTo>
                <a:lnTo>
                  <a:pt x="127000" y="127000"/>
                </a:lnTo>
                <a:lnTo>
                  <a:pt x="127000" y="63500"/>
                </a:lnTo>
                <a:close/>
                <a:moveTo>
                  <a:pt x="269875" y="349250"/>
                </a:moveTo>
                <a:cubicBezTo>
                  <a:pt x="252313" y="349250"/>
                  <a:pt x="238125" y="363438"/>
                  <a:pt x="238125" y="381000"/>
                </a:cubicBezTo>
                <a:lnTo>
                  <a:pt x="238125" y="460375"/>
                </a:lnTo>
                <a:lnTo>
                  <a:pt x="333375" y="460375"/>
                </a:lnTo>
                <a:lnTo>
                  <a:pt x="333375" y="381000"/>
                </a:lnTo>
                <a:cubicBezTo>
                  <a:pt x="333375" y="363438"/>
                  <a:pt x="319187" y="349250"/>
                  <a:pt x="301625" y="349250"/>
                </a:cubicBezTo>
                <a:lnTo>
                  <a:pt x="269875" y="349250"/>
                </a:lnTo>
                <a:close/>
                <a:moveTo>
                  <a:pt x="127000" y="365125"/>
                </a:moveTo>
                <a:lnTo>
                  <a:pt x="127000" y="333375"/>
                </a:lnTo>
                <a:cubicBezTo>
                  <a:pt x="127000" y="324644"/>
                  <a:pt x="119856" y="317500"/>
                  <a:pt x="111125" y="317500"/>
                </a:cubicBezTo>
                <a:lnTo>
                  <a:pt x="79375" y="317500"/>
                </a:lnTo>
                <a:cubicBezTo>
                  <a:pt x="70644" y="317500"/>
                  <a:pt x="63500" y="324644"/>
                  <a:pt x="63500" y="333375"/>
                </a:cubicBezTo>
                <a:lnTo>
                  <a:pt x="63500" y="365125"/>
                </a:lnTo>
                <a:cubicBezTo>
                  <a:pt x="63500" y="373856"/>
                  <a:pt x="70644" y="381000"/>
                  <a:pt x="79375" y="381000"/>
                </a:cubicBezTo>
                <a:lnTo>
                  <a:pt x="111125" y="381000"/>
                </a:lnTo>
                <a:cubicBezTo>
                  <a:pt x="119856" y="381000"/>
                  <a:pt x="127000" y="373856"/>
                  <a:pt x="127000" y="365125"/>
                </a:cubicBezTo>
                <a:close/>
                <a:moveTo>
                  <a:pt x="111125" y="254000"/>
                </a:moveTo>
                <a:cubicBezTo>
                  <a:pt x="119856" y="254000"/>
                  <a:pt x="127000" y="246856"/>
                  <a:pt x="127000" y="238125"/>
                </a:cubicBezTo>
                <a:lnTo>
                  <a:pt x="127000" y="206375"/>
                </a:lnTo>
                <a:cubicBezTo>
                  <a:pt x="127000" y="197644"/>
                  <a:pt x="119856" y="190500"/>
                  <a:pt x="111125" y="190500"/>
                </a:cubicBezTo>
                <a:lnTo>
                  <a:pt x="79375" y="190500"/>
                </a:lnTo>
                <a:cubicBezTo>
                  <a:pt x="70644" y="190500"/>
                  <a:pt x="63500" y="197644"/>
                  <a:pt x="63500" y="206375"/>
                </a:cubicBezTo>
                <a:lnTo>
                  <a:pt x="63500" y="238125"/>
                </a:lnTo>
                <a:cubicBezTo>
                  <a:pt x="63500" y="246856"/>
                  <a:pt x="70644" y="254000"/>
                  <a:pt x="79375" y="254000"/>
                </a:cubicBezTo>
                <a:lnTo>
                  <a:pt x="111125" y="254000"/>
                </a:lnTo>
                <a:close/>
                <a:moveTo>
                  <a:pt x="508000" y="365125"/>
                </a:moveTo>
                <a:lnTo>
                  <a:pt x="508000" y="333375"/>
                </a:lnTo>
                <a:cubicBezTo>
                  <a:pt x="508000" y="324644"/>
                  <a:pt x="500856" y="317500"/>
                  <a:pt x="492125" y="317500"/>
                </a:cubicBezTo>
                <a:lnTo>
                  <a:pt x="460375" y="317500"/>
                </a:lnTo>
                <a:cubicBezTo>
                  <a:pt x="451644" y="317500"/>
                  <a:pt x="444500" y="324644"/>
                  <a:pt x="444500" y="333375"/>
                </a:cubicBezTo>
                <a:lnTo>
                  <a:pt x="444500" y="365125"/>
                </a:lnTo>
                <a:cubicBezTo>
                  <a:pt x="444500" y="373856"/>
                  <a:pt x="451644" y="381000"/>
                  <a:pt x="460375" y="381000"/>
                </a:cubicBezTo>
                <a:lnTo>
                  <a:pt x="492125" y="381000"/>
                </a:lnTo>
                <a:cubicBezTo>
                  <a:pt x="500856" y="381000"/>
                  <a:pt x="508000" y="373856"/>
                  <a:pt x="508000" y="365125"/>
                </a:cubicBezTo>
                <a:close/>
                <a:moveTo>
                  <a:pt x="492125" y="254000"/>
                </a:moveTo>
                <a:cubicBezTo>
                  <a:pt x="500856" y="254000"/>
                  <a:pt x="508000" y="246856"/>
                  <a:pt x="508000" y="238125"/>
                </a:cubicBezTo>
                <a:lnTo>
                  <a:pt x="508000" y="206375"/>
                </a:lnTo>
                <a:cubicBezTo>
                  <a:pt x="508000" y="197644"/>
                  <a:pt x="500856" y="190500"/>
                  <a:pt x="492125" y="190500"/>
                </a:cubicBezTo>
                <a:lnTo>
                  <a:pt x="460375" y="190500"/>
                </a:lnTo>
                <a:cubicBezTo>
                  <a:pt x="451644" y="190500"/>
                  <a:pt x="444500" y="197644"/>
                  <a:pt x="444500" y="206375"/>
                </a:cubicBezTo>
                <a:lnTo>
                  <a:pt x="444500" y="238125"/>
                </a:lnTo>
                <a:cubicBezTo>
                  <a:pt x="444500" y="246856"/>
                  <a:pt x="451644" y="254000"/>
                  <a:pt x="460375" y="254000"/>
                </a:cubicBezTo>
                <a:lnTo>
                  <a:pt x="492125" y="254000"/>
                </a:lnTo>
                <a:close/>
                <a:moveTo>
                  <a:pt x="261937" y="103188"/>
                </a:moveTo>
                <a:lnTo>
                  <a:pt x="261937" y="134938"/>
                </a:lnTo>
                <a:lnTo>
                  <a:pt x="230188" y="134938"/>
                </a:lnTo>
                <a:cubicBezTo>
                  <a:pt x="221456" y="134938"/>
                  <a:pt x="214313" y="142081"/>
                  <a:pt x="214313" y="150813"/>
                </a:cubicBezTo>
                <a:lnTo>
                  <a:pt x="214313" y="166688"/>
                </a:lnTo>
                <a:cubicBezTo>
                  <a:pt x="214313" y="175419"/>
                  <a:pt x="221456" y="182563"/>
                  <a:pt x="230188" y="182563"/>
                </a:cubicBezTo>
                <a:lnTo>
                  <a:pt x="261937" y="182563"/>
                </a:lnTo>
                <a:lnTo>
                  <a:pt x="261937" y="214313"/>
                </a:lnTo>
                <a:cubicBezTo>
                  <a:pt x="261937" y="223044"/>
                  <a:pt x="269081" y="230188"/>
                  <a:pt x="277813" y="230188"/>
                </a:cubicBezTo>
                <a:lnTo>
                  <a:pt x="293688" y="230188"/>
                </a:lnTo>
                <a:cubicBezTo>
                  <a:pt x="302419" y="230188"/>
                  <a:pt x="309562" y="223044"/>
                  <a:pt x="309562" y="214313"/>
                </a:cubicBezTo>
                <a:lnTo>
                  <a:pt x="309562" y="182563"/>
                </a:lnTo>
                <a:lnTo>
                  <a:pt x="341313" y="182563"/>
                </a:lnTo>
                <a:cubicBezTo>
                  <a:pt x="350044" y="182563"/>
                  <a:pt x="357188" y="175419"/>
                  <a:pt x="357188" y="166688"/>
                </a:cubicBezTo>
                <a:lnTo>
                  <a:pt x="357188" y="150813"/>
                </a:lnTo>
                <a:cubicBezTo>
                  <a:pt x="357188" y="142081"/>
                  <a:pt x="350044" y="134938"/>
                  <a:pt x="341313" y="134938"/>
                </a:cubicBezTo>
                <a:lnTo>
                  <a:pt x="309562" y="134938"/>
                </a:lnTo>
                <a:lnTo>
                  <a:pt x="309562" y="103188"/>
                </a:lnTo>
                <a:cubicBezTo>
                  <a:pt x="309562" y="94456"/>
                  <a:pt x="302419" y="87313"/>
                  <a:pt x="293688" y="87313"/>
                </a:cubicBezTo>
                <a:lnTo>
                  <a:pt x="277813" y="87313"/>
                </a:lnTo>
                <a:cubicBezTo>
                  <a:pt x="269081" y="87313"/>
                  <a:pt x="261937" y="94456"/>
                  <a:pt x="261937" y="103188"/>
                </a:cubicBezTo>
                <a:close/>
              </a:path>
            </a:pathLst>
          </a:custGeom>
          <a:solidFill>
            <a:srgbClr val="2D5A4C"/>
          </a:solidFill>
          <a:ln/>
        </p:spPr>
      </p:sp>
      <p:sp>
        <p:nvSpPr>
          <p:cNvPr id="14" name="Text 12"/>
          <p:cNvSpPr/>
          <p:nvPr/>
        </p:nvSpPr>
        <p:spPr>
          <a:xfrm>
            <a:off x="13970000" y="1778000"/>
            <a:ext cx="1397000" cy="508000"/>
          </a:xfrm>
          <a:prstGeom prst="rect">
            <a:avLst/>
          </a:prstGeom>
          <a:noFill/>
          <a:ln/>
        </p:spPr>
        <p:txBody>
          <a:bodyPr wrap="none" lIns="0" tIns="0" rIns="0" bIns="0" rtlCol="0" anchor="ctr"/>
          <a:lstStyle/>
          <a:p>
            <a:pPr>
              <a:lnSpc>
                <a:spcPct val="100000"/>
              </a:lnSpc>
            </a:pPr>
            <a:r>
              <a:rPr lang="en-US" sz="1400" dirty="0">
                <a:solidFill>
                  <a:srgbClr val="2C2C2C"/>
                </a:solidFill>
                <a:latin typeface="Quattrocento Sans" pitchFamily="34" charset="0"/>
                <a:ea typeface="Quattrocento Sans" pitchFamily="34" charset="-122"/>
                <a:cs typeface="Quattrocento Sans" pitchFamily="34" charset="-120"/>
              </a:rPr>
              <a:t>Healthcare</a:t>
            </a:r>
            <a:endParaRPr lang="en-US" sz="1600" dirty="0"/>
          </a:p>
        </p:txBody>
      </p:sp>
      <p:sp>
        <p:nvSpPr>
          <p:cNvPr id="15" name="Shape 13"/>
          <p:cNvSpPr/>
          <p:nvPr/>
        </p:nvSpPr>
        <p:spPr>
          <a:xfrm>
            <a:off x="13303250" y="2476500"/>
            <a:ext cx="571500" cy="508000"/>
          </a:xfrm>
          <a:custGeom>
            <a:avLst/>
            <a:gdLst/>
            <a:ahLst/>
            <a:cxnLst/>
            <a:rect l="l" t="t" r="r" b="b"/>
            <a:pathLst>
              <a:path w="571500" h="508000">
                <a:moveTo>
                  <a:pt x="47625" y="194270"/>
                </a:moveTo>
                <a:lnTo>
                  <a:pt x="255191" y="279698"/>
                </a:lnTo>
                <a:cubicBezTo>
                  <a:pt x="264914" y="283666"/>
                  <a:pt x="275233" y="285750"/>
                  <a:pt x="285750" y="285750"/>
                </a:cubicBezTo>
                <a:cubicBezTo>
                  <a:pt x="296267" y="285750"/>
                  <a:pt x="306586" y="283666"/>
                  <a:pt x="316309" y="279698"/>
                </a:cubicBezTo>
                <a:lnTo>
                  <a:pt x="556816" y="180677"/>
                </a:lnTo>
                <a:cubicBezTo>
                  <a:pt x="565745" y="177006"/>
                  <a:pt x="571500" y="168374"/>
                  <a:pt x="571500" y="158750"/>
                </a:cubicBezTo>
                <a:cubicBezTo>
                  <a:pt x="571500" y="149126"/>
                  <a:pt x="565745" y="140494"/>
                  <a:pt x="556816" y="136823"/>
                </a:cubicBezTo>
                <a:lnTo>
                  <a:pt x="316309" y="37802"/>
                </a:lnTo>
                <a:cubicBezTo>
                  <a:pt x="306586" y="33834"/>
                  <a:pt x="296267" y="31750"/>
                  <a:pt x="285750" y="31750"/>
                </a:cubicBezTo>
                <a:cubicBezTo>
                  <a:pt x="275233" y="31750"/>
                  <a:pt x="264914" y="33834"/>
                  <a:pt x="255191" y="37802"/>
                </a:cubicBezTo>
                <a:lnTo>
                  <a:pt x="14684" y="136823"/>
                </a:lnTo>
                <a:cubicBezTo>
                  <a:pt x="5755" y="140494"/>
                  <a:pt x="0" y="149126"/>
                  <a:pt x="0" y="158750"/>
                </a:cubicBezTo>
                <a:lnTo>
                  <a:pt x="0" y="452437"/>
                </a:lnTo>
                <a:cubicBezTo>
                  <a:pt x="0" y="465634"/>
                  <a:pt x="10616" y="476250"/>
                  <a:pt x="23812" y="476250"/>
                </a:cubicBezTo>
                <a:cubicBezTo>
                  <a:pt x="37009" y="476250"/>
                  <a:pt x="47625" y="465634"/>
                  <a:pt x="47625" y="452437"/>
                </a:cubicBezTo>
                <a:lnTo>
                  <a:pt x="47625" y="194270"/>
                </a:lnTo>
                <a:close/>
                <a:moveTo>
                  <a:pt x="95250" y="265410"/>
                </a:moveTo>
                <a:lnTo>
                  <a:pt x="95250" y="381000"/>
                </a:lnTo>
                <a:cubicBezTo>
                  <a:pt x="95250" y="433586"/>
                  <a:pt x="180578" y="476250"/>
                  <a:pt x="285750" y="476250"/>
                </a:cubicBezTo>
                <a:cubicBezTo>
                  <a:pt x="390922" y="476250"/>
                  <a:pt x="476250" y="433586"/>
                  <a:pt x="476250" y="381000"/>
                </a:cubicBezTo>
                <a:lnTo>
                  <a:pt x="476250" y="265311"/>
                </a:lnTo>
                <a:lnTo>
                  <a:pt x="334466" y="323751"/>
                </a:lnTo>
                <a:cubicBezTo>
                  <a:pt x="318988" y="330101"/>
                  <a:pt x="302518" y="333375"/>
                  <a:pt x="285750" y="333375"/>
                </a:cubicBezTo>
                <a:cubicBezTo>
                  <a:pt x="268982" y="333375"/>
                  <a:pt x="252512" y="330101"/>
                  <a:pt x="237034" y="323751"/>
                </a:cubicBezTo>
                <a:lnTo>
                  <a:pt x="95250" y="265311"/>
                </a:lnTo>
                <a:close/>
              </a:path>
            </a:pathLst>
          </a:custGeom>
          <a:solidFill>
            <a:srgbClr val="2D5A4C"/>
          </a:solidFill>
          <a:ln/>
        </p:spPr>
      </p:sp>
      <p:sp>
        <p:nvSpPr>
          <p:cNvPr id="16" name="Text 14"/>
          <p:cNvSpPr/>
          <p:nvPr/>
        </p:nvSpPr>
        <p:spPr>
          <a:xfrm>
            <a:off x="13970000" y="2476500"/>
            <a:ext cx="1397000" cy="508000"/>
          </a:xfrm>
          <a:prstGeom prst="rect">
            <a:avLst/>
          </a:prstGeom>
          <a:noFill/>
          <a:ln/>
        </p:spPr>
        <p:txBody>
          <a:bodyPr wrap="none" lIns="0" tIns="0" rIns="0" bIns="0" rtlCol="0" anchor="ctr"/>
          <a:lstStyle/>
          <a:p>
            <a:pPr>
              <a:lnSpc>
                <a:spcPct val="100000"/>
              </a:lnSpc>
            </a:pPr>
            <a:r>
              <a:rPr lang="en-US" sz="1400" dirty="0">
                <a:solidFill>
                  <a:srgbClr val="2C2C2C"/>
                </a:solidFill>
                <a:latin typeface="Quattrocento Sans" pitchFamily="34" charset="0"/>
                <a:ea typeface="Quattrocento Sans" pitchFamily="34" charset="-122"/>
                <a:cs typeface="Quattrocento Sans" pitchFamily="34" charset="-120"/>
              </a:rPr>
              <a:t>Education</a:t>
            </a:r>
            <a:endParaRPr lang="en-US" sz="1600" dirty="0"/>
          </a:p>
        </p:txBody>
      </p:sp>
      <p:sp>
        <p:nvSpPr>
          <p:cNvPr id="17" name="Shape 15"/>
          <p:cNvSpPr/>
          <p:nvPr/>
        </p:nvSpPr>
        <p:spPr>
          <a:xfrm>
            <a:off x="13335000" y="3175000"/>
            <a:ext cx="508000" cy="508000"/>
          </a:xfrm>
          <a:custGeom>
            <a:avLst/>
            <a:gdLst/>
            <a:ahLst/>
            <a:cxnLst/>
            <a:rect l="l" t="t" r="r" b="b"/>
            <a:pathLst>
              <a:path w="508000" h="508000">
                <a:moveTo>
                  <a:pt x="236835" y="5060"/>
                </a:moveTo>
                <a:cubicBezTo>
                  <a:pt x="247253" y="-1687"/>
                  <a:pt x="260747" y="-1687"/>
                  <a:pt x="271165" y="5060"/>
                </a:cubicBezTo>
                <a:lnTo>
                  <a:pt x="493415" y="147935"/>
                </a:lnTo>
                <a:cubicBezTo>
                  <a:pt x="505222" y="155575"/>
                  <a:pt x="510679" y="170061"/>
                  <a:pt x="506710" y="183555"/>
                </a:cubicBezTo>
                <a:cubicBezTo>
                  <a:pt x="502741" y="197048"/>
                  <a:pt x="490339" y="206375"/>
                  <a:pt x="476250" y="206375"/>
                </a:cubicBezTo>
                <a:lnTo>
                  <a:pt x="444500" y="206375"/>
                </a:lnTo>
                <a:lnTo>
                  <a:pt x="444500" y="412750"/>
                </a:lnTo>
                <a:lnTo>
                  <a:pt x="495300" y="450850"/>
                </a:lnTo>
                <a:cubicBezTo>
                  <a:pt x="503337" y="456803"/>
                  <a:pt x="508000" y="466229"/>
                  <a:pt x="508000" y="476250"/>
                </a:cubicBezTo>
                <a:cubicBezTo>
                  <a:pt x="508000" y="493812"/>
                  <a:pt x="493812" y="508000"/>
                  <a:pt x="476250" y="508000"/>
                </a:cubicBezTo>
                <a:lnTo>
                  <a:pt x="31750" y="508000"/>
                </a:lnTo>
                <a:cubicBezTo>
                  <a:pt x="14188" y="508000"/>
                  <a:pt x="0" y="493812"/>
                  <a:pt x="0" y="476250"/>
                </a:cubicBezTo>
                <a:cubicBezTo>
                  <a:pt x="0" y="466229"/>
                  <a:pt x="4663" y="456803"/>
                  <a:pt x="12700" y="450850"/>
                </a:cubicBezTo>
                <a:lnTo>
                  <a:pt x="63500" y="412750"/>
                </a:lnTo>
                <a:lnTo>
                  <a:pt x="63500" y="412750"/>
                </a:lnTo>
                <a:lnTo>
                  <a:pt x="63500" y="206375"/>
                </a:lnTo>
                <a:lnTo>
                  <a:pt x="31750" y="206375"/>
                </a:lnTo>
                <a:cubicBezTo>
                  <a:pt x="17661" y="206375"/>
                  <a:pt x="5259" y="197048"/>
                  <a:pt x="1290" y="183555"/>
                </a:cubicBezTo>
                <a:cubicBezTo>
                  <a:pt x="-2679" y="170061"/>
                  <a:pt x="2778" y="155476"/>
                  <a:pt x="14585" y="147935"/>
                </a:cubicBezTo>
                <a:lnTo>
                  <a:pt x="236835" y="5060"/>
                </a:lnTo>
                <a:close/>
                <a:moveTo>
                  <a:pt x="333375" y="206375"/>
                </a:moveTo>
                <a:lnTo>
                  <a:pt x="333375" y="412750"/>
                </a:lnTo>
                <a:lnTo>
                  <a:pt x="396875" y="412750"/>
                </a:lnTo>
                <a:lnTo>
                  <a:pt x="396875" y="206375"/>
                </a:lnTo>
                <a:lnTo>
                  <a:pt x="333375" y="206375"/>
                </a:lnTo>
                <a:close/>
                <a:moveTo>
                  <a:pt x="222250" y="412750"/>
                </a:moveTo>
                <a:lnTo>
                  <a:pt x="285750" y="412750"/>
                </a:lnTo>
                <a:lnTo>
                  <a:pt x="285750" y="206375"/>
                </a:lnTo>
                <a:lnTo>
                  <a:pt x="222250" y="206375"/>
                </a:lnTo>
                <a:lnTo>
                  <a:pt x="222250" y="412750"/>
                </a:lnTo>
                <a:close/>
                <a:moveTo>
                  <a:pt x="111125" y="206375"/>
                </a:moveTo>
                <a:lnTo>
                  <a:pt x="111125" y="412750"/>
                </a:lnTo>
                <a:lnTo>
                  <a:pt x="174625" y="412750"/>
                </a:lnTo>
                <a:lnTo>
                  <a:pt x="174625" y="206375"/>
                </a:lnTo>
                <a:lnTo>
                  <a:pt x="111125" y="206375"/>
                </a:lnTo>
                <a:close/>
              </a:path>
            </a:pathLst>
          </a:custGeom>
          <a:solidFill>
            <a:srgbClr val="2D5A4C"/>
          </a:solidFill>
          <a:ln/>
        </p:spPr>
      </p:sp>
      <p:sp>
        <p:nvSpPr>
          <p:cNvPr id="18" name="Text 16"/>
          <p:cNvSpPr/>
          <p:nvPr/>
        </p:nvSpPr>
        <p:spPr>
          <a:xfrm>
            <a:off x="13970000" y="3175000"/>
            <a:ext cx="1397000" cy="508000"/>
          </a:xfrm>
          <a:prstGeom prst="rect">
            <a:avLst/>
          </a:prstGeom>
          <a:noFill/>
          <a:ln/>
        </p:spPr>
        <p:txBody>
          <a:bodyPr wrap="none" lIns="0" tIns="0" rIns="0" bIns="0" rtlCol="0" anchor="ctr"/>
          <a:lstStyle/>
          <a:p>
            <a:pPr>
              <a:lnSpc>
                <a:spcPct val="100000"/>
              </a:lnSpc>
            </a:pPr>
            <a:r>
              <a:rPr lang="en-US" sz="1400" dirty="0">
                <a:solidFill>
                  <a:srgbClr val="2C2C2C"/>
                </a:solidFill>
                <a:latin typeface="Quattrocento Sans" pitchFamily="34" charset="0"/>
                <a:ea typeface="Quattrocento Sans" pitchFamily="34" charset="-122"/>
                <a:cs typeface="Quattrocento Sans" pitchFamily="34" charset="-120"/>
              </a:rPr>
              <a:t>Government</a:t>
            </a:r>
            <a:endParaRPr lang="en-US" sz="1600" dirty="0"/>
          </a:p>
        </p:txBody>
      </p:sp>
      <p:sp>
        <p:nvSpPr>
          <p:cNvPr id="19" name="Shape 17"/>
          <p:cNvSpPr/>
          <p:nvPr/>
        </p:nvSpPr>
        <p:spPr>
          <a:xfrm>
            <a:off x="11985625" y="3937000"/>
            <a:ext cx="666750" cy="762000"/>
          </a:xfrm>
          <a:custGeom>
            <a:avLst/>
            <a:gdLst/>
            <a:ahLst/>
            <a:cxnLst/>
            <a:rect l="l" t="t" r="r" b="b"/>
            <a:pathLst>
              <a:path w="666750" h="762000">
                <a:moveTo>
                  <a:pt x="666750" y="306288"/>
                </a:moveTo>
                <a:cubicBezTo>
                  <a:pt x="644723" y="320873"/>
                  <a:pt x="619423" y="332631"/>
                  <a:pt x="593080" y="342007"/>
                </a:cubicBezTo>
                <a:cubicBezTo>
                  <a:pt x="523131" y="367010"/>
                  <a:pt x="431304" y="381000"/>
                  <a:pt x="333375" y="381000"/>
                </a:cubicBezTo>
                <a:cubicBezTo>
                  <a:pt x="235446" y="381000"/>
                  <a:pt x="143470" y="366861"/>
                  <a:pt x="73670" y="342007"/>
                </a:cubicBezTo>
                <a:cubicBezTo>
                  <a:pt x="47476" y="332631"/>
                  <a:pt x="22027" y="320873"/>
                  <a:pt x="0" y="306288"/>
                </a:cubicBezTo>
                <a:lnTo>
                  <a:pt x="0" y="428625"/>
                </a:lnTo>
                <a:cubicBezTo>
                  <a:pt x="0" y="494407"/>
                  <a:pt x="149275" y="547687"/>
                  <a:pt x="333375" y="547687"/>
                </a:cubicBezTo>
                <a:cubicBezTo>
                  <a:pt x="517475" y="547687"/>
                  <a:pt x="666750" y="494407"/>
                  <a:pt x="666750" y="428625"/>
                </a:cubicBezTo>
                <a:lnTo>
                  <a:pt x="666750" y="306288"/>
                </a:lnTo>
                <a:close/>
                <a:moveTo>
                  <a:pt x="666750" y="190500"/>
                </a:moveTo>
                <a:lnTo>
                  <a:pt x="666750" y="119063"/>
                </a:lnTo>
                <a:cubicBezTo>
                  <a:pt x="666750" y="53280"/>
                  <a:pt x="517475" y="0"/>
                  <a:pt x="333375" y="0"/>
                </a:cubicBezTo>
                <a:cubicBezTo>
                  <a:pt x="149275" y="0"/>
                  <a:pt x="0" y="53280"/>
                  <a:pt x="0" y="119063"/>
                </a:cubicBezTo>
                <a:lnTo>
                  <a:pt x="0" y="190500"/>
                </a:lnTo>
                <a:cubicBezTo>
                  <a:pt x="0" y="256282"/>
                  <a:pt x="149275" y="309563"/>
                  <a:pt x="333375" y="309563"/>
                </a:cubicBezTo>
                <a:cubicBezTo>
                  <a:pt x="517475" y="309563"/>
                  <a:pt x="666750" y="256282"/>
                  <a:pt x="666750" y="190500"/>
                </a:cubicBezTo>
                <a:close/>
                <a:moveTo>
                  <a:pt x="593080" y="580132"/>
                </a:moveTo>
                <a:cubicBezTo>
                  <a:pt x="523280" y="604986"/>
                  <a:pt x="431453" y="619125"/>
                  <a:pt x="333375" y="619125"/>
                </a:cubicBezTo>
                <a:cubicBezTo>
                  <a:pt x="235297" y="619125"/>
                  <a:pt x="143470" y="604986"/>
                  <a:pt x="73670" y="580132"/>
                </a:cubicBezTo>
                <a:cubicBezTo>
                  <a:pt x="47476" y="570756"/>
                  <a:pt x="22027" y="558998"/>
                  <a:pt x="0" y="544413"/>
                </a:cubicBezTo>
                <a:lnTo>
                  <a:pt x="0" y="642938"/>
                </a:lnTo>
                <a:cubicBezTo>
                  <a:pt x="0" y="708720"/>
                  <a:pt x="149275" y="762000"/>
                  <a:pt x="333375" y="762000"/>
                </a:cubicBezTo>
                <a:cubicBezTo>
                  <a:pt x="517475" y="762000"/>
                  <a:pt x="666750" y="708720"/>
                  <a:pt x="666750" y="642938"/>
                </a:cubicBezTo>
                <a:lnTo>
                  <a:pt x="666750" y="544413"/>
                </a:lnTo>
                <a:cubicBezTo>
                  <a:pt x="644723" y="558998"/>
                  <a:pt x="619423" y="570756"/>
                  <a:pt x="593080" y="580132"/>
                </a:cubicBezTo>
                <a:close/>
              </a:path>
            </a:pathLst>
          </a:custGeom>
          <a:solidFill>
            <a:srgbClr val="D4943A"/>
          </a:solidFill>
          <a:ln/>
        </p:spPr>
      </p:sp>
      <p:sp>
        <p:nvSpPr>
          <p:cNvPr id="20" name="Text 18"/>
          <p:cNvSpPr/>
          <p:nvPr/>
        </p:nvSpPr>
        <p:spPr>
          <a:xfrm>
            <a:off x="10922000" y="4597400"/>
            <a:ext cx="2794000" cy="228600"/>
          </a:xfrm>
          <a:prstGeom prst="rect">
            <a:avLst/>
          </a:prstGeom>
          <a:noFill/>
          <a:ln/>
        </p:spPr>
        <p:txBody>
          <a:bodyPr wrap="none" lIns="0" tIns="0" rIns="0" bIns="0" rtlCol="0" anchor="ctr"/>
          <a:lstStyle/>
          <a:p>
            <a:pPr algn="ctr">
              <a:lnSpc>
                <a:spcPct val="100000"/>
              </a:lnSpc>
            </a:pPr>
            <a:r>
              <a:rPr lang="en-US" sz="1300" b="1" dirty="0">
                <a:solidFill>
                  <a:srgbClr val="2D5A4C"/>
                </a:solidFill>
                <a:latin typeface="Liter" pitchFamily="34" charset="0"/>
                <a:ea typeface="Liter" pitchFamily="34" charset="-122"/>
                <a:cs typeface="Liter" pitchFamily="34" charset="-120"/>
              </a:rPr>
              <a:t>ALL POWERED BY DATABASES</a:t>
            </a:r>
            <a:endParaRPr lang="en-US" sz="1600" dirty="0"/>
          </a:p>
        </p:txBody>
      </p:sp>
      <p:sp>
        <p:nvSpPr>
          <p:cNvPr id="21" name="Shape 19"/>
          <p:cNvSpPr/>
          <p:nvPr/>
        </p:nvSpPr>
        <p:spPr>
          <a:xfrm>
            <a:off x="762000" y="5080000"/>
            <a:ext cx="14732000" cy="1016000"/>
          </a:xfrm>
          <a:prstGeom prst="roundRect">
            <a:avLst>
              <a:gd name="adj" fmla="val 6000"/>
            </a:avLst>
          </a:prstGeom>
          <a:solidFill>
            <a:srgbClr val="E8E2DA"/>
          </a:solidFill>
          <a:ln/>
        </p:spPr>
      </p:sp>
      <p:sp>
        <p:nvSpPr>
          <p:cNvPr id="22" name="Shape 20"/>
          <p:cNvSpPr/>
          <p:nvPr/>
        </p:nvSpPr>
        <p:spPr>
          <a:xfrm>
            <a:off x="1060450" y="5308600"/>
            <a:ext cx="266700" cy="355600"/>
          </a:xfrm>
          <a:custGeom>
            <a:avLst/>
            <a:gdLst/>
            <a:ahLst/>
            <a:cxnLst/>
            <a:rect l="l" t="t" r="r" b="b"/>
            <a:pathLst>
              <a:path w="266700" h="355600">
                <a:moveTo>
                  <a:pt x="203428" y="266700"/>
                </a:moveTo>
                <a:cubicBezTo>
                  <a:pt x="208498" y="251212"/>
                  <a:pt x="218638" y="237182"/>
                  <a:pt x="230098" y="225098"/>
                </a:cubicBezTo>
                <a:cubicBezTo>
                  <a:pt x="252809" y="201206"/>
                  <a:pt x="266700" y="168910"/>
                  <a:pt x="266700" y="133350"/>
                </a:cubicBezTo>
                <a:cubicBezTo>
                  <a:pt x="266700" y="59730"/>
                  <a:pt x="206970" y="0"/>
                  <a:pt x="133350" y="0"/>
                </a:cubicBezTo>
                <a:cubicBezTo>
                  <a:pt x="59730" y="0"/>
                  <a:pt x="0" y="59730"/>
                  <a:pt x="0" y="133350"/>
                </a:cubicBezTo>
                <a:cubicBezTo>
                  <a:pt x="0" y="168910"/>
                  <a:pt x="13891" y="201206"/>
                  <a:pt x="36602" y="225098"/>
                </a:cubicBezTo>
                <a:cubicBezTo>
                  <a:pt x="48062" y="237182"/>
                  <a:pt x="58271" y="251212"/>
                  <a:pt x="63272" y="266700"/>
                </a:cubicBezTo>
                <a:lnTo>
                  <a:pt x="203359" y="266700"/>
                </a:lnTo>
                <a:close/>
                <a:moveTo>
                  <a:pt x="200025" y="300038"/>
                </a:moveTo>
                <a:lnTo>
                  <a:pt x="66675" y="300038"/>
                </a:lnTo>
                <a:lnTo>
                  <a:pt x="66675" y="311150"/>
                </a:lnTo>
                <a:cubicBezTo>
                  <a:pt x="66675" y="341848"/>
                  <a:pt x="91539" y="366712"/>
                  <a:pt x="122238" y="366712"/>
                </a:cubicBezTo>
                <a:lnTo>
                  <a:pt x="144463" y="366712"/>
                </a:lnTo>
                <a:cubicBezTo>
                  <a:pt x="175161" y="366712"/>
                  <a:pt x="200025" y="341848"/>
                  <a:pt x="200025" y="311150"/>
                </a:cubicBezTo>
                <a:lnTo>
                  <a:pt x="200025" y="300038"/>
                </a:lnTo>
                <a:close/>
                <a:moveTo>
                  <a:pt x="127794" y="77788"/>
                </a:moveTo>
                <a:cubicBezTo>
                  <a:pt x="100151" y="77788"/>
                  <a:pt x="77788" y="100151"/>
                  <a:pt x="77788" y="127794"/>
                </a:cubicBezTo>
                <a:cubicBezTo>
                  <a:pt x="77788" y="137031"/>
                  <a:pt x="70356" y="144463"/>
                  <a:pt x="61119" y="144463"/>
                </a:cubicBezTo>
                <a:cubicBezTo>
                  <a:pt x="51881" y="144463"/>
                  <a:pt x="44450" y="137031"/>
                  <a:pt x="44450" y="127794"/>
                </a:cubicBezTo>
                <a:cubicBezTo>
                  <a:pt x="44450" y="81746"/>
                  <a:pt x="81746" y="44450"/>
                  <a:pt x="127794" y="44450"/>
                </a:cubicBezTo>
                <a:cubicBezTo>
                  <a:pt x="137031" y="44450"/>
                  <a:pt x="144463" y="51881"/>
                  <a:pt x="144463" y="61119"/>
                </a:cubicBezTo>
                <a:cubicBezTo>
                  <a:pt x="144463" y="70356"/>
                  <a:pt x="137031" y="77788"/>
                  <a:pt x="127794" y="77788"/>
                </a:cubicBezTo>
                <a:close/>
              </a:path>
            </a:pathLst>
          </a:custGeom>
          <a:solidFill>
            <a:srgbClr val="D4943A"/>
          </a:solidFill>
          <a:ln/>
        </p:spPr>
      </p:sp>
      <p:sp>
        <p:nvSpPr>
          <p:cNvPr id="23" name="Text 21"/>
          <p:cNvSpPr/>
          <p:nvPr/>
        </p:nvSpPr>
        <p:spPr>
          <a:xfrm>
            <a:off x="1498600" y="5143500"/>
            <a:ext cx="2540000" cy="304800"/>
          </a:xfrm>
          <a:prstGeom prst="rect">
            <a:avLst/>
          </a:prstGeom>
          <a:noFill/>
          <a:ln/>
        </p:spPr>
        <p:txBody>
          <a:bodyPr wrap="none" lIns="0" tIns="0" rIns="0" bIns="0" rtlCol="0" anchor="ctr"/>
          <a:lstStyle/>
          <a:p>
            <a:pPr>
              <a:lnSpc>
                <a:spcPct val="100000"/>
              </a:lnSpc>
            </a:pPr>
            <a:r>
              <a:rPr lang="en-US" sz="1400" b="1" dirty="0">
                <a:solidFill>
                  <a:srgbClr val="2D5A4C"/>
                </a:solidFill>
                <a:latin typeface="Liter" pitchFamily="34" charset="0"/>
                <a:ea typeface="Liter" pitchFamily="34" charset="-122"/>
                <a:cs typeface="Liter" pitchFamily="34" charset="-120"/>
              </a:rPr>
              <a:t>EXPLANATION</a:t>
            </a:r>
            <a:endParaRPr lang="en-US" sz="1600" dirty="0"/>
          </a:p>
        </p:txBody>
      </p:sp>
      <p:sp>
        <p:nvSpPr>
          <p:cNvPr id="24" name="Text 22"/>
          <p:cNvSpPr/>
          <p:nvPr/>
        </p:nvSpPr>
        <p:spPr>
          <a:xfrm>
            <a:off x="1498600" y="5486400"/>
            <a:ext cx="13716000" cy="5080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Data is everywhere today. Databases are the backbone of almost every app — from social media to online banking. They ensure information is organized, safe, and easy to retrieve.</a:t>
            </a:r>
            <a:endParaRPr lang="en-US" sz="1600" dirty="0"/>
          </a:p>
        </p:txBody>
      </p:sp>
      <p:sp>
        <p:nvSpPr>
          <p:cNvPr id="25" name="Shape 23"/>
          <p:cNvSpPr/>
          <p:nvPr/>
        </p:nvSpPr>
        <p:spPr>
          <a:xfrm>
            <a:off x="762000" y="6350000"/>
            <a:ext cx="14732000" cy="1270000"/>
          </a:xfrm>
          <a:prstGeom prst="roundRect">
            <a:avLst>
              <a:gd name="adj" fmla="val 6000"/>
            </a:avLst>
          </a:prstGeom>
          <a:solidFill>
            <a:srgbClr val="D4943A">
              <a:alpha val="8235"/>
            </a:srgbClr>
          </a:solidFill>
          <a:ln/>
        </p:spPr>
      </p:sp>
      <p:sp>
        <p:nvSpPr>
          <p:cNvPr id="26" name="Shape 24"/>
          <p:cNvSpPr/>
          <p:nvPr/>
        </p:nvSpPr>
        <p:spPr>
          <a:xfrm>
            <a:off x="1016000" y="6477000"/>
            <a:ext cx="304800" cy="304800"/>
          </a:xfrm>
          <a:custGeom>
            <a:avLst/>
            <a:gdLst/>
            <a:ahLst/>
            <a:cxnLst/>
            <a:rect l="l" t="t" r="r" b="b"/>
            <a:pathLst>
              <a:path w="304800" h="304800">
                <a:moveTo>
                  <a:pt x="209490" y="166688"/>
                </a:moveTo>
                <a:lnTo>
                  <a:pt x="95845" y="166688"/>
                </a:lnTo>
                <a:cubicBezTo>
                  <a:pt x="97572" y="205085"/>
                  <a:pt x="106085" y="240447"/>
                  <a:pt x="118170" y="266343"/>
                </a:cubicBezTo>
                <a:cubicBezTo>
                  <a:pt x="124956" y="280928"/>
                  <a:pt x="132278" y="291227"/>
                  <a:pt x="139065" y="297537"/>
                </a:cubicBezTo>
                <a:cubicBezTo>
                  <a:pt x="145733" y="303788"/>
                  <a:pt x="150316" y="304800"/>
                  <a:pt x="152698" y="304800"/>
                </a:cubicBezTo>
                <a:cubicBezTo>
                  <a:pt x="155079" y="304800"/>
                  <a:pt x="159663" y="303788"/>
                  <a:pt x="166330" y="297537"/>
                </a:cubicBezTo>
                <a:cubicBezTo>
                  <a:pt x="173117" y="291227"/>
                  <a:pt x="180439" y="280868"/>
                  <a:pt x="187226" y="266343"/>
                </a:cubicBezTo>
                <a:cubicBezTo>
                  <a:pt x="199311" y="240447"/>
                  <a:pt x="207824" y="205085"/>
                  <a:pt x="209550" y="166688"/>
                </a:cubicBezTo>
                <a:close/>
                <a:moveTo>
                  <a:pt x="95786" y="138113"/>
                </a:moveTo>
                <a:lnTo>
                  <a:pt x="209431" y="138113"/>
                </a:lnTo>
                <a:cubicBezTo>
                  <a:pt x="207764" y="99715"/>
                  <a:pt x="199251" y="64353"/>
                  <a:pt x="187166" y="38457"/>
                </a:cubicBezTo>
                <a:cubicBezTo>
                  <a:pt x="180380" y="23932"/>
                  <a:pt x="173057" y="13573"/>
                  <a:pt x="166271" y="7263"/>
                </a:cubicBezTo>
                <a:cubicBezTo>
                  <a:pt x="159603" y="1012"/>
                  <a:pt x="155019" y="0"/>
                  <a:pt x="152638" y="0"/>
                </a:cubicBezTo>
                <a:cubicBezTo>
                  <a:pt x="150257" y="0"/>
                  <a:pt x="145673" y="1012"/>
                  <a:pt x="139005" y="7263"/>
                </a:cubicBezTo>
                <a:cubicBezTo>
                  <a:pt x="132219" y="13573"/>
                  <a:pt x="124897" y="23932"/>
                  <a:pt x="118110" y="38457"/>
                </a:cubicBezTo>
                <a:cubicBezTo>
                  <a:pt x="106025" y="64353"/>
                  <a:pt x="97512" y="99715"/>
                  <a:pt x="95786" y="138113"/>
                </a:cubicBezTo>
                <a:close/>
                <a:moveTo>
                  <a:pt x="67211" y="138113"/>
                </a:moveTo>
                <a:cubicBezTo>
                  <a:pt x="69294" y="87154"/>
                  <a:pt x="82451" y="39826"/>
                  <a:pt x="101679" y="8751"/>
                </a:cubicBezTo>
                <a:cubicBezTo>
                  <a:pt x="46851" y="28158"/>
                  <a:pt x="6489" y="78105"/>
                  <a:pt x="893" y="138113"/>
                </a:cubicBezTo>
                <a:lnTo>
                  <a:pt x="67211" y="138113"/>
                </a:lnTo>
                <a:close/>
                <a:moveTo>
                  <a:pt x="893" y="166688"/>
                </a:moveTo>
                <a:cubicBezTo>
                  <a:pt x="6489" y="226695"/>
                  <a:pt x="46851" y="276642"/>
                  <a:pt x="101679" y="296049"/>
                </a:cubicBezTo>
                <a:cubicBezTo>
                  <a:pt x="82451" y="264974"/>
                  <a:pt x="69294" y="217646"/>
                  <a:pt x="67211" y="166688"/>
                </a:cubicBezTo>
                <a:lnTo>
                  <a:pt x="893" y="166688"/>
                </a:lnTo>
                <a:close/>
                <a:moveTo>
                  <a:pt x="238065" y="166688"/>
                </a:moveTo>
                <a:cubicBezTo>
                  <a:pt x="235982" y="217646"/>
                  <a:pt x="222825" y="264974"/>
                  <a:pt x="203597" y="296049"/>
                </a:cubicBezTo>
                <a:cubicBezTo>
                  <a:pt x="258425" y="276582"/>
                  <a:pt x="298787" y="226695"/>
                  <a:pt x="304383" y="166688"/>
                </a:cubicBezTo>
                <a:lnTo>
                  <a:pt x="238065" y="166688"/>
                </a:lnTo>
                <a:close/>
                <a:moveTo>
                  <a:pt x="304383" y="138113"/>
                </a:moveTo>
                <a:cubicBezTo>
                  <a:pt x="298787" y="78105"/>
                  <a:pt x="258425" y="28158"/>
                  <a:pt x="203597" y="8751"/>
                </a:cubicBezTo>
                <a:cubicBezTo>
                  <a:pt x="222825" y="39826"/>
                  <a:pt x="235982" y="87154"/>
                  <a:pt x="238065" y="138113"/>
                </a:cubicBezTo>
                <a:lnTo>
                  <a:pt x="304383" y="138113"/>
                </a:lnTo>
                <a:close/>
              </a:path>
            </a:pathLst>
          </a:custGeom>
          <a:solidFill>
            <a:srgbClr val="D4943A"/>
          </a:solidFill>
          <a:ln/>
        </p:spPr>
      </p:sp>
      <p:sp>
        <p:nvSpPr>
          <p:cNvPr id="27" name="Text 25"/>
          <p:cNvSpPr/>
          <p:nvPr/>
        </p:nvSpPr>
        <p:spPr>
          <a:xfrm>
            <a:off x="1422400" y="6438900"/>
            <a:ext cx="3175000" cy="304800"/>
          </a:xfrm>
          <a:prstGeom prst="rect">
            <a:avLst/>
          </a:prstGeom>
          <a:noFill/>
          <a:ln/>
        </p:spPr>
        <p:txBody>
          <a:bodyPr wrap="none" lIns="0" tIns="0" rIns="0" bIns="0" rtlCol="0" anchor="ctr"/>
          <a:lstStyle/>
          <a:p>
            <a:pPr>
              <a:lnSpc>
                <a:spcPct val="100000"/>
              </a:lnSpc>
            </a:pPr>
            <a:r>
              <a:rPr lang="en-US" sz="1400" b="1" dirty="0">
                <a:solidFill>
                  <a:srgbClr val="D4943A"/>
                </a:solidFill>
                <a:latin typeface="Liter" pitchFamily="34" charset="0"/>
                <a:ea typeface="Liter" pitchFamily="34" charset="-122"/>
                <a:cs typeface="Liter" pitchFamily="34" charset="-120"/>
              </a:rPr>
              <a:t>REAL-WORLD EXAMPLE</a:t>
            </a:r>
            <a:endParaRPr lang="en-US" sz="1600" dirty="0"/>
          </a:p>
        </p:txBody>
      </p:sp>
      <p:sp>
        <p:nvSpPr>
          <p:cNvPr id="28" name="Text 26"/>
          <p:cNvSpPr/>
          <p:nvPr/>
        </p:nvSpPr>
        <p:spPr>
          <a:xfrm>
            <a:off x="1016000" y="6832600"/>
            <a:ext cx="14224000" cy="6604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When you order food online, the app uses a database to show menu items, track your order, store your address, and process payment — all in seconds, all perfectly coordinated.</a:t>
            </a:r>
            <a:endParaRPr lang="en-US" sz="1600" dirty="0"/>
          </a:p>
        </p:txBody>
      </p:sp>
      <p:sp>
        <p:nvSpPr>
          <p:cNvPr id="29" name="Shape 27"/>
          <p:cNvSpPr/>
          <p:nvPr/>
        </p:nvSpPr>
        <p:spPr>
          <a:xfrm>
            <a:off x="762000" y="7874000"/>
            <a:ext cx="14732000" cy="635000"/>
          </a:xfrm>
          <a:prstGeom prst="roundRect">
            <a:avLst>
              <a:gd name="adj" fmla="val 6000"/>
            </a:avLst>
          </a:prstGeom>
          <a:solidFill>
            <a:srgbClr val="2D5A4C">
              <a:alpha val="8235"/>
            </a:srgbClr>
          </a:solidFill>
          <a:ln/>
        </p:spPr>
      </p:sp>
      <p:sp>
        <p:nvSpPr>
          <p:cNvPr id="30" name="Shape 28"/>
          <p:cNvSpPr/>
          <p:nvPr/>
        </p:nvSpPr>
        <p:spPr>
          <a:xfrm>
            <a:off x="1016000" y="8026400"/>
            <a:ext cx="254000" cy="254000"/>
          </a:xfrm>
          <a:custGeom>
            <a:avLst/>
            <a:gdLst/>
            <a:ahLst/>
            <a:cxnLst/>
            <a:rect l="l" t="t" r="r" b="b"/>
            <a:pathLst>
              <a:path w="254000" h="254000">
                <a:moveTo>
                  <a:pt x="175071" y="10517"/>
                </a:moveTo>
                <a:lnTo>
                  <a:pt x="152797" y="32792"/>
                </a:lnTo>
                <a:lnTo>
                  <a:pt x="221208" y="101203"/>
                </a:lnTo>
                <a:lnTo>
                  <a:pt x="243483" y="78929"/>
                </a:lnTo>
                <a:cubicBezTo>
                  <a:pt x="250230" y="72231"/>
                  <a:pt x="254000" y="63103"/>
                  <a:pt x="254000" y="53578"/>
                </a:cubicBezTo>
                <a:cubicBezTo>
                  <a:pt x="254000" y="44053"/>
                  <a:pt x="250230" y="34925"/>
                  <a:pt x="243483" y="28228"/>
                </a:cubicBezTo>
                <a:lnTo>
                  <a:pt x="225772" y="10517"/>
                </a:lnTo>
                <a:cubicBezTo>
                  <a:pt x="219075" y="3770"/>
                  <a:pt x="209947" y="0"/>
                  <a:pt x="200422" y="0"/>
                </a:cubicBezTo>
                <a:cubicBezTo>
                  <a:pt x="190897" y="0"/>
                  <a:pt x="181769" y="3770"/>
                  <a:pt x="175071" y="10517"/>
                </a:cubicBezTo>
                <a:close/>
                <a:moveTo>
                  <a:pt x="135979" y="49609"/>
                </a:moveTo>
                <a:lnTo>
                  <a:pt x="29220" y="156319"/>
                </a:lnTo>
                <a:cubicBezTo>
                  <a:pt x="23912" y="161627"/>
                  <a:pt x="20042" y="168275"/>
                  <a:pt x="18008" y="175518"/>
                </a:cubicBezTo>
                <a:lnTo>
                  <a:pt x="446" y="238919"/>
                </a:lnTo>
                <a:cubicBezTo>
                  <a:pt x="-695" y="243036"/>
                  <a:pt x="446" y="247501"/>
                  <a:pt x="3522" y="250527"/>
                </a:cubicBezTo>
                <a:cubicBezTo>
                  <a:pt x="6598" y="253554"/>
                  <a:pt x="11013" y="254744"/>
                  <a:pt x="15131" y="253603"/>
                </a:cubicBezTo>
                <a:lnTo>
                  <a:pt x="78532" y="235992"/>
                </a:lnTo>
                <a:cubicBezTo>
                  <a:pt x="85775" y="233958"/>
                  <a:pt x="92373" y="230138"/>
                  <a:pt x="97730" y="224780"/>
                </a:cubicBezTo>
                <a:lnTo>
                  <a:pt x="204391" y="118021"/>
                </a:lnTo>
                <a:lnTo>
                  <a:pt x="135979" y="49609"/>
                </a:lnTo>
                <a:close/>
              </a:path>
            </a:pathLst>
          </a:custGeom>
          <a:solidFill>
            <a:srgbClr val="2D5A4C"/>
          </a:solidFill>
          <a:ln/>
        </p:spPr>
      </p:sp>
      <p:sp>
        <p:nvSpPr>
          <p:cNvPr id="31" name="Text 29"/>
          <p:cNvSpPr/>
          <p:nvPr/>
        </p:nvSpPr>
        <p:spPr>
          <a:xfrm>
            <a:off x="1371600" y="7937500"/>
            <a:ext cx="13970000" cy="508000"/>
          </a:xfrm>
          <a:prstGeom prst="rect">
            <a:avLst/>
          </a:prstGeom>
          <a:noFill/>
          <a:ln/>
        </p:spPr>
        <p:txBody>
          <a:bodyPr wrap="square" lIns="0" tIns="0" rIns="0" bIns="0" rtlCol="0" anchor="ctr"/>
          <a:lstStyle/>
          <a:p>
            <a:pPr>
              <a:lnSpc>
                <a:spcPct val="140000"/>
              </a:lnSpc>
            </a:pPr>
            <a:r>
              <a:rPr lang="en-US" sz="1400" b="1" dirty="0">
                <a:solidFill>
                  <a:srgbClr val="2D5A4C"/>
                </a:solidFill>
                <a:latin typeface="Quattrocento Sans" pitchFamily="34" charset="0"/>
                <a:ea typeface="Quattrocento Sans" pitchFamily="34" charset="-122"/>
                <a:cs typeface="Quattrocento Sans" pitchFamily="34" charset="-120"/>
              </a:rPr>
              <a:t>Practice:</a:t>
            </a:r>
            <a:pPr>
              <a:lnSpc>
                <a:spcPct val="140000"/>
              </a:lnSpc>
            </a:pPr>
            <a:r>
              <a:rPr lang="en-US" sz="1400" dirty="0">
                <a:solidFill>
                  <a:srgbClr val="2D5A4C"/>
                </a:solidFill>
                <a:latin typeface="Quattrocento Sans" pitchFamily="34" charset="0"/>
                <a:ea typeface="Quattrocento Sans" pitchFamily="34" charset="-122"/>
                <a:cs typeface="Quattrocento Sans" pitchFamily="34" charset="-120"/>
              </a:rPr>
              <a:t> What would happen if your favorite app had no database behind it?</a:t>
            </a:r>
            <a:endParaRPr lang="en-US" sz="1600" dirty="0"/>
          </a:p>
        </p:txBody>
      </p:sp>
      <p:sp>
        <p:nvSpPr>
          <p:cNvPr id="32" name="Text 30"/>
          <p:cNvSpPr/>
          <p:nvPr/>
        </p:nvSpPr>
        <p:spPr>
          <a:xfrm>
            <a:off x="13462000" y="8788400"/>
            <a:ext cx="2286000" cy="254000"/>
          </a:xfrm>
          <a:prstGeom prst="rect">
            <a:avLst/>
          </a:prstGeom>
          <a:noFill/>
          <a:ln/>
        </p:spPr>
        <p:txBody>
          <a:bodyPr wrap="none" lIns="0" tIns="0" rIns="0" bIns="0" rtlCol="0" anchor="ctr"/>
          <a:lstStyle/>
          <a:p>
            <a:pPr algn="r">
              <a:lnSpc>
                <a:spcPct val="140000"/>
              </a:lnSpc>
            </a:pPr>
            <a:r>
              <a:rPr lang="en-US" sz="1400" dirty="0">
                <a:solidFill>
                  <a:srgbClr val="8B7355"/>
                </a:solidFill>
                <a:latin typeface="QuattrocentoSans" pitchFamily="34" charset="0"/>
                <a:ea typeface="QuattrocentoSans" pitchFamily="34" charset="-122"/>
                <a:cs typeface="QuattrocentoSans" pitchFamily="34" charset="-120"/>
              </a:rPr>
              <a:t>Introduction to Databases</a:t>
            </a:r>
            <a:endParaRPr lang="en-US" sz="14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D4943A"/>
          </a:solidFill>
          <a:ln/>
        </p:spPr>
      </p:sp>
      <p:sp>
        <p:nvSpPr>
          <p:cNvPr id="3" name="Text 1"/>
          <p:cNvSpPr/>
          <p:nvPr/>
        </p:nvSpPr>
        <p:spPr>
          <a:xfrm>
            <a:off x="762000" y="381000"/>
            <a:ext cx="10160000" cy="508000"/>
          </a:xfrm>
          <a:prstGeom prst="rect">
            <a:avLst/>
          </a:prstGeom>
          <a:noFill/>
          <a:ln/>
        </p:spPr>
        <p:txBody>
          <a:bodyPr wrap="none" lIns="0" tIns="0" rIns="0" bIns="0" rtlCol="0" anchor="ctr"/>
          <a:lstStyle/>
          <a:p>
            <a:pPr>
              <a:lnSpc>
                <a:spcPct val="130000"/>
              </a:lnSpc>
            </a:pPr>
            <a:r>
              <a:rPr lang="en-US" sz="2800" dirty="0">
                <a:solidFill>
                  <a:srgbClr val="2D5A4C"/>
                </a:solidFill>
                <a:latin typeface="Liter" pitchFamily="34" charset="0"/>
                <a:ea typeface="Liter" pitchFamily="34" charset="-122"/>
                <a:cs typeface="Liter" pitchFamily="34" charset="-120"/>
              </a:rPr>
              <a:t>Databases in Everyday Life</a:t>
            </a:r>
            <a:endParaRPr lang="en-US" sz="2800" dirty="0"/>
          </a:p>
        </p:txBody>
      </p:sp>
      <p:sp>
        <p:nvSpPr>
          <p:cNvPr id="4" name="Shape 2"/>
          <p:cNvSpPr/>
          <p:nvPr/>
        </p:nvSpPr>
        <p:spPr>
          <a:xfrm>
            <a:off x="762000" y="1143000"/>
            <a:ext cx="4699000" cy="1778000"/>
          </a:xfrm>
          <a:prstGeom prst="roundRect">
            <a:avLst>
              <a:gd name="adj" fmla="val 8000"/>
            </a:avLst>
          </a:prstGeom>
          <a:solidFill>
            <a:srgbClr val="FFFFFF"/>
          </a:solidFill>
          <a:ln/>
          <a:effectLst>
            <a:outerShdw sx="100000" sy="100000" kx="0" ky="0" algn="bl" rotWithShape="0" blurRad="101600" dist="25400" dir="5400000">
              <a:srgbClr val="000000">
                <a:alpha val="6275"/>
              </a:srgbClr>
            </a:outerShdw>
          </a:effectLst>
        </p:spPr>
      </p:sp>
      <p:sp>
        <p:nvSpPr>
          <p:cNvPr id="5" name="Shape 3"/>
          <p:cNvSpPr/>
          <p:nvPr/>
        </p:nvSpPr>
        <p:spPr>
          <a:xfrm>
            <a:off x="1016000" y="1333500"/>
            <a:ext cx="406400" cy="406400"/>
          </a:xfrm>
          <a:custGeom>
            <a:avLst/>
            <a:gdLst/>
            <a:ahLst/>
            <a:cxnLst/>
            <a:rect l="l" t="t" r="r" b="b"/>
            <a:pathLst>
              <a:path w="406400" h="406400">
                <a:moveTo>
                  <a:pt x="304800" y="152400"/>
                </a:moveTo>
                <a:cubicBezTo>
                  <a:pt x="346869" y="152400"/>
                  <a:pt x="381000" y="118269"/>
                  <a:pt x="381000" y="76200"/>
                </a:cubicBezTo>
                <a:cubicBezTo>
                  <a:pt x="381000" y="34131"/>
                  <a:pt x="346869" y="0"/>
                  <a:pt x="304800" y="0"/>
                </a:cubicBezTo>
                <a:cubicBezTo>
                  <a:pt x="262731" y="0"/>
                  <a:pt x="228600" y="34131"/>
                  <a:pt x="228600" y="76200"/>
                </a:cubicBezTo>
                <a:cubicBezTo>
                  <a:pt x="228600" y="80486"/>
                  <a:pt x="228997" y="84773"/>
                  <a:pt x="229632" y="88900"/>
                </a:cubicBezTo>
                <a:lnTo>
                  <a:pt x="126683" y="146129"/>
                </a:lnTo>
                <a:cubicBezTo>
                  <a:pt x="113268" y="134223"/>
                  <a:pt x="95567" y="127000"/>
                  <a:pt x="76200" y="127000"/>
                </a:cubicBezTo>
                <a:cubicBezTo>
                  <a:pt x="34131" y="127000"/>
                  <a:pt x="0" y="161131"/>
                  <a:pt x="0" y="203200"/>
                </a:cubicBezTo>
                <a:cubicBezTo>
                  <a:pt x="0" y="245269"/>
                  <a:pt x="34131" y="279400"/>
                  <a:pt x="76200" y="279400"/>
                </a:cubicBezTo>
                <a:cubicBezTo>
                  <a:pt x="95568" y="279400"/>
                  <a:pt x="113189" y="272177"/>
                  <a:pt x="126683" y="260271"/>
                </a:cubicBezTo>
                <a:lnTo>
                  <a:pt x="229632" y="317500"/>
                </a:lnTo>
                <a:cubicBezTo>
                  <a:pt x="228918" y="321628"/>
                  <a:pt x="228600" y="325834"/>
                  <a:pt x="228600" y="330200"/>
                </a:cubicBezTo>
                <a:cubicBezTo>
                  <a:pt x="228600" y="372269"/>
                  <a:pt x="262731" y="406400"/>
                  <a:pt x="304800" y="406400"/>
                </a:cubicBezTo>
                <a:cubicBezTo>
                  <a:pt x="346869" y="406400"/>
                  <a:pt x="381000" y="372269"/>
                  <a:pt x="381000" y="330200"/>
                </a:cubicBezTo>
                <a:cubicBezTo>
                  <a:pt x="381000" y="288131"/>
                  <a:pt x="346869" y="254000"/>
                  <a:pt x="304800" y="254000"/>
                </a:cubicBezTo>
                <a:cubicBezTo>
                  <a:pt x="285433" y="254000"/>
                  <a:pt x="267811" y="261223"/>
                  <a:pt x="254317" y="273129"/>
                </a:cubicBezTo>
                <a:lnTo>
                  <a:pt x="151368" y="215900"/>
                </a:lnTo>
                <a:cubicBezTo>
                  <a:pt x="152083" y="211773"/>
                  <a:pt x="152400" y="207566"/>
                  <a:pt x="152400" y="203200"/>
                </a:cubicBezTo>
                <a:cubicBezTo>
                  <a:pt x="152400" y="198834"/>
                  <a:pt x="152003" y="194628"/>
                  <a:pt x="151368" y="190500"/>
                </a:cubicBezTo>
                <a:lnTo>
                  <a:pt x="254317" y="133271"/>
                </a:lnTo>
                <a:cubicBezTo>
                  <a:pt x="267732" y="145177"/>
                  <a:pt x="285432" y="152400"/>
                  <a:pt x="304800" y="152400"/>
                </a:cubicBezTo>
                <a:close/>
              </a:path>
            </a:pathLst>
          </a:custGeom>
          <a:solidFill>
            <a:srgbClr val="2D5A4C"/>
          </a:solidFill>
          <a:ln/>
        </p:spPr>
      </p:sp>
      <p:sp>
        <p:nvSpPr>
          <p:cNvPr id="6" name="Text 4"/>
          <p:cNvSpPr/>
          <p:nvPr/>
        </p:nvSpPr>
        <p:spPr>
          <a:xfrm>
            <a:off x="1549400" y="1295400"/>
            <a:ext cx="3683000" cy="355600"/>
          </a:xfrm>
          <a:prstGeom prst="rect">
            <a:avLst/>
          </a:prstGeom>
          <a:noFill/>
          <a:ln/>
        </p:spPr>
        <p:txBody>
          <a:bodyPr wrap="none" lIns="0" tIns="0" rIns="0" bIns="0" rtlCol="0" anchor="ctr"/>
          <a:lstStyle/>
          <a:p>
            <a:pPr>
              <a:lnSpc>
                <a:spcPct val="100000"/>
              </a:lnSpc>
            </a:pPr>
            <a:r>
              <a:rPr lang="en-US" sz="1600" b="1" dirty="0">
                <a:solidFill>
                  <a:srgbClr val="2D5A4C"/>
                </a:solidFill>
                <a:latin typeface="Liter" pitchFamily="34" charset="0"/>
                <a:ea typeface="Liter" pitchFamily="34" charset="-122"/>
                <a:cs typeface="Liter" pitchFamily="34" charset="-120"/>
              </a:rPr>
              <a:t>Social Media</a:t>
            </a:r>
            <a:endParaRPr lang="en-US" sz="1600" dirty="0"/>
          </a:p>
        </p:txBody>
      </p:sp>
      <p:sp>
        <p:nvSpPr>
          <p:cNvPr id="7" name="Text 5"/>
          <p:cNvSpPr/>
          <p:nvPr/>
        </p:nvSpPr>
        <p:spPr>
          <a:xfrm>
            <a:off x="1016000" y="1778000"/>
            <a:ext cx="4191000" cy="10160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Stores your profile, posts, friends, messages, likes, and comments in organized databases</a:t>
            </a:r>
            <a:endParaRPr lang="en-US" sz="1600" dirty="0"/>
          </a:p>
        </p:txBody>
      </p:sp>
      <p:sp>
        <p:nvSpPr>
          <p:cNvPr id="8" name="Shape 6"/>
          <p:cNvSpPr/>
          <p:nvPr/>
        </p:nvSpPr>
        <p:spPr>
          <a:xfrm>
            <a:off x="5778500" y="1143000"/>
            <a:ext cx="4699000" cy="1778000"/>
          </a:xfrm>
          <a:prstGeom prst="roundRect">
            <a:avLst>
              <a:gd name="adj" fmla="val 8000"/>
            </a:avLst>
          </a:prstGeom>
          <a:solidFill>
            <a:srgbClr val="FFFFFF"/>
          </a:solidFill>
          <a:ln/>
          <a:effectLst>
            <a:outerShdw sx="100000" sy="100000" kx="0" ky="0" algn="bl" rotWithShape="0" blurRad="101600" dist="25400" dir="5400000">
              <a:srgbClr val="000000">
                <a:alpha val="6275"/>
              </a:srgbClr>
            </a:outerShdw>
          </a:effectLst>
        </p:spPr>
      </p:sp>
      <p:sp>
        <p:nvSpPr>
          <p:cNvPr id="9" name="Shape 7"/>
          <p:cNvSpPr/>
          <p:nvPr/>
        </p:nvSpPr>
        <p:spPr>
          <a:xfrm>
            <a:off x="5981700" y="1333500"/>
            <a:ext cx="508000" cy="406400"/>
          </a:xfrm>
          <a:custGeom>
            <a:avLst/>
            <a:gdLst/>
            <a:ahLst/>
            <a:cxnLst/>
            <a:rect l="l" t="t" r="r" b="b"/>
            <a:pathLst>
              <a:path w="508000" h="406400">
                <a:moveTo>
                  <a:pt x="19050" y="-12700"/>
                </a:moveTo>
                <a:cubicBezTo>
                  <a:pt x="8493" y="-12700"/>
                  <a:pt x="0" y="-4207"/>
                  <a:pt x="0" y="6350"/>
                </a:cubicBezTo>
                <a:cubicBezTo>
                  <a:pt x="0" y="16907"/>
                  <a:pt x="8493" y="25400"/>
                  <a:pt x="19050" y="25400"/>
                </a:cubicBezTo>
                <a:lnTo>
                  <a:pt x="55007" y="25400"/>
                </a:lnTo>
                <a:cubicBezTo>
                  <a:pt x="58103" y="25400"/>
                  <a:pt x="60722" y="27622"/>
                  <a:pt x="61278" y="30639"/>
                </a:cubicBezTo>
                <a:lnTo>
                  <a:pt x="102632" y="257889"/>
                </a:lnTo>
                <a:cubicBezTo>
                  <a:pt x="107553" y="285036"/>
                  <a:pt x="131207" y="304800"/>
                  <a:pt x="158829" y="304800"/>
                </a:cubicBezTo>
                <a:lnTo>
                  <a:pt x="361950" y="304800"/>
                </a:lnTo>
                <a:cubicBezTo>
                  <a:pt x="372507" y="304800"/>
                  <a:pt x="381000" y="296307"/>
                  <a:pt x="381000" y="285750"/>
                </a:cubicBezTo>
                <a:cubicBezTo>
                  <a:pt x="381000" y="275193"/>
                  <a:pt x="372507" y="266700"/>
                  <a:pt x="361950" y="266700"/>
                </a:cubicBezTo>
                <a:lnTo>
                  <a:pt x="158829" y="266700"/>
                </a:lnTo>
                <a:cubicBezTo>
                  <a:pt x="149622" y="266700"/>
                  <a:pt x="141764" y="260112"/>
                  <a:pt x="140097" y="251063"/>
                </a:cubicBezTo>
                <a:lnTo>
                  <a:pt x="136049" y="228600"/>
                </a:lnTo>
                <a:lnTo>
                  <a:pt x="377031" y="228600"/>
                </a:lnTo>
                <a:cubicBezTo>
                  <a:pt x="401479" y="228600"/>
                  <a:pt x="422434" y="211217"/>
                  <a:pt x="426958" y="187166"/>
                </a:cubicBezTo>
                <a:lnTo>
                  <a:pt x="451564" y="55483"/>
                </a:lnTo>
                <a:cubicBezTo>
                  <a:pt x="454501" y="39846"/>
                  <a:pt x="442516" y="25400"/>
                  <a:pt x="426561" y="25400"/>
                </a:cubicBezTo>
                <a:lnTo>
                  <a:pt x="98981" y="25400"/>
                </a:lnTo>
                <a:lnTo>
                  <a:pt x="98663" y="23813"/>
                </a:lnTo>
                <a:cubicBezTo>
                  <a:pt x="94853" y="2699"/>
                  <a:pt x="76438" y="-12700"/>
                  <a:pt x="54927" y="-12700"/>
                </a:cubicBezTo>
                <a:lnTo>
                  <a:pt x="19050" y="-12700"/>
                </a:lnTo>
                <a:close/>
                <a:moveTo>
                  <a:pt x="165100" y="406400"/>
                </a:moveTo>
                <a:cubicBezTo>
                  <a:pt x="186128" y="406400"/>
                  <a:pt x="203200" y="389328"/>
                  <a:pt x="203200" y="368300"/>
                </a:cubicBezTo>
                <a:cubicBezTo>
                  <a:pt x="203200" y="347272"/>
                  <a:pt x="186128" y="330200"/>
                  <a:pt x="165100" y="330200"/>
                </a:cubicBezTo>
                <a:cubicBezTo>
                  <a:pt x="144072" y="330200"/>
                  <a:pt x="127000" y="347272"/>
                  <a:pt x="127000" y="368300"/>
                </a:cubicBezTo>
                <a:cubicBezTo>
                  <a:pt x="127000" y="389328"/>
                  <a:pt x="144072" y="406400"/>
                  <a:pt x="165100" y="406400"/>
                </a:cubicBezTo>
                <a:close/>
                <a:moveTo>
                  <a:pt x="342900" y="406400"/>
                </a:moveTo>
                <a:cubicBezTo>
                  <a:pt x="363928" y="406400"/>
                  <a:pt x="381000" y="389328"/>
                  <a:pt x="381000" y="368300"/>
                </a:cubicBezTo>
                <a:cubicBezTo>
                  <a:pt x="381000" y="347272"/>
                  <a:pt x="363928" y="330200"/>
                  <a:pt x="342900" y="330200"/>
                </a:cubicBezTo>
                <a:cubicBezTo>
                  <a:pt x="321872" y="330200"/>
                  <a:pt x="304800" y="347272"/>
                  <a:pt x="304800" y="368300"/>
                </a:cubicBezTo>
                <a:cubicBezTo>
                  <a:pt x="304800" y="389328"/>
                  <a:pt x="321872" y="406400"/>
                  <a:pt x="342900" y="406400"/>
                </a:cubicBezTo>
                <a:close/>
              </a:path>
            </a:pathLst>
          </a:custGeom>
          <a:solidFill>
            <a:srgbClr val="2D5A4C"/>
          </a:solidFill>
          <a:ln/>
        </p:spPr>
      </p:sp>
      <p:sp>
        <p:nvSpPr>
          <p:cNvPr id="10" name="Text 8"/>
          <p:cNvSpPr/>
          <p:nvPr/>
        </p:nvSpPr>
        <p:spPr>
          <a:xfrm>
            <a:off x="6565900" y="1295400"/>
            <a:ext cx="3683000" cy="355600"/>
          </a:xfrm>
          <a:prstGeom prst="rect">
            <a:avLst/>
          </a:prstGeom>
          <a:noFill/>
          <a:ln/>
        </p:spPr>
        <p:txBody>
          <a:bodyPr wrap="none" lIns="0" tIns="0" rIns="0" bIns="0" rtlCol="0" anchor="ctr"/>
          <a:lstStyle/>
          <a:p>
            <a:pPr>
              <a:lnSpc>
                <a:spcPct val="100000"/>
              </a:lnSpc>
            </a:pPr>
            <a:r>
              <a:rPr lang="en-US" sz="1600" b="1" dirty="0">
                <a:solidFill>
                  <a:srgbClr val="2D5A4C"/>
                </a:solidFill>
                <a:latin typeface="Liter" pitchFamily="34" charset="0"/>
                <a:ea typeface="Liter" pitchFamily="34" charset="-122"/>
                <a:cs typeface="Liter" pitchFamily="34" charset="-120"/>
              </a:rPr>
              <a:t>Online Shopping</a:t>
            </a:r>
            <a:endParaRPr lang="en-US" sz="1600" dirty="0"/>
          </a:p>
        </p:txBody>
      </p:sp>
      <p:sp>
        <p:nvSpPr>
          <p:cNvPr id="11" name="Text 9"/>
          <p:cNvSpPr/>
          <p:nvPr/>
        </p:nvSpPr>
        <p:spPr>
          <a:xfrm>
            <a:off x="6032500" y="1778000"/>
            <a:ext cx="4191000" cy="10160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Tracks products, prices, inventory, orders, payments, and shipping details</a:t>
            </a:r>
            <a:endParaRPr lang="en-US" sz="1600" dirty="0"/>
          </a:p>
        </p:txBody>
      </p:sp>
      <p:sp>
        <p:nvSpPr>
          <p:cNvPr id="12" name="Shape 10"/>
          <p:cNvSpPr/>
          <p:nvPr/>
        </p:nvSpPr>
        <p:spPr>
          <a:xfrm>
            <a:off x="10795000" y="1143000"/>
            <a:ext cx="4699000" cy="1778000"/>
          </a:xfrm>
          <a:prstGeom prst="roundRect">
            <a:avLst>
              <a:gd name="adj" fmla="val 8000"/>
            </a:avLst>
          </a:prstGeom>
          <a:solidFill>
            <a:srgbClr val="FFFFFF"/>
          </a:solidFill>
          <a:ln/>
          <a:effectLst>
            <a:outerShdw sx="100000" sy="100000" kx="0" ky="0" algn="bl" rotWithShape="0" blurRad="101600" dist="25400" dir="5400000">
              <a:srgbClr val="000000">
                <a:alpha val="6275"/>
              </a:srgbClr>
            </a:outerShdw>
          </a:effectLst>
        </p:spPr>
      </p:sp>
      <p:sp>
        <p:nvSpPr>
          <p:cNvPr id="13" name="Shape 11"/>
          <p:cNvSpPr/>
          <p:nvPr/>
        </p:nvSpPr>
        <p:spPr>
          <a:xfrm>
            <a:off x="11049000" y="1333500"/>
            <a:ext cx="406400" cy="406400"/>
          </a:xfrm>
          <a:custGeom>
            <a:avLst/>
            <a:gdLst/>
            <a:ahLst/>
            <a:cxnLst/>
            <a:rect l="l" t="t" r="r" b="b"/>
            <a:pathLst>
              <a:path w="406400" h="406400">
                <a:moveTo>
                  <a:pt x="215821" y="16034"/>
                </a:moveTo>
                <a:cubicBezTo>
                  <a:pt x="208042" y="11589"/>
                  <a:pt x="198437" y="11589"/>
                  <a:pt x="190579" y="16034"/>
                </a:cubicBezTo>
                <a:lnTo>
                  <a:pt x="12779" y="117634"/>
                </a:lnTo>
                <a:cubicBezTo>
                  <a:pt x="2778" y="123349"/>
                  <a:pt x="-2143" y="135096"/>
                  <a:pt x="794" y="146209"/>
                </a:cubicBezTo>
                <a:cubicBezTo>
                  <a:pt x="3731" y="157321"/>
                  <a:pt x="13891" y="165100"/>
                  <a:pt x="25400" y="165100"/>
                </a:cubicBezTo>
                <a:lnTo>
                  <a:pt x="50800" y="165100"/>
                </a:lnTo>
                <a:lnTo>
                  <a:pt x="50800" y="330200"/>
                </a:lnTo>
                <a:lnTo>
                  <a:pt x="50800" y="330200"/>
                </a:lnTo>
                <a:lnTo>
                  <a:pt x="10160" y="360680"/>
                </a:lnTo>
                <a:cubicBezTo>
                  <a:pt x="3731" y="365442"/>
                  <a:pt x="0" y="372983"/>
                  <a:pt x="0" y="381000"/>
                </a:cubicBezTo>
                <a:cubicBezTo>
                  <a:pt x="0" y="395049"/>
                  <a:pt x="11351" y="406400"/>
                  <a:pt x="25400" y="406400"/>
                </a:cubicBezTo>
                <a:lnTo>
                  <a:pt x="381000" y="406400"/>
                </a:lnTo>
                <a:cubicBezTo>
                  <a:pt x="395049" y="406400"/>
                  <a:pt x="406400" y="395049"/>
                  <a:pt x="406400" y="381000"/>
                </a:cubicBezTo>
                <a:cubicBezTo>
                  <a:pt x="406400" y="372983"/>
                  <a:pt x="402669" y="365442"/>
                  <a:pt x="396240" y="360680"/>
                </a:cubicBezTo>
                <a:lnTo>
                  <a:pt x="355600" y="330200"/>
                </a:lnTo>
                <a:lnTo>
                  <a:pt x="355600" y="165100"/>
                </a:lnTo>
                <a:lnTo>
                  <a:pt x="381000" y="165100"/>
                </a:lnTo>
                <a:cubicBezTo>
                  <a:pt x="392509" y="165100"/>
                  <a:pt x="402590" y="157321"/>
                  <a:pt x="405527" y="146209"/>
                </a:cubicBezTo>
                <a:cubicBezTo>
                  <a:pt x="408464" y="135096"/>
                  <a:pt x="403543" y="123349"/>
                  <a:pt x="393541" y="117634"/>
                </a:cubicBezTo>
                <a:lnTo>
                  <a:pt x="215741" y="16034"/>
                </a:lnTo>
                <a:close/>
                <a:moveTo>
                  <a:pt x="317500" y="165100"/>
                </a:moveTo>
                <a:lnTo>
                  <a:pt x="317500" y="330200"/>
                </a:lnTo>
                <a:lnTo>
                  <a:pt x="266700" y="330200"/>
                </a:lnTo>
                <a:lnTo>
                  <a:pt x="266700" y="165100"/>
                </a:lnTo>
                <a:lnTo>
                  <a:pt x="317500" y="165100"/>
                </a:lnTo>
                <a:close/>
                <a:moveTo>
                  <a:pt x="228600" y="165100"/>
                </a:moveTo>
                <a:lnTo>
                  <a:pt x="228600" y="330200"/>
                </a:lnTo>
                <a:lnTo>
                  <a:pt x="177800" y="330200"/>
                </a:lnTo>
                <a:lnTo>
                  <a:pt x="177800" y="165100"/>
                </a:lnTo>
                <a:lnTo>
                  <a:pt x="228600" y="165100"/>
                </a:lnTo>
                <a:close/>
                <a:moveTo>
                  <a:pt x="139700" y="165100"/>
                </a:moveTo>
                <a:lnTo>
                  <a:pt x="139700" y="330200"/>
                </a:lnTo>
                <a:lnTo>
                  <a:pt x="88900" y="330200"/>
                </a:lnTo>
                <a:lnTo>
                  <a:pt x="88900" y="165100"/>
                </a:lnTo>
                <a:lnTo>
                  <a:pt x="139700" y="165100"/>
                </a:lnTo>
                <a:close/>
                <a:moveTo>
                  <a:pt x="203200" y="76200"/>
                </a:moveTo>
                <a:cubicBezTo>
                  <a:pt x="217219" y="76200"/>
                  <a:pt x="228600" y="87581"/>
                  <a:pt x="228600" y="101600"/>
                </a:cubicBezTo>
                <a:cubicBezTo>
                  <a:pt x="228600" y="115619"/>
                  <a:pt x="217219" y="127000"/>
                  <a:pt x="203200" y="127000"/>
                </a:cubicBezTo>
                <a:cubicBezTo>
                  <a:pt x="189181" y="127000"/>
                  <a:pt x="177800" y="115619"/>
                  <a:pt x="177800" y="101600"/>
                </a:cubicBezTo>
                <a:cubicBezTo>
                  <a:pt x="177800" y="87581"/>
                  <a:pt x="189181" y="76200"/>
                  <a:pt x="203200" y="76200"/>
                </a:cubicBezTo>
                <a:close/>
              </a:path>
            </a:pathLst>
          </a:custGeom>
          <a:solidFill>
            <a:srgbClr val="2D5A4C"/>
          </a:solidFill>
          <a:ln/>
        </p:spPr>
      </p:sp>
      <p:sp>
        <p:nvSpPr>
          <p:cNvPr id="14" name="Text 12"/>
          <p:cNvSpPr/>
          <p:nvPr/>
        </p:nvSpPr>
        <p:spPr>
          <a:xfrm>
            <a:off x="11582400" y="1295400"/>
            <a:ext cx="3683000" cy="355600"/>
          </a:xfrm>
          <a:prstGeom prst="rect">
            <a:avLst/>
          </a:prstGeom>
          <a:noFill/>
          <a:ln/>
        </p:spPr>
        <p:txBody>
          <a:bodyPr wrap="none" lIns="0" tIns="0" rIns="0" bIns="0" rtlCol="0" anchor="ctr"/>
          <a:lstStyle/>
          <a:p>
            <a:pPr>
              <a:lnSpc>
                <a:spcPct val="100000"/>
              </a:lnSpc>
            </a:pPr>
            <a:r>
              <a:rPr lang="en-US" sz="1600" b="1" dirty="0">
                <a:solidFill>
                  <a:srgbClr val="2D5A4C"/>
                </a:solidFill>
                <a:latin typeface="Liter" pitchFamily="34" charset="0"/>
                <a:ea typeface="Liter" pitchFamily="34" charset="-122"/>
                <a:cs typeface="Liter" pitchFamily="34" charset="-120"/>
              </a:rPr>
              <a:t>Banking</a:t>
            </a:r>
            <a:endParaRPr lang="en-US" sz="1600" dirty="0"/>
          </a:p>
        </p:txBody>
      </p:sp>
      <p:sp>
        <p:nvSpPr>
          <p:cNvPr id="15" name="Text 13"/>
          <p:cNvSpPr/>
          <p:nvPr/>
        </p:nvSpPr>
        <p:spPr>
          <a:xfrm>
            <a:off x="11049000" y="1778000"/>
            <a:ext cx="4191000" cy="10160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Maintains account balances, transaction history, and customer information securely</a:t>
            </a:r>
            <a:endParaRPr lang="en-US" sz="1600" dirty="0"/>
          </a:p>
        </p:txBody>
      </p:sp>
      <p:sp>
        <p:nvSpPr>
          <p:cNvPr id="16" name="Shape 14"/>
          <p:cNvSpPr/>
          <p:nvPr/>
        </p:nvSpPr>
        <p:spPr>
          <a:xfrm>
            <a:off x="762000" y="3175000"/>
            <a:ext cx="4699000" cy="1778000"/>
          </a:xfrm>
          <a:prstGeom prst="roundRect">
            <a:avLst>
              <a:gd name="adj" fmla="val 8000"/>
            </a:avLst>
          </a:prstGeom>
          <a:solidFill>
            <a:srgbClr val="FFFFFF"/>
          </a:solidFill>
          <a:ln/>
          <a:effectLst>
            <a:outerShdw sx="100000" sy="100000" kx="0" ky="0" algn="bl" rotWithShape="0" blurRad="101600" dist="25400" dir="5400000">
              <a:srgbClr val="000000">
                <a:alpha val="6275"/>
              </a:srgbClr>
            </a:outerShdw>
          </a:effectLst>
        </p:spPr>
      </p:sp>
      <p:sp>
        <p:nvSpPr>
          <p:cNvPr id="17" name="Shape 15"/>
          <p:cNvSpPr/>
          <p:nvPr/>
        </p:nvSpPr>
        <p:spPr>
          <a:xfrm>
            <a:off x="990600" y="3365500"/>
            <a:ext cx="457200" cy="406400"/>
          </a:xfrm>
          <a:custGeom>
            <a:avLst/>
            <a:gdLst/>
            <a:ahLst/>
            <a:cxnLst/>
            <a:rect l="l" t="t" r="r" b="b"/>
            <a:pathLst>
              <a:path w="457200" h="406400">
                <a:moveTo>
                  <a:pt x="101600" y="50800"/>
                </a:moveTo>
                <a:cubicBezTo>
                  <a:pt x="101600" y="22781"/>
                  <a:pt x="124381" y="0"/>
                  <a:pt x="152400" y="0"/>
                </a:cubicBezTo>
                <a:lnTo>
                  <a:pt x="304800" y="0"/>
                </a:lnTo>
                <a:cubicBezTo>
                  <a:pt x="332819" y="0"/>
                  <a:pt x="355600" y="22781"/>
                  <a:pt x="355600" y="50800"/>
                </a:cubicBezTo>
                <a:lnTo>
                  <a:pt x="355600" y="101600"/>
                </a:lnTo>
                <a:lnTo>
                  <a:pt x="406400" y="101600"/>
                </a:lnTo>
                <a:cubicBezTo>
                  <a:pt x="434419" y="101600"/>
                  <a:pt x="457200" y="124381"/>
                  <a:pt x="457200" y="152400"/>
                </a:cubicBezTo>
                <a:lnTo>
                  <a:pt x="457200" y="355600"/>
                </a:lnTo>
                <a:cubicBezTo>
                  <a:pt x="457200" y="383619"/>
                  <a:pt x="434419" y="406400"/>
                  <a:pt x="406400" y="406400"/>
                </a:cubicBezTo>
                <a:lnTo>
                  <a:pt x="50800" y="406400"/>
                </a:lnTo>
                <a:cubicBezTo>
                  <a:pt x="22781" y="406400"/>
                  <a:pt x="0" y="383619"/>
                  <a:pt x="0" y="355600"/>
                </a:cubicBezTo>
                <a:lnTo>
                  <a:pt x="0" y="152400"/>
                </a:lnTo>
                <a:cubicBezTo>
                  <a:pt x="0" y="124381"/>
                  <a:pt x="22781" y="101600"/>
                  <a:pt x="50800" y="101600"/>
                </a:cubicBezTo>
                <a:lnTo>
                  <a:pt x="101600" y="101600"/>
                </a:lnTo>
                <a:lnTo>
                  <a:pt x="101600" y="50800"/>
                </a:lnTo>
                <a:close/>
                <a:moveTo>
                  <a:pt x="215900" y="279400"/>
                </a:moveTo>
                <a:cubicBezTo>
                  <a:pt x="201851" y="279400"/>
                  <a:pt x="190500" y="290751"/>
                  <a:pt x="190500" y="304800"/>
                </a:cubicBezTo>
                <a:lnTo>
                  <a:pt x="190500" y="368300"/>
                </a:lnTo>
                <a:lnTo>
                  <a:pt x="266700" y="368300"/>
                </a:lnTo>
                <a:lnTo>
                  <a:pt x="266700" y="304800"/>
                </a:lnTo>
                <a:cubicBezTo>
                  <a:pt x="266700" y="290751"/>
                  <a:pt x="255349" y="279400"/>
                  <a:pt x="241300" y="279400"/>
                </a:cubicBezTo>
                <a:lnTo>
                  <a:pt x="215900" y="279400"/>
                </a:lnTo>
                <a:close/>
                <a:moveTo>
                  <a:pt x="101600" y="292100"/>
                </a:moveTo>
                <a:lnTo>
                  <a:pt x="101600" y="266700"/>
                </a:lnTo>
                <a:cubicBezTo>
                  <a:pt x="101600" y="259715"/>
                  <a:pt x="95885" y="254000"/>
                  <a:pt x="88900" y="254000"/>
                </a:cubicBezTo>
                <a:lnTo>
                  <a:pt x="63500" y="254000"/>
                </a:lnTo>
                <a:cubicBezTo>
                  <a:pt x="56515" y="254000"/>
                  <a:pt x="50800" y="259715"/>
                  <a:pt x="50800" y="266700"/>
                </a:cubicBezTo>
                <a:lnTo>
                  <a:pt x="50800" y="292100"/>
                </a:lnTo>
                <a:cubicBezTo>
                  <a:pt x="50800" y="299085"/>
                  <a:pt x="56515" y="304800"/>
                  <a:pt x="63500" y="304800"/>
                </a:cubicBezTo>
                <a:lnTo>
                  <a:pt x="88900" y="304800"/>
                </a:lnTo>
                <a:cubicBezTo>
                  <a:pt x="95885" y="304800"/>
                  <a:pt x="101600" y="299085"/>
                  <a:pt x="101600" y="292100"/>
                </a:cubicBezTo>
                <a:close/>
                <a:moveTo>
                  <a:pt x="88900" y="203200"/>
                </a:moveTo>
                <a:cubicBezTo>
                  <a:pt x="95885" y="203200"/>
                  <a:pt x="101600" y="197485"/>
                  <a:pt x="101600" y="190500"/>
                </a:cubicBezTo>
                <a:lnTo>
                  <a:pt x="101600" y="165100"/>
                </a:lnTo>
                <a:cubicBezTo>
                  <a:pt x="101600" y="158115"/>
                  <a:pt x="95885" y="152400"/>
                  <a:pt x="88900" y="152400"/>
                </a:cubicBezTo>
                <a:lnTo>
                  <a:pt x="63500" y="152400"/>
                </a:lnTo>
                <a:cubicBezTo>
                  <a:pt x="56515" y="152400"/>
                  <a:pt x="50800" y="158115"/>
                  <a:pt x="50800" y="165100"/>
                </a:cubicBezTo>
                <a:lnTo>
                  <a:pt x="50800" y="190500"/>
                </a:lnTo>
                <a:cubicBezTo>
                  <a:pt x="50800" y="197485"/>
                  <a:pt x="56515" y="203200"/>
                  <a:pt x="63500" y="203200"/>
                </a:cubicBezTo>
                <a:lnTo>
                  <a:pt x="88900" y="203200"/>
                </a:lnTo>
                <a:close/>
                <a:moveTo>
                  <a:pt x="406400" y="292100"/>
                </a:moveTo>
                <a:lnTo>
                  <a:pt x="406400" y="266700"/>
                </a:lnTo>
                <a:cubicBezTo>
                  <a:pt x="406400" y="259715"/>
                  <a:pt x="400685" y="254000"/>
                  <a:pt x="393700" y="254000"/>
                </a:cubicBezTo>
                <a:lnTo>
                  <a:pt x="368300" y="254000"/>
                </a:lnTo>
                <a:cubicBezTo>
                  <a:pt x="361315" y="254000"/>
                  <a:pt x="355600" y="259715"/>
                  <a:pt x="355600" y="266700"/>
                </a:cubicBezTo>
                <a:lnTo>
                  <a:pt x="355600" y="292100"/>
                </a:lnTo>
                <a:cubicBezTo>
                  <a:pt x="355600" y="299085"/>
                  <a:pt x="361315" y="304800"/>
                  <a:pt x="368300" y="304800"/>
                </a:cubicBezTo>
                <a:lnTo>
                  <a:pt x="393700" y="304800"/>
                </a:lnTo>
                <a:cubicBezTo>
                  <a:pt x="400685" y="304800"/>
                  <a:pt x="406400" y="299085"/>
                  <a:pt x="406400" y="292100"/>
                </a:cubicBezTo>
                <a:close/>
                <a:moveTo>
                  <a:pt x="393700" y="203200"/>
                </a:moveTo>
                <a:cubicBezTo>
                  <a:pt x="400685" y="203200"/>
                  <a:pt x="406400" y="197485"/>
                  <a:pt x="406400" y="190500"/>
                </a:cubicBezTo>
                <a:lnTo>
                  <a:pt x="406400" y="165100"/>
                </a:lnTo>
                <a:cubicBezTo>
                  <a:pt x="406400" y="158115"/>
                  <a:pt x="400685" y="152400"/>
                  <a:pt x="393700" y="152400"/>
                </a:cubicBezTo>
                <a:lnTo>
                  <a:pt x="368300" y="152400"/>
                </a:lnTo>
                <a:cubicBezTo>
                  <a:pt x="361315" y="152400"/>
                  <a:pt x="355600" y="158115"/>
                  <a:pt x="355600" y="165100"/>
                </a:cubicBezTo>
                <a:lnTo>
                  <a:pt x="355600" y="190500"/>
                </a:lnTo>
                <a:cubicBezTo>
                  <a:pt x="355600" y="197485"/>
                  <a:pt x="361315" y="203200"/>
                  <a:pt x="368300" y="203200"/>
                </a:cubicBezTo>
                <a:lnTo>
                  <a:pt x="393700" y="203200"/>
                </a:lnTo>
                <a:close/>
                <a:moveTo>
                  <a:pt x="209550" y="82550"/>
                </a:moveTo>
                <a:lnTo>
                  <a:pt x="209550" y="107950"/>
                </a:lnTo>
                <a:lnTo>
                  <a:pt x="184150" y="107950"/>
                </a:lnTo>
                <a:cubicBezTo>
                  <a:pt x="177165" y="107950"/>
                  <a:pt x="171450" y="113665"/>
                  <a:pt x="171450" y="120650"/>
                </a:cubicBezTo>
                <a:lnTo>
                  <a:pt x="171450" y="133350"/>
                </a:lnTo>
                <a:cubicBezTo>
                  <a:pt x="171450" y="140335"/>
                  <a:pt x="177165" y="146050"/>
                  <a:pt x="184150" y="146050"/>
                </a:cubicBezTo>
                <a:lnTo>
                  <a:pt x="209550" y="146050"/>
                </a:lnTo>
                <a:lnTo>
                  <a:pt x="209550" y="171450"/>
                </a:lnTo>
                <a:cubicBezTo>
                  <a:pt x="209550" y="178435"/>
                  <a:pt x="215265" y="184150"/>
                  <a:pt x="222250" y="184150"/>
                </a:cubicBezTo>
                <a:lnTo>
                  <a:pt x="234950" y="184150"/>
                </a:lnTo>
                <a:cubicBezTo>
                  <a:pt x="241935" y="184150"/>
                  <a:pt x="247650" y="178435"/>
                  <a:pt x="247650" y="171450"/>
                </a:cubicBezTo>
                <a:lnTo>
                  <a:pt x="247650" y="146050"/>
                </a:lnTo>
                <a:lnTo>
                  <a:pt x="273050" y="146050"/>
                </a:lnTo>
                <a:cubicBezTo>
                  <a:pt x="280035" y="146050"/>
                  <a:pt x="285750" y="140335"/>
                  <a:pt x="285750" y="133350"/>
                </a:cubicBezTo>
                <a:lnTo>
                  <a:pt x="285750" y="120650"/>
                </a:lnTo>
                <a:cubicBezTo>
                  <a:pt x="285750" y="113665"/>
                  <a:pt x="280035" y="107950"/>
                  <a:pt x="273050" y="107950"/>
                </a:cubicBezTo>
                <a:lnTo>
                  <a:pt x="247650" y="107950"/>
                </a:lnTo>
                <a:lnTo>
                  <a:pt x="247650" y="82550"/>
                </a:lnTo>
                <a:cubicBezTo>
                  <a:pt x="247650" y="75565"/>
                  <a:pt x="241935" y="69850"/>
                  <a:pt x="234950" y="69850"/>
                </a:cubicBezTo>
                <a:lnTo>
                  <a:pt x="222250" y="69850"/>
                </a:lnTo>
                <a:cubicBezTo>
                  <a:pt x="215265" y="69850"/>
                  <a:pt x="209550" y="75565"/>
                  <a:pt x="209550" y="82550"/>
                </a:cubicBezTo>
                <a:close/>
              </a:path>
            </a:pathLst>
          </a:custGeom>
          <a:solidFill>
            <a:srgbClr val="2D5A4C"/>
          </a:solidFill>
          <a:ln/>
        </p:spPr>
      </p:sp>
      <p:sp>
        <p:nvSpPr>
          <p:cNvPr id="18" name="Text 16"/>
          <p:cNvSpPr/>
          <p:nvPr/>
        </p:nvSpPr>
        <p:spPr>
          <a:xfrm>
            <a:off x="1549400" y="3327400"/>
            <a:ext cx="3683000" cy="355600"/>
          </a:xfrm>
          <a:prstGeom prst="rect">
            <a:avLst/>
          </a:prstGeom>
          <a:noFill/>
          <a:ln/>
        </p:spPr>
        <p:txBody>
          <a:bodyPr wrap="none" lIns="0" tIns="0" rIns="0" bIns="0" rtlCol="0" anchor="ctr"/>
          <a:lstStyle/>
          <a:p>
            <a:pPr>
              <a:lnSpc>
                <a:spcPct val="100000"/>
              </a:lnSpc>
            </a:pPr>
            <a:r>
              <a:rPr lang="en-US" sz="1600" b="1" dirty="0">
                <a:solidFill>
                  <a:srgbClr val="2D5A4C"/>
                </a:solidFill>
                <a:latin typeface="Liter" pitchFamily="34" charset="0"/>
                <a:ea typeface="Liter" pitchFamily="34" charset="-122"/>
                <a:cs typeface="Liter" pitchFamily="34" charset="-120"/>
              </a:rPr>
              <a:t>Hospitals</a:t>
            </a:r>
            <a:endParaRPr lang="en-US" sz="1600" dirty="0"/>
          </a:p>
        </p:txBody>
      </p:sp>
      <p:sp>
        <p:nvSpPr>
          <p:cNvPr id="19" name="Text 17"/>
          <p:cNvSpPr/>
          <p:nvPr/>
        </p:nvSpPr>
        <p:spPr>
          <a:xfrm>
            <a:off x="1016000" y="3810000"/>
            <a:ext cx="4191000" cy="10160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Keeps patient records, appointments, prescriptions, and medical histories</a:t>
            </a:r>
            <a:endParaRPr lang="en-US" sz="1600" dirty="0"/>
          </a:p>
        </p:txBody>
      </p:sp>
      <p:sp>
        <p:nvSpPr>
          <p:cNvPr id="20" name="Shape 18"/>
          <p:cNvSpPr/>
          <p:nvPr/>
        </p:nvSpPr>
        <p:spPr>
          <a:xfrm>
            <a:off x="5778500" y="3175000"/>
            <a:ext cx="4699000" cy="1778000"/>
          </a:xfrm>
          <a:prstGeom prst="roundRect">
            <a:avLst>
              <a:gd name="adj" fmla="val 8000"/>
            </a:avLst>
          </a:prstGeom>
          <a:solidFill>
            <a:srgbClr val="FFFFFF"/>
          </a:solidFill>
          <a:ln/>
          <a:effectLst>
            <a:outerShdw sx="100000" sy="100000" kx="0" ky="0" algn="bl" rotWithShape="0" blurRad="101600" dist="25400" dir="5400000">
              <a:srgbClr val="000000">
                <a:alpha val="6275"/>
              </a:srgbClr>
            </a:outerShdw>
          </a:effectLst>
        </p:spPr>
      </p:sp>
      <p:sp>
        <p:nvSpPr>
          <p:cNvPr id="21" name="Shape 19"/>
          <p:cNvSpPr/>
          <p:nvPr/>
        </p:nvSpPr>
        <p:spPr>
          <a:xfrm>
            <a:off x="6083300" y="3365500"/>
            <a:ext cx="304800" cy="406400"/>
          </a:xfrm>
          <a:custGeom>
            <a:avLst/>
            <a:gdLst/>
            <a:ahLst/>
            <a:cxnLst/>
            <a:rect l="l" t="t" r="r" b="b"/>
            <a:pathLst>
              <a:path w="304800" h="406400">
                <a:moveTo>
                  <a:pt x="12700" y="50800"/>
                </a:moveTo>
                <a:cubicBezTo>
                  <a:pt x="12700" y="22781"/>
                  <a:pt x="35481" y="0"/>
                  <a:pt x="63500" y="0"/>
                </a:cubicBezTo>
                <a:lnTo>
                  <a:pt x="241300" y="0"/>
                </a:lnTo>
                <a:cubicBezTo>
                  <a:pt x="269319" y="0"/>
                  <a:pt x="292100" y="22781"/>
                  <a:pt x="292100" y="50800"/>
                </a:cubicBezTo>
                <a:lnTo>
                  <a:pt x="292100" y="355600"/>
                </a:lnTo>
                <a:cubicBezTo>
                  <a:pt x="292100" y="383619"/>
                  <a:pt x="269319" y="406400"/>
                  <a:pt x="241300" y="406400"/>
                </a:cubicBezTo>
                <a:lnTo>
                  <a:pt x="63500" y="406400"/>
                </a:lnTo>
                <a:cubicBezTo>
                  <a:pt x="35481" y="406400"/>
                  <a:pt x="12700" y="383619"/>
                  <a:pt x="12700" y="355600"/>
                </a:cubicBezTo>
                <a:lnTo>
                  <a:pt x="12700" y="50800"/>
                </a:lnTo>
                <a:close/>
                <a:moveTo>
                  <a:pt x="101600" y="349250"/>
                </a:moveTo>
                <a:cubicBezTo>
                  <a:pt x="101600" y="359807"/>
                  <a:pt x="110093" y="368300"/>
                  <a:pt x="120650" y="368300"/>
                </a:cubicBezTo>
                <a:lnTo>
                  <a:pt x="184150" y="368300"/>
                </a:lnTo>
                <a:cubicBezTo>
                  <a:pt x="194707" y="368300"/>
                  <a:pt x="203200" y="359807"/>
                  <a:pt x="203200" y="349250"/>
                </a:cubicBezTo>
                <a:cubicBezTo>
                  <a:pt x="203200" y="338693"/>
                  <a:pt x="194707" y="330200"/>
                  <a:pt x="184150" y="330200"/>
                </a:cubicBezTo>
                <a:lnTo>
                  <a:pt x="120650" y="330200"/>
                </a:lnTo>
                <a:cubicBezTo>
                  <a:pt x="110093" y="330200"/>
                  <a:pt x="101600" y="338693"/>
                  <a:pt x="101600" y="349250"/>
                </a:cubicBezTo>
                <a:close/>
                <a:moveTo>
                  <a:pt x="241300" y="50800"/>
                </a:moveTo>
                <a:lnTo>
                  <a:pt x="63500" y="50800"/>
                </a:lnTo>
                <a:lnTo>
                  <a:pt x="63500" y="292100"/>
                </a:lnTo>
                <a:lnTo>
                  <a:pt x="241300" y="292100"/>
                </a:lnTo>
                <a:lnTo>
                  <a:pt x="241300" y="50800"/>
                </a:lnTo>
                <a:close/>
              </a:path>
            </a:pathLst>
          </a:custGeom>
          <a:solidFill>
            <a:srgbClr val="2D5A4C"/>
          </a:solidFill>
          <a:ln/>
        </p:spPr>
      </p:sp>
      <p:sp>
        <p:nvSpPr>
          <p:cNvPr id="22" name="Text 20"/>
          <p:cNvSpPr/>
          <p:nvPr/>
        </p:nvSpPr>
        <p:spPr>
          <a:xfrm>
            <a:off x="6565900" y="3327400"/>
            <a:ext cx="3683000" cy="355600"/>
          </a:xfrm>
          <a:prstGeom prst="rect">
            <a:avLst/>
          </a:prstGeom>
          <a:noFill/>
          <a:ln/>
        </p:spPr>
        <p:txBody>
          <a:bodyPr wrap="none" lIns="0" tIns="0" rIns="0" bIns="0" rtlCol="0" anchor="ctr"/>
          <a:lstStyle/>
          <a:p>
            <a:pPr>
              <a:lnSpc>
                <a:spcPct val="100000"/>
              </a:lnSpc>
            </a:pPr>
            <a:r>
              <a:rPr lang="en-US" sz="1600" b="1" dirty="0">
                <a:solidFill>
                  <a:srgbClr val="2D5A4C"/>
                </a:solidFill>
                <a:latin typeface="Liter" pitchFamily="34" charset="0"/>
                <a:ea typeface="Liter" pitchFamily="34" charset="-122"/>
                <a:cs typeface="Liter" pitchFamily="34" charset="-120"/>
              </a:rPr>
              <a:t>Your Phone</a:t>
            </a:r>
            <a:endParaRPr lang="en-US" sz="1600" dirty="0"/>
          </a:p>
        </p:txBody>
      </p:sp>
      <p:sp>
        <p:nvSpPr>
          <p:cNvPr id="23" name="Text 21"/>
          <p:cNvSpPr/>
          <p:nvPr/>
        </p:nvSpPr>
        <p:spPr>
          <a:xfrm>
            <a:off x="6032500" y="3810000"/>
            <a:ext cx="4191000" cy="10160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Your contact list, messages, photos, and app data are all stored in databases</a:t>
            </a:r>
            <a:endParaRPr lang="en-US" sz="1600" dirty="0"/>
          </a:p>
        </p:txBody>
      </p:sp>
      <p:sp>
        <p:nvSpPr>
          <p:cNvPr id="24" name="Shape 22"/>
          <p:cNvSpPr/>
          <p:nvPr/>
        </p:nvSpPr>
        <p:spPr>
          <a:xfrm>
            <a:off x="762000" y="5207000"/>
            <a:ext cx="14732000" cy="1016000"/>
          </a:xfrm>
          <a:prstGeom prst="roundRect">
            <a:avLst>
              <a:gd name="adj" fmla="val 6000"/>
            </a:avLst>
          </a:prstGeom>
          <a:solidFill>
            <a:srgbClr val="E8E2DA"/>
          </a:solidFill>
          <a:ln/>
        </p:spPr>
      </p:sp>
      <p:sp>
        <p:nvSpPr>
          <p:cNvPr id="25" name="Shape 23"/>
          <p:cNvSpPr/>
          <p:nvPr/>
        </p:nvSpPr>
        <p:spPr>
          <a:xfrm>
            <a:off x="1060450" y="5435600"/>
            <a:ext cx="266700" cy="355600"/>
          </a:xfrm>
          <a:custGeom>
            <a:avLst/>
            <a:gdLst/>
            <a:ahLst/>
            <a:cxnLst/>
            <a:rect l="l" t="t" r="r" b="b"/>
            <a:pathLst>
              <a:path w="266700" h="355600">
                <a:moveTo>
                  <a:pt x="203428" y="266700"/>
                </a:moveTo>
                <a:cubicBezTo>
                  <a:pt x="208498" y="251212"/>
                  <a:pt x="218638" y="237182"/>
                  <a:pt x="230098" y="225098"/>
                </a:cubicBezTo>
                <a:cubicBezTo>
                  <a:pt x="252809" y="201206"/>
                  <a:pt x="266700" y="168910"/>
                  <a:pt x="266700" y="133350"/>
                </a:cubicBezTo>
                <a:cubicBezTo>
                  <a:pt x="266700" y="59730"/>
                  <a:pt x="206970" y="0"/>
                  <a:pt x="133350" y="0"/>
                </a:cubicBezTo>
                <a:cubicBezTo>
                  <a:pt x="59730" y="0"/>
                  <a:pt x="0" y="59730"/>
                  <a:pt x="0" y="133350"/>
                </a:cubicBezTo>
                <a:cubicBezTo>
                  <a:pt x="0" y="168910"/>
                  <a:pt x="13891" y="201206"/>
                  <a:pt x="36602" y="225098"/>
                </a:cubicBezTo>
                <a:cubicBezTo>
                  <a:pt x="48062" y="237182"/>
                  <a:pt x="58271" y="251212"/>
                  <a:pt x="63272" y="266700"/>
                </a:cubicBezTo>
                <a:lnTo>
                  <a:pt x="203359" y="266700"/>
                </a:lnTo>
                <a:close/>
                <a:moveTo>
                  <a:pt x="200025" y="300038"/>
                </a:moveTo>
                <a:lnTo>
                  <a:pt x="66675" y="300038"/>
                </a:lnTo>
                <a:lnTo>
                  <a:pt x="66675" y="311150"/>
                </a:lnTo>
                <a:cubicBezTo>
                  <a:pt x="66675" y="341848"/>
                  <a:pt x="91539" y="366712"/>
                  <a:pt x="122238" y="366712"/>
                </a:cubicBezTo>
                <a:lnTo>
                  <a:pt x="144463" y="366712"/>
                </a:lnTo>
                <a:cubicBezTo>
                  <a:pt x="175161" y="366712"/>
                  <a:pt x="200025" y="341848"/>
                  <a:pt x="200025" y="311150"/>
                </a:cubicBezTo>
                <a:lnTo>
                  <a:pt x="200025" y="300038"/>
                </a:lnTo>
                <a:close/>
                <a:moveTo>
                  <a:pt x="127794" y="77788"/>
                </a:moveTo>
                <a:cubicBezTo>
                  <a:pt x="100151" y="77788"/>
                  <a:pt x="77788" y="100151"/>
                  <a:pt x="77788" y="127794"/>
                </a:cubicBezTo>
                <a:cubicBezTo>
                  <a:pt x="77788" y="137031"/>
                  <a:pt x="70356" y="144463"/>
                  <a:pt x="61119" y="144463"/>
                </a:cubicBezTo>
                <a:cubicBezTo>
                  <a:pt x="51881" y="144463"/>
                  <a:pt x="44450" y="137031"/>
                  <a:pt x="44450" y="127794"/>
                </a:cubicBezTo>
                <a:cubicBezTo>
                  <a:pt x="44450" y="81746"/>
                  <a:pt x="81746" y="44450"/>
                  <a:pt x="127794" y="44450"/>
                </a:cubicBezTo>
                <a:cubicBezTo>
                  <a:pt x="137031" y="44450"/>
                  <a:pt x="144463" y="51881"/>
                  <a:pt x="144463" y="61119"/>
                </a:cubicBezTo>
                <a:cubicBezTo>
                  <a:pt x="144463" y="70356"/>
                  <a:pt x="137031" y="77788"/>
                  <a:pt x="127794" y="77788"/>
                </a:cubicBezTo>
                <a:close/>
              </a:path>
            </a:pathLst>
          </a:custGeom>
          <a:solidFill>
            <a:srgbClr val="D4943A"/>
          </a:solidFill>
          <a:ln/>
        </p:spPr>
      </p:sp>
      <p:sp>
        <p:nvSpPr>
          <p:cNvPr id="26" name="Text 24"/>
          <p:cNvSpPr/>
          <p:nvPr/>
        </p:nvSpPr>
        <p:spPr>
          <a:xfrm>
            <a:off x="1498600" y="5270500"/>
            <a:ext cx="2540000" cy="304800"/>
          </a:xfrm>
          <a:prstGeom prst="rect">
            <a:avLst/>
          </a:prstGeom>
          <a:noFill/>
          <a:ln/>
        </p:spPr>
        <p:txBody>
          <a:bodyPr wrap="none" lIns="0" tIns="0" rIns="0" bIns="0" rtlCol="0" anchor="ctr"/>
          <a:lstStyle/>
          <a:p>
            <a:pPr>
              <a:lnSpc>
                <a:spcPct val="100000"/>
              </a:lnSpc>
            </a:pPr>
            <a:r>
              <a:rPr lang="en-US" sz="1400" b="1" dirty="0">
                <a:solidFill>
                  <a:srgbClr val="2D5A4C"/>
                </a:solidFill>
                <a:latin typeface="Liter" pitchFamily="34" charset="0"/>
                <a:ea typeface="Liter" pitchFamily="34" charset="-122"/>
                <a:cs typeface="Liter" pitchFamily="34" charset="-120"/>
              </a:rPr>
              <a:t>EXPLANATION</a:t>
            </a:r>
            <a:endParaRPr lang="en-US" sz="1600" dirty="0"/>
          </a:p>
        </p:txBody>
      </p:sp>
      <p:sp>
        <p:nvSpPr>
          <p:cNvPr id="27" name="Text 25"/>
          <p:cNvSpPr/>
          <p:nvPr/>
        </p:nvSpPr>
        <p:spPr>
          <a:xfrm>
            <a:off x="1498600" y="5613400"/>
            <a:ext cx="13716000" cy="5080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You interact with databases dozens of times daily without realizing it. Every login, search, or payment triggers a database query behind the scenes.</a:t>
            </a:r>
            <a:endParaRPr lang="en-US" sz="1600" dirty="0"/>
          </a:p>
        </p:txBody>
      </p:sp>
      <p:sp>
        <p:nvSpPr>
          <p:cNvPr id="28" name="Shape 26"/>
          <p:cNvSpPr/>
          <p:nvPr/>
        </p:nvSpPr>
        <p:spPr>
          <a:xfrm>
            <a:off x="762000" y="6477000"/>
            <a:ext cx="14732000" cy="1270000"/>
          </a:xfrm>
          <a:prstGeom prst="roundRect">
            <a:avLst>
              <a:gd name="adj" fmla="val 6000"/>
            </a:avLst>
          </a:prstGeom>
          <a:solidFill>
            <a:srgbClr val="D4943A">
              <a:alpha val="8235"/>
            </a:srgbClr>
          </a:solidFill>
          <a:ln/>
        </p:spPr>
      </p:sp>
      <p:sp>
        <p:nvSpPr>
          <p:cNvPr id="29" name="Shape 27"/>
          <p:cNvSpPr/>
          <p:nvPr/>
        </p:nvSpPr>
        <p:spPr>
          <a:xfrm>
            <a:off x="1016000" y="6604000"/>
            <a:ext cx="304800" cy="304800"/>
          </a:xfrm>
          <a:custGeom>
            <a:avLst/>
            <a:gdLst/>
            <a:ahLst/>
            <a:cxnLst/>
            <a:rect l="l" t="t" r="r" b="b"/>
            <a:pathLst>
              <a:path w="304800" h="304800">
                <a:moveTo>
                  <a:pt x="209490" y="166688"/>
                </a:moveTo>
                <a:lnTo>
                  <a:pt x="95845" y="166688"/>
                </a:lnTo>
                <a:cubicBezTo>
                  <a:pt x="97572" y="205085"/>
                  <a:pt x="106085" y="240447"/>
                  <a:pt x="118170" y="266343"/>
                </a:cubicBezTo>
                <a:cubicBezTo>
                  <a:pt x="124956" y="280928"/>
                  <a:pt x="132278" y="291227"/>
                  <a:pt x="139065" y="297537"/>
                </a:cubicBezTo>
                <a:cubicBezTo>
                  <a:pt x="145733" y="303788"/>
                  <a:pt x="150316" y="304800"/>
                  <a:pt x="152698" y="304800"/>
                </a:cubicBezTo>
                <a:cubicBezTo>
                  <a:pt x="155079" y="304800"/>
                  <a:pt x="159663" y="303788"/>
                  <a:pt x="166330" y="297537"/>
                </a:cubicBezTo>
                <a:cubicBezTo>
                  <a:pt x="173117" y="291227"/>
                  <a:pt x="180439" y="280868"/>
                  <a:pt x="187226" y="266343"/>
                </a:cubicBezTo>
                <a:cubicBezTo>
                  <a:pt x="199311" y="240447"/>
                  <a:pt x="207824" y="205085"/>
                  <a:pt x="209550" y="166688"/>
                </a:cubicBezTo>
                <a:close/>
                <a:moveTo>
                  <a:pt x="95786" y="138113"/>
                </a:moveTo>
                <a:lnTo>
                  <a:pt x="209431" y="138113"/>
                </a:lnTo>
                <a:cubicBezTo>
                  <a:pt x="207764" y="99715"/>
                  <a:pt x="199251" y="64353"/>
                  <a:pt x="187166" y="38457"/>
                </a:cubicBezTo>
                <a:cubicBezTo>
                  <a:pt x="180380" y="23932"/>
                  <a:pt x="173057" y="13573"/>
                  <a:pt x="166271" y="7263"/>
                </a:cubicBezTo>
                <a:cubicBezTo>
                  <a:pt x="159603" y="1012"/>
                  <a:pt x="155019" y="0"/>
                  <a:pt x="152638" y="0"/>
                </a:cubicBezTo>
                <a:cubicBezTo>
                  <a:pt x="150257" y="0"/>
                  <a:pt x="145673" y="1012"/>
                  <a:pt x="139005" y="7263"/>
                </a:cubicBezTo>
                <a:cubicBezTo>
                  <a:pt x="132219" y="13573"/>
                  <a:pt x="124897" y="23932"/>
                  <a:pt x="118110" y="38457"/>
                </a:cubicBezTo>
                <a:cubicBezTo>
                  <a:pt x="106025" y="64353"/>
                  <a:pt x="97512" y="99715"/>
                  <a:pt x="95786" y="138113"/>
                </a:cubicBezTo>
                <a:close/>
                <a:moveTo>
                  <a:pt x="67211" y="138113"/>
                </a:moveTo>
                <a:cubicBezTo>
                  <a:pt x="69294" y="87154"/>
                  <a:pt x="82451" y="39826"/>
                  <a:pt x="101679" y="8751"/>
                </a:cubicBezTo>
                <a:cubicBezTo>
                  <a:pt x="46851" y="28158"/>
                  <a:pt x="6489" y="78105"/>
                  <a:pt x="893" y="138113"/>
                </a:cubicBezTo>
                <a:lnTo>
                  <a:pt x="67211" y="138113"/>
                </a:lnTo>
                <a:close/>
                <a:moveTo>
                  <a:pt x="893" y="166688"/>
                </a:moveTo>
                <a:cubicBezTo>
                  <a:pt x="6489" y="226695"/>
                  <a:pt x="46851" y="276642"/>
                  <a:pt x="101679" y="296049"/>
                </a:cubicBezTo>
                <a:cubicBezTo>
                  <a:pt x="82451" y="264974"/>
                  <a:pt x="69294" y="217646"/>
                  <a:pt x="67211" y="166688"/>
                </a:cubicBezTo>
                <a:lnTo>
                  <a:pt x="893" y="166688"/>
                </a:lnTo>
                <a:close/>
                <a:moveTo>
                  <a:pt x="238065" y="166688"/>
                </a:moveTo>
                <a:cubicBezTo>
                  <a:pt x="235982" y="217646"/>
                  <a:pt x="222825" y="264974"/>
                  <a:pt x="203597" y="296049"/>
                </a:cubicBezTo>
                <a:cubicBezTo>
                  <a:pt x="258425" y="276582"/>
                  <a:pt x="298787" y="226695"/>
                  <a:pt x="304383" y="166688"/>
                </a:cubicBezTo>
                <a:lnTo>
                  <a:pt x="238065" y="166688"/>
                </a:lnTo>
                <a:close/>
                <a:moveTo>
                  <a:pt x="304383" y="138113"/>
                </a:moveTo>
                <a:cubicBezTo>
                  <a:pt x="298787" y="78105"/>
                  <a:pt x="258425" y="28158"/>
                  <a:pt x="203597" y="8751"/>
                </a:cubicBezTo>
                <a:cubicBezTo>
                  <a:pt x="222825" y="39826"/>
                  <a:pt x="235982" y="87154"/>
                  <a:pt x="238065" y="138113"/>
                </a:cubicBezTo>
                <a:lnTo>
                  <a:pt x="304383" y="138113"/>
                </a:lnTo>
                <a:close/>
              </a:path>
            </a:pathLst>
          </a:custGeom>
          <a:solidFill>
            <a:srgbClr val="D4943A"/>
          </a:solidFill>
          <a:ln/>
        </p:spPr>
      </p:sp>
      <p:sp>
        <p:nvSpPr>
          <p:cNvPr id="30" name="Text 28"/>
          <p:cNvSpPr/>
          <p:nvPr/>
        </p:nvSpPr>
        <p:spPr>
          <a:xfrm>
            <a:off x="1422400" y="6565900"/>
            <a:ext cx="3175000" cy="304800"/>
          </a:xfrm>
          <a:prstGeom prst="rect">
            <a:avLst/>
          </a:prstGeom>
          <a:noFill/>
          <a:ln/>
        </p:spPr>
        <p:txBody>
          <a:bodyPr wrap="none" lIns="0" tIns="0" rIns="0" bIns="0" rtlCol="0" anchor="ctr"/>
          <a:lstStyle/>
          <a:p>
            <a:pPr>
              <a:lnSpc>
                <a:spcPct val="100000"/>
              </a:lnSpc>
            </a:pPr>
            <a:r>
              <a:rPr lang="en-US" sz="1400" b="1" dirty="0">
                <a:solidFill>
                  <a:srgbClr val="D4943A"/>
                </a:solidFill>
                <a:latin typeface="Liter" pitchFamily="34" charset="0"/>
                <a:ea typeface="Liter" pitchFamily="34" charset="-122"/>
                <a:cs typeface="Liter" pitchFamily="34" charset="-120"/>
              </a:rPr>
              <a:t>REAL-WORLD EXAMPLE</a:t>
            </a:r>
            <a:endParaRPr lang="en-US" sz="1600" dirty="0"/>
          </a:p>
        </p:txBody>
      </p:sp>
      <p:sp>
        <p:nvSpPr>
          <p:cNvPr id="31" name="Text 29"/>
          <p:cNvSpPr/>
          <p:nvPr/>
        </p:nvSpPr>
        <p:spPr>
          <a:xfrm>
            <a:off x="1016000" y="6959600"/>
            <a:ext cx="14224000" cy="6604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Netflix uses a massive database to store movie titles, descriptions, genres, ratings, and your viewing history to recommend shows you might enjoy.</a:t>
            </a:r>
            <a:endParaRPr lang="en-US" sz="1600" dirty="0"/>
          </a:p>
        </p:txBody>
      </p:sp>
      <p:sp>
        <p:nvSpPr>
          <p:cNvPr id="32" name="Shape 30"/>
          <p:cNvSpPr/>
          <p:nvPr/>
        </p:nvSpPr>
        <p:spPr>
          <a:xfrm>
            <a:off x="762000" y="8001000"/>
            <a:ext cx="14732000" cy="635000"/>
          </a:xfrm>
          <a:prstGeom prst="roundRect">
            <a:avLst>
              <a:gd name="adj" fmla="val 6000"/>
            </a:avLst>
          </a:prstGeom>
          <a:solidFill>
            <a:srgbClr val="2D5A4C">
              <a:alpha val="8235"/>
            </a:srgbClr>
          </a:solidFill>
          <a:ln/>
        </p:spPr>
      </p:sp>
      <p:sp>
        <p:nvSpPr>
          <p:cNvPr id="33" name="Shape 31"/>
          <p:cNvSpPr/>
          <p:nvPr/>
        </p:nvSpPr>
        <p:spPr>
          <a:xfrm>
            <a:off x="1016000" y="8153400"/>
            <a:ext cx="254000" cy="254000"/>
          </a:xfrm>
          <a:custGeom>
            <a:avLst/>
            <a:gdLst/>
            <a:ahLst/>
            <a:cxnLst/>
            <a:rect l="l" t="t" r="r" b="b"/>
            <a:pathLst>
              <a:path w="254000" h="254000">
                <a:moveTo>
                  <a:pt x="175071" y="10517"/>
                </a:moveTo>
                <a:lnTo>
                  <a:pt x="152797" y="32792"/>
                </a:lnTo>
                <a:lnTo>
                  <a:pt x="221208" y="101203"/>
                </a:lnTo>
                <a:lnTo>
                  <a:pt x="243483" y="78929"/>
                </a:lnTo>
                <a:cubicBezTo>
                  <a:pt x="250230" y="72231"/>
                  <a:pt x="254000" y="63103"/>
                  <a:pt x="254000" y="53578"/>
                </a:cubicBezTo>
                <a:cubicBezTo>
                  <a:pt x="254000" y="44053"/>
                  <a:pt x="250230" y="34925"/>
                  <a:pt x="243483" y="28228"/>
                </a:cubicBezTo>
                <a:lnTo>
                  <a:pt x="225772" y="10517"/>
                </a:lnTo>
                <a:cubicBezTo>
                  <a:pt x="219075" y="3770"/>
                  <a:pt x="209947" y="0"/>
                  <a:pt x="200422" y="0"/>
                </a:cubicBezTo>
                <a:cubicBezTo>
                  <a:pt x="190897" y="0"/>
                  <a:pt x="181769" y="3770"/>
                  <a:pt x="175071" y="10517"/>
                </a:cubicBezTo>
                <a:close/>
                <a:moveTo>
                  <a:pt x="135979" y="49609"/>
                </a:moveTo>
                <a:lnTo>
                  <a:pt x="29220" y="156319"/>
                </a:lnTo>
                <a:cubicBezTo>
                  <a:pt x="23912" y="161627"/>
                  <a:pt x="20042" y="168275"/>
                  <a:pt x="18008" y="175518"/>
                </a:cubicBezTo>
                <a:lnTo>
                  <a:pt x="446" y="238919"/>
                </a:lnTo>
                <a:cubicBezTo>
                  <a:pt x="-695" y="243036"/>
                  <a:pt x="446" y="247501"/>
                  <a:pt x="3522" y="250527"/>
                </a:cubicBezTo>
                <a:cubicBezTo>
                  <a:pt x="6598" y="253554"/>
                  <a:pt x="11013" y="254744"/>
                  <a:pt x="15131" y="253603"/>
                </a:cubicBezTo>
                <a:lnTo>
                  <a:pt x="78532" y="235992"/>
                </a:lnTo>
                <a:cubicBezTo>
                  <a:pt x="85775" y="233958"/>
                  <a:pt x="92373" y="230138"/>
                  <a:pt x="97730" y="224780"/>
                </a:cubicBezTo>
                <a:lnTo>
                  <a:pt x="204391" y="118021"/>
                </a:lnTo>
                <a:lnTo>
                  <a:pt x="135979" y="49609"/>
                </a:lnTo>
                <a:close/>
              </a:path>
            </a:pathLst>
          </a:custGeom>
          <a:solidFill>
            <a:srgbClr val="2D5A4C"/>
          </a:solidFill>
          <a:ln/>
        </p:spPr>
      </p:sp>
      <p:sp>
        <p:nvSpPr>
          <p:cNvPr id="34" name="Text 32"/>
          <p:cNvSpPr/>
          <p:nvPr/>
        </p:nvSpPr>
        <p:spPr>
          <a:xfrm>
            <a:off x="1371600" y="8064500"/>
            <a:ext cx="13970000" cy="508000"/>
          </a:xfrm>
          <a:prstGeom prst="rect">
            <a:avLst/>
          </a:prstGeom>
          <a:noFill/>
          <a:ln/>
        </p:spPr>
        <p:txBody>
          <a:bodyPr wrap="square" lIns="0" tIns="0" rIns="0" bIns="0" rtlCol="0" anchor="ctr"/>
          <a:lstStyle/>
          <a:p>
            <a:pPr>
              <a:lnSpc>
                <a:spcPct val="140000"/>
              </a:lnSpc>
            </a:pPr>
            <a:r>
              <a:rPr lang="en-US" sz="1400" b="1" dirty="0">
                <a:solidFill>
                  <a:srgbClr val="2D5A4C"/>
                </a:solidFill>
                <a:latin typeface="Quattrocento Sans" pitchFamily="34" charset="0"/>
                <a:ea typeface="Quattrocento Sans" pitchFamily="34" charset="-122"/>
                <a:cs typeface="Quattrocento Sans" pitchFamily="34" charset="-120"/>
              </a:rPr>
              <a:t>Practice:</a:t>
            </a:r>
            <a:pPr>
              <a:lnSpc>
                <a:spcPct val="140000"/>
              </a:lnSpc>
            </a:pPr>
            <a:r>
              <a:rPr lang="en-US" sz="1400" dirty="0">
                <a:solidFill>
                  <a:srgbClr val="2D5A4C"/>
                </a:solidFill>
                <a:latin typeface="Quattrocento Sans" pitchFamily="34" charset="0"/>
                <a:ea typeface="Quattrocento Sans" pitchFamily="34" charset="-122"/>
                <a:cs typeface="Quattrocento Sans" pitchFamily="34" charset="-120"/>
              </a:rPr>
              <a:t> List five apps on your phone that likely use databases.</a:t>
            </a:r>
            <a:endParaRPr lang="en-US" sz="1600" dirty="0"/>
          </a:p>
        </p:txBody>
      </p:sp>
      <p:sp>
        <p:nvSpPr>
          <p:cNvPr id="35" name="Text 33"/>
          <p:cNvSpPr/>
          <p:nvPr/>
        </p:nvSpPr>
        <p:spPr>
          <a:xfrm>
            <a:off x="13462000" y="8788400"/>
            <a:ext cx="2286000" cy="254000"/>
          </a:xfrm>
          <a:prstGeom prst="rect">
            <a:avLst/>
          </a:prstGeom>
          <a:noFill/>
          <a:ln/>
        </p:spPr>
        <p:txBody>
          <a:bodyPr wrap="none" lIns="0" tIns="0" rIns="0" bIns="0" rtlCol="0" anchor="ctr"/>
          <a:lstStyle/>
          <a:p>
            <a:pPr algn="r">
              <a:lnSpc>
                <a:spcPct val="140000"/>
              </a:lnSpc>
            </a:pPr>
            <a:r>
              <a:rPr lang="en-US" sz="1400" dirty="0">
                <a:solidFill>
                  <a:srgbClr val="8B7355"/>
                </a:solidFill>
                <a:latin typeface="QuattrocentoSans" pitchFamily="34" charset="0"/>
                <a:ea typeface="QuattrocentoSans" pitchFamily="34" charset="-122"/>
                <a:cs typeface="QuattrocentoSans" pitchFamily="34" charset="-120"/>
              </a:rPr>
              <a:t>Introduction to Databases</a:t>
            </a:r>
            <a:endParaRPr lang="en-US" sz="14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D4943A"/>
          </a:solidFill>
          <a:ln/>
        </p:spPr>
      </p:sp>
      <p:sp>
        <p:nvSpPr>
          <p:cNvPr id="3" name="Text 1"/>
          <p:cNvSpPr/>
          <p:nvPr/>
        </p:nvSpPr>
        <p:spPr>
          <a:xfrm>
            <a:off x="762000" y="381000"/>
            <a:ext cx="10160000" cy="508000"/>
          </a:xfrm>
          <a:prstGeom prst="rect">
            <a:avLst/>
          </a:prstGeom>
          <a:noFill/>
          <a:ln/>
        </p:spPr>
        <p:txBody>
          <a:bodyPr wrap="none" lIns="0" tIns="0" rIns="0" bIns="0" rtlCol="0" anchor="ctr"/>
          <a:lstStyle/>
          <a:p>
            <a:pPr>
              <a:lnSpc>
                <a:spcPct val="130000"/>
              </a:lnSpc>
            </a:pPr>
            <a:r>
              <a:rPr lang="en-US" sz="2800" dirty="0">
                <a:solidFill>
                  <a:srgbClr val="2D5A4C"/>
                </a:solidFill>
                <a:latin typeface="Liter" pitchFamily="34" charset="0"/>
                <a:ea typeface="Liter" pitchFamily="34" charset="-122"/>
                <a:cs typeface="Liter" pitchFamily="34" charset="-120"/>
              </a:rPr>
              <a:t>Types of Database Systems</a:t>
            </a:r>
            <a:endParaRPr lang="en-US" sz="2800" dirty="0"/>
          </a:p>
        </p:txBody>
      </p:sp>
      <p:sp>
        <p:nvSpPr>
          <p:cNvPr id="4" name="Text 2"/>
          <p:cNvSpPr/>
          <p:nvPr/>
        </p:nvSpPr>
        <p:spPr>
          <a:xfrm>
            <a:off x="762000" y="1143000"/>
            <a:ext cx="14732000" cy="2540000"/>
          </a:xfrm>
          <a:prstGeom prst="rect">
            <a:avLst/>
          </a:prstGeom>
          <a:noFill/>
          <a:ln/>
        </p:spPr>
        <p:txBody>
          <a:bodyPr wrap="square" lIns="0" tIns="0" rIns="0" bIns="0" rtlCol="0" anchor="t"/>
          <a:lstStyle/>
          <a:p>
            <a:pPr marL="317500" indent="-317500">
              <a:lnSpc>
                <a:spcPct val="150000"/>
              </a:lnSpc>
              <a:spcBef>
                <a:spcPts val="10"/>
              </a:spcBef>
              <a:buSzPct val="100000"/>
              <a:buChar char="•"/>
            </a:pPr>
            <a:r>
              <a:rPr lang="en-US" sz="1800" b="1" dirty="0">
                <a:solidFill>
                  <a:srgbClr val="2C2C2C"/>
                </a:solidFill>
                <a:latin typeface="QuattrocentoSans" pitchFamily="34" charset="0"/>
                <a:ea typeface="QuattrocentoSans" pitchFamily="34" charset="-122"/>
                <a:cs typeface="QuattrocentoSans" pitchFamily="34" charset="-120"/>
              </a:rPr>
              <a:t>Relational databases</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organize data into tables with rows and columns (like Excel spreadsheets)</a:t>
            </a:r>
            <a:endParaRPr lang="en-US" sz="2000" dirty="0"/>
          </a:p>
          <a:p>
            <a:pPr marL="317500" indent="-317500">
              <a:lnSpc>
                <a:spcPct val="150000"/>
              </a:lnSpc>
              <a:spcBef>
                <a:spcPts val="10"/>
              </a:spcBef>
              <a:buSzPct val="100000"/>
              <a:buChar char="•"/>
            </a:pPr>
            <a:r>
              <a:rPr lang="en-US" sz="1800" b="1" dirty="0">
                <a:solidFill>
                  <a:srgbClr val="2C2C2C"/>
                </a:solidFill>
                <a:latin typeface="QuattrocentoSans" pitchFamily="34" charset="0"/>
                <a:ea typeface="QuattrocentoSans" pitchFamily="34" charset="-122"/>
                <a:cs typeface="QuattrocentoSans" pitchFamily="34" charset="-120"/>
              </a:rPr>
              <a:t>NoSQL databases</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store data in flexible formats like documents or key-value pairs</a:t>
            </a:r>
            <a:endParaRPr lang="en-US" sz="2000" dirty="0"/>
          </a:p>
          <a:p>
            <a:pPr marL="317500" indent="-317500">
              <a:lnSpc>
                <a:spcPct val="150000"/>
              </a:lnSpc>
              <a:spcBef>
                <a:spcPts val="10"/>
              </a:spcBef>
              <a:buSzPct val="100000"/>
              <a:buChar char="•"/>
            </a:pPr>
            <a:r>
              <a:rPr lang="en-US" sz="1800" b="1" dirty="0">
                <a:solidFill>
                  <a:srgbClr val="2C2C2C"/>
                </a:solidFill>
                <a:latin typeface="QuattrocentoSans" pitchFamily="34" charset="0"/>
                <a:ea typeface="QuattrocentoSans" pitchFamily="34" charset="-122"/>
                <a:cs typeface="QuattrocentoSans" pitchFamily="34" charset="-120"/>
              </a:rPr>
              <a:t>Cloud databases</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are hosted on the internet and can scale to millions of users</a:t>
            </a:r>
            <a:endParaRPr lang="en-US" sz="2000" dirty="0"/>
          </a:p>
          <a:p>
            <a:pPr marL="317500" indent="-317500">
              <a:lnSpc>
                <a:spcPct val="150000"/>
              </a:lnSpc>
              <a:spcBef>
                <a:spcPts val="10"/>
              </a:spcBef>
              <a:buSzPct val="100000"/>
              <a:buChar char="•"/>
            </a:pPr>
            <a:r>
              <a:rPr lang="en-US" sz="1800" b="1" dirty="0">
                <a:solidFill>
                  <a:srgbClr val="2C2C2C"/>
                </a:solidFill>
                <a:latin typeface="QuattrocentoSans" pitchFamily="34" charset="0"/>
                <a:ea typeface="QuattrocentoSans" pitchFamily="34" charset="-122"/>
                <a:cs typeface="QuattrocentoSans" pitchFamily="34" charset="-120"/>
              </a:rPr>
              <a:t>In-memory databases</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store data in RAM for extremely fast access</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This course focuses on </a:t>
            </a:r>
            <a:pPr>
              <a:lnSpc>
                <a:spcPct val="150000"/>
              </a:lnSpc>
              <a:spcBef>
                <a:spcPts val="10"/>
              </a:spcBef>
            </a:pPr>
            <a:r>
              <a:rPr lang="en-US" sz="1800" b="1" dirty="0">
                <a:solidFill>
                  <a:srgbClr val="D4943A"/>
                </a:solidFill>
                <a:latin typeface="QuattrocentoSans" pitchFamily="34" charset="0"/>
                <a:ea typeface="QuattrocentoSans" pitchFamily="34" charset="-122"/>
                <a:cs typeface="QuattrocentoSans" pitchFamily="34" charset="-120"/>
              </a:rPr>
              <a:t>relational databases</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 the most common type</a:t>
            </a:r>
            <a:endParaRPr lang="en-US" sz="2000" dirty="0"/>
          </a:p>
        </p:txBody>
      </p:sp>
      <p:sp>
        <p:nvSpPr>
          <p:cNvPr id="5" name="Shape 3"/>
          <p:cNvSpPr/>
          <p:nvPr/>
        </p:nvSpPr>
        <p:spPr>
          <a:xfrm>
            <a:off x="762000" y="3937000"/>
            <a:ext cx="6858000" cy="2032000"/>
          </a:xfrm>
          <a:prstGeom prst="roundRect">
            <a:avLst>
              <a:gd name="adj" fmla="val 8000"/>
            </a:avLst>
          </a:prstGeom>
          <a:solidFill>
            <a:srgbClr val="2D5A4C">
              <a:alpha val="8235"/>
            </a:srgbClr>
          </a:solidFill>
          <a:ln/>
        </p:spPr>
      </p:sp>
      <p:sp>
        <p:nvSpPr>
          <p:cNvPr id="6" name="Shape 4"/>
          <p:cNvSpPr/>
          <p:nvPr/>
        </p:nvSpPr>
        <p:spPr>
          <a:xfrm>
            <a:off x="1044575" y="4127500"/>
            <a:ext cx="400050" cy="457200"/>
          </a:xfrm>
          <a:custGeom>
            <a:avLst/>
            <a:gdLst/>
            <a:ahLst/>
            <a:cxnLst/>
            <a:rect l="l" t="t" r="r" b="b"/>
            <a:pathLst>
              <a:path w="400050" h="457200">
                <a:moveTo>
                  <a:pt x="228600" y="142875"/>
                </a:moveTo>
                <a:lnTo>
                  <a:pt x="228600" y="228600"/>
                </a:lnTo>
                <a:lnTo>
                  <a:pt x="342900" y="228600"/>
                </a:lnTo>
                <a:lnTo>
                  <a:pt x="342900" y="142875"/>
                </a:lnTo>
                <a:lnTo>
                  <a:pt x="228600" y="142875"/>
                </a:lnTo>
                <a:close/>
                <a:moveTo>
                  <a:pt x="171450" y="142875"/>
                </a:moveTo>
                <a:lnTo>
                  <a:pt x="57150" y="142875"/>
                </a:lnTo>
                <a:lnTo>
                  <a:pt x="57150" y="228600"/>
                </a:lnTo>
                <a:lnTo>
                  <a:pt x="171450" y="228600"/>
                </a:lnTo>
                <a:lnTo>
                  <a:pt x="171450" y="142875"/>
                </a:lnTo>
                <a:close/>
                <a:moveTo>
                  <a:pt x="0" y="285750"/>
                </a:moveTo>
                <a:lnTo>
                  <a:pt x="0" y="85725"/>
                </a:lnTo>
                <a:cubicBezTo>
                  <a:pt x="0" y="54203"/>
                  <a:pt x="25628" y="28575"/>
                  <a:pt x="57150" y="28575"/>
                </a:cubicBezTo>
                <a:lnTo>
                  <a:pt x="342900" y="28575"/>
                </a:lnTo>
                <a:cubicBezTo>
                  <a:pt x="374422" y="28575"/>
                  <a:pt x="400050" y="54203"/>
                  <a:pt x="400050" y="85725"/>
                </a:cubicBezTo>
                <a:lnTo>
                  <a:pt x="400050" y="371475"/>
                </a:lnTo>
                <a:cubicBezTo>
                  <a:pt x="400050" y="402997"/>
                  <a:pt x="374422" y="428625"/>
                  <a:pt x="342900" y="428625"/>
                </a:cubicBezTo>
                <a:lnTo>
                  <a:pt x="57150" y="428625"/>
                </a:lnTo>
                <a:cubicBezTo>
                  <a:pt x="25628" y="428625"/>
                  <a:pt x="0" y="402997"/>
                  <a:pt x="0" y="371475"/>
                </a:cubicBezTo>
                <a:lnTo>
                  <a:pt x="0" y="285750"/>
                </a:lnTo>
                <a:close/>
                <a:moveTo>
                  <a:pt x="342900" y="285750"/>
                </a:moveTo>
                <a:lnTo>
                  <a:pt x="228600" y="285750"/>
                </a:lnTo>
                <a:lnTo>
                  <a:pt x="228600" y="371475"/>
                </a:lnTo>
                <a:lnTo>
                  <a:pt x="342900" y="371475"/>
                </a:lnTo>
                <a:lnTo>
                  <a:pt x="342900" y="285750"/>
                </a:lnTo>
                <a:close/>
                <a:moveTo>
                  <a:pt x="171450" y="371475"/>
                </a:moveTo>
                <a:lnTo>
                  <a:pt x="171450" y="285750"/>
                </a:lnTo>
                <a:lnTo>
                  <a:pt x="57150" y="285750"/>
                </a:lnTo>
                <a:lnTo>
                  <a:pt x="57150" y="371475"/>
                </a:lnTo>
                <a:lnTo>
                  <a:pt x="171450" y="371475"/>
                </a:lnTo>
                <a:close/>
              </a:path>
            </a:pathLst>
          </a:custGeom>
          <a:solidFill>
            <a:srgbClr val="2D5A4C"/>
          </a:solidFill>
          <a:ln/>
        </p:spPr>
      </p:sp>
      <p:sp>
        <p:nvSpPr>
          <p:cNvPr id="7" name="Text 5"/>
          <p:cNvSpPr/>
          <p:nvPr/>
        </p:nvSpPr>
        <p:spPr>
          <a:xfrm>
            <a:off x="1600200" y="4089400"/>
            <a:ext cx="3810000" cy="381000"/>
          </a:xfrm>
          <a:prstGeom prst="rect">
            <a:avLst/>
          </a:prstGeom>
          <a:noFill/>
          <a:ln/>
        </p:spPr>
        <p:txBody>
          <a:bodyPr wrap="none" lIns="0" tIns="0" rIns="0" bIns="0" rtlCol="0" anchor="ctr"/>
          <a:lstStyle/>
          <a:p>
            <a:pPr>
              <a:lnSpc>
                <a:spcPct val="100000"/>
              </a:lnSpc>
            </a:pPr>
            <a:r>
              <a:rPr lang="en-US" sz="1800" b="1" dirty="0">
                <a:solidFill>
                  <a:srgbClr val="2D5A4C"/>
                </a:solidFill>
                <a:latin typeface="Liter" pitchFamily="34" charset="0"/>
                <a:ea typeface="Liter" pitchFamily="34" charset="-122"/>
                <a:cs typeface="Liter" pitchFamily="34" charset="-120"/>
              </a:rPr>
              <a:t>Relational Database</a:t>
            </a:r>
            <a:endParaRPr lang="en-US" sz="1600" dirty="0"/>
          </a:p>
        </p:txBody>
      </p:sp>
      <p:sp>
        <p:nvSpPr>
          <p:cNvPr id="8" name="Text 6"/>
          <p:cNvSpPr/>
          <p:nvPr/>
        </p:nvSpPr>
        <p:spPr>
          <a:xfrm>
            <a:off x="1016000" y="4597400"/>
            <a:ext cx="6350000" cy="12700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Data organized in tables with rows and columns. Uses SQL for queries. Examples: MySQL, PostgreSQL, SQL Server. Best for structured data with clear relationships.</a:t>
            </a:r>
            <a:endParaRPr lang="en-US" sz="1600" dirty="0"/>
          </a:p>
        </p:txBody>
      </p:sp>
      <p:sp>
        <p:nvSpPr>
          <p:cNvPr id="9" name="Shape 7"/>
          <p:cNvSpPr/>
          <p:nvPr/>
        </p:nvSpPr>
        <p:spPr>
          <a:xfrm>
            <a:off x="8001000" y="3937000"/>
            <a:ext cx="7493000" cy="2032000"/>
          </a:xfrm>
          <a:prstGeom prst="roundRect">
            <a:avLst>
              <a:gd name="adj" fmla="val 8000"/>
            </a:avLst>
          </a:prstGeom>
          <a:solidFill>
            <a:srgbClr val="D4943A">
              <a:alpha val="8235"/>
            </a:srgbClr>
          </a:solidFill>
          <a:ln/>
        </p:spPr>
      </p:sp>
      <p:sp>
        <p:nvSpPr>
          <p:cNvPr id="10" name="Shape 8"/>
          <p:cNvSpPr/>
          <p:nvPr/>
        </p:nvSpPr>
        <p:spPr>
          <a:xfrm>
            <a:off x="8312150" y="4127500"/>
            <a:ext cx="342900" cy="457200"/>
          </a:xfrm>
          <a:custGeom>
            <a:avLst/>
            <a:gdLst/>
            <a:ahLst/>
            <a:cxnLst/>
            <a:rect l="l" t="t" r="r" b="b"/>
            <a:pathLst>
              <a:path w="342900" h="457200">
                <a:moveTo>
                  <a:pt x="0" y="57150"/>
                </a:moveTo>
                <a:cubicBezTo>
                  <a:pt x="0" y="25628"/>
                  <a:pt x="25628" y="0"/>
                  <a:pt x="57150" y="0"/>
                </a:cubicBezTo>
                <a:lnTo>
                  <a:pt x="190649" y="0"/>
                </a:lnTo>
                <a:cubicBezTo>
                  <a:pt x="205829" y="0"/>
                  <a:pt x="220385" y="5983"/>
                  <a:pt x="231100" y="16699"/>
                </a:cubicBezTo>
                <a:lnTo>
                  <a:pt x="326201" y="111889"/>
                </a:lnTo>
                <a:cubicBezTo>
                  <a:pt x="336917" y="122605"/>
                  <a:pt x="342900" y="137160"/>
                  <a:pt x="342900" y="152340"/>
                </a:cubicBezTo>
                <a:lnTo>
                  <a:pt x="342900" y="400050"/>
                </a:lnTo>
                <a:cubicBezTo>
                  <a:pt x="342900" y="431572"/>
                  <a:pt x="317272" y="457200"/>
                  <a:pt x="285750" y="457200"/>
                </a:cubicBezTo>
                <a:lnTo>
                  <a:pt x="57150" y="457200"/>
                </a:lnTo>
                <a:cubicBezTo>
                  <a:pt x="25628" y="457200"/>
                  <a:pt x="0" y="431572"/>
                  <a:pt x="0" y="400050"/>
                </a:cubicBezTo>
                <a:lnTo>
                  <a:pt x="0" y="57150"/>
                </a:lnTo>
                <a:close/>
                <a:moveTo>
                  <a:pt x="185738" y="52239"/>
                </a:moveTo>
                <a:lnTo>
                  <a:pt x="185738" y="135731"/>
                </a:lnTo>
                <a:cubicBezTo>
                  <a:pt x="185738" y="147608"/>
                  <a:pt x="195292" y="157163"/>
                  <a:pt x="207169" y="157163"/>
                </a:cubicBezTo>
                <a:lnTo>
                  <a:pt x="290661" y="157163"/>
                </a:lnTo>
                <a:lnTo>
                  <a:pt x="185738" y="52239"/>
                </a:lnTo>
                <a:close/>
                <a:moveTo>
                  <a:pt x="107156" y="228600"/>
                </a:moveTo>
                <a:cubicBezTo>
                  <a:pt x="95280" y="228600"/>
                  <a:pt x="85725" y="238155"/>
                  <a:pt x="85725" y="250031"/>
                </a:cubicBezTo>
                <a:cubicBezTo>
                  <a:pt x="85725" y="261908"/>
                  <a:pt x="95280" y="271463"/>
                  <a:pt x="107156" y="271463"/>
                </a:cubicBezTo>
                <a:lnTo>
                  <a:pt x="235744" y="271463"/>
                </a:lnTo>
                <a:cubicBezTo>
                  <a:pt x="247620" y="271463"/>
                  <a:pt x="257175" y="261908"/>
                  <a:pt x="257175" y="250031"/>
                </a:cubicBezTo>
                <a:cubicBezTo>
                  <a:pt x="257175" y="238155"/>
                  <a:pt x="247620" y="228600"/>
                  <a:pt x="235744" y="228600"/>
                </a:cubicBezTo>
                <a:lnTo>
                  <a:pt x="107156" y="228600"/>
                </a:lnTo>
                <a:close/>
                <a:moveTo>
                  <a:pt x="107156" y="314325"/>
                </a:moveTo>
                <a:cubicBezTo>
                  <a:pt x="95280" y="314325"/>
                  <a:pt x="85725" y="323880"/>
                  <a:pt x="85725" y="335756"/>
                </a:cubicBezTo>
                <a:cubicBezTo>
                  <a:pt x="85725" y="347633"/>
                  <a:pt x="95280" y="357188"/>
                  <a:pt x="107156" y="357188"/>
                </a:cubicBezTo>
                <a:lnTo>
                  <a:pt x="235744" y="357188"/>
                </a:lnTo>
                <a:cubicBezTo>
                  <a:pt x="247620" y="357188"/>
                  <a:pt x="257175" y="347633"/>
                  <a:pt x="257175" y="335756"/>
                </a:cubicBezTo>
                <a:cubicBezTo>
                  <a:pt x="257175" y="323880"/>
                  <a:pt x="247620" y="314325"/>
                  <a:pt x="235744" y="314325"/>
                </a:cubicBezTo>
                <a:lnTo>
                  <a:pt x="107156" y="314325"/>
                </a:lnTo>
                <a:close/>
              </a:path>
            </a:pathLst>
          </a:custGeom>
          <a:solidFill>
            <a:srgbClr val="D4943A"/>
          </a:solidFill>
          <a:ln/>
        </p:spPr>
      </p:sp>
      <p:sp>
        <p:nvSpPr>
          <p:cNvPr id="11" name="Text 9"/>
          <p:cNvSpPr/>
          <p:nvPr/>
        </p:nvSpPr>
        <p:spPr>
          <a:xfrm>
            <a:off x="8839200" y="4089400"/>
            <a:ext cx="3810000" cy="381000"/>
          </a:xfrm>
          <a:prstGeom prst="rect">
            <a:avLst/>
          </a:prstGeom>
          <a:noFill/>
          <a:ln/>
        </p:spPr>
        <p:txBody>
          <a:bodyPr wrap="none" lIns="0" tIns="0" rIns="0" bIns="0" rtlCol="0" anchor="ctr"/>
          <a:lstStyle/>
          <a:p>
            <a:pPr>
              <a:lnSpc>
                <a:spcPct val="100000"/>
              </a:lnSpc>
            </a:pPr>
            <a:r>
              <a:rPr lang="en-US" sz="1800" b="1" dirty="0">
                <a:solidFill>
                  <a:srgbClr val="D4943A"/>
                </a:solidFill>
                <a:latin typeface="Liter" pitchFamily="34" charset="0"/>
                <a:ea typeface="Liter" pitchFamily="34" charset="-122"/>
                <a:cs typeface="Liter" pitchFamily="34" charset="-120"/>
              </a:rPr>
              <a:t>NoSQL Database</a:t>
            </a:r>
            <a:endParaRPr lang="en-US" sz="1600" dirty="0"/>
          </a:p>
        </p:txBody>
      </p:sp>
      <p:sp>
        <p:nvSpPr>
          <p:cNvPr id="12" name="Text 10"/>
          <p:cNvSpPr/>
          <p:nvPr/>
        </p:nvSpPr>
        <p:spPr>
          <a:xfrm>
            <a:off x="8255000" y="4597400"/>
            <a:ext cx="6985000" cy="12700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Flexible data formats — documents, key-value, graphs. Examples: MongoDB, Redis, Cassandra. Best for unstructured data and rapid scaling.</a:t>
            </a:r>
            <a:endParaRPr lang="en-US" sz="1600" dirty="0"/>
          </a:p>
        </p:txBody>
      </p:sp>
      <p:sp>
        <p:nvSpPr>
          <p:cNvPr id="13" name="Shape 11"/>
          <p:cNvSpPr/>
          <p:nvPr/>
        </p:nvSpPr>
        <p:spPr>
          <a:xfrm>
            <a:off x="762000" y="6223000"/>
            <a:ext cx="14732000" cy="889000"/>
          </a:xfrm>
          <a:prstGeom prst="roundRect">
            <a:avLst>
              <a:gd name="adj" fmla="val 6000"/>
            </a:avLst>
          </a:prstGeom>
          <a:solidFill>
            <a:srgbClr val="E8E2DA"/>
          </a:solidFill>
          <a:ln/>
        </p:spPr>
      </p:sp>
      <p:sp>
        <p:nvSpPr>
          <p:cNvPr id="14" name="Shape 12"/>
          <p:cNvSpPr/>
          <p:nvPr/>
        </p:nvSpPr>
        <p:spPr>
          <a:xfrm>
            <a:off x="1060450" y="6413500"/>
            <a:ext cx="266700" cy="355600"/>
          </a:xfrm>
          <a:custGeom>
            <a:avLst/>
            <a:gdLst/>
            <a:ahLst/>
            <a:cxnLst/>
            <a:rect l="l" t="t" r="r" b="b"/>
            <a:pathLst>
              <a:path w="266700" h="355600">
                <a:moveTo>
                  <a:pt x="203428" y="266700"/>
                </a:moveTo>
                <a:cubicBezTo>
                  <a:pt x="208498" y="251212"/>
                  <a:pt x="218638" y="237182"/>
                  <a:pt x="230098" y="225098"/>
                </a:cubicBezTo>
                <a:cubicBezTo>
                  <a:pt x="252809" y="201206"/>
                  <a:pt x="266700" y="168910"/>
                  <a:pt x="266700" y="133350"/>
                </a:cubicBezTo>
                <a:cubicBezTo>
                  <a:pt x="266700" y="59730"/>
                  <a:pt x="206970" y="0"/>
                  <a:pt x="133350" y="0"/>
                </a:cubicBezTo>
                <a:cubicBezTo>
                  <a:pt x="59730" y="0"/>
                  <a:pt x="0" y="59730"/>
                  <a:pt x="0" y="133350"/>
                </a:cubicBezTo>
                <a:cubicBezTo>
                  <a:pt x="0" y="168910"/>
                  <a:pt x="13891" y="201206"/>
                  <a:pt x="36602" y="225098"/>
                </a:cubicBezTo>
                <a:cubicBezTo>
                  <a:pt x="48062" y="237182"/>
                  <a:pt x="58271" y="251212"/>
                  <a:pt x="63272" y="266700"/>
                </a:cubicBezTo>
                <a:lnTo>
                  <a:pt x="203359" y="266700"/>
                </a:lnTo>
                <a:close/>
                <a:moveTo>
                  <a:pt x="200025" y="300038"/>
                </a:moveTo>
                <a:lnTo>
                  <a:pt x="66675" y="300038"/>
                </a:lnTo>
                <a:lnTo>
                  <a:pt x="66675" y="311150"/>
                </a:lnTo>
                <a:cubicBezTo>
                  <a:pt x="66675" y="341848"/>
                  <a:pt x="91539" y="366712"/>
                  <a:pt x="122238" y="366712"/>
                </a:cubicBezTo>
                <a:lnTo>
                  <a:pt x="144463" y="366712"/>
                </a:lnTo>
                <a:cubicBezTo>
                  <a:pt x="175161" y="366712"/>
                  <a:pt x="200025" y="341848"/>
                  <a:pt x="200025" y="311150"/>
                </a:cubicBezTo>
                <a:lnTo>
                  <a:pt x="200025" y="300038"/>
                </a:lnTo>
                <a:close/>
                <a:moveTo>
                  <a:pt x="127794" y="77788"/>
                </a:moveTo>
                <a:cubicBezTo>
                  <a:pt x="100151" y="77788"/>
                  <a:pt x="77788" y="100151"/>
                  <a:pt x="77788" y="127794"/>
                </a:cubicBezTo>
                <a:cubicBezTo>
                  <a:pt x="77788" y="137031"/>
                  <a:pt x="70356" y="144463"/>
                  <a:pt x="61119" y="144463"/>
                </a:cubicBezTo>
                <a:cubicBezTo>
                  <a:pt x="51881" y="144463"/>
                  <a:pt x="44450" y="137031"/>
                  <a:pt x="44450" y="127794"/>
                </a:cubicBezTo>
                <a:cubicBezTo>
                  <a:pt x="44450" y="81746"/>
                  <a:pt x="81746" y="44450"/>
                  <a:pt x="127794" y="44450"/>
                </a:cubicBezTo>
                <a:cubicBezTo>
                  <a:pt x="137031" y="44450"/>
                  <a:pt x="144463" y="51881"/>
                  <a:pt x="144463" y="61119"/>
                </a:cubicBezTo>
                <a:cubicBezTo>
                  <a:pt x="144463" y="70356"/>
                  <a:pt x="137031" y="77788"/>
                  <a:pt x="127794" y="77788"/>
                </a:cubicBezTo>
                <a:close/>
              </a:path>
            </a:pathLst>
          </a:custGeom>
          <a:solidFill>
            <a:srgbClr val="D4943A"/>
          </a:solidFill>
          <a:ln/>
        </p:spPr>
      </p:sp>
      <p:sp>
        <p:nvSpPr>
          <p:cNvPr id="15" name="Text 13"/>
          <p:cNvSpPr/>
          <p:nvPr/>
        </p:nvSpPr>
        <p:spPr>
          <a:xfrm>
            <a:off x="1498600" y="6311900"/>
            <a:ext cx="2540000" cy="304800"/>
          </a:xfrm>
          <a:prstGeom prst="rect">
            <a:avLst/>
          </a:prstGeom>
          <a:noFill/>
          <a:ln/>
        </p:spPr>
        <p:txBody>
          <a:bodyPr wrap="none" lIns="0" tIns="0" rIns="0" bIns="0" rtlCol="0" anchor="ctr"/>
          <a:lstStyle/>
          <a:p>
            <a:pPr>
              <a:lnSpc>
                <a:spcPct val="100000"/>
              </a:lnSpc>
            </a:pPr>
            <a:r>
              <a:rPr lang="en-US" sz="1400" b="1" dirty="0">
                <a:solidFill>
                  <a:srgbClr val="2D5A4C"/>
                </a:solidFill>
                <a:latin typeface="Liter" pitchFamily="34" charset="0"/>
                <a:ea typeface="Liter" pitchFamily="34" charset="-122"/>
                <a:cs typeface="Liter" pitchFamily="34" charset="-120"/>
              </a:rPr>
              <a:t>EXPLANATION</a:t>
            </a:r>
            <a:endParaRPr lang="en-US" sz="1600" dirty="0"/>
          </a:p>
        </p:txBody>
      </p:sp>
      <p:sp>
        <p:nvSpPr>
          <p:cNvPr id="16" name="Text 14"/>
          <p:cNvSpPr/>
          <p:nvPr/>
        </p:nvSpPr>
        <p:spPr>
          <a:xfrm>
            <a:off x="1498600" y="6654800"/>
            <a:ext cx="13716000" cy="3556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Relational databases are the best starting point for beginners because they have a clear, structured format matching how we naturally organize information.</a:t>
            </a:r>
            <a:endParaRPr lang="en-US" sz="1600" dirty="0"/>
          </a:p>
        </p:txBody>
      </p:sp>
      <p:sp>
        <p:nvSpPr>
          <p:cNvPr id="17" name="Shape 15"/>
          <p:cNvSpPr/>
          <p:nvPr/>
        </p:nvSpPr>
        <p:spPr>
          <a:xfrm>
            <a:off x="762000" y="7366000"/>
            <a:ext cx="14732000" cy="762000"/>
          </a:xfrm>
          <a:prstGeom prst="roundRect">
            <a:avLst>
              <a:gd name="adj" fmla="val 6000"/>
            </a:avLst>
          </a:prstGeom>
          <a:solidFill>
            <a:srgbClr val="D4943A">
              <a:alpha val="8235"/>
            </a:srgbClr>
          </a:solidFill>
          <a:ln/>
        </p:spPr>
      </p:sp>
      <p:sp>
        <p:nvSpPr>
          <p:cNvPr id="18" name="Shape 16"/>
          <p:cNvSpPr/>
          <p:nvPr/>
        </p:nvSpPr>
        <p:spPr>
          <a:xfrm>
            <a:off x="1016000" y="7518400"/>
            <a:ext cx="304800" cy="304800"/>
          </a:xfrm>
          <a:custGeom>
            <a:avLst/>
            <a:gdLst/>
            <a:ahLst/>
            <a:cxnLst/>
            <a:rect l="l" t="t" r="r" b="b"/>
            <a:pathLst>
              <a:path w="304800" h="304800">
                <a:moveTo>
                  <a:pt x="209490" y="166688"/>
                </a:moveTo>
                <a:lnTo>
                  <a:pt x="95845" y="166688"/>
                </a:lnTo>
                <a:cubicBezTo>
                  <a:pt x="97572" y="205085"/>
                  <a:pt x="106085" y="240447"/>
                  <a:pt x="118170" y="266343"/>
                </a:cubicBezTo>
                <a:cubicBezTo>
                  <a:pt x="124956" y="280928"/>
                  <a:pt x="132278" y="291227"/>
                  <a:pt x="139065" y="297537"/>
                </a:cubicBezTo>
                <a:cubicBezTo>
                  <a:pt x="145733" y="303788"/>
                  <a:pt x="150316" y="304800"/>
                  <a:pt x="152698" y="304800"/>
                </a:cubicBezTo>
                <a:cubicBezTo>
                  <a:pt x="155079" y="304800"/>
                  <a:pt x="159663" y="303788"/>
                  <a:pt x="166330" y="297537"/>
                </a:cubicBezTo>
                <a:cubicBezTo>
                  <a:pt x="173117" y="291227"/>
                  <a:pt x="180439" y="280868"/>
                  <a:pt x="187226" y="266343"/>
                </a:cubicBezTo>
                <a:cubicBezTo>
                  <a:pt x="199311" y="240447"/>
                  <a:pt x="207824" y="205085"/>
                  <a:pt x="209550" y="166688"/>
                </a:cubicBezTo>
                <a:close/>
                <a:moveTo>
                  <a:pt x="95786" y="138113"/>
                </a:moveTo>
                <a:lnTo>
                  <a:pt x="209431" y="138113"/>
                </a:lnTo>
                <a:cubicBezTo>
                  <a:pt x="207764" y="99715"/>
                  <a:pt x="199251" y="64353"/>
                  <a:pt x="187166" y="38457"/>
                </a:cubicBezTo>
                <a:cubicBezTo>
                  <a:pt x="180380" y="23932"/>
                  <a:pt x="173057" y="13573"/>
                  <a:pt x="166271" y="7263"/>
                </a:cubicBezTo>
                <a:cubicBezTo>
                  <a:pt x="159603" y="1012"/>
                  <a:pt x="155019" y="0"/>
                  <a:pt x="152638" y="0"/>
                </a:cubicBezTo>
                <a:cubicBezTo>
                  <a:pt x="150257" y="0"/>
                  <a:pt x="145673" y="1012"/>
                  <a:pt x="139005" y="7263"/>
                </a:cubicBezTo>
                <a:cubicBezTo>
                  <a:pt x="132219" y="13573"/>
                  <a:pt x="124897" y="23932"/>
                  <a:pt x="118110" y="38457"/>
                </a:cubicBezTo>
                <a:cubicBezTo>
                  <a:pt x="106025" y="64353"/>
                  <a:pt x="97512" y="99715"/>
                  <a:pt x="95786" y="138113"/>
                </a:cubicBezTo>
                <a:close/>
                <a:moveTo>
                  <a:pt x="67211" y="138113"/>
                </a:moveTo>
                <a:cubicBezTo>
                  <a:pt x="69294" y="87154"/>
                  <a:pt x="82451" y="39826"/>
                  <a:pt x="101679" y="8751"/>
                </a:cubicBezTo>
                <a:cubicBezTo>
                  <a:pt x="46851" y="28158"/>
                  <a:pt x="6489" y="78105"/>
                  <a:pt x="893" y="138113"/>
                </a:cubicBezTo>
                <a:lnTo>
                  <a:pt x="67211" y="138113"/>
                </a:lnTo>
                <a:close/>
                <a:moveTo>
                  <a:pt x="893" y="166688"/>
                </a:moveTo>
                <a:cubicBezTo>
                  <a:pt x="6489" y="226695"/>
                  <a:pt x="46851" y="276642"/>
                  <a:pt x="101679" y="296049"/>
                </a:cubicBezTo>
                <a:cubicBezTo>
                  <a:pt x="82451" y="264974"/>
                  <a:pt x="69294" y="217646"/>
                  <a:pt x="67211" y="166688"/>
                </a:cubicBezTo>
                <a:lnTo>
                  <a:pt x="893" y="166688"/>
                </a:lnTo>
                <a:close/>
                <a:moveTo>
                  <a:pt x="238065" y="166688"/>
                </a:moveTo>
                <a:cubicBezTo>
                  <a:pt x="235982" y="217646"/>
                  <a:pt x="222825" y="264974"/>
                  <a:pt x="203597" y="296049"/>
                </a:cubicBezTo>
                <a:cubicBezTo>
                  <a:pt x="258425" y="276582"/>
                  <a:pt x="298787" y="226695"/>
                  <a:pt x="304383" y="166688"/>
                </a:cubicBezTo>
                <a:lnTo>
                  <a:pt x="238065" y="166688"/>
                </a:lnTo>
                <a:close/>
                <a:moveTo>
                  <a:pt x="304383" y="138113"/>
                </a:moveTo>
                <a:cubicBezTo>
                  <a:pt x="298787" y="78105"/>
                  <a:pt x="258425" y="28158"/>
                  <a:pt x="203597" y="8751"/>
                </a:cubicBezTo>
                <a:cubicBezTo>
                  <a:pt x="222825" y="39826"/>
                  <a:pt x="235982" y="87154"/>
                  <a:pt x="238065" y="138113"/>
                </a:cubicBezTo>
                <a:lnTo>
                  <a:pt x="304383" y="138113"/>
                </a:lnTo>
                <a:close/>
              </a:path>
            </a:pathLst>
          </a:custGeom>
          <a:solidFill>
            <a:srgbClr val="D4943A"/>
          </a:solidFill>
          <a:ln/>
        </p:spPr>
      </p:sp>
      <p:sp>
        <p:nvSpPr>
          <p:cNvPr id="19" name="Text 17"/>
          <p:cNvSpPr/>
          <p:nvPr/>
        </p:nvSpPr>
        <p:spPr>
          <a:xfrm>
            <a:off x="1422400" y="7454900"/>
            <a:ext cx="3175000" cy="304800"/>
          </a:xfrm>
          <a:prstGeom prst="rect">
            <a:avLst/>
          </a:prstGeom>
          <a:noFill/>
          <a:ln/>
        </p:spPr>
        <p:txBody>
          <a:bodyPr wrap="none" lIns="0" tIns="0" rIns="0" bIns="0" rtlCol="0" anchor="ctr"/>
          <a:lstStyle/>
          <a:p>
            <a:pPr>
              <a:lnSpc>
                <a:spcPct val="100000"/>
              </a:lnSpc>
            </a:pPr>
            <a:r>
              <a:rPr lang="en-US" sz="1400" b="1" dirty="0">
                <a:solidFill>
                  <a:srgbClr val="D4943A"/>
                </a:solidFill>
                <a:latin typeface="Liter" pitchFamily="34" charset="0"/>
                <a:ea typeface="Liter" pitchFamily="34" charset="-122"/>
                <a:cs typeface="Liter" pitchFamily="34" charset="-120"/>
              </a:rPr>
              <a:t>REAL-WORLD EXAMPLE</a:t>
            </a:r>
            <a:endParaRPr lang="en-US" sz="1600" dirty="0"/>
          </a:p>
        </p:txBody>
      </p:sp>
      <p:sp>
        <p:nvSpPr>
          <p:cNvPr id="20" name="Text 18"/>
          <p:cNvSpPr/>
          <p:nvPr/>
        </p:nvSpPr>
        <p:spPr>
          <a:xfrm>
            <a:off x="1016000" y="7772400"/>
            <a:ext cx="14224000" cy="3302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MySQL powers WordPress blogs, PostgreSQL runs Reddit, and MongoDB stores data for Uber's real-time location tracking.</a:t>
            </a:r>
            <a:endParaRPr lang="en-US" sz="1600" dirty="0"/>
          </a:p>
        </p:txBody>
      </p:sp>
      <p:sp>
        <p:nvSpPr>
          <p:cNvPr id="21" name="Text 19"/>
          <p:cNvSpPr/>
          <p:nvPr/>
        </p:nvSpPr>
        <p:spPr>
          <a:xfrm>
            <a:off x="13462000" y="8788400"/>
            <a:ext cx="2286000" cy="254000"/>
          </a:xfrm>
          <a:prstGeom prst="rect">
            <a:avLst/>
          </a:prstGeom>
          <a:noFill/>
          <a:ln/>
        </p:spPr>
        <p:txBody>
          <a:bodyPr wrap="none" lIns="0" tIns="0" rIns="0" bIns="0" rtlCol="0" anchor="ctr"/>
          <a:lstStyle/>
          <a:p>
            <a:pPr algn="r">
              <a:lnSpc>
                <a:spcPct val="140000"/>
              </a:lnSpc>
            </a:pPr>
            <a:r>
              <a:rPr lang="en-US" sz="1400" dirty="0">
                <a:solidFill>
                  <a:srgbClr val="8B7355"/>
                </a:solidFill>
                <a:latin typeface="QuattrocentoSans" pitchFamily="34" charset="0"/>
                <a:ea typeface="QuattrocentoSans" pitchFamily="34" charset="-122"/>
                <a:cs typeface="QuattrocentoSans" pitchFamily="34" charset="-120"/>
              </a:rPr>
              <a:t>Introduction to Databases</a:t>
            </a:r>
            <a:endParaRPr lang="en-US" sz="14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6350000" cy="9144000"/>
          </a:xfrm>
          <a:prstGeom prst="rect">
            <a:avLst/>
          </a:prstGeom>
          <a:solidFill>
            <a:srgbClr val="2D5A4C"/>
          </a:solidFill>
          <a:ln/>
        </p:spPr>
      </p:sp>
      <p:pic>
        <p:nvPicPr>
          <p:cNvPr id="3" name="Image 0" descr="https://kimi-img.moonshot.cn/pub/slides/okc/iw55rugbchvnc/mnt/agents/output/db-intro/images/6_Digital_Network_and_Data_Management.png">    </p:cNvPr>
          <p:cNvPicPr>
            <a:picLocks noChangeAspect="1"/>
          </p:cNvPicPr>
          <p:nvPr/>
        </p:nvPicPr>
        <p:blipFill>
          <a:blip r:embed="rId1"/>
          <a:srcRect l="22061" r="22061" t="0" b="0"/>
          <a:stretch/>
        </p:blipFill>
        <p:spPr>
          <a:xfrm>
            <a:off x="6350000" y="0"/>
            <a:ext cx="9906000" cy="9144000"/>
          </a:xfrm>
          <a:prstGeom prst="rect">
            <a:avLst/>
          </a:prstGeom>
        </p:spPr>
      </p:pic>
      <p:sp>
        <p:nvSpPr>
          <p:cNvPr id="4" name="Shape 1"/>
          <p:cNvSpPr/>
          <p:nvPr/>
        </p:nvSpPr>
        <p:spPr>
          <a:xfrm>
            <a:off x="6350000" y="0"/>
            <a:ext cx="9906000" cy="9144000"/>
          </a:xfrm>
          <a:prstGeom prst="rect">
            <a:avLst/>
          </a:prstGeom>
          <a:gradFill rotWithShape="1" flip="none">
            <a:gsLst>
              <a:gs pos="0">
                <a:srgbClr val="2D5A4C">
                  <a:alpha val="90000"/>
                </a:srgbClr>
              </a:gs>
              <a:gs pos="30000">
                <a:srgbClr val="2D5A4C">
                  <a:alpha val="50000"/>
                </a:srgbClr>
              </a:gs>
              <a:gs pos="100000">
                <a:srgbClr val="2D5A4C">
                  <a:alpha val="0"/>
                </a:srgbClr>
              </a:gs>
            </a:gsLst>
            <a:lin ang="0" scaled="1"/>
          </a:gradFill>
          <a:ln/>
        </p:spPr>
      </p:sp>
      <p:sp>
        <p:nvSpPr>
          <p:cNvPr id="5" name="Text 2"/>
          <p:cNvSpPr/>
          <p:nvPr/>
        </p:nvSpPr>
        <p:spPr>
          <a:xfrm>
            <a:off x="762000" y="2540000"/>
            <a:ext cx="4826000" cy="762000"/>
          </a:xfrm>
          <a:prstGeom prst="rect">
            <a:avLst/>
          </a:prstGeom>
          <a:noFill/>
          <a:ln/>
        </p:spPr>
        <p:txBody>
          <a:bodyPr wrap="none" lIns="0" tIns="0" rIns="0" bIns="0" rtlCol="0" anchor="ctr"/>
          <a:lstStyle/>
          <a:p>
            <a:pPr>
              <a:lnSpc>
                <a:spcPct val="110000"/>
              </a:lnSpc>
            </a:pPr>
            <a:r>
              <a:rPr lang="en-US" sz="4800" dirty="0">
                <a:solidFill>
                  <a:srgbClr val="D4943A"/>
                </a:solidFill>
                <a:latin typeface="Liter" pitchFamily="34" charset="0"/>
                <a:ea typeface="Liter" pitchFamily="34" charset="-122"/>
                <a:cs typeface="Liter" pitchFamily="34" charset="-120"/>
              </a:rPr>
              <a:t>01</a:t>
            </a:r>
            <a:endParaRPr lang="en-US" sz="4800" dirty="0"/>
          </a:p>
        </p:txBody>
      </p:sp>
      <p:sp>
        <p:nvSpPr>
          <p:cNvPr id="6" name="Shape 3"/>
          <p:cNvSpPr/>
          <p:nvPr/>
        </p:nvSpPr>
        <p:spPr>
          <a:xfrm>
            <a:off x="762000" y="3429000"/>
            <a:ext cx="1016000" cy="50800"/>
          </a:xfrm>
          <a:prstGeom prst="rect">
            <a:avLst/>
          </a:prstGeom>
          <a:solidFill>
            <a:srgbClr val="D4943A"/>
          </a:solidFill>
          <a:ln/>
        </p:spPr>
      </p:sp>
      <p:sp>
        <p:nvSpPr>
          <p:cNvPr id="7" name="Text 4"/>
          <p:cNvSpPr/>
          <p:nvPr/>
        </p:nvSpPr>
        <p:spPr>
          <a:xfrm>
            <a:off x="762000" y="3683000"/>
            <a:ext cx="4826000" cy="1524000"/>
          </a:xfrm>
          <a:prstGeom prst="rect">
            <a:avLst/>
          </a:prstGeom>
          <a:noFill/>
          <a:ln/>
        </p:spPr>
        <p:txBody>
          <a:bodyPr wrap="square" lIns="0" tIns="0" rIns="0" bIns="0" rtlCol="0" anchor="t"/>
          <a:lstStyle/>
          <a:p>
            <a:pPr>
              <a:lnSpc>
                <a:spcPct val="130000"/>
              </a:lnSpc>
            </a:pPr>
            <a:r>
              <a:rPr lang="en-US" sz="3200" b="1" dirty="0">
                <a:solidFill>
                  <a:srgbClr val="FFFFFF"/>
                </a:solidFill>
                <a:latin typeface="Liter" pitchFamily="34" charset="0"/>
                <a:ea typeface="Liter" pitchFamily="34" charset="-122"/>
                <a:cs typeface="Liter" pitchFamily="34" charset="-120"/>
              </a:rPr>
              <a:t>Introduction to Databases</a:t>
            </a:r>
            <a:endParaRPr lang="en-US" sz="1600" dirty="0"/>
          </a:p>
        </p:txBody>
      </p:sp>
      <p:sp>
        <p:nvSpPr>
          <p:cNvPr id="8" name="Text 5"/>
          <p:cNvSpPr/>
          <p:nvPr/>
        </p:nvSpPr>
        <p:spPr>
          <a:xfrm>
            <a:off x="762000" y="5334000"/>
            <a:ext cx="4826000" cy="1016000"/>
          </a:xfrm>
          <a:prstGeom prst="rect">
            <a:avLst/>
          </a:prstGeom>
          <a:noFill/>
          <a:ln/>
        </p:spPr>
        <p:txBody>
          <a:bodyPr wrap="square" lIns="0" tIns="0" rIns="0" bIns="0" rtlCol="0" anchor="t"/>
          <a:lstStyle/>
          <a:p>
            <a:pPr>
              <a:lnSpc>
                <a:spcPct val="150000"/>
              </a:lnSpc>
            </a:pPr>
            <a:r>
              <a:rPr lang="en-US" sz="1600" dirty="0">
                <a:solidFill>
                  <a:srgbClr val="FFFFFF">
                    <a:alpha val="66667"/>
                  </a:srgbClr>
                </a:solidFill>
                <a:latin typeface="Quattrocento Sans" pitchFamily="34" charset="0"/>
                <a:ea typeface="Quattrocento Sans" pitchFamily="34" charset="-122"/>
                <a:cs typeface="Quattrocento Sans" pitchFamily="34" charset="-120"/>
              </a:rPr>
              <a:t>Understanding what databases are, why they matter, and where we see them every day</a:t>
            </a:r>
            <a:endParaRPr lang="en-US" sz="16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D4943A"/>
          </a:solidFill>
          <a:ln/>
        </p:spPr>
      </p:sp>
      <p:sp>
        <p:nvSpPr>
          <p:cNvPr id="3" name="Text 1"/>
          <p:cNvSpPr/>
          <p:nvPr/>
        </p:nvSpPr>
        <p:spPr>
          <a:xfrm>
            <a:off x="762000" y="381000"/>
            <a:ext cx="10160000" cy="508000"/>
          </a:xfrm>
          <a:prstGeom prst="rect">
            <a:avLst/>
          </a:prstGeom>
          <a:noFill/>
          <a:ln/>
        </p:spPr>
        <p:txBody>
          <a:bodyPr wrap="none" lIns="0" tIns="0" rIns="0" bIns="0" rtlCol="0" anchor="ctr"/>
          <a:lstStyle/>
          <a:p>
            <a:pPr>
              <a:lnSpc>
                <a:spcPct val="130000"/>
              </a:lnSpc>
            </a:pPr>
            <a:r>
              <a:rPr lang="en-US" sz="2800" dirty="0">
                <a:solidFill>
                  <a:srgbClr val="2D5A4C"/>
                </a:solidFill>
                <a:latin typeface="Liter" pitchFamily="34" charset="0"/>
                <a:ea typeface="Liter" pitchFamily="34" charset="-122"/>
                <a:cs typeface="Liter" pitchFamily="34" charset="-120"/>
              </a:rPr>
              <a:t>What Is a File System?</a:t>
            </a:r>
            <a:endParaRPr lang="en-US" sz="2800" dirty="0"/>
          </a:p>
        </p:txBody>
      </p:sp>
      <p:sp>
        <p:nvSpPr>
          <p:cNvPr id="4" name="Text 2"/>
          <p:cNvSpPr/>
          <p:nvPr/>
        </p:nvSpPr>
        <p:spPr>
          <a:xfrm>
            <a:off x="762000" y="1143000"/>
            <a:ext cx="7620000" cy="3683000"/>
          </a:xfrm>
          <a:prstGeom prst="rect">
            <a:avLst/>
          </a:prstGeom>
          <a:noFill/>
          <a:ln/>
        </p:spPr>
        <p:txBody>
          <a:bodyPr wrap="square" lIns="0" tIns="0" rIns="0" bIns="0" rtlCol="0" anchor="t"/>
          <a:lstStyle/>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A file system stores data in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separate files</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often organized in folders</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Each application typically manages its own files independently</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Data is stored in various formats: text files, spreadsheets, documents</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File systems have been used for decades and are simple to understand</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However, they create serious problems with large related datasets</a:t>
            </a:r>
            <a:endParaRPr lang="en-US" sz="2000" dirty="0"/>
          </a:p>
        </p:txBody>
      </p:sp>
      <p:sp>
        <p:nvSpPr>
          <p:cNvPr id="5" name="Shape 3"/>
          <p:cNvSpPr/>
          <p:nvPr/>
        </p:nvSpPr>
        <p:spPr>
          <a:xfrm>
            <a:off x="8890000" y="1016000"/>
            <a:ext cx="6604000" cy="3810000"/>
          </a:xfrm>
          <a:prstGeom prst="roundRect">
            <a:avLst>
              <a:gd name="adj" fmla="val 8000"/>
            </a:avLst>
          </a:prstGeom>
          <a:solidFill>
            <a:srgbClr val="2D5A4C">
              <a:alpha val="8235"/>
            </a:srgbClr>
          </a:solidFill>
          <a:ln/>
        </p:spPr>
      </p:sp>
      <p:sp>
        <p:nvSpPr>
          <p:cNvPr id="6" name="Text 4"/>
          <p:cNvSpPr/>
          <p:nvPr/>
        </p:nvSpPr>
        <p:spPr>
          <a:xfrm>
            <a:off x="8890000" y="1117600"/>
            <a:ext cx="6604000" cy="355600"/>
          </a:xfrm>
          <a:prstGeom prst="rect">
            <a:avLst/>
          </a:prstGeom>
          <a:noFill/>
          <a:ln/>
        </p:spPr>
        <p:txBody>
          <a:bodyPr wrap="none" lIns="0" tIns="0" rIns="0" bIns="0" rtlCol="0" anchor="ctr"/>
          <a:lstStyle/>
          <a:p>
            <a:pPr algn="ctr">
              <a:lnSpc>
                <a:spcPct val="100000"/>
              </a:lnSpc>
            </a:pPr>
            <a:r>
              <a:rPr lang="en-US" sz="1400" b="1" dirty="0">
                <a:solidFill>
                  <a:srgbClr val="2D5A4C"/>
                </a:solidFill>
                <a:latin typeface="Liter" pitchFamily="34" charset="0"/>
                <a:ea typeface="Liter" pitchFamily="34" charset="-122"/>
                <a:cs typeface="Liter" pitchFamily="34" charset="-120"/>
              </a:rPr>
              <a:t>FILE SYSTEM STRUCTURE</a:t>
            </a:r>
            <a:endParaRPr lang="en-US" sz="1600" dirty="0"/>
          </a:p>
        </p:txBody>
      </p:sp>
      <p:sp>
        <p:nvSpPr>
          <p:cNvPr id="7" name="Shape 5"/>
          <p:cNvSpPr/>
          <p:nvPr/>
        </p:nvSpPr>
        <p:spPr>
          <a:xfrm>
            <a:off x="9398000" y="1714500"/>
            <a:ext cx="609600" cy="609600"/>
          </a:xfrm>
          <a:custGeom>
            <a:avLst/>
            <a:gdLst/>
            <a:ahLst/>
            <a:cxnLst/>
            <a:rect l="l" t="t" r="r" b="b"/>
            <a:pathLst>
              <a:path w="609600" h="609600">
                <a:moveTo>
                  <a:pt x="76200" y="533400"/>
                </a:moveTo>
                <a:lnTo>
                  <a:pt x="533400" y="533400"/>
                </a:lnTo>
                <a:cubicBezTo>
                  <a:pt x="575429" y="533400"/>
                  <a:pt x="609600" y="499229"/>
                  <a:pt x="609600" y="457200"/>
                </a:cubicBezTo>
                <a:lnTo>
                  <a:pt x="609600" y="171450"/>
                </a:lnTo>
                <a:cubicBezTo>
                  <a:pt x="609600" y="129421"/>
                  <a:pt x="575429" y="95250"/>
                  <a:pt x="533400" y="95250"/>
                </a:cubicBezTo>
                <a:lnTo>
                  <a:pt x="355640" y="95250"/>
                </a:lnTo>
                <a:cubicBezTo>
                  <a:pt x="347424" y="95250"/>
                  <a:pt x="339328" y="92631"/>
                  <a:pt x="332780" y="87630"/>
                </a:cubicBezTo>
                <a:lnTo>
                  <a:pt x="287060" y="53340"/>
                </a:lnTo>
                <a:cubicBezTo>
                  <a:pt x="273844" y="43458"/>
                  <a:pt x="257770" y="38100"/>
                  <a:pt x="241340" y="38100"/>
                </a:cubicBezTo>
                <a:lnTo>
                  <a:pt x="76200" y="38100"/>
                </a:lnTo>
                <a:cubicBezTo>
                  <a:pt x="34171" y="38100"/>
                  <a:pt x="0" y="72271"/>
                  <a:pt x="0" y="114300"/>
                </a:cubicBezTo>
                <a:lnTo>
                  <a:pt x="0" y="457200"/>
                </a:lnTo>
                <a:cubicBezTo>
                  <a:pt x="0" y="499229"/>
                  <a:pt x="34171" y="533400"/>
                  <a:pt x="76200" y="533400"/>
                </a:cubicBezTo>
                <a:close/>
              </a:path>
            </a:pathLst>
          </a:custGeom>
          <a:solidFill>
            <a:srgbClr val="D4943A"/>
          </a:solidFill>
          <a:ln/>
        </p:spPr>
      </p:sp>
      <p:sp>
        <p:nvSpPr>
          <p:cNvPr id="8" name="Text 6"/>
          <p:cNvSpPr/>
          <p:nvPr/>
        </p:nvSpPr>
        <p:spPr>
          <a:xfrm>
            <a:off x="9144000" y="2349500"/>
            <a:ext cx="1524000" cy="279400"/>
          </a:xfrm>
          <a:prstGeom prst="rect">
            <a:avLst/>
          </a:prstGeom>
          <a:noFill/>
          <a:ln/>
        </p:spPr>
        <p:txBody>
          <a:bodyPr wrap="none" lIns="0" tIns="0" rIns="0" bIns="0" rtlCol="0" anchor="ctr"/>
          <a:lstStyle/>
          <a:p>
            <a:pPr algn="ctr">
              <a:lnSpc>
                <a:spcPct val="100000"/>
              </a:lnSpc>
            </a:pPr>
            <a:r>
              <a:rPr lang="en-US" sz="1200" dirty="0">
                <a:solidFill>
                  <a:srgbClr val="2C2C2C"/>
                </a:solidFill>
                <a:latin typeface="Quattrocento Sans" pitchFamily="34" charset="0"/>
                <a:ea typeface="Quattrocento Sans" pitchFamily="34" charset="-122"/>
                <a:cs typeface="Quattrocento Sans" pitchFamily="34" charset="-120"/>
              </a:rPr>
              <a:t>Students.xlsx</a:t>
            </a:r>
            <a:endParaRPr lang="en-US" sz="1600" dirty="0"/>
          </a:p>
        </p:txBody>
      </p:sp>
      <p:sp>
        <p:nvSpPr>
          <p:cNvPr id="9" name="Shape 7"/>
          <p:cNvSpPr/>
          <p:nvPr/>
        </p:nvSpPr>
        <p:spPr>
          <a:xfrm>
            <a:off x="11303000" y="1714500"/>
            <a:ext cx="609600" cy="609600"/>
          </a:xfrm>
          <a:custGeom>
            <a:avLst/>
            <a:gdLst/>
            <a:ahLst/>
            <a:cxnLst/>
            <a:rect l="l" t="t" r="r" b="b"/>
            <a:pathLst>
              <a:path w="609600" h="609600">
                <a:moveTo>
                  <a:pt x="76200" y="533400"/>
                </a:moveTo>
                <a:lnTo>
                  <a:pt x="533400" y="533400"/>
                </a:lnTo>
                <a:cubicBezTo>
                  <a:pt x="575429" y="533400"/>
                  <a:pt x="609600" y="499229"/>
                  <a:pt x="609600" y="457200"/>
                </a:cubicBezTo>
                <a:lnTo>
                  <a:pt x="609600" y="171450"/>
                </a:lnTo>
                <a:cubicBezTo>
                  <a:pt x="609600" y="129421"/>
                  <a:pt x="575429" y="95250"/>
                  <a:pt x="533400" y="95250"/>
                </a:cubicBezTo>
                <a:lnTo>
                  <a:pt x="355640" y="95250"/>
                </a:lnTo>
                <a:cubicBezTo>
                  <a:pt x="347424" y="95250"/>
                  <a:pt x="339328" y="92631"/>
                  <a:pt x="332780" y="87630"/>
                </a:cubicBezTo>
                <a:lnTo>
                  <a:pt x="287060" y="53340"/>
                </a:lnTo>
                <a:cubicBezTo>
                  <a:pt x="273844" y="43458"/>
                  <a:pt x="257770" y="38100"/>
                  <a:pt x="241340" y="38100"/>
                </a:cubicBezTo>
                <a:lnTo>
                  <a:pt x="76200" y="38100"/>
                </a:lnTo>
                <a:cubicBezTo>
                  <a:pt x="34171" y="38100"/>
                  <a:pt x="0" y="72271"/>
                  <a:pt x="0" y="114300"/>
                </a:cubicBezTo>
                <a:lnTo>
                  <a:pt x="0" y="457200"/>
                </a:lnTo>
                <a:cubicBezTo>
                  <a:pt x="0" y="499229"/>
                  <a:pt x="34171" y="533400"/>
                  <a:pt x="76200" y="533400"/>
                </a:cubicBezTo>
                <a:close/>
              </a:path>
            </a:pathLst>
          </a:custGeom>
          <a:solidFill>
            <a:srgbClr val="D4943A"/>
          </a:solidFill>
          <a:ln/>
        </p:spPr>
      </p:sp>
      <p:sp>
        <p:nvSpPr>
          <p:cNvPr id="10" name="Text 8"/>
          <p:cNvSpPr/>
          <p:nvPr/>
        </p:nvSpPr>
        <p:spPr>
          <a:xfrm>
            <a:off x="11049000" y="2349500"/>
            <a:ext cx="1524000" cy="279400"/>
          </a:xfrm>
          <a:prstGeom prst="rect">
            <a:avLst/>
          </a:prstGeom>
          <a:noFill/>
          <a:ln/>
        </p:spPr>
        <p:txBody>
          <a:bodyPr wrap="none" lIns="0" tIns="0" rIns="0" bIns="0" rtlCol="0" anchor="ctr"/>
          <a:lstStyle/>
          <a:p>
            <a:pPr algn="ctr">
              <a:lnSpc>
                <a:spcPct val="100000"/>
              </a:lnSpc>
            </a:pPr>
            <a:r>
              <a:rPr lang="en-US" sz="1200" dirty="0">
                <a:solidFill>
                  <a:srgbClr val="2C2C2C"/>
                </a:solidFill>
                <a:latin typeface="Quattrocento Sans" pitchFamily="34" charset="0"/>
                <a:ea typeface="Quattrocento Sans" pitchFamily="34" charset="-122"/>
                <a:cs typeface="Quattrocento Sans" pitchFamily="34" charset="-120"/>
              </a:rPr>
              <a:t>Courses.xlsx</a:t>
            </a:r>
            <a:endParaRPr lang="en-US" sz="1600" dirty="0"/>
          </a:p>
        </p:txBody>
      </p:sp>
      <p:sp>
        <p:nvSpPr>
          <p:cNvPr id="11" name="Shape 9"/>
          <p:cNvSpPr/>
          <p:nvPr/>
        </p:nvSpPr>
        <p:spPr>
          <a:xfrm>
            <a:off x="13208000" y="1714500"/>
            <a:ext cx="609600" cy="609600"/>
          </a:xfrm>
          <a:custGeom>
            <a:avLst/>
            <a:gdLst/>
            <a:ahLst/>
            <a:cxnLst/>
            <a:rect l="l" t="t" r="r" b="b"/>
            <a:pathLst>
              <a:path w="609600" h="609600">
                <a:moveTo>
                  <a:pt x="76200" y="533400"/>
                </a:moveTo>
                <a:lnTo>
                  <a:pt x="533400" y="533400"/>
                </a:lnTo>
                <a:cubicBezTo>
                  <a:pt x="575429" y="533400"/>
                  <a:pt x="609600" y="499229"/>
                  <a:pt x="609600" y="457200"/>
                </a:cubicBezTo>
                <a:lnTo>
                  <a:pt x="609600" y="171450"/>
                </a:lnTo>
                <a:cubicBezTo>
                  <a:pt x="609600" y="129421"/>
                  <a:pt x="575429" y="95250"/>
                  <a:pt x="533400" y="95250"/>
                </a:cubicBezTo>
                <a:lnTo>
                  <a:pt x="355640" y="95250"/>
                </a:lnTo>
                <a:cubicBezTo>
                  <a:pt x="347424" y="95250"/>
                  <a:pt x="339328" y="92631"/>
                  <a:pt x="332780" y="87630"/>
                </a:cubicBezTo>
                <a:lnTo>
                  <a:pt x="287060" y="53340"/>
                </a:lnTo>
                <a:cubicBezTo>
                  <a:pt x="273844" y="43458"/>
                  <a:pt x="257770" y="38100"/>
                  <a:pt x="241340" y="38100"/>
                </a:cubicBezTo>
                <a:lnTo>
                  <a:pt x="76200" y="38100"/>
                </a:lnTo>
                <a:cubicBezTo>
                  <a:pt x="34171" y="38100"/>
                  <a:pt x="0" y="72271"/>
                  <a:pt x="0" y="114300"/>
                </a:cubicBezTo>
                <a:lnTo>
                  <a:pt x="0" y="457200"/>
                </a:lnTo>
                <a:cubicBezTo>
                  <a:pt x="0" y="499229"/>
                  <a:pt x="34171" y="533400"/>
                  <a:pt x="76200" y="533400"/>
                </a:cubicBezTo>
                <a:close/>
              </a:path>
            </a:pathLst>
          </a:custGeom>
          <a:solidFill>
            <a:srgbClr val="D4943A"/>
          </a:solidFill>
          <a:ln/>
        </p:spPr>
      </p:sp>
      <p:sp>
        <p:nvSpPr>
          <p:cNvPr id="12" name="Text 10"/>
          <p:cNvSpPr/>
          <p:nvPr/>
        </p:nvSpPr>
        <p:spPr>
          <a:xfrm>
            <a:off x="12954000" y="2349500"/>
            <a:ext cx="1524000" cy="279400"/>
          </a:xfrm>
          <a:prstGeom prst="rect">
            <a:avLst/>
          </a:prstGeom>
          <a:noFill/>
          <a:ln/>
        </p:spPr>
        <p:txBody>
          <a:bodyPr wrap="none" lIns="0" tIns="0" rIns="0" bIns="0" rtlCol="0" anchor="ctr"/>
          <a:lstStyle/>
          <a:p>
            <a:pPr algn="ctr">
              <a:lnSpc>
                <a:spcPct val="100000"/>
              </a:lnSpc>
            </a:pPr>
            <a:r>
              <a:rPr lang="en-US" sz="1200" dirty="0">
                <a:solidFill>
                  <a:srgbClr val="2C2C2C"/>
                </a:solidFill>
                <a:latin typeface="Quattrocento Sans" pitchFamily="34" charset="0"/>
                <a:ea typeface="Quattrocento Sans" pitchFamily="34" charset="-122"/>
                <a:cs typeface="Quattrocento Sans" pitchFamily="34" charset="-120"/>
              </a:rPr>
              <a:t>Grades.xlsx</a:t>
            </a:r>
            <a:endParaRPr lang="en-US" sz="1600" dirty="0"/>
          </a:p>
        </p:txBody>
      </p:sp>
      <p:sp>
        <p:nvSpPr>
          <p:cNvPr id="13" name="Shape 11"/>
          <p:cNvSpPr/>
          <p:nvPr/>
        </p:nvSpPr>
        <p:spPr>
          <a:xfrm>
            <a:off x="10287000" y="2794000"/>
            <a:ext cx="1016000" cy="508000"/>
          </a:xfrm>
          <a:prstGeom prst="straightConnector1">
            <a:avLst/>
          </a:prstGeom>
          <a:noFill/>
          <a:ln w="25400">
            <a:solidFill>
              <a:srgbClr val="8B7355"/>
            </a:solidFill>
            <a:prstDash val="sysDot"/>
            <a:headEnd type="none"/>
            <a:tailEnd type="none"/>
          </a:ln>
        </p:spPr>
      </p:sp>
      <p:sp>
        <p:nvSpPr>
          <p:cNvPr id="14" name="Shape 12"/>
          <p:cNvSpPr/>
          <p:nvPr/>
        </p:nvSpPr>
        <p:spPr>
          <a:xfrm>
            <a:off x="12192000" y="2794000"/>
            <a:ext cx="1016000" cy="508000"/>
          </a:xfrm>
          <a:prstGeom prst="straightConnector1">
            <a:avLst/>
          </a:prstGeom>
          <a:noFill/>
          <a:ln w="25400">
            <a:solidFill>
              <a:srgbClr val="8B7355"/>
            </a:solidFill>
            <a:prstDash val="sysDot"/>
            <a:headEnd type="none"/>
            <a:tailEnd type="none"/>
          </a:ln>
        </p:spPr>
      </p:sp>
      <p:sp>
        <p:nvSpPr>
          <p:cNvPr id="15" name="Text 13"/>
          <p:cNvSpPr/>
          <p:nvPr/>
        </p:nvSpPr>
        <p:spPr>
          <a:xfrm>
            <a:off x="9398000" y="3429000"/>
            <a:ext cx="5588000" cy="304800"/>
          </a:xfrm>
          <a:prstGeom prst="rect">
            <a:avLst/>
          </a:prstGeom>
          <a:noFill/>
          <a:ln/>
        </p:spPr>
        <p:txBody>
          <a:bodyPr wrap="none" lIns="0" tIns="0" rIns="0" bIns="0" rtlCol="0" anchor="ctr"/>
          <a:lstStyle/>
          <a:p>
            <a:pPr algn="ctr">
              <a:lnSpc>
                <a:spcPct val="100000"/>
              </a:lnSpc>
            </a:pPr>
            <a:r>
              <a:rPr lang="en-US" sz="1300" i="1" dirty="0">
                <a:solidFill>
                  <a:srgbClr val="8B7355"/>
                </a:solidFill>
                <a:latin typeface="Quattrocento Sans" pitchFamily="34" charset="0"/>
                <a:ea typeface="Quattrocento Sans" pitchFamily="34" charset="-122"/>
                <a:cs typeface="Quattrocento Sans" pitchFamily="34" charset="-120"/>
              </a:rPr>
              <a:t>No automatic connection between files</a:t>
            </a:r>
            <a:endParaRPr lang="en-US" sz="1600" dirty="0"/>
          </a:p>
        </p:txBody>
      </p:sp>
      <p:sp>
        <p:nvSpPr>
          <p:cNvPr id="16" name="Shape 14"/>
          <p:cNvSpPr/>
          <p:nvPr/>
        </p:nvSpPr>
        <p:spPr>
          <a:xfrm>
            <a:off x="11684000" y="3937000"/>
            <a:ext cx="457200" cy="457200"/>
          </a:xfrm>
          <a:custGeom>
            <a:avLst/>
            <a:gdLst/>
            <a:ahLst/>
            <a:cxnLst/>
            <a:rect l="l" t="t" r="r" b="b"/>
            <a:pathLst>
              <a:path w="457200" h="457200">
                <a:moveTo>
                  <a:pt x="228600" y="0"/>
                </a:moveTo>
                <a:cubicBezTo>
                  <a:pt x="241727" y="0"/>
                  <a:pt x="253782" y="7233"/>
                  <a:pt x="260033" y="18752"/>
                </a:cubicBezTo>
                <a:lnTo>
                  <a:pt x="452914" y="375940"/>
                </a:lnTo>
                <a:cubicBezTo>
                  <a:pt x="458897" y="387013"/>
                  <a:pt x="458629" y="400407"/>
                  <a:pt x="452199" y="411212"/>
                </a:cubicBezTo>
                <a:cubicBezTo>
                  <a:pt x="445770" y="422017"/>
                  <a:pt x="434072" y="428625"/>
                  <a:pt x="421481" y="428625"/>
                </a:cubicBezTo>
                <a:lnTo>
                  <a:pt x="35719" y="428625"/>
                </a:lnTo>
                <a:cubicBezTo>
                  <a:pt x="23128" y="428625"/>
                  <a:pt x="11519" y="422017"/>
                  <a:pt x="5001" y="411212"/>
                </a:cubicBezTo>
                <a:cubicBezTo>
                  <a:pt x="-1518" y="400407"/>
                  <a:pt x="-1697" y="387013"/>
                  <a:pt x="4286" y="375940"/>
                </a:cubicBezTo>
                <a:lnTo>
                  <a:pt x="197168" y="18752"/>
                </a:lnTo>
                <a:cubicBezTo>
                  <a:pt x="203418" y="7233"/>
                  <a:pt x="215473" y="0"/>
                  <a:pt x="228600" y="0"/>
                </a:cubicBezTo>
                <a:close/>
                <a:moveTo>
                  <a:pt x="228600" y="150019"/>
                </a:moveTo>
                <a:cubicBezTo>
                  <a:pt x="216724" y="150019"/>
                  <a:pt x="207169" y="159574"/>
                  <a:pt x="207169" y="171450"/>
                </a:cubicBezTo>
                <a:lnTo>
                  <a:pt x="207169" y="271463"/>
                </a:lnTo>
                <a:cubicBezTo>
                  <a:pt x="207169" y="283339"/>
                  <a:pt x="216724" y="292894"/>
                  <a:pt x="228600" y="292894"/>
                </a:cubicBezTo>
                <a:cubicBezTo>
                  <a:pt x="240476" y="292894"/>
                  <a:pt x="250031" y="283339"/>
                  <a:pt x="250031" y="271463"/>
                </a:cubicBezTo>
                <a:lnTo>
                  <a:pt x="250031" y="171450"/>
                </a:lnTo>
                <a:cubicBezTo>
                  <a:pt x="250031" y="159574"/>
                  <a:pt x="240476" y="150019"/>
                  <a:pt x="228600" y="150019"/>
                </a:cubicBezTo>
                <a:close/>
                <a:moveTo>
                  <a:pt x="252442" y="342900"/>
                </a:moveTo>
                <a:cubicBezTo>
                  <a:pt x="252985" y="334050"/>
                  <a:pt x="248571" y="325630"/>
                  <a:pt x="240985" y="321041"/>
                </a:cubicBezTo>
                <a:cubicBezTo>
                  <a:pt x="233398" y="316452"/>
                  <a:pt x="223891" y="316452"/>
                  <a:pt x="216305" y="321041"/>
                </a:cubicBezTo>
                <a:cubicBezTo>
                  <a:pt x="208718" y="325630"/>
                  <a:pt x="204305" y="334050"/>
                  <a:pt x="204847" y="342900"/>
                </a:cubicBezTo>
                <a:cubicBezTo>
                  <a:pt x="204305" y="351750"/>
                  <a:pt x="208718" y="360170"/>
                  <a:pt x="216305" y="364759"/>
                </a:cubicBezTo>
                <a:cubicBezTo>
                  <a:pt x="223891" y="369348"/>
                  <a:pt x="233398" y="369348"/>
                  <a:pt x="240985" y="364759"/>
                </a:cubicBezTo>
                <a:cubicBezTo>
                  <a:pt x="248571" y="360170"/>
                  <a:pt x="252985" y="351750"/>
                  <a:pt x="252442" y="342900"/>
                </a:cubicBezTo>
                <a:close/>
              </a:path>
            </a:pathLst>
          </a:custGeom>
          <a:solidFill>
            <a:srgbClr val="C0392B"/>
          </a:solidFill>
          <a:ln/>
        </p:spPr>
      </p:sp>
      <p:sp>
        <p:nvSpPr>
          <p:cNvPr id="17" name="Text 15"/>
          <p:cNvSpPr/>
          <p:nvPr/>
        </p:nvSpPr>
        <p:spPr>
          <a:xfrm>
            <a:off x="9398000" y="4445000"/>
            <a:ext cx="5588000" cy="279400"/>
          </a:xfrm>
          <a:prstGeom prst="rect">
            <a:avLst/>
          </a:prstGeom>
          <a:noFill/>
          <a:ln/>
        </p:spPr>
        <p:txBody>
          <a:bodyPr wrap="none" lIns="0" tIns="0" rIns="0" bIns="0" rtlCol="0" anchor="ctr"/>
          <a:lstStyle/>
          <a:p>
            <a:pPr algn="ctr">
              <a:lnSpc>
                <a:spcPct val="100000"/>
              </a:lnSpc>
            </a:pPr>
            <a:r>
              <a:rPr lang="en-US" sz="1300" b="1" dirty="0">
                <a:solidFill>
                  <a:srgbClr val="C0392B"/>
                </a:solidFill>
                <a:latin typeface="Liter" pitchFamily="34" charset="0"/>
                <a:ea typeface="Liter" pitchFamily="34" charset="-122"/>
                <a:cs typeface="Liter" pitchFamily="34" charset="-120"/>
              </a:rPr>
              <a:t>Data is isolated and disconnected!</a:t>
            </a:r>
            <a:endParaRPr lang="en-US" sz="1600" dirty="0"/>
          </a:p>
        </p:txBody>
      </p:sp>
      <p:sp>
        <p:nvSpPr>
          <p:cNvPr id="18" name="Shape 16"/>
          <p:cNvSpPr/>
          <p:nvPr/>
        </p:nvSpPr>
        <p:spPr>
          <a:xfrm>
            <a:off x="762000" y="5080000"/>
            <a:ext cx="14732000" cy="1016000"/>
          </a:xfrm>
          <a:prstGeom prst="roundRect">
            <a:avLst>
              <a:gd name="adj" fmla="val 6000"/>
            </a:avLst>
          </a:prstGeom>
          <a:solidFill>
            <a:srgbClr val="E8E2DA"/>
          </a:solidFill>
          <a:ln/>
        </p:spPr>
      </p:sp>
      <p:sp>
        <p:nvSpPr>
          <p:cNvPr id="19" name="Shape 17"/>
          <p:cNvSpPr/>
          <p:nvPr/>
        </p:nvSpPr>
        <p:spPr>
          <a:xfrm>
            <a:off x="1060450" y="5308600"/>
            <a:ext cx="266700" cy="355600"/>
          </a:xfrm>
          <a:custGeom>
            <a:avLst/>
            <a:gdLst/>
            <a:ahLst/>
            <a:cxnLst/>
            <a:rect l="l" t="t" r="r" b="b"/>
            <a:pathLst>
              <a:path w="266700" h="355600">
                <a:moveTo>
                  <a:pt x="203428" y="266700"/>
                </a:moveTo>
                <a:cubicBezTo>
                  <a:pt x="208498" y="251212"/>
                  <a:pt x="218638" y="237182"/>
                  <a:pt x="230098" y="225098"/>
                </a:cubicBezTo>
                <a:cubicBezTo>
                  <a:pt x="252809" y="201206"/>
                  <a:pt x="266700" y="168910"/>
                  <a:pt x="266700" y="133350"/>
                </a:cubicBezTo>
                <a:cubicBezTo>
                  <a:pt x="266700" y="59730"/>
                  <a:pt x="206970" y="0"/>
                  <a:pt x="133350" y="0"/>
                </a:cubicBezTo>
                <a:cubicBezTo>
                  <a:pt x="59730" y="0"/>
                  <a:pt x="0" y="59730"/>
                  <a:pt x="0" y="133350"/>
                </a:cubicBezTo>
                <a:cubicBezTo>
                  <a:pt x="0" y="168910"/>
                  <a:pt x="13891" y="201206"/>
                  <a:pt x="36602" y="225098"/>
                </a:cubicBezTo>
                <a:cubicBezTo>
                  <a:pt x="48062" y="237182"/>
                  <a:pt x="58271" y="251212"/>
                  <a:pt x="63272" y="266700"/>
                </a:cubicBezTo>
                <a:lnTo>
                  <a:pt x="203359" y="266700"/>
                </a:lnTo>
                <a:close/>
                <a:moveTo>
                  <a:pt x="200025" y="300038"/>
                </a:moveTo>
                <a:lnTo>
                  <a:pt x="66675" y="300038"/>
                </a:lnTo>
                <a:lnTo>
                  <a:pt x="66675" y="311150"/>
                </a:lnTo>
                <a:cubicBezTo>
                  <a:pt x="66675" y="341848"/>
                  <a:pt x="91539" y="366712"/>
                  <a:pt x="122238" y="366712"/>
                </a:cubicBezTo>
                <a:lnTo>
                  <a:pt x="144463" y="366712"/>
                </a:lnTo>
                <a:cubicBezTo>
                  <a:pt x="175161" y="366712"/>
                  <a:pt x="200025" y="341848"/>
                  <a:pt x="200025" y="311150"/>
                </a:cubicBezTo>
                <a:lnTo>
                  <a:pt x="200025" y="300038"/>
                </a:lnTo>
                <a:close/>
                <a:moveTo>
                  <a:pt x="127794" y="77788"/>
                </a:moveTo>
                <a:cubicBezTo>
                  <a:pt x="100151" y="77788"/>
                  <a:pt x="77788" y="100151"/>
                  <a:pt x="77788" y="127794"/>
                </a:cubicBezTo>
                <a:cubicBezTo>
                  <a:pt x="77788" y="137031"/>
                  <a:pt x="70356" y="144463"/>
                  <a:pt x="61119" y="144463"/>
                </a:cubicBezTo>
                <a:cubicBezTo>
                  <a:pt x="51881" y="144463"/>
                  <a:pt x="44450" y="137031"/>
                  <a:pt x="44450" y="127794"/>
                </a:cubicBezTo>
                <a:cubicBezTo>
                  <a:pt x="44450" y="81746"/>
                  <a:pt x="81746" y="44450"/>
                  <a:pt x="127794" y="44450"/>
                </a:cubicBezTo>
                <a:cubicBezTo>
                  <a:pt x="137031" y="44450"/>
                  <a:pt x="144463" y="51881"/>
                  <a:pt x="144463" y="61119"/>
                </a:cubicBezTo>
                <a:cubicBezTo>
                  <a:pt x="144463" y="70356"/>
                  <a:pt x="137031" y="77788"/>
                  <a:pt x="127794" y="77788"/>
                </a:cubicBezTo>
                <a:close/>
              </a:path>
            </a:pathLst>
          </a:custGeom>
          <a:solidFill>
            <a:srgbClr val="D4943A"/>
          </a:solidFill>
          <a:ln/>
        </p:spPr>
      </p:sp>
      <p:sp>
        <p:nvSpPr>
          <p:cNvPr id="20" name="Text 18"/>
          <p:cNvSpPr/>
          <p:nvPr/>
        </p:nvSpPr>
        <p:spPr>
          <a:xfrm>
            <a:off x="1498600" y="5143500"/>
            <a:ext cx="2540000" cy="304800"/>
          </a:xfrm>
          <a:prstGeom prst="rect">
            <a:avLst/>
          </a:prstGeom>
          <a:noFill/>
          <a:ln/>
        </p:spPr>
        <p:txBody>
          <a:bodyPr wrap="none" lIns="0" tIns="0" rIns="0" bIns="0" rtlCol="0" anchor="ctr"/>
          <a:lstStyle/>
          <a:p>
            <a:pPr>
              <a:lnSpc>
                <a:spcPct val="100000"/>
              </a:lnSpc>
            </a:pPr>
            <a:r>
              <a:rPr lang="en-US" sz="1400" b="1" dirty="0">
                <a:solidFill>
                  <a:srgbClr val="2D5A4C"/>
                </a:solidFill>
                <a:latin typeface="Liter" pitchFamily="34" charset="0"/>
                <a:ea typeface="Liter" pitchFamily="34" charset="-122"/>
                <a:cs typeface="Liter" pitchFamily="34" charset="-120"/>
              </a:rPr>
              <a:t>EXPLANATION</a:t>
            </a:r>
            <a:endParaRPr lang="en-US" sz="1600" dirty="0"/>
          </a:p>
        </p:txBody>
      </p:sp>
      <p:sp>
        <p:nvSpPr>
          <p:cNvPr id="21" name="Text 19"/>
          <p:cNvSpPr/>
          <p:nvPr/>
        </p:nvSpPr>
        <p:spPr>
          <a:xfrm>
            <a:off x="1498600" y="5486400"/>
            <a:ext cx="13716000" cy="6096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Before databases, organizations stored information in files. Each department had its own files. While simple, it became chaotic when the same data needed to be shared across departments.</a:t>
            </a:r>
            <a:endParaRPr lang="en-US" sz="1600" dirty="0"/>
          </a:p>
        </p:txBody>
      </p:sp>
      <p:sp>
        <p:nvSpPr>
          <p:cNvPr id="22" name="Shape 20"/>
          <p:cNvSpPr/>
          <p:nvPr/>
        </p:nvSpPr>
        <p:spPr>
          <a:xfrm>
            <a:off x="762000" y="6350000"/>
            <a:ext cx="14732000" cy="1270000"/>
          </a:xfrm>
          <a:prstGeom prst="roundRect">
            <a:avLst>
              <a:gd name="adj" fmla="val 6000"/>
            </a:avLst>
          </a:prstGeom>
          <a:solidFill>
            <a:srgbClr val="D4943A">
              <a:alpha val="8235"/>
            </a:srgbClr>
          </a:solidFill>
          <a:ln/>
        </p:spPr>
      </p:sp>
      <p:sp>
        <p:nvSpPr>
          <p:cNvPr id="23" name="Shape 21"/>
          <p:cNvSpPr/>
          <p:nvPr/>
        </p:nvSpPr>
        <p:spPr>
          <a:xfrm>
            <a:off x="1016000" y="6477000"/>
            <a:ext cx="304800" cy="304800"/>
          </a:xfrm>
          <a:custGeom>
            <a:avLst/>
            <a:gdLst/>
            <a:ahLst/>
            <a:cxnLst/>
            <a:rect l="l" t="t" r="r" b="b"/>
            <a:pathLst>
              <a:path w="304800" h="304800">
                <a:moveTo>
                  <a:pt x="209490" y="166688"/>
                </a:moveTo>
                <a:lnTo>
                  <a:pt x="95845" y="166688"/>
                </a:lnTo>
                <a:cubicBezTo>
                  <a:pt x="97572" y="205085"/>
                  <a:pt x="106085" y="240447"/>
                  <a:pt x="118170" y="266343"/>
                </a:cubicBezTo>
                <a:cubicBezTo>
                  <a:pt x="124956" y="280928"/>
                  <a:pt x="132278" y="291227"/>
                  <a:pt x="139065" y="297537"/>
                </a:cubicBezTo>
                <a:cubicBezTo>
                  <a:pt x="145733" y="303788"/>
                  <a:pt x="150316" y="304800"/>
                  <a:pt x="152698" y="304800"/>
                </a:cubicBezTo>
                <a:cubicBezTo>
                  <a:pt x="155079" y="304800"/>
                  <a:pt x="159663" y="303788"/>
                  <a:pt x="166330" y="297537"/>
                </a:cubicBezTo>
                <a:cubicBezTo>
                  <a:pt x="173117" y="291227"/>
                  <a:pt x="180439" y="280868"/>
                  <a:pt x="187226" y="266343"/>
                </a:cubicBezTo>
                <a:cubicBezTo>
                  <a:pt x="199311" y="240447"/>
                  <a:pt x="207824" y="205085"/>
                  <a:pt x="209550" y="166688"/>
                </a:cubicBezTo>
                <a:close/>
                <a:moveTo>
                  <a:pt x="95786" y="138113"/>
                </a:moveTo>
                <a:lnTo>
                  <a:pt x="209431" y="138113"/>
                </a:lnTo>
                <a:cubicBezTo>
                  <a:pt x="207764" y="99715"/>
                  <a:pt x="199251" y="64353"/>
                  <a:pt x="187166" y="38457"/>
                </a:cubicBezTo>
                <a:cubicBezTo>
                  <a:pt x="180380" y="23932"/>
                  <a:pt x="173057" y="13573"/>
                  <a:pt x="166271" y="7263"/>
                </a:cubicBezTo>
                <a:cubicBezTo>
                  <a:pt x="159603" y="1012"/>
                  <a:pt x="155019" y="0"/>
                  <a:pt x="152638" y="0"/>
                </a:cubicBezTo>
                <a:cubicBezTo>
                  <a:pt x="150257" y="0"/>
                  <a:pt x="145673" y="1012"/>
                  <a:pt x="139005" y="7263"/>
                </a:cubicBezTo>
                <a:cubicBezTo>
                  <a:pt x="132219" y="13573"/>
                  <a:pt x="124897" y="23932"/>
                  <a:pt x="118110" y="38457"/>
                </a:cubicBezTo>
                <a:cubicBezTo>
                  <a:pt x="106025" y="64353"/>
                  <a:pt x="97512" y="99715"/>
                  <a:pt x="95786" y="138113"/>
                </a:cubicBezTo>
                <a:close/>
                <a:moveTo>
                  <a:pt x="67211" y="138113"/>
                </a:moveTo>
                <a:cubicBezTo>
                  <a:pt x="69294" y="87154"/>
                  <a:pt x="82451" y="39826"/>
                  <a:pt x="101679" y="8751"/>
                </a:cubicBezTo>
                <a:cubicBezTo>
                  <a:pt x="46851" y="28158"/>
                  <a:pt x="6489" y="78105"/>
                  <a:pt x="893" y="138113"/>
                </a:cubicBezTo>
                <a:lnTo>
                  <a:pt x="67211" y="138113"/>
                </a:lnTo>
                <a:close/>
                <a:moveTo>
                  <a:pt x="893" y="166688"/>
                </a:moveTo>
                <a:cubicBezTo>
                  <a:pt x="6489" y="226695"/>
                  <a:pt x="46851" y="276642"/>
                  <a:pt x="101679" y="296049"/>
                </a:cubicBezTo>
                <a:cubicBezTo>
                  <a:pt x="82451" y="264974"/>
                  <a:pt x="69294" y="217646"/>
                  <a:pt x="67211" y="166688"/>
                </a:cubicBezTo>
                <a:lnTo>
                  <a:pt x="893" y="166688"/>
                </a:lnTo>
                <a:close/>
                <a:moveTo>
                  <a:pt x="238065" y="166688"/>
                </a:moveTo>
                <a:cubicBezTo>
                  <a:pt x="235982" y="217646"/>
                  <a:pt x="222825" y="264974"/>
                  <a:pt x="203597" y="296049"/>
                </a:cubicBezTo>
                <a:cubicBezTo>
                  <a:pt x="258425" y="276582"/>
                  <a:pt x="298787" y="226695"/>
                  <a:pt x="304383" y="166688"/>
                </a:cubicBezTo>
                <a:lnTo>
                  <a:pt x="238065" y="166688"/>
                </a:lnTo>
                <a:close/>
                <a:moveTo>
                  <a:pt x="304383" y="138113"/>
                </a:moveTo>
                <a:cubicBezTo>
                  <a:pt x="298787" y="78105"/>
                  <a:pt x="258425" y="28158"/>
                  <a:pt x="203597" y="8751"/>
                </a:cubicBezTo>
                <a:cubicBezTo>
                  <a:pt x="222825" y="39826"/>
                  <a:pt x="235982" y="87154"/>
                  <a:pt x="238065" y="138113"/>
                </a:cubicBezTo>
                <a:lnTo>
                  <a:pt x="304383" y="138113"/>
                </a:lnTo>
                <a:close/>
              </a:path>
            </a:pathLst>
          </a:custGeom>
          <a:solidFill>
            <a:srgbClr val="D4943A"/>
          </a:solidFill>
          <a:ln/>
        </p:spPr>
      </p:sp>
      <p:sp>
        <p:nvSpPr>
          <p:cNvPr id="24" name="Text 22"/>
          <p:cNvSpPr/>
          <p:nvPr/>
        </p:nvSpPr>
        <p:spPr>
          <a:xfrm>
            <a:off x="1422400" y="6438900"/>
            <a:ext cx="3175000" cy="304800"/>
          </a:xfrm>
          <a:prstGeom prst="rect">
            <a:avLst/>
          </a:prstGeom>
          <a:noFill/>
          <a:ln/>
        </p:spPr>
        <p:txBody>
          <a:bodyPr wrap="none" lIns="0" tIns="0" rIns="0" bIns="0" rtlCol="0" anchor="ctr"/>
          <a:lstStyle/>
          <a:p>
            <a:pPr>
              <a:lnSpc>
                <a:spcPct val="100000"/>
              </a:lnSpc>
            </a:pPr>
            <a:r>
              <a:rPr lang="en-US" sz="1400" b="1" dirty="0">
                <a:solidFill>
                  <a:srgbClr val="D4943A"/>
                </a:solidFill>
                <a:latin typeface="Liter" pitchFamily="34" charset="0"/>
                <a:ea typeface="Liter" pitchFamily="34" charset="-122"/>
                <a:cs typeface="Liter" pitchFamily="34" charset="-120"/>
              </a:rPr>
              <a:t>REAL-WORLD EXAMPLE</a:t>
            </a:r>
            <a:endParaRPr lang="en-US" sz="1600" dirty="0"/>
          </a:p>
        </p:txBody>
      </p:sp>
      <p:sp>
        <p:nvSpPr>
          <p:cNvPr id="25" name="Text 23"/>
          <p:cNvSpPr/>
          <p:nvPr/>
        </p:nvSpPr>
        <p:spPr>
          <a:xfrm>
            <a:off x="1016000" y="6832600"/>
            <a:ext cx="14224000" cy="6604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A university stores student info in one Excel file, course registrations in another, and grades in a third — with no automatic connection between them. Updating a student's name requires manual changes in all three files.</a:t>
            </a:r>
            <a:endParaRPr lang="en-US" sz="1600" dirty="0"/>
          </a:p>
        </p:txBody>
      </p:sp>
      <p:sp>
        <p:nvSpPr>
          <p:cNvPr id="26" name="Shape 24"/>
          <p:cNvSpPr/>
          <p:nvPr/>
        </p:nvSpPr>
        <p:spPr>
          <a:xfrm>
            <a:off x="762000" y="7874000"/>
            <a:ext cx="14732000" cy="635000"/>
          </a:xfrm>
          <a:prstGeom prst="roundRect">
            <a:avLst>
              <a:gd name="adj" fmla="val 6000"/>
            </a:avLst>
          </a:prstGeom>
          <a:solidFill>
            <a:srgbClr val="2D5A4C">
              <a:alpha val="8235"/>
            </a:srgbClr>
          </a:solidFill>
          <a:ln/>
        </p:spPr>
      </p:sp>
      <p:sp>
        <p:nvSpPr>
          <p:cNvPr id="27" name="Shape 25"/>
          <p:cNvSpPr/>
          <p:nvPr/>
        </p:nvSpPr>
        <p:spPr>
          <a:xfrm>
            <a:off x="1016000" y="8026400"/>
            <a:ext cx="254000" cy="254000"/>
          </a:xfrm>
          <a:custGeom>
            <a:avLst/>
            <a:gdLst/>
            <a:ahLst/>
            <a:cxnLst/>
            <a:rect l="l" t="t" r="r" b="b"/>
            <a:pathLst>
              <a:path w="254000" h="254000">
                <a:moveTo>
                  <a:pt x="175071" y="10517"/>
                </a:moveTo>
                <a:lnTo>
                  <a:pt x="152797" y="32792"/>
                </a:lnTo>
                <a:lnTo>
                  <a:pt x="221208" y="101203"/>
                </a:lnTo>
                <a:lnTo>
                  <a:pt x="243483" y="78929"/>
                </a:lnTo>
                <a:cubicBezTo>
                  <a:pt x="250230" y="72231"/>
                  <a:pt x="254000" y="63103"/>
                  <a:pt x="254000" y="53578"/>
                </a:cubicBezTo>
                <a:cubicBezTo>
                  <a:pt x="254000" y="44053"/>
                  <a:pt x="250230" y="34925"/>
                  <a:pt x="243483" y="28228"/>
                </a:cubicBezTo>
                <a:lnTo>
                  <a:pt x="225772" y="10517"/>
                </a:lnTo>
                <a:cubicBezTo>
                  <a:pt x="219075" y="3770"/>
                  <a:pt x="209947" y="0"/>
                  <a:pt x="200422" y="0"/>
                </a:cubicBezTo>
                <a:cubicBezTo>
                  <a:pt x="190897" y="0"/>
                  <a:pt x="181769" y="3770"/>
                  <a:pt x="175071" y="10517"/>
                </a:cubicBezTo>
                <a:close/>
                <a:moveTo>
                  <a:pt x="135979" y="49609"/>
                </a:moveTo>
                <a:lnTo>
                  <a:pt x="29220" y="156319"/>
                </a:lnTo>
                <a:cubicBezTo>
                  <a:pt x="23912" y="161627"/>
                  <a:pt x="20042" y="168275"/>
                  <a:pt x="18008" y="175518"/>
                </a:cubicBezTo>
                <a:lnTo>
                  <a:pt x="446" y="238919"/>
                </a:lnTo>
                <a:cubicBezTo>
                  <a:pt x="-695" y="243036"/>
                  <a:pt x="446" y="247501"/>
                  <a:pt x="3522" y="250527"/>
                </a:cubicBezTo>
                <a:cubicBezTo>
                  <a:pt x="6598" y="253554"/>
                  <a:pt x="11013" y="254744"/>
                  <a:pt x="15131" y="253603"/>
                </a:cubicBezTo>
                <a:lnTo>
                  <a:pt x="78532" y="235992"/>
                </a:lnTo>
                <a:cubicBezTo>
                  <a:pt x="85775" y="233958"/>
                  <a:pt x="92373" y="230138"/>
                  <a:pt x="97730" y="224780"/>
                </a:cubicBezTo>
                <a:lnTo>
                  <a:pt x="204391" y="118021"/>
                </a:lnTo>
                <a:lnTo>
                  <a:pt x="135979" y="49609"/>
                </a:lnTo>
                <a:close/>
              </a:path>
            </a:pathLst>
          </a:custGeom>
          <a:solidFill>
            <a:srgbClr val="2D5A4C"/>
          </a:solidFill>
          <a:ln/>
        </p:spPr>
      </p:sp>
      <p:sp>
        <p:nvSpPr>
          <p:cNvPr id="28" name="Text 26"/>
          <p:cNvSpPr/>
          <p:nvPr/>
        </p:nvSpPr>
        <p:spPr>
          <a:xfrm>
            <a:off x="1371600" y="7937500"/>
            <a:ext cx="13970000" cy="508000"/>
          </a:xfrm>
          <a:prstGeom prst="rect">
            <a:avLst/>
          </a:prstGeom>
          <a:noFill/>
          <a:ln/>
        </p:spPr>
        <p:txBody>
          <a:bodyPr wrap="square" lIns="0" tIns="0" rIns="0" bIns="0" rtlCol="0" anchor="ctr"/>
          <a:lstStyle/>
          <a:p>
            <a:pPr>
              <a:lnSpc>
                <a:spcPct val="140000"/>
              </a:lnSpc>
            </a:pPr>
            <a:r>
              <a:rPr lang="en-US" sz="1400" b="1" dirty="0">
                <a:solidFill>
                  <a:srgbClr val="2D5A4C"/>
                </a:solidFill>
                <a:latin typeface="Quattrocento Sans" pitchFamily="34" charset="0"/>
                <a:ea typeface="Quattrocento Sans" pitchFamily="34" charset="-122"/>
                <a:cs typeface="Quattrocento Sans" pitchFamily="34" charset="-120"/>
              </a:rPr>
              <a:t>Practice:</a:t>
            </a:r>
            <a:pPr>
              <a:lnSpc>
                <a:spcPct val="140000"/>
              </a:lnSpc>
            </a:pPr>
            <a:r>
              <a:rPr lang="en-US" sz="1400" dirty="0">
                <a:solidFill>
                  <a:srgbClr val="2D5A4C"/>
                </a:solidFill>
                <a:latin typeface="Quattrocento Sans" pitchFamily="34" charset="0"/>
                <a:ea typeface="Quattrocento Sans" pitchFamily="34" charset="-122"/>
                <a:cs typeface="Quattrocento Sans" pitchFamily="34" charset="-120"/>
              </a:rPr>
              <a:t> Draw a simple diagram of how your personal files are organized on your computer.</a:t>
            </a:r>
            <a:endParaRPr lang="en-US" sz="1600" dirty="0"/>
          </a:p>
        </p:txBody>
      </p:sp>
      <p:sp>
        <p:nvSpPr>
          <p:cNvPr id="29" name="Text 27"/>
          <p:cNvSpPr/>
          <p:nvPr/>
        </p:nvSpPr>
        <p:spPr>
          <a:xfrm>
            <a:off x="13462000" y="8788400"/>
            <a:ext cx="2286000" cy="254000"/>
          </a:xfrm>
          <a:prstGeom prst="rect">
            <a:avLst/>
          </a:prstGeom>
          <a:noFill/>
          <a:ln/>
        </p:spPr>
        <p:txBody>
          <a:bodyPr wrap="none" lIns="0" tIns="0" rIns="0" bIns="0" rtlCol="0" anchor="ctr"/>
          <a:lstStyle/>
          <a:p>
            <a:pPr algn="r">
              <a:lnSpc>
                <a:spcPct val="140000"/>
              </a:lnSpc>
            </a:pPr>
            <a:r>
              <a:rPr lang="en-US" sz="1400" dirty="0">
                <a:solidFill>
                  <a:srgbClr val="8B7355"/>
                </a:solidFill>
                <a:latin typeface="QuattrocentoSans" pitchFamily="34" charset="0"/>
                <a:ea typeface="QuattrocentoSans" pitchFamily="34" charset="-122"/>
                <a:cs typeface="QuattrocentoSans" pitchFamily="34" charset="-120"/>
              </a:rPr>
              <a:t>Database vs File System</a:t>
            </a:r>
            <a:endParaRPr lang="en-US" sz="14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D4943A"/>
          </a:solidFill>
          <a:ln/>
        </p:spPr>
      </p:sp>
      <p:sp>
        <p:nvSpPr>
          <p:cNvPr id="3" name="Text 1"/>
          <p:cNvSpPr/>
          <p:nvPr/>
        </p:nvSpPr>
        <p:spPr>
          <a:xfrm>
            <a:off x="762000" y="381000"/>
            <a:ext cx="10160000" cy="508000"/>
          </a:xfrm>
          <a:prstGeom prst="rect">
            <a:avLst/>
          </a:prstGeom>
          <a:noFill/>
          <a:ln/>
        </p:spPr>
        <p:txBody>
          <a:bodyPr wrap="none" lIns="0" tIns="0" rIns="0" bIns="0" rtlCol="0" anchor="ctr"/>
          <a:lstStyle/>
          <a:p>
            <a:pPr>
              <a:lnSpc>
                <a:spcPct val="130000"/>
              </a:lnSpc>
            </a:pPr>
            <a:r>
              <a:rPr lang="en-US" sz="2800" dirty="0">
                <a:solidFill>
                  <a:srgbClr val="2D5A4C"/>
                </a:solidFill>
                <a:latin typeface="Liter" pitchFamily="34" charset="0"/>
                <a:ea typeface="Liter" pitchFamily="34" charset="-122"/>
                <a:cs typeface="Liter" pitchFamily="34" charset="-120"/>
              </a:rPr>
              <a:t>Data Redundancy Problem</a:t>
            </a:r>
            <a:endParaRPr lang="en-US" sz="2800" dirty="0"/>
          </a:p>
        </p:txBody>
      </p:sp>
      <p:sp>
        <p:nvSpPr>
          <p:cNvPr id="4" name="Text 2"/>
          <p:cNvSpPr/>
          <p:nvPr/>
        </p:nvSpPr>
        <p:spPr>
          <a:xfrm>
            <a:off x="762000" y="1143000"/>
            <a:ext cx="7620000" cy="3683000"/>
          </a:xfrm>
          <a:prstGeom prst="rect">
            <a:avLst/>
          </a:prstGeom>
          <a:noFill/>
          <a:ln/>
        </p:spPr>
        <p:txBody>
          <a:bodyPr wrap="square" lIns="0" tIns="0" rIns="0" bIns="0" rtlCol="0" anchor="t"/>
          <a:lstStyle/>
          <a:p>
            <a:pPr marL="317500" indent="-317500">
              <a:lnSpc>
                <a:spcPct val="150000"/>
              </a:lnSpc>
              <a:spcBef>
                <a:spcPts val="10"/>
              </a:spcBef>
              <a:buSzPct val="100000"/>
              <a:buChar char="•"/>
            </a:pPr>
            <a:r>
              <a:rPr lang="en-US" sz="1800" b="1" dirty="0">
                <a:solidFill>
                  <a:srgbClr val="2C2C2C"/>
                </a:solidFill>
                <a:latin typeface="QuattrocentoSans" pitchFamily="34" charset="0"/>
                <a:ea typeface="QuattrocentoSans" pitchFamily="34" charset="-122"/>
                <a:cs typeface="QuattrocentoSans" pitchFamily="34" charset="-120"/>
              </a:rPr>
              <a:t>Data redundancy</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means the same info is stored in multiple places</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In file systems, each department keeps its own copy of shared data</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Redundant data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wastes storage space</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and makes updates difficult</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If one copy is updated but others are missed, data becomes inconsistent</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Redundancy is one of the biggest problems with file-based systems</a:t>
            </a:r>
            <a:endParaRPr lang="en-US" sz="2000" dirty="0"/>
          </a:p>
        </p:txBody>
      </p:sp>
      <p:sp>
        <p:nvSpPr>
          <p:cNvPr id="5" name="Shape 3"/>
          <p:cNvSpPr/>
          <p:nvPr/>
        </p:nvSpPr>
        <p:spPr>
          <a:xfrm>
            <a:off x="8890000" y="1016000"/>
            <a:ext cx="6604000" cy="3810000"/>
          </a:xfrm>
          <a:prstGeom prst="roundRect">
            <a:avLst>
              <a:gd name="adj" fmla="val 8000"/>
            </a:avLst>
          </a:prstGeom>
          <a:solidFill>
            <a:srgbClr val="2D5A4C">
              <a:alpha val="8235"/>
            </a:srgbClr>
          </a:solidFill>
          <a:ln/>
        </p:spPr>
      </p:sp>
      <p:sp>
        <p:nvSpPr>
          <p:cNvPr id="6" name="Text 4"/>
          <p:cNvSpPr/>
          <p:nvPr/>
        </p:nvSpPr>
        <p:spPr>
          <a:xfrm>
            <a:off x="8890000" y="1117600"/>
            <a:ext cx="6604000" cy="355600"/>
          </a:xfrm>
          <a:prstGeom prst="rect">
            <a:avLst/>
          </a:prstGeom>
          <a:noFill/>
          <a:ln/>
        </p:spPr>
        <p:txBody>
          <a:bodyPr wrap="none" lIns="0" tIns="0" rIns="0" bIns="0" rtlCol="0" anchor="ctr"/>
          <a:lstStyle/>
          <a:p>
            <a:pPr algn="ctr">
              <a:lnSpc>
                <a:spcPct val="100000"/>
              </a:lnSpc>
            </a:pPr>
            <a:r>
              <a:rPr lang="en-US" sz="1400" b="1" dirty="0">
                <a:solidFill>
                  <a:srgbClr val="2D5A4C"/>
                </a:solidFill>
                <a:latin typeface="Liter" pitchFamily="34" charset="0"/>
                <a:ea typeface="Liter" pitchFamily="34" charset="-122"/>
                <a:cs typeface="Liter" pitchFamily="34" charset="-120"/>
              </a:rPr>
              <a:t>REDUNDANCY ILLUSTRATED</a:t>
            </a:r>
            <a:endParaRPr lang="en-US" sz="1600" dirty="0"/>
          </a:p>
        </p:txBody>
      </p:sp>
      <p:sp>
        <p:nvSpPr>
          <p:cNvPr id="7" name="Shape 5"/>
          <p:cNvSpPr/>
          <p:nvPr/>
        </p:nvSpPr>
        <p:spPr>
          <a:xfrm>
            <a:off x="9271000" y="1651000"/>
            <a:ext cx="2540000" cy="1016000"/>
          </a:xfrm>
          <a:prstGeom prst="roundRect">
            <a:avLst>
              <a:gd name="adj" fmla="val 6000"/>
            </a:avLst>
          </a:prstGeom>
          <a:solidFill>
            <a:srgbClr val="FFFFFF"/>
          </a:solidFill>
          <a:ln w="12700">
            <a:solidFill>
              <a:srgbClr val="D4943A"/>
            </a:solidFill>
            <a:prstDash val="solid"/>
          </a:ln>
        </p:spPr>
      </p:sp>
      <p:sp>
        <p:nvSpPr>
          <p:cNvPr id="8" name="Text 6"/>
          <p:cNvSpPr/>
          <p:nvPr/>
        </p:nvSpPr>
        <p:spPr>
          <a:xfrm>
            <a:off x="9271000" y="1676400"/>
            <a:ext cx="2540000" cy="254000"/>
          </a:xfrm>
          <a:prstGeom prst="rect">
            <a:avLst/>
          </a:prstGeom>
          <a:noFill/>
          <a:ln/>
        </p:spPr>
        <p:txBody>
          <a:bodyPr wrap="none" lIns="0" tIns="0" rIns="0" bIns="0" rtlCol="0" anchor="ctr"/>
          <a:lstStyle/>
          <a:p>
            <a:pPr algn="ctr">
              <a:lnSpc>
                <a:spcPct val="100000"/>
              </a:lnSpc>
            </a:pPr>
            <a:r>
              <a:rPr lang="en-US" sz="1200" b="1" dirty="0">
                <a:solidFill>
                  <a:srgbClr val="D4943A"/>
                </a:solidFill>
                <a:latin typeface="Liter" pitchFamily="34" charset="0"/>
                <a:ea typeface="Liter" pitchFamily="34" charset="-122"/>
                <a:cs typeface="Liter" pitchFamily="34" charset="-120"/>
              </a:rPr>
              <a:t>Loan File</a:t>
            </a:r>
            <a:endParaRPr lang="en-US" sz="1600" dirty="0"/>
          </a:p>
        </p:txBody>
      </p:sp>
      <p:sp>
        <p:nvSpPr>
          <p:cNvPr id="9" name="Text 7"/>
          <p:cNvSpPr/>
          <p:nvPr/>
        </p:nvSpPr>
        <p:spPr>
          <a:xfrm>
            <a:off x="9271000" y="1968500"/>
            <a:ext cx="2540000" cy="635000"/>
          </a:xfrm>
          <a:prstGeom prst="rect">
            <a:avLst/>
          </a:prstGeom>
          <a:noFill/>
          <a:ln/>
        </p:spPr>
        <p:txBody>
          <a:bodyPr wrap="square" lIns="0" tIns="0" rIns="0" bIns="0" rtlCol="0" anchor="t"/>
          <a:lstStyle/>
          <a:p>
            <a:pPr algn="ctr">
              <a:lnSpc>
                <a:spcPct val="130000"/>
              </a:lnSpc>
            </a:pPr>
            <a:r>
              <a:rPr lang="en-US" sz="1100" dirty="0">
                <a:solidFill>
                  <a:srgbClr val="2C2C2C"/>
                </a:solidFill>
                <a:latin typeface="Quattrocento Sans" pitchFamily="34" charset="0"/>
                <a:ea typeface="Quattrocento Sans" pitchFamily="34" charset="-122"/>
                <a:cs typeface="Quattrocento Sans" pitchFamily="34" charset="-120"/>
              </a:rPr>
              <a:t>John Doe</a:t>
            </a:r>
            <a:endParaRPr lang="en-US" sz="1600" dirty="0"/>
          </a:p>
          <a:p>
            <a:pPr algn="ctr">
              <a:lnSpc>
                <a:spcPct val="130000"/>
              </a:lnSpc>
            </a:pPr>
            <a:r>
              <a:rPr lang="en-US" sz="1100" dirty="0">
                <a:solidFill>
                  <a:srgbClr val="2C2C2C"/>
                </a:solidFill>
                <a:latin typeface="Quattrocento Sans" pitchFamily="34" charset="0"/>
                <a:ea typeface="Quattrocento Sans" pitchFamily="34" charset="-122"/>
                <a:cs typeface="Quattrocento Sans" pitchFamily="34" charset="-120"/>
              </a:rPr>
              <a:t>Phone: 555-1234</a:t>
            </a:r>
            <a:endParaRPr lang="en-US" sz="1600" dirty="0"/>
          </a:p>
        </p:txBody>
      </p:sp>
      <p:sp>
        <p:nvSpPr>
          <p:cNvPr id="10" name="Shape 8"/>
          <p:cNvSpPr/>
          <p:nvPr/>
        </p:nvSpPr>
        <p:spPr>
          <a:xfrm>
            <a:off x="12319000" y="1651000"/>
            <a:ext cx="2540000" cy="1016000"/>
          </a:xfrm>
          <a:prstGeom prst="roundRect">
            <a:avLst>
              <a:gd name="adj" fmla="val 6000"/>
            </a:avLst>
          </a:prstGeom>
          <a:solidFill>
            <a:srgbClr val="FFFFFF"/>
          </a:solidFill>
          <a:ln w="12700">
            <a:solidFill>
              <a:srgbClr val="D4943A"/>
            </a:solidFill>
            <a:prstDash val="solid"/>
          </a:ln>
        </p:spPr>
      </p:sp>
      <p:sp>
        <p:nvSpPr>
          <p:cNvPr id="11" name="Text 9"/>
          <p:cNvSpPr/>
          <p:nvPr/>
        </p:nvSpPr>
        <p:spPr>
          <a:xfrm>
            <a:off x="12319000" y="1676400"/>
            <a:ext cx="2540000" cy="254000"/>
          </a:xfrm>
          <a:prstGeom prst="rect">
            <a:avLst/>
          </a:prstGeom>
          <a:noFill/>
          <a:ln/>
        </p:spPr>
        <p:txBody>
          <a:bodyPr wrap="none" lIns="0" tIns="0" rIns="0" bIns="0" rtlCol="0" anchor="ctr"/>
          <a:lstStyle/>
          <a:p>
            <a:pPr algn="ctr">
              <a:lnSpc>
                <a:spcPct val="100000"/>
              </a:lnSpc>
            </a:pPr>
            <a:r>
              <a:rPr lang="en-US" sz="1200" b="1" dirty="0">
                <a:solidFill>
                  <a:srgbClr val="D4943A"/>
                </a:solidFill>
                <a:latin typeface="Liter" pitchFamily="34" charset="0"/>
                <a:ea typeface="Liter" pitchFamily="34" charset="-122"/>
                <a:cs typeface="Liter" pitchFamily="34" charset="-120"/>
              </a:rPr>
              <a:t>Account File</a:t>
            </a:r>
            <a:endParaRPr lang="en-US" sz="1600" dirty="0"/>
          </a:p>
        </p:txBody>
      </p:sp>
      <p:sp>
        <p:nvSpPr>
          <p:cNvPr id="12" name="Text 10"/>
          <p:cNvSpPr/>
          <p:nvPr/>
        </p:nvSpPr>
        <p:spPr>
          <a:xfrm>
            <a:off x="12319000" y="1968500"/>
            <a:ext cx="2540000" cy="635000"/>
          </a:xfrm>
          <a:prstGeom prst="rect">
            <a:avLst/>
          </a:prstGeom>
          <a:noFill/>
          <a:ln/>
        </p:spPr>
        <p:txBody>
          <a:bodyPr wrap="square" lIns="0" tIns="0" rIns="0" bIns="0" rtlCol="0" anchor="t"/>
          <a:lstStyle/>
          <a:p>
            <a:pPr algn="ctr">
              <a:lnSpc>
                <a:spcPct val="130000"/>
              </a:lnSpc>
            </a:pPr>
            <a:r>
              <a:rPr lang="en-US" sz="1100" dirty="0">
                <a:solidFill>
                  <a:srgbClr val="2C2C2C"/>
                </a:solidFill>
                <a:latin typeface="Quattrocento Sans" pitchFamily="34" charset="0"/>
                <a:ea typeface="Quattrocento Sans" pitchFamily="34" charset="-122"/>
                <a:cs typeface="Quattrocento Sans" pitchFamily="34" charset="-120"/>
              </a:rPr>
              <a:t>John Doe</a:t>
            </a:r>
            <a:endParaRPr lang="en-US" sz="1600" dirty="0"/>
          </a:p>
          <a:p>
            <a:pPr algn="ctr">
              <a:lnSpc>
                <a:spcPct val="130000"/>
              </a:lnSpc>
            </a:pPr>
            <a:r>
              <a:rPr lang="en-US" sz="1100" dirty="0">
                <a:solidFill>
                  <a:srgbClr val="2C2C2C"/>
                </a:solidFill>
                <a:latin typeface="Quattrocento Sans" pitchFamily="34" charset="0"/>
                <a:ea typeface="Quattrocento Sans" pitchFamily="34" charset="-122"/>
                <a:cs typeface="Quattrocento Sans" pitchFamily="34" charset="-120"/>
              </a:rPr>
              <a:t>Phone: 555-1234</a:t>
            </a:r>
            <a:endParaRPr lang="en-US" sz="1600" dirty="0"/>
          </a:p>
        </p:txBody>
      </p:sp>
      <p:sp>
        <p:nvSpPr>
          <p:cNvPr id="13" name="Shape 11"/>
          <p:cNvSpPr/>
          <p:nvPr/>
        </p:nvSpPr>
        <p:spPr>
          <a:xfrm>
            <a:off x="10795000" y="3048000"/>
            <a:ext cx="2540000" cy="1016000"/>
          </a:xfrm>
          <a:prstGeom prst="roundRect">
            <a:avLst>
              <a:gd name="adj" fmla="val 6000"/>
            </a:avLst>
          </a:prstGeom>
          <a:solidFill>
            <a:srgbClr val="FFFFFF"/>
          </a:solidFill>
          <a:ln w="12700">
            <a:solidFill>
              <a:srgbClr val="D4943A"/>
            </a:solidFill>
            <a:prstDash val="solid"/>
          </a:ln>
        </p:spPr>
      </p:sp>
      <p:sp>
        <p:nvSpPr>
          <p:cNvPr id="14" name="Text 12"/>
          <p:cNvSpPr/>
          <p:nvPr/>
        </p:nvSpPr>
        <p:spPr>
          <a:xfrm>
            <a:off x="10795000" y="3073400"/>
            <a:ext cx="2540000" cy="254000"/>
          </a:xfrm>
          <a:prstGeom prst="rect">
            <a:avLst/>
          </a:prstGeom>
          <a:noFill/>
          <a:ln/>
        </p:spPr>
        <p:txBody>
          <a:bodyPr wrap="none" lIns="0" tIns="0" rIns="0" bIns="0" rtlCol="0" anchor="ctr"/>
          <a:lstStyle/>
          <a:p>
            <a:pPr algn="ctr">
              <a:lnSpc>
                <a:spcPct val="100000"/>
              </a:lnSpc>
            </a:pPr>
            <a:r>
              <a:rPr lang="en-US" sz="1200" b="1" dirty="0">
                <a:solidFill>
                  <a:srgbClr val="D4943A"/>
                </a:solidFill>
                <a:latin typeface="Liter" pitchFamily="34" charset="0"/>
                <a:ea typeface="Liter" pitchFamily="34" charset="-122"/>
                <a:cs typeface="Liter" pitchFamily="34" charset="-120"/>
              </a:rPr>
              <a:t>Credit Card File</a:t>
            </a:r>
            <a:endParaRPr lang="en-US" sz="1600" dirty="0"/>
          </a:p>
        </p:txBody>
      </p:sp>
      <p:sp>
        <p:nvSpPr>
          <p:cNvPr id="15" name="Text 13"/>
          <p:cNvSpPr/>
          <p:nvPr/>
        </p:nvSpPr>
        <p:spPr>
          <a:xfrm>
            <a:off x="10795000" y="3365500"/>
            <a:ext cx="2540000" cy="635000"/>
          </a:xfrm>
          <a:prstGeom prst="rect">
            <a:avLst/>
          </a:prstGeom>
          <a:noFill/>
          <a:ln/>
        </p:spPr>
        <p:txBody>
          <a:bodyPr wrap="square" lIns="0" tIns="0" rIns="0" bIns="0" rtlCol="0" anchor="t"/>
          <a:lstStyle/>
          <a:p>
            <a:pPr algn="ctr">
              <a:lnSpc>
                <a:spcPct val="130000"/>
              </a:lnSpc>
            </a:pPr>
            <a:r>
              <a:rPr lang="en-US" sz="1100" dirty="0">
                <a:solidFill>
                  <a:srgbClr val="2C2C2C"/>
                </a:solidFill>
                <a:latin typeface="Quattrocento Sans" pitchFamily="34" charset="0"/>
                <a:ea typeface="Quattrocento Sans" pitchFamily="34" charset="-122"/>
                <a:cs typeface="Quattrocento Sans" pitchFamily="34" charset="-120"/>
              </a:rPr>
              <a:t>John Doe</a:t>
            </a:r>
            <a:endParaRPr lang="en-US" sz="1600" dirty="0"/>
          </a:p>
          <a:p>
            <a:pPr algn="ctr">
              <a:lnSpc>
                <a:spcPct val="130000"/>
              </a:lnSpc>
            </a:pPr>
            <a:r>
              <a:rPr lang="en-US" sz="1100" dirty="0">
                <a:solidFill>
                  <a:srgbClr val="2C2C2C"/>
                </a:solidFill>
                <a:latin typeface="Quattrocento Sans" pitchFamily="34" charset="0"/>
                <a:ea typeface="Quattrocento Sans" pitchFamily="34" charset="-122"/>
                <a:cs typeface="Quattrocento Sans" pitchFamily="34" charset="-120"/>
              </a:rPr>
              <a:t>Phone: 555-1234</a:t>
            </a:r>
            <a:endParaRPr lang="en-US" sz="1600" dirty="0"/>
          </a:p>
        </p:txBody>
      </p:sp>
      <p:sp>
        <p:nvSpPr>
          <p:cNvPr id="16" name="Text 14"/>
          <p:cNvSpPr/>
          <p:nvPr/>
        </p:nvSpPr>
        <p:spPr>
          <a:xfrm>
            <a:off x="9271000" y="4254500"/>
            <a:ext cx="5842000" cy="381000"/>
          </a:xfrm>
          <a:prstGeom prst="rect">
            <a:avLst/>
          </a:prstGeom>
          <a:noFill/>
          <a:ln/>
        </p:spPr>
        <p:txBody>
          <a:bodyPr wrap="none" lIns="0" tIns="0" rIns="0" bIns="0" rtlCol="0" anchor="ctr"/>
          <a:lstStyle/>
          <a:p>
            <a:pPr algn="ctr">
              <a:lnSpc>
                <a:spcPct val="100000"/>
              </a:lnSpc>
            </a:pPr>
            <a:r>
              <a:rPr lang="en-US" sz="1300" b="1" dirty="0">
                <a:solidFill>
                  <a:srgbClr val="C0392B"/>
                </a:solidFill>
                <a:latin typeface="Liter" pitchFamily="34" charset="0"/>
                <a:ea typeface="Liter" pitchFamily="34" charset="-122"/>
                <a:cs typeface="Liter" pitchFamily="34" charset="-120"/>
              </a:rPr>
              <a:t>Same data stored 3 times!</a:t>
            </a:r>
            <a:endParaRPr lang="en-US" sz="1600" dirty="0"/>
          </a:p>
        </p:txBody>
      </p:sp>
      <p:sp>
        <p:nvSpPr>
          <p:cNvPr id="17" name="Shape 15"/>
          <p:cNvSpPr/>
          <p:nvPr/>
        </p:nvSpPr>
        <p:spPr>
          <a:xfrm>
            <a:off x="762000" y="5080000"/>
            <a:ext cx="14732000" cy="1016000"/>
          </a:xfrm>
          <a:prstGeom prst="roundRect">
            <a:avLst>
              <a:gd name="adj" fmla="val 6000"/>
            </a:avLst>
          </a:prstGeom>
          <a:solidFill>
            <a:srgbClr val="E8E2DA"/>
          </a:solidFill>
          <a:ln/>
        </p:spPr>
      </p:sp>
      <p:sp>
        <p:nvSpPr>
          <p:cNvPr id="18" name="Shape 16"/>
          <p:cNvSpPr/>
          <p:nvPr/>
        </p:nvSpPr>
        <p:spPr>
          <a:xfrm>
            <a:off x="1060450" y="5308600"/>
            <a:ext cx="266700" cy="355600"/>
          </a:xfrm>
          <a:custGeom>
            <a:avLst/>
            <a:gdLst/>
            <a:ahLst/>
            <a:cxnLst/>
            <a:rect l="l" t="t" r="r" b="b"/>
            <a:pathLst>
              <a:path w="266700" h="355600">
                <a:moveTo>
                  <a:pt x="203428" y="266700"/>
                </a:moveTo>
                <a:cubicBezTo>
                  <a:pt x="208498" y="251212"/>
                  <a:pt x="218638" y="237182"/>
                  <a:pt x="230098" y="225098"/>
                </a:cubicBezTo>
                <a:cubicBezTo>
                  <a:pt x="252809" y="201206"/>
                  <a:pt x="266700" y="168910"/>
                  <a:pt x="266700" y="133350"/>
                </a:cubicBezTo>
                <a:cubicBezTo>
                  <a:pt x="266700" y="59730"/>
                  <a:pt x="206970" y="0"/>
                  <a:pt x="133350" y="0"/>
                </a:cubicBezTo>
                <a:cubicBezTo>
                  <a:pt x="59730" y="0"/>
                  <a:pt x="0" y="59730"/>
                  <a:pt x="0" y="133350"/>
                </a:cubicBezTo>
                <a:cubicBezTo>
                  <a:pt x="0" y="168910"/>
                  <a:pt x="13891" y="201206"/>
                  <a:pt x="36602" y="225098"/>
                </a:cubicBezTo>
                <a:cubicBezTo>
                  <a:pt x="48062" y="237182"/>
                  <a:pt x="58271" y="251212"/>
                  <a:pt x="63272" y="266700"/>
                </a:cubicBezTo>
                <a:lnTo>
                  <a:pt x="203359" y="266700"/>
                </a:lnTo>
                <a:close/>
                <a:moveTo>
                  <a:pt x="200025" y="300038"/>
                </a:moveTo>
                <a:lnTo>
                  <a:pt x="66675" y="300038"/>
                </a:lnTo>
                <a:lnTo>
                  <a:pt x="66675" y="311150"/>
                </a:lnTo>
                <a:cubicBezTo>
                  <a:pt x="66675" y="341848"/>
                  <a:pt x="91539" y="366712"/>
                  <a:pt x="122238" y="366712"/>
                </a:cubicBezTo>
                <a:lnTo>
                  <a:pt x="144463" y="366712"/>
                </a:lnTo>
                <a:cubicBezTo>
                  <a:pt x="175161" y="366712"/>
                  <a:pt x="200025" y="341848"/>
                  <a:pt x="200025" y="311150"/>
                </a:cubicBezTo>
                <a:lnTo>
                  <a:pt x="200025" y="300038"/>
                </a:lnTo>
                <a:close/>
                <a:moveTo>
                  <a:pt x="127794" y="77788"/>
                </a:moveTo>
                <a:cubicBezTo>
                  <a:pt x="100151" y="77788"/>
                  <a:pt x="77788" y="100151"/>
                  <a:pt x="77788" y="127794"/>
                </a:cubicBezTo>
                <a:cubicBezTo>
                  <a:pt x="77788" y="137031"/>
                  <a:pt x="70356" y="144463"/>
                  <a:pt x="61119" y="144463"/>
                </a:cubicBezTo>
                <a:cubicBezTo>
                  <a:pt x="51881" y="144463"/>
                  <a:pt x="44450" y="137031"/>
                  <a:pt x="44450" y="127794"/>
                </a:cubicBezTo>
                <a:cubicBezTo>
                  <a:pt x="44450" y="81746"/>
                  <a:pt x="81746" y="44450"/>
                  <a:pt x="127794" y="44450"/>
                </a:cubicBezTo>
                <a:cubicBezTo>
                  <a:pt x="137031" y="44450"/>
                  <a:pt x="144463" y="51881"/>
                  <a:pt x="144463" y="61119"/>
                </a:cubicBezTo>
                <a:cubicBezTo>
                  <a:pt x="144463" y="70356"/>
                  <a:pt x="137031" y="77788"/>
                  <a:pt x="127794" y="77788"/>
                </a:cubicBezTo>
                <a:close/>
              </a:path>
            </a:pathLst>
          </a:custGeom>
          <a:solidFill>
            <a:srgbClr val="D4943A"/>
          </a:solidFill>
          <a:ln/>
        </p:spPr>
      </p:sp>
      <p:sp>
        <p:nvSpPr>
          <p:cNvPr id="19" name="Text 17"/>
          <p:cNvSpPr/>
          <p:nvPr/>
        </p:nvSpPr>
        <p:spPr>
          <a:xfrm>
            <a:off x="1498600" y="5143500"/>
            <a:ext cx="2540000" cy="304800"/>
          </a:xfrm>
          <a:prstGeom prst="rect">
            <a:avLst/>
          </a:prstGeom>
          <a:noFill/>
          <a:ln/>
        </p:spPr>
        <p:txBody>
          <a:bodyPr wrap="none" lIns="0" tIns="0" rIns="0" bIns="0" rtlCol="0" anchor="ctr"/>
          <a:lstStyle/>
          <a:p>
            <a:pPr>
              <a:lnSpc>
                <a:spcPct val="100000"/>
              </a:lnSpc>
            </a:pPr>
            <a:r>
              <a:rPr lang="en-US" sz="1400" b="1" dirty="0">
                <a:solidFill>
                  <a:srgbClr val="2D5A4C"/>
                </a:solidFill>
                <a:latin typeface="Liter" pitchFamily="34" charset="0"/>
                <a:ea typeface="Liter" pitchFamily="34" charset="-122"/>
                <a:cs typeface="Liter" pitchFamily="34" charset="-120"/>
              </a:rPr>
              <a:t>EXPLANATION</a:t>
            </a:r>
            <a:endParaRPr lang="en-US" sz="1600" dirty="0"/>
          </a:p>
        </p:txBody>
      </p:sp>
      <p:sp>
        <p:nvSpPr>
          <p:cNvPr id="20" name="Text 18"/>
          <p:cNvSpPr/>
          <p:nvPr/>
        </p:nvSpPr>
        <p:spPr>
          <a:xfrm>
            <a:off x="1498600" y="5486400"/>
            <a:ext cx="13716000" cy="6096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Imagine your address is stored in five different files. If you move, someone must update all five. If even one is missed, different departments will have different versions of your address.</a:t>
            </a:r>
            <a:endParaRPr lang="en-US" sz="1600" dirty="0"/>
          </a:p>
        </p:txBody>
      </p:sp>
      <p:sp>
        <p:nvSpPr>
          <p:cNvPr id="21" name="Shape 19"/>
          <p:cNvSpPr/>
          <p:nvPr/>
        </p:nvSpPr>
        <p:spPr>
          <a:xfrm>
            <a:off x="762000" y="6350000"/>
            <a:ext cx="14732000" cy="1270000"/>
          </a:xfrm>
          <a:prstGeom prst="roundRect">
            <a:avLst>
              <a:gd name="adj" fmla="val 6000"/>
            </a:avLst>
          </a:prstGeom>
          <a:solidFill>
            <a:srgbClr val="D4943A">
              <a:alpha val="8235"/>
            </a:srgbClr>
          </a:solidFill>
          <a:ln/>
        </p:spPr>
      </p:sp>
      <p:sp>
        <p:nvSpPr>
          <p:cNvPr id="22" name="Shape 20"/>
          <p:cNvSpPr/>
          <p:nvPr/>
        </p:nvSpPr>
        <p:spPr>
          <a:xfrm>
            <a:off x="1016000" y="6477000"/>
            <a:ext cx="304800" cy="304800"/>
          </a:xfrm>
          <a:custGeom>
            <a:avLst/>
            <a:gdLst/>
            <a:ahLst/>
            <a:cxnLst/>
            <a:rect l="l" t="t" r="r" b="b"/>
            <a:pathLst>
              <a:path w="304800" h="304800">
                <a:moveTo>
                  <a:pt x="209490" y="166688"/>
                </a:moveTo>
                <a:lnTo>
                  <a:pt x="95845" y="166688"/>
                </a:lnTo>
                <a:cubicBezTo>
                  <a:pt x="97572" y="205085"/>
                  <a:pt x="106085" y="240447"/>
                  <a:pt x="118170" y="266343"/>
                </a:cubicBezTo>
                <a:cubicBezTo>
                  <a:pt x="124956" y="280928"/>
                  <a:pt x="132278" y="291227"/>
                  <a:pt x="139065" y="297537"/>
                </a:cubicBezTo>
                <a:cubicBezTo>
                  <a:pt x="145733" y="303788"/>
                  <a:pt x="150316" y="304800"/>
                  <a:pt x="152698" y="304800"/>
                </a:cubicBezTo>
                <a:cubicBezTo>
                  <a:pt x="155079" y="304800"/>
                  <a:pt x="159663" y="303788"/>
                  <a:pt x="166330" y="297537"/>
                </a:cubicBezTo>
                <a:cubicBezTo>
                  <a:pt x="173117" y="291227"/>
                  <a:pt x="180439" y="280868"/>
                  <a:pt x="187226" y="266343"/>
                </a:cubicBezTo>
                <a:cubicBezTo>
                  <a:pt x="199311" y="240447"/>
                  <a:pt x="207824" y="205085"/>
                  <a:pt x="209550" y="166688"/>
                </a:cubicBezTo>
                <a:close/>
                <a:moveTo>
                  <a:pt x="95786" y="138113"/>
                </a:moveTo>
                <a:lnTo>
                  <a:pt x="209431" y="138113"/>
                </a:lnTo>
                <a:cubicBezTo>
                  <a:pt x="207764" y="99715"/>
                  <a:pt x="199251" y="64353"/>
                  <a:pt x="187166" y="38457"/>
                </a:cubicBezTo>
                <a:cubicBezTo>
                  <a:pt x="180380" y="23932"/>
                  <a:pt x="173057" y="13573"/>
                  <a:pt x="166271" y="7263"/>
                </a:cubicBezTo>
                <a:cubicBezTo>
                  <a:pt x="159603" y="1012"/>
                  <a:pt x="155019" y="0"/>
                  <a:pt x="152638" y="0"/>
                </a:cubicBezTo>
                <a:cubicBezTo>
                  <a:pt x="150257" y="0"/>
                  <a:pt x="145673" y="1012"/>
                  <a:pt x="139005" y="7263"/>
                </a:cubicBezTo>
                <a:cubicBezTo>
                  <a:pt x="132219" y="13573"/>
                  <a:pt x="124897" y="23932"/>
                  <a:pt x="118110" y="38457"/>
                </a:cubicBezTo>
                <a:cubicBezTo>
                  <a:pt x="106025" y="64353"/>
                  <a:pt x="97512" y="99715"/>
                  <a:pt x="95786" y="138113"/>
                </a:cubicBezTo>
                <a:close/>
                <a:moveTo>
                  <a:pt x="67211" y="138113"/>
                </a:moveTo>
                <a:cubicBezTo>
                  <a:pt x="69294" y="87154"/>
                  <a:pt x="82451" y="39826"/>
                  <a:pt x="101679" y="8751"/>
                </a:cubicBezTo>
                <a:cubicBezTo>
                  <a:pt x="46851" y="28158"/>
                  <a:pt x="6489" y="78105"/>
                  <a:pt x="893" y="138113"/>
                </a:cubicBezTo>
                <a:lnTo>
                  <a:pt x="67211" y="138113"/>
                </a:lnTo>
                <a:close/>
                <a:moveTo>
                  <a:pt x="893" y="166688"/>
                </a:moveTo>
                <a:cubicBezTo>
                  <a:pt x="6489" y="226695"/>
                  <a:pt x="46851" y="276642"/>
                  <a:pt x="101679" y="296049"/>
                </a:cubicBezTo>
                <a:cubicBezTo>
                  <a:pt x="82451" y="264974"/>
                  <a:pt x="69294" y="217646"/>
                  <a:pt x="67211" y="166688"/>
                </a:cubicBezTo>
                <a:lnTo>
                  <a:pt x="893" y="166688"/>
                </a:lnTo>
                <a:close/>
                <a:moveTo>
                  <a:pt x="238065" y="166688"/>
                </a:moveTo>
                <a:cubicBezTo>
                  <a:pt x="235982" y="217646"/>
                  <a:pt x="222825" y="264974"/>
                  <a:pt x="203597" y="296049"/>
                </a:cubicBezTo>
                <a:cubicBezTo>
                  <a:pt x="258425" y="276582"/>
                  <a:pt x="298787" y="226695"/>
                  <a:pt x="304383" y="166688"/>
                </a:cubicBezTo>
                <a:lnTo>
                  <a:pt x="238065" y="166688"/>
                </a:lnTo>
                <a:close/>
                <a:moveTo>
                  <a:pt x="304383" y="138113"/>
                </a:moveTo>
                <a:cubicBezTo>
                  <a:pt x="298787" y="78105"/>
                  <a:pt x="258425" y="28158"/>
                  <a:pt x="203597" y="8751"/>
                </a:cubicBezTo>
                <a:cubicBezTo>
                  <a:pt x="222825" y="39826"/>
                  <a:pt x="235982" y="87154"/>
                  <a:pt x="238065" y="138113"/>
                </a:cubicBezTo>
                <a:lnTo>
                  <a:pt x="304383" y="138113"/>
                </a:lnTo>
                <a:close/>
              </a:path>
            </a:pathLst>
          </a:custGeom>
          <a:solidFill>
            <a:srgbClr val="D4943A"/>
          </a:solidFill>
          <a:ln/>
        </p:spPr>
      </p:sp>
      <p:sp>
        <p:nvSpPr>
          <p:cNvPr id="23" name="Text 21"/>
          <p:cNvSpPr/>
          <p:nvPr/>
        </p:nvSpPr>
        <p:spPr>
          <a:xfrm>
            <a:off x="1422400" y="6438900"/>
            <a:ext cx="3175000" cy="304800"/>
          </a:xfrm>
          <a:prstGeom prst="rect">
            <a:avLst/>
          </a:prstGeom>
          <a:noFill/>
          <a:ln/>
        </p:spPr>
        <p:txBody>
          <a:bodyPr wrap="none" lIns="0" tIns="0" rIns="0" bIns="0" rtlCol="0" anchor="ctr"/>
          <a:lstStyle/>
          <a:p>
            <a:pPr>
              <a:lnSpc>
                <a:spcPct val="100000"/>
              </a:lnSpc>
            </a:pPr>
            <a:r>
              <a:rPr lang="en-US" sz="1400" b="1" dirty="0">
                <a:solidFill>
                  <a:srgbClr val="D4943A"/>
                </a:solidFill>
                <a:latin typeface="Liter" pitchFamily="34" charset="0"/>
                <a:ea typeface="Liter" pitchFamily="34" charset="-122"/>
                <a:cs typeface="Liter" pitchFamily="34" charset="-120"/>
              </a:rPr>
              <a:t>REAL-WORLD EXAMPLE</a:t>
            </a:r>
            <a:endParaRPr lang="en-US" sz="1600" dirty="0"/>
          </a:p>
        </p:txBody>
      </p:sp>
      <p:sp>
        <p:nvSpPr>
          <p:cNvPr id="24" name="Text 22"/>
          <p:cNvSpPr/>
          <p:nvPr/>
        </p:nvSpPr>
        <p:spPr>
          <a:xfrm>
            <a:off x="1016000" y="6832600"/>
            <a:ext cx="14224000" cy="6604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A bank customer changes their phone number. If the number is stored in loan files, account files, and credit card files separately, updating all of them is error-prone and time-consuming.</a:t>
            </a:r>
            <a:endParaRPr lang="en-US" sz="1600" dirty="0"/>
          </a:p>
        </p:txBody>
      </p:sp>
      <p:sp>
        <p:nvSpPr>
          <p:cNvPr id="25" name="Shape 23"/>
          <p:cNvSpPr/>
          <p:nvPr/>
        </p:nvSpPr>
        <p:spPr>
          <a:xfrm>
            <a:off x="762000" y="7874000"/>
            <a:ext cx="14732000" cy="635000"/>
          </a:xfrm>
          <a:prstGeom prst="roundRect">
            <a:avLst>
              <a:gd name="adj" fmla="val 6000"/>
            </a:avLst>
          </a:prstGeom>
          <a:solidFill>
            <a:srgbClr val="2D5A4C">
              <a:alpha val="8235"/>
            </a:srgbClr>
          </a:solidFill>
          <a:ln/>
        </p:spPr>
      </p:sp>
      <p:sp>
        <p:nvSpPr>
          <p:cNvPr id="26" name="Shape 24"/>
          <p:cNvSpPr/>
          <p:nvPr/>
        </p:nvSpPr>
        <p:spPr>
          <a:xfrm>
            <a:off x="1016000" y="8026400"/>
            <a:ext cx="254000" cy="254000"/>
          </a:xfrm>
          <a:custGeom>
            <a:avLst/>
            <a:gdLst/>
            <a:ahLst/>
            <a:cxnLst/>
            <a:rect l="l" t="t" r="r" b="b"/>
            <a:pathLst>
              <a:path w="254000" h="254000">
                <a:moveTo>
                  <a:pt x="175071" y="10517"/>
                </a:moveTo>
                <a:lnTo>
                  <a:pt x="152797" y="32792"/>
                </a:lnTo>
                <a:lnTo>
                  <a:pt x="221208" y="101203"/>
                </a:lnTo>
                <a:lnTo>
                  <a:pt x="243483" y="78929"/>
                </a:lnTo>
                <a:cubicBezTo>
                  <a:pt x="250230" y="72231"/>
                  <a:pt x="254000" y="63103"/>
                  <a:pt x="254000" y="53578"/>
                </a:cubicBezTo>
                <a:cubicBezTo>
                  <a:pt x="254000" y="44053"/>
                  <a:pt x="250230" y="34925"/>
                  <a:pt x="243483" y="28228"/>
                </a:cubicBezTo>
                <a:lnTo>
                  <a:pt x="225772" y="10517"/>
                </a:lnTo>
                <a:cubicBezTo>
                  <a:pt x="219075" y="3770"/>
                  <a:pt x="209947" y="0"/>
                  <a:pt x="200422" y="0"/>
                </a:cubicBezTo>
                <a:cubicBezTo>
                  <a:pt x="190897" y="0"/>
                  <a:pt x="181769" y="3770"/>
                  <a:pt x="175071" y="10517"/>
                </a:cubicBezTo>
                <a:close/>
                <a:moveTo>
                  <a:pt x="135979" y="49609"/>
                </a:moveTo>
                <a:lnTo>
                  <a:pt x="29220" y="156319"/>
                </a:lnTo>
                <a:cubicBezTo>
                  <a:pt x="23912" y="161627"/>
                  <a:pt x="20042" y="168275"/>
                  <a:pt x="18008" y="175518"/>
                </a:cubicBezTo>
                <a:lnTo>
                  <a:pt x="446" y="238919"/>
                </a:lnTo>
                <a:cubicBezTo>
                  <a:pt x="-695" y="243036"/>
                  <a:pt x="446" y="247501"/>
                  <a:pt x="3522" y="250527"/>
                </a:cubicBezTo>
                <a:cubicBezTo>
                  <a:pt x="6598" y="253554"/>
                  <a:pt x="11013" y="254744"/>
                  <a:pt x="15131" y="253603"/>
                </a:cubicBezTo>
                <a:lnTo>
                  <a:pt x="78532" y="235992"/>
                </a:lnTo>
                <a:cubicBezTo>
                  <a:pt x="85775" y="233958"/>
                  <a:pt x="92373" y="230138"/>
                  <a:pt x="97730" y="224780"/>
                </a:cubicBezTo>
                <a:lnTo>
                  <a:pt x="204391" y="118021"/>
                </a:lnTo>
                <a:lnTo>
                  <a:pt x="135979" y="49609"/>
                </a:lnTo>
                <a:close/>
              </a:path>
            </a:pathLst>
          </a:custGeom>
          <a:solidFill>
            <a:srgbClr val="2D5A4C"/>
          </a:solidFill>
          <a:ln/>
        </p:spPr>
      </p:sp>
      <p:sp>
        <p:nvSpPr>
          <p:cNvPr id="27" name="Text 25"/>
          <p:cNvSpPr/>
          <p:nvPr/>
        </p:nvSpPr>
        <p:spPr>
          <a:xfrm>
            <a:off x="1371600" y="7937500"/>
            <a:ext cx="13970000" cy="508000"/>
          </a:xfrm>
          <a:prstGeom prst="rect">
            <a:avLst/>
          </a:prstGeom>
          <a:noFill/>
          <a:ln/>
        </p:spPr>
        <p:txBody>
          <a:bodyPr wrap="square" lIns="0" tIns="0" rIns="0" bIns="0" rtlCol="0" anchor="ctr"/>
          <a:lstStyle/>
          <a:p>
            <a:pPr>
              <a:lnSpc>
                <a:spcPct val="140000"/>
              </a:lnSpc>
            </a:pPr>
            <a:r>
              <a:rPr lang="en-US" sz="1400" b="1" dirty="0">
                <a:solidFill>
                  <a:srgbClr val="2D5A4C"/>
                </a:solidFill>
                <a:latin typeface="Quattrocento Sans" pitchFamily="34" charset="0"/>
                <a:ea typeface="Quattrocento Sans" pitchFamily="34" charset="-122"/>
                <a:cs typeface="Quattrocento Sans" pitchFamily="34" charset="-120"/>
              </a:rPr>
              <a:t>Practice:</a:t>
            </a:r>
            <a:pPr>
              <a:lnSpc>
                <a:spcPct val="140000"/>
              </a:lnSpc>
            </a:pPr>
            <a:r>
              <a:rPr lang="en-US" sz="1400" dirty="0">
                <a:solidFill>
                  <a:srgbClr val="2D5A4C"/>
                </a:solidFill>
                <a:latin typeface="Quattrocento Sans" pitchFamily="34" charset="0"/>
                <a:ea typeface="Quattrocento Sans" pitchFamily="34" charset="-122"/>
                <a:cs typeface="Quattrocento Sans" pitchFamily="34" charset="-120"/>
              </a:rPr>
              <a:t> Identify three pieces of information that might be duplicated in a school's file system.</a:t>
            </a:r>
            <a:endParaRPr lang="en-US" sz="1600" dirty="0"/>
          </a:p>
        </p:txBody>
      </p:sp>
      <p:sp>
        <p:nvSpPr>
          <p:cNvPr id="28" name="Text 26"/>
          <p:cNvSpPr/>
          <p:nvPr/>
        </p:nvSpPr>
        <p:spPr>
          <a:xfrm>
            <a:off x="13462000" y="8788400"/>
            <a:ext cx="2286000" cy="254000"/>
          </a:xfrm>
          <a:prstGeom prst="rect">
            <a:avLst/>
          </a:prstGeom>
          <a:noFill/>
          <a:ln/>
        </p:spPr>
        <p:txBody>
          <a:bodyPr wrap="none" lIns="0" tIns="0" rIns="0" bIns="0" rtlCol="0" anchor="ctr"/>
          <a:lstStyle/>
          <a:p>
            <a:pPr algn="r">
              <a:lnSpc>
                <a:spcPct val="140000"/>
              </a:lnSpc>
            </a:pPr>
            <a:r>
              <a:rPr lang="en-US" sz="1400" dirty="0">
                <a:solidFill>
                  <a:srgbClr val="8B7355"/>
                </a:solidFill>
                <a:latin typeface="QuattrocentoSans" pitchFamily="34" charset="0"/>
                <a:ea typeface="QuattrocentoSans" pitchFamily="34" charset="-122"/>
                <a:cs typeface="QuattrocentoSans" pitchFamily="34" charset="-120"/>
              </a:rPr>
              <a:t>Database vs File System</a:t>
            </a:r>
            <a:endParaRPr lang="en-US" sz="14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D4943A"/>
          </a:solidFill>
          <a:ln/>
        </p:spPr>
      </p:sp>
      <p:sp>
        <p:nvSpPr>
          <p:cNvPr id="3" name="Text 1"/>
          <p:cNvSpPr/>
          <p:nvPr/>
        </p:nvSpPr>
        <p:spPr>
          <a:xfrm>
            <a:off x="762000" y="381000"/>
            <a:ext cx="10160000" cy="508000"/>
          </a:xfrm>
          <a:prstGeom prst="rect">
            <a:avLst/>
          </a:prstGeom>
          <a:noFill/>
          <a:ln/>
        </p:spPr>
        <p:txBody>
          <a:bodyPr wrap="none" lIns="0" tIns="0" rIns="0" bIns="0" rtlCol="0" anchor="ctr"/>
          <a:lstStyle/>
          <a:p>
            <a:pPr>
              <a:lnSpc>
                <a:spcPct val="130000"/>
              </a:lnSpc>
            </a:pPr>
            <a:r>
              <a:rPr lang="en-US" sz="2800" dirty="0">
                <a:solidFill>
                  <a:srgbClr val="2D5A4C"/>
                </a:solidFill>
                <a:latin typeface="Liter" pitchFamily="34" charset="0"/>
                <a:ea typeface="Liter" pitchFamily="34" charset="-122"/>
                <a:cs typeface="Liter" pitchFamily="34" charset="-120"/>
              </a:rPr>
              <a:t>Data Inconsistency Problem</a:t>
            </a:r>
            <a:endParaRPr lang="en-US" sz="2800" dirty="0"/>
          </a:p>
        </p:txBody>
      </p:sp>
      <p:sp>
        <p:nvSpPr>
          <p:cNvPr id="4" name="Text 2"/>
          <p:cNvSpPr/>
          <p:nvPr/>
        </p:nvSpPr>
        <p:spPr>
          <a:xfrm>
            <a:off x="762000" y="1143000"/>
            <a:ext cx="7620000" cy="3683000"/>
          </a:xfrm>
          <a:prstGeom prst="rect">
            <a:avLst/>
          </a:prstGeom>
          <a:noFill/>
          <a:ln/>
        </p:spPr>
        <p:txBody>
          <a:bodyPr wrap="square" lIns="0" tIns="0" rIns="0" bIns="0" rtlCol="0" anchor="t"/>
          <a:lstStyle/>
          <a:p>
            <a:pPr marL="317500" indent="-317500">
              <a:lnSpc>
                <a:spcPct val="150000"/>
              </a:lnSpc>
              <a:spcBef>
                <a:spcPts val="10"/>
              </a:spcBef>
              <a:buSzPct val="100000"/>
              <a:buChar char="•"/>
            </a:pPr>
            <a:r>
              <a:rPr lang="en-US" sz="1800" b="1" dirty="0">
                <a:solidFill>
                  <a:srgbClr val="2C2C2C"/>
                </a:solidFill>
                <a:latin typeface="QuattrocentoSans" pitchFamily="34" charset="0"/>
                <a:ea typeface="QuattrocentoSans" pitchFamily="34" charset="-122"/>
                <a:cs typeface="QuattrocentoSans" pitchFamily="34" charset="-120"/>
              </a:rPr>
              <a:t>Data inconsistency</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occurs when different copies have different values</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File systems make it nearly impossible to keep all copies synchronized</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Inconsistent data leads to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confusion, errors, and poor decisions</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Users cannot trust the data because they don't know which version is correct</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This problem grows worse as the organization and data volume increase</a:t>
            </a:r>
            <a:endParaRPr lang="en-US" sz="2000" dirty="0"/>
          </a:p>
        </p:txBody>
      </p:sp>
      <p:sp>
        <p:nvSpPr>
          <p:cNvPr id="5" name="Shape 3"/>
          <p:cNvSpPr/>
          <p:nvPr/>
        </p:nvSpPr>
        <p:spPr>
          <a:xfrm>
            <a:off x="8890000" y="1016000"/>
            <a:ext cx="6604000" cy="3810000"/>
          </a:xfrm>
          <a:prstGeom prst="roundRect">
            <a:avLst>
              <a:gd name="adj" fmla="val 8000"/>
            </a:avLst>
          </a:prstGeom>
          <a:solidFill>
            <a:srgbClr val="2D5A4C">
              <a:alpha val="8235"/>
            </a:srgbClr>
          </a:solidFill>
          <a:ln/>
        </p:spPr>
      </p:sp>
      <p:sp>
        <p:nvSpPr>
          <p:cNvPr id="6" name="Text 4"/>
          <p:cNvSpPr/>
          <p:nvPr/>
        </p:nvSpPr>
        <p:spPr>
          <a:xfrm>
            <a:off x="8890000" y="1117600"/>
            <a:ext cx="6604000" cy="355600"/>
          </a:xfrm>
          <a:prstGeom prst="rect">
            <a:avLst/>
          </a:prstGeom>
          <a:noFill/>
          <a:ln/>
        </p:spPr>
        <p:txBody>
          <a:bodyPr wrap="none" lIns="0" tIns="0" rIns="0" bIns="0" rtlCol="0" anchor="ctr"/>
          <a:lstStyle/>
          <a:p>
            <a:pPr algn="ctr">
              <a:lnSpc>
                <a:spcPct val="100000"/>
              </a:lnSpc>
            </a:pPr>
            <a:r>
              <a:rPr lang="en-US" sz="1400" b="1" dirty="0">
                <a:solidFill>
                  <a:srgbClr val="2D5A4C"/>
                </a:solidFill>
                <a:latin typeface="Liter" pitchFamily="34" charset="0"/>
                <a:ea typeface="Liter" pitchFamily="34" charset="-122"/>
                <a:cs typeface="Liter" pitchFamily="34" charset="-120"/>
              </a:rPr>
              <a:t>CONSISTENT vs INCONSISTENT</a:t>
            </a:r>
            <a:endParaRPr lang="en-US" sz="1600" dirty="0"/>
          </a:p>
        </p:txBody>
      </p:sp>
      <p:sp>
        <p:nvSpPr>
          <p:cNvPr id="7" name="Shape 5"/>
          <p:cNvSpPr/>
          <p:nvPr/>
        </p:nvSpPr>
        <p:spPr>
          <a:xfrm>
            <a:off x="9271000" y="1651000"/>
            <a:ext cx="2667000" cy="1397000"/>
          </a:xfrm>
          <a:prstGeom prst="roundRect">
            <a:avLst>
              <a:gd name="adj" fmla="val 6000"/>
            </a:avLst>
          </a:prstGeom>
          <a:solidFill>
            <a:srgbClr val="27AE60">
              <a:alpha val="8235"/>
            </a:srgbClr>
          </a:solidFill>
          <a:ln w="25400">
            <a:solidFill>
              <a:srgbClr val="27AE60"/>
            </a:solidFill>
            <a:prstDash val="solid"/>
          </a:ln>
        </p:spPr>
      </p:sp>
      <p:sp>
        <p:nvSpPr>
          <p:cNvPr id="8" name="Text 6"/>
          <p:cNvSpPr/>
          <p:nvPr/>
        </p:nvSpPr>
        <p:spPr>
          <a:xfrm>
            <a:off x="9271000" y="1714500"/>
            <a:ext cx="2667000" cy="279400"/>
          </a:xfrm>
          <a:prstGeom prst="rect">
            <a:avLst/>
          </a:prstGeom>
          <a:noFill/>
          <a:ln/>
        </p:spPr>
        <p:txBody>
          <a:bodyPr wrap="none" lIns="0" tIns="0" rIns="0" bIns="0" rtlCol="0" anchor="ctr"/>
          <a:lstStyle/>
          <a:p>
            <a:pPr algn="ctr">
              <a:lnSpc>
                <a:spcPct val="100000"/>
              </a:lnSpc>
            </a:pPr>
            <a:r>
              <a:rPr lang="en-US" sz="1300" b="1" dirty="0">
                <a:solidFill>
                  <a:srgbClr val="27AE60"/>
                </a:solidFill>
                <a:latin typeface="Liter" pitchFamily="34" charset="0"/>
                <a:ea typeface="Liter" pitchFamily="34" charset="-122"/>
                <a:cs typeface="Liter" pitchFamily="34" charset="-120"/>
              </a:rPr>
              <a:t>CONSISTENT</a:t>
            </a:r>
            <a:endParaRPr lang="en-US" sz="1600" dirty="0"/>
          </a:p>
        </p:txBody>
      </p:sp>
      <p:sp>
        <p:nvSpPr>
          <p:cNvPr id="9" name="Text 7"/>
          <p:cNvSpPr/>
          <p:nvPr/>
        </p:nvSpPr>
        <p:spPr>
          <a:xfrm>
            <a:off x="9334500" y="2032000"/>
            <a:ext cx="2540000" cy="914400"/>
          </a:xfrm>
          <a:prstGeom prst="rect">
            <a:avLst/>
          </a:prstGeom>
          <a:noFill/>
          <a:ln/>
        </p:spPr>
        <p:txBody>
          <a:bodyPr wrap="square" lIns="0" tIns="0" rIns="0" bIns="0" rtlCol="0" anchor="t"/>
          <a:lstStyle/>
          <a:p>
            <a:pPr algn="ct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Sales File: Price = $50</a:t>
            </a:r>
            <a:endParaRPr lang="en-US" sz="1600" dirty="0"/>
          </a:p>
          <a:p>
            <a:pPr algn="ct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Inventory File: Price = $50</a:t>
            </a:r>
            <a:endParaRPr lang="en-US" sz="1600" dirty="0"/>
          </a:p>
          <a:p>
            <a:pPr algn="ctr">
              <a:lnSpc>
                <a:spcPct val="130000"/>
              </a:lnSpc>
            </a:pPr>
            <a:r>
              <a:rPr lang="en-US" sz="1200" dirty="0">
                <a:solidFill>
                  <a:srgbClr val="27AE60"/>
                </a:solidFill>
                <a:latin typeface="Quattrocento Sans" pitchFamily="34" charset="0"/>
                <a:ea typeface="Quattrocento Sans" pitchFamily="34" charset="-122"/>
                <a:cs typeface="Quattrocento Sans" pitchFamily="34" charset="-120"/>
              </a:rPr>
              <a:t>Both files match!</a:t>
            </a:r>
            <a:endParaRPr lang="en-US" sz="1600" dirty="0"/>
          </a:p>
        </p:txBody>
      </p:sp>
      <p:sp>
        <p:nvSpPr>
          <p:cNvPr id="10" name="Shape 8"/>
          <p:cNvSpPr/>
          <p:nvPr/>
        </p:nvSpPr>
        <p:spPr>
          <a:xfrm>
            <a:off x="12319000" y="1651000"/>
            <a:ext cx="2667000" cy="1397000"/>
          </a:xfrm>
          <a:prstGeom prst="roundRect">
            <a:avLst>
              <a:gd name="adj" fmla="val 6000"/>
            </a:avLst>
          </a:prstGeom>
          <a:solidFill>
            <a:srgbClr val="C0392B">
              <a:alpha val="8235"/>
            </a:srgbClr>
          </a:solidFill>
          <a:ln w="25400">
            <a:solidFill>
              <a:srgbClr val="C0392B"/>
            </a:solidFill>
            <a:prstDash val="solid"/>
          </a:ln>
        </p:spPr>
      </p:sp>
      <p:sp>
        <p:nvSpPr>
          <p:cNvPr id="11" name="Text 9"/>
          <p:cNvSpPr/>
          <p:nvPr/>
        </p:nvSpPr>
        <p:spPr>
          <a:xfrm>
            <a:off x="12319000" y="1714500"/>
            <a:ext cx="2667000" cy="279400"/>
          </a:xfrm>
          <a:prstGeom prst="rect">
            <a:avLst/>
          </a:prstGeom>
          <a:noFill/>
          <a:ln/>
        </p:spPr>
        <p:txBody>
          <a:bodyPr wrap="none" lIns="0" tIns="0" rIns="0" bIns="0" rtlCol="0" anchor="ctr"/>
          <a:lstStyle/>
          <a:p>
            <a:pPr algn="ctr">
              <a:lnSpc>
                <a:spcPct val="100000"/>
              </a:lnSpc>
            </a:pPr>
            <a:r>
              <a:rPr lang="en-US" sz="1300" b="1" dirty="0">
                <a:solidFill>
                  <a:srgbClr val="C0392B"/>
                </a:solidFill>
                <a:latin typeface="Liter" pitchFamily="34" charset="0"/>
                <a:ea typeface="Liter" pitchFamily="34" charset="-122"/>
                <a:cs typeface="Liter" pitchFamily="34" charset="-120"/>
              </a:rPr>
              <a:t>INCONSISTENT</a:t>
            </a:r>
            <a:endParaRPr lang="en-US" sz="1600" dirty="0"/>
          </a:p>
        </p:txBody>
      </p:sp>
      <p:sp>
        <p:nvSpPr>
          <p:cNvPr id="12" name="Text 10"/>
          <p:cNvSpPr/>
          <p:nvPr/>
        </p:nvSpPr>
        <p:spPr>
          <a:xfrm>
            <a:off x="12382500" y="2032000"/>
            <a:ext cx="2540000" cy="914400"/>
          </a:xfrm>
          <a:prstGeom prst="rect">
            <a:avLst/>
          </a:prstGeom>
          <a:noFill/>
          <a:ln/>
        </p:spPr>
        <p:txBody>
          <a:bodyPr wrap="square" lIns="0" tIns="0" rIns="0" bIns="0" rtlCol="0" anchor="t"/>
          <a:lstStyle/>
          <a:p>
            <a:pPr algn="ct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Sales File: Price = $50</a:t>
            </a:r>
            <a:endParaRPr lang="en-US" sz="1600" dirty="0"/>
          </a:p>
          <a:p>
            <a:pPr algn="ct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Inventory File: Price = $45</a:t>
            </a:r>
            <a:endParaRPr lang="en-US" sz="1600" dirty="0"/>
          </a:p>
          <a:p>
            <a:pPr algn="ctr">
              <a:lnSpc>
                <a:spcPct val="130000"/>
              </a:lnSpc>
            </a:pPr>
            <a:r>
              <a:rPr lang="en-US" sz="1200" dirty="0">
                <a:solidFill>
                  <a:srgbClr val="C0392B"/>
                </a:solidFill>
                <a:latin typeface="Quattrocento Sans" pitchFamily="34" charset="0"/>
                <a:ea typeface="Quattrocento Sans" pitchFamily="34" charset="-122"/>
                <a:cs typeface="Quattrocento Sans" pitchFamily="34" charset="-120"/>
              </a:rPr>
              <a:t>Files do NOT match!</a:t>
            </a:r>
            <a:endParaRPr lang="en-US" sz="1600" dirty="0"/>
          </a:p>
        </p:txBody>
      </p:sp>
      <p:sp>
        <p:nvSpPr>
          <p:cNvPr id="13" name="Shape 11"/>
          <p:cNvSpPr/>
          <p:nvPr/>
        </p:nvSpPr>
        <p:spPr>
          <a:xfrm>
            <a:off x="10287000" y="3302000"/>
            <a:ext cx="406400" cy="406400"/>
          </a:xfrm>
          <a:custGeom>
            <a:avLst/>
            <a:gdLst/>
            <a:ahLst/>
            <a:cxnLst/>
            <a:rect l="l" t="t" r="r" b="b"/>
            <a:pathLst>
              <a:path w="406400" h="406400">
                <a:moveTo>
                  <a:pt x="203200" y="406400"/>
                </a:moveTo>
                <a:cubicBezTo>
                  <a:pt x="315349" y="406400"/>
                  <a:pt x="406400" y="315349"/>
                  <a:pt x="406400" y="203200"/>
                </a:cubicBezTo>
                <a:cubicBezTo>
                  <a:pt x="406400" y="91051"/>
                  <a:pt x="315349" y="0"/>
                  <a:pt x="203200" y="0"/>
                </a:cubicBezTo>
                <a:cubicBezTo>
                  <a:pt x="91051" y="0"/>
                  <a:pt x="0" y="91051"/>
                  <a:pt x="0" y="203200"/>
                </a:cubicBezTo>
                <a:cubicBezTo>
                  <a:pt x="0" y="315349"/>
                  <a:pt x="91051" y="406400"/>
                  <a:pt x="203200" y="406400"/>
                </a:cubicBezTo>
                <a:close/>
                <a:moveTo>
                  <a:pt x="270193" y="168831"/>
                </a:moveTo>
                <a:lnTo>
                  <a:pt x="206692" y="270431"/>
                </a:lnTo>
                <a:cubicBezTo>
                  <a:pt x="203359" y="275749"/>
                  <a:pt x="197644" y="279083"/>
                  <a:pt x="191373" y="279400"/>
                </a:cubicBezTo>
                <a:cubicBezTo>
                  <a:pt x="185102" y="279718"/>
                  <a:pt x="179070" y="276860"/>
                  <a:pt x="175339" y="271780"/>
                </a:cubicBezTo>
                <a:lnTo>
                  <a:pt x="137239" y="220980"/>
                </a:lnTo>
                <a:cubicBezTo>
                  <a:pt x="130889" y="212566"/>
                  <a:pt x="132636" y="200660"/>
                  <a:pt x="141049" y="194310"/>
                </a:cubicBezTo>
                <a:cubicBezTo>
                  <a:pt x="149463" y="187960"/>
                  <a:pt x="161369" y="189706"/>
                  <a:pt x="167719" y="198120"/>
                </a:cubicBezTo>
                <a:lnTo>
                  <a:pt x="189151" y="226695"/>
                </a:lnTo>
                <a:lnTo>
                  <a:pt x="237887" y="148669"/>
                </a:lnTo>
                <a:cubicBezTo>
                  <a:pt x="243443" y="139779"/>
                  <a:pt x="255191" y="137001"/>
                  <a:pt x="264160" y="142637"/>
                </a:cubicBezTo>
                <a:cubicBezTo>
                  <a:pt x="273129" y="148273"/>
                  <a:pt x="275828" y="159941"/>
                  <a:pt x="270193" y="168910"/>
                </a:cubicBezTo>
                <a:close/>
              </a:path>
            </a:pathLst>
          </a:custGeom>
          <a:solidFill>
            <a:srgbClr val="27AE60"/>
          </a:solidFill>
          <a:ln/>
        </p:spPr>
      </p:sp>
      <p:sp>
        <p:nvSpPr>
          <p:cNvPr id="14" name="Shape 12"/>
          <p:cNvSpPr/>
          <p:nvPr/>
        </p:nvSpPr>
        <p:spPr>
          <a:xfrm>
            <a:off x="13335000" y="3302000"/>
            <a:ext cx="406400" cy="406400"/>
          </a:xfrm>
          <a:custGeom>
            <a:avLst/>
            <a:gdLst/>
            <a:ahLst/>
            <a:cxnLst/>
            <a:rect l="l" t="t" r="r" b="b"/>
            <a:pathLst>
              <a:path w="406400" h="406400">
                <a:moveTo>
                  <a:pt x="203200" y="406400"/>
                </a:moveTo>
                <a:cubicBezTo>
                  <a:pt x="315349" y="406400"/>
                  <a:pt x="406400" y="315349"/>
                  <a:pt x="406400" y="203200"/>
                </a:cubicBezTo>
                <a:cubicBezTo>
                  <a:pt x="406400" y="91051"/>
                  <a:pt x="315349" y="0"/>
                  <a:pt x="203200" y="0"/>
                </a:cubicBezTo>
                <a:cubicBezTo>
                  <a:pt x="91051" y="0"/>
                  <a:pt x="0" y="91051"/>
                  <a:pt x="0" y="203200"/>
                </a:cubicBezTo>
                <a:cubicBezTo>
                  <a:pt x="0" y="315349"/>
                  <a:pt x="91051" y="406400"/>
                  <a:pt x="203200" y="406400"/>
                </a:cubicBezTo>
                <a:close/>
                <a:moveTo>
                  <a:pt x="132556" y="132556"/>
                </a:moveTo>
                <a:cubicBezTo>
                  <a:pt x="140018" y="125095"/>
                  <a:pt x="152083" y="125095"/>
                  <a:pt x="159464" y="132556"/>
                </a:cubicBezTo>
                <a:lnTo>
                  <a:pt x="203121" y="176213"/>
                </a:lnTo>
                <a:lnTo>
                  <a:pt x="246777" y="132556"/>
                </a:lnTo>
                <a:cubicBezTo>
                  <a:pt x="254238" y="125095"/>
                  <a:pt x="266303" y="125095"/>
                  <a:pt x="273685" y="132556"/>
                </a:cubicBezTo>
                <a:cubicBezTo>
                  <a:pt x="281067" y="140018"/>
                  <a:pt x="281146" y="152083"/>
                  <a:pt x="273685" y="159464"/>
                </a:cubicBezTo>
                <a:lnTo>
                  <a:pt x="230029" y="203121"/>
                </a:lnTo>
                <a:lnTo>
                  <a:pt x="273685" y="246777"/>
                </a:lnTo>
                <a:cubicBezTo>
                  <a:pt x="281146" y="254238"/>
                  <a:pt x="281146" y="266303"/>
                  <a:pt x="273685" y="273685"/>
                </a:cubicBezTo>
                <a:cubicBezTo>
                  <a:pt x="266224" y="281067"/>
                  <a:pt x="254159" y="281146"/>
                  <a:pt x="246777" y="273685"/>
                </a:cubicBezTo>
                <a:lnTo>
                  <a:pt x="203121" y="230029"/>
                </a:lnTo>
                <a:lnTo>
                  <a:pt x="159464" y="273685"/>
                </a:lnTo>
                <a:cubicBezTo>
                  <a:pt x="152003" y="281146"/>
                  <a:pt x="139938" y="281146"/>
                  <a:pt x="132556" y="273685"/>
                </a:cubicBezTo>
                <a:cubicBezTo>
                  <a:pt x="125174" y="266224"/>
                  <a:pt x="125095" y="254159"/>
                  <a:pt x="132556" y="246777"/>
                </a:cubicBezTo>
                <a:lnTo>
                  <a:pt x="176212" y="203121"/>
                </a:lnTo>
                <a:lnTo>
                  <a:pt x="132556" y="159464"/>
                </a:lnTo>
                <a:cubicBezTo>
                  <a:pt x="125095" y="152003"/>
                  <a:pt x="125095" y="139938"/>
                  <a:pt x="132556" y="132556"/>
                </a:cubicBezTo>
                <a:close/>
              </a:path>
            </a:pathLst>
          </a:custGeom>
          <a:solidFill>
            <a:srgbClr val="C0392B"/>
          </a:solidFill>
          <a:ln/>
        </p:spPr>
      </p:sp>
      <p:sp>
        <p:nvSpPr>
          <p:cNvPr id="15" name="Text 13"/>
          <p:cNvSpPr/>
          <p:nvPr/>
        </p:nvSpPr>
        <p:spPr>
          <a:xfrm>
            <a:off x="9271000" y="3810000"/>
            <a:ext cx="5842000" cy="762000"/>
          </a:xfrm>
          <a:prstGeom prst="rect">
            <a:avLst/>
          </a:prstGeom>
          <a:noFill/>
          <a:ln/>
        </p:spPr>
        <p:txBody>
          <a:bodyPr wrap="square" lIns="0" tIns="0" rIns="0" bIns="0" rtlCol="0" anchor="t"/>
          <a:lstStyle/>
          <a:p>
            <a:pPr algn="ctr">
              <a:lnSpc>
                <a:spcPct val="140000"/>
              </a:lnSpc>
            </a:pPr>
            <a:r>
              <a:rPr lang="en-US" sz="1300" dirty="0">
                <a:solidFill>
                  <a:srgbClr val="2C2C2C"/>
                </a:solidFill>
                <a:latin typeface="Quattrocento Sans" pitchFamily="34" charset="0"/>
                <a:ea typeface="Quattrocento Sans" pitchFamily="34" charset="-122"/>
                <a:cs typeface="Quattrocento Sans" pitchFamily="34" charset="-120"/>
              </a:rPr>
              <a:t>Inconsistent data means no one knows</a:t>
            </a:r>
            <a:endParaRPr lang="en-US" sz="1600" dirty="0"/>
          </a:p>
          <a:p>
            <a:pPr algn="ctr">
              <a:lnSpc>
                <a:spcPct val="140000"/>
              </a:lnSpc>
            </a:pPr>
            <a:r>
              <a:rPr lang="en-US" sz="1300" dirty="0">
                <a:solidFill>
                  <a:srgbClr val="2C2C2C"/>
                </a:solidFill>
                <a:latin typeface="Quattrocento Sans" pitchFamily="34" charset="0"/>
                <a:ea typeface="Quattrocento Sans" pitchFamily="34" charset="-122"/>
                <a:cs typeface="Quattrocento Sans" pitchFamily="34" charset="-120"/>
              </a:rPr>
              <a:t>which version to trust</a:t>
            </a:r>
            <a:endParaRPr lang="en-US" sz="1600" dirty="0"/>
          </a:p>
        </p:txBody>
      </p:sp>
      <p:sp>
        <p:nvSpPr>
          <p:cNvPr id="16" name="Shape 14"/>
          <p:cNvSpPr/>
          <p:nvPr/>
        </p:nvSpPr>
        <p:spPr>
          <a:xfrm>
            <a:off x="762000" y="5080000"/>
            <a:ext cx="14732000" cy="1016000"/>
          </a:xfrm>
          <a:prstGeom prst="roundRect">
            <a:avLst>
              <a:gd name="adj" fmla="val 6000"/>
            </a:avLst>
          </a:prstGeom>
          <a:solidFill>
            <a:srgbClr val="E8E2DA"/>
          </a:solidFill>
          <a:ln/>
        </p:spPr>
      </p:sp>
      <p:sp>
        <p:nvSpPr>
          <p:cNvPr id="17" name="Shape 15"/>
          <p:cNvSpPr/>
          <p:nvPr/>
        </p:nvSpPr>
        <p:spPr>
          <a:xfrm>
            <a:off x="1060450" y="5308600"/>
            <a:ext cx="266700" cy="355600"/>
          </a:xfrm>
          <a:custGeom>
            <a:avLst/>
            <a:gdLst/>
            <a:ahLst/>
            <a:cxnLst/>
            <a:rect l="l" t="t" r="r" b="b"/>
            <a:pathLst>
              <a:path w="266700" h="355600">
                <a:moveTo>
                  <a:pt x="203428" y="266700"/>
                </a:moveTo>
                <a:cubicBezTo>
                  <a:pt x="208498" y="251212"/>
                  <a:pt x="218638" y="237182"/>
                  <a:pt x="230098" y="225098"/>
                </a:cubicBezTo>
                <a:cubicBezTo>
                  <a:pt x="252809" y="201206"/>
                  <a:pt x="266700" y="168910"/>
                  <a:pt x="266700" y="133350"/>
                </a:cubicBezTo>
                <a:cubicBezTo>
                  <a:pt x="266700" y="59730"/>
                  <a:pt x="206970" y="0"/>
                  <a:pt x="133350" y="0"/>
                </a:cubicBezTo>
                <a:cubicBezTo>
                  <a:pt x="59730" y="0"/>
                  <a:pt x="0" y="59730"/>
                  <a:pt x="0" y="133350"/>
                </a:cubicBezTo>
                <a:cubicBezTo>
                  <a:pt x="0" y="168910"/>
                  <a:pt x="13891" y="201206"/>
                  <a:pt x="36602" y="225098"/>
                </a:cubicBezTo>
                <a:cubicBezTo>
                  <a:pt x="48062" y="237182"/>
                  <a:pt x="58271" y="251212"/>
                  <a:pt x="63272" y="266700"/>
                </a:cubicBezTo>
                <a:lnTo>
                  <a:pt x="203359" y="266700"/>
                </a:lnTo>
                <a:close/>
                <a:moveTo>
                  <a:pt x="200025" y="300038"/>
                </a:moveTo>
                <a:lnTo>
                  <a:pt x="66675" y="300038"/>
                </a:lnTo>
                <a:lnTo>
                  <a:pt x="66675" y="311150"/>
                </a:lnTo>
                <a:cubicBezTo>
                  <a:pt x="66675" y="341848"/>
                  <a:pt x="91539" y="366712"/>
                  <a:pt x="122238" y="366712"/>
                </a:cubicBezTo>
                <a:lnTo>
                  <a:pt x="144463" y="366712"/>
                </a:lnTo>
                <a:cubicBezTo>
                  <a:pt x="175161" y="366712"/>
                  <a:pt x="200025" y="341848"/>
                  <a:pt x="200025" y="311150"/>
                </a:cubicBezTo>
                <a:lnTo>
                  <a:pt x="200025" y="300038"/>
                </a:lnTo>
                <a:close/>
                <a:moveTo>
                  <a:pt x="127794" y="77788"/>
                </a:moveTo>
                <a:cubicBezTo>
                  <a:pt x="100151" y="77788"/>
                  <a:pt x="77788" y="100151"/>
                  <a:pt x="77788" y="127794"/>
                </a:cubicBezTo>
                <a:cubicBezTo>
                  <a:pt x="77788" y="137031"/>
                  <a:pt x="70356" y="144463"/>
                  <a:pt x="61119" y="144463"/>
                </a:cubicBezTo>
                <a:cubicBezTo>
                  <a:pt x="51881" y="144463"/>
                  <a:pt x="44450" y="137031"/>
                  <a:pt x="44450" y="127794"/>
                </a:cubicBezTo>
                <a:cubicBezTo>
                  <a:pt x="44450" y="81746"/>
                  <a:pt x="81746" y="44450"/>
                  <a:pt x="127794" y="44450"/>
                </a:cubicBezTo>
                <a:cubicBezTo>
                  <a:pt x="137031" y="44450"/>
                  <a:pt x="144463" y="51881"/>
                  <a:pt x="144463" y="61119"/>
                </a:cubicBezTo>
                <a:cubicBezTo>
                  <a:pt x="144463" y="70356"/>
                  <a:pt x="137031" y="77788"/>
                  <a:pt x="127794" y="77788"/>
                </a:cubicBezTo>
                <a:close/>
              </a:path>
            </a:pathLst>
          </a:custGeom>
          <a:solidFill>
            <a:srgbClr val="D4943A"/>
          </a:solidFill>
          <a:ln/>
        </p:spPr>
      </p:sp>
      <p:sp>
        <p:nvSpPr>
          <p:cNvPr id="18" name="Text 16"/>
          <p:cNvSpPr/>
          <p:nvPr/>
        </p:nvSpPr>
        <p:spPr>
          <a:xfrm>
            <a:off x="1498600" y="5143500"/>
            <a:ext cx="2540000" cy="304800"/>
          </a:xfrm>
          <a:prstGeom prst="rect">
            <a:avLst/>
          </a:prstGeom>
          <a:noFill/>
          <a:ln/>
        </p:spPr>
        <p:txBody>
          <a:bodyPr wrap="none" lIns="0" tIns="0" rIns="0" bIns="0" rtlCol="0" anchor="ctr"/>
          <a:lstStyle/>
          <a:p>
            <a:pPr>
              <a:lnSpc>
                <a:spcPct val="100000"/>
              </a:lnSpc>
            </a:pPr>
            <a:r>
              <a:rPr lang="en-US" sz="1400" b="1" dirty="0">
                <a:solidFill>
                  <a:srgbClr val="2D5A4C"/>
                </a:solidFill>
                <a:latin typeface="Liter" pitchFamily="34" charset="0"/>
                <a:ea typeface="Liter" pitchFamily="34" charset="-122"/>
                <a:cs typeface="Liter" pitchFamily="34" charset="-120"/>
              </a:rPr>
              <a:t>EXPLANATION</a:t>
            </a:r>
            <a:endParaRPr lang="en-US" sz="1600" dirty="0"/>
          </a:p>
        </p:txBody>
      </p:sp>
      <p:sp>
        <p:nvSpPr>
          <p:cNvPr id="19" name="Text 17"/>
          <p:cNvSpPr/>
          <p:nvPr/>
        </p:nvSpPr>
        <p:spPr>
          <a:xfrm>
            <a:off x="1498600" y="5486400"/>
            <a:ext cx="13716000" cy="6096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Inconsistency is the direct result of redundancy. When the same data exists in multiple files, updates are easily missed. This creates a situation where no one knows which data to trust.</a:t>
            </a:r>
            <a:endParaRPr lang="en-US" sz="1600" dirty="0"/>
          </a:p>
        </p:txBody>
      </p:sp>
      <p:sp>
        <p:nvSpPr>
          <p:cNvPr id="20" name="Shape 18"/>
          <p:cNvSpPr/>
          <p:nvPr/>
        </p:nvSpPr>
        <p:spPr>
          <a:xfrm>
            <a:off x="762000" y="6350000"/>
            <a:ext cx="14732000" cy="1270000"/>
          </a:xfrm>
          <a:prstGeom prst="roundRect">
            <a:avLst>
              <a:gd name="adj" fmla="val 6000"/>
            </a:avLst>
          </a:prstGeom>
          <a:solidFill>
            <a:srgbClr val="D4943A">
              <a:alpha val="8235"/>
            </a:srgbClr>
          </a:solidFill>
          <a:ln/>
        </p:spPr>
      </p:sp>
      <p:sp>
        <p:nvSpPr>
          <p:cNvPr id="21" name="Shape 19"/>
          <p:cNvSpPr/>
          <p:nvPr/>
        </p:nvSpPr>
        <p:spPr>
          <a:xfrm>
            <a:off x="1016000" y="6477000"/>
            <a:ext cx="304800" cy="304800"/>
          </a:xfrm>
          <a:custGeom>
            <a:avLst/>
            <a:gdLst/>
            <a:ahLst/>
            <a:cxnLst/>
            <a:rect l="l" t="t" r="r" b="b"/>
            <a:pathLst>
              <a:path w="304800" h="304800">
                <a:moveTo>
                  <a:pt x="209490" y="166688"/>
                </a:moveTo>
                <a:lnTo>
                  <a:pt x="95845" y="166688"/>
                </a:lnTo>
                <a:cubicBezTo>
                  <a:pt x="97572" y="205085"/>
                  <a:pt x="106085" y="240447"/>
                  <a:pt x="118170" y="266343"/>
                </a:cubicBezTo>
                <a:cubicBezTo>
                  <a:pt x="124956" y="280928"/>
                  <a:pt x="132278" y="291227"/>
                  <a:pt x="139065" y="297537"/>
                </a:cubicBezTo>
                <a:cubicBezTo>
                  <a:pt x="145733" y="303788"/>
                  <a:pt x="150316" y="304800"/>
                  <a:pt x="152698" y="304800"/>
                </a:cubicBezTo>
                <a:cubicBezTo>
                  <a:pt x="155079" y="304800"/>
                  <a:pt x="159663" y="303788"/>
                  <a:pt x="166330" y="297537"/>
                </a:cubicBezTo>
                <a:cubicBezTo>
                  <a:pt x="173117" y="291227"/>
                  <a:pt x="180439" y="280868"/>
                  <a:pt x="187226" y="266343"/>
                </a:cubicBezTo>
                <a:cubicBezTo>
                  <a:pt x="199311" y="240447"/>
                  <a:pt x="207824" y="205085"/>
                  <a:pt x="209550" y="166688"/>
                </a:cubicBezTo>
                <a:close/>
                <a:moveTo>
                  <a:pt x="95786" y="138113"/>
                </a:moveTo>
                <a:lnTo>
                  <a:pt x="209431" y="138113"/>
                </a:lnTo>
                <a:cubicBezTo>
                  <a:pt x="207764" y="99715"/>
                  <a:pt x="199251" y="64353"/>
                  <a:pt x="187166" y="38457"/>
                </a:cubicBezTo>
                <a:cubicBezTo>
                  <a:pt x="180380" y="23932"/>
                  <a:pt x="173057" y="13573"/>
                  <a:pt x="166271" y="7263"/>
                </a:cubicBezTo>
                <a:cubicBezTo>
                  <a:pt x="159603" y="1012"/>
                  <a:pt x="155019" y="0"/>
                  <a:pt x="152638" y="0"/>
                </a:cubicBezTo>
                <a:cubicBezTo>
                  <a:pt x="150257" y="0"/>
                  <a:pt x="145673" y="1012"/>
                  <a:pt x="139005" y="7263"/>
                </a:cubicBezTo>
                <a:cubicBezTo>
                  <a:pt x="132219" y="13573"/>
                  <a:pt x="124897" y="23932"/>
                  <a:pt x="118110" y="38457"/>
                </a:cubicBezTo>
                <a:cubicBezTo>
                  <a:pt x="106025" y="64353"/>
                  <a:pt x="97512" y="99715"/>
                  <a:pt x="95786" y="138113"/>
                </a:cubicBezTo>
                <a:close/>
                <a:moveTo>
                  <a:pt x="67211" y="138113"/>
                </a:moveTo>
                <a:cubicBezTo>
                  <a:pt x="69294" y="87154"/>
                  <a:pt x="82451" y="39826"/>
                  <a:pt x="101679" y="8751"/>
                </a:cubicBezTo>
                <a:cubicBezTo>
                  <a:pt x="46851" y="28158"/>
                  <a:pt x="6489" y="78105"/>
                  <a:pt x="893" y="138113"/>
                </a:cubicBezTo>
                <a:lnTo>
                  <a:pt x="67211" y="138113"/>
                </a:lnTo>
                <a:close/>
                <a:moveTo>
                  <a:pt x="893" y="166688"/>
                </a:moveTo>
                <a:cubicBezTo>
                  <a:pt x="6489" y="226695"/>
                  <a:pt x="46851" y="276642"/>
                  <a:pt x="101679" y="296049"/>
                </a:cubicBezTo>
                <a:cubicBezTo>
                  <a:pt x="82451" y="264974"/>
                  <a:pt x="69294" y="217646"/>
                  <a:pt x="67211" y="166688"/>
                </a:cubicBezTo>
                <a:lnTo>
                  <a:pt x="893" y="166688"/>
                </a:lnTo>
                <a:close/>
                <a:moveTo>
                  <a:pt x="238065" y="166688"/>
                </a:moveTo>
                <a:cubicBezTo>
                  <a:pt x="235982" y="217646"/>
                  <a:pt x="222825" y="264974"/>
                  <a:pt x="203597" y="296049"/>
                </a:cubicBezTo>
                <a:cubicBezTo>
                  <a:pt x="258425" y="276582"/>
                  <a:pt x="298787" y="226695"/>
                  <a:pt x="304383" y="166688"/>
                </a:cubicBezTo>
                <a:lnTo>
                  <a:pt x="238065" y="166688"/>
                </a:lnTo>
                <a:close/>
                <a:moveTo>
                  <a:pt x="304383" y="138113"/>
                </a:moveTo>
                <a:cubicBezTo>
                  <a:pt x="298787" y="78105"/>
                  <a:pt x="258425" y="28158"/>
                  <a:pt x="203597" y="8751"/>
                </a:cubicBezTo>
                <a:cubicBezTo>
                  <a:pt x="222825" y="39826"/>
                  <a:pt x="235982" y="87154"/>
                  <a:pt x="238065" y="138113"/>
                </a:cubicBezTo>
                <a:lnTo>
                  <a:pt x="304383" y="138113"/>
                </a:lnTo>
                <a:close/>
              </a:path>
            </a:pathLst>
          </a:custGeom>
          <a:solidFill>
            <a:srgbClr val="D4943A"/>
          </a:solidFill>
          <a:ln/>
        </p:spPr>
      </p:sp>
      <p:sp>
        <p:nvSpPr>
          <p:cNvPr id="22" name="Text 20"/>
          <p:cNvSpPr/>
          <p:nvPr/>
        </p:nvSpPr>
        <p:spPr>
          <a:xfrm>
            <a:off x="1422400" y="6438900"/>
            <a:ext cx="3175000" cy="304800"/>
          </a:xfrm>
          <a:prstGeom prst="rect">
            <a:avLst/>
          </a:prstGeom>
          <a:noFill/>
          <a:ln/>
        </p:spPr>
        <p:txBody>
          <a:bodyPr wrap="none" lIns="0" tIns="0" rIns="0" bIns="0" rtlCol="0" anchor="ctr"/>
          <a:lstStyle/>
          <a:p>
            <a:pPr>
              <a:lnSpc>
                <a:spcPct val="100000"/>
              </a:lnSpc>
            </a:pPr>
            <a:r>
              <a:rPr lang="en-US" sz="1400" b="1" dirty="0">
                <a:solidFill>
                  <a:srgbClr val="D4943A"/>
                </a:solidFill>
                <a:latin typeface="Liter" pitchFamily="34" charset="0"/>
                <a:ea typeface="Liter" pitchFamily="34" charset="-122"/>
                <a:cs typeface="Liter" pitchFamily="34" charset="-120"/>
              </a:rPr>
              <a:t>REAL-WORLD EXAMPLE</a:t>
            </a:r>
            <a:endParaRPr lang="en-US" sz="1600" dirty="0"/>
          </a:p>
        </p:txBody>
      </p:sp>
      <p:sp>
        <p:nvSpPr>
          <p:cNvPr id="23" name="Text 21"/>
          <p:cNvSpPr/>
          <p:nvPr/>
        </p:nvSpPr>
        <p:spPr>
          <a:xfrm>
            <a:off x="1016000" y="6832600"/>
            <a:ext cx="14224000" cy="6604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A product's price is updated in the sales file but not in the inventory file. Now the sales team and warehouse team have conflicting information about the same product.</a:t>
            </a:r>
            <a:endParaRPr lang="en-US" sz="1600" dirty="0"/>
          </a:p>
        </p:txBody>
      </p:sp>
      <p:sp>
        <p:nvSpPr>
          <p:cNvPr id="24" name="Shape 22"/>
          <p:cNvSpPr/>
          <p:nvPr/>
        </p:nvSpPr>
        <p:spPr>
          <a:xfrm>
            <a:off x="762000" y="7874000"/>
            <a:ext cx="14732000" cy="635000"/>
          </a:xfrm>
          <a:prstGeom prst="roundRect">
            <a:avLst>
              <a:gd name="adj" fmla="val 6000"/>
            </a:avLst>
          </a:prstGeom>
          <a:solidFill>
            <a:srgbClr val="2D5A4C">
              <a:alpha val="8235"/>
            </a:srgbClr>
          </a:solidFill>
          <a:ln/>
        </p:spPr>
      </p:sp>
      <p:sp>
        <p:nvSpPr>
          <p:cNvPr id="25" name="Shape 23"/>
          <p:cNvSpPr/>
          <p:nvPr/>
        </p:nvSpPr>
        <p:spPr>
          <a:xfrm>
            <a:off x="1016000" y="8026400"/>
            <a:ext cx="254000" cy="254000"/>
          </a:xfrm>
          <a:custGeom>
            <a:avLst/>
            <a:gdLst/>
            <a:ahLst/>
            <a:cxnLst/>
            <a:rect l="l" t="t" r="r" b="b"/>
            <a:pathLst>
              <a:path w="254000" h="254000">
                <a:moveTo>
                  <a:pt x="175071" y="10517"/>
                </a:moveTo>
                <a:lnTo>
                  <a:pt x="152797" y="32792"/>
                </a:lnTo>
                <a:lnTo>
                  <a:pt x="221208" y="101203"/>
                </a:lnTo>
                <a:lnTo>
                  <a:pt x="243483" y="78929"/>
                </a:lnTo>
                <a:cubicBezTo>
                  <a:pt x="250230" y="72231"/>
                  <a:pt x="254000" y="63103"/>
                  <a:pt x="254000" y="53578"/>
                </a:cubicBezTo>
                <a:cubicBezTo>
                  <a:pt x="254000" y="44053"/>
                  <a:pt x="250230" y="34925"/>
                  <a:pt x="243483" y="28228"/>
                </a:cubicBezTo>
                <a:lnTo>
                  <a:pt x="225772" y="10517"/>
                </a:lnTo>
                <a:cubicBezTo>
                  <a:pt x="219075" y="3770"/>
                  <a:pt x="209947" y="0"/>
                  <a:pt x="200422" y="0"/>
                </a:cubicBezTo>
                <a:cubicBezTo>
                  <a:pt x="190897" y="0"/>
                  <a:pt x="181769" y="3770"/>
                  <a:pt x="175071" y="10517"/>
                </a:cubicBezTo>
                <a:close/>
                <a:moveTo>
                  <a:pt x="135979" y="49609"/>
                </a:moveTo>
                <a:lnTo>
                  <a:pt x="29220" y="156319"/>
                </a:lnTo>
                <a:cubicBezTo>
                  <a:pt x="23912" y="161627"/>
                  <a:pt x="20042" y="168275"/>
                  <a:pt x="18008" y="175518"/>
                </a:cubicBezTo>
                <a:lnTo>
                  <a:pt x="446" y="238919"/>
                </a:lnTo>
                <a:cubicBezTo>
                  <a:pt x="-695" y="243036"/>
                  <a:pt x="446" y="247501"/>
                  <a:pt x="3522" y="250527"/>
                </a:cubicBezTo>
                <a:cubicBezTo>
                  <a:pt x="6598" y="253554"/>
                  <a:pt x="11013" y="254744"/>
                  <a:pt x="15131" y="253603"/>
                </a:cubicBezTo>
                <a:lnTo>
                  <a:pt x="78532" y="235992"/>
                </a:lnTo>
                <a:cubicBezTo>
                  <a:pt x="85775" y="233958"/>
                  <a:pt x="92373" y="230138"/>
                  <a:pt x="97730" y="224780"/>
                </a:cubicBezTo>
                <a:lnTo>
                  <a:pt x="204391" y="118021"/>
                </a:lnTo>
                <a:lnTo>
                  <a:pt x="135979" y="49609"/>
                </a:lnTo>
                <a:close/>
              </a:path>
            </a:pathLst>
          </a:custGeom>
          <a:solidFill>
            <a:srgbClr val="2D5A4C"/>
          </a:solidFill>
          <a:ln/>
        </p:spPr>
      </p:sp>
      <p:sp>
        <p:nvSpPr>
          <p:cNvPr id="26" name="Text 24"/>
          <p:cNvSpPr/>
          <p:nvPr/>
        </p:nvSpPr>
        <p:spPr>
          <a:xfrm>
            <a:off x="1371600" y="7937500"/>
            <a:ext cx="13970000" cy="508000"/>
          </a:xfrm>
          <a:prstGeom prst="rect">
            <a:avLst/>
          </a:prstGeom>
          <a:noFill/>
          <a:ln/>
        </p:spPr>
        <p:txBody>
          <a:bodyPr wrap="square" lIns="0" tIns="0" rIns="0" bIns="0" rtlCol="0" anchor="ctr"/>
          <a:lstStyle/>
          <a:p>
            <a:pPr>
              <a:lnSpc>
                <a:spcPct val="140000"/>
              </a:lnSpc>
            </a:pPr>
            <a:r>
              <a:rPr lang="en-US" sz="1400" b="1" dirty="0">
                <a:solidFill>
                  <a:srgbClr val="2D5A4C"/>
                </a:solidFill>
                <a:latin typeface="Quattrocento Sans" pitchFamily="34" charset="0"/>
                <a:ea typeface="Quattrocento Sans" pitchFamily="34" charset="-122"/>
                <a:cs typeface="Quattrocento Sans" pitchFamily="34" charset="-120"/>
              </a:rPr>
              <a:t>Practice:</a:t>
            </a:r>
            <a:pPr>
              <a:lnSpc>
                <a:spcPct val="140000"/>
              </a:lnSpc>
            </a:pPr>
            <a:r>
              <a:rPr lang="en-US" sz="1400" dirty="0">
                <a:solidFill>
                  <a:srgbClr val="2D5A4C"/>
                </a:solidFill>
                <a:latin typeface="Quattrocento Sans" pitchFamily="34" charset="0"/>
                <a:ea typeface="Quattrocento Sans" pitchFamily="34" charset="-122"/>
                <a:cs typeface="Quattrocento Sans" pitchFamily="34" charset="-120"/>
              </a:rPr>
              <a:t> Describe a real situation where having wrong information could cause a serious problem.</a:t>
            </a:r>
            <a:endParaRPr lang="en-US" sz="1600" dirty="0"/>
          </a:p>
        </p:txBody>
      </p:sp>
      <p:sp>
        <p:nvSpPr>
          <p:cNvPr id="27" name="Text 25"/>
          <p:cNvSpPr/>
          <p:nvPr/>
        </p:nvSpPr>
        <p:spPr>
          <a:xfrm>
            <a:off x="13462000" y="8788400"/>
            <a:ext cx="2286000" cy="254000"/>
          </a:xfrm>
          <a:prstGeom prst="rect">
            <a:avLst/>
          </a:prstGeom>
          <a:noFill/>
          <a:ln/>
        </p:spPr>
        <p:txBody>
          <a:bodyPr wrap="none" lIns="0" tIns="0" rIns="0" bIns="0" rtlCol="0" anchor="ctr"/>
          <a:lstStyle/>
          <a:p>
            <a:pPr algn="r">
              <a:lnSpc>
                <a:spcPct val="140000"/>
              </a:lnSpc>
            </a:pPr>
            <a:r>
              <a:rPr lang="en-US" sz="1400" dirty="0">
                <a:solidFill>
                  <a:srgbClr val="8B7355"/>
                </a:solidFill>
                <a:latin typeface="QuattrocentoSans" pitchFamily="34" charset="0"/>
                <a:ea typeface="QuattrocentoSans" pitchFamily="34" charset="-122"/>
                <a:cs typeface="QuattrocentoSans" pitchFamily="34" charset="-120"/>
              </a:rPr>
              <a:t>Database vs File System</a:t>
            </a:r>
            <a:endParaRPr lang="en-US" sz="14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D4943A"/>
          </a:solidFill>
          <a:ln/>
        </p:spPr>
      </p:sp>
      <p:sp>
        <p:nvSpPr>
          <p:cNvPr id="3" name="Text 1"/>
          <p:cNvSpPr/>
          <p:nvPr/>
        </p:nvSpPr>
        <p:spPr>
          <a:xfrm>
            <a:off x="762000" y="381000"/>
            <a:ext cx="11430000" cy="508000"/>
          </a:xfrm>
          <a:prstGeom prst="rect">
            <a:avLst/>
          </a:prstGeom>
          <a:noFill/>
          <a:ln/>
        </p:spPr>
        <p:txBody>
          <a:bodyPr wrap="none" lIns="0" tIns="0" rIns="0" bIns="0" rtlCol="0" anchor="ctr"/>
          <a:lstStyle/>
          <a:p>
            <a:pPr>
              <a:lnSpc>
                <a:spcPct val="130000"/>
              </a:lnSpc>
            </a:pPr>
            <a:r>
              <a:rPr lang="en-US" sz="2800" dirty="0">
                <a:solidFill>
                  <a:srgbClr val="2D5A4C"/>
                </a:solidFill>
                <a:latin typeface="Liter" pitchFamily="34" charset="0"/>
                <a:ea typeface="Liter" pitchFamily="34" charset="-122"/>
                <a:cs typeface="Liter" pitchFamily="34" charset="-120"/>
              </a:rPr>
              <a:t>Searching and Updating Difficulties</a:t>
            </a:r>
            <a:endParaRPr lang="en-US" sz="2800" dirty="0"/>
          </a:p>
        </p:txBody>
      </p:sp>
      <p:sp>
        <p:nvSpPr>
          <p:cNvPr id="4" name="Text 2"/>
          <p:cNvSpPr/>
          <p:nvPr/>
        </p:nvSpPr>
        <p:spPr>
          <a:xfrm>
            <a:off x="762000" y="1143000"/>
            <a:ext cx="7620000" cy="3683000"/>
          </a:xfrm>
          <a:prstGeom prst="rect">
            <a:avLst/>
          </a:prstGeom>
          <a:noFill/>
          <a:ln/>
        </p:spPr>
        <p:txBody>
          <a:bodyPr wrap="square" lIns="0" tIns="0" rIns="0" bIns="0" rtlCol="0" anchor="t"/>
          <a:lstStyle/>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Finding info in files requires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opening and reading each file manually</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No standard way to search across multiple files quickly</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Updating data in one file does not automatically update related data</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Creating reports combining data from multiple files is complex</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Multiple users cannot easily access the same file simultaneously</a:t>
            </a:r>
            <a:endParaRPr lang="en-US" sz="2000" dirty="0"/>
          </a:p>
        </p:txBody>
      </p:sp>
      <p:sp>
        <p:nvSpPr>
          <p:cNvPr id="5" name="Shape 3"/>
          <p:cNvSpPr/>
          <p:nvPr/>
        </p:nvSpPr>
        <p:spPr>
          <a:xfrm>
            <a:off x="8890000" y="1016000"/>
            <a:ext cx="6604000" cy="3810000"/>
          </a:xfrm>
          <a:prstGeom prst="roundRect">
            <a:avLst>
              <a:gd name="adj" fmla="val 8000"/>
            </a:avLst>
          </a:prstGeom>
          <a:solidFill>
            <a:srgbClr val="2D5A4C">
              <a:alpha val="8235"/>
            </a:srgbClr>
          </a:solidFill>
          <a:ln/>
        </p:spPr>
      </p:sp>
      <p:sp>
        <p:nvSpPr>
          <p:cNvPr id="6" name="Text 4"/>
          <p:cNvSpPr/>
          <p:nvPr/>
        </p:nvSpPr>
        <p:spPr>
          <a:xfrm>
            <a:off x="8890000" y="1117600"/>
            <a:ext cx="6604000" cy="355600"/>
          </a:xfrm>
          <a:prstGeom prst="rect">
            <a:avLst/>
          </a:prstGeom>
          <a:noFill/>
          <a:ln/>
        </p:spPr>
        <p:txBody>
          <a:bodyPr wrap="none" lIns="0" tIns="0" rIns="0" bIns="0" rtlCol="0" anchor="ctr"/>
          <a:lstStyle/>
          <a:p>
            <a:pPr algn="ctr">
              <a:lnSpc>
                <a:spcPct val="100000"/>
              </a:lnSpc>
            </a:pPr>
            <a:r>
              <a:rPr lang="en-US" sz="1400" b="1" dirty="0">
                <a:solidFill>
                  <a:srgbClr val="2D5A4C"/>
                </a:solidFill>
                <a:latin typeface="Liter" pitchFamily="34" charset="0"/>
                <a:ea typeface="Liter" pitchFamily="34" charset="-122"/>
                <a:cs typeface="Liter" pitchFamily="34" charset="-120"/>
              </a:rPr>
              <a:t>FILE SEARCH vs DATABASE SEARCH</a:t>
            </a:r>
            <a:endParaRPr lang="en-US" sz="1600" dirty="0"/>
          </a:p>
        </p:txBody>
      </p:sp>
      <p:sp>
        <p:nvSpPr>
          <p:cNvPr id="7" name="Shape 5"/>
          <p:cNvSpPr/>
          <p:nvPr/>
        </p:nvSpPr>
        <p:spPr>
          <a:xfrm>
            <a:off x="9271000" y="1651000"/>
            <a:ext cx="2667000" cy="2540000"/>
          </a:xfrm>
          <a:prstGeom prst="roundRect">
            <a:avLst>
              <a:gd name="adj" fmla="val 6000"/>
            </a:avLst>
          </a:prstGeom>
          <a:solidFill>
            <a:srgbClr val="C0392B">
              <a:alpha val="8235"/>
            </a:srgbClr>
          </a:solidFill>
          <a:ln w="12700">
            <a:solidFill>
              <a:srgbClr val="C0392B"/>
            </a:solidFill>
            <a:prstDash val="solid"/>
          </a:ln>
        </p:spPr>
      </p:sp>
      <p:sp>
        <p:nvSpPr>
          <p:cNvPr id="8" name="Text 6"/>
          <p:cNvSpPr/>
          <p:nvPr/>
        </p:nvSpPr>
        <p:spPr>
          <a:xfrm>
            <a:off x="9271000" y="1714500"/>
            <a:ext cx="2667000" cy="279400"/>
          </a:xfrm>
          <a:prstGeom prst="rect">
            <a:avLst/>
          </a:prstGeom>
          <a:noFill/>
          <a:ln/>
        </p:spPr>
        <p:txBody>
          <a:bodyPr wrap="none" lIns="0" tIns="0" rIns="0" bIns="0" rtlCol="0" anchor="ctr"/>
          <a:lstStyle/>
          <a:p>
            <a:pPr algn="ctr">
              <a:lnSpc>
                <a:spcPct val="100000"/>
              </a:lnSpc>
            </a:pPr>
            <a:r>
              <a:rPr lang="en-US" sz="1300" b="1" dirty="0">
                <a:solidFill>
                  <a:srgbClr val="C0392B"/>
                </a:solidFill>
                <a:latin typeface="Liter" pitchFamily="34" charset="0"/>
                <a:ea typeface="Liter" pitchFamily="34" charset="-122"/>
                <a:cs typeface="Liter" pitchFamily="34" charset="-120"/>
              </a:rPr>
              <a:t>FILE SYSTEM</a:t>
            </a:r>
            <a:endParaRPr lang="en-US" sz="1600" dirty="0"/>
          </a:p>
        </p:txBody>
      </p:sp>
      <p:sp>
        <p:nvSpPr>
          <p:cNvPr id="9" name="Text 7"/>
          <p:cNvSpPr/>
          <p:nvPr/>
        </p:nvSpPr>
        <p:spPr>
          <a:xfrm>
            <a:off x="9398000" y="2057400"/>
            <a:ext cx="2413000" cy="254000"/>
          </a:xfrm>
          <a:prstGeom prst="rect">
            <a:avLst/>
          </a:prstGeom>
          <a:noFill/>
          <a:ln/>
        </p:spPr>
        <p:txBody>
          <a:bodyPr wrap="square" lIns="0" tIns="0" rIns="0" bIns="0" rtlCol="0" anchor="ctr"/>
          <a:lstStyle/>
          <a:p>
            <a:pPr>
              <a:lnSpc>
                <a:spcPct val="100000"/>
              </a:lnSpc>
            </a:pPr>
            <a:r>
              <a:rPr lang="en-US" sz="1100" dirty="0">
                <a:solidFill>
                  <a:srgbClr val="2C2C2C"/>
                </a:solidFill>
                <a:latin typeface="Quattrocento Sans" pitchFamily="34" charset="0"/>
                <a:ea typeface="Quattrocento Sans" pitchFamily="34" charset="-122"/>
                <a:cs typeface="Quattrocento Sans" pitchFamily="34" charset="-120"/>
              </a:rPr>
              <a:t>1. Open File 1</a:t>
            </a:r>
            <a:endParaRPr lang="en-US" sz="1600" dirty="0"/>
          </a:p>
        </p:txBody>
      </p:sp>
      <p:sp>
        <p:nvSpPr>
          <p:cNvPr id="10" name="Text 8"/>
          <p:cNvSpPr/>
          <p:nvPr/>
        </p:nvSpPr>
        <p:spPr>
          <a:xfrm>
            <a:off x="9398000" y="2336800"/>
            <a:ext cx="2413000" cy="254000"/>
          </a:xfrm>
          <a:prstGeom prst="rect">
            <a:avLst/>
          </a:prstGeom>
          <a:noFill/>
          <a:ln/>
        </p:spPr>
        <p:txBody>
          <a:bodyPr wrap="square" lIns="0" tIns="0" rIns="0" bIns="0" rtlCol="0" anchor="ctr"/>
          <a:lstStyle/>
          <a:p>
            <a:pPr>
              <a:lnSpc>
                <a:spcPct val="100000"/>
              </a:lnSpc>
            </a:pPr>
            <a:r>
              <a:rPr lang="en-US" sz="1100" dirty="0">
                <a:solidFill>
                  <a:srgbClr val="2C2C2C"/>
                </a:solidFill>
                <a:latin typeface="Quattrocento Sans" pitchFamily="34" charset="0"/>
                <a:ea typeface="Quattrocento Sans" pitchFamily="34" charset="-122"/>
                <a:cs typeface="Quattrocento Sans" pitchFamily="34" charset="-120"/>
              </a:rPr>
              <a:t>2. Read manually</a:t>
            </a:r>
            <a:endParaRPr lang="en-US" sz="1600" dirty="0"/>
          </a:p>
        </p:txBody>
      </p:sp>
      <p:sp>
        <p:nvSpPr>
          <p:cNvPr id="11" name="Text 9"/>
          <p:cNvSpPr/>
          <p:nvPr/>
        </p:nvSpPr>
        <p:spPr>
          <a:xfrm>
            <a:off x="9398000" y="2616200"/>
            <a:ext cx="2413000" cy="254000"/>
          </a:xfrm>
          <a:prstGeom prst="rect">
            <a:avLst/>
          </a:prstGeom>
          <a:noFill/>
          <a:ln/>
        </p:spPr>
        <p:txBody>
          <a:bodyPr wrap="square" lIns="0" tIns="0" rIns="0" bIns="0" rtlCol="0" anchor="ctr"/>
          <a:lstStyle/>
          <a:p>
            <a:pPr>
              <a:lnSpc>
                <a:spcPct val="100000"/>
              </a:lnSpc>
            </a:pPr>
            <a:r>
              <a:rPr lang="en-US" sz="1100" dirty="0">
                <a:solidFill>
                  <a:srgbClr val="2C2C2C"/>
                </a:solidFill>
                <a:latin typeface="Quattrocento Sans" pitchFamily="34" charset="0"/>
                <a:ea typeface="Quattrocento Sans" pitchFamily="34" charset="-122"/>
                <a:cs typeface="Quattrocento Sans" pitchFamily="34" charset="-120"/>
              </a:rPr>
              <a:t>3. Not found? Next file</a:t>
            </a:r>
            <a:endParaRPr lang="en-US" sz="1600" dirty="0"/>
          </a:p>
        </p:txBody>
      </p:sp>
      <p:sp>
        <p:nvSpPr>
          <p:cNvPr id="12" name="Text 10"/>
          <p:cNvSpPr/>
          <p:nvPr/>
        </p:nvSpPr>
        <p:spPr>
          <a:xfrm>
            <a:off x="9398000" y="2895600"/>
            <a:ext cx="2413000" cy="254000"/>
          </a:xfrm>
          <a:prstGeom prst="rect">
            <a:avLst/>
          </a:prstGeom>
          <a:noFill/>
          <a:ln/>
        </p:spPr>
        <p:txBody>
          <a:bodyPr wrap="square" lIns="0" tIns="0" rIns="0" bIns="0" rtlCol="0" anchor="ctr"/>
          <a:lstStyle/>
          <a:p>
            <a:pPr>
              <a:lnSpc>
                <a:spcPct val="100000"/>
              </a:lnSpc>
            </a:pPr>
            <a:r>
              <a:rPr lang="en-US" sz="1100" dirty="0">
                <a:solidFill>
                  <a:srgbClr val="2C2C2C"/>
                </a:solidFill>
                <a:latin typeface="Quattrocento Sans" pitchFamily="34" charset="0"/>
                <a:ea typeface="Quattrocento Sans" pitchFamily="34" charset="-122"/>
                <a:cs typeface="Quattrocento Sans" pitchFamily="34" charset="-120"/>
              </a:rPr>
              <a:t>4. Repeat for all files</a:t>
            </a:r>
            <a:endParaRPr lang="en-US" sz="1600" dirty="0"/>
          </a:p>
        </p:txBody>
      </p:sp>
      <p:sp>
        <p:nvSpPr>
          <p:cNvPr id="13" name="Text 11"/>
          <p:cNvSpPr/>
          <p:nvPr/>
        </p:nvSpPr>
        <p:spPr>
          <a:xfrm>
            <a:off x="9398000" y="3276600"/>
            <a:ext cx="2413000" cy="762000"/>
          </a:xfrm>
          <a:prstGeom prst="rect">
            <a:avLst/>
          </a:prstGeom>
          <a:noFill/>
          <a:ln/>
        </p:spPr>
        <p:txBody>
          <a:bodyPr wrap="square" lIns="0" tIns="0" rIns="0" bIns="0" rtlCol="0" anchor="t"/>
          <a:lstStyle/>
          <a:p>
            <a:pPr algn="ctr">
              <a:lnSpc>
                <a:spcPct val="130000"/>
              </a:lnSpc>
            </a:pPr>
            <a:r>
              <a:rPr lang="en-US" sz="1200" b="1" dirty="0">
                <a:solidFill>
                  <a:srgbClr val="C0392B"/>
                </a:solidFill>
                <a:latin typeface="Quattrocento Sans" pitchFamily="34" charset="0"/>
                <a:ea typeface="Quattrocento Sans" pitchFamily="34" charset="-122"/>
                <a:cs typeface="Quattrocento Sans" pitchFamily="34" charset="-120"/>
              </a:rPr>
              <a:t>SLOW</a:t>
            </a:r>
            <a:endParaRPr lang="en-US" sz="1600" dirty="0"/>
          </a:p>
          <a:p>
            <a:pPr algn="ctr">
              <a:lnSpc>
                <a:spcPct val="130000"/>
              </a:lnSpc>
            </a:pPr>
            <a:r>
              <a:rPr lang="en-US" sz="1200" dirty="0">
                <a:solidFill>
                  <a:srgbClr val="C0392B"/>
                </a:solidFill>
                <a:latin typeface="Quattrocento Sans" pitchFamily="34" charset="0"/>
                <a:ea typeface="Quattrocento Sans" pitchFamily="34" charset="-122"/>
                <a:cs typeface="Quattrocento Sans" pitchFamily="34" charset="-120"/>
              </a:rPr>
              <a:t>Minutes or hours</a:t>
            </a:r>
            <a:endParaRPr lang="en-US" sz="1600" dirty="0"/>
          </a:p>
        </p:txBody>
      </p:sp>
      <p:sp>
        <p:nvSpPr>
          <p:cNvPr id="14" name="Shape 12"/>
          <p:cNvSpPr/>
          <p:nvPr/>
        </p:nvSpPr>
        <p:spPr>
          <a:xfrm>
            <a:off x="12319000" y="1651000"/>
            <a:ext cx="2667000" cy="2540000"/>
          </a:xfrm>
          <a:prstGeom prst="roundRect">
            <a:avLst>
              <a:gd name="adj" fmla="val 6000"/>
            </a:avLst>
          </a:prstGeom>
          <a:solidFill>
            <a:srgbClr val="27AE60">
              <a:alpha val="8235"/>
            </a:srgbClr>
          </a:solidFill>
          <a:ln w="12700">
            <a:solidFill>
              <a:srgbClr val="27AE60"/>
            </a:solidFill>
            <a:prstDash val="solid"/>
          </a:ln>
        </p:spPr>
      </p:sp>
      <p:sp>
        <p:nvSpPr>
          <p:cNvPr id="15" name="Text 13"/>
          <p:cNvSpPr/>
          <p:nvPr/>
        </p:nvSpPr>
        <p:spPr>
          <a:xfrm>
            <a:off x="12319000" y="1714500"/>
            <a:ext cx="2667000" cy="279400"/>
          </a:xfrm>
          <a:prstGeom prst="rect">
            <a:avLst/>
          </a:prstGeom>
          <a:noFill/>
          <a:ln/>
        </p:spPr>
        <p:txBody>
          <a:bodyPr wrap="none" lIns="0" tIns="0" rIns="0" bIns="0" rtlCol="0" anchor="ctr"/>
          <a:lstStyle/>
          <a:p>
            <a:pPr algn="ctr">
              <a:lnSpc>
                <a:spcPct val="100000"/>
              </a:lnSpc>
            </a:pPr>
            <a:r>
              <a:rPr lang="en-US" sz="1300" b="1" dirty="0">
                <a:solidFill>
                  <a:srgbClr val="27AE60"/>
                </a:solidFill>
                <a:latin typeface="Liter" pitchFamily="34" charset="0"/>
                <a:ea typeface="Liter" pitchFamily="34" charset="-122"/>
                <a:cs typeface="Liter" pitchFamily="34" charset="-120"/>
              </a:rPr>
              <a:t>DATABASE</a:t>
            </a:r>
            <a:endParaRPr lang="en-US" sz="1600" dirty="0"/>
          </a:p>
        </p:txBody>
      </p:sp>
      <p:sp>
        <p:nvSpPr>
          <p:cNvPr id="16" name="Text 14"/>
          <p:cNvSpPr/>
          <p:nvPr/>
        </p:nvSpPr>
        <p:spPr>
          <a:xfrm>
            <a:off x="12446000" y="2057400"/>
            <a:ext cx="2413000" cy="254000"/>
          </a:xfrm>
          <a:prstGeom prst="rect">
            <a:avLst/>
          </a:prstGeom>
          <a:noFill/>
          <a:ln/>
        </p:spPr>
        <p:txBody>
          <a:bodyPr wrap="square" lIns="0" tIns="0" rIns="0" bIns="0" rtlCol="0" anchor="ctr"/>
          <a:lstStyle/>
          <a:p>
            <a:pPr>
              <a:lnSpc>
                <a:spcPct val="100000"/>
              </a:lnSpc>
            </a:pPr>
            <a:r>
              <a:rPr lang="en-US" sz="1100" dirty="0">
                <a:solidFill>
                  <a:srgbClr val="2C2C2C"/>
                </a:solidFill>
                <a:latin typeface="Quattrocento Sans" pitchFamily="34" charset="0"/>
                <a:ea typeface="Quattrocento Sans" pitchFamily="34" charset="-122"/>
                <a:cs typeface="Quattrocento Sans" pitchFamily="34" charset="-120"/>
              </a:rPr>
              <a:t>1. Type search query</a:t>
            </a:r>
            <a:endParaRPr lang="en-US" sz="1600" dirty="0"/>
          </a:p>
        </p:txBody>
      </p:sp>
      <p:sp>
        <p:nvSpPr>
          <p:cNvPr id="17" name="Text 15"/>
          <p:cNvSpPr/>
          <p:nvPr/>
        </p:nvSpPr>
        <p:spPr>
          <a:xfrm>
            <a:off x="12446000" y="2336800"/>
            <a:ext cx="2413000" cy="254000"/>
          </a:xfrm>
          <a:prstGeom prst="rect">
            <a:avLst/>
          </a:prstGeom>
          <a:noFill/>
          <a:ln/>
        </p:spPr>
        <p:txBody>
          <a:bodyPr wrap="square" lIns="0" tIns="0" rIns="0" bIns="0" rtlCol="0" anchor="ctr"/>
          <a:lstStyle/>
          <a:p>
            <a:pPr>
              <a:lnSpc>
                <a:spcPct val="100000"/>
              </a:lnSpc>
            </a:pPr>
            <a:r>
              <a:rPr lang="en-US" sz="1100" dirty="0">
                <a:solidFill>
                  <a:srgbClr val="2C2C2C"/>
                </a:solidFill>
                <a:latin typeface="Quattrocento Sans" pitchFamily="34" charset="0"/>
                <a:ea typeface="Quattrocento Sans" pitchFamily="34" charset="-122"/>
                <a:cs typeface="Quattrocento Sans" pitchFamily="34" charset="-120"/>
              </a:rPr>
              <a:t>2. Database searches all</a:t>
            </a:r>
            <a:endParaRPr lang="en-US" sz="1600" dirty="0"/>
          </a:p>
        </p:txBody>
      </p:sp>
      <p:sp>
        <p:nvSpPr>
          <p:cNvPr id="18" name="Text 16"/>
          <p:cNvSpPr/>
          <p:nvPr/>
        </p:nvSpPr>
        <p:spPr>
          <a:xfrm>
            <a:off x="12446000" y="2616200"/>
            <a:ext cx="2413000" cy="254000"/>
          </a:xfrm>
          <a:prstGeom prst="rect">
            <a:avLst/>
          </a:prstGeom>
          <a:noFill/>
          <a:ln/>
        </p:spPr>
        <p:txBody>
          <a:bodyPr wrap="square" lIns="0" tIns="0" rIns="0" bIns="0" rtlCol="0" anchor="ctr"/>
          <a:lstStyle/>
          <a:p>
            <a:pPr>
              <a:lnSpc>
                <a:spcPct val="100000"/>
              </a:lnSpc>
            </a:pPr>
            <a:r>
              <a:rPr lang="en-US" sz="1100" dirty="0">
                <a:solidFill>
                  <a:srgbClr val="2C2C2C"/>
                </a:solidFill>
                <a:latin typeface="Quattrocento Sans" pitchFamily="34" charset="0"/>
                <a:ea typeface="Quattrocento Sans" pitchFamily="34" charset="-122"/>
                <a:cs typeface="Quattrocento Sans" pitchFamily="34" charset="-120"/>
              </a:rPr>
              <a:t>3. Results in seconds</a:t>
            </a:r>
            <a:endParaRPr lang="en-US" sz="1600" dirty="0"/>
          </a:p>
        </p:txBody>
      </p:sp>
      <p:sp>
        <p:nvSpPr>
          <p:cNvPr id="19" name="Text 17"/>
          <p:cNvSpPr/>
          <p:nvPr/>
        </p:nvSpPr>
        <p:spPr>
          <a:xfrm>
            <a:off x="12446000" y="2895600"/>
            <a:ext cx="2413000" cy="254000"/>
          </a:xfrm>
          <a:prstGeom prst="rect">
            <a:avLst/>
          </a:prstGeom>
          <a:noFill/>
          <a:ln/>
        </p:spPr>
        <p:txBody>
          <a:bodyPr wrap="square" lIns="0" tIns="0" rIns="0" bIns="0" rtlCol="0" anchor="ctr"/>
          <a:lstStyle/>
          <a:p>
            <a:pPr>
              <a:lnSpc>
                <a:spcPct val="100000"/>
              </a:lnSpc>
            </a:pPr>
            <a:r>
              <a:rPr lang="en-US" sz="1100" dirty="0">
                <a:solidFill>
                  <a:srgbClr val="2C2C2C"/>
                </a:solidFill>
                <a:latin typeface="Quattrocento Sans" pitchFamily="34" charset="0"/>
                <a:ea typeface="Quattrocento Sans" pitchFamily="34" charset="-122"/>
                <a:cs typeface="Quattrocento Sans" pitchFamily="34" charset="-120"/>
              </a:rPr>
              <a:t>4. One query, all data</a:t>
            </a:r>
            <a:endParaRPr lang="en-US" sz="1600" dirty="0"/>
          </a:p>
        </p:txBody>
      </p:sp>
      <p:sp>
        <p:nvSpPr>
          <p:cNvPr id="20" name="Text 18"/>
          <p:cNvSpPr/>
          <p:nvPr/>
        </p:nvSpPr>
        <p:spPr>
          <a:xfrm>
            <a:off x="12446000" y="3276600"/>
            <a:ext cx="2413000" cy="762000"/>
          </a:xfrm>
          <a:prstGeom prst="rect">
            <a:avLst/>
          </a:prstGeom>
          <a:noFill/>
          <a:ln/>
        </p:spPr>
        <p:txBody>
          <a:bodyPr wrap="square" lIns="0" tIns="0" rIns="0" bIns="0" rtlCol="0" anchor="t"/>
          <a:lstStyle/>
          <a:p>
            <a:pPr algn="ctr">
              <a:lnSpc>
                <a:spcPct val="130000"/>
              </a:lnSpc>
            </a:pPr>
            <a:r>
              <a:rPr lang="en-US" sz="1200" b="1" dirty="0">
                <a:solidFill>
                  <a:srgbClr val="27AE60"/>
                </a:solidFill>
                <a:latin typeface="Quattrocento Sans" pitchFamily="34" charset="0"/>
                <a:ea typeface="Quattrocento Sans" pitchFamily="34" charset="-122"/>
                <a:cs typeface="Quattrocento Sans" pitchFamily="34" charset="-120"/>
              </a:rPr>
              <a:t>FAST</a:t>
            </a:r>
            <a:endParaRPr lang="en-US" sz="1600" dirty="0"/>
          </a:p>
          <a:p>
            <a:pPr algn="ctr">
              <a:lnSpc>
                <a:spcPct val="130000"/>
              </a:lnSpc>
            </a:pPr>
            <a:r>
              <a:rPr lang="en-US" sz="1200" dirty="0">
                <a:solidFill>
                  <a:srgbClr val="27AE60"/>
                </a:solidFill>
                <a:latin typeface="Quattrocento Sans" pitchFamily="34" charset="0"/>
                <a:ea typeface="Quattrocento Sans" pitchFamily="34" charset="-122"/>
                <a:cs typeface="Quattrocento Sans" pitchFamily="34" charset="-120"/>
              </a:rPr>
              <a:t>Milliseconds</a:t>
            </a:r>
            <a:endParaRPr lang="en-US" sz="1600" dirty="0"/>
          </a:p>
        </p:txBody>
      </p:sp>
      <p:sp>
        <p:nvSpPr>
          <p:cNvPr id="21" name="Shape 19"/>
          <p:cNvSpPr/>
          <p:nvPr/>
        </p:nvSpPr>
        <p:spPr>
          <a:xfrm>
            <a:off x="762000" y="5080000"/>
            <a:ext cx="14732000" cy="1016000"/>
          </a:xfrm>
          <a:prstGeom prst="roundRect">
            <a:avLst>
              <a:gd name="adj" fmla="val 6000"/>
            </a:avLst>
          </a:prstGeom>
          <a:solidFill>
            <a:srgbClr val="E8E2DA"/>
          </a:solidFill>
          <a:ln/>
        </p:spPr>
      </p:sp>
      <p:sp>
        <p:nvSpPr>
          <p:cNvPr id="22" name="Shape 20"/>
          <p:cNvSpPr/>
          <p:nvPr/>
        </p:nvSpPr>
        <p:spPr>
          <a:xfrm>
            <a:off x="1060450" y="5308600"/>
            <a:ext cx="266700" cy="355600"/>
          </a:xfrm>
          <a:custGeom>
            <a:avLst/>
            <a:gdLst/>
            <a:ahLst/>
            <a:cxnLst/>
            <a:rect l="l" t="t" r="r" b="b"/>
            <a:pathLst>
              <a:path w="266700" h="355600">
                <a:moveTo>
                  <a:pt x="203428" y="266700"/>
                </a:moveTo>
                <a:cubicBezTo>
                  <a:pt x="208498" y="251212"/>
                  <a:pt x="218638" y="237182"/>
                  <a:pt x="230098" y="225098"/>
                </a:cubicBezTo>
                <a:cubicBezTo>
                  <a:pt x="252809" y="201206"/>
                  <a:pt x="266700" y="168910"/>
                  <a:pt x="266700" y="133350"/>
                </a:cubicBezTo>
                <a:cubicBezTo>
                  <a:pt x="266700" y="59730"/>
                  <a:pt x="206970" y="0"/>
                  <a:pt x="133350" y="0"/>
                </a:cubicBezTo>
                <a:cubicBezTo>
                  <a:pt x="59730" y="0"/>
                  <a:pt x="0" y="59730"/>
                  <a:pt x="0" y="133350"/>
                </a:cubicBezTo>
                <a:cubicBezTo>
                  <a:pt x="0" y="168910"/>
                  <a:pt x="13891" y="201206"/>
                  <a:pt x="36602" y="225098"/>
                </a:cubicBezTo>
                <a:cubicBezTo>
                  <a:pt x="48062" y="237182"/>
                  <a:pt x="58271" y="251212"/>
                  <a:pt x="63272" y="266700"/>
                </a:cubicBezTo>
                <a:lnTo>
                  <a:pt x="203359" y="266700"/>
                </a:lnTo>
                <a:close/>
                <a:moveTo>
                  <a:pt x="200025" y="300038"/>
                </a:moveTo>
                <a:lnTo>
                  <a:pt x="66675" y="300038"/>
                </a:lnTo>
                <a:lnTo>
                  <a:pt x="66675" y="311150"/>
                </a:lnTo>
                <a:cubicBezTo>
                  <a:pt x="66675" y="341848"/>
                  <a:pt x="91539" y="366712"/>
                  <a:pt x="122238" y="366712"/>
                </a:cubicBezTo>
                <a:lnTo>
                  <a:pt x="144463" y="366712"/>
                </a:lnTo>
                <a:cubicBezTo>
                  <a:pt x="175161" y="366712"/>
                  <a:pt x="200025" y="341848"/>
                  <a:pt x="200025" y="311150"/>
                </a:cubicBezTo>
                <a:lnTo>
                  <a:pt x="200025" y="300038"/>
                </a:lnTo>
                <a:close/>
                <a:moveTo>
                  <a:pt x="127794" y="77788"/>
                </a:moveTo>
                <a:cubicBezTo>
                  <a:pt x="100151" y="77788"/>
                  <a:pt x="77788" y="100151"/>
                  <a:pt x="77788" y="127794"/>
                </a:cubicBezTo>
                <a:cubicBezTo>
                  <a:pt x="77788" y="137031"/>
                  <a:pt x="70356" y="144463"/>
                  <a:pt x="61119" y="144463"/>
                </a:cubicBezTo>
                <a:cubicBezTo>
                  <a:pt x="51881" y="144463"/>
                  <a:pt x="44450" y="137031"/>
                  <a:pt x="44450" y="127794"/>
                </a:cubicBezTo>
                <a:cubicBezTo>
                  <a:pt x="44450" y="81746"/>
                  <a:pt x="81746" y="44450"/>
                  <a:pt x="127794" y="44450"/>
                </a:cubicBezTo>
                <a:cubicBezTo>
                  <a:pt x="137031" y="44450"/>
                  <a:pt x="144463" y="51881"/>
                  <a:pt x="144463" y="61119"/>
                </a:cubicBezTo>
                <a:cubicBezTo>
                  <a:pt x="144463" y="70356"/>
                  <a:pt x="137031" y="77788"/>
                  <a:pt x="127794" y="77788"/>
                </a:cubicBezTo>
                <a:close/>
              </a:path>
            </a:pathLst>
          </a:custGeom>
          <a:solidFill>
            <a:srgbClr val="D4943A"/>
          </a:solidFill>
          <a:ln/>
        </p:spPr>
      </p:sp>
      <p:sp>
        <p:nvSpPr>
          <p:cNvPr id="23" name="Text 21"/>
          <p:cNvSpPr/>
          <p:nvPr/>
        </p:nvSpPr>
        <p:spPr>
          <a:xfrm>
            <a:off x="1498600" y="5143500"/>
            <a:ext cx="2540000" cy="304800"/>
          </a:xfrm>
          <a:prstGeom prst="rect">
            <a:avLst/>
          </a:prstGeom>
          <a:noFill/>
          <a:ln/>
        </p:spPr>
        <p:txBody>
          <a:bodyPr wrap="none" lIns="0" tIns="0" rIns="0" bIns="0" rtlCol="0" anchor="ctr"/>
          <a:lstStyle/>
          <a:p>
            <a:pPr>
              <a:lnSpc>
                <a:spcPct val="100000"/>
              </a:lnSpc>
            </a:pPr>
            <a:r>
              <a:rPr lang="en-US" sz="1400" b="1" dirty="0">
                <a:solidFill>
                  <a:srgbClr val="2D5A4C"/>
                </a:solidFill>
                <a:latin typeface="Liter" pitchFamily="34" charset="0"/>
                <a:ea typeface="Liter" pitchFamily="34" charset="-122"/>
                <a:cs typeface="Liter" pitchFamily="34" charset="-120"/>
              </a:rPr>
              <a:t>EXPLANATION</a:t>
            </a:r>
            <a:endParaRPr lang="en-US" sz="1600" dirty="0"/>
          </a:p>
        </p:txBody>
      </p:sp>
      <p:sp>
        <p:nvSpPr>
          <p:cNvPr id="24" name="Text 22"/>
          <p:cNvSpPr/>
          <p:nvPr/>
        </p:nvSpPr>
        <p:spPr>
          <a:xfrm>
            <a:off x="1498600" y="5486400"/>
            <a:ext cx="13716000" cy="6096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In a file system, finding all customers in a city means opening hundreds of files. Databases solve this with powerful search tools that find information across the entire system in milliseconds.</a:t>
            </a:r>
            <a:endParaRPr lang="en-US" sz="1600" dirty="0"/>
          </a:p>
        </p:txBody>
      </p:sp>
      <p:sp>
        <p:nvSpPr>
          <p:cNvPr id="25" name="Shape 23"/>
          <p:cNvSpPr/>
          <p:nvPr/>
        </p:nvSpPr>
        <p:spPr>
          <a:xfrm>
            <a:off x="762000" y="6350000"/>
            <a:ext cx="14732000" cy="1270000"/>
          </a:xfrm>
          <a:prstGeom prst="roundRect">
            <a:avLst>
              <a:gd name="adj" fmla="val 6000"/>
            </a:avLst>
          </a:prstGeom>
          <a:solidFill>
            <a:srgbClr val="D4943A">
              <a:alpha val="8235"/>
            </a:srgbClr>
          </a:solidFill>
          <a:ln/>
        </p:spPr>
      </p:sp>
      <p:sp>
        <p:nvSpPr>
          <p:cNvPr id="26" name="Shape 24"/>
          <p:cNvSpPr/>
          <p:nvPr/>
        </p:nvSpPr>
        <p:spPr>
          <a:xfrm>
            <a:off x="1016000" y="6477000"/>
            <a:ext cx="304800" cy="304800"/>
          </a:xfrm>
          <a:custGeom>
            <a:avLst/>
            <a:gdLst/>
            <a:ahLst/>
            <a:cxnLst/>
            <a:rect l="l" t="t" r="r" b="b"/>
            <a:pathLst>
              <a:path w="304800" h="304800">
                <a:moveTo>
                  <a:pt x="209490" y="166688"/>
                </a:moveTo>
                <a:lnTo>
                  <a:pt x="95845" y="166688"/>
                </a:lnTo>
                <a:cubicBezTo>
                  <a:pt x="97572" y="205085"/>
                  <a:pt x="106085" y="240447"/>
                  <a:pt x="118170" y="266343"/>
                </a:cubicBezTo>
                <a:cubicBezTo>
                  <a:pt x="124956" y="280928"/>
                  <a:pt x="132278" y="291227"/>
                  <a:pt x="139065" y="297537"/>
                </a:cubicBezTo>
                <a:cubicBezTo>
                  <a:pt x="145733" y="303788"/>
                  <a:pt x="150316" y="304800"/>
                  <a:pt x="152698" y="304800"/>
                </a:cubicBezTo>
                <a:cubicBezTo>
                  <a:pt x="155079" y="304800"/>
                  <a:pt x="159663" y="303788"/>
                  <a:pt x="166330" y="297537"/>
                </a:cubicBezTo>
                <a:cubicBezTo>
                  <a:pt x="173117" y="291227"/>
                  <a:pt x="180439" y="280868"/>
                  <a:pt x="187226" y="266343"/>
                </a:cubicBezTo>
                <a:cubicBezTo>
                  <a:pt x="199311" y="240447"/>
                  <a:pt x="207824" y="205085"/>
                  <a:pt x="209550" y="166688"/>
                </a:cubicBezTo>
                <a:close/>
                <a:moveTo>
                  <a:pt x="95786" y="138113"/>
                </a:moveTo>
                <a:lnTo>
                  <a:pt x="209431" y="138113"/>
                </a:lnTo>
                <a:cubicBezTo>
                  <a:pt x="207764" y="99715"/>
                  <a:pt x="199251" y="64353"/>
                  <a:pt x="187166" y="38457"/>
                </a:cubicBezTo>
                <a:cubicBezTo>
                  <a:pt x="180380" y="23932"/>
                  <a:pt x="173057" y="13573"/>
                  <a:pt x="166271" y="7263"/>
                </a:cubicBezTo>
                <a:cubicBezTo>
                  <a:pt x="159603" y="1012"/>
                  <a:pt x="155019" y="0"/>
                  <a:pt x="152638" y="0"/>
                </a:cubicBezTo>
                <a:cubicBezTo>
                  <a:pt x="150257" y="0"/>
                  <a:pt x="145673" y="1012"/>
                  <a:pt x="139005" y="7263"/>
                </a:cubicBezTo>
                <a:cubicBezTo>
                  <a:pt x="132219" y="13573"/>
                  <a:pt x="124897" y="23932"/>
                  <a:pt x="118110" y="38457"/>
                </a:cubicBezTo>
                <a:cubicBezTo>
                  <a:pt x="106025" y="64353"/>
                  <a:pt x="97512" y="99715"/>
                  <a:pt x="95786" y="138113"/>
                </a:cubicBezTo>
                <a:close/>
                <a:moveTo>
                  <a:pt x="67211" y="138113"/>
                </a:moveTo>
                <a:cubicBezTo>
                  <a:pt x="69294" y="87154"/>
                  <a:pt x="82451" y="39826"/>
                  <a:pt x="101679" y="8751"/>
                </a:cubicBezTo>
                <a:cubicBezTo>
                  <a:pt x="46851" y="28158"/>
                  <a:pt x="6489" y="78105"/>
                  <a:pt x="893" y="138113"/>
                </a:cubicBezTo>
                <a:lnTo>
                  <a:pt x="67211" y="138113"/>
                </a:lnTo>
                <a:close/>
                <a:moveTo>
                  <a:pt x="893" y="166688"/>
                </a:moveTo>
                <a:cubicBezTo>
                  <a:pt x="6489" y="226695"/>
                  <a:pt x="46851" y="276642"/>
                  <a:pt x="101679" y="296049"/>
                </a:cubicBezTo>
                <a:cubicBezTo>
                  <a:pt x="82451" y="264974"/>
                  <a:pt x="69294" y="217646"/>
                  <a:pt x="67211" y="166688"/>
                </a:cubicBezTo>
                <a:lnTo>
                  <a:pt x="893" y="166688"/>
                </a:lnTo>
                <a:close/>
                <a:moveTo>
                  <a:pt x="238065" y="166688"/>
                </a:moveTo>
                <a:cubicBezTo>
                  <a:pt x="235982" y="217646"/>
                  <a:pt x="222825" y="264974"/>
                  <a:pt x="203597" y="296049"/>
                </a:cubicBezTo>
                <a:cubicBezTo>
                  <a:pt x="258425" y="276582"/>
                  <a:pt x="298787" y="226695"/>
                  <a:pt x="304383" y="166688"/>
                </a:cubicBezTo>
                <a:lnTo>
                  <a:pt x="238065" y="166688"/>
                </a:lnTo>
                <a:close/>
                <a:moveTo>
                  <a:pt x="304383" y="138113"/>
                </a:moveTo>
                <a:cubicBezTo>
                  <a:pt x="298787" y="78105"/>
                  <a:pt x="258425" y="28158"/>
                  <a:pt x="203597" y="8751"/>
                </a:cubicBezTo>
                <a:cubicBezTo>
                  <a:pt x="222825" y="39826"/>
                  <a:pt x="235982" y="87154"/>
                  <a:pt x="238065" y="138113"/>
                </a:cubicBezTo>
                <a:lnTo>
                  <a:pt x="304383" y="138113"/>
                </a:lnTo>
                <a:close/>
              </a:path>
            </a:pathLst>
          </a:custGeom>
          <a:solidFill>
            <a:srgbClr val="D4943A"/>
          </a:solidFill>
          <a:ln/>
        </p:spPr>
      </p:sp>
      <p:sp>
        <p:nvSpPr>
          <p:cNvPr id="27" name="Text 25"/>
          <p:cNvSpPr/>
          <p:nvPr/>
        </p:nvSpPr>
        <p:spPr>
          <a:xfrm>
            <a:off x="1422400" y="6438900"/>
            <a:ext cx="3175000" cy="304800"/>
          </a:xfrm>
          <a:prstGeom prst="rect">
            <a:avLst/>
          </a:prstGeom>
          <a:noFill/>
          <a:ln/>
        </p:spPr>
        <p:txBody>
          <a:bodyPr wrap="none" lIns="0" tIns="0" rIns="0" bIns="0" rtlCol="0" anchor="ctr"/>
          <a:lstStyle/>
          <a:p>
            <a:pPr>
              <a:lnSpc>
                <a:spcPct val="100000"/>
              </a:lnSpc>
            </a:pPr>
            <a:r>
              <a:rPr lang="en-US" sz="1400" b="1" dirty="0">
                <a:solidFill>
                  <a:srgbClr val="D4943A"/>
                </a:solidFill>
                <a:latin typeface="Liter" pitchFamily="34" charset="0"/>
                <a:ea typeface="Liter" pitchFamily="34" charset="-122"/>
                <a:cs typeface="Liter" pitchFamily="34" charset="-120"/>
              </a:rPr>
              <a:t>REAL-WORLD EXAMPLE</a:t>
            </a:r>
            <a:endParaRPr lang="en-US" sz="1600" dirty="0"/>
          </a:p>
        </p:txBody>
      </p:sp>
      <p:sp>
        <p:nvSpPr>
          <p:cNvPr id="28" name="Text 26"/>
          <p:cNvSpPr/>
          <p:nvPr/>
        </p:nvSpPr>
        <p:spPr>
          <a:xfrm>
            <a:off x="1016000" y="6832600"/>
            <a:ext cx="14224000" cy="6604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A library using card catalogs (file system) vs a computerized database — finding a book goes from minutes of manual searching to seconds of typing a title.</a:t>
            </a:r>
            <a:endParaRPr lang="en-US" sz="1600" dirty="0"/>
          </a:p>
        </p:txBody>
      </p:sp>
      <p:sp>
        <p:nvSpPr>
          <p:cNvPr id="29" name="Shape 27"/>
          <p:cNvSpPr/>
          <p:nvPr/>
        </p:nvSpPr>
        <p:spPr>
          <a:xfrm>
            <a:off x="762000" y="7874000"/>
            <a:ext cx="14732000" cy="635000"/>
          </a:xfrm>
          <a:prstGeom prst="roundRect">
            <a:avLst>
              <a:gd name="adj" fmla="val 6000"/>
            </a:avLst>
          </a:prstGeom>
          <a:solidFill>
            <a:srgbClr val="2D5A4C">
              <a:alpha val="8235"/>
            </a:srgbClr>
          </a:solidFill>
          <a:ln/>
        </p:spPr>
      </p:sp>
      <p:sp>
        <p:nvSpPr>
          <p:cNvPr id="30" name="Shape 28"/>
          <p:cNvSpPr/>
          <p:nvPr/>
        </p:nvSpPr>
        <p:spPr>
          <a:xfrm>
            <a:off x="1016000" y="8026400"/>
            <a:ext cx="254000" cy="254000"/>
          </a:xfrm>
          <a:custGeom>
            <a:avLst/>
            <a:gdLst/>
            <a:ahLst/>
            <a:cxnLst/>
            <a:rect l="l" t="t" r="r" b="b"/>
            <a:pathLst>
              <a:path w="254000" h="254000">
                <a:moveTo>
                  <a:pt x="175071" y="10517"/>
                </a:moveTo>
                <a:lnTo>
                  <a:pt x="152797" y="32792"/>
                </a:lnTo>
                <a:lnTo>
                  <a:pt x="221208" y="101203"/>
                </a:lnTo>
                <a:lnTo>
                  <a:pt x="243483" y="78929"/>
                </a:lnTo>
                <a:cubicBezTo>
                  <a:pt x="250230" y="72231"/>
                  <a:pt x="254000" y="63103"/>
                  <a:pt x="254000" y="53578"/>
                </a:cubicBezTo>
                <a:cubicBezTo>
                  <a:pt x="254000" y="44053"/>
                  <a:pt x="250230" y="34925"/>
                  <a:pt x="243483" y="28228"/>
                </a:cubicBezTo>
                <a:lnTo>
                  <a:pt x="225772" y="10517"/>
                </a:lnTo>
                <a:cubicBezTo>
                  <a:pt x="219075" y="3770"/>
                  <a:pt x="209947" y="0"/>
                  <a:pt x="200422" y="0"/>
                </a:cubicBezTo>
                <a:cubicBezTo>
                  <a:pt x="190897" y="0"/>
                  <a:pt x="181769" y="3770"/>
                  <a:pt x="175071" y="10517"/>
                </a:cubicBezTo>
                <a:close/>
                <a:moveTo>
                  <a:pt x="135979" y="49609"/>
                </a:moveTo>
                <a:lnTo>
                  <a:pt x="29220" y="156319"/>
                </a:lnTo>
                <a:cubicBezTo>
                  <a:pt x="23912" y="161627"/>
                  <a:pt x="20042" y="168275"/>
                  <a:pt x="18008" y="175518"/>
                </a:cubicBezTo>
                <a:lnTo>
                  <a:pt x="446" y="238919"/>
                </a:lnTo>
                <a:cubicBezTo>
                  <a:pt x="-695" y="243036"/>
                  <a:pt x="446" y="247501"/>
                  <a:pt x="3522" y="250527"/>
                </a:cubicBezTo>
                <a:cubicBezTo>
                  <a:pt x="6598" y="253554"/>
                  <a:pt x="11013" y="254744"/>
                  <a:pt x="15131" y="253603"/>
                </a:cubicBezTo>
                <a:lnTo>
                  <a:pt x="78532" y="235992"/>
                </a:lnTo>
                <a:cubicBezTo>
                  <a:pt x="85775" y="233958"/>
                  <a:pt x="92373" y="230138"/>
                  <a:pt x="97730" y="224780"/>
                </a:cubicBezTo>
                <a:lnTo>
                  <a:pt x="204391" y="118021"/>
                </a:lnTo>
                <a:lnTo>
                  <a:pt x="135979" y="49609"/>
                </a:lnTo>
                <a:close/>
              </a:path>
            </a:pathLst>
          </a:custGeom>
          <a:solidFill>
            <a:srgbClr val="2D5A4C"/>
          </a:solidFill>
          <a:ln/>
        </p:spPr>
      </p:sp>
      <p:sp>
        <p:nvSpPr>
          <p:cNvPr id="31" name="Text 29"/>
          <p:cNvSpPr/>
          <p:nvPr/>
        </p:nvSpPr>
        <p:spPr>
          <a:xfrm>
            <a:off x="1371600" y="7937500"/>
            <a:ext cx="13970000" cy="508000"/>
          </a:xfrm>
          <a:prstGeom prst="rect">
            <a:avLst/>
          </a:prstGeom>
          <a:noFill/>
          <a:ln/>
        </p:spPr>
        <p:txBody>
          <a:bodyPr wrap="square" lIns="0" tIns="0" rIns="0" bIns="0" rtlCol="0" anchor="ctr"/>
          <a:lstStyle/>
          <a:p>
            <a:pPr>
              <a:lnSpc>
                <a:spcPct val="140000"/>
              </a:lnSpc>
            </a:pPr>
            <a:r>
              <a:rPr lang="en-US" sz="1400" b="1" dirty="0">
                <a:solidFill>
                  <a:srgbClr val="2D5A4C"/>
                </a:solidFill>
                <a:latin typeface="Quattrocento Sans" pitchFamily="34" charset="0"/>
                <a:ea typeface="Quattrocento Sans" pitchFamily="34" charset="-122"/>
                <a:cs typeface="Quattrocento Sans" pitchFamily="34" charset="-120"/>
              </a:rPr>
              <a:t>Practice:</a:t>
            </a:r>
            <a:pPr>
              <a:lnSpc>
                <a:spcPct val="140000"/>
              </a:lnSpc>
            </a:pPr>
            <a:r>
              <a:rPr lang="en-US" sz="1400" dirty="0">
                <a:solidFill>
                  <a:srgbClr val="2D5A4C"/>
                </a:solidFill>
                <a:latin typeface="Quattrocento Sans" pitchFamily="34" charset="0"/>
                <a:ea typeface="Quattrocento Sans" pitchFamily="34" charset="-122"/>
                <a:cs typeface="Quattrocento Sans" pitchFamily="34" charset="-120"/>
              </a:rPr>
              <a:t> How long would it take to find one student's record among 10,000 paper files?</a:t>
            </a:r>
            <a:endParaRPr lang="en-US" sz="1600" dirty="0"/>
          </a:p>
        </p:txBody>
      </p:sp>
      <p:sp>
        <p:nvSpPr>
          <p:cNvPr id="32" name="Text 30"/>
          <p:cNvSpPr/>
          <p:nvPr/>
        </p:nvSpPr>
        <p:spPr>
          <a:xfrm>
            <a:off x="13462000" y="8788400"/>
            <a:ext cx="2286000" cy="254000"/>
          </a:xfrm>
          <a:prstGeom prst="rect">
            <a:avLst/>
          </a:prstGeom>
          <a:noFill/>
          <a:ln/>
        </p:spPr>
        <p:txBody>
          <a:bodyPr wrap="none" lIns="0" tIns="0" rIns="0" bIns="0" rtlCol="0" anchor="ctr"/>
          <a:lstStyle/>
          <a:p>
            <a:pPr algn="r">
              <a:lnSpc>
                <a:spcPct val="140000"/>
              </a:lnSpc>
            </a:pPr>
            <a:r>
              <a:rPr lang="en-US" sz="1400" dirty="0">
                <a:solidFill>
                  <a:srgbClr val="8B7355"/>
                </a:solidFill>
                <a:latin typeface="QuattrocentoSans" pitchFamily="34" charset="0"/>
                <a:ea typeface="QuattrocentoSans" pitchFamily="34" charset="-122"/>
                <a:cs typeface="QuattrocentoSans" pitchFamily="34" charset="-120"/>
              </a:rPr>
              <a:t>Database vs File System</a:t>
            </a:r>
            <a:endParaRPr lang="en-US" sz="14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D4943A"/>
          </a:solidFill>
          <a:ln/>
        </p:spPr>
      </p:sp>
      <p:sp>
        <p:nvSpPr>
          <p:cNvPr id="3" name="Text 1"/>
          <p:cNvSpPr/>
          <p:nvPr/>
        </p:nvSpPr>
        <p:spPr>
          <a:xfrm>
            <a:off x="762000" y="381000"/>
            <a:ext cx="11430000" cy="508000"/>
          </a:xfrm>
          <a:prstGeom prst="rect">
            <a:avLst/>
          </a:prstGeom>
          <a:noFill/>
          <a:ln/>
        </p:spPr>
        <p:txBody>
          <a:bodyPr wrap="none" lIns="0" tIns="0" rIns="0" bIns="0" rtlCol="0" anchor="ctr"/>
          <a:lstStyle/>
          <a:p>
            <a:pPr>
              <a:lnSpc>
                <a:spcPct val="130000"/>
              </a:lnSpc>
            </a:pPr>
            <a:r>
              <a:rPr lang="en-US" sz="2800" dirty="0">
                <a:solidFill>
                  <a:srgbClr val="2D5A4C"/>
                </a:solidFill>
                <a:latin typeface="Liter" pitchFamily="34" charset="0"/>
                <a:ea typeface="Liter" pitchFamily="34" charset="-122"/>
                <a:cs typeface="Liter" pitchFamily="34" charset="-120"/>
              </a:rPr>
              <a:t>Advantages of Database Systems</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62000" y="1143000"/>
          <a:ext cx="14732000" cy="3556000"/>
        </p:xfrm>
        <a:graphic>
          <a:graphicData uri="http://schemas.openxmlformats.org/drawingml/2006/table">
            <a:tbl>
              <a:tblPr/>
              <a:tblGrid>
                <a:gridCol w="736600"/>
                <a:gridCol w="4419600"/>
                <a:gridCol w="4419600"/>
                <a:gridCol w="5156200"/>
              </a:tblGrid>
              <a:tr h="569466">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CFC8"/>
                      </a:solidFill>
                      <a:prstDash val="solid"/>
                      <a:round/>
                      <a:headEnd type="none" w="med" len="med"/>
                      <a:tailEnd type="none" w="med" len="med"/>
                    </a:lnL>
                    <a:lnR w="12700" cap="flat" cmpd="sng" algn="ctr">
                      <a:solidFill>
                        <a:srgbClr val="D5CFC8"/>
                      </a:solidFill>
                      <a:prstDash val="solid"/>
                      <a:round/>
                      <a:headEnd type="none" w="med" len="med"/>
                      <a:tailEnd type="none" w="med" len="med"/>
                    </a:lnR>
                    <a:lnT w="12700" cap="flat" cmpd="sng" algn="ctr">
                      <a:solidFill>
                        <a:srgbClr val="D5CFC8"/>
                      </a:solidFill>
                      <a:prstDash val="solid"/>
                      <a:round/>
                      <a:headEnd type="none" w="med" len="med"/>
                      <a:tailEnd type="none" w="med" len="med"/>
                    </a:lnT>
                    <a:lnB w="12700" cap="flat" cmpd="sng" algn="ctr">
                      <a:solidFill>
                        <a:srgbClr val="D5CFC8"/>
                      </a:solidFill>
                      <a:prstDash val="solid"/>
                      <a:round/>
                      <a:headEnd type="none" w="med" len="med"/>
                      <a:tailEnd type="none" w="med" len="med"/>
                    </a:lnB>
                    <a:solidFill>
                      <a:srgbClr val="2D5A4C"/>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File System Problem</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CFC8"/>
                      </a:solidFill>
                      <a:prstDash val="solid"/>
                      <a:round/>
                      <a:headEnd type="none" w="med" len="med"/>
                      <a:tailEnd type="none" w="med" len="med"/>
                    </a:lnL>
                    <a:lnR w="12700" cap="flat" cmpd="sng" algn="ctr">
                      <a:solidFill>
                        <a:srgbClr val="D5CFC8"/>
                      </a:solidFill>
                      <a:prstDash val="solid"/>
                      <a:round/>
                      <a:headEnd type="none" w="med" len="med"/>
                      <a:tailEnd type="none" w="med" len="med"/>
                    </a:lnR>
                    <a:lnT w="12700" cap="flat" cmpd="sng" algn="ctr">
                      <a:solidFill>
                        <a:srgbClr val="D5CFC8"/>
                      </a:solidFill>
                      <a:prstDash val="solid"/>
                      <a:round/>
                      <a:headEnd type="none" w="med" len="med"/>
                      <a:tailEnd type="none" w="med" len="med"/>
                    </a:lnT>
                    <a:lnB w="12700" cap="flat" cmpd="sng" algn="ctr">
                      <a:solidFill>
                        <a:srgbClr val="D5CFC8"/>
                      </a:solidFill>
                      <a:prstDash val="solid"/>
                      <a:round/>
                      <a:headEnd type="none" w="med" len="med"/>
                      <a:tailEnd type="none" w="med" len="med"/>
                    </a:lnB>
                    <a:solidFill>
                      <a:srgbClr val="2D5A4C"/>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Database Solution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CFC8"/>
                      </a:solidFill>
                      <a:prstDash val="solid"/>
                      <a:round/>
                      <a:headEnd type="none" w="med" len="med"/>
                      <a:tailEnd type="none" w="med" len="med"/>
                    </a:lnL>
                    <a:lnR w="12700" cap="flat" cmpd="sng" algn="ctr">
                      <a:solidFill>
                        <a:srgbClr val="D5CFC8"/>
                      </a:solidFill>
                      <a:prstDash val="solid"/>
                      <a:round/>
                      <a:headEnd type="none" w="med" len="med"/>
                      <a:tailEnd type="none" w="med" len="med"/>
                    </a:lnR>
                    <a:lnT w="12700" cap="flat" cmpd="sng" algn="ctr">
                      <a:solidFill>
                        <a:srgbClr val="D5CFC8"/>
                      </a:solidFill>
                      <a:prstDash val="solid"/>
                      <a:round/>
                      <a:headEnd type="none" w="med" len="med"/>
                      <a:tailEnd type="none" w="med" len="med"/>
                    </a:lnT>
                    <a:lnB w="12700" cap="flat" cmpd="sng" algn="ctr">
                      <a:solidFill>
                        <a:srgbClr val="D5CFC8"/>
                      </a:solidFill>
                      <a:prstDash val="solid"/>
                      <a:round/>
                      <a:headEnd type="none" w="med" len="med"/>
                      <a:tailEnd type="none" w="med" len="med"/>
                    </a:lnB>
                    <a:solidFill>
                      <a:srgbClr val="2D5A4C"/>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Result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CFC8"/>
                      </a:solidFill>
                      <a:prstDash val="solid"/>
                      <a:round/>
                      <a:headEnd type="none" w="med" len="med"/>
                      <a:tailEnd type="none" w="med" len="med"/>
                    </a:lnL>
                    <a:lnR w="12700" cap="flat" cmpd="sng" algn="ctr">
                      <a:solidFill>
                        <a:srgbClr val="D5CFC8"/>
                      </a:solidFill>
                      <a:prstDash val="solid"/>
                      <a:round/>
                      <a:headEnd type="none" w="med" len="med"/>
                      <a:tailEnd type="none" w="med" len="med"/>
                    </a:lnR>
                    <a:lnT w="12700" cap="flat" cmpd="sng" algn="ctr">
                      <a:solidFill>
                        <a:srgbClr val="D5CFC8"/>
                      </a:solidFill>
                      <a:prstDash val="solid"/>
                      <a:round/>
                      <a:headEnd type="none" w="med" len="med"/>
                      <a:tailEnd type="none" w="med" len="med"/>
                    </a:lnT>
                    <a:lnB w="12700" cap="flat" cmpd="sng" algn="ctr">
                      <a:solidFill>
                        <a:srgbClr val="D5CFC8"/>
                      </a:solidFill>
                      <a:prstDash val="solid"/>
                      <a:round/>
                      <a:headEnd type="none" w="med" len="med"/>
                      <a:tailEnd type="none" w="med" len="med"/>
                    </a:lnB>
                    <a:solidFill>
                      <a:srgbClr val="2D5A4C"/>
                    </a:solidFill>
                  </a:tcPr>
                </a:tc>
              </a:tr>
              <a:tr h="746633">
                <a:tc>
                  <a:txBody>
                    <a:bodyPr/>
                    <a:lstStyle/>
                    <a:p>
                      <a:pPr algn="l"/>
                      <a:r>
                        <a:rPr lang="en-US" sz="1600" u="none" dirty="0">
                          <a:solidFill>
                            <a:srgbClr val="2C2C2C"/>
                          </a:solidFill>
                          <a:latin typeface="QuattrocentoSans" pitchFamily="34" charset="0"/>
                          <a:ea typeface="QuattrocentoSans" pitchFamily="34" charset="-122"/>
                          <a:cs typeface="QuattrocentoSans" pitchFamily="34" charset="-120"/>
                        </a:rPr>
                        <a:t>1</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CFC8"/>
                      </a:solidFill>
                      <a:prstDash val="solid"/>
                      <a:round/>
                      <a:headEnd type="none" w="med" len="med"/>
                      <a:tailEnd type="none" w="med" len="med"/>
                    </a:lnL>
                    <a:lnR w="12700" cap="flat" cmpd="sng" algn="ctr">
                      <a:solidFill>
                        <a:srgbClr val="D5CFC8"/>
                      </a:solidFill>
                      <a:prstDash val="solid"/>
                      <a:round/>
                      <a:headEnd type="none" w="med" len="med"/>
                      <a:tailEnd type="none" w="med" len="med"/>
                    </a:lnR>
                    <a:lnT w="12700" cap="flat" cmpd="sng" algn="ctr">
                      <a:solidFill>
                        <a:srgbClr val="D5CFC8"/>
                      </a:solidFill>
                      <a:prstDash val="solid"/>
                      <a:round/>
                      <a:headEnd type="none" w="med" len="med"/>
                      <a:tailEnd type="none" w="med" len="med"/>
                    </a:lnT>
                    <a:lnB w="12700" cap="flat" cmpd="sng" algn="ctr">
                      <a:solidFill>
                        <a:srgbClr val="D5CFC8"/>
                      </a:solidFill>
                      <a:prstDash val="solid"/>
                      <a:round/>
                      <a:headEnd type="none" w="med" len="med"/>
                      <a:tailEnd type="none" w="med" len="med"/>
                    </a:lnB>
                    <a:solidFill>
                      <a:srgbClr val="FFFFFF"/>
                    </a:solidFill>
                  </a:tcPr>
                </a:tc>
                <a:tc>
                  <a:txBody>
                    <a:bodyPr/>
                    <a:lstStyle/>
                    <a:p>
                      <a:pPr algn="l"/>
                      <a:r>
                        <a:rPr lang="en-US" sz="1600" u="none" dirty="0">
                          <a:solidFill>
                            <a:srgbClr val="2C2C2C"/>
                          </a:solidFill>
                          <a:latin typeface="QuattrocentoSans" pitchFamily="34" charset="0"/>
                          <a:ea typeface="QuattrocentoSans" pitchFamily="34" charset="-122"/>
                          <a:cs typeface="QuattrocentoSans" pitchFamily="34" charset="-120"/>
                        </a:rPr>
                        <a:t>Data stored in multiple files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CFC8"/>
                      </a:solidFill>
                      <a:prstDash val="solid"/>
                      <a:round/>
                      <a:headEnd type="none" w="med" len="med"/>
                      <a:tailEnd type="none" w="med" len="med"/>
                    </a:lnL>
                    <a:lnR w="12700" cap="flat" cmpd="sng" algn="ctr">
                      <a:solidFill>
                        <a:srgbClr val="D5CFC8"/>
                      </a:solidFill>
                      <a:prstDash val="solid"/>
                      <a:round/>
                      <a:headEnd type="none" w="med" len="med"/>
                      <a:tailEnd type="none" w="med" len="med"/>
                    </a:lnR>
                    <a:lnT w="12700" cap="flat" cmpd="sng" algn="ctr">
                      <a:solidFill>
                        <a:srgbClr val="D5CFC8"/>
                      </a:solidFill>
                      <a:prstDash val="solid"/>
                      <a:round/>
                      <a:headEnd type="none" w="med" len="med"/>
                      <a:tailEnd type="none" w="med" len="med"/>
                    </a:lnT>
                    <a:lnB w="12700" cap="flat" cmpd="sng" algn="ctr">
                      <a:solidFill>
                        <a:srgbClr val="D5CFC8"/>
                      </a:solidFill>
                      <a:prstDash val="solid"/>
                      <a:round/>
                      <a:headEnd type="none" w="med" len="med"/>
                      <a:tailEnd type="none" w="med" len="med"/>
                    </a:lnB>
                    <a:solidFill>
                      <a:srgbClr val="FFFFFF"/>
                    </a:solidFill>
                  </a:tcPr>
                </a:tc>
                <a:tc>
                  <a:txBody>
                    <a:bodyPr/>
                    <a:lstStyle/>
                    <a:p>
                      <a:pPr algn="l"/>
                      <a:r>
                        <a:rPr lang="en-US" sz="1600" u="none" dirty="0">
                          <a:solidFill>
                            <a:srgbClr val="2C2C2C"/>
                          </a:solidFill>
                          <a:latin typeface="QuattrocentoSans" pitchFamily="34" charset="0"/>
                          <a:ea typeface="QuattrocentoSans" pitchFamily="34" charset="-122"/>
                          <a:cs typeface="QuattrocentoSans" pitchFamily="34" charset="-120"/>
                        </a:rPr>
                        <a:t>Centralized storage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CFC8"/>
                      </a:solidFill>
                      <a:prstDash val="solid"/>
                      <a:round/>
                      <a:headEnd type="none" w="med" len="med"/>
                      <a:tailEnd type="none" w="med" len="med"/>
                    </a:lnL>
                    <a:lnR w="12700" cap="flat" cmpd="sng" algn="ctr">
                      <a:solidFill>
                        <a:srgbClr val="D5CFC8"/>
                      </a:solidFill>
                      <a:prstDash val="solid"/>
                      <a:round/>
                      <a:headEnd type="none" w="med" len="med"/>
                      <a:tailEnd type="none" w="med" len="med"/>
                    </a:lnR>
                    <a:lnT w="12700" cap="flat" cmpd="sng" algn="ctr">
                      <a:solidFill>
                        <a:srgbClr val="D5CFC8"/>
                      </a:solidFill>
                      <a:prstDash val="solid"/>
                      <a:round/>
                      <a:headEnd type="none" w="med" len="med"/>
                      <a:tailEnd type="none" w="med" len="med"/>
                    </a:lnT>
                    <a:lnB w="12700" cap="flat" cmpd="sng" algn="ctr">
                      <a:solidFill>
                        <a:srgbClr val="D5CFC8"/>
                      </a:solidFill>
                      <a:prstDash val="solid"/>
                      <a:round/>
                      <a:headEnd type="none" w="med" len="med"/>
                      <a:tailEnd type="none" w="med" len="med"/>
                    </a:lnB>
                    <a:solidFill>
                      <a:srgbClr val="FFFFFF"/>
                    </a:solidFill>
                  </a:tcPr>
                </a:tc>
                <a:tc>
                  <a:txBody>
                    <a:bodyPr/>
                    <a:lstStyle/>
                    <a:p>
                      <a:pPr algn="l"/>
                      <a:r>
                        <a:rPr lang="en-US" sz="1600" u="none" dirty="0">
                          <a:solidFill>
                            <a:srgbClr val="27AE60"/>
                          </a:solidFill>
                          <a:latin typeface="QuattrocentoSans" pitchFamily="34" charset="0"/>
                          <a:ea typeface="QuattrocentoSans" pitchFamily="34" charset="-122"/>
                          <a:cs typeface="QuattrocentoSans" pitchFamily="34" charset="-120"/>
                        </a:rPr>
                        <a:t>No redundancy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CFC8"/>
                      </a:solidFill>
                      <a:prstDash val="solid"/>
                      <a:round/>
                      <a:headEnd type="none" w="med" len="med"/>
                      <a:tailEnd type="none" w="med" len="med"/>
                    </a:lnL>
                    <a:lnR w="12700" cap="flat" cmpd="sng" algn="ctr">
                      <a:solidFill>
                        <a:srgbClr val="D5CFC8"/>
                      </a:solidFill>
                      <a:prstDash val="solid"/>
                      <a:round/>
                      <a:headEnd type="none" w="med" len="med"/>
                      <a:tailEnd type="none" w="med" len="med"/>
                    </a:lnR>
                    <a:lnT w="12700" cap="flat" cmpd="sng" algn="ctr">
                      <a:solidFill>
                        <a:srgbClr val="D5CFC8"/>
                      </a:solidFill>
                      <a:prstDash val="solid"/>
                      <a:round/>
                      <a:headEnd type="none" w="med" len="med"/>
                      <a:tailEnd type="none" w="med" len="med"/>
                    </a:lnT>
                    <a:lnB w="12700" cap="flat" cmpd="sng" algn="ctr">
                      <a:solidFill>
                        <a:srgbClr val="D5CFC8"/>
                      </a:solidFill>
                      <a:prstDash val="solid"/>
                      <a:round/>
                      <a:headEnd type="none" w="med" len="med"/>
                      <a:tailEnd type="none" w="med" len="med"/>
                    </a:lnB>
                    <a:solidFill>
                      <a:srgbClr val="FFFFFF"/>
                    </a:solidFill>
                  </a:tcPr>
                </a:tc>
              </a:tr>
              <a:tr h="746633">
                <a:tc>
                  <a:txBody>
                    <a:bodyPr/>
                    <a:lstStyle/>
                    <a:p>
                      <a:pPr algn="l"/>
                      <a:r>
                        <a:rPr lang="en-US" sz="1600" u="none" dirty="0">
                          <a:solidFill>
                            <a:srgbClr val="2C2C2C"/>
                          </a:solidFill>
                          <a:latin typeface="QuattrocentoSans" pitchFamily="34" charset="0"/>
                          <a:ea typeface="QuattrocentoSans" pitchFamily="34" charset="-122"/>
                          <a:cs typeface="QuattrocentoSans" pitchFamily="34" charset="-120"/>
                        </a:rPr>
                        <a:t>2</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CFC8"/>
                      </a:solidFill>
                      <a:prstDash val="solid"/>
                      <a:round/>
                      <a:headEnd type="none" w="med" len="med"/>
                      <a:tailEnd type="none" w="med" len="med"/>
                    </a:lnL>
                    <a:lnR w="12700" cap="flat" cmpd="sng" algn="ctr">
                      <a:solidFill>
                        <a:srgbClr val="D5CFC8"/>
                      </a:solidFill>
                      <a:prstDash val="solid"/>
                      <a:round/>
                      <a:headEnd type="none" w="med" len="med"/>
                      <a:tailEnd type="none" w="med" len="med"/>
                    </a:lnR>
                    <a:lnT w="12700" cap="flat" cmpd="sng" algn="ctr">
                      <a:solidFill>
                        <a:srgbClr val="D5CFC8"/>
                      </a:solidFill>
                      <a:prstDash val="solid"/>
                      <a:round/>
                      <a:headEnd type="none" w="med" len="med"/>
                      <a:tailEnd type="none" w="med" len="med"/>
                    </a:lnT>
                    <a:lnB w="12700" cap="flat" cmpd="sng" algn="ctr">
                      <a:solidFill>
                        <a:srgbClr val="D5CFC8"/>
                      </a:solidFill>
                      <a:prstDash val="solid"/>
                      <a:round/>
                      <a:headEnd type="none" w="med" len="med"/>
                      <a:tailEnd type="none" w="med" len="med"/>
                    </a:lnB>
                    <a:solidFill>
                      <a:srgbClr val="F5F0EB"/>
                    </a:solidFill>
                  </a:tcPr>
                </a:tc>
                <a:tc>
                  <a:txBody>
                    <a:bodyPr/>
                    <a:lstStyle/>
                    <a:p>
                      <a:pPr algn="l"/>
                      <a:r>
                        <a:rPr lang="en-US" sz="1600" u="none" dirty="0">
                          <a:solidFill>
                            <a:srgbClr val="2C2C2C"/>
                          </a:solidFill>
                          <a:latin typeface="QuattrocentoSans" pitchFamily="34" charset="0"/>
                          <a:ea typeface="QuattrocentoSans" pitchFamily="34" charset="-122"/>
                          <a:cs typeface="QuattrocentoSans" pitchFamily="34" charset="-120"/>
                        </a:rPr>
                        <a:t>Inconsistent copies of data</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CFC8"/>
                      </a:solidFill>
                      <a:prstDash val="solid"/>
                      <a:round/>
                      <a:headEnd type="none" w="med" len="med"/>
                      <a:tailEnd type="none" w="med" len="med"/>
                    </a:lnL>
                    <a:lnR w="12700" cap="flat" cmpd="sng" algn="ctr">
                      <a:solidFill>
                        <a:srgbClr val="D5CFC8"/>
                      </a:solidFill>
                      <a:prstDash val="solid"/>
                      <a:round/>
                      <a:headEnd type="none" w="med" len="med"/>
                      <a:tailEnd type="none" w="med" len="med"/>
                    </a:lnR>
                    <a:lnT w="12700" cap="flat" cmpd="sng" algn="ctr">
                      <a:solidFill>
                        <a:srgbClr val="D5CFC8"/>
                      </a:solidFill>
                      <a:prstDash val="solid"/>
                      <a:round/>
                      <a:headEnd type="none" w="med" len="med"/>
                      <a:tailEnd type="none" w="med" len="med"/>
                    </a:lnT>
                    <a:lnB w="12700" cap="flat" cmpd="sng" algn="ctr">
                      <a:solidFill>
                        <a:srgbClr val="D5CFC8"/>
                      </a:solidFill>
                      <a:prstDash val="solid"/>
                      <a:round/>
                      <a:headEnd type="none" w="med" len="med"/>
                      <a:tailEnd type="none" w="med" len="med"/>
                    </a:lnB>
                    <a:solidFill>
                      <a:srgbClr val="F5F0EB"/>
                    </a:solidFill>
                  </a:tcPr>
                </a:tc>
                <a:tc>
                  <a:txBody>
                    <a:bodyPr/>
                    <a:lstStyle/>
                    <a:p>
                      <a:pPr algn="l"/>
                      <a:r>
                        <a:rPr lang="en-US" sz="1600" u="none" dirty="0">
                          <a:solidFill>
                            <a:srgbClr val="2C2C2C"/>
                          </a:solidFill>
                          <a:latin typeface="QuattrocentoSans" pitchFamily="34" charset="0"/>
                          <a:ea typeface="QuattrocentoSans" pitchFamily="34" charset="-122"/>
                          <a:cs typeface="QuattrocentoSans" pitchFamily="34" charset="-120"/>
                        </a:rPr>
                        <a:t>Single source of truth</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CFC8"/>
                      </a:solidFill>
                      <a:prstDash val="solid"/>
                      <a:round/>
                      <a:headEnd type="none" w="med" len="med"/>
                      <a:tailEnd type="none" w="med" len="med"/>
                    </a:lnL>
                    <a:lnR w="12700" cap="flat" cmpd="sng" algn="ctr">
                      <a:solidFill>
                        <a:srgbClr val="D5CFC8"/>
                      </a:solidFill>
                      <a:prstDash val="solid"/>
                      <a:round/>
                      <a:headEnd type="none" w="med" len="med"/>
                      <a:tailEnd type="none" w="med" len="med"/>
                    </a:lnR>
                    <a:lnT w="12700" cap="flat" cmpd="sng" algn="ctr">
                      <a:solidFill>
                        <a:srgbClr val="D5CFC8"/>
                      </a:solidFill>
                      <a:prstDash val="solid"/>
                      <a:round/>
                      <a:headEnd type="none" w="med" len="med"/>
                      <a:tailEnd type="none" w="med" len="med"/>
                    </a:lnT>
                    <a:lnB w="12700" cap="flat" cmpd="sng" algn="ctr">
                      <a:solidFill>
                        <a:srgbClr val="D5CFC8"/>
                      </a:solidFill>
                      <a:prstDash val="solid"/>
                      <a:round/>
                      <a:headEnd type="none" w="med" len="med"/>
                      <a:tailEnd type="none" w="med" len="med"/>
                    </a:lnB>
                    <a:solidFill>
                      <a:srgbClr val="F5F0EB"/>
                    </a:solidFill>
                  </a:tcPr>
                </a:tc>
                <a:tc>
                  <a:txBody>
                    <a:bodyPr/>
                    <a:lstStyle/>
                    <a:p>
                      <a:pPr algn="l"/>
                      <a:r>
                        <a:rPr lang="en-US" sz="1600" u="none" dirty="0">
                          <a:solidFill>
                            <a:srgbClr val="27AE60"/>
                          </a:solidFill>
                          <a:latin typeface="QuattrocentoSans" pitchFamily="34" charset="0"/>
                          <a:ea typeface="QuattrocentoSans" pitchFamily="34" charset="-122"/>
                          <a:cs typeface="QuattrocentoSans" pitchFamily="34" charset="-120"/>
                        </a:rPr>
                        <a:t>Always consistent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CFC8"/>
                      </a:solidFill>
                      <a:prstDash val="solid"/>
                      <a:round/>
                      <a:headEnd type="none" w="med" len="med"/>
                      <a:tailEnd type="none" w="med" len="med"/>
                    </a:lnL>
                    <a:lnR w="12700" cap="flat" cmpd="sng" algn="ctr">
                      <a:solidFill>
                        <a:srgbClr val="D5CFC8"/>
                      </a:solidFill>
                      <a:prstDash val="solid"/>
                      <a:round/>
                      <a:headEnd type="none" w="med" len="med"/>
                      <a:tailEnd type="none" w="med" len="med"/>
                    </a:lnR>
                    <a:lnT w="12700" cap="flat" cmpd="sng" algn="ctr">
                      <a:solidFill>
                        <a:srgbClr val="D5CFC8"/>
                      </a:solidFill>
                      <a:prstDash val="solid"/>
                      <a:round/>
                      <a:headEnd type="none" w="med" len="med"/>
                      <a:tailEnd type="none" w="med" len="med"/>
                    </a:lnT>
                    <a:lnB w="12700" cap="flat" cmpd="sng" algn="ctr">
                      <a:solidFill>
                        <a:srgbClr val="D5CFC8"/>
                      </a:solidFill>
                      <a:prstDash val="solid"/>
                      <a:round/>
                      <a:headEnd type="none" w="med" len="med"/>
                      <a:tailEnd type="none" w="med" len="med"/>
                    </a:lnB>
                    <a:solidFill>
                      <a:srgbClr val="F5F0EB"/>
                    </a:solidFill>
                  </a:tcPr>
                </a:tc>
              </a:tr>
              <a:tr h="746633">
                <a:tc>
                  <a:txBody>
                    <a:bodyPr/>
                    <a:lstStyle/>
                    <a:p>
                      <a:pPr algn="l"/>
                      <a:r>
                        <a:rPr lang="en-US" sz="1600" u="none" dirty="0">
                          <a:solidFill>
                            <a:srgbClr val="2C2C2C"/>
                          </a:solidFill>
                          <a:latin typeface="QuattrocentoSans" pitchFamily="34" charset="0"/>
                          <a:ea typeface="QuattrocentoSans" pitchFamily="34" charset="-122"/>
                          <a:cs typeface="QuattrocentoSans" pitchFamily="34" charset="-120"/>
                        </a:rPr>
                        <a:t>3</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CFC8"/>
                      </a:solidFill>
                      <a:prstDash val="solid"/>
                      <a:round/>
                      <a:headEnd type="none" w="med" len="med"/>
                      <a:tailEnd type="none" w="med" len="med"/>
                    </a:lnL>
                    <a:lnR w="12700" cap="flat" cmpd="sng" algn="ctr">
                      <a:solidFill>
                        <a:srgbClr val="D5CFC8"/>
                      </a:solidFill>
                      <a:prstDash val="solid"/>
                      <a:round/>
                      <a:headEnd type="none" w="med" len="med"/>
                      <a:tailEnd type="none" w="med" len="med"/>
                    </a:lnR>
                    <a:lnT w="12700" cap="flat" cmpd="sng" algn="ctr">
                      <a:solidFill>
                        <a:srgbClr val="D5CFC8"/>
                      </a:solidFill>
                      <a:prstDash val="solid"/>
                      <a:round/>
                      <a:headEnd type="none" w="med" len="med"/>
                      <a:tailEnd type="none" w="med" len="med"/>
                    </a:lnT>
                    <a:lnB w="12700" cap="flat" cmpd="sng" algn="ctr">
                      <a:solidFill>
                        <a:srgbClr val="D5CFC8"/>
                      </a:solidFill>
                      <a:prstDash val="solid"/>
                      <a:round/>
                      <a:headEnd type="none" w="med" len="med"/>
                      <a:tailEnd type="none" w="med" len="med"/>
                    </a:lnB>
                    <a:solidFill>
                      <a:srgbClr val="FFFFFF"/>
                    </a:solidFill>
                  </a:tcPr>
                </a:tc>
                <a:tc>
                  <a:txBody>
                    <a:bodyPr/>
                    <a:lstStyle/>
                    <a:p>
                      <a:pPr algn="l"/>
                      <a:r>
                        <a:rPr lang="en-US" sz="1600" u="none" dirty="0">
                          <a:solidFill>
                            <a:srgbClr val="2C2C2C"/>
                          </a:solidFill>
                          <a:latin typeface="QuattrocentoSans" pitchFamily="34" charset="0"/>
                          <a:ea typeface="QuattrocentoSans" pitchFamily="34" charset="-122"/>
                          <a:cs typeface="QuattrocentoSans" pitchFamily="34" charset="-120"/>
                        </a:rPr>
                        <a:t>Slow manual searching</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CFC8"/>
                      </a:solidFill>
                      <a:prstDash val="solid"/>
                      <a:round/>
                      <a:headEnd type="none" w="med" len="med"/>
                      <a:tailEnd type="none" w="med" len="med"/>
                    </a:lnL>
                    <a:lnR w="12700" cap="flat" cmpd="sng" algn="ctr">
                      <a:solidFill>
                        <a:srgbClr val="D5CFC8"/>
                      </a:solidFill>
                      <a:prstDash val="solid"/>
                      <a:round/>
                      <a:headEnd type="none" w="med" len="med"/>
                      <a:tailEnd type="none" w="med" len="med"/>
                    </a:lnR>
                    <a:lnT w="12700" cap="flat" cmpd="sng" algn="ctr">
                      <a:solidFill>
                        <a:srgbClr val="D5CFC8"/>
                      </a:solidFill>
                      <a:prstDash val="solid"/>
                      <a:round/>
                      <a:headEnd type="none" w="med" len="med"/>
                      <a:tailEnd type="none" w="med" len="med"/>
                    </a:lnT>
                    <a:lnB w="12700" cap="flat" cmpd="sng" algn="ctr">
                      <a:solidFill>
                        <a:srgbClr val="D5CFC8"/>
                      </a:solidFill>
                      <a:prstDash val="solid"/>
                      <a:round/>
                      <a:headEnd type="none" w="med" len="med"/>
                      <a:tailEnd type="none" w="med" len="med"/>
                    </a:lnB>
                    <a:solidFill>
                      <a:srgbClr val="FFFFFF"/>
                    </a:solidFill>
                  </a:tcPr>
                </a:tc>
                <a:tc>
                  <a:txBody>
                    <a:bodyPr/>
                    <a:lstStyle/>
                    <a:p>
                      <a:pPr algn="l"/>
                      <a:r>
                        <a:rPr lang="en-US" sz="1600" u="none" dirty="0">
                          <a:solidFill>
                            <a:srgbClr val="2C2C2C"/>
                          </a:solidFill>
                          <a:latin typeface="QuattrocentoSans" pitchFamily="34" charset="0"/>
                          <a:ea typeface="QuattrocentoSans" pitchFamily="34" charset="-122"/>
                          <a:cs typeface="QuattrocentoSans" pitchFamily="34" charset="-120"/>
                        </a:rPr>
                        <a:t>Powerful query language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CFC8"/>
                      </a:solidFill>
                      <a:prstDash val="solid"/>
                      <a:round/>
                      <a:headEnd type="none" w="med" len="med"/>
                      <a:tailEnd type="none" w="med" len="med"/>
                    </a:lnL>
                    <a:lnR w="12700" cap="flat" cmpd="sng" algn="ctr">
                      <a:solidFill>
                        <a:srgbClr val="D5CFC8"/>
                      </a:solidFill>
                      <a:prstDash val="solid"/>
                      <a:round/>
                      <a:headEnd type="none" w="med" len="med"/>
                      <a:tailEnd type="none" w="med" len="med"/>
                    </a:lnR>
                    <a:lnT w="12700" cap="flat" cmpd="sng" algn="ctr">
                      <a:solidFill>
                        <a:srgbClr val="D5CFC8"/>
                      </a:solidFill>
                      <a:prstDash val="solid"/>
                      <a:round/>
                      <a:headEnd type="none" w="med" len="med"/>
                      <a:tailEnd type="none" w="med" len="med"/>
                    </a:lnT>
                    <a:lnB w="12700" cap="flat" cmpd="sng" algn="ctr">
                      <a:solidFill>
                        <a:srgbClr val="D5CFC8"/>
                      </a:solidFill>
                      <a:prstDash val="solid"/>
                      <a:round/>
                      <a:headEnd type="none" w="med" len="med"/>
                      <a:tailEnd type="none" w="med" len="med"/>
                    </a:lnB>
                    <a:solidFill>
                      <a:srgbClr val="FFFFFF"/>
                    </a:solidFill>
                  </a:tcPr>
                </a:tc>
                <a:tc>
                  <a:txBody>
                    <a:bodyPr/>
                    <a:lstStyle/>
                    <a:p>
                      <a:pPr algn="l"/>
                      <a:r>
                        <a:rPr lang="en-US" sz="1600" u="none" dirty="0">
                          <a:solidFill>
                            <a:srgbClr val="27AE60"/>
                          </a:solidFill>
                          <a:latin typeface="QuattrocentoSans" pitchFamily="34" charset="0"/>
                          <a:ea typeface="QuattrocentoSans" pitchFamily="34" charset="-122"/>
                          <a:cs typeface="QuattrocentoSans" pitchFamily="34" charset="-120"/>
                        </a:rPr>
                        <a:t>Instant results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CFC8"/>
                      </a:solidFill>
                      <a:prstDash val="solid"/>
                      <a:round/>
                      <a:headEnd type="none" w="med" len="med"/>
                      <a:tailEnd type="none" w="med" len="med"/>
                    </a:lnL>
                    <a:lnR w="12700" cap="flat" cmpd="sng" algn="ctr">
                      <a:solidFill>
                        <a:srgbClr val="D5CFC8"/>
                      </a:solidFill>
                      <a:prstDash val="solid"/>
                      <a:round/>
                      <a:headEnd type="none" w="med" len="med"/>
                      <a:tailEnd type="none" w="med" len="med"/>
                    </a:lnR>
                    <a:lnT w="12700" cap="flat" cmpd="sng" algn="ctr">
                      <a:solidFill>
                        <a:srgbClr val="D5CFC8"/>
                      </a:solidFill>
                      <a:prstDash val="solid"/>
                      <a:round/>
                      <a:headEnd type="none" w="med" len="med"/>
                      <a:tailEnd type="none" w="med" len="med"/>
                    </a:lnT>
                    <a:lnB w="12700" cap="flat" cmpd="sng" algn="ctr">
                      <a:solidFill>
                        <a:srgbClr val="D5CFC8"/>
                      </a:solidFill>
                      <a:prstDash val="solid"/>
                      <a:round/>
                      <a:headEnd type="none" w="med" len="med"/>
                      <a:tailEnd type="none" w="med" len="med"/>
                    </a:lnB>
                    <a:solidFill>
                      <a:srgbClr val="FFFFFF"/>
                    </a:solidFill>
                  </a:tcPr>
                </a:tc>
              </a:tr>
              <a:tr h="746633">
                <a:tc>
                  <a:txBody>
                    <a:bodyPr/>
                    <a:lstStyle/>
                    <a:p>
                      <a:pPr algn="l"/>
                      <a:r>
                        <a:rPr lang="en-US" sz="1600" u="none" dirty="0">
                          <a:solidFill>
                            <a:srgbClr val="2C2C2C"/>
                          </a:solidFill>
                          <a:latin typeface="QuattrocentoSans" pitchFamily="34" charset="0"/>
                          <a:ea typeface="QuattrocentoSans" pitchFamily="34" charset="-122"/>
                          <a:cs typeface="QuattrocentoSans" pitchFamily="34" charset="-120"/>
                        </a:rPr>
                        <a:t>4</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CFC8"/>
                      </a:solidFill>
                      <a:prstDash val="solid"/>
                      <a:round/>
                      <a:headEnd type="none" w="med" len="med"/>
                      <a:tailEnd type="none" w="med" len="med"/>
                    </a:lnL>
                    <a:lnR w="12700" cap="flat" cmpd="sng" algn="ctr">
                      <a:solidFill>
                        <a:srgbClr val="D5CFC8"/>
                      </a:solidFill>
                      <a:prstDash val="solid"/>
                      <a:round/>
                      <a:headEnd type="none" w="med" len="med"/>
                      <a:tailEnd type="none" w="med" len="med"/>
                    </a:lnR>
                    <a:lnT w="12700" cap="flat" cmpd="sng" algn="ctr">
                      <a:solidFill>
                        <a:srgbClr val="D5CFC8"/>
                      </a:solidFill>
                      <a:prstDash val="solid"/>
                      <a:round/>
                      <a:headEnd type="none" w="med" len="med"/>
                      <a:tailEnd type="none" w="med" len="med"/>
                    </a:lnT>
                    <a:lnB w="12700" cap="flat" cmpd="sng" algn="ctr">
                      <a:solidFill>
                        <a:srgbClr val="D5CFC8"/>
                      </a:solidFill>
                      <a:prstDash val="solid"/>
                      <a:round/>
                      <a:headEnd type="none" w="med" len="med"/>
                      <a:tailEnd type="none" w="med" len="med"/>
                    </a:lnB>
                    <a:solidFill>
                      <a:srgbClr val="F5F0EB"/>
                    </a:solidFill>
                  </a:tcPr>
                </a:tc>
                <a:tc>
                  <a:txBody>
                    <a:bodyPr/>
                    <a:lstStyle/>
                    <a:p>
                      <a:pPr algn="l"/>
                      <a:r>
                        <a:rPr lang="en-US" sz="1600" u="none" dirty="0">
                          <a:solidFill>
                            <a:srgbClr val="2C2C2C"/>
                          </a:solidFill>
                          <a:latin typeface="QuattrocentoSans" pitchFamily="34" charset="0"/>
                          <a:ea typeface="QuattrocentoSans" pitchFamily="34" charset="-122"/>
                          <a:cs typeface="QuattrocentoSans" pitchFamily="34" charset="-120"/>
                        </a:rPr>
                        <a:t>Single user access only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CFC8"/>
                      </a:solidFill>
                      <a:prstDash val="solid"/>
                      <a:round/>
                      <a:headEnd type="none" w="med" len="med"/>
                      <a:tailEnd type="none" w="med" len="med"/>
                    </a:lnL>
                    <a:lnR w="12700" cap="flat" cmpd="sng" algn="ctr">
                      <a:solidFill>
                        <a:srgbClr val="D5CFC8"/>
                      </a:solidFill>
                      <a:prstDash val="solid"/>
                      <a:round/>
                      <a:headEnd type="none" w="med" len="med"/>
                      <a:tailEnd type="none" w="med" len="med"/>
                    </a:lnR>
                    <a:lnT w="12700" cap="flat" cmpd="sng" algn="ctr">
                      <a:solidFill>
                        <a:srgbClr val="D5CFC8"/>
                      </a:solidFill>
                      <a:prstDash val="solid"/>
                      <a:round/>
                      <a:headEnd type="none" w="med" len="med"/>
                      <a:tailEnd type="none" w="med" len="med"/>
                    </a:lnT>
                    <a:lnB w="12700" cap="flat" cmpd="sng" algn="ctr">
                      <a:solidFill>
                        <a:srgbClr val="D5CFC8"/>
                      </a:solidFill>
                      <a:prstDash val="solid"/>
                      <a:round/>
                      <a:headEnd type="none" w="med" len="med"/>
                      <a:tailEnd type="none" w="med" len="med"/>
                    </a:lnB>
                    <a:solidFill>
                      <a:srgbClr val="F5F0EB"/>
                    </a:solidFill>
                  </a:tcPr>
                </a:tc>
                <a:tc>
                  <a:txBody>
                    <a:bodyPr/>
                    <a:lstStyle/>
                    <a:p>
                      <a:pPr algn="l"/>
                      <a:r>
                        <a:rPr lang="en-US" sz="1600" u="none" dirty="0">
                          <a:solidFill>
                            <a:srgbClr val="2C2C2C"/>
                          </a:solidFill>
                          <a:latin typeface="QuattrocentoSans" pitchFamily="34" charset="0"/>
                          <a:ea typeface="QuattrocentoSans" pitchFamily="34" charset="-122"/>
                          <a:cs typeface="QuattrocentoSans" pitchFamily="34" charset="-120"/>
                        </a:rPr>
                        <a:t>Multi-user concurrency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CFC8"/>
                      </a:solidFill>
                      <a:prstDash val="solid"/>
                      <a:round/>
                      <a:headEnd type="none" w="med" len="med"/>
                      <a:tailEnd type="none" w="med" len="med"/>
                    </a:lnL>
                    <a:lnR w="12700" cap="flat" cmpd="sng" algn="ctr">
                      <a:solidFill>
                        <a:srgbClr val="D5CFC8"/>
                      </a:solidFill>
                      <a:prstDash val="solid"/>
                      <a:round/>
                      <a:headEnd type="none" w="med" len="med"/>
                      <a:tailEnd type="none" w="med" len="med"/>
                    </a:lnR>
                    <a:lnT w="12700" cap="flat" cmpd="sng" algn="ctr">
                      <a:solidFill>
                        <a:srgbClr val="D5CFC8"/>
                      </a:solidFill>
                      <a:prstDash val="solid"/>
                      <a:round/>
                      <a:headEnd type="none" w="med" len="med"/>
                      <a:tailEnd type="none" w="med" len="med"/>
                    </a:lnT>
                    <a:lnB w="12700" cap="flat" cmpd="sng" algn="ctr">
                      <a:solidFill>
                        <a:srgbClr val="D5CFC8"/>
                      </a:solidFill>
                      <a:prstDash val="solid"/>
                      <a:round/>
                      <a:headEnd type="none" w="med" len="med"/>
                      <a:tailEnd type="none" w="med" len="med"/>
                    </a:lnB>
                    <a:solidFill>
                      <a:srgbClr val="F5F0EB"/>
                    </a:solidFill>
                  </a:tcPr>
                </a:tc>
                <a:tc>
                  <a:txBody>
                    <a:bodyPr/>
                    <a:lstStyle/>
                    <a:p>
                      <a:pPr algn="l"/>
                      <a:r>
                        <a:rPr lang="en-US" sz="1600" u="none" dirty="0">
                          <a:solidFill>
                            <a:srgbClr val="27AE60"/>
                          </a:solidFill>
                          <a:latin typeface="QuattrocentoSans" pitchFamily="34" charset="0"/>
                          <a:ea typeface="QuattrocentoSans" pitchFamily="34" charset="-122"/>
                          <a:cs typeface="QuattrocentoSans" pitchFamily="34" charset="-120"/>
                        </a:rPr>
                        <a:t>Team collaboration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D5CFC8"/>
                      </a:solidFill>
                      <a:prstDash val="solid"/>
                      <a:round/>
                      <a:headEnd type="none" w="med" len="med"/>
                      <a:tailEnd type="none" w="med" len="med"/>
                    </a:lnL>
                    <a:lnR w="12700" cap="flat" cmpd="sng" algn="ctr">
                      <a:solidFill>
                        <a:srgbClr val="D5CFC8"/>
                      </a:solidFill>
                      <a:prstDash val="solid"/>
                      <a:round/>
                      <a:headEnd type="none" w="med" len="med"/>
                      <a:tailEnd type="none" w="med" len="med"/>
                    </a:lnR>
                    <a:lnT w="12700" cap="flat" cmpd="sng" algn="ctr">
                      <a:solidFill>
                        <a:srgbClr val="D5CFC8"/>
                      </a:solidFill>
                      <a:prstDash val="solid"/>
                      <a:round/>
                      <a:headEnd type="none" w="med" len="med"/>
                      <a:tailEnd type="none" w="med" len="med"/>
                    </a:lnT>
                    <a:lnB w="12700" cap="flat" cmpd="sng" algn="ctr">
                      <a:solidFill>
                        <a:srgbClr val="D5CFC8"/>
                      </a:solidFill>
                      <a:prstDash val="solid"/>
                      <a:round/>
                      <a:headEnd type="none" w="med" len="med"/>
                      <a:tailEnd type="none" w="med" len="med"/>
                    </a:lnB>
                    <a:solidFill>
                      <a:srgbClr val="F5F0EB"/>
                    </a:solidFill>
                  </a:tcPr>
                </a:tc>
              </a:tr>
            </a:tbl>
          </a:graphicData>
        </a:graphic>
      </p:graphicFrame>
      <p:sp>
        <p:nvSpPr>
          <p:cNvPr id="5" name="Shape 2"/>
          <p:cNvSpPr/>
          <p:nvPr/>
        </p:nvSpPr>
        <p:spPr>
          <a:xfrm>
            <a:off x="762000" y="4953000"/>
            <a:ext cx="14732000" cy="1016000"/>
          </a:xfrm>
          <a:prstGeom prst="roundRect">
            <a:avLst>
              <a:gd name="adj" fmla="val 6000"/>
            </a:avLst>
          </a:prstGeom>
          <a:solidFill>
            <a:srgbClr val="E8E2DA"/>
          </a:solidFill>
          <a:ln/>
        </p:spPr>
      </p:sp>
      <p:sp>
        <p:nvSpPr>
          <p:cNvPr id="6" name="Shape 3"/>
          <p:cNvSpPr/>
          <p:nvPr/>
        </p:nvSpPr>
        <p:spPr>
          <a:xfrm>
            <a:off x="1060450" y="5181600"/>
            <a:ext cx="266700" cy="355600"/>
          </a:xfrm>
          <a:custGeom>
            <a:avLst/>
            <a:gdLst/>
            <a:ahLst/>
            <a:cxnLst/>
            <a:rect l="l" t="t" r="r" b="b"/>
            <a:pathLst>
              <a:path w="266700" h="355600">
                <a:moveTo>
                  <a:pt x="203428" y="266700"/>
                </a:moveTo>
                <a:cubicBezTo>
                  <a:pt x="208498" y="251212"/>
                  <a:pt x="218638" y="237182"/>
                  <a:pt x="230098" y="225098"/>
                </a:cubicBezTo>
                <a:cubicBezTo>
                  <a:pt x="252809" y="201206"/>
                  <a:pt x="266700" y="168910"/>
                  <a:pt x="266700" y="133350"/>
                </a:cubicBezTo>
                <a:cubicBezTo>
                  <a:pt x="266700" y="59730"/>
                  <a:pt x="206970" y="0"/>
                  <a:pt x="133350" y="0"/>
                </a:cubicBezTo>
                <a:cubicBezTo>
                  <a:pt x="59730" y="0"/>
                  <a:pt x="0" y="59730"/>
                  <a:pt x="0" y="133350"/>
                </a:cubicBezTo>
                <a:cubicBezTo>
                  <a:pt x="0" y="168910"/>
                  <a:pt x="13891" y="201206"/>
                  <a:pt x="36602" y="225098"/>
                </a:cubicBezTo>
                <a:cubicBezTo>
                  <a:pt x="48062" y="237182"/>
                  <a:pt x="58271" y="251212"/>
                  <a:pt x="63272" y="266700"/>
                </a:cubicBezTo>
                <a:lnTo>
                  <a:pt x="203359" y="266700"/>
                </a:lnTo>
                <a:close/>
                <a:moveTo>
                  <a:pt x="200025" y="300038"/>
                </a:moveTo>
                <a:lnTo>
                  <a:pt x="66675" y="300038"/>
                </a:lnTo>
                <a:lnTo>
                  <a:pt x="66675" y="311150"/>
                </a:lnTo>
                <a:cubicBezTo>
                  <a:pt x="66675" y="341848"/>
                  <a:pt x="91539" y="366712"/>
                  <a:pt x="122238" y="366712"/>
                </a:cubicBezTo>
                <a:lnTo>
                  <a:pt x="144463" y="366712"/>
                </a:lnTo>
                <a:cubicBezTo>
                  <a:pt x="175161" y="366712"/>
                  <a:pt x="200025" y="341848"/>
                  <a:pt x="200025" y="311150"/>
                </a:cubicBezTo>
                <a:lnTo>
                  <a:pt x="200025" y="300038"/>
                </a:lnTo>
                <a:close/>
                <a:moveTo>
                  <a:pt x="127794" y="77788"/>
                </a:moveTo>
                <a:cubicBezTo>
                  <a:pt x="100151" y="77788"/>
                  <a:pt x="77788" y="100151"/>
                  <a:pt x="77788" y="127794"/>
                </a:cubicBezTo>
                <a:cubicBezTo>
                  <a:pt x="77788" y="137031"/>
                  <a:pt x="70356" y="144463"/>
                  <a:pt x="61119" y="144463"/>
                </a:cubicBezTo>
                <a:cubicBezTo>
                  <a:pt x="51881" y="144463"/>
                  <a:pt x="44450" y="137031"/>
                  <a:pt x="44450" y="127794"/>
                </a:cubicBezTo>
                <a:cubicBezTo>
                  <a:pt x="44450" y="81746"/>
                  <a:pt x="81746" y="44450"/>
                  <a:pt x="127794" y="44450"/>
                </a:cubicBezTo>
                <a:cubicBezTo>
                  <a:pt x="137031" y="44450"/>
                  <a:pt x="144463" y="51881"/>
                  <a:pt x="144463" y="61119"/>
                </a:cubicBezTo>
                <a:cubicBezTo>
                  <a:pt x="144463" y="70356"/>
                  <a:pt x="137031" y="77788"/>
                  <a:pt x="127794" y="77788"/>
                </a:cubicBezTo>
                <a:close/>
              </a:path>
            </a:pathLst>
          </a:custGeom>
          <a:solidFill>
            <a:srgbClr val="D4943A"/>
          </a:solidFill>
          <a:ln/>
        </p:spPr>
      </p:sp>
      <p:sp>
        <p:nvSpPr>
          <p:cNvPr id="7" name="Text 4"/>
          <p:cNvSpPr/>
          <p:nvPr/>
        </p:nvSpPr>
        <p:spPr>
          <a:xfrm>
            <a:off x="1498600" y="5016500"/>
            <a:ext cx="2540000" cy="304800"/>
          </a:xfrm>
          <a:prstGeom prst="rect">
            <a:avLst/>
          </a:prstGeom>
          <a:noFill/>
          <a:ln/>
        </p:spPr>
        <p:txBody>
          <a:bodyPr wrap="none" lIns="0" tIns="0" rIns="0" bIns="0" rtlCol="0" anchor="ctr"/>
          <a:lstStyle/>
          <a:p>
            <a:pPr>
              <a:lnSpc>
                <a:spcPct val="100000"/>
              </a:lnSpc>
            </a:pPr>
            <a:r>
              <a:rPr lang="en-US" sz="1400" b="1" dirty="0">
                <a:solidFill>
                  <a:srgbClr val="2D5A4C"/>
                </a:solidFill>
                <a:latin typeface="Liter" pitchFamily="34" charset="0"/>
                <a:ea typeface="Liter" pitchFamily="34" charset="-122"/>
                <a:cs typeface="Liter" pitchFamily="34" charset="-120"/>
              </a:rPr>
              <a:t>EXPLANATION</a:t>
            </a:r>
            <a:endParaRPr lang="en-US" sz="1600" dirty="0"/>
          </a:p>
        </p:txBody>
      </p:sp>
      <p:sp>
        <p:nvSpPr>
          <p:cNvPr id="8" name="Text 5"/>
          <p:cNvSpPr/>
          <p:nvPr/>
        </p:nvSpPr>
        <p:spPr>
          <a:xfrm>
            <a:off x="1498600" y="5359400"/>
            <a:ext cx="13716000" cy="6096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Database systems were invented to solve file system problems. By centralizing data and providing management tools, databases make organizations more efficient, accurate, and secure.</a:t>
            </a:r>
            <a:endParaRPr lang="en-US" sz="1600" dirty="0"/>
          </a:p>
        </p:txBody>
      </p:sp>
      <p:sp>
        <p:nvSpPr>
          <p:cNvPr id="9" name="Shape 6"/>
          <p:cNvSpPr/>
          <p:nvPr/>
        </p:nvSpPr>
        <p:spPr>
          <a:xfrm>
            <a:off x="762000" y="6223000"/>
            <a:ext cx="14732000" cy="1270000"/>
          </a:xfrm>
          <a:prstGeom prst="roundRect">
            <a:avLst>
              <a:gd name="adj" fmla="val 6000"/>
            </a:avLst>
          </a:prstGeom>
          <a:solidFill>
            <a:srgbClr val="D4943A">
              <a:alpha val="8235"/>
            </a:srgbClr>
          </a:solidFill>
          <a:ln/>
        </p:spPr>
      </p:sp>
      <p:sp>
        <p:nvSpPr>
          <p:cNvPr id="10" name="Shape 7"/>
          <p:cNvSpPr/>
          <p:nvPr/>
        </p:nvSpPr>
        <p:spPr>
          <a:xfrm>
            <a:off x="1016000" y="6350000"/>
            <a:ext cx="304800" cy="304800"/>
          </a:xfrm>
          <a:custGeom>
            <a:avLst/>
            <a:gdLst/>
            <a:ahLst/>
            <a:cxnLst/>
            <a:rect l="l" t="t" r="r" b="b"/>
            <a:pathLst>
              <a:path w="304800" h="304800">
                <a:moveTo>
                  <a:pt x="209490" y="166688"/>
                </a:moveTo>
                <a:lnTo>
                  <a:pt x="95845" y="166688"/>
                </a:lnTo>
                <a:cubicBezTo>
                  <a:pt x="97572" y="205085"/>
                  <a:pt x="106085" y="240447"/>
                  <a:pt x="118170" y="266343"/>
                </a:cubicBezTo>
                <a:cubicBezTo>
                  <a:pt x="124956" y="280928"/>
                  <a:pt x="132278" y="291227"/>
                  <a:pt x="139065" y="297537"/>
                </a:cubicBezTo>
                <a:cubicBezTo>
                  <a:pt x="145733" y="303788"/>
                  <a:pt x="150316" y="304800"/>
                  <a:pt x="152698" y="304800"/>
                </a:cubicBezTo>
                <a:cubicBezTo>
                  <a:pt x="155079" y="304800"/>
                  <a:pt x="159663" y="303788"/>
                  <a:pt x="166330" y="297537"/>
                </a:cubicBezTo>
                <a:cubicBezTo>
                  <a:pt x="173117" y="291227"/>
                  <a:pt x="180439" y="280868"/>
                  <a:pt x="187226" y="266343"/>
                </a:cubicBezTo>
                <a:cubicBezTo>
                  <a:pt x="199311" y="240447"/>
                  <a:pt x="207824" y="205085"/>
                  <a:pt x="209550" y="166688"/>
                </a:cubicBezTo>
                <a:close/>
                <a:moveTo>
                  <a:pt x="95786" y="138113"/>
                </a:moveTo>
                <a:lnTo>
                  <a:pt x="209431" y="138113"/>
                </a:lnTo>
                <a:cubicBezTo>
                  <a:pt x="207764" y="99715"/>
                  <a:pt x="199251" y="64353"/>
                  <a:pt x="187166" y="38457"/>
                </a:cubicBezTo>
                <a:cubicBezTo>
                  <a:pt x="180380" y="23932"/>
                  <a:pt x="173057" y="13573"/>
                  <a:pt x="166271" y="7263"/>
                </a:cubicBezTo>
                <a:cubicBezTo>
                  <a:pt x="159603" y="1012"/>
                  <a:pt x="155019" y="0"/>
                  <a:pt x="152638" y="0"/>
                </a:cubicBezTo>
                <a:cubicBezTo>
                  <a:pt x="150257" y="0"/>
                  <a:pt x="145673" y="1012"/>
                  <a:pt x="139005" y="7263"/>
                </a:cubicBezTo>
                <a:cubicBezTo>
                  <a:pt x="132219" y="13573"/>
                  <a:pt x="124897" y="23932"/>
                  <a:pt x="118110" y="38457"/>
                </a:cubicBezTo>
                <a:cubicBezTo>
                  <a:pt x="106025" y="64353"/>
                  <a:pt x="97512" y="99715"/>
                  <a:pt x="95786" y="138113"/>
                </a:cubicBezTo>
                <a:close/>
                <a:moveTo>
                  <a:pt x="67211" y="138113"/>
                </a:moveTo>
                <a:cubicBezTo>
                  <a:pt x="69294" y="87154"/>
                  <a:pt x="82451" y="39826"/>
                  <a:pt x="101679" y="8751"/>
                </a:cubicBezTo>
                <a:cubicBezTo>
                  <a:pt x="46851" y="28158"/>
                  <a:pt x="6489" y="78105"/>
                  <a:pt x="893" y="138113"/>
                </a:cubicBezTo>
                <a:lnTo>
                  <a:pt x="67211" y="138113"/>
                </a:lnTo>
                <a:close/>
                <a:moveTo>
                  <a:pt x="893" y="166688"/>
                </a:moveTo>
                <a:cubicBezTo>
                  <a:pt x="6489" y="226695"/>
                  <a:pt x="46851" y="276642"/>
                  <a:pt x="101679" y="296049"/>
                </a:cubicBezTo>
                <a:cubicBezTo>
                  <a:pt x="82451" y="264974"/>
                  <a:pt x="69294" y="217646"/>
                  <a:pt x="67211" y="166688"/>
                </a:cubicBezTo>
                <a:lnTo>
                  <a:pt x="893" y="166688"/>
                </a:lnTo>
                <a:close/>
                <a:moveTo>
                  <a:pt x="238065" y="166688"/>
                </a:moveTo>
                <a:cubicBezTo>
                  <a:pt x="235982" y="217646"/>
                  <a:pt x="222825" y="264974"/>
                  <a:pt x="203597" y="296049"/>
                </a:cubicBezTo>
                <a:cubicBezTo>
                  <a:pt x="258425" y="276582"/>
                  <a:pt x="298787" y="226695"/>
                  <a:pt x="304383" y="166688"/>
                </a:cubicBezTo>
                <a:lnTo>
                  <a:pt x="238065" y="166688"/>
                </a:lnTo>
                <a:close/>
                <a:moveTo>
                  <a:pt x="304383" y="138113"/>
                </a:moveTo>
                <a:cubicBezTo>
                  <a:pt x="298787" y="78105"/>
                  <a:pt x="258425" y="28158"/>
                  <a:pt x="203597" y="8751"/>
                </a:cubicBezTo>
                <a:cubicBezTo>
                  <a:pt x="222825" y="39826"/>
                  <a:pt x="235982" y="87154"/>
                  <a:pt x="238065" y="138113"/>
                </a:cubicBezTo>
                <a:lnTo>
                  <a:pt x="304383" y="138113"/>
                </a:lnTo>
                <a:close/>
              </a:path>
            </a:pathLst>
          </a:custGeom>
          <a:solidFill>
            <a:srgbClr val="D4943A"/>
          </a:solidFill>
          <a:ln/>
        </p:spPr>
      </p:sp>
      <p:sp>
        <p:nvSpPr>
          <p:cNvPr id="11" name="Text 8"/>
          <p:cNvSpPr/>
          <p:nvPr/>
        </p:nvSpPr>
        <p:spPr>
          <a:xfrm>
            <a:off x="1422400" y="6311900"/>
            <a:ext cx="3175000" cy="304800"/>
          </a:xfrm>
          <a:prstGeom prst="rect">
            <a:avLst/>
          </a:prstGeom>
          <a:noFill/>
          <a:ln/>
        </p:spPr>
        <p:txBody>
          <a:bodyPr wrap="none" lIns="0" tIns="0" rIns="0" bIns="0" rtlCol="0" anchor="ctr"/>
          <a:lstStyle/>
          <a:p>
            <a:pPr>
              <a:lnSpc>
                <a:spcPct val="100000"/>
              </a:lnSpc>
            </a:pPr>
            <a:r>
              <a:rPr lang="en-US" sz="1400" b="1" dirty="0">
                <a:solidFill>
                  <a:srgbClr val="D4943A"/>
                </a:solidFill>
                <a:latin typeface="Liter" pitchFamily="34" charset="0"/>
                <a:ea typeface="Liter" pitchFamily="34" charset="-122"/>
                <a:cs typeface="Liter" pitchFamily="34" charset="-120"/>
              </a:rPr>
              <a:t>REAL-WORLD EXAMPLE</a:t>
            </a:r>
            <a:endParaRPr lang="en-US" sz="1600" dirty="0"/>
          </a:p>
        </p:txBody>
      </p:sp>
      <p:sp>
        <p:nvSpPr>
          <p:cNvPr id="12" name="Text 9"/>
          <p:cNvSpPr/>
          <p:nvPr/>
        </p:nvSpPr>
        <p:spPr>
          <a:xfrm>
            <a:off x="1016000" y="6705600"/>
            <a:ext cx="14224000" cy="6604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An online store with a database can instantly check inventory, process orders, update stock, and generate sales reports — all simultaneously and without errors.</a:t>
            </a:r>
            <a:endParaRPr lang="en-US" sz="1600" dirty="0"/>
          </a:p>
        </p:txBody>
      </p:sp>
      <p:sp>
        <p:nvSpPr>
          <p:cNvPr id="13" name="Shape 10"/>
          <p:cNvSpPr/>
          <p:nvPr/>
        </p:nvSpPr>
        <p:spPr>
          <a:xfrm>
            <a:off x="762000" y="7747000"/>
            <a:ext cx="14732000" cy="635000"/>
          </a:xfrm>
          <a:prstGeom prst="roundRect">
            <a:avLst>
              <a:gd name="adj" fmla="val 6000"/>
            </a:avLst>
          </a:prstGeom>
          <a:solidFill>
            <a:srgbClr val="2D5A4C">
              <a:alpha val="8235"/>
            </a:srgbClr>
          </a:solidFill>
          <a:ln/>
        </p:spPr>
      </p:sp>
      <p:sp>
        <p:nvSpPr>
          <p:cNvPr id="14" name="Shape 11"/>
          <p:cNvSpPr/>
          <p:nvPr/>
        </p:nvSpPr>
        <p:spPr>
          <a:xfrm>
            <a:off x="1016000" y="7899400"/>
            <a:ext cx="254000" cy="254000"/>
          </a:xfrm>
          <a:custGeom>
            <a:avLst/>
            <a:gdLst/>
            <a:ahLst/>
            <a:cxnLst/>
            <a:rect l="l" t="t" r="r" b="b"/>
            <a:pathLst>
              <a:path w="254000" h="254000">
                <a:moveTo>
                  <a:pt x="175071" y="10517"/>
                </a:moveTo>
                <a:lnTo>
                  <a:pt x="152797" y="32792"/>
                </a:lnTo>
                <a:lnTo>
                  <a:pt x="221208" y="101203"/>
                </a:lnTo>
                <a:lnTo>
                  <a:pt x="243483" y="78929"/>
                </a:lnTo>
                <a:cubicBezTo>
                  <a:pt x="250230" y="72231"/>
                  <a:pt x="254000" y="63103"/>
                  <a:pt x="254000" y="53578"/>
                </a:cubicBezTo>
                <a:cubicBezTo>
                  <a:pt x="254000" y="44053"/>
                  <a:pt x="250230" y="34925"/>
                  <a:pt x="243483" y="28228"/>
                </a:cubicBezTo>
                <a:lnTo>
                  <a:pt x="225772" y="10517"/>
                </a:lnTo>
                <a:cubicBezTo>
                  <a:pt x="219075" y="3770"/>
                  <a:pt x="209947" y="0"/>
                  <a:pt x="200422" y="0"/>
                </a:cubicBezTo>
                <a:cubicBezTo>
                  <a:pt x="190897" y="0"/>
                  <a:pt x="181769" y="3770"/>
                  <a:pt x="175071" y="10517"/>
                </a:cubicBezTo>
                <a:close/>
                <a:moveTo>
                  <a:pt x="135979" y="49609"/>
                </a:moveTo>
                <a:lnTo>
                  <a:pt x="29220" y="156319"/>
                </a:lnTo>
                <a:cubicBezTo>
                  <a:pt x="23912" y="161627"/>
                  <a:pt x="20042" y="168275"/>
                  <a:pt x="18008" y="175518"/>
                </a:cubicBezTo>
                <a:lnTo>
                  <a:pt x="446" y="238919"/>
                </a:lnTo>
                <a:cubicBezTo>
                  <a:pt x="-695" y="243036"/>
                  <a:pt x="446" y="247501"/>
                  <a:pt x="3522" y="250527"/>
                </a:cubicBezTo>
                <a:cubicBezTo>
                  <a:pt x="6598" y="253554"/>
                  <a:pt x="11013" y="254744"/>
                  <a:pt x="15131" y="253603"/>
                </a:cubicBezTo>
                <a:lnTo>
                  <a:pt x="78532" y="235992"/>
                </a:lnTo>
                <a:cubicBezTo>
                  <a:pt x="85775" y="233958"/>
                  <a:pt x="92373" y="230138"/>
                  <a:pt x="97730" y="224780"/>
                </a:cubicBezTo>
                <a:lnTo>
                  <a:pt x="204391" y="118021"/>
                </a:lnTo>
                <a:lnTo>
                  <a:pt x="135979" y="49609"/>
                </a:lnTo>
                <a:close/>
              </a:path>
            </a:pathLst>
          </a:custGeom>
          <a:solidFill>
            <a:srgbClr val="2D5A4C"/>
          </a:solidFill>
          <a:ln/>
        </p:spPr>
      </p:sp>
      <p:sp>
        <p:nvSpPr>
          <p:cNvPr id="15" name="Text 12"/>
          <p:cNvSpPr/>
          <p:nvPr/>
        </p:nvSpPr>
        <p:spPr>
          <a:xfrm>
            <a:off x="1371600" y="7810500"/>
            <a:ext cx="13970000" cy="508000"/>
          </a:xfrm>
          <a:prstGeom prst="rect">
            <a:avLst/>
          </a:prstGeom>
          <a:noFill/>
          <a:ln/>
        </p:spPr>
        <p:txBody>
          <a:bodyPr wrap="square" lIns="0" tIns="0" rIns="0" bIns="0" rtlCol="0" anchor="ctr"/>
          <a:lstStyle/>
          <a:p>
            <a:pPr>
              <a:lnSpc>
                <a:spcPct val="140000"/>
              </a:lnSpc>
            </a:pPr>
            <a:r>
              <a:rPr lang="en-US" sz="1400" b="1" dirty="0">
                <a:solidFill>
                  <a:srgbClr val="2D5A4C"/>
                </a:solidFill>
                <a:latin typeface="Quattrocento Sans" pitchFamily="34" charset="0"/>
                <a:ea typeface="Quattrocento Sans" pitchFamily="34" charset="-122"/>
                <a:cs typeface="Quattrocento Sans" pitchFamily="34" charset="-120"/>
              </a:rPr>
              <a:t>Practice:</a:t>
            </a:r>
            <a:pPr>
              <a:lnSpc>
                <a:spcPct val="140000"/>
              </a:lnSpc>
            </a:pPr>
            <a:r>
              <a:rPr lang="en-US" sz="1400" dirty="0">
                <a:solidFill>
                  <a:srgbClr val="2D5A4C"/>
                </a:solidFill>
                <a:latin typeface="Quattrocento Sans" pitchFamily="34" charset="0"/>
                <a:ea typeface="Quattrocento Sans" pitchFamily="34" charset="-122"/>
                <a:cs typeface="Quattrocento Sans" pitchFamily="34" charset="-120"/>
              </a:rPr>
              <a:t> For each file system problem, name the database feature that solves it.</a:t>
            </a:r>
            <a:endParaRPr lang="en-US" sz="1600" dirty="0"/>
          </a:p>
        </p:txBody>
      </p:sp>
      <p:sp>
        <p:nvSpPr>
          <p:cNvPr id="16" name="Text 13"/>
          <p:cNvSpPr/>
          <p:nvPr/>
        </p:nvSpPr>
        <p:spPr>
          <a:xfrm>
            <a:off x="13462000" y="8788400"/>
            <a:ext cx="2286000" cy="254000"/>
          </a:xfrm>
          <a:prstGeom prst="rect">
            <a:avLst/>
          </a:prstGeom>
          <a:noFill/>
          <a:ln/>
        </p:spPr>
        <p:txBody>
          <a:bodyPr wrap="none" lIns="0" tIns="0" rIns="0" bIns="0" rtlCol="0" anchor="ctr"/>
          <a:lstStyle/>
          <a:p>
            <a:pPr algn="r">
              <a:lnSpc>
                <a:spcPct val="140000"/>
              </a:lnSpc>
            </a:pPr>
            <a:r>
              <a:rPr lang="en-US" sz="1400" dirty="0">
                <a:solidFill>
                  <a:srgbClr val="8B7355"/>
                </a:solidFill>
                <a:latin typeface="QuattrocentoSans" pitchFamily="34" charset="0"/>
                <a:ea typeface="QuattrocentoSans" pitchFamily="34" charset="-122"/>
                <a:cs typeface="QuattrocentoSans" pitchFamily="34" charset="-120"/>
              </a:rPr>
              <a:t>Database vs File System</a:t>
            </a:r>
            <a:endParaRPr lang="en-US" sz="14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6350000" cy="9144000"/>
          </a:xfrm>
          <a:prstGeom prst="rect">
            <a:avLst/>
          </a:prstGeom>
          <a:solidFill>
            <a:srgbClr val="2D5A4C"/>
          </a:solidFill>
          <a:ln/>
        </p:spPr>
      </p:sp>
      <p:pic>
        <p:nvPicPr>
          <p:cNvPr id="3" name="Image 0" descr="https://kimi-img.moonshot.cn/pub/slides/okc/iw55rugbchvnc/mnt/agents/output/db-intro/images/4_497_708_Dark_Data_Royalty_Free_Images.png">    </p:cNvPr>
          <p:cNvPicPr>
            <a:picLocks noChangeAspect="1"/>
          </p:cNvPicPr>
          <p:nvPr/>
        </p:nvPicPr>
        <p:blipFill>
          <a:blip r:embed="rId1"/>
          <a:srcRect l="19486" r="19486" t="0" b="0"/>
          <a:stretch/>
        </p:blipFill>
        <p:spPr>
          <a:xfrm>
            <a:off x="6350000" y="0"/>
            <a:ext cx="9906000" cy="9144000"/>
          </a:xfrm>
          <a:prstGeom prst="rect">
            <a:avLst/>
          </a:prstGeom>
        </p:spPr>
      </p:pic>
      <p:sp>
        <p:nvSpPr>
          <p:cNvPr id="4" name="Shape 1"/>
          <p:cNvSpPr/>
          <p:nvPr/>
        </p:nvSpPr>
        <p:spPr>
          <a:xfrm>
            <a:off x="6350000" y="0"/>
            <a:ext cx="9906000" cy="9144000"/>
          </a:xfrm>
          <a:prstGeom prst="rect">
            <a:avLst/>
          </a:prstGeom>
          <a:gradFill rotWithShape="1" flip="none">
            <a:gsLst>
              <a:gs pos="0">
                <a:srgbClr val="2D5A4C">
                  <a:alpha val="90000"/>
                </a:srgbClr>
              </a:gs>
              <a:gs pos="30000">
                <a:srgbClr val="2D5A4C">
                  <a:alpha val="50000"/>
                </a:srgbClr>
              </a:gs>
              <a:gs pos="100000">
                <a:srgbClr val="2D5A4C">
                  <a:alpha val="0"/>
                </a:srgbClr>
              </a:gs>
            </a:gsLst>
            <a:lin ang="0" scaled="1"/>
          </a:gradFill>
          <a:ln/>
        </p:spPr>
      </p:sp>
      <p:sp>
        <p:nvSpPr>
          <p:cNvPr id="5" name="Text 2"/>
          <p:cNvSpPr/>
          <p:nvPr/>
        </p:nvSpPr>
        <p:spPr>
          <a:xfrm>
            <a:off x="762000" y="2540000"/>
            <a:ext cx="4826000" cy="762000"/>
          </a:xfrm>
          <a:prstGeom prst="rect">
            <a:avLst/>
          </a:prstGeom>
          <a:noFill/>
          <a:ln/>
        </p:spPr>
        <p:txBody>
          <a:bodyPr wrap="none" lIns="0" tIns="0" rIns="0" bIns="0" rtlCol="0" anchor="ctr"/>
          <a:lstStyle/>
          <a:p>
            <a:pPr>
              <a:lnSpc>
                <a:spcPct val="110000"/>
              </a:lnSpc>
            </a:pPr>
            <a:r>
              <a:rPr lang="en-US" sz="4800" dirty="0">
                <a:solidFill>
                  <a:srgbClr val="D4943A"/>
                </a:solidFill>
                <a:latin typeface="Liter" pitchFamily="34" charset="0"/>
                <a:ea typeface="Liter" pitchFamily="34" charset="-122"/>
                <a:cs typeface="Liter" pitchFamily="34" charset="-120"/>
              </a:rPr>
              <a:t>02</a:t>
            </a:r>
            <a:endParaRPr lang="en-US" sz="4800" dirty="0"/>
          </a:p>
        </p:txBody>
      </p:sp>
      <p:sp>
        <p:nvSpPr>
          <p:cNvPr id="6" name="Shape 3"/>
          <p:cNvSpPr/>
          <p:nvPr/>
        </p:nvSpPr>
        <p:spPr>
          <a:xfrm>
            <a:off x="762000" y="3429000"/>
            <a:ext cx="1016000" cy="50800"/>
          </a:xfrm>
          <a:prstGeom prst="rect">
            <a:avLst/>
          </a:prstGeom>
          <a:solidFill>
            <a:srgbClr val="D4943A"/>
          </a:solidFill>
          <a:ln/>
        </p:spPr>
      </p:sp>
      <p:sp>
        <p:nvSpPr>
          <p:cNvPr id="7" name="Text 4"/>
          <p:cNvSpPr/>
          <p:nvPr/>
        </p:nvSpPr>
        <p:spPr>
          <a:xfrm>
            <a:off x="762000" y="3683000"/>
            <a:ext cx="4826000" cy="1524000"/>
          </a:xfrm>
          <a:prstGeom prst="rect">
            <a:avLst/>
          </a:prstGeom>
          <a:noFill/>
          <a:ln/>
        </p:spPr>
        <p:txBody>
          <a:bodyPr wrap="square" lIns="0" tIns="0" rIns="0" bIns="0" rtlCol="0" anchor="t"/>
          <a:lstStyle/>
          <a:p>
            <a:pPr>
              <a:lnSpc>
                <a:spcPct val="130000"/>
              </a:lnSpc>
            </a:pPr>
            <a:r>
              <a:rPr lang="en-US" sz="3200" b="1" dirty="0">
                <a:solidFill>
                  <a:srgbClr val="FFFFFF"/>
                </a:solidFill>
                <a:latin typeface="Liter" pitchFamily="34" charset="0"/>
                <a:ea typeface="Liter" pitchFamily="34" charset="-122"/>
                <a:cs typeface="Liter" pitchFamily="34" charset="-120"/>
              </a:rPr>
              <a:t>Database vs File System</a:t>
            </a:r>
            <a:endParaRPr lang="en-US" sz="1600" dirty="0"/>
          </a:p>
        </p:txBody>
      </p:sp>
      <p:sp>
        <p:nvSpPr>
          <p:cNvPr id="8" name="Text 5"/>
          <p:cNvSpPr/>
          <p:nvPr/>
        </p:nvSpPr>
        <p:spPr>
          <a:xfrm>
            <a:off x="762000" y="5334000"/>
            <a:ext cx="4826000" cy="1016000"/>
          </a:xfrm>
          <a:prstGeom prst="rect">
            <a:avLst/>
          </a:prstGeom>
          <a:noFill/>
          <a:ln/>
        </p:spPr>
        <p:txBody>
          <a:bodyPr wrap="square" lIns="0" tIns="0" rIns="0" bIns="0" rtlCol="0" anchor="t"/>
          <a:lstStyle/>
          <a:p>
            <a:pPr>
              <a:lnSpc>
                <a:spcPct val="150000"/>
              </a:lnSpc>
            </a:pPr>
            <a:r>
              <a:rPr lang="en-US" sz="1600" dirty="0">
                <a:solidFill>
                  <a:srgbClr val="FFFFFF">
                    <a:alpha val="66667"/>
                  </a:srgbClr>
                </a:solidFill>
                <a:latin typeface="Quattrocento Sans" pitchFamily="34" charset="0"/>
                <a:ea typeface="Quattrocento Sans" pitchFamily="34" charset="-122"/>
                <a:cs typeface="Quattrocento Sans" pitchFamily="34" charset="-120"/>
              </a:rPr>
              <a:t>Understanding why databases replaced file systems and the key advantages they bring</a:t>
            </a:r>
            <a:endParaRPr lang="en-US" sz="1600" dirty="0"/>
          </a:p>
        </p:txBody>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D4943A"/>
          </a:solidFill>
          <a:ln/>
        </p:spPr>
      </p:sp>
      <p:sp>
        <p:nvSpPr>
          <p:cNvPr id="3" name="Text 1"/>
          <p:cNvSpPr/>
          <p:nvPr/>
        </p:nvSpPr>
        <p:spPr>
          <a:xfrm>
            <a:off x="762000" y="381000"/>
            <a:ext cx="11430000" cy="508000"/>
          </a:xfrm>
          <a:prstGeom prst="rect">
            <a:avLst/>
          </a:prstGeom>
          <a:noFill/>
          <a:ln/>
        </p:spPr>
        <p:txBody>
          <a:bodyPr wrap="none" lIns="0" tIns="0" rIns="0" bIns="0" rtlCol="0" anchor="ctr"/>
          <a:lstStyle/>
          <a:p>
            <a:pPr>
              <a:lnSpc>
                <a:spcPct val="130000"/>
              </a:lnSpc>
            </a:pPr>
            <a:r>
              <a:rPr lang="en-US" sz="2800" dirty="0">
                <a:solidFill>
                  <a:srgbClr val="2D5A4C"/>
                </a:solidFill>
                <a:latin typeface="Liter" pitchFamily="34" charset="0"/>
                <a:ea typeface="Liter" pitchFamily="34" charset="-122"/>
                <a:cs typeface="Liter" pitchFamily="34" charset="-120"/>
              </a:rPr>
              <a:t>What Is Conceptual Data Modeling?</a:t>
            </a:r>
            <a:endParaRPr lang="en-US" sz="2800" dirty="0"/>
          </a:p>
        </p:txBody>
      </p:sp>
      <p:sp>
        <p:nvSpPr>
          <p:cNvPr id="4" name="Text 2"/>
          <p:cNvSpPr/>
          <p:nvPr/>
        </p:nvSpPr>
        <p:spPr>
          <a:xfrm>
            <a:off x="762000" y="1143000"/>
            <a:ext cx="7620000" cy="3683000"/>
          </a:xfrm>
          <a:prstGeom prst="rect">
            <a:avLst/>
          </a:prstGeom>
          <a:noFill/>
          <a:ln/>
        </p:spPr>
        <p:txBody>
          <a:bodyPr wrap="square" lIns="0" tIns="0" rIns="0" bIns="0" rtlCol="0" anchor="t"/>
          <a:lstStyle/>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Conceptual data modeling is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planning a database before building it</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It creates a blueprint showing what data will be stored and how it connects</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Think of it like an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architect's drawing</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before constructing a building</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The model focuses on business concepts, not technical implementation</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A good conceptual model helps everyone understand the database design</a:t>
            </a:r>
            <a:endParaRPr lang="en-US" sz="2000" dirty="0"/>
          </a:p>
        </p:txBody>
      </p:sp>
      <p:sp>
        <p:nvSpPr>
          <p:cNvPr id="5" name="Shape 3"/>
          <p:cNvSpPr/>
          <p:nvPr/>
        </p:nvSpPr>
        <p:spPr>
          <a:xfrm>
            <a:off x="8890000" y="1016000"/>
            <a:ext cx="6604000" cy="3810000"/>
          </a:xfrm>
          <a:prstGeom prst="roundRect">
            <a:avLst>
              <a:gd name="adj" fmla="val 8000"/>
            </a:avLst>
          </a:prstGeom>
          <a:solidFill>
            <a:srgbClr val="2D5A4C">
              <a:alpha val="8235"/>
            </a:srgbClr>
          </a:solidFill>
          <a:ln/>
        </p:spPr>
      </p:sp>
      <p:sp>
        <p:nvSpPr>
          <p:cNvPr id="6" name="Text 4"/>
          <p:cNvSpPr/>
          <p:nvPr/>
        </p:nvSpPr>
        <p:spPr>
          <a:xfrm>
            <a:off x="8890000" y="1117600"/>
            <a:ext cx="6604000" cy="355600"/>
          </a:xfrm>
          <a:prstGeom prst="rect">
            <a:avLst/>
          </a:prstGeom>
          <a:noFill/>
          <a:ln/>
        </p:spPr>
        <p:txBody>
          <a:bodyPr wrap="none" lIns="0" tIns="0" rIns="0" bIns="0" rtlCol="0" anchor="ctr"/>
          <a:lstStyle/>
          <a:p>
            <a:pPr algn="ctr">
              <a:lnSpc>
                <a:spcPct val="100000"/>
              </a:lnSpc>
            </a:pPr>
            <a:r>
              <a:rPr lang="en-US" sz="1400" b="1" dirty="0">
                <a:solidFill>
                  <a:srgbClr val="2D5A4C"/>
                </a:solidFill>
                <a:latin typeface="Liter" pitchFamily="34" charset="0"/>
                <a:ea typeface="Liter" pitchFamily="34" charset="-122"/>
                <a:cs typeface="Liter" pitchFamily="34" charset="-120"/>
              </a:rPr>
              <a:t>DATABASE DESIGN PROCESS</a:t>
            </a:r>
            <a:endParaRPr lang="en-US" sz="1600" dirty="0"/>
          </a:p>
        </p:txBody>
      </p:sp>
      <p:sp>
        <p:nvSpPr>
          <p:cNvPr id="7" name="Shape 5"/>
          <p:cNvSpPr/>
          <p:nvPr/>
        </p:nvSpPr>
        <p:spPr>
          <a:xfrm>
            <a:off x="9525000" y="1714500"/>
            <a:ext cx="2286000" cy="571500"/>
          </a:xfrm>
          <a:prstGeom prst="roundRect">
            <a:avLst>
              <a:gd name="adj" fmla="val 8000"/>
            </a:avLst>
          </a:prstGeom>
          <a:solidFill>
            <a:srgbClr val="8B7355"/>
          </a:solidFill>
          <a:ln/>
        </p:spPr>
      </p:sp>
      <p:sp>
        <p:nvSpPr>
          <p:cNvPr id="8" name="Text 6"/>
          <p:cNvSpPr/>
          <p:nvPr/>
        </p:nvSpPr>
        <p:spPr>
          <a:xfrm>
            <a:off x="9525000" y="1714500"/>
            <a:ext cx="2286000" cy="5715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Liter" pitchFamily="34" charset="0"/>
                <a:ea typeface="Liter" pitchFamily="34" charset="-122"/>
                <a:cs typeface="Liter" pitchFamily="34" charset="-120"/>
              </a:rPr>
              <a:t>Requirements</a:t>
            </a:r>
            <a:endParaRPr lang="en-US" sz="1600" dirty="0"/>
          </a:p>
        </p:txBody>
      </p:sp>
      <p:sp>
        <p:nvSpPr>
          <p:cNvPr id="9" name="Shape 7"/>
          <p:cNvSpPr/>
          <p:nvPr/>
        </p:nvSpPr>
        <p:spPr>
          <a:xfrm>
            <a:off x="11811000" y="1905000"/>
            <a:ext cx="381000" cy="0"/>
          </a:xfrm>
          <a:prstGeom prst="straightConnector1">
            <a:avLst/>
          </a:prstGeom>
          <a:noFill/>
          <a:ln w="25400">
            <a:solidFill>
              <a:srgbClr val="2D5A4C"/>
            </a:solidFill>
            <a:prstDash val="solid"/>
            <a:headEnd type="none"/>
            <a:tailEnd type="arrow"/>
          </a:ln>
        </p:spPr>
      </p:sp>
      <p:sp>
        <p:nvSpPr>
          <p:cNvPr id="10" name="Shape 8"/>
          <p:cNvSpPr/>
          <p:nvPr/>
        </p:nvSpPr>
        <p:spPr>
          <a:xfrm>
            <a:off x="12319000" y="1714500"/>
            <a:ext cx="2286000" cy="571500"/>
          </a:xfrm>
          <a:prstGeom prst="roundRect">
            <a:avLst>
              <a:gd name="adj" fmla="val 8000"/>
            </a:avLst>
          </a:prstGeom>
          <a:solidFill>
            <a:srgbClr val="D4943A"/>
          </a:solidFill>
          <a:ln/>
        </p:spPr>
      </p:sp>
      <p:sp>
        <p:nvSpPr>
          <p:cNvPr id="11" name="Text 9"/>
          <p:cNvSpPr/>
          <p:nvPr/>
        </p:nvSpPr>
        <p:spPr>
          <a:xfrm>
            <a:off x="12319000" y="1714500"/>
            <a:ext cx="2286000" cy="5715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Liter" pitchFamily="34" charset="0"/>
                <a:ea typeface="Liter" pitchFamily="34" charset="-122"/>
                <a:cs typeface="Liter" pitchFamily="34" charset="-120"/>
              </a:rPr>
              <a:t>Conceptual Model</a:t>
            </a:r>
            <a:endParaRPr lang="en-US" sz="1600" dirty="0"/>
          </a:p>
        </p:txBody>
      </p:sp>
      <p:sp>
        <p:nvSpPr>
          <p:cNvPr id="12" name="Shape 10"/>
          <p:cNvSpPr/>
          <p:nvPr/>
        </p:nvSpPr>
        <p:spPr>
          <a:xfrm>
            <a:off x="13462000" y="2286000"/>
            <a:ext cx="0" cy="381000"/>
          </a:xfrm>
          <a:prstGeom prst="straightConnector1">
            <a:avLst/>
          </a:prstGeom>
          <a:noFill/>
          <a:ln w="25400">
            <a:solidFill>
              <a:srgbClr val="2D5A4C"/>
            </a:solidFill>
            <a:prstDash val="solid"/>
            <a:headEnd type="none"/>
            <a:tailEnd type="arrow"/>
          </a:ln>
        </p:spPr>
      </p:sp>
      <p:sp>
        <p:nvSpPr>
          <p:cNvPr id="13" name="Shape 11"/>
          <p:cNvSpPr/>
          <p:nvPr/>
        </p:nvSpPr>
        <p:spPr>
          <a:xfrm>
            <a:off x="12319000" y="2794000"/>
            <a:ext cx="2286000" cy="571500"/>
          </a:xfrm>
          <a:prstGeom prst="roundRect">
            <a:avLst>
              <a:gd name="adj" fmla="val 8000"/>
            </a:avLst>
          </a:prstGeom>
          <a:solidFill>
            <a:srgbClr val="2D5A4C"/>
          </a:solidFill>
          <a:ln/>
        </p:spPr>
      </p:sp>
      <p:sp>
        <p:nvSpPr>
          <p:cNvPr id="14" name="Text 12"/>
          <p:cNvSpPr/>
          <p:nvPr/>
        </p:nvSpPr>
        <p:spPr>
          <a:xfrm>
            <a:off x="12319000" y="2794000"/>
            <a:ext cx="2286000" cy="5715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Liter" pitchFamily="34" charset="0"/>
                <a:ea typeface="Liter" pitchFamily="34" charset="-122"/>
                <a:cs typeface="Liter" pitchFamily="34" charset="-120"/>
              </a:rPr>
              <a:t>Logical Design</a:t>
            </a:r>
            <a:endParaRPr lang="en-US" sz="1600" dirty="0"/>
          </a:p>
        </p:txBody>
      </p:sp>
      <p:sp>
        <p:nvSpPr>
          <p:cNvPr id="15" name="Shape 13"/>
          <p:cNvSpPr/>
          <p:nvPr/>
        </p:nvSpPr>
        <p:spPr>
          <a:xfrm>
            <a:off x="13462000" y="3365500"/>
            <a:ext cx="0" cy="381000"/>
          </a:xfrm>
          <a:prstGeom prst="straightConnector1">
            <a:avLst/>
          </a:prstGeom>
          <a:noFill/>
          <a:ln w="25400">
            <a:solidFill>
              <a:srgbClr val="2D5A4C"/>
            </a:solidFill>
            <a:prstDash val="solid"/>
            <a:headEnd type="none"/>
            <a:tailEnd type="arrow"/>
          </a:ln>
        </p:spPr>
      </p:sp>
      <p:sp>
        <p:nvSpPr>
          <p:cNvPr id="16" name="Shape 14"/>
          <p:cNvSpPr/>
          <p:nvPr/>
        </p:nvSpPr>
        <p:spPr>
          <a:xfrm>
            <a:off x="12319000" y="3873500"/>
            <a:ext cx="2286000" cy="571500"/>
          </a:xfrm>
          <a:prstGeom prst="roundRect">
            <a:avLst>
              <a:gd name="adj" fmla="val 8000"/>
            </a:avLst>
          </a:prstGeom>
          <a:solidFill>
            <a:srgbClr val="2D5A4C"/>
          </a:solidFill>
          <a:ln/>
        </p:spPr>
      </p:sp>
      <p:sp>
        <p:nvSpPr>
          <p:cNvPr id="17" name="Text 15"/>
          <p:cNvSpPr/>
          <p:nvPr/>
        </p:nvSpPr>
        <p:spPr>
          <a:xfrm>
            <a:off x="12319000" y="3873500"/>
            <a:ext cx="2286000" cy="5715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Liter" pitchFamily="34" charset="0"/>
                <a:ea typeface="Liter" pitchFamily="34" charset="-122"/>
                <a:cs typeface="Liter" pitchFamily="34" charset="-120"/>
              </a:rPr>
              <a:t>Implementation</a:t>
            </a:r>
            <a:endParaRPr lang="en-US" sz="1600" dirty="0"/>
          </a:p>
        </p:txBody>
      </p:sp>
      <p:sp>
        <p:nvSpPr>
          <p:cNvPr id="18" name="Text 16"/>
          <p:cNvSpPr/>
          <p:nvPr/>
        </p:nvSpPr>
        <p:spPr>
          <a:xfrm>
            <a:off x="9525000" y="2540000"/>
            <a:ext cx="2286000" cy="1778000"/>
          </a:xfrm>
          <a:prstGeom prst="rect">
            <a:avLst/>
          </a:prstGeom>
          <a:noFill/>
          <a:ln/>
        </p:spPr>
        <p:txBody>
          <a:bodyPr wrap="square" lIns="0" tIns="0" rIns="0" bIns="0" rtlCol="0" anchor="ctr"/>
          <a:lstStyle/>
          <a:p>
            <a:pPr algn="ctr">
              <a:lnSpc>
                <a:spcPct val="140000"/>
              </a:lnSpc>
            </a:pPr>
            <a:r>
              <a:rPr lang="en-US" sz="2800" dirty="0">
                <a:solidFill>
                  <a:srgbClr val="D4943A"/>
                </a:solidFill>
                <a:latin typeface="Quattrocento Sans" pitchFamily="34" charset="0"/>
                <a:ea typeface="Quattrocento Sans" pitchFamily="34" charset="-122"/>
                <a:cs typeface="Quattrocento Sans" pitchFamily="34" charset="-120"/>
              </a:rPr>
              <a:t>→</a:t>
            </a:r>
            <a:endParaRPr lang="en-US" sz="1600" dirty="0"/>
          </a:p>
          <a:p>
            <a:pPr algn="ctr">
              <a:lnSpc>
                <a:spcPct val="140000"/>
              </a:lnSpc>
            </a:pPr>
            <a:r>
              <a:rPr lang="en-US" sz="1200" b="1" dirty="0">
                <a:solidFill>
                  <a:srgbClr val="D4943A"/>
                </a:solidFill>
                <a:latin typeface="Quattrocento Sans" pitchFamily="34" charset="0"/>
                <a:ea typeface="Quattrocento Sans" pitchFamily="34" charset="-122"/>
                <a:cs typeface="Quattrocento Sans" pitchFamily="34" charset="-120"/>
              </a:rPr>
              <a:t>This is where we</a:t>
            </a:r>
            <a:endParaRPr lang="en-US" sz="1600" dirty="0"/>
          </a:p>
          <a:p>
            <a:pPr algn="ctr">
              <a:lnSpc>
                <a:spcPct val="140000"/>
              </a:lnSpc>
            </a:pPr>
            <a:r>
              <a:rPr lang="en-US" sz="1200" b="1" dirty="0">
                <a:solidFill>
                  <a:srgbClr val="D4943A"/>
                </a:solidFill>
                <a:latin typeface="Quattrocento Sans" pitchFamily="34" charset="0"/>
                <a:ea typeface="Quattrocento Sans" pitchFamily="34" charset="-122"/>
                <a:cs typeface="Quattrocento Sans" pitchFamily="34" charset="-120"/>
              </a:rPr>
              <a:t>focus in this course!</a:t>
            </a:r>
            <a:endParaRPr lang="en-US" sz="1600" dirty="0"/>
          </a:p>
        </p:txBody>
      </p:sp>
      <p:sp>
        <p:nvSpPr>
          <p:cNvPr id="19" name="Shape 17"/>
          <p:cNvSpPr/>
          <p:nvPr/>
        </p:nvSpPr>
        <p:spPr>
          <a:xfrm>
            <a:off x="762000" y="5080000"/>
            <a:ext cx="14732000" cy="1016000"/>
          </a:xfrm>
          <a:prstGeom prst="roundRect">
            <a:avLst>
              <a:gd name="adj" fmla="val 6000"/>
            </a:avLst>
          </a:prstGeom>
          <a:solidFill>
            <a:srgbClr val="E8E2DA"/>
          </a:solidFill>
          <a:ln/>
        </p:spPr>
      </p:sp>
      <p:sp>
        <p:nvSpPr>
          <p:cNvPr id="20" name="Shape 18"/>
          <p:cNvSpPr/>
          <p:nvPr/>
        </p:nvSpPr>
        <p:spPr>
          <a:xfrm>
            <a:off x="1060450" y="5308600"/>
            <a:ext cx="266700" cy="355600"/>
          </a:xfrm>
          <a:custGeom>
            <a:avLst/>
            <a:gdLst/>
            <a:ahLst/>
            <a:cxnLst/>
            <a:rect l="l" t="t" r="r" b="b"/>
            <a:pathLst>
              <a:path w="266700" h="355600">
                <a:moveTo>
                  <a:pt x="203428" y="266700"/>
                </a:moveTo>
                <a:cubicBezTo>
                  <a:pt x="208498" y="251212"/>
                  <a:pt x="218638" y="237182"/>
                  <a:pt x="230098" y="225098"/>
                </a:cubicBezTo>
                <a:cubicBezTo>
                  <a:pt x="252809" y="201206"/>
                  <a:pt x="266700" y="168910"/>
                  <a:pt x="266700" y="133350"/>
                </a:cubicBezTo>
                <a:cubicBezTo>
                  <a:pt x="266700" y="59730"/>
                  <a:pt x="206970" y="0"/>
                  <a:pt x="133350" y="0"/>
                </a:cubicBezTo>
                <a:cubicBezTo>
                  <a:pt x="59730" y="0"/>
                  <a:pt x="0" y="59730"/>
                  <a:pt x="0" y="133350"/>
                </a:cubicBezTo>
                <a:cubicBezTo>
                  <a:pt x="0" y="168910"/>
                  <a:pt x="13891" y="201206"/>
                  <a:pt x="36602" y="225098"/>
                </a:cubicBezTo>
                <a:cubicBezTo>
                  <a:pt x="48062" y="237182"/>
                  <a:pt x="58271" y="251212"/>
                  <a:pt x="63272" y="266700"/>
                </a:cubicBezTo>
                <a:lnTo>
                  <a:pt x="203359" y="266700"/>
                </a:lnTo>
                <a:close/>
                <a:moveTo>
                  <a:pt x="200025" y="300038"/>
                </a:moveTo>
                <a:lnTo>
                  <a:pt x="66675" y="300038"/>
                </a:lnTo>
                <a:lnTo>
                  <a:pt x="66675" y="311150"/>
                </a:lnTo>
                <a:cubicBezTo>
                  <a:pt x="66675" y="341848"/>
                  <a:pt x="91539" y="366712"/>
                  <a:pt x="122238" y="366712"/>
                </a:cubicBezTo>
                <a:lnTo>
                  <a:pt x="144463" y="366712"/>
                </a:lnTo>
                <a:cubicBezTo>
                  <a:pt x="175161" y="366712"/>
                  <a:pt x="200025" y="341848"/>
                  <a:pt x="200025" y="311150"/>
                </a:cubicBezTo>
                <a:lnTo>
                  <a:pt x="200025" y="300038"/>
                </a:lnTo>
                <a:close/>
                <a:moveTo>
                  <a:pt x="127794" y="77788"/>
                </a:moveTo>
                <a:cubicBezTo>
                  <a:pt x="100151" y="77788"/>
                  <a:pt x="77788" y="100151"/>
                  <a:pt x="77788" y="127794"/>
                </a:cubicBezTo>
                <a:cubicBezTo>
                  <a:pt x="77788" y="137031"/>
                  <a:pt x="70356" y="144463"/>
                  <a:pt x="61119" y="144463"/>
                </a:cubicBezTo>
                <a:cubicBezTo>
                  <a:pt x="51881" y="144463"/>
                  <a:pt x="44450" y="137031"/>
                  <a:pt x="44450" y="127794"/>
                </a:cubicBezTo>
                <a:cubicBezTo>
                  <a:pt x="44450" y="81746"/>
                  <a:pt x="81746" y="44450"/>
                  <a:pt x="127794" y="44450"/>
                </a:cubicBezTo>
                <a:cubicBezTo>
                  <a:pt x="137031" y="44450"/>
                  <a:pt x="144463" y="51881"/>
                  <a:pt x="144463" y="61119"/>
                </a:cubicBezTo>
                <a:cubicBezTo>
                  <a:pt x="144463" y="70356"/>
                  <a:pt x="137031" y="77788"/>
                  <a:pt x="127794" y="77788"/>
                </a:cubicBezTo>
                <a:close/>
              </a:path>
            </a:pathLst>
          </a:custGeom>
          <a:solidFill>
            <a:srgbClr val="D4943A"/>
          </a:solidFill>
          <a:ln/>
        </p:spPr>
      </p:sp>
      <p:sp>
        <p:nvSpPr>
          <p:cNvPr id="21" name="Text 19"/>
          <p:cNvSpPr/>
          <p:nvPr/>
        </p:nvSpPr>
        <p:spPr>
          <a:xfrm>
            <a:off x="1498600" y="5143500"/>
            <a:ext cx="2540000" cy="304800"/>
          </a:xfrm>
          <a:prstGeom prst="rect">
            <a:avLst/>
          </a:prstGeom>
          <a:noFill/>
          <a:ln/>
        </p:spPr>
        <p:txBody>
          <a:bodyPr wrap="none" lIns="0" tIns="0" rIns="0" bIns="0" rtlCol="0" anchor="ctr"/>
          <a:lstStyle/>
          <a:p>
            <a:pPr>
              <a:lnSpc>
                <a:spcPct val="100000"/>
              </a:lnSpc>
            </a:pPr>
            <a:r>
              <a:rPr lang="en-US" sz="1400" b="1" dirty="0">
                <a:solidFill>
                  <a:srgbClr val="2D5A4C"/>
                </a:solidFill>
                <a:latin typeface="Liter" pitchFamily="34" charset="0"/>
                <a:ea typeface="Liter" pitchFamily="34" charset="-122"/>
                <a:cs typeface="Liter" pitchFamily="34" charset="-120"/>
              </a:rPr>
              <a:t>EXPLANATION</a:t>
            </a:r>
            <a:endParaRPr lang="en-US" sz="1600" dirty="0"/>
          </a:p>
        </p:txBody>
      </p:sp>
      <p:sp>
        <p:nvSpPr>
          <p:cNvPr id="22" name="Text 20"/>
          <p:cNvSpPr/>
          <p:nvPr/>
        </p:nvSpPr>
        <p:spPr>
          <a:xfrm>
            <a:off x="1498600" y="5486400"/>
            <a:ext cx="13716000" cy="5080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Before writing any code, designers create a conceptual model. This high-level plan describes the main things (entities) the database will track and how they relate to each other.</a:t>
            </a:r>
            <a:endParaRPr lang="en-US" sz="1600" dirty="0"/>
          </a:p>
        </p:txBody>
      </p:sp>
      <p:sp>
        <p:nvSpPr>
          <p:cNvPr id="23" name="Shape 21"/>
          <p:cNvSpPr/>
          <p:nvPr/>
        </p:nvSpPr>
        <p:spPr>
          <a:xfrm>
            <a:off x="762000" y="6350000"/>
            <a:ext cx="14732000" cy="1270000"/>
          </a:xfrm>
          <a:prstGeom prst="roundRect">
            <a:avLst>
              <a:gd name="adj" fmla="val 6000"/>
            </a:avLst>
          </a:prstGeom>
          <a:solidFill>
            <a:srgbClr val="D4943A">
              <a:alpha val="8235"/>
            </a:srgbClr>
          </a:solidFill>
          <a:ln/>
        </p:spPr>
      </p:sp>
      <p:sp>
        <p:nvSpPr>
          <p:cNvPr id="24" name="Shape 22"/>
          <p:cNvSpPr/>
          <p:nvPr/>
        </p:nvSpPr>
        <p:spPr>
          <a:xfrm>
            <a:off x="1016000" y="6477000"/>
            <a:ext cx="304800" cy="304800"/>
          </a:xfrm>
          <a:custGeom>
            <a:avLst/>
            <a:gdLst/>
            <a:ahLst/>
            <a:cxnLst/>
            <a:rect l="l" t="t" r="r" b="b"/>
            <a:pathLst>
              <a:path w="304800" h="304800">
                <a:moveTo>
                  <a:pt x="209490" y="166688"/>
                </a:moveTo>
                <a:lnTo>
                  <a:pt x="95845" y="166688"/>
                </a:lnTo>
                <a:cubicBezTo>
                  <a:pt x="97572" y="205085"/>
                  <a:pt x="106085" y="240447"/>
                  <a:pt x="118170" y="266343"/>
                </a:cubicBezTo>
                <a:cubicBezTo>
                  <a:pt x="124956" y="280928"/>
                  <a:pt x="132278" y="291227"/>
                  <a:pt x="139065" y="297537"/>
                </a:cubicBezTo>
                <a:cubicBezTo>
                  <a:pt x="145733" y="303788"/>
                  <a:pt x="150316" y="304800"/>
                  <a:pt x="152698" y="304800"/>
                </a:cubicBezTo>
                <a:cubicBezTo>
                  <a:pt x="155079" y="304800"/>
                  <a:pt x="159663" y="303788"/>
                  <a:pt x="166330" y="297537"/>
                </a:cubicBezTo>
                <a:cubicBezTo>
                  <a:pt x="173117" y="291227"/>
                  <a:pt x="180439" y="280868"/>
                  <a:pt x="187226" y="266343"/>
                </a:cubicBezTo>
                <a:cubicBezTo>
                  <a:pt x="199311" y="240447"/>
                  <a:pt x="207824" y="205085"/>
                  <a:pt x="209550" y="166688"/>
                </a:cubicBezTo>
                <a:close/>
                <a:moveTo>
                  <a:pt x="95786" y="138113"/>
                </a:moveTo>
                <a:lnTo>
                  <a:pt x="209431" y="138113"/>
                </a:lnTo>
                <a:cubicBezTo>
                  <a:pt x="207764" y="99715"/>
                  <a:pt x="199251" y="64353"/>
                  <a:pt x="187166" y="38457"/>
                </a:cubicBezTo>
                <a:cubicBezTo>
                  <a:pt x="180380" y="23932"/>
                  <a:pt x="173057" y="13573"/>
                  <a:pt x="166271" y="7263"/>
                </a:cubicBezTo>
                <a:cubicBezTo>
                  <a:pt x="159603" y="1012"/>
                  <a:pt x="155019" y="0"/>
                  <a:pt x="152638" y="0"/>
                </a:cubicBezTo>
                <a:cubicBezTo>
                  <a:pt x="150257" y="0"/>
                  <a:pt x="145673" y="1012"/>
                  <a:pt x="139005" y="7263"/>
                </a:cubicBezTo>
                <a:cubicBezTo>
                  <a:pt x="132219" y="13573"/>
                  <a:pt x="124897" y="23932"/>
                  <a:pt x="118110" y="38457"/>
                </a:cubicBezTo>
                <a:cubicBezTo>
                  <a:pt x="106025" y="64353"/>
                  <a:pt x="97512" y="99715"/>
                  <a:pt x="95786" y="138113"/>
                </a:cubicBezTo>
                <a:close/>
                <a:moveTo>
                  <a:pt x="67211" y="138113"/>
                </a:moveTo>
                <a:cubicBezTo>
                  <a:pt x="69294" y="87154"/>
                  <a:pt x="82451" y="39826"/>
                  <a:pt x="101679" y="8751"/>
                </a:cubicBezTo>
                <a:cubicBezTo>
                  <a:pt x="46851" y="28158"/>
                  <a:pt x="6489" y="78105"/>
                  <a:pt x="893" y="138113"/>
                </a:cubicBezTo>
                <a:lnTo>
                  <a:pt x="67211" y="138113"/>
                </a:lnTo>
                <a:close/>
                <a:moveTo>
                  <a:pt x="893" y="166688"/>
                </a:moveTo>
                <a:cubicBezTo>
                  <a:pt x="6489" y="226695"/>
                  <a:pt x="46851" y="276642"/>
                  <a:pt x="101679" y="296049"/>
                </a:cubicBezTo>
                <a:cubicBezTo>
                  <a:pt x="82451" y="264974"/>
                  <a:pt x="69294" y="217646"/>
                  <a:pt x="67211" y="166688"/>
                </a:cubicBezTo>
                <a:lnTo>
                  <a:pt x="893" y="166688"/>
                </a:lnTo>
                <a:close/>
                <a:moveTo>
                  <a:pt x="238065" y="166688"/>
                </a:moveTo>
                <a:cubicBezTo>
                  <a:pt x="235982" y="217646"/>
                  <a:pt x="222825" y="264974"/>
                  <a:pt x="203597" y="296049"/>
                </a:cubicBezTo>
                <a:cubicBezTo>
                  <a:pt x="258425" y="276582"/>
                  <a:pt x="298787" y="226695"/>
                  <a:pt x="304383" y="166688"/>
                </a:cubicBezTo>
                <a:lnTo>
                  <a:pt x="238065" y="166688"/>
                </a:lnTo>
                <a:close/>
                <a:moveTo>
                  <a:pt x="304383" y="138113"/>
                </a:moveTo>
                <a:cubicBezTo>
                  <a:pt x="298787" y="78105"/>
                  <a:pt x="258425" y="28158"/>
                  <a:pt x="203597" y="8751"/>
                </a:cubicBezTo>
                <a:cubicBezTo>
                  <a:pt x="222825" y="39826"/>
                  <a:pt x="235982" y="87154"/>
                  <a:pt x="238065" y="138113"/>
                </a:cubicBezTo>
                <a:lnTo>
                  <a:pt x="304383" y="138113"/>
                </a:lnTo>
                <a:close/>
              </a:path>
            </a:pathLst>
          </a:custGeom>
          <a:solidFill>
            <a:srgbClr val="D4943A"/>
          </a:solidFill>
          <a:ln/>
        </p:spPr>
      </p:sp>
      <p:sp>
        <p:nvSpPr>
          <p:cNvPr id="25" name="Text 23"/>
          <p:cNvSpPr/>
          <p:nvPr/>
        </p:nvSpPr>
        <p:spPr>
          <a:xfrm>
            <a:off x="1422400" y="6438900"/>
            <a:ext cx="3175000" cy="304800"/>
          </a:xfrm>
          <a:prstGeom prst="rect">
            <a:avLst/>
          </a:prstGeom>
          <a:noFill/>
          <a:ln/>
        </p:spPr>
        <p:txBody>
          <a:bodyPr wrap="none" lIns="0" tIns="0" rIns="0" bIns="0" rtlCol="0" anchor="ctr"/>
          <a:lstStyle/>
          <a:p>
            <a:pPr>
              <a:lnSpc>
                <a:spcPct val="100000"/>
              </a:lnSpc>
            </a:pPr>
            <a:r>
              <a:rPr lang="en-US" sz="1400" b="1" dirty="0">
                <a:solidFill>
                  <a:srgbClr val="D4943A"/>
                </a:solidFill>
                <a:latin typeface="Liter" pitchFamily="34" charset="0"/>
                <a:ea typeface="Liter" pitchFamily="34" charset="-122"/>
                <a:cs typeface="Liter" pitchFamily="34" charset="-120"/>
              </a:rPr>
              <a:t>REAL-WORLD EXAMPLE</a:t>
            </a:r>
            <a:endParaRPr lang="en-US" sz="1600" dirty="0"/>
          </a:p>
        </p:txBody>
      </p:sp>
      <p:sp>
        <p:nvSpPr>
          <p:cNvPr id="26" name="Text 24"/>
          <p:cNvSpPr/>
          <p:nvPr/>
        </p:nvSpPr>
        <p:spPr>
          <a:xfrm>
            <a:off x="1016000" y="6832600"/>
            <a:ext cx="14224000" cy="6604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Before building a hospital database, designers create a conceptual model showing that Patients have Appointments, Doctors write Prescriptions, and Rooms are assigned to Patients.</a:t>
            </a:r>
            <a:endParaRPr lang="en-US" sz="1600" dirty="0"/>
          </a:p>
        </p:txBody>
      </p:sp>
      <p:sp>
        <p:nvSpPr>
          <p:cNvPr id="27" name="Shape 25"/>
          <p:cNvSpPr/>
          <p:nvPr/>
        </p:nvSpPr>
        <p:spPr>
          <a:xfrm>
            <a:off x="762000" y="7874000"/>
            <a:ext cx="14732000" cy="635000"/>
          </a:xfrm>
          <a:prstGeom prst="roundRect">
            <a:avLst>
              <a:gd name="adj" fmla="val 6000"/>
            </a:avLst>
          </a:prstGeom>
          <a:solidFill>
            <a:srgbClr val="2D5A4C">
              <a:alpha val="8235"/>
            </a:srgbClr>
          </a:solidFill>
          <a:ln/>
        </p:spPr>
      </p:sp>
      <p:sp>
        <p:nvSpPr>
          <p:cNvPr id="28" name="Shape 26"/>
          <p:cNvSpPr/>
          <p:nvPr/>
        </p:nvSpPr>
        <p:spPr>
          <a:xfrm>
            <a:off x="1016000" y="8026400"/>
            <a:ext cx="254000" cy="254000"/>
          </a:xfrm>
          <a:custGeom>
            <a:avLst/>
            <a:gdLst/>
            <a:ahLst/>
            <a:cxnLst/>
            <a:rect l="l" t="t" r="r" b="b"/>
            <a:pathLst>
              <a:path w="254000" h="254000">
                <a:moveTo>
                  <a:pt x="175071" y="10517"/>
                </a:moveTo>
                <a:lnTo>
                  <a:pt x="152797" y="32792"/>
                </a:lnTo>
                <a:lnTo>
                  <a:pt x="221208" y="101203"/>
                </a:lnTo>
                <a:lnTo>
                  <a:pt x="243483" y="78929"/>
                </a:lnTo>
                <a:cubicBezTo>
                  <a:pt x="250230" y="72231"/>
                  <a:pt x="254000" y="63103"/>
                  <a:pt x="254000" y="53578"/>
                </a:cubicBezTo>
                <a:cubicBezTo>
                  <a:pt x="254000" y="44053"/>
                  <a:pt x="250230" y="34925"/>
                  <a:pt x="243483" y="28228"/>
                </a:cubicBezTo>
                <a:lnTo>
                  <a:pt x="225772" y="10517"/>
                </a:lnTo>
                <a:cubicBezTo>
                  <a:pt x="219075" y="3770"/>
                  <a:pt x="209947" y="0"/>
                  <a:pt x="200422" y="0"/>
                </a:cubicBezTo>
                <a:cubicBezTo>
                  <a:pt x="190897" y="0"/>
                  <a:pt x="181769" y="3770"/>
                  <a:pt x="175071" y="10517"/>
                </a:cubicBezTo>
                <a:close/>
                <a:moveTo>
                  <a:pt x="135979" y="49609"/>
                </a:moveTo>
                <a:lnTo>
                  <a:pt x="29220" y="156319"/>
                </a:lnTo>
                <a:cubicBezTo>
                  <a:pt x="23912" y="161627"/>
                  <a:pt x="20042" y="168275"/>
                  <a:pt x="18008" y="175518"/>
                </a:cubicBezTo>
                <a:lnTo>
                  <a:pt x="446" y="238919"/>
                </a:lnTo>
                <a:cubicBezTo>
                  <a:pt x="-695" y="243036"/>
                  <a:pt x="446" y="247501"/>
                  <a:pt x="3522" y="250527"/>
                </a:cubicBezTo>
                <a:cubicBezTo>
                  <a:pt x="6598" y="253554"/>
                  <a:pt x="11013" y="254744"/>
                  <a:pt x="15131" y="253603"/>
                </a:cubicBezTo>
                <a:lnTo>
                  <a:pt x="78532" y="235992"/>
                </a:lnTo>
                <a:cubicBezTo>
                  <a:pt x="85775" y="233958"/>
                  <a:pt x="92373" y="230138"/>
                  <a:pt x="97730" y="224780"/>
                </a:cubicBezTo>
                <a:lnTo>
                  <a:pt x="204391" y="118021"/>
                </a:lnTo>
                <a:lnTo>
                  <a:pt x="135979" y="49609"/>
                </a:lnTo>
                <a:close/>
              </a:path>
            </a:pathLst>
          </a:custGeom>
          <a:solidFill>
            <a:srgbClr val="2D5A4C"/>
          </a:solidFill>
          <a:ln/>
        </p:spPr>
      </p:sp>
      <p:sp>
        <p:nvSpPr>
          <p:cNvPr id="29" name="Text 27"/>
          <p:cNvSpPr/>
          <p:nvPr/>
        </p:nvSpPr>
        <p:spPr>
          <a:xfrm>
            <a:off x="1371600" y="7937500"/>
            <a:ext cx="13970000" cy="508000"/>
          </a:xfrm>
          <a:prstGeom prst="rect">
            <a:avLst/>
          </a:prstGeom>
          <a:noFill/>
          <a:ln/>
        </p:spPr>
        <p:txBody>
          <a:bodyPr wrap="square" lIns="0" tIns="0" rIns="0" bIns="0" rtlCol="0" anchor="ctr"/>
          <a:lstStyle/>
          <a:p>
            <a:pPr>
              <a:lnSpc>
                <a:spcPct val="140000"/>
              </a:lnSpc>
            </a:pPr>
            <a:r>
              <a:rPr lang="en-US" sz="1400" b="1" dirty="0">
                <a:solidFill>
                  <a:srgbClr val="2D5A4C"/>
                </a:solidFill>
                <a:latin typeface="Quattrocento Sans" pitchFamily="34" charset="0"/>
                <a:ea typeface="Quattrocento Sans" pitchFamily="34" charset="-122"/>
                <a:cs typeface="Quattrocento Sans" pitchFamily="34" charset="-120"/>
              </a:rPr>
              <a:t>Practice:</a:t>
            </a:r>
            <a:pPr>
              <a:lnSpc>
                <a:spcPct val="140000"/>
              </a:lnSpc>
            </a:pPr>
            <a:r>
              <a:rPr lang="en-US" sz="1400" dirty="0">
                <a:solidFill>
                  <a:srgbClr val="2D5A4C"/>
                </a:solidFill>
                <a:latin typeface="Quattrocento Sans" pitchFamily="34" charset="0"/>
                <a:ea typeface="Quattrocento Sans" pitchFamily="34" charset="-122"/>
                <a:cs typeface="Quattrocento Sans" pitchFamily="34" charset="-120"/>
              </a:rPr>
              <a:t> Think about planning a database for a pet store — what things would you need to track?</a:t>
            </a:r>
            <a:endParaRPr lang="en-US" sz="1600" dirty="0"/>
          </a:p>
        </p:txBody>
      </p:sp>
      <p:sp>
        <p:nvSpPr>
          <p:cNvPr id="30" name="Text 28"/>
          <p:cNvSpPr/>
          <p:nvPr/>
        </p:nvSpPr>
        <p:spPr>
          <a:xfrm>
            <a:off x="13462000" y="8788400"/>
            <a:ext cx="2286000" cy="254000"/>
          </a:xfrm>
          <a:prstGeom prst="rect">
            <a:avLst/>
          </a:prstGeom>
          <a:noFill/>
          <a:ln/>
        </p:spPr>
        <p:txBody>
          <a:bodyPr wrap="none" lIns="0" tIns="0" rIns="0" bIns="0" rtlCol="0" anchor="ctr"/>
          <a:lstStyle/>
          <a:p>
            <a:pPr algn="r">
              <a:lnSpc>
                <a:spcPct val="140000"/>
              </a:lnSpc>
            </a:pPr>
            <a:r>
              <a:rPr lang="en-US" sz="1400" dirty="0">
                <a:solidFill>
                  <a:srgbClr val="8B7355"/>
                </a:solidFill>
                <a:latin typeface="QuattrocentoSans" pitchFamily="34" charset="0"/>
                <a:ea typeface="QuattrocentoSans" pitchFamily="34" charset="-122"/>
                <a:cs typeface="QuattrocentoSans" pitchFamily="34" charset="-120"/>
              </a:rPr>
              <a:t>Conceptual Data Models</a:t>
            </a:r>
            <a:endParaRPr lang="en-US" sz="1400" dirty="0"/>
          </a:p>
        </p:txBody>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D4943A"/>
          </a:solidFill>
          <a:ln/>
        </p:spPr>
      </p:sp>
      <p:sp>
        <p:nvSpPr>
          <p:cNvPr id="3" name="Text 1"/>
          <p:cNvSpPr/>
          <p:nvPr/>
        </p:nvSpPr>
        <p:spPr>
          <a:xfrm>
            <a:off x="762000" y="381000"/>
            <a:ext cx="11430000" cy="508000"/>
          </a:xfrm>
          <a:prstGeom prst="rect">
            <a:avLst/>
          </a:prstGeom>
          <a:noFill/>
          <a:ln/>
        </p:spPr>
        <p:txBody>
          <a:bodyPr wrap="none" lIns="0" tIns="0" rIns="0" bIns="0" rtlCol="0" anchor="ctr"/>
          <a:lstStyle/>
          <a:p>
            <a:pPr>
              <a:lnSpc>
                <a:spcPct val="130000"/>
              </a:lnSpc>
            </a:pPr>
            <a:r>
              <a:rPr lang="en-US" sz="2800" dirty="0">
                <a:solidFill>
                  <a:srgbClr val="2D5A4C"/>
                </a:solidFill>
                <a:latin typeface="Liter" pitchFamily="34" charset="0"/>
                <a:ea typeface="Liter" pitchFamily="34" charset="-122"/>
                <a:cs typeface="Liter" pitchFamily="34" charset="-120"/>
              </a:rPr>
              <a:t>The Entity-Relationship (ER) Model</a:t>
            </a:r>
            <a:endParaRPr lang="en-US" sz="2800" dirty="0"/>
          </a:p>
        </p:txBody>
      </p:sp>
      <p:sp>
        <p:nvSpPr>
          <p:cNvPr id="4" name="Text 2"/>
          <p:cNvSpPr/>
          <p:nvPr/>
        </p:nvSpPr>
        <p:spPr>
          <a:xfrm>
            <a:off x="762000" y="1143000"/>
            <a:ext cx="7620000" cy="3683000"/>
          </a:xfrm>
          <a:prstGeom prst="rect">
            <a:avLst/>
          </a:prstGeom>
          <a:noFill/>
          <a:ln/>
        </p:spPr>
        <p:txBody>
          <a:bodyPr wrap="square" lIns="0" tIns="0" rIns="0" bIns="0" rtlCol="0" anchor="t"/>
          <a:lstStyle/>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The ER Model is the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most popular tool</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for conceptual database design</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It was introduced by Peter Chen in 1976 and is still widely used today</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ER diagrams use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simple shapes</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to represent database concepts visually</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Rectangles = entities, ovals = attributes, diamonds = relationships</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ER models are easy for non-technical people to understand</a:t>
            </a:r>
            <a:endParaRPr lang="en-US" sz="2000" dirty="0"/>
          </a:p>
        </p:txBody>
      </p:sp>
      <p:sp>
        <p:nvSpPr>
          <p:cNvPr id="5" name="Shape 3"/>
          <p:cNvSpPr/>
          <p:nvPr/>
        </p:nvSpPr>
        <p:spPr>
          <a:xfrm>
            <a:off x="8890000" y="1016000"/>
            <a:ext cx="6604000" cy="3810000"/>
          </a:xfrm>
          <a:prstGeom prst="roundRect">
            <a:avLst>
              <a:gd name="adj" fmla="val 8000"/>
            </a:avLst>
          </a:prstGeom>
          <a:solidFill>
            <a:srgbClr val="2D5A4C">
              <a:alpha val="8235"/>
            </a:srgbClr>
          </a:solidFill>
          <a:ln/>
        </p:spPr>
      </p:sp>
      <p:sp>
        <p:nvSpPr>
          <p:cNvPr id="6" name="Text 4"/>
          <p:cNvSpPr/>
          <p:nvPr/>
        </p:nvSpPr>
        <p:spPr>
          <a:xfrm>
            <a:off x="8890000" y="1117600"/>
            <a:ext cx="6604000" cy="355600"/>
          </a:xfrm>
          <a:prstGeom prst="rect">
            <a:avLst/>
          </a:prstGeom>
          <a:noFill/>
          <a:ln/>
        </p:spPr>
        <p:txBody>
          <a:bodyPr wrap="none" lIns="0" tIns="0" rIns="0" bIns="0" rtlCol="0" anchor="ctr"/>
          <a:lstStyle/>
          <a:p>
            <a:pPr algn="ctr">
              <a:lnSpc>
                <a:spcPct val="100000"/>
              </a:lnSpc>
            </a:pPr>
            <a:r>
              <a:rPr lang="en-US" sz="1400" b="1" dirty="0">
                <a:solidFill>
                  <a:srgbClr val="2D5A4C"/>
                </a:solidFill>
                <a:latin typeface="Liter" pitchFamily="34" charset="0"/>
                <a:ea typeface="Liter" pitchFamily="34" charset="-122"/>
                <a:cs typeface="Liter" pitchFamily="34" charset="-120"/>
              </a:rPr>
              <a:t>ER NOTATION LEGEND</a:t>
            </a:r>
            <a:endParaRPr lang="en-US" sz="1600" dirty="0"/>
          </a:p>
        </p:txBody>
      </p:sp>
      <p:sp>
        <p:nvSpPr>
          <p:cNvPr id="7" name="Shape 5"/>
          <p:cNvSpPr/>
          <p:nvPr/>
        </p:nvSpPr>
        <p:spPr>
          <a:xfrm>
            <a:off x="9652000" y="1714500"/>
            <a:ext cx="1651000" cy="635000"/>
          </a:xfrm>
          <a:prstGeom prst="rect">
            <a:avLst/>
          </a:prstGeom>
          <a:solidFill>
            <a:srgbClr val="2D5A4C"/>
          </a:solidFill>
          <a:ln/>
        </p:spPr>
      </p:sp>
      <p:sp>
        <p:nvSpPr>
          <p:cNvPr id="8" name="Text 6"/>
          <p:cNvSpPr/>
          <p:nvPr/>
        </p:nvSpPr>
        <p:spPr>
          <a:xfrm>
            <a:off x="9652000" y="1714500"/>
            <a:ext cx="1651000" cy="6350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Liter" pitchFamily="34" charset="0"/>
                <a:ea typeface="Liter" pitchFamily="34" charset="-122"/>
                <a:cs typeface="Liter" pitchFamily="34" charset="-120"/>
              </a:rPr>
              <a:t>ENTITY</a:t>
            </a:r>
            <a:endParaRPr lang="en-US" sz="1600" dirty="0"/>
          </a:p>
        </p:txBody>
      </p:sp>
      <p:sp>
        <p:nvSpPr>
          <p:cNvPr id="9" name="Text 7"/>
          <p:cNvSpPr/>
          <p:nvPr/>
        </p:nvSpPr>
        <p:spPr>
          <a:xfrm>
            <a:off x="11430000" y="1778000"/>
            <a:ext cx="3556000" cy="304800"/>
          </a:xfrm>
          <a:prstGeom prst="rect">
            <a:avLst/>
          </a:prstGeom>
          <a:noFill/>
          <a:ln/>
        </p:spPr>
        <p:txBody>
          <a:bodyPr wrap="none" lIns="0" tIns="0" rIns="0" bIns="0" rtlCol="0" anchor="ctr"/>
          <a:lstStyle/>
          <a:p>
            <a:pPr>
              <a:lnSpc>
                <a:spcPct val="100000"/>
              </a:lnSpc>
            </a:pPr>
            <a:r>
              <a:rPr lang="en-US" sz="1300" dirty="0">
                <a:solidFill>
                  <a:srgbClr val="2C2C2C"/>
                </a:solidFill>
                <a:latin typeface="Quattrocento Sans" pitchFamily="34" charset="0"/>
                <a:ea typeface="Quattrocento Sans" pitchFamily="34" charset="-122"/>
                <a:cs typeface="Quattrocento Sans" pitchFamily="34" charset="-120"/>
              </a:rPr>
              <a:t>Rectangle — a real-world object</a:t>
            </a:r>
            <a:endParaRPr lang="en-US" sz="1600" dirty="0"/>
          </a:p>
        </p:txBody>
      </p:sp>
      <p:sp>
        <p:nvSpPr>
          <p:cNvPr id="10" name="Shape 8"/>
          <p:cNvSpPr/>
          <p:nvPr/>
        </p:nvSpPr>
        <p:spPr>
          <a:xfrm>
            <a:off x="9779000" y="2603500"/>
            <a:ext cx="1397000" cy="508000"/>
          </a:xfrm>
          <a:prstGeom prst="ellipse">
            <a:avLst/>
          </a:prstGeom>
          <a:solidFill>
            <a:srgbClr val="D4943A"/>
          </a:solidFill>
          <a:ln/>
        </p:spPr>
      </p:sp>
      <p:sp>
        <p:nvSpPr>
          <p:cNvPr id="11" name="Text 9"/>
          <p:cNvSpPr/>
          <p:nvPr/>
        </p:nvSpPr>
        <p:spPr>
          <a:xfrm>
            <a:off x="9779000" y="2603500"/>
            <a:ext cx="1397000" cy="5080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Attribute</a:t>
            </a:r>
            <a:endParaRPr lang="en-US" sz="1600" dirty="0"/>
          </a:p>
        </p:txBody>
      </p:sp>
      <p:sp>
        <p:nvSpPr>
          <p:cNvPr id="12" name="Text 10"/>
          <p:cNvSpPr/>
          <p:nvPr/>
        </p:nvSpPr>
        <p:spPr>
          <a:xfrm>
            <a:off x="11430000" y="2667000"/>
            <a:ext cx="3556000" cy="304800"/>
          </a:xfrm>
          <a:prstGeom prst="rect">
            <a:avLst/>
          </a:prstGeom>
          <a:noFill/>
          <a:ln/>
        </p:spPr>
        <p:txBody>
          <a:bodyPr wrap="none" lIns="0" tIns="0" rIns="0" bIns="0" rtlCol="0" anchor="ctr"/>
          <a:lstStyle/>
          <a:p>
            <a:pPr>
              <a:lnSpc>
                <a:spcPct val="100000"/>
              </a:lnSpc>
            </a:pPr>
            <a:r>
              <a:rPr lang="en-US" sz="1300" dirty="0">
                <a:solidFill>
                  <a:srgbClr val="2C2C2C"/>
                </a:solidFill>
                <a:latin typeface="Quattrocento Sans" pitchFamily="34" charset="0"/>
                <a:ea typeface="Quattrocento Sans" pitchFamily="34" charset="-122"/>
                <a:cs typeface="Quattrocento Sans" pitchFamily="34" charset="-120"/>
              </a:rPr>
              <a:t>Oval — a property of an entity</a:t>
            </a:r>
            <a:endParaRPr lang="en-US" sz="1600" dirty="0"/>
          </a:p>
        </p:txBody>
      </p:sp>
      <p:sp>
        <p:nvSpPr>
          <p:cNvPr id="13" name="Shape 11"/>
          <p:cNvSpPr/>
          <p:nvPr/>
        </p:nvSpPr>
        <p:spPr>
          <a:xfrm>
            <a:off x="10033000" y="3429000"/>
            <a:ext cx="889000" cy="635000"/>
          </a:xfrm>
          <a:prstGeom prst="diamond">
            <a:avLst/>
          </a:prstGeom>
          <a:solidFill>
            <a:srgbClr val="8E44AD"/>
          </a:solidFill>
          <a:ln/>
        </p:spPr>
      </p:sp>
      <p:sp>
        <p:nvSpPr>
          <p:cNvPr id="14" name="Text 12"/>
          <p:cNvSpPr/>
          <p:nvPr/>
        </p:nvSpPr>
        <p:spPr>
          <a:xfrm>
            <a:off x="10033000" y="3429000"/>
            <a:ext cx="889000" cy="635000"/>
          </a:xfrm>
          <a:prstGeom prst="rect">
            <a:avLst/>
          </a:prstGeom>
          <a:noFill/>
          <a:ln/>
        </p:spPr>
        <p:txBody>
          <a:bodyPr wrap="none" lIns="0" tIns="0" rIns="0" bIns="0" rtlCol="0" anchor="ctr"/>
          <a:lstStyle/>
          <a:p>
            <a:pPr algn="ctr">
              <a:lnSpc>
                <a:spcPct val="100000"/>
              </a:lnSpc>
            </a:pPr>
            <a:r>
              <a:rPr lang="en-US" sz="1000" b="1" dirty="0">
                <a:solidFill>
                  <a:srgbClr val="FFFFFF"/>
                </a:solidFill>
                <a:latin typeface="Liter" pitchFamily="34" charset="0"/>
                <a:ea typeface="Liter" pitchFamily="34" charset="-122"/>
                <a:cs typeface="Liter" pitchFamily="34" charset="-120"/>
              </a:rPr>
              <a:t>REL</a:t>
            </a:r>
            <a:endParaRPr lang="en-US" sz="1600" dirty="0"/>
          </a:p>
        </p:txBody>
      </p:sp>
      <p:sp>
        <p:nvSpPr>
          <p:cNvPr id="15" name="Text 13"/>
          <p:cNvSpPr/>
          <p:nvPr/>
        </p:nvSpPr>
        <p:spPr>
          <a:xfrm>
            <a:off x="11430000" y="3530600"/>
            <a:ext cx="3556000" cy="304800"/>
          </a:xfrm>
          <a:prstGeom prst="rect">
            <a:avLst/>
          </a:prstGeom>
          <a:noFill/>
          <a:ln/>
        </p:spPr>
        <p:txBody>
          <a:bodyPr wrap="none" lIns="0" tIns="0" rIns="0" bIns="0" rtlCol="0" anchor="ctr"/>
          <a:lstStyle/>
          <a:p>
            <a:pPr>
              <a:lnSpc>
                <a:spcPct val="100000"/>
              </a:lnSpc>
            </a:pPr>
            <a:r>
              <a:rPr lang="en-US" sz="1300" dirty="0">
                <a:solidFill>
                  <a:srgbClr val="2C2C2C"/>
                </a:solidFill>
                <a:latin typeface="Quattrocento Sans" pitchFamily="34" charset="0"/>
                <a:ea typeface="Quattrocento Sans" pitchFamily="34" charset="-122"/>
                <a:cs typeface="Quattrocento Sans" pitchFamily="34" charset="-120"/>
              </a:rPr>
              <a:t>Diamond — a connection between entities</a:t>
            </a:r>
            <a:endParaRPr lang="en-US" sz="1600" dirty="0"/>
          </a:p>
        </p:txBody>
      </p:sp>
      <p:sp>
        <p:nvSpPr>
          <p:cNvPr id="16" name="Text 14"/>
          <p:cNvSpPr/>
          <p:nvPr/>
        </p:nvSpPr>
        <p:spPr>
          <a:xfrm>
            <a:off x="9652000" y="4254500"/>
            <a:ext cx="5080000" cy="381000"/>
          </a:xfrm>
          <a:prstGeom prst="rect">
            <a:avLst/>
          </a:prstGeom>
          <a:noFill/>
          <a:ln/>
        </p:spPr>
        <p:txBody>
          <a:bodyPr wrap="square" lIns="0" tIns="0" rIns="0" bIns="0" rtlCol="0" anchor="ctr"/>
          <a:lstStyle/>
          <a:p>
            <a:pPr>
              <a:lnSpc>
                <a:spcPct val="100000"/>
              </a:lnSpc>
            </a:pPr>
            <a:r>
              <a:rPr lang="en-US" sz="1300" u="sng" dirty="0">
                <a:solidFill>
                  <a:srgbClr val="2D5A4C"/>
                </a:solidFill>
                <a:uFill>
                  <a:solidFill>
                    <a:srgbClr val="000000"/>
                  </a:solidFill>
                </a:uFill>
                <a:latin typeface="Quattrocento Sans" pitchFamily="34" charset="0"/>
                <a:ea typeface="Quattrocento Sans" pitchFamily="34" charset="-122"/>
                <a:cs typeface="Quattrocento Sans" pitchFamily="34" charset="-120"/>
              </a:rPr>
              <a:t>Underlined text</a:t>
            </a:r>
            <a:pPr>
              <a:lnSpc>
                <a:spcPct val="100000"/>
              </a:lnSpc>
            </a:pPr>
            <a:r>
              <a:rPr lang="en-US" sz="1300" dirty="0">
                <a:solidFill>
                  <a:srgbClr val="2D5A4C"/>
                </a:solidFill>
                <a:latin typeface="Quattrocento Sans" pitchFamily="34" charset="0"/>
                <a:ea typeface="Quattrocento Sans" pitchFamily="34" charset="-122"/>
                <a:cs typeface="Quattrocento Sans" pitchFamily="34" charset="-120"/>
              </a:rPr>
              <a:t> = Primary Key (unique identifier)</a:t>
            </a:r>
            <a:endParaRPr lang="en-US" sz="1600" dirty="0"/>
          </a:p>
        </p:txBody>
      </p:sp>
      <p:sp>
        <p:nvSpPr>
          <p:cNvPr id="17" name="Shape 15"/>
          <p:cNvSpPr/>
          <p:nvPr/>
        </p:nvSpPr>
        <p:spPr>
          <a:xfrm>
            <a:off x="762000" y="5080000"/>
            <a:ext cx="14732000" cy="1016000"/>
          </a:xfrm>
          <a:prstGeom prst="roundRect">
            <a:avLst>
              <a:gd name="adj" fmla="val 6000"/>
            </a:avLst>
          </a:prstGeom>
          <a:solidFill>
            <a:srgbClr val="E8E2DA"/>
          </a:solidFill>
          <a:ln/>
        </p:spPr>
      </p:sp>
      <p:sp>
        <p:nvSpPr>
          <p:cNvPr id="18" name="Shape 16"/>
          <p:cNvSpPr/>
          <p:nvPr/>
        </p:nvSpPr>
        <p:spPr>
          <a:xfrm>
            <a:off x="1060450" y="5308600"/>
            <a:ext cx="266700" cy="355600"/>
          </a:xfrm>
          <a:custGeom>
            <a:avLst/>
            <a:gdLst/>
            <a:ahLst/>
            <a:cxnLst/>
            <a:rect l="l" t="t" r="r" b="b"/>
            <a:pathLst>
              <a:path w="266700" h="355600">
                <a:moveTo>
                  <a:pt x="203428" y="266700"/>
                </a:moveTo>
                <a:cubicBezTo>
                  <a:pt x="208498" y="251212"/>
                  <a:pt x="218638" y="237182"/>
                  <a:pt x="230098" y="225098"/>
                </a:cubicBezTo>
                <a:cubicBezTo>
                  <a:pt x="252809" y="201206"/>
                  <a:pt x="266700" y="168910"/>
                  <a:pt x="266700" y="133350"/>
                </a:cubicBezTo>
                <a:cubicBezTo>
                  <a:pt x="266700" y="59730"/>
                  <a:pt x="206970" y="0"/>
                  <a:pt x="133350" y="0"/>
                </a:cubicBezTo>
                <a:cubicBezTo>
                  <a:pt x="59730" y="0"/>
                  <a:pt x="0" y="59730"/>
                  <a:pt x="0" y="133350"/>
                </a:cubicBezTo>
                <a:cubicBezTo>
                  <a:pt x="0" y="168910"/>
                  <a:pt x="13891" y="201206"/>
                  <a:pt x="36602" y="225098"/>
                </a:cubicBezTo>
                <a:cubicBezTo>
                  <a:pt x="48062" y="237182"/>
                  <a:pt x="58271" y="251212"/>
                  <a:pt x="63272" y="266700"/>
                </a:cubicBezTo>
                <a:lnTo>
                  <a:pt x="203359" y="266700"/>
                </a:lnTo>
                <a:close/>
                <a:moveTo>
                  <a:pt x="200025" y="300038"/>
                </a:moveTo>
                <a:lnTo>
                  <a:pt x="66675" y="300038"/>
                </a:lnTo>
                <a:lnTo>
                  <a:pt x="66675" y="311150"/>
                </a:lnTo>
                <a:cubicBezTo>
                  <a:pt x="66675" y="341848"/>
                  <a:pt x="91539" y="366712"/>
                  <a:pt x="122238" y="366712"/>
                </a:cubicBezTo>
                <a:lnTo>
                  <a:pt x="144463" y="366712"/>
                </a:lnTo>
                <a:cubicBezTo>
                  <a:pt x="175161" y="366712"/>
                  <a:pt x="200025" y="341848"/>
                  <a:pt x="200025" y="311150"/>
                </a:cubicBezTo>
                <a:lnTo>
                  <a:pt x="200025" y="300038"/>
                </a:lnTo>
                <a:close/>
                <a:moveTo>
                  <a:pt x="127794" y="77788"/>
                </a:moveTo>
                <a:cubicBezTo>
                  <a:pt x="100151" y="77788"/>
                  <a:pt x="77788" y="100151"/>
                  <a:pt x="77788" y="127794"/>
                </a:cubicBezTo>
                <a:cubicBezTo>
                  <a:pt x="77788" y="137031"/>
                  <a:pt x="70356" y="144463"/>
                  <a:pt x="61119" y="144463"/>
                </a:cubicBezTo>
                <a:cubicBezTo>
                  <a:pt x="51881" y="144463"/>
                  <a:pt x="44450" y="137031"/>
                  <a:pt x="44450" y="127794"/>
                </a:cubicBezTo>
                <a:cubicBezTo>
                  <a:pt x="44450" y="81746"/>
                  <a:pt x="81746" y="44450"/>
                  <a:pt x="127794" y="44450"/>
                </a:cubicBezTo>
                <a:cubicBezTo>
                  <a:pt x="137031" y="44450"/>
                  <a:pt x="144463" y="51881"/>
                  <a:pt x="144463" y="61119"/>
                </a:cubicBezTo>
                <a:cubicBezTo>
                  <a:pt x="144463" y="70356"/>
                  <a:pt x="137031" y="77788"/>
                  <a:pt x="127794" y="77788"/>
                </a:cubicBezTo>
                <a:close/>
              </a:path>
            </a:pathLst>
          </a:custGeom>
          <a:solidFill>
            <a:srgbClr val="D4943A"/>
          </a:solidFill>
          <a:ln/>
        </p:spPr>
      </p:sp>
      <p:sp>
        <p:nvSpPr>
          <p:cNvPr id="19" name="Text 17"/>
          <p:cNvSpPr/>
          <p:nvPr/>
        </p:nvSpPr>
        <p:spPr>
          <a:xfrm>
            <a:off x="1498600" y="5143500"/>
            <a:ext cx="2540000" cy="304800"/>
          </a:xfrm>
          <a:prstGeom prst="rect">
            <a:avLst/>
          </a:prstGeom>
          <a:noFill/>
          <a:ln/>
        </p:spPr>
        <p:txBody>
          <a:bodyPr wrap="none" lIns="0" tIns="0" rIns="0" bIns="0" rtlCol="0" anchor="ctr"/>
          <a:lstStyle/>
          <a:p>
            <a:pPr>
              <a:lnSpc>
                <a:spcPct val="100000"/>
              </a:lnSpc>
            </a:pPr>
            <a:r>
              <a:rPr lang="en-US" sz="1400" b="1" dirty="0">
                <a:solidFill>
                  <a:srgbClr val="2D5A4C"/>
                </a:solidFill>
                <a:latin typeface="Liter" pitchFamily="34" charset="0"/>
                <a:ea typeface="Liter" pitchFamily="34" charset="-122"/>
                <a:cs typeface="Liter" pitchFamily="34" charset="-120"/>
              </a:rPr>
              <a:t>EXPLANATION</a:t>
            </a:r>
            <a:endParaRPr lang="en-US" sz="1600" dirty="0"/>
          </a:p>
        </p:txBody>
      </p:sp>
      <p:sp>
        <p:nvSpPr>
          <p:cNvPr id="20" name="Text 18"/>
          <p:cNvSpPr/>
          <p:nvPr/>
        </p:nvSpPr>
        <p:spPr>
          <a:xfrm>
            <a:off x="1498600" y="5486400"/>
            <a:ext cx="13716000" cy="6096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The ER Model is like a universal language for database design. Simple geometric shapes represent complex ideas, allowing business users and developers to discuss design together.</a:t>
            </a:r>
            <a:endParaRPr lang="en-US" sz="1600" dirty="0"/>
          </a:p>
        </p:txBody>
      </p:sp>
      <p:sp>
        <p:nvSpPr>
          <p:cNvPr id="21" name="Shape 19"/>
          <p:cNvSpPr/>
          <p:nvPr/>
        </p:nvSpPr>
        <p:spPr>
          <a:xfrm>
            <a:off x="762000" y="6350000"/>
            <a:ext cx="14732000" cy="1270000"/>
          </a:xfrm>
          <a:prstGeom prst="roundRect">
            <a:avLst>
              <a:gd name="adj" fmla="val 6000"/>
            </a:avLst>
          </a:prstGeom>
          <a:solidFill>
            <a:srgbClr val="D4943A">
              <a:alpha val="8235"/>
            </a:srgbClr>
          </a:solidFill>
          <a:ln/>
        </p:spPr>
      </p:sp>
      <p:sp>
        <p:nvSpPr>
          <p:cNvPr id="22" name="Shape 20"/>
          <p:cNvSpPr/>
          <p:nvPr/>
        </p:nvSpPr>
        <p:spPr>
          <a:xfrm>
            <a:off x="1016000" y="6477000"/>
            <a:ext cx="304800" cy="304800"/>
          </a:xfrm>
          <a:custGeom>
            <a:avLst/>
            <a:gdLst/>
            <a:ahLst/>
            <a:cxnLst/>
            <a:rect l="l" t="t" r="r" b="b"/>
            <a:pathLst>
              <a:path w="304800" h="304800">
                <a:moveTo>
                  <a:pt x="209490" y="166688"/>
                </a:moveTo>
                <a:lnTo>
                  <a:pt x="95845" y="166688"/>
                </a:lnTo>
                <a:cubicBezTo>
                  <a:pt x="97572" y="205085"/>
                  <a:pt x="106085" y="240447"/>
                  <a:pt x="118170" y="266343"/>
                </a:cubicBezTo>
                <a:cubicBezTo>
                  <a:pt x="124956" y="280928"/>
                  <a:pt x="132278" y="291227"/>
                  <a:pt x="139065" y="297537"/>
                </a:cubicBezTo>
                <a:cubicBezTo>
                  <a:pt x="145733" y="303788"/>
                  <a:pt x="150316" y="304800"/>
                  <a:pt x="152698" y="304800"/>
                </a:cubicBezTo>
                <a:cubicBezTo>
                  <a:pt x="155079" y="304800"/>
                  <a:pt x="159663" y="303788"/>
                  <a:pt x="166330" y="297537"/>
                </a:cubicBezTo>
                <a:cubicBezTo>
                  <a:pt x="173117" y="291227"/>
                  <a:pt x="180439" y="280868"/>
                  <a:pt x="187226" y="266343"/>
                </a:cubicBezTo>
                <a:cubicBezTo>
                  <a:pt x="199311" y="240447"/>
                  <a:pt x="207824" y="205085"/>
                  <a:pt x="209550" y="166688"/>
                </a:cubicBezTo>
                <a:close/>
                <a:moveTo>
                  <a:pt x="95786" y="138113"/>
                </a:moveTo>
                <a:lnTo>
                  <a:pt x="209431" y="138113"/>
                </a:lnTo>
                <a:cubicBezTo>
                  <a:pt x="207764" y="99715"/>
                  <a:pt x="199251" y="64353"/>
                  <a:pt x="187166" y="38457"/>
                </a:cubicBezTo>
                <a:cubicBezTo>
                  <a:pt x="180380" y="23932"/>
                  <a:pt x="173057" y="13573"/>
                  <a:pt x="166271" y="7263"/>
                </a:cubicBezTo>
                <a:cubicBezTo>
                  <a:pt x="159603" y="1012"/>
                  <a:pt x="155019" y="0"/>
                  <a:pt x="152638" y="0"/>
                </a:cubicBezTo>
                <a:cubicBezTo>
                  <a:pt x="150257" y="0"/>
                  <a:pt x="145673" y="1012"/>
                  <a:pt x="139005" y="7263"/>
                </a:cubicBezTo>
                <a:cubicBezTo>
                  <a:pt x="132219" y="13573"/>
                  <a:pt x="124897" y="23932"/>
                  <a:pt x="118110" y="38457"/>
                </a:cubicBezTo>
                <a:cubicBezTo>
                  <a:pt x="106025" y="64353"/>
                  <a:pt x="97512" y="99715"/>
                  <a:pt x="95786" y="138113"/>
                </a:cubicBezTo>
                <a:close/>
                <a:moveTo>
                  <a:pt x="67211" y="138113"/>
                </a:moveTo>
                <a:cubicBezTo>
                  <a:pt x="69294" y="87154"/>
                  <a:pt x="82451" y="39826"/>
                  <a:pt x="101679" y="8751"/>
                </a:cubicBezTo>
                <a:cubicBezTo>
                  <a:pt x="46851" y="28158"/>
                  <a:pt x="6489" y="78105"/>
                  <a:pt x="893" y="138113"/>
                </a:cubicBezTo>
                <a:lnTo>
                  <a:pt x="67211" y="138113"/>
                </a:lnTo>
                <a:close/>
                <a:moveTo>
                  <a:pt x="893" y="166688"/>
                </a:moveTo>
                <a:cubicBezTo>
                  <a:pt x="6489" y="226695"/>
                  <a:pt x="46851" y="276642"/>
                  <a:pt x="101679" y="296049"/>
                </a:cubicBezTo>
                <a:cubicBezTo>
                  <a:pt x="82451" y="264974"/>
                  <a:pt x="69294" y="217646"/>
                  <a:pt x="67211" y="166688"/>
                </a:cubicBezTo>
                <a:lnTo>
                  <a:pt x="893" y="166688"/>
                </a:lnTo>
                <a:close/>
                <a:moveTo>
                  <a:pt x="238065" y="166688"/>
                </a:moveTo>
                <a:cubicBezTo>
                  <a:pt x="235982" y="217646"/>
                  <a:pt x="222825" y="264974"/>
                  <a:pt x="203597" y="296049"/>
                </a:cubicBezTo>
                <a:cubicBezTo>
                  <a:pt x="258425" y="276582"/>
                  <a:pt x="298787" y="226695"/>
                  <a:pt x="304383" y="166688"/>
                </a:cubicBezTo>
                <a:lnTo>
                  <a:pt x="238065" y="166688"/>
                </a:lnTo>
                <a:close/>
                <a:moveTo>
                  <a:pt x="304383" y="138113"/>
                </a:moveTo>
                <a:cubicBezTo>
                  <a:pt x="298787" y="78105"/>
                  <a:pt x="258425" y="28158"/>
                  <a:pt x="203597" y="8751"/>
                </a:cubicBezTo>
                <a:cubicBezTo>
                  <a:pt x="222825" y="39826"/>
                  <a:pt x="235982" y="87154"/>
                  <a:pt x="238065" y="138113"/>
                </a:cubicBezTo>
                <a:lnTo>
                  <a:pt x="304383" y="138113"/>
                </a:lnTo>
                <a:close/>
              </a:path>
            </a:pathLst>
          </a:custGeom>
          <a:solidFill>
            <a:srgbClr val="D4943A"/>
          </a:solidFill>
          <a:ln/>
        </p:spPr>
      </p:sp>
      <p:sp>
        <p:nvSpPr>
          <p:cNvPr id="23" name="Text 21"/>
          <p:cNvSpPr/>
          <p:nvPr/>
        </p:nvSpPr>
        <p:spPr>
          <a:xfrm>
            <a:off x="1422400" y="6438900"/>
            <a:ext cx="3175000" cy="304800"/>
          </a:xfrm>
          <a:prstGeom prst="rect">
            <a:avLst/>
          </a:prstGeom>
          <a:noFill/>
          <a:ln/>
        </p:spPr>
        <p:txBody>
          <a:bodyPr wrap="none" lIns="0" tIns="0" rIns="0" bIns="0" rtlCol="0" anchor="ctr"/>
          <a:lstStyle/>
          <a:p>
            <a:pPr>
              <a:lnSpc>
                <a:spcPct val="100000"/>
              </a:lnSpc>
            </a:pPr>
            <a:r>
              <a:rPr lang="en-US" sz="1400" b="1" dirty="0">
                <a:solidFill>
                  <a:srgbClr val="D4943A"/>
                </a:solidFill>
                <a:latin typeface="Liter" pitchFamily="34" charset="0"/>
                <a:ea typeface="Liter" pitchFamily="34" charset="-122"/>
                <a:cs typeface="Liter" pitchFamily="34" charset="-120"/>
              </a:rPr>
              <a:t>REAL-WORLD EXAMPLE</a:t>
            </a:r>
            <a:endParaRPr lang="en-US" sz="1600" dirty="0"/>
          </a:p>
        </p:txBody>
      </p:sp>
      <p:sp>
        <p:nvSpPr>
          <p:cNvPr id="24" name="Text 22"/>
          <p:cNvSpPr/>
          <p:nvPr/>
        </p:nvSpPr>
        <p:spPr>
          <a:xfrm>
            <a:off x="1016000" y="6832600"/>
            <a:ext cx="14224000" cy="6604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A university ER diagram might show Student, Course, and Professor as rectangles connected by relationship diamonds like "enrolls in" and "teaches."</a:t>
            </a:r>
            <a:endParaRPr lang="en-US" sz="1600" dirty="0"/>
          </a:p>
        </p:txBody>
      </p:sp>
      <p:sp>
        <p:nvSpPr>
          <p:cNvPr id="25" name="Shape 23"/>
          <p:cNvSpPr/>
          <p:nvPr/>
        </p:nvSpPr>
        <p:spPr>
          <a:xfrm>
            <a:off x="762000" y="7874000"/>
            <a:ext cx="14732000" cy="635000"/>
          </a:xfrm>
          <a:prstGeom prst="roundRect">
            <a:avLst>
              <a:gd name="adj" fmla="val 6000"/>
            </a:avLst>
          </a:prstGeom>
          <a:solidFill>
            <a:srgbClr val="2D5A4C">
              <a:alpha val="8235"/>
            </a:srgbClr>
          </a:solidFill>
          <a:ln/>
        </p:spPr>
      </p:sp>
      <p:sp>
        <p:nvSpPr>
          <p:cNvPr id="26" name="Shape 24"/>
          <p:cNvSpPr/>
          <p:nvPr/>
        </p:nvSpPr>
        <p:spPr>
          <a:xfrm>
            <a:off x="1016000" y="8026400"/>
            <a:ext cx="254000" cy="254000"/>
          </a:xfrm>
          <a:custGeom>
            <a:avLst/>
            <a:gdLst/>
            <a:ahLst/>
            <a:cxnLst/>
            <a:rect l="l" t="t" r="r" b="b"/>
            <a:pathLst>
              <a:path w="254000" h="254000">
                <a:moveTo>
                  <a:pt x="175071" y="10517"/>
                </a:moveTo>
                <a:lnTo>
                  <a:pt x="152797" y="32792"/>
                </a:lnTo>
                <a:lnTo>
                  <a:pt x="221208" y="101203"/>
                </a:lnTo>
                <a:lnTo>
                  <a:pt x="243483" y="78929"/>
                </a:lnTo>
                <a:cubicBezTo>
                  <a:pt x="250230" y="72231"/>
                  <a:pt x="254000" y="63103"/>
                  <a:pt x="254000" y="53578"/>
                </a:cubicBezTo>
                <a:cubicBezTo>
                  <a:pt x="254000" y="44053"/>
                  <a:pt x="250230" y="34925"/>
                  <a:pt x="243483" y="28228"/>
                </a:cubicBezTo>
                <a:lnTo>
                  <a:pt x="225772" y="10517"/>
                </a:lnTo>
                <a:cubicBezTo>
                  <a:pt x="219075" y="3770"/>
                  <a:pt x="209947" y="0"/>
                  <a:pt x="200422" y="0"/>
                </a:cubicBezTo>
                <a:cubicBezTo>
                  <a:pt x="190897" y="0"/>
                  <a:pt x="181769" y="3770"/>
                  <a:pt x="175071" y="10517"/>
                </a:cubicBezTo>
                <a:close/>
                <a:moveTo>
                  <a:pt x="135979" y="49609"/>
                </a:moveTo>
                <a:lnTo>
                  <a:pt x="29220" y="156319"/>
                </a:lnTo>
                <a:cubicBezTo>
                  <a:pt x="23912" y="161627"/>
                  <a:pt x="20042" y="168275"/>
                  <a:pt x="18008" y="175518"/>
                </a:cubicBezTo>
                <a:lnTo>
                  <a:pt x="446" y="238919"/>
                </a:lnTo>
                <a:cubicBezTo>
                  <a:pt x="-695" y="243036"/>
                  <a:pt x="446" y="247501"/>
                  <a:pt x="3522" y="250527"/>
                </a:cubicBezTo>
                <a:cubicBezTo>
                  <a:pt x="6598" y="253554"/>
                  <a:pt x="11013" y="254744"/>
                  <a:pt x="15131" y="253603"/>
                </a:cubicBezTo>
                <a:lnTo>
                  <a:pt x="78532" y="235992"/>
                </a:lnTo>
                <a:cubicBezTo>
                  <a:pt x="85775" y="233958"/>
                  <a:pt x="92373" y="230138"/>
                  <a:pt x="97730" y="224780"/>
                </a:cubicBezTo>
                <a:lnTo>
                  <a:pt x="204391" y="118021"/>
                </a:lnTo>
                <a:lnTo>
                  <a:pt x="135979" y="49609"/>
                </a:lnTo>
                <a:close/>
              </a:path>
            </a:pathLst>
          </a:custGeom>
          <a:solidFill>
            <a:srgbClr val="2D5A4C"/>
          </a:solidFill>
          <a:ln/>
        </p:spPr>
      </p:sp>
      <p:sp>
        <p:nvSpPr>
          <p:cNvPr id="27" name="Text 25"/>
          <p:cNvSpPr/>
          <p:nvPr/>
        </p:nvSpPr>
        <p:spPr>
          <a:xfrm>
            <a:off x="1371600" y="7937500"/>
            <a:ext cx="13970000" cy="508000"/>
          </a:xfrm>
          <a:prstGeom prst="rect">
            <a:avLst/>
          </a:prstGeom>
          <a:noFill/>
          <a:ln/>
        </p:spPr>
        <p:txBody>
          <a:bodyPr wrap="square" lIns="0" tIns="0" rIns="0" bIns="0" rtlCol="0" anchor="ctr"/>
          <a:lstStyle/>
          <a:p>
            <a:pPr>
              <a:lnSpc>
                <a:spcPct val="140000"/>
              </a:lnSpc>
            </a:pPr>
            <a:r>
              <a:rPr lang="en-US" sz="1400" b="1" dirty="0">
                <a:solidFill>
                  <a:srgbClr val="2D5A4C"/>
                </a:solidFill>
                <a:latin typeface="Quattrocento Sans" pitchFamily="34" charset="0"/>
                <a:ea typeface="Quattrocento Sans" pitchFamily="34" charset="-122"/>
                <a:cs typeface="Quattrocento Sans" pitchFamily="34" charset="-120"/>
              </a:rPr>
              <a:t>Practice:</a:t>
            </a:r>
            <a:pPr>
              <a:lnSpc>
                <a:spcPct val="140000"/>
              </a:lnSpc>
            </a:pPr>
            <a:r>
              <a:rPr lang="en-US" sz="1400" dirty="0">
                <a:solidFill>
                  <a:srgbClr val="2D5A4C"/>
                </a:solidFill>
                <a:latin typeface="Quattrocento Sans" pitchFamily="34" charset="0"/>
                <a:ea typeface="Quattrocento Sans" pitchFamily="34" charset="-122"/>
                <a:cs typeface="Quattrocento Sans" pitchFamily="34" charset="-120"/>
              </a:rPr>
              <a:t> Draw a simple ER diagram for a library with Books and Borrowers.</a:t>
            </a:r>
            <a:endParaRPr lang="en-US" sz="1600" dirty="0"/>
          </a:p>
        </p:txBody>
      </p:sp>
      <p:sp>
        <p:nvSpPr>
          <p:cNvPr id="28" name="Text 26"/>
          <p:cNvSpPr/>
          <p:nvPr/>
        </p:nvSpPr>
        <p:spPr>
          <a:xfrm>
            <a:off x="13462000" y="8788400"/>
            <a:ext cx="2286000" cy="254000"/>
          </a:xfrm>
          <a:prstGeom prst="rect">
            <a:avLst/>
          </a:prstGeom>
          <a:noFill/>
          <a:ln/>
        </p:spPr>
        <p:txBody>
          <a:bodyPr wrap="none" lIns="0" tIns="0" rIns="0" bIns="0" rtlCol="0" anchor="ctr"/>
          <a:lstStyle/>
          <a:p>
            <a:pPr algn="r">
              <a:lnSpc>
                <a:spcPct val="140000"/>
              </a:lnSpc>
            </a:pPr>
            <a:r>
              <a:rPr lang="en-US" sz="1400" dirty="0">
                <a:solidFill>
                  <a:srgbClr val="8B7355"/>
                </a:solidFill>
                <a:latin typeface="QuattrocentoSans" pitchFamily="34" charset="0"/>
                <a:ea typeface="QuattrocentoSans" pitchFamily="34" charset="-122"/>
                <a:cs typeface="QuattrocentoSans" pitchFamily="34" charset="-120"/>
              </a:rPr>
              <a:t>Conceptual Data Models</a:t>
            </a:r>
            <a:endParaRPr lang="en-US" sz="1400" dirty="0"/>
          </a:p>
        </p:txBody>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D4943A"/>
          </a:solidFill>
          <a:ln/>
        </p:spPr>
      </p:sp>
      <p:sp>
        <p:nvSpPr>
          <p:cNvPr id="3" name="Text 1"/>
          <p:cNvSpPr/>
          <p:nvPr/>
        </p:nvSpPr>
        <p:spPr>
          <a:xfrm>
            <a:off x="762000" y="381000"/>
            <a:ext cx="10160000" cy="508000"/>
          </a:xfrm>
          <a:prstGeom prst="rect">
            <a:avLst/>
          </a:prstGeom>
          <a:noFill/>
          <a:ln/>
        </p:spPr>
        <p:txBody>
          <a:bodyPr wrap="none" lIns="0" tIns="0" rIns="0" bIns="0" rtlCol="0" anchor="ctr"/>
          <a:lstStyle/>
          <a:p>
            <a:pPr>
              <a:lnSpc>
                <a:spcPct val="130000"/>
              </a:lnSpc>
            </a:pPr>
            <a:r>
              <a:rPr lang="en-US" sz="2800" dirty="0">
                <a:solidFill>
                  <a:srgbClr val="2D5A4C"/>
                </a:solidFill>
                <a:latin typeface="Liter" pitchFamily="34" charset="0"/>
                <a:ea typeface="Liter" pitchFamily="34" charset="-122"/>
                <a:cs typeface="Liter" pitchFamily="34" charset="-120"/>
              </a:rPr>
              <a:t>Why Use Conceptual Models?</a:t>
            </a:r>
            <a:endParaRPr lang="en-US" sz="2800" dirty="0"/>
          </a:p>
        </p:txBody>
      </p:sp>
      <p:sp>
        <p:nvSpPr>
          <p:cNvPr id="4" name="Text 2"/>
          <p:cNvSpPr/>
          <p:nvPr/>
        </p:nvSpPr>
        <p:spPr>
          <a:xfrm>
            <a:off x="762000" y="1143000"/>
            <a:ext cx="8128000" cy="3683000"/>
          </a:xfrm>
          <a:prstGeom prst="rect">
            <a:avLst/>
          </a:prstGeom>
          <a:noFill/>
          <a:ln/>
        </p:spPr>
        <p:txBody>
          <a:bodyPr wrap="square" lIns="0" tIns="0" rIns="0" bIns="0" rtlCol="0" anchor="t"/>
          <a:lstStyle/>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Models help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identify what data needs to be stored</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early in the process</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They reveal connections between different data types that might be missed</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Models serve as a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communication tool</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between designers and business users</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They catch design problems before expensive implementation begins</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A clear model makes the actual database construction much faster</a:t>
            </a:r>
            <a:endParaRPr lang="en-US" sz="2000" dirty="0"/>
          </a:p>
        </p:txBody>
      </p:sp>
      <p:sp>
        <p:nvSpPr>
          <p:cNvPr id="5" name="Shape 3"/>
          <p:cNvSpPr/>
          <p:nvPr/>
        </p:nvSpPr>
        <p:spPr>
          <a:xfrm>
            <a:off x="9398000" y="1016000"/>
            <a:ext cx="6096000" cy="3810000"/>
          </a:xfrm>
          <a:prstGeom prst="roundRect">
            <a:avLst>
              <a:gd name="adj" fmla="val 8000"/>
            </a:avLst>
          </a:prstGeom>
          <a:solidFill>
            <a:srgbClr val="2D5A4C">
              <a:alpha val="8235"/>
            </a:srgbClr>
          </a:solidFill>
          <a:ln/>
        </p:spPr>
      </p:sp>
      <p:sp>
        <p:nvSpPr>
          <p:cNvPr id="6" name="Text 4"/>
          <p:cNvSpPr/>
          <p:nvPr/>
        </p:nvSpPr>
        <p:spPr>
          <a:xfrm>
            <a:off x="9398000" y="1117600"/>
            <a:ext cx="6096000" cy="355600"/>
          </a:xfrm>
          <a:prstGeom prst="rect">
            <a:avLst/>
          </a:prstGeom>
          <a:noFill/>
          <a:ln/>
        </p:spPr>
        <p:txBody>
          <a:bodyPr wrap="none" lIns="0" tIns="0" rIns="0" bIns="0" rtlCol="0" anchor="ctr"/>
          <a:lstStyle/>
          <a:p>
            <a:pPr algn="ctr">
              <a:lnSpc>
                <a:spcPct val="100000"/>
              </a:lnSpc>
            </a:pPr>
            <a:r>
              <a:rPr lang="en-US" sz="1400" b="1" dirty="0">
                <a:solidFill>
                  <a:srgbClr val="2D5A4C"/>
                </a:solidFill>
                <a:latin typeface="Liter" pitchFamily="34" charset="0"/>
                <a:ea typeface="Liter" pitchFamily="34" charset="-122"/>
                <a:cs typeface="Liter" pitchFamily="34" charset="-120"/>
              </a:rPr>
              <a:t>PLANNING SAVES TIME &amp; MONEY</a:t>
            </a:r>
            <a:endParaRPr lang="en-US" sz="1600" dirty="0"/>
          </a:p>
        </p:txBody>
      </p:sp>
      <p:sp>
        <p:nvSpPr>
          <p:cNvPr id="7" name="Shape 5"/>
          <p:cNvSpPr/>
          <p:nvPr/>
        </p:nvSpPr>
        <p:spPr>
          <a:xfrm>
            <a:off x="9779000" y="1714500"/>
            <a:ext cx="2413000" cy="2540000"/>
          </a:xfrm>
          <a:prstGeom prst="roundRect">
            <a:avLst>
              <a:gd name="adj" fmla="val 6000"/>
            </a:avLst>
          </a:prstGeom>
          <a:solidFill>
            <a:srgbClr val="C0392B">
              <a:alpha val="8235"/>
            </a:srgbClr>
          </a:solidFill>
          <a:ln w="12700">
            <a:solidFill>
              <a:srgbClr val="C0392B"/>
            </a:solidFill>
            <a:prstDash val="solid"/>
          </a:ln>
        </p:spPr>
      </p:sp>
      <p:sp>
        <p:nvSpPr>
          <p:cNvPr id="8" name="Text 6"/>
          <p:cNvSpPr/>
          <p:nvPr/>
        </p:nvSpPr>
        <p:spPr>
          <a:xfrm>
            <a:off x="9779000" y="1778000"/>
            <a:ext cx="2413000" cy="304800"/>
          </a:xfrm>
          <a:prstGeom prst="rect">
            <a:avLst/>
          </a:prstGeom>
          <a:noFill/>
          <a:ln/>
        </p:spPr>
        <p:txBody>
          <a:bodyPr wrap="none" lIns="0" tIns="0" rIns="0" bIns="0" rtlCol="0" anchor="ctr"/>
          <a:lstStyle/>
          <a:p>
            <a:pPr algn="ctr">
              <a:lnSpc>
                <a:spcPct val="100000"/>
              </a:lnSpc>
            </a:pPr>
            <a:r>
              <a:rPr lang="en-US" sz="1300" b="1" dirty="0">
                <a:solidFill>
                  <a:srgbClr val="C0392B"/>
                </a:solidFill>
                <a:latin typeface="Liter" pitchFamily="34" charset="0"/>
                <a:ea typeface="Liter" pitchFamily="34" charset="-122"/>
                <a:cs typeface="Liter" pitchFamily="34" charset="-120"/>
              </a:rPr>
              <a:t>NO PLANNING</a:t>
            </a:r>
            <a:endParaRPr lang="en-US" sz="1600" dirty="0"/>
          </a:p>
        </p:txBody>
      </p:sp>
      <p:sp>
        <p:nvSpPr>
          <p:cNvPr id="9" name="Text 7"/>
          <p:cNvSpPr/>
          <p:nvPr/>
        </p:nvSpPr>
        <p:spPr>
          <a:xfrm>
            <a:off x="9842500" y="2159000"/>
            <a:ext cx="2286000" cy="1968500"/>
          </a:xfrm>
          <a:prstGeom prst="rect">
            <a:avLst/>
          </a:prstGeom>
          <a:noFill/>
          <a:ln/>
        </p:spPr>
        <p:txBody>
          <a:bodyPr wrap="square" lIns="0" tIns="0" rIns="0" bIns="0" rtlCol="0" anchor="t"/>
          <a:lstStyle/>
          <a:p>
            <a:pPr algn="ctr">
              <a:lnSpc>
                <a:spcPct val="140000"/>
              </a:lnSpc>
            </a:pPr>
            <a:r>
              <a:rPr lang="en-US" sz="1200" dirty="0">
                <a:solidFill>
                  <a:srgbClr val="2C2C2C"/>
                </a:solidFill>
                <a:latin typeface="Quattrocento Sans" pitchFamily="34" charset="0"/>
                <a:ea typeface="Quattrocento Sans" pitchFamily="34" charset="-122"/>
                <a:cs typeface="Quattrocento Sans" pitchFamily="34" charset="-120"/>
              </a:rPr>
              <a:t>Build database</a:t>
            </a:r>
            <a:endParaRPr lang="en-US" sz="1600" dirty="0"/>
          </a:p>
          <a:p>
            <a:pPr algn="ctr">
              <a:lnSpc>
                <a:spcPct val="140000"/>
              </a:lnSpc>
            </a:pPr>
            <a:r>
              <a:rPr lang="en-US" sz="1600" dirty="0">
                <a:solidFill>
                  <a:srgbClr val="2C2C2C"/>
                </a:solidFill>
                <a:latin typeface="Quattrocento Sans" pitchFamily="34" charset="0"/>
                <a:ea typeface="Quattrocento Sans" pitchFamily="34" charset="-122"/>
                <a:cs typeface="Quattrocento Sans" pitchFamily="34" charset="-120"/>
              </a:rPr>
              <a:t>↓</a:t>
            </a:r>
            <a:endParaRPr lang="en-US" sz="1600" dirty="0"/>
          </a:p>
          <a:p>
            <a:pPr algn="ctr">
              <a:lnSpc>
                <a:spcPct val="140000"/>
              </a:lnSpc>
            </a:pPr>
            <a:r>
              <a:rPr lang="en-US" sz="1200" dirty="0">
                <a:solidFill>
                  <a:srgbClr val="2C2C2C"/>
                </a:solidFill>
                <a:latin typeface="Quattrocento Sans" pitchFamily="34" charset="0"/>
                <a:ea typeface="Quattrocento Sans" pitchFamily="34" charset="-122"/>
                <a:cs typeface="Quattrocento Sans" pitchFamily="34" charset="-120"/>
              </a:rPr>
              <a:t>Discover problems</a:t>
            </a:r>
            <a:endParaRPr lang="en-US" sz="1600" dirty="0"/>
          </a:p>
          <a:p>
            <a:pPr algn="ctr">
              <a:lnSpc>
                <a:spcPct val="140000"/>
              </a:lnSpc>
            </a:pPr>
            <a:r>
              <a:rPr lang="en-US" sz="1600" dirty="0">
                <a:solidFill>
                  <a:srgbClr val="2C2C2C"/>
                </a:solidFill>
                <a:latin typeface="Quattrocento Sans" pitchFamily="34" charset="0"/>
                <a:ea typeface="Quattrocento Sans" pitchFamily="34" charset="-122"/>
                <a:cs typeface="Quattrocento Sans" pitchFamily="34" charset="-120"/>
              </a:rPr>
              <a:t>↓</a:t>
            </a:r>
            <a:endParaRPr lang="en-US" sz="1600" dirty="0"/>
          </a:p>
          <a:p>
            <a:pPr algn="ctr">
              <a:lnSpc>
                <a:spcPct val="140000"/>
              </a:lnSpc>
            </a:pPr>
            <a:r>
              <a:rPr lang="en-US" sz="1200" dirty="0">
                <a:solidFill>
                  <a:srgbClr val="2C2C2C"/>
                </a:solidFill>
                <a:latin typeface="Quattrocento Sans" pitchFamily="34" charset="0"/>
                <a:ea typeface="Quattrocento Sans" pitchFamily="34" charset="-122"/>
                <a:cs typeface="Quattrocento Sans" pitchFamily="34" charset="-120"/>
              </a:rPr>
              <a:t>Rebuild everything</a:t>
            </a:r>
            <a:endParaRPr lang="en-US" sz="1600" dirty="0"/>
          </a:p>
          <a:p>
            <a:pPr algn="ctr">
              <a:lnSpc>
                <a:spcPct val="140000"/>
              </a:lnSpc>
            </a:pPr>
            <a:r>
              <a:rPr lang="en-US" sz="1200" b="1" dirty="0">
                <a:solidFill>
                  <a:srgbClr val="C0392B"/>
                </a:solidFill>
                <a:latin typeface="Quattrocento Sans" pitchFamily="34" charset="0"/>
                <a:ea typeface="Quattrocento Sans" pitchFamily="34" charset="-122"/>
                <a:cs typeface="Quattrocento Sans" pitchFamily="34" charset="-120"/>
              </a:rPr>
              <a:t>Wasted time &amp; money</a:t>
            </a:r>
            <a:endParaRPr lang="en-US" sz="1600" dirty="0"/>
          </a:p>
        </p:txBody>
      </p:sp>
      <p:sp>
        <p:nvSpPr>
          <p:cNvPr id="10" name="Text 8"/>
          <p:cNvSpPr/>
          <p:nvPr/>
        </p:nvSpPr>
        <p:spPr>
          <a:xfrm>
            <a:off x="12217400" y="2667000"/>
            <a:ext cx="609600" cy="381000"/>
          </a:xfrm>
          <a:prstGeom prst="rect">
            <a:avLst/>
          </a:prstGeom>
          <a:noFill/>
          <a:ln/>
        </p:spPr>
        <p:txBody>
          <a:bodyPr wrap="none" lIns="0" tIns="0" rIns="0" bIns="0" rtlCol="0" anchor="ctr"/>
          <a:lstStyle/>
          <a:p>
            <a:pPr algn="ctr">
              <a:lnSpc>
                <a:spcPct val="100000"/>
              </a:lnSpc>
            </a:pPr>
            <a:r>
              <a:rPr lang="en-US" sz="1600" b="1" dirty="0">
                <a:solidFill>
                  <a:srgbClr val="8B7355"/>
                </a:solidFill>
                <a:latin typeface="Liter" pitchFamily="34" charset="0"/>
                <a:ea typeface="Liter" pitchFamily="34" charset="-122"/>
                <a:cs typeface="Liter" pitchFamily="34" charset="-120"/>
              </a:rPr>
              <a:t>VS</a:t>
            </a:r>
            <a:endParaRPr lang="en-US" sz="1600" dirty="0"/>
          </a:p>
        </p:txBody>
      </p:sp>
      <p:sp>
        <p:nvSpPr>
          <p:cNvPr id="11" name="Shape 9"/>
          <p:cNvSpPr/>
          <p:nvPr/>
        </p:nvSpPr>
        <p:spPr>
          <a:xfrm>
            <a:off x="12827000" y="1714500"/>
            <a:ext cx="2413000" cy="2540000"/>
          </a:xfrm>
          <a:prstGeom prst="roundRect">
            <a:avLst>
              <a:gd name="adj" fmla="val 6000"/>
            </a:avLst>
          </a:prstGeom>
          <a:solidFill>
            <a:srgbClr val="27AE60">
              <a:alpha val="8235"/>
            </a:srgbClr>
          </a:solidFill>
          <a:ln w="12700">
            <a:solidFill>
              <a:srgbClr val="27AE60"/>
            </a:solidFill>
            <a:prstDash val="solid"/>
          </a:ln>
        </p:spPr>
      </p:sp>
      <p:sp>
        <p:nvSpPr>
          <p:cNvPr id="12" name="Text 10"/>
          <p:cNvSpPr/>
          <p:nvPr/>
        </p:nvSpPr>
        <p:spPr>
          <a:xfrm>
            <a:off x="12827000" y="1778000"/>
            <a:ext cx="2413000" cy="304800"/>
          </a:xfrm>
          <a:prstGeom prst="rect">
            <a:avLst/>
          </a:prstGeom>
          <a:noFill/>
          <a:ln/>
        </p:spPr>
        <p:txBody>
          <a:bodyPr wrap="none" lIns="0" tIns="0" rIns="0" bIns="0" rtlCol="0" anchor="ctr"/>
          <a:lstStyle/>
          <a:p>
            <a:pPr algn="ctr">
              <a:lnSpc>
                <a:spcPct val="100000"/>
              </a:lnSpc>
            </a:pPr>
            <a:r>
              <a:rPr lang="en-US" sz="1300" b="1" dirty="0">
                <a:solidFill>
                  <a:srgbClr val="27AE60"/>
                </a:solidFill>
                <a:latin typeface="Liter" pitchFamily="34" charset="0"/>
                <a:ea typeface="Liter" pitchFamily="34" charset="-122"/>
                <a:cs typeface="Liter" pitchFamily="34" charset="-120"/>
              </a:rPr>
              <a:t>WITH PLANNING</a:t>
            </a:r>
            <a:endParaRPr lang="en-US" sz="1600" dirty="0"/>
          </a:p>
        </p:txBody>
      </p:sp>
      <p:sp>
        <p:nvSpPr>
          <p:cNvPr id="13" name="Text 11"/>
          <p:cNvSpPr/>
          <p:nvPr/>
        </p:nvSpPr>
        <p:spPr>
          <a:xfrm>
            <a:off x="12890500" y="2159000"/>
            <a:ext cx="2286000" cy="1968500"/>
          </a:xfrm>
          <a:prstGeom prst="rect">
            <a:avLst/>
          </a:prstGeom>
          <a:noFill/>
          <a:ln/>
        </p:spPr>
        <p:txBody>
          <a:bodyPr wrap="square" lIns="0" tIns="0" rIns="0" bIns="0" rtlCol="0" anchor="t"/>
          <a:lstStyle/>
          <a:p>
            <a:pPr algn="ctr">
              <a:lnSpc>
                <a:spcPct val="140000"/>
              </a:lnSpc>
            </a:pPr>
            <a:r>
              <a:rPr lang="en-US" sz="1200" dirty="0">
                <a:solidFill>
                  <a:srgbClr val="2C2C2C"/>
                </a:solidFill>
                <a:latin typeface="Quattrocento Sans" pitchFamily="34" charset="0"/>
                <a:ea typeface="Quattrocento Sans" pitchFamily="34" charset="-122"/>
                <a:cs typeface="Quattrocento Sans" pitchFamily="34" charset="-120"/>
              </a:rPr>
              <a:t>Create model</a:t>
            </a:r>
            <a:endParaRPr lang="en-US" sz="1600" dirty="0"/>
          </a:p>
          <a:p>
            <a:pPr algn="ctr">
              <a:lnSpc>
                <a:spcPct val="140000"/>
              </a:lnSpc>
            </a:pPr>
            <a:r>
              <a:rPr lang="en-US" sz="1600" dirty="0">
                <a:solidFill>
                  <a:srgbClr val="2C2C2C"/>
                </a:solidFill>
                <a:latin typeface="Quattrocento Sans" pitchFamily="34" charset="0"/>
                <a:ea typeface="Quattrocento Sans" pitchFamily="34" charset="-122"/>
                <a:cs typeface="Quattrocento Sans" pitchFamily="34" charset="-120"/>
              </a:rPr>
              <a:t>↓</a:t>
            </a:r>
            <a:endParaRPr lang="en-US" sz="1600" dirty="0"/>
          </a:p>
          <a:p>
            <a:pPr algn="ctr">
              <a:lnSpc>
                <a:spcPct val="140000"/>
              </a:lnSpc>
            </a:pPr>
            <a:r>
              <a:rPr lang="en-US" sz="1200" dirty="0">
                <a:solidFill>
                  <a:srgbClr val="2C2C2C"/>
                </a:solidFill>
                <a:latin typeface="Quattrocento Sans" pitchFamily="34" charset="0"/>
                <a:ea typeface="Quattrocento Sans" pitchFamily="34" charset="-122"/>
                <a:cs typeface="Quattrocento Sans" pitchFamily="34" charset="-120"/>
              </a:rPr>
              <a:t>Review &amp; refine</a:t>
            </a:r>
            <a:endParaRPr lang="en-US" sz="1600" dirty="0"/>
          </a:p>
          <a:p>
            <a:pPr algn="ctr">
              <a:lnSpc>
                <a:spcPct val="140000"/>
              </a:lnSpc>
            </a:pPr>
            <a:r>
              <a:rPr lang="en-US" sz="1600" dirty="0">
                <a:solidFill>
                  <a:srgbClr val="2C2C2C"/>
                </a:solidFill>
                <a:latin typeface="Quattrocento Sans" pitchFamily="34" charset="0"/>
                <a:ea typeface="Quattrocento Sans" pitchFamily="34" charset="-122"/>
                <a:cs typeface="Quattrocento Sans" pitchFamily="34" charset="-120"/>
              </a:rPr>
              <a:t>↓</a:t>
            </a:r>
            <a:endParaRPr lang="en-US" sz="1600" dirty="0"/>
          </a:p>
          <a:p>
            <a:pPr algn="ctr">
              <a:lnSpc>
                <a:spcPct val="140000"/>
              </a:lnSpc>
            </a:pPr>
            <a:r>
              <a:rPr lang="en-US" sz="1200" dirty="0">
                <a:solidFill>
                  <a:srgbClr val="2C2C2C"/>
                </a:solidFill>
                <a:latin typeface="Quattrocento Sans" pitchFamily="34" charset="0"/>
                <a:ea typeface="Quattrocento Sans" pitchFamily="34" charset="-122"/>
                <a:cs typeface="Quattrocento Sans" pitchFamily="34" charset="-120"/>
              </a:rPr>
              <a:t>Build once correctly</a:t>
            </a:r>
            <a:endParaRPr lang="en-US" sz="1600" dirty="0"/>
          </a:p>
          <a:p>
            <a:pPr algn="ctr">
              <a:lnSpc>
                <a:spcPct val="140000"/>
              </a:lnSpc>
            </a:pPr>
            <a:r>
              <a:rPr lang="en-US" sz="1200" b="1" dirty="0">
                <a:solidFill>
                  <a:srgbClr val="27AE60"/>
                </a:solidFill>
                <a:latin typeface="Quattrocento Sans" pitchFamily="34" charset="0"/>
                <a:ea typeface="Quattrocento Sans" pitchFamily="34" charset="-122"/>
                <a:cs typeface="Quattrocento Sans" pitchFamily="34" charset="-120"/>
              </a:rPr>
              <a:t>Efficient &amp; correct!</a:t>
            </a:r>
            <a:endParaRPr lang="en-US" sz="1600" dirty="0"/>
          </a:p>
        </p:txBody>
      </p:sp>
      <p:sp>
        <p:nvSpPr>
          <p:cNvPr id="14" name="Shape 12"/>
          <p:cNvSpPr/>
          <p:nvPr/>
        </p:nvSpPr>
        <p:spPr>
          <a:xfrm>
            <a:off x="762000" y="5080000"/>
            <a:ext cx="14732000" cy="1016000"/>
          </a:xfrm>
          <a:prstGeom prst="roundRect">
            <a:avLst>
              <a:gd name="adj" fmla="val 6000"/>
            </a:avLst>
          </a:prstGeom>
          <a:solidFill>
            <a:srgbClr val="E8E2DA"/>
          </a:solidFill>
          <a:ln/>
        </p:spPr>
      </p:sp>
      <p:sp>
        <p:nvSpPr>
          <p:cNvPr id="15" name="Shape 13"/>
          <p:cNvSpPr/>
          <p:nvPr/>
        </p:nvSpPr>
        <p:spPr>
          <a:xfrm>
            <a:off x="1060450" y="5308600"/>
            <a:ext cx="266700" cy="355600"/>
          </a:xfrm>
          <a:custGeom>
            <a:avLst/>
            <a:gdLst/>
            <a:ahLst/>
            <a:cxnLst/>
            <a:rect l="l" t="t" r="r" b="b"/>
            <a:pathLst>
              <a:path w="266700" h="355600">
                <a:moveTo>
                  <a:pt x="203428" y="266700"/>
                </a:moveTo>
                <a:cubicBezTo>
                  <a:pt x="208498" y="251212"/>
                  <a:pt x="218638" y="237182"/>
                  <a:pt x="230098" y="225098"/>
                </a:cubicBezTo>
                <a:cubicBezTo>
                  <a:pt x="252809" y="201206"/>
                  <a:pt x="266700" y="168910"/>
                  <a:pt x="266700" y="133350"/>
                </a:cubicBezTo>
                <a:cubicBezTo>
                  <a:pt x="266700" y="59730"/>
                  <a:pt x="206970" y="0"/>
                  <a:pt x="133350" y="0"/>
                </a:cubicBezTo>
                <a:cubicBezTo>
                  <a:pt x="59730" y="0"/>
                  <a:pt x="0" y="59730"/>
                  <a:pt x="0" y="133350"/>
                </a:cubicBezTo>
                <a:cubicBezTo>
                  <a:pt x="0" y="168910"/>
                  <a:pt x="13891" y="201206"/>
                  <a:pt x="36602" y="225098"/>
                </a:cubicBezTo>
                <a:cubicBezTo>
                  <a:pt x="48062" y="237182"/>
                  <a:pt x="58271" y="251212"/>
                  <a:pt x="63272" y="266700"/>
                </a:cubicBezTo>
                <a:lnTo>
                  <a:pt x="203359" y="266700"/>
                </a:lnTo>
                <a:close/>
                <a:moveTo>
                  <a:pt x="200025" y="300038"/>
                </a:moveTo>
                <a:lnTo>
                  <a:pt x="66675" y="300038"/>
                </a:lnTo>
                <a:lnTo>
                  <a:pt x="66675" y="311150"/>
                </a:lnTo>
                <a:cubicBezTo>
                  <a:pt x="66675" y="341848"/>
                  <a:pt x="91539" y="366712"/>
                  <a:pt x="122238" y="366712"/>
                </a:cubicBezTo>
                <a:lnTo>
                  <a:pt x="144463" y="366712"/>
                </a:lnTo>
                <a:cubicBezTo>
                  <a:pt x="175161" y="366712"/>
                  <a:pt x="200025" y="341848"/>
                  <a:pt x="200025" y="311150"/>
                </a:cubicBezTo>
                <a:lnTo>
                  <a:pt x="200025" y="300038"/>
                </a:lnTo>
                <a:close/>
                <a:moveTo>
                  <a:pt x="127794" y="77788"/>
                </a:moveTo>
                <a:cubicBezTo>
                  <a:pt x="100151" y="77788"/>
                  <a:pt x="77788" y="100151"/>
                  <a:pt x="77788" y="127794"/>
                </a:cubicBezTo>
                <a:cubicBezTo>
                  <a:pt x="77788" y="137031"/>
                  <a:pt x="70356" y="144463"/>
                  <a:pt x="61119" y="144463"/>
                </a:cubicBezTo>
                <a:cubicBezTo>
                  <a:pt x="51881" y="144463"/>
                  <a:pt x="44450" y="137031"/>
                  <a:pt x="44450" y="127794"/>
                </a:cubicBezTo>
                <a:cubicBezTo>
                  <a:pt x="44450" y="81746"/>
                  <a:pt x="81746" y="44450"/>
                  <a:pt x="127794" y="44450"/>
                </a:cubicBezTo>
                <a:cubicBezTo>
                  <a:pt x="137031" y="44450"/>
                  <a:pt x="144463" y="51881"/>
                  <a:pt x="144463" y="61119"/>
                </a:cubicBezTo>
                <a:cubicBezTo>
                  <a:pt x="144463" y="70356"/>
                  <a:pt x="137031" y="77788"/>
                  <a:pt x="127794" y="77788"/>
                </a:cubicBezTo>
                <a:close/>
              </a:path>
            </a:pathLst>
          </a:custGeom>
          <a:solidFill>
            <a:srgbClr val="D4943A"/>
          </a:solidFill>
          <a:ln/>
        </p:spPr>
      </p:sp>
      <p:sp>
        <p:nvSpPr>
          <p:cNvPr id="16" name="Text 14"/>
          <p:cNvSpPr/>
          <p:nvPr/>
        </p:nvSpPr>
        <p:spPr>
          <a:xfrm>
            <a:off x="1498600" y="5143500"/>
            <a:ext cx="2540000" cy="304800"/>
          </a:xfrm>
          <a:prstGeom prst="rect">
            <a:avLst/>
          </a:prstGeom>
          <a:noFill/>
          <a:ln/>
        </p:spPr>
        <p:txBody>
          <a:bodyPr wrap="none" lIns="0" tIns="0" rIns="0" bIns="0" rtlCol="0" anchor="ctr"/>
          <a:lstStyle/>
          <a:p>
            <a:pPr>
              <a:lnSpc>
                <a:spcPct val="100000"/>
              </a:lnSpc>
            </a:pPr>
            <a:r>
              <a:rPr lang="en-US" sz="1400" b="1" dirty="0">
                <a:solidFill>
                  <a:srgbClr val="2D5A4C"/>
                </a:solidFill>
                <a:latin typeface="Liter" pitchFamily="34" charset="0"/>
                <a:ea typeface="Liter" pitchFamily="34" charset="-122"/>
                <a:cs typeface="Liter" pitchFamily="34" charset="-120"/>
              </a:rPr>
              <a:t>EXPLANATION</a:t>
            </a:r>
            <a:endParaRPr lang="en-US" sz="1600" dirty="0"/>
          </a:p>
        </p:txBody>
      </p:sp>
      <p:sp>
        <p:nvSpPr>
          <p:cNvPr id="17" name="Text 15"/>
          <p:cNvSpPr/>
          <p:nvPr/>
        </p:nvSpPr>
        <p:spPr>
          <a:xfrm>
            <a:off x="1498600" y="5486400"/>
            <a:ext cx="13716000" cy="5080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Building a database without a conceptual model is like building a house without blueprints. You might get something built, but it probably won't meet the users' needs.</a:t>
            </a:r>
            <a:endParaRPr lang="en-US" sz="1600" dirty="0"/>
          </a:p>
        </p:txBody>
      </p:sp>
      <p:sp>
        <p:nvSpPr>
          <p:cNvPr id="18" name="Shape 16"/>
          <p:cNvSpPr/>
          <p:nvPr/>
        </p:nvSpPr>
        <p:spPr>
          <a:xfrm>
            <a:off x="762000" y="6350000"/>
            <a:ext cx="14732000" cy="1270000"/>
          </a:xfrm>
          <a:prstGeom prst="roundRect">
            <a:avLst>
              <a:gd name="adj" fmla="val 6000"/>
            </a:avLst>
          </a:prstGeom>
          <a:solidFill>
            <a:srgbClr val="D4943A">
              <a:alpha val="8235"/>
            </a:srgbClr>
          </a:solidFill>
          <a:ln/>
        </p:spPr>
      </p:sp>
      <p:sp>
        <p:nvSpPr>
          <p:cNvPr id="19" name="Shape 17"/>
          <p:cNvSpPr/>
          <p:nvPr/>
        </p:nvSpPr>
        <p:spPr>
          <a:xfrm>
            <a:off x="1016000" y="6477000"/>
            <a:ext cx="304800" cy="304800"/>
          </a:xfrm>
          <a:custGeom>
            <a:avLst/>
            <a:gdLst/>
            <a:ahLst/>
            <a:cxnLst/>
            <a:rect l="l" t="t" r="r" b="b"/>
            <a:pathLst>
              <a:path w="304800" h="304800">
                <a:moveTo>
                  <a:pt x="209490" y="166688"/>
                </a:moveTo>
                <a:lnTo>
                  <a:pt x="95845" y="166688"/>
                </a:lnTo>
                <a:cubicBezTo>
                  <a:pt x="97572" y="205085"/>
                  <a:pt x="106085" y="240447"/>
                  <a:pt x="118170" y="266343"/>
                </a:cubicBezTo>
                <a:cubicBezTo>
                  <a:pt x="124956" y="280928"/>
                  <a:pt x="132278" y="291227"/>
                  <a:pt x="139065" y="297537"/>
                </a:cubicBezTo>
                <a:cubicBezTo>
                  <a:pt x="145733" y="303788"/>
                  <a:pt x="150316" y="304800"/>
                  <a:pt x="152698" y="304800"/>
                </a:cubicBezTo>
                <a:cubicBezTo>
                  <a:pt x="155079" y="304800"/>
                  <a:pt x="159663" y="303788"/>
                  <a:pt x="166330" y="297537"/>
                </a:cubicBezTo>
                <a:cubicBezTo>
                  <a:pt x="173117" y="291227"/>
                  <a:pt x="180439" y="280868"/>
                  <a:pt x="187226" y="266343"/>
                </a:cubicBezTo>
                <a:cubicBezTo>
                  <a:pt x="199311" y="240447"/>
                  <a:pt x="207824" y="205085"/>
                  <a:pt x="209550" y="166688"/>
                </a:cubicBezTo>
                <a:close/>
                <a:moveTo>
                  <a:pt x="95786" y="138113"/>
                </a:moveTo>
                <a:lnTo>
                  <a:pt x="209431" y="138113"/>
                </a:lnTo>
                <a:cubicBezTo>
                  <a:pt x="207764" y="99715"/>
                  <a:pt x="199251" y="64353"/>
                  <a:pt x="187166" y="38457"/>
                </a:cubicBezTo>
                <a:cubicBezTo>
                  <a:pt x="180380" y="23932"/>
                  <a:pt x="173057" y="13573"/>
                  <a:pt x="166271" y="7263"/>
                </a:cubicBezTo>
                <a:cubicBezTo>
                  <a:pt x="159603" y="1012"/>
                  <a:pt x="155019" y="0"/>
                  <a:pt x="152638" y="0"/>
                </a:cubicBezTo>
                <a:cubicBezTo>
                  <a:pt x="150257" y="0"/>
                  <a:pt x="145673" y="1012"/>
                  <a:pt x="139005" y="7263"/>
                </a:cubicBezTo>
                <a:cubicBezTo>
                  <a:pt x="132219" y="13573"/>
                  <a:pt x="124897" y="23932"/>
                  <a:pt x="118110" y="38457"/>
                </a:cubicBezTo>
                <a:cubicBezTo>
                  <a:pt x="106025" y="64353"/>
                  <a:pt x="97512" y="99715"/>
                  <a:pt x="95786" y="138113"/>
                </a:cubicBezTo>
                <a:close/>
                <a:moveTo>
                  <a:pt x="67211" y="138113"/>
                </a:moveTo>
                <a:cubicBezTo>
                  <a:pt x="69294" y="87154"/>
                  <a:pt x="82451" y="39826"/>
                  <a:pt x="101679" y="8751"/>
                </a:cubicBezTo>
                <a:cubicBezTo>
                  <a:pt x="46851" y="28158"/>
                  <a:pt x="6489" y="78105"/>
                  <a:pt x="893" y="138113"/>
                </a:cubicBezTo>
                <a:lnTo>
                  <a:pt x="67211" y="138113"/>
                </a:lnTo>
                <a:close/>
                <a:moveTo>
                  <a:pt x="893" y="166688"/>
                </a:moveTo>
                <a:cubicBezTo>
                  <a:pt x="6489" y="226695"/>
                  <a:pt x="46851" y="276642"/>
                  <a:pt x="101679" y="296049"/>
                </a:cubicBezTo>
                <a:cubicBezTo>
                  <a:pt x="82451" y="264974"/>
                  <a:pt x="69294" y="217646"/>
                  <a:pt x="67211" y="166688"/>
                </a:cubicBezTo>
                <a:lnTo>
                  <a:pt x="893" y="166688"/>
                </a:lnTo>
                <a:close/>
                <a:moveTo>
                  <a:pt x="238065" y="166688"/>
                </a:moveTo>
                <a:cubicBezTo>
                  <a:pt x="235982" y="217646"/>
                  <a:pt x="222825" y="264974"/>
                  <a:pt x="203597" y="296049"/>
                </a:cubicBezTo>
                <a:cubicBezTo>
                  <a:pt x="258425" y="276582"/>
                  <a:pt x="298787" y="226695"/>
                  <a:pt x="304383" y="166688"/>
                </a:cubicBezTo>
                <a:lnTo>
                  <a:pt x="238065" y="166688"/>
                </a:lnTo>
                <a:close/>
                <a:moveTo>
                  <a:pt x="304383" y="138113"/>
                </a:moveTo>
                <a:cubicBezTo>
                  <a:pt x="298787" y="78105"/>
                  <a:pt x="258425" y="28158"/>
                  <a:pt x="203597" y="8751"/>
                </a:cubicBezTo>
                <a:cubicBezTo>
                  <a:pt x="222825" y="39826"/>
                  <a:pt x="235982" y="87154"/>
                  <a:pt x="238065" y="138113"/>
                </a:cubicBezTo>
                <a:lnTo>
                  <a:pt x="304383" y="138113"/>
                </a:lnTo>
                <a:close/>
              </a:path>
            </a:pathLst>
          </a:custGeom>
          <a:solidFill>
            <a:srgbClr val="D4943A"/>
          </a:solidFill>
          <a:ln/>
        </p:spPr>
      </p:sp>
      <p:sp>
        <p:nvSpPr>
          <p:cNvPr id="20" name="Text 18"/>
          <p:cNvSpPr/>
          <p:nvPr/>
        </p:nvSpPr>
        <p:spPr>
          <a:xfrm>
            <a:off x="1422400" y="6438900"/>
            <a:ext cx="3175000" cy="304800"/>
          </a:xfrm>
          <a:prstGeom prst="rect">
            <a:avLst/>
          </a:prstGeom>
          <a:noFill/>
          <a:ln/>
        </p:spPr>
        <p:txBody>
          <a:bodyPr wrap="none" lIns="0" tIns="0" rIns="0" bIns="0" rtlCol="0" anchor="ctr"/>
          <a:lstStyle/>
          <a:p>
            <a:pPr>
              <a:lnSpc>
                <a:spcPct val="100000"/>
              </a:lnSpc>
            </a:pPr>
            <a:r>
              <a:rPr lang="en-US" sz="1400" b="1" dirty="0">
                <a:solidFill>
                  <a:srgbClr val="D4943A"/>
                </a:solidFill>
                <a:latin typeface="Liter" pitchFamily="34" charset="0"/>
                <a:ea typeface="Liter" pitchFamily="34" charset="-122"/>
                <a:cs typeface="Liter" pitchFamily="34" charset="-120"/>
              </a:rPr>
              <a:t>REAL-WORLD EXAMPLE</a:t>
            </a:r>
            <a:endParaRPr lang="en-US" sz="1600" dirty="0"/>
          </a:p>
        </p:txBody>
      </p:sp>
      <p:sp>
        <p:nvSpPr>
          <p:cNvPr id="21" name="Text 19"/>
          <p:cNvSpPr/>
          <p:nvPr/>
        </p:nvSpPr>
        <p:spPr>
          <a:xfrm>
            <a:off x="1016000" y="6832600"/>
            <a:ext cx="14224000" cy="6604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A team designing an e-commerce site uses a conceptual model to discover they need to track Suppliers, Shipping, and Returns — not just Orders and Products — before writing any code.</a:t>
            </a:r>
            <a:endParaRPr lang="en-US" sz="1600" dirty="0"/>
          </a:p>
        </p:txBody>
      </p:sp>
      <p:sp>
        <p:nvSpPr>
          <p:cNvPr id="22" name="Shape 20"/>
          <p:cNvSpPr/>
          <p:nvPr/>
        </p:nvSpPr>
        <p:spPr>
          <a:xfrm>
            <a:off x="762000" y="7874000"/>
            <a:ext cx="14732000" cy="635000"/>
          </a:xfrm>
          <a:prstGeom prst="roundRect">
            <a:avLst>
              <a:gd name="adj" fmla="val 6000"/>
            </a:avLst>
          </a:prstGeom>
          <a:solidFill>
            <a:srgbClr val="2D5A4C">
              <a:alpha val="8235"/>
            </a:srgbClr>
          </a:solidFill>
          <a:ln/>
        </p:spPr>
      </p:sp>
      <p:sp>
        <p:nvSpPr>
          <p:cNvPr id="23" name="Shape 21"/>
          <p:cNvSpPr/>
          <p:nvPr/>
        </p:nvSpPr>
        <p:spPr>
          <a:xfrm>
            <a:off x="1016000" y="8026400"/>
            <a:ext cx="254000" cy="254000"/>
          </a:xfrm>
          <a:custGeom>
            <a:avLst/>
            <a:gdLst/>
            <a:ahLst/>
            <a:cxnLst/>
            <a:rect l="l" t="t" r="r" b="b"/>
            <a:pathLst>
              <a:path w="254000" h="254000">
                <a:moveTo>
                  <a:pt x="175071" y="10517"/>
                </a:moveTo>
                <a:lnTo>
                  <a:pt x="152797" y="32792"/>
                </a:lnTo>
                <a:lnTo>
                  <a:pt x="221208" y="101203"/>
                </a:lnTo>
                <a:lnTo>
                  <a:pt x="243483" y="78929"/>
                </a:lnTo>
                <a:cubicBezTo>
                  <a:pt x="250230" y="72231"/>
                  <a:pt x="254000" y="63103"/>
                  <a:pt x="254000" y="53578"/>
                </a:cubicBezTo>
                <a:cubicBezTo>
                  <a:pt x="254000" y="44053"/>
                  <a:pt x="250230" y="34925"/>
                  <a:pt x="243483" y="28228"/>
                </a:cubicBezTo>
                <a:lnTo>
                  <a:pt x="225772" y="10517"/>
                </a:lnTo>
                <a:cubicBezTo>
                  <a:pt x="219075" y="3770"/>
                  <a:pt x="209947" y="0"/>
                  <a:pt x="200422" y="0"/>
                </a:cubicBezTo>
                <a:cubicBezTo>
                  <a:pt x="190897" y="0"/>
                  <a:pt x="181769" y="3770"/>
                  <a:pt x="175071" y="10517"/>
                </a:cubicBezTo>
                <a:close/>
                <a:moveTo>
                  <a:pt x="135979" y="49609"/>
                </a:moveTo>
                <a:lnTo>
                  <a:pt x="29220" y="156319"/>
                </a:lnTo>
                <a:cubicBezTo>
                  <a:pt x="23912" y="161627"/>
                  <a:pt x="20042" y="168275"/>
                  <a:pt x="18008" y="175518"/>
                </a:cubicBezTo>
                <a:lnTo>
                  <a:pt x="446" y="238919"/>
                </a:lnTo>
                <a:cubicBezTo>
                  <a:pt x="-695" y="243036"/>
                  <a:pt x="446" y="247501"/>
                  <a:pt x="3522" y="250527"/>
                </a:cubicBezTo>
                <a:cubicBezTo>
                  <a:pt x="6598" y="253554"/>
                  <a:pt x="11013" y="254744"/>
                  <a:pt x="15131" y="253603"/>
                </a:cubicBezTo>
                <a:lnTo>
                  <a:pt x="78532" y="235992"/>
                </a:lnTo>
                <a:cubicBezTo>
                  <a:pt x="85775" y="233958"/>
                  <a:pt x="92373" y="230138"/>
                  <a:pt x="97730" y="224780"/>
                </a:cubicBezTo>
                <a:lnTo>
                  <a:pt x="204391" y="118021"/>
                </a:lnTo>
                <a:lnTo>
                  <a:pt x="135979" y="49609"/>
                </a:lnTo>
                <a:close/>
              </a:path>
            </a:pathLst>
          </a:custGeom>
          <a:solidFill>
            <a:srgbClr val="2D5A4C"/>
          </a:solidFill>
          <a:ln/>
        </p:spPr>
      </p:sp>
      <p:sp>
        <p:nvSpPr>
          <p:cNvPr id="24" name="Text 22"/>
          <p:cNvSpPr/>
          <p:nvPr/>
        </p:nvSpPr>
        <p:spPr>
          <a:xfrm>
            <a:off x="1371600" y="7937500"/>
            <a:ext cx="13970000" cy="508000"/>
          </a:xfrm>
          <a:prstGeom prst="rect">
            <a:avLst/>
          </a:prstGeom>
          <a:noFill/>
          <a:ln/>
        </p:spPr>
        <p:txBody>
          <a:bodyPr wrap="square" lIns="0" tIns="0" rIns="0" bIns="0" rtlCol="0" anchor="ctr"/>
          <a:lstStyle/>
          <a:p>
            <a:pPr>
              <a:lnSpc>
                <a:spcPct val="140000"/>
              </a:lnSpc>
            </a:pPr>
            <a:r>
              <a:rPr lang="en-US" sz="1400" b="1" dirty="0">
                <a:solidFill>
                  <a:srgbClr val="2D5A4C"/>
                </a:solidFill>
                <a:latin typeface="Quattrocento Sans" pitchFamily="34" charset="0"/>
                <a:ea typeface="Quattrocento Sans" pitchFamily="34" charset="-122"/>
                <a:cs typeface="Quattrocento Sans" pitchFamily="34" charset="-120"/>
              </a:rPr>
              <a:t>Practice:</a:t>
            </a:r>
            <a:pPr>
              <a:lnSpc>
                <a:spcPct val="140000"/>
              </a:lnSpc>
            </a:pPr>
            <a:r>
              <a:rPr lang="en-US" sz="1400" dirty="0">
                <a:solidFill>
                  <a:srgbClr val="2D5A4C"/>
                </a:solidFill>
                <a:latin typeface="Quattrocento Sans" pitchFamily="34" charset="0"/>
                <a:ea typeface="Quattrocento Sans" pitchFamily="34" charset="-122"/>
                <a:cs typeface="Quattrocento Sans" pitchFamily="34" charset="-120"/>
              </a:rPr>
              <a:t> List three benefits of planning before building anything.</a:t>
            </a:r>
            <a:endParaRPr lang="en-US" sz="1600" dirty="0"/>
          </a:p>
        </p:txBody>
      </p:sp>
      <p:sp>
        <p:nvSpPr>
          <p:cNvPr id="25" name="Text 23"/>
          <p:cNvSpPr/>
          <p:nvPr/>
        </p:nvSpPr>
        <p:spPr>
          <a:xfrm>
            <a:off x="13462000" y="8788400"/>
            <a:ext cx="2286000" cy="254000"/>
          </a:xfrm>
          <a:prstGeom prst="rect">
            <a:avLst/>
          </a:prstGeom>
          <a:noFill/>
          <a:ln/>
        </p:spPr>
        <p:txBody>
          <a:bodyPr wrap="none" lIns="0" tIns="0" rIns="0" bIns="0" rtlCol="0" anchor="ctr"/>
          <a:lstStyle/>
          <a:p>
            <a:pPr algn="r">
              <a:lnSpc>
                <a:spcPct val="140000"/>
              </a:lnSpc>
            </a:pPr>
            <a:r>
              <a:rPr lang="en-US" sz="1400" dirty="0">
                <a:solidFill>
                  <a:srgbClr val="8B7355"/>
                </a:solidFill>
                <a:latin typeface="QuattrocentoSans" pitchFamily="34" charset="0"/>
                <a:ea typeface="QuattrocentoSans" pitchFamily="34" charset="-122"/>
                <a:cs typeface="QuattrocentoSans" pitchFamily="34" charset="-120"/>
              </a:rPr>
              <a:t>Conceptual Data Models</a:t>
            </a:r>
            <a:endParaRPr lang="en-US" sz="1400" dirty="0"/>
          </a:p>
        </p:txBody>
      </p:sp>
    </p:spTree>
  </p:cSld>
  <p:clrMapOvr>
    <a:masterClrMapping/>
  </p:clrMapOvr>
  <p:transition>
    <p:fade/>
    <p:spd val="med"/>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6350000" cy="9144000"/>
          </a:xfrm>
          <a:prstGeom prst="rect">
            <a:avLst/>
          </a:prstGeom>
          <a:solidFill>
            <a:srgbClr val="2D5A4C"/>
          </a:solidFill>
          <a:ln/>
        </p:spPr>
      </p:sp>
      <p:pic>
        <p:nvPicPr>
          <p:cNvPr id="3" name="Image 0" descr="https://kimi-img.moonshot.cn/pub/slides/okc/iw55rugbchvnc/mnt/agents/output/db-intro/images/1_Concept_of_a_Data_Center_Room_with.png">    </p:cNvPr>
          <p:cNvPicPr>
            <a:picLocks noChangeAspect="1"/>
          </p:cNvPicPr>
          <p:nvPr/>
        </p:nvPicPr>
        <p:blipFill>
          <a:blip r:embed="rId1"/>
          <a:srcRect l="12490" r="12490" t="0" b="0"/>
          <a:stretch/>
        </p:blipFill>
        <p:spPr>
          <a:xfrm>
            <a:off x="6350000" y="0"/>
            <a:ext cx="9906000" cy="9144000"/>
          </a:xfrm>
          <a:prstGeom prst="rect">
            <a:avLst/>
          </a:prstGeom>
        </p:spPr>
      </p:pic>
      <p:sp>
        <p:nvSpPr>
          <p:cNvPr id="4" name="Shape 1"/>
          <p:cNvSpPr/>
          <p:nvPr/>
        </p:nvSpPr>
        <p:spPr>
          <a:xfrm>
            <a:off x="6350000" y="0"/>
            <a:ext cx="9906000" cy="9144000"/>
          </a:xfrm>
          <a:prstGeom prst="rect">
            <a:avLst/>
          </a:prstGeom>
          <a:gradFill rotWithShape="1" flip="none">
            <a:gsLst>
              <a:gs pos="0">
                <a:srgbClr val="2D5A4C">
                  <a:alpha val="90000"/>
                </a:srgbClr>
              </a:gs>
              <a:gs pos="30000">
                <a:srgbClr val="2D5A4C">
                  <a:alpha val="50000"/>
                </a:srgbClr>
              </a:gs>
              <a:gs pos="100000">
                <a:srgbClr val="2D5A4C">
                  <a:alpha val="0"/>
                </a:srgbClr>
              </a:gs>
            </a:gsLst>
            <a:lin ang="0" scaled="1"/>
          </a:gradFill>
          <a:ln/>
        </p:spPr>
      </p:sp>
      <p:sp>
        <p:nvSpPr>
          <p:cNvPr id="5" name="Text 2"/>
          <p:cNvSpPr/>
          <p:nvPr/>
        </p:nvSpPr>
        <p:spPr>
          <a:xfrm>
            <a:off x="762000" y="2540000"/>
            <a:ext cx="4826000" cy="762000"/>
          </a:xfrm>
          <a:prstGeom prst="rect">
            <a:avLst/>
          </a:prstGeom>
          <a:noFill/>
          <a:ln/>
        </p:spPr>
        <p:txBody>
          <a:bodyPr wrap="none" lIns="0" tIns="0" rIns="0" bIns="0" rtlCol="0" anchor="ctr"/>
          <a:lstStyle/>
          <a:p>
            <a:pPr>
              <a:lnSpc>
                <a:spcPct val="110000"/>
              </a:lnSpc>
            </a:pPr>
            <a:r>
              <a:rPr lang="en-US" sz="4800" dirty="0">
                <a:solidFill>
                  <a:srgbClr val="D4943A"/>
                </a:solidFill>
                <a:latin typeface="Liter" pitchFamily="34" charset="0"/>
                <a:ea typeface="Liter" pitchFamily="34" charset="-122"/>
                <a:cs typeface="Liter" pitchFamily="34" charset="-120"/>
              </a:rPr>
              <a:t>03</a:t>
            </a:r>
            <a:endParaRPr lang="en-US" sz="4800" dirty="0"/>
          </a:p>
        </p:txBody>
      </p:sp>
      <p:sp>
        <p:nvSpPr>
          <p:cNvPr id="6" name="Shape 3"/>
          <p:cNvSpPr/>
          <p:nvPr/>
        </p:nvSpPr>
        <p:spPr>
          <a:xfrm>
            <a:off x="762000" y="3429000"/>
            <a:ext cx="1016000" cy="50800"/>
          </a:xfrm>
          <a:prstGeom prst="rect">
            <a:avLst/>
          </a:prstGeom>
          <a:solidFill>
            <a:srgbClr val="D4943A"/>
          </a:solidFill>
          <a:ln/>
        </p:spPr>
      </p:sp>
      <p:sp>
        <p:nvSpPr>
          <p:cNvPr id="7" name="Text 4"/>
          <p:cNvSpPr/>
          <p:nvPr/>
        </p:nvSpPr>
        <p:spPr>
          <a:xfrm>
            <a:off x="762000" y="3683000"/>
            <a:ext cx="4826000" cy="1524000"/>
          </a:xfrm>
          <a:prstGeom prst="rect">
            <a:avLst/>
          </a:prstGeom>
          <a:noFill/>
          <a:ln/>
        </p:spPr>
        <p:txBody>
          <a:bodyPr wrap="square" lIns="0" tIns="0" rIns="0" bIns="0" rtlCol="0" anchor="t"/>
          <a:lstStyle/>
          <a:p>
            <a:pPr>
              <a:lnSpc>
                <a:spcPct val="130000"/>
              </a:lnSpc>
            </a:pPr>
            <a:r>
              <a:rPr lang="en-US" sz="3200" b="1" dirty="0">
                <a:solidFill>
                  <a:srgbClr val="FFFFFF"/>
                </a:solidFill>
                <a:latin typeface="Liter" pitchFamily="34" charset="0"/>
                <a:ea typeface="Liter" pitchFamily="34" charset="-122"/>
                <a:cs typeface="Liter" pitchFamily="34" charset="-120"/>
              </a:rPr>
              <a:t>Conceptual Data Models</a:t>
            </a:r>
            <a:endParaRPr lang="en-US" sz="1600" dirty="0"/>
          </a:p>
        </p:txBody>
      </p:sp>
      <p:sp>
        <p:nvSpPr>
          <p:cNvPr id="8" name="Text 5"/>
          <p:cNvSpPr/>
          <p:nvPr/>
        </p:nvSpPr>
        <p:spPr>
          <a:xfrm>
            <a:off x="762000" y="5334000"/>
            <a:ext cx="4826000" cy="1016000"/>
          </a:xfrm>
          <a:prstGeom prst="rect">
            <a:avLst/>
          </a:prstGeom>
          <a:noFill/>
          <a:ln/>
        </p:spPr>
        <p:txBody>
          <a:bodyPr wrap="square" lIns="0" tIns="0" rIns="0" bIns="0" rtlCol="0" anchor="t"/>
          <a:lstStyle/>
          <a:p>
            <a:pPr>
              <a:lnSpc>
                <a:spcPct val="150000"/>
              </a:lnSpc>
            </a:pPr>
            <a:r>
              <a:rPr lang="en-US" sz="1600" dirty="0">
                <a:solidFill>
                  <a:srgbClr val="FFFFFF">
                    <a:alpha val="66667"/>
                  </a:srgbClr>
                </a:solidFill>
                <a:latin typeface="Quattrocento Sans" pitchFamily="34" charset="0"/>
                <a:ea typeface="Quattrocento Sans" pitchFamily="34" charset="-122"/>
                <a:cs typeface="Quattrocento Sans" pitchFamily="34" charset="-120"/>
              </a:rPr>
              <a:t>Learning how to plan databases using the Entity-Relationship model</a:t>
            </a:r>
            <a:endParaRPr lang="en-US" sz="1600" dirty="0"/>
          </a:p>
        </p:txBody>
      </p:sp>
    </p:spTree>
  </p:cSld>
  <p:clrMapOvr>
    <a:masterClrMapping/>
  </p:clrMapOvr>
  <p:transition>
    <p:fade/>
    <p:spd val="med"/>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D4943A"/>
          </a:solidFill>
          <a:ln/>
        </p:spPr>
      </p:sp>
      <p:sp>
        <p:nvSpPr>
          <p:cNvPr id="3" name="Text 1"/>
          <p:cNvSpPr/>
          <p:nvPr/>
        </p:nvSpPr>
        <p:spPr>
          <a:xfrm>
            <a:off x="762000" y="381000"/>
            <a:ext cx="10160000" cy="508000"/>
          </a:xfrm>
          <a:prstGeom prst="rect">
            <a:avLst/>
          </a:prstGeom>
          <a:noFill/>
          <a:ln/>
        </p:spPr>
        <p:txBody>
          <a:bodyPr wrap="none" lIns="0" tIns="0" rIns="0" bIns="0" rtlCol="0" anchor="ctr"/>
          <a:lstStyle/>
          <a:p>
            <a:pPr>
              <a:lnSpc>
                <a:spcPct val="130000"/>
              </a:lnSpc>
            </a:pPr>
            <a:r>
              <a:rPr lang="en-US" sz="2800" dirty="0">
                <a:solidFill>
                  <a:srgbClr val="2D5A4C"/>
                </a:solidFill>
                <a:latin typeface="Liter" pitchFamily="34" charset="0"/>
                <a:ea typeface="Liter" pitchFamily="34" charset="-122"/>
                <a:cs typeface="Liter" pitchFamily="34" charset="-120"/>
              </a:rPr>
              <a:t>Understanding Entities</a:t>
            </a:r>
            <a:endParaRPr lang="en-US" sz="2800" dirty="0"/>
          </a:p>
        </p:txBody>
      </p:sp>
      <p:sp>
        <p:nvSpPr>
          <p:cNvPr id="4" name="Text 2"/>
          <p:cNvSpPr/>
          <p:nvPr/>
        </p:nvSpPr>
        <p:spPr>
          <a:xfrm>
            <a:off x="762000" y="1143000"/>
            <a:ext cx="7620000" cy="3683000"/>
          </a:xfrm>
          <a:prstGeom prst="rect">
            <a:avLst/>
          </a:prstGeom>
          <a:noFill/>
          <a:ln/>
        </p:spPr>
        <p:txBody>
          <a:bodyPr wrap="square" lIns="0" tIns="0" rIns="0" bIns="0" rtlCol="0" anchor="t"/>
          <a:lstStyle/>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An entity is any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real-world object, person, place, or thing</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we store data about</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Entities are the main "nouns" in your database — the things you care about</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Examples: Student, Customer, Product, Doctor, Building, Book</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Each entity represents a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category of things</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not a single instance</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Entities become tables in the final database</a:t>
            </a:r>
            <a:endParaRPr lang="en-US" sz="2000" dirty="0"/>
          </a:p>
        </p:txBody>
      </p:sp>
      <p:sp>
        <p:nvSpPr>
          <p:cNvPr id="5" name="Shape 3"/>
          <p:cNvSpPr/>
          <p:nvPr/>
        </p:nvSpPr>
        <p:spPr>
          <a:xfrm>
            <a:off x="8890000" y="1016000"/>
            <a:ext cx="6604000" cy="3810000"/>
          </a:xfrm>
          <a:prstGeom prst="roundRect">
            <a:avLst>
              <a:gd name="adj" fmla="val 8000"/>
            </a:avLst>
          </a:prstGeom>
          <a:solidFill>
            <a:srgbClr val="2D5A4C">
              <a:alpha val="8235"/>
            </a:srgbClr>
          </a:solidFill>
          <a:ln/>
        </p:spPr>
      </p:sp>
      <p:sp>
        <p:nvSpPr>
          <p:cNvPr id="6" name="Text 4"/>
          <p:cNvSpPr/>
          <p:nvPr/>
        </p:nvSpPr>
        <p:spPr>
          <a:xfrm>
            <a:off x="8890000" y="1117600"/>
            <a:ext cx="6604000" cy="355600"/>
          </a:xfrm>
          <a:prstGeom prst="rect">
            <a:avLst/>
          </a:prstGeom>
          <a:noFill/>
          <a:ln/>
        </p:spPr>
        <p:txBody>
          <a:bodyPr wrap="none" lIns="0" tIns="0" rIns="0" bIns="0" rtlCol="0" anchor="ctr"/>
          <a:lstStyle/>
          <a:p>
            <a:pPr algn="ctr">
              <a:lnSpc>
                <a:spcPct val="100000"/>
              </a:lnSpc>
            </a:pPr>
            <a:r>
              <a:rPr lang="en-US" sz="1400" b="1" dirty="0">
                <a:solidFill>
                  <a:srgbClr val="2D5A4C"/>
                </a:solidFill>
                <a:latin typeface="Liter" pitchFamily="34" charset="0"/>
                <a:ea typeface="Liter" pitchFamily="34" charset="-122"/>
                <a:cs typeface="Liter" pitchFamily="34" charset="-120"/>
              </a:rPr>
              <a:t>ENTITY EXAMPLES</a:t>
            </a:r>
            <a:endParaRPr lang="en-US" sz="1600" dirty="0"/>
          </a:p>
        </p:txBody>
      </p:sp>
      <p:sp>
        <p:nvSpPr>
          <p:cNvPr id="7" name="Shape 5"/>
          <p:cNvSpPr/>
          <p:nvPr/>
        </p:nvSpPr>
        <p:spPr>
          <a:xfrm>
            <a:off x="9525000" y="1714500"/>
            <a:ext cx="1778000" cy="635000"/>
          </a:xfrm>
          <a:prstGeom prst="rect">
            <a:avLst/>
          </a:prstGeom>
          <a:solidFill>
            <a:srgbClr val="2D5A4C"/>
          </a:solidFill>
          <a:ln/>
        </p:spPr>
      </p:sp>
      <p:sp>
        <p:nvSpPr>
          <p:cNvPr id="8" name="Text 6"/>
          <p:cNvSpPr/>
          <p:nvPr/>
        </p:nvSpPr>
        <p:spPr>
          <a:xfrm>
            <a:off x="9525000" y="1714500"/>
            <a:ext cx="1778000" cy="635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STUDENT</a:t>
            </a:r>
            <a:endParaRPr lang="en-US" sz="1600" dirty="0"/>
          </a:p>
        </p:txBody>
      </p:sp>
      <p:sp>
        <p:nvSpPr>
          <p:cNvPr id="9" name="Shape 7"/>
          <p:cNvSpPr/>
          <p:nvPr/>
        </p:nvSpPr>
        <p:spPr>
          <a:xfrm>
            <a:off x="11684000" y="1714500"/>
            <a:ext cx="1778000" cy="635000"/>
          </a:xfrm>
          <a:prstGeom prst="rect">
            <a:avLst/>
          </a:prstGeom>
          <a:solidFill>
            <a:srgbClr val="2D5A4C"/>
          </a:solidFill>
          <a:ln/>
        </p:spPr>
      </p:sp>
      <p:sp>
        <p:nvSpPr>
          <p:cNvPr id="10" name="Text 8"/>
          <p:cNvSpPr/>
          <p:nvPr/>
        </p:nvSpPr>
        <p:spPr>
          <a:xfrm>
            <a:off x="11684000" y="1714500"/>
            <a:ext cx="1778000" cy="635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DOCTOR</a:t>
            </a:r>
            <a:endParaRPr lang="en-US" sz="1600" dirty="0"/>
          </a:p>
        </p:txBody>
      </p:sp>
      <p:sp>
        <p:nvSpPr>
          <p:cNvPr id="11" name="Shape 9"/>
          <p:cNvSpPr/>
          <p:nvPr/>
        </p:nvSpPr>
        <p:spPr>
          <a:xfrm>
            <a:off x="9525000" y="2667000"/>
            <a:ext cx="1778000" cy="635000"/>
          </a:xfrm>
          <a:prstGeom prst="rect">
            <a:avLst/>
          </a:prstGeom>
          <a:solidFill>
            <a:srgbClr val="2D5A4C"/>
          </a:solidFill>
          <a:ln/>
        </p:spPr>
      </p:sp>
      <p:sp>
        <p:nvSpPr>
          <p:cNvPr id="12" name="Text 10"/>
          <p:cNvSpPr/>
          <p:nvPr/>
        </p:nvSpPr>
        <p:spPr>
          <a:xfrm>
            <a:off x="9525000" y="2667000"/>
            <a:ext cx="1778000" cy="635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PRODUCT</a:t>
            </a:r>
            <a:endParaRPr lang="en-US" sz="1600" dirty="0"/>
          </a:p>
        </p:txBody>
      </p:sp>
      <p:sp>
        <p:nvSpPr>
          <p:cNvPr id="13" name="Shape 11"/>
          <p:cNvSpPr/>
          <p:nvPr/>
        </p:nvSpPr>
        <p:spPr>
          <a:xfrm>
            <a:off x="11684000" y="2667000"/>
            <a:ext cx="1778000" cy="635000"/>
          </a:xfrm>
          <a:prstGeom prst="rect">
            <a:avLst/>
          </a:prstGeom>
          <a:solidFill>
            <a:srgbClr val="2D5A4C"/>
          </a:solidFill>
          <a:ln/>
        </p:spPr>
      </p:sp>
      <p:sp>
        <p:nvSpPr>
          <p:cNvPr id="14" name="Text 12"/>
          <p:cNvSpPr/>
          <p:nvPr/>
        </p:nvSpPr>
        <p:spPr>
          <a:xfrm>
            <a:off x="11684000" y="2667000"/>
            <a:ext cx="1778000" cy="635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BOOK</a:t>
            </a:r>
            <a:endParaRPr lang="en-US" sz="1600" dirty="0"/>
          </a:p>
        </p:txBody>
      </p:sp>
      <p:sp>
        <p:nvSpPr>
          <p:cNvPr id="15" name="Shape 13"/>
          <p:cNvSpPr/>
          <p:nvPr/>
        </p:nvSpPr>
        <p:spPr>
          <a:xfrm>
            <a:off x="10604500" y="3619500"/>
            <a:ext cx="1778000" cy="635000"/>
          </a:xfrm>
          <a:prstGeom prst="rect">
            <a:avLst/>
          </a:prstGeom>
          <a:solidFill>
            <a:srgbClr val="2D5A4C"/>
          </a:solidFill>
          <a:ln/>
        </p:spPr>
      </p:sp>
      <p:sp>
        <p:nvSpPr>
          <p:cNvPr id="16" name="Text 14"/>
          <p:cNvSpPr/>
          <p:nvPr/>
        </p:nvSpPr>
        <p:spPr>
          <a:xfrm>
            <a:off x="10604500" y="3619500"/>
            <a:ext cx="1778000" cy="635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COURSE</a:t>
            </a:r>
            <a:endParaRPr lang="en-US" sz="1600" dirty="0"/>
          </a:p>
        </p:txBody>
      </p:sp>
      <p:sp>
        <p:nvSpPr>
          <p:cNvPr id="17" name="Text 15"/>
          <p:cNvSpPr/>
          <p:nvPr/>
        </p:nvSpPr>
        <p:spPr>
          <a:xfrm>
            <a:off x="9271000" y="4381500"/>
            <a:ext cx="5842000" cy="304800"/>
          </a:xfrm>
          <a:prstGeom prst="rect">
            <a:avLst/>
          </a:prstGeom>
          <a:noFill/>
          <a:ln/>
        </p:spPr>
        <p:txBody>
          <a:bodyPr wrap="none" lIns="0" tIns="0" rIns="0" bIns="0" rtlCol="0" anchor="ctr"/>
          <a:lstStyle/>
          <a:p>
            <a:pPr algn="ctr">
              <a:lnSpc>
                <a:spcPct val="100000"/>
              </a:lnSpc>
            </a:pPr>
            <a:r>
              <a:rPr lang="en-US" sz="1300" i="1" dirty="0">
                <a:solidFill>
                  <a:srgbClr val="8B7355"/>
                </a:solidFill>
                <a:latin typeface="Quattrocento Sans" pitchFamily="34" charset="0"/>
                <a:ea typeface="Quattrocento Sans" pitchFamily="34" charset="-122"/>
                <a:cs typeface="Quattrocento Sans" pitchFamily="34" charset="-120"/>
              </a:rPr>
              <a:t>Each rectangle = one entity type</a:t>
            </a:r>
            <a:endParaRPr lang="en-US" sz="1600" dirty="0"/>
          </a:p>
        </p:txBody>
      </p:sp>
      <p:sp>
        <p:nvSpPr>
          <p:cNvPr id="18" name="Shape 16"/>
          <p:cNvSpPr/>
          <p:nvPr/>
        </p:nvSpPr>
        <p:spPr>
          <a:xfrm>
            <a:off x="762000" y="5080000"/>
            <a:ext cx="14732000" cy="1016000"/>
          </a:xfrm>
          <a:prstGeom prst="roundRect">
            <a:avLst>
              <a:gd name="adj" fmla="val 6000"/>
            </a:avLst>
          </a:prstGeom>
          <a:solidFill>
            <a:srgbClr val="E8E2DA"/>
          </a:solidFill>
          <a:ln/>
        </p:spPr>
      </p:sp>
      <p:sp>
        <p:nvSpPr>
          <p:cNvPr id="19" name="Shape 17"/>
          <p:cNvSpPr/>
          <p:nvPr/>
        </p:nvSpPr>
        <p:spPr>
          <a:xfrm>
            <a:off x="1060450" y="5308600"/>
            <a:ext cx="266700" cy="355600"/>
          </a:xfrm>
          <a:custGeom>
            <a:avLst/>
            <a:gdLst/>
            <a:ahLst/>
            <a:cxnLst/>
            <a:rect l="l" t="t" r="r" b="b"/>
            <a:pathLst>
              <a:path w="266700" h="355600">
                <a:moveTo>
                  <a:pt x="203428" y="266700"/>
                </a:moveTo>
                <a:cubicBezTo>
                  <a:pt x="208498" y="251212"/>
                  <a:pt x="218638" y="237182"/>
                  <a:pt x="230098" y="225098"/>
                </a:cubicBezTo>
                <a:cubicBezTo>
                  <a:pt x="252809" y="201206"/>
                  <a:pt x="266700" y="168910"/>
                  <a:pt x="266700" y="133350"/>
                </a:cubicBezTo>
                <a:cubicBezTo>
                  <a:pt x="266700" y="59730"/>
                  <a:pt x="206970" y="0"/>
                  <a:pt x="133350" y="0"/>
                </a:cubicBezTo>
                <a:cubicBezTo>
                  <a:pt x="59730" y="0"/>
                  <a:pt x="0" y="59730"/>
                  <a:pt x="0" y="133350"/>
                </a:cubicBezTo>
                <a:cubicBezTo>
                  <a:pt x="0" y="168910"/>
                  <a:pt x="13891" y="201206"/>
                  <a:pt x="36602" y="225098"/>
                </a:cubicBezTo>
                <a:cubicBezTo>
                  <a:pt x="48062" y="237182"/>
                  <a:pt x="58271" y="251212"/>
                  <a:pt x="63272" y="266700"/>
                </a:cubicBezTo>
                <a:lnTo>
                  <a:pt x="203359" y="266700"/>
                </a:lnTo>
                <a:close/>
                <a:moveTo>
                  <a:pt x="200025" y="300038"/>
                </a:moveTo>
                <a:lnTo>
                  <a:pt x="66675" y="300038"/>
                </a:lnTo>
                <a:lnTo>
                  <a:pt x="66675" y="311150"/>
                </a:lnTo>
                <a:cubicBezTo>
                  <a:pt x="66675" y="341848"/>
                  <a:pt x="91539" y="366712"/>
                  <a:pt x="122238" y="366712"/>
                </a:cubicBezTo>
                <a:lnTo>
                  <a:pt x="144463" y="366712"/>
                </a:lnTo>
                <a:cubicBezTo>
                  <a:pt x="175161" y="366712"/>
                  <a:pt x="200025" y="341848"/>
                  <a:pt x="200025" y="311150"/>
                </a:cubicBezTo>
                <a:lnTo>
                  <a:pt x="200025" y="300038"/>
                </a:lnTo>
                <a:close/>
                <a:moveTo>
                  <a:pt x="127794" y="77788"/>
                </a:moveTo>
                <a:cubicBezTo>
                  <a:pt x="100151" y="77788"/>
                  <a:pt x="77788" y="100151"/>
                  <a:pt x="77788" y="127794"/>
                </a:cubicBezTo>
                <a:cubicBezTo>
                  <a:pt x="77788" y="137031"/>
                  <a:pt x="70356" y="144463"/>
                  <a:pt x="61119" y="144463"/>
                </a:cubicBezTo>
                <a:cubicBezTo>
                  <a:pt x="51881" y="144463"/>
                  <a:pt x="44450" y="137031"/>
                  <a:pt x="44450" y="127794"/>
                </a:cubicBezTo>
                <a:cubicBezTo>
                  <a:pt x="44450" y="81746"/>
                  <a:pt x="81746" y="44450"/>
                  <a:pt x="127794" y="44450"/>
                </a:cubicBezTo>
                <a:cubicBezTo>
                  <a:pt x="137031" y="44450"/>
                  <a:pt x="144463" y="51881"/>
                  <a:pt x="144463" y="61119"/>
                </a:cubicBezTo>
                <a:cubicBezTo>
                  <a:pt x="144463" y="70356"/>
                  <a:pt x="137031" y="77788"/>
                  <a:pt x="127794" y="77788"/>
                </a:cubicBezTo>
                <a:close/>
              </a:path>
            </a:pathLst>
          </a:custGeom>
          <a:solidFill>
            <a:srgbClr val="D4943A"/>
          </a:solidFill>
          <a:ln/>
        </p:spPr>
      </p:sp>
      <p:sp>
        <p:nvSpPr>
          <p:cNvPr id="20" name="Text 18"/>
          <p:cNvSpPr/>
          <p:nvPr/>
        </p:nvSpPr>
        <p:spPr>
          <a:xfrm>
            <a:off x="1498600" y="5143500"/>
            <a:ext cx="2540000" cy="304800"/>
          </a:xfrm>
          <a:prstGeom prst="rect">
            <a:avLst/>
          </a:prstGeom>
          <a:noFill/>
          <a:ln/>
        </p:spPr>
        <p:txBody>
          <a:bodyPr wrap="none" lIns="0" tIns="0" rIns="0" bIns="0" rtlCol="0" anchor="ctr"/>
          <a:lstStyle/>
          <a:p>
            <a:pPr>
              <a:lnSpc>
                <a:spcPct val="100000"/>
              </a:lnSpc>
            </a:pPr>
            <a:r>
              <a:rPr lang="en-US" sz="1400" b="1" dirty="0">
                <a:solidFill>
                  <a:srgbClr val="2D5A4C"/>
                </a:solidFill>
                <a:latin typeface="Liter" pitchFamily="34" charset="0"/>
                <a:ea typeface="Liter" pitchFamily="34" charset="-122"/>
                <a:cs typeface="Liter" pitchFamily="34" charset="-120"/>
              </a:rPr>
              <a:t>EXPLANATION</a:t>
            </a:r>
            <a:endParaRPr lang="en-US" sz="1600" dirty="0"/>
          </a:p>
        </p:txBody>
      </p:sp>
      <p:sp>
        <p:nvSpPr>
          <p:cNvPr id="21" name="Text 19"/>
          <p:cNvSpPr/>
          <p:nvPr/>
        </p:nvSpPr>
        <p:spPr>
          <a:xfrm>
            <a:off x="1498600" y="5486400"/>
            <a:ext cx="13716000" cy="5080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Think of entities as the main characters in your database story. In a school database, the main characters might be Students, Teachers, Courses, and Classrooms.</a:t>
            </a:r>
            <a:endParaRPr lang="en-US" sz="1600" dirty="0"/>
          </a:p>
        </p:txBody>
      </p:sp>
      <p:sp>
        <p:nvSpPr>
          <p:cNvPr id="22" name="Shape 20"/>
          <p:cNvSpPr/>
          <p:nvPr/>
        </p:nvSpPr>
        <p:spPr>
          <a:xfrm>
            <a:off x="762000" y="6350000"/>
            <a:ext cx="14732000" cy="1270000"/>
          </a:xfrm>
          <a:prstGeom prst="roundRect">
            <a:avLst>
              <a:gd name="adj" fmla="val 6000"/>
            </a:avLst>
          </a:prstGeom>
          <a:solidFill>
            <a:srgbClr val="D4943A">
              <a:alpha val="8235"/>
            </a:srgbClr>
          </a:solidFill>
          <a:ln/>
        </p:spPr>
      </p:sp>
      <p:sp>
        <p:nvSpPr>
          <p:cNvPr id="23" name="Shape 21"/>
          <p:cNvSpPr/>
          <p:nvPr/>
        </p:nvSpPr>
        <p:spPr>
          <a:xfrm>
            <a:off x="1016000" y="6477000"/>
            <a:ext cx="304800" cy="304800"/>
          </a:xfrm>
          <a:custGeom>
            <a:avLst/>
            <a:gdLst/>
            <a:ahLst/>
            <a:cxnLst/>
            <a:rect l="l" t="t" r="r" b="b"/>
            <a:pathLst>
              <a:path w="304800" h="304800">
                <a:moveTo>
                  <a:pt x="209490" y="166688"/>
                </a:moveTo>
                <a:lnTo>
                  <a:pt x="95845" y="166688"/>
                </a:lnTo>
                <a:cubicBezTo>
                  <a:pt x="97572" y="205085"/>
                  <a:pt x="106085" y="240447"/>
                  <a:pt x="118170" y="266343"/>
                </a:cubicBezTo>
                <a:cubicBezTo>
                  <a:pt x="124956" y="280928"/>
                  <a:pt x="132278" y="291227"/>
                  <a:pt x="139065" y="297537"/>
                </a:cubicBezTo>
                <a:cubicBezTo>
                  <a:pt x="145733" y="303788"/>
                  <a:pt x="150316" y="304800"/>
                  <a:pt x="152698" y="304800"/>
                </a:cubicBezTo>
                <a:cubicBezTo>
                  <a:pt x="155079" y="304800"/>
                  <a:pt x="159663" y="303788"/>
                  <a:pt x="166330" y="297537"/>
                </a:cubicBezTo>
                <a:cubicBezTo>
                  <a:pt x="173117" y="291227"/>
                  <a:pt x="180439" y="280868"/>
                  <a:pt x="187226" y="266343"/>
                </a:cubicBezTo>
                <a:cubicBezTo>
                  <a:pt x="199311" y="240447"/>
                  <a:pt x="207824" y="205085"/>
                  <a:pt x="209550" y="166688"/>
                </a:cubicBezTo>
                <a:close/>
                <a:moveTo>
                  <a:pt x="95786" y="138113"/>
                </a:moveTo>
                <a:lnTo>
                  <a:pt x="209431" y="138113"/>
                </a:lnTo>
                <a:cubicBezTo>
                  <a:pt x="207764" y="99715"/>
                  <a:pt x="199251" y="64353"/>
                  <a:pt x="187166" y="38457"/>
                </a:cubicBezTo>
                <a:cubicBezTo>
                  <a:pt x="180380" y="23932"/>
                  <a:pt x="173057" y="13573"/>
                  <a:pt x="166271" y="7263"/>
                </a:cubicBezTo>
                <a:cubicBezTo>
                  <a:pt x="159603" y="1012"/>
                  <a:pt x="155019" y="0"/>
                  <a:pt x="152638" y="0"/>
                </a:cubicBezTo>
                <a:cubicBezTo>
                  <a:pt x="150257" y="0"/>
                  <a:pt x="145673" y="1012"/>
                  <a:pt x="139005" y="7263"/>
                </a:cubicBezTo>
                <a:cubicBezTo>
                  <a:pt x="132219" y="13573"/>
                  <a:pt x="124897" y="23932"/>
                  <a:pt x="118110" y="38457"/>
                </a:cubicBezTo>
                <a:cubicBezTo>
                  <a:pt x="106025" y="64353"/>
                  <a:pt x="97512" y="99715"/>
                  <a:pt x="95786" y="138113"/>
                </a:cubicBezTo>
                <a:close/>
                <a:moveTo>
                  <a:pt x="67211" y="138113"/>
                </a:moveTo>
                <a:cubicBezTo>
                  <a:pt x="69294" y="87154"/>
                  <a:pt x="82451" y="39826"/>
                  <a:pt x="101679" y="8751"/>
                </a:cubicBezTo>
                <a:cubicBezTo>
                  <a:pt x="46851" y="28158"/>
                  <a:pt x="6489" y="78105"/>
                  <a:pt x="893" y="138113"/>
                </a:cubicBezTo>
                <a:lnTo>
                  <a:pt x="67211" y="138113"/>
                </a:lnTo>
                <a:close/>
                <a:moveTo>
                  <a:pt x="893" y="166688"/>
                </a:moveTo>
                <a:cubicBezTo>
                  <a:pt x="6489" y="226695"/>
                  <a:pt x="46851" y="276642"/>
                  <a:pt x="101679" y="296049"/>
                </a:cubicBezTo>
                <a:cubicBezTo>
                  <a:pt x="82451" y="264974"/>
                  <a:pt x="69294" y="217646"/>
                  <a:pt x="67211" y="166688"/>
                </a:cubicBezTo>
                <a:lnTo>
                  <a:pt x="893" y="166688"/>
                </a:lnTo>
                <a:close/>
                <a:moveTo>
                  <a:pt x="238065" y="166688"/>
                </a:moveTo>
                <a:cubicBezTo>
                  <a:pt x="235982" y="217646"/>
                  <a:pt x="222825" y="264974"/>
                  <a:pt x="203597" y="296049"/>
                </a:cubicBezTo>
                <a:cubicBezTo>
                  <a:pt x="258425" y="276582"/>
                  <a:pt x="298787" y="226695"/>
                  <a:pt x="304383" y="166688"/>
                </a:cubicBezTo>
                <a:lnTo>
                  <a:pt x="238065" y="166688"/>
                </a:lnTo>
                <a:close/>
                <a:moveTo>
                  <a:pt x="304383" y="138113"/>
                </a:moveTo>
                <a:cubicBezTo>
                  <a:pt x="298787" y="78105"/>
                  <a:pt x="258425" y="28158"/>
                  <a:pt x="203597" y="8751"/>
                </a:cubicBezTo>
                <a:cubicBezTo>
                  <a:pt x="222825" y="39826"/>
                  <a:pt x="235982" y="87154"/>
                  <a:pt x="238065" y="138113"/>
                </a:cubicBezTo>
                <a:lnTo>
                  <a:pt x="304383" y="138113"/>
                </a:lnTo>
                <a:close/>
              </a:path>
            </a:pathLst>
          </a:custGeom>
          <a:solidFill>
            <a:srgbClr val="D4943A"/>
          </a:solidFill>
          <a:ln/>
        </p:spPr>
      </p:sp>
      <p:sp>
        <p:nvSpPr>
          <p:cNvPr id="24" name="Text 22"/>
          <p:cNvSpPr/>
          <p:nvPr/>
        </p:nvSpPr>
        <p:spPr>
          <a:xfrm>
            <a:off x="1422400" y="6438900"/>
            <a:ext cx="3175000" cy="304800"/>
          </a:xfrm>
          <a:prstGeom prst="rect">
            <a:avLst/>
          </a:prstGeom>
          <a:noFill/>
          <a:ln/>
        </p:spPr>
        <p:txBody>
          <a:bodyPr wrap="none" lIns="0" tIns="0" rIns="0" bIns="0" rtlCol="0" anchor="ctr"/>
          <a:lstStyle/>
          <a:p>
            <a:pPr>
              <a:lnSpc>
                <a:spcPct val="100000"/>
              </a:lnSpc>
            </a:pPr>
            <a:r>
              <a:rPr lang="en-US" sz="1400" b="1" dirty="0">
                <a:solidFill>
                  <a:srgbClr val="D4943A"/>
                </a:solidFill>
                <a:latin typeface="Liter" pitchFamily="34" charset="0"/>
                <a:ea typeface="Liter" pitchFamily="34" charset="-122"/>
                <a:cs typeface="Liter" pitchFamily="34" charset="-120"/>
              </a:rPr>
              <a:t>REAL-WORLD EXAMPLE</a:t>
            </a:r>
            <a:endParaRPr lang="en-US" sz="1600" dirty="0"/>
          </a:p>
        </p:txBody>
      </p:sp>
      <p:sp>
        <p:nvSpPr>
          <p:cNvPr id="25" name="Text 23"/>
          <p:cNvSpPr/>
          <p:nvPr/>
        </p:nvSpPr>
        <p:spPr>
          <a:xfrm>
            <a:off x="1016000" y="6832600"/>
            <a:ext cx="14224000" cy="6604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In a hospital database, entities include Patient, Doctor, Appointment, Medication, and Room. Each represents a distinct type of thing the hospital needs to track.</a:t>
            </a:r>
            <a:endParaRPr lang="en-US" sz="1600" dirty="0"/>
          </a:p>
        </p:txBody>
      </p:sp>
      <p:sp>
        <p:nvSpPr>
          <p:cNvPr id="26" name="Shape 24"/>
          <p:cNvSpPr/>
          <p:nvPr/>
        </p:nvSpPr>
        <p:spPr>
          <a:xfrm>
            <a:off x="762000" y="7874000"/>
            <a:ext cx="14732000" cy="635000"/>
          </a:xfrm>
          <a:prstGeom prst="roundRect">
            <a:avLst>
              <a:gd name="adj" fmla="val 6000"/>
            </a:avLst>
          </a:prstGeom>
          <a:solidFill>
            <a:srgbClr val="2D5A4C">
              <a:alpha val="8235"/>
            </a:srgbClr>
          </a:solidFill>
          <a:ln/>
        </p:spPr>
      </p:sp>
      <p:sp>
        <p:nvSpPr>
          <p:cNvPr id="27" name="Shape 25"/>
          <p:cNvSpPr/>
          <p:nvPr/>
        </p:nvSpPr>
        <p:spPr>
          <a:xfrm>
            <a:off x="1016000" y="8026400"/>
            <a:ext cx="254000" cy="254000"/>
          </a:xfrm>
          <a:custGeom>
            <a:avLst/>
            <a:gdLst/>
            <a:ahLst/>
            <a:cxnLst/>
            <a:rect l="l" t="t" r="r" b="b"/>
            <a:pathLst>
              <a:path w="254000" h="254000">
                <a:moveTo>
                  <a:pt x="175071" y="10517"/>
                </a:moveTo>
                <a:lnTo>
                  <a:pt x="152797" y="32792"/>
                </a:lnTo>
                <a:lnTo>
                  <a:pt x="221208" y="101203"/>
                </a:lnTo>
                <a:lnTo>
                  <a:pt x="243483" y="78929"/>
                </a:lnTo>
                <a:cubicBezTo>
                  <a:pt x="250230" y="72231"/>
                  <a:pt x="254000" y="63103"/>
                  <a:pt x="254000" y="53578"/>
                </a:cubicBezTo>
                <a:cubicBezTo>
                  <a:pt x="254000" y="44053"/>
                  <a:pt x="250230" y="34925"/>
                  <a:pt x="243483" y="28228"/>
                </a:cubicBezTo>
                <a:lnTo>
                  <a:pt x="225772" y="10517"/>
                </a:lnTo>
                <a:cubicBezTo>
                  <a:pt x="219075" y="3770"/>
                  <a:pt x="209947" y="0"/>
                  <a:pt x="200422" y="0"/>
                </a:cubicBezTo>
                <a:cubicBezTo>
                  <a:pt x="190897" y="0"/>
                  <a:pt x="181769" y="3770"/>
                  <a:pt x="175071" y="10517"/>
                </a:cubicBezTo>
                <a:close/>
                <a:moveTo>
                  <a:pt x="135979" y="49609"/>
                </a:moveTo>
                <a:lnTo>
                  <a:pt x="29220" y="156319"/>
                </a:lnTo>
                <a:cubicBezTo>
                  <a:pt x="23912" y="161627"/>
                  <a:pt x="20042" y="168275"/>
                  <a:pt x="18008" y="175518"/>
                </a:cubicBezTo>
                <a:lnTo>
                  <a:pt x="446" y="238919"/>
                </a:lnTo>
                <a:cubicBezTo>
                  <a:pt x="-695" y="243036"/>
                  <a:pt x="446" y="247501"/>
                  <a:pt x="3522" y="250527"/>
                </a:cubicBezTo>
                <a:cubicBezTo>
                  <a:pt x="6598" y="253554"/>
                  <a:pt x="11013" y="254744"/>
                  <a:pt x="15131" y="253603"/>
                </a:cubicBezTo>
                <a:lnTo>
                  <a:pt x="78532" y="235992"/>
                </a:lnTo>
                <a:cubicBezTo>
                  <a:pt x="85775" y="233958"/>
                  <a:pt x="92373" y="230138"/>
                  <a:pt x="97730" y="224780"/>
                </a:cubicBezTo>
                <a:lnTo>
                  <a:pt x="204391" y="118021"/>
                </a:lnTo>
                <a:lnTo>
                  <a:pt x="135979" y="49609"/>
                </a:lnTo>
                <a:close/>
              </a:path>
            </a:pathLst>
          </a:custGeom>
          <a:solidFill>
            <a:srgbClr val="2D5A4C"/>
          </a:solidFill>
          <a:ln/>
        </p:spPr>
      </p:sp>
      <p:sp>
        <p:nvSpPr>
          <p:cNvPr id="28" name="Text 26"/>
          <p:cNvSpPr/>
          <p:nvPr/>
        </p:nvSpPr>
        <p:spPr>
          <a:xfrm>
            <a:off x="1371600" y="7937500"/>
            <a:ext cx="13970000" cy="508000"/>
          </a:xfrm>
          <a:prstGeom prst="rect">
            <a:avLst/>
          </a:prstGeom>
          <a:noFill/>
          <a:ln/>
        </p:spPr>
        <p:txBody>
          <a:bodyPr wrap="square" lIns="0" tIns="0" rIns="0" bIns="0" rtlCol="0" anchor="ctr"/>
          <a:lstStyle/>
          <a:p>
            <a:pPr>
              <a:lnSpc>
                <a:spcPct val="140000"/>
              </a:lnSpc>
            </a:pPr>
            <a:r>
              <a:rPr lang="en-US" sz="1400" b="1" dirty="0">
                <a:solidFill>
                  <a:srgbClr val="2D5A4C"/>
                </a:solidFill>
                <a:latin typeface="Quattrocento Sans" pitchFamily="34" charset="0"/>
                <a:ea typeface="Quattrocento Sans" pitchFamily="34" charset="-122"/>
                <a:cs typeface="Quattrocento Sans" pitchFamily="34" charset="-120"/>
              </a:rPr>
              <a:t>Practice:</a:t>
            </a:r>
            <a:pPr>
              <a:lnSpc>
                <a:spcPct val="140000"/>
              </a:lnSpc>
            </a:pPr>
            <a:r>
              <a:rPr lang="en-US" sz="1400" dirty="0">
                <a:solidFill>
                  <a:srgbClr val="2D5A4C"/>
                </a:solidFill>
                <a:latin typeface="Quattrocento Sans" pitchFamily="34" charset="0"/>
                <a:ea typeface="Quattrocento Sans" pitchFamily="34" charset="-122"/>
                <a:cs typeface="Quattrocento Sans" pitchFamily="34" charset="-120"/>
              </a:rPr>
              <a:t> List five entities you would include in a database for a restaurant.</a:t>
            </a:r>
            <a:endParaRPr lang="en-US" sz="1600" dirty="0"/>
          </a:p>
        </p:txBody>
      </p:sp>
      <p:sp>
        <p:nvSpPr>
          <p:cNvPr id="29" name="Text 27"/>
          <p:cNvSpPr/>
          <p:nvPr/>
        </p:nvSpPr>
        <p:spPr>
          <a:xfrm>
            <a:off x="13398500" y="8788400"/>
            <a:ext cx="2413000" cy="254000"/>
          </a:xfrm>
          <a:prstGeom prst="rect">
            <a:avLst/>
          </a:prstGeom>
          <a:noFill/>
          <a:ln/>
        </p:spPr>
        <p:txBody>
          <a:bodyPr wrap="none" lIns="0" tIns="0" rIns="0" bIns="0" rtlCol="0" anchor="ctr"/>
          <a:lstStyle/>
          <a:p>
            <a:pPr algn="r">
              <a:lnSpc>
                <a:spcPct val="140000"/>
              </a:lnSpc>
            </a:pPr>
            <a:r>
              <a:rPr lang="en-US" sz="1400" dirty="0">
                <a:solidFill>
                  <a:srgbClr val="8B7355"/>
                </a:solidFill>
                <a:latin typeface="QuattrocentoSans" pitchFamily="34" charset="0"/>
                <a:ea typeface="QuattrocentoSans" pitchFamily="34" charset="-122"/>
                <a:cs typeface="QuattrocentoSans" pitchFamily="34" charset="-120"/>
              </a:rPr>
              <a:t>Entity Types and Entity Sets</a:t>
            </a:r>
            <a:endParaRPr lang="en-US" sz="1400" dirty="0"/>
          </a:p>
        </p:txBody>
      </p:sp>
    </p:spTree>
  </p:cSld>
  <p:clrMapOvr>
    <a:masterClrMapping/>
  </p:clrMapOvr>
  <p:transition>
    <p:fade/>
    <p:spd val="med"/>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D4943A"/>
          </a:solidFill>
          <a:ln/>
        </p:spPr>
      </p:sp>
      <p:sp>
        <p:nvSpPr>
          <p:cNvPr id="3" name="Text 1"/>
          <p:cNvSpPr/>
          <p:nvPr/>
        </p:nvSpPr>
        <p:spPr>
          <a:xfrm>
            <a:off x="762000" y="381000"/>
            <a:ext cx="10160000" cy="508000"/>
          </a:xfrm>
          <a:prstGeom prst="rect">
            <a:avLst/>
          </a:prstGeom>
          <a:noFill/>
          <a:ln/>
        </p:spPr>
        <p:txBody>
          <a:bodyPr wrap="none" lIns="0" tIns="0" rIns="0" bIns="0" rtlCol="0" anchor="ctr"/>
          <a:lstStyle/>
          <a:p>
            <a:pPr>
              <a:lnSpc>
                <a:spcPct val="130000"/>
              </a:lnSpc>
            </a:pPr>
            <a:r>
              <a:rPr lang="en-US" sz="2800" dirty="0">
                <a:solidFill>
                  <a:srgbClr val="2D5A4C"/>
                </a:solidFill>
                <a:latin typeface="Liter" pitchFamily="34" charset="0"/>
                <a:ea typeface="Liter" pitchFamily="34" charset="-122"/>
                <a:cs typeface="Liter" pitchFamily="34" charset="-120"/>
              </a:rPr>
              <a:t>Entity Sets and Entity Types</a:t>
            </a:r>
            <a:endParaRPr lang="en-US" sz="2800" dirty="0"/>
          </a:p>
        </p:txBody>
      </p:sp>
      <p:sp>
        <p:nvSpPr>
          <p:cNvPr id="4" name="Text 2"/>
          <p:cNvSpPr/>
          <p:nvPr/>
        </p:nvSpPr>
        <p:spPr>
          <a:xfrm>
            <a:off x="762000" y="1143000"/>
            <a:ext cx="7620000" cy="3683000"/>
          </a:xfrm>
          <a:prstGeom prst="rect">
            <a:avLst/>
          </a:prstGeom>
          <a:noFill/>
          <a:ln/>
        </p:spPr>
        <p:txBody>
          <a:bodyPr wrap="square" lIns="0" tIns="0" rIns="0" bIns="0" rtlCol="0" anchor="t"/>
          <a:lstStyle/>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An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entity type</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defines a category of entities that share the same properties</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An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entity set</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is the collection of all entities of a particular type</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"Student" is the entity type; all individual students form the entity set</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Entity types have names and are represented by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rectangles</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in ER diagrams</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Each individual member is called an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entity instance</a:t>
            </a:r>
            <a:endParaRPr lang="en-US" sz="2000" dirty="0"/>
          </a:p>
        </p:txBody>
      </p:sp>
      <p:sp>
        <p:nvSpPr>
          <p:cNvPr id="5" name="Shape 3"/>
          <p:cNvSpPr/>
          <p:nvPr/>
        </p:nvSpPr>
        <p:spPr>
          <a:xfrm>
            <a:off x="8890000" y="1016000"/>
            <a:ext cx="6604000" cy="3810000"/>
          </a:xfrm>
          <a:prstGeom prst="roundRect">
            <a:avLst>
              <a:gd name="adj" fmla="val 8000"/>
            </a:avLst>
          </a:prstGeom>
          <a:solidFill>
            <a:srgbClr val="2D5A4C">
              <a:alpha val="8235"/>
            </a:srgbClr>
          </a:solidFill>
          <a:ln/>
        </p:spPr>
      </p:sp>
      <p:sp>
        <p:nvSpPr>
          <p:cNvPr id="6" name="Text 4"/>
          <p:cNvSpPr/>
          <p:nvPr/>
        </p:nvSpPr>
        <p:spPr>
          <a:xfrm>
            <a:off x="8890000" y="1117600"/>
            <a:ext cx="6604000" cy="355600"/>
          </a:xfrm>
          <a:prstGeom prst="rect">
            <a:avLst/>
          </a:prstGeom>
          <a:noFill/>
          <a:ln/>
        </p:spPr>
        <p:txBody>
          <a:bodyPr wrap="none" lIns="0" tIns="0" rIns="0" bIns="0" rtlCol="0" anchor="ctr"/>
          <a:lstStyle/>
          <a:p>
            <a:pPr algn="ctr">
              <a:lnSpc>
                <a:spcPct val="100000"/>
              </a:lnSpc>
            </a:pPr>
            <a:r>
              <a:rPr lang="en-US" sz="1400" b="1" dirty="0">
                <a:solidFill>
                  <a:srgbClr val="2D5A4C"/>
                </a:solidFill>
                <a:latin typeface="Liter" pitchFamily="34" charset="0"/>
                <a:ea typeface="Liter" pitchFamily="34" charset="-122"/>
                <a:cs typeface="Liter" pitchFamily="34" charset="-120"/>
              </a:rPr>
              <a:t>ENTITY TYPE vs ENTITY SET</a:t>
            </a:r>
            <a:endParaRPr lang="en-US" sz="1600" dirty="0"/>
          </a:p>
        </p:txBody>
      </p:sp>
      <p:sp>
        <p:nvSpPr>
          <p:cNvPr id="7" name="Shape 5"/>
          <p:cNvSpPr/>
          <p:nvPr/>
        </p:nvSpPr>
        <p:spPr>
          <a:xfrm>
            <a:off x="10541000" y="1651000"/>
            <a:ext cx="2286000" cy="698500"/>
          </a:xfrm>
          <a:prstGeom prst="rect">
            <a:avLst/>
          </a:prstGeom>
          <a:solidFill>
            <a:srgbClr val="2D5A4C"/>
          </a:solidFill>
          <a:ln/>
        </p:spPr>
      </p:sp>
      <p:sp>
        <p:nvSpPr>
          <p:cNvPr id="8" name="Text 6"/>
          <p:cNvSpPr/>
          <p:nvPr/>
        </p:nvSpPr>
        <p:spPr>
          <a:xfrm>
            <a:off x="10541000" y="1651000"/>
            <a:ext cx="2286000" cy="698500"/>
          </a:xfrm>
          <a:prstGeom prst="rect">
            <a:avLst/>
          </a:prstGeom>
          <a:noFill/>
          <a:ln/>
        </p:spPr>
        <p:txBody>
          <a:bodyPr wrap="none" lIns="0" tIns="0" rIns="0" bIns="0" rtlCol="0" anchor="ctr"/>
          <a:lstStyle/>
          <a:p>
            <a:pPr algn="ctr">
              <a:lnSpc>
                <a:spcPct val="100000"/>
              </a:lnSpc>
            </a:pPr>
            <a:r>
              <a:rPr lang="en-US" sz="1600" b="1" dirty="0">
                <a:solidFill>
                  <a:srgbClr val="FFFFFF"/>
                </a:solidFill>
                <a:latin typeface="Liter" pitchFamily="34" charset="0"/>
                <a:ea typeface="Liter" pitchFamily="34" charset="-122"/>
                <a:cs typeface="Liter" pitchFamily="34" charset="-120"/>
              </a:rPr>
              <a:t>STUDENT</a:t>
            </a:r>
            <a:endParaRPr lang="en-US" sz="1600" dirty="0"/>
          </a:p>
        </p:txBody>
      </p:sp>
      <p:sp>
        <p:nvSpPr>
          <p:cNvPr id="9" name="Text 7"/>
          <p:cNvSpPr/>
          <p:nvPr/>
        </p:nvSpPr>
        <p:spPr>
          <a:xfrm>
            <a:off x="10541000" y="2387600"/>
            <a:ext cx="2286000" cy="254000"/>
          </a:xfrm>
          <a:prstGeom prst="rect">
            <a:avLst/>
          </a:prstGeom>
          <a:noFill/>
          <a:ln/>
        </p:spPr>
        <p:txBody>
          <a:bodyPr wrap="none" lIns="0" tIns="0" rIns="0" bIns="0" rtlCol="0" anchor="ctr"/>
          <a:lstStyle/>
          <a:p>
            <a:pPr algn="ctr">
              <a:lnSpc>
                <a:spcPct val="100000"/>
              </a:lnSpc>
            </a:pPr>
            <a:r>
              <a:rPr lang="en-US" sz="1200" b="1" dirty="0">
                <a:solidFill>
                  <a:srgbClr val="D4943A"/>
                </a:solidFill>
                <a:latin typeface="Liter" pitchFamily="34" charset="0"/>
                <a:ea typeface="Liter" pitchFamily="34" charset="-122"/>
                <a:cs typeface="Liter" pitchFamily="34" charset="-120"/>
              </a:rPr>
              <a:t>Entity Type (the category)</a:t>
            </a:r>
            <a:endParaRPr lang="en-US" sz="1600" dirty="0"/>
          </a:p>
        </p:txBody>
      </p:sp>
      <p:sp>
        <p:nvSpPr>
          <p:cNvPr id="10" name="Shape 8"/>
          <p:cNvSpPr/>
          <p:nvPr/>
        </p:nvSpPr>
        <p:spPr>
          <a:xfrm>
            <a:off x="11684000" y="2667000"/>
            <a:ext cx="0" cy="317500"/>
          </a:xfrm>
          <a:prstGeom prst="straightConnector1">
            <a:avLst/>
          </a:prstGeom>
          <a:noFill/>
          <a:ln w="25400">
            <a:solidFill>
              <a:srgbClr val="2D5A4C"/>
            </a:solidFill>
            <a:prstDash val="solid"/>
            <a:headEnd type="none"/>
            <a:tailEnd type="arrow"/>
          </a:ln>
        </p:spPr>
      </p:sp>
      <p:sp>
        <p:nvSpPr>
          <p:cNvPr id="11" name="Shape 9"/>
          <p:cNvSpPr/>
          <p:nvPr/>
        </p:nvSpPr>
        <p:spPr>
          <a:xfrm>
            <a:off x="9398000" y="3111500"/>
            <a:ext cx="1651000" cy="457200"/>
          </a:xfrm>
          <a:prstGeom prst="roundRect">
            <a:avLst>
              <a:gd name="adj" fmla="val 8000"/>
            </a:avLst>
          </a:prstGeom>
          <a:solidFill>
            <a:srgbClr val="D4943A"/>
          </a:solidFill>
          <a:ln/>
        </p:spPr>
      </p:sp>
      <p:sp>
        <p:nvSpPr>
          <p:cNvPr id="12" name="Text 10"/>
          <p:cNvSpPr/>
          <p:nvPr/>
        </p:nvSpPr>
        <p:spPr>
          <a:xfrm>
            <a:off x="9398000" y="3111500"/>
            <a:ext cx="1651000" cy="457200"/>
          </a:xfrm>
          <a:prstGeom prst="rect">
            <a:avLst/>
          </a:prstGeom>
          <a:noFill/>
          <a:ln/>
        </p:spPr>
        <p:txBody>
          <a:bodyPr wrap="none" lIns="0" tIns="0" rIns="0" bIns="0" rtlCol="0" anchor="ctr"/>
          <a:lstStyle/>
          <a:p>
            <a:pPr algn="ctr">
              <a:lnSpc>
                <a:spcPct val="100000"/>
              </a:lnSpc>
            </a:pPr>
            <a:r>
              <a:rPr lang="en-US" sz="1200" dirty="0">
                <a:solidFill>
                  <a:srgbClr val="FFFFFF"/>
                </a:solidFill>
                <a:latin typeface="Quattrocento Sans" pitchFamily="34" charset="0"/>
                <a:ea typeface="Quattrocento Sans" pitchFamily="34" charset="-122"/>
                <a:cs typeface="Quattrocento Sans" pitchFamily="34" charset="-120"/>
              </a:rPr>
              <a:t>John Smith</a:t>
            </a:r>
            <a:endParaRPr lang="en-US" sz="1600" dirty="0"/>
          </a:p>
        </p:txBody>
      </p:sp>
      <p:sp>
        <p:nvSpPr>
          <p:cNvPr id="13" name="Shape 11"/>
          <p:cNvSpPr/>
          <p:nvPr/>
        </p:nvSpPr>
        <p:spPr>
          <a:xfrm>
            <a:off x="11239500" y="3111500"/>
            <a:ext cx="1651000" cy="457200"/>
          </a:xfrm>
          <a:prstGeom prst="roundRect">
            <a:avLst>
              <a:gd name="adj" fmla="val 8000"/>
            </a:avLst>
          </a:prstGeom>
          <a:solidFill>
            <a:srgbClr val="D4943A"/>
          </a:solidFill>
          <a:ln/>
        </p:spPr>
      </p:sp>
      <p:sp>
        <p:nvSpPr>
          <p:cNvPr id="14" name="Text 12"/>
          <p:cNvSpPr/>
          <p:nvPr/>
        </p:nvSpPr>
        <p:spPr>
          <a:xfrm>
            <a:off x="11239500" y="3111500"/>
            <a:ext cx="1651000" cy="457200"/>
          </a:xfrm>
          <a:prstGeom prst="rect">
            <a:avLst/>
          </a:prstGeom>
          <a:noFill/>
          <a:ln/>
        </p:spPr>
        <p:txBody>
          <a:bodyPr wrap="none" lIns="0" tIns="0" rIns="0" bIns="0" rtlCol="0" anchor="ctr"/>
          <a:lstStyle/>
          <a:p>
            <a:pPr algn="ctr">
              <a:lnSpc>
                <a:spcPct val="100000"/>
              </a:lnSpc>
            </a:pPr>
            <a:r>
              <a:rPr lang="en-US" sz="1200" dirty="0">
                <a:solidFill>
                  <a:srgbClr val="FFFFFF"/>
                </a:solidFill>
                <a:latin typeface="Quattrocento Sans" pitchFamily="34" charset="0"/>
                <a:ea typeface="Quattrocento Sans" pitchFamily="34" charset="-122"/>
                <a:cs typeface="Quattrocento Sans" pitchFamily="34" charset="-120"/>
              </a:rPr>
              <a:t>Maria Garcia</a:t>
            </a:r>
            <a:endParaRPr lang="en-US" sz="1600" dirty="0"/>
          </a:p>
        </p:txBody>
      </p:sp>
      <p:sp>
        <p:nvSpPr>
          <p:cNvPr id="15" name="Shape 13"/>
          <p:cNvSpPr/>
          <p:nvPr/>
        </p:nvSpPr>
        <p:spPr>
          <a:xfrm>
            <a:off x="13081000" y="3111500"/>
            <a:ext cx="1651000" cy="457200"/>
          </a:xfrm>
          <a:prstGeom prst="roundRect">
            <a:avLst>
              <a:gd name="adj" fmla="val 8000"/>
            </a:avLst>
          </a:prstGeom>
          <a:solidFill>
            <a:srgbClr val="D4943A"/>
          </a:solidFill>
          <a:ln/>
        </p:spPr>
      </p:sp>
      <p:sp>
        <p:nvSpPr>
          <p:cNvPr id="16" name="Text 14"/>
          <p:cNvSpPr/>
          <p:nvPr/>
        </p:nvSpPr>
        <p:spPr>
          <a:xfrm>
            <a:off x="13081000" y="3111500"/>
            <a:ext cx="1651000" cy="457200"/>
          </a:xfrm>
          <a:prstGeom prst="rect">
            <a:avLst/>
          </a:prstGeom>
          <a:noFill/>
          <a:ln/>
        </p:spPr>
        <p:txBody>
          <a:bodyPr wrap="none" lIns="0" tIns="0" rIns="0" bIns="0" rtlCol="0" anchor="ctr"/>
          <a:lstStyle/>
          <a:p>
            <a:pPr algn="ctr">
              <a:lnSpc>
                <a:spcPct val="100000"/>
              </a:lnSpc>
            </a:pPr>
            <a:r>
              <a:rPr lang="en-US" sz="1200" dirty="0">
                <a:solidFill>
                  <a:srgbClr val="FFFFFF"/>
                </a:solidFill>
                <a:latin typeface="Quattrocento Sans" pitchFamily="34" charset="0"/>
                <a:ea typeface="Quattrocento Sans" pitchFamily="34" charset="-122"/>
                <a:cs typeface="Quattrocento Sans" pitchFamily="34" charset="-120"/>
              </a:rPr>
              <a:t>Lee Chen</a:t>
            </a:r>
            <a:endParaRPr lang="en-US" sz="1600" dirty="0"/>
          </a:p>
        </p:txBody>
      </p:sp>
      <p:sp>
        <p:nvSpPr>
          <p:cNvPr id="17" name="Text 15"/>
          <p:cNvSpPr/>
          <p:nvPr/>
        </p:nvSpPr>
        <p:spPr>
          <a:xfrm>
            <a:off x="9398000" y="3683000"/>
            <a:ext cx="5588000" cy="254000"/>
          </a:xfrm>
          <a:prstGeom prst="rect">
            <a:avLst/>
          </a:prstGeom>
          <a:noFill/>
          <a:ln/>
        </p:spPr>
        <p:txBody>
          <a:bodyPr wrap="none" lIns="0" tIns="0" rIns="0" bIns="0" rtlCol="0" anchor="ctr"/>
          <a:lstStyle/>
          <a:p>
            <a:pPr algn="ctr">
              <a:lnSpc>
                <a:spcPct val="100000"/>
              </a:lnSpc>
            </a:pPr>
            <a:r>
              <a:rPr lang="en-US" sz="1200" b="1" dirty="0">
                <a:solidFill>
                  <a:srgbClr val="8B7355"/>
                </a:solidFill>
                <a:latin typeface="Liter" pitchFamily="34" charset="0"/>
                <a:ea typeface="Liter" pitchFamily="34" charset="-122"/>
                <a:cs typeface="Liter" pitchFamily="34" charset="-120"/>
              </a:rPr>
              <a:t>Entity Set (all instances)</a:t>
            </a:r>
            <a:endParaRPr lang="en-US" sz="1600" dirty="0"/>
          </a:p>
        </p:txBody>
      </p:sp>
      <p:sp>
        <p:nvSpPr>
          <p:cNvPr id="18" name="Text 16"/>
          <p:cNvSpPr/>
          <p:nvPr/>
        </p:nvSpPr>
        <p:spPr>
          <a:xfrm>
            <a:off x="9398000" y="4064000"/>
            <a:ext cx="5588000" cy="508000"/>
          </a:xfrm>
          <a:prstGeom prst="rect">
            <a:avLst/>
          </a:prstGeom>
          <a:noFill/>
          <a:ln/>
        </p:spPr>
        <p:txBody>
          <a:bodyPr wrap="square" lIns="0" tIns="0" rIns="0" bIns="0" rtlCol="0" anchor="t"/>
          <a:lstStyle/>
          <a:p>
            <a:pPr algn="ct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Each oval = one entity instance</a:t>
            </a:r>
            <a:endParaRPr lang="en-US" sz="1600" dirty="0"/>
          </a:p>
          <a:p>
            <a:pPr algn="ctr">
              <a:lnSpc>
                <a:spcPct val="130000"/>
              </a:lnSpc>
            </a:pPr>
            <a:r>
              <a:rPr lang="en-US" sz="1200" dirty="0">
                <a:solidFill>
                  <a:srgbClr val="2C2C2C"/>
                </a:solidFill>
                <a:latin typeface="Quattrocento Sans" pitchFamily="34" charset="0"/>
                <a:ea typeface="Quattrocento Sans" pitchFamily="34" charset="-122"/>
                <a:cs typeface="Quattrocento Sans" pitchFamily="34" charset="-120"/>
              </a:rPr>
              <a:t>All instances together = the entity set</a:t>
            </a:r>
            <a:endParaRPr lang="en-US" sz="1600" dirty="0"/>
          </a:p>
        </p:txBody>
      </p:sp>
      <p:sp>
        <p:nvSpPr>
          <p:cNvPr id="19" name="Shape 17"/>
          <p:cNvSpPr/>
          <p:nvPr/>
        </p:nvSpPr>
        <p:spPr>
          <a:xfrm>
            <a:off x="762000" y="5080000"/>
            <a:ext cx="14732000" cy="1016000"/>
          </a:xfrm>
          <a:prstGeom prst="roundRect">
            <a:avLst>
              <a:gd name="adj" fmla="val 6000"/>
            </a:avLst>
          </a:prstGeom>
          <a:solidFill>
            <a:srgbClr val="E8E2DA"/>
          </a:solidFill>
          <a:ln/>
        </p:spPr>
      </p:sp>
      <p:sp>
        <p:nvSpPr>
          <p:cNvPr id="20" name="Shape 18"/>
          <p:cNvSpPr/>
          <p:nvPr/>
        </p:nvSpPr>
        <p:spPr>
          <a:xfrm>
            <a:off x="1060450" y="5308600"/>
            <a:ext cx="266700" cy="355600"/>
          </a:xfrm>
          <a:custGeom>
            <a:avLst/>
            <a:gdLst/>
            <a:ahLst/>
            <a:cxnLst/>
            <a:rect l="l" t="t" r="r" b="b"/>
            <a:pathLst>
              <a:path w="266700" h="355600">
                <a:moveTo>
                  <a:pt x="203428" y="266700"/>
                </a:moveTo>
                <a:cubicBezTo>
                  <a:pt x="208498" y="251212"/>
                  <a:pt x="218638" y="237182"/>
                  <a:pt x="230098" y="225098"/>
                </a:cubicBezTo>
                <a:cubicBezTo>
                  <a:pt x="252809" y="201206"/>
                  <a:pt x="266700" y="168910"/>
                  <a:pt x="266700" y="133350"/>
                </a:cubicBezTo>
                <a:cubicBezTo>
                  <a:pt x="266700" y="59730"/>
                  <a:pt x="206970" y="0"/>
                  <a:pt x="133350" y="0"/>
                </a:cubicBezTo>
                <a:cubicBezTo>
                  <a:pt x="59730" y="0"/>
                  <a:pt x="0" y="59730"/>
                  <a:pt x="0" y="133350"/>
                </a:cubicBezTo>
                <a:cubicBezTo>
                  <a:pt x="0" y="168910"/>
                  <a:pt x="13891" y="201206"/>
                  <a:pt x="36602" y="225098"/>
                </a:cubicBezTo>
                <a:cubicBezTo>
                  <a:pt x="48062" y="237182"/>
                  <a:pt x="58271" y="251212"/>
                  <a:pt x="63272" y="266700"/>
                </a:cubicBezTo>
                <a:lnTo>
                  <a:pt x="203359" y="266700"/>
                </a:lnTo>
                <a:close/>
                <a:moveTo>
                  <a:pt x="200025" y="300038"/>
                </a:moveTo>
                <a:lnTo>
                  <a:pt x="66675" y="300038"/>
                </a:lnTo>
                <a:lnTo>
                  <a:pt x="66675" y="311150"/>
                </a:lnTo>
                <a:cubicBezTo>
                  <a:pt x="66675" y="341848"/>
                  <a:pt x="91539" y="366712"/>
                  <a:pt x="122238" y="366712"/>
                </a:cubicBezTo>
                <a:lnTo>
                  <a:pt x="144463" y="366712"/>
                </a:lnTo>
                <a:cubicBezTo>
                  <a:pt x="175161" y="366712"/>
                  <a:pt x="200025" y="341848"/>
                  <a:pt x="200025" y="311150"/>
                </a:cubicBezTo>
                <a:lnTo>
                  <a:pt x="200025" y="300038"/>
                </a:lnTo>
                <a:close/>
                <a:moveTo>
                  <a:pt x="127794" y="77788"/>
                </a:moveTo>
                <a:cubicBezTo>
                  <a:pt x="100151" y="77788"/>
                  <a:pt x="77788" y="100151"/>
                  <a:pt x="77788" y="127794"/>
                </a:cubicBezTo>
                <a:cubicBezTo>
                  <a:pt x="77788" y="137031"/>
                  <a:pt x="70356" y="144463"/>
                  <a:pt x="61119" y="144463"/>
                </a:cubicBezTo>
                <a:cubicBezTo>
                  <a:pt x="51881" y="144463"/>
                  <a:pt x="44450" y="137031"/>
                  <a:pt x="44450" y="127794"/>
                </a:cubicBezTo>
                <a:cubicBezTo>
                  <a:pt x="44450" y="81746"/>
                  <a:pt x="81746" y="44450"/>
                  <a:pt x="127794" y="44450"/>
                </a:cubicBezTo>
                <a:cubicBezTo>
                  <a:pt x="137031" y="44450"/>
                  <a:pt x="144463" y="51881"/>
                  <a:pt x="144463" y="61119"/>
                </a:cubicBezTo>
                <a:cubicBezTo>
                  <a:pt x="144463" y="70356"/>
                  <a:pt x="137031" y="77788"/>
                  <a:pt x="127794" y="77788"/>
                </a:cubicBezTo>
                <a:close/>
              </a:path>
            </a:pathLst>
          </a:custGeom>
          <a:solidFill>
            <a:srgbClr val="D4943A"/>
          </a:solidFill>
          <a:ln/>
        </p:spPr>
      </p:sp>
      <p:sp>
        <p:nvSpPr>
          <p:cNvPr id="21" name="Text 19"/>
          <p:cNvSpPr/>
          <p:nvPr/>
        </p:nvSpPr>
        <p:spPr>
          <a:xfrm>
            <a:off x="1498600" y="5143500"/>
            <a:ext cx="2540000" cy="304800"/>
          </a:xfrm>
          <a:prstGeom prst="rect">
            <a:avLst/>
          </a:prstGeom>
          <a:noFill/>
          <a:ln/>
        </p:spPr>
        <p:txBody>
          <a:bodyPr wrap="none" lIns="0" tIns="0" rIns="0" bIns="0" rtlCol="0" anchor="ctr"/>
          <a:lstStyle/>
          <a:p>
            <a:pPr>
              <a:lnSpc>
                <a:spcPct val="100000"/>
              </a:lnSpc>
            </a:pPr>
            <a:r>
              <a:rPr lang="en-US" sz="1400" b="1" dirty="0">
                <a:solidFill>
                  <a:srgbClr val="2D5A4C"/>
                </a:solidFill>
                <a:latin typeface="Liter" pitchFamily="34" charset="0"/>
                <a:ea typeface="Liter" pitchFamily="34" charset="-122"/>
                <a:cs typeface="Liter" pitchFamily="34" charset="-120"/>
              </a:rPr>
              <a:t>EXPLANATION</a:t>
            </a:r>
            <a:endParaRPr lang="en-US" sz="1600" dirty="0"/>
          </a:p>
        </p:txBody>
      </p:sp>
      <p:sp>
        <p:nvSpPr>
          <p:cNvPr id="22" name="Text 20"/>
          <p:cNvSpPr/>
          <p:nvPr/>
        </p:nvSpPr>
        <p:spPr>
          <a:xfrm>
            <a:off x="1498600" y="5486400"/>
            <a:ext cx="13716000" cy="5080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"Student" is the type (the category), while "John Smith," "Maria Garcia," and "Lee Chen" are all instances in the Student entity set. The type defines what attributes all students have.</a:t>
            </a:r>
            <a:endParaRPr lang="en-US" sz="1600" dirty="0"/>
          </a:p>
        </p:txBody>
      </p:sp>
      <p:sp>
        <p:nvSpPr>
          <p:cNvPr id="23" name="Shape 21"/>
          <p:cNvSpPr/>
          <p:nvPr/>
        </p:nvSpPr>
        <p:spPr>
          <a:xfrm>
            <a:off x="762000" y="6350000"/>
            <a:ext cx="14732000" cy="1270000"/>
          </a:xfrm>
          <a:prstGeom prst="roundRect">
            <a:avLst>
              <a:gd name="adj" fmla="val 6000"/>
            </a:avLst>
          </a:prstGeom>
          <a:solidFill>
            <a:srgbClr val="D4943A">
              <a:alpha val="8235"/>
            </a:srgbClr>
          </a:solidFill>
          <a:ln/>
        </p:spPr>
      </p:sp>
      <p:sp>
        <p:nvSpPr>
          <p:cNvPr id="24" name="Shape 22"/>
          <p:cNvSpPr/>
          <p:nvPr/>
        </p:nvSpPr>
        <p:spPr>
          <a:xfrm>
            <a:off x="1016000" y="6477000"/>
            <a:ext cx="304800" cy="304800"/>
          </a:xfrm>
          <a:custGeom>
            <a:avLst/>
            <a:gdLst/>
            <a:ahLst/>
            <a:cxnLst/>
            <a:rect l="l" t="t" r="r" b="b"/>
            <a:pathLst>
              <a:path w="304800" h="304800">
                <a:moveTo>
                  <a:pt x="209490" y="166688"/>
                </a:moveTo>
                <a:lnTo>
                  <a:pt x="95845" y="166688"/>
                </a:lnTo>
                <a:cubicBezTo>
                  <a:pt x="97572" y="205085"/>
                  <a:pt x="106085" y="240447"/>
                  <a:pt x="118170" y="266343"/>
                </a:cubicBezTo>
                <a:cubicBezTo>
                  <a:pt x="124956" y="280928"/>
                  <a:pt x="132278" y="291227"/>
                  <a:pt x="139065" y="297537"/>
                </a:cubicBezTo>
                <a:cubicBezTo>
                  <a:pt x="145733" y="303788"/>
                  <a:pt x="150316" y="304800"/>
                  <a:pt x="152698" y="304800"/>
                </a:cubicBezTo>
                <a:cubicBezTo>
                  <a:pt x="155079" y="304800"/>
                  <a:pt x="159663" y="303788"/>
                  <a:pt x="166330" y="297537"/>
                </a:cubicBezTo>
                <a:cubicBezTo>
                  <a:pt x="173117" y="291227"/>
                  <a:pt x="180439" y="280868"/>
                  <a:pt x="187226" y="266343"/>
                </a:cubicBezTo>
                <a:cubicBezTo>
                  <a:pt x="199311" y="240447"/>
                  <a:pt x="207824" y="205085"/>
                  <a:pt x="209550" y="166688"/>
                </a:cubicBezTo>
                <a:close/>
                <a:moveTo>
                  <a:pt x="95786" y="138113"/>
                </a:moveTo>
                <a:lnTo>
                  <a:pt x="209431" y="138113"/>
                </a:lnTo>
                <a:cubicBezTo>
                  <a:pt x="207764" y="99715"/>
                  <a:pt x="199251" y="64353"/>
                  <a:pt x="187166" y="38457"/>
                </a:cubicBezTo>
                <a:cubicBezTo>
                  <a:pt x="180380" y="23932"/>
                  <a:pt x="173057" y="13573"/>
                  <a:pt x="166271" y="7263"/>
                </a:cubicBezTo>
                <a:cubicBezTo>
                  <a:pt x="159603" y="1012"/>
                  <a:pt x="155019" y="0"/>
                  <a:pt x="152638" y="0"/>
                </a:cubicBezTo>
                <a:cubicBezTo>
                  <a:pt x="150257" y="0"/>
                  <a:pt x="145673" y="1012"/>
                  <a:pt x="139005" y="7263"/>
                </a:cubicBezTo>
                <a:cubicBezTo>
                  <a:pt x="132219" y="13573"/>
                  <a:pt x="124897" y="23932"/>
                  <a:pt x="118110" y="38457"/>
                </a:cubicBezTo>
                <a:cubicBezTo>
                  <a:pt x="106025" y="64353"/>
                  <a:pt x="97512" y="99715"/>
                  <a:pt x="95786" y="138113"/>
                </a:cubicBezTo>
                <a:close/>
                <a:moveTo>
                  <a:pt x="67211" y="138113"/>
                </a:moveTo>
                <a:cubicBezTo>
                  <a:pt x="69294" y="87154"/>
                  <a:pt x="82451" y="39826"/>
                  <a:pt x="101679" y="8751"/>
                </a:cubicBezTo>
                <a:cubicBezTo>
                  <a:pt x="46851" y="28158"/>
                  <a:pt x="6489" y="78105"/>
                  <a:pt x="893" y="138113"/>
                </a:cubicBezTo>
                <a:lnTo>
                  <a:pt x="67211" y="138113"/>
                </a:lnTo>
                <a:close/>
                <a:moveTo>
                  <a:pt x="893" y="166688"/>
                </a:moveTo>
                <a:cubicBezTo>
                  <a:pt x="6489" y="226695"/>
                  <a:pt x="46851" y="276642"/>
                  <a:pt x="101679" y="296049"/>
                </a:cubicBezTo>
                <a:cubicBezTo>
                  <a:pt x="82451" y="264974"/>
                  <a:pt x="69294" y="217646"/>
                  <a:pt x="67211" y="166688"/>
                </a:cubicBezTo>
                <a:lnTo>
                  <a:pt x="893" y="166688"/>
                </a:lnTo>
                <a:close/>
                <a:moveTo>
                  <a:pt x="238065" y="166688"/>
                </a:moveTo>
                <a:cubicBezTo>
                  <a:pt x="235982" y="217646"/>
                  <a:pt x="222825" y="264974"/>
                  <a:pt x="203597" y="296049"/>
                </a:cubicBezTo>
                <a:cubicBezTo>
                  <a:pt x="258425" y="276582"/>
                  <a:pt x="298787" y="226695"/>
                  <a:pt x="304383" y="166688"/>
                </a:cubicBezTo>
                <a:lnTo>
                  <a:pt x="238065" y="166688"/>
                </a:lnTo>
                <a:close/>
                <a:moveTo>
                  <a:pt x="304383" y="138113"/>
                </a:moveTo>
                <a:cubicBezTo>
                  <a:pt x="298787" y="78105"/>
                  <a:pt x="258425" y="28158"/>
                  <a:pt x="203597" y="8751"/>
                </a:cubicBezTo>
                <a:cubicBezTo>
                  <a:pt x="222825" y="39826"/>
                  <a:pt x="235982" y="87154"/>
                  <a:pt x="238065" y="138113"/>
                </a:cubicBezTo>
                <a:lnTo>
                  <a:pt x="304383" y="138113"/>
                </a:lnTo>
                <a:close/>
              </a:path>
            </a:pathLst>
          </a:custGeom>
          <a:solidFill>
            <a:srgbClr val="D4943A"/>
          </a:solidFill>
          <a:ln/>
        </p:spPr>
      </p:sp>
      <p:sp>
        <p:nvSpPr>
          <p:cNvPr id="25" name="Text 23"/>
          <p:cNvSpPr/>
          <p:nvPr/>
        </p:nvSpPr>
        <p:spPr>
          <a:xfrm>
            <a:off x="1422400" y="6438900"/>
            <a:ext cx="3175000" cy="304800"/>
          </a:xfrm>
          <a:prstGeom prst="rect">
            <a:avLst/>
          </a:prstGeom>
          <a:noFill/>
          <a:ln/>
        </p:spPr>
        <p:txBody>
          <a:bodyPr wrap="none" lIns="0" tIns="0" rIns="0" bIns="0" rtlCol="0" anchor="ctr"/>
          <a:lstStyle/>
          <a:p>
            <a:pPr>
              <a:lnSpc>
                <a:spcPct val="100000"/>
              </a:lnSpc>
            </a:pPr>
            <a:r>
              <a:rPr lang="en-US" sz="1400" b="1" dirty="0">
                <a:solidFill>
                  <a:srgbClr val="D4943A"/>
                </a:solidFill>
                <a:latin typeface="Liter" pitchFamily="34" charset="0"/>
                <a:ea typeface="Liter" pitchFamily="34" charset="-122"/>
                <a:cs typeface="Liter" pitchFamily="34" charset="-120"/>
              </a:rPr>
              <a:t>REAL-WORLD EXAMPLE</a:t>
            </a:r>
            <a:endParaRPr lang="en-US" sz="1600" dirty="0"/>
          </a:p>
        </p:txBody>
      </p:sp>
      <p:sp>
        <p:nvSpPr>
          <p:cNvPr id="26" name="Text 24"/>
          <p:cNvSpPr/>
          <p:nvPr/>
        </p:nvSpPr>
        <p:spPr>
          <a:xfrm>
            <a:off x="1016000" y="6832600"/>
            <a:ext cx="14224000" cy="6604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In a company database, "Employee" is the entity type. The entity set includes all 500 individual employees. Each employee is an instance with their own unique data.</a:t>
            </a:r>
            <a:endParaRPr lang="en-US" sz="1600" dirty="0"/>
          </a:p>
        </p:txBody>
      </p:sp>
      <p:sp>
        <p:nvSpPr>
          <p:cNvPr id="27" name="Shape 25"/>
          <p:cNvSpPr/>
          <p:nvPr/>
        </p:nvSpPr>
        <p:spPr>
          <a:xfrm>
            <a:off x="762000" y="7874000"/>
            <a:ext cx="14732000" cy="635000"/>
          </a:xfrm>
          <a:prstGeom prst="roundRect">
            <a:avLst>
              <a:gd name="adj" fmla="val 6000"/>
            </a:avLst>
          </a:prstGeom>
          <a:solidFill>
            <a:srgbClr val="2D5A4C">
              <a:alpha val="8235"/>
            </a:srgbClr>
          </a:solidFill>
          <a:ln/>
        </p:spPr>
      </p:sp>
      <p:sp>
        <p:nvSpPr>
          <p:cNvPr id="28" name="Shape 26"/>
          <p:cNvSpPr/>
          <p:nvPr/>
        </p:nvSpPr>
        <p:spPr>
          <a:xfrm>
            <a:off x="1016000" y="8026400"/>
            <a:ext cx="254000" cy="254000"/>
          </a:xfrm>
          <a:custGeom>
            <a:avLst/>
            <a:gdLst/>
            <a:ahLst/>
            <a:cxnLst/>
            <a:rect l="l" t="t" r="r" b="b"/>
            <a:pathLst>
              <a:path w="254000" h="254000">
                <a:moveTo>
                  <a:pt x="175071" y="10517"/>
                </a:moveTo>
                <a:lnTo>
                  <a:pt x="152797" y="32792"/>
                </a:lnTo>
                <a:lnTo>
                  <a:pt x="221208" y="101203"/>
                </a:lnTo>
                <a:lnTo>
                  <a:pt x="243483" y="78929"/>
                </a:lnTo>
                <a:cubicBezTo>
                  <a:pt x="250230" y="72231"/>
                  <a:pt x="254000" y="63103"/>
                  <a:pt x="254000" y="53578"/>
                </a:cubicBezTo>
                <a:cubicBezTo>
                  <a:pt x="254000" y="44053"/>
                  <a:pt x="250230" y="34925"/>
                  <a:pt x="243483" y="28228"/>
                </a:cubicBezTo>
                <a:lnTo>
                  <a:pt x="225772" y="10517"/>
                </a:lnTo>
                <a:cubicBezTo>
                  <a:pt x="219075" y="3770"/>
                  <a:pt x="209947" y="0"/>
                  <a:pt x="200422" y="0"/>
                </a:cubicBezTo>
                <a:cubicBezTo>
                  <a:pt x="190897" y="0"/>
                  <a:pt x="181769" y="3770"/>
                  <a:pt x="175071" y="10517"/>
                </a:cubicBezTo>
                <a:close/>
                <a:moveTo>
                  <a:pt x="135979" y="49609"/>
                </a:moveTo>
                <a:lnTo>
                  <a:pt x="29220" y="156319"/>
                </a:lnTo>
                <a:cubicBezTo>
                  <a:pt x="23912" y="161627"/>
                  <a:pt x="20042" y="168275"/>
                  <a:pt x="18008" y="175518"/>
                </a:cubicBezTo>
                <a:lnTo>
                  <a:pt x="446" y="238919"/>
                </a:lnTo>
                <a:cubicBezTo>
                  <a:pt x="-695" y="243036"/>
                  <a:pt x="446" y="247501"/>
                  <a:pt x="3522" y="250527"/>
                </a:cubicBezTo>
                <a:cubicBezTo>
                  <a:pt x="6598" y="253554"/>
                  <a:pt x="11013" y="254744"/>
                  <a:pt x="15131" y="253603"/>
                </a:cubicBezTo>
                <a:lnTo>
                  <a:pt x="78532" y="235992"/>
                </a:lnTo>
                <a:cubicBezTo>
                  <a:pt x="85775" y="233958"/>
                  <a:pt x="92373" y="230138"/>
                  <a:pt x="97730" y="224780"/>
                </a:cubicBezTo>
                <a:lnTo>
                  <a:pt x="204391" y="118021"/>
                </a:lnTo>
                <a:lnTo>
                  <a:pt x="135979" y="49609"/>
                </a:lnTo>
                <a:close/>
              </a:path>
            </a:pathLst>
          </a:custGeom>
          <a:solidFill>
            <a:srgbClr val="2D5A4C"/>
          </a:solidFill>
          <a:ln/>
        </p:spPr>
      </p:sp>
      <p:sp>
        <p:nvSpPr>
          <p:cNvPr id="29" name="Text 27"/>
          <p:cNvSpPr/>
          <p:nvPr/>
        </p:nvSpPr>
        <p:spPr>
          <a:xfrm>
            <a:off x="1371600" y="7937500"/>
            <a:ext cx="13970000" cy="508000"/>
          </a:xfrm>
          <a:prstGeom prst="rect">
            <a:avLst/>
          </a:prstGeom>
          <a:noFill/>
          <a:ln/>
        </p:spPr>
        <p:txBody>
          <a:bodyPr wrap="square" lIns="0" tIns="0" rIns="0" bIns="0" rtlCol="0" anchor="ctr"/>
          <a:lstStyle/>
          <a:p>
            <a:pPr>
              <a:lnSpc>
                <a:spcPct val="140000"/>
              </a:lnSpc>
            </a:pPr>
            <a:r>
              <a:rPr lang="en-US" sz="1400" b="1" dirty="0">
                <a:solidFill>
                  <a:srgbClr val="2D5A4C"/>
                </a:solidFill>
                <a:latin typeface="Quattrocento Sans" pitchFamily="34" charset="0"/>
                <a:ea typeface="Quattrocento Sans" pitchFamily="34" charset="-122"/>
                <a:cs typeface="Quattrocento Sans" pitchFamily="34" charset="-120"/>
              </a:rPr>
              <a:t>Practice:</a:t>
            </a:r>
            <a:pPr>
              <a:lnSpc>
                <a:spcPct val="140000"/>
              </a:lnSpc>
            </a:pPr>
            <a:r>
              <a:rPr lang="en-US" sz="1400" dirty="0">
                <a:solidFill>
                  <a:srgbClr val="2D5A4C"/>
                </a:solidFill>
                <a:latin typeface="Quattrocento Sans" pitchFamily="34" charset="0"/>
                <a:ea typeface="Quattrocento Sans" pitchFamily="34" charset="-122"/>
                <a:cs typeface="Quattrocento Sans" pitchFamily="34" charset="-120"/>
              </a:rPr>
              <a:t> For the entity type "Book," write three examples of entity instances.</a:t>
            </a:r>
            <a:endParaRPr lang="en-US" sz="1600" dirty="0"/>
          </a:p>
        </p:txBody>
      </p:sp>
      <p:sp>
        <p:nvSpPr>
          <p:cNvPr id="30" name="Text 28"/>
          <p:cNvSpPr/>
          <p:nvPr/>
        </p:nvSpPr>
        <p:spPr>
          <a:xfrm>
            <a:off x="13398500" y="8788400"/>
            <a:ext cx="2413000" cy="254000"/>
          </a:xfrm>
          <a:prstGeom prst="rect">
            <a:avLst/>
          </a:prstGeom>
          <a:noFill/>
          <a:ln/>
        </p:spPr>
        <p:txBody>
          <a:bodyPr wrap="none" lIns="0" tIns="0" rIns="0" bIns="0" rtlCol="0" anchor="ctr"/>
          <a:lstStyle/>
          <a:p>
            <a:pPr algn="r">
              <a:lnSpc>
                <a:spcPct val="140000"/>
              </a:lnSpc>
            </a:pPr>
            <a:r>
              <a:rPr lang="en-US" sz="1400" dirty="0">
                <a:solidFill>
                  <a:srgbClr val="8B7355"/>
                </a:solidFill>
                <a:latin typeface="QuattrocentoSans" pitchFamily="34" charset="0"/>
                <a:ea typeface="QuattrocentoSans" pitchFamily="34" charset="-122"/>
                <a:cs typeface="QuattrocentoSans" pitchFamily="34" charset="-120"/>
              </a:rPr>
              <a:t>Entity Types and Entity Sets</a:t>
            </a:r>
            <a:endParaRPr lang="en-US" sz="1400" dirty="0"/>
          </a:p>
        </p:txBody>
      </p:sp>
    </p:spTree>
  </p:cSld>
  <p:clrMapOvr>
    <a:masterClrMapping/>
  </p:clrMapOvr>
  <p:transition>
    <p:fade/>
    <p:spd val="med"/>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D4943A"/>
          </a:solidFill>
          <a:ln/>
        </p:spPr>
      </p:sp>
      <p:sp>
        <p:nvSpPr>
          <p:cNvPr id="3" name="Text 1"/>
          <p:cNvSpPr/>
          <p:nvPr/>
        </p:nvSpPr>
        <p:spPr>
          <a:xfrm>
            <a:off x="762000" y="381000"/>
            <a:ext cx="10160000" cy="508000"/>
          </a:xfrm>
          <a:prstGeom prst="rect">
            <a:avLst/>
          </a:prstGeom>
          <a:noFill/>
          <a:ln/>
        </p:spPr>
        <p:txBody>
          <a:bodyPr wrap="none" lIns="0" tIns="0" rIns="0" bIns="0" rtlCol="0" anchor="ctr"/>
          <a:lstStyle/>
          <a:p>
            <a:pPr>
              <a:lnSpc>
                <a:spcPct val="130000"/>
              </a:lnSpc>
            </a:pPr>
            <a:r>
              <a:rPr lang="en-US" sz="2800" dirty="0">
                <a:solidFill>
                  <a:srgbClr val="2D5A4C"/>
                </a:solidFill>
                <a:latin typeface="Liter" pitchFamily="34" charset="0"/>
                <a:ea typeface="Liter" pitchFamily="34" charset="-122"/>
                <a:cs typeface="Liter" pitchFamily="34" charset="-120"/>
              </a:rPr>
              <a:t>Strong vs Weak Entities</a:t>
            </a:r>
            <a:endParaRPr lang="en-US" sz="2800" dirty="0"/>
          </a:p>
        </p:txBody>
      </p:sp>
      <p:sp>
        <p:nvSpPr>
          <p:cNvPr id="4" name="Text 2"/>
          <p:cNvSpPr/>
          <p:nvPr/>
        </p:nvSpPr>
        <p:spPr>
          <a:xfrm>
            <a:off x="762000" y="1143000"/>
            <a:ext cx="7620000" cy="3683000"/>
          </a:xfrm>
          <a:prstGeom prst="rect">
            <a:avLst/>
          </a:prstGeom>
          <a:noFill/>
          <a:ln/>
        </p:spPr>
        <p:txBody>
          <a:bodyPr wrap="square" lIns="0" tIns="0" rIns="0" bIns="0" rtlCol="0" anchor="t"/>
          <a:lstStyle/>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A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strong entity</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can exist independently and has its own unique identifier</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A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weak entity</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cannot exist without being related to a strong entity</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Weak entities depend on strong entities for their identity</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In ER diagrams: strong = regular rectangle; weak =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double rectangle</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Example: Order Item (weak) depends on Order (strong) to exist</a:t>
            </a:r>
            <a:endParaRPr lang="en-US" sz="2000" dirty="0"/>
          </a:p>
        </p:txBody>
      </p:sp>
      <p:sp>
        <p:nvSpPr>
          <p:cNvPr id="5" name="Shape 3"/>
          <p:cNvSpPr/>
          <p:nvPr/>
        </p:nvSpPr>
        <p:spPr>
          <a:xfrm>
            <a:off x="8890000" y="1016000"/>
            <a:ext cx="6604000" cy="3810000"/>
          </a:xfrm>
          <a:prstGeom prst="roundRect">
            <a:avLst>
              <a:gd name="adj" fmla="val 8000"/>
            </a:avLst>
          </a:prstGeom>
          <a:solidFill>
            <a:srgbClr val="2D5A4C">
              <a:alpha val="8235"/>
            </a:srgbClr>
          </a:solidFill>
          <a:ln/>
        </p:spPr>
      </p:sp>
      <p:sp>
        <p:nvSpPr>
          <p:cNvPr id="6" name="Text 4"/>
          <p:cNvSpPr/>
          <p:nvPr/>
        </p:nvSpPr>
        <p:spPr>
          <a:xfrm>
            <a:off x="8890000" y="1117600"/>
            <a:ext cx="6604000" cy="355600"/>
          </a:xfrm>
          <a:prstGeom prst="rect">
            <a:avLst/>
          </a:prstGeom>
          <a:noFill/>
          <a:ln/>
        </p:spPr>
        <p:txBody>
          <a:bodyPr wrap="none" lIns="0" tIns="0" rIns="0" bIns="0" rtlCol="0" anchor="ctr"/>
          <a:lstStyle/>
          <a:p>
            <a:pPr algn="ctr">
              <a:lnSpc>
                <a:spcPct val="100000"/>
              </a:lnSpc>
            </a:pPr>
            <a:r>
              <a:rPr lang="en-US" sz="1400" b="1" dirty="0">
                <a:solidFill>
                  <a:srgbClr val="2D5A4C"/>
                </a:solidFill>
                <a:latin typeface="Liter" pitchFamily="34" charset="0"/>
                <a:ea typeface="Liter" pitchFamily="34" charset="-122"/>
                <a:cs typeface="Liter" pitchFamily="34" charset="-120"/>
              </a:rPr>
              <a:t>STRONG vs WEAK ENTITY</a:t>
            </a:r>
            <a:endParaRPr lang="en-US" sz="1600" dirty="0"/>
          </a:p>
        </p:txBody>
      </p:sp>
      <p:sp>
        <p:nvSpPr>
          <p:cNvPr id="7" name="Shape 5"/>
          <p:cNvSpPr/>
          <p:nvPr/>
        </p:nvSpPr>
        <p:spPr>
          <a:xfrm>
            <a:off x="9779000" y="1778000"/>
            <a:ext cx="2032000" cy="762000"/>
          </a:xfrm>
          <a:prstGeom prst="rect">
            <a:avLst/>
          </a:prstGeom>
          <a:solidFill>
            <a:srgbClr val="2D5A4C"/>
          </a:solidFill>
          <a:ln/>
        </p:spPr>
      </p:sp>
      <p:sp>
        <p:nvSpPr>
          <p:cNvPr id="8" name="Text 6"/>
          <p:cNvSpPr/>
          <p:nvPr/>
        </p:nvSpPr>
        <p:spPr>
          <a:xfrm>
            <a:off x="9779000" y="1778000"/>
            <a:ext cx="2032000" cy="762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ORDER</a:t>
            </a:r>
            <a:endParaRPr lang="en-US" sz="1600" dirty="0"/>
          </a:p>
        </p:txBody>
      </p:sp>
      <p:sp>
        <p:nvSpPr>
          <p:cNvPr id="9" name="Text 7"/>
          <p:cNvSpPr/>
          <p:nvPr/>
        </p:nvSpPr>
        <p:spPr>
          <a:xfrm>
            <a:off x="9779000" y="2590800"/>
            <a:ext cx="2032000" cy="254000"/>
          </a:xfrm>
          <a:prstGeom prst="rect">
            <a:avLst/>
          </a:prstGeom>
          <a:noFill/>
          <a:ln/>
        </p:spPr>
        <p:txBody>
          <a:bodyPr wrap="none" lIns="0" tIns="0" rIns="0" bIns="0" rtlCol="0" anchor="ctr"/>
          <a:lstStyle/>
          <a:p>
            <a:pPr algn="ctr">
              <a:lnSpc>
                <a:spcPct val="100000"/>
              </a:lnSpc>
            </a:pPr>
            <a:r>
              <a:rPr lang="en-US" sz="1200" b="1" dirty="0">
                <a:solidFill>
                  <a:srgbClr val="2D5A4C"/>
                </a:solidFill>
                <a:latin typeface="Liter" pitchFamily="34" charset="0"/>
                <a:ea typeface="Liter" pitchFamily="34" charset="-122"/>
                <a:cs typeface="Liter" pitchFamily="34" charset="-120"/>
              </a:rPr>
              <a:t>Strong Entity</a:t>
            </a:r>
            <a:endParaRPr lang="en-US" sz="1600" dirty="0"/>
          </a:p>
        </p:txBody>
      </p:sp>
      <p:sp>
        <p:nvSpPr>
          <p:cNvPr id="10" name="Shape 8"/>
          <p:cNvSpPr/>
          <p:nvPr/>
        </p:nvSpPr>
        <p:spPr>
          <a:xfrm>
            <a:off x="11811000" y="2095500"/>
            <a:ext cx="635000" cy="0"/>
          </a:xfrm>
          <a:prstGeom prst="straightConnector1">
            <a:avLst/>
          </a:prstGeom>
          <a:noFill/>
          <a:ln w="25400">
            <a:solidFill>
              <a:srgbClr val="D4943A"/>
            </a:solidFill>
            <a:prstDash val="solid"/>
            <a:headEnd type="none"/>
            <a:tailEnd type="arrow"/>
          </a:ln>
        </p:spPr>
      </p:sp>
      <p:sp>
        <p:nvSpPr>
          <p:cNvPr id="11" name="Shape 9"/>
          <p:cNvSpPr/>
          <p:nvPr/>
        </p:nvSpPr>
        <p:spPr>
          <a:xfrm>
            <a:off x="12573000" y="1714500"/>
            <a:ext cx="2159000" cy="889000"/>
          </a:xfrm>
          <a:prstGeom prst="rect">
            <a:avLst/>
          </a:prstGeom>
          <a:solidFill>
            <a:srgbClr val="D4943A"/>
          </a:solidFill>
          <a:ln/>
        </p:spPr>
      </p:sp>
      <p:sp>
        <p:nvSpPr>
          <p:cNvPr id="12" name="Shape 10"/>
          <p:cNvSpPr/>
          <p:nvPr/>
        </p:nvSpPr>
        <p:spPr>
          <a:xfrm>
            <a:off x="12636500" y="1778000"/>
            <a:ext cx="2032000" cy="762000"/>
          </a:xfrm>
          <a:prstGeom prst="rect">
            <a:avLst/>
          </a:prstGeom>
          <a:solidFill>
            <a:srgbClr val="2D5A4C">
              <a:alpha val="8235"/>
            </a:srgbClr>
          </a:solidFill>
          <a:ln w="25400">
            <a:solidFill>
              <a:srgbClr val="D4943A"/>
            </a:solidFill>
            <a:prstDash val="solid"/>
          </a:ln>
        </p:spPr>
      </p:sp>
      <p:sp>
        <p:nvSpPr>
          <p:cNvPr id="13" name="Text 11"/>
          <p:cNvSpPr/>
          <p:nvPr/>
        </p:nvSpPr>
        <p:spPr>
          <a:xfrm>
            <a:off x="12636500" y="1778000"/>
            <a:ext cx="2032000" cy="7620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Liter" pitchFamily="34" charset="0"/>
                <a:ea typeface="Liter" pitchFamily="34" charset="-122"/>
                <a:cs typeface="Liter" pitchFamily="34" charset="-120"/>
              </a:rPr>
              <a:t>ORDER ITEM</a:t>
            </a:r>
            <a:endParaRPr lang="en-US" sz="1600" dirty="0"/>
          </a:p>
        </p:txBody>
      </p:sp>
      <p:sp>
        <p:nvSpPr>
          <p:cNvPr id="14" name="Text 12"/>
          <p:cNvSpPr/>
          <p:nvPr/>
        </p:nvSpPr>
        <p:spPr>
          <a:xfrm>
            <a:off x="12573000" y="2667000"/>
            <a:ext cx="2159000" cy="254000"/>
          </a:xfrm>
          <a:prstGeom prst="rect">
            <a:avLst/>
          </a:prstGeom>
          <a:noFill/>
          <a:ln/>
        </p:spPr>
        <p:txBody>
          <a:bodyPr wrap="none" lIns="0" tIns="0" rIns="0" bIns="0" rtlCol="0" anchor="ctr"/>
          <a:lstStyle/>
          <a:p>
            <a:pPr algn="ctr">
              <a:lnSpc>
                <a:spcPct val="100000"/>
              </a:lnSpc>
            </a:pPr>
            <a:r>
              <a:rPr lang="en-US" sz="1200" b="1" dirty="0">
                <a:solidFill>
                  <a:srgbClr val="D4943A"/>
                </a:solidFill>
                <a:latin typeface="Liter" pitchFamily="34" charset="0"/>
                <a:ea typeface="Liter" pitchFamily="34" charset="-122"/>
                <a:cs typeface="Liter" pitchFamily="34" charset="-120"/>
              </a:rPr>
              <a:t>Weak Entity (double line)</a:t>
            </a:r>
            <a:endParaRPr lang="en-US" sz="1600" dirty="0"/>
          </a:p>
        </p:txBody>
      </p:sp>
      <p:sp>
        <p:nvSpPr>
          <p:cNvPr id="15" name="Text 13"/>
          <p:cNvSpPr/>
          <p:nvPr/>
        </p:nvSpPr>
        <p:spPr>
          <a:xfrm>
            <a:off x="9271000" y="3175000"/>
            <a:ext cx="5842000" cy="1397000"/>
          </a:xfrm>
          <a:prstGeom prst="rect">
            <a:avLst/>
          </a:prstGeom>
          <a:noFill/>
          <a:ln/>
        </p:spPr>
        <p:txBody>
          <a:bodyPr wrap="square" lIns="0" tIns="0" rIns="0" bIns="0" rtlCol="0" anchor="t"/>
          <a:lstStyle/>
          <a:p>
            <a:pPr algn="ctr">
              <a:lnSpc>
                <a:spcPct val="150000"/>
              </a:lnSpc>
            </a:pPr>
            <a:r>
              <a:rPr lang="en-US" sz="1300" dirty="0">
                <a:solidFill>
                  <a:srgbClr val="2C2C2C"/>
                </a:solidFill>
                <a:latin typeface="Quattrocento Sans" pitchFamily="34" charset="0"/>
                <a:ea typeface="Quattrocento Sans" pitchFamily="34" charset="-122"/>
                <a:cs typeface="Quattrocento Sans" pitchFamily="34" charset="-120"/>
              </a:rPr>
              <a:t>An Order Item cannot exist without an Order.</a:t>
            </a:r>
            <a:endParaRPr lang="en-US" sz="1600" dirty="0"/>
          </a:p>
          <a:p>
            <a:pPr algn="ctr">
              <a:lnSpc>
                <a:spcPct val="150000"/>
              </a:lnSpc>
            </a:pPr>
            <a:r>
              <a:rPr lang="en-US" sz="1300" dirty="0">
                <a:solidFill>
                  <a:srgbClr val="2C2C2C"/>
                </a:solidFill>
                <a:latin typeface="Quattrocento Sans" pitchFamily="34" charset="0"/>
                <a:ea typeface="Quattrocento Sans" pitchFamily="34" charset="-122"/>
                <a:cs typeface="Quattrocento Sans" pitchFamily="34" charset="-120"/>
              </a:rPr>
              <a:t>Delete the Order, and all its Items</a:t>
            </a:r>
            <a:endParaRPr lang="en-US" sz="1600" dirty="0"/>
          </a:p>
          <a:p>
            <a:pPr algn="ctr">
              <a:lnSpc>
                <a:spcPct val="150000"/>
              </a:lnSpc>
            </a:pPr>
            <a:r>
              <a:rPr lang="en-US" sz="1300" dirty="0">
                <a:solidFill>
                  <a:srgbClr val="2C2C2C"/>
                </a:solidFill>
                <a:latin typeface="Quattrocento Sans" pitchFamily="34" charset="0"/>
                <a:ea typeface="Quattrocento Sans" pitchFamily="34" charset="-122"/>
                <a:cs typeface="Quattrocento Sans" pitchFamily="34" charset="-120"/>
              </a:rPr>
              <a:t>are also deleted.</a:t>
            </a:r>
            <a:endParaRPr lang="en-US" sz="1600" dirty="0"/>
          </a:p>
          <a:p>
            <a:pPr algn="ctr">
              <a:lnSpc>
                <a:spcPct val="150000"/>
              </a:lnSpc>
            </a:pPr>
            <a:r>
              <a:rPr lang="en-US" sz="1300" b="1" dirty="0">
                <a:solidFill>
                  <a:srgbClr val="D4943A"/>
                </a:solidFill>
                <a:latin typeface="Quattrocento Sans" pitchFamily="34" charset="0"/>
                <a:ea typeface="Quattrocento Sans" pitchFamily="34" charset="-122"/>
                <a:cs typeface="Quattrocento Sans" pitchFamily="34" charset="-120"/>
              </a:rPr>
              <a:t>The weak entity depends on the strong one.</a:t>
            </a:r>
            <a:endParaRPr lang="en-US" sz="1600" dirty="0"/>
          </a:p>
        </p:txBody>
      </p:sp>
      <p:sp>
        <p:nvSpPr>
          <p:cNvPr id="16" name="Shape 14"/>
          <p:cNvSpPr/>
          <p:nvPr/>
        </p:nvSpPr>
        <p:spPr>
          <a:xfrm>
            <a:off x="762000" y="5080000"/>
            <a:ext cx="14732000" cy="1016000"/>
          </a:xfrm>
          <a:prstGeom prst="roundRect">
            <a:avLst>
              <a:gd name="adj" fmla="val 6000"/>
            </a:avLst>
          </a:prstGeom>
          <a:solidFill>
            <a:srgbClr val="E8E2DA"/>
          </a:solidFill>
          <a:ln/>
        </p:spPr>
      </p:sp>
      <p:sp>
        <p:nvSpPr>
          <p:cNvPr id="17" name="Shape 15"/>
          <p:cNvSpPr/>
          <p:nvPr/>
        </p:nvSpPr>
        <p:spPr>
          <a:xfrm>
            <a:off x="1060450" y="5308600"/>
            <a:ext cx="266700" cy="355600"/>
          </a:xfrm>
          <a:custGeom>
            <a:avLst/>
            <a:gdLst/>
            <a:ahLst/>
            <a:cxnLst/>
            <a:rect l="l" t="t" r="r" b="b"/>
            <a:pathLst>
              <a:path w="266700" h="355600">
                <a:moveTo>
                  <a:pt x="203428" y="266700"/>
                </a:moveTo>
                <a:cubicBezTo>
                  <a:pt x="208498" y="251212"/>
                  <a:pt x="218638" y="237182"/>
                  <a:pt x="230098" y="225098"/>
                </a:cubicBezTo>
                <a:cubicBezTo>
                  <a:pt x="252809" y="201206"/>
                  <a:pt x="266700" y="168910"/>
                  <a:pt x="266700" y="133350"/>
                </a:cubicBezTo>
                <a:cubicBezTo>
                  <a:pt x="266700" y="59730"/>
                  <a:pt x="206970" y="0"/>
                  <a:pt x="133350" y="0"/>
                </a:cubicBezTo>
                <a:cubicBezTo>
                  <a:pt x="59730" y="0"/>
                  <a:pt x="0" y="59730"/>
                  <a:pt x="0" y="133350"/>
                </a:cubicBezTo>
                <a:cubicBezTo>
                  <a:pt x="0" y="168910"/>
                  <a:pt x="13891" y="201206"/>
                  <a:pt x="36602" y="225098"/>
                </a:cubicBezTo>
                <a:cubicBezTo>
                  <a:pt x="48062" y="237182"/>
                  <a:pt x="58271" y="251212"/>
                  <a:pt x="63272" y="266700"/>
                </a:cubicBezTo>
                <a:lnTo>
                  <a:pt x="203359" y="266700"/>
                </a:lnTo>
                <a:close/>
                <a:moveTo>
                  <a:pt x="200025" y="300038"/>
                </a:moveTo>
                <a:lnTo>
                  <a:pt x="66675" y="300038"/>
                </a:lnTo>
                <a:lnTo>
                  <a:pt x="66675" y="311150"/>
                </a:lnTo>
                <a:cubicBezTo>
                  <a:pt x="66675" y="341848"/>
                  <a:pt x="91539" y="366712"/>
                  <a:pt x="122238" y="366712"/>
                </a:cubicBezTo>
                <a:lnTo>
                  <a:pt x="144463" y="366712"/>
                </a:lnTo>
                <a:cubicBezTo>
                  <a:pt x="175161" y="366712"/>
                  <a:pt x="200025" y="341848"/>
                  <a:pt x="200025" y="311150"/>
                </a:cubicBezTo>
                <a:lnTo>
                  <a:pt x="200025" y="300038"/>
                </a:lnTo>
                <a:close/>
                <a:moveTo>
                  <a:pt x="127794" y="77788"/>
                </a:moveTo>
                <a:cubicBezTo>
                  <a:pt x="100151" y="77788"/>
                  <a:pt x="77788" y="100151"/>
                  <a:pt x="77788" y="127794"/>
                </a:cubicBezTo>
                <a:cubicBezTo>
                  <a:pt x="77788" y="137031"/>
                  <a:pt x="70356" y="144463"/>
                  <a:pt x="61119" y="144463"/>
                </a:cubicBezTo>
                <a:cubicBezTo>
                  <a:pt x="51881" y="144463"/>
                  <a:pt x="44450" y="137031"/>
                  <a:pt x="44450" y="127794"/>
                </a:cubicBezTo>
                <a:cubicBezTo>
                  <a:pt x="44450" y="81746"/>
                  <a:pt x="81746" y="44450"/>
                  <a:pt x="127794" y="44450"/>
                </a:cubicBezTo>
                <a:cubicBezTo>
                  <a:pt x="137031" y="44450"/>
                  <a:pt x="144463" y="51881"/>
                  <a:pt x="144463" y="61119"/>
                </a:cubicBezTo>
                <a:cubicBezTo>
                  <a:pt x="144463" y="70356"/>
                  <a:pt x="137031" y="77788"/>
                  <a:pt x="127794" y="77788"/>
                </a:cubicBezTo>
                <a:close/>
              </a:path>
            </a:pathLst>
          </a:custGeom>
          <a:solidFill>
            <a:srgbClr val="D4943A"/>
          </a:solidFill>
          <a:ln/>
        </p:spPr>
      </p:sp>
      <p:sp>
        <p:nvSpPr>
          <p:cNvPr id="18" name="Text 16"/>
          <p:cNvSpPr/>
          <p:nvPr/>
        </p:nvSpPr>
        <p:spPr>
          <a:xfrm>
            <a:off x="1498600" y="5143500"/>
            <a:ext cx="2540000" cy="304800"/>
          </a:xfrm>
          <a:prstGeom prst="rect">
            <a:avLst/>
          </a:prstGeom>
          <a:noFill/>
          <a:ln/>
        </p:spPr>
        <p:txBody>
          <a:bodyPr wrap="none" lIns="0" tIns="0" rIns="0" bIns="0" rtlCol="0" anchor="ctr"/>
          <a:lstStyle/>
          <a:p>
            <a:pPr>
              <a:lnSpc>
                <a:spcPct val="100000"/>
              </a:lnSpc>
            </a:pPr>
            <a:r>
              <a:rPr lang="en-US" sz="1400" b="1" dirty="0">
                <a:solidFill>
                  <a:srgbClr val="2D5A4C"/>
                </a:solidFill>
                <a:latin typeface="Liter" pitchFamily="34" charset="0"/>
                <a:ea typeface="Liter" pitchFamily="34" charset="-122"/>
                <a:cs typeface="Liter" pitchFamily="34" charset="-120"/>
              </a:rPr>
              <a:t>EXPLANATION</a:t>
            </a:r>
            <a:endParaRPr lang="en-US" sz="1600" dirty="0"/>
          </a:p>
        </p:txBody>
      </p:sp>
      <p:sp>
        <p:nvSpPr>
          <p:cNvPr id="19" name="Text 17"/>
          <p:cNvSpPr/>
          <p:nvPr/>
        </p:nvSpPr>
        <p:spPr>
          <a:xfrm>
            <a:off x="1498600" y="5486400"/>
            <a:ext cx="13716000" cy="6096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A strong entity stands on its own — a Student has a student ID and exists independently. A weak entity needs another entity to make sense — an Order Line Item only exists as part of an Order.</a:t>
            </a:r>
            <a:endParaRPr lang="en-US" sz="1600" dirty="0"/>
          </a:p>
        </p:txBody>
      </p:sp>
      <p:sp>
        <p:nvSpPr>
          <p:cNvPr id="20" name="Shape 18"/>
          <p:cNvSpPr/>
          <p:nvPr/>
        </p:nvSpPr>
        <p:spPr>
          <a:xfrm>
            <a:off x="762000" y="6350000"/>
            <a:ext cx="14732000" cy="1270000"/>
          </a:xfrm>
          <a:prstGeom prst="roundRect">
            <a:avLst>
              <a:gd name="adj" fmla="val 6000"/>
            </a:avLst>
          </a:prstGeom>
          <a:solidFill>
            <a:srgbClr val="D4943A">
              <a:alpha val="8235"/>
            </a:srgbClr>
          </a:solidFill>
          <a:ln/>
        </p:spPr>
      </p:sp>
      <p:sp>
        <p:nvSpPr>
          <p:cNvPr id="21" name="Shape 19"/>
          <p:cNvSpPr/>
          <p:nvPr/>
        </p:nvSpPr>
        <p:spPr>
          <a:xfrm>
            <a:off x="1016000" y="6477000"/>
            <a:ext cx="304800" cy="304800"/>
          </a:xfrm>
          <a:custGeom>
            <a:avLst/>
            <a:gdLst/>
            <a:ahLst/>
            <a:cxnLst/>
            <a:rect l="l" t="t" r="r" b="b"/>
            <a:pathLst>
              <a:path w="304800" h="304800">
                <a:moveTo>
                  <a:pt x="209490" y="166688"/>
                </a:moveTo>
                <a:lnTo>
                  <a:pt x="95845" y="166688"/>
                </a:lnTo>
                <a:cubicBezTo>
                  <a:pt x="97572" y="205085"/>
                  <a:pt x="106085" y="240447"/>
                  <a:pt x="118170" y="266343"/>
                </a:cubicBezTo>
                <a:cubicBezTo>
                  <a:pt x="124956" y="280928"/>
                  <a:pt x="132278" y="291227"/>
                  <a:pt x="139065" y="297537"/>
                </a:cubicBezTo>
                <a:cubicBezTo>
                  <a:pt x="145733" y="303788"/>
                  <a:pt x="150316" y="304800"/>
                  <a:pt x="152698" y="304800"/>
                </a:cubicBezTo>
                <a:cubicBezTo>
                  <a:pt x="155079" y="304800"/>
                  <a:pt x="159663" y="303788"/>
                  <a:pt x="166330" y="297537"/>
                </a:cubicBezTo>
                <a:cubicBezTo>
                  <a:pt x="173117" y="291227"/>
                  <a:pt x="180439" y="280868"/>
                  <a:pt x="187226" y="266343"/>
                </a:cubicBezTo>
                <a:cubicBezTo>
                  <a:pt x="199311" y="240447"/>
                  <a:pt x="207824" y="205085"/>
                  <a:pt x="209550" y="166688"/>
                </a:cubicBezTo>
                <a:close/>
                <a:moveTo>
                  <a:pt x="95786" y="138113"/>
                </a:moveTo>
                <a:lnTo>
                  <a:pt x="209431" y="138113"/>
                </a:lnTo>
                <a:cubicBezTo>
                  <a:pt x="207764" y="99715"/>
                  <a:pt x="199251" y="64353"/>
                  <a:pt x="187166" y="38457"/>
                </a:cubicBezTo>
                <a:cubicBezTo>
                  <a:pt x="180380" y="23932"/>
                  <a:pt x="173057" y="13573"/>
                  <a:pt x="166271" y="7263"/>
                </a:cubicBezTo>
                <a:cubicBezTo>
                  <a:pt x="159603" y="1012"/>
                  <a:pt x="155019" y="0"/>
                  <a:pt x="152638" y="0"/>
                </a:cubicBezTo>
                <a:cubicBezTo>
                  <a:pt x="150257" y="0"/>
                  <a:pt x="145673" y="1012"/>
                  <a:pt x="139005" y="7263"/>
                </a:cubicBezTo>
                <a:cubicBezTo>
                  <a:pt x="132219" y="13573"/>
                  <a:pt x="124897" y="23932"/>
                  <a:pt x="118110" y="38457"/>
                </a:cubicBezTo>
                <a:cubicBezTo>
                  <a:pt x="106025" y="64353"/>
                  <a:pt x="97512" y="99715"/>
                  <a:pt x="95786" y="138113"/>
                </a:cubicBezTo>
                <a:close/>
                <a:moveTo>
                  <a:pt x="67211" y="138113"/>
                </a:moveTo>
                <a:cubicBezTo>
                  <a:pt x="69294" y="87154"/>
                  <a:pt x="82451" y="39826"/>
                  <a:pt x="101679" y="8751"/>
                </a:cubicBezTo>
                <a:cubicBezTo>
                  <a:pt x="46851" y="28158"/>
                  <a:pt x="6489" y="78105"/>
                  <a:pt x="893" y="138113"/>
                </a:cubicBezTo>
                <a:lnTo>
                  <a:pt x="67211" y="138113"/>
                </a:lnTo>
                <a:close/>
                <a:moveTo>
                  <a:pt x="893" y="166688"/>
                </a:moveTo>
                <a:cubicBezTo>
                  <a:pt x="6489" y="226695"/>
                  <a:pt x="46851" y="276642"/>
                  <a:pt x="101679" y="296049"/>
                </a:cubicBezTo>
                <a:cubicBezTo>
                  <a:pt x="82451" y="264974"/>
                  <a:pt x="69294" y="217646"/>
                  <a:pt x="67211" y="166688"/>
                </a:cubicBezTo>
                <a:lnTo>
                  <a:pt x="893" y="166688"/>
                </a:lnTo>
                <a:close/>
                <a:moveTo>
                  <a:pt x="238065" y="166688"/>
                </a:moveTo>
                <a:cubicBezTo>
                  <a:pt x="235982" y="217646"/>
                  <a:pt x="222825" y="264974"/>
                  <a:pt x="203597" y="296049"/>
                </a:cubicBezTo>
                <a:cubicBezTo>
                  <a:pt x="258425" y="276582"/>
                  <a:pt x="298787" y="226695"/>
                  <a:pt x="304383" y="166688"/>
                </a:cubicBezTo>
                <a:lnTo>
                  <a:pt x="238065" y="166688"/>
                </a:lnTo>
                <a:close/>
                <a:moveTo>
                  <a:pt x="304383" y="138113"/>
                </a:moveTo>
                <a:cubicBezTo>
                  <a:pt x="298787" y="78105"/>
                  <a:pt x="258425" y="28158"/>
                  <a:pt x="203597" y="8751"/>
                </a:cubicBezTo>
                <a:cubicBezTo>
                  <a:pt x="222825" y="39826"/>
                  <a:pt x="235982" y="87154"/>
                  <a:pt x="238065" y="138113"/>
                </a:cubicBezTo>
                <a:lnTo>
                  <a:pt x="304383" y="138113"/>
                </a:lnTo>
                <a:close/>
              </a:path>
            </a:pathLst>
          </a:custGeom>
          <a:solidFill>
            <a:srgbClr val="D4943A"/>
          </a:solidFill>
          <a:ln/>
        </p:spPr>
      </p:sp>
      <p:sp>
        <p:nvSpPr>
          <p:cNvPr id="22" name="Text 20"/>
          <p:cNvSpPr/>
          <p:nvPr/>
        </p:nvSpPr>
        <p:spPr>
          <a:xfrm>
            <a:off x="1422400" y="6438900"/>
            <a:ext cx="3175000" cy="304800"/>
          </a:xfrm>
          <a:prstGeom prst="rect">
            <a:avLst/>
          </a:prstGeom>
          <a:noFill/>
          <a:ln/>
        </p:spPr>
        <p:txBody>
          <a:bodyPr wrap="none" lIns="0" tIns="0" rIns="0" bIns="0" rtlCol="0" anchor="ctr"/>
          <a:lstStyle/>
          <a:p>
            <a:pPr>
              <a:lnSpc>
                <a:spcPct val="100000"/>
              </a:lnSpc>
            </a:pPr>
            <a:r>
              <a:rPr lang="en-US" sz="1400" b="1" dirty="0">
                <a:solidFill>
                  <a:srgbClr val="D4943A"/>
                </a:solidFill>
                <a:latin typeface="Liter" pitchFamily="34" charset="0"/>
                <a:ea typeface="Liter" pitchFamily="34" charset="-122"/>
                <a:cs typeface="Liter" pitchFamily="34" charset="-120"/>
              </a:rPr>
              <a:t>REAL-WORLD EXAMPLE</a:t>
            </a:r>
            <a:endParaRPr lang="en-US" sz="1600" dirty="0"/>
          </a:p>
        </p:txBody>
      </p:sp>
      <p:sp>
        <p:nvSpPr>
          <p:cNvPr id="23" name="Text 21"/>
          <p:cNvSpPr/>
          <p:nvPr/>
        </p:nvSpPr>
        <p:spPr>
          <a:xfrm>
            <a:off x="1016000" y="6832600"/>
            <a:ext cx="14224000" cy="6604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In a university system, "Department" is a strong entity (it has its own ID). "Course Section" might be a weak entity because a section only makes sense when connected to a specific Course.</a:t>
            </a:r>
            <a:endParaRPr lang="en-US" sz="1600" dirty="0"/>
          </a:p>
        </p:txBody>
      </p:sp>
      <p:sp>
        <p:nvSpPr>
          <p:cNvPr id="24" name="Shape 22"/>
          <p:cNvSpPr/>
          <p:nvPr/>
        </p:nvSpPr>
        <p:spPr>
          <a:xfrm>
            <a:off x="762000" y="7874000"/>
            <a:ext cx="14732000" cy="635000"/>
          </a:xfrm>
          <a:prstGeom prst="roundRect">
            <a:avLst>
              <a:gd name="adj" fmla="val 6000"/>
            </a:avLst>
          </a:prstGeom>
          <a:solidFill>
            <a:srgbClr val="2D5A4C">
              <a:alpha val="8235"/>
            </a:srgbClr>
          </a:solidFill>
          <a:ln/>
        </p:spPr>
      </p:sp>
      <p:sp>
        <p:nvSpPr>
          <p:cNvPr id="25" name="Shape 23"/>
          <p:cNvSpPr/>
          <p:nvPr/>
        </p:nvSpPr>
        <p:spPr>
          <a:xfrm>
            <a:off x="1016000" y="8026400"/>
            <a:ext cx="254000" cy="254000"/>
          </a:xfrm>
          <a:custGeom>
            <a:avLst/>
            <a:gdLst/>
            <a:ahLst/>
            <a:cxnLst/>
            <a:rect l="l" t="t" r="r" b="b"/>
            <a:pathLst>
              <a:path w="254000" h="254000">
                <a:moveTo>
                  <a:pt x="175071" y="10517"/>
                </a:moveTo>
                <a:lnTo>
                  <a:pt x="152797" y="32792"/>
                </a:lnTo>
                <a:lnTo>
                  <a:pt x="221208" y="101203"/>
                </a:lnTo>
                <a:lnTo>
                  <a:pt x="243483" y="78929"/>
                </a:lnTo>
                <a:cubicBezTo>
                  <a:pt x="250230" y="72231"/>
                  <a:pt x="254000" y="63103"/>
                  <a:pt x="254000" y="53578"/>
                </a:cubicBezTo>
                <a:cubicBezTo>
                  <a:pt x="254000" y="44053"/>
                  <a:pt x="250230" y="34925"/>
                  <a:pt x="243483" y="28228"/>
                </a:cubicBezTo>
                <a:lnTo>
                  <a:pt x="225772" y="10517"/>
                </a:lnTo>
                <a:cubicBezTo>
                  <a:pt x="219075" y="3770"/>
                  <a:pt x="209947" y="0"/>
                  <a:pt x="200422" y="0"/>
                </a:cubicBezTo>
                <a:cubicBezTo>
                  <a:pt x="190897" y="0"/>
                  <a:pt x="181769" y="3770"/>
                  <a:pt x="175071" y="10517"/>
                </a:cubicBezTo>
                <a:close/>
                <a:moveTo>
                  <a:pt x="135979" y="49609"/>
                </a:moveTo>
                <a:lnTo>
                  <a:pt x="29220" y="156319"/>
                </a:lnTo>
                <a:cubicBezTo>
                  <a:pt x="23912" y="161627"/>
                  <a:pt x="20042" y="168275"/>
                  <a:pt x="18008" y="175518"/>
                </a:cubicBezTo>
                <a:lnTo>
                  <a:pt x="446" y="238919"/>
                </a:lnTo>
                <a:cubicBezTo>
                  <a:pt x="-695" y="243036"/>
                  <a:pt x="446" y="247501"/>
                  <a:pt x="3522" y="250527"/>
                </a:cubicBezTo>
                <a:cubicBezTo>
                  <a:pt x="6598" y="253554"/>
                  <a:pt x="11013" y="254744"/>
                  <a:pt x="15131" y="253603"/>
                </a:cubicBezTo>
                <a:lnTo>
                  <a:pt x="78532" y="235992"/>
                </a:lnTo>
                <a:cubicBezTo>
                  <a:pt x="85775" y="233958"/>
                  <a:pt x="92373" y="230138"/>
                  <a:pt x="97730" y="224780"/>
                </a:cubicBezTo>
                <a:lnTo>
                  <a:pt x="204391" y="118021"/>
                </a:lnTo>
                <a:lnTo>
                  <a:pt x="135979" y="49609"/>
                </a:lnTo>
                <a:close/>
              </a:path>
            </a:pathLst>
          </a:custGeom>
          <a:solidFill>
            <a:srgbClr val="2D5A4C"/>
          </a:solidFill>
          <a:ln/>
        </p:spPr>
      </p:sp>
      <p:sp>
        <p:nvSpPr>
          <p:cNvPr id="26" name="Text 24"/>
          <p:cNvSpPr/>
          <p:nvPr/>
        </p:nvSpPr>
        <p:spPr>
          <a:xfrm>
            <a:off x="1371600" y="7937500"/>
            <a:ext cx="13970000" cy="508000"/>
          </a:xfrm>
          <a:prstGeom prst="rect">
            <a:avLst/>
          </a:prstGeom>
          <a:noFill/>
          <a:ln/>
        </p:spPr>
        <p:txBody>
          <a:bodyPr wrap="square" lIns="0" tIns="0" rIns="0" bIns="0" rtlCol="0" anchor="ctr"/>
          <a:lstStyle/>
          <a:p>
            <a:pPr>
              <a:lnSpc>
                <a:spcPct val="140000"/>
              </a:lnSpc>
            </a:pPr>
            <a:r>
              <a:rPr lang="en-US" sz="1400" b="1" dirty="0">
                <a:solidFill>
                  <a:srgbClr val="2D5A4C"/>
                </a:solidFill>
                <a:latin typeface="Quattrocento Sans" pitchFamily="34" charset="0"/>
                <a:ea typeface="Quattrocento Sans" pitchFamily="34" charset="-122"/>
                <a:cs typeface="Quattrocento Sans" pitchFamily="34" charset="-120"/>
              </a:rPr>
              <a:t>Practice:</a:t>
            </a:r>
            <a:pPr>
              <a:lnSpc>
                <a:spcPct val="140000"/>
              </a:lnSpc>
            </a:pPr>
            <a:r>
              <a:rPr lang="en-US" sz="1400" dirty="0">
                <a:solidFill>
                  <a:srgbClr val="2D5A4C"/>
                </a:solidFill>
                <a:latin typeface="Quattrocento Sans" pitchFamily="34" charset="0"/>
                <a:ea typeface="Quattrocento Sans" pitchFamily="34" charset="-122"/>
                <a:cs typeface="Quattrocento Sans" pitchFamily="34" charset="-120"/>
              </a:rPr>
              <a:t> Which are weak entities? Invoice Line, Customer, Prescription Detail, Employee</a:t>
            </a:r>
            <a:endParaRPr lang="en-US" sz="1600" dirty="0"/>
          </a:p>
        </p:txBody>
      </p:sp>
      <p:sp>
        <p:nvSpPr>
          <p:cNvPr id="27" name="Text 25"/>
          <p:cNvSpPr/>
          <p:nvPr/>
        </p:nvSpPr>
        <p:spPr>
          <a:xfrm>
            <a:off x="13398500" y="8788400"/>
            <a:ext cx="2413000" cy="254000"/>
          </a:xfrm>
          <a:prstGeom prst="rect">
            <a:avLst/>
          </a:prstGeom>
          <a:noFill/>
          <a:ln/>
        </p:spPr>
        <p:txBody>
          <a:bodyPr wrap="none" lIns="0" tIns="0" rIns="0" bIns="0" rtlCol="0" anchor="ctr"/>
          <a:lstStyle/>
          <a:p>
            <a:pPr algn="r">
              <a:lnSpc>
                <a:spcPct val="140000"/>
              </a:lnSpc>
            </a:pPr>
            <a:r>
              <a:rPr lang="en-US" sz="1400" dirty="0">
                <a:solidFill>
                  <a:srgbClr val="8B7355"/>
                </a:solidFill>
                <a:latin typeface="QuattrocentoSans" pitchFamily="34" charset="0"/>
                <a:ea typeface="QuattrocentoSans" pitchFamily="34" charset="-122"/>
                <a:cs typeface="QuattrocentoSans" pitchFamily="34" charset="-120"/>
              </a:rPr>
              <a:t>Entity Types and Entity Sets</a:t>
            </a:r>
            <a:endParaRPr lang="en-US" sz="1400" dirty="0"/>
          </a:p>
        </p:txBody>
      </p:sp>
    </p:spTree>
  </p:cSld>
  <p:clrMapOvr>
    <a:masterClrMapping/>
  </p:clrMapOvr>
  <p:transition>
    <p:fade/>
    <p:spd val="med"/>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D4943A"/>
          </a:solidFill>
          <a:ln/>
        </p:spPr>
      </p:sp>
      <p:sp>
        <p:nvSpPr>
          <p:cNvPr id="3" name="Text 1"/>
          <p:cNvSpPr/>
          <p:nvPr/>
        </p:nvSpPr>
        <p:spPr>
          <a:xfrm>
            <a:off x="762000" y="381000"/>
            <a:ext cx="10160000" cy="508000"/>
          </a:xfrm>
          <a:prstGeom prst="rect">
            <a:avLst/>
          </a:prstGeom>
          <a:noFill/>
          <a:ln/>
        </p:spPr>
        <p:txBody>
          <a:bodyPr wrap="none" lIns="0" tIns="0" rIns="0" bIns="0" rtlCol="0" anchor="ctr"/>
          <a:lstStyle/>
          <a:p>
            <a:pPr>
              <a:lnSpc>
                <a:spcPct val="130000"/>
              </a:lnSpc>
            </a:pPr>
            <a:r>
              <a:rPr lang="en-US" sz="2800" dirty="0">
                <a:solidFill>
                  <a:srgbClr val="2D5A4C"/>
                </a:solidFill>
                <a:latin typeface="Liter" pitchFamily="34" charset="0"/>
                <a:ea typeface="Liter" pitchFamily="34" charset="-122"/>
                <a:cs typeface="Liter" pitchFamily="34" charset="-120"/>
              </a:rPr>
              <a:t>Understanding Attributes</a:t>
            </a:r>
            <a:endParaRPr lang="en-US" sz="2800" dirty="0"/>
          </a:p>
        </p:txBody>
      </p:sp>
      <p:sp>
        <p:nvSpPr>
          <p:cNvPr id="4" name="Text 2"/>
          <p:cNvSpPr/>
          <p:nvPr/>
        </p:nvSpPr>
        <p:spPr>
          <a:xfrm>
            <a:off x="762000" y="1143000"/>
            <a:ext cx="7620000" cy="3683000"/>
          </a:xfrm>
          <a:prstGeom prst="rect">
            <a:avLst/>
          </a:prstGeom>
          <a:noFill/>
          <a:ln/>
        </p:spPr>
        <p:txBody>
          <a:bodyPr wrap="square" lIns="0" tIns="0" rIns="0" bIns="0" rtlCol="0" anchor="t"/>
          <a:lstStyle/>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Attributes are the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properties or characteristics</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that describe an entity</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Attributes answer: "What do we want to know about this entity?"</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For a Student entity: Name, Age, Email, Major, GPA</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Each attribute has a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name and a data type</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(text, number, date)</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In ER diagrams, attributes are shown as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ovals</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connected to their entity</a:t>
            </a:r>
            <a:endParaRPr lang="en-US" sz="2000" dirty="0"/>
          </a:p>
        </p:txBody>
      </p:sp>
      <p:sp>
        <p:nvSpPr>
          <p:cNvPr id="5" name="Shape 3"/>
          <p:cNvSpPr/>
          <p:nvPr/>
        </p:nvSpPr>
        <p:spPr>
          <a:xfrm>
            <a:off x="8890000" y="1016000"/>
            <a:ext cx="6604000" cy="3810000"/>
          </a:xfrm>
          <a:prstGeom prst="roundRect">
            <a:avLst>
              <a:gd name="adj" fmla="val 8000"/>
            </a:avLst>
          </a:prstGeom>
          <a:solidFill>
            <a:srgbClr val="2D5A4C">
              <a:alpha val="8235"/>
            </a:srgbClr>
          </a:solidFill>
          <a:ln/>
        </p:spPr>
      </p:sp>
      <p:sp>
        <p:nvSpPr>
          <p:cNvPr id="6" name="Text 4"/>
          <p:cNvSpPr/>
          <p:nvPr/>
        </p:nvSpPr>
        <p:spPr>
          <a:xfrm>
            <a:off x="8890000" y="1117600"/>
            <a:ext cx="6604000" cy="355600"/>
          </a:xfrm>
          <a:prstGeom prst="rect">
            <a:avLst/>
          </a:prstGeom>
          <a:noFill/>
          <a:ln/>
        </p:spPr>
        <p:txBody>
          <a:bodyPr wrap="none" lIns="0" tIns="0" rIns="0" bIns="0" rtlCol="0" anchor="ctr"/>
          <a:lstStyle/>
          <a:p>
            <a:pPr algn="ctr">
              <a:lnSpc>
                <a:spcPct val="100000"/>
              </a:lnSpc>
            </a:pPr>
            <a:r>
              <a:rPr lang="en-US" sz="1400" b="1" dirty="0">
                <a:solidFill>
                  <a:srgbClr val="2D5A4C"/>
                </a:solidFill>
                <a:latin typeface="Liter" pitchFamily="34" charset="0"/>
                <a:ea typeface="Liter" pitchFamily="34" charset="-122"/>
                <a:cs typeface="Liter" pitchFamily="34" charset="-120"/>
              </a:rPr>
              <a:t>STUDENT ENTITY WITH ATTRIBUTES</a:t>
            </a:r>
            <a:endParaRPr lang="en-US" sz="1600" dirty="0"/>
          </a:p>
        </p:txBody>
      </p:sp>
      <p:sp>
        <p:nvSpPr>
          <p:cNvPr id="7" name="Shape 5"/>
          <p:cNvSpPr/>
          <p:nvPr/>
        </p:nvSpPr>
        <p:spPr>
          <a:xfrm>
            <a:off x="11049000" y="1651000"/>
            <a:ext cx="1778000" cy="635000"/>
          </a:xfrm>
          <a:prstGeom prst="rect">
            <a:avLst/>
          </a:prstGeom>
          <a:solidFill>
            <a:srgbClr val="2D5A4C"/>
          </a:solidFill>
          <a:ln/>
        </p:spPr>
      </p:sp>
      <p:sp>
        <p:nvSpPr>
          <p:cNvPr id="8" name="Text 6"/>
          <p:cNvSpPr/>
          <p:nvPr/>
        </p:nvSpPr>
        <p:spPr>
          <a:xfrm>
            <a:off x="11049000" y="1651000"/>
            <a:ext cx="1778000" cy="635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STUDENT</a:t>
            </a:r>
            <a:endParaRPr lang="en-US" sz="1600" dirty="0"/>
          </a:p>
        </p:txBody>
      </p:sp>
      <p:sp>
        <p:nvSpPr>
          <p:cNvPr id="9" name="Shape 7"/>
          <p:cNvSpPr/>
          <p:nvPr/>
        </p:nvSpPr>
        <p:spPr>
          <a:xfrm>
            <a:off x="9398000" y="2540000"/>
            <a:ext cx="1270000" cy="508000"/>
          </a:xfrm>
          <a:prstGeom prst="ellipse">
            <a:avLst/>
          </a:prstGeom>
          <a:solidFill>
            <a:srgbClr val="D4943A"/>
          </a:solidFill>
          <a:ln/>
        </p:spPr>
      </p:sp>
      <p:sp>
        <p:nvSpPr>
          <p:cNvPr id="10" name="Text 8"/>
          <p:cNvSpPr/>
          <p:nvPr/>
        </p:nvSpPr>
        <p:spPr>
          <a:xfrm>
            <a:off x="9398000" y="2540000"/>
            <a:ext cx="1270000" cy="508000"/>
          </a:xfrm>
          <a:prstGeom prst="rect">
            <a:avLst/>
          </a:prstGeom>
          <a:noFill/>
          <a:ln/>
        </p:spPr>
        <p:txBody>
          <a:bodyPr wrap="none" lIns="0" tIns="0" rIns="0" bIns="0" rtlCol="0" anchor="ctr"/>
          <a:lstStyle/>
          <a:p>
            <a:pPr algn="ctr">
              <a:lnSpc>
                <a:spcPct val="100000"/>
              </a:lnSpc>
            </a:pPr>
            <a:r>
              <a:rPr lang="en-US" sz="1100" dirty="0">
                <a:solidFill>
                  <a:srgbClr val="FFFFFF"/>
                </a:solidFill>
                <a:latin typeface="Quattrocento Sans" pitchFamily="34" charset="0"/>
                <a:ea typeface="Quattrocento Sans" pitchFamily="34" charset="-122"/>
                <a:cs typeface="Quattrocento Sans" pitchFamily="34" charset="-120"/>
              </a:rPr>
              <a:t>Name</a:t>
            </a:r>
            <a:endParaRPr lang="en-US" sz="1600" dirty="0"/>
          </a:p>
        </p:txBody>
      </p:sp>
      <p:sp>
        <p:nvSpPr>
          <p:cNvPr id="11" name="Shape 9"/>
          <p:cNvSpPr/>
          <p:nvPr/>
        </p:nvSpPr>
        <p:spPr>
          <a:xfrm>
            <a:off x="10287000" y="2286000"/>
            <a:ext cx="762000" cy="254000"/>
          </a:xfrm>
          <a:prstGeom prst="straightConnector1">
            <a:avLst/>
          </a:prstGeom>
          <a:noFill/>
          <a:ln w="12700">
            <a:solidFill>
              <a:srgbClr val="2D5A4C"/>
            </a:solidFill>
            <a:prstDash val="solid"/>
            <a:headEnd type="none"/>
            <a:tailEnd type="none"/>
          </a:ln>
        </p:spPr>
      </p:sp>
      <p:sp>
        <p:nvSpPr>
          <p:cNvPr id="12" name="Shape 10"/>
          <p:cNvSpPr/>
          <p:nvPr/>
        </p:nvSpPr>
        <p:spPr>
          <a:xfrm>
            <a:off x="10922000" y="2540000"/>
            <a:ext cx="1270000" cy="508000"/>
          </a:xfrm>
          <a:prstGeom prst="ellipse">
            <a:avLst/>
          </a:prstGeom>
          <a:solidFill>
            <a:srgbClr val="D4943A"/>
          </a:solidFill>
          <a:ln/>
        </p:spPr>
      </p:sp>
      <p:sp>
        <p:nvSpPr>
          <p:cNvPr id="13" name="Text 11"/>
          <p:cNvSpPr/>
          <p:nvPr/>
        </p:nvSpPr>
        <p:spPr>
          <a:xfrm>
            <a:off x="10922000" y="2540000"/>
            <a:ext cx="1270000" cy="508000"/>
          </a:xfrm>
          <a:prstGeom prst="rect">
            <a:avLst/>
          </a:prstGeom>
          <a:noFill/>
          <a:ln/>
        </p:spPr>
        <p:txBody>
          <a:bodyPr wrap="none" lIns="0" tIns="0" rIns="0" bIns="0" rtlCol="0" anchor="ctr"/>
          <a:lstStyle/>
          <a:p>
            <a:pPr algn="ctr">
              <a:lnSpc>
                <a:spcPct val="100000"/>
              </a:lnSpc>
            </a:pPr>
            <a:r>
              <a:rPr lang="en-US" sz="1100" u="sng" dirty="0">
                <a:solidFill>
                  <a:srgbClr val="FFFFFF"/>
                </a:solidFill>
                <a:uFill>
                  <a:solidFill>
                    <a:srgbClr val="000000"/>
                  </a:solidFill>
                </a:uFill>
                <a:latin typeface="Quattrocento Sans" pitchFamily="34" charset="0"/>
                <a:ea typeface="Quattrocento Sans" pitchFamily="34" charset="-122"/>
                <a:cs typeface="Quattrocento Sans" pitchFamily="34" charset="-120"/>
              </a:rPr>
              <a:t>StudentID</a:t>
            </a:r>
            <a:endParaRPr lang="en-US" sz="1600" dirty="0"/>
          </a:p>
        </p:txBody>
      </p:sp>
      <p:sp>
        <p:nvSpPr>
          <p:cNvPr id="14" name="Shape 12"/>
          <p:cNvSpPr/>
          <p:nvPr/>
        </p:nvSpPr>
        <p:spPr>
          <a:xfrm>
            <a:off x="11557000" y="2286000"/>
            <a:ext cx="381000" cy="0"/>
          </a:xfrm>
          <a:prstGeom prst="straightConnector1">
            <a:avLst/>
          </a:prstGeom>
          <a:noFill/>
          <a:ln w="12700">
            <a:solidFill>
              <a:srgbClr val="2D5A4C"/>
            </a:solidFill>
            <a:prstDash val="solid"/>
            <a:headEnd type="none"/>
            <a:tailEnd type="none"/>
          </a:ln>
        </p:spPr>
      </p:sp>
      <p:sp>
        <p:nvSpPr>
          <p:cNvPr id="15" name="Shape 13"/>
          <p:cNvSpPr/>
          <p:nvPr/>
        </p:nvSpPr>
        <p:spPr>
          <a:xfrm>
            <a:off x="12446000" y="2540000"/>
            <a:ext cx="1270000" cy="508000"/>
          </a:xfrm>
          <a:prstGeom prst="ellipse">
            <a:avLst/>
          </a:prstGeom>
          <a:solidFill>
            <a:srgbClr val="D4943A"/>
          </a:solidFill>
          <a:ln/>
        </p:spPr>
      </p:sp>
      <p:sp>
        <p:nvSpPr>
          <p:cNvPr id="16" name="Text 14"/>
          <p:cNvSpPr/>
          <p:nvPr/>
        </p:nvSpPr>
        <p:spPr>
          <a:xfrm>
            <a:off x="12446000" y="2540000"/>
            <a:ext cx="1270000" cy="508000"/>
          </a:xfrm>
          <a:prstGeom prst="rect">
            <a:avLst/>
          </a:prstGeom>
          <a:noFill/>
          <a:ln/>
        </p:spPr>
        <p:txBody>
          <a:bodyPr wrap="none" lIns="0" tIns="0" rIns="0" bIns="0" rtlCol="0" anchor="ctr"/>
          <a:lstStyle/>
          <a:p>
            <a:pPr algn="ctr">
              <a:lnSpc>
                <a:spcPct val="100000"/>
              </a:lnSpc>
            </a:pPr>
            <a:r>
              <a:rPr lang="en-US" sz="1100" dirty="0">
                <a:solidFill>
                  <a:srgbClr val="FFFFFF"/>
                </a:solidFill>
                <a:latin typeface="Quattrocento Sans" pitchFamily="34" charset="0"/>
                <a:ea typeface="Quattrocento Sans" pitchFamily="34" charset="-122"/>
                <a:cs typeface="Quattrocento Sans" pitchFamily="34" charset="-120"/>
              </a:rPr>
              <a:t>Age</a:t>
            </a:r>
            <a:endParaRPr lang="en-US" sz="1600" dirty="0"/>
          </a:p>
        </p:txBody>
      </p:sp>
      <p:sp>
        <p:nvSpPr>
          <p:cNvPr id="17" name="Shape 15"/>
          <p:cNvSpPr/>
          <p:nvPr/>
        </p:nvSpPr>
        <p:spPr>
          <a:xfrm>
            <a:off x="12192000" y="2286000"/>
            <a:ext cx="254000" cy="254000"/>
          </a:xfrm>
          <a:prstGeom prst="straightConnector1">
            <a:avLst/>
          </a:prstGeom>
          <a:noFill/>
          <a:ln w="12700">
            <a:solidFill>
              <a:srgbClr val="2D5A4C"/>
            </a:solidFill>
            <a:prstDash val="solid"/>
            <a:headEnd type="none"/>
            <a:tailEnd type="none"/>
          </a:ln>
        </p:spPr>
      </p:sp>
      <p:sp>
        <p:nvSpPr>
          <p:cNvPr id="18" name="Shape 16"/>
          <p:cNvSpPr/>
          <p:nvPr/>
        </p:nvSpPr>
        <p:spPr>
          <a:xfrm>
            <a:off x="13843000" y="2540000"/>
            <a:ext cx="1270000" cy="508000"/>
          </a:xfrm>
          <a:prstGeom prst="ellipse">
            <a:avLst/>
          </a:prstGeom>
          <a:solidFill>
            <a:srgbClr val="D4943A"/>
          </a:solidFill>
          <a:ln/>
        </p:spPr>
      </p:sp>
      <p:sp>
        <p:nvSpPr>
          <p:cNvPr id="19" name="Text 17"/>
          <p:cNvSpPr/>
          <p:nvPr/>
        </p:nvSpPr>
        <p:spPr>
          <a:xfrm>
            <a:off x="13843000" y="2540000"/>
            <a:ext cx="1270000" cy="508000"/>
          </a:xfrm>
          <a:prstGeom prst="rect">
            <a:avLst/>
          </a:prstGeom>
          <a:noFill/>
          <a:ln/>
        </p:spPr>
        <p:txBody>
          <a:bodyPr wrap="none" lIns="0" tIns="0" rIns="0" bIns="0" rtlCol="0" anchor="ctr"/>
          <a:lstStyle/>
          <a:p>
            <a:pPr algn="ctr">
              <a:lnSpc>
                <a:spcPct val="100000"/>
              </a:lnSpc>
            </a:pPr>
            <a:r>
              <a:rPr lang="en-US" sz="1100" dirty="0">
                <a:solidFill>
                  <a:srgbClr val="FFFFFF"/>
                </a:solidFill>
                <a:latin typeface="Quattrocento Sans" pitchFamily="34" charset="0"/>
                <a:ea typeface="Quattrocento Sans" pitchFamily="34" charset="-122"/>
                <a:cs typeface="Quattrocento Sans" pitchFamily="34" charset="-120"/>
              </a:rPr>
              <a:t>Major</a:t>
            </a:r>
            <a:endParaRPr lang="en-US" sz="1600" dirty="0"/>
          </a:p>
        </p:txBody>
      </p:sp>
      <p:sp>
        <p:nvSpPr>
          <p:cNvPr id="20" name="Shape 18"/>
          <p:cNvSpPr/>
          <p:nvPr/>
        </p:nvSpPr>
        <p:spPr>
          <a:xfrm>
            <a:off x="12827000" y="2286000"/>
            <a:ext cx="1016000" cy="254000"/>
          </a:xfrm>
          <a:prstGeom prst="straightConnector1">
            <a:avLst/>
          </a:prstGeom>
          <a:noFill/>
          <a:ln w="12700">
            <a:solidFill>
              <a:srgbClr val="2D5A4C"/>
            </a:solidFill>
            <a:prstDash val="solid"/>
            <a:headEnd type="none"/>
            <a:tailEnd type="none"/>
          </a:ln>
        </p:spPr>
      </p:sp>
      <p:sp>
        <p:nvSpPr>
          <p:cNvPr id="21" name="Shape 19"/>
          <p:cNvSpPr/>
          <p:nvPr/>
        </p:nvSpPr>
        <p:spPr>
          <a:xfrm>
            <a:off x="11430000" y="3302000"/>
            <a:ext cx="1270000" cy="508000"/>
          </a:xfrm>
          <a:prstGeom prst="ellipse">
            <a:avLst/>
          </a:prstGeom>
          <a:solidFill>
            <a:srgbClr val="D4943A"/>
          </a:solidFill>
          <a:ln/>
        </p:spPr>
      </p:sp>
      <p:sp>
        <p:nvSpPr>
          <p:cNvPr id="22" name="Text 20"/>
          <p:cNvSpPr/>
          <p:nvPr/>
        </p:nvSpPr>
        <p:spPr>
          <a:xfrm>
            <a:off x="11430000" y="3302000"/>
            <a:ext cx="1270000" cy="508000"/>
          </a:xfrm>
          <a:prstGeom prst="rect">
            <a:avLst/>
          </a:prstGeom>
          <a:noFill/>
          <a:ln/>
        </p:spPr>
        <p:txBody>
          <a:bodyPr wrap="none" lIns="0" tIns="0" rIns="0" bIns="0" rtlCol="0" anchor="ctr"/>
          <a:lstStyle/>
          <a:p>
            <a:pPr algn="ctr">
              <a:lnSpc>
                <a:spcPct val="100000"/>
              </a:lnSpc>
            </a:pPr>
            <a:r>
              <a:rPr lang="en-US" sz="1100" dirty="0">
                <a:solidFill>
                  <a:srgbClr val="FFFFFF"/>
                </a:solidFill>
                <a:latin typeface="Quattrocento Sans" pitchFamily="34" charset="0"/>
                <a:ea typeface="Quattrocento Sans" pitchFamily="34" charset="-122"/>
                <a:cs typeface="Quattrocento Sans" pitchFamily="34" charset="-120"/>
              </a:rPr>
              <a:t>GPA</a:t>
            </a:r>
            <a:endParaRPr lang="en-US" sz="1600" dirty="0"/>
          </a:p>
        </p:txBody>
      </p:sp>
      <p:sp>
        <p:nvSpPr>
          <p:cNvPr id="23" name="Shape 21"/>
          <p:cNvSpPr/>
          <p:nvPr/>
        </p:nvSpPr>
        <p:spPr>
          <a:xfrm>
            <a:off x="12255500" y="2286000"/>
            <a:ext cx="0" cy="1016000"/>
          </a:xfrm>
          <a:prstGeom prst="straightConnector1">
            <a:avLst/>
          </a:prstGeom>
          <a:noFill/>
          <a:ln w="12700">
            <a:solidFill>
              <a:srgbClr val="2D5A4C"/>
            </a:solidFill>
            <a:prstDash val="solid"/>
            <a:headEnd type="none"/>
            <a:tailEnd type="none"/>
          </a:ln>
        </p:spPr>
      </p:sp>
      <p:sp>
        <p:nvSpPr>
          <p:cNvPr id="24" name="Text 22"/>
          <p:cNvSpPr/>
          <p:nvPr/>
        </p:nvSpPr>
        <p:spPr>
          <a:xfrm>
            <a:off x="9398000" y="4000500"/>
            <a:ext cx="5588000" cy="635000"/>
          </a:xfrm>
          <a:prstGeom prst="rect">
            <a:avLst/>
          </a:prstGeom>
          <a:noFill/>
          <a:ln/>
        </p:spPr>
        <p:txBody>
          <a:bodyPr wrap="square" lIns="0" tIns="0" rIns="0" bIns="0" rtlCol="0" anchor="t"/>
          <a:lstStyle/>
          <a:p>
            <a:pPr algn="ctr">
              <a:lnSpc>
                <a:spcPct val="140000"/>
              </a:lnSpc>
            </a:pPr>
            <a:r>
              <a:rPr lang="en-US" sz="1200" u="sng" dirty="0">
                <a:solidFill>
                  <a:srgbClr val="2C2C2C"/>
                </a:solidFill>
                <a:uFill>
                  <a:solidFill>
                    <a:srgbClr val="000000"/>
                  </a:solidFill>
                </a:uFill>
                <a:latin typeface="Quattrocento Sans" pitchFamily="34" charset="0"/>
                <a:ea typeface="Quattrocento Sans" pitchFamily="34" charset="-122"/>
                <a:cs typeface="Quattrocento Sans" pitchFamily="34" charset="-120"/>
              </a:rPr>
              <a:t>Underlined</a:t>
            </a:r>
            <a:pPr algn="ctr">
              <a:lnSpc>
                <a:spcPct val="140000"/>
              </a:lnSpc>
            </a:pPr>
            <a:r>
              <a:rPr lang="en-US" sz="1200" dirty="0">
                <a:solidFill>
                  <a:srgbClr val="2C2C2C"/>
                </a:solidFill>
                <a:latin typeface="Quattrocento Sans" pitchFamily="34" charset="0"/>
                <a:ea typeface="Quattrocento Sans" pitchFamily="34" charset="-122"/>
                <a:cs typeface="Quattrocento Sans" pitchFamily="34" charset="-120"/>
              </a:rPr>
              <a:t> = Primary Key (unique ID)</a:t>
            </a:r>
            <a:endParaRPr lang="en-US" sz="1600" dirty="0"/>
          </a:p>
          <a:p>
            <a:pPr algn="ctr">
              <a:lnSpc>
                <a:spcPct val="140000"/>
              </a:lnSpc>
            </a:pPr>
            <a:r>
              <a:rPr lang="en-US" sz="1200" dirty="0">
                <a:solidFill>
                  <a:srgbClr val="2C2C2C"/>
                </a:solidFill>
                <a:latin typeface="Quattrocento Sans" pitchFamily="34" charset="0"/>
                <a:ea typeface="Quattrocento Sans" pitchFamily="34" charset="-122"/>
                <a:cs typeface="Quattrocento Sans" pitchFamily="34" charset="-120"/>
              </a:rPr>
              <a:t>Ovals = Attributes describing the entity</a:t>
            </a:r>
            <a:endParaRPr lang="en-US" sz="1600" dirty="0"/>
          </a:p>
        </p:txBody>
      </p:sp>
      <p:sp>
        <p:nvSpPr>
          <p:cNvPr id="25" name="Shape 23"/>
          <p:cNvSpPr/>
          <p:nvPr/>
        </p:nvSpPr>
        <p:spPr>
          <a:xfrm>
            <a:off x="762000" y="5080000"/>
            <a:ext cx="14732000" cy="1016000"/>
          </a:xfrm>
          <a:prstGeom prst="roundRect">
            <a:avLst>
              <a:gd name="adj" fmla="val 6000"/>
            </a:avLst>
          </a:prstGeom>
          <a:solidFill>
            <a:srgbClr val="E8E2DA"/>
          </a:solidFill>
          <a:ln/>
        </p:spPr>
      </p:sp>
      <p:sp>
        <p:nvSpPr>
          <p:cNvPr id="26" name="Shape 24"/>
          <p:cNvSpPr/>
          <p:nvPr/>
        </p:nvSpPr>
        <p:spPr>
          <a:xfrm>
            <a:off x="1060450" y="5308600"/>
            <a:ext cx="266700" cy="355600"/>
          </a:xfrm>
          <a:custGeom>
            <a:avLst/>
            <a:gdLst/>
            <a:ahLst/>
            <a:cxnLst/>
            <a:rect l="l" t="t" r="r" b="b"/>
            <a:pathLst>
              <a:path w="266700" h="355600">
                <a:moveTo>
                  <a:pt x="203428" y="266700"/>
                </a:moveTo>
                <a:cubicBezTo>
                  <a:pt x="208498" y="251212"/>
                  <a:pt x="218638" y="237182"/>
                  <a:pt x="230098" y="225098"/>
                </a:cubicBezTo>
                <a:cubicBezTo>
                  <a:pt x="252809" y="201206"/>
                  <a:pt x="266700" y="168910"/>
                  <a:pt x="266700" y="133350"/>
                </a:cubicBezTo>
                <a:cubicBezTo>
                  <a:pt x="266700" y="59730"/>
                  <a:pt x="206970" y="0"/>
                  <a:pt x="133350" y="0"/>
                </a:cubicBezTo>
                <a:cubicBezTo>
                  <a:pt x="59730" y="0"/>
                  <a:pt x="0" y="59730"/>
                  <a:pt x="0" y="133350"/>
                </a:cubicBezTo>
                <a:cubicBezTo>
                  <a:pt x="0" y="168910"/>
                  <a:pt x="13891" y="201206"/>
                  <a:pt x="36602" y="225098"/>
                </a:cubicBezTo>
                <a:cubicBezTo>
                  <a:pt x="48062" y="237182"/>
                  <a:pt x="58271" y="251212"/>
                  <a:pt x="63272" y="266700"/>
                </a:cubicBezTo>
                <a:lnTo>
                  <a:pt x="203359" y="266700"/>
                </a:lnTo>
                <a:close/>
                <a:moveTo>
                  <a:pt x="200025" y="300038"/>
                </a:moveTo>
                <a:lnTo>
                  <a:pt x="66675" y="300038"/>
                </a:lnTo>
                <a:lnTo>
                  <a:pt x="66675" y="311150"/>
                </a:lnTo>
                <a:cubicBezTo>
                  <a:pt x="66675" y="341848"/>
                  <a:pt x="91539" y="366712"/>
                  <a:pt x="122238" y="366712"/>
                </a:cubicBezTo>
                <a:lnTo>
                  <a:pt x="144463" y="366712"/>
                </a:lnTo>
                <a:cubicBezTo>
                  <a:pt x="175161" y="366712"/>
                  <a:pt x="200025" y="341848"/>
                  <a:pt x="200025" y="311150"/>
                </a:cubicBezTo>
                <a:lnTo>
                  <a:pt x="200025" y="300038"/>
                </a:lnTo>
                <a:close/>
                <a:moveTo>
                  <a:pt x="127794" y="77788"/>
                </a:moveTo>
                <a:cubicBezTo>
                  <a:pt x="100151" y="77788"/>
                  <a:pt x="77788" y="100151"/>
                  <a:pt x="77788" y="127794"/>
                </a:cubicBezTo>
                <a:cubicBezTo>
                  <a:pt x="77788" y="137031"/>
                  <a:pt x="70356" y="144463"/>
                  <a:pt x="61119" y="144463"/>
                </a:cubicBezTo>
                <a:cubicBezTo>
                  <a:pt x="51881" y="144463"/>
                  <a:pt x="44450" y="137031"/>
                  <a:pt x="44450" y="127794"/>
                </a:cubicBezTo>
                <a:cubicBezTo>
                  <a:pt x="44450" y="81746"/>
                  <a:pt x="81746" y="44450"/>
                  <a:pt x="127794" y="44450"/>
                </a:cubicBezTo>
                <a:cubicBezTo>
                  <a:pt x="137031" y="44450"/>
                  <a:pt x="144463" y="51881"/>
                  <a:pt x="144463" y="61119"/>
                </a:cubicBezTo>
                <a:cubicBezTo>
                  <a:pt x="144463" y="70356"/>
                  <a:pt x="137031" y="77788"/>
                  <a:pt x="127794" y="77788"/>
                </a:cubicBezTo>
                <a:close/>
              </a:path>
            </a:pathLst>
          </a:custGeom>
          <a:solidFill>
            <a:srgbClr val="D4943A"/>
          </a:solidFill>
          <a:ln/>
        </p:spPr>
      </p:sp>
      <p:sp>
        <p:nvSpPr>
          <p:cNvPr id="27" name="Text 25"/>
          <p:cNvSpPr/>
          <p:nvPr/>
        </p:nvSpPr>
        <p:spPr>
          <a:xfrm>
            <a:off x="1498600" y="5143500"/>
            <a:ext cx="2540000" cy="304800"/>
          </a:xfrm>
          <a:prstGeom prst="rect">
            <a:avLst/>
          </a:prstGeom>
          <a:noFill/>
          <a:ln/>
        </p:spPr>
        <p:txBody>
          <a:bodyPr wrap="none" lIns="0" tIns="0" rIns="0" bIns="0" rtlCol="0" anchor="ctr"/>
          <a:lstStyle/>
          <a:p>
            <a:pPr>
              <a:lnSpc>
                <a:spcPct val="100000"/>
              </a:lnSpc>
            </a:pPr>
            <a:r>
              <a:rPr lang="en-US" sz="1400" b="1" dirty="0">
                <a:solidFill>
                  <a:srgbClr val="2D5A4C"/>
                </a:solidFill>
                <a:latin typeface="Liter" pitchFamily="34" charset="0"/>
                <a:ea typeface="Liter" pitchFamily="34" charset="-122"/>
                <a:cs typeface="Liter" pitchFamily="34" charset="-120"/>
              </a:rPr>
              <a:t>EXPLANATION</a:t>
            </a:r>
            <a:endParaRPr lang="en-US" sz="1600" dirty="0"/>
          </a:p>
        </p:txBody>
      </p:sp>
      <p:sp>
        <p:nvSpPr>
          <p:cNvPr id="28" name="Text 26"/>
          <p:cNvSpPr/>
          <p:nvPr/>
        </p:nvSpPr>
        <p:spPr>
          <a:xfrm>
            <a:off x="1498600" y="5486400"/>
            <a:ext cx="13716000" cy="6096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If an entity is a noun, then attributes are the adjectives that describe it. When you fill out a form, every field is an attribute. Your name, birth date, and phone number are all attributes.</a:t>
            </a:r>
            <a:endParaRPr lang="en-US" sz="1600" dirty="0"/>
          </a:p>
        </p:txBody>
      </p:sp>
      <p:sp>
        <p:nvSpPr>
          <p:cNvPr id="29" name="Shape 27"/>
          <p:cNvSpPr/>
          <p:nvPr/>
        </p:nvSpPr>
        <p:spPr>
          <a:xfrm>
            <a:off x="762000" y="6350000"/>
            <a:ext cx="14732000" cy="1270000"/>
          </a:xfrm>
          <a:prstGeom prst="roundRect">
            <a:avLst>
              <a:gd name="adj" fmla="val 6000"/>
            </a:avLst>
          </a:prstGeom>
          <a:solidFill>
            <a:srgbClr val="D4943A">
              <a:alpha val="8235"/>
            </a:srgbClr>
          </a:solidFill>
          <a:ln/>
        </p:spPr>
      </p:sp>
      <p:sp>
        <p:nvSpPr>
          <p:cNvPr id="30" name="Shape 28"/>
          <p:cNvSpPr/>
          <p:nvPr/>
        </p:nvSpPr>
        <p:spPr>
          <a:xfrm>
            <a:off x="1016000" y="6477000"/>
            <a:ext cx="304800" cy="304800"/>
          </a:xfrm>
          <a:custGeom>
            <a:avLst/>
            <a:gdLst/>
            <a:ahLst/>
            <a:cxnLst/>
            <a:rect l="l" t="t" r="r" b="b"/>
            <a:pathLst>
              <a:path w="304800" h="304800">
                <a:moveTo>
                  <a:pt x="209490" y="166688"/>
                </a:moveTo>
                <a:lnTo>
                  <a:pt x="95845" y="166688"/>
                </a:lnTo>
                <a:cubicBezTo>
                  <a:pt x="97572" y="205085"/>
                  <a:pt x="106085" y="240447"/>
                  <a:pt x="118170" y="266343"/>
                </a:cubicBezTo>
                <a:cubicBezTo>
                  <a:pt x="124956" y="280928"/>
                  <a:pt x="132278" y="291227"/>
                  <a:pt x="139065" y="297537"/>
                </a:cubicBezTo>
                <a:cubicBezTo>
                  <a:pt x="145733" y="303788"/>
                  <a:pt x="150316" y="304800"/>
                  <a:pt x="152698" y="304800"/>
                </a:cubicBezTo>
                <a:cubicBezTo>
                  <a:pt x="155079" y="304800"/>
                  <a:pt x="159663" y="303788"/>
                  <a:pt x="166330" y="297537"/>
                </a:cubicBezTo>
                <a:cubicBezTo>
                  <a:pt x="173117" y="291227"/>
                  <a:pt x="180439" y="280868"/>
                  <a:pt x="187226" y="266343"/>
                </a:cubicBezTo>
                <a:cubicBezTo>
                  <a:pt x="199311" y="240447"/>
                  <a:pt x="207824" y="205085"/>
                  <a:pt x="209550" y="166688"/>
                </a:cubicBezTo>
                <a:close/>
                <a:moveTo>
                  <a:pt x="95786" y="138113"/>
                </a:moveTo>
                <a:lnTo>
                  <a:pt x="209431" y="138113"/>
                </a:lnTo>
                <a:cubicBezTo>
                  <a:pt x="207764" y="99715"/>
                  <a:pt x="199251" y="64353"/>
                  <a:pt x="187166" y="38457"/>
                </a:cubicBezTo>
                <a:cubicBezTo>
                  <a:pt x="180380" y="23932"/>
                  <a:pt x="173057" y="13573"/>
                  <a:pt x="166271" y="7263"/>
                </a:cubicBezTo>
                <a:cubicBezTo>
                  <a:pt x="159603" y="1012"/>
                  <a:pt x="155019" y="0"/>
                  <a:pt x="152638" y="0"/>
                </a:cubicBezTo>
                <a:cubicBezTo>
                  <a:pt x="150257" y="0"/>
                  <a:pt x="145673" y="1012"/>
                  <a:pt x="139005" y="7263"/>
                </a:cubicBezTo>
                <a:cubicBezTo>
                  <a:pt x="132219" y="13573"/>
                  <a:pt x="124897" y="23932"/>
                  <a:pt x="118110" y="38457"/>
                </a:cubicBezTo>
                <a:cubicBezTo>
                  <a:pt x="106025" y="64353"/>
                  <a:pt x="97512" y="99715"/>
                  <a:pt x="95786" y="138113"/>
                </a:cubicBezTo>
                <a:close/>
                <a:moveTo>
                  <a:pt x="67211" y="138113"/>
                </a:moveTo>
                <a:cubicBezTo>
                  <a:pt x="69294" y="87154"/>
                  <a:pt x="82451" y="39826"/>
                  <a:pt x="101679" y="8751"/>
                </a:cubicBezTo>
                <a:cubicBezTo>
                  <a:pt x="46851" y="28158"/>
                  <a:pt x="6489" y="78105"/>
                  <a:pt x="893" y="138113"/>
                </a:cubicBezTo>
                <a:lnTo>
                  <a:pt x="67211" y="138113"/>
                </a:lnTo>
                <a:close/>
                <a:moveTo>
                  <a:pt x="893" y="166688"/>
                </a:moveTo>
                <a:cubicBezTo>
                  <a:pt x="6489" y="226695"/>
                  <a:pt x="46851" y="276642"/>
                  <a:pt x="101679" y="296049"/>
                </a:cubicBezTo>
                <a:cubicBezTo>
                  <a:pt x="82451" y="264974"/>
                  <a:pt x="69294" y="217646"/>
                  <a:pt x="67211" y="166688"/>
                </a:cubicBezTo>
                <a:lnTo>
                  <a:pt x="893" y="166688"/>
                </a:lnTo>
                <a:close/>
                <a:moveTo>
                  <a:pt x="238065" y="166688"/>
                </a:moveTo>
                <a:cubicBezTo>
                  <a:pt x="235982" y="217646"/>
                  <a:pt x="222825" y="264974"/>
                  <a:pt x="203597" y="296049"/>
                </a:cubicBezTo>
                <a:cubicBezTo>
                  <a:pt x="258425" y="276582"/>
                  <a:pt x="298787" y="226695"/>
                  <a:pt x="304383" y="166688"/>
                </a:cubicBezTo>
                <a:lnTo>
                  <a:pt x="238065" y="166688"/>
                </a:lnTo>
                <a:close/>
                <a:moveTo>
                  <a:pt x="304383" y="138113"/>
                </a:moveTo>
                <a:cubicBezTo>
                  <a:pt x="298787" y="78105"/>
                  <a:pt x="258425" y="28158"/>
                  <a:pt x="203597" y="8751"/>
                </a:cubicBezTo>
                <a:cubicBezTo>
                  <a:pt x="222825" y="39826"/>
                  <a:pt x="235982" y="87154"/>
                  <a:pt x="238065" y="138113"/>
                </a:cubicBezTo>
                <a:lnTo>
                  <a:pt x="304383" y="138113"/>
                </a:lnTo>
                <a:close/>
              </a:path>
            </a:pathLst>
          </a:custGeom>
          <a:solidFill>
            <a:srgbClr val="D4943A"/>
          </a:solidFill>
          <a:ln/>
        </p:spPr>
      </p:sp>
      <p:sp>
        <p:nvSpPr>
          <p:cNvPr id="31" name="Text 29"/>
          <p:cNvSpPr/>
          <p:nvPr/>
        </p:nvSpPr>
        <p:spPr>
          <a:xfrm>
            <a:off x="1422400" y="6438900"/>
            <a:ext cx="3175000" cy="304800"/>
          </a:xfrm>
          <a:prstGeom prst="rect">
            <a:avLst/>
          </a:prstGeom>
          <a:noFill/>
          <a:ln/>
        </p:spPr>
        <p:txBody>
          <a:bodyPr wrap="none" lIns="0" tIns="0" rIns="0" bIns="0" rtlCol="0" anchor="ctr"/>
          <a:lstStyle/>
          <a:p>
            <a:pPr>
              <a:lnSpc>
                <a:spcPct val="100000"/>
              </a:lnSpc>
            </a:pPr>
            <a:r>
              <a:rPr lang="en-US" sz="1400" b="1" dirty="0">
                <a:solidFill>
                  <a:srgbClr val="D4943A"/>
                </a:solidFill>
                <a:latin typeface="Liter" pitchFamily="34" charset="0"/>
                <a:ea typeface="Liter" pitchFamily="34" charset="-122"/>
                <a:cs typeface="Liter" pitchFamily="34" charset="-120"/>
              </a:rPr>
              <a:t>REAL-WORLD EXAMPLE</a:t>
            </a:r>
            <a:endParaRPr lang="en-US" sz="1600" dirty="0"/>
          </a:p>
        </p:txBody>
      </p:sp>
      <p:sp>
        <p:nvSpPr>
          <p:cNvPr id="32" name="Text 30"/>
          <p:cNvSpPr/>
          <p:nvPr/>
        </p:nvSpPr>
        <p:spPr>
          <a:xfrm>
            <a:off x="1016000" y="6832600"/>
            <a:ext cx="14224000" cy="6604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A Product entity in an online store has attributes like Product Name, Price, Description, Category, Stock Quantity, and Image URL — all describing the product.</a:t>
            </a:r>
            <a:endParaRPr lang="en-US" sz="1600" dirty="0"/>
          </a:p>
        </p:txBody>
      </p:sp>
      <p:sp>
        <p:nvSpPr>
          <p:cNvPr id="33" name="Shape 31"/>
          <p:cNvSpPr/>
          <p:nvPr/>
        </p:nvSpPr>
        <p:spPr>
          <a:xfrm>
            <a:off x="762000" y="7874000"/>
            <a:ext cx="14732000" cy="635000"/>
          </a:xfrm>
          <a:prstGeom prst="roundRect">
            <a:avLst>
              <a:gd name="adj" fmla="val 6000"/>
            </a:avLst>
          </a:prstGeom>
          <a:solidFill>
            <a:srgbClr val="2D5A4C">
              <a:alpha val="8235"/>
            </a:srgbClr>
          </a:solidFill>
          <a:ln/>
        </p:spPr>
      </p:sp>
      <p:sp>
        <p:nvSpPr>
          <p:cNvPr id="34" name="Shape 32"/>
          <p:cNvSpPr/>
          <p:nvPr/>
        </p:nvSpPr>
        <p:spPr>
          <a:xfrm>
            <a:off x="1016000" y="8026400"/>
            <a:ext cx="254000" cy="254000"/>
          </a:xfrm>
          <a:custGeom>
            <a:avLst/>
            <a:gdLst/>
            <a:ahLst/>
            <a:cxnLst/>
            <a:rect l="l" t="t" r="r" b="b"/>
            <a:pathLst>
              <a:path w="254000" h="254000">
                <a:moveTo>
                  <a:pt x="175071" y="10517"/>
                </a:moveTo>
                <a:lnTo>
                  <a:pt x="152797" y="32792"/>
                </a:lnTo>
                <a:lnTo>
                  <a:pt x="221208" y="101203"/>
                </a:lnTo>
                <a:lnTo>
                  <a:pt x="243483" y="78929"/>
                </a:lnTo>
                <a:cubicBezTo>
                  <a:pt x="250230" y="72231"/>
                  <a:pt x="254000" y="63103"/>
                  <a:pt x="254000" y="53578"/>
                </a:cubicBezTo>
                <a:cubicBezTo>
                  <a:pt x="254000" y="44053"/>
                  <a:pt x="250230" y="34925"/>
                  <a:pt x="243483" y="28228"/>
                </a:cubicBezTo>
                <a:lnTo>
                  <a:pt x="225772" y="10517"/>
                </a:lnTo>
                <a:cubicBezTo>
                  <a:pt x="219075" y="3770"/>
                  <a:pt x="209947" y="0"/>
                  <a:pt x="200422" y="0"/>
                </a:cubicBezTo>
                <a:cubicBezTo>
                  <a:pt x="190897" y="0"/>
                  <a:pt x="181769" y="3770"/>
                  <a:pt x="175071" y="10517"/>
                </a:cubicBezTo>
                <a:close/>
                <a:moveTo>
                  <a:pt x="135979" y="49609"/>
                </a:moveTo>
                <a:lnTo>
                  <a:pt x="29220" y="156319"/>
                </a:lnTo>
                <a:cubicBezTo>
                  <a:pt x="23912" y="161627"/>
                  <a:pt x="20042" y="168275"/>
                  <a:pt x="18008" y="175518"/>
                </a:cubicBezTo>
                <a:lnTo>
                  <a:pt x="446" y="238919"/>
                </a:lnTo>
                <a:cubicBezTo>
                  <a:pt x="-695" y="243036"/>
                  <a:pt x="446" y="247501"/>
                  <a:pt x="3522" y="250527"/>
                </a:cubicBezTo>
                <a:cubicBezTo>
                  <a:pt x="6598" y="253554"/>
                  <a:pt x="11013" y="254744"/>
                  <a:pt x="15131" y="253603"/>
                </a:cubicBezTo>
                <a:lnTo>
                  <a:pt x="78532" y="235992"/>
                </a:lnTo>
                <a:cubicBezTo>
                  <a:pt x="85775" y="233958"/>
                  <a:pt x="92373" y="230138"/>
                  <a:pt x="97730" y="224780"/>
                </a:cubicBezTo>
                <a:lnTo>
                  <a:pt x="204391" y="118021"/>
                </a:lnTo>
                <a:lnTo>
                  <a:pt x="135979" y="49609"/>
                </a:lnTo>
                <a:close/>
              </a:path>
            </a:pathLst>
          </a:custGeom>
          <a:solidFill>
            <a:srgbClr val="2D5A4C"/>
          </a:solidFill>
          <a:ln/>
        </p:spPr>
      </p:sp>
      <p:sp>
        <p:nvSpPr>
          <p:cNvPr id="35" name="Text 33"/>
          <p:cNvSpPr/>
          <p:nvPr/>
        </p:nvSpPr>
        <p:spPr>
          <a:xfrm>
            <a:off x="1371600" y="7937500"/>
            <a:ext cx="13970000" cy="508000"/>
          </a:xfrm>
          <a:prstGeom prst="rect">
            <a:avLst/>
          </a:prstGeom>
          <a:noFill/>
          <a:ln/>
        </p:spPr>
        <p:txBody>
          <a:bodyPr wrap="square" lIns="0" tIns="0" rIns="0" bIns="0" rtlCol="0" anchor="ctr"/>
          <a:lstStyle/>
          <a:p>
            <a:pPr>
              <a:lnSpc>
                <a:spcPct val="140000"/>
              </a:lnSpc>
            </a:pPr>
            <a:r>
              <a:rPr lang="en-US" sz="1400" b="1" dirty="0">
                <a:solidFill>
                  <a:srgbClr val="2D5A4C"/>
                </a:solidFill>
                <a:latin typeface="Quattrocento Sans" pitchFamily="34" charset="0"/>
                <a:ea typeface="Quattrocento Sans" pitchFamily="34" charset="-122"/>
                <a:cs typeface="Quattrocento Sans" pitchFamily="34" charset="-120"/>
              </a:rPr>
              <a:t>Practice:</a:t>
            </a:r>
            <a:pPr>
              <a:lnSpc>
                <a:spcPct val="140000"/>
              </a:lnSpc>
            </a:pPr>
            <a:r>
              <a:rPr lang="en-US" sz="1400" dirty="0">
                <a:solidFill>
                  <a:srgbClr val="2D5A4C"/>
                </a:solidFill>
                <a:latin typeface="Quattrocento Sans" pitchFamily="34" charset="0"/>
                <a:ea typeface="Quattrocento Sans" pitchFamily="34" charset="-122"/>
                <a:cs typeface="Quattrocento Sans" pitchFamily="34" charset="-120"/>
              </a:rPr>
              <a:t> List five attributes you would track for a "Car" entity in a rental database.</a:t>
            </a:r>
            <a:endParaRPr lang="en-US" sz="1600" dirty="0"/>
          </a:p>
        </p:txBody>
      </p:sp>
      <p:sp>
        <p:nvSpPr>
          <p:cNvPr id="36" name="Text 34"/>
          <p:cNvSpPr/>
          <p:nvPr/>
        </p:nvSpPr>
        <p:spPr>
          <a:xfrm>
            <a:off x="13462000" y="8788400"/>
            <a:ext cx="2286000" cy="254000"/>
          </a:xfrm>
          <a:prstGeom prst="rect">
            <a:avLst/>
          </a:prstGeom>
          <a:noFill/>
          <a:ln/>
        </p:spPr>
        <p:txBody>
          <a:bodyPr wrap="none" lIns="0" tIns="0" rIns="0" bIns="0" rtlCol="0" anchor="ctr"/>
          <a:lstStyle/>
          <a:p>
            <a:pPr algn="r">
              <a:lnSpc>
                <a:spcPct val="140000"/>
              </a:lnSpc>
            </a:pPr>
            <a:r>
              <a:rPr lang="en-US" sz="1400" dirty="0">
                <a:solidFill>
                  <a:srgbClr val="8B7355"/>
                </a:solidFill>
                <a:latin typeface="QuattrocentoSans" pitchFamily="34" charset="0"/>
                <a:ea typeface="QuattrocentoSans" pitchFamily="34" charset="-122"/>
                <a:cs typeface="QuattrocentoSans" pitchFamily="34" charset="-120"/>
              </a:rPr>
              <a:t>Attributes and Keys</a:t>
            </a:r>
            <a:endParaRPr lang="en-US" sz="1400" dirty="0"/>
          </a:p>
        </p:txBody>
      </p:sp>
    </p:spTree>
  </p:cSld>
  <p:clrMapOvr>
    <a:masterClrMapping/>
  </p:clrMapOvr>
  <p:transition>
    <p:fade/>
    <p:spd val="med"/>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D4943A"/>
          </a:solidFill>
          <a:ln/>
        </p:spPr>
      </p:sp>
      <p:sp>
        <p:nvSpPr>
          <p:cNvPr id="3" name="Text 1"/>
          <p:cNvSpPr/>
          <p:nvPr/>
        </p:nvSpPr>
        <p:spPr>
          <a:xfrm>
            <a:off x="762000" y="381000"/>
            <a:ext cx="10160000" cy="508000"/>
          </a:xfrm>
          <a:prstGeom prst="rect">
            <a:avLst/>
          </a:prstGeom>
          <a:noFill/>
          <a:ln/>
        </p:spPr>
        <p:txBody>
          <a:bodyPr wrap="none" lIns="0" tIns="0" rIns="0" bIns="0" rtlCol="0" anchor="ctr"/>
          <a:lstStyle/>
          <a:p>
            <a:pPr>
              <a:lnSpc>
                <a:spcPct val="130000"/>
              </a:lnSpc>
            </a:pPr>
            <a:r>
              <a:rPr lang="en-US" sz="2800" dirty="0">
                <a:solidFill>
                  <a:srgbClr val="2D5A4C"/>
                </a:solidFill>
                <a:latin typeface="Liter" pitchFamily="34" charset="0"/>
                <a:ea typeface="Liter" pitchFamily="34" charset="-122"/>
                <a:cs typeface="Liter" pitchFamily="34" charset="-120"/>
              </a:rPr>
              <a:t>Types of Attributes</a:t>
            </a:r>
            <a:endParaRPr lang="en-US" sz="2800" dirty="0"/>
          </a:p>
        </p:txBody>
      </p:sp>
      <p:sp>
        <p:nvSpPr>
          <p:cNvPr id="4" name="Shape 2"/>
          <p:cNvSpPr/>
          <p:nvPr/>
        </p:nvSpPr>
        <p:spPr>
          <a:xfrm>
            <a:off x="762000" y="1117600"/>
            <a:ext cx="7175500" cy="1460500"/>
          </a:xfrm>
          <a:prstGeom prst="roundRect">
            <a:avLst>
              <a:gd name="adj" fmla="val 6000"/>
            </a:avLst>
          </a:prstGeom>
          <a:solidFill>
            <a:srgbClr val="FFFFFF"/>
          </a:solidFill>
          <a:ln/>
          <a:effectLst>
            <a:outerShdw sx="100000" sy="100000" kx="0" ky="0" algn="bl" rotWithShape="0" blurRad="76200" dist="25400" dir="5400000">
              <a:srgbClr val="000000">
                <a:alpha val="3137"/>
              </a:srgbClr>
            </a:outerShdw>
          </a:effectLst>
        </p:spPr>
      </p:sp>
      <p:sp>
        <p:nvSpPr>
          <p:cNvPr id="5" name="Shape 3"/>
          <p:cNvSpPr/>
          <p:nvPr/>
        </p:nvSpPr>
        <p:spPr>
          <a:xfrm>
            <a:off x="952500" y="1270000"/>
            <a:ext cx="1397000" cy="330200"/>
          </a:xfrm>
          <a:prstGeom prst="roundRect">
            <a:avLst>
              <a:gd name="adj" fmla="val 12000"/>
            </a:avLst>
          </a:prstGeom>
          <a:solidFill>
            <a:srgbClr val="2D5A4C"/>
          </a:solidFill>
          <a:ln/>
        </p:spPr>
      </p:sp>
      <p:sp>
        <p:nvSpPr>
          <p:cNvPr id="6" name="Text 4"/>
          <p:cNvSpPr/>
          <p:nvPr/>
        </p:nvSpPr>
        <p:spPr>
          <a:xfrm>
            <a:off x="952500" y="1270000"/>
            <a:ext cx="1397000" cy="3302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Simple</a:t>
            </a:r>
            <a:endParaRPr lang="en-US" sz="1600" dirty="0"/>
          </a:p>
        </p:txBody>
      </p:sp>
      <p:sp>
        <p:nvSpPr>
          <p:cNvPr id="7" name="Text 5"/>
          <p:cNvSpPr/>
          <p:nvPr/>
        </p:nvSpPr>
        <p:spPr>
          <a:xfrm>
            <a:off x="952500" y="1676400"/>
            <a:ext cx="6794500" cy="7620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Cannot be divided further. Examples: </a:t>
            </a:r>
            <a:pPr>
              <a:lnSpc>
                <a:spcPct val="140000"/>
              </a:lnSpc>
            </a:pPr>
            <a:r>
              <a:rPr lang="en-US" sz="1400" b="1" dirty="0">
                <a:solidFill>
                  <a:srgbClr val="2C2C2C"/>
                </a:solidFill>
                <a:latin typeface="Quattrocento Sans" pitchFamily="34" charset="0"/>
                <a:ea typeface="Quattrocento Sans" pitchFamily="34" charset="-122"/>
                <a:cs typeface="Quattrocento Sans" pitchFamily="34" charset="-120"/>
              </a:rPr>
              <a:t>Age, Salary, Color</a:t>
            </a:r>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 These are atomic — they have no sub-parts.</a:t>
            </a:r>
            <a:endParaRPr lang="en-US" sz="1600" dirty="0"/>
          </a:p>
        </p:txBody>
      </p:sp>
      <p:sp>
        <p:nvSpPr>
          <p:cNvPr id="8" name="Shape 6"/>
          <p:cNvSpPr/>
          <p:nvPr/>
        </p:nvSpPr>
        <p:spPr>
          <a:xfrm>
            <a:off x="8318500" y="1117600"/>
            <a:ext cx="7175500" cy="1460500"/>
          </a:xfrm>
          <a:prstGeom prst="roundRect">
            <a:avLst>
              <a:gd name="adj" fmla="val 6000"/>
            </a:avLst>
          </a:prstGeom>
          <a:solidFill>
            <a:srgbClr val="FFFFFF"/>
          </a:solidFill>
          <a:ln/>
          <a:effectLst>
            <a:outerShdw sx="100000" sy="100000" kx="0" ky="0" algn="bl" rotWithShape="0" blurRad="76200" dist="25400" dir="5400000">
              <a:srgbClr val="000000">
                <a:alpha val="3137"/>
              </a:srgbClr>
            </a:outerShdw>
          </a:effectLst>
        </p:spPr>
      </p:sp>
      <p:sp>
        <p:nvSpPr>
          <p:cNvPr id="9" name="Shape 7"/>
          <p:cNvSpPr/>
          <p:nvPr/>
        </p:nvSpPr>
        <p:spPr>
          <a:xfrm>
            <a:off x="8509000" y="1270000"/>
            <a:ext cx="1397000" cy="330200"/>
          </a:xfrm>
          <a:prstGeom prst="roundRect">
            <a:avLst>
              <a:gd name="adj" fmla="val 12000"/>
            </a:avLst>
          </a:prstGeom>
          <a:solidFill>
            <a:srgbClr val="D4943A"/>
          </a:solidFill>
          <a:ln/>
        </p:spPr>
      </p:sp>
      <p:sp>
        <p:nvSpPr>
          <p:cNvPr id="10" name="Text 8"/>
          <p:cNvSpPr/>
          <p:nvPr/>
        </p:nvSpPr>
        <p:spPr>
          <a:xfrm>
            <a:off x="8509000" y="1270000"/>
            <a:ext cx="1397000" cy="3302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Composite</a:t>
            </a:r>
            <a:endParaRPr lang="en-US" sz="1600" dirty="0"/>
          </a:p>
        </p:txBody>
      </p:sp>
      <p:sp>
        <p:nvSpPr>
          <p:cNvPr id="11" name="Text 9"/>
          <p:cNvSpPr/>
          <p:nvPr/>
        </p:nvSpPr>
        <p:spPr>
          <a:xfrm>
            <a:off x="8509000" y="1676400"/>
            <a:ext cx="6794500" cy="7620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Can be broken into smaller parts. Example: </a:t>
            </a:r>
            <a:pPr>
              <a:lnSpc>
                <a:spcPct val="140000"/>
              </a:lnSpc>
            </a:pPr>
            <a:r>
              <a:rPr lang="en-US" sz="1400" b="1" dirty="0">
                <a:solidFill>
                  <a:srgbClr val="2C2C2C"/>
                </a:solidFill>
                <a:latin typeface="Quattrocento Sans" pitchFamily="34" charset="0"/>
                <a:ea typeface="Quattrocento Sans" pitchFamily="34" charset="-122"/>
                <a:cs typeface="Quattrocento Sans" pitchFamily="34" charset="-120"/>
              </a:rPr>
              <a:t>Name = First + Last</a:t>
            </a:r>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 Address = Street + City + Zip.</a:t>
            </a:r>
            <a:endParaRPr lang="en-US" sz="1600" dirty="0"/>
          </a:p>
        </p:txBody>
      </p:sp>
      <p:sp>
        <p:nvSpPr>
          <p:cNvPr id="12" name="Shape 10"/>
          <p:cNvSpPr/>
          <p:nvPr/>
        </p:nvSpPr>
        <p:spPr>
          <a:xfrm>
            <a:off x="762000" y="2768600"/>
            <a:ext cx="7175500" cy="1460500"/>
          </a:xfrm>
          <a:prstGeom prst="roundRect">
            <a:avLst>
              <a:gd name="adj" fmla="val 6000"/>
            </a:avLst>
          </a:prstGeom>
          <a:solidFill>
            <a:srgbClr val="FFFFFF"/>
          </a:solidFill>
          <a:ln/>
          <a:effectLst>
            <a:outerShdw sx="100000" sy="100000" kx="0" ky="0" algn="bl" rotWithShape="0" blurRad="76200" dist="25400" dir="5400000">
              <a:srgbClr val="000000">
                <a:alpha val="3137"/>
              </a:srgbClr>
            </a:outerShdw>
          </a:effectLst>
        </p:spPr>
      </p:sp>
      <p:sp>
        <p:nvSpPr>
          <p:cNvPr id="13" name="Shape 11"/>
          <p:cNvSpPr/>
          <p:nvPr/>
        </p:nvSpPr>
        <p:spPr>
          <a:xfrm>
            <a:off x="952500" y="2921000"/>
            <a:ext cx="1778000" cy="330200"/>
          </a:xfrm>
          <a:prstGeom prst="roundRect">
            <a:avLst>
              <a:gd name="adj" fmla="val 12000"/>
            </a:avLst>
          </a:prstGeom>
          <a:solidFill>
            <a:srgbClr val="2D5A4C"/>
          </a:solidFill>
          <a:ln/>
        </p:spPr>
      </p:sp>
      <p:sp>
        <p:nvSpPr>
          <p:cNvPr id="14" name="Text 12"/>
          <p:cNvSpPr/>
          <p:nvPr/>
        </p:nvSpPr>
        <p:spPr>
          <a:xfrm>
            <a:off x="952500" y="2921000"/>
            <a:ext cx="1778000" cy="3302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Single-Valued</a:t>
            </a:r>
            <a:endParaRPr lang="en-US" sz="1600" dirty="0"/>
          </a:p>
        </p:txBody>
      </p:sp>
      <p:sp>
        <p:nvSpPr>
          <p:cNvPr id="15" name="Text 13"/>
          <p:cNvSpPr/>
          <p:nvPr/>
        </p:nvSpPr>
        <p:spPr>
          <a:xfrm>
            <a:off x="952500" y="3327400"/>
            <a:ext cx="6794500" cy="7620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Only one value per entity. Examples: </a:t>
            </a:r>
            <a:pPr>
              <a:lnSpc>
                <a:spcPct val="140000"/>
              </a:lnSpc>
            </a:pPr>
            <a:r>
              <a:rPr lang="en-US" sz="1400" b="1" dirty="0">
                <a:solidFill>
                  <a:srgbClr val="2C2C2C"/>
                </a:solidFill>
                <a:latin typeface="Quattrocento Sans" pitchFamily="34" charset="0"/>
                <a:ea typeface="Quattrocento Sans" pitchFamily="34" charset="-122"/>
                <a:cs typeface="Quattrocento Sans" pitchFamily="34" charset="-120"/>
              </a:rPr>
              <a:t>Date of Birth, Social Security Number</a:t>
            </a:r>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 Each person has exactly one.</a:t>
            </a:r>
            <a:endParaRPr lang="en-US" sz="1600" dirty="0"/>
          </a:p>
        </p:txBody>
      </p:sp>
      <p:sp>
        <p:nvSpPr>
          <p:cNvPr id="16" name="Shape 14"/>
          <p:cNvSpPr/>
          <p:nvPr/>
        </p:nvSpPr>
        <p:spPr>
          <a:xfrm>
            <a:off x="8318500" y="2768600"/>
            <a:ext cx="7175500" cy="1460500"/>
          </a:xfrm>
          <a:prstGeom prst="roundRect">
            <a:avLst>
              <a:gd name="adj" fmla="val 6000"/>
            </a:avLst>
          </a:prstGeom>
          <a:solidFill>
            <a:srgbClr val="FFFFFF"/>
          </a:solidFill>
          <a:ln/>
          <a:effectLst>
            <a:outerShdw sx="100000" sy="100000" kx="0" ky="0" algn="bl" rotWithShape="0" blurRad="76200" dist="25400" dir="5400000">
              <a:srgbClr val="000000">
                <a:alpha val="3137"/>
              </a:srgbClr>
            </a:outerShdw>
          </a:effectLst>
        </p:spPr>
      </p:sp>
      <p:sp>
        <p:nvSpPr>
          <p:cNvPr id="17" name="Shape 15"/>
          <p:cNvSpPr/>
          <p:nvPr/>
        </p:nvSpPr>
        <p:spPr>
          <a:xfrm>
            <a:off x="8509000" y="2921000"/>
            <a:ext cx="1778000" cy="330200"/>
          </a:xfrm>
          <a:prstGeom prst="roundRect">
            <a:avLst>
              <a:gd name="adj" fmla="val 12000"/>
            </a:avLst>
          </a:prstGeom>
          <a:solidFill>
            <a:srgbClr val="D4943A"/>
          </a:solidFill>
          <a:ln/>
        </p:spPr>
      </p:sp>
      <p:sp>
        <p:nvSpPr>
          <p:cNvPr id="18" name="Text 16"/>
          <p:cNvSpPr/>
          <p:nvPr/>
        </p:nvSpPr>
        <p:spPr>
          <a:xfrm>
            <a:off x="8509000" y="2921000"/>
            <a:ext cx="1778000" cy="3302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Multi-Valued</a:t>
            </a:r>
            <a:endParaRPr lang="en-US" sz="1600" dirty="0"/>
          </a:p>
        </p:txBody>
      </p:sp>
      <p:sp>
        <p:nvSpPr>
          <p:cNvPr id="19" name="Text 17"/>
          <p:cNvSpPr/>
          <p:nvPr/>
        </p:nvSpPr>
        <p:spPr>
          <a:xfrm>
            <a:off x="8509000" y="3327400"/>
            <a:ext cx="6794500" cy="7620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Can have multiple values. Examples: </a:t>
            </a:r>
            <a:pPr>
              <a:lnSpc>
                <a:spcPct val="140000"/>
              </a:lnSpc>
            </a:pPr>
            <a:r>
              <a:rPr lang="en-US" sz="1400" b="1" dirty="0">
                <a:solidFill>
                  <a:srgbClr val="2C2C2C"/>
                </a:solidFill>
                <a:latin typeface="Quattrocento Sans" pitchFamily="34" charset="0"/>
                <a:ea typeface="Quattrocento Sans" pitchFamily="34" charset="-122"/>
                <a:cs typeface="Quattrocento Sans" pitchFamily="34" charset="-120"/>
              </a:rPr>
              <a:t>Phone Numbers, Skills, Languages</a:t>
            </a:r>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 A person can have many.</a:t>
            </a:r>
            <a:endParaRPr lang="en-US" sz="1600" dirty="0"/>
          </a:p>
        </p:txBody>
      </p:sp>
      <p:sp>
        <p:nvSpPr>
          <p:cNvPr id="20" name="Shape 18"/>
          <p:cNvSpPr/>
          <p:nvPr/>
        </p:nvSpPr>
        <p:spPr>
          <a:xfrm>
            <a:off x="762000" y="4419600"/>
            <a:ext cx="14732000" cy="762000"/>
          </a:xfrm>
          <a:prstGeom prst="roundRect">
            <a:avLst>
              <a:gd name="adj" fmla="val 6000"/>
            </a:avLst>
          </a:prstGeom>
          <a:solidFill>
            <a:srgbClr val="D4943A">
              <a:alpha val="8235"/>
            </a:srgbClr>
          </a:solidFill>
          <a:ln/>
        </p:spPr>
      </p:sp>
      <p:sp>
        <p:nvSpPr>
          <p:cNvPr id="21" name="Shape 19"/>
          <p:cNvSpPr/>
          <p:nvPr/>
        </p:nvSpPr>
        <p:spPr>
          <a:xfrm>
            <a:off x="952500" y="4572000"/>
            <a:ext cx="1397000" cy="330200"/>
          </a:xfrm>
          <a:prstGeom prst="roundRect">
            <a:avLst>
              <a:gd name="adj" fmla="val 12000"/>
            </a:avLst>
          </a:prstGeom>
          <a:solidFill>
            <a:srgbClr val="D4943A"/>
          </a:solidFill>
          <a:ln/>
        </p:spPr>
      </p:sp>
      <p:sp>
        <p:nvSpPr>
          <p:cNvPr id="22" name="Text 20"/>
          <p:cNvSpPr/>
          <p:nvPr/>
        </p:nvSpPr>
        <p:spPr>
          <a:xfrm>
            <a:off x="952500" y="4572000"/>
            <a:ext cx="1397000" cy="3302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Derived</a:t>
            </a:r>
            <a:endParaRPr lang="en-US" sz="1600" dirty="0"/>
          </a:p>
        </p:txBody>
      </p:sp>
      <p:sp>
        <p:nvSpPr>
          <p:cNvPr id="23" name="Text 21"/>
          <p:cNvSpPr/>
          <p:nvPr/>
        </p:nvSpPr>
        <p:spPr>
          <a:xfrm>
            <a:off x="2476500" y="4508500"/>
            <a:ext cx="12700000" cy="508000"/>
          </a:xfrm>
          <a:prstGeom prst="rect">
            <a:avLst/>
          </a:prstGeom>
          <a:noFill/>
          <a:ln/>
        </p:spPr>
        <p:txBody>
          <a:bodyPr wrap="square" lIns="0" tIns="0" rIns="0" bIns="0" rtlCol="0" anchor="ctr"/>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Can be calculated from other attributes. Example: </a:t>
            </a:r>
            <a:pPr>
              <a:lnSpc>
                <a:spcPct val="140000"/>
              </a:lnSpc>
            </a:pPr>
            <a:r>
              <a:rPr lang="en-US" sz="1400" b="1" dirty="0">
                <a:solidFill>
                  <a:srgbClr val="2C2C2C"/>
                </a:solidFill>
                <a:latin typeface="Quattrocento Sans" pitchFamily="34" charset="0"/>
                <a:ea typeface="Quattrocento Sans" pitchFamily="34" charset="-122"/>
                <a:cs typeface="Quattrocento Sans" pitchFamily="34" charset="-120"/>
              </a:rPr>
              <a:t>Age</a:t>
            </a:r>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 can be calculated from Birth Date. No need to store it!</a:t>
            </a:r>
            <a:endParaRPr lang="en-US" sz="1600" dirty="0"/>
          </a:p>
        </p:txBody>
      </p:sp>
      <p:sp>
        <p:nvSpPr>
          <p:cNvPr id="24" name="Shape 22"/>
          <p:cNvSpPr/>
          <p:nvPr/>
        </p:nvSpPr>
        <p:spPr>
          <a:xfrm>
            <a:off x="762000" y="5397500"/>
            <a:ext cx="14732000" cy="889000"/>
          </a:xfrm>
          <a:prstGeom prst="roundRect">
            <a:avLst>
              <a:gd name="adj" fmla="val 6000"/>
            </a:avLst>
          </a:prstGeom>
          <a:solidFill>
            <a:srgbClr val="E8E2DA"/>
          </a:solidFill>
          <a:ln/>
        </p:spPr>
      </p:sp>
      <p:sp>
        <p:nvSpPr>
          <p:cNvPr id="25" name="Shape 23"/>
          <p:cNvSpPr/>
          <p:nvPr/>
        </p:nvSpPr>
        <p:spPr>
          <a:xfrm>
            <a:off x="1060450" y="5588000"/>
            <a:ext cx="266700" cy="355600"/>
          </a:xfrm>
          <a:custGeom>
            <a:avLst/>
            <a:gdLst/>
            <a:ahLst/>
            <a:cxnLst/>
            <a:rect l="l" t="t" r="r" b="b"/>
            <a:pathLst>
              <a:path w="266700" h="355600">
                <a:moveTo>
                  <a:pt x="203428" y="266700"/>
                </a:moveTo>
                <a:cubicBezTo>
                  <a:pt x="208498" y="251212"/>
                  <a:pt x="218638" y="237182"/>
                  <a:pt x="230098" y="225098"/>
                </a:cubicBezTo>
                <a:cubicBezTo>
                  <a:pt x="252809" y="201206"/>
                  <a:pt x="266700" y="168910"/>
                  <a:pt x="266700" y="133350"/>
                </a:cubicBezTo>
                <a:cubicBezTo>
                  <a:pt x="266700" y="59730"/>
                  <a:pt x="206970" y="0"/>
                  <a:pt x="133350" y="0"/>
                </a:cubicBezTo>
                <a:cubicBezTo>
                  <a:pt x="59730" y="0"/>
                  <a:pt x="0" y="59730"/>
                  <a:pt x="0" y="133350"/>
                </a:cubicBezTo>
                <a:cubicBezTo>
                  <a:pt x="0" y="168910"/>
                  <a:pt x="13891" y="201206"/>
                  <a:pt x="36602" y="225098"/>
                </a:cubicBezTo>
                <a:cubicBezTo>
                  <a:pt x="48062" y="237182"/>
                  <a:pt x="58271" y="251212"/>
                  <a:pt x="63272" y="266700"/>
                </a:cubicBezTo>
                <a:lnTo>
                  <a:pt x="203359" y="266700"/>
                </a:lnTo>
                <a:close/>
                <a:moveTo>
                  <a:pt x="200025" y="300038"/>
                </a:moveTo>
                <a:lnTo>
                  <a:pt x="66675" y="300038"/>
                </a:lnTo>
                <a:lnTo>
                  <a:pt x="66675" y="311150"/>
                </a:lnTo>
                <a:cubicBezTo>
                  <a:pt x="66675" y="341848"/>
                  <a:pt x="91539" y="366712"/>
                  <a:pt x="122238" y="366712"/>
                </a:cubicBezTo>
                <a:lnTo>
                  <a:pt x="144463" y="366712"/>
                </a:lnTo>
                <a:cubicBezTo>
                  <a:pt x="175161" y="366712"/>
                  <a:pt x="200025" y="341848"/>
                  <a:pt x="200025" y="311150"/>
                </a:cubicBezTo>
                <a:lnTo>
                  <a:pt x="200025" y="300038"/>
                </a:lnTo>
                <a:close/>
                <a:moveTo>
                  <a:pt x="127794" y="77788"/>
                </a:moveTo>
                <a:cubicBezTo>
                  <a:pt x="100151" y="77788"/>
                  <a:pt x="77788" y="100151"/>
                  <a:pt x="77788" y="127794"/>
                </a:cubicBezTo>
                <a:cubicBezTo>
                  <a:pt x="77788" y="137031"/>
                  <a:pt x="70356" y="144463"/>
                  <a:pt x="61119" y="144463"/>
                </a:cubicBezTo>
                <a:cubicBezTo>
                  <a:pt x="51881" y="144463"/>
                  <a:pt x="44450" y="137031"/>
                  <a:pt x="44450" y="127794"/>
                </a:cubicBezTo>
                <a:cubicBezTo>
                  <a:pt x="44450" y="81746"/>
                  <a:pt x="81746" y="44450"/>
                  <a:pt x="127794" y="44450"/>
                </a:cubicBezTo>
                <a:cubicBezTo>
                  <a:pt x="137031" y="44450"/>
                  <a:pt x="144463" y="51881"/>
                  <a:pt x="144463" y="61119"/>
                </a:cubicBezTo>
                <a:cubicBezTo>
                  <a:pt x="144463" y="70356"/>
                  <a:pt x="137031" y="77788"/>
                  <a:pt x="127794" y="77788"/>
                </a:cubicBezTo>
                <a:close/>
              </a:path>
            </a:pathLst>
          </a:custGeom>
          <a:solidFill>
            <a:srgbClr val="D4943A"/>
          </a:solidFill>
          <a:ln/>
        </p:spPr>
      </p:sp>
      <p:sp>
        <p:nvSpPr>
          <p:cNvPr id="26" name="Text 24"/>
          <p:cNvSpPr/>
          <p:nvPr/>
        </p:nvSpPr>
        <p:spPr>
          <a:xfrm>
            <a:off x="1498600" y="5461000"/>
            <a:ext cx="2540000" cy="304800"/>
          </a:xfrm>
          <a:prstGeom prst="rect">
            <a:avLst/>
          </a:prstGeom>
          <a:noFill/>
          <a:ln/>
        </p:spPr>
        <p:txBody>
          <a:bodyPr wrap="none" lIns="0" tIns="0" rIns="0" bIns="0" rtlCol="0" anchor="ctr"/>
          <a:lstStyle/>
          <a:p>
            <a:pPr>
              <a:lnSpc>
                <a:spcPct val="100000"/>
              </a:lnSpc>
            </a:pPr>
            <a:r>
              <a:rPr lang="en-US" sz="1400" b="1" dirty="0">
                <a:solidFill>
                  <a:srgbClr val="2D5A4C"/>
                </a:solidFill>
                <a:latin typeface="Liter" pitchFamily="34" charset="0"/>
                <a:ea typeface="Liter" pitchFamily="34" charset="-122"/>
                <a:cs typeface="Liter" pitchFamily="34" charset="-120"/>
              </a:rPr>
              <a:t>EXPLANATION</a:t>
            </a:r>
            <a:endParaRPr lang="en-US" sz="1600" dirty="0"/>
          </a:p>
        </p:txBody>
      </p:sp>
      <p:sp>
        <p:nvSpPr>
          <p:cNvPr id="27" name="Text 25"/>
          <p:cNvSpPr/>
          <p:nvPr/>
        </p:nvSpPr>
        <p:spPr>
          <a:xfrm>
            <a:off x="1498600" y="5803900"/>
            <a:ext cx="13716000" cy="3556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Understanding attribute types helps designers choose the best way to store data. Composite attributes can be split for better searching; derived attributes don't need storage.</a:t>
            </a:r>
            <a:endParaRPr lang="en-US" sz="1600" dirty="0"/>
          </a:p>
        </p:txBody>
      </p:sp>
      <p:sp>
        <p:nvSpPr>
          <p:cNvPr id="28" name="Shape 26"/>
          <p:cNvSpPr/>
          <p:nvPr/>
        </p:nvSpPr>
        <p:spPr>
          <a:xfrm>
            <a:off x="762000" y="6477000"/>
            <a:ext cx="14732000" cy="1016000"/>
          </a:xfrm>
          <a:prstGeom prst="roundRect">
            <a:avLst>
              <a:gd name="adj" fmla="val 6000"/>
            </a:avLst>
          </a:prstGeom>
          <a:solidFill>
            <a:srgbClr val="D4943A">
              <a:alpha val="8235"/>
            </a:srgbClr>
          </a:solidFill>
          <a:ln/>
        </p:spPr>
      </p:sp>
      <p:sp>
        <p:nvSpPr>
          <p:cNvPr id="29" name="Shape 27"/>
          <p:cNvSpPr/>
          <p:nvPr/>
        </p:nvSpPr>
        <p:spPr>
          <a:xfrm>
            <a:off x="1016000" y="6604000"/>
            <a:ext cx="304800" cy="304800"/>
          </a:xfrm>
          <a:custGeom>
            <a:avLst/>
            <a:gdLst/>
            <a:ahLst/>
            <a:cxnLst/>
            <a:rect l="l" t="t" r="r" b="b"/>
            <a:pathLst>
              <a:path w="304800" h="304800">
                <a:moveTo>
                  <a:pt x="209490" y="166688"/>
                </a:moveTo>
                <a:lnTo>
                  <a:pt x="95845" y="166688"/>
                </a:lnTo>
                <a:cubicBezTo>
                  <a:pt x="97572" y="205085"/>
                  <a:pt x="106085" y="240447"/>
                  <a:pt x="118170" y="266343"/>
                </a:cubicBezTo>
                <a:cubicBezTo>
                  <a:pt x="124956" y="280928"/>
                  <a:pt x="132278" y="291227"/>
                  <a:pt x="139065" y="297537"/>
                </a:cubicBezTo>
                <a:cubicBezTo>
                  <a:pt x="145733" y="303788"/>
                  <a:pt x="150316" y="304800"/>
                  <a:pt x="152698" y="304800"/>
                </a:cubicBezTo>
                <a:cubicBezTo>
                  <a:pt x="155079" y="304800"/>
                  <a:pt x="159663" y="303788"/>
                  <a:pt x="166330" y="297537"/>
                </a:cubicBezTo>
                <a:cubicBezTo>
                  <a:pt x="173117" y="291227"/>
                  <a:pt x="180439" y="280868"/>
                  <a:pt x="187226" y="266343"/>
                </a:cubicBezTo>
                <a:cubicBezTo>
                  <a:pt x="199311" y="240447"/>
                  <a:pt x="207824" y="205085"/>
                  <a:pt x="209550" y="166688"/>
                </a:cubicBezTo>
                <a:close/>
                <a:moveTo>
                  <a:pt x="95786" y="138113"/>
                </a:moveTo>
                <a:lnTo>
                  <a:pt x="209431" y="138113"/>
                </a:lnTo>
                <a:cubicBezTo>
                  <a:pt x="207764" y="99715"/>
                  <a:pt x="199251" y="64353"/>
                  <a:pt x="187166" y="38457"/>
                </a:cubicBezTo>
                <a:cubicBezTo>
                  <a:pt x="180380" y="23932"/>
                  <a:pt x="173057" y="13573"/>
                  <a:pt x="166271" y="7263"/>
                </a:cubicBezTo>
                <a:cubicBezTo>
                  <a:pt x="159603" y="1012"/>
                  <a:pt x="155019" y="0"/>
                  <a:pt x="152638" y="0"/>
                </a:cubicBezTo>
                <a:cubicBezTo>
                  <a:pt x="150257" y="0"/>
                  <a:pt x="145673" y="1012"/>
                  <a:pt x="139005" y="7263"/>
                </a:cubicBezTo>
                <a:cubicBezTo>
                  <a:pt x="132219" y="13573"/>
                  <a:pt x="124897" y="23932"/>
                  <a:pt x="118110" y="38457"/>
                </a:cubicBezTo>
                <a:cubicBezTo>
                  <a:pt x="106025" y="64353"/>
                  <a:pt x="97512" y="99715"/>
                  <a:pt x="95786" y="138113"/>
                </a:cubicBezTo>
                <a:close/>
                <a:moveTo>
                  <a:pt x="67211" y="138113"/>
                </a:moveTo>
                <a:cubicBezTo>
                  <a:pt x="69294" y="87154"/>
                  <a:pt x="82451" y="39826"/>
                  <a:pt x="101679" y="8751"/>
                </a:cubicBezTo>
                <a:cubicBezTo>
                  <a:pt x="46851" y="28158"/>
                  <a:pt x="6489" y="78105"/>
                  <a:pt x="893" y="138113"/>
                </a:cubicBezTo>
                <a:lnTo>
                  <a:pt x="67211" y="138113"/>
                </a:lnTo>
                <a:close/>
                <a:moveTo>
                  <a:pt x="893" y="166688"/>
                </a:moveTo>
                <a:cubicBezTo>
                  <a:pt x="6489" y="226695"/>
                  <a:pt x="46851" y="276642"/>
                  <a:pt x="101679" y="296049"/>
                </a:cubicBezTo>
                <a:cubicBezTo>
                  <a:pt x="82451" y="264974"/>
                  <a:pt x="69294" y="217646"/>
                  <a:pt x="67211" y="166688"/>
                </a:cubicBezTo>
                <a:lnTo>
                  <a:pt x="893" y="166688"/>
                </a:lnTo>
                <a:close/>
                <a:moveTo>
                  <a:pt x="238065" y="166688"/>
                </a:moveTo>
                <a:cubicBezTo>
                  <a:pt x="235982" y="217646"/>
                  <a:pt x="222825" y="264974"/>
                  <a:pt x="203597" y="296049"/>
                </a:cubicBezTo>
                <a:cubicBezTo>
                  <a:pt x="258425" y="276582"/>
                  <a:pt x="298787" y="226695"/>
                  <a:pt x="304383" y="166688"/>
                </a:cubicBezTo>
                <a:lnTo>
                  <a:pt x="238065" y="166688"/>
                </a:lnTo>
                <a:close/>
                <a:moveTo>
                  <a:pt x="304383" y="138113"/>
                </a:moveTo>
                <a:cubicBezTo>
                  <a:pt x="298787" y="78105"/>
                  <a:pt x="258425" y="28158"/>
                  <a:pt x="203597" y="8751"/>
                </a:cubicBezTo>
                <a:cubicBezTo>
                  <a:pt x="222825" y="39826"/>
                  <a:pt x="235982" y="87154"/>
                  <a:pt x="238065" y="138113"/>
                </a:cubicBezTo>
                <a:lnTo>
                  <a:pt x="304383" y="138113"/>
                </a:lnTo>
                <a:close/>
              </a:path>
            </a:pathLst>
          </a:custGeom>
          <a:solidFill>
            <a:srgbClr val="D4943A"/>
          </a:solidFill>
          <a:ln/>
        </p:spPr>
      </p:sp>
      <p:sp>
        <p:nvSpPr>
          <p:cNvPr id="30" name="Text 28"/>
          <p:cNvSpPr/>
          <p:nvPr/>
        </p:nvSpPr>
        <p:spPr>
          <a:xfrm>
            <a:off x="1422400" y="6565900"/>
            <a:ext cx="3175000" cy="304800"/>
          </a:xfrm>
          <a:prstGeom prst="rect">
            <a:avLst/>
          </a:prstGeom>
          <a:noFill/>
          <a:ln/>
        </p:spPr>
        <p:txBody>
          <a:bodyPr wrap="none" lIns="0" tIns="0" rIns="0" bIns="0" rtlCol="0" anchor="ctr"/>
          <a:lstStyle/>
          <a:p>
            <a:pPr>
              <a:lnSpc>
                <a:spcPct val="100000"/>
              </a:lnSpc>
            </a:pPr>
            <a:r>
              <a:rPr lang="en-US" sz="1400" b="1" dirty="0">
                <a:solidFill>
                  <a:srgbClr val="D4943A"/>
                </a:solidFill>
                <a:latin typeface="Liter" pitchFamily="34" charset="0"/>
                <a:ea typeface="Liter" pitchFamily="34" charset="-122"/>
                <a:cs typeface="Liter" pitchFamily="34" charset="-120"/>
              </a:rPr>
              <a:t>REAL-WORLD EXAMPLE</a:t>
            </a:r>
            <a:endParaRPr lang="en-US" sz="1600" dirty="0"/>
          </a:p>
        </p:txBody>
      </p:sp>
      <p:sp>
        <p:nvSpPr>
          <p:cNvPr id="31" name="Text 29"/>
          <p:cNvSpPr/>
          <p:nvPr/>
        </p:nvSpPr>
        <p:spPr>
          <a:xfrm>
            <a:off x="1016000" y="6934200"/>
            <a:ext cx="14224000" cy="4572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An employee's "Full Name" is composite (First + Last). "Skills" might be multi-valued (Java, Python, SQL). "Years of Service" is derived from Hire Date.</a:t>
            </a:r>
            <a:endParaRPr lang="en-US" sz="1600" dirty="0"/>
          </a:p>
        </p:txBody>
      </p:sp>
      <p:sp>
        <p:nvSpPr>
          <p:cNvPr id="32" name="Shape 30"/>
          <p:cNvSpPr/>
          <p:nvPr/>
        </p:nvSpPr>
        <p:spPr>
          <a:xfrm>
            <a:off x="762000" y="7747000"/>
            <a:ext cx="14732000" cy="635000"/>
          </a:xfrm>
          <a:prstGeom prst="roundRect">
            <a:avLst>
              <a:gd name="adj" fmla="val 6000"/>
            </a:avLst>
          </a:prstGeom>
          <a:solidFill>
            <a:srgbClr val="2D5A4C">
              <a:alpha val="8235"/>
            </a:srgbClr>
          </a:solidFill>
          <a:ln/>
        </p:spPr>
      </p:sp>
      <p:sp>
        <p:nvSpPr>
          <p:cNvPr id="33" name="Shape 31"/>
          <p:cNvSpPr/>
          <p:nvPr/>
        </p:nvSpPr>
        <p:spPr>
          <a:xfrm>
            <a:off x="1016000" y="7899400"/>
            <a:ext cx="254000" cy="254000"/>
          </a:xfrm>
          <a:custGeom>
            <a:avLst/>
            <a:gdLst/>
            <a:ahLst/>
            <a:cxnLst/>
            <a:rect l="l" t="t" r="r" b="b"/>
            <a:pathLst>
              <a:path w="254000" h="254000">
                <a:moveTo>
                  <a:pt x="175071" y="10517"/>
                </a:moveTo>
                <a:lnTo>
                  <a:pt x="152797" y="32792"/>
                </a:lnTo>
                <a:lnTo>
                  <a:pt x="221208" y="101203"/>
                </a:lnTo>
                <a:lnTo>
                  <a:pt x="243483" y="78929"/>
                </a:lnTo>
                <a:cubicBezTo>
                  <a:pt x="250230" y="72231"/>
                  <a:pt x="254000" y="63103"/>
                  <a:pt x="254000" y="53578"/>
                </a:cubicBezTo>
                <a:cubicBezTo>
                  <a:pt x="254000" y="44053"/>
                  <a:pt x="250230" y="34925"/>
                  <a:pt x="243483" y="28228"/>
                </a:cubicBezTo>
                <a:lnTo>
                  <a:pt x="225772" y="10517"/>
                </a:lnTo>
                <a:cubicBezTo>
                  <a:pt x="219075" y="3770"/>
                  <a:pt x="209947" y="0"/>
                  <a:pt x="200422" y="0"/>
                </a:cubicBezTo>
                <a:cubicBezTo>
                  <a:pt x="190897" y="0"/>
                  <a:pt x="181769" y="3770"/>
                  <a:pt x="175071" y="10517"/>
                </a:cubicBezTo>
                <a:close/>
                <a:moveTo>
                  <a:pt x="135979" y="49609"/>
                </a:moveTo>
                <a:lnTo>
                  <a:pt x="29220" y="156319"/>
                </a:lnTo>
                <a:cubicBezTo>
                  <a:pt x="23912" y="161627"/>
                  <a:pt x="20042" y="168275"/>
                  <a:pt x="18008" y="175518"/>
                </a:cubicBezTo>
                <a:lnTo>
                  <a:pt x="446" y="238919"/>
                </a:lnTo>
                <a:cubicBezTo>
                  <a:pt x="-695" y="243036"/>
                  <a:pt x="446" y="247501"/>
                  <a:pt x="3522" y="250527"/>
                </a:cubicBezTo>
                <a:cubicBezTo>
                  <a:pt x="6598" y="253554"/>
                  <a:pt x="11013" y="254744"/>
                  <a:pt x="15131" y="253603"/>
                </a:cubicBezTo>
                <a:lnTo>
                  <a:pt x="78532" y="235992"/>
                </a:lnTo>
                <a:cubicBezTo>
                  <a:pt x="85775" y="233958"/>
                  <a:pt x="92373" y="230138"/>
                  <a:pt x="97730" y="224780"/>
                </a:cubicBezTo>
                <a:lnTo>
                  <a:pt x="204391" y="118021"/>
                </a:lnTo>
                <a:lnTo>
                  <a:pt x="135979" y="49609"/>
                </a:lnTo>
                <a:close/>
              </a:path>
            </a:pathLst>
          </a:custGeom>
          <a:solidFill>
            <a:srgbClr val="2D5A4C"/>
          </a:solidFill>
          <a:ln/>
        </p:spPr>
      </p:sp>
      <p:sp>
        <p:nvSpPr>
          <p:cNvPr id="34" name="Text 32"/>
          <p:cNvSpPr/>
          <p:nvPr/>
        </p:nvSpPr>
        <p:spPr>
          <a:xfrm>
            <a:off x="1371600" y="7810500"/>
            <a:ext cx="13970000" cy="508000"/>
          </a:xfrm>
          <a:prstGeom prst="rect">
            <a:avLst/>
          </a:prstGeom>
          <a:noFill/>
          <a:ln/>
        </p:spPr>
        <p:txBody>
          <a:bodyPr wrap="square" lIns="0" tIns="0" rIns="0" bIns="0" rtlCol="0" anchor="ctr"/>
          <a:lstStyle/>
          <a:p>
            <a:pPr>
              <a:lnSpc>
                <a:spcPct val="140000"/>
              </a:lnSpc>
            </a:pPr>
            <a:r>
              <a:rPr lang="en-US" sz="1400" b="1" dirty="0">
                <a:solidFill>
                  <a:srgbClr val="2D5A4C"/>
                </a:solidFill>
                <a:latin typeface="Quattrocento Sans" pitchFamily="34" charset="0"/>
                <a:ea typeface="Quattrocento Sans" pitchFamily="34" charset="-122"/>
                <a:cs typeface="Quattrocento Sans" pitchFamily="34" charset="-120"/>
              </a:rPr>
              <a:t>Practice:</a:t>
            </a:r>
            <a:pPr>
              <a:lnSpc>
                <a:spcPct val="140000"/>
              </a:lnSpc>
            </a:pPr>
            <a:r>
              <a:rPr lang="en-US" sz="1400" dirty="0">
                <a:solidFill>
                  <a:srgbClr val="2D5A4C"/>
                </a:solidFill>
                <a:latin typeface="Quattrocento Sans" pitchFamily="34" charset="0"/>
                <a:ea typeface="Quattrocento Sans" pitchFamily="34" charset="-122"/>
                <a:cs typeface="Quattrocento Sans" pitchFamily="34" charset="-120"/>
              </a:rPr>
              <a:t> Classify these: Email, Home Address, Total Order Amount, Certifications, Birth Date</a:t>
            </a:r>
            <a:endParaRPr lang="en-US" sz="1600" dirty="0"/>
          </a:p>
        </p:txBody>
      </p:sp>
      <p:sp>
        <p:nvSpPr>
          <p:cNvPr id="35" name="Text 33"/>
          <p:cNvSpPr/>
          <p:nvPr/>
        </p:nvSpPr>
        <p:spPr>
          <a:xfrm>
            <a:off x="13462000" y="8788400"/>
            <a:ext cx="2286000" cy="254000"/>
          </a:xfrm>
          <a:prstGeom prst="rect">
            <a:avLst/>
          </a:prstGeom>
          <a:noFill/>
          <a:ln/>
        </p:spPr>
        <p:txBody>
          <a:bodyPr wrap="none" lIns="0" tIns="0" rIns="0" bIns="0" rtlCol="0" anchor="ctr"/>
          <a:lstStyle/>
          <a:p>
            <a:pPr algn="r">
              <a:lnSpc>
                <a:spcPct val="140000"/>
              </a:lnSpc>
            </a:pPr>
            <a:r>
              <a:rPr lang="en-US" sz="1400" dirty="0">
                <a:solidFill>
                  <a:srgbClr val="8B7355"/>
                </a:solidFill>
                <a:latin typeface="QuattrocentoSans" pitchFamily="34" charset="0"/>
                <a:ea typeface="QuattrocentoSans" pitchFamily="34" charset="-122"/>
                <a:cs typeface="QuattrocentoSans" pitchFamily="34" charset="-120"/>
              </a:rPr>
              <a:t>Attributes and Keys</a:t>
            </a:r>
            <a:endParaRPr lang="en-US" sz="1400" dirty="0"/>
          </a:p>
        </p:txBody>
      </p:sp>
    </p:spTree>
  </p:cSld>
  <p:clrMapOvr>
    <a:masterClrMapping/>
  </p:clrMapOvr>
  <p:transition>
    <p:fade/>
    <p:spd val="med"/>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D4943A"/>
          </a:solidFill>
          <a:ln/>
        </p:spPr>
      </p:sp>
      <p:sp>
        <p:nvSpPr>
          <p:cNvPr id="3" name="Text 1"/>
          <p:cNvSpPr/>
          <p:nvPr/>
        </p:nvSpPr>
        <p:spPr>
          <a:xfrm>
            <a:off x="762000" y="381000"/>
            <a:ext cx="10160000" cy="508000"/>
          </a:xfrm>
          <a:prstGeom prst="rect">
            <a:avLst/>
          </a:prstGeom>
          <a:noFill/>
          <a:ln/>
        </p:spPr>
        <p:txBody>
          <a:bodyPr wrap="none" lIns="0" tIns="0" rIns="0" bIns="0" rtlCol="0" anchor="ctr"/>
          <a:lstStyle/>
          <a:p>
            <a:pPr>
              <a:lnSpc>
                <a:spcPct val="130000"/>
              </a:lnSpc>
            </a:pPr>
            <a:r>
              <a:rPr lang="en-US" sz="2800" dirty="0">
                <a:solidFill>
                  <a:srgbClr val="2D5A4C"/>
                </a:solidFill>
                <a:latin typeface="Liter" pitchFamily="34" charset="0"/>
                <a:ea typeface="Liter" pitchFamily="34" charset="-122"/>
                <a:cs typeface="Liter" pitchFamily="34" charset="-120"/>
              </a:rPr>
              <a:t>Understanding Keys</a:t>
            </a:r>
            <a:endParaRPr lang="en-US" sz="2800" dirty="0"/>
          </a:p>
        </p:txBody>
      </p:sp>
      <p:sp>
        <p:nvSpPr>
          <p:cNvPr id="4" name="Text 2"/>
          <p:cNvSpPr/>
          <p:nvPr/>
        </p:nvSpPr>
        <p:spPr>
          <a:xfrm>
            <a:off x="762000" y="1143000"/>
            <a:ext cx="7620000" cy="3683000"/>
          </a:xfrm>
          <a:prstGeom prst="rect">
            <a:avLst/>
          </a:prstGeom>
          <a:noFill/>
          <a:ln/>
        </p:spPr>
        <p:txBody>
          <a:bodyPr wrap="square" lIns="0" tIns="0" rIns="0" bIns="0" rtlCol="0" anchor="t"/>
          <a:lstStyle/>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A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key</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is an attribute that uniquely identifies each entity instance</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A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primary key</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is the main identifier chosen to distinguish entities</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No two entities in the same set can have the same primary key value</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Primary keys are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underlined</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in ER diagrams</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Good primary keys are unique, never change, and never empty</a:t>
            </a:r>
            <a:endParaRPr lang="en-US" sz="2000" dirty="0"/>
          </a:p>
        </p:txBody>
      </p:sp>
      <p:sp>
        <p:nvSpPr>
          <p:cNvPr id="5" name="Shape 3"/>
          <p:cNvSpPr/>
          <p:nvPr/>
        </p:nvSpPr>
        <p:spPr>
          <a:xfrm>
            <a:off x="8890000" y="1016000"/>
            <a:ext cx="6604000" cy="3810000"/>
          </a:xfrm>
          <a:prstGeom prst="roundRect">
            <a:avLst>
              <a:gd name="adj" fmla="val 8000"/>
            </a:avLst>
          </a:prstGeom>
          <a:solidFill>
            <a:srgbClr val="2D5A4C">
              <a:alpha val="8235"/>
            </a:srgbClr>
          </a:solidFill>
          <a:ln/>
        </p:spPr>
      </p:sp>
      <p:sp>
        <p:nvSpPr>
          <p:cNvPr id="6" name="Text 4"/>
          <p:cNvSpPr/>
          <p:nvPr/>
        </p:nvSpPr>
        <p:spPr>
          <a:xfrm>
            <a:off x="8890000" y="1117600"/>
            <a:ext cx="6604000" cy="355600"/>
          </a:xfrm>
          <a:prstGeom prst="rect">
            <a:avLst/>
          </a:prstGeom>
          <a:noFill/>
          <a:ln/>
        </p:spPr>
        <p:txBody>
          <a:bodyPr wrap="none" lIns="0" tIns="0" rIns="0" bIns="0" rtlCol="0" anchor="ctr"/>
          <a:lstStyle/>
          <a:p>
            <a:pPr algn="ctr">
              <a:lnSpc>
                <a:spcPct val="100000"/>
              </a:lnSpc>
            </a:pPr>
            <a:r>
              <a:rPr lang="en-US" sz="1400" b="1" dirty="0">
                <a:solidFill>
                  <a:srgbClr val="2D5A4C"/>
                </a:solidFill>
                <a:latin typeface="Liter" pitchFamily="34" charset="0"/>
                <a:ea typeface="Liter" pitchFamily="34" charset="-122"/>
                <a:cs typeface="Liter" pitchFamily="34" charset="-120"/>
              </a:rPr>
              <a:t>PRIMARY KEY EXAMPLE</a:t>
            </a:r>
            <a:endParaRPr lang="en-US" sz="1600" dirty="0"/>
          </a:p>
        </p:txBody>
      </p:sp>
      <p:sp>
        <p:nvSpPr>
          <p:cNvPr id="7" name="Shape 5"/>
          <p:cNvSpPr/>
          <p:nvPr/>
        </p:nvSpPr>
        <p:spPr>
          <a:xfrm>
            <a:off x="11049000" y="1714500"/>
            <a:ext cx="1778000" cy="635000"/>
          </a:xfrm>
          <a:prstGeom prst="rect">
            <a:avLst/>
          </a:prstGeom>
          <a:solidFill>
            <a:srgbClr val="2D5A4C"/>
          </a:solidFill>
          <a:ln/>
        </p:spPr>
      </p:sp>
      <p:sp>
        <p:nvSpPr>
          <p:cNvPr id="8" name="Text 6"/>
          <p:cNvSpPr/>
          <p:nvPr/>
        </p:nvSpPr>
        <p:spPr>
          <a:xfrm>
            <a:off x="11049000" y="1714500"/>
            <a:ext cx="1778000" cy="635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STUDENT</a:t>
            </a:r>
            <a:endParaRPr lang="en-US" sz="1600" dirty="0"/>
          </a:p>
        </p:txBody>
      </p:sp>
      <p:sp>
        <p:nvSpPr>
          <p:cNvPr id="9" name="Shape 7"/>
          <p:cNvSpPr/>
          <p:nvPr/>
        </p:nvSpPr>
        <p:spPr>
          <a:xfrm>
            <a:off x="9398000" y="2667000"/>
            <a:ext cx="1270000" cy="508000"/>
          </a:xfrm>
          <a:prstGeom prst="ellipse">
            <a:avLst/>
          </a:prstGeom>
          <a:solidFill>
            <a:srgbClr val="D4943A"/>
          </a:solidFill>
          <a:ln/>
        </p:spPr>
      </p:sp>
      <p:sp>
        <p:nvSpPr>
          <p:cNvPr id="10" name="Text 8"/>
          <p:cNvSpPr/>
          <p:nvPr/>
        </p:nvSpPr>
        <p:spPr>
          <a:xfrm>
            <a:off x="9398000" y="2667000"/>
            <a:ext cx="1270000" cy="508000"/>
          </a:xfrm>
          <a:prstGeom prst="rect">
            <a:avLst/>
          </a:prstGeom>
          <a:noFill/>
          <a:ln/>
        </p:spPr>
        <p:txBody>
          <a:bodyPr wrap="none" lIns="0" tIns="0" rIns="0" bIns="0" rtlCol="0" anchor="ctr"/>
          <a:lstStyle/>
          <a:p>
            <a:pPr algn="ctr">
              <a:lnSpc>
                <a:spcPct val="100000"/>
              </a:lnSpc>
            </a:pPr>
            <a:r>
              <a:rPr lang="en-US" sz="1100" dirty="0">
                <a:solidFill>
                  <a:srgbClr val="FFFFFF"/>
                </a:solidFill>
                <a:latin typeface="Quattrocento Sans" pitchFamily="34" charset="0"/>
                <a:ea typeface="Quattrocento Sans" pitchFamily="34" charset="-122"/>
                <a:cs typeface="Quattrocento Sans" pitchFamily="34" charset="-120"/>
              </a:rPr>
              <a:t>Name</a:t>
            </a:r>
            <a:endParaRPr lang="en-US" sz="1600" dirty="0"/>
          </a:p>
        </p:txBody>
      </p:sp>
      <p:sp>
        <p:nvSpPr>
          <p:cNvPr id="11" name="Shape 9"/>
          <p:cNvSpPr/>
          <p:nvPr/>
        </p:nvSpPr>
        <p:spPr>
          <a:xfrm>
            <a:off x="10287000" y="2349500"/>
            <a:ext cx="762000" cy="317500"/>
          </a:xfrm>
          <a:prstGeom prst="straightConnector1">
            <a:avLst/>
          </a:prstGeom>
          <a:noFill/>
          <a:ln w="12700">
            <a:solidFill>
              <a:srgbClr val="2D5A4C"/>
            </a:solidFill>
            <a:prstDash val="solid"/>
            <a:headEnd type="none"/>
            <a:tailEnd type="none"/>
          </a:ln>
        </p:spPr>
      </p:sp>
      <p:sp>
        <p:nvSpPr>
          <p:cNvPr id="12" name="Shape 10"/>
          <p:cNvSpPr/>
          <p:nvPr/>
        </p:nvSpPr>
        <p:spPr>
          <a:xfrm>
            <a:off x="10922000" y="2667000"/>
            <a:ext cx="1524000" cy="571500"/>
          </a:xfrm>
          <a:prstGeom prst="ellipse">
            <a:avLst/>
          </a:prstGeom>
          <a:solidFill>
            <a:srgbClr val="C0392B"/>
          </a:solidFill>
          <a:ln/>
        </p:spPr>
      </p:sp>
      <p:sp>
        <p:nvSpPr>
          <p:cNvPr id="13" name="Text 11"/>
          <p:cNvSpPr/>
          <p:nvPr/>
        </p:nvSpPr>
        <p:spPr>
          <a:xfrm>
            <a:off x="10922000" y="2667000"/>
            <a:ext cx="1524000" cy="571500"/>
          </a:xfrm>
          <a:prstGeom prst="rect">
            <a:avLst/>
          </a:prstGeom>
          <a:noFill/>
          <a:ln/>
        </p:spPr>
        <p:txBody>
          <a:bodyPr wrap="none" lIns="0" tIns="0" rIns="0" bIns="0" rtlCol="0" anchor="ctr"/>
          <a:lstStyle/>
          <a:p>
            <a:pPr algn="ctr">
              <a:lnSpc>
                <a:spcPct val="100000"/>
              </a:lnSpc>
            </a:pPr>
            <a:r>
              <a:rPr lang="en-US" sz="1200" b="1" u="sng" dirty="0">
                <a:solidFill>
                  <a:srgbClr val="FFFFFF"/>
                </a:solidFill>
                <a:uFill>
                  <a:solidFill>
                    <a:srgbClr val="000000"/>
                  </a:solidFill>
                </a:uFill>
                <a:latin typeface="Quattrocento Sans" pitchFamily="34" charset="0"/>
                <a:ea typeface="Quattrocento Sans" pitchFamily="34" charset="-122"/>
                <a:cs typeface="Quattrocento Sans" pitchFamily="34" charset="-120"/>
              </a:rPr>
              <a:t>StudentID</a:t>
            </a:r>
            <a:endParaRPr lang="en-US" sz="1600" dirty="0"/>
          </a:p>
        </p:txBody>
      </p:sp>
      <p:sp>
        <p:nvSpPr>
          <p:cNvPr id="14" name="Shape 12"/>
          <p:cNvSpPr/>
          <p:nvPr/>
        </p:nvSpPr>
        <p:spPr>
          <a:xfrm>
            <a:off x="11557000" y="2349500"/>
            <a:ext cx="381000" cy="0"/>
          </a:xfrm>
          <a:prstGeom prst="straightConnector1">
            <a:avLst/>
          </a:prstGeom>
          <a:noFill/>
          <a:ln w="25400">
            <a:solidFill>
              <a:srgbClr val="C0392B"/>
            </a:solidFill>
            <a:prstDash val="solid"/>
            <a:headEnd type="none"/>
            <a:tailEnd type="none"/>
          </a:ln>
        </p:spPr>
      </p:sp>
      <p:sp>
        <p:nvSpPr>
          <p:cNvPr id="15" name="Shape 13"/>
          <p:cNvSpPr/>
          <p:nvPr/>
        </p:nvSpPr>
        <p:spPr>
          <a:xfrm>
            <a:off x="12700000" y="2667000"/>
            <a:ext cx="1270000" cy="508000"/>
          </a:xfrm>
          <a:prstGeom prst="ellipse">
            <a:avLst/>
          </a:prstGeom>
          <a:solidFill>
            <a:srgbClr val="D4943A"/>
          </a:solidFill>
          <a:ln/>
        </p:spPr>
      </p:sp>
      <p:sp>
        <p:nvSpPr>
          <p:cNvPr id="16" name="Text 14"/>
          <p:cNvSpPr/>
          <p:nvPr/>
        </p:nvSpPr>
        <p:spPr>
          <a:xfrm>
            <a:off x="12700000" y="2667000"/>
            <a:ext cx="1270000" cy="508000"/>
          </a:xfrm>
          <a:prstGeom prst="rect">
            <a:avLst/>
          </a:prstGeom>
          <a:noFill/>
          <a:ln/>
        </p:spPr>
        <p:txBody>
          <a:bodyPr wrap="none" lIns="0" tIns="0" rIns="0" bIns="0" rtlCol="0" anchor="ctr"/>
          <a:lstStyle/>
          <a:p>
            <a:pPr algn="ctr">
              <a:lnSpc>
                <a:spcPct val="100000"/>
              </a:lnSpc>
            </a:pPr>
            <a:r>
              <a:rPr lang="en-US" sz="1100" dirty="0">
                <a:solidFill>
                  <a:srgbClr val="FFFFFF"/>
                </a:solidFill>
                <a:latin typeface="Quattrocento Sans" pitchFamily="34" charset="0"/>
                <a:ea typeface="Quattrocento Sans" pitchFamily="34" charset="-122"/>
                <a:cs typeface="Quattrocento Sans" pitchFamily="34" charset="-120"/>
              </a:rPr>
              <a:t>Email</a:t>
            </a:r>
            <a:endParaRPr lang="en-US" sz="1600" dirty="0"/>
          </a:p>
        </p:txBody>
      </p:sp>
      <p:sp>
        <p:nvSpPr>
          <p:cNvPr id="17" name="Shape 15"/>
          <p:cNvSpPr/>
          <p:nvPr/>
        </p:nvSpPr>
        <p:spPr>
          <a:xfrm>
            <a:off x="12319000" y="2349500"/>
            <a:ext cx="381000" cy="317500"/>
          </a:xfrm>
          <a:prstGeom prst="straightConnector1">
            <a:avLst/>
          </a:prstGeom>
          <a:noFill/>
          <a:ln w="12700">
            <a:solidFill>
              <a:srgbClr val="2D5A4C"/>
            </a:solidFill>
            <a:prstDash val="solid"/>
            <a:headEnd type="none"/>
            <a:tailEnd type="none"/>
          </a:ln>
        </p:spPr>
      </p:sp>
      <p:sp>
        <p:nvSpPr>
          <p:cNvPr id="18" name="Shape 16"/>
          <p:cNvSpPr/>
          <p:nvPr/>
        </p:nvSpPr>
        <p:spPr>
          <a:xfrm>
            <a:off x="14224000" y="2667000"/>
            <a:ext cx="1016000" cy="457200"/>
          </a:xfrm>
          <a:prstGeom prst="ellipse">
            <a:avLst/>
          </a:prstGeom>
          <a:solidFill>
            <a:srgbClr val="D4943A"/>
          </a:solidFill>
          <a:ln/>
        </p:spPr>
      </p:sp>
      <p:sp>
        <p:nvSpPr>
          <p:cNvPr id="19" name="Text 17"/>
          <p:cNvSpPr/>
          <p:nvPr/>
        </p:nvSpPr>
        <p:spPr>
          <a:xfrm>
            <a:off x="14224000" y="2667000"/>
            <a:ext cx="1016000" cy="457200"/>
          </a:xfrm>
          <a:prstGeom prst="rect">
            <a:avLst/>
          </a:prstGeom>
          <a:noFill/>
          <a:ln/>
        </p:spPr>
        <p:txBody>
          <a:bodyPr wrap="none" lIns="0" tIns="0" rIns="0" bIns="0" rtlCol="0" anchor="ctr"/>
          <a:lstStyle/>
          <a:p>
            <a:pPr algn="ctr">
              <a:lnSpc>
                <a:spcPct val="100000"/>
              </a:lnSpc>
            </a:pPr>
            <a:r>
              <a:rPr lang="en-US" sz="1100" dirty="0">
                <a:solidFill>
                  <a:srgbClr val="FFFFFF"/>
                </a:solidFill>
                <a:latin typeface="Quattrocento Sans" pitchFamily="34" charset="0"/>
                <a:ea typeface="Quattrocento Sans" pitchFamily="34" charset="-122"/>
                <a:cs typeface="Quattrocento Sans" pitchFamily="34" charset="-120"/>
              </a:rPr>
              <a:t>Major</a:t>
            </a:r>
            <a:endParaRPr lang="en-US" sz="1600" dirty="0"/>
          </a:p>
        </p:txBody>
      </p:sp>
      <p:sp>
        <p:nvSpPr>
          <p:cNvPr id="20" name="Shape 18"/>
          <p:cNvSpPr/>
          <p:nvPr/>
        </p:nvSpPr>
        <p:spPr>
          <a:xfrm>
            <a:off x="12827000" y="2349500"/>
            <a:ext cx="1397000" cy="317500"/>
          </a:xfrm>
          <a:prstGeom prst="straightConnector1">
            <a:avLst/>
          </a:prstGeom>
          <a:noFill/>
          <a:ln w="12700">
            <a:solidFill>
              <a:srgbClr val="2D5A4C"/>
            </a:solidFill>
            <a:prstDash val="solid"/>
            <a:headEnd type="none"/>
            <a:tailEnd type="none"/>
          </a:ln>
        </p:spPr>
      </p:sp>
      <p:sp>
        <p:nvSpPr>
          <p:cNvPr id="21" name="Text 19"/>
          <p:cNvSpPr/>
          <p:nvPr/>
        </p:nvSpPr>
        <p:spPr>
          <a:xfrm>
            <a:off x="9398000" y="3492500"/>
            <a:ext cx="5588000" cy="1079500"/>
          </a:xfrm>
          <a:prstGeom prst="rect">
            <a:avLst/>
          </a:prstGeom>
          <a:noFill/>
          <a:ln/>
        </p:spPr>
        <p:txBody>
          <a:bodyPr wrap="square" lIns="0" tIns="0" rIns="0" bIns="0" rtlCol="0" anchor="t"/>
          <a:lstStyle/>
          <a:p>
            <a:pPr algn="ctr">
              <a:lnSpc>
                <a:spcPct val="150000"/>
              </a:lnSpc>
            </a:pPr>
            <a:r>
              <a:rPr lang="en-US" sz="1300" b="1" dirty="0">
                <a:solidFill>
                  <a:srgbClr val="C0392B"/>
                </a:solidFill>
                <a:latin typeface="Quattrocento Sans" pitchFamily="34" charset="0"/>
                <a:ea typeface="Quattrocento Sans" pitchFamily="34" charset="-122"/>
                <a:cs typeface="Quattrocento Sans" pitchFamily="34" charset="-120"/>
              </a:rPr>
              <a:t>Red oval + underline = Primary Key</a:t>
            </a:r>
            <a:endParaRPr lang="en-US" sz="1600" dirty="0"/>
          </a:p>
          <a:p>
            <a:pPr algn="ctr">
              <a:lnSpc>
                <a:spcPct val="150000"/>
              </a:lnSpc>
            </a:pPr>
            <a:r>
              <a:rPr lang="en-US" sz="1300" dirty="0">
                <a:solidFill>
                  <a:srgbClr val="2C2C2C"/>
                </a:solidFill>
                <a:latin typeface="Quattrocento Sans" pitchFamily="34" charset="0"/>
                <a:ea typeface="Quattrocento Sans" pitchFamily="34" charset="-122"/>
                <a:cs typeface="Quattrocento Sans" pitchFamily="34" charset="-120"/>
              </a:rPr>
              <a:t>Two students might share a name,</a:t>
            </a:r>
            <a:endParaRPr lang="en-US" sz="1600" dirty="0"/>
          </a:p>
          <a:p>
            <a:pPr algn="ctr">
              <a:lnSpc>
                <a:spcPct val="150000"/>
              </a:lnSpc>
            </a:pPr>
            <a:r>
              <a:rPr lang="en-US" sz="1300" dirty="0">
                <a:solidFill>
                  <a:srgbClr val="2C2C2C"/>
                </a:solidFill>
                <a:latin typeface="Quattrocento Sans" pitchFamily="34" charset="0"/>
                <a:ea typeface="Quattrocento Sans" pitchFamily="34" charset="-122"/>
                <a:cs typeface="Quattrocento Sans" pitchFamily="34" charset="-120"/>
              </a:rPr>
              <a:t>but never the same StudentID</a:t>
            </a:r>
            <a:endParaRPr lang="en-US" sz="1600" dirty="0"/>
          </a:p>
        </p:txBody>
      </p:sp>
      <p:sp>
        <p:nvSpPr>
          <p:cNvPr id="22" name="Shape 20"/>
          <p:cNvSpPr/>
          <p:nvPr/>
        </p:nvSpPr>
        <p:spPr>
          <a:xfrm>
            <a:off x="762000" y="5080000"/>
            <a:ext cx="14732000" cy="1016000"/>
          </a:xfrm>
          <a:prstGeom prst="roundRect">
            <a:avLst>
              <a:gd name="adj" fmla="val 6000"/>
            </a:avLst>
          </a:prstGeom>
          <a:solidFill>
            <a:srgbClr val="E8E2DA"/>
          </a:solidFill>
          <a:ln/>
        </p:spPr>
      </p:sp>
      <p:sp>
        <p:nvSpPr>
          <p:cNvPr id="23" name="Shape 21"/>
          <p:cNvSpPr/>
          <p:nvPr/>
        </p:nvSpPr>
        <p:spPr>
          <a:xfrm>
            <a:off x="1060450" y="5308600"/>
            <a:ext cx="266700" cy="355600"/>
          </a:xfrm>
          <a:custGeom>
            <a:avLst/>
            <a:gdLst/>
            <a:ahLst/>
            <a:cxnLst/>
            <a:rect l="l" t="t" r="r" b="b"/>
            <a:pathLst>
              <a:path w="266700" h="355600">
                <a:moveTo>
                  <a:pt x="203428" y="266700"/>
                </a:moveTo>
                <a:cubicBezTo>
                  <a:pt x="208498" y="251212"/>
                  <a:pt x="218638" y="237182"/>
                  <a:pt x="230098" y="225098"/>
                </a:cubicBezTo>
                <a:cubicBezTo>
                  <a:pt x="252809" y="201206"/>
                  <a:pt x="266700" y="168910"/>
                  <a:pt x="266700" y="133350"/>
                </a:cubicBezTo>
                <a:cubicBezTo>
                  <a:pt x="266700" y="59730"/>
                  <a:pt x="206970" y="0"/>
                  <a:pt x="133350" y="0"/>
                </a:cubicBezTo>
                <a:cubicBezTo>
                  <a:pt x="59730" y="0"/>
                  <a:pt x="0" y="59730"/>
                  <a:pt x="0" y="133350"/>
                </a:cubicBezTo>
                <a:cubicBezTo>
                  <a:pt x="0" y="168910"/>
                  <a:pt x="13891" y="201206"/>
                  <a:pt x="36602" y="225098"/>
                </a:cubicBezTo>
                <a:cubicBezTo>
                  <a:pt x="48062" y="237182"/>
                  <a:pt x="58271" y="251212"/>
                  <a:pt x="63272" y="266700"/>
                </a:cubicBezTo>
                <a:lnTo>
                  <a:pt x="203359" y="266700"/>
                </a:lnTo>
                <a:close/>
                <a:moveTo>
                  <a:pt x="200025" y="300038"/>
                </a:moveTo>
                <a:lnTo>
                  <a:pt x="66675" y="300038"/>
                </a:lnTo>
                <a:lnTo>
                  <a:pt x="66675" y="311150"/>
                </a:lnTo>
                <a:cubicBezTo>
                  <a:pt x="66675" y="341848"/>
                  <a:pt x="91539" y="366712"/>
                  <a:pt x="122238" y="366712"/>
                </a:cubicBezTo>
                <a:lnTo>
                  <a:pt x="144463" y="366712"/>
                </a:lnTo>
                <a:cubicBezTo>
                  <a:pt x="175161" y="366712"/>
                  <a:pt x="200025" y="341848"/>
                  <a:pt x="200025" y="311150"/>
                </a:cubicBezTo>
                <a:lnTo>
                  <a:pt x="200025" y="300038"/>
                </a:lnTo>
                <a:close/>
                <a:moveTo>
                  <a:pt x="127794" y="77788"/>
                </a:moveTo>
                <a:cubicBezTo>
                  <a:pt x="100151" y="77788"/>
                  <a:pt x="77788" y="100151"/>
                  <a:pt x="77788" y="127794"/>
                </a:cubicBezTo>
                <a:cubicBezTo>
                  <a:pt x="77788" y="137031"/>
                  <a:pt x="70356" y="144463"/>
                  <a:pt x="61119" y="144463"/>
                </a:cubicBezTo>
                <a:cubicBezTo>
                  <a:pt x="51881" y="144463"/>
                  <a:pt x="44450" y="137031"/>
                  <a:pt x="44450" y="127794"/>
                </a:cubicBezTo>
                <a:cubicBezTo>
                  <a:pt x="44450" y="81746"/>
                  <a:pt x="81746" y="44450"/>
                  <a:pt x="127794" y="44450"/>
                </a:cubicBezTo>
                <a:cubicBezTo>
                  <a:pt x="137031" y="44450"/>
                  <a:pt x="144463" y="51881"/>
                  <a:pt x="144463" y="61119"/>
                </a:cubicBezTo>
                <a:cubicBezTo>
                  <a:pt x="144463" y="70356"/>
                  <a:pt x="137031" y="77788"/>
                  <a:pt x="127794" y="77788"/>
                </a:cubicBezTo>
                <a:close/>
              </a:path>
            </a:pathLst>
          </a:custGeom>
          <a:solidFill>
            <a:srgbClr val="D4943A"/>
          </a:solidFill>
          <a:ln/>
        </p:spPr>
      </p:sp>
      <p:sp>
        <p:nvSpPr>
          <p:cNvPr id="24" name="Text 22"/>
          <p:cNvSpPr/>
          <p:nvPr/>
        </p:nvSpPr>
        <p:spPr>
          <a:xfrm>
            <a:off x="1498600" y="5143500"/>
            <a:ext cx="2540000" cy="304800"/>
          </a:xfrm>
          <a:prstGeom prst="rect">
            <a:avLst/>
          </a:prstGeom>
          <a:noFill/>
          <a:ln/>
        </p:spPr>
        <p:txBody>
          <a:bodyPr wrap="none" lIns="0" tIns="0" rIns="0" bIns="0" rtlCol="0" anchor="ctr"/>
          <a:lstStyle/>
          <a:p>
            <a:pPr>
              <a:lnSpc>
                <a:spcPct val="100000"/>
              </a:lnSpc>
            </a:pPr>
            <a:r>
              <a:rPr lang="en-US" sz="1400" b="1" dirty="0">
                <a:solidFill>
                  <a:srgbClr val="2D5A4C"/>
                </a:solidFill>
                <a:latin typeface="Liter" pitchFamily="34" charset="0"/>
                <a:ea typeface="Liter" pitchFamily="34" charset="-122"/>
                <a:cs typeface="Liter" pitchFamily="34" charset="-120"/>
              </a:rPr>
              <a:t>EXPLANATION</a:t>
            </a:r>
            <a:endParaRPr lang="en-US" sz="1600" dirty="0"/>
          </a:p>
        </p:txBody>
      </p:sp>
      <p:sp>
        <p:nvSpPr>
          <p:cNvPr id="25" name="Text 23"/>
          <p:cNvSpPr/>
          <p:nvPr/>
        </p:nvSpPr>
        <p:spPr>
          <a:xfrm>
            <a:off x="1498600" y="5486400"/>
            <a:ext cx="13716000" cy="5080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A key is like a fingerprint — it uniquely identifies one entity. In a Student set, two students might have the same name, but they will always have different Student ID numbers.</a:t>
            </a:r>
            <a:endParaRPr lang="en-US" sz="1600" dirty="0"/>
          </a:p>
        </p:txBody>
      </p:sp>
      <p:sp>
        <p:nvSpPr>
          <p:cNvPr id="26" name="Shape 24"/>
          <p:cNvSpPr/>
          <p:nvPr/>
        </p:nvSpPr>
        <p:spPr>
          <a:xfrm>
            <a:off x="762000" y="6350000"/>
            <a:ext cx="14732000" cy="1270000"/>
          </a:xfrm>
          <a:prstGeom prst="roundRect">
            <a:avLst>
              <a:gd name="adj" fmla="val 6000"/>
            </a:avLst>
          </a:prstGeom>
          <a:solidFill>
            <a:srgbClr val="D4943A">
              <a:alpha val="8235"/>
            </a:srgbClr>
          </a:solidFill>
          <a:ln/>
        </p:spPr>
      </p:sp>
      <p:sp>
        <p:nvSpPr>
          <p:cNvPr id="27" name="Shape 25"/>
          <p:cNvSpPr/>
          <p:nvPr/>
        </p:nvSpPr>
        <p:spPr>
          <a:xfrm>
            <a:off x="1016000" y="6477000"/>
            <a:ext cx="304800" cy="304800"/>
          </a:xfrm>
          <a:custGeom>
            <a:avLst/>
            <a:gdLst/>
            <a:ahLst/>
            <a:cxnLst/>
            <a:rect l="l" t="t" r="r" b="b"/>
            <a:pathLst>
              <a:path w="304800" h="304800">
                <a:moveTo>
                  <a:pt x="209490" y="166688"/>
                </a:moveTo>
                <a:lnTo>
                  <a:pt x="95845" y="166688"/>
                </a:lnTo>
                <a:cubicBezTo>
                  <a:pt x="97572" y="205085"/>
                  <a:pt x="106085" y="240447"/>
                  <a:pt x="118170" y="266343"/>
                </a:cubicBezTo>
                <a:cubicBezTo>
                  <a:pt x="124956" y="280928"/>
                  <a:pt x="132278" y="291227"/>
                  <a:pt x="139065" y="297537"/>
                </a:cubicBezTo>
                <a:cubicBezTo>
                  <a:pt x="145733" y="303788"/>
                  <a:pt x="150316" y="304800"/>
                  <a:pt x="152698" y="304800"/>
                </a:cubicBezTo>
                <a:cubicBezTo>
                  <a:pt x="155079" y="304800"/>
                  <a:pt x="159663" y="303788"/>
                  <a:pt x="166330" y="297537"/>
                </a:cubicBezTo>
                <a:cubicBezTo>
                  <a:pt x="173117" y="291227"/>
                  <a:pt x="180439" y="280868"/>
                  <a:pt x="187226" y="266343"/>
                </a:cubicBezTo>
                <a:cubicBezTo>
                  <a:pt x="199311" y="240447"/>
                  <a:pt x="207824" y="205085"/>
                  <a:pt x="209550" y="166688"/>
                </a:cubicBezTo>
                <a:close/>
                <a:moveTo>
                  <a:pt x="95786" y="138113"/>
                </a:moveTo>
                <a:lnTo>
                  <a:pt x="209431" y="138113"/>
                </a:lnTo>
                <a:cubicBezTo>
                  <a:pt x="207764" y="99715"/>
                  <a:pt x="199251" y="64353"/>
                  <a:pt x="187166" y="38457"/>
                </a:cubicBezTo>
                <a:cubicBezTo>
                  <a:pt x="180380" y="23932"/>
                  <a:pt x="173057" y="13573"/>
                  <a:pt x="166271" y="7263"/>
                </a:cubicBezTo>
                <a:cubicBezTo>
                  <a:pt x="159603" y="1012"/>
                  <a:pt x="155019" y="0"/>
                  <a:pt x="152638" y="0"/>
                </a:cubicBezTo>
                <a:cubicBezTo>
                  <a:pt x="150257" y="0"/>
                  <a:pt x="145673" y="1012"/>
                  <a:pt x="139005" y="7263"/>
                </a:cubicBezTo>
                <a:cubicBezTo>
                  <a:pt x="132219" y="13573"/>
                  <a:pt x="124897" y="23932"/>
                  <a:pt x="118110" y="38457"/>
                </a:cubicBezTo>
                <a:cubicBezTo>
                  <a:pt x="106025" y="64353"/>
                  <a:pt x="97512" y="99715"/>
                  <a:pt x="95786" y="138113"/>
                </a:cubicBezTo>
                <a:close/>
                <a:moveTo>
                  <a:pt x="67211" y="138113"/>
                </a:moveTo>
                <a:cubicBezTo>
                  <a:pt x="69294" y="87154"/>
                  <a:pt x="82451" y="39826"/>
                  <a:pt x="101679" y="8751"/>
                </a:cubicBezTo>
                <a:cubicBezTo>
                  <a:pt x="46851" y="28158"/>
                  <a:pt x="6489" y="78105"/>
                  <a:pt x="893" y="138113"/>
                </a:cubicBezTo>
                <a:lnTo>
                  <a:pt x="67211" y="138113"/>
                </a:lnTo>
                <a:close/>
                <a:moveTo>
                  <a:pt x="893" y="166688"/>
                </a:moveTo>
                <a:cubicBezTo>
                  <a:pt x="6489" y="226695"/>
                  <a:pt x="46851" y="276642"/>
                  <a:pt x="101679" y="296049"/>
                </a:cubicBezTo>
                <a:cubicBezTo>
                  <a:pt x="82451" y="264974"/>
                  <a:pt x="69294" y="217646"/>
                  <a:pt x="67211" y="166688"/>
                </a:cubicBezTo>
                <a:lnTo>
                  <a:pt x="893" y="166688"/>
                </a:lnTo>
                <a:close/>
                <a:moveTo>
                  <a:pt x="238065" y="166688"/>
                </a:moveTo>
                <a:cubicBezTo>
                  <a:pt x="235982" y="217646"/>
                  <a:pt x="222825" y="264974"/>
                  <a:pt x="203597" y="296049"/>
                </a:cubicBezTo>
                <a:cubicBezTo>
                  <a:pt x="258425" y="276582"/>
                  <a:pt x="298787" y="226695"/>
                  <a:pt x="304383" y="166688"/>
                </a:cubicBezTo>
                <a:lnTo>
                  <a:pt x="238065" y="166688"/>
                </a:lnTo>
                <a:close/>
                <a:moveTo>
                  <a:pt x="304383" y="138113"/>
                </a:moveTo>
                <a:cubicBezTo>
                  <a:pt x="298787" y="78105"/>
                  <a:pt x="258425" y="28158"/>
                  <a:pt x="203597" y="8751"/>
                </a:cubicBezTo>
                <a:cubicBezTo>
                  <a:pt x="222825" y="39826"/>
                  <a:pt x="235982" y="87154"/>
                  <a:pt x="238065" y="138113"/>
                </a:cubicBezTo>
                <a:lnTo>
                  <a:pt x="304383" y="138113"/>
                </a:lnTo>
                <a:close/>
              </a:path>
            </a:pathLst>
          </a:custGeom>
          <a:solidFill>
            <a:srgbClr val="D4943A"/>
          </a:solidFill>
          <a:ln/>
        </p:spPr>
      </p:sp>
      <p:sp>
        <p:nvSpPr>
          <p:cNvPr id="28" name="Text 26"/>
          <p:cNvSpPr/>
          <p:nvPr/>
        </p:nvSpPr>
        <p:spPr>
          <a:xfrm>
            <a:off x="1422400" y="6438900"/>
            <a:ext cx="3175000" cy="304800"/>
          </a:xfrm>
          <a:prstGeom prst="rect">
            <a:avLst/>
          </a:prstGeom>
          <a:noFill/>
          <a:ln/>
        </p:spPr>
        <p:txBody>
          <a:bodyPr wrap="none" lIns="0" tIns="0" rIns="0" bIns="0" rtlCol="0" anchor="ctr"/>
          <a:lstStyle/>
          <a:p>
            <a:pPr>
              <a:lnSpc>
                <a:spcPct val="100000"/>
              </a:lnSpc>
            </a:pPr>
            <a:r>
              <a:rPr lang="en-US" sz="1400" b="1" dirty="0">
                <a:solidFill>
                  <a:srgbClr val="D4943A"/>
                </a:solidFill>
                <a:latin typeface="Liter" pitchFamily="34" charset="0"/>
                <a:ea typeface="Liter" pitchFamily="34" charset="-122"/>
                <a:cs typeface="Liter" pitchFamily="34" charset="-120"/>
              </a:rPr>
              <a:t>REAL-WORLD EXAMPLE</a:t>
            </a:r>
            <a:endParaRPr lang="en-US" sz="1600" dirty="0"/>
          </a:p>
        </p:txBody>
      </p:sp>
      <p:sp>
        <p:nvSpPr>
          <p:cNvPr id="29" name="Text 27"/>
          <p:cNvSpPr/>
          <p:nvPr/>
        </p:nvSpPr>
        <p:spPr>
          <a:xfrm>
            <a:off x="1016000" y="6832600"/>
            <a:ext cx="14224000" cy="6604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Your national ID number, passport number, or driver's license number are all primary keys in real life — they uniquely identify you and only you.</a:t>
            </a:r>
            <a:endParaRPr lang="en-US" sz="1600" dirty="0"/>
          </a:p>
        </p:txBody>
      </p:sp>
      <p:sp>
        <p:nvSpPr>
          <p:cNvPr id="30" name="Shape 28"/>
          <p:cNvSpPr/>
          <p:nvPr/>
        </p:nvSpPr>
        <p:spPr>
          <a:xfrm>
            <a:off x="762000" y="7874000"/>
            <a:ext cx="14732000" cy="635000"/>
          </a:xfrm>
          <a:prstGeom prst="roundRect">
            <a:avLst>
              <a:gd name="adj" fmla="val 6000"/>
            </a:avLst>
          </a:prstGeom>
          <a:solidFill>
            <a:srgbClr val="2D5A4C">
              <a:alpha val="8235"/>
            </a:srgbClr>
          </a:solidFill>
          <a:ln/>
        </p:spPr>
      </p:sp>
      <p:sp>
        <p:nvSpPr>
          <p:cNvPr id="31" name="Shape 29"/>
          <p:cNvSpPr/>
          <p:nvPr/>
        </p:nvSpPr>
        <p:spPr>
          <a:xfrm>
            <a:off x="1016000" y="8026400"/>
            <a:ext cx="254000" cy="254000"/>
          </a:xfrm>
          <a:custGeom>
            <a:avLst/>
            <a:gdLst/>
            <a:ahLst/>
            <a:cxnLst/>
            <a:rect l="l" t="t" r="r" b="b"/>
            <a:pathLst>
              <a:path w="254000" h="254000">
                <a:moveTo>
                  <a:pt x="175071" y="10517"/>
                </a:moveTo>
                <a:lnTo>
                  <a:pt x="152797" y="32792"/>
                </a:lnTo>
                <a:lnTo>
                  <a:pt x="221208" y="101203"/>
                </a:lnTo>
                <a:lnTo>
                  <a:pt x="243483" y="78929"/>
                </a:lnTo>
                <a:cubicBezTo>
                  <a:pt x="250230" y="72231"/>
                  <a:pt x="254000" y="63103"/>
                  <a:pt x="254000" y="53578"/>
                </a:cubicBezTo>
                <a:cubicBezTo>
                  <a:pt x="254000" y="44053"/>
                  <a:pt x="250230" y="34925"/>
                  <a:pt x="243483" y="28228"/>
                </a:cubicBezTo>
                <a:lnTo>
                  <a:pt x="225772" y="10517"/>
                </a:lnTo>
                <a:cubicBezTo>
                  <a:pt x="219075" y="3770"/>
                  <a:pt x="209947" y="0"/>
                  <a:pt x="200422" y="0"/>
                </a:cubicBezTo>
                <a:cubicBezTo>
                  <a:pt x="190897" y="0"/>
                  <a:pt x="181769" y="3770"/>
                  <a:pt x="175071" y="10517"/>
                </a:cubicBezTo>
                <a:close/>
                <a:moveTo>
                  <a:pt x="135979" y="49609"/>
                </a:moveTo>
                <a:lnTo>
                  <a:pt x="29220" y="156319"/>
                </a:lnTo>
                <a:cubicBezTo>
                  <a:pt x="23912" y="161627"/>
                  <a:pt x="20042" y="168275"/>
                  <a:pt x="18008" y="175518"/>
                </a:cubicBezTo>
                <a:lnTo>
                  <a:pt x="446" y="238919"/>
                </a:lnTo>
                <a:cubicBezTo>
                  <a:pt x="-695" y="243036"/>
                  <a:pt x="446" y="247501"/>
                  <a:pt x="3522" y="250527"/>
                </a:cubicBezTo>
                <a:cubicBezTo>
                  <a:pt x="6598" y="253554"/>
                  <a:pt x="11013" y="254744"/>
                  <a:pt x="15131" y="253603"/>
                </a:cubicBezTo>
                <a:lnTo>
                  <a:pt x="78532" y="235992"/>
                </a:lnTo>
                <a:cubicBezTo>
                  <a:pt x="85775" y="233958"/>
                  <a:pt x="92373" y="230138"/>
                  <a:pt x="97730" y="224780"/>
                </a:cubicBezTo>
                <a:lnTo>
                  <a:pt x="204391" y="118021"/>
                </a:lnTo>
                <a:lnTo>
                  <a:pt x="135979" y="49609"/>
                </a:lnTo>
                <a:close/>
              </a:path>
            </a:pathLst>
          </a:custGeom>
          <a:solidFill>
            <a:srgbClr val="2D5A4C"/>
          </a:solidFill>
          <a:ln/>
        </p:spPr>
      </p:sp>
      <p:sp>
        <p:nvSpPr>
          <p:cNvPr id="32" name="Text 30"/>
          <p:cNvSpPr/>
          <p:nvPr/>
        </p:nvSpPr>
        <p:spPr>
          <a:xfrm>
            <a:off x="1371600" y="7937500"/>
            <a:ext cx="13970000" cy="508000"/>
          </a:xfrm>
          <a:prstGeom prst="rect">
            <a:avLst/>
          </a:prstGeom>
          <a:noFill/>
          <a:ln/>
        </p:spPr>
        <p:txBody>
          <a:bodyPr wrap="square" lIns="0" tIns="0" rIns="0" bIns="0" rtlCol="0" anchor="ctr"/>
          <a:lstStyle/>
          <a:p>
            <a:pPr>
              <a:lnSpc>
                <a:spcPct val="140000"/>
              </a:lnSpc>
            </a:pPr>
            <a:r>
              <a:rPr lang="en-US" sz="1400" b="1" dirty="0">
                <a:solidFill>
                  <a:srgbClr val="2D5A4C"/>
                </a:solidFill>
                <a:latin typeface="Quattrocento Sans" pitchFamily="34" charset="0"/>
                <a:ea typeface="Quattrocento Sans" pitchFamily="34" charset="-122"/>
                <a:cs typeface="Quattrocento Sans" pitchFamily="34" charset="-120"/>
              </a:rPr>
              <a:t>Practice:</a:t>
            </a:r>
            <a:pPr>
              <a:lnSpc>
                <a:spcPct val="140000"/>
              </a:lnSpc>
            </a:pPr>
            <a:r>
              <a:rPr lang="en-US" sz="1400" dirty="0">
                <a:solidFill>
                  <a:srgbClr val="2D5A4C"/>
                </a:solidFill>
                <a:latin typeface="Quattrocento Sans" pitchFamily="34" charset="0"/>
                <a:ea typeface="Quattrocento Sans" pitchFamily="34" charset="-122"/>
                <a:cs typeface="Quattrocento Sans" pitchFamily="34" charset="-120"/>
              </a:rPr>
              <a:t> Suggest a good primary key for each: Book, Employee, Flight, Bank Account</a:t>
            </a:r>
            <a:endParaRPr lang="en-US" sz="1600" dirty="0"/>
          </a:p>
        </p:txBody>
      </p:sp>
      <p:sp>
        <p:nvSpPr>
          <p:cNvPr id="33" name="Text 31"/>
          <p:cNvSpPr/>
          <p:nvPr/>
        </p:nvSpPr>
        <p:spPr>
          <a:xfrm>
            <a:off x="13462000" y="8788400"/>
            <a:ext cx="2286000" cy="254000"/>
          </a:xfrm>
          <a:prstGeom prst="rect">
            <a:avLst/>
          </a:prstGeom>
          <a:noFill/>
          <a:ln/>
        </p:spPr>
        <p:txBody>
          <a:bodyPr wrap="none" lIns="0" tIns="0" rIns="0" bIns="0" rtlCol="0" anchor="ctr"/>
          <a:lstStyle/>
          <a:p>
            <a:pPr algn="r">
              <a:lnSpc>
                <a:spcPct val="140000"/>
              </a:lnSpc>
            </a:pPr>
            <a:r>
              <a:rPr lang="en-US" sz="1400" dirty="0">
                <a:solidFill>
                  <a:srgbClr val="8B7355"/>
                </a:solidFill>
                <a:latin typeface="QuattrocentoSans" pitchFamily="34" charset="0"/>
                <a:ea typeface="QuattrocentoSans" pitchFamily="34" charset="-122"/>
                <a:cs typeface="QuattrocentoSans" pitchFamily="34" charset="-120"/>
              </a:rPr>
              <a:t>Attributes and Keys</a:t>
            </a:r>
            <a:endParaRPr lang="en-US" sz="1400" dirty="0"/>
          </a:p>
        </p:txBody>
      </p:sp>
    </p:spTree>
  </p:cSld>
  <p:clrMapOvr>
    <a:masterClrMapping/>
  </p:clrMapOvr>
  <p:transition>
    <p:fade/>
    <p:spd val="med"/>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6350000" cy="9144000"/>
          </a:xfrm>
          <a:prstGeom prst="rect">
            <a:avLst/>
          </a:prstGeom>
          <a:solidFill>
            <a:srgbClr val="2D5A4C"/>
          </a:solidFill>
          <a:ln/>
        </p:spPr>
      </p:sp>
      <p:pic>
        <p:nvPicPr>
          <p:cNvPr id="3" name="Image 0" descr="https://kimi-img.moonshot.cn/pub/slides/okc/iw55rugbchvnc/mnt/agents/output/db-intro/images/2_What_is_Entity_Relationship_Diagram.png">    </p:cNvPr>
          <p:cNvPicPr>
            <a:picLocks noChangeAspect="1"/>
          </p:cNvPicPr>
          <p:nvPr/>
        </p:nvPicPr>
        <p:blipFill>
          <a:blip r:embed="rId1"/>
          <a:srcRect l="18252" r="18252" t="0" b="0"/>
          <a:stretch/>
        </p:blipFill>
        <p:spPr>
          <a:xfrm>
            <a:off x="6350000" y="0"/>
            <a:ext cx="9906000" cy="9144000"/>
          </a:xfrm>
          <a:prstGeom prst="rect">
            <a:avLst/>
          </a:prstGeom>
        </p:spPr>
      </p:pic>
      <p:sp>
        <p:nvSpPr>
          <p:cNvPr id="4" name="Shape 1"/>
          <p:cNvSpPr/>
          <p:nvPr/>
        </p:nvSpPr>
        <p:spPr>
          <a:xfrm>
            <a:off x="6350000" y="0"/>
            <a:ext cx="9906000" cy="9144000"/>
          </a:xfrm>
          <a:prstGeom prst="rect">
            <a:avLst/>
          </a:prstGeom>
          <a:gradFill rotWithShape="1" flip="none">
            <a:gsLst>
              <a:gs pos="0">
                <a:srgbClr val="2D5A4C">
                  <a:alpha val="90000"/>
                </a:srgbClr>
              </a:gs>
              <a:gs pos="30000">
                <a:srgbClr val="2D5A4C">
                  <a:alpha val="50000"/>
                </a:srgbClr>
              </a:gs>
              <a:gs pos="100000">
                <a:srgbClr val="2D5A4C">
                  <a:alpha val="0"/>
                </a:srgbClr>
              </a:gs>
            </a:gsLst>
            <a:lin ang="0" scaled="1"/>
          </a:gradFill>
          <a:ln/>
        </p:spPr>
      </p:sp>
      <p:sp>
        <p:nvSpPr>
          <p:cNvPr id="5" name="Text 2"/>
          <p:cNvSpPr/>
          <p:nvPr/>
        </p:nvSpPr>
        <p:spPr>
          <a:xfrm>
            <a:off x="762000" y="2540000"/>
            <a:ext cx="4826000" cy="762000"/>
          </a:xfrm>
          <a:prstGeom prst="rect">
            <a:avLst/>
          </a:prstGeom>
          <a:noFill/>
          <a:ln/>
        </p:spPr>
        <p:txBody>
          <a:bodyPr wrap="none" lIns="0" tIns="0" rIns="0" bIns="0" rtlCol="0" anchor="ctr"/>
          <a:lstStyle/>
          <a:p>
            <a:pPr>
              <a:lnSpc>
                <a:spcPct val="110000"/>
              </a:lnSpc>
            </a:pPr>
            <a:r>
              <a:rPr lang="en-US" sz="4800" dirty="0">
                <a:solidFill>
                  <a:srgbClr val="D4943A"/>
                </a:solidFill>
                <a:latin typeface="Liter" pitchFamily="34" charset="0"/>
                <a:ea typeface="Liter" pitchFamily="34" charset="-122"/>
                <a:cs typeface="Liter" pitchFamily="34" charset="-120"/>
              </a:rPr>
              <a:t>04</a:t>
            </a:r>
            <a:endParaRPr lang="en-US" sz="4800" dirty="0"/>
          </a:p>
        </p:txBody>
      </p:sp>
      <p:sp>
        <p:nvSpPr>
          <p:cNvPr id="6" name="Shape 3"/>
          <p:cNvSpPr/>
          <p:nvPr/>
        </p:nvSpPr>
        <p:spPr>
          <a:xfrm>
            <a:off x="762000" y="3429000"/>
            <a:ext cx="1016000" cy="50800"/>
          </a:xfrm>
          <a:prstGeom prst="rect">
            <a:avLst/>
          </a:prstGeom>
          <a:solidFill>
            <a:srgbClr val="D4943A"/>
          </a:solidFill>
          <a:ln/>
        </p:spPr>
      </p:sp>
      <p:sp>
        <p:nvSpPr>
          <p:cNvPr id="7" name="Text 4"/>
          <p:cNvSpPr/>
          <p:nvPr/>
        </p:nvSpPr>
        <p:spPr>
          <a:xfrm>
            <a:off x="762000" y="3683000"/>
            <a:ext cx="5080000" cy="698500"/>
          </a:xfrm>
          <a:prstGeom prst="rect">
            <a:avLst/>
          </a:prstGeom>
          <a:noFill/>
          <a:ln/>
        </p:spPr>
        <p:txBody>
          <a:bodyPr wrap="square" lIns="0" tIns="0" rIns="0" bIns="0" rtlCol="0" anchor="t"/>
          <a:lstStyle/>
          <a:p>
            <a:pPr>
              <a:lnSpc>
                <a:spcPct val="130000"/>
              </a:lnSpc>
            </a:pPr>
            <a:r>
              <a:rPr lang="en-US" sz="2800" b="1" dirty="0">
                <a:solidFill>
                  <a:srgbClr val="FFFFFF"/>
                </a:solidFill>
                <a:latin typeface="Liter" pitchFamily="34" charset="0"/>
                <a:ea typeface="Liter" pitchFamily="34" charset="-122"/>
                <a:cs typeface="Liter" pitchFamily="34" charset="-120"/>
              </a:rPr>
              <a:t>Entities, Attributes, and Keys</a:t>
            </a:r>
            <a:endParaRPr lang="en-US" sz="1600" dirty="0"/>
          </a:p>
        </p:txBody>
      </p:sp>
      <p:sp>
        <p:nvSpPr>
          <p:cNvPr id="8" name="Text 5"/>
          <p:cNvSpPr/>
          <p:nvPr/>
        </p:nvSpPr>
        <p:spPr>
          <a:xfrm>
            <a:off x="762000" y="5334000"/>
            <a:ext cx="4826000" cy="1016000"/>
          </a:xfrm>
          <a:prstGeom prst="rect">
            <a:avLst/>
          </a:prstGeom>
          <a:noFill/>
          <a:ln/>
        </p:spPr>
        <p:txBody>
          <a:bodyPr wrap="square" lIns="0" tIns="0" rIns="0" bIns="0" rtlCol="0" anchor="t"/>
          <a:lstStyle/>
          <a:p>
            <a:pPr>
              <a:lnSpc>
                <a:spcPct val="150000"/>
              </a:lnSpc>
            </a:pPr>
            <a:r>
              <a:rPr lang="en-US" sz="1600" dirty="0">
                <a:solidFill>
                  <a:srgbClr val="FFFFFF">
                    <a:alpha val="66667"/>
                  </a:srgbClr>
                </a:solidFill>
                <a:latin typeface="Quattrocento Sans" pitchFamily="34" charset="0"/>
                <a:ea typeface="Quattrocento Sans" pitchFamily="34" charset="-122"/>
                <a:cs typeface="Quattrocento Sans" pitchFamily="34" charset="-120"/>
              </a:rPr>
              <a:t>Understanding the building blocks of database design</a:t>
            </a:r>
            <a:endParaRPr lang="en-US" sz="1600" dirty="0"/>
          </a:p>
        </p:txBody>
      </p:sp>
    </p:spTree>
  </p:cSld>
  <p:clrMapOvr>
    <a:masterClrMapping/>
  </p:clrMapOvr>
  <p:transition>
    <p:fade/>
    <p:spd val="med"/>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D4943A"/>
          </a:solidFill>
          <a:ln/>
        </p:spPr>
      </p:sp>
      <p:sp>
        <p:nvSpPr>
          <p:cNvPr id="3" name="Text 1"/>
          <p:cNvSpPr/>
          <p:nvPr/>
        </p:nvSpPr>
        <p:spPr>
          <a:xfrm>
            <a:off x="762000" y="381000"/>
            <a:ext cx="10160000" cy="508000"/>
          </a:xfrm>
          <a:prstGeom prst="rect">
            <a:avLst/>
          </a:prstGeom>
          <a:noFill/>
          <a:ln/>
        </p:spPr>
        <p:txBody>
          <a:bodyPr wrap="none" lIns="0" tIns="0" rIns="0" bIns="0" rtlCol="0" anchor="ctr"/>
          <a:lstStyle/>
          <a:p>
            <a:pPr>
              <a:lnSpc>
                <a:spcPct val="130000"/>
              </a:lnSpc>
            </a:pPr>
            <a:r>
              <a:rPr lang="en-US" sz="2800" dirty="0">
                <a:solidFill>
                  <a:srgbClr val="2D5A4C"/>
                </a:solidFill>
                <a:latin typeface="Liter" pitchFamily="34" charset="0"/>
                <a:ea typeface="Liter" pitchFamily="34" charset="-122"/>
                <a:cs typeface="Liter" pitchFamily="34" charset="-120"/>
              </a:rPr>
              <a:t>Understanding Relationships</a:t>
            </a:r>
            <a:endParaRPr lang="en-US" sz="2800" dirty="0"/>
          </a:p>
        </p:txBody>
      </p:sp>
      <p:sp>
        <p:nvSpPr>
          <p:cNvPr id="4" name="Text 2"/>
          <p:cNvSpPr/>
          <p:nvPr/>
        </p:nvSpPr>
        <p:spPr>
          <a:xfrm>
            <a:off x="762000" y="1143000"/>
            <a:ext cx="7620000" cy="3683000"/>
          </a:xfrm>
          <a:prstGeom prst="rect">
            <a:avLst/>
          </a:prstGeom>
          <a:noFill/>
          <a:ln/>
        </p:spPr>
        <p:txBody>
          <a:bodyPr wrap="square" lIns="0" tIns="0" rIns="0" bIns="0" rtlCol="0" anchor="t"/>
          <a:lstStyle/>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A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relationship</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describes how two or more entities are connected</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Relationships represent the verbs — the actions between entities</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Example: a Student "enrolls in" a Course</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In ER diagrams, relationships are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diamonds</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connecting entities</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Every relationship has a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name</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describing the connection</a:t>
            </a:r>
            <a:endParaRPr lang="en-US" sz="2000" dirty="0"/>
          </a:p>
        </p:txBody>
      </p:sp>
      <p:sp>
        <p:nvSpPr>
          <p:cNvPr id="5" name="Shape 3"/>
          <p:cNvSpPr/>
          <p:nvPr/>
        </p:nvSpPr>
        <p:spPr>
          <a:xfrm>
            <a:off x="8890000" y="1016000"/>
            <a:ext cx="6604000" cy="3810000"/>
          </a:xfrm>
          <a:prstGeom prst="roundRect">
            <a:avLst>
              <a:gd name="adj" fmla="val 8000"/>
            </a:avLst>
          </a:prstGeom>
          <a:solidFill>
            <a:srgbClr val="2D5A4C">
              <a:alpha val="8235"/>
            </a:srgbClr>
          </a:solidFill>
          <a:ln/>
        </p:spPr>
      </p:sp>
      <p:sp>
        <p:nvSpPr>
          <p:cNvPr id="6" name="Text 4"/>
          <p:cNvSpPr/>
          <p:nvPr/>
        </p:nvSpPr>
        <p:spPr>
          <a:xfrm>
            <a:off x="8890000" y="1117600"/>
            <a:ext cx="6604000" cy="355600"/>
          </a:xfrm>
          <a:prstGeom prst="rect">
            <a:avLst/>
          </a:prstGeom>
          <a:noFill/>
          <a:ln/>
        </p:spPr>
        <p:txBody>
          <a:bodyPr wrap="none" lIns="0" tIns="0" rIns="0" bIns="0" rtlCol="0" anchor="ctr"/>
          <a:lstStyle/>
          <a:p>
            <a:pPr algn="ctr">
              <a:lnSpc>
                <a:spcPct val="100000"/>
              </a:lnSpc>
            </a:pPr>
            <a:r>
              <a:rPr lang="en-US" sz="1400" b="1" dirty="0">
                <a:solidFill>
                  <a:srgbClr val="2D5A4C"/>
                </a:solidFill>
                <a:latin typeface="Liter" pitchFamily="34" charset="0"/>
                <a:ea typeface="Liter" pitchFamily="34" charset="-122"/>
                <a:cs typeface="Liter" pitchFamily="34" charset="-120"/>
              </a:rPr>
              <a:t>RELATIONSHIP EXAMPLE</a:t>
            </a:r>
            <a:endParaRPr lang="en-US" sz="1600" dirty="0"/>
          </a:p>
        </p:txBody>
      </p:sp>
      <p:sp>
        <p:nvSpPr>
          <p:cNvPr id="7" name="Shape 5"/>
          <p:cNvSpPr/>
          <p:nvPr/>
        </p:nvSpPr>
        <p:spPr>
          <a:xfrm>
            <a:off x="9525000" y="2032000"/>
            <a:ext cx="1778000" cy="698500"/>
          </a:xfrm>
          <a:prstGeom prst="rect">
            <a:avLst/>
          </a:prstGeom>
          <a:solidFill>
            <a:srgbClr val="2D5A4C"/>
          </a:solidFill>
          <a:ln/>
        </p:spPr>
      </p:sp>
      <p:sp>
        <p:nvSpPr>
          <p:cNvPr id="8" name="Text 6"/>
          <p:cNvSpPr/>
          <p:nvPr/>
        </p:nvSpPr>
        <p:spPr>
          <a:xfrm>
            <a:off x="9525000" y="2032000"/>
            <a:ext cx="1778000" cy="6985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STUDENT</a:t>
            </a:r>
            <a:endParaRPr lang="en-US" sz="1600" dirty="0"/>
          </a:p>
        </p:txBody>
      </p:sp>
      <p:sp>
        <p:nvSpPr>
          <p:cNvPr id="9" name="Shape 7"/>
          <p:cNvSpPr/>
          <p:nvPr/>
        </p:nvSpPr>
        <p:spPr>
          <a:xfrm>
            <a:off x="11811000" y="1968500"/>
            <a:ext cx="1143000" cy="825500"/>
          </a:xfrm>
          <a:prstGeom prst="diamond">
            <a:avLst/>
          </a:prstGeom>
          <a:solidFill>
            <a:srgbClr val="D4943A"/>
          </a:solidFill>
          <a:ln/>
        </p:spPr>
      </p:sp>
      <p:sp>
        <p:nvSpPr>
          <p:cNvPr id="10" name="Text 8"/>
          <p:cNvSpPr/>
          <p:nvPr/>
        </p:nvSpPr>
        <p:spPr>
          <a:xfrm>
            <a:off x="11811000" y="1968500"/>
            <a:ext cx="1143000" cy="825500"/>
          </a:xfrm>
          <a:prstGeom prst="rect">
            <a:avLst/>
          </a:prstGeom>
          <a:noFill/>
          <a:ln/>
        </p:spPr>
        <p:txBody>
          <a:bodyPr wrap="none" lIns="0" tIns="0" rIns="0" bIns="0" rtlCol="0" anchor="ctr"/>
          <a:lstStyle/>
          <a:p>
            <a:pPr algn="ctr">
              <a:lnSpc>
                <a:spcPct val="100000"/>
              </a:lnSpc>
            </a:pPr>
            <a:r>
              <a:rPr lang="en-US" sz="1100" b="1" dirty="0">
                <a:solidFill>
                  <a:srgbClr val="FFFFFF"/>
                </a:solidFill>
                <a:latin typeface="Liter" pitchFamily="34" charset="0"/>
                <a:ea typeface="Liter" pitchFamily="34" charset="-122"/>
                <a:cs typeface="Liter" pitchFamily="34" charset="-120"/>
              </a:rPr>
              <a:t>ENROLLS</a:t>
            </a:r>
            <a:endParaRPr lang="en-US" sz="1600" dirty="0"/>
          </a:p>
          <a:p>
            <a:pPr algn="ctr">
              <a:lnSpc>
                <a:spcPct val="100000"/>
              </a:lnSpc>
            </a:pPr>
            <a:r>
              <a:rPr lang="en-US" sz="1100" b="1" dirty="0">
                <a:solidFill>
                  <a:srgbClr val="FFFFFF"/>
                </a:solidFill>
                <a:latin typeface="Liter" pitchFamily="34" charset="0"/>
                <a:ea typeface="Liter" pitchFamily="34" charset="-122"/>
                <a:cs typeface="Liter" pitchFamily="34" charset="-120"/>
              </a:rPr>
              <a:t>IN</a:t>
            </a:r>
            <a:endParaRPr lang="en-US" sz="1600" dirty="0"/>
          </a:p>
        </p:txBody>
      </p:sp>
      <p:sp>
        <p:nvSpPr>
          <p:cNvPr id="11" name="Shape 9"/>
          <p:cNvSpPr/>
          <p:nvPr/>
        </p:nvSpPr>
        <p:spPr>
          <a:xfrm>
            <a:off x="13462000" y="2032000"/>
            <a:ext cx="1778000" cy="698500"/>
          </a:xfrm>
          <a:prstGeom prst="rect">
            <a:avLst/>
          </a:prstGeom>
          <a:solidFill>
            <a:srgbClr val="2D5A4C"/>
          </a:solidFill>
          <a:ln/>
        </p:spPr>
      </p:sp>
      <p:sp>
        <p:nvSpPr>
          <p:cNvPr id="12" name="Text 10"/>
          <p:cNvSpPr/>
          <p:nvPr/>
        </p:nvSpPr>
        <p:spPr>
          <a:xfrm>
            <a:off x="13462000" y="2032000"/>
            <a:ext cx="1778000" cy="6985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COURSE</a:t>
            </a:r>
            <a:endParaRPr lang="en-US" sz="1600" dirty="0"/>
          </a:p>
        </p:txBody>
      </p:sp>
      <p:sp>
        <p:nvSpPr>
          <p:cNvPr id="13" name="Shape 11"/>
          <p:cNvSpPr/>
          <p:nvPr/>
        </p:nvSpPr>
        <p:spPr>
          <a:xfrm>
            <a:off x="11303000" y="2349500"/>
            <a:ext cx="508000" cy="0"/>
          </a:xfrm>
          <a:prstGeom prst="straightConnector1">
            <a:avLst/>
          </a:prstGeom>
          <a:noFill/>
          <a:ln w="25400">
            <a:solidFill>
              <a:srgbClr val="2D5A4C"/>
            </a:solidFill>
            <a:prstDash val="solid"/>
            <a:headEnd type="none"/>
            <a:tailEnd type="none"/>
          </a:ln>
        </p:spPr>
      </p:sp>
      <p:sp>
        <p:nvSpPr>
          <p:cNvPr id="14" name="Shape 12"/>
          <p:cNvSpPr/>
          <p:nvPr/>
        </p:nvSpPr>
        <p:spPr>
          <a:xfrm>
            <a:off x="12954000" y="2349500"/>
            <a:ext cx="508000" cy="0"/>
          </a:xfrm>
          <a:prstGeom prst="straightConnector1">
            <a:avLst/>
          </a:prstGeom>
          <a:noFill/>
          <a:ln w="25400">
            <a:solidFill>
              <a:srgbClr val="2D5A4C"/>
            </a:solidFill>
            <a:prstDash val="solid"/>
            <a:headEnd type="none"/>
            <a:tailEnd type="none"/>
          </a:ln>
        </p:spPr>
      </p:sp>
      <p:sp>
        <p:nvSpPr>
          <p:cNvPr id="15" name="Text 13"/>
          <p:cNvSpPr/>
          <p:nvPr/>
        </p:nvSpPr>
        <p:spPr>
          <a:xfrm>
            <a:off x="9271000" y="3175000"/>
            <a:ext cx="5842000" cy="1397000"/>
          </a:xfrm>
          <a:prstGeom prst="rect">
            <a:avLst/>
          </a:prstGeom>
          <a:noFill/>
          <a:ln/>
        </p:spPr>
        <p:txBody>
          <a:bodyPr wrap="square" lIns="0" tIns="0" rIns="0" bIns="0" rtlCol="0" anchor="t"/>
          <a:lstStyle/>
          <a:p>
            <a:pPr algn="ctr">
              <a:lnSpc>
                <a:spcPct val="150000"/>
              </a:lnSpc>
            </a:pPr>
            <a:r>
              <a:rPr lang="en-US" sz="1300" b="1" dirty="0">
                <a:solidFill>
                  <a:srgbClr val="2C2C2C"/>
                </a:solidFill>
                <a:latin typeface="Quattrocento Sans" pitchFamily="34" charset="0"/>
                <a:ea typeface="Quattrocento Sans" pitchFamily="34" charset="-122"/>
                <a:cs typeface="Quattrocento Sans" pitchFamily="34" charset="-120"/>
              </a:rPr>
              <a:t>More relationship examples:</a:t>
            </a:r>
            <a:endParaRPr lang="en-US" sz="1600" dirty="0"/>
          </a:p>
          <a:p>
            <a:pPr algn="ctr">
              <a:lnSpc>
                <a:spcPct val="150000"/>
              </a:lnSpc>
            </a:pPr>
            <a:r>
              <a:rPr lang="en-US" sz="1300" dirty="0">
                <a:solidFill>
                  <a:srgbClr val="2C2C2C"/>
                </a:solidFill>
                <a:latin typeface="Quattrocento Sans" pitchFamily="34" charset="0"/>
                <a:ea typeface="Quattrocento Sans" pitchFamily="34" charset="-122"/>
                <a:cs typeface="Quattrocento Sans" pitchFamily="34" charset="-120"/>
              </a:rPr>
              <a:t>Customer </a:t>
            </a:r>
            <a:pPr algn="ctr">
              <a:lnSpc>
                <a:spcPct val="150000"/>
              </a:lnSpc>
            </a:pPr>
            <a:r>
              <a:rPr lang="en-US" sz="1300" dirty="0">
                <a:solidFill>
                  <a:srgbClr val="D4943A"/>
                </a:solidFill>
                <a:latin typeface="Quattrocento Sans" pitchFamily="34" charset="0"/>
                <a:ea typeface="Quattrocento Sans" pitchFamily="34" charset="-122"/>
                <a:cs typeface="Quattrocento Sans" pitchFamily="34" charset="-120"/>
              </a:rPr>
              <a:t>places</a:t>
            </a:r>
            <a:pPr algn="ctr">
              <a:lnSpc>
                <a:spcPct val="150000"/>
              </a:lnSpc>
            </a:pPr>
            <a:r>
              <a:rPr lang="en-US" sz="1300" dirty="0">
                <a:solidFill>
                  <a:srgbClr val="2C2C2C"/>
                </a:solidFill>
                <a:latin typeface="Quattrocento Sans" pitchFamily="34" charset="0"/>
                <a:ea typeface="Quattrocento Sans" pitchFamily="34" charset="-122"/>
                <a:cs typeface="Quattrocento Sans" pitchFamily="34" charset="-120"/>
              </a:rPr>
              <a:t> Order</a:t>
            </a:r>
            <a:endParaRPr lang="en-US" sz="1600" dirty="0"/>
          </a:p>
          <a:p>
            <a:pPr algn="ctr">
              <a:lnSpc>
                <a:spcPct val="150000"/>
              </a:lnSpc>
            </a:pPr>
            <a:r>
              <a:rPr lang="en-US" sz="1300" dirty="0">
                <a:solidFill>
                  <a:srgbClr val="2C2C2C"/>
                </a:solidFill>
                <a:latin typeface="Quattrocento Sans" pitchFamily="34" charset="0"/>
                <a:ea typeface="Quattrocento Sans" pitchFamily="34" charset="-122"/>
                <a:cs typeface="Quattrocento Sans" pitchFamily="34" charset="-120"/>
              </a:rPr>
              <a:t>Doctor </a:t>
            </a:r>
            <a:pPr algn="ctr">
              <a:lnSpc>
                <a:spcPct val="150000"/>
              </a:lnSpc>
            </a:pPr>
            <a:r>
              <a:rPr lang="en-US" sz="1300" dirty="0">
                <a:solidFill>
                  <a:srgbClr val="D4943A"/>
                </a:solidFill>
                <a:latin typeface="Quattrocento Sans" pitchFamily="34" charset="0"/>
                <a:ea typeface="Quattrocento Sans" pitchFamily="34" charset="-122"/>
                <a:cs typeface="Quattrocento Sans" pitchFamily="34" charset="-120"/>
              </a:rPr>
              <a:t>treats</a:t>
            </a:r>
            <a:pPr algn="ctr">
              <a:lnSpc>
                <a:spcPct val="150000"/>
              </a:lnSpc>
            </a:pPr>
            <a:r>
              <a:rPr lang="en-US" sz="1300" dirty="0">
                <a:solidFill>
                  <a:srgbClr val="2C2C2C"/>
                </a:solidFill>
                <a:latin typeface="Quattrocento Sans" pitchFamily="34" charset="0"/>
                <a:ea typeface="Quattrocento Sans" pitchFamily="34" charset="-122"/>
                <a:cs typeface="Quattrocento Sans" pitchFamily="34" charset="-120"/>
              </a:rPr>
              <a:t> Patient</a:t>
            </a:r>
            <a:endParaRPr lang="en-US" sz="1600" dirty="0"/>
          </a:p>
          <a:p>
            <a:pPr algn="ctr">
              <a:lnSpc>
                <a:spcPct val="150000"/>
              </a:lnSpc>
            </a:pPr>
            <a:r>
              <a:rPr lang="en-US" sz="1300" dirty="0">
                <a:solidFill>
                  <a:srgbClr val="2C2C2C"/>
                </a:solidFill>
                <a:latin typeface="Quattrocento Sans" pitchFamily="34" charset="0"/>
                <a:ea typeface="Quattrocento Sans" pitchFamily="34" charset="-122"/>
                <a:cs typeface="Quattrocento Sans" pitchFamily="34" charset="-120"/>
              </a:rPr>
              <a:t>Employee </a:t>
            </a:r>
            <a:pPr algn="ctr">
              <a:lnSpc>
                <a:spcPct val="150000"/>
              </a:lnSpc>
            </a:pPr>
            <a:r>
              <a:rPr lang="en-US" sz="1300" dirty="0">
                <a:solidFill>
                  <a:srgbClr val="D4943A"/>
                </a:solidFill>
                <a:latin typeface="Quattrocento Sans" pitchFamily="34" charset="0"/>
                <a:ea typeface="Quattrocento Sans" pitchFamily="34" charset="-122"/>
                <a:cs typeface="Quattrocento Sans" pitchFamily="34" charset="-120"/>
              </a:rPr>
              <a:t>works in</a:t>
            </a:r>
            <a:pPr algn="ctr">
              <a:lnSpc>
                <a:spcPct val="150000"/>
              </a:lnSpc>
            </a:pPr>
            <a:r>
              <a:rPr lang="en-US" sz="1300" dirty="0">
                <a:solidFill>
                  <a:srgbClr val="2C2C2C"/>
                </a:solidFill>
                <a:latin typeface="Quattrocento Sans" pitchFamily="34" charset="0"/>
                <a:ea typeface="Quattrocento Sans" pitchFamily="34" charset="-122"/>
                <a:cs typeface="Quattrocento Sans" pitchFamily="34" charset="-120"/>
              </a:rPr>
              <a:t> Department</a:t>
            </a:r>
            <a:endParaRPr lang="en-US" sz="1600" dirty="0"/>
          </a:p>
        </p:txBody>
      </p:sp>
      <p:sp>
        <p:nvSpPr>
          <p:cNvPr id="16" name="Shape 14"/>
          <p:cNvSpPr/>
          <p:nvPr/>
        </p:nvSpPr>
        <p:spPr>
          <a:xfrm>
            <a:off x="762000" y="5080000"/>
            <a:ext cx="14732000" cy="1016000"/>
          </a:xfrm>
          <a:prstGeom prst="roundRect">
            <a:avLst>
              <a:gd name="adj" fmla="val 6000"/>
            </a:avLst>
          </a:prstGeom>
          <a:solidFill>
            <a:srgbClr val="E8E2DA"/>
          </a:solidFill>
          <a:ln/>
        </p:spPr>
      </p:sp>
      <p:sp>
        <p:nvSpPr>
          <p:cNvPr id="17" name="Shape 15"/>
          <p:cNvSpPr/>
          <p:nvPr/>
        </p:nvSpPr>
        <p:spPr>
          <a:xfrm>
            <a:off x="1060450" y="5308600"/>
            <a:ext cx="266700" cy="355600"/>
          </a:xfrm>
          <a:custGeom>
            <a:avLst/>
            <a:gdLst/>
            <a:ahLst/>
            <a:cxnLst/>
            <a:rect l="l" t="t" r="r" b="b"/>
            <a:pathLst>
              <a:path w="266700" h="355600">
                <a:moveTo>
                  <a:pt x="203428" y="266700"/>
                </a:moveTo>
                <a:cubicBezTo>
                  <a:pt x="208498" y="251212"/>
                  <a:pt x="218638" y="237182"/>
                  <a:pt x="230098" y="225098"/>
                </a:cubicBezTo>
                <a:cubicBezTo>
                  <a:pt x="252809" y="201206"/>
                  <a:pt x="266700" y="168910"/>
                  <a:pt x="266700" y="133350"/>
                </a:cubicBezTo>
                <a:cubicBezTo>
                  <a:pt x="266700" y="59730"/>
                  <a:pt x="206970" y="0"/>
                  <a:pt x="133350" y="0"/>
                </a:cubicBezTo>
                <a:cubicBezTo>
                  <a:pt x="59730" y="0"/>
                  <a:pt x="0" y="59730"/>
                  <a:pt x="0" y="133350"/>
                </a:cubicBezTo>
                <a:cubicBezTo>
                  <a:pt x="0" y="168910"/>
                  <a:pt x="13891" y="201206"/>
                  <a:pt x="36602" y="225098"/>
                </a:cubicBezTo>
                <a:cubicBezTo>
                  <a:pt x="48062" y="237182"/>
                  <a:pt x="58271" y="251212"/>
                  <a:pt x="63272" y="266700"/>
                </a:cubicBezTo>
                <a:lnTo>
                  <a:pt x="203359" y="266700"/>
                </a:lnTo>
                <a:close/>
                <a:moveTo>
                  <a:pt x="200025" y="300038"/>
                </a:moveTo>
                <a:lnTo>
                  <a:pt x="66675" y="300038"/>
                </a:lnTo>
                <a:lnTo>
                  <a:pt x="66675" y="311150"/>
                </a:lnTo>
                <a:cubicBezTo>
                  <a:pt x="66675" y="341848"/>
                  <a:pt x="91539" y="366712"/>
                  <a:pt x="122238" y="366712"/>
                </a:cubicBezTo>
                <a:lnTo>
                  <a:pt x="144463" y="366712"/>
                </a:lnTo>
                <a:cubicBezTo>
                  <a:pt x="175161" y="366712"/>
                  <a:pt x="200025" y="341848"/>
                  <a:pt x="200025" y="311150"/>
                </a:cubicBezTo>
                <a:lnTo>
                  <a:pt x="200025" y="300038"/>
                </a:lnTo>
                <a:close/>
                <a:moveTo>
                  <a:pt x="127794" y="77788"/>
                </a:moveTo>
                <a:cubicBezTo>
                  <a:pt x="100151" y="77788"/>
                  <a:pt x="77788" y="100151"/>
                  <a:pt x="77788" y="127794"/>
                </a:cubicBezTo>
                <a:cubicBezTo>
                  <a:pt x="77788" y="137031"/>
                  <a:pt x="70356" y="144463"/>
                  <a:pt x="61119" y="144463"/>
                </a:cubicBezTo>
                <a:cubicBezTo>
                  <a:pt x="51881" y="144463"/>
                  <a:pt x="44450" y="137031"/>
                  <a:pt x="44450" y="127794"/>
                </a:cubicBezTo>
                <a:cubicBezTo>
                  <a:pt x="44450" y="81746"/>
                  <a:pt x="81746" y="44450"/>
                  <a:pt x="127794" y="44450"/>
                </a:cubicBezTo>
                <a:cubicBezTo>
                  <a:pt x="137031" y="44450"/>
                  <a:pt x="144463" y="51881"/>
                  <a:pt x="144463" y="61119"/>
                </a:cubicBezTo>
                <a:cubicBezTo>
                  <a:pt x="144463" y="70356"/>
                  <a:pt x="137031" y="77788"/>
                  <a:pt x="127794" y="77788"/>
                </a:cubicBezTo>
                <a:close/>
              </a:path>
            </a:pathLst>
          </a:custGeom>
          <a:solidFill>
            <a:srgbClr val="D4943A"/>
          </a:solidFill>
          <a:ln/>
        </p:spPr>
      </p:sp>
      <p:sp>
        <p:nvSpPr>
          <p:cNvPr id="18" name="Text 16"/>
          <p:cNvSpPr/>
          <p:nvPr/>
        </p:nvSpPr>
        <p:spPr>
          <a:xfrm>
            <a:off x="1498600" y="5143500"/>
            <a:ext cx="2540000" cy="304800"/>
          </a:xfrm>
          <a:prstGeom prst="rect">
            <a:avLst/>
          </a:prstGeom>
          <a:noFill/>
          <a:ln/>
        </p:spPr>
        <p:txBody>
          <a:bodyPr wrap="none" lIns="0" tIns="0" rIns="0" bIns="0" rtlCol="0" anchor="ctr"/>
          <a:lstStyle/>
          <a:p>
            <a:pPr>
              <a:lnSpc>
                <a:spcPct val="100000"/>
              </a:lnSpc>
            </a:pPr>
            <a:r>
              <a:rPr lang="en-US" sz="1400" b="1" dirty="0">
                <a:solidFill>
                  <a:srgbClr val="2D5A4C"/>
                </a:solidFill>
                <a:latin typeface="Liter" pitchFamily="34" charset="0"/>
                <a:ea typeface="Liter" pitchFamily="34" charset="-122"/>
                <a:cs typeface="Liter" pitchFamily="34" charset="-120"/>
              </a:rPr>
              <a:t>EXPLANATION</a:t>
            </a:r>
            <a:endParaRPr lang="en-US" sz="1600" dirty="0"/>
          </a:p>
        </p:txBody>
      </p:sp>
      <p:sp>
        <p:nvSpPr>
          <p:cNvPr id="19" name="Text 17"/>
          <p:cNvSpPr/>
          <p:nvPr/>
        </p:nvSpPr>
        <p:spPr>
          <a:xfrm>
            <a:off x="1498600" y="5486400"/>
            <a:ext cx="13716000" cy="5080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Entities don't exist in isolation — they interact. A Student enrolls in Courses, has Advisors, and submits Assignments. Each connection is a relationship the database must track.</a:t>
            </a:r>
            <a:endParaRPr lang="en-US" sz="1600" dirty="0"/>
          </a:p>
        </p:txBody>
      </p:sp>
      <p:sp>
        <p:nvSpPr>
          <p:cNvPr id="20" name="Shape 18"/>
          <p:cNvSpPr/>
          <p:nvPr/>
        </p:nvSpPr>
        <p:spPr>
          <a:xfrm>
            <a:off x="762000" y="6350000"/>
            <a:ext cx="14732000" cy="1270000"/>
          </a:xfrm>
          <a:prstGeom prst="roundRect">
            <a:avLst>
              <a:gd name="adj" fmla="val 6000"/>
            </a:avLst>
          </a:prstGeom>
          <a:solidFill>
            <a:srgbClr val="D4943A">
              <a:alpha val="8235"/>
            </a:srgbClr>
          </a:solidFill>
          <a:ln/>
        </p:spPr>
      </p:sp>
      <p:sp>
        <p:nvSpPr>
          <p:cNvPr id="21" name="Shape 19"/>
          <p:cNvSpPr/>
          <p:nvPr/>
        </p:nvSpPr>
        <p:spPr>
          <a:xfrm>
            <a:off x="1016000" y="6477000"/>
            <a:ext cx="304800" cy="304800"/>
          </a:xfrm>
          <a:custGeom>
            <a:avLst/>
            <a:gdLst/>
            <a:ahLst/>
            <a:cxnLst/>
            <a:rect l="l" t="t" r="r" b="b"/>
            <a:pathLst>
              <a:path w="304800" h="304800">
                <a:moveTo>
                  <a:pt x="209490" y="166688"/>
                </a:moveTo>
                <a:lnTo>
                  <a:pt x="95845" y="166688"/>
                </a:lnTo>
                <a:cubicBezTo>
                  <a:pt x="97572" y="205085"/>
                  <a:pt x="106085" y="240447"/>
                  <a:pt x="118170" y="266343"/>
                </a:cubicBezTo>
                <a:cubicBezTo>
                  <a:pt x="124956" y="280928"/>
                  <a:pt x="132278" y="291227"/>
                  <a:pt x="139065" y="297537"/>
                </a:cubicBezTo>
                <a:cubicBezTo>
                  <a:pt x="145733" y="303788"/>
                  <a:pt x="150316" y="304800"/>
                  <a:pt x="152698" y="304800"/>
                </a:cubicBezTo>
                <a:cubicBezTo>
                  <a:pt x="155079" y="304800"/>
                  <a:pt x="159663" y="303788"/>
                  <a:pt x="166330" y="297537"/>
                </a:cubicBezTo>
                <a:cubicBezTo>
                  <a:pt x="173117" y="291227"/>
                  <a:pt x="180439" y="280868"/>
                  <a:pt x="187226" y="266343"/>
                </a:cubicBezTo>
                <a:cubicBezTo>
                  <a:pt x="199311" y="240447"/>
                  <a:pt x="207824" y="205085"/>
                  <a:pt x="209550" y="166688"/>
                </a:cubicBezTo>
                <a:close/>
                <a:moveTo>
                  <a:pt x="95786" y="138113"/>
                </a:moveTo>
                <a:lnTo>
                  <a:pt x="209431" y="138113"/>
                </a:lnTo>
                <a:cubicBezTo>
                  <a:pt x="207764" y="99715"/>
                  <a:pt x="199251" y="64353"/>
                  <a:pt x="187166" y="38457"/>
                </a:cubicBezTo>
                <a:cubicBezTo>
                  <a:pt x="180380" y="23932"/>
                  <a:pt x="173057" y="13573"/>
                  <a:pt x="166271" y="7263"/>
                </a:cubicBezTo>
                <a:cubicBezTo>
                  <a:pt x="159603" y="1012"/>
                  <a:pt x="155019" y="0"/>
                  <a:pt x="152638" y="0"/>
                </a:cubicBezTo>
                <a:cubicBezTo>
                  <a:pt x="150257" y="0"/>
                  <a:pt x="145673" y="1012"/>
                  <a:pt x="139005" y="7263"/>
                </a:cubicBezTo>
                <a:cubicBezTo>
                  <a:pt x="132219" y="13573"/>
                  <a:pt x="124897" y="23932"/>
                  <a:pt x="118110" y="38457"/>
                </a:cubicBezTo>
                <a:cubicBezTo>
                  <a:pt x="106025" y="64353"/>
                  <a:pt x="97512" y="99715"/>
                  <a:pt x="95786" y="138113"/>
                </a:cubicBezTo>
                <a:close/>
                <a:moveTo>
                  <a:pt x="67211" y="138113"/>
                </a:moveTo>
                <a:cubicBezTo>
                  <a:pt x="69294" y="87154"/>
                  <a:pt x="82451" y="39826"/>
                  <a:pt x="101679" y="8751"/>
                </a:cubicBezTo>
                <a:cubicBezTo>
                  <a:pt x="46851" y="28158"/>
                  <a:pt x="6489" y="78105"/>
                  <a:pt x="893" y="138113"/>
                </a:cubicBezTo>
                <a:lnTo>
                  <a:pt x="67211" y="138113"/>
                </a:lnTo>
                <a:close/>
                <a:moveTo>
                  <a:pt x="893" y="166688"/>
                </a:moveTo>
                <a:cubicBezTo>
                  <a:pt x="6489" y="226695"/>
                  <a:pt x="46851" y="276642"/>
                  <a:pt x="101679" y="296049"/>
                </a:cubicBezTo>
                <a:cubicBezTo>
                  <a:pt x="82451" y="264974"/>
                  <a:pt x="69294" y="217646"/>
                  <a:pt x="67211" y="166688"/>
                </a:cubicBezTo>
                <a:lnTo>
                  <a:pt x="893" y="166688"/>
                </a:lnTo>
                <a:close/>
                <a:moveTo>
                  <a:pt x="238065" y="166688"/>
                </a:moveTo>
                <a:cubicBezTo>
                  <a:pt x="235982" y="217646"/>
                  <a:pt x="222825" y="264974"/>
                  <a:pt x="203597" y="296049"/>
                </a:cubicBezTo>
                <a:cubicBezTo>
                  <a:pt x="258425" y="276582"/>
                  <a:pt x="298787" y="226695"/>
                  <a:pt x="304383" y="166688"/>
                </a:cubicBezTo>
                <a:lnTo>
                  <a:pt x="238065" y="166688"/>
                </a:lnTo>
                <a:close/>
                <a:moveTo>
                  <a:pt x="304383" y="138113"/>
                </a:moveTo>
                <a:cubicBezTo>
                  <a:pt x="298787" y="78105"/>
                  <a:pt x="258425" y="28158"/>
                  <a:pt x="203597" y="8751"/>
                </a:cubicBezTo>
                <a:cubicBezTo>
                  <a:pt x="222825" y="39826"/>
                  <a:pt x="235982" y="87154"/>
                  <a:pt x="238065" y="138113"/>
                </a:cubicBezTo>
                <a:lnTo>
                  <a:pt x="304383" y="138113"/>
                </a:lnTo>
                <a:close/>
              </a:path>
            </a:pathLst>
          </a:custGeom>
          <a:solidFill>
            <a:srgbClr val="D4943A"/>
          </a:solidFill>
          <a:ln/>
        </p:spPr>
      </p:sp>
      <p:sp>
        <p:nvSpPr>
          <p:cNvPr id="22" name="Text 20"/>
          <p:cNvSpPr/>
          <p:nvPr/>
        </p:nvSpPr>
        <p:spPr>
          <a:xfrm>
            <a:off x="1422400" y="6438900"/>
            <a:ext cx="3175000" cy="304800"/>
          </a:xfrm>
          <a:prstGeom prst="rect">
            <a:avLst/>
          </a:prstGeom>
          <a:noFill/>
          <a:ln/>
        </p:spPr>
        <p:txBody>
          <a:bodyPr wrap="none" lIns="0" tIns="0" rIns="0" bIns="0" rtlCol="0" anchor="ctr"/>
          <a:lstStyle/>
          <a:p>
            <a:pPr>
              <a:lnSpc>
                <a:spcPct val="100000"/>
              </a:lnSpc>
            </a:pPr>
            <a:r>
              <a:rPr lang="en-US" sz="1400" b="1" dirty="0">
                <a:solidFill>
                  <a:srgbClr val="D4943A"/>
                </a:solidFill>
                <a:latin typeface="Liter" pitchFamily="34" charset="0"/>
                <a:ea typeface="Liter" pitchFamily="34" charset="-122"/>
                <a:cs typeface="Liter" pitchFamily="34" charset="-120"/>
              </a:rPr>
              <a:t>REAL-WORLD EXAMPLE</a:t>
            </a:r>
            <a:endParaRPr lang="en-US" sz="1600" dirty="0"/>
          </a:p>
        </p:txBody>
      </p:sp>
      <p:sp>
        <p:nvSpPr>
          <p:cNvPr id="23" name="Text 21"/>
          <p:cNvSpPr/>
          <p:nvPr/>
        </p:nvSpPr>
        <p:spPr>
          <a:xfrm>
            <a:off x="1016000" y="6832600"/>
            <a:ext cx="14224000" cy="6604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In a hospital database, a Doctor "treats" a Patient, a Patient "is assigned to" a Room, and a Nurse "administers" Medication. Each verb represents a relationship.</a:t>
            </a:r>
            <a:endParaRPr lang="en-US" sz="1600" dirty="0"/>
          </a:p>
        </p:txBody>
      </p:sp>
      <p:sp>
        <p:nvSpPr>
          <p:cNvPr id="24" name="Shape 22"/>
          <p:cNvSpPr/>
          <p:nvPr/>
        </p:nvSpPr>
        <p:spPr>
          <a:xfrm>
            <a:off x="762000" y="7874000"/>
            <a:ext cx="14732000" cy="635000"/>
          </a:xfrm>
          <a:prstGeom prst="roundRect">
            <a:avLst>
              <a:gd name="adj" fmla="val 6000"/>
            </a:avLst>
          </a:prstGeom>
          <a:solidFill>
            <a:srgbClr val="2D5A4C">
              <a:alpha val="8235"/>
            </a:srgbClr>
          </a:solidFill>
          <a:ln/>
        </p:spPr>
      </p:sp>
      <p:sp>
        <p:nvSpPr>
          <p:cNvPr id="25" name="Shape 23"/>
          <p:cNvSpPr/>
          <p:nvPr/>
        </p:nvSpPr>
        <p:spPr>
          <a:xfrm>
            <a:off x="1016000" y="8026400"/>
            <a:ext cx="254000" cy="254000"/>
          </a:xfrm>
          <a:custGeom>
            <a:avLst/>
            <a:gdLst/>
            <a:ahLst/>
            <a:cxnLst/>
            <a:rect l="l" t="t" r="r" b="b"/>
            <a:pathLst>
              <a:path w="254000" h="254000">
                <a:moveTo>
                  <a:pt x="175071" y="10517"/>
                </a:moveTo>
                <a:lnTo>
                  <a:pt x="152797" y="32792"/>
                </a:lnTo>
                <a:lnTo>
                  <a:pt x="221208" y="101203"/>
                </a:lnTo>
                <a:lnTo>
                  <a:pt x="243483" y="78929"/>
                </a:lnTo>
                <a:cubicBezTo>
                  <a:pt x="250230" y="72231"/>
                  <a:pt x="254000" y="63103"/>
                  <a:pt x="254000" y="53578"/>
                </a:cubicBezTo>
                <a:cubicBezTo>
                  <a:pt x="254000" y="44053"/>
                  <a:pt x="250230" y="34925"/>
                  <a:pt x="243483" y="28228"/>
                </a:cubicBezTo>
                <a:lnTo>
                  <a:pt x="225772" y="10517"/>
                </a:lnTo>
                <a:cubicBezTo>
                  <a:pt x="219075" y="3770"/>
                  <a:pt x="209947" y="0"/>
                  <a:pt x="200422" y="0"/>
                </a:cubicBezTo>
                <a:cubicBezTo>
                  <a:pt x="190897" y="0"/>
                  <a:pt x="181769" y="3770"/>
                  <a:pt x="175071" y="10517"/>
                </a:cubicBezTo>
                <a:close/>
                <a:moveTo>
                  <a:pt x="135979" y="49609"/>
                </a:moveTo>
                <a:lnTo>
                  <a:pt x="29220" y="156319"/>
                </a:lnTo>
                <a:cubicBezTo>
                  <a:pt x="23912" y="161627"/>
                  <a:pt x="20042" y="168275"/>
                  <a:pt x="18008" y="175518"/>
                </a:cubicBezTo>
                <a:lnTo>
                  <a:pt x="446" y="238919"/>
                </a:lnTo>
                <a:cubicBezTo>
                  <a:pt x="-695" y="243036"/>
                  <a:pt x="446" y="247501"/>
                  <a:pt x="3522" y="250527"/>
                </a:cubicBezTo>
                <a:cubicBezTo>
                  <a:pt x="6598" y="253554"/>
                  <a:pt x="11013" y="254744"/>
                  <a:pt x="15131" y="253603"/>
                </a:cubicBezTo>
                <a:lnTo>
                  <a:pt x="78532" y="235992"/>
                </a:lnTo>
                <a:cubicBezTo>
                  <a:pt x="85775" y="233958"/>
                  <a:pt x="92373" y="230138"/>
                  <a:pt x="97730" y="224780"/>
                </a:cubicBezTo>
                <a:lnTo>
                  <a:pt x="204391" y="118021"/>
                </a:lnTo>
                <a:lnTo>
                  <a:pt x="135979" y="49609"/>
                </a:lnTo>
                <a:close/>
              </a:path>
            </a:pathLst>
          </a:custGeom>
          <a:solidFill>
            <a:srgbClr val="2D5A4C"/>
          </a:solidFill>
          <a:ln/>
        </p:spPr>
      </p:sp>
      <p:sp>
        <p:nvSpPr>
          <p:cNvPr id="26" name="Text 24"/>
          <p:cNvSpPr/>
          <p:nvPr/>
        </p:nvSpPr>
        <p:spPr>
          <a:xfrm>
            <a:off x="1371600" y="7937500"/>
            <a:ext cx="13970000" cy="508000"/>
          </a:xfrm>
          <a:prstGeom prst="rect">
            <a:avLst/>
          </a:prstGeom>
          <a:noFill/>
          <a:ln/>
        </p:spPr>
        <p:txBody>
          <a:bodyPr wrap="square" lIns="0" tIns="0" rIns="0" bIns="0" rtlCol="0" anchor="ctr"/>
          <a:lstStyle/>
          <a:p>
            <a:pPr>
              <a:lnSpc>
                <a:spcPct val="140000"/>
              </a:lnSpc>
            </a:pPr>
            <a:r>
              <a:rPr lang="en-US" sz="1400" b="1" dirty="0">
                <a:solidFill>
                  <a:srgbClr val="2D5A4C"/>
                </a:solidFill>
                <a:latin typeface="Quattrocento Sans" pitchFamily="34" charset="0"/>
                <a:ea typeface="Quattrocento Sans" pitchFamily="34" charset="-122"/>
                <a:cs typeface="Quattrocento Sans" pitchFamily="34" charset="-120"/>
              </a:rPr>
              <a:t>Practice:</a:t>
            </a:r>
            <a:pPr>
              <a:lnSpc>
                <a:spcPct val="140000"/>
              </a:lnSpc>
            </a:pPr>
            <a:r>
              <a:rPr lang="en-US" sz="1400" dirty="0">
                <a:solidFill>
                  <a:srgbClr val="2D5A4C"/>
                </a:solidFill>
                <a:latin typeface="Quattrocento Sans" pitchFamily="34" charset="0"/>
                <a:ea typeface="Quattrocento Sans" pitchFamily="34" charset="-122"/>
                <a:cs typeface="Quattrocento Sans" pitchFamily="34" charset="-120"/>
              </a:rPr>
              <a:t> Describe three relationships between these entities: Customer, Product, Order</a:t>
            </a:r>
            <a:endParaRPr lang="en-US" sz="1600" dirty="0"/>
          </a:p>
        </p:txBody>
      </p:sp>
      <p:sp>
        <p:nvSpPr>
          <p:cNvPr id="27" name="Text 25"/>
          <p:cNvSpPr/>
          <p:nvPr/>
        </p:nvSpPr>
        <p:spPr>
          <a:xfrm>
            <a:off x="13462000" y="8788400"/>
            <a:ext cx="2286000" cy="254000"/>
          </a:xfrm>
          <a:prstGeom prst="rect">
            <a:avLst/>
          </a:prstGeom>
          <a:noFill/>
          <a:ln/>
        </p:spPr>
        <p:txBody>
          <a:bodyPr wrap="none" lIns="0" tIns="0" rIns="0" bIns="0" rtlCol="0" anchor="ctr"/>
          <a:lstStyle/>
          <a:p>
            <a:pPr algn="r">
              <a:lnSpc>
                <a:spcPct val="140000"/>
              </a:lnSpc>
            </a:pPr>
            <a:r>
              <a:rPr lang="en-US" sz="1400" dirty="0">
                <a:solidFill>
                  <a:srgbClr val="8B7355"/>
                </a:solidFill>
                <a:latin typeface="QuattrocentoSans" pitchFamily="34" charset="0"/>
                <a:ea typeface="QuattrocentoSans" pitchFamily="34" charset="-122"/>
                <a:cs typeface="QuattrocentoSans" pitchFamily="34" charset="-120"/>
              </a:rPr>
              <a:t>Relationships and Roles</a:t>
            </a:r>
            <a:endParaRPr lang="en-US" sz="1400" dirty="0"/>
          </a:p>
        </p:txBody>
      </p:sp>
    </p:spTree>
  </p:cSld>
  <p:clrMapOvr>
    <a:masterClrMapping/>
  </p:clrMapOvr>
  <p:transition>
    <p:fade/>
    <p:spd val="med"/>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D4943A"/>
          </a:solidFill>
          <a:ln/>
        </p:spPr>
      </p:sp>
      <p:sp>
        <p:nvSpPr>
          <p:cNvPr id="3" name="Text 1"/>
          <p:cNvSpPr/>
          <p:nvPr/>
        </p:nvSpPr>
        <p:spPr>
          <a:xfrm>
            <a:off x="762000" y="381000"/>
            <a:ext cx="11430000" cy="508000"/>
          </a:xfrm>
          <a:prstGeom prst="rect">
            <a:avLst/>
          </a:prstGeom>
          <a:noFill/>
          <a:ln/>
        </p:spPr>
        <p:txBody>
          <a:bodyPr wrap="none" lIns="0" tIns="0" rIns="0" bIns="0" rtlCol="0" anchor="ctr"/>
          <a:lstStyle/>
          <a:p>
            <a:pPr>
              <a:lnSpc>
                <a:spcPct val="130000"/>
              </a:lnSpc>
            </a:pPr>
            <a:r>
              <a:rPr lang="en-US" sz="2800" dirty="0">
                <a:solidFill>
                  <a:srgbClr val="2D5A4C"/>
                </a:solidFill>
                <a:latin typeface="Liter" pitchFamily="34" charset="0"/>
                <a:ea typeface="Liter" pitchFamily="34" charset="-122"/>
                <a:cs typeface="Liter" pitchFamily="34" charset="-120"/>
              </a:rPr>
              <a:t>Relationship Sets and Cardinality</a:t>
            </a:r>
            <a:endParaRPr lang="en-US" sz="2800" dirty="0"/>
          </a:p>
        </p:txBody>
      </p:sp>
      <p:sp>
        <p:nvSpPr>
          <p:cNvPr id="4" name="Text 2"/>
          <p:cNvSpPr/>
          <p:nvPr/>
        </p:nvSpPr>
        <p:spPr>
          <a:xfrm>
            <a:off x="762000" y="1143000"/>
            <a:ext cx="14732000" cy="1968500"/>
          </a:xfrm>
          <a:prstGeom prst="rect">
            <a:avLst/>
          </a:prstGeom>
          <a:noFill/>
          <a:ln/>
        </p:spPr>
        <p:txBody>
          <a:bodyPr wrap="square" lIns="0" tIns="0" rIns="0" bIns="0" rtlCol="0" anchor="t"/>
          <a:lstStyle/>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A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relationship set</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is the collection of all relationship instances of the same type</a:t>
            </a:r>
            <a:endParaRPr lang="en-US" sz="2000" dirty="0"/>
          </a:p>
          <a:p>
            <a:pPr marL="317500" indent="-317500">
              <a:lnSpc>
                <a:spcPct val="150000"/>
              </a:lnSpc>
              <a:spcBef>
                <a:spcPts val="10"/>
              </a:spcBef>
              <a:buSzPct val="100000"/>
              <a:buChar char="•"/>
            </a:pPr>
            <a:r>
              <a:rPr lang="en-US" sz="1800" b="1" dirty="0">
                <a:solidFill>
                  <a:srgbClr val="2C2C2C"/>
                </a:solidFill>
                <a:latin typeface="QuattrocentoSans" pitchFamily="34" charset="0"/>
                <a:ea typeface="QuattrocentoSans" pitchFamily="34" charset="-122"/>
                <a:cs typeface="QuattrocentoSans" pitchFamily="34" charset="-120"/>
              </a:rPr>
              <a:t>Cardinality</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describes how many entities can participate in a relationship</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Understanding cardinality is one of the most important concepts in database design</a:t>
            </a:r>
            <a:endParaRPr lang="en-US" sz="2000" dirty="0"/>
          </a:p>
        </p:txBody>
      </p:sp>
      <p:sp>
        <p:nvSpPr>
          <p:cNvPr id="5" name="Shape 3"/>
          <p:cNvSpPr/>
          <p:nvPr/>
        </p:nvSpPr>
        <p:spPr>
          <a:xfrm>
            <a:off x="762000" y="3302000"/>
            <a:ext cx="4699000" cy="2222500"/>
          </a:xfrm>
          <a:prstGeom prst="roundRect">
            <a:avLst>
              <a:gd name="adj" fmla="val 6000"/>
            </a:avLst>
          </a:prstGeom>
          <a:solidFill>
            <a:srgbClr val="2D5A4C">
              <a:alpha val="8235"/>
            </a:srgbClr>
          </a:solidFill>
          <a:ln/>
        </p:spPr>
      </p:sp>
      <p:sp>
        <p:nvSpPr>
          <p:cNvPr id="6" name="Shape 4"/>
          <p:cNvSpPr/>
          <p:nvPr/>
        </p:nvSpPr>
        <p:spPr>
          <a:xfrm>
            <a:off x="952500" y="3454400"/>
            <a:ext cx="635000" cy="330200"/>
          </a:xfrm>
          <a:prstGeom prst="roundRect">
            <a:avLst>
              <a:gd name="adj" fmla="val 12000"/>
            </a:avLst>
          </a:prstGeom>
          <a:solidFill>
            <a:srgbClr val="2D5A4C"/>
          </a:solidFill>
          <a:ln/>
        </p:spPr>
      </p:sp>
      <p:sp>
        <p:nvSpPr>
          <p:cNvPr id="7" name="Text 5"/>
          <p:cNvSpPr/>
          <p:nvPr/>
        </p:nvSpPr>
        <p:spPr>
          <a:xfrm>
            <a:off x="952500" y="3454400"/>
            <a:ext cx="635000" cy="3302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1:1</a:t>
            </a:r>
            <a:endParaRPr lang="en-US" sz="1600" dirty="0"/>
          </a:p>
        </p:txBody>
      </p:sp>
      <p:sp>
        <p:nvSpPr>
          <p:cNvPr id="8" name="Text 6"/>
          <p:cNvSpPr/>
          <p:nvPr/>
        </p:nvSpPr>
        <p:spPr>
          <a:xfrm>
            <a:off x="1714500" y="3429000"/>
            <a:ext cx="3492500" cy="330200"/>
          </a:xfrm>
          <a:prstGeom prst="rect">
            <a:avLst/>
          </a:prstGeom>
          <a:noFill/>
          <a:ln/>
        </p:spPr>
        <p:txBody>
          <a:bodyPr wrap="none" lIns="0" tIns="0" rIns="0" bIns="0" rtlCol="0" anchor="ctr"/>
          <a:lstStyle/>
          <a:p>
            <a:pPr>
              <a:lnSpc>
                <a:spcPct val="100000"/>
              </a:lnSpc>
            </a:pPr>
            <a:r>
              <a:rPr lang="en-US" sz="1600" b="1" dirty="0">
                <a:solidFill>
                  <a:srgbClr val="2D5A4C"/>
                </a:solidFill>
                <a:latin typeface="Liter" pitchFamily="34" charset="0"/>
                <a:ea typeface="Liter" pitchFamily="34" charset="-122"/>
                <a:cs typeface="Liter" pitchFamily="34" charset="-120"/>
              </a:rPr>
              <a:t>One-to-One</a:t>
            </a:r>
            <a:endParaRPr lang="en-US" sz="1600" dirty="0"/>
          </a:p>
        </p:txBody>
      </p:sp>
      <p:sp>
        <p:nvSpPr>
          <p:cNvPr id="9" name="Text 7"/>
          <p:cNvSpPr/>
          <p:nvPr/>
        </p:nvSpPr>
        <p:spPr>
          <a:xfrm>
            <a:off x="952500" y="3873500"/>
            <a:ext cx="4318000" cy="15240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One entity connects to exactly one other entity.</a:t>
            </a:r>
            <a:endParaRPr lang="en-US" sz="1600" dirty="0"/>
          </a:p>
          <a:p>
            <a:pPr>
              <a:lnSpc>
                <a:spcPct val="140000"/>
              </a:lnSpc>
            </a:pPr>
            <a:r>
              <a:rPr lang="en-US" sz="1400" b="1" dirty="0">
                <a:solidFill>
                  <a:srgbClr val="2C2C2C"/>
                </a:solidFill>
                <a:latin typeface="Quattrocento Sans" pitchFamily="34" charset="0"/>
                <a:ea typeface="Quattrocento Sans" pitchFamily="34" charset="-122"/>
                <a:cs typeface="Quattrocento Sans" pitchFamily="34" charset="-120"/>
              </a:rPr>
              <a:t>Example:</a:t>
            </a:r>
            <a:endParaRPr lang="en-US" sz="1600" dirty="0"/>
          </a:p>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One Employee has one Parking Spot.</a:t>
            </a:r>
            <a:endParaRPr lang="en-US" sz="1600" dirty="0"/>
          </a:p>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One Country has one Capital.</a:t>
            </a:r>
            <a:endParaRPr lang="en-US" sz="1600" dirty="0"/>
          </a:p>
        </p:txBody>
      </p:sp>
      <p:sp>
        <p:nvSpPr>
          <p:cNvPr id="10" name="Shape 8"/>
          <p:cNvSpPr/>
          <p:nvPr/>
        </p:nvSpPr>
        <p:spPr>
          <a:xfrm>
            <a:off x="5778500" y="3302000"/>
            <a:ext cx="4699000" cy="2222500"/>
          </a:xfrm>
          <a:prstGeom prst="roundRect">
            <a:avLst>
              <a:gd name="adj" fmla="val 6000"/>
            </a:avLst>
          </a:prstGeom>
          <a:solidFill>
            <a:srgbClr val="D4943A">
              <a:alpha val="8235"/>
            </a:srgbClr>
          </a:solidFill>
          <a:ln/>
        </p:spPr>
      </p:sp>
      <p:sp>
        <p:nvSpPr>
          <p:cNvPr id="11" name="Shape 9"/>
          <p:cNvSpPr/>
          <p:nvPr/>
        </p:nvSpPr>
        <p:spPr>
          <a:xfrm>
            <a:off x="5969000" y="3454400"/>
            <a:ext cx="635000" cy="330200"/>
          </a:xfrm>
          <a:prstGeom prst="roundRect">
            <a:avLst>
              <a:gd name="adj" fmla="val 12000"/>
            </a:avLst>
          </a:prstGeom>
          <a:solidFill>
            <a:srgbClr val="D4943A"/>
          </a:solidFill>
          <a:ln/>
        </p:spPr>
      </p:sp>
      <p:sp>
        <p:nvSpPr>
          <p:cNvPr id="12" name="Text 10"/>
          <p:cNvSpPr/>
          <p:nvPr/>
        </p:nvSpPr>
        <p:spPr>
          <a:xfrm>
            <a:off x="5969000" y="3454400"/>
            <a:ext cx="635000" cy="3302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1:N</a:t>
            </a:r>
            <a:endParaRPr lang="en-US" sz="1600" dirty="0"/>
          </a:p>
        </p:txBody>
      </p:sp>
      <p:sp>
        <p:nvSpPr>
          <p:cNvPr id="13" name="Text 11"/>
          <p:cNvSpPr/>
          <p:nvPr/>
        </p:nvSpPr>
        <p:spPr>
          <a:xfrm>
            <a:off x="6731000" y="3429000"/>
            <a:ext cx="3492500" cy="330200"/>
          </a:xfrm>
          <a:prstGeom prst="rect">
            <a:avLst/>
          </a:prstGeom>
          <a:noFill/>
          <a:ln/>
        </p:spPr>
        <p:txBody>
          <a:bodyPr wrap="none" lIns="0" tIns="0" rIns="0" bIns="0" rtlCol="0" anchor="ctr"/>
          <a:lstStyle/>
          <a:p>
            <a:pPr>
              <a:lnSpc>
                <a:spcPct val="100000"/>
              </a:lnSpc>
            </a:pPr>
            <a:r>
              <a:rPr lang="en-US" sz="1600" b="1" dirty="0">
                <a:solidFill>
                  <a:srgbClr val="D4943A"/>
                </a:solidFill>
                <a:latin typeface="Liter" pitchFamily="34" charset="0"/>
                <a:ea typeface="Liter" pitchFamily="34" charset="-122"/>
                <a:cs typeface="Liter" pitchFamily="34" charset="-120"/>
              </a:rPr>
              <a:t>One-to-Many</a:t>
            </a:r>
            <a:endParaRPr lang="en-US" sz="1600" dirty="0"/>
          </a:p>
        </p:txBody>
      </p:sp>
      <p:sp>
        <p:nvSpPr>
          <p:cNvPr id="14" name="Text 12"/>
          <p:cNvSpPr/>
          <p:nvPr/>
        </p:nvSpPr>
        <p:spPr>
          <a:xfrm>
            <a:off x="5969000" y="3873500"/>
            <a:ext cx="4318000" cy="15240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One entity connects to many others.</a:t>
            </a:r>
            <a:endParaRPr lang="en-US" sz="1600" dirty="0"/>
          </a:p>
          <a:p>
            <a:pPr>
              <a:lnSpc>
                <a:spcPct val="140000"/>
              </a:lnSpc>
            </a:pPr>
            <a:r>
              <a:rPr lang="en-US" sz="1400" b="1" dirty="0">
                <a:solidFill>
                  <a:srgbClr val="2C2C2C"/>
                </a:solidFill>
                <a:latin typeface="Quattrocento Sans" pitchFamily="34" charset="0"/>
                <a:ea typeface="Quattrocento Sans" pitchFamily="34" charset="-122"/>
                <a:cs typeface="Quattrocento Sans" pitchFamily="34" charset="-120"/>
              </a:rPr>
              <a:t>Example:</a:t>
            </a:r>
            <a:endParaRPr lang="en-US" sz="1600" dirty="0"/>
          </a:p>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One Manager supervises many Employees.</a:t>
            </a:r>
            <a:endParaRPr lang="en-US" sz="1600" dirty="0"/>
          </a:p>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One Teacher has many Students.</a:t>
            </a:r>
            <a:endParaRPr lang="en-US" sz="1600" dirty="0"/>
          </a:p>
        </p:txBody>
      </p:sp>
      <p:sp>
        <p:nvSpPr>
          <p:cNvPr id="15" name="Shape 13"/>
          <p:cNvSpPr/>
          <p:nvPr/>
        </p:nvSpPr>
        <p:spPr>
          <a:xfrm>
            <a:off x="10795000" y="3302000"/>
            <a:ext cx="4699000" cy="2222500"/>
          </a:xfrm>
          <a:prstGeom prst="roundRect">
            <a:avLst>
              <a:gd name="adj" fmla="val 6000"/>
            </a:avLst>
          </a:prstGeom>
          <a:solidFill>
            <a:srgbClr val="2D5A4C">
              <a:alpha val="8235"/>
            </a:srgbClr>
          </a:solidFill>
          <a:ln/>
        </p:spPr>
      </p:sp>
      <p:sp>
        <p:nvSpPr>
          <p:cNvPr id="16" name="Shape 14"/>
          <p:cNvSpPr/>
          <p:nvPr/>
        </p:nvSpPr>
        <p:spPr>
          <a:xfrm>
            <a:off x="10985500" y="3454400"/>
            <a:ext cx="762000" cy="330200"/>
          </a:xfrm>
          <a:prstGeom prst="roundRect">
            <a:avLst>
              <a:gd name="adj" fmla="val 12000"/>
            </a:avLst>
          </a:prstGeom>
          <a:solidFill>
            <a:srgbClr val="2D5A4C"/>
          </a:solidFill>
          <a:ln/>
        </p:spPr>
      </p:sp>
      <p:sp>
        <p:nvSpPr>
          <p:cNvPr id="17" name="Text 15"/>
          <p:cNvSpPr/>
          <p:nvPr/>
        </p:nvSpPr>
        <p:spPr>
          <a:xfrm>
            <a:off x="10985500" y="3454400"/>
            <a:ext cx="762000" cy="3302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M:N</a:t>
            </a:r>
            <a:endParaRPr lang="en-US" sz="1600" dirty="0"/>
          </a:p>
        </p:txBody>
      </p:sp>
      <p:sp>
        <p:nvSpPr>
          <p:cNvPr id="18" name="Text 16"/>
          <p:cNvSpPr/>
          <p:nvPr/>
        </p:nvSpPr>
        <p:spPr>
          <a:xfrm>
            <a:off x="11874500" y="3429000"/>
            <a:ext cx="3365500" cy="330200"/>
          </a:xfrm>
          <a:prstGeom prst="rect">
            <a:avLst/>
          </a:prstGeom>
          <a:noFill/>
          <a:ln/>
        </p:spPr>
        <p:txBody>
          <a:bodyPr wrap="none" lIns="0" tIns="0" rIns="0" bIns="0" rtlCol="0" anchor="ctr"/>
          <a:lstStyle/>
          <a:p>
            <a:pPr>
              <a:lnSpc>
                <a:spcPct val="100000"/>
              </a:lnSpc>
            </a:pPr>
            <a:r>
              <a:rPr lang="en-US" sz="1600" b="1" dirty="0">
                <a:solidFill>
                  <a:srgbClr val="2D5A4C"/>
                </a:solidFill>
                <a:latin typeface="Liter" pitchFamily="34" charset="0"/>
                <a:ea typeface="Liter" pitchFamily="34" charset="-122"/>
                <a:cs typeface="Liter" pitchFamily="34" charset="-120"/>
              </a:rPr>
              <a:t>Many-to-Many</a:t>
            </a:r>
            <a:endParaRPr lang="en-US" sz="1600" dirty="0"/>
          </a:p>
        </p:txBody>
      </p:sp>
      <p:sp>
        <p:nvSpPr>
          <p:cNvPr id="19" name="Text 17"/>
          <p:cNvSpPr/>
          <p:nvPr/>
        </p:nvSpPr>
        <p:spPr>
          <a:xfrm>
            <a:off x="10985500" y="3873500"/>
            <a:ext cx="4318000" cy="15240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Many entities connect to many others.</a:t>
            </a:r>
            <a:endParaRPr lang="en-US" sz="1600" dirty="0"/>
          </a:p>
          <a:p>
            <a:pPr>
              <a:lnSpc>
                <a:spcPct val="140000"/>
              </a:lnSpc>
            </a:pPr>
            <a:r>
              <a:rPr lang="en-US" sz="1400" b="1" dirty="0">
                <a:solidFill>
                  <a:srgbClr val="2C2C2C"/>
                </a:solidFill>
                <a:latin typeface="Quattrocento Sans" pitchFamily="34" charset="0"/>
                <a:ea typeface="Quattrocento Sans" pitchFamily="34" charset="-122"/>
                <a:cs typeface="Quattrocento Sans" pitchFamily="34" charset="-120"/>
              </a:rPr>
              <a:t>Example:</a:t>
            </a:r>
            <a:endParaRPr lang="en-US" sz="1600" dirty="0"/>
          </a:p>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Many Students enroll in many Courses.</a:t>
            </a:r>
            <a:endParaRPr lang="en-US" sz="1600" dirty="0"/>
          </a:p>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Many Actors star in many Movies.</a:t>
            </a:r>
            <a:endParaRPr lang="en-US" sz="1600" dirty="0"/>
          </a:p>
        </p:txBody>
      </p:sp>
      <p:sp>
        <p:nvSpPr>
          <p:cNvPr id="20" name="Shape 18"/>
          <p:cNvSpPr/>
          <p:nvPr/>
        </p:nvSpPr>
        <p:spPr>
          <a:xfrm>
            <a:off x="762000" y="5778500"/>
            <a:ext cx="14732000" cy="889000"/>
          </a:xfrm>
          <a:prstGeom prst="roundRect">
            <a:avLst>
              <a:gd name="adj" fmla="val 6000"/>
            </a:avLst>
          </a:prstGeom>
          <a:solidFill>
            <a:srgbClr val="E8E2DA"/>
          </a:solidFill>
          <a:ln/>
        </p:spPr>
      </p:sp>
      <p:sp>
        <p:nvSpPr>
          <p:cNvPr id="21" name="Shape 19"/>
          <p:cNvSpPr/>
          <p:nvPr/>
        </p:nvSpPr>
        <p:spPr>
          <a:xfrm>
            <a:off x="1060450" y="5969000"/>
            <a:ext cx="266700" cy="355600"/>
          </a:xfrm>
          <a:custGeom>
            <a:avLst/>
            <a:gdLst/>
            <a:ahLst/>
            <a:cxnLst/>
            <a:rect l="l" t="t" r="r" b="b"/>
            <a:pathLst>
              <a:path w="266700" h="355600">
                <a:moveTo>
                  <a:pt x="203428" y="266700"/>
                </a:moveTo>
                <a:cubicBezTo>
                  <a:pt x="208498" y="251212"/>
                  <a:pt x="218638" y="237182"/>
                  <a:pt x="230098" y="225098"/>
                </a:cubicBezTo>
                <a:cubicBezTo>
                  <a:pt x="252809" y="201206"/>
                  <a:pt x="266700" y="168910"/>
                  <a:pt x="266700" y="133350"/>
                </a:cubicBezTo>
                <a:cubicBezTo>
                  <a:pt x="266700" y="59730"/>
                  <a:pt x="206970" y="0"/>
                  <a:pt x="133350" y="0"/>
                </a:cubicBezTo>
                <a:cubicBezTo>
                  <a:pt x="59730" y="0"/>
                  <a:pt x="0" y="59730"/>
                  <a:pt x="0" y="133350"/>
                </a:cubicBezTo>
                <a:cubicBezTo>
                  <a:pt x="0" y="168910"/>
                  <a:pt x="13891" y="201206"/>
                  <a:pt x="36602" y="225098"/>
                </a:cubicBezTo>
                <a:cubicBezTo>
                  <a:pt x="48062" y="237182"/>
                  <a:pt x="58271" y="251212"/>
                  <a:pt x="63272" y="266700"/>
                </a:cubicBezTo>
                <a:lnTo>
                  <a:pt x="203359" y="266700"/>
                </a:lnTo>
                <a:close/>
                <a:moveTo>
                  <a:pt x="200025" y="300038"/>
                </a:moveTo>
                <a:lnTo>
                  <a:pt x="66675" y="300038"/>
                </a:lnTo>
                <a:lnTo>
                  <a:pt x="66675" y="311150"/>
                </a:lnTo>
                <a:cubicBezTo>
                  <a:pt x="66675" y="341848"/>
                  <a:pt x="91539" y="366712"/>
                  <a:pt x="122238" y="366712"/>
                </a:cubicBezTo>
                <a:lnTo>
                  <a:pt x="144463" y="366712"/>
                </a:lnTo>
                <a:cubicBezTo>
                  <a:pt x="175161" y="366712"/>
                  <a:pt x="200025" y="341848"/>
                  <a:pt x="200025" y="311150"/>
                </a:cubicBezTo>
                <a:lnTo>
                  <a:pt x="200025" y="300038"/>
                </a:lnTo>
                <a:close/>
                <a:moveTo>
                  <a:pt x="127794" y="77788"/>
                </a:moveTo>
                <a:cubicBezTo>
                  <a:pt x="100151" y="77788"/>
                  <a:pt x="77788" y="100151"/>
                  <a:pt x="77788" y="127794"/>
                </a:cubicBezTo>
                <a:cubicBezTo>
                  <a:pt x="77788" y="137031"/>
                  <a:pt x="70356" y="144463"/>
                  <a:pt x="61119" y="144463"/>
                </a:cubicBezTo>
                <a:cubicBezTo>
                  <a:pt x="51881" y="144463"/>
                  <a:pt x="44450" y="137031"/>
                  <a:pt x="44450" y="127794"/>
                </a:cubicBezTo>
                <a:cubicBezTo>
                  <a:pt x="44450" y="81746"/>
                  <a:pt x="81746" y="44450"/>
                  <a:pt x="127794" y="44450"/>
                </a:cubicBezTo>
                <a:cubicBezTo>
                  <a:pt x="137031" y="44450"/>
                  <a:pt x="144463" y="51881"/>
                  <a:pt x="144463" y="61119"/>
                </a:cubicBezTo>
                <a:cubicBezTo>
                  <a:pt x="144463" y="70356"/>
                  <a:pt x="137031" y="77788"/>
                  <a:pt x="127794" y="77788"/>
                </a:cubicBezTo>
                <a:close/>
              </a:path>
            </a:pathLst>
          </a:custGeom>
          <a:solidFill>
            <a:srgbClr val="D4943A"/>
          </a:solidFill>
          <a:ln/>
        </p:spPr>
      </p:sp>
      <p:sp>
        <p:nvSpPr>
          <p:cNvPr id="22" name="Text 20"/>
          <p:cNvSpPr/>
          <p:nvPr/>
        </p:nvSpPr>
        <p:spPr>
          <a:xfrm>
            <a:off x="1498600" y="5842000"/>
            <a:ext cx="2540000" cy="304800"/>
          </a:xfrm>
          <a:prstGeom prst="rect">
            <a:avLst/>
          </a:prstGeom>
          <a:noFill/>
          <a:ln/>
        </p:spPr>
        <p:txBody>
          <a:bodyPr wrap="none" lIns="0" tIns="0" rIns="0" bIns="0" rtlCol="0" anchor="ctr"/>
          <a:lstStyle/>
          <a:p>
            <a:pPr>
              <a:lnSpc>
                <a:spcPct val="100000"/>
              </a:lnSpc>
            </a:pPr>
            <a:r>
              <a:rPr lang="en-US" sz="1400" b="1" dirty="0">
                <a:solidFill>
                  <a:srgbClr val="2D5A4C"/>
                </a:solidFill>
                <a:latin typeface="Liter" pitchFamily="34" charset="0"/>
                <a:ea typeface="Liter" pitchFamily="34" charset="-122"/>
                <a:cs typeface="Liter" pitchFamily="34" charset="-120"/>
              </a:rPr>
              <a:t>EXPLANATION</a:t>
            </a:r>
            <a:endParaRPr lang="en-US" sz="1600" dirty="0"/>
          </a:p>
        </p:txBody>
      </p:sp>
      <p:sp>
        <p:nvSpPr>
          <p:cNvPr id="23" name="Text 21"/>
          <p:cNvSpPr/>
          <p:nvPr/>
        </p:nvSpPr>
        <p:spPr>
          <a:xfrm>
            <a:off x="1498600" y="6184900"/>
            <a:ext cx="13716000" cy="3556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Cardinality tells us the rules of the relationship. It defines how many of each entity can participate — critical for designing the database correctly.</a:t>
            </a:r>
            <a:endParaRPr lang="en-US" sz="1600" dirty="0"/>
          </a:p>
        </p:txBody>
      </p:sp>
      <p:sp>
        <p:nvSpPr>
          <p:cNvPr id="24" name="Shape 22"/>
          <p:cNvSpPr/>
          <p:nvPr/>
        </p:nvSpPr>
        <p:spPr>
          <a:xfrm>
            <a:off x="762000" y="6858000"/>
            <a:ext cx="14732000" cy="1016000"/>
          </a:xfrm>
          <a:prstGeom prst="roundRect">
            <a:avLst>
              <a:gd name="adj" fmla="val 6000"/>
            </a:avLst>
          </a:prstGeom>
          <a:solidFill>
            <a:srgbClr val="D4943A">
              <a:alpha val="8235"/>
            </a:srgbClr>
          </a:solidFill>
          <a:ln/>
        </p:spPr>
      </p:sp>
      <p:sp>
        <p:nvSpPr>
          <p:cNvPr id="25" name="Shape 23"/>
          <p:cNvSpPr/>
          <p:nvPr/>
        </p:nvSpPr>
        <p:spPr>
          <a:xfrm>
            <a:off x="1016000" y="6985000"/>
            <a:ext cx="304800" cy="304800"/>
          </a:xfrm>
          <a:custGeom>
            <a:avLst/>
            <a:gdLst/>
            <a:ahLst/>
            <a:cxnLst/>
            <a:rect l="l" t="t" r="r" b="b"/>
            <a:pathLst>
              <a:path w="304800" h="304800">
                <a:moveTo>
                  <a:pt x="209490" y="166688"/>
                </a:moveTo>
                <a:lnTo>
                  <a:pt x="95845" y="166688"/>
                </a:lnTo>
                <a:cubicBezTo>
                  <a:pt x="97572" y="205085"/>
                  <a:pt x="106085" y="240447"/>
                  <a:pt x="118170" y="266343"/>
                </a:cubicBezTo>
                <a:cubicBezTo>
                  <a:pt x="124956" y="280928"/>
                  <a:pt x="132278" y="291227"/>
                  <a:pt x="139065" y="297537"/>
                </a:cubicBezTo>
                <a:cubicBezTo>
                  <a:pt x="145733" y="303788"/>
                  <a:pt x="150316" y="304800"/>
                  <a:pt x="152698" y="304800"/>
                </a:cubicBezTo>
                <a:cubicBezTo>
                  <a:pt x="155079" y="304800"/>
                  <a:pt x="159663" y="303788"/>
                  <a:pt x="166330" y="297537"/>
                </a:cubicBezTo>
                <a:cubicBezTo>
                  <a:pt x="173117" y="291227"/>
                  <a:pt x="180439" y="280868"/>
                  <a:pt x="187226" y="266343"/>
                </a:cubicBezTo>
                <a:cubicBezTo>
                  <a:pt x="199311" y="240447"/>
                  <a:pt x="207824" y="205085"/>
                  <a:pt x="209550" y="166688"/>
                </a:cubicBezTo>
                <a:close/>
                <a:moveTo>
                  <a:pt x="95786" y="138113"/>
                </a:moveTo>
                <a:lnTo>
                  <a:pt x="209431" y="138113"/>
                </a:lnTo>
                <a:cubicBezTo>
                  <a:pt x="207764" y="99715"/>
                  <a:pt x="199251" y="64353"/>
                  <a:pt x="187166" y="38457"/>
                </a:cubicBezTo>
                <a:cubicBezTo>
                  <a:pt x="180380" y="23932"/>
                  <a:pt x="173057" y="13573"/>
                  <a:pt x="166271" y="7263"/>
                </a:cubicBezTo>
                <a:cubicBezTo>
                  <a:pt x="159603" y="1012"/>
                  <a:pt x="155019" y="0"/>
                  <a:pt x="152638" y="0"/>
                </a:cubicBezTo>
                <a:cubicBezTo>
                  <a:pt x="150257" y="0"/>
                  <a:pt x="145673" y="1012"/>
                  <a:pt x="139005" y="7263"/>
                </a:cubicBezTo>
                <a:cubicBezTo>
                  <a:pt x="132219" y="13573"/>
                  <a:pt x="124897" y="23932"/>
                  <a:pt x="118110" y="38457"/>
                </a:cubicBezTo>
                <a:cubicBezTo>
                  <a:pt x="106025" y="64353"/>
                  <a:pt x="97512" y="99715"/>
                  <a:pt x="95786" y="138113"/>
                </a:cubicBezTo>
                <a:close/>
                <a:moveTo>
                  <a:pt x="67211" y="138113"/>
                </a:moveTo>
                <a:cubicBezTo>
                  <a:pt x="69294" y="87154"/>
                  <a:pt x="82451" y="39826"/>
                  <a:pt x="101679" y="8751"/>
                </a:cubicBezTo>
                <a:cubicBezTo>
                  <a:pt x="46851" y="28158"/>
                  <a:pt x="6489" y="78105"/>
                  <a:pt x="893" y="138113"/>
                </a:cubicBezTo>
                <a:lnTo>
                  <a:pt x="67211" y="138113"/>
                </a:lnTo>
                <a:close/>
                <a:moveTo>
                  <a:pt x="893" y="166688"/>
                </a:moveTo>
                <a:cubicBezTo>
                  <a:pt x="6489" y="226695"/>
                  <a:pt x="46851" y="276642"/>
                  <a:pt x="101679" y="296049"/>
                </a:cubicBezTo>
                <a:cubicBezTo>
                  <a:pt x="82451" y="264974"/>
                  <a:pt x="69294" y="217646"/>
                  <a:pt x="67211" y="166688"/>
                </a:cubicBezTo>
                <a:lnTo>
                  <a:pt x="893" y="166688"/>
                </a:lnTo>
                <a:close/>
                <a:moveTo>
                  <a:pt x="238065" y="166688"/>
                </a:moveTo>
                <a:cubicBezTo>
                  <a:pt x="235982" y="217646"/>
                  <a:pt x="222825" y="264974"/>
                  <a:pt x="203597" y="296049"/>
                </a:cubicBezTo>
                <a:cubicBezTo>
                  <a:pt x="258425" y="276582"/>
                  <a:pt x="298787" y="226695"/>
                  <a:pt x="304383" y="166688"/>
                </a:cubicBezTo>
                <a:lnTo>
                  <a:pt x="238065" y="166688"/>
                </a:lnTo>
                <a:close/>
                <a:moveTo>
                  <a:pt x="304383" y="138113"/>
                </a:moveTo>
                <a:cubicBezTo>
                  <a:pt x="298787" y="78105"/>
                  <a:pt x="258425" y="28158"/>
                  <a:pt x="203597" y="8751"/>
                </a:cubicBezTo>
                <a:cubicBezTo>
                  <a:pt x="222825" y="39826"/>
                  <a:pt x="235982" y="87154"/>
                  <a:pt x="238065" y="138113"/>
                </a:cubicBezTo>
                <a:lnTo>
                  <a:pt x="304383" y="138113"/>
                </a:lnTo>
                <a:close/>
              </a:path>
            </a:pathLst>
          </a:custGeom>
          <a:solidFill>
            <a:srgbClr val="D4943A"/>
          </a:solidFill>
          <a:ln/>
        </p:spPr>
      </p:sp>
      <p:sp>
        <p:nvSpPr>
          <p:cNvPr id="26" name="Text 24"/>
          <p:cNvSpPr/>
          <p:nvPr/>
        </p:nvSpPr>
        <p:spPr>
          <a:xfrm>
            <a:off x="1422400" y="6946900"/>
            <a:ext cx="3175000" cy="304800"/>
          </a:xfrm>
          <a:prstGeom prst="rect">
            <a:avLst/>
          </a:prstGeom>
          <a:noFill/>
          <a:ln/>
        </p:spPr>
        <p:txBody>
          <a:bodyPr wrap="none" lIns="0" tIns="0" rIns="0" bIns="0" rtlCol="0" anchor="ctr"/>
          <a:lstStyle/>
          <a:p>
            <a:pPr>
              <a:lnSpc>
                <a:spcPct val="100000"/>
              </a:lnSpc>
            </a:pPr>
            <a:r>
              <a:rPr lang="en-US" sz="1400" b="1" dirty="0">
                <a:solidFill>
                  <a:srgbClr val="D4943A"/>
                </a:solidFill>
                <a:latin typeface="Liter" pitchFamily="34" charset="0"/>
                <a:ea typeface="Liter" pitchFamily="34" charset="-122"/>
                <a:cs typeface="Liter" pitchFamily="34" charset="-120"/>
              </a:rPr>
              <a:t>REAL-WORLD EXAMPLE</a:t>
            </a:r>
            <a:endParaRPr lang="en-US" sz="1600" dirty="0"/>
          </a:p>
        </p:txBody>
      </p:sp>
      <p:sp>
        <p:nvSpPr>
          <p:cNvPr id="27" name="Text 25"/>
          <p:cNvSpPr/>
          <p:nvPr/>
        </p:nvSpPr>
        <p:spPr>
          <a:xfrm>
            <a:off x="1016000" y="7315200"/>
            <a:ext cx="14224000" cy="4572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A university registration system uses M:N cardinality: thousands of students enroll in hundreds of courses, and each course has many students.</a:t>
            </a:r>
            <a:endParaRPr lang="en-US" sz="1600" dirty="0"/>
          </a:p>
        </p:txBody>
      </p:sp>
      <p:sp>
        <p:nvSpPr>
          <p:cNvPr id="28" name="Shape 26"/>
          <p:cNvSpPr/>
          <p:nvPr/>
        </p:nvSpPr>
        <p:spPr>
          <a:xfrm>
            <a:off x="762000" y="8128000"/>
            <a:ext cx="14732000" cy="508000"/>
          </a:xfrm>
          <a:prstGeom prst="roundRect">
            <a:avLst>
              <a:gd name="adj" fmla="val 6000"/>
            </a:avLst>
          </a:prstGeom>
          <a:solidFill>
            <a:srgbClr val="2D5A4C">
              <a:alpha val="8235"/>
            </a:srgbClr>
          </a:solidFill>
          <a:ln/>
        </p:spPr>
      </p:sp>
      <p:sp>
        <p:nvSpPr>
          <p:cNvPr id="29" name="Shape 27"/>
          <p:cNvSpPr/>
          <p:nvPr/>
        </p:nvSpPr>
        <p:spPr>
          <a:xfrm>
            <a:off x="1016000" y="8229600"/>
            <a:ext cx="254000" cy="254000"/>
          </a:xfrm>
          <a:custGeom>
            <a:avLst/>
            <a:gdLst/>
            <a:ahLst/>
            <a:cxnLst/>
            <a:rect l="l" t="t" r="r" b="b"/>
            <a:pathLst>
              <a:path w="254000" h="254000">
                <a:moveTo>
                  <a:pt x="175071" y="10517"/>
                </a:moveTo>
                <a:lnTo>
                  <a:pt x="152797" y="32792"/>
                </a:lnTo>
                <a:lnTo>
                  <a:pt x="221208" y="101203"/>
                </a:lnTo>
                <a:lnTo>
                  <a:pt x="243483" y="78929"/>
                </a:lnTo>
                <a:cubicBezTo>
                  <a:pt x="250230" y="72231"/>
                  <a:pt x="254000" y="63103"/>
                  <a:pt x="254000" y="53578"/>
                </a:cubicBezTo>
                <a:cubicBezTo>
                  <a:pt x="254000" y="44053"/>
                  <a:pt x="250230" y="34925"/>
                  <a:pt x="243483" y="28228"/>
                </a:cubicBezTo>
                <a:lnTo>
                  <a:pt x="225772" y="10517"/>
                </a:lnTo>
                <a:cubicBezTo>
                  <a:pt x="219075" y="3770"/>
                  <a:pt x="209947" y="0"/>
                  <a:pt x="200422" y="0"/>
                </a:cubicBezTo>
                <a:cubicBezTo>
                  <a:pt x="190897" y="0"/>
                  <a:pt x="181769" y="3770"/>
                  <a:pt x="175071" y="10517"/>
                </a:cubicBezTo>
                <a:close/>
                <a:moveTo>
                  <a:pt x="135979" y="49609"/>
                </a:moveTo>
                <a:lnTo>
                  <a:pt x="29220" y="156319"/>
                </a:lnTo>
                <a:cubicBezTo>
                  <a:pt x="23912" y="161627"/>
                  <a:pt x="20042" y="168275"/>
                  <a:pt x="18008" y="175518"/>
                </a:cubicBezTo>
                <a:lnTo>
                  <a:pt x="446" y="238919"/>
                </a:lnTo>
                <a:cubicBezTo>
                  <a:pt x="-695" y="243036"/>
                  <a:pt x="446" y="247501"/>
                  <a:pt x="3522" y="250527"/>
                </a:cubicBezTo>
                <a:cubicBezTo>
                  <a:pt x="6598" y="253554"/>
                  <a:pt x="11013" y="254744"/>
                  <a:pt x="15131" y="253603"/>
                </a:cubicBezTo>
                <a:lnTo>
                  <a:pt x="78532" y="235992"/>
                </a:lnTo>
                <a:cubicBezTo>
                  <a:pt x="85775" y="233958"/>
                  <a:pt x="92373" y="230138"/>
                  <a:pt x="97730" y="224780"/>
                </a:cubicBezTo>
                <a:lnTo>
                  <a:pt x="204391" y="118021"/>
                </a:lnTo>
                <a:lnTo>
                  <a:pt x="135979" y="49609"/>
                </a:lnTo>
                <a:close/>
              </a:path>
            </a:pathLst>
          </a:custGeom>
          <a:solidFill>
            <a:srgbClr val="2D5A4C"/>
          </a:solidFill>
          <a:ln/>
        </p:spPr>
      </p:sp>
      <p:sp>
        <p:nvSpPr>
          <p:cNvPr id="30" name="Text 28"/>
          <p:cNvSpPr/>
          <p:nvPr/>
        </p:nvSpPr>
        <p:spPr>
          <a:xfrm>
            <a:off x="1371600" y="8166100"/>
            <a:ext cx="13970000" cy="381000"/>
          </a:xfrm>
          <a:prstGeom prst="rect">
            <a:avLst/>
          </a:prstGeom>
          <a:noFill/>
          <a:ln/>
        </p:spPr>
        <p:txBody>
          <a:bodyPr wrap="square" lIns="0" tIns="0" rIns="0" bIns="0" rtlCol="0" anchor="ctr"/>
          <a:lstStyle/>
          <a:p>
            <a:pPr>
              <a:lnSpc>
                <a:spcPct val="100000"/>
              </a:lnSpc>
            </a:pPr>
            <a:r>
              <a:rPr lang="en-US" sz="1400" b="1" dirty="0">
                <a:solidFill>
                  <a:srgbClr val="2D5A4C"/>
                </a:solidFill>
                <a:latin typeface="Quattrocento Sans" pitchFamily="34" charset="0"/>
                <a:ea typeface="Quattrocento Sans" pitchFamily="34" charset="-122"/>
                <a:cs typeface="Quattrocento Sans" pitchFamily="34" charset="-120"/>
              </a:rPr>
              <a:t>Practice:</a:t>
            </a:r>
            <a:pPr>
              <a:lnSpc>
                <a:spcPct val="100000"/>
              </a:lnSpc>
            </a:pPr>
            <a:r>
              <a:rPr lang="en-US" sz="1400" dirty="0">
                <a:solidFill>
                  <a:srgbClr val="2D5A4C"/>
                </a:solidFill>
                <a:latin typeface="Quattrocento Sans" pitchFamily="34" charset="0"/>
                <a:ea typeface="Quattrocento Sans" pitchFamily="34" charset="-122"/>
                <a:cs typeface="Quattrocento Sans" pitchFamily="34" charset="-120"/>
              </a:rPr>
              <a:t> Determine cardinality: Country-Capital, Teacher-Students, Actor-Movies</a:t>
            </a:r>
            <a:endParaRPr lang="en-US" sz="1600" dirty="0"/>
          </a:p>
        </p:txBody>
      </p:sp>
      <p:sp>
        <p:nvSpPr>
          <p:cNvPr id="31" name="Text 29"/>
          <p:cNvSpPr/>
          <p:nvPr/>
        </p:nvSpPr>
        <p:spPr>
          <a:xfrm>
            <a:off x="13462000" y="8788400"/>
            <a:ext cx="2286000" cy="254000"/>
          </a:xfrm>
          <a:prstGeom prst="rect">
            <a:avLst/>
          </a:prstGeom>
          <a:noFill/>
          <a:ln/>
        </p:spPr>
        <p:txBody>
          <a:bodyPr wrap="none" lIns="0" tIns="0" rIns="0" bIns="0" rtlCol="0" anchor="ctr"/>
          <a:lstStyle/>
          <a:p>
            <a:pPr algn="r">
              <a:lnSpc>
                <a:spcPct val="140000"/>
              </a:lnSpc>
            </a:pPr>
            <a:r>
              <a:rPr lang="en-US" sz="1400" dirty="0">
                <a:solidFill>
                  <a:srgbClr val="8B7355"/>
                </a:solidFill>
                <a:latin typeface="QuattrocentoSans" pitchFamily="34" charset="0"/>
                <a:ea typeface="QuattrocentoSans" pitchFamily="34" charset="-122"/>
                <a:cs typeface="QuattrocentoSans" pitchFamily="34" charset="-120"/>
              </a:rPr>
              <a:t>Relationships and Roles</a:t>
            </a:r>
            <a:endParaRPr lang="en-US" sz="1400" dirty="0"/>
          </a:p>
        </p:txBody>
      </p:sp>
    </p:spTree>
  </p:cSld>
  <p:clrMapOvr>
    <a:masterClrMapping/>
  </p:clrMapOvr>
  <p:transition>
    <p:fade/>
    <p:spd val="med"/>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D4943A"/>
          </a:solidFill>
          <a:ln/>
        </p:spPr>
      </p:sp>
      <p:sp>
        <p:nvSpPr>
          <p:cNvPr id="3" name="Text 1"/>
          <p:cNvSpPr/>
          <p:nvPr/>
        </p:nvSpPr>
        <p:spPr>
          <a:xfrm>
            <a:off x="762000" y="381000"/>
            <a:ext cx="10160000" cy="508000"/>
          </a:xfrm>
          <a:prstGeom prst="rect">
            <a:avLst/>
          </a:prstGeom>
          <a:noFill/>
          <a:ln/>
        </p:spPr>
        <p:txBody>
          <a:bodyPr wrap="none" lIns="0" tIns="0" rIns="0" bIns="0" rtlCol="0" anchor="ctr"/>
          <a:lstStyle/>
          <a:p>
            <a:pPr>
              <a:lnSpc>
                <a:spcPct val="130000"/>
              </a:lnSpc>
            </a:pPr>
            <a:r>
              <a:rPr lang="en-US" sz="2800" dirty="0">
                <a:solidFill>
                  <a:srgbClr val="2D5A4C"/>
                </a:solidFill>
                <a:latin typeface="Liter" pitchFamily="34" charset="0"/>
                <a:ea typeface="Liter" pitchFamily="34" charset="-122"/>
                <a:cs typeface="Liter" pitchFamily="34" charset="-120"/>
              </a:rPr>
              <a:t>Relationship Types with Examples</a:t>
            </a:r>
            <a:endParaRPr lang="en-US" sz="2800" dirty="0"/>
          </a:p>
        </p:txBody>
      </p:sp>
      <p:sp>
        <p:nvSpPr>
          <p:cNvPr id="4" name="Text 2"/>
          <p:cNvSpPr/>
          <p:nvPr/>
        </p:nvSpPr>
        <p:spPr>
          <a:xfrm>
            <a:off x="762000" y="1143000"/>
            <a:ext cx="14732000" cy="1968500"/>
          </a:xfrm>
          <a:prstGeom prst="rect">
            <a:avLst/>
          </a:prstGeom>
          <a:noFill/>
          <a:ln/>
        </p:spPr>
        <p:txBody>
          <a:bodyPr wrap="square" lIns="0" tIns="0" rIns="0" bIns="0" rtlCol="0" anchor="t"/>
          <a:lstStyle/>
          <a:p>
            <a:pPr marL="317500" indent="-317500">
              <a:lnSpc>
                <a:spcPct val="150000"/>
              </a:lnSpc>
              <a:spcBef>
                <a:spcPts val="10"/>
              </a:spcBef>
              <a:buSzPct val="100000"/>
              <a:buChar char="•"/>
            </a:pPr>
            <a:r>
              <a:rPr lang="en-US" sz="1800" b="1" dirty="0">
                <a:solidFill>
                  <a:srgbClr val="2C2C2C"/>
                </a:solidFill>
                <a:latin typeface="QuattrocentoSans" pitchFamily="34" charset="0"/>
                <a:ea typeface="QuattrocentoSans" pitchFamily="34" charset="-122"/>
                <a:cs typeface="QuattrocentoSans" pitchFamily="34" charset="-120"/>
              </a:rPr>
              <a:t>Binary relationships</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connect exactly two entities (the most common type)</a:t>
            </a:r>
            <a:endParaRPr lang="en-US" sz="2000" dirty="0"/>
          </a:p>
          <a:p>
            <a:pPr marL="317500" indent="-317500">
              <a:lnSpc>
                <a:spcPct val="150000"/>
              </a:lnSpc>
              <a:spcBef>
                <a:spcPts val="10"/>
              </a:spcBef>
              <a:buSzPct val="100000"/>
              <a:buChar char="•"/>
            </a:pPr>
            <a:r>
              <a:rPr lang="en-US" sz="1800" b="1" dirty="0">
                <a:solidFill>
                  <a:srgbClr val="2C2C2C"/>
                </a:solidFill>
                <a:latin typeface="QuattrocentoSans" pitchFamily="34" charset="0"/>
                <a:ea typeface="QuattrocentoSans" pitchFamily="34" charset="-122"/>
                <a:cs typeface="QuattrocentoSans" pitchFamily="34" charset="-120"/>
              </a:rPr>
              <a:t>Ternary relationships</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connect three entities simultaneously</a:t>
            </a:r>
            <a:endParaRPr lang="en-US" sz="2000" dirty="0"/>
          </a:p>
          <a:p>
            <a:pPr marL="317500" indent="-317500">
              <a:lnSpc>
                <a:spcPct val="150000"/>
              </a:lnSpc>
              <a:spcBef>
                <a:spcPts val="10"/>
              </a:spcBef>
              <a:buSzPct val="100000"/>
              <a:buChar char="•"/>
            </a:pPr>
            <a:r>
              <a:rPr lang="en-US" sz="1800" b="1" dirty="0">
                <a:solidFill>
                  <a:srgbClr val="2C2C2C"/>
                </a:solidFill>
                <a:latin typeface="QuattrocentoSans" pitchFamily="34" charset="0"/>
                <a:ea typeface="QuattrocentoSans" pitchFamily="34" charset="-122"/>
                <a:cs typeface="QuattrocentoSans" pitchFamily="34" charset="-120"/>
              </a:rPr>
              <a:t>Unary (recursive)</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relationships connect an entity to itself</a:t>
            </a:r>
            <a:endParaRPr lang="en-US" sz="2000" dirty="0"/>
          </a:p>
        </p:txBody>
      </p:sp>
      <p:sp>
        <p:nvSpPr>
          <p:cNvPr id="5" name="Shape 3"/>
          <p:cNvSpPr/>
          <p:nvPr/>
        </p:nvSpPr>
        <p:spPr>
          <a:xfrm>
            <a:off x="762000" y="3302000"/>
            <a:ext cx="4699000" cy="2413000"/>
          </a:xfrm>
          <a:prstGeom prst="roundRect">
            <a:avLst>
              <a:gd name="adj" fmla="val 6000"/>
            </a:avLst>
          </a:prstGeom>
          <a:solidFill>
            <a:srgbClr val="2D5A4C">
              <a:alpha val="8235"/>
            </a:srgbClr>
          </a:solidFill>
          <a:ln/>
        </p:spPr>
      </p:sp>
      <p:sp>
        <p:nvSpPr>
          <p:cNvPr id="6" name="Shape 4"/>
          <p:cNvSpPr/>
          <p:nvPr/>
        </p:nvSpPr>
        <p:spPr>
          <a:xfrm>
            <a:off x="952500" y="3454400"/>
            <a:ext cx="1016000" cy="330200"/>
          </a:xfrm>
          <a:prstGeom prst="roundRect">
            <a:avLst>
              <a:gd name="adj" fmla="val 12000"/>
            </a:avLst>
          </a:prstGeom>
          <a:solidFill>
            <a:srgbClr val="2D5A4C"/>
          </a:solidFill>
          <a:ln/>
        </p:spPr>
      </p:sp>
      <p:sp>
        <p:nvSpPr>
          <p:cNvPr id="7" name="Text 5"/>
          <p:cNvSpPr/>
          <p:nvPr/>
        </p:nvSpPr>
        <p:spPr>
          <a:xfrm>
            <a:off x="952500" y="3454400"/>
            <a:ext cx="1016000" cy="3302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Binary</a:t>
            </a:r>
            <a:endParaRPr lang="en-US" sz="1600" dirty="0"/>
          </a:p>
        </p:txBody>
      </p:sp>
      <p:sp>
        <p:nvSpPr>
          <p:cNvPr id="8" name="Shape 6"/>
          <p:cNvSpPr/>
          <p:nvPr/>
        </p:nvSpPr>
        <p:spPr>
          <a:xfrm>
            <a:off x="1143000" y="4000500"/>
            <a:ext cx="1206500" cy="571500"/>
          </a:xfrm>
          <a:prstGeom prst="rect">
            <a:avLst/>
          </a:prstGeom>
          <a:solidFill>
            <a:srgbClr val="2D5A4C"/>
          </a:solidFill>
          <a:ln/>
        </p:spPr>
      </p:sp>
      <p:sp>
        <p:nvSpPr>
          <p:cNvPr id="9" name="Text 7"/>
          <p:cNvSpPr/>
          <p:nvPr/>
        </p:nvSpPr>
        <p:spPr>
          <a:xfrm>
            <a:off x="1143000" y="4000500"/>
            <a:ext cx="1206500" cy="5715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EMPLOYEE</a:t>
            </a:r>
            <a:endParaRPr lang="en-US" sz="1600" dirty="0"/>
          </a:p>
        </p:txBody>
      </p:sp>
      <p:sp>
        <p:nvSpPr>
          <p:cNvPr id="10" name="Shape 8"/>
          <p:cNvSpPr/>
          <p:nvPr/>
        </p:nvSpPr>
        <p:spPr>
          <a:xfrm>
            <a:off x="2540000" y="3937000"/>
            <a:ext cx="889000" cy="698500"/>
          </a:xfrm>
          <a:prstGeom prst="diamond">
            <a:avLst/>
          </a:prstGeom>
          <a:solidFill>
            <a:srgbClr val="D4943A"/>
          </a:solidFill>
          <a:ln/>
        </p:spPr>
      </p:sp>
      <p:sp>
        <p:nvSpPr>
          <p:cNvPr id="11" name="Text 9"/>
          <p:cNvSpPr/>
          <p:nvPr/>
        </p:nvSpPr>
        <p:spPr>
          <a:xfrm>
            <a:off x="2603500" y="4000500"/>
            <a:ext cx="762000" cy="571500"/>
          </a:xfrm>
          <a:prstGeom prst="rect">
            <a:avLst/>
          </a:prstGeom>
          <a:noFill/>
          <a:ln/>
        </p:spPr>
        <p:txBody>
          <a:bodyPr wrap="none" lIns="0" tIns="0" rIns="0" bIns="0" rtlCol="0" anchor="ctr"/>
          <a:lstStyle/>
          <a:p>
            <a:pPr algn="ctr">
              <a:lnSpc>
                <a:spcPct val="100000"/>
              </a:lnSpc>
            </a:pPr>
            <a:r>
              <a:rPr lang="en-US" sz="1000" b="1" dirty="0">
                <a:solidFill>
                  <a:srgbClr val="FFFFFF"/>
                </a:solidFill>
                <a:latin typeface="Liter" pitchFamily="34" charset="0"/>
                <a:ea typeface="Liter" pitchFamily="34" charset="-122"/>
                <a:cs typeface="Liter" pitchFamily="34" charset="-120"/>
              </a:rPr>
              <a:t>WORKS</a:t>
            </a:r>
            <a:endParaRPr lang="en-US" sz="1600" dirty="0"/>
          </a:p>
          <a:p>
            <a:pPr algn="ctr">
              <a:lnSpc>
                <a:spcPct val="100000"/>
              </a:lnSpc>
            </a:pPr>
            <a:r>
              <a:rPr lang="en-US" sz="1000" b="1" dirty="0">
                <a:solidFill>
                  <a:srgbClr val="FFFFFF"/>
                </a:solidFill>
                <a:latin typeface="Liter" pitchFamily="34" charset="0"/>
                <a:ea typeface="Liter" pitchFamily="34" charset="-122"/>
                <a:cs typeface="Liter" pitchFamily="34" charset="-120"/>
              </a:rPr>
              <a:t>IN</a:t>
            </a:r>
            <a:endParaRPr lang="en-US" sz="1600" dirty="0"/>
          </a:p>
        </p:txBody>
      </p:sp>
      <p:sp>
        <p:nvSpPr>
          <p:cNvPr id="12" name="Shape 10"/>
          <p:cNvSpPr/>
          <p:nvPr/>
        </p:nvSpPr>
        <p:spPr>
          <a:xfrm>
            <a:off x="3619500" y="4000500"/>
            <a:ext cx="1524000" cy="571500"/>
          </a:xfrm>
          <a:prstGeom prst="rect">
            <a:avLst/>
          </a:prstGeom>
          <a:solidFill>
            <a:srgbClr val="2D5A4C"/>
          </a:solidFill>
          <a:ln/>
        </p:spPr>
      </p:sp>
      <p:sp>
        <p:nvSpPr>
          <p:cNvPr id="13" name="Text 11"/>
          <p:cNvSpPr/>
          <p:nvPr/>
        </p:nvSpPr>
        <p:spPr>
          <a:xfrm>
            <a:off x="3619500" y="4000500"/>
            <a:ext cx="1524000" cy="5715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DEPT</a:t>
            </a:r>
            <a:endParaRPr lang="en-US" sz="1600" dirty="0"/>
          </a:p>
        </p:txBody>
      </p:sp>
      <p:sp>
        <p:nvSpPr>
          <p:cNvPr id="14" name="Text 12"/>
          <p:cNvSpPr/>
          <p:nvPr/>
        </p:nvSpPr>
        <p:spPr>
          <a:xfrm>
            <a:off x="952500" y="4762500"/>
            <a:ext cx="4318000" cy="762000"/>
          </a:xfrm>
          <a:prstGeom prst="rect">
            <a:avLst/>
          </a:prstGeom>
          <a:noFill/>
          <a:ln/>
        </p:spPr>
        <p:txBody>
          <a:bodyPr wrap="square" lIns="0" tIns="0" rIns="0" bIns="0" rtlCol="0" anchor="t"/>
          <a:lstStyle/>
          <a:p>
            <a:pPr algn="ctr">
              <a:lnSpc>
                <a:spcPct val="140000"/>
              </a:lnSpc>
            </a:pPr>
            <a:r>
              <a:rPr lang="en-US" sz="1300" dirty="0">
                <a:solidFill>
                  <a:srgbClr val="2C2C2C"/>
                </a:solidFill>
                <a:latin typeface="Quattrocento Sans" pitchFamily="34" charset="0"/>
                <a:ea typeface="Quattrocento Sans" pitchFamily="34" charset="-122"/>
                <a:cs typeface="Quattrocento Sans" pitchFamily="34" charset="-120"/>
              </a:rPr>
              <a:t>Two different entities connected.</a:t>
            </a:r>
            <a:endParaRPr lang="en-US" sz="1600" dirty="0"/>
          </a:p>
          <a:p>
            <a:pPr algn="ctr">
              <a:lnSpc>
                <a:spcPct val="140000"/>
              </a:lnSpc>
            </a:pPr>
            <a:r>
              <a:rPr lang="en-US" sz="1300" dirty="0">
                <a:solidFill>
                  <a:srgbClr val="2C2C2C"/>
                </a:solidFill>
                <a:latin typeface="Quattrocento Sans" pitchFamily="34" charset="0"/>
                <a:ea typeface="Quattrocento Sans" pitchFamily="34" charset="-122"/>
                <a:cs typeface="Quattrocento Sans" pitchFamily="34" charset="-120"/>
              </a:rPr>
              <a:t>Most common relationship type.</a:t>
            </a:r>
            <a:endParaRPr lang="en-US" sz="1600" dirty="0"/>
          </a:p>
        </p:txBody>
      </p:sp>
      <p:sp>
        <p:nvSpPr>
          <p:cNvPr id="15" name="Shape 13"/>
          <p:cNvSpPr/>
          <p:nvPr/>
        </p:nvSpPr>
        <p:spPr>
          <a:xfrm>
            <a:off x="5778500" y="3302000"/>
            <a:ext cx="4699000" cy="2413000"/>
          </a:xfrm>
          <a:prstGeom prst="roundRect">
            <a:avLst>
              <a:gd name="adj" fmla="val 6000"/>
            </a:avLst>
          </a:prstGeom>
          <a:solidFill>
            <a:srgbClr val="D4943A">
              <a:alpha val="8235"/>
            </a:srgbClr>
          </a:solidFill>
          <a:ln/>
        </p:spPr>
      </p:sp>
      <p:sp>
        <p:nvSpPr>
          <p:cNvPr id="16" name="Shape 14"/>
          <p:cNvSpPr/>
          <p:nvPr/>
        </p:nvSpPr>
        <p:spPr>
          <a:xfrm>
            <a:off x="5969000" y="3454400"/>
            <a:ext cx="1016000" cy="330200"/>
          </a:xfrm>
          <a:prstGeom prst="roundRect">
            <a:avLst>
              <a:gd name="adj" fmla="val 12000"/>
            </a:avLst>
          </a:prstGeom>
          <a:solidFill>
            <a:srgbClr val="D4943A"/>
          </a:solidFill>
          <a:ln/>
        </p:spPr>
      </p:sp>
      <p:sp>
        <p:nvSpPr>
          <p:cNvPr id="17" name="Text 15"/>
          <p:cNvSpPr/>
          <p:nvPr/>
        </p:nvSpPr>
        <p:spPr>
          <a:xfrm>
            <a:off x="5969000" y="3454400"/>
            <a:ext cx="1016000" cy="3302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Ternary</a:t>
            </a:r>
            <a:endParaRPr lang="en-US" sz="1600" dirty="0"/>
          </a:p>
        </p:txBody>
      </p:sp>
      <p:sp>
        <p:nvSpPr>
          <p:cNvPr id="18" name="Shape 16"/>
          <p:cNvSpPr/>
          <p:nvPr/>
        </p:nvSpPr>
        <p:spPr>
          <a:xfrm>
            <a:off x="6032500" y="4000500"/>
            <a:ext cx="1016000" cy="457200"/>
          </a:xfrm>
          <a:prstGeom prst="rect">
            <a:avLst/>
          </a:prstGeom>
          <a:solidFill>
            <a:srgbClr val="2D5A4C"/>
          </a:solidFill>
          <a:ln/>
        </p:spPr>
      </p:sp>
      <p:sp>
        <p:nvSpPr>
          <p:cNvPr id="19" name="Text 17"/>
          <p:cNvSpPr/>
          <p:nvPr/>
        </p:nvSpPr>
        <p:spPr>
          <a:xfrm>
            <a:off x="6032500" y="4000500"/>
            <a:ext cx="1016000" cy="457200"/>
          </a:xfrm>
          <a:prstGeom prst="rect">
            <a:avLst/>
          </a:prstGeom>
          <a:noFill/>
          <a:ln/>
        </p:spPr>
        <p:txBody>
          <a:bodyPr wrap="none" lIns="0" tIns="0" rIns="0" bIns="0" rtlCol="0" anchor="ctr"/>
          <a:lstStyle/>
          <a:p>
            <a:pPr algn="ctr">
              <a:lnSpc>
                <a:spcPct val="100000"/>
              </a:lnSpc>
            </a:pPr>
            <a:r>
              <a:rPr lang="en-US" sz="1000" b="1" dirty="0">
                <a:solidFill>
                  <a:srgbClr val="FFFFFF"/>
                </a:solidFill>
                <a:latin typeface="Liter" pitchFamily="34" charset="0"/>
                <a:ea typeface="Liter" pitchFamily="34" charset="-122"/>
                <a:cs typeface="Liter" pitchFamily="34" charset="-120"/>
              </a:rPr>
              <a:t>SUPPLIER</a:t>
            </a:r>
            <a:endParaRPr lang="en-US" sz="1600" dirty="0"/>
          </a:p>
        </p:txBody>
      </p:sp>
      <p:sp>
        <p:nvSpPr>
          <p:cNvPr id="20" name="Shape 18"/>
          <p:cNvSpPr/>
          <p:nvPr/>
        </p:nvSpPr>
        <p:spPr>
          <a:xfrm>
            <a:off x="7302500" y="4000500"/>
            <a:ext cx="1016000" cy="457200"/>
          </a:xfrm>
          <a:prstGeom prst="rect">
            <a:avLst/>
          </a:prstGeom>
          <a:solidFill>
            <a:srgbClr val="2D5A4C"/>
          </a:solidFill>
          <a:ln/>
        </p:spPr>
      </p:sp>
      <p:sp>
        <p:nvSpPr>
          <p:cNvPr id="21" name="Text 19"/>
          <p:cNvSpPr/>
          <p:nvPr/>
        </p:nvSpPr>
        <p:spPr>
          <a:xfrm>
            <a:off x="7302500" y="4000500"/>
            <a:ext cx="1016000" cy="457200"/>
          </a:xfrm>
          <a:prstGeom prst="rect">
            <a:avLst/>
          </a:prstGeom>
          <a:noFill/>
          <a:ln/>
        </p:spPr>
        <p:txBody>
          <a:bodyPr wrap="none" lIns="0" tIns="0" rIns="0" bIns="0" rtlCol="0" anchor="ctr"/>
          <a:lstStyle/>
          <a:p>
            <a:pPr algn="ctr">
              <a:lnSpc>
                <a:spcPct val="100000"/>
              </a:lnSpc>
            </a:pPr>
            <a:r>
              <a:rPr lang="en-US" sz="1000" b="1" dirty="0">
                <a:solidFill>
                  <a:srgbClr val="FFFFFF"/>
                </a:solidFill>
                <a:latin typeface="Liter" pitchFamily="34" charset="0"/>
                <a:ea typeface="Liter" pitchFamily="34" charset="-122"/>
                <a:cs typeface="Liter" pitchFamily="34" charset="-120"/>
              </a:rPr>
              <a:t>PRODUCT</a:t>
            </a:r>
            <a:endParaRPr lang="en-US" sz="1600" dirty="0"/>
          </a:p>
        </p:txBody>
      </p:sp>
      <p:sp>
        <p:nvSpPr>
          <p:cNvPr id="22" name="Shape 20"/>
          <p:cNvSpPr/>
          <p:nvPr/>
        </p:nvSpPr>
        <p:spPr>
          <a:xfrm>
            <a:off x="8572500" y="4000500"/>
            <a:ext cx="1016000" cy="457200"/>
          </a:xfrm>
          <a:prstGeom prst="rect">
            <a:avLst/>
          </a:prstGeom>
          <a:solidFill>
            <a:srgbClr val="2D5A4C"/>
          </a:solidFill>
          <a:ln/>
        </p:spPr>
      </p:sp>
      <p:sp>
        <p:nvSpPr>
          <p:cNvPr id="23" name="Text 21"/>
          <p:cNvSpPr/>
          <p:nvPr/>
        </p:nvSpPr>
        <p:spPr>
          <a:xfrm>
            <a:off x="8572500" y="4000500"/>
            <a:ext cx="1016000" cy="457200"/>
          </a:xfrm>
          <a:prstGeom prst="rect">
            <a:avLst/>
          </a:prstGeom>
          <a:noFill/>
          <a:ln/>
        </p:spPr>
        <p:txBody>
          <a:bodyPr wrap="none" lIns="0" tIns="0" rIns="0" bIns="0" rtlCol="0" anchor="ctr"/>
          <a:lstStyle/>
          <a:p>
            <a:pPr algn="ctr">
              <a:lnSpc>
                <a:spcPct val="100000"/>
              </a:lnSpc>
            </a:pPr>
            <a:r>
              <a:rPr lang="en-US" sz="1000" b="1" dirty="0">
                <a:solidFill>
                  <a:srgbClr val="FFFFFF"/>
                </a:solidFill>
                <a:latin typeface="Liter" pitchFamily="34" charset="0"/>
                <a:ea typeface="Liter" pitchFamily="34" charset="-122"/>
                <a:cs typeface="Liter" pitchFamily="34" charset="-120"/>
              </a:rPr>
              <a:t>PROJECT</a:t>
            </a:r>
            <a:endParaRPr lang="en-US" sz="1600" dirty="0"/>
          </a:p>
        </p:txBody>
      </p:sp>
      <p:sp>
        <p:nvSpPr>
          <p:cNvPr id="24" name="Shape 22"/>
          <p:cNvSpPr/>
          <p:nvPr/>
        </p:nvSpPr>
        <p:spPr>
          <a:xfrm>
            <a:off x="7239000" y="4572000"/>
            <a:ext cx="1143000" cy="508000"/>
          </a:xfrm>
          <a:prstGeom prst="diamond">
            <a:avLst/>
          </a:prstGeom>
          <a:solidFill>
            <a:srgbClr val="D4943A"/>
          </a:solidFill>
          <a:ln/>
        </p:spPr>
      </p:sp>
      <p:sp>
        <p:nvSpPr>
          <p:cNvPr id="25" name="Text 23"/>
          <p:cNvSpPr/>
          <p:nvPr/>
        </p:nvSpPr>
        <p:spPr>
          <a:xfrm>
            <a:off x="7239000" y="4572000"/>
            <a:ext cx="1143000" cy="508000"/>
          </a:xfrm>
          <a:prstGeom prst="rect">
            <a:avLst/>
          </a:prstGeom>
          <a:noFill/>
          <a:ln/>
        </p:spPr>
        <p:txBody>
          <a:bodyPr wrap="none" lIns="0" tIns="0" rIns="0" bIns="0" rtlCol="0" anchor="ctr"/>
          <a:lstStyle/>
          <a:p>
            <a:pPr algn="ctr">
              <a:lnSpc>
                <a:spcPct val="100000"/>
              </a:lnSpc>
            </a:pPr>
            <a:r>
              <a:rPr lang="en-US" sz="900" b="1" dirty="0">
                <a:solidFill>
                  <a:srgbClr val="FFFFFF"/>
                </a:solidFill>
                <a:latin typeface="Liter" pitchFamily="34" charset="0"/>
                <a:ea typeface="Liter" pitchFamily="34" charset="-122"/>
                <a:cs typeface="Liter" pitchFamily="34" charset="-120"/>
              </a:rPr>
              <a:t>SUPPLIES</a:t>
            </a:r>
            <a:endParaRPr lang="en-US" sz="1600" dirty="0"/>
          </a:p>
        </p:txBody>
      </p:sp>
      <p:sp>
        <p:nvSpPr>
          <p:cNvPr id="26" name="Text 24"/>
          <p:cNvSpPr/>
          <p:nvPr/>
        </p:nvSpPr>
        <p:spPr>
          <a:xfrm>
            <a:off x="5969000" y="5143500"/>
            <a:ext cx="4318000" cy="457200"/>
          </a:xfrm>
          <a:prstGeom prst="rect">
            <a:avLst/>
          </a:prstGeom>
          <a:noFill/>
          <a:ln/>
        </p:spPr>
        <p:txBody>
          <a:bodyPr wrap="square" lIns="0" tIns="0" rIns="0" bIns="0" rtlCol="0" anchor="t"/>
          <a:lstStyle/>
          <a:p>
            <a:pPr algn="ctr">
              <a:lnSpc>
                <a:spcPct val="140000"/>
              </a:lnSpc>
            </a:pPr>
            <a:r>
              <a:rPr lang="en-US" sz="1300" dirty="0">
                <a:solidFill>
                  <a:srgbClr val="2C2C2C"/>
                </a:solidFill>
                <a:latin typeface="Quattrocento Sans" pitchFamily="34" charset="0"/>
                <a:ea typeface="Quattrocento Sans" pitchFamily="34" charset="-122"/>
                <a:cs typeface="Quattrocento Sans" pitchFamily="34" charset="-120"/>
              </a:rPr>
              <a:t>Three entities connected at once.</a:t>
            </a:r>
            <a:endParaRPr lang="en-US" sz="1600" dirty="0"/>
          </a:p>
        </p:txBody>
      </p:sp>
      <p:sp>
        <p:nvSpPr>
          <p:cNvPr id="27" name="Shape 25"/>
          <p:cNvSpPr/>
          <p:nvPr/>
        </p:nvSpPr>
        <p:spPr>
          <a:xfrm>
            <a:off x="10795000" y="3302000"/>
            <a:ext cx="4699000" cy="2413000"/>
          </a:xfrm>
          <a:prstGeom prst="roundRect">
            <a:avLst>
              <a:gd name="adj" fmla="val 6000"/>
            </a:avLst>
          </a:prstGeom>
          <a:solidFill>
            <a:srgbClr val="2D5A4C">
              <a:alpha val="8235"/>
            </a:srgbClr>
          </a:solidFill>
          <a:ln/>
        </p:spPr>
      </p:sp>
      <p:sp>
        <p:nvSpPr>
          <p:cNvPr id="28" name="Shape 26"/>
          <p:cNvSpPr/>
          <p:nvPr/>
        </p:nvSpPr>
        <p:spPr>
          <a:xfrm>
            <a:off x="10985500" y="3454400"/>
            <a:ext cx="1016000" cy="330200"/>
          </a:xfrm>
          <a:prstGeom prst="roundRect">
            <a:avLst>
              <a:gd name="adj" fmla="val 12000"/>
            </a:avLst>
          </a:prstGeom>
          <a:solidFill>
            <a:srgbClr val="2D5A4C"/>
          </a:solidFill>
          <a:ln/>
        </p:spPr>
      </p:sp>
      <p:sp>
        <p:nvSpPr>
          <p:cNvPr id="29" name="Text 27"/>
          <p:cNvSpPr/>
          <p:nvPr/>
        </p:nvSpPr>
        <p:spPr>
          <a:xfrm>
            <a:off x="10985500" y="3454400"/>
            <a:ext cx="1016000" cy="3302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Liter" pitchFamily="34" charset="0"/>
                <a:ea typeface="Liter" pitchFamily="34" charset="-122"/>
                <a:cs typeface="Liter" pitchFamily="34" charset="-120"/>
              </a:rPr>
              <a:t>Unary</a:t>
            </a:r>
            <a:endParaRPr lang="en-US" sz="1600" dirty="0"/>
          </a:p>
        </p:txBody>
      </p:sp>
      <p:sp>
        <p:nvSpPr>
          <p:cNvPr id="30" name="Shape 28"/>
          <p:cNvSpPr/>
          <p:nvPr/>
        </p:nvSpPr>
        <p:spPr>
          <a:xfrm>
            <a:off x="12065000" y="3937000"/>
            <a:ext cx="1778000" cy="635000"/>
          </a:xfrm>
          <a:prstGeom prst="rect">
            <a:avLst/>
          </a:prstGeom>
          <a:solidFill>
            <a:srgbClr val="2D5A4C"/>
          </a:solidFill>
          <a:ln/>
        </p:spPr>
      </p:sp>
      <p:sp>
        <p:nvSpPr>
          <p:cNvPr id="31" name="Text 29"/>
          <p:cNvSpPr/>
          <p:nvPr/>
        </p:nvSpPr>
        <p:spPr>
          <a:xfrm>
            <a:off x="12065000" y="3937000"/>
            <a:ext cx="1778000" cy="635000"/>
          </a:xfrm>
          <a:prstGeom prst="rect">
            <a:avLst/>
          </a:prstGeom>
          <a:noFill/>
          <a:ln/>
        </p:spPr>
        <p:txBody>
          <a:bodyPr wrap="none" lIns="0" tIns="0" rIns="0" bIns="0" rtlCol="0" anchor="ctr"/>
          <a:lstStyle/>
          <a:p>
            <a:pPr algn="ctr">
              <a:lnSpc>
                <a:spcPct val="100000"/>
              </a:lnSpc>
            </a:pPr>
            <a:r>
              <a:rPr lang="en-US" sz="1300" b="1" dirty="0">
                <a:solidFill>
                  <a:srgbClr val="FFFFFF"/>
                </a:solidFill>
                <a:latin typeface="Liter" pitchFamily="34" charset="0"/>
                <a:ea typeface="Liter" pitchFamily="34" charset="-122"/>
                <a:cs typeface="Liter" pitchFamily="34" charset="-120"/>
              </a:rPr>
              <a:t>EMPLOYEE</a:t>
            </a:r>
            <a:endParaRPr lang="en-US" sz="1600" dirty="0"/>
          </a:p>
        </p:txBody>
      </p:sp>
      <p:sp>
        <p:nvSpPr>
          <p:cNvPr id="32" name="Shape 30"/>
          <p:cNvSpPr/>
          <p:nvPr/>
        </p:nvSpPr>
        <p:spPr>
          <a:xfrm>
            <a:off x="12954000" y="3302000"/>
            <a:ext cx="762000" cy="635000"/>
          </a:xfrm>
          <a:prstGeom prst="curvedConnector3">
            <a:avLst>
              <a:gd name="adj1" fmla="val 50000"/>
            </a:avLst>
          </a:prstGeom>
          <a:noFill/>
          <a:ln w="25400">
            <a:solidFill>
              <a:srgbClr val="D4943A"/>
            </a:solidFill>
            <a:prstDash val="solid"/>
            <a:headEnd type="none"/>
            <a:tailEnd type="none"/>
          </a:ln>
        </p:spPr>
      </p:sp>
      <p:sp>
        <p:nvSpPr>
          <p:cNvPr id="33" name="Shape 31"/>
          <p:cNvSpPr/>
          <p:nvPr/>
        </p:nvSpPr>
        <p:spPr>
          <a:xfrm>
            <a:off x="13779500" y="3365500"/>
            <a:ext cx="698500" cy="444500"/>
          </a:xfrm>
          <a:prstGeom prst="diamond">
            <a:avLst/>
          </a:prstGeom>
          <a:solidFill>
            <a:srgbClr val="D4943A"/>
          </a:solidFill>
          <a:ln/>
        </p:spPr>
      </p:sp>
      <p:sp>
        <p:nvSpPr>
          <p:cNvPr id="34" name="Text 32"/>
          <p:cNvSpPr/>
          <p:nvPr/>
        </p:nvSpPr>
        <p:spPr>
          <a:xfrm>
            <a:off x="13779500" y="3365500"/>
            <a:ext cx="698500" cy="444500"/>
          </a:xfrm>
          <a:prstGeom prst="rect">
            <a:avLst/>
          </a:prstGeom>
          <a:noFill/>
          <a:ln/>
        </p:spPr>
        <p:txBody>
          <a:bodyPr wrap="none" lIns="0" tIns="0" rIns="0" bIns="0" rtlCol="0" anchor="ctr"/>
          <a:lstStyle/>
          <a:p>
            <a:pPr algn="ctr">
              <a:lnSpc>
                <a:spcPct val="100000"/>
              </a:lnSpc>
            </a:pPr>
            <a:r>
              <a:rPr lang="en-US" sz="900" b="1" dirty="0">
                <a:solidFill>
                  <a:srgbClr val="FFFFFF"/>
                </a:solidFill>
                <a:latin typeface="Liter" pitchFamily="34" charset="0"/>
                <a:ea typeface="Liter" pitchFamily="34" charset="-122"/>
                <a:cs typeface="Liter" pitchFamily="34" charset="-120"/>
              </a:rPr>
              <a:t>MGR</a:t>
            </a:r>
            <a:endParaRPr lang="en-US" sz="1600" dirty="0"/>
          </a:p>
        </p:txBody>
      </p:sp>
      <p:sp>
        <p:nvSpPr>
          <p:cNvPr id="35" name="Text 33"/>
          <p:cNvSpPr/>
          <p:nvPr/>
        </p:nvSpPr>
        <p:spPr>
          <a:xfrm>
            <a:off x="10985500" y="4762500"/>
            <a:ext cx="4318000" cy="762000"/>
          </a:xfrm>
          <a:prstGeom prst="rect">
            <a:avLst/>
          </a:prstGeom>
          <a:noFill/>
          <a:ln/>
        </p:spPr>
        <p:txBody>
          <a:bodyPr wrap="square" lIns="0" tIns="0" rIns="0" bIns="0" rtlCol="0" anchor="t"/>
          <a:lstStyle/>
          <a:p>
            <a:pPr algn="ctr">
              <a:lnSpc>
                <a:spcPct val="140000"/>
              </a:lnSpc>
            </a:pPr>
            <a:r>
              <a:rPr lang="en-US" sz="1300" dirty="0">
                <a:solidFill>
                  <a:srgbClr val="2C2C2C"/>
                </a:solidFill>
                <a:latin typeface="Quattrocento Sans" pitchFamily="34" charset="0"/>
                <a:ea typeface="Quattrocento Sans" pitchFamily="34" charset="-122"/>
                <a:cs typeface="Quattrocento Sans" pitchFamily="34" charset="-120"/>
              </a:rPr>
              <a:t>An entity relates to itself.</a:t>
            </a:r>
            <a:endParaRPr lang="en-US" sz="1600" dirty="0"/>
          </a:p>
          <a:p>
            <a:pPr algn="ctr">
              <a:lnSpc>
                <a:spcPct val="140000"/>
              </a:lnSpc>
            </a:pPr>
            <a:r>
              <a:rPr lang="en-US" sz="1300" dirty="0">
                <a:solidFill>
                  <a:srgbClr val="2C2C2C"/>
                </a:solidFill>
                <a:latin typeface="Quattrocento Sans" pitchFamily="34" charset="0"/>
                <a:ea typeface="Quattrocento Sans" pitchFamily="34" charset="-122"/>
                <a:cs typeface="Quattrocento Sans" pitchFamily="34" charset="-120"/>
              </a:rPr>
              <a:t>Employee manages Employee.</a:t>
            </a:r>
            <a:endParaRPr lang="en-US" sz="1600" dirty="0"/>
          </a:p>
        </p:txBody>
      </p:sp>
      <p:sp>
        <p:nvSpPr>
          <p:cNvPr id="36" name="Shape 34"/>
          <p:cNvSpPr/>
          <p:nvPr/>
        </p:nvSpPr>
        <p:spPr>
          <a:xfrm>
            <a:off x="762000" y="5969000"/>
            <a:ext cx="14732000" cy="889000"/>
          </a:xfrm>
          <a:prstGeom prst="roundRect">
            <a:avLst>
              <a:gd name="adj" fmla="val 6000"/>
            </a:avLst>
          </a:prstGeom>
          <a:solidFill>
            <a:srgbClr val="E8E2DA"/>
          </a:solidFill>
          <a:ln/>
        </p:spPr>
      </p:sp>
      <p:sp>
        <p:nvSpPr>
          <p:cNvPr id="37" name="Shape 35"/>
          <p:cNvSpPr/>
          <p:nvPr/>
        </p:nvSpPr>
        <p:spPr>
          <a:xfrm>
            <a:off x="1060450" y="6159500"/>
            <a:ext cx="266700" cy="355600"/>
          </a:xfrm>
          <a:custGeom>
            <a:avLst/>
            <a:gdLst/>
            <a:ahLst/>
            <a:cxnLst/>
            <a:rect l="l" t="t" r="r" b="b"/>
            <a:pathLst>
              <a:path w="266700" h="355600">
                <a:moveTo>
                  <a:pt x="203428" y="266700"/>
                </a:moveTo>
                <a:cubicBezTo>
                  <a:pt x="208498" y="251212"/>
                  <a:pt x="218638" y="237182"/>
                  <a:pt x="230098" y="225098"/>
                </a:cubicBezTo>
                <a:cubicBezTo>
                  <a:pt x="252809" y="201206"/>
                  <a:pt x="266700" y="168910"/>
                  <a:pt x="266700" y="133350"/>
                </a:cubicBezTo>
                <a:cubicBezTo>
                  <a:pt x="266700" y="59730"/>
                  <a:pt x="206970" y="0"/>
                  <a:pt x="133350" y="0"/>
                </a:cubicBezTo>
                <a:cubicBezTo>
                  <a:pt x="59730" y="0"/>
                  <a:pt x="0" y="59730"/>
                  <a:pt x="0" y="133350"/>
                </a:cubicBezTo>
                <a:cubicBezTo>
                  <a:pt x="0" y="168910"/>
                  <a:pt x="13891" y="201206"/>
                  <a:pt x="36602" y="225098"/>
                </a:cubicBezTo>
                <a:cubicBezTo>
                  <a:pt x="48062" y="237182"/>
                  <a:pt x="58271" y="251212"/>
                  <a:pt x="63272" y="266700"/>
                </a:cubicBezTo>
                <a:lnTo>
                  <a:pt x="203359" y="266700"/>
                </a:lnTo>
                <a:close/>
                <a:moveTo>
                  <a:pt x="200025" y="300038"/>
                </a:moveTo>
                <a:lnTo>
                  <a:pt x="66675" y="300038"/>
                </a:lnTo>
                <a:lnTo>
                  <a:pt x="66675" y="311150"/>
                </a:lnTo>
                <a:cubicBezTo>
                  <a:pt x="66675" y="341848"/>
                  <a:pt x="91539" y="366712"/>
                  <a:pt x="122238" y="366712"/>
                </a:cubicBezTo>
                <a:lnTo>
                  <a:pt x="144463" y="366712"/>
                </a:lnTo>
                <a:cubicBezTo>
                  <a:pt x="175161" y="366712"/>
                  <a:pt x="200025" y="341848"/>
                  <a:pt x="200025" y="311150"/>
                </a:cubicBezTo>
                <a:lnTo>
                  <a:pt x="200025" y="300038"/>
                </a:lnTo>
                <a:close/>
                <a:moveTo>
                  <a:pt x="127794" y="77788"/>
                </a:moveTo>
                <a:cubicBezTo>
                  <a:pt x="100151" y="77788"/>
                  <a:pt x="77788" y="100151"/>
                  <a:pt x="77788" y="127794"/>
                </a:cubicBezTo>
                <a:cubicBezTo>
                  <a:pt x="77788" y="137031"/>
                  <a:pt x="70356" y="144463"/>
                  <a:pt x="61119" y="144463"/>
                </a:cubicBezTo>
                <a:cubicBezTo>
                  <a:pt x="51881" y="144463"/>
                  <a:pt x="44450" y="137031"/>
                  <a:pt x="44450" y="127794"/>
                </a:cubicBezTo>
                <a:cubicBezTo>
                  <a:pt x="44450" y="81746"/>
                  <a:pt x="81746" y="44450"/>
                  <a:pt x="127794" y="44450"/>
                </a:cubicBezTo>
                <a:cubicBezTo>
                  <a:pt x="137031" y="44450"/>
                  <a:pt x="144463" y="51881"/>
                  <a:pt x="144463" y="61119"/>
                </a:cubicBezTo>
                <a:cubicBezTo>
                  <a:pt x="144463" y="70356"/>
                  <a:pt x="137031" y="77788"/>
                  <a:pt x="127794" y="77788"/>
                </a:cubicBezTo>
                <a:close/>
              </a:path>
            </a:pathLst>
          </a:custGeom>
          <a:solidFill>
            <a:srgbClr val="D4943A"/>
          </a:solidFill>
          <a:ln/>
        </p:spPr>
      </p:sp>
      <p:sp>
        <p:nvSpPr>
          <p:cNvPr id="38" name="Text 36"/>
          <p:cNvSpPr/>
          <p:nvPr/>
        </p:nvSpPr>
        <p:spPr>
          <a:xfrm>
            <a:off x="1498600" y="6032500"/>
            <a:ext cx="2540000" cy="304800"/>
          </a:xfrm>
          <a:prstGeom prst="rect">
            <a:avLst/>
          </a:prstGeom>
          <a:noFill/>
          <a:ln/>
        </p:spPr>
        <p:txBody>
          <a:bodyPr wrap="none" lIns="0" tIns="0" rIns="0" bIns="0" rtlCol="0" anchor="ctr"/>
          <a:lstStyle/>
          <a:p>
            <a:pPr>
              <a:lnSpc>
                <a:spcPct val="100000"/>
              </a:lnSpc>
            </a:pPr>
            <a:r>
              <a:rPr lang="en-US" sz="1400" b="1" dirty="0">
                <a:solidFill>
                  <a:srgbClr val="2D5A4C"/>
                </a:solidFill>
                <a:latin typeface="Liter" pitchFamily="34" charset="0"/>
                <a:ea typeface="Liter" pitchFamily="34" charset="-122"/>
                <a:cs typeface="Liter" pitchFamily="34" charset="-120"/>
              </a:rPr>
              <a:t>EXPLANATION</a:t>
            </a:r>
            <a:endParaRPr lang="en-US" sz="1600" dirty="0"/>
          </a:p>
        </p:txBody>
      </p:sp>
      <p:sp>
        <p:nvSpPr>
          <p:cNvPr id="39" name="Text 37"/>
          <p:cNvSpPr/>
          <p:nvPr/>
        </p:nvSpPr>
        <p:spPr>
          <a:xfrm>
            <a:off x="1498600" y="6375400"/>
            <a:ext cx="13716000" cy="3556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Most relationships are binary. But sometimes a relationship involves three entities or even connects an entity back to itself.</a:t>
            </a:r>
            <a:endParaRPr lang="en-US" sz="1600" dirty="0"/>
          </a:p>
        </p:txBody>
      </p:sp>
      <p:sp>
        <p:nvSpPr>
          <p:cNvPr id="40" name="Shape 38"/>
          <p:cNvSpPr/>
          <p:nvPr/>
        </p:nvSpPr>
        <p:spPr>
          <a:xfrm>
            <a:off x="762000" y="7048500"/>
            <a:ext cx="14732000" cy="825500"/>
          </a:xfrm>
          <a:prstGeom prst="roundRect">
            <a:avLst>
              <a:gd name="adj" fmla="val 6000"/>
            </a:avLst>
          </a:prstGeom>
          <a:solidFill>
            <a:srgbClr val="D4943A">
              <a:alpha val="8235"/>
            </a:srgbClr>
          </a:solidFill>
          <a:ln/>
        </p:spPr>
      </p:sp>
      <p:sp>
        <p:nvSpPr>
          <p:cNvPr id="41" name="Shape 39"/>
          <p:cNvSpPr/>
          <p:nvPr/>
        </p:nvSpPr>
        <p:spPr>
          <a:xfrm>
            <a:off x="1016000" y="7200900"/>
            <a:ext cx="304800" cy="304800"/>
          </a:xfrm>
          <a:custGeom>
            <a:avLst/>
            <a:gdLst/>
            <a:ahLst/>
            <a:cxnLst/>
            <a:rect l="l" t="t" r="r" b="b"/>
            <a:pathLst>
              <a:path w="304800" h="304800">
                <a:moveTo>
                  <a:pt x="209490" y="166688"/>
                </a:moveTo>
                <a:lnTo>
                  <a:pt x="95845" y="166688"/>
                </a:lnTo>
                <a:cubicBezTo>
                  <a:pt x="97572" y="205085"/>
                  <a:pt x="106085" y="240447"/>
                  <a:pt x="118170" y="266343"/>
                </a:cubicBezTo>
                <a:cubicBezTo>
                  <a:pt x="124956" y="280928"/>
                  <a:pt x="132278" y="291227"/>
                  <a:pt x="139065" y="297537"/>
                </a:cubicBezTo>
                <a:cubicBezTo>
                  <a:pt x="145733" y="303788"/>
                  <a:pt x="150316" y="304800"/>
                  <a:pt x="152698" y="304800"/>
                </a:cubicBezTo>
                <a:cubicBezTo>
                  <a:pt x="155079" y="304800"/>
                  <a:pt x="159663" y="303788"/>
                  <a:pt x="166330" y="297537"/>
                </a:cubicBezTo>
                <a:cubicBezTo>
                  <a:pt x="173117" y="291227"/>
                  <a:pt x="180439" y="280868"/>
                  <a:pt x="187226" y="266343"/>
                </a:cubicBezTo>
                <a:cubicBezTo>
                  <a:pt x="199311" y="240447"/>
                  <a:pt x="207824" y="205085"/>
                  <a:pt x="209550" y="166688"/>
                </a:cubicBezTo>
                <a:close/>
                <a:moveTo>
                  <a:pt x="95786" y="138113"/>
                </a:moveTo>
                <a:lnTo>
                  <a:pt x="209431" y="138113"/>
                </a:lnTo>
                <a:cubicBezTo>
                  <a:pt x="207764" y="99715"/>
                  <a:pt x="199251" y="64353"/>
                  <a:pt x="187166" y="38457"/>
                </a:cubicBezTo>
                <a:cubicBezTo>
                  <a:pt x="180380" y="23932"/>
                  <a:pt x="173057" y="13573"/>
                  <a:pt x="166271" y="7263"/>
                </a:cubicBezTo>
                <a:cubicBezTo>
                  <a:pt x="159603" y="1012"/>
                  <a:pt x="155019" y="0"/>
                  <a:pt x="152638" y="0"/>
                </a:cubicBezTo>
                <a:cubicBezTo>
                  <a:pt x="150257" y="0"/>
                  <a:pt x="145673" y="1012"/>
                  <a:pt x="139005" y="7263"/>
                </a:cubicBezTo>
                <a:cubicBezTo>
                  <a:pt x="132219" y="13573"/>
                  <a:pt x="124897" y="23932"/>
                  <a:pt x="118110" y="38457"/>
                </a:cubicBezTo>
                <a:cubicBezTo>
                  <a:pt x="106025" y="64353"/>
                  <a:pt x="97512" y="99715"/>
                  <a:pt x="95786" y="138113"/>
                </a:cubicBezTo>
                <a:close/>
                <a:moveTo>
                  <a:pt x="67211" y="138113"/>
                </a:moveTo>
                <a:cubicBezTo>
                  <a:pt x="69294" y="87154"/>
                  <a:pt x="82451" y="39826"/>
                  <a:pt x="101679" y="8751"/>
                </a:cubicBezTo>
                <a:cubicBezTo>
                  <a:pt x="46851" y="28158"/>
                  <a:pt x="6489" y="78105"/>
                  <a:pt x="893" y="138113"/>
                </a:cubicBezTo>
                <a:lnTo>
                  <a:pt x="67211" y="138113"/>
                </a:lnTo>
                <a:close/>
                <a:moveTo>
                  <a:pt x="893" y="166688"/>
                </a:moveTo>
                <a:cubicBezTo>
                  <a:pt x="6489" y="226695"/>
                  <a:pt x="46851" y="276642"/>
                  <a:pt x="101679" y="296049"/>
                </a:cubicBezTo>
                <a:cubicBezTo>
                  <a:pt x="82451" y="264974"/>
                  <a:pt x="69294" y="217646"/>
                  <a:pt x="67211" y="166688"/>
                </a:cubicBezTo>
                <a:lnTo>
                  <a:pt x="893" y="166688"/>
                </a:lnTo>
                <a:close/>
                <a:moveTo>
                  <a:pt x="238065" y="166688"/>
                </a:moveTo>
                <a:cubicBezTo>
                  <a:pt x="235982" y="217646"/>
                  <a:pt x="222825" y="264974"/>
                  <a:pt x="203597" y="296049"/>
                </a:cubicBezTo>
                <a:cubicBezTo>
                  <a:pt x="258425" y="276582"/>
                  <a:pt x="298787" y="226695"/>
                  <a:pt x="304383" y="166688"/>
                </a:cubicBezTo>
                <a:lnTo>
                  <a:pt x="238065" y="166688"/>
                </a:lnTo>
                <a:close/>
                <a:moveTo>
                  <a:pt x="304383" y="138113"/>
                </a:moveTo>
                <a:cubicBezTo>
                  <a:pt x="298787" y="78105"/>
                  <a:pt x="258425" y="28158"/>
                  <a:pt x="203597" y="8751"/>
                </a:cubicBezTo>
                <a:cubicBezTo>
                  <a:pt x="222825" y="39826"/>
                  <a:pt x="235982" y="87154"/>
                  <a:pt x="238065" y="138113"/>
                </a:cubicBezTo>
                <a:lnTo>
                  <a:pt x="304383" y="138113"/>
                </a:lnTo>
                <a:close/>
              </a:path>
            </a:pathLst>
          </a:custGeom>
          <a:solidFill>
            <a:srgbClr val="D4943A"/>
          </a:solidFill>
          <a:ln/>
        </p:spPr>
      </p:sp>
      <p:sp>
        <p:nvSpPr>
          <p:cNvPr id="42" name="Text 40"/>
          <p:cNvSpPr/>
          <p:nvPr/>
        </p:nvSpPr>
        <p:spPr>
          <a:xfrm>
            <a:off x="1422400" y="7137400"/>
            <a:ext cx="3175000" cy="304800"/>
          </a:xfrm>
          <a:prstGeom prst="rect">
            <a:avLst/>
          </a:prstGeom>
          <a:noFill/>
          <a:ln/>
        </p:spPr>
        <p:txBody>
          <a:bodyPr wrap="none" lIns="0" tIns="0" rIns="0" bIns="0" rtlCol="0" anchor="ctr"/>
          <a:lstStyle/>
          <a:p>
            <a:pPr>
              <a:lnSpc>
                <a:spcPct val="100000"/>
              </a:lnSpc>
            </a:pPr>
            <a:r>
              <a:rPr lang="en-US" sz="1400" b="1" dirty="0">
                <a:solidFill>
                  <a:srgbClr val="D4943A"/>
                </a:solidFill>
                <a:latin typeface="Liter" pitchFamily="34" charset="0"/>
                <a:ea typeface="Liter" pitchFamily="34" charset="-122"/>
                <a:cs typeface="Liter" pitchFamily="34" charset="-120"/>
              </a:rPr>
              <a:t>REAL-WORLD EXAMPLE</a:t>
            </a:r>
            <a:endParaRPr lang="en-US" sz="1600" dirty="0"/>
          </a:p>
        </p:txBody>
      </p:sp>
      <p:sp>
        <p:nvSpPr>
          <p:cNvPr id="43" name="Text 41"/>
          <p:cNvSpPr/>
          <p:nvPr/>
        </p:nvSpPr>
        <p:spPr>
          <a:xfrm>
            <a:off x="1016000" y="7467600"/>
            <a:ext cx="14224000" cy="3302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A "Supplies" relationship connects Supplier, Product, and Project (ternary). A "Reports To" relationship connects Employee to Employee (unary).</a:t>
            </a:r>
            <a:endParaRPr lang="en-US" sz="1600" dirty="0"/>
          </a:p>
        </p:txBody>
      </p:sp>
      <p:sp>
        <p:nvSpPr>
          <p:cNvPr id="44" name="Shape 42"/>
          <p:cNvSpPr/>
          <p:nvPr/>
        </p:nvSpPr>
        <p:spPr>
          <a:xfrm>
            <a:off x="762000" y="8128000"/>
            <a:ext cx="14732000" cy="508000"/>
          </a:xfrm>
          <a:prstGeom prst="roundRect">
            <a:avLst>
              <a:gd name="adj" fmla="val 6000"/>
            </a:avLst>
          </a:prstGeom>
          <a:solidFill>
            <a:srgbClr val="2D5A4C">
              <a:alpha val="8235"/>
            </a:srgbClr>
          </a:solidFill>
          <a:ln/>
        </p:spPr>
      </p:sp>
      <p:sp>
        <p:nvSpPr>
          <p:cNvPr id="45" name="Shape 43"/>
          <p:cNvSpPr/>
          <p:nvPr/>
        </p:nvSpPr>
        <p:spPr>
          <a:xfrm>
            <a:off x="1016000" y="8229600"/>
            <a:ext cx="254000" cy="254000"/>
          </a:xfrm>
          <a:custGeom>
            <a:avLst/>
            <a:gdLst/>
            <a:ahLst/>
            <a:cxnLst/>
            <a:rect l="l" t="t" r="r" b="b"/>
            <a:pathLst>
              <a:path w="254000" h="254000">
                <a:moveTo>
                  <a:pt x="175071" y="10517"/>
                </a:moveTo>
                <a:lnTo>
                  <a:pt x="152797" y="32792"/>
                </a:lnTo>
                <a:lnTo>
                  <a:pt x="221208" y="101203"/>
                </a:lnTo>
                <a:lnTo>
                  <a:pt x="243483" y="78929"/>
                </a:lnTo>
                <a:cubicBezTo>
                  <a:pt x="250230" y="72231"/>
                  <a:pt x="254000" y="63103"/>
                  <a:pt x="254000" y="53578"/>
                </a:cubicBezTo>
                <a:cubicBezTo>
                  <a:pt x="254000" y="44053"/>
                  <a:pt x="250230" y="34925"/>
                  <a:pt x="243483" y="28228"/>
                </a:cubicBezTo>
                <a:lnTo>
                  <a:pt x="225772" y="10517"/>
                </a:lnTo>
                <a:cubicBezTo>
                  <a:pt x="219075" y="3770"/>
                  <a:pt x="209947" y="0"/>
                  <a:pt x="200422" y="0"/>
                </a:cubicBezTo>
                <a:cubicBezTo>
                  <a:pt x="190897" y="0"/>
                  <a:pt x="181769" y="3770"/>
                  <a:pt x="175071" y="10517"/>
                </a:cubicBezTo>
                <a:close/>
                <a:moveTo>
                  <a:pt x="135979" y="49609"/>
                </a:moveTo>
                <a:lnTo>
                  <a:pt x="29220" y="156319"/>
                </a:lnTo>
                <a:cubicBezTo>
                  <a:pt x="23912" y="161627"/>
                  <a:pt x="20042" y="168275"/>
                  <a:pt x="18008" y="175518"/>
                </a:cubicBezTo>
                <a:lnTo>
                  <a:pt x="446" y="238919"/>
                </a:lnTo>
                <a:cubicBezTo>
                  <a:pt x="-695" y="243036"/>
                  <a:pt x="446" y="247501"/>
                  <a:pt x="3522" y="250527"/>
                </a:cubicBezTo>
                <a:cubicBezTo>
                  <a:pt x="6598" y="253554"/>
                  <a:pt x="11013" y="254744"/>
                  <a:pt x="15131" y="253603"/>
                </a:cubicBezTo>
                <a:lnTo>
                  <a:pt x="78532" y="235992"/>
                </a:lnTo>
                <a:cubicBezTo>
                  <a:pt x="85775" y="233958"/>
                  <a:pt x="92373" y="230138"/>
                  <a:pt x="97730" y="224780"/>
                </a:cubicBezTo>
                <a:lnTo>
                  <a:pt x="204391" y="118021"/>
                </a:lnTo>
                <a:lnTo>
                  <a:pt x="135979" y="49609"/>
                </a:lnTo>
                <a:close/>
              </a:path>
            </a:pathLst>
          </a:custGeom>
          <a:solidFill>
            <a:srgbClr val="2D5A4C"/>
          </a:solidFill>
          <a:ln/>
        </p:spPr>
      </p:sp>
      <p:sp>
        <p:nvSpPr>
          <p:cNvPr id="46" name="Text 44"/>
          <p:cNvSpPr/>
          <p:nvPr/>
        </p:nvSpPr>
        <p:spPr>
          <a:xfrm>
            <a:off x="1371600" y="8166100"/>
            <a:ext cx="13970000" cy="381000"/>
          </a:xfrm>
          <a:prstGeom prst="rect">
            <a:avLst/>
          </a:prstGeom>
          <a:noFill/>
          <a:ln/>
        </p:spPr>
        <p:txBody>
          <a:bodyPr wrap="square" lIns="0" tIns="0" rIns="0" bIns="0" rtlCol="0" anchor="ctr"/>
          <a:lstStyle/>
          <a:p>
            <a:pPr>
              <a:lnSpc>
                <a:spcPct val="100000"/>
              </a:lnSpc>
            </a:pPr>
            <a:r>
              <a:rPr lang="en-US" sz="1400" b="1" dirty="0">
                <a:solidFill>
                  <a:srgbClr val="2D5A4C"/>
                </a:solidFill>
                <a:latin typeface="Quattrocento Sans" pitchFamily="34" charset="0"/>
                <a:ea typeface="Quattrocento Sans" pitchFamily="34" charset="-122"/>
                <a:cs typeface="Quattrocento Sans" pitchFamily="34" charset="-120"/>
              </a:rPr>
              <a:t>Practice:</a:t>
            </a:r>
            <a:pPr>
              <a:lnSpc>
                <a:spcPct val="100000"/>
              </a:lnSpc>
            </a:pPr>
            <a:r>
              <a:rPr lang="en-US" sz="1400" dirty="0">
                <a:solidFill>
                  <a:srgbClr val="2D5A4C"/>
                </a:solidFill>
                <a:latin typeface="Quattrocento Sans" pitchFamily="34" charset="0"/>
                <a:ea typeface="Quattrocento Sans" pitchFamily="34" charset="-122"/>
                <a:cs typeface="Quattrocento Sans" pitchFamily="34" charset="-120"/>
              </a:rPr>
              <a:t> Classify: Doctor-Patient, Student-Course-Grade, Person-MarriedTo-Person</a:t>
            </a:r>
            <a:endParaRPr lang="en-US" sz="1600" dirty="0"/>
          </a:p>
        </p:txBody>
      </p:sp>
      <p:sp>
        <p:nvSpPr>
          <p:cNvPr id="47" name="Text 45"/>
          <p:cNvSpPr/>
          <p:nvPr/>
        </p:nvSpPr>
        <p:spPr>
          <a:xfrm>
            <a:off x="13462000" y="8788400"/>
            <a:ext cx="2286000" cy="254000"/>
          </a:xfrm>
          <a:prstGeom prst="rect">
            <a:avLst/>
          </a:prstGeom>
          <a:noFill/>
          <a:ln/>
        </p:spPr>
        <p:txBody>
          <a:bodyPr wrap="none" lIns="0" tIns="0" rIns="0" bIns="0" rtlCol="0" anchor="ctr"/>
          <a:lstStyle/>
          <a:p>
            <a:pPr algn="r">
              <a:lnSpc>
                <a:spcPct val="140000"/>
              </a:lnSpc>
            </a:pPr>
            <a:r>
              <a:rPr lang="en-US" sz="1400" dirty="0">
                <a:solidFill>
                  <a:srgbClr val="8B7355"/>
                </a:solidFill>
                <a:latin typeface="QuattrocentoSans" pitchFamily="34" charset="0"/>
                <a:ea typeface="QuattrocentoSans" pitchFamily="34" charset="-122"/>
                <a:cs typeface="QuattrocentoSans" pitchFamily="34" charset="-120"/>
              </a:rPr>
              <a:t>Relationships and Roles</a:t>
            </a:r>
            <a:endParaRPr lang="en-US" sz="1400" dirty="0"/>
          </a:p>
        </p:txBody>
      </p:sp>
    </p:spTree>
  </p:cSld>
  <p:clrMapOvr>
    <a:masterClrMapping/>
  </p:clrMapOvr>
  <p:transition>
    <p:fade/>
    <p:spd val="med"/>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D4943A"/>
          </a:solidFill>
          <a:ln/>
        </p:spPr>
      </p:sp>
      <p:sp>
        <p:nvSpPr>
          <p:cNvPr id="3" name="Text 1"/>
          <p:cNvSpPr/>
          <p:nvPr/>
        </p:nvSpPr>
        <p:spPr>
          <a:xfrm>
            <a:off x="762000" y="381000"/>
            <a:ext cx="10160000" cy="508000"/>
          </a:xfrm>
          <a:prstGeom prst="rect">
            <a:avLst/>
          </a:prstGeom>
          <a:noFill/>
          <a:ln/>
        </p:spPr>
        <p:txBody>
          <a:bodyPr wrap="none" lIns="0" tIns="0" rIns="0" bIns="0" rtlCol="0" anchor="ctr"/>
          <a:lstStyle/>
          <a:p>
            <a:pPr>
              <a:lnSpc>
                <a:spcPct val="130000"/>
              </a:lnSpc>
            </a:pPr>
            <a:r>
              <a:rPr lang="en-US" sz="2800" dirty="0">
                <a:solidFill>
                  <a:srgbClr val="2D5A4C"/>
                </a:solidFill>
                <a:latin typeface="Liter" pitchFamily="34" charset="0"/>
                <a:ea typeface="Liter" pitchFamily="34" charset="-122"/>
                <a:cs typeface="Liter" pitchFamily="34" charset="-120"/>
              </a:rPr>
              <a:t>Understanding Roles in Relationships</a:t>
            </a:r>
            <a:endParaRPr lang="en-US" sz="2800" dirty="0"/>
          </a:p>
        </p:txBody>
      </p:sp>
      <p:sp>
        <p:nvSpPr>
          <p:cNvPr id="4" name="Text 2"/>
          <p:cNvSpPr/>
          <p:nvPr/>
        </p:nvSpPr>
        <p:spPr>
          <a:xfrm>
            <a:off x="762000" y="1143000"/>
            <a:ext cx="7620000" cy="3683000"/>
          </a:xfrm>
          <a:prstGeom prst="rect">
            <a:avLst/>
          </a:prstGeom>
          <a:noFill/>
          <a:ln/>
        </p:spPr>
        <p:txBody>
          <a:bodyPr wrap="square" lIns="0" tIns="0" rIns="0" bIns="0" rtlCol="0" anchor="t"/>
          <a:lstStyle/>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A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role</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describes the function an entity plays in a relationship</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Roles are especially important when the same entity type appears multiple times</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Role names are </a:t>
            </a:r>
            <a:pPr>
              <a:lnSpc>
                <a:spcPct val="150000"/>
              </a:lnSpc>
              <a:spcBef>
                <a:spcPts val="10"/>
              </a:spcBef>
            </a:pPr>
            <a:r>
              <a:rPr lang="en-US" sz="1800" b="1" dirty="0">
                <a:solidFill>
                  <a:srgbClr val="2C2C2C"/>
                </a:solidFill>
                <a:latin typeface="QuattrocentoSans" pitchFamily="34" charset="0"/>
                <a:ea typeface="QuattrocentoSans" pitchFamily="34" charset="-122"/>
                <a:cs typeface="QuattrocentoSans" pitchFamily="34" charset="-120"/>
              </a:rPr>
              <a:t>written on the relationship lines</a:t>
            </a:r>
            <a:pPr>
              <a:lnSpc>
                <a:spcPct val="150000"/>
              </a:lnSpc>
              <a:spcBef>
                <a:spcPts val="10"/>
              </a:spcBef>
            </a:pPr>
            <a:r>
              <a:rPr lang="en-US" sz="1800" dirty="0">
                <a:solidFill>
                  <a:srgbClr val="2C2C2C"/>
                </a:solidFill>
                <a:latin typeface="QuattrocentoSans" pitchFamily="34" charset="0"/>
                <a:ea typeface="QuattrocentoSans" pitchFamily="34" charset="-122"/>
                <a:cs typeface="QuattrocentoSans" pitchFamily="34" charset="-120"/>
              </a:rPr>
              <a:t> near entities</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Roles make the meaning of the relationship clear and unambiguous</a:t>
            </a:r>
            <a:endParaRPr lang="en-US" sz="2000" dirty="0"/>
          </a:p>
          <a:p>
            <a:pPr marL="317500" indent="-317500">
              <a:lnSpc>
                <a:spcPct val="150000"/>
              </a:lnSpc>
              <a:spcBef>
                <a:spcPts val="10"/>
              </a:spcBef>
              <a:buSzPct val="100000"/>
              <a:buChar char="•"/>
            </a:pPr>
            <a:r>
              <a:rPr lang="en-US" sz="1800" dirty="0">
                <a:solidFill>
                  <a:srgbClr val="2C2C2C"/>
                </a:solidFill>
                <a:latin typeface="QuattrocentoSans" pitchFamily="34" charset="0"/>
                <a:ea typeface="QuattrocentoSans" pitchFamily="34" charset="-122"/>
                <a:cs typeface="QuattrocentoSans" pitchFamily="34" charset="-120"/>
              </a:rPr>
              <a:t>Without role names, some relationships would be confusing</a:t>
            </a:r>
            <a:endParaRPr lang="en-US" sz="2000" dirty="0"/>
          </a:p>
        </p:txBody>
      </p:sp>
      <p:sp>
        <p:nvSpPr>
          <p:cNvPr id="5" name="Shape 3"/>
          <p:cNvSpPr/>
          <p:nvPr/>
        </p:nvSpPr>
        <p:spPr>
          <a:xfrm>
            <a:off x="8890000" y="1016000"/>
            <a:ext cx="6604000" cy="3810000"/>
          </a:xfrm>
          <a:prstGeom prst="roundRect">
            <a:avLst>
              <a:gd name="adj" fmla="val 8000"/>
            </a:avLst>
          </a:prstGeom>
          <a:solidFill>
            <a:srgbClr val="2D5A4C">
              <a:alpha val="8235"/>
            </a:srgbClr>
          </a:solidFill>
          <a:ln/>
        </p:spPr>
      </p:sp>
      <p:sp>
        <p:nvSpPr>
          <p:cNvPr id="6" name="Text 4"/>
          <p:cNvSpPr/>
          <p:nvPr/>
        </p:nvSpPr>
        <p:spPr>
          <a:xfrm>
            <a:off x="8890000" y="1117600"/>
            <a:ext cx="6604000" cy="355600"/>
          </a:xfrm>
          <a:prstGeom prst="rect">
            <a:avLst/>
          </a:prstGeom>
          <a:noFill/>
          <a:ln/>
        </p:spPr>
        <p:txBody>
          <a:bodyPr wrap="none" lIns="0" tIns="0" rIns="0" bIns="0" rtlCol="0" anchor="ctr"/>
          <a:lstStyle/>
          <a:p>
            <a:pPr algn="ctr">
              <a:lnSpc>
                <a:spcPct val="100000"/>
              </a:lnSpc>
            </a:pPr>
            <a:r>
              <a:rPr lang="en-US" sz="1400" b="1" dirty="0">
                <a:solidFill>
                  <a:srgbClr val="2D5A4C"/>
                </a:solidFill>
                <a:latin typeface="Liter" pitchFamily="34" charset="0"/>
                <a:ea typeface="Liter" pitchFamily="34" charset="-122"/>
                <a:cs typeface="Liter" pitchFamily="34" charset="-120"/>
              </a:rPr>
              <a:t>ROLES IN A RECURSIVE RELATIONSHIP</a:t>
            </a:r>
            <a:endParaRPr lang="en-US" sz="1600" dirty="0"/>
          </a:p>
        </p:txBody>
      </p:sp>
      <p:sp>
        <p:nvSpPr>
          <p:cNvPr id="7" name="Shape 5"/>
          <p:cNvSpPr/>
          <p:nvPr/>
        </p:nvSpPr>
        <p:spPr>
          <a:xfrm>
            <a:off x="11430000" y="1651000"/>
            <a:ext cx="1778000" cy="698500"/>
          </a:xfrm>
          <a:prstGeom prst="rect">
            <a:avLst/>
          </a:prstGeom>
          <a:solidFill>
            <a:srgbClr val="2D5A4C"/>
          </a:solidFill>
          <a:ln/>
        </p:spPr>
      </p:sp>
      <p:sp>
        <p:nvSpPr>
          <p:cNvPr id="8" name="Text 6"/>
          <p:cNvSpPr/>
          <p:nvPr/>
        </p:nvSpPr>
        <p:spPr>
          <a:xfrm>
            <a:off x="11430000" y="1651000"/>
            <a:ext cx="1778000" cy="6985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EMPLOYEE</a:t>
            </a:r>
            <a:endParaRPr lang="en-US" sz="1600" dirty="0"/>
          </a:p>
        </p:txBody>
      </p:sp>
      <p:sp>
        <p:nvSpPr>
          <p:cNvPr id="9" name="Shape 7"/>
          <p:cNvSpPr/>
          <p:nvPr/>
        </p:nvSpPr>
        <p:spPr>
          <a:xfrm>
            <a:off x="11747500" y="2794000"/>
            <a:ext cx="1143000" cy="762000"/>
          </a:xfrm>
          <a:prstGeom prst="diamond">
            <a:avLst/>
          </a:prstGeom>
          <a:solidFill>
            <a:srgbClr val="D4943A"/>
          </a:solidFill>
          <a:ln/>
        </p:spPr>
      </p:sp>
      <p:sp>
        <p:nvSpPr>
          <p:cNvPr id="10" name="Text 8"/>
          <p:cNvSpPr/>
          <p:nvPr/>
        </p:nvSpPr>
        <p:spPr>
          <a:xfrm>
            <a:off x="11747500" y="2794000"/>
            <a:ext cx="1143000" cy="762000"/>
          </a:xfrm>
          <a:prstGeom prst="rect">
            <a:avLst/>
          </a:prstGeom>
          <a:noFill/>
          <a:ln/>
        </p:spPr>
        <p:txBody>
          <a:bodyPr wrap="none" lIns="0" tIns="0" rIns="0" bIns="0" rtlCol="0" anchor="ctr"/>
          <a:lstStyle/>
          <a:p>
            <a:pPr algn="ctr">
              <a:lnSpc>
                <a:spcPct val="100000"/>
              </a:lnSpc>
            </a:pPr>
            <a:r>
              <a:rPr lang="en-US" sz="1100" b="1" dirty="0">
                <a:solidFill>
                  <a:srgbClr val="FFFFFF"/>
                </a:solidFill>
                <a:latin typeface="Liter" pitchFamily="34" charset="0"/>
                <a:ea typeface="Liter" pitchFamily="34" charset="-122"/>
                <a:cs typeface="Liter" pitchFamily="34" charset="-120"/>
              </a:rPr>
              <a:t>MANAGES</a:t>
            </a:r>
            <a:endParaRPr lang="en-US" sz="1600" dirty="0"/>
          </a:p>
        </p:txBody>
      </p:sp>
      <p:sp>
        <p:nvSpPr>
          <p:cNvPr id="11" name="Shape 9"/>
          <p:cNvSpPr/>
          <p:nvPr/>
        </p:nvSpPr>
        <p:spPr>
          <a:xfrm>
            <a:off x="12319000" y="2349500"/>
            <a:ext cx="0" cy="444500"/>
          </a:xfrm>
          <a:prstGeom prst="straightConnector1">
            <a:avLst/>
          </a:prstGeom>
          <a:noFill/>
          <a:ln w="25400">
            <a:solidFill>
              <a:srgbClr val="2D5A4C"/>
            </a:solidFill>
            <a:prstDash val="solid"/>
            <a:headEnd type="arrow"/>
            <a:tailEnd type="none"/>
          </a:ln>
        </p:spPr>
      </p:sp>
      <p:sp>
        <p:nvSpPr>
          <p:cNvPr id="12" name="Shape 10"/>
          <p:cNvSpPr/>
          <p:nvPr/>
        </p:nvSpPr>
        <p:spPr>
          <a:xfrm>
            <a:off x="12319000" y="3556000"/>
            <a:ext cx="0" cy="444500"/>
          </a:xfrm>
          <a:prstGeom prst="straightConnector1">
            <a:avLst/>
          </a:prstGeom>
          <a:noFill/>
          <a:ln w="25400">
            <a:solidFill>
              <a:srgbClr val="2D5A4C"/>
            </a:solidFill>
            <a:prstDash val="solid"/>
            <a:headEnd type="none"/>
            <a:tailEnd type="arrow"/>
          </a:ln>
        </p:spPr>
      </p:sp>
      <p:sp>
        <p:nvSpPr>
          <p:cNvPr id="13" name="Text 11"/>
          <p:cNvSpPr/>
          <p:nvPr/>
        </p:nvSpPr>
        <p:spPr>
          <a:xfrm>
            <a:off x="12446000" y="2438400"/>
            <a:ext cx="1270000" cy="279400"/>
          </a:xfrm>
          <a:prstGeom prst="rect">
            <a:avLst/>
          </a:prstGeom>
          <a:noFill/>
          <a:ln/>
        </p:spPr>
        <p:txBody>
          <a:bodyPr wrap="none" lIns="0" tIns="0" rIns="0" bIns="0" rtlCol="0" anchor="ctr"/>
          <a:lstStyle/>
          <a:p>
            <a:pPr>
              <a:lnSpc>
                <a:spcPct val="100000"/>
              </a:lnSpc>
            </a:pPr>
            <a:r>
              <a:rPr lang="en-US" sz="1200" b="1" dirty="0">
                <a:solidFill>
                  <a:srgbClr val="D4943A"/>
                </a:solidFill>
                <a:latin typeface="Liter" pitchFamily="34" charset="0"/>
                <a:ea typeface="Liter" pitchFamily="34" charset="-122"/>
                <a:cs typeface="Liter" pitchFamily="34" charset="-120"/>
              </a:rPr>
              <a:t>Manager</a:t>
            </a:r>
            <a:endParaRPr lang="en-US" sz="1600" dirty="0"/>
          </a:p>
        </p:txBody>
      </p:sp>
      <p:sp>
        <p:nvSpPr>
          <p:cNvPr id="14" name="Text 12"/>
          <p:cNvSpPr/>
          <p:nvPr/>
        </p:nvSpPr>
        <p:spPr>
          <a:xfrm>
            <a:off x="12446000" y="3657600"/>
            <a:ext cx="1270000" cy="279400"/>
          </a:xfrm>
          <a:prstGeom prst="rect">
            <a:avLst/>
          </a:prstGeom>
          <a:noFill/>
          <a:ln/>
        </p:spPr>
        <p:txBody>
          <a:bodyPr wrap="none" lIns="0" tIns="0" rIns="0" bIns="0" rtlCol="0" anchor="ctr"/>
          <a:lstStyle/>
          <a:p>
            <a:pPr>
              <a:lnSpc>
                <a:spcPct val="100000"/>
              </a:lnSpc>
            </a:pPr>
            <a:r>
              <a:rPr lang="en-US" sz="1200" b="1" dirty="0">
                <a:solidFill>
                  <a:srgbClr val="D4943A"/>
                </a:solidFill>
                <a:latin typeface="Liter" pitchFamily="34" charset="0"/>
                <a:ea typeface="Liter" pitchFamily="34" charset="-122"/>
                <a:cs typeface="Liter" pitchFamily="34" charset="-120"/>
              </a:rPr>
              <a:t>Worker</a:t>
            </a:r>
            <a:endParaRPr lang="en-US" sz="1600" dirty="0"/>
          </a:p>
        </p:txBody>
      </p:sp>
      <p:sp>
        <p:nvSpPr>
          <p:cNvPr id="15" name="Shape 13"/>
          <p:cNvSpPr/>
          <p:nvPr/>
        </p:nvSpPr>
        <p:spPr>
          <a:xfrm>
            <a:off x="11430000" y="4000500"/>
            <a:ext cx="1778000" cy="698500"/>
          </a:xfrm>
          <a:prstGeom prst="rect">
            <a:avLst/>
          </a:prstGeom>
          <a:solidFill>
            <a:srgbClr val="2D5A4C"/>
          </a:solidFill>
          <a:ln/>
        </p:spPr>
      </p:sp>
      <p:sp>
        <p:nvSpPr>
          <p:cNvPr id="16" name="Text 14"/>
          <p:cNvSpPr/>
          <p:nvPr/>
        </p:nvSpPr>
        <p:spPr>
          <a:xfrm>
            <a:off x="11430000" y="4000500"/>
            <a:ext cx="1778000" cy="6985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Liter" pitchFamily="34" charset="0"/>
                <a:ea typeface="Liter" pitchFamily="34" charset="-122"/>
                <a:cs typeface="Liter" pitchFamily="34" charset="-120"/>
              </a:rPr>
              <a:t>EMPLOYEE</a:t>
            </a:r>
            <a:endParaRPr lang="en-US" sz="1600" dirty="0"/>
          </a:p>
        </p:txBody>
      </p:sp>
      <p:sp>
        <p:nvSpPr>
          <p:cNvPr id="17" name="Text 15"/>
          <p:cNvSpPr/>
          <p:nvPr/>
        </p:nvSpPr>
        <p:spPr>
          <a:xfrm>
            <a:off x="9271000" y="1651000"/>
            <a:ext cx="2032000" cy="3175000"/>
          </a:xfrm>
          <a:prstGeom prst="rect">
            <a:avLst/>
          </a:prstGeom>
          <a:noFill/>
          <a:ln/>
        </p:spPr>
        <p:txBody>
          <a:bodyPr wrap="square" lIns="0" tIns="0" rIns="0" bIns="0" rtlCol="0" anchor="ctr"/>
          <a:lstStyle/>
          <a:p>
            <a:pPr algn="ctr">
              <a:lnSpc>
                <a:spcPct val="150000"/>
              </a:lnSpc>
            </a:pPr>
            <a:r>
              <a:rPr lang="en-US" sz="1300" dirty="0">
                <a:solidFill>
                  <a:srgbClr val="2C2C2C"/>
                </a:solidFill>
                <a:latin typeface="Quattrocento Sans" pitchFamily="34" charset="0"/>
                <a:ea typeface="Quattrocento Sans" pitchFamily="34" charset="-122"/>
                <a:cs typeface="Quattrocento Sans" pitchFamily="34" charset="-120"/>
              </a:rPr>
              <a:t>Same entity type appears</a:t>
            </a:r>
            <a:endParaRPr lang="en-US" sz="1600" dirty="0"/>
          </a:p>
          <a:p>
            <a:pPr algn="ctr">
              <a:lnSpc>
                <a:spcPct val="150000"/>
              </a:lnSpc>
            </a:pPr>
            <a:r>
              <a:rPr lang="en-US" sz="1300" dirty="0">
                <a:solidFill>
                  <a:srgbClr val="2C2C2C"/>
                </a:solidFill>
                <a:latin typeface="Quattrocento Sans" pitchFamily="34" charset="0"/>
                <a:ea typeface="Quattrocento Sans" pitchFamily="34" charset="-122"/>
                <a:cs typeface="Quattrocento Sans" pitchFamily="34" charset="-120"/>
              </a:rPr>
              <a:t>on </a:t>
            </a:r>
            <a:pPr algn="ctr">
              <a:lnSpc>
                <a:spcPct val="150000"/>
              </a:lnSpc>
            </a:pPr>
            <a:r>
              <a:rPr lang="en-US" sz="1300" b="1" dirty="0">
                <a:solidFill>
                  <a:srgbClr val="2C2C2C"/>
                </a:solidFill>
                <a:latin typeface="Quattrocento Sans" pitchFamily="34" charset="0"/>
                <a:ea typeface="Quattrocento Sans" pitchFamily="34" charset="-122"/>
                <a:cs typeface="Quattrocento Sans" pitchFamily="34" charset="-120"/>
              </a:rPr>
              <a:t>both sides</a:t>
            </a:r>
            <a:endParaRPr lang="en-US" sz="1600" dirty="0"/>
          </a:p>
          <a:p>
            <a:pPr algn="ctr">
              <a:lnSpc>
                <a:spcPct val="150000"/>
              </a:lnSpc>
            </a:pPr>
            <a:r>
              <a:rPr lang="en-US" sz="1300" dirty="0">
                <a:solidFill>
                  <a:srgbClr val="2C2C2C"/>
                </a:solidFill>
                <a:latin typeface="Quattrocento Sans" pitchFamily="34" charset="0"/>
                <a:ea typeface="Quattrocento Sans" pitchFamily="34" charset="-122"/>
                <a:cs typeface="Quattrocento Sans" pitchFamily="34" charset="-120"/>
              </a:rPr>
              <a:t>of the relationship.</a:t>
            </a:r>
            <a:endParaRPr lang="en-US" sz="1600" dirty="0"/>
          </a:p>
          <a:p>
            <a:pPr algn="ctr">
              <a:lnSpc>
                <a:spcPct val="150000"/>
              </a:lnSpc>
            </a:pPr>
            <a:r>
              <a:rPr lang="en-US" sz="1300" b="1" dirty="0">
                <a:solidFill>
                  <a:srgbClr val="D4943A"/>
                </a:solidFill>
                <a:latin typeface="Quattrocento Sans" pitchFamily="34" charset="0"/>
                <a:ea typeface="Quattrocento Sans" pitchFamily="34" charset="-122"/>
                <a:cs typeface="Quattrocento Sans" pitchFamily="34" charset="-120"/>
              </a:rPr>
              <a:t>Roles tell us who</a:t>
            </a:r>
            <a:endParaRPr lang="en-US" sz="1600" dirty="0"/>
          </a:p>
          <a:p>
            <a:pPr algn="ctr">
              <a:lnSpc>
                <a:spcPct val="150000"/>
              </a:lnSpc>
            </a:pPr>
            <a:r>
              <a:rPr lang="en-US" sz="1300" b="1" dirty="0">
                <a:solidFill>
                  <a:srgbClr val="D4943A"/>
                </a:solidFill>
                <a:latin typeface="Quattrocento Sans" pitchFamily="34" charset="0"/>
                <a:ea typeface="Quattrocento Sans" pitchFamily="34" charset="-122"/>
                <a:cs typeface="Quattrocento Sans" pitchFamily="34" charset="-120"/>
              </a:rPr>
              <a:t>plays which part!</a:t>
            </a:r>
            <a:endParaRPr lang="en-US" sz="1600" dirty="0"/>
          </a:p>
        </p:txBody>
      </p:sp>
      <p:sp>
        <p:nvSpPr>
          <p:cNvPr id="18" name="Shape 16"/>
          <p:cNvSpPr/>
          <p:nvPr/>
        </p:nvSpPr>
        <p:spPr>
          <a:xfrm>
            <a:off x="762000" y="5080000"/>
            <a:ext cx="14732000" cy="1016000"/>
          </a:xfrm>
          <a:prstGeom prst="roundRect">
            <a:avLst>
              <a:gd name="adj" fmla="val 6000"/>
            </a:avLst>
          </a:prstGeom>
          <a:solidFill>
            <a:srgbClr val="E8E2DA"/>
          </a:solidFill>
          <a:ln/>
        </p:spPr>
      </p:sp>
      <p:sp>
        <p:nvSpPr>
          <p:cNvPr id="19" name="Shape 17"/>
          <p:cNvSpPr/>
          <p:nvPr/>
        </p:nvSpPr>
        <p:spPr>
          <a:xfrm>
            <a:off x="1060450" y="5308600"/>
            <a:ext cx="266700" cy="355600"/>
          </a:xfrm>
          <a:custGeom>
            <a:avLst/>
            <a:gdLst/>
            <a:ahLst/>
            <a:cxnLst/>
            <a:rect l="l" t="t" r="r" b="b"/>
            <a:pathLst>
              <a:path w="266700" h="355600">
                <a:moveTo>
                  <a:pt x="203428" y="266700"/>
                </a:moveTo>
                <a:cubicBezTo>
                  <a:pt x="208498" y="251212"/>
                  <a:pt x="218638" y="237182"/>
                  <a:pt x="230098" y="225098"/>
                </a:cubicBezTo>
                <a:cubicBezTo>
                  <a:pt x="252809" y="201206"/>
                  <a:pt x="266700" y="168910"/>
                  <a:pt x="266700" y="133350"/>
                </a:cubicBezTo>
                <a:cubicBezTo>
                  <a:pt x="266700" y="59730"/>
                  <a:pt x="206970" y="0"/>
                  <a:pt x="133350" y="0"/>
                </a:cubicBezTo>
                <a:cubicBezTo>
                  <a:pt x="59730" y="0"/>
                  <a:pt x="0" y="59730"/>
                  <a:pt x="0" y="133350"/>
                </a:cubicBezTo>
                <a:cubicBezTo>
                  <a:pt x="0" y="168910"/>
                  <a:pt x="13891" y="201206"/>
                  <a:pt x="36602" y="225098"/>
                </a:cubicBezTo>
                <a:cubicBezTo>
                  <a:pt x="48062" y="237182"/>
                  <a:pt x="58271" y="251212"/>
                  <a:pt x="63272" y="266700"/>
                </a:cubicBezTo>
                <a:lnTo>
                  <a:pt x="203359" y="266700"/>
                </a:lnTo>
                <a:close/>
                <a:moveTo>
                  <a:pt x="200025" y="300038"/>
                </a:moveTo>
                <a:lnTo>
                  <a:pt x="66675" y="300038"/>
                </a:lnTo>
                <a:lnTo>
                  <a:pt x="66675" y="311150"/>
                </a:lnTo>
                <a:cubicBezTo>
                  <a:pt x="66675" y="341848"/>
                  <a:pt x="91539" y="366712"/>
                  <a:pt x="122238" y="366712"/>
                </a:cubicBezTo>
                <a:lnTo>
                  <a:pt x="144463" y="366712"/>
                </a:lnTo>
                <a:cubicBezTo>
                  <a:pt x="175161" y="366712"/>
                  <a:pt x="200025" y="341848"/>
                  <a:pt x="200025" y="311150"/>
                </a:cubicBezTo>
                <a:lnTo>
                  <a:pt x="200025" y="300038"/>
                </a:lnTo>
                <a:close/>
                <a:moveTo>
                  <a:pt x="127794" y="77788"/>
                </a:moveTo>
                <a:cubicBezTo>
                  <a:pt x="100151" y="77788"/>
                  <a:pt x="77788" y="100151"/>
                  <a:pt x="77788" y="127794"/>
                </a:cubicBezTo>
                <a:cubicBezTo>
                  <a:pt x="77788" y="137031"/>
                  <a:pt x="70356" y="144463"/>
                  <a:pt x="61119" y="144463"/>
                </a:cubicBezTo>
                <a:cubicBezTo>
                  <a:pt x="51881" y="144463"/>
                  <a:pt x="44450" y="137031"/>
                  <a:pt x="44450" y="127794"/>
                </a:cubicBezTo>
                <a:cubicBezTo>
                  <a:pt x="44450" y="81746"/>
                  <a:pt x="81746" y="44450"/>
                  <a:pt x="127794" y="44450"/>
                </a:cubicBezTo>
                <a:cubicBezTo>
                  <a:pt x="137031" y="44450"/>
                  <a:pt x="144463" y="51881"/>
                  <a:pt x="144463" y="61119"/>
                </a:cubicBezTo>
                <a:cubicBezTo>
                  <a:pt x="144463" y="70356"/>
                  <a:pt x="137031" y="77788"/>
                  <a:pt x="127794" y="77788"/>
                </a:cubicBezTo>
                <a:close/>
              </a:path>
            </a:pathLst>
          </a:custGeom>
          <a:solidFill>
            <a:srgbClr val="D4943A"/>
          </a:solidFill>
          <a:ln/>
        </p:spPr>
      </p:sp>
      <p:sp>
        <p:nvSpPr>
          <p:cNvPr id="20" name="Text 18"/>
          <p:cNvSpPr/>
          <p:nvPr/>
        </p:nvSpPr>
        <p:spPr>
          <a:xfrm>
            <a:off x="1498600" y="5143500"/>
            <a:ext cx="2540000" cy="304800"/>
          </a:xfrm>
          <a:prstGeom prst="rect">
            <a:avLst/>
          </a:prstGeom>
          <a:noFill/>
          <a:ln/>
        </p:spPr>
        <p:txBody>
          <a:bodyPr wrap="none" lIns="0" tIns="0" rIns="0" bIns="0" rtlCol="0" anchor="ctr"/>
          <a:lstStyle/>
          <a:p>
            <a:pPr>
              <a:lnSpc>
                <a:spcPct val="100000"/>
              </a:lnSpc>
            </a:pPr>
            <a:r>
              <a:rPr lang="en-US" sz="1400" b="1" dirty="0">
                <a:solidFill>
                  <a:srgbClr val="2D5A4C"/>
                </a:solidFill>
                <a:latin typeface="Liter" pitchFamily="34" charset="0"/>
                <a:ea typeface="Liter" pitchFamily="34" charset="-122"/>
                <a:cs typeface="Liter" pitchFamily="34" charset="-120"/>
              </a:rPr>
              <a:t>EXPLANATION</a:t>
            </a:r>
            <a:endParaRPr lang="en-US" sz="1600" dirty="0"/>
          </a:p>
        </p:txBody>
      </p:sp>
      <p:sp>
        <p:nvSpPr>
          <p:cNvPr id="21" name="Text 19"/>
          <p:cNvSpPr/>
          <p:nvPr/>
        </p:nvSpPr>
        <p:spPr>
          <a:xfrm>
            <a:off x="1498600" y="5486400"/>
            <a:ext cx="13716000" cy="5080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Roles are like labels that tell us what part each entity plays. In a "manages" relationship, one employee plays "Manager" and another plays "Subordinate."</a:t>
            </a:r>
            <a:endParaRPr lang="en-US" sz="1600" dirty="0"/>
          </a:p>
        </p:txBody>
      </p:sp>
      <p:sp>
        <p:nvSpPr>
          <p:cNvPr id="22" name="Shape 20"/>
          <p:cNvSpPr/>
          <p:nvPr/>
        </p:nvSpPr>
        <p:spPr>
          <a:xfrm>
            <a:off x="762000" y="6350000"/>
            <a:ext cx="14732000" cy="1270000"/>
          </a:xfrm>
          <a:prstGeom prst="roundRect">
            <a:avLst>
              <a:gd name="adj" fmla="val 6000"/>
            </a:avLst>
          </a:prstGeom>
          <a:solidFill>
            <a:srgbClr val="D4943A">
              <a:alpha val="8235"/>
            </a:srgbClr>
          </a:solidFill>
          <a:ln/>
        </p:spPr>
      </p:sp>
      <p:sp>
        <p:nvSpPr>
          <p:cNvPr id="23" name="Shape 21"/>
          <p:cNvSpPr/>
          <p:nvPr/>
        </p:nvSpPr>
        <p:spPr>
          <a:xfrm>
            <a:off x="1016000" y="6477000"/>
            <a:ext cx="304800" cy="304800"/>
          </a:xfrm>
          <a:custGeom>
            <a:avLst/>
            <a:gdLst/>
            <a:ahLst/>
            <a:cxnLst/>
            <a:rect l="l" t="t" r="r" b="b"/>
            <a:pathLst>
              <a:path w="304800" h="304800">
                <a:moveTo>
                  <a:pt x="209490" y="166688"/>
                </a:moveTo>
                <a:lnTo>
                  <a:pt x="95845" y="166688"/>
                </a:lnTo>
                <a:cubicBezTo>
                  <a:pt x="97572" y="205085"/>
                  <a:pt x="106085" y="240447"/>
                  <a:pt x="118170" y="266343"/>
                </a:cubicBezTo>
                <a:cubicBezTo>
                  <a:pt x="124956" y="280928"/>
                  <a:pt x="132278" y="291227"/>
                  <a:pt x="139065" y="297537"/>
                </a:cubicBezTo>
                <a:cubicBezTo>
                  <a:pt x="145733" y="303788"/>
                  <a:pt x="150316" y="304800"/>
                  <a:pt x="152698" y="304800"/>
                </a:cubicBezTo>
                <a:cubicBezTo>
                  <a:pt x="155079" y="304800"/>
                  <a:pt x="159663" y="303788"/>
                  <a:pt x="166330" y="297537"/>
                </a:cubicBezTo>
                <a:cubicBezTo>
                  <a:pt x="173117" y="291227"/>
                  <a:pt x="180439" y="280868"/>
                  <a:pt x="187226" y="266343"/>
                </a:cubicBezTo>
                <a:cubicBezTo>
                  <a:pt x="199311" y="240447"/>
                  <a:pt x="207824" y="205085"/>
                  <a:pt x="209550" y="166688"/>
                </a:cubicBezTo>
                <a:close/>
                <a:moveTo>
                  <a:pt x="95786" y="138113"/>
                </a:moveTo>
                <a:lnTo>
                  <a:pt x="209431" y="138113"/>
                </a:lnTo>
                <a:cubicBezTo>
                  <a:pt x="207764" y="99715"/>
                  <a:pt x="199251" y="64353"/>
                  <a:pt x="187166" y="38457"/>
                </a:cubicBezTo>
                <a:cubicBezTo>
                  <a:pt x="180380" y="23932"/>
                  <a:pt x="173057" y="13573"/>
                  <a:pt x="166271" y="7263"/>
                </a:cubicBezTo>
                <a:cubicBezTo>
                  <a:pt x="159603" y="1012"/>
                  <a:pt x="155019" y="0"/>
                  <a:pt x="152638" y="0"/>
                </a:cubicBezTo>
                <a:cubicBezTo>
                  <a:pt x="150257" y="0"/>
                  <a:pt x="145673" y="1012"/>
                  <a:pt x="139005" y="7263"/>
                </a:cubicBezTo>
                <a:cubicBezTo>
                  <a:pt x="132219" y="13573"/>
                  <a:pt x="124897" y="23932"/>
                  <a:pt x="118110" y="38457"/>
                </a:cubicBezTo>
                <a:cubicBezTo>
                  <a:pt x="106025" y="64353"/>
                  <a:pt x="97512" y="99715"/>
                  <a:pt x="95786" y="138113"/>
                </a:cubicBezTo>
                <a:close/>
                <a:moveTo>
                  <a:pt x="67211" y="138113"/>
                </a:moveTo>
                <a:cubicBezTo>
                  <a:pt x="69294" y="87154"/>
                  <a:pt x="82451" y="39826"/>
                  <a:pt x="101679" y="8751"/>
                </a:cubicBezTo>
                <a:cubicBezTo>
                  <a:pt x="46851" y="28158"/>
                  <a:pt x="6489" y="78105"/>
                  <a:pt x="893" y="138113"/>
                </a:cubicBezTo>
                <a:lnTo>
                  <a:pt x="67211" y="138113"/>
                </a:lnTo>
                <a:close/>
                <a:moveTo>
                  <a:pt x="893" y="166688"/>
                </a:moveTo>
                <a:cubicBezTo>
                  <a:pt x="6489" y="226695"/>
                  <a:pt x="46851" y="276642"/>
                  <a:pt x="101679" y="296049"/>
                </a:cubicBezTo>
                <a:cubicBezTo>
                  <a:pt x="82451" y="264974"/>
                  <a:pt x="69294" y="217646"/>
                  <a:pt x="67211" y="166688"/>
                </a:cubicBezTo>
                <a:lnTo>
                  <a:pt x="893" y="166688"/>
                </a:lnTo>
                <a:close/>
                <a:moveTo>
                  <a:pt x="238065" y="166688"/>
                </a:moveTo>
                <a:cubicBezTo>
                  <a:pt x="235982" y="217646"/>
                  <a:pt x="222825" y="264974"/>
                  <a:pt x="203597" y="296049"/>
                </a:cubicBezTo>
                <a:cubicBezTo>
                  <a:pt x="258425" y="276582"/>
                  <a:pt x="298787" y="226695"/>
                  <a:pt x="304383" y="166688"/>
                </a:cubicBezTo>
                <a:lnTo>
                  <a:pt x="238065" y="166688"/>
                </a:lnTo>
                <a:close/>
                <a:moveTo>
                  <a:pt x="304383" y="138113"/>
                </a:moveTo>
                <a:cubicBezTo>
                  <a:pt x="298787" y="78105"/>
                  <a:pt x="258425" y="28158"/>
                  <a:pt x="203597" y="8751"/>
                </a:cubicBezTo>
                <a:cubicBezTo>
                  <a:pt x="222825" y="39826"/>
                  <a:pt x="235982" y="87154"/>
                  <a:pt x="238065" y="138113"/>
                </a:cubicBezTo>
                <a:lnTo>
                  <a:pt x="304383" y="138113"/>
                </a:lnTo>
                <a:close/>
              </a:path>
            </a:pathLst>
          </a:custGeom>
          <a:solidFill>
            <a:srgbClr val="D4943A"/>
          </a:solidFill>
          <a:ln/>
        </p:spPr>
      </p:sp>
      <p:sp>
        <p:nvSpPr>
          <p:cNvPr id="24" name="Text 22"/>
          <p:cNvSpPr/>
          <p:nvPr/>
        </p:nvSpPr>
        <p:spPr>
          <a:xfrm>
            <a:off x="1422400" y="6438900"/>
            <a:ext cx="3175000" cy="304800"/>
          </a:xfrm>
          <a:prstGeom prst="rect">
            <a:avLst/>
          </a:prstGeom>
          <a:noFill/>
          <a:ln/>
        </p:spPr>
        <p:txBody>
          <a:bodyPr wrap="none" lIns="0" tIns="0" rIns="0" bIns="0" rtlCol="0" anchor="ctr"/>
          <a:lstStyle/>
          <a:p>
            <a:pPr>
              <a:lnSpc>
                <a:spcPct val="100000"/>
              </a:lnSpc>
            </a:pPr>
            <a:r>
              <a:rPr lang="en-US" sz="1400" b="1" dirty="0">
                <a:solidFill>
                  <a:srgbClr val="D4943A"/>
                </a:solidFill>
                <a:latin typeface="Liter" pitchFamily="34" charset="0"/>
                <a:ea typeface="Liter" pitchFamily="34" charset="-122"/>
                <a:cs typeface="Liter" pitchFamily="34" charset="-120"/>
              </a:rPr>
              <a:t>REAL-WORLD EXAMPLE</a:t>
            </a:r>
            <a:endParaRPr lang="en-US" sz="1600" dirty="0"/>
          </a:p>
        </p:txBody>
      </p:sp>
      <p:sp>
        <p:nvSpPr>
          <p:cNvPr id="25" name="Text 23"/>
          <p:cNvSpPr/>
          <p:nvPr/>
        </p:nvSpPr>
        <p:spPr>
          <a:xfrm>
            <a:off x="1016000" y="6832600"/>
            <a:ext cx="14224000" cy="6604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In a family database, a Person can be a "Parent" or a "Child" in a relationship with another Person. The role names make it clear which person plays which part.</a:t>
            </a:r>
            <a:endParaRPr lang="en-US" sz="1600" dirty="0"/>
          </a:p>
        </p:txBody>
      </p:sp>
      <p:sp>
        <p:nvSpPr>
          <p:cNvPr id="26" name="Shape 24"/>
          <p:cNvSpPr/>
          <p:nvPr/>
        </p:nvSpPr>
        <p:spPr>
          <a:xfrm>
            <a:off x="762000" y="7874000"/>
            <a:ext cx="14732000" cy="635000"/>
          </a:xfrm>
          <a:prstGeom prst="roundRect">
            <a:avLst>
              <a:gd name="adj" fmla="val 6000"/>
            </a:avLst>
          </a:prstGeom>
          <a:solidFill>
            <a:srgbClr val="2D5A4C">
              <a:alpha val="8235"/>
            </a:srgbClr>
          </a:solidFill>
          <a:ln/>
        </p:spPr>
      </p:sp>
      <p:sp>
        <p:nvSpPr>
          <p:cNvPr id="27" name="Shape 25"/>
          <p:cNvSpPr/>
          <p:nvPr/>
        </p:nvSpPr>
        <p:spPr>
          <a:xfrm>
            <a:off x="1016000" y="8026400"/>
            <a:ext cx="254000" cy="254000"/>
          </a:xfrm>
          <a:custGeom>
            <a:avLst/>
            <a:gdLst/>
            <a:ahLst/>
            <a:cxnLst/>
            <a:rect l="l" t="t" r="r" b="b"/>
            <a:pathLst>
              <a:path w="254000" h="254000">
                <a:moveTo>
                  <a:pt x="175071" y="10517"/>
                </a:moveTo>
                <a:lnTo>
                  <a:pt x="152797" y="32792"/>
                </a:lnTo>
                <a:lnTo>
                  <a:pt x="221208" y="101203"/>
                </a:lnTo>
                <a:lnTo>
                  <a:pt x="243483" y="78929"/>
                </a:lnTo>
                <a:cubicBezTo>
                  <a:pt x="250230" y="72231"/>
                  <a:pt x="254000" y="63103"/>
                  <a:pt x="254000" y="53578"/>
                </a:cubicBezTo>
                <a:cubicBezTo>
                  <a:pt x="254000" y="44053"/>
                  <a:pt x="250230" y="34925"/>
                  <a:pt x="243483" y="28228"/>
                </a:cubicBezTo>
                <a:lnTo>
                  <a:pt x="225772" y="10517"/>
                </a:lnTo>
                <a:cubicBezTo>
                  <a:pt x="219075" y="3770"/>
                  <a:pt x="209947" y="0"/>
                  <a:pt x="200422" y="0"/>
                </a:cubicBezTo>
                <a:cubicBezTo>
                  <a:pt x="190897" y="0"/>
                  <a:pt x="181769" y="3770"/>
                  <a:pt x="175071" y="10517"/>
                </a:cubicBezTo>
                <a:close/>
                <a:moveTo>
                  <a:pt x="135979" y="49609"/>
                </a:moveTo>
                <a:lnTo>
                  <a:pt x="29220" y="156319"/>
                </a:lnTo>
                <a:cubicBezTo>
                  <a:pt x="23912" y="161627"/>
                  <a:pt x="20042" y="168275"/>
                  <a:pt x="18008" y="175518"/>
                </a:cubicBezTo>
                <a:lnTo>
                  <a:pt x="446" y="238919"/>
                </a:lnTo>
                <a:cubicBezTo>
                  <a:pt x="-695" y="243036"/>
                  <a:pt x="446" y="247501"/>
                  <a:pt x="3522" y="250527"/>
                </a:cubicBezTo>
                <a:cubicBezTo>
                  <a:pt x="6598" y="253554"/>
                  <a:pt x="11013" y="254744"/>
                  <a:pt x="15131" y="253603"/>
                </a:cubicBezTo>
                <a:lnTo>
                  <a:pt x="78532" y="235992"/>
                </a:lnTo>
                <a:cubicBezTo>
                  <a:pt x="85775" y="233958"/>
                  <a:pt x="92373" y="230138"/>
                  <a:pt x="97730" y="224780"/>
                </a:cubicBezTo>
                <a:lnTo>
                  <a:pt x="204391" y="118021"/>
                </a:lnTo>
                <a:lnTo>
                  <a:pt x="135979" y="49609"/>
                </a:lnTo>
                <a:close/>
              </a:path>
            </a:pathLst>
          </a:custGeom>
          <a:solidFill>
            <a:srgbClr val="2D5A4C"/>
          </a:solidFill>
          <a:ln/>
        </p:spPr>
      </p:sp>
      <p:sp>
        <p:nvSpPr>
          <p:cNvPr id="28" name="Text 26"/>
          <p:cNvSpPr/>
          <p:nvPr/>
        </p:nvSpPr>
        <p:spPr>
          <a:xfrm>
            <a:off x="1371600" y="7937500"/>
            <a:ext cx="13970000" cy="508000"/>
          </a:xfrm>
          <a:prstGeom prst="rect">
            <a:avLst/>
          </a:prstGeom>
          <a:noFill/>
          <a:ln/>
        </p:spPr>
        <p:txBody>
          <a:bodyPr wrap="square" lIns="0" tIns="0" rIns="0" bIns="0" rtlCol="0" anchor="ctr"/>
          <a:lstStyle/>
          <a:p>
            <a:pPr>
              <a:lnSpc>
                <a:spcPct val="140000"/>
              </a:lnSpc>
            </a:pPr>
            <a:r>
              <a:rPr lang="en-US" sz="1400" b="1" dirty="0">
                <a:solidFill>
                  <a:srgbClr val="2D5A4C"/>
                </a:solidFill>
                <a:latin typeface="Quattrocento Sans" pitchFamily="34" charset="0"/>
                <a:ea typeface="Quattrocento Sans" pitchFamily="34" charset="-122"/>
                <a:cs typeface="Quattrocento Sans" pitchFamily="34" charset="-120"/>
              </a:rPr>
              <a:t>Practice:</a:t>
            </a:r>
            <a:pPr>
              <a:lnSpc>
                <a:spcPct val="140000"/>
              </a:lnSpc>
            </a:pPr>
            <a:r>
              <a:rPr lang="en-US" sz="1400" dirty="0">
                <a:solidFill>
                  <a:srgbClr val="2D5A4C"/>
                </a:solidFill>
                <a:latin typeface="Quattrocento Sans" pitchFamily="34" charset="0"/>
                <a:ea typeface="Quattrocento Sans" pitchFamily="34" charset="-122"/>
                <a:cs typeface="Quattrocento Sans" pitchFamily="34" charset="-120"/>
              </a:rPr>
              <a:t> For a "Sponsors" relationship between two Companies, what role names would you use?</a:t>
            </a:r>
            <a:endParaRPr lang="en-US" sz="1600" dirty="0"/>
          </a:p>
        </p:txBody>
      </p:sp>
      <p:sp>
        <p:nvSpPr>
          <p:cNvPr id="29" name="Text 27"/>
          <p:cNvSpPr/>
          <p:nvPr/>
        </p:nvSpPr>
        <p:spPr>
          <a:xfrm>
            <a:off x="13462000" y="8788400"/>
            <a:ext cx="2286000" cy="254000"/>
          </a:xfrm>
          <a:prstGeom prst="rect">
            <a:avLst/>
          </a:prstGeom>
          <a:noFill/>
          <a:ln/>
        </p:spPr>
        <p:txBody>
          <a:bodyPr wrap="none" lIns="0" tIns="0" rIns="0" bIns="0" rtlCol="0" anchor="ctr"/>
          <a:lstStyle/>
          <a:p>
            <a:pPr algn="r">
              <a:lnSpc>
                <a:spcPct val="140000"/>
              </a:lnSpc>
            </a:pPr>
            <a:r>
              <a:rPr lang="en-US" sz="1400" dirty="0">
                <a:solidFill>
                  <a:srgbClr val="8B7355"/>
                </a:solidFill>
                <a:latin typeface="QuattrocentoSans" pitchFamily="34" charset="0"/>
                <a:ea typeface="QuattrocentoSans" pitchFamily="34" charset="-122"/>
                <a:cs typeface="QuattrocentoSans" pitchFamily="34" charset="-120"/>
              </a:rPr>
              <a:t>Relationships and Roles</a:t>
            </a:r>
            <a:endParaRPr lang="en-US" sz="1400" dirty="0"/>
          </a:p>
        </p:txBody>
      </p:sp>
    </p:spTree>
  </p:cSld>
  <p:clrMapOvr>
    <a:masterClrMapping/>
  </p:clrMapOvr>
  <p:transition>
    <p:fade/>
    <p:spd val="med"/>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D4943A"/>
          </a:solidFill>
          <a:ln/>
        </p:spPr>
      </p:sp>
      <p:sp>
        <p:nvSpPr>
          <p:cNvPr id="3" name="Text 1"/>
          <p:cNvSpPr/>
          <p:nvPr/>
        </p:nvSpPr>
        <p:spPr>
          <a:xfrm>
            <a:off x="762000" y="381000"/>
            <a:ext cx="11430000" cy="508000"/>
          </a:xfrm>
          <a:prstGeom prst="rect">
            <a:avLst/>
          </a:prstGeom>
          <a:noFill/>
          <a:ln/>
        </p:spPr>
        <p:txBody>
          <a:bodyPr wrap="none" lIns="0" tIns="0" rIns="0" bIns="0" rtlCol="0" anchor="ctr"/>
          <a:lstStyle/>
          <a:p>
            <a:pPr>
              <a:lnSpc>
                <a:spcPct val="130000"/>
              </a:lnSpc>
            </a:pPr>
            <a:r>
              <a:rPr lang="en-US" sz="2800" dirty="0">
                <a:solidFill>
                  <a:srgbClr val="2D5A4C"/>
                </a:solidFill>
                <a:latin typeface="Liter" pitchFamily="34" charset="0"/>
                <a:ea typeface="Liter" pitchFamily="34" charset="-122"/>
                <a:cs typeface="Liter" pitchFamily="34" charset="-120"/>
              </a:rPr>
              <a:t>Practice — Identify the Entities</a:t>
            </a:r>
            <a:endParaRPr lang="en-US" sz="2800" dirty="0"/>
          </a:p>
        </p:txBody>
      </p:sp>
      <p:sp>
        <p:nvSpPr>
          <p:cNvPr id="4" name="Shape 2"/>
          <p:cNvSpPr/>
          <p:nvPr/>
        </p:nvSpPr>
        <p:spPr>
          <a:xfrm>
            <a:off x="762000" y="1117600"/>
            <a:ext cx="14732000" cy="1651000"/>
          </a:xfrm>
          <a:prstGeom prst="roundRect">
            <a:avLst>
              <a:gd name="adj" fmla="val 6000"/>
            </a:avLst>
          </a:prstGeom>
          <a:solidFill>
            <a:srgbClr val="2D5A4C">
              <a:alpha val="8235"/>
            </a:srgbClr>
          </a:solidFill>
          <a:ln/>
        </p:spPr>
      </p:sp>
      <p:sp>
        <p:nvSpPr>
          <p:cNvPr id="5" name="Shape 3"/>
          <p:cNvSpPr/>
          <p:nvPr/>
        </p:nvSpPr>
        <p:spPr>
          <a:xfrm>
            <a:off x="1016000" y="1270000"/>
            <a:ext cx="355600" cy="355600"/>
          </a:xfrm>
          <a:custGeom>
            <a:avLst/>
            <a:gdLst/>
            <a:ahLst/>
            <a:cxnLst/>
            <a:rect l="l" t="t" r="r" b="b"/>
            <a:pathLst>
              <a:path w="355600" h="355600">
                <a:moveTo>
                  <a:pt x="177800" y="98137"/>
                </a:moveTo>
                <a:lnTo>
                  <a:pt x="177800" y="312956"/>
                </a:lnTo>
                <a:lnTo>
                  <a:pt x="178147" y="312817"/>
                </a:lnTo>
                <a:cubicBezTo>
                  <a:pt x="216069" y="297051"/>
                  <a:pt x="256768" y="288925"/>
                  <a:pt x="297815" y="288925"/>
                </a:cubicBezTo>
                <a:lnTo>
                  <a:pt x="311150" y="288925"/>
                </a:lnTo>
                <a:lnTo>
                  <a:pt x="311150" y="66675"/>
                </a:lnTo>
                <a:lnTo>
                  <a:pt x="297815" y="66675"/>
                </a:lnTo>
                <a:cubicBezTo>
                  <a:pt x="268506" y="66675"/>
                  <a:pt x="239405" y="72509"/>
                  <a:pt x="212318" y="83760"/>
                </a:cubicBezTo>
                <a:cubicBezTo>
                  <a:pt x="200650" y="88622"/>
                  <a:pt x="189121" y="93414"/>
                  <a:pt x="177800" y="98137"/>
                </a:cubicBezTo>
                <a:close/>
                <a:moveTo>
                  <a:pt x="160367" y="42714"/>
                </a:moveTo>
                <a:lnTo>
                  <a:pt x="177800" y="50006"/>
                </a:lnTo>
                <a:lnTo>
                  <a:pt x="195233" y="42714"/>
                </a:lnTo>
                <a:cubicBezTo>
                  <a:pt x="227737" y="29170"/>
                  <a:pt x="262602" y="22225"/>
                  <a:pt x="297815" y="22225"/>
                </a:cubicBezTo>
                <a:lnTo>
                  <a:pt x="322263" y="22225"/>
                </a:lnTo>
                <a:cubicBezTo>
                  <a:pt x="340668" y="22225"/>
                  <a:pt x="355600" y="37157"/>
                  <a:pt x="355600" y="55563"/>
                </a:cubicBezTo>
                <a:lnTo>
                  <a:pt x="355600" y="300038"/>
                </a:lnTo>
                <a:cubicBezTo>
                  <a:pt x="355600" y="318443"/>
                  <a:pt x="340668" y="333375"/>
                  <a:pt x="322263" y="333375"/>
                </a:cubicBezTo>
                <a:lnTo>
                  <a:pt x="297815" y="333375"/>
                </a:lnTo>
                <a:cubicBezTo>
                  <a:pt x="262602" y="333375"/>
                  <a:pt x="227737" y="340320"/>
                  <a:pt x="195233" y="353864"/>
                </a:cubicBezTo>
                <a:lnTo>
                  <a:pt x="186343" y="357545"/>
                </a:lnTo>
                <a:cubicBezTo>
                  <a:pt x="180856" y="359837"/>
                  <a:pt x="174744" y="359837"/>
                  <a:pt x="169257" y="357545"/>
                </a:cubicBezTo>
                <a:lnTo>
                  <a:pt x="160367" y="353864"/>
                </a:lnTo>
                <a:cubicBezTo>
                  <a:pt x="127863" y="340320"/>
                  <a:pt x="92998" y="333375"/>
                  <a:pt x="57785" y="333375"/>
                </a:cubicBezTo>
                <a:lnTo>
                  <a:pt x="33337" y="333375"/>
                </a:lnTo>
                <a:cubicBezTo>
                  <a:pt x="14932" y="333375"/>
                  <a:pt x="0" y="318443"/>
                  <a:pt x="0" y="300038"/>
                </a:cubicBezTo>
                <a:lnTo>
                  <a:pt x="0" y="55563"/>
                </a:lnTo>
                <a:cubicBezTo>
                  <a:pt x="0" y="37157"/>
                  <a:pt x="14932" y="22225"/>
                  <a:pt x="33337" y="22225"/>
                </a:cubicBezTo>
                <a:lnTo>
                  <a:pt x="57785" y="22225"/>
                </a:lnTo>
                <a:cubicBezTo>
                  <a:pt x="92998" y="22225"/>
                  <a:pt x="127863" y="29170"/>
                  <a:pt x="160367" y="42714"/>
                </a:cubicBezTo>
                <a:close/>
              </a:path>
            </a:pathLst>
          </a:custGeom>
          <a:solidFill>
            <a:srgbClr val="2D5A4C"/>
          </a:solidFill>
          <a:ln/>
        </p:spPr>
      </p:sp>
      <p:sp>
        <p:nvSpPr>
          <p:cNvPr id="6" name="Text 4"/>
          <p:cNvSpPr/>
          <p:nvPr/>
        </p:nvSpPr>
        <p:spPr>
          <a:xfrm>
            <a:off x="1498600" y="1231900"/>
            <a:ext cx="2540000" cy="304800"/>
          </a:xfrm>
          <a:prstGeom prst="rect">
            <a:avLst/>
          </a:prstGeom>
          <a:noFill/>
          <a:ln/>
        </p:spPr>
        <p:txBody>
          <a:bodyPr wrap="none" lIns="0" tIns="0" rIns="0" bIns="0" rtlCol="0" anchor="ctr"/>
          <a:lstStyle/>
          <a:p>
            <a:pPr>
              <a:lnSpc>
                <a:spcPct val="100000"/>
              </a:lnSpc>
            </a:pPr>
            <a:r>
              <a:rPr lang="en-US" sz="1400" b="1" dirty="0">
                <a:solidFill>
                  <a:srgbClr val="2D5A4C"/>
                </a:solidFill>
                <a:latin typeface="Liter" pitchFamily="34" charset="0"/>
                <a:ea typeface="Liter" pitchFamily="34" charset="-122"/>
                <a:cs typeface="Liter" pitchFamily="34" charset="-120"/>
              </a:rPr>
              <a:t>SCENARIO</a:t>
            </a:r>
            <a:endParaRPr lang="en-US" sz="1600" dirty="0"/>
          </a:p>
        </p:txBody>
      </p:sp>
      <p:sp>
        <p:nvSpPr>
          <p:cNvPr id="7" name="Text 5"/>
          <p:cNvSpPr/>
          <p:nvPr/>
        </p:nvSpPr>
        <p:spPr>
          <a:xfrm>
            <a:off x="1016000" y="1625600"/>
            <a:ext cx="14224000" cy="990600"/>
          </a:xfrm>
          <a:prstGeom prst="rect">
            <a:avLst/>
          </a:prstGeom>
          <a:noFill/>
          <a:ln/>
        </p:spPr>
        <p:txBody>
          <a:bodyPr wrap="square" lIns="0" tIns="0" rIns="0" bIns="0" rtlCol="0" anchor="t"/>
          <a:lstStyle/>
          <a:p>
            <a:pPr>
              <a:lnSpc>
                <a:spcPct val="150000"/>
              </a:lnSpc>
            </a:pPr>
            <a:r>
              <a:rPr lang="en-US" sz="1600" dirty="0">
                <a:solidFill>
                  <a:srgbClr val="2C2C2C"/>
                </a:solidFill>
                <a:latin typeface="Quattrocento Sans" pitchFamily="34" charset="0"/>
                <a:ea typeface="Quattrocento Sans" pitchFamily="34" charset="-122"/>
                <a:cs typeface="Quattrocento Sans" pitchFamily="34" charset="-120"/>
              </a:rPr>
              <a:t>"A </a:t>
            </a:r>
            <a:pPr>
              <a:lnSpc>
                <a:spcPct val="150000"/>
              </a:lnSpc>
            </a:pPr>
            <a:r>
              <a:rPr lang="en-US" sz="1600" b="1" dirty="0">
                <a:solidFill>
                  <a:srgbClr val="2C2C2C"/>
                </a:solidFill>
                <a:latin typeface="Quattrocento Sans" pitchFamily="34" charset="0"/>
                <a:ea typeface="Quattrocento Sans" pitchFamily="34" charset="-122"/>
                <a:cs typeface="Quattrocento Sans" pitchFamily="34" charset="-120"/>
              </a:rPr>
              <a:t>library</a:t>
            </a:r>
            <a:pPr>
              <a:lnSpc>
                <a:spcPct val="150000"/>
              </a:lnSpc>
            </a:pPr>
            <a:r>
              <a:rPr lang="en-US" sz="1600" dirty="0">
                <a:solidFill>
                  <a:srgbClr val="2C2C2C"/>
                </a:solidFill>
                <a:latin typeface="Quattrocento Sans" pitchFamily="34" charset="0"/>
                <a:ea typeface="Quattrocento Sans" pitchFamily="34" charset="-122"/>
                <a:cs typeface="Quattrocento Sans" pitchFamily="34" charset="-120"/>
              </a:rPr>
              <a:t> has </a:t>
            </a:r>
            <a:pPr>
              <a:lnSpc>
                <a:spcPct val="150000"/>
              </a:lnSpc>
            </a:pPr>
            <a:r>
              <a:rPr lang="en-US" sz="1600" b="1" dirty="0">
                <a:solidFill>
                  <a:srgbClr val="2C2C2C"/>
                </a:solidFill>
                <a:latin typeface="Quattrocento Sans" pitchFamily="34" charset="0"/>
                <a:ea typeface="Quattrocento Sans" pitchFamily="34" charset="-122"/>
                <a:cs typeface="Quattrocento Sans" pitchFamily="34" charset="-120"/>
              </a:rPr>
              <a:t>books</a:t>
            </a:r>
            <a:pPr>
              <a:lnSpc>
                <a:spcPct val="150000"/>
              </a:lnSpc>
            </a:pPr>
            <a:r>
              <a:rPr lang="en-US" sz="1600" dirty="0">
                <a:solidFill>
                  <a:srgbClr val="2C2C2C"/>
                </a:solidFill>
                <a:latin typeface="Quattrocento Sans" pitchFamily="34" charset="0"/>
                <a:ea typeface="Quattrocento Sans" pitchFamily="34" charset="-122"/>
                <a:cs typeface="Quattrocento Sans" pitchFamily="34" charset="-120"/>
              </a:rPr>
              <a:t> that </a:t>
            </a:r>
            <a:pPr>
              <a:lnSpc>
                <a:spcPct val="150000"/>
              </a:lnSpc>
            </a:pPr>
            <a:r>
              <a:rPr lang="en-US" sz="1600" b="1" dirty="0">
                <a:solidFill>
                  <a:srgbClr val="2C2C2C"/>
                </a:solidFill>
                <a:latin typeface="Quattrocento Sans" pitchFamily="34" charset="0"/>
                <a:ea typeface="Quattrocento Sans" pitchFamily="34" charset="-122"/>
                <a:cs typeface="Quattrocento Sans" pitchFamily="34" charset="-120"/>
              </a:rPr>
              <a:t>members</a:t>
            </a:r>
            <a:pPr>
              <a:lnSpc>
                <a:spcPct val="150000"/>
              </a:lnSpc>
            </a:pPr>
            <a:r>
              <a:rPr lang="en-US" sz="1600" dirty="0">
                <a:solidFill>
                  <a:srgbClr val="2C2C2C"/>
                </a:solidFill>
                <a:latin typeface="Quattrocento Sans" pitchFamily="34" charset="0"/>
                <a:ea typeface="Quattrocento Sans" pitchFamily="34" charset="-122"/>
                <a:cs typeface="Quattrocento Sans" pitchFamily="34" charset="-120"/>
              </a:rPr>
              <a:t> can borrow. Each book has an </a:t>
            </a:r>
            <a:pPr>
              <a:lnSpc>
                <a:spcPct val="150000"/>
              </a:lnSpc>
            </a:pPr>
            <a:r>
              <a:rPr lang="en-US" sz="1600" b="1" dirty="0">
                <a:solidFill>
                  <a:srgbClr val="2C2C2C"/>
                </a:solidFill>
                <a:latin typeface="Quattrocento Sans" pitchFamily="34" charset="0"/>
                <a:ea typeface="Quattrocento Sans" pitchFamily="34" charset="-122"/>
                <a:cs typeface="Quattrocento Sans" pitchFamily="34" charset="-120"/>
              </a:rPr>
              <a:t>author</a:t>
            </a:r>
            <a:pPr>
              <a:lnSpc>
                <a:spcPct val="150000"/>
              </a:lnSpc>
            </a:pPr>
            <a:r>
              <a:rPr lang="en-US" sz="1600" dirty="0">
                <a:solidFill>
                  <a:srgbClr val="2C2C2C"/>
                </a:solidFill>
                <a:latin typeface="Quattrocento Sans" pitchFamily="34" charset="0"/>
                <a:ea typeface="Quattrocento Sans" pitchFamily="34" charset="-122"/>
                <a:cs typeface="Quattrocento Sans" pitchFamily="34" charset="-120"/>
              </a:rPr>
              <a:t> and belongs to a </a:t>
            </a:r>
            <a:pPr>
              <a:lnSpc>
                <a:spcPct val="150000"/>
              </a:lnSpc>
            </a:pPr>
            <a:r>
              <a:rPr lang="en-US" sz="1600" b="1" dirty="0">
                <a:solidFill>
                  <a:srgbClr val="2C2C2C"/>
                </a:solidFill>
                <a:latin typeface="Quattrocento Sans" pitchFamily="34" charset="0"/>
                <a:ea typeface="Quattrocento Sans" pitchFamily="34" charset="-122"/>
                <a:cs typeface="Quattrocento Sans" pitchFamily="34" charset="-120"/>
              </a:rPr>
              <a:t>category</a:t>
            </a:r>
            <a:pPr>
              <a:lnSpc>
                <a:spcPct val="150000"/>
              </a:lnSpc>
            </a:pPr>
            <a:r>
              <a:rPr lang="en-US" sz="1600" dirty="0">
                <a:solidFill>
                  <a:srgbClr val="2C2C2C"/>
                </a:solidFill>
                <a:latin typeface="Quattrocento Sans" pitchFamily="34" charset="0"/>
                <a:ea typeface="Quattrocento Sans" pitchFamily="34" charset="-122"/>
                <a:cs typeface="Quattrocento Sans" pitchFamily="34" charset="-120"/>
              </a:rPr>
              <a:t>. Members have </a:t>
            </a:r>
            <a:pPr>
              <a:lnSpc>
                <a:spcPct val="150000"/>
              </a:lnSpc>
            </a:pPr>
            <a:r>
              <a:rPr lang="en-US" sz="1600" b="1" dirty="0">
                <a:solidFill>
                  <a:srgbClr val="2C2C2C"/>
                </a:solidFill>
                <a:latin typeface="Quattrocento Sans" pitchFamily="34" charset="0"/>
                <a:ea typeface="Quattrocento Sans" pitchFamily="34" charset="-122"/>
                <a:cs typeface="Quattrocento Sans" pitchFamily="34" charset="-120"/>
              </a:rPr>
              <a:t>membership cards</a:t>
            </a:r>
            <a:pPr>
              <a:lnSpc>
                <a:spcPct val="150000"/>
              </a:lnSpc>
            </a:pPr>
            <a:r>
              <a:rPr lang="en-US" sz="1600" dirty="0">
                <a:solidFill>
                  <a:srgbClr val="2C2C2C"/>
                </a:solidFill>
                <a:latin typeface="Quattrocento Sans" pitchFamily="34" charset="0"/>
                <a:ea typeface="Quattrocento Sans" pitchFamily="34" charset="-122"/>
                <a:cs typeface="Quattrocento Sans" pitchFamily="34" charset="-120"/>
              </a:rPr>
              <a:t>. </a:t>
            </a:r>
            <a:pPr>
              <a:lnSpc>
                <a:spcPct val="150000"/>
              </a:lnSpc>
            </a:pPr>
            <a:r>
              <a:rPr lang="en-US" sz="1600" b="1" dirty="0">
                <a:solidFill>
                  <a:srgbClr val="2C2C2C"/>
                </a:solidFill>
                <a:latin typeface="Quattrocento Sans" pitchFamily="34" charset="0"/>
                <a:ea typeface="Quattrocento Sans" pitchFamily="34" charset="-122"/>
                <a:cs typeface="Quattrocento Sans" pitchFamily="34" charset="-120"/>
              </a:rPr>
              <a:t>Librarians</a:t>
            </a:r>
            <a:pPr>
              <a:lnSpc>
                <a:spcPct val="150000"/>
              </a:lnSpc>
            </a:pPr>
            <a:r>
              <a:rPr lang="en-US" sz="1600" dirty="0">
                <a:solidFill>
                  <a:srgbClr val="2C2C2C"/>
                </a:solidFill>
                <a:latin typeface="Quattrocento Sans" pitchFamily="34" charset="0"/>
                <a:ea typeface="Quattrocento Sans" pitchFamily="34" charset="-122"/>
                <a:cs typeface="Quattrocento Sans" pitchFamily="34" charset="-120"/>
              </a:rPr>
              <a:t> check out books and collect </a:t>
            </a:r>
            <a:pPr>
              <a:lnSpc>
                <a:spcPct val="150000"/>
              </a:lnSpc>
            </a:pPr>
            <a:r>
              <a:rPr lang="en-US" sz="1600" b="1" dirty="0">
                <a:solidFill>
                  <a:srgbClr val="2C2C2C"/>
                </a:solidFill>
                <a:latin typeface="Quattrocento Sans" pitchFamily="34" charset="0"/>
                <a:ea typeface="Quattrocento Sans" pitchFamily="34" charset="-122"/>
                <a:cs typeface="Quattrocento Sans" pitchFamily="34" charset="-120"/>
              </a:rPr>
              <a:t>fines</a:t>
            </a:r>
            <a:pPr>
              <a:lnSpc>
                <a:spcPct val="150000"/>
              </a:lnSpc>
            </a:pPr>
            <a:r>
              <a:rPr lang="en-US" sz="1600" dirty="0">
                <a:solidFill>
                  <a:srgbClr val="2C2C2C"/>
                </a:solidFill>
                <a:latin typeface="Quattrocento Sans" pitchFamily="34" charset="0"/>
                <a:ea typeface="Quattrocento Sans" pitchFamily="34" charset="-122"/>
                <a:cs typeface="Quattrocento Sans" pitchFamily="34" charset="-120"/>
              </a:rPr>
              <a:t> for late returns."</a:t>
            </a:r>
            <a:endParaRPr lang="en-US" sz="1600" dirty="0"/>
          </a:p>
        </p:txBody>
      </p:sp>
      <p:sp>
        <p:nvSpPr>
          <p:cNvPr id="8" name="Shape 6"/>
          <p:cNvSpPr/>
          <p:nvPr/>
        </p:nvSpPr>
        <p:spPr>
          <a:xfrm>
            <a:off x="762000" y="2984500"/>
            <a:ext cx="7175500" cy="3048000"/>
          </a:xfrm>
          <a:prstGeom prst="roundRect">
            <a:avLst>
              <a:gd name="adj" fmla="val 6000"/>
            </a:avLst>
          </a:prstGeom>
          <a:solidFill>
            <a:srgbClr val="FFFFFF"/>
          </a:solidFill>
          <a:ln/>
          <a:effectLst>
            <a:outerShdw sx="100000" sy="100000" kx="0" ky="0" algn="bl" rotWithShape="0" blurRad="76200" dist="25400" dir="5400000">
              <a:srgbClr val="000000">
                <a:alpha val="3137"/>
              </a:srgbClr>
            </a:outerShdw>
          </a:effectLst>
        </p:spPr>
      </p:sp>
      <p:sp>
        <p:nvSpPr>
          <p:cNvPr id="9" name="Shape 7"/>
          <p:cNvSpPr/>
          <p:nvPr/>
        </p:nvSpPr>
        <p:spPr>
          <a:xfrm>
            <a:off x="1016000" y="3175000"/>
            <a:ext cx="355600" cy="355600"/>
          </a:xfrm>
          <a:custGeom>
            <a:avLst/>
            <a:gdLst/>
            <a:ahLst/>
            <a:cxnLst/>
            <a:rect l="l" t="t" r="r" b="b"/>
            <a:pathLst>
              <a:path w="355600" h="355600">
                <a:moveTo>
                  <a:pt x="92928" y="25211"/>
                </a:moveTo>
                <a:cubicBezTo>
                  <a:pt x="100499" y="30490"/>
                  <a:pt x="102304" y="40908"/>
                  <a:pt x="97026" y="48409"/>
                </a:cubicBezTo>
                <a:lnTo>
                  <a:pt x="58132" y="103971"/>
                </a:lnTo>
                <a:cubicBezTo>
                  <a:pt x="55285" y="108000"/>
                  <a:pt x="50840" y="110569"/>
                  <a:pt x="45909" y="110986"/>
                </a:cubicBezTo>
                <a:cubicBezTo>
                  <a:pt x="40977" y="111403"/>
                  <a:pt x="36116" y="109736"/>
                  <a:pt x="32643" y="106263"/>
                </a:cubicBezTo>
                <a:lnTo>
                  <a:pt x="4862" y="78482"/>
                </a:lnTo>
                <a:cubicBezTo>
                  <a:pt x="-1597" y="71953"/>
                  <a:pt x="-1597" y="61397"/>
                  <a:pt x="4862" y="54868"/>
                </a:cubicBezTo>
                <a:cubicBezTo>
                  <a:pt x="11321" y="48339"/>
                  <a:pt x="21947" y="48409"/>
                  <a:pt x="28476" y="54868"/>
                </a:cubicBezTo>
                <a:lnTo>
                  <a:pt x="42228" y="68620"/>
                </a:lnTo>
                <a:lnTo>
                  <a:pt x="69731" y="29309"/>
                </a:lnTo>
                <a:cubicBezTo>
                  <a:pt x="75009" y="21739"/>
                  <a:pt x="85427" y="19933"/>
                  <a:pt x="92928" y="25211"/>
                </a:cubicBezTo>
                <a:close/>
                <a:moveTo>
                  <a:pt x="92928" y="136336"/>
                </a:moveTo>
                <a:cubicBezTo>
                  <a:pt x="100499" y="141615"/>
                  <a:pt x="102304" y="152033"/>
                  <a:pt x="97026" y="159534"/>
                </a:cubicBezTo>
                <a:lnTo>
                  <a:pt x="58132" y="215096"/>
                </a:lnTo>
                <a:cubicBezTo>
                  <a:pt x="55285" y="219125"/>
                  <a:pt x="50840" y="221694"/>
                  <a:pt x="45909" y="222111"/>
                </a:cubicBezTo>
                <a:cubicBezTo>
                  <a:pt x="40977" y="222528"/>
                  <a:pt x="36116" y="220861"/>
                  <a:pt x="32643" y="217388"/>
                </a:cubicBezTo>
                <a:lnTo>
                  <a:pt x="4862" y="189607"/>
                </a:lnTo>
                <a:cubicBezTo>
                  <a:pt x="-1667" y="183078"/>
                  <a:pt x="-1667" y="172522"/>
                  <a:pt x="4862" y="166062"/>
                </a:cubicBezTo>
                <a:cubicBezTo>
                  <a:pt x="11390" y="159603"/>
                  <a:pt x="21947" y="159534"/>
                  <a:pt x="28406" y="166062"/>
                </a:cubicBezTo>
                <a:lnTo>
                  <a:pt x="42158" y="179814"/>
                </a:lnTo>
                <a:lnTo>
                  <a:pt x="69661" y="140504"/>
                </a:lnTo>
                <a:cubicBezTo>
                  <a:pt x="74940" y="132933"/>
                  <a:pt x="85358" y="131128"/>
                  <a:pt x="92859" y="136406"/>
                </a:cubicBezTo>
                <a:close/>
                <a:moveTo>
                  <a:pt x="155575" y="66675"/>
                </a:moveTo>
                <a:cubicBezTo>
                  <a:pt x="155575" y="54382"/>
                  <a:pt x="165507" y="44450"/>
                  <a:pt x="177800" y="44450"/>
                </a:cubicBezTo>
                <a:lnTo>
                  <a:pt x="333375" y="44450"/>
                </a:lnTo>
                <a:cubicBezTo>
                  <a:pt x="345668" y="44450"/>
                  <a:pt x="355600" y="54382"/>
                  <a:pt x="355600" y="66675"/>
                </a:cubicBezTo>
                <a:cubicBezTo>
                  <a:pt x="355600" y="78968"/>
                  <a:pt x="345668" y="88900"/>
                  <a:pt x="333375" y="88900"/>
                </a:cubicBezTo>
                <a:lnTo>
                  <a:pt x="177800" y="88900"/>
                </a:lnTo>
                <a:cubicBezTo>
                  <a:pt x="165507" y="88900"/>
                  <a:pt x="155575" y="78968"/>
                  <a:pt x="155575" y="66675"/>
                </a:cubicBezTo>
                <a:close/>
                <a:moveTo>
                  <a:pt x="155575" y="177800"/>
                </a:moveTo>
                <a:cubicBezTo>
                  <a:pt x="155575" y="165507"/>
                  <a:pt x="165507" y="155575"/>
                  <a:pt x="177800" y="155575"/>
                </a:cubicBezTo>
                <a:lnTo>
                  <a:pt x="333375" y="155575"/>
                </a:lnTo>
                <a:cubicBezTo>
                  <a:pt x="345668" y="155575"/>
                  <a:pt x="355600" y="165507"/>
                  <a:pt x="355600" y="177800"/>
                </a:cubicBezTo>
                <a:cubicBezTo>
                  <a:pt x="355600" y="190093"/>
                  <a:pt x="345668" y="200025"/>
                  <a:pt x="333375" y="200025"/>
                </a:cubicBezTo>
                <a:lnTo>
                  <a:pt x="177800" y="200025"/>
                </a:lnTo>
                <a:cubicBezTo>
                  <a:pt x="165507" y="200025"/>
                  <a:pt x="155575" y="190093"/>
                  <a:pt x="155575" y="177800"/>
                </a:cubicBezTo>
                <a:close/>
                <a:moveTo>
                  <a:pt x="111125" y="288925"/>
                </a:moveTo>
                <a:cubicBezTo>
                  <a:pt x="111125" y="276632"/>
                  <a:pt x="121057" y="266700"/>
                  <a:pt x="133350" y="266700"/>
                </a:cubicBezTo>
                <a:lnTo>
                  <a:pt x="333375" y="266700"/>
                </a:lnTo>
                <a:cubicBezTo>
                  <a:pt x="345668" y="266700"/>
                  <a:pt x="355600" y="276632"/>
                  <a:pt x="355600" y="288925"/>
                </a:cubicBezTo>
                <a:cubicBezTo>
                  <a:pt x="355600" y="301218"/>
                  <a:pt x="345668" y="311150"/>
                  <a:pt x="333375" y="311150"/>
                </a:cubicBezTo>
                <a:lnTo>
                  <a:pt x="133350" y="311150"/>
                </a:lnTo>
                <a:cubicBezTo>
                  <a:pt x="121057" y="311150"/>
                  <a:pt x="111125" y="301218"/>
                  <a:pt x="111125" y="288925"/>
                </a:cubicBezTo>
                <a:close/>
                <a:moveTo>
                  <a:pt x="44450" y="261144"/>
                </a:moveTo>
                <a:cubicBezTo>
                  <a:pt x="59783" y="261144"/>
                  <a:pt x="72231" y="273592"/>
                  <a:pt x="72231" y="288925"/>
                </a:cubicBezTo>
                <a:cubicBezTo>
                  <a:pt x="72231" y="304258"/>
                  <a:pt x="59783" y="316706"/>
                  <a:pt x="44450" y="316706"/>
                </a:cubicBezTo>
                <a:cubicBezTo>
                  <a:pt x="29117" y="316706"/>
                  <a:pt x="16669" y="304258"/>
                  <a:pt x="16669" y="288925"/>
                </a:cubicBezTo>
                <a:cubicBezTo>
                  <a:pt x="16669" y="273592"/>
                  <a:pt x="29117" y="261144"/>
                  <a:pt x="44450" y="261144"/>
                </a:cubicBezTo>
                <a:close/>
              </a:path>
            </a:pathLst>
          </a:custGeom>
          <a:solidFill>
            <a:srgbClr val="D4943A"/>
          </a:solidFill>
          <a:ln/>
        </p:spPr>
      </p:sp>
      <p:sp>
        <p:nvSpPr>
          <p:cNvPr id="10" name="Text 8"/>
          <p:cNvSpPr/>
          <p:nvPr/>
        </p:nvSpPr>
        <p:spPr>
          <a:xfrm>
            <a:off x="1498600" y="3136900"/>
            <a:ext cx="2540000" cy="304800"/>
          </a:xfrm>
          <a:prstGeom prst="rect">
            <a:avLst/>
          </a:prstGeom>
          <a:noFill/>
          <a:ln/>
        </p:spPr>
        <p:txBody>
          <a:bodyPr wrap="none" lIns="0" tIns="0" rIns="0" bIns="0" rtlCol="0" anchor="ctr"/>
          <a:lstStyle/>
          <a:p>
            <a:pPr>
              <a:lnSpc>
                <a:spcPct val="100000"/>
              </a:lnSpc>
            </a:pPr>
            <a:r>
              <a:rPr lang="en-US" sz="1400" b="1" dirty="0">
                <a:solidFill>
                  <a:srgbClr val="D4943A"/>
                </a:solidFill>
                <a:latin typeface="Liter" pitchFamily="34" charset="0"/>
                <a:ea typeface="Liter" pitchFamily="34" charset="-122"/>
                <a:cs typeface="Liter" pitchFamily="34" charset="-120"/>
              </a:rPr>
              <a:t>YOUR TASK</a:t>
            </a:r>
            <a:endParaRPr lang="en-US" sz="1600" dirty="0"/>
          </a:p>
        </p:txBody>
      </p:sp>
      <p:sp>
        <p:nvSpPr>
          <p:cNvPr id="11" name="Text 9"/>
          <p:cNvSpPr/>
          <p:nvPr/>
        </p:nvSpPr>
        <p:spPr>
          <a:xfrm>
            <a:off x="1016000" y="3556000"/>
            <a:ext cx="6667500" cy="2349500"/>
          </a:xfrm>
          <a:prstGeom prst="rect">
            <a:avLst/>
          </a:prstGeom>
          <a:noFill/>
          <a:ln/>
        </p:spPr>
        <p:txBody>
          <a:bodyPr wrap="square" lIns="0" tIns="0" rIns="0" bIns="0" rtlCol="0" anchor="t"/>
          <a:lstStyle/>
          <a:p>
            <a:pPr marL="254000" indent="-254000">
              <a:lnSpc>
                <a:spcPct val="160000"/>
              </a:lnSpc>
              <a:spcBef>
                <a:spcPts val="10"/>
              </a:spcBef>
              <a:buSzPct val="100000"/>
              <a:buFont typeface="+mj-lt"/>
              <a:buAutoNum type="arabicPeriod" startAt="1"/>
            </a:pPr>
            <a:r>
              <a:rPr lang="en-US" sz="1500" dirty="0">
                <a:solidFill>
                  <a:srgbClr val="2C2C2C"/>
                </a:solidFill>
                <a:latin typeface="Quattrocento Sans" pitchFamily="34" charset="0"/>
                <a:ea typeface="Quattrocento Sans" pitchFamily="34" charset="-122"/>
                <a:cs typeface="Quattrocento Sans" pitchFamily="34" charset="-120"/>
              </a:rPr>
              <a:t>Identify all the </a:t>
            </a:r>
            <a:pPr>
              <a:lnSpc>
                <a:spcPct val="160000"/>
              </a:lnSpc>
              <a:spcBef>
                <a:spcPts val="10"/>
              </a:spcBef>
            </a:pPr>
            <a:r>
              <a:rPr lang="en-US" sz="1500" b="1" dirty="0">
                <a:solidFill>
                  <a:srgbClr val="2C2C2C"/>
                </a:solidFill>
                <a:latin typeface="Quattrocento Sans" pitchFamily="34" charset="0"/>
                <a:ea typeface="Quattrocento Sans" pitchFamily="34" charset="-122"/>
                <a:cs typeface="Quattrocento Sans" pitchFamily="34" charset="-120"/>
              </a:rPr>
              <a:t>entities</a:t>
            </a:r>
            <a:pPr>
              <a:lnSpc>
                <a:spcPct val="160000"/>
              </a:lnSpc>
              <a:spcBef>
                <a:spcPts val="10"/>
              </a:spcBef>
            </a:pPr>
            <a:r>
              <a:rPr lang="en-US" sz="1500" dirty="0">
                <a:solidFill>
                  <a:srgbClr val="2C2C2C"/>
                </a:solidFill>
                <a:latin typeface="Quattrocento Sans" pitchFamily="34" charset="0"/>
                <a:ea typeface="Quattrocento Sans" pitchFamily="34" charset="-122"/>
                <a:cs typeface="Quattrocento Sans" pitchFamily="34" charset="-120"/>
              </a:rPr>
              <a:t> in the scenario</a:t>
            </a:r>
            <a:endParaRPr lang="en-US" sz="1600" dirty="0"/>
          </a:p>
          <a:p>
            <a:pPr marL="254000" indent="-254000">
              <a:lnSpc>
                <a:spcPct val="160000"/>
              </a:lnSpc>
              <a:spcBef>
                <a:spcPts val="10"/>
              </a:spcBef>
              <a:buSzPct val="100000"/>
              <a:buFont typeface="+mj-lt"/>
              <a:buAutoNum type="arabicPeriod" startAt="1"/>
            </a:pPr>
            <a:r>
              <a:rPr lang="en-US" sz="1500" dirty="0">
                <a:solidFill>
                  <a:srgbClr val="2C2C2C"/>
                </a:solidFill>
                <a:latin typeface="Quattrocento Sans" pitchFamily="34" charset="0"/>
                <a:ea typeface="Quattrocento Sans" pitchFamily="34" charset="-122"/>
                <a:cs typeface="Quattrocento Sans" pitchFamily="34" charset="-120"/>
              </a:rPr>
              <a:t>Write down each entity you found</a:t>
            </a:r>
            <a:endParaRPr lang="en-US" sz="1600" dirty="0"/>
          </a:p>
          <a:p>
            <a:pPr marL="254000" indent="-254000">
              <a:lnSpc>
                <a:spcPct val="160000"/>
              </a:lnSpc>
              <a:spcBef>
                <a:spcPts val="10"/>
              </a:spcBef>
              <a:buSzPct val="100000"/>
              <a:buFont typeface="+mj-lt"/>
              <a:buAutoNum type="arabicPeriod" startAt="1"/>
            </a:pPr>
            <a:r>
              <a:rPr lang="en-US" sz="1500" dirty="0">
                <a:solidFill>
                  <a:srgbClr val="2C2C2C"/>
                </a:solidFill>
                <a:latin typeface="Quattrocento Sans" pitchFamily="34" charset="0"/>
                <a:ea typeface="Quattrocento Sans" pitchFamily="34" charset="-122"/>
                <a:cs typeface="Quattrocento Sans" pitchFamily="34" charset="-120"/>
              </a:rPr>
              <a:t>Think about which are </a:t>
            </a:r>
            <a:pPr>
              <a:lnSpc>
                <a:spcPct val="160000"/>
              </a:lnSpc>
              <a:spcBef>
                <a:spcPts val="10"/>
              </a:spcBef>
            </a:pPr>
            <a:r>
              <a:rPr lang="en-US" sz="1500" b="1" dirty="0">
                <a:solidFill>
                  <a:srgbClr val="2C2C2C"/>
                </a:solidFill>
                <a:latin typeface="Quattrocento Sans" pitchFamily="34" charset="0"/>
                <a:ea typeface="Quattrocento Sans" pitchFamily="34" charset="-122"/>
                <a:cs typeface="Quattrocento Sans" pitchFamily="34" charset="-120"/>
              </a:rPr>
              <a:t>strong</a:t>
            </a:r>
            <a:pPr>
              <a:lnSpc>
                <a:spcPct val="160000"/>
              </a:lnSpc>
              <a:spcBef>
                <a:spcPts val="10"/>
              </a:spcBef>
            </a:pPr>
            <a:r>
              <a:rPr lang="en-US" sz="1500" dirty="0">
                <a:solidFill>
                  <a:srgbClr val="2C2C2C"/>
                </a:solidFill>
                <a:latin typeface="Quattrocento Sans" pitchFamily="34" charset="0"/>
                <a:ea typeface="Quattrocento Sans" pitchFamily="34" charset="-122"/>
                <a:cs typeface="Quattrocento Sans" pitchFamily="34" charset="-120"/>
              </a:rPr>
              <a:t> and which might be </a:t>
            </a:r>
            <a:pPr>
              <a:lnSpc>
                <a:spcPct val="160000"/>
              </a:lnSpc>
              <a:spcBef>
                <a:spcPts val="10"/>
              </a:spcBef>
            </a:pPr>
            <a:r>
              <a:rPr lang="en-US" sz="1500" b="1" dirty="0">
                <a:solidFill>
                  <a:srgbClr val="2C2C2C"/>
                </a:solidFill>
                <a:latin typeface="Quattrocento Sans" pitchFamily="34" charset="0"/>
                <a:ea typeface="Quattrocento Sans" pitchFamily="34" charset="-122"/>
                <a:cs typeface="Quattrocento Sans" pitchFamily="34" charset="-120"/>
              </a:rPr>
              <a:t>weak</a:t>
            </a:r>
            <a:endParaRPr lang="en-US" sz="1600" dirty="0"/>
          </a:p>
          <a:p>
            <a:pPr marL="254000" indent="-254000">
              <a:lnSpc>
                <a:spcPct val="160000"/>
              </a:lnSpc>
              <a:spcBef>
                <a:spcPts val="10"/>
              </a:spcBef>
              <a:buSzPct val="100000"/>
              <a:buFont typeface="+mj-lt"/>
              <a:buAutoNum type="arabicPeriod" startAt="1"/>
            </a:pPr>
            <a:r>
              <a:rPr lang="en-US" sz="1500" dirty="0">
                <a:solidFill>
                  <a:srgbClr val="2C2C2C"/>
                </a:solidFill>
                <a:latin typeface="Quattrocento Sans" pitchFamily="34" charset="0"/>
                <a:ea typeface="Quattrocento Sans" pitchFamily="34" charset="-122"/>
                <a:cs typeface="Quattrocento Sans" pitchFamily="34" charset="-120"/>
              </a:rPr>
              <a:t>Compare your answers with the solution</a:t>
            </a:r>
            <a:endParaRPr lang="en-US" sz="1600" dirty="0"/>
          </a:p>
        </p:txBody>
      </p:sp>
      <p:sp>
        <p:nvSpPr>
          <p:cNvPr id="12" name="Shape 10"/>
          <p:cNvSpPr/>
          <p:nvPr/>
        </p:nvSpPr>
        <p:spPr>
          <a:xfrm>
            <a:off x="8318500" y="2984500"/>
            <a:ext cx="7175500" cy="3048000"/>
          </a:xfrm>
          <a:prstGeom prst="roundRect">
            <a:avLst>
              <a:gd name="adj" fmla="val 6000"/>
            </a:avLst>
          </a:prstGeom>
          <a:solidFill>
            <a:srgbClr val="D4943A">
              <a:alpha val="8235"/>
            </a:srgbClr>
          </a:solidFill>
          <a:ln/>
        </p:spPr>
      </p:sp>
      <p:sp>
        <p:nvSpPr>
          <p:cNvPr id="13" name="Shape 11"/>
          <p:cNvSpPr/>
          <p:nvPr/>
        </p:nvSpPr>
        <p:spPr>
          <a:xfrm>
            <a:off x="8572500" y="3175000"/>
            <a:ext cx="355600" cy="355600"/>
          </a:xfrm>
          <a:custGeom>
            <a:avLst/>
            <a:gdLst/>
            <a:ahLst/>
            <a:cxnLst/>
            <a:rect l="l" t="t" r="r" b="b"/>
            <a:pathLst>
              <a:path w="355600" h="355600">
                <a:moveTo>
                  <a:pt x="233363" y="244475"/>
                </a:moveTo>
                <a:cubicBezTo>
                  <a:pt x="300871" y="244475"/>
                  <a:pt x="355600" y="189746"/>
                  <a:pt x="355600" y="122238"/>
                </a:cubicBezTo>
                <a:cubicBezTo>
                  <a:pt x="355600" y="54729"/>
                  <a:pt x="300871" y="0"/>
                  <a:pt x="233363" y="0"/>
                </a:cubicBezTo>
                <a:cubicBezTo>
                  <a:pt x="165854" y="0"/>
                  <a:pt x="111125" y="54729"/>
                  <a:pt x="111125" y="122238"/>
                </a:cubicBezTo>
                <a:cubicBezTo>
                  <a:pt x="111125" y="135225"/>
                  <a:pt x="113139" y="147796"/>
                  <a:pt x="116890" y="159534"/>
                </a:cubicBezTo>
                <a:lnTo>
                  <a:pt x="4862" y="271562"/>
                </a:lnTo>
                <a:cubicBezTo>
                  <a:pt x="1736" y="274687"/>
                  <a:pt x="0" y="278924"/>
                  <a:pt x="0" y="283369"/>
                </a:cubicBezTo>
                <a:lnTo>
                  <a:pt x="0" y="338931"/>
                </a:lnTo>
                <a:cubicBezTo>
                  <a:pt x="0" y="348169"/>
                  <a:pt x="7431" y="355600"/>
                  <a:pt x="16669" y="355600"/>
                </a:cubicBezTo>
                <a:lnTo>
                  <a:pt x="72231" y="355600"/>
                </a:lnTo>
                <a:cubicBezTo>
                  <a:pt x="81469" y="355600"/>
                  <a:pt x="88900" y="348169"/>
                  <a:pt x="88900" y="338931"/>
                </a:cubicBezTo>
                <a:lnTo>
                  <a:pt x="88900" y="311150"/>
                </a:lnTo>
                <a:lnTo>
                  <a:pt x="116681" y="311150"/>
                </a:lnTo>
                <a:cubicBezTo>
                  <a:pt x="125919" y="311150"/>
                  <a:pt x="133350" y="303719"/>
                  <a:pt x="133350" y="294481"/>
                </a:cubicBezTo>
                <a:lnTo>
                  <a:pt x="133350" y="266700"/>
                </a:lnTo>
                <a:lnTo>
                  <a:pt x="161131" y="266700"/>
                </a:lnTo>
                <a:cubicBezTo>
                  <a:pt x="165576" y="266700"/>
                  <a:pt x="169813" y="264964"/>
                  <a:pt x="172938" y="261838"/>
                </a:cubicBezTo>
                <a:lnTo>
                  <a:pt x="196066" y="238710"/>
                </a:lnTo>
                <a:cubicBezTo>
                  <a:pt x="207804" y="242461"/>
                  <a:pt x="220375" y="244475"/>
                  <a:pt x="233363" y="244475"/>
                </a:cubicBezTo>
                <a:close/>
                <a:moveTo>
                  <a:pt x="261144" y="66675"/>
                </a:moveTo>
                <a:cubicBezTo>
                  <a:pt x="276477" y="66675"/>
                  <a:pt x="288925" y="79123"/>
                  <a:pt x="288925" y="94456"/>
                </a:cubicBezTo>
                <a:cubicBezTo>
                  <a:pt x="288925" y="109789"/>
                  <a:pt x="276477" y="122238"/>
                  <a:pt x="261144" y="122238"/>
                </a:cubicBezTo>
                <a:cubicBezTo>
                  <a:pt x="245811" y="122238"/>
                  <a:pt x="233363" y="109789"/>
                  <a:pt x="233363" y="94456"/>
                </a:cubicBezTo>
                <a:cubicBezTo>
                  <a:pt x="233363" y="79123"/>
                  <a:pt x="245811" y="66675"/>
                  <a:pt x="261144" y="66675"/>
                </a:cubicBezTo>
                <a:close/>
              </a:path>
            </a:pathLst>
          </a:custGeom>
          <a:solidFill>
            <a:srgbClr val="D4943A"/>
          </a:solidFill>
          <a:ln/>
        </p:spPr>
      </p:sp>
      <p:sp>
        <p:nvSpPr>
          <p:cNvPr id="14" name="Text 12"/>
          <p:cNvSpPr/>
          <p:nvPr/>
        </p:nvSpPr>
        <p:spPr>
          <a:xfrm>
            <a:off x="9055100" y="3136900"/>
            <a:ext cx="3175000" cy="304800"/>
          </a:xfrm>
          <a:prstGeom prst="rect">
            <a:avLst/>
          </a:prstGeom>
          <a:noFill/>
          <a:ln/>
        </p:spPr>
        <p:txBody>
          <a:bodyPr wrap="none" lIns="0" tIns="0" rIns="0" bIns="0" rtlCol="0" anchor="ctr"/>
          <a:lstStyle/>
          <a:p>
            <a:pPr>
              <a:lnSpc>
                <a:spcPct val="100000"/>
              </a:lnSpc>
            </a:pPr>
            <a:r>
              <a:rPr lang="en-US" sz="1400" b="1" dirty="0">
                <a:solidFill>
                  <a:srgbClr val="D4943A"/>
                </a:solidFill>
                <a:latin typeface="Liter" pitchFamily="34" charset="0"/>
                <a:ea typeface="Liter" pitchFamily="34" charset="-122"/>
                <a:cs typeface="Liter" pitchFamily="34" charset="-120"/>
              </a:rPr>
              <a:t>SUGGESTED ANSWERS</a:t>
            </a:r>
            <a:endParaRPr lang="en-US" sz="1600" dirty="0"/>
          </a:p>
        </p:txBody>
      </p:sp>
      <p:sp>
        <p:nvSpPr>
          <p:cNvPr id="15" name="Text 13"/>
          <p:cNvSpPr/>
          <p:nvPr/>
        </p:nvSpPr>
        <p:spPr>
          <a:xfrm>
            <a:off x="8572500" y="3556000"/>
            <a:ext cx="6667500" cy="2349500"/>
          </a:xfrm>
          <a:prstGeom prst="rect">
            <a:avLst/>
          </a:prstGeom>
          <a:noFill/>
          <a:ln/>
        </p:spPr>
        <p:txBody>
          <a:bodyPr wrap="square" lIns="0" tIns="0" rIns="0" bIns="0" rtlCol="0" anchor="t"/>
          <a:lstStyle/>
          <a:p>
            <a:pPr>
              <a:lnSpc>
                <a:spcPct val="160000"/>
              </a:lnSpc>
            </a:pPr>
            <a:r>
              <a:rPr lang="en-US" sz="1500" b="1" dirty="0">
                <a:solidFill>
                  <a:srgbClr val="2C2C2C"/>
                </a:solidFill>
                <a:latin typeface="Quattrocento Sans" pitchFamily="34" charset="0"/>
                <a:ea typeface="Quattrocento Sans" pitchFamily="34" charset="-122"/>
                <a:cs typeface="Quattrocento Sans" pitchFamily="34" charset="-120"/>
              </a:rPr>
              <a:t>Strong entities:</a:t>
            </a:r>
            <a:endParaRPr lang="en-US" sz="1600" dirty="0"/>
          </a:p>
          <a:p>
            <a:pPr>
              <a:lnSpc>
                <a:spcPct val="160000"/>
              </a:lnSpc>
            </a:pPr>
            <a:r>
              <a:rPr lang="en-US" sz="1500" dirty="0">
                <a:solidFill>
                  <a:srgbClr val="2C2C2C"/>
                </a:solidFill>
                <a:latin typeface="Quattrocento Sans" pitchFamily="34" charset="0"/>
                <a:ea typeface="Quattrocento Sans" pitchFamily="34" charset="-122"/>
                <a:cs typeface="Quattrocento Sans" pitchFamily="34" charset="-120"/>
              </a:rPr>
              <a:t>Book, Member, Author, Category, Librarian</a:t>
            </a:r>
            <a:endParaRPr lang="en-US" sz="1600" dirty="0"/>
          </a:p>
          <a:p>
            <a:pPr>
              <a:lnSpc>
                <a:spcPct val="160000"/>
              </a:lnSpc>
            </a:pPr>
            <a:r>
              <a:rPr lang="en-US" sz="1500" b="1" dirty="0">
                <a:solidFill>
                  <a:srgbClr val="2C2C2C"/>
                </a:solidFill>
                <a:latin typeface="Quattrocento Sans" pitchFamily="34" charset="0"/>
                <a:ea typeface="Quattrocento Sans" pitchFamily="34" charset="-122"/>
                <a:cs typeface="Quattrocento Sans" pitchFamily="34" charset="-120"/>
              </a:rPr>
              <a:t>Possible weak entity:</a:t>
            </a:r>
            <a:endParaRPr lang="en-US" sz="1600" dirty="0"/>
          </a:p>
          <a:p>
            <a:pPr>
              <a:lnSpc>
                <a:spcPct val="160000"/>
              </a:lnSpc>
            </a:pPr>
            <a:r>
              <a:rPr lang="en-US" sz="1500" dirty="0">
                <a:solidFill>
                  <a:srgbClr val="2C2C2C"/>
                </a:solidFill>
                <a:latin typeface="Quattrocento Sans" pitchFamily="34" charset="0"/>
                <a:ea typeface="Quattrocento Sans" pitchFamily="34" charset="-122"/>
                <a:cs typeface="Quattrocento Sans" pitchFamily="34" charset="-120"/>
              </a:rPr>
              <a:t>Loan (depends on Book and Member)</a:t>
            </a:r>
            <a:endParaRPr lang="en-US" sz="1600" dirty="0"/>
          </a:p>
          <a:p>
            <a:pPr>
              <a:lnSpc>
                <a:spcPct val="160000"/>
              </a:lnSpc>
            </a:pPr>
            <a:r>
              <a:rPr lang="en-US" sz="1500" dirty="0">
                <a:solidFill>
                  <a:srgbClr val="2C2C2C"/>
                </a:solidFill>
                <a:latin typeface="Quattrocento Sans" pitchFamily="34" charset="0"/>
                <a:ea typeface="Quattrocento Sans" pitchFamily="34" charset="-122"/>
                <a:cs typeface="Quattrocento Sans" pitchFamily="34" charset="-120"/>
              </a:rPr>
              <a:t>Fine (depends on Loan)</a:t>
            </a:r>
            <a:endParaRPr lang="en-US" sz="1600" dirty="0"/>
          </a:p>
        </p:txBody>
      </p:sp>
      <p:sp>
        <p:nvSpPr>
          <p:cNvPr id="16" name="Shape 14"/>
          <p:cNvSpPr/>
          <p:nvPr/>
        </p:nvSpPr>
        <p:spPr>
          <a:xfrm>
            <a:off x="762000" y="6286500"/>
            <a:ext cx="14732000" cy="762000"/>
          </a:xfrm>
          <a:prstGeom prst="roundRect">
            <a:avLst>
              <a:gd name="adj" fmla="val 6000"/>
            </a:avLst>
          </a:prstGeom>
          <a:solidFill>
            <a:srgbClr val="E8E2DA"/>
          </a:solidFill>
          <a:ln/>
        </p:spPr>
      </p:sp>
      <p:sp>
        <p:nvSpPr>
          <p:cNvPr id="17" name="Shape 15"/>
          <p:cNvSpPr/>
          <p:nvPr/>
        </p:nvSpPr>
        <p:spPr>
          <a:xfrm>
            <a:off x="1054100" y="6451600"/>
            <a:ext cx="228600" cy="304800"/>
          </a:xfrm>
          <a:custGeom>
            <a:avLst/>
            <a:gdLst/>
            <a:ahLst/>
            <a:cxnLst/>
            <a:rect l="l" t="t" r="r" b="b"/>
            <a:pathLst>
              <a:path w="228600" h="304800">
                <a:moveTo>
                  <a:pt x="174367" y="228600"/>
                </a:moveTo>
                <a:cubicBezTo>
                  <a:pt x="178713" y="215325"/>
                  <a:pt x="187404" y="203299"/>
                  <a:pt x="197227" y="192941"/>
                </a:cubicBezTo>
                <a:cubicBezTo>
                  <a:pt x="216694" y="172462"/>
                  <a:pt x="228600" y="144780"/>
                  <a:pt x="228600" y="114300"/>
                </a:cubicBezTo>
                <a:cubicBezTo>
                  <a:pt x="228600" y="51197"/>
                  <a:pt x="177403" y="0"/>
                  <a:pt x="114300" y="0"/>
                </a:cubicBezTo>
                <a:cubicBezTo>
                  <a:pt x="51197" y="0"/>
                  <a:pt x="0" y="51197"/>
                  <a:pt x="0" y="114300"/>
                </a:cubicBezTo>
                <a:cubicBezTo>
                  <a:pt x="0" y="144780"/>
                  <a:pt x="11906" y="172462"/>
                  <a:pt x="31373" y="192941"/>
                </a:cubicBezTo>
                <a:cubicBezTo>
                  <a:pt x="41196" y="203299"/>
                  <a:pt x="49947" y="215325"/>
                  <a:pt x="54233" y="228600"/>
                </a:cubicBezTo>
                <a:lnTo>
                  <a:pt x="174308" y="228600"/>
                </a:lnTo>
                <a:close/>
                <a:moveTo>
                  <a:pt x="171450" y="257175"/>
                </a:moveTo>
                <a:lnTo>
                  <a:pt x="57150" y="257175"/>
                </a:lnTo>
                <a:lnTo>
                  <a:pt x="57150" y="266700"/>
                </a:lnTo>
                <a:cubicBezTo>
                  <a:pt x="57150" y="293013"/>
                  <a:pt x="78462" y="314325"/>
                  <a:pt x="104775" y="314325"/>
                </a:cubicBezTo>
                <a:lnTo>
                  <a:pt x="123825" y="314325"/>
                </a:lnTo>
                <a:cubicBezTo>
                  <a:pt x="150138" y="314325"/>
                  <a:pt x="171450" y="293013"/>
                  <a:pt x="171450" y="266700"/>
                </a:cubicBezTo>
                <a:lnTo>
                  <a:pt x="171450" y="257175"/>
                </a:lnTo>
                <a:close/>
                <a:moveTo>
                  <a:pt x="109537" y="66675"/>
                </a:moveTo>
                <a:cubicBezTo>
                  <a:pt x="85844" y="66675"/>
                  <a:pt x="66675" y="85844"/>
                  <a:pt x="66675" y="109537"/>
                </a:cubicBezTo>
                <a:cubicBezTo>
                  <a:pt x="66675" y="117455"/>
                  <a:pt x="60305" y="123825"/>
                  <a:pt x="52388" y="123825"/>
                </a:cubicBezTo>
                <a:cubicBezTo>
                  <a:pt x="44470" y="123825"/>
                  <a:pt x="38100" y="117455"/>
                  <a:pt x="38100" y="109537"/>
                </a:cubicBezTo>
                <a:cubicBezTo>
                  <a:pt x="38100" y="70068"/>
                  <a:pt x="70068" y="38100"/>
                  <a:pt x="109537" y="38100"/>
                </a:cubicBezTo>
                <a:cubicBezTo>
                  <a:pt x="117455" y="38100"/>
                  <a:pt x="123825" y="44470"/>
                  <a:pt x="123825" y="52388"/>
                </a:cubicBezTo>
                <a:cubicBezTo>
                  <a:pt x="123825" y="60305"/>
                  <a:pt x="117455" y="66675"/>
                  <a:pt x="109537" y="66675"/>
                </a:cubicBezTo>
                <a:close/>
              </a:path>
            </a:pathLst>
          </a:custGeom>
          <a:solidFill>
            <a:srgbClr val="D4943A"/>
          </a:solidFill>
          <a:ln/>
        </p:spPr>
      </p:sp>
      <p:sp>
        <p:nvSpPr>
          <p:cNvPr id="18" name="Text 16"/>
          <p:cNvSpPr/>
          <p:nvPr/>
        </p:nvSpPr>
        <p:spPr>
          <a:xfrm>
            <a:off x="1422400" y="6350000"/>
            <a:ext cx="13716000" cy="558800"/>
          </a:xfrm>
          <a:prstGeom prst="rect">
            <a:avLst/>
          </a:prstGeom>
          <a:noFill/>
          <a:ln/>
        </p:spPr>
        <p:txBody>
          <a:bodyPr wrap="square" lIns="0" tIns="0" rIns="0" bIns="0" rtlCol="0" anchor="ctr"/>
          <a:lstStyle/>
          <a:p>
            <a:pPr>
              <a:lnSpc>
                <a:spcPct val="140000"/>
              </a:lnSpc>
            </a:pPr>
            <a:r>
              <a:rPr lang="en-US" sz="1400" b="1" dirty="0">
                <a:solidFill>
                  <a:srgbClr val="2C2C2C"/>
                </a:solidFill>
                <a:latin typeface="Quattrocento Sans" pitchFamily="34" charset="0"/>
                <a:ea typeface="Quattrocento Sans" pitchFamily="34" charset="-122"/>
                <a:cs typeface="Quattrocento Sans" pitchFamily="34" charset="-120"/>
              </a:rPr>
              <a:t>Tip:</a:t>
            </a:r>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 Look for the main nouns in the problem description — these usually become your entities. Not every noun will be an entity, but most entities started as nouns.</a:t>
            </a:r>
            <a:endParaRPr lang="en-US" sz="1600" dirty="0"/>
          </a:p>
        </p:txBody>
      </p:sp>
      <p:sp>
        <p:nvSpPr>
          <p:cNvPr id="19" name="Shape 17"/>
          <p:cNvSpPr/>
          <p:nvPr/>
        </p:nvSpPr>
        <p:spPr>
          <a:xfrm>
            <a:off x="762000" y="7302500"/>
            <a:ext cx="14732000" cy="889000"/>
          </a:xfrm>
          <a:prstGeom prst="roundRect">
            <a:avLst>
              <a:gd name="adj" fmla="val 6000"/>
            </a:avLst>
          </a:prstGeom>
          <a:solidFill>
            <a:srgbClr val="2D5A4C">
              <a:alpha val="8235"/>
            </a:srgbClr>
          </a:solidFill>
          <a:ln/>
        </p:spPr>
      </p:sp>
      <p:sp>
        <p:nvSpPr>
          <p:cNvPr id="20" name="Shape 18"/>
          <p:cNvSpPr/>
          <p:nvPr/>
        </p:nvSpPr>
        <p:spPr>
          <a:xfrm>
            <a:off x="996950" y="7493000"/>
            <a:ext cx="342900" cy="304800"/>
          </a:xfrm>
          <a:custGeom>
            <a:avLst/>
            <a:gdLst/>
            <a:ahLst/>
            <a:cxnLst/>
            <a:rect l="l" t="t" r="r" b="b"/>
            <a:pathLst>
              <a:path w="342900" h="304800">
                <a:moveTo>
                  <a:pt x="28575" y="116562"/>
                </a:moveTo>
                <a:lnTo>
                  <a:pt x="153114" y="167819"/>
                </a:lnTo>
                <a:cubicBezTo>
                  <a:pt x="158948" y="170200"/>
                  <a:pt x="165140" y="171450"/>
                  <a:pt x="171450" y="171450"/>
                </a:cubicBezTo>
                <a:cubicBezTo>
                  <a:pt x="177760" y="171450"/>
                  <a:pt x="183952" y="170200"/>
                  <a:pt x="189786" y="167819"/>
                </a:cubicBezTo>
                <a:lnTo>
                  <a:pt x="334089" y="108406"/>
                </a:lnTo>
                <a:cubicBezTo>
                  <a:pt x="339447" y="106204"/>
                  <a:pt x="342900" y="101025"/>
                  <a:pt x="342900" y="95250"/>
                </a:cubicBezTo>
                <a:cubicBezTo>
                  <a:pt x="342900" y="89475"/>
                  <a:pt x="339447" y="84296"/>
                  <a:pt x="334089" y="82094"/>
                </a:cubicBezTo>
                <a:lnTo>
                  <a:pt x="189786" y="22681"/>
                </a:lnTo>
                <a:cubicBezTo>
                  <a:pt x="183952" y="20300"/>
                  <a:pt x="177760" y="19050"/>
                  <a:pt x="171450" y="19050"/>
                </a:cubicBezTo>
                <a:cubicBezTo>
                  <a:pt x="165140" y="19050"/>
                  <a:pt x="158948" y="20300"/>
                  <a:pt x="153114" y="22681"/>
                </a:cubicBezTo>
                <a:lnTo>
                  <a:pt x="8811" y="82094"/>
                </a:lnTo>
                <a:cubicBezTo>
                  <a:pt x="3453" y="84296"/>
                  <a:pt x="0" y="89475"/>
                  <a:pt x="0" y="95250"/>
                </a:cubicBezTo>
                <a:lnTo>
                  <a:pt x="0" y="271463"/>
                </a:lnTo>
                <a:cubicBezTo>
                  <a:pt x="0" y="279380"/>
                  <a:pt x="6370" y="285750"/>
                  <a:pt x="14288" y="285750"/>
                </a:cubicBezTo>
                <a:cubicBezTo>
                  <a:pt x="22205" y="285750"/>
                  <a:pt x="28575" y="279380"/>
                  <a:pt x="28575" y="271463"/>
                </a:cubicBezTo>
                <a:lnTo>
                  <a:pt x="28575" y="116562"/>
                </a:lnTo>
                <a:close/>
                <a:moveTo>
                  <a:pt x="57150" y="159246"/>
                </a:moveTo>
                <a:lnTo>
                  <a:pt x="57150" y="228600"/>
                </a:lnTo>
                <a:cubicBezTo>
                  <a:pt x="57150" y="260152"/>
                  <a:pt x="108347" y="285750"/>
                  <a:pt x="171450" y="285750"/>
                </a:cubicBezTo>
                <a:cubicBezTo>
                  <a:pt x="234553" y="285750"/>
                  <a:pt x="285750" y="260152"/>
                  <a:pt x="285750" y="228600"/>
                </a:cubicBezTo>
                <a:lnTo>
                  <a:pt x="285750" y="159187"/>
                </a:lnTo>
                <a:lnTo>
                  <a:pt x="200680" y="194250"/>
                </a:lnTo>
                <a:cubicBezTo>
                  <a:pt x="191393" y="198060"/>
                  <a:pt x="181511" y="200025"/>
                  <a:pt x="171450" y="200025"/>
                </a:cubicBezTo>
                <a:cubicBezTo>
                  <a:pt x="161389" y="200025"/>
                  <a:pt x="151507" y="198060"/>
                  <a:pt x="142220" y="194250"/>
                </a:cubicBezTo>
                <a:lnTo>
                  <a:pt x="57150" y="159187"/>
                </a:lnTo>
                <a:close/>
              </a:path>
            </a:pathLst>
          </a:custGeom>
          <a:solidFill>
            <a:srgbClr val="2D5A4C"/>
          </a:solidFill>
          <a:ln/>
        </p:spPr>
      </p:sp>
      <p:sp>
        <p:nvSpPr>
          <p:cNvPr id="21" name="Text 19"/>
          <p:cNvSpPr/>
          <p:nvPr/>
        </p:nvSpPr>
        <p:spPr>
          <a:xfrm>
            <a:off x="1422400" y="7391400"/>
            <a:ext cx="3175000" cy="304800"/>
          </a:xfrm>
          <a:prstGeom prst="rect">
            <a:avLst/>
          </a:prstGeom>
          <a:noFill/>
          <a:ln/>
        </p:spPr>
        <p:txBody>
          <a:bodyPr wrap="none" lIns="0" tIns="0" rIns="0" bIns="0" rtlCol="0" anchor="ctr"/>
          <a:lstStyle/>
          <a:p>
            <a:pPr>
              <a:lnSpc>
                <a:spcPct val="100000"/>
              </a:lnSpc>
            </a:pPr>
            <a:r>
              <a:rPr lang="en-US" sz="1400" b="1" dirty="0">
                <a:solidFill>
                  <a:srgbClr val="2D5A4C"/>
                </a:solidFill>
                <a:latin typeface="Liter" pitchFamily="34" charset="0"/>
                <a:ea typeface="Liter" pitchFamily="34" charset="-122"/>
                <a:cs typeface="Liter" pitchFamily="34" charset="-120"/>
              </a:rPr>
              <a:t>EXPECTED UNDERSTANDING</a:t>
            </a:r>
            <a:endParaRPr lang="en-US" sz="1600" dirty="0"/>
          </a:p>
        </p:txBody>
      </p:sp>
      <p:sp>
        <p:nvSpPr>
          <p:cNvPr id="22" name="Text 20"/>
          <p:cNvSpPr/>
          <p:nvPr/>
        </p:nvSpPr>
        <p:spPr>
          <a:xfrm>
            <a:off x="1016000" y="7747000"/>
            <a:ext cx="14224000" cy="3556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Students should be able to identify the main independent objects in a system and distinguish strong entities from weak ones.</a:t>
            </a:r>
            <a:endParaRPr lang="en-US" sz="1600" dirty="0"/>
          </a:p>
        </p:txBody>
      </p:sp>
      <p:sp>
        <p:nvSpPr>
          <p:cNvPr id="23" name="Text 21"/>
          <p:cNvSpPr/>
          <p:nvPr/>
        </p:nvSpPr>
        <p:spPr>
          <a:xfrm>
            <a:off x="13462000" y="8788400"/>
            <a:ext cx="2286000" cy="254000"/>
          </a:xfrm>
          <a:prstGeom prst="rect">
            <a:avLst/>
          </a:prstGeom>
          <a:noFill/>
          <a:ln/>
        </p:spPr>
        <p:txBody>
          <a:bodyPr wrap="none" lIns="0" tIns="0" rIns="0" bIns="0" rtlCol="0" anchor="ctr"/>
          <a:lstStyle/>
          <a:p>
            <a:pPr algn="r">
              <a:lnSpc>
                <a:spcPct val="140000"/>
              </a:lnSpc>
            </a:pPr>
            <a:r>
              <a:rPr lang="en-US" sz="1400" dirty="0">
                <a:solidFill>
                  <a:srgbClr val="8B7355"/>
                </a:solidFill>
                <a:latin typeface="QuattrocentoSans" pitchFamily="34" charset="0"/>
                <a:ea typeface="QuattrocentoSans" pitchFamily="34" charset="-122"/>
                <a:cs typeface="QuattrocentoSans" pitchFamily="34" charset="-120"/>
              </a:rPr>
              <a:t>Practice / Recap</a:t>
            </a:r>
            <a:endParaRPr lang="en-US" sz="1400" dirty="0"/>
          </a:p>
        </p:txBody>
      </p:sp>
    </p:spTree>
  </p:cSld>
  <p:clrMapOvr>
    <a:masterClrMapping/>
  </p:clrMapOvr>
  <p:transition>
    <p:fade/>
    <p:spd val="med"/>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0EB"/>
        </a:solidFill>
      </p:bgPr>
    </p:bg>
    <p:spTree>
      <p:nvGrpSpPr>
        <p:cNvPr id="1" name=""/>
        <p:cNvGrpSpPr/>
        <p:nvPr/>
      </p:nvGrpSpPr>
      <p:grpSpPr>
        <a:xfrm>
          <a:off x="0" y="0"/>
          <a:ext cx="0" cy="0"/>
          <a:chOff x="0" y="0"/>
          <a:chExt cx="0" cy="0"/>
        </a:xfrm>
      </p:grpSpPr>
      <p:sp>
        <p:nvSpPr>
          <p:cNvPr id="2" name="Shape 0"/>
          <p:cNvSpPr/>
          <p:nvPr/>
        </p:nvSpPr>
        <p:spPr>
          <a:xfrm>
            <a:off x="0" y="0"/>
            <a:ext cx="16256000" cy="50800"/>
          </a:xfrm>
          <a:prstGeom prst="rect">
            <a:avLst/>
          </a:prstGeom>
          <a:solidFill>
            <a:srgbClr val="D4943A"/>
          </a:solidFill>
          <a:ln/>
        </p:spPr>
      </p:sp>
      <p:sp>
        <p:nvSpPr>
          <p:cNvPr id="3" name="Text 1"/>
          <p:cNvSpPr/>
          <p:nvPr/>
        </p:nvSpPr>
        <p:spPr>
          <a:xfrm>
            <a:off x="762000" y="381000"/>
            <a:ext cx="11430000" cy="508000"/>
          </a:xfrm>
          <a:prstGeom prst="rect">
            <a:avLst/>
          </a:prstGeom>
          <a:noFill/>
          <a:ln/>
        </p:spPr>
        <p:txBody>
          <a:bodyPr wrap="none" lIns="0" tIns="0" rIns="0" bIns="0" rtlCol="0" anchor="ctr"/>
          <a:lstStyle/>
          <a:p>
            <a:pPr>
              <a:lnSpc>
                <a:spcPct val="130000"/>
              </a:lnSpc>
            </a:pPr>
            <a:r>
              <a:rPr lang="en-US" sz="2800" dirty="0">
                <a:solidFill>
                  <a:srgbClr val="2D5A4C"/>
                </a:solidFill>
                <a:latin typeface="Liter" pitchFamily="34" charset="0"/>
                <a:ea typeface="Liter" pitchFamily="34" charset="-122"/>
                <a:cs typeface="Liter" pitchFamily="34" charset="-120"/>
              </a:rPr>
              <a:t>Practice — Build a Simple ER Diagram</a:t>
            </a:r>
            <a:endParaRPr lang="en-US" sz="2800" dirty="0"/>
          </a:p>
        </p:txBody>
      </p:sp>
      <p:sp>
        <p:nvSpPr>
          <p:cNvPr id="4" name="Shape 2"/>
          <p:cNvSpPr/>
          <p:nvPr/>
        </p:nvSpPr>
        <p:spPr>
          <a:xfrm>
            <a:off x="762000" y="1117600"/>
            <a:ext cx="7175500" cy="3556000"/>
          </a:xfrm>
          <a:prstGeom prst="roundRect">
            <a:avLst>
              <a:gd name="adj" fmla="val 6000"/>
            </a:avLst>
          </a:prstGeom>
          <a:solidFill>
            <a:srgbClr val="FFFFFF"/>
          </a:solidFill>
          <a:ln/>
          <a:effectLst>
            <a:outerShdw sx="100000" sy="100000" kx="0" ky="0" algn="bl" rotWithShape="0" blurRad="76200" dist="25400" dir="5400000">
              <a:srgbClr val="000000">
                <a:alpha val="3137"/>
              </a:srgbClr>
            </a:outerShdw>
          </a:effectLst>
        </p:spPr>
      </p:sp>
      <p:sp>
        <p:nvSpPr>
          <p:cNvPr id="5" name="Shape 3"/>
          <p:cNvSpPr/>
          <p:nvPr/>
        </p:nvSpPr>
        <p:spPr>
          <a:xfrm>
            <a:off x="1016000" y="1270000"/>
            <a:ext cx="355600" cy="355600"/>
          </a:xfrm>
          <a:custGeom>
            <a:avLst/>
            <a:gdLst/>
            <a:ahLst/>
            <a:cxnLst/>
            <a:rect l="l" t="t" r="r" b="b"/>
            <a:pathLst>
              <a:path w="355600" h="355600">
                <a:moveTo>
                  <a:pt x="92928" y="25211"/>
                </a:moveTo>
                <a:cubicBezTo>
                  <a:pt x="100499" y="30490"/>
                  <a:pt x="102304" y="40908"/>
                  <a:pt x="97026" y="48409"/>
                </a:cubicBezTo>
                <a:lnTo>
                  <a:pt x="58132" y="103971"/>
                </a:lnTo>
                <a:cubicBezTo>
                  <a:pt x="55285" y="108000"/>
                  <a:pt x="50840" y="110569"/>
                  <a:pt x="45909" y="110986"/>
                </a:cubicBezTo>
                <a:cubicBezTo>
                  <a:pt x="40977" y="111403"/>
                  <a:pt x="36116" y="109736"/>
                  <a:pt x="32643" y="106263"/>
                </a:cubicBezTo>
                <a:lnTo>
                  <a:pt x="4862" y="78482"/>
                </a:lnTo>
                <a:cubicBezTo>
                  <a:pt x="-1597" y="71953"/>
                  <a:pt x="-1597" y="61397"/>
                  <a:pt x="4862" y="54868"/>
                </a:cubicBezTo>
                <a:cubicBezTo>
                  <a:pt x="11321" y="48339"/>
                  <a:pt x="21947" y="48409"/>
                  <a:pt x="28476" y="54868"/>
                </a:cubicBezTo>
                <a:lnTo>
                  <a:pt x="42228" y="68620"/>
                </a:lnTo>
                <a:lnTo>
                  <a:pt x="69731" y="29309"/>
                </a:lnTo>
                <a:cubicBezTo>
                  <a:pt x="75009" y="21739"/>
                  <a:pt x="85427" y="19933"/>
                  <a:pt x="92928" y="25211"/>
                </a:cubicBezTo>
                <a:close/>
                <a:moveTo>
                  <a:pt x="92928" y="136336"/>
                </a:moveTo>
                <a:cubicBezTo>
                  <a:pt x="100499" y="141615"/>
                  <a:pt x="102304" y="152033"/>
                  <a:pt x="97026" y="159534"/>
                </a:cubicBezTo>
                <a:lnTo>
                  <a:pt x="58132" y="215096"/>
                </a:lnTo>
                <a:cubicBezTo>
                  <a:pt x="55285" y="219125"/>
                  <a:pt x="50840" y="221694"/>
                  <a:pt x="45909" y="222111"/>
                </a:cubicBezTo>
                <a:cubicBezTo>
                  <a:pt x="40977" y="222528"/>
                  <a:pt x="36116" y="220861"/>
                  <a:pt x="32643" y="217388"/>
                </a:cubicBezTo>
                <a:lnTo>
                  <a:pt x="4862" y="189607"/>
                </a:lnTo>
                <a:cubicBezTo>
                  <a:pt x="-1667" y="183078"/>
                  <a:pt x="-1667" y="172522"/>
                  <a:pt x="4862" y="166062"/>
                </a:cubicBezTo>
                <a:cubicBezTo>
                  <a:pt x="11390" y="159603"/>
                  <a:pt x="21947" y="159534"/>
                  <a:pt x="28406" y="166062"/>
                </a:cubicBezTo>
                <a:lnTo>
                  <a:pt x="42158" y="179814"/>
                </a:lnTo>
                <a:lnTo>
                  <a:pt x="69661" y="140504"/>
                </a:lnTo>
                <a:cubicBezTo>
                  <a:pt x="74940" y="132933"/>
                  <a:pt x="85358" y="131128"/>
                  <a:pt x="92859" y="136406"/>
                </a:cubicBezTo>
                <a:close/>
                <a:moveTo>
                  <a:pt x="155575" y="66675"/>
                </a:moveTo>
                <a:cubicBezTo>
                  <a:pt x="155575" y="54382"/>
                  <a:pt x="165507" y="44450"/>
                  <a:pt x="177800" y="44450"/>
                </a:cubicBezTo>
                <a:lnTo>
                  <a:pt x="333375" y="44450"/>
                </a:lnTo>
                <a:cubicBezTo>
                  <a:pt x="345668" y="44450"/>
                  <a:pt x="355600" y="54382"/>
                  <a:pt x="355600" y="66675"/>
                </a:cubicBezTo>
                <a:cubicBezTo>
                  <a:pt x="355600" y="78968"/>
                  <a:pt x="345668" y="88900"/>
                  <a:pt x="333375" y="88900"/>
                </a:cubicBezTo>
                <a:lnTo>
                  <a:pt x="177800" y="88900"/>
                </a:lnTo>
                <a:cubicBezTo>
                  <a:pt x="165507" y="88900"/>
                  <a:pt x="155575" y="78968"/>
                  <a:pt x="155575" y="66675"/>
                </a:cubicBezTo>
                <a:close/>
                <a:moveTo>
                  <a:pt x="155575" y="177800"/>
                </a:moveTo>
                <a:cubicBezTo>
                  <a:pt x="155575" y="165507"/>
                  <a:pt x="165507" y="155575"/>
                  <a:pt x="177800" y="155575"/>
                </a:cubicBezTo>
                <a:lnTo>
                  <a:pt x="333375" y="155575"/>
                </a:lnTo>
                <a:cubicBezTo>
                  <a:pt x="345668" y="155575"/>
                  <a:pt x="355600" y="165507"/>
                  <a:pt x="355600" y="177800"/>
                </a:cubicBezTo>
                <a:cubicBezTo>
                  <a:pt x="355600" y="190093"/>
                  <a:pt x="345668" y="200025"/>
                  <a:pt x="333375" y="200025"/>
                </a:cubicBezTo>
                <a:lnTo>
                  <a:pt x="177800" y="200025"/>
                </a:lnTo>
                <a:cubicBezTo>
                  <a:pt x="165507" y="200025"/>
                  <a:pt x="155575" y="190093"/>
                  <a:pt x="155575" y="177800"/>
                </a:cubicBezTo>
                <a:close/>
                <a:moveTo>
                  <a:pt x="111125" y="288925"/>
                </a:moveTo>
                <a:cubicBezTo>
                  <a:pt x="111125" y="276632"/>
                  <a:pt x="121057" y="266700"/>
                  <a:pt x="133350" y="266700"/>
                </a:cubicBezTo>
                <a:lnTo>
                  <a:pt x="333375" y="266700"/>
                </a:lnTo>
                <a:cubicBezTo>
                  <a:pt x="345668" y="266700"/>
                  <a:pt x="355600" y="276632"/>
                  <a:pt x="355600" y="288925"/>
                </a:cubicBezTo>
                <a:cubicBezTo>
                  <a:pt x="355600" y="301218"/>
                  <a:pt x="345668" y="311150"/>
                  <a:pt x="333375" y="311150"/>
                </a:cubicBezTo>
                <a:lnTo>
                  <a:pt x="133350" y="311150"/>
                </a:lnTo>
                <a:cubicBezTo>
                  <a:pt x="121057" y="311150"/>
                  <a:pt x="111125" y="301218"/>
                  <a:pt x="111125" y="288925"/>
                </a:cubicBezTo>
                <a:close/>
                <a:moveTo>
                  <a:pt x="44450" y="261144"/>
                </a:moveTo>
                <a:cubicBezTo>
                  <a:pt x="59783" y="261144"/>
                  <a:pt x="72231" y="273592"/>
                  <a:pt x="72231" y="288925"/>
                </a:cubicBezTo>
                <a:cubicBezTo>
                  <a:pt x="72231" y="304258"/>
                  <a:pt x="59783" y="316706"/>
                  <a:pt x="44450" y="316706"/>
                </a:cubicBezTo>
                <a:cubicBezTo>
                  <a:pt x="29117" y="316706"/>
                  <a:pt x="16669" y="304258"/>
                  <a:pt x="16669" y="288925"/>
                </a:cubicBezTo>
                <a:cubicBezTo>
                  <a:pt x="16669" y="273592"/>
                  <a:pt x="29117" y="261144"/>
                  <a:pt x="44450" y="261144"/>
                </a:cubicBezTo>
                <a:close/>
              </a:path>
            </a:pathLst>
          </a:custGeom>
          <a:solidFill>
            <a:srgbClr val="D4943A"/>
          </a:solidFill>
          <a:ln/>
        </p:spPr>
      </p:sp>
      <p:sp>
        <p:nvSpPr>
          <p:cNvPr id="6" name="Text 4"/>
          <p:cNvSpPr/>
          <p:nvPr/>
        </p:nvSpPr>
        <p:spPr>
          <a:xfrm>
            <a:off x="1498600" y="1231900"/>
            <a:ext cx="2540000" cy="304800"/>
          </a:xfrm>
          <a:prstGeom prst="rect">
            <a:avLst/>
          </a:prstGeom>
          <a:noFill/>
          <a:ln/>
        </p:spPr>
        <p:txBody>
          <a:bodyPr wrap="none" lIns="0" tIns="0" rIns="0" bIns="0" rtlCol="0" anchor="ctr"/>
          <a:lstStyle/>
          <a:p>
            <a:pPr>
              <a:lnSpc>
                <a:spcPct val="100000"/>
              </a:lnSpc>
            </a:pPr>
            <a:r>
              <a:rPr lang="en-US" sz="1400" b="1" dirty="0">
                <a:solidFill>
                  <a:srgbClr val="D4943A"/>
                </a:solidFill>
                <a:latin typeface="Liter" pitchFamily="34" charset="0"/>
                <a:ea typeface="Liter" pitchFamily="34" charset="-122"/>
                <a:cs typeface="Liter" pitchFamily="34" charset="-120"/>
              </a:rPr>
              <a:t>YOUR TASK</a:t>
            </a:r>
            <a:endParaRPr lang="en-US" sz="1600" dirty="0"/>
          </a:p>
        </p:txBody>
      </p:sp>
      <p:sp>
        <p:nvSpPr>
          <p:cNvPr id="7" name="Text 5"/>
          <p:cNvSpPr/>
          <p:nvPr/>
        </p:nvSpPr>
        <p:spPr>
          <a:xfrm>
            <a:off x="1016000" y="1651000"/>
            <a:ext cx="6667500" cy="2857500"/>
          </a:xfrm>
          <a:prstGeom prst="rect">
            <a:avLst/>
          </a:prstGeom>
          <a:noFill/>
          <a:ln/>
        </p:spPr>
        <p:txBody>
          <a:bodyPr wrap="square" lIns="0" tIns="0" rIns="0" bIns="0" rtlCol="0" anchor="t"/>
          <a:lstStyle/>
          <a:p>
            <a:pPr marL="254000" indent="-254000">
              <a:lnSpc>
                <a:spcPct val="160000"/>
              </a:lnSpc>
              <a:spcBef>
                <a:spcPts val="10"/>
              </a:spcBef>
              <a:buSzPct val="100000"/>
              <a:buFont typeface="+mj-lt"/>
              <a:buAutoNum type="arabicPeriod" startAt="1"/>
            </a:pPr>
            <a:r>
              <a:rPr lang="en-US" sz="1500" dirty="0">
                <a:solidFill>
                  <a:srgbClr val="2C2C2C"/>
                </a:solidFill>
                <a:latin typeface="Quattrocento Sans" pitchFamily="34" charset="0"/>
                <a:ea typeface="Quattrocento Sans" pitchFamily="34" charset="-122"/>
                <a:cs typeface="Quattrocento Sans" pitchFamily="34" charset="-120"/>
              </a:rPr>
              <a:t>Draw </a:t>
            </a:r>
            <a:pPr>
              <a:lnSpc>
                <a:spcPct val="160000"/>
              </a:lnSpc>
              <a:spcBef>
                <a:spcPts val="10"/>
              </a:spcBef>
            </a:pPr>
            <a:r>
              <a:rPr lang="en-US" sz="1500" b="1" dirty="0">
                <a:solidFill>
                  <a:srgbClr val="2C2C2C"/>
                </a:solidFill>
                <a:latin typeface="Quattrocento Sans" pitchFamily="34" charset="0"/>
                <a:ea typeface="Quattrocento Sans" pitchFamily="34" charset="-122"/>
                <a:cs typeface="Quattrocento Sans" pitchFamily="34" charset="-120"/>
              </a:rPr>
              <a:t>entities</a:t>
            </a:r>
            <a:pPr>
              <a:lnSpc>
                <a:spcPct val="160000"/>
              </a:lnSpc>
              <a:spcBef>
                <a:spcPts val="10"/>
              </a:spcBef>
            </a:pPr>
            <a:r>
              <a:rPr lang="en-US" sz="1500" dirty="0">
                <a:solidFill>
                  <a:srgbClr val="2C2C2C"/>
                </a:solidFill>
                <a:latin typeface="Quattrocento Sans" pitchFamily="34" charset="0"/>
                <a:ea typeface="Quattrocento Sans" pitchFamily="34" charset="-122"/>
                <a:cs typeface="Quattrocento Sans" pitchFamily="34" charset="-120"/>
              </a:rPr>
              <a:t> for the library system</a:t>
            </a:r>
            <a:endParaRPr lang="en-US" sz="1600" dirty="0"/>
          </a:p>
          <a:p>
            <a:pPr marL="254000" indent="-254000">
              <a:lnSpc>
                <a:spcPct val="160000"/>
              </a:lnSpc>
              <a:spcBef>
                <a:spcPts val="10"/>
              </a:spcBef>
              <a:buSzPct val="100000"/>
              <a:buFont typeface="+mj-lt"/>
              <a:buAutoNum type="arabicPeriod" startAt="1"/>
            </a:pPr>
            <a:r>
              <a:rPr lang="en-US" sz="1500" dirty="0">
                <a:solidFill>
                  <a:srgbClr val="2C2C2C"/>
                </a:solidFill>
                <a:latin typeface="Quattrocento Sans" pitchFamily="34" charset="0"/>
                <a:ea typeface="Quattrocento Sans" pitchFamily="34" charset="-122"/>
                <a:cs typeface="Quattrocento Sans" pitchFamily="34" charset="-120"/>
              </a:rPr>
              <a:t>Add </a:t>
            </a:r>
            <a:pPr>
              <a:lnSpc>
                <a:spcPct val="160000"/>
              </a:lnSpc>
              <a:spcBef>
                <a:spcPts val="10"/>
              </a:spcBef>
            </a:pPr>
            <a:r>
              <a:rPr lang="en-US" sz="1500" b="1" dirty="0">
                <a:solidFill>
                  <a:srgbClr val="2C2C2C"/>
                </a:solidFill>
                <a:latin typeface="Quattrocento Sans" pitchFamily="34" charset="0"/>
                <a:ea typeface="Quattrocento Sans" pitchFamily="34" charset="-122"/>
                <a:cs typeface="Quattrocento Sans" pitchFamily="34" charset="-120"/>
              </a:rPr>
              <a:t>attributes</a:t>
            </a:r>
            <a:pPr>
              <a:lnSpc>
                <a:spcPct val="160000"/>
              </a:lnSpc>
              <a:spcBef>
                <a:spcPts val="10"/>
              </a:spcBef>
            </a:pPr>
            <a:r>
              <a:rPr lang="en-US" sz="1500" dirty="0">
                <a:solidFill>
                  <a:srgbClr val="2C2C2C"/>
                </a:solidFill>
                <a:latin typeface="Quattrocento Sans" pitchFamily="34" charset="0"/>
                <a:ea typeface="Quattrocento Sans" pitchFamily="34" charset="-122"/>
                <a:cs typeface="Quattrocento Sans" pitchFamily="34" charset="-120"/>
              </a:rPr>
              <a:t> to each entity (at least 3)</a:t>
            </a:r>
            <a:endParaRPr lang="en-US" sz="1600" dirty="0"/>
          </a:p>
          <a:p>
            <a:pPr marL="254000" indent="-254000">
              <a:lnSpc>
                <a:spcPct val="160000"/>
              </a:lnSpc>
              <a:spcBef>
                <a:spcPts val="10"/>
              </a:spcBef>
              <a:buSzPct val="100000"/>
              <a:buFont typeface="+mj-lt"/>
              <a:buAutoNum type="arabicPeriod" startAt="1"/>
            </a:pPr>
            <a:r>
              <a:rPr lang="en-US" sz="1500" dirty="0">
                <a:solidFill>
                  <a:srgbClr val="2C2C2C"/>
                </a:solidFill>
                <a:latin typeface="Quattrocento Sans" pitchFamily="34" charset="0"/>
                <a:ea typeface="Quattrocento Sans" pitchFamily="34" charset="-122"/>
                <a:cs typeface="Quattrocento Sans" pitchFamily="34" charset="-120"/>
              </a:rPr>
              <a:t>Identify the </a:t>
            </a:r>
            <a:pPr>
              <a:lnSpc>
                <a:spcPct val="160000"/>
              </a:lnSpc>
              <a:spcBef>
                <a:spcPts val="10"/>
              </a:spcBef>
            </a:pPr>
            <a:r>
              <a:rPr lang="en-US" sz="1500" b="1" dirty="0">
                <a:solidFill>
                  <a:srgbClr val="2C2C2C"/>
                </a:solidFill>
                <a:latin typeface="Quattrocento Sans" pitchFamily="34" charset="0"/>
                <a:ea typeface="Quattrocento Sans" pitchFamily="34" charset="-122"/>
                <a:cs typeface="Quattrocento Sans" pitchFamily="34" charset="-120"/>
              </a:rPr>
              <a:t>primary key</a:t>
            </a:r>
            <a:pPr>
              <a:lnSpc>
                <a:spcPct val="160000"/>
              </a:lnSpc>
              <a:spcBef>
                <a:spcPts val="10"/>
              </a:spcBef>
            </a:pPr>
            <a:r>
              <a:rPr lang="en-US" sz="1500" dirty="0">
                <a:solidFill>
                  <a:srgbClr val="2C2C2C"/>
                </a:solidFill>
                <a:latin typeface="Quattrocento Sans" pitchFamily="34" charset="0"/>
                <a:ea typeface="Quattrocento Sans" pitchFamily="34" charset="-122"/>
                <a:cs typeface="Quattrocento Sans" pitchFamily="34" charset="-120"/>
              </a:rPr>
              <a:t> for each entity</a:t>
            </a:r>
            <a:endParaRPr lang="en-US" sz="1600" dirty="0"/>
          </a:p>
          <a:p>
            <a:pPr marL="254000" indent="-254000">
              <a:lnSpc>
                <a:spcPct val="160000"/>
              </a:lnSpc>
              <a:spcBef>
                <a:spcPts val="10"/>
              </a:spcBef>
              <a:buSzPct val="100000"/>
              <a:buFont typeface="+mj-lt"/>
              <a:buAutoNum type="arabicPeriod" startAt="1"/>
            </a:pPr>
            <a:r>
              <a:rPr lang="en-US" sz="1500" dirty="0">
                <a:solidFill>
                  <a:srgbClr val="2C2C2C"/>
                </a:solidFill>
                <a:latin typeface="Quattrocento Sans" pitchFamily="34" charset="0"/>
                <a:ea typeface="Quattrocento Sans" pitchFamily="34" charset="-122"/>
                <a:cs typeface="Quattrocento Sans" pitchFamily="34" charset="-120"/>
              </a:rPr>
              <a:t>Draw </a:t>
            </a:r>
            <a:pPr>
              <a:lnSpc>
                <a:spcPct val="160000"/>
              </a:lnSpc>
              <a:spcBef>
                <a:spcPts val="10"/>
              </a:spcBef>
            </a:pPr>
            <a:r>
              <a:rPr lang="en-US" sz="1500" b="1" dirty="0">
                <a:solidFill>
                  <a:srgbClr val="2C2C2C"/>
                </a:solidFill>
                <a:latin typeface="Quattrocento Sans" pitchFamily="34" charset="0"/>
                <a:ea typeface="Quattrocento Sans" pitchFamily="34" charset="-122"/>
                <a:cs typeface="Quattrocento Sans" pitchFamily="34" charset="-120"/>
              </a:rPr>
              <a:t>relationships</a:t>
            </a:r>
            <a:pPr>
              <a:lnSpc>
                <a:spcPct val="160000"/>
              </a:lnSpc>
              <a:spcBef>
                <a:spcPts val="10"/>
              </a:spcBef>
            </a:pPr>
            <a:r>
              <a:rPr lang="en-US" sz="1500" dirty="0">
                <a:solidFill>
                  <a:srgbClr val="2C2C2C"/>
                </a:solidFill>
                <a:latin typeface="Quattrocento Sans" pitchFamily="34" charset="0"/>
                <a:ea typeface="Quattrocento Sans" pitchFamily="34" charset="-122"/>
                <a:cs typeface="Quattrocento Sans" pitchFamily="34" charset="-120"/>
              </a:rPr>
              <a:t> and label with cardinality</a:t>
            </a:r>
            <a:endParaRPr lang="en-US" sz="1600" dirty="0"/>
          </a:p>
          <a:p>
            <a:pPr marL="254000" indent="-254000">
              <a:lnSpc>
                <a:spcPct val="160000"/>
              </a:lnSpc>
              <a:spcBef>
                <a:spcPts val="10"/>
              </a:spcBef>
              <a:buSzPct val="100000"/>
              <a:buFont typeface="+mj-lt"/>
              <a:buAutoNum type="arabicPeriod" startAt="1"/>
            </a:pPr>
            <a:r>
              <a:rPr lang="en-US" sz="1500" dirty="0">
                <a:solidFill>
                  <a:srgbClr val="2C2C2C"/>
                </a:solidFill>
                <a:latin typeface="Quattrocento Sans" pitchFamily="34" charset="0"/>
                <a:ea typeface="Quattrocento Sans" pitchFamily="34" charset="-122"/>
                <a:cs typeface="Quattrocento Sans" pitchFamily="34" charset="-120"/>
              </a:rPr>
              <a:t>Include </a:t>
            </a:r>
            <a:pPr>
              <a:lnSpc>
                <a:spcPct val="160000"/>
              </a:lnSpc>
              <a:spcBef>
                <a:spcPts val="10"/>
              </a:spcBef>
            </a:pPr>
            <a:r>
              <a:rPr lang="en-US" sz="1500" b="1" dirty="0">
                <a:solidFill>
                  <a:srgbClr val="2C2C2C"/>
                </a:solidFill>
                <a:latin typeface="Quattrocento Sans" pitchFamily="34" charset="0"/>
                <a:ea typeface="Quattrocento Sans" pitchFamily="34" charset="-122"/>
                <a:cs typeface="Quattrocento Sans" pitchFamily="34" charset="-120"/>
              </a:rPr>
              <a:t>role names</a:t>
            </a:r>
            <a:pPr>
              <a:lnSpc>
                <a:spcPct val="160000"/>
              </a:lnSpc>
              <a:spcBef>
                <a:spcPts val="10"/>
              </a:spcBef>
            </a:pPr>
            <a:r>
              <a:rPr lang="en-US" sz="1500" dirty="0">
                <a:solidFill>
                  <a:srgbClr val="2C2C2C"/>
                </a:solidFill>
                <a:latin typeface="Quattrocento Sans" pitchFamily="34" charset="0"/>
                <a:ea typeface="Quattrocento Sans" pitchFamily="34" charset="-122"/>
                <a:cs typeface="Quattrocento Sans" pitchFamily="34" charset="-120"/>
              </a:rPr>
              <a:t> where needed</a:t>
            </a:r>
            <a:endParaRPr lang="en-US" sz="1600" dirty="0"/>
          </a:p>
        </p:txBody>
      </p:sp>
      <p:sp>
        <p:nvSpPr>
          <p:cNvPr id="8" name="Shape 6"/>
          <p:cNvSpPr/>
          <p:nvPr/>
        </p:nvSpPr>
        <p:spPr>
          <a:xfrm>
            <a:off x="8318500" y="1117600"/>
            <a:ext cx="7175500" cy="3556000"/>
          </a:xfrm>
          <a:prstGeom prst="roundRect">
            <a:avLst>
              <a:gd name="adj" fmla="val 6000"/>
            </a:avLst>
          </a:prstGeom>
          <a:solidFill>
            <a:srgbClr val="2D5A4C">
              <a:alpha val="8235"/>
            </a:srgbClr>
          </a:solidFill>
          <a:ln/>
        </p:spPr>
      </p:sp>
      <p:sp>
        <p:nvSpPr>
          <p:cNvPr id="9" name="Shape 7"/>
          <p:cNvSpPr/>
          <p:nvPr/>
        </p:nvSpPr>
        <p:spPr>
          <a:xfrm>
            <a:off x="8550275" y="1270000"/>
            <a:ext cx="400050" cy="355600"/>
          </a:xfrm>
          <a:custGeom>
            <a:avLst/>
            <a:gdLst/>
            <a:ahLst/>
            <a:cxnLst/>
            <a:rect l="l" t="t" r="r" b="b"/>
            <a:pathLst>
              <a:path w="400050" h="355600">
                <a:moveTo>
                  <a:pt x="182940" y="-18752"/>
                </a:moveTo>
                <a:lnTo>
                  <a:pt x="193219" y="6806"/>
                </a:lnTo>
                <a:lnTo>
                  <a:pt x="218777" y="17085"/>
                </a:lnTo>
                <a:cubicBezTo>
                  <a:pt x="220861" y="17919"/>
                  <a:pt x="222250" y="20003"/>
                  <a:pt x="222250" y="22225"/>
                </a:cubicBezTo>
                <a:cubicBezTo>
                  <a:pt x="222250" y="24448"/>
                  <a:pt x="220861" y="26531"/>
                  <a:pt x="218777" y="27365"/>
                </a:cubicBezTo>
                <a:lnTo>
                  <a:pt x="193219" y="37644"/>
                </a:lnTo>
                <a:lnTo>
                  <a:pt x="182940" y="63202"/>
                </a:lnTo>
                <a:cubicBezTo>
                  <a:pt x="182106" y="65286"/>
                  <a:pt x="180022" y="66675"/>
                  <a:pt x="177800" y="66675"/>
                </a:cubicBezTo>
                <a:cubicBezTo>
                  <a:pt x="175577" y="66675"/>
                  <a:pt x="173494" y="65286"/>
                  <a:pt x="172660" y="63202"/>
                </a:cubicBezTo>
                <a:lnTo>
                  <a:pt x="162381" y="37644"/>
                </a:lnTo>
                <a:lnTo>
                  <a:pt x="136823" y="27365"/>
                </a:lnTo>
                <a:cubicBezTo>
                  <a:pt x="134739" y="26531"/>
                  <a:pt x="133350" y="24447"/>
                  <a:pt x="133350" y="22225"/>
                </a:cubicBezTo>
                <a:cubicBezTo>
                  <a:pt x="133350" y="20003"/>
                  <a:pt x="134739" y="17919"/>
                  <a:pt x="136823" y="17085"/>
                </a:cubicBezTo>
                <a:lnTo>
                  <a:pt x="162381" y="6806"/>
                </a:lnTo>
                <a:lnTo>
                  <a:pt x="172660" y="-18752"/>
                </a:lnTo>
                <a:cubicBezTo>
                  <a:pt x="173494" y="-20836"/>
                  <a:pt x="175577" y="-22225"/>
                  <a:pt x="177800" y="-22225"/>
                </a:cubicBezTo>
                <a:cubicBezTo>
                  <a:pt x="180023" y="-22225"/>
                  <a:pt x="182106" y="-20836"/>
                  <a:pt x="182940" y="-18752"/>
                </a:cubicBezTo>
                <a:close/>
                <a:moveTo>
                  <a:pt x="76885" y="28962"/>
                </a:moveTo>
                <a:lnTo>
                  <a:pt x="91817" y="63758"/>
                </a:lnTo>
                <a:lnTo>
                  <a:pt x="126613" y="78690"/>
                </a:lnTo>
                <a:cubicBezTo>
                  <a:pt x="130711" y="80427"/>
                  <a:pt x="133350" y="84455"/>
                  <a:pt x="133350" y="88900"/>
                </a:cubicBezTo>
                <a:cubicBezTo>
                  <a:pt x="133350" y="93345"/>
                  <a:pt x="130711" y="97373"/>
                  <a:pt x="126613" y="99110"/>
                </a:cubicBezTo>
                <a:lnTo>
                  <a:pt x="91817" y="114042"/>
                </a:lnTo>
                <a:lnTo>
                  <a:pt x="76885" y="148838"/>
                </a:lnTo>
                <a:cubicBezTo>
                  <a:pt x="75148" y="152936"/>
                  <a:pt x="71120" y="155575"/>
                  <a:pt x="66675" y="155575"/>
                </a:cubicBezTo>
                <a:cubicBezTo>
                  <a:pt x="62230" y="155575"/>
                  <a:pt x="58202" y="152936"/>
                  <a:pt x="56465" y="148838"/>
                </a:cubicBezTo>
                <a:lnTo>
                  <a:pt x="41533" y="114042"/>
                </a:lnTo>
                <a:lnTo>
                  <a:pt x="6737" y="99110"/>
                </a:lnTo>
                <a:cubicBezTo>
                  <a:pt x="2639" y="97373"/>
                  <a:pt x="0" y="93345"/>
                  <a:pt x="0" y="88900"/>
                </a:cubicBezTo>
                <a:cubicBezTo>
                  <a:pt x="0" y="84455"/>
                  <a:pt x="2639" y="80427"/>
                  <a:pt x="6737" y="78690"/>
                </a:cubicBezTo>
                <a:lnTo>
                  <a:pt x="41533" y="63758"/>
                </a:lnTo>
                <a:lnTo>
                  <a:pt x="56465" y="28962"/>
                </a:lnTo>
                <a:cubicBezTo>
                  <a:pt x="58202" y="24864"/>
                  <a:pt x="62230" y="22225"/>
                  <a:pt x="66675" y="22225"/>
                </a:cubicBezTo>
                <a:cubicBezTo>
                  <a:pt x="71120" y="22225"/>
                  <a:pt x="75148" y="24864"/>
                  <a:pt x="76885" y="28962"/>
                </a:cubicBezTo>
                <a:close/>
                <a:moveTo>
                  <a:pt x="322263" y="211138"/>
                </a:moveTo>
                <a:cubicBezTo>
                  <a:pt x="326708" y="211138"/>
                  <a:pt x="330736" y="213777"/>
                  <a:pt x="332472" y="217874"/>
                </a:cubicBezTo>
                <a:lnTo>
                  <a:pt x="347405" y="252670"/>
                </a:lnTo>
                <a:lnTo>
                  <a:pt x="382201" y="267603"/>
                </a:lnTo>
                <a:cubicBezTo>
                  <a:pt x="386298" y="269339"/>
                  <a:pt x="388938" y="273368"/>
                  <a:pt x="388938" y="277813"/>
                </a:cubicBezTo>
                <a:cubicBezTo>
                  <a:pt x="388938" y="282257"/>
                  <a:pt x="386298" y="286286"/>
                  <a:pt x="382201" y="288022"/>
                </a:cubicBezTo>
                <a:lnTo>
                  <a:pt x="347405" y="302955"/>
                </a:lnTo>
                <a:lnTo>
                  <a:pt x="332472" y="337751"/>
                </a:lnTo>
                <a:cubicBezTo>
                  <a:pt x="330736" y="341848"/>
                  <a:pt x="326707" y="344488"/>
                  <a:pt x="322263" y="344488"/>
                </a:cubicBezTo>
                <a:cubicBezTo>
                  <a:pt x="317818" y="344488"/>
                  <a:pt x="313789" y="341848"/>
                  <a:pt x="312053" y="337751"/>
                </a:cubicBezTo>
                <a:lnTo>
                  <a:pt x="297120" y="302955"/>
                </a:lnTo>
                <a:lnTo>
                  <a:pt x="262324" y="288022"/>
                </a:lnTo>
                <a:cubicBezTo>
                  <a:pt x="258227" y="286286"/>
                  <a:pt x="255587" y="282257"/>
                  <a:pt x="255587" y="277813"/>
                </a:cubicBezTo>
                <a:cubicBezTo>
                  <a:pt x="255587" y="273368"/>
                  <a:pt x="258227" y="269339"/>
                  <a:pt x="262324" y="267603"/>
                </a:cubicBezTo>
                <a:lnTo>
                  <a:pt x="297120" y="252670"/>
                </a:lnTo>
                <a:lnTo>
                  <a:pt x="312053" y="217874"/>
                </a:lnTo>
                <a:cubicBezTo>
                  <a:pt x="313789" y="213777"/>
                  <a:pt x="317818" y="211138"/>
                  <a:pt x="322263" y="211138"/>
                </a:cubicBezTo>
                <a:close/>
                <a:moveTo>
                  <a:pt x="319484" y="0"/>
                </a:moveTo>
                <a:cubicBezTo>
                  <a:pt x="327124" y="0"/>
                  <a:pt x="334486" y="3056"/>
                  <a:pt x="339973" y="8473"/>
                </a:cubicBezTo>
                <a:lnTo>
                  <a:pt x="369352" y="37852"/>
                </a:lnTo>
                <a:cubicBezTo>
                  <a:pt x="374769" y="43339"/>
                  <a:pt x="377825" y="50701"/>
                  <a:pt x="377825" y="58341"/>
                </a:cubicBezTo>
                <a:cubicBezTo>
                  <a:pt x="377825" y="65980"/>
                  <a:pt x="374769" y="73343"/>
                  <a:pt x="369352" y="78829"/>
                </a:cubicBezTo>
                <a:lnTo>
                  <a:pt x="308094" y="140087"/>
                </a:lnTo>
                <a:lnTo>
                  <a:pt x="237738" y="69731"/>
                </a:lnTo>
                <a:lnTo>
                  <a:pt x="298996" y="8473"/>
                </a:lnTo>
                <a:cubicBezTo>
                  <a:pt x="304483" y="3056"/>
                  <a:pt x="311845" y="0"/>
                  <a:pt x="319484" y="0"/>
                </a:cubicBezTo>
                <a:close/>
                <a:moveTo>
                  <a:pt x="30698" y="276771"/>
                </a:moveTo>
                <a:lnTo>
                  <a:pt x="214193" y="93276"/>
                </a:lnTo>
                <a:lnTo>
                  <a:pt x="284549" y="163632"/>
                </a:lnTo>
                <a:lnTo>
                  <a:pt x="101054" y="347127"/>
                </a:lnTo>
                <a:cubicBezTo>
                  <a:pt x="95567" y="352544"/>
                  <a:pt x="88205" y="355600"/>
                  <a:pt x="80566" y="355600"/>
                </a:cubicBezTo>
                <a:cubicBezTo>
                  <a:pt x="72926" y="355600"/>
                  <a:pt x="65564" y="352544"/>
                  <a:pt x="60077" y="347127"/>
                </a:cubicBezTo>
                <a:lnTo>
                  <a:pt x="30698" y="317748"/>
                </a:lnTo>
                <a:cubicBezTo>
                  <a:pt x="25281" y="312261"/>
                  <a:pt x="22225" y="304899"/>
                  <a:pt x="22225" y="297259"/>
                </a:cubicBezTo>
                <a:cubicBezTo>
                  <a:pt x="22225" y="289620"/>
                  <a:pt x="25281" y="282257"/>
                  <a:pt x="30698" y="276771"/>
                </a:cubicBezTo>
                <a:close/>
              </a:path>
            </a:pathLst>
          </a:custGeom>
          <a:solidFill>
            <a:srgbClr val="2D5A4C"/>
          </a:solidFill>
          <a:ln/>
        </p:spPr>
      </p:sp>
      <p:sp>
        <p:nvSpPr>
          <p:cNvPr id="10" name="Text 8"/>
          <p:cNvSpPr/>
          <p:nvPr/>
        </p:nvSpPr>
        <p:spPr>
          <a:xfrm>
            <a:off x="9055100" y="1231900"/>
            <a:ext cx="3175000" cy="304800"/>
          </a:xfrm>
          <a:prstGeom prst="rect">
            <a:avLst/>
          </a:prstGeom>
          <a:noFill/>
          <a:ln/>
        </p:spPr>
        <p:txBody>
          <a:bodyPr wrap="none" lIns="0" tIns="0" rIns="0" bIns="0" rtlCol="0" anchor="ctr"/>
          <a:lstStyle/>
          <a:p>
            <a:pPr>
              <a:lnSpc>
                <a:spcPct val="100000"/>
              </a:lnSpc>
            </a:pPr>
            <a:r>
              <a:rPr lang="en-US" sz="1400" b="1" dirty="0">
                <a:solidFill>
                  <a:srgbClr val="2D5A4C"/>
                </a:solidFill>
                <a:latin typeface="Liter" pitchFamily="34" charset="0"/>
                <a:ea typeface="Liter" pitchFamily="34" charset="-122"/>
                <a:cs typeface="Liter" pitchFamily="34" charset="-120"/>
              </a:rPr>
              <a:t>SAMPLE SOLUTION</a:t>
            </a:r>
            <a:endParaRPr lang="en-US" sz="1600" dirty="0"/>
          </a:p>
        </p:txBody>
      </p:sp>
      <p:sp>
        <p:nvSpPr>
          <p:cNvPr id="11" name="Text 9"/>
          <p:cNvSpPr/>
          <p:nvPr/>
        </p:nvSpPr>
        <p:spPr>
          <a:xfrm>
            <a:off x="8572500" y="1651000"/>
            <a:ext cx="6667500" cy="2857500"/>
          </a:xfrm>
          <a:prstGeom prst="rect">
            <a:avLst/>
          </a:prstGeom>
          <a:noFill/>
          <a:ln/>
        </p:spPr>
        <p:txBody>
          <a:bodyPr wrap="square" lIns="0" tIns="0" rIns="0" bIns="0" rtlCol="0" anchor="t"/>
          <a:lstStyle/>
          <a:p>
            <a:pPr>
              <a:lnSpc>
                <a:spcPct val="150000"/>
              </a:lnSpc>
            </a:pPr>
            <a:r>
              <a:rPr lang="en-US" sz="1400" b="1" dirty="0">
                <a:solidFill>
                  <a:srgbClr val="2C2C2C"/>
                </a:solidFill>
                <a:latin typeface="Quattrocento Sans" pitchFamily="34" charset="0"/>
                <a:ea typeface="Quattrocento Sans" pitchFamily="34" charset="-122"/>
                <a:cs typeface="Quattrocento Sans" pitchFamily="34" charset="-120"/>
              </a:rPr>
              <a:t>MEMBER</a:t>
            </a:r>
            <a:pPr>
              <a:lnSpc>
                <a:spcPct val="150000"/>
              </a:lnSpc>
            </a:pPr>
            <a:r>
              <a:rPr lang="en-US" sz="1400" dirty="0">
                <a:solidFill>
                  <a:srgbClr val="2C2C2C"/>
                </a:solidFill>
                <a:latin typeface="Quattrocento Sans" pitchFamily="34" charset="0"/>
                <a:ea typeface="Quattrocento Sans" pitchFamily="34" charset="-122"/>
                <a:cs typeface="Quattrocento Sans" pitchFamily="34" charset="-120"/>
              </a:rPr>
              <a:t> (</a:t>
            </a:r>
            <a:pPr>
              <a:lnSpc>
                <a:spcPct val="150000"/>
              </a:lnSpc>
            </a:pPr>
            <a:r>
              <a:rPr lang="en-US" sz="1400" u="sng" dirty="0">
                <a:solidFill>
                  <a:srgbClr val="2C2C2C"/>
                </a:solidFill>
                <a:uFill>
                  <a:solidFill>
                    <a:srgbClr val="000000"/>
                  </a:solidFill>
                </a:uFill>
                <a:latin typeface="Quattrocento Sans" pitchFamily="34" charset="0"/>
                <a:ea typeface="Quattrocento Sans" pitchFamily="34" charset="-122"/>
                <a:cs typeface="Quattrocento Sans" pitchFamily="34" charset="-120"/>
              </a:rPr>
              <a:t>MemberID</a:t>
            </a:r>
            <a:pPr>
              <a:lnSpc>
                <a:spcPct val="150000"/>
              </a:lnSpc>
            </a:pPr>
            <a:r>
              <a:rPr lang="en-US" sz="1400" dirty="0">
                <a:solidFill>
                  <a:srgbClr val="2C2C2C"/>
                </a:solidFill>
                <a:latin typeface="Quattrocento Sans" pitchFamily="34" charset="0"/>
                <a:ea typeface="Quattrocento Sans" pitchFamily="34" charset="-122"/>
                <a:cs typeface="Quattrocento Sans" pitchFamily="34" charset="-120"/>
              </a:rPr>
              <a:t>, Name, Email, JoinDate)</a:t>
            </a:r>
            <a:endParaRPr lang="en-US" sz="1600" dirty="0"/>
          </a:p>
          <a:p>
            <a:pPr>
              <a:lnSpc>
                <a:spcPct val="150000"/>
              </a:lnSpc>
            </a:pPr>
            <a:r>
              <a:rPr lang="en-US" sz="1400" b="1" dirty="0">
                <a:solidFill>
                  <a:srgbClr val="2C2C2C"/>
                </a:solidFill>
                <a:latin typeface="Quattrocento Sans" pitchFamily="34" charset="0"/>
                <a:ea typeface="Quattrocento Sans" pitchFamily="34" charset="-122"/>
                <a:cs typeface="Quattrocento Sans" pitchFamily="34" charset="-120"/>
              </a:rPr>
              <a:t>BOOK</a:t>
            </a:r>
            <a:pPr>
              <a:lnSpc>
                <a:spcPct val="150000"/>
              </a:lnSpc>
            </a:pPr>
            <a:r>
              <a:rPr lang="en-US" sz="1400" dirty="0">
                <a:solidFill>
                  <a:srgbClr val="2C2C2C"/>
                </a:solidFill>
                <a:latin typeface="Quattrocento Sans" pitchFamily="34" charset="0"/>
                <a:ea typeface="Quattrocento Sans" pitchFamily="34" charset="-122"/>
                <a:cs typeface="Quattrocento Sans" pitchFamily="34" charset="-120"/>
              </a:rPr>
              <a:t> (</a:t>
            </a:r>
            <a:pPr>
              <a:lnSpc>
                <a:spcPct val="150000"/>
              </a:lnSpc>
            </a:pPr>
            <a:r>
              <a:rPr lang="en-US" sz="1400" u="sng" dirty="0">
                <a:solidFill>
                  <a:srgbClr val="2C2C2C"/>
                </a:solidFill>
                <a:uFill>
                  <a:solidFill>
                    <a:srgbClr val="000000"/>
                  </a:solidFill>
                </a:uFill>
                <a:latin typeface="Quattrocento Sans" pitchFamily="34" charset="0"/>
                <a:ea typeface="Quattrocento Sans" pitchFamily="34" charset="-122"/>
                <a:cs typeface="Quattrocento Sans" pitchFamily="34" charset="-120"/>
              </a:rPr>
              <a:t>ISBN</a:t>
            </a:r>
            <a:pPr>
              <a:lnSpc>
                <a:spcPct val="150000"/>
              </a:lnSpc>
            </a:pPr>
            <a:r>
              <a:rPr lang="en-US" sz="1400" dirty="0">
                <a:solidFill>
                  <a:srgbClr val="2C2C2C"/>
                </a:solidFill>
                <a:latin typeface="Quattrocento Sans" pitchFamily="34" charset="0"/>
                <a:ea typeface="Quattrocento Sans" pitchFamily="34" charset="-122"/>
                <a:cs typeface="Quattrocento Sans" pitchFamily="34" charset="-120"/>
              </a:rPr>
              <a:t>, Title, Year, Genre)</a:t>
            </a:r>
            <a:endParaRPr lang="en-US" sz="1600" dirty="0"/>
          </a:p>
          <a:p>
            <a:pPr>
              <a:lnSpc>
                <a:spcPct val="150000"/>
              </a:lnSpc>
            </a:pPr>
            <a:r>
              <a:rPr lang="en-US" sz="1400" b="1" dirty="0">
                <a:solidFill>
                  <a:srgbClr val="2C2C2C"/>
                </a:solidFill>
                <a:latin typeface="Quattrocento Sans" pitchFamily="34" charset="0"/>
                <a:ea typeface="Quattrocento Sans" pitchFamily="34" charset="-122"/>
                <a:cs typeface="Quattrocento Sans" pitchFamily="34" charset="-120"/>
              </a:rPr>
              <a:t>AUTHOR</a:t>
            </a:r>
            <a:pPr>
              <a:lnSpc>
                <a:spcPct val="150000"/>
              </a:lnSpc>
            </a:pPr>
            <a:r>
              <a:rPr lang="en-US" sz="1400" dirty="0">
                <a:solidFill>
                  <a:srgbClr val="2C2C2C"/>
                </a:solidFill>
                <a:latin typeface="Quattrocento Sans" pitchFamily="34" charset="0"/>
                <a:ea typeface="Quattrocento Sans" pitchFamily="34" charset="-122"/>
                <a:cs typeface="Quattrocento Sans" pitchFamily="34" charset="-120"/>
              </a:rPr>
              <a:t> (</a:t>
            </a:r>
            <a:pPr>
              <a:lnSpc>
                <a:spcPct val="150000"/>
              </a:lnSpc>
            </a:pPr>
            <a:r>
              <a:rPr lang="en-US" sz="1400" u="sng" dirty="0">
                <a:solidFill>
                  <a:srgbClr val="2C2C2C"/>
                </a:solidFill>
                <a:uFill>
                  <a:solidFill>
                    <a:srgbClr val="000000"/>
                  </a:solidFill>
                </a:uFill>
                <a:latin typeface="Quattrocento Sans" pitchFamily="34" charset="0"/>
                <a:ea typeface="Quattrocento Sans" pitchFamily="34" charset="-122"/>
                <a:cs typeface="Quattrocento Sans" pitchFamily="34" charset="-120"/>
              </a:rPr>
              <a:t>AuthorID</a:t>
            </a:r>
            <a:pPr>
              <a:lnSpc>
                <a:spcPct val="150000"/>
              </a:lnSpc>
            </a:pPr>
            <a:r>
              <a:rPr lang="en-US" sz="1400" dirty="0">
                <a:solidFill>
                  <a:srgbClr val="2C2C2C"/>
                </a:solidFill>
                <a:latin typeface="Quattrocento Sans" pitchFamily="34" charset="0"/>
                <a:ea typeface="Quattrocento Sans" pitchFamily="34" charset="-122"/>
                <a:cs typeface="Quattrocento Sans" pitchFamily="34" charset="-120"/>
              </a:rPr>
              <a:t>, Name, Nationality)</a:t>
            </a:r>
            <a:endParaRPr lang="en-US" sz="1600" dirty="0"/>
          </a:p>
          <a:p>
            <a:pPr>
              <a:lnSpc>
                <a:spcPct val="150000"/>
              </a:lnSpc>
            </a:pPr>
            <a:r>
              <a:rPr lang="en-US" sz="1400" dirty="0">
                <a:solidFill>
                  <a:srgbClr val="D4943A"/>
                </a:solidFill>
                <a:latin typeface="Quattrocento Sans" pitchFamily="34" charset="0"/>
                <a:ea typeface="Quattrocento Sans" pitchFamily="34" charset="-122"/>
                <a:cs typeface="Quattrocento Sans" pitchFamily="34" charset="-120"/>
              </a:rPr>
              <a:t>MEMBER borrows (M:N) BOOK</a:t>
            </a:r>
            <a:endParaRPr lang="en-US" sz="1600" dirty="0"/>
          </a:p>
          <a:p>
            <a:pPr>
              <a:lnSpc>
                <a:spcPct val="150000"/>
              </a:lnSpc>
            </a:pPr>
            <a:r>
              <a:rPr lang="en-US" sz="1400" dirty="0">
                <a:solidFill>
                  <a:srgbClr val="D4943A"/>
                </a:solidFill>
                <a:latin typeface="Quattrocento Sans" pitchFamily="34" charset="0"/>
                <a:ea typeface="Quattrocento Sans" pitchFamily="34" charset="-122"/>
                <a:cs typeface="Quattrocento Sans" pitchFamily="34" charset="-120"/>
              </a:rPr>
              <a:t>AUTHOR writes (1:N) BOOK</a:t>
            </a:r>
            <a:endParaRPr lang="en-US" sz="1600" dirty="0"/>
          </a:p>
          <a:p>
            <a:pPr>
              <a:lnSpc>
                <a:spcPct val="150000"/>
              </a:lnSpc>
            </a:pPr>
            <a:r>
              <a:rPr lang="en-US" sz="1400" i="1" dirty="0">
                <a:solidFill>
                  <a:srgbClr val="2C2C2C"/>
                </a:solidFill>
                <a:latin typeface="Quattrocento Sans" pitchFamily="34" charset="0"/>
                <a:ea typeface="Quattrocento Sans" pitchFamily="34" charset="-122"/>
                <a:cs typeface="Quattrocento Sans" pitchFamily="34" charset="-120"/>
              </a:rPr>
              <a:t>Underline = Primary Key</a:t>
            </a:r>
            <a:endParaRPr lang="en-US" sz="1600" dirty="0"/>
          </a:p>
        </p:txBody>
      </p:sp>
      <p:sp>
        <p:nvSpPr>
          <p:cNvPr id="12" name="Shape 10"/>
          <p:cNvSpPr/>
          <p:nvPr/>
        </p:nvSpPr>
        <p:spPr>
          <a:xfrm>
            <a:off x="762000" y="4927600"/>
            <a:ext cx="14732000" cy="1079500"/>
          </a:xfrm>
          <a:prstGeom prst="roundRect">
            <a:avLst>
              <a:gd name="adj" fmla="val 6000"/>
            </a:avLst>
          </a:prstGeom>
          <a:solidFill>
            <a:srgbClr val="E8E2DA"/>
          </a:solidFill>
          <a:ln/>
        </p:spPr>
      </p:sp>
      <p:sp>
        <p:nvSpPr>
          <p:cNvPr id="13" name="Shape 11"/>
          <p:cNvSpPr/>
          <p:nvPr/>
        </p:nvSpPr>
        <p:spPr>
          <a:xfrm>
            <a:off x="993775" y="5118100"/>
            <a:ext cx="400050" cy="355600"/>
          </a:xfrm>
          <a:custGeom>
            <a:avLst/>
            <a:gdLst/>
            <a:ahLst/>
            <a:cxnLst/>
            <a:rect l="l" t="t" r="r" b="b"/>
            <a:pathLst>
              <a:path w="400050" h="355600">
                <a:moveTo>
                  <a:pt x="205581" y="133350"/>
                </a:moveTo>
                <a:cubicBezTo>
                  <a:pt x="190927" y="124946"/>
                  <a:pt x="176203" y="116542"/>
                  <a:pt x="155575" y="113000"/>
                </a:cubicBezTo>
                <a:lnTo>
                  <a:pt x="155575" y="15557"/>
                </a:lnTo>
                <a:cubicBezTo>
                  <a:pt x="178981" y="9029"/>
                  <a:pt x="216277" y="0"/>
                  <a:pt x="244475" y="0"/>
                </a:cubicBezTo>
                <a:cubicBezTo>
                  <a:pt x="311150" y="0"/>
                  <a:pt x="400050" y="33337"/>
                  <a:pt x="400050" y="88900"/>
                </a:cubicBezTo>
                <a:cubicBezTo>
                  <a:pt x="400050" y="144463"/>
                  <a:pt x="316984" y="155575"/>
                  <a:pt x="277813" y="155575"/>
                </a:cubicBezTo>
                <a:cubicBezTo>
                  <a:pt x="244475" y="155575"/>
                  <a:pt x="225028" y="144463"/>
                  <a:pt x="205581" y="133350"/>
                </a:cubicBezTo>
                <a:close/>
                <a:moveTo>
                  <a:pt x="88900" y="22225"/>
                </a:moveTo>
                <a:lnTo>
                  <a:pt x="122238" y="22225"/>
                </a:lnTo>
                <a:lnTo>
                  <a:pt x="122238" y="111125"/>
                </a:lnTo>
                <a:lnTo>
                  <a:pt x="88900" y="111125"/>
                </a:lnTo>
                <a:cubicBezTo>
                  <a:pt x="64383" y="111125"/>
                  <a:pt x="44450" y="91192"/>
                  <a:pt x="44450" y="66675"/>
                </a:cubicBezTo>
                <a:cubicBezTo>
                  <a:pt x="44450" y="42158"/>
                  <a:pt x="64383" y="22225"/>
                  <a:pt x="88900" y="22225"/>
                </a:cubicBezTo>
                <a:close/>
                <a:moveTo>
                  <a:pt x="161131" y="222250"/>
                </a:moveTo>
                <a:cubicBezTo>
                  <a:pt x="180578" y="211138"/>
                  <a:pt x="200025" y="200025"/>
                  <a:pt x="233363" y="200025"/>
                </a:cubicBezTo>
                <a:cubicBezTo>
                  <a:pt x="272534" y="200025"/>
                  <a:pt x="355600" y="211138"/>
                  <a:pt x="355600" y="266700"/>
                </a:cubicBezTo>
                <a:cubicBezTo>
                  <a:pt x="355600" y="322263"/>
                  <a:pt x="266700" y="355600"/>
                  <a:pt x="200025" y="355600"/>
                </a:cubicBezTo>
                <a:cubicBezTo>
                  <a:pt x="171896" y="355600"/>
                  <a:pt x="134531" y="346571"/>
                  <a:pt x="111125" y="340043"/>
                </a:cubicBezTo>
                <a:lnTo>
                  <a:pt x="111125" y="242600"/>
                </a:lnTo>
                <a:cubicBezTo>
                  <a:pt x="131753" y="238988"/>
                  <a:pt x="146477" y="230584"/>
                  <a:pt x="161131" y="222181"/>
                </a:cubicBezTo>
                <a:close/>
                <a:moveTo>
                  <a:pt x="44450" y="333375"/>
                </a:moveTo>
                <a:cubicBezTo>
                  <a:pt x="19933" y="333375"/>
                  <a:pt x="0" y="313442"/>
                  <a:pt x="0" y="288925"/>
                </a:cubicBezTo>
                <a:cubicBezTo>
                  <a:pt x="0" y="264408"/>
                  <a:pt x="19933" y="244475"/>
                  <a:pt x="44450" y="244475"/>
                </a:cubicBezTo>
                <a:lnTo>
                  <a:pt x="77788" y="244475"/>
                </a:lnTo>
                <a:lnTo>
                  <a:pt x="77788" y="333375"/>
                </a:lnTo>
                <a:lnTo>
                  <a:pt x="44450" y="333375"/>
                </a:lnTo>
                <a:close/>
              </a:path>
            </a:pathLst>
          </a:custGeom>
          <a:solidFill>
            <a:srgbClr val="D4943A"/>
          </a:solidFill>
          <a:ln/>
        </p:spPr>
      </p:sp>
      <p:sp>
        <p:nvSpPr>
          <p:cNvPr id="14" name="Text 12"/>
          <p:cNvSpPr/>
          <p:nvPr/>
        </p:nvSpPr>
        <p:spPr>
          <a:xfrm>
            <a:off x="1498600" y="5054600"/>
            <a:ext cx="3810000" cy="304800"/>
          </a:xfrm>
          <a:prstGeom prst="rect">
            <a:avLst/>
          </a:prstGeom>
          <a:noFill/>
          <a:ln/>
        </p:spPr>
        <p:txBody>
          <a:bodyPr wrap="none" lIns="0" tIns="0" rIns="0" bIns="0" rtlCol="0" anchor="ctr"/>
          <a:lstStyle/>
          <a:p>
            <a:pPr>
              <a:lnSpc>
                <a:spcPct val="100000"/>
              </a:lnSpc>
            </a:pPr>
            <a:r>
              <a:rPr lang="en-US" sz="1400" b="1" dirty="0">
                <a:solidFill>
                  <a:srgbClr val="2D5A4C"/>
                </a:solidFill>
                <a:latin typeface="Liter" pitchFamily="34" charset="0"/>
                <a:ea typeface="Liter" pitchFamily="34" charset="-122"/>
                <a:cs typeface="Liter" pitchFamily="34" charset="-120"/>
              </a:rPr>
              <a:t>STEP-BY-STEP APPROACH</a:t>
            </a:r>
            <a:endParaRPr lang="en-US" sz="1600" dirty="0"/>
          </a:p>
        </p:txBody>
      </p:sp>
      <p:sp>
        <p:nvSpPr>
          <p:cNvPr id="15" name="Text 13"/>
          <p:cNvSpPr/>
          <p:nvPr/>
        </p:nvSpPr>
        <p:spPr>
          <a:xfrm>
            <a:off x="1016000" y="5435600"/>
            <a:ext cx="14224000" cy="4572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Start with entities </a:t>
            </a:r>
            <a:pPr>
              <a:lnSpc>
                <a:spcPct val="140000"/>
              </a:lnSpc>
            </a:pPr>
            <a:r>
              <a:rPr lang="en-US" sz="1400" dirty="0">
                <a:solidFill>
                  <a:srgbClr val="2D5A4C"/>
                </a:solidFill>
                <a:latin typeface="Quattrocento Sans" pitchFamily="34" charset="0"/>
                <a:ea typeface="Quattrocento Sans" pitchFamily="34" charset="-122"/>
                <a:cs typeface="Quattrocento Sans" pitchFamily="34" charset="-120"/>
              </a:rPr>
              <a:t>→</a:t>
            </a:r>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 Add attributes </a:t>
            </a:r>
            <a:pPr>
              <a:lnSpc>
                <a:spcPct val="140000"/>
              </a:lnSpc>
            </a:pPr>
            <a:r>
              <a:rPr lang="en-US" sz="1400" dirty="0">
                <a:solidFill>
                  <a:srgbClr val="2D5A4C"/>
                </a:solidFill>
                <a:latin typeface="Quattrocento Sans" pitchFamily="34" charset="0"/>
                <a:ea typeface="Quattrocento Sans" pitchFamily="34" charset="-122"/>
                <a:cs typeface="Quattrocento Sans" pitchFamily="34" charset="-120"/>
              </a:rPr>
              <a:t>→</a:t>
            </a:r>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 Mark primary keys </a:t>
            </a:r>
            <a:pPr>
              <a:lnSpc>
                <a:spcPct val="140000"/>
              </a:lnSpc>
            </a:pPr>
            <a:r>
              <a:rPr lang="en-US" sz="1400" dirty="0">
                <a:solidFill>
                  <a:srgbClr val="2D5A4C"/>
                </a:solidFill>
                <a:latin typeface="Quattrocento Sans" pitchFamily="34" charset="0"/>
                <a:ea typeface="Quattrocento Sans" pitchFamily="34" charset="-122"/>
                <a:cs typeface="Quattrocento Sans" pitchFamily="34" charset="-120"/>
              </a:rPr>
              <a:t>→</a:t>
            </a:r>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 Connect with relationships </a:t>
            </a:r>
            <a:pPr>
              <a:lnSpc>
                <a:spcPct val="140000"/>
              </a:lnSpc>
            </a:pPr>
            <a:r>
              <a:rPr lang="en-US" sz="1400" dirty="0">
                <a:solidFill>
                  <a:srgbClr val="2D5A4C"/>
                </a:solidFill>
                <a:latin typeface="Quattrocento Sans" pitchFamily="34" charset="0"/>
                <a:ea typeface="Quattrocento Sans" pitchFamily="34" charset="-122"/>
                <a:cs typeface="Quattrocento Sans" pitchFamily="34" charset="-120"/>
              </a:rPr>
              <a:t>→</a:t>
            </a:r>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 Label cardinality</a:t>
            </a:r>
            <a:endParaRPr lang="en-US" sz="1600" dirty="0"/>
          </a:p>
        </p:txBody>
      </p:sp>
      <p:sp>
        <p:nvSpPr>
          <p:cNvPr id="16" name="Shape 14"/>
          <p:cNvSpPr/>
          <p:nvPr/>
        </p:nvSpPr>
        <p:spPr>
          <a:xfrm>
            <a:off x="762000" y="6223000"/>
            <a:ext cx="14732000" cy="1016000"/>
          </a:xfrm>
          <a:prstGeom prst="roundRect">
            <a:avLst>
              <a:gd name="adj" fmla="val 6000"/>
            </a:avLst>
          </a:prstGeom>
          <a:solidFill>
            <a:srgbClr val="2D5A4C">
              <a:alpha val="8235"/>
            </a:srgbClr>
          </a:solidFill>
          <a:ln/>
        </p:spPr>
      </p:sp>
      <p:sp>
        <p:nvSpPr>
          <p:cNvPr id="17" name="Shape 15"/>
          <p:cNvSpPr/>
          <p:nvPr/>
        </p:nvSpPr>
        <p:spPr>
          <a:xfrm>
            <a:off x="996950" y="6413500"/>
            <a:ext cx="342900" cy="304800"/>
          </a:xfrm>
          <a:custGeom>
            <a:avLst/>
            <a:gdLst/>
            <a:ahLst/>
            <a:cxnLst/>
            <a:rect l="l" t="t" r="r" b="b"/>
            <a:pathLst>
              <a:path w="342900" h="304800">
                <a:moveTo>
                  <a:pt x="28575" y="116562"/>
                </a:moveTo>
                <a:lnTo>
                  <a:pt x="153114" y="167819"/>
                </a:lnTo>
                <a:cubicBezTo>
                  <a:pt x="158948" y="170200"/>
                  <a:pt x="165140" y="171450"/>
                  <a:pt x="171450" y="171450"/>
                </a:cubicBezTo>
                <a:cubicBezTo>
                  <a:pt x="177760" y="171450"/>
                  <a:pt x="183952" y="170200"/>
                  <a:pt x="189786" y="167819"/>
                </a:cubicBezTo>
                <a:lnTo>
                  <a:pt x="334089" y="108406"/>
                </a:lnTo>
                <a:cubicBezTo>
                  <a:pt x="339447" y="106204"/>
                  <a:pt x="342900" y="101025"/>
                  <a:pt x="342900" y="95250"/>
                </a:cubicBezTo>
                <a:cubicBezTo>
                  <a:pt x="342900" y="89475"/>
                  <a:pt x="339447" y="84296"/>
                  <a:pt x="334089" y="82094"/>
                </a:cubicBezTo>
                <a:lnTo>
                  <a:pt x="189786" y="22681"/>
                </a:lnTo>
                <a:cubicBezTo>
                  <a:pt x="183952" y="20300"/>
                  <a:pt x="177760" y="19050"/>
                  <a:pt x="171450" y="19050"/>
                </a:cubicBezTo>
                <a:cubicBezTo>
                  <a:pt x="165140" y="19050"/>
                  <a:pt x="158948" y="20300"/>
                  <a:pt x="153114" y="22681"/>
                </a:cubicBezTo>
                <a:lnTo>
                  <a:pt x="8811" y="82094"/>
                </a:lnTo>
                <a:cubicBezTo>
                  <a:pt x="3453" y="84296"/>
                  <a:pt x="0" y="89475"/>
                  <a:pt x="0" y="95250"/>
                </a:cubicBezTo>
                <a:lnTo>
                  <a:pt x="0" y="271463"/>
                </a:lnTo>
                <a:cubicBezTo>
                  <a:pt x="0" y="279380"/>
                  <a:pt x="6370" y="285750"/>
                  <a:pt x="14288" y="285750"/>
                </a:cubicBezTo>
                <a:cubicBezTo>
                  <a:pt x="22205" y="285750"/>
                  <a:pt x="28575" y="279380"/>
                  <a:pt x="28575" y="271463"/>
                </a:cubicBezTo>
                <a:lnTo>
                  <a:pt x="28575" y="116562"/>
                </a:lnTo>
                <a:close/>
                <a:moveTo>
                  <a:pt x="57150" y="159246"/>
                </a:moveTo>
                <a:lnTo>
                  <a:pt x="57150" y="228600"/>
                </a:lnTo>
                <a:cubicBezTo>
                  <a:pt x="57150" y="260152"/>
                  <a:pt x="108347" y="285750"/>
                  <a:pt x="171450" y="285750"/>
                </a:cubicBezTo>
                <a:cubicBezTo>
                  <a:pt x="234553" y="285750"/>
                  <a:pt x="285750" y="260152"/>
                  <a:pt x="285750" y="228600"/>
                </a:cubicBezTo>
                <a:lnTo>
                  <a:pt x="285750" y="159187"/>
                </a:lnTo>
                <a:lnTo>
                  <a:pt x="200680" y="194250"/>
                </a:lnTo>
                <a:cubicBezTo>
                  <a:pt x="191393" y="198060"/>
                  <a:pt x="181511" y="200025"/>
                  <a:pt x="171450" y="200025"/>
                </a:cubicBezTo>
                <a:cubicBezTo>
                  <a:pt x="161389" y="200025"/>
                  <a:pt x="151507" y="198060"/>
                  <a:pt x="142220" y="194250"/>
                </a:cubicBezTo>
                <a:lnTo>
                  <a:pt x="57150" y="159187"/>
                </a:lnTo>
                <a:close/>
              </a:path>
            </a:pathLst>
          </a:custGeom>
          <a:solidFill>
            <a:srgbClr val="2D5A4C"/>
          </a:solidFill>
          <a:ln/>
        </p:spPr>
      </p:sp>
      <p:sp>
        <p:nvSpPr>
          <p:cNvPr id="18" name="Text 16"/>
          <p:cNvSpPr/>
          <p:nvPr/>
        </p:nvSpPr>
        <p:spPr>
          <a:xfrm>
            <a:off x="1422400" y="6324600"/>
            <a:ext cx="3810000" cy="304800"/>
          </a:xfrm>
          <a:prstGeom prst="rect">
            <a:avLst/>
          </a:prstGeom>
          <a:noFill/>
          <a:ln/>
        </p:spPr>
        <p:txBody>
          <a:bodyPr wrap="none" lIns="0" tIns="0" rIns="0" bIns="0" rtlCol="0" anchor="ctr"/>
          <a:lstStyle/>
          <a:p>
            <a:pPr>
              <a:lnSpc>
                <a:spcPct val="100000"/>
              </a:lnSpc>
            </a:pPr>
            <a:r>
              <a:rPr lang="en-US" sz="1400" b="1" dirty="0">
                <a:solidFill>
                  <a:srgbClr val="2D5A4C"/>
                </a:solidFill>
                <a:latin typeface="Liter" pitchFamily="34" charset="0"/>
                <a:ea typeface="Liter" pitchFamily="34" charset="-122"/>
                <a:cs typeface="Liter" pitchFamily="34" charset="-120"/>
              </a:rPr>
              <a:t>EXPECTED UNDERSTANDING</a:t>
            </a:r>
            <a:endParaRPr lang="en-US" sz="1600" dirty="0"/>
          </a:p>
        </p:txBody>
      </p:sp>
      <p:sp>
        <p:nvSpPr>
          <p:cNvPr id="19" name="Text 17"/>
          <p:cNvSpPr/>
          <p:nvPr/>
        </p:nvSpPr>
        <p:spPr>
          <a:xfrm>
            <a:off x="1016000" y="6705600"/>
            <a:ext cx="14224000" cy="406400"/>
          </a:xfrm>
          <a:prstGeom prst="rect">
            <a:avLst/>
          </a:prstGeom>
          <a:noFill/>
          <a:ln/>
        </p:spPr>
        <p:txBody>
          <a:bodyPr wrap="square" lIns="0" tIns="0" rIns="0" bIns="0" rtlCol="0" anchor="t"/>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Students should demonstrate understanding of all ER notation: entities, attributes, keys, relationships, and cardinality.</a:t>
            </a:r>
            <a:endParaRPr lang="en-US" sz="1600" dirty="0"/>
          </a:p>
        </p:txBody>
      </p:sp>
      <p:sp>
        <p:nvSpPr>
          <p:cNvPr id="20" name="Text 18"/>
          <p:cNvSpPr/>
          <p:nvPr/>
        </p:nvSpPr>
        <p:spPr>
          <a:xfrm>
            <a:off x="762000" y="7556500"/>
            <a:ext cx="14732000" cy="444500"/>
          </a:xfrm>
          <a:prstGeom prst="rect">
            <a:avLst/>
          </a:prstGeom>
          <a:noFill/>
          <a:ln/>
        </p:spPr>
        <p:txBody>
          <a:bodyPr wrap="square" lIns="0" tIns="0" rIns="0" bIns="0" rtlCol="0" anchor="ctr"/>
          <a:lstStyle/>
          <a:p>
            <a:pPr algn="ctr">
              <a:lnSpc>
                <a:spcPct val="100000"/>
              </a:lnSpc>
            </a:pPr>
            <a:r>
              <a:rPr lang="en-US" sz="1800" b="1" dirty="0">
                <a:solidFill>
                  <a:srgbClr val="2D5A4C"/>
                </a:solidFill>
                <a:latin typeface="Liter" pitchFamily="34" charset="0"/>
                <a:ea typeface="Liter" pitchFamily="34" charset="-122"/>
                <a:cs typeface="Liter" pitchFamily="34" charset="-120"/>
              </a:rPr>
              <a:t>Don't worry about perfection — the goal is to practice thinking in ER terms!</a:t>
            </a:r>
            <a:endParaRPr lang="en-US" sz="1600" dirty="0"/>
          </a:p>
        </p:txBody>
      </p:sp>
      <p:sp>
        <p:nvSpPr>
          <p:cNvPr id="21" name="Text 19"/>
          <p:cNvSpPr/>
          <p:nvPr/>
        </p:nvSpPr>
        <p:spPr>
          <a:xfrm>
            <a:off x="13462000" y="8788400"/>
            <a:ext cx="2286000" cy="254000"/>
          </a:xfrm>
          <a:prstGeom prst="rect">
            <a:avLst/>
          </a:prstGeom>
          <a:noFill/>
          <a:ln/>
        </p:spPr>
        <p:txBody>
          <a:bodyPr wrap="none" lIns="0" tIns="0" rIns="0" bIns="0" rtlCol="0" anchor="ctr"/>
          <a:lstStyle/>
          <a:p>
            <a:pPr algn="r">
              <a:lnSpc>
                <a:spcPct val="140000"/>
              </a:lnSpc>
            </a:pPr>
            <a:r>
              <a:rPr lang="en-US" sz="1400" dirty="0">
                <a:solidFill>
                  <a:srgbClr val="8B7355"/>
                </a:solidFill>
                <a:latin typeface="QuattrocentoSans" pitchFamily="34" charset="0"/>
                <a:ea typeface="QuattrocentoSans" pitchFamily="34" charset="-122"/>
                <a:cs typeface="QuattrocentoSans" pitchFamily="34" charset="-120"/>
              </a:rPr>
              <a:t>Practice / Recap</a:t>
            </a:r>
            <a:endParaRPr lang="en-US" sz="1400" dirty="0"/>
          </a:p>
        </p:txBody>
      </p:sp>
    </p:spTree>
  </p:cSld>
  <p:clrMapOvr>
    <a:masterClrMapping/>
  </p:clrMapOvr>
  <p:transition>
    <p:fade/>
    <p:spd val="med"/>
  </p:transition>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https://kimi-img.moonshot.cn/pub/slides/okc/iw55rugbchvnc/mnt/agents/output/db-intro/images/6_Digital_Network_and_Data_Management.png">    </p:cNvPr>
          <p:cNvPicPr>
            <a:picLocks noChangeAspect="1"/>
          </p:cNvPicPr>
          <p:nvPr/>
        </p:nvPicPr>
        <p:blipFill>
          <a:blip r:embed="rId1"/>
          <a:srcRect l="4152" r="4152" t="0" b="0"/>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2D5A4C">
                  <a:alpha val="20000"/>
                </a:srgbClr>
              </a:gs>
              <a:gs pos="30000">
                <a:srgbClr val="2D5A4C">
                  <a:alpha val="80000"/>
                </a:srgbClr>
              </a:gs>
              <a:gs pos="100000">
                <a:srgbClr val="2D5A4C">
                  <a:alpha val="95000"/>
                </a:srgbClr>
              </a:gs>
            </a:gsLst>
            <a:lin ang="5400000" scaled="1"/>
          </a:gradFill>
          <a:ln w="12700">
            <a:solidFill>
              <a:srgbClr val="333333"/>
            </a:solidFill>
            <a:prstDash val="solid"/>
          </a:ln>
        </p:spPr>
      </p:sp>
      <p:sp>
        <p:nvSpPr>
          <p:cNvPr id="4" name="Shape 1"/>
          <p:cNvSpPr/>
          <p:nvPr/>
        </p:nvSpPr>
        <p:spPr>
          <a:xfrm>
            <a:off x="0" y="0"/>
            <a:ext cx="16256000" cy="50800"/>
          </a:xfrm>
          <a:prstGeom prst="rect">
            <a:avLst/>
          </a:prstGeom>
          <a:solidFill>
            <a:srgbClr val="D4943A"/>
          </a:solidFill>
          <a:ln/>
        </p:spPr>
      </p:sp>
      <p:sp>
        <p:nvSpPr>
          <p:cNvPr id="5" name="Text 2"/>
          <p:cNvSpPr/>
          <p:nvPr/>
        </p:nvSpPr>
        <p:spPr>
          <a:xfrm>
            <a:off x="1778000" y="762000"/>
            <a:ext cx="12700000" cy="635000"/>
          </a:xfrm>
          <a:prstGeom prst="rect">
            <a:avLst/>
          </a:prstGeom>
          <a:noFill/>
          <a:ln/>
        </p:spPr>
        <p:txBody>
          <a:bodyPr wrap="none" lIns="0" tIns="0" rIns="0" bIns="0" rtlCol="0" anchor="ctr"/>
          <a:lstStyle/>
          <a:p>
            <a:pPr algn="ctr">
              <a:lnSpc>
                <a:spcPct val="100000"/>
              </a:lnSpc>
            </a:pPr>
            <a:r>
              <a:rPr lang="en-US" sz="3600" b="1" dirty="0">
                <a:solidFill>
                  <a:srgbClr val="FFFFFF"/>
                </a:solidFill>
                <a:latin typeface="Liter" pitchFamily="34" charset="0"/>
                <a:ea typeface="Liter" pitchFamily="34" charset="-122"/>
                <a:cs typeface="Liter" pitchFamily="34" charset="-120"/>
              </a:rPr>
              <a:t>Key Takeaways — What You Learned</a:t>
            </a:r>
            <a:endParaRPr lang="en-US" sz="1600" dirty="0"/>
          </a:p>
        </p:txBody>
      </p:sp>
      <p:sp>
        <p:nvSpPr>
          <p:cNvPr id="6" name="Shape 3"/>
          <p:cNvSpPr/>
          <p:nvPr/>
        </p:nvSpPr>
        <p:spPr>
          <a:xfrm>
            <a:off x="6858000" y="1524000"/>
            <a:ext cx="2540000" cy="38100"/>
          </a:xfrm>
          <a:prstGeom prst="rect">
            <a:avLst/>
          </a:prstGeom>
          <a:solidFill>
            <a:srgbClr val="D4943A"/>
          </a:solidFill>
          <a:ln/>
        </p:spPr>
      </p:sp>
      <p:sp>
        <p:nvSpPr>
          <p:cNvPr id="7" name="Shape 4"/>
          <p:cNvSpPr/>
          <p:nvPr/>
        </p:nvSpPr>
        <p:spPr>
          <a:xfrm>
            <a:off x="1543050" y="1905000"/>
            <a:ext cx="266700" cy="304800"/>
          </a:xfrm>
          <a:custGeom>
            <a:avLst/>
            <a:gdLst/>
            <a:ahLst/>
            <a:cxnLst/>
            <a:rect l="l" t="t" r="r" b="b"/>
            <a:pathLst>
              <a:path w="266700" h="304800">
                <a:moveTo>
                  <a:pt x="266700" y="122515"/>
                </a:moveTo>
                <a:cubicBezTo>
                  <a:pt x="257889" y="128349"/>
                  <a:pt x="247769" y="133052"/>
                  <a:pt x="237232" y="136803"/>
                </a:cubicBezTo>
                <a:cubicBezTo>
                  <a:pt x="209252" y="146804"/>
                  <a:pt x="172522" y="152400"/>
                  <a:pt x="133350" y="152400"/>
                </a:cubicBezTo>
                <a:cubicBezTo>
                  <a:pt x="94178" y="152400"/>
                  <a:pt x="57388" y="146745"/>
                  <a:pt x="29468" y="136803"/>
                </a:cubicBezTo>
                <a:cubicBezTo>
                  <a:pt x="18990" y="133052"/>
                  <a:pt x="8811" y="128349"/>
                  <a:pt x="0" y="122515"/>
                </a:cubicBezTo>
                <a:lnTo>
                  <a:pt x="0" y="171450"/>
                </a:lnTo>
                <a:cubicBezTo>
                  <a:pt x="0" y="197763"/>
                  <a:pt x="59710" y="219075"/>
                  <a:pt x="133350" y="219075"/>
                </a:cubicBezTo>
                <a:cubicBezTo>
                  <a:pt x="206990" y="219075"/>
                  <a:pt x="266700" y="197763"/>
                  <a:pt x="266700" y="171450"/>
                </a:cubicBezTo>
                <a:lnTo>
                  <a:pt x="266700" y="122515"/>
                </a:lnTo>
                <a:close/>
                <a:moveTo>
                  <a:pt x="266700" y="76200"/>
                </a:moveTo>
                <a:lnTo>
                  <a:pt x="266700" y="47625"/>
                </a:lnTo>
                <a:cubicBezTo>
                  <a:pt x="266700" y="21312"/>
                  <a:pt x="206990" y="0"/>
                  <a:pt x="133350" y="0"/>
                </a:cubicBezTo>
                <a:cubicBezTo>
                  <a:pt x="59710" y="0"/>
                  <a:pt x="0" y="21312"/>
                  <a:pt x="0" y="47625"/>
                </a:cubicBezTo>
                <a:lnTo>
                  <a:pt x="0" y="76200"/>
                </a:lnTo>
                <a:cubicBezTo>
                  <a:pt x="0" y="102513"/>
                  <a:pt x="59710" y="123825"/>
                  <a:pt x="133350" y="123825"/>
                </a:cubicBezTo>
                <a:cubicBezTo>
                  <a:pt x="206990" y="123825"/>
                  <a:pt x="266700" y="102513"/>
                  <a:pt x="266700" y="76200"/>
                </a:cubicBezTo>
                <a:close/>
                <a:moveTo>
                  <a:pt x="237232" y="232053"/>
                </a:moveTo>
                <a:cubicBezTo>
                  <a:pt x="209312" y="241995"/>
                  <a:pt x="172581" y="247650"/>
                  <a:pt x="133350" y="247650"/>
                </a:cubicBezTo>
                <a:cubicBezTo>
                  <a:pt x="94119" y="247650"/>
                  <a:pt x="57388" y="241995"/>
                  <a:pt x="29468" y="232053"/>
                </a:cubicBezTo>
                <a:cubicBezTo>
                  <a:pt x="18990" y="228302"/>
                  <a:pt x="8811" y="223599"/>
                  <a:pt x="0" y="217765"/>
                </a:cubicBezTo>
                <a:lnTo>
                  <a:pt x="0" y="257175"/>
                </a:lnTo>
                <a:cubicBezTo>
                  <a:pt x="0" y="283488"/>
                  <a:pt x="59710" y="304800"/>
                  <a:pt x="133350" y="304800"/>
                </a:cubicBezTo>
                <a:cubicBezTo>
                  <a:pt x="206990" y="304800"/>
                  <a:pt x="266700" y="283488"/>
                  <a:pt x="266700" y="257175"/>
                </a:cubicBezTo>
                <a:lnTo>
                  <a:pt x="266700" y="217765"/>
                </a:lnTo>
                <a:cubicBezTo>
                  <a:pt x="257889" y="223599"/>
                  <a:pt x="247769" y="228302"/>
                  <a:pt x="237232" y="232053"/>
                </a:cubicBezTo>
                <a:close/>
              </a:path>
            </a:pathLst>
          </a:custGeom>
          <a:solidFill>
            <a:srgbClr val="D4943A"/>
          </a:solidFill>
          <a:ln/>
        </p:spPr>
      </p:sp>
      <p:sp>
        <p:nvSpPr>
          <p:cNvPr id="8" name="Text 5"/>
          <p:cNvSpPr/>
          <p:nvPr/>
        </p:nvSpPr>
        <p:spPr>
          <a:xfrm>
            <a:off x="1968500" y="1841500"/>
            <a:ext cx="13335000" cy="698500"/>
          </a:xfrm>
          <a:prstGeom prst="rect">
            <a:avLst/>
          </a:prstGeom>
          <a:noFill/>
          <a:ln/>
        </p:spPr>
        <p:txBody>
          <a:bodyPr wrap="square" lIns="0" tIns="0" rIns="0" bIns="0" rtlCol="0" anchor="t"/>
          <a:lstStyle/>
          <a:p>
            <a:pPr>
              <a:lnSpc>
                <a:spcPct val="140000"/>
              </a:lnSpc>
            </a:pPr>
            <a:r>
              <a:rPr lang="en-US" sz="1600" b="1" dirty="0">
                <a:solidFill>
                  <a:srgbClr val="FFFFFF"/>
                </a:solidFill>
                <a:latin typeface="Quattrocento Sans" pitchFamily="34" charset="0"/>
                <a:ea typeface="Quattrocento Sans" pitchFamily="34" charset="-122"/>
                <a:cs typeface="Quattrocento Sans" pitchFamily="34" charset="-120"/>
              </a:rPr>
              <a:t>A database</a:t>
            </a:r>
            <a:pPr>
              <a:lnSpc>
                <a:spcPct val="14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is an organized collection of data that eliminates redundancy and ensures consistency</a:t>
            </a:r>
            <a:endParaRPr lang="en-US" sz="1600" dirty="0"/>
          </a:p>
        </p:txBody>
      </p:sp>
      <p:sp>
        <p:nvSpPr>
          <p:cNvPr id="9" name="Shape 6"/>
          <p:cNvSpPr/>
          <p:nvPr/>
        </p:nvSpPr>
        <p:spPr>
          <a:xfrm>
            <a:off x="1504950" y="2667000"/>
            <a:ext cx="342900" cy="304800"/>
          </a:xfrm>
          <a:custGeom>
            <a:avLst/>
            <a:gdLst/>
            <a:ahLst/>
            <a:cxnLst/>
            <a:rect l="l" t="t" r="r" b="b"/>
            <a:pathLst>
              <a:path w="342900" h="304800">
                <a:moveTo>
                  <a:pt x="33338" y="134303"/>
                </a:moveTo>
                <a:lnTo>
                  <a:pt x="19288" y="176332"/>
                </a:lnTo>
                <a:lnTo>
                  <a:pt x="19288" y="57150"/>
                </a:lnTo>
                <a:cubicBezTo>
                  <a:pt x="19288" y="36135"/>
                  <a:pt x="36374" y="19050"/>
                  <a:pt x="57388" y="19050"/>
                </a:cubicBezTo>
                <a:lnTo>
                  <a:pt x="139958" y="19050"/>
                </a:lnTo>
                <a:cubicBezTo>
                  <a:pt x="148173" y="19050"/>
                  <a:pt x="156210" y="21729"/>
                  <a:pt x="162818" y="26670"/>
                </a:cubicBezTo>
                <a:lnTo>
                  <a:pt x="185678" y="43815"/>
                </a:lnTo>
                <a:cubicBezTo>
                  <a:pt x="188952" y="46315"/>
                  <a:pt x="193000" y="47625"/>
                  <a:pt x="197108" y="47625"/>
                </a:cubicBezTo>
                <a:lnTo>
                  <a:pt x="266938" y="47625"/>
                </a:lnTo>
                <a:cubicBezTo>
                  <a:pt x="287953" y="47625"/>
                  <a:pt x="305038" y="64710"/>
                  <a:pt x="305038" y="85725"/>
                </a:cubicBezTo>
                <a:lnTo>
                  <a:pt x="305038" y="95250"/>
                </a:lnTo>
                <a:lnTo>
                  <a:pt x="87511" y="95250"/>
                </a:lnTo>
                <a:cubicBezTo>
                  <a:pt x="62925" y="95250"/>
                  <a:pt x="41077" y="110966"/>
                  <a:pt x="33278" y="134303"/>
                </a:cubicBezTo>
                <a:close/>
                <a:moveTo>
                  <a:pt x="284440" y="266700"/>
                </a:moveTo>
                <a:lnTo>
                  <a:pt x="58936" y="266700"/>
                </a:lnTo>
                <a:cubicBezTo>
                  <a:pt x="39410" y="266700"/>
                  <a:pt x="25658" y="247590"/>
                  <a:pt x="31849" y="229076"/>
                </a:cubicBezTo>
                <a:lnTo>
                  <a:pt x="60424" y="143351"/>
                </a:lnTo>
                <a:cubicBezTo>
                  <a:pt x="64294" y="131683"/>
                  <a:pt x="75248" y="123825"/>
                  <a:pt x="87511" y="123825"/>
                </a:cubicBezTo>
                <a:lnTo>
                  <a:pt x="313015" y="123825"/>
                </a:lnTo>
                <a:cubicBezTo>
                  <a:pt x="332542" y="123825"/>
                  <a:pt x="346293" y="142935"/>
                  <a:pt x="340102" y="161449"/>
                </a:cubicBezTo>
                <a:lnTo>
                  <a:pt x="311527" y="247174"/>
                </a:lnTo>
                <a:cubicBezTo>
                  <a:pt x="307658" y="258842"/>
                  <a:pt x="296704" y="266700"/>
                  <a:pt x="284440" y="266700"/>
                </a:cubicBezTo>
                <a:close/>
              </a:path>
            </a:pathLst>
          </a:custGeom>
          <a:solidFill>
            <a:srgbClr val="D4943A"/>
          </a:solidFill>
          <a:ln/>
        </p:spPr>
      </p:sp>
      <p:sp>
        <p:nvSpPr>
          <p:cNvPr id="10" name="Text 7"/>
          <p:cNvSpPr/>
          <p:nvPr/>
        </p:nvSpPr>
        <p:spPr>
          <a:xfrm>
            <a:off x="1968500" y="2641600"/>
            <a:ext cx="13335000" cy="508000"/>
          </a:xfrm>
          <a:prstGeom prst="rect">
            <a:avLst/>
          </a:prstGeom>
          <a:noFill/>
          <a:ln/>
        </p:spPr>
        <p:txBody>
          <a:bodyPr wrap="square" lIns="0" tIns="0" rIns="0" bIns="0" rtlCol="0" anchor="t"/>
          <a:lstStyle/>
          <a:p>
            <a:pPr>
              <a:lnSpc>
                <a:spcPct val="140000"/>
              </a:lnSpc>
            </a:pPr>
            <a:r>
              <a:rPr lang="en-US" sz="1600" b="1" dirty="0">
                <a:solidFill>
                  <a:srgbClr val="FFFFFF"/>
                </a:solidFill>
                <a:latin typeface="Quattrocento Sans" pitchFamily="34" charset="0"/>
                <a:ea typeface="Quattrocento Sans" pitchFamily="34" charset="-122"/>
                <a:cs typeface="Quattrocento Sans" pitchFamily="34" charset="-120"/>
              </a:rPr>
              <a:t>Database systems</a:t>
            </a:r>
            <a:pPr>
              <a:lnSpc>
                <a:spcPct val="14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solve file system problems: redundancy, inconsistency, and search difficulties</a:t>
            </a:r>
            <a:endParaRPr lang="en-US" sz="1600" dirty="0"/>
          </a:p>
        </p:txBody>
      </p:sp>
      <p:sp>
        <p:nvSpPr>
          <p:cNvPr id="11" name="Shape 8"/>
          <p:cNvSpPr/>
          <p:nvPr/>
        </p:nvSpPr>
        <p:spPr>
          <a:xfrm>
            <a:off x="1524000" y="3302000"/>
            <a:ext cx="304800" cy="304800"/>
          </a:xfrm>
          <a:custGeom>
            <a:avLst/>
            <a:gdLst/>
            <a:ahLst/>
            <a:cxnLst/>
            <a:rect l="l" t="t" r="r" b="b"/>
            <a:pathLst>
              <a:path w="304800" h="304800">
                <a:moveTo>
                  <a:pt x="59115" y="152460"/>
                </a:moveTo>
                <a:lnTo>
                  <a:pt x="100429" y="81082"/>
                </a:lnTo>
                <a:cubicBezTo>
                  <a:pt x="97095" y="73819"/>
                  <a:pt x="95190" y="65723"/>
                  <a:pt x="95190" y="57150"/>
                </a:cubicBezTo>
                <a:cubicBezTo>
                  <a:pt x="95190" y="25598"/>
                  <a:pt x="120789" y="0"/>
                  <a:pt x="152340" y="0"/>
                </a:cubicBezTo>
                <a:cubicBezTo>
                  <a:pt x="183892" y="0"/>
                  <a:pt x="209490" y="25598"/>
                  <a:pt x="209490" y="57150"/>
                </a:cubicBezTo>
                <a:cubicBezTo>
                  <a:pt x="209490" y="65663"/>
                  <a:pt x="207645" y="73759"/>
                  <a:pt x="204252" y="81082"/>
                </a:cubicBezTo>
                <a:lnTo>
                  <a:pt x="230684" y="126742"/>
                </a:lnTo>
                <a:cubicBezTo>
                  <a:pt x="216932" y="142220"/>
                  <a:pt x="198715" y="153591"/>
                  <a:pt x="178058" y="158770"/>
                </a:cubicBezTo>
                <a:lnTo>
                  <a:pt x="152400" y="114240"/>
                </a:lnTo>
                <a:lnTo>
                  <a:pt x="111859" y="184249"/>
                </a:lnTo>
                <a:cubicBezTo>
                  <a:pt x="124658" y="188297"/>
                  <a:pt x="138232" y="190500"/>
                  <a:pt x="152400" y="190500"/>
                </a:cubicBezTo>
                <a:cubicBezTo>
                  <a:pt x="194489" y="190500"/>
                  <a:pt x="232053" y="171033"/>
                  <a:pt x="256520" y="140494"/>
                </a:cubicBezTo>
                <a:cubicBezTo>
                  <a:pt x="263128" y="132278"/>
                  <a:pt x="275094" y="130969"/>
                  <a:pt x="283309" y="137517"/>
                </a:cubicBezTo>
                <a:cubicBezTo>
                  <a:pt x="291525" y="144066"/>
                  <a:pt x="292834" y="156091"/>
                  <a:pt x="286286" y="164306"/>
                </a:cubicBezTo>
                <a:cubicBezTo>
                  <a:pt x="254913" y="203478"/>
                  <a:pt x="206573" y="228600"/>
                  <a:pt x="152460" y="228600"/>
                </a:cubicBezTo>
                <a:cubicBezTo>
                  <a:pt x="131385" y="228600"/>
                  <a:pt x="111145" y="224790"/>
                  <a:pt x="92512" y="217825"/>
                </a:cubicBezTo>
                <a:lnTo>
                  <a:pt x="58757" y="276046"/>
                </a:lnTo>
                <a:cubicBezTo>
                  <a:pt x="55959" y="280868"/>
                  <a:pt x="51792" y="284797"/>
                  <a:pt x="46792" y="287298"/>
                </a:cubicBezTo>
                <a:lnTo>
                  <a:pt x="13811" y="303788"/>
                </a:lnTo>
                <a:cubicBezTo>
                  <a:pt x="10835" y="305276"/>
                  <a:pt x="7322" y="305098"/>
                  <a:pt x="4524" y="303371"/>
                </a:cubicBezTo>
                <a:cubicBezTo>
                  <a:pt x="1726" y="301645"/>
                  <a:pt x="0" y="298549"/>
                  <a:pt x="0" y="295275"/>
                </a:cubicBezTo>
                <a:lnTo>
                  <a:pt x="0" y="262295"/>
                </a:lnTo>
                <a:cubicBezTo>
                  <a:pt x="0" y="257294"/>
                  <a:pt x="1310" y="252353"/>
                  <a:pt x="3870" y="247948"/>
                </a:cubicBezTo>
                <a:lnTo>
                  <a:pt x="39588" y="186214"/>
                </a:lnTo>
                <a:cubicBezTo>
                  <a:pt x="31968" y="179546"/>
                  <a:pt x="24944" y="172224"/>
                  <a:pt x="18574" y="164306"/>
                </a:cubicBezTo>
                <a:cubicBezTo>
                  <a:pt x="11966" y="156091"/>
                  <a:pt x="13335" y="144125"/>
                  <a:pt x="21550" y="137517"/>
                </a:cubicBezTo>
                <a:cubicBezTo>
                  <a:pt x="29766" y="130909"/>
                  <a:pt x="41731" y="132278"/>
                  <a:pt x="48339" y="140494"/>
                </a:cubicBezTo>
                <a:cubicBezTo>
                  <a:pt x="51733" y="144720"/>
                  <a:pt x="55364" y="148709"/>
                  <a:pt x="59174" y="152460"/>
                </a:cubicBezTo>
                <a:close/>
                <a:moveTo>
                  <a:pt x="226874" y="242828"/>
                </a:moveTo>
                <a:cubicBezTo>
                  <a:pt x="246221" y="235089"/>
                  <a:pt x="264021" y="224373"/>
                  <a:pt x="279797" y="211336"/>
                </a:cubicBezTo>
                <a:lnTo>
                  <a:pt x="300990" y="247948"/>
                </a:lnTo>
                <a:cubicBezTo>
                  <a:pt x="303490" y="252293"/>
                  <a:pt x="304860" y="257235"/>
                  <a:pt x="304860" y="262295"/>
                </a:cubicBezTo>
                <a:lnTo>
                  <a:pt x="304860" y="295275"/>
                </a:lnTo>
                <a:cubicBezTo>
                  <a:pt x="304860" y="298549"/>
                  <a:pt x="303133" y="301645"/>
                  <a:pt x="300335" y="303371"/>
                </a:cubicBezTo>
                <a:cubicBezTo>
                  <a:pt x="297537" y="305098"/>
                  <a:pt x="294025" y="305276"/>
                  <a:pt x="291048" y="303788"/>
                </a:cubicBezTo>
                <a:lnTo>
                  <a:pt x="258068" y="287298"/>
                </a:lnTo>
                <a:cubicBezTo>
                  <a:pt x="253067" y="284798"/>
                  <a:pt x="248900" y="280868"/>
                  <a:pt x="246102" y="276046"/>
                </a:cubicBezTo>
                <a:lnTo>
                  <a:pt x="226874" y="242828"/>
                </a:lnTo>
                <a:close/>
                <a:moveTo>
                  <a:pt x="152400" y="76200"/>
                </a:moveTo>
                <a:cubicBezTo>
                  <a:pt x="162914" y="76200"/>
                  <a:pt x="171450" y="67664"/>
                  <a:pt x="171450" y="57150"/>
                </a:cubicBezTo>
                <a:cubicBezTo>
                  <a:pt x="171450" y="46636"/>
                  <a:pt x="162914" y="38100"/>
                  <a:pt x="152400" y="38100"/>
                </a:cubicBezTo>
                <a:cubicBezTo>
                  <a:pt x="141886" y="38100"/>
                  <a:pt x="133350" y="46636"/>
                  <a:pt x="133350" y="57150"/>
                </a:cubicBezTo>
                <a:cubicBezTo>
                  <a:pt x="133350" y="67664"/>
                  <a:pt x="141886" y="76200"/>
                  <a:pt x="152400" y="76200"/>
                </a:cubicBezTo>
                <a:close/>
              </a:path>
            </a:pathLst>
          </a:custGeom>
          <a:solidFill>
            <a:srgbClr val="D4943A"/>
          </a:solidFill>
          <a:ln/>
        </p:spPr>
      </p:sp>
      <p:sp>
        <p:nvSpPr>
          <p:cNvPr id="12" name="Text 9"/>
          <p:cNvSpPr/>
          <p:nvPr/>
        </p:nvSpPr>
        <p:spPr>
          <a:xfrm>
            <a:off x="1968500" y="3276600"/>
            <a:ext cx="13335000" cy="508000"/>
          </a:xfrm>
          <a:prstGeom prst="rect">
            <a:avLst/>
          </a:prstGeom>
          <a:noFill/>
          <a:ln/>
        </p:spPr>
        <p:txBody>
          <a:bodyPr wrap="square" lIns="0" tIns="0" rIns="0" bIns="0" rtlCol="0" anchor="t"/>
          <a:lstStyle/>
          <a:p>
            <a:pPr>
              <a:lnSpc>
                <a:spcPct val="140000"/>
              </a:lnSpc>
            </a:pPr>
            <a:r>
              <a:rPr lang="en-US" sz="1600" b="1" dirty="0">
                <a:solidFill>
                  <a:srgbClr val="FFFFFF"/>
                </a:solidFill>
                <a:latin typeface="Quattrocento Sans" pitchFamily="34" charset="0"/>
                <a:ea typeface="Quattrocento Sans" pitchFamily="34" charset="-122"/>
                <a:cs typeface="Quattrocento Sans" pitchFamily="34" charset="-120"/>
              </a:rPr>
              <a:t>Conceptual data modeling</a:t>
            </a:r>
            <a:pPr>
              <a:lnSpc>
                <a:spcPct val="14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is planning your database before building it, like an architect's blueprint</a:t>
            </a:r>
            <a:endParaRPr lang="en-US" sz="1600" dirty="0"/>
          </a:p>
        </p:txBody>
      </p:sp>
      <p:sp>
        <p:nvSpPr>
          <p:cNvPr id="13" name="Shape 10"/>
          <p:cNvSpPr/>
          <p:nvPr/>
        </p:nvSpPr>
        <p:spPr>
          <a:xfrm>
            <a:off x="1524000" y="3937000"/>
            <a:ext cx="304800" cy="304800"/>
          </a:xfrm>
          <a:custGeom>
            <a:avLst/>
            <a:gdLst/>
            <a:ahLst/>
            <a:cxnLst/>
            <a:rect l="l" t="t" r="r" b="b"/>
            <a:pathLst>
              <a:path w="304800" h="304800">
                <a:moveTo>
                  <a:pt x="152400" y="0"/>
                </a:moveTo>
                <a:cubicBezTo>
                  <a:pt x="159068" y="0"/>
                  <a:pt x="165318" y="3512"/>
                  <a:pt x="168712" y="9227"/>
                </a:cubicBezTo>
                <a:lnTo>
                  <a:pt x="225862" y="104477"/>
                </a:lnTo>
                <a:cubicBezTo>
                  <a:pt x="229374" y="110371"/>
                  <a:pt x="229493" y="117693"/>
                  <a:pt x="226100" y="123646"/>
                </a:cubicBezTo>
                <a:cubicBezTo>
                  <a:pt x="222706" y="129600"/>
                  <a:pt x="216396" y="133350"/>
                  <a:pt x="209550" y="133350"/>
                </a:cubicBezTo>
                <a:lnTo>
                  <a:pt x="95250" y="133350"/>
                </a:lnTo>
                <a:cubicBezTo>
                  <a:pt x="88404" y="133350"/>
                  <a:pt x="82034" y="129659"/>
                  <a:pt x="78700" y="123706"/>
                </a:cubicBezTo>
                <a:cubicBezTo>
                  <a:pt x="75367" y="117753"/>
                  <a:pt x="75426" y="110430"/>
                  <a:pt x="78938" y="104537"/>
                </a:cubicBezTo>
                <a:lnTo>
                  <a:pt x="136088" y="9287"/>
                </a:lnTo>
                <a:cubicBezTo>
                  <a:pt x="139482" y="3512"/>
                  <a:pt x="145733" y="0"/>
                  <a:pt x="152400" y="0"/>
                </a:cubicBezTo>
                <a:close/>
                <a:moveTo>
                  <a:pt x="76200" y="161925"/>
                </a:moveTo>
                <a:cubicBezTo>
                  <a:pt x="112999" y="161925"/>
                  <a:pt x="142875" y="191801"/>
                  <a:pt x="142875" y="228600"/>
                </a:cubicBezTo>
                <a:cubicBezTo>
                  <a:pt x="142875" y="265399"/>
                  <a:pt x="112999" y="295275"/>
                  <a:pt x="76200" y="295275"/>
                </a:cubicBezTo>
                <a:cubicBezTo>
                  <a:pt x="39401" y="295275"/>
                  <a:pt x="9525" y="265399"/>
                  <a:pt x="9525" y="228600"/>
                </a:cubicBezTo>
                <a:cubicBezTo>
                  <a:pt x="9525" y="191801"/>
                  <a:pt x="39401" y="161925"/>
                  <a:pt x="76200" y="161925"/>
                </a:cubicBezTo>
                <a:close/>
                <a:moveTo>
                  <a:pt x="195263" y="171450"/>
                </a:moveTo>
                <a:lnTo>
                  <a:pt x="261937" y="171450"/>
                </a:lnTo>
                <a:cubicBezTo>
                  <a:pt x="275094" y="171450"/>
                  <a:pt x="285750" y="182106"/>
                  <a:pt x="285750" y="195263"/>
                </a:cubicBezTo>
                <a:lnTo>
                  <a:pt x="285750" y="261937"/>
                </a:lnTo>
                <a:cubicBezTo>
                  <a:pt x="285750" y="275094"/>
                  <a:pt x="275094" y="285750"/>
                  <a:pt x="261937" y="285750"/>
                </a:cubicBezTo>
                <a:lnTo>
                  <a:pt x="195263" y="285750"/>
                </a:lnTo>
                <a:cubicBezTo>
                  <a:pt x="182106" y="285750"/>
                  <a:pt x="171450" y="275094"/>
                  <a:pt x="171450" y="261937"/>
                </a:cubicBezTo>
                <a:lnTo>
                  <a:pt x="171450" y="195263"/>
                </a:lnTo>
                <a:cubicBezTo>
                  <a:pt x="171450" y="182106"/>
                  <a:pt x="182106" y="171450"/>
                  <a:pt x="195263" y="171450"/>
                </a:cubicBezTo>
                <a:close/>
              </a:path>
            </a:pathLst>
          </a:custGeom>
          <a:solidFill>
            <a:srgbClr val="D4943A"/>
          </a:solidFill>
          <a:ln/>
        </p:spPr>
      </p:sp>
      <p:sp>
        <p:nvSpPr>
          <p:cNvPr id="14" name="Text 11"/>
          <p:cNvSpPr/>
          <p:nvPr/>
        </p:nvSpPr>
        <p:spPr>
          <a:xfrm>
            <a:off x="1968500" y="3911600"/>
            <a:ext cx="13335000" cy="508000"/>
          </a:xfrm>
          <a:prstGeom prst="rect">
            <a:avLst/>
          </a:prstGeom>
          <a:noFill/>
          <a:ln/>
        </p:spPr>
        <p:txBody>
          <a:bodyPr wrap="square" lIns="0" tIns="0" rIns="0" bIns="0" rtlCol="0" anchor="t"/>
          <a:lstStyle/>
          <a:p>
            <a:pPr>
              <a:lnSpc>
                <a:spcPct val="140000"/>
              </a:lnSpc>
            </a:pPr>
            <a:r>
              <a:rPr lang="en-US" sz="1600" b="1" dirty="0">
                <a:solidFill>
                  <a:srgbClr val="FFFFFF"/>
                </a:solidFill>
                <a:latin typeface="Quattrocento Sans" pitchFamily="34" charset="0"/>
                <a:ea typeface="Quattrocento Sans" pitchFamily="34" charset="-122"/>
                <a:cs typeface="Quattrocento Sans" pitchFamily="34" charset="-120"/>
              </a:rPr>
              <a:t>Entities, attributes, and keys</a:t>
            </a:r>
            <a:pPr>
              <a:lnSpc>
                <a:spcPct val="14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are the building blocks — entities are objects, attributes describe them, keys identify them</a:t>
            </a:r>
            <a:endParaRPr lang="en-US" sz="1600" dirty="0"/>
          </a:p>
        </p:txBody>
      </p:sp>
      <p:sp>
        <p:nvSpPr>
          <p:cNvPr id="15" name="Shape 12"/>
          <p:cNvSpPr/>
          <p:nvPr/>
        </p:nvSpPr>
        <p:spPr>
          <a:xfrm>
            <a:off x="1524000" y="4572000"/>
            <a:ext cx="304800" cy="304800"/>
          </a:xfrm>
          <a:custGeom>
            <a:avLst/>
            <a:gdLst/>
            <a:ahLst/>
            <a:cxnLst/>
            <a:rect l="l" t="t" r="r" b="b"/>
            <a:pathLst>
              <a:path w="304800" h="304800">
                <a:moveTo>
                  <a:pt x="0" y="47625"/>
                </a:moveTo>
                <a:cubicBezTo>
                  <a:pt x="0" y="31849"/>
                  <a:pt x="12799" y="19050"/>
                  <a:pt x="28575" y="19050"/>
                </a:cubicBezTo>
                <a:lnTo>
                  <a:pt x="85725" y="19050"/>
                </a:lnTo>
                <a:cubicBezTo>
                  <a:pt x="101501" y="19050"/>
                  <a:pt x="114300" y="31849"/>
                  <a:pt x="114300" y="47625"/>
                </a:cubicBezTo>
                <a:lnTo>
                  <a:pt x="114300" y="57150"/>
                </a:lnTo>
                <a:lnTo>
                  <a:pt x="190500" y="57150"/>
                </a:lnTo>
                <a:lnTo>
                  <a:pt x="190500" y="47625"/>
                </a:lnTo>
                <a:cubicBezTo>
                  <a:pt x="190500" y="31849"/>
                  <a:pt x="203299" y="19050"/>
                  <a:pt x="219075" y="19050"/>
                </a:cubicBezTo>
                <a:lnTo>
                  <a:pt x="276225" y="19050"/>
                </a:lnTo>
                <a:cubicBezTo>
                  <a:pt x="292001" y="19050"/>
                  <a:pt x="304800" y="31849"/>
                  <a:pt x="304800" y="47625"/>
                </a:cubicBezTo>
                <a:lnTo>
                  <a:pt x="304800" y="104775"/>
                </a:lnTo>
                <a:cubicBezTo>
                  <a:pt x="304800" y="120551"/>
                  <a:pt x="292001" y="133350"/>
                  <a:pt x="276225" y="133350"/>
                </a:cubicBezTo>
                <a:lnTo>
                  <a:pt x="219075" y="133350"/>
                </a:lnTo>
                <a:cubicBezTo>
                  <a:pt x="203299" y="133350"/>
                  <a:pt x="190500" y="120551"/>
                  <a:pt x="190500" y="104775"/>
                </a:cubicBezTo>
                <a:lnTo>
                  <a:pt x="190500" y="95250"/>
                </a:lnTo>
                <a:lnTo>
                  <a:pt x="114300" y="95250"/>
                </a:lnTo>
                <a:lnTo>
                  <a:pt x="114300" y="104775"/>
                </a:lnTo>
                <a:cubicBezTo>
                  <a:pt x="114300" y="109121"/>
                  <a:pt x="113288" y="113288"/>
                  <a:pt x="111562" y="116979"/>
                </a:cubicBezTo>
                <a:lnTo>
                  <a:pt x="152400" y="171450"/>
                </a:lnTo>
                <a:lnTo>
                  <a:pt x="200025" y="171450"/>
                </a:lnTo>
                <a:cubicBezTo>
                  <a:pt x="215801" y="171450"/>
                  <a:pt x="228600" y="184249"/>
                  <a:pt x="228600" y="200025"/>
                </a:cubicBezTo>
                <a:lnTo>
                  <a:pt x="228600" y="257175"/>
                </a:lnTo>
                <a:cubicBezTo>
                  <a:pt x="228600" y="272951"/>
                  <a:pt x="215801" y="285750"/>
                  <a:pt x="200025" y="285750"/>
                </a:cubicBezTo>
                <a:lnTo>
                  <a:pt x="142875" y="285750"/>
                </a:lnTo>
                <a:cubicBezTo>
                  <a:pt x="127099" y="285750"/>
                  <a:pt x="114300" y="272951"/>
                  <a:pt x="114300" y="257175"/>
                </a:cubicBezTo>
                <a:lnTo>
                  <a:pt x="114300" y="200025"/>
                </a:lnTo>
                <a:cubicBezTo>
                  <a:pt x="114300" y="195679"/>
                  <a:pt x="115312" y="191512"/>
                  <a:pt x="117038" y="187821"/>
                </a:cubicBezTo>
                <a:lnTo>
                  <a:pt x="76200" y="133350"/>
                </a:lnTo>
                <a:lnTo>
                  <a:pt x="28575" y="133350"/>
                </a:lnTo>
                <a:cubicBezTo>
                  <a:pt x="12799" y="133350"/>
                  <a:pt x="0" y="120551"/>
                  <a:pt x="0" y="104775"/>
                </a:cubicBezTo>
                <a:lnTo>
                  <a:pt x="0" y="47625"/>
                </a:lnTo>
                <a:close/>
              </a:path>
            </a:pathLst>
          </a:custGeom>
          <a:solidFill>
            <a:srgbClr val="D4943A"/>
          </a:solidFill>
          <a:ln/>
        </p:spPr>
      </p:sp>
      <p:sp>
        <p:nvSpPr>
          <p:cNvPr id="16" name="Text 13"/>
          <p:cNvSpPr/>
          <p:nvPr/>
        </p:nvSpPr>
        <p:spPr>
          <a:xfrm>
            <a:off x="1968500" y="4546600"/>
            <a:ext cx="13335000" cy="508000"/>
          </a:xfrm>
          <a:prstGeom prst="rect">
            <a:avLst/>
          </a:prstGeom>
          <a:noFill/>
          <a:ln/>
        </p:spPr>
        <p:txBody>
          <a:bodyPr wrap="square" lIns="0" tIns="0" rIns="0" bIns="0" rtlCol="0" anchor="t"/>
          <a:lstStyle/>
          <a:p>
            <a:pPr>
              <a:lnSpc>
                <a:spcPct val="140000"/>
              </a:lnSpc>
            </a:pPr>
            <a:r>
              <a:rPr lang="en-US" sz="1600" b="1" dirty="0">
                <a:solidFill>
                  <a:srgbClr val="FFFFFF"/>
                </a:solidFill>
                <a:latin typeface="Quattrocento Sans" pitchFamily="34" charset="0"/>
                <a:ea typeface="Quattrocento Sans" pitchFamily="34" charset="-122"/>
                <a:cs typeface="Quattrocento Sans" pitchFamily="34" charset="-120"/>
              </a:rPr>
              <a:t>Relationships</a:t>
            </a:r>
            <a:pPr>
              <a:lnSpc>
                <a:spcPct val="14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show how entities connect, with cardinality defining the rules of connection</a:t>
            </a:r>
            <a:endParaRPr lang="en-US" sz="1600" dirty="0"/>
          </a:p>
        </p:txBody>
      </p:sp>
      <p:sp>
        <p:nvSpPr>
          <p:cNvPr id="17" name="Shape 14"/>
          <p:cNvSpPr/>
          <p:nvPr/>
        </p:nvSpPr>
        <p:spPr>
          <a:xfrm>
            <a:off x="1524000" y="5207000"/>
            <a:ext cx="304800" cy="304800"/>
          </a:xfrm>
          <a:custGeom>
            <a:avLst/>
            <a:gdLst/>
            <a:ahLst/>
            <a:cxnLst/>
            <a:rect l="l" t="t" r="r" b="b"/>
            <a:pathLst>
              <a:path w="304800" h="304800">
                <a:moveTo>
                  <a:pt x="240506" y="0"/>
                </a:moveTo>
                <a:cubicBezTo>
                  <a:pt x="251936" y="0"/>
                  <a:pt x="262890" y="4524"/>
                  <a:pt x="270927" y="12621"/>
                </a:cubicBezTo>
                <a:lnTo>
                  <a:pt x="292179" y="33873"/>
                </a:lnTo>
                <a:cubicBezTo>
                  <a:pt x="300276" y="41910"/>
                  <a:pt x="304800" y="52864"/>
                  <a:pt x="304800" y="64294"/>
                </a:cubicBezTo>
                <a:cubicBezTo>
                  <a:pt x="304800" y="75724"/>
                  <a:pt x="300276" y="86678"/>
                  <a:pt x="292179" y="94714"/>
                </a:cubicBezTo>
                <a:lnTo>
                  <a:pt x="265450" y="121444"/>
                </a:lnTo>
                <a:lnTo>
                  <a:pt x="183356" y="39350"/>
                </a:lnTo>
                <a:lnTo>
                  <a:pt x="210086" y="12621"/>
                </a:lnTo>
                <a:cubicBezTo>
                  <a:pt x="218123" y="4524"/>
                  <a:pt x="229076" y="0"/>
                  <a:pt x="240506" y="0"/>
                </a:cubicBezTo>
                <a:close/>
                <a:moveTo>
                  <a:pt x="35064" y="187583"/>
                </a:moveTo>
                <a:lnTo>
                  <a:pt x="163175" y="59531"/>
                </a:lnTo>
                <a:lnTo>
                  <a:pt x="245269" y="141625"/>
                </a:lnTo>
                <a:lnTo>
                  <a:pt x="117217" y="269736"/>
                </a:lnTo>
                <a:cubicBezTo>
                  <a:pt x="110847" y="276106"/>
                  <a:pt x="102870" y="280749"/>
                  <a:pt x="94178" y="283190"/>
                </a:cubicBezTo>
                <a:lnTo>
                  <a:pt x="18098" y="304264"/>
                </a:lnTo>
                <a:cubicBezTo>
                  <a:pt x="13156" y="305633"/>
                  <a:pt x="7799" y="304264"/>
                  <a:pt x="4167" y="300573"/>
                </a:cubicBezTo>
                <a:cubicBezTo>
                  <a:pt x="536" y="296882"/>
                  <a:pt x="-893" y="291584"/>
                  <a:pt x="476" y="286643"/>
                </a:cubicBezTo>
                <a:lnTo>
                  <a:pt x="21669" y="210622"/>
                </a:lnTo>
                <a:cubicBezTo>
                  <a:pt x="24110" y="201930"/>
                  <a:pt x="28694" y="194012"/>
                  <a:pt x="35123" y="187583"/>
                </a:cubicBezTo>
                <a:close/>
                <a:moveTo>
                  <a:pt x="134183" y="48101"/>
                </a:moveTo>
                <a:lnTo>
                  <a:pt x="48101" y="134183"/>
                </a:lnTo>
                <a:lnTo>
                  <a:pt x="6965" y="93047"/>
                </a:lnTo>
                <a:cubicBezTo>
                  <a:pt x="-2322" y="83760"/>
                  <a:pt x="-2322" y="68699"/>
                  <a:pt x="6965" y="59353"/>
                </a:cubicBezTo>
                <a:lnTo>
                  <a:pt x="59353" y="6965"/>
                </a:lnTo>
                <a:cubicBezTo>
                  <a:pt x="68640" y="-2322"/>
                  <a:pt x="83701" y="-2322"/>
                  <a:pt x="93047" y="6965"/>
                </a:cubicBezTo>
                <a:lnTo>
                  <a:pt x="96560" y="10478"/>
                </a:lnTo>
                <a:lnTo>
                  <a:pt x="63044" y="43994"/>
                </a:lnTo>
                <a:cubicBezTo>
                  <a:pt x="58400" y="48637"/>
                  <a:pt x="58400" y="56198"/>
                  <a:pt x="63044" y="60841"/>
                </a:cubicBezTo>
                <a:cubicBezTo>
                  <a:pt x="67687" y="65484"/>
                  <a:pt x="75248" y="65484"/>
                  <a:pt x="79891" y="60841"/>
                </a:cubicBezTo>
                <a:lnTo>
                  <a:pt x="113407" y="27325"/>
                </a:lnTo>
                <a:lnTo>
                  <a:pt x="134183" y="48101"/>
                </a:lnTo>
                <a:close/>
                <a:moveTo>
                  <a:pt x="256699" y="170617"/>
                </a:moveTo>
                <a:lnTo>
                  <a:pt x="277475" y="191393"/>
                </a:lnTo>
                <a:lnTo>
                  <a:pt x="243959" y="224909"/>
                </a:lnTo>
                <a:cubicBezTo>
                  <a:pt x="239316" y="229553"/>
                  <a:pt x="239316" y="237113"/>
                  <a:pt x="243959" y="241756"/>
                </a:cubicBezTo>
                <a:cubicBezTo>
                  <a:pt x="248602" y="246400"/>
                  <a:pt x="256163" y="246400"/>
                  <a:pt x="260806" y="241756"/>
                </a:cubicBezTo>
                <a:lnTo>
                  <a:pt x="294322" y="208240"/>
                </a:lnTo>
                <a:lnTo>
                  <a:pt x="297835" y="211753"/>
                </a:lnTo>
                <a:cubicBezTo>
                  <a:pt x="307122" y="221040"/>
                  <a:pt x="307122" y="236101"/>
                  <a:pt x="297835" y="245447"/>
                </a:cubicBezTo>
                <a:lnTo>
                  <a:pt x="245447" y="297835"/>
                </a:lnTo>
                <a:cubicBezTo>
                  <a:pt x="236160" y="307122"/>
                  <a:pt x="221099" y="307122"/>
                  <a:pt x="211753" y="297835"/>
                </a:cubicBezTo>
                <a:lnTo>
                  <a:pt x="170617" y="256699"/>
                </a:lnTo>
                <a:lnTo>
                  <a:pt x="256699" y="170617"/>
                </a:lnTo>
                <a:close/>
              </a:path>
            </a:pathLst>
          </a:custGeom>
          <a:solidFill>
            <a:srgbClr val="D4943A"/>
          </a:solidFill>
          <a:ln/>
        </p:spPr>
      </p:sp>
      <p:sp>
        <p:nvSpPr>
          <p:cNvPr id="18" name="Text 15"/>
          <p:cNvSpPr/>
          <p:nvPr/>
        </p:nvSpPr>
        <p:spPr>
          <a:xfrm>
            <a:off x="1968500" y="5181600"/>
            <a:ext cx="13335000" cy="508000"/>
          </a:xfrm>
          <a:prstGeom prst="rect">
            <a:avLst/>
          </a:prstGeom>
          <a:noFill/>
          <a:ln/>
        </p:spPr>
        <p:txBody>
          <a:bodyPr wrap="square" lIns="0" tIns="0" rIns="0" bIns="0" rtlCol="0" anchor="t"/>
          <a:lstStyle/>
          <a:p>
            <a:pPr>
              <a:lnSpc>
                <a:spcPct val="140000"/>
              </a:lnSpc>
            </a:pPr>
            <a:r>
              <a:rPr lang="en-US" sz="1600" b="1" dirty="0">
                <a:solidFill>
                  <a:srgbClr val="FFFFFF"/>
                </a:solidFill>
                <a:latin typeface="Quattrocento Sans" pitchFamily="34" charset="0"/>
                <a:ea typeface="Quattrocento Sans" pitchFamily="34" charset="-122"/>
                <a:cs typeface="Quattrocento Sans" pitchFamily="34" charset="-120"/>
              </a:rPr>
              <a:t>The ER Model</a:t>
            </a:r>
            <a:pPr>
              <a:lnSpc>
                <a:spcPct val="14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uses rectangles (entities), ovals (attributes), diamonds (relationships), and underlined keys</a:t>
            </a:r>
            <a:endParaRPr lang="en-US" sz="1600" dirty="0"/>
          </a:p>
        </p:txBody>
      </p:sp>
      <p:sp>
        <p:nvSpPr>
          <p:cNvPr id="19" name="Shape 16"/>
          <p:cNvSpPr/>
          <p:nvPr/>
        </p:nvSpPr>
        <p:spPr>
          <a:xfrm>
            <a:off x="1485900" y="5842000"/>
            <a:ext cx="381000" cy="304800"/>
          </a:xfrm>
          <a:custGeom>
            <a:avLst/>
            <a:gdLst/>
            <a:ahLst/>
            <a:cxnLst/>
            <a:rect l="l" t="t" r="r" b="b"/>
            <a:pathLst>
              <a:path w="381000" h="304800">
                <a:moveTo>
                  <a:pt x="152460" y="4763"/>
                </a:moveTo>
                <a:cubicBezTo>
                  <a:pt x="191887" y="4763"/>
                  <a:pt x="223897" y="36773"/>
                  <a:pt x="223897" y="76200"/>
                </a:cubicBezTo>
                <a:cubicBezTo>
                  <a:pt x="223897" y="115627"/>
                  <a:pt x="191887" y="147638"/>
                  <a:pt x="152460" y="147638"/>
                </a:cubicBezTo>
                <a:cubicBezTo>
                  <a:pt x="113032" y="147638"/>
                  <a:pt x="81022" y="115627"/>
                  <a:pt x="81022" y="76200"/>
                </a:cubicBezTo>
                <a:cubicBezTo>
                  <a:pt x="81022" y="36773"/>
                  <a:pt x="113032" y="4763"/>
                  <a:pt x="152460" y="4763"/>
                </a:cubicBezTo>
                <a:close/>
                <a:moveTo>
                  <a:pt x="134779" y="180975"/>
                </a:moveTo>
                <a:lnTo>
                  <a:pt x="170140" y="180975"/>
                </a:lnTo>
                <a:cubicBezTo>
                  <a:pt x="174129" y="180975"/>
                  <a:pt x="177998" y="181213"/>
                  <a:pt x="181868" y="181630"/>
                </a:cubicBezTo>
                <a:cubicBezTo>
                  <a:pt x="181332" y="184547"/>
                  <a:pt x="181035" y="187523"/>
                  <a:pt x="181035" y="190560"/>
                </a:cubicBezTo>
                <a:lnTo>
                  <a:pt x="181035" y="245388"/>
                </a:lnTo>
                <a:cubicBezTo>
                  <a:pt x="181035" y="260568"/>
                  <a:pt x="187047" y="275094"/>
                  <a:pt x="197763" y="285810"/>
                </a:cubicBezTo>
                <a:lnTo>
                  <a:pt x="216753" y="304800"/>
                </a:lnTo>
                <a:lnTo>
                  <a:pt x="46315" y="304800"/>
                </a:lnTo>
                <a:cubicBezTo>
                  <a:pt x="36552" y="304800"/>
                  <a:pt x="28635" y="296882"/>
                  <a:pt x="28635" y="287119"/>
                </a:cubicBezTo>
                <a:cubicBezTo>
                  <a:pt x="28635" y="228481"/>
                  <a:pt x="76140" y="180975"/>
                  <a:pt x="134779" y="180975"/>
                </a:cubicBezTo>
                <a:close/>
                <a:moveTo>
                  <a:pt x="209610" y="245388"/>
                </a:moveTo>
                <a:lnTo>
                  <a:pt x="209610" y="190560"/>
                </a:lnTo>
                <a:cubicBezTo>
                  <a:pt x="209610" y="180023"/>
                  <a:pt x="218123" y="171510"/>
                  <a:pt x="228660" y="171510"/>
                </a:cubicBezTo>
                <a:lnTo>
                  <a:pt x="283488" y="171510"/>
                </a:lnTo>
                <a:cubicBezTo>
                  <a:pt x="291048" y="171510"/>
                  <a:pt x="298311" y="174546"/>
                  <a:pt x="303669" y="179903"/>
                </a:cubicBezTo>
                <a:lnTo>
                  <a:pt x="360819" y="237053"/>
                </a:lnTo>
                <a:cubicBezTo>
                  <a:pt x="371951" y="248186"/>
                  <a:pt x="371951" y="266283"/>
                  <a:pt x="360819" y="277475"/>
                </a:cubicBezTo>
                <a:lnTo>
                  <a:pt x="315516" y="322778"/>
                </a:lnTo>
                <a:cubicBezTo>
                  <a:pt x="304383" y="333911"/>
                  <a:pt x="286286" y="333911"/>
                  <a:pt x="275094" y="322778"/>
                </a:cubicBezTo>
                <a:lnTo>
                  <a:pt x="217944" y="265628"/>
                </a:lnTo>
                <a:cubicBezTo>
                  <a:pt x="212586" y="260271"/>
                  <a:pt x="209550" y="253008"/>
                  <a:pt x="209550" y="245447"/>
                </a:cubicBezTo>
                <a:close/>
                <a:moveTo>
                  <a:pt x="271522" y="219075"/>
                </a:moveTo>
                <a:cubicBezTo>
                  <a:pt x="271522" y="211190"/>
                  <a:pt x="265120" y="204787"/>
                  <a:pt x="257235" y="204787"/>
                </a:cubicBezTo>
                <a:cubicBezTo>
                  <a:pt x="249349" y="204787"/>
                  <a:pt x="242947" y="211190"/>
                  <a:pt x="242947" y="219075"/>
                </a:cubicBezTo>
                <a:cubicBezTo>
                  <a:pt x="242947" y="226960"/>
                  <a:pt x="249349" y="233363"/>
                  <a:pt x="257235" y="233363"/>
                </a:cubicBezTo>
                <a:cubicBezTo>
                  <a:pt x="265120" y="233363"/>
                  <a:pt x="271522" y="226960"/>
                  <a:pt x="271522" y="219075"/>
                </a:cubicBezTo>
                <a:close/>
              </a:path>
            </a:pathLst>
          </a:custGeom>
          <a:solidFill>
            <a:srgbClr val="D4943A"/>
          </a:solidFill>
          <a:ln/>
        </p:spPr>
      </p:sp>
      <p:sp>
        <p:nvSpPr>
          <p:cNvPr id="20" name="Text 17"/>
          <p:cNvSpPr/>
          <p:nvPr/>
        </p:nvSpPr>
        <p:spPr>
          <a:xfrm>
            <a:off x="1968500" y="5816600"/>
            <a:ext cx="13335000" cy="508000"/>
          </a:xfrm>
          <a:prstGeom prst="rect">
            <a:avLst/>
          </a:prstGeom>
          <a:noFill/>
          <a:ln/>
        </p:spPr>
        <p:txBody>
          <a:bodyPr wrap="square" lIns="0" tIns="0" rIns="0" bIns="0" rtlCol="0" anchor="t"/>
          <a:lstStyle/>
          <a:p>
            <a:pPr>
              <a:lnSpc>
                <a:spcPct val="140000"/>
              </a:lnSpc>
            </a:pPr>
            <a:r>
              <a:rPr lang="en-US" sz="1600" b="1" dirty="0">
                <a:solidFill>
                  <a:srgbClr val="FFFFFF"/>
                </a:solidFill>
                <a:latin typeface="Quattrocento Sans" pitchFamily="34" charset="0"/>
                <a:ea typeface="Quattrocento Sans" pitchFamily="34" charset="-122"/>
                <a:cs typeface="Quattrocento Sans" pitchFamily="34" charset="-120"/>
              </a:rPr>
              <a:t>Roles</a:t>
            </a:r>
            <a:pPr>
              <a:lnSpc>
                <a:spcPct val="14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describe the part an entity plays in a relationship, especially in recursive relationships</a:t>
            </a:r>
            <a:endParaRPr lang="en-US" sz="1600" dirty="0"/>
          </a:p>
        </p:txBody>
      </p:sp>
      <p:sp>
        <p:nvSpPr>
          <p:cNvPr id="21" name="Shape 18"/>
          <p:cNvSpPr/>
          <p:nvPr/>
        </p:nvSpPr>
        <p:spPr>
          <a:xfrm>
            <a:off x="5588000" y="6604000"/>
            <a:ext cx="5080000" cy="25400"/>
          </a:xfrm>
          <a:prstGeom prst="rect">
            <a:avLst/>
          </a:prstGeom>
          <a:solidFill>
            <a:srgbClr val="FFFFFF">
              <a:alpha val="26667"/>
            </a:srgbClr>
          </a:solidFill>
          <a:ln/>
        </p:spPr>
      </p:sp>
      <p:sp>
        <p:nvSpPr>
          <p:cNvPr id="22" name="Text 19"/>
          <p:cNvSpPr/>
          <p:nvPr/>
        </p:nvSpPr>
        <p:spPr>
          <a:xfrm>
            <a:off x="1778000" y="6858000"/>
            <a:ext cx="12700000" cy="1016000"/>
          </a:xfrm>
          <a:prstGeom prst="rect">
            <a:avLst/>
          </a:prstGeom>
          <a:noFill/>
          <a:ln/>
        </p:spPr>
        <p:txBody>
          <a:bodyPr wrap="square" lIns="0" tIns="0" rIns="0" bIns="0" rtlCol="0" anchor="t"/>
          <a:lstStyle/>
          <a:p>
            <a:pPr algn="ctr">
              <a:lnSpc>
                <a:spcPct val="150000"/>
              </a:lnSpc>
            </a:pPr>
            <a:r>
              <a:rPr lang="en-US" sz="1800" dirty="0">
                <a:solidFill>
                  <a:srgbClr val="FFFFFF">
                    <a:alpha val="80000"/>
                  </a:srgbClr>
                </a:solidFill>
                <a:latin typeface="Quattrocento Sans" pitchFamily="34" charset="0"/>
                <a:ea typeface="Quattrocento Sans" pitchFamily="34" charset="-122"/>
                <a:cs typeface="Quattrocento Sans" pitchFamily="34" charset="-120"/>
              </a:rPr>
              <a:t>You now have the foundation to understand how databases are designed.</a:t>
            </a:r>
            <a:endParaRPr lang="en-US" sz="1600" dirty="0"/>
          </a:p>
          <a:p>
            <a:pPr algn="ctr">
              <a:lnSpc>
                <a:spcPct val="150000"/>
              </a:lnSpc>
            </a:pPr>
            <a:r>
              <a:rPr lang="en-US" sz="1800" dirty="0">
                <a:solidFill>
                  <a:srgbClr val="FFFFFF">
                    <a:alpha val="80000"/>
                  </a:srgbClr>
                </a:solidFill>
                <a:latin typeface="Quattrocento Sans" pitchFamily="34" charset="0"/>
                <a:ea typeface="Quattrocento Sans" pitchFamily="34" charset="-122"/>
                <a:cs typeface="Quattrocento Sans" pitchFamily="34" charset="-120"/>
              </a:rPr>
              <a:t>In the next lectures, you'll learn how to turn conceptual models into actual database tables.</a:t>
            </a:r>
            <a:endParaRPr lang="en-US" sz="1600" dirty="0"/>
          </a:p>
        </p:txBody>
      </p:sp>
      <p:sp>
        <p:nvSpPr>
          <p:cNvPr id="23" name="Text 20"/>
          <p:cNvSpPr/>
          <p:nvPr/>
        </p:nvSpPr>
        <p:spPr>
          <a:xfrm>
            <a:off x="1778000" y="8128000"/>
            <a:ext cx="12700000" cy="635000"/>
          </a:xfrm>
          <a:prstGeom prst="rect">
            <a:avLst/>
          </a:prstGeom>
          <a:noFill/>
          <a:ln/>
        </p:spPr>
        <p:txBody>
          <a:bodyPr wrap="none" lIns="0" tIns="0" rIns="0" bIns="0" rtlCol="0" anchor="ctr"/>
          <a:lstStyle/>
          <a:p>
            <a:pPr algn="ctr">
              <a:lnSpc>
                <a:spcPct val="100000"/>
              </a:lnSpc>
            </a:pPr>
            <a:r>
              <a:rPr lang="en-US" sz="2800" b="1" dirty="0">
                <a:solidFill>
                  <a:srgbClr val="D4943A"/>
                </a:solidFill>
                <a:latin typeface="Liter" pitchFamily="34" charset="0"/>
                <a:ea typeface="Liter" pitchFamily="34" charset="-122"/>
                <a:cs typeface="Liter" pitchFamily="34" charset="-120"/>
              </a:rPr>
              <a:t>Thank You — Keep Practicing!</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 – Introduction and Conceptual Data Modeling</dc:title>
  <dc:subject>Database Systems – Introduction and Conceptual Data Modeling</dc:subject>
  <dc:creator>Kimi</dc:creator>
  <cp:lastModifiedBy>Kimi</cp:lastModifiedBy>
  <cp:revision>1</cp:revision>
  <dcterms:created xsi:type="dcterms:W3CDTF">2026-05-08T10:13:01Z</dcterms:created>
  <dcterms:modified xsi:type="dcterms:W3CDTF">2026-05-08T10:13:01Z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{"Label":"Database Systems – Introduction and Conceptual Data Modeling","ContentProducer":"001191110108MACG2KBH8F10000","ProduceID":"19e0711f-26b2-8f2d-8000-0000b27db907","ReservedCode1":"","ContentPropagator":"001191110108MACG2KBH8F20000","PropagateID":"19e0711f-26b2-8f2d-8000-0000b27db907","ReservedCode2":""}</vt:lpwstr>
  </property>
</Properties>
</file>