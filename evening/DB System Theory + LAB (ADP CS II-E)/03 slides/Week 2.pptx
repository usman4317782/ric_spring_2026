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6256000" cy="9144000"/>
  <p:notesSz cx="9144000" cy="16256000"/>
  <p:embeddedFontLs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ic2eluemf36i/mnt/agents/output/week2_db_course/images/8_Lines_Background_Images_Browse_18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5A4C">
                  <a:alpha val="90000"/>
                </a:srgbClr>
              </a:gs>
              <a:gs pos="50000">
                <a:srgbClr val="2D5A4C">
                  <a:alpha val="85000"/>
                </a:srgbClr>
              </a:gs>
              <a:gs pos="100000">
                <a:srgbClr val="2D5A4C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04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400" kern="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SYSTEMS COURSE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78000" y="3556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2: Lectures 3 &amp; 4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2413000" y="5080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Structural Constraints • Weak Entities • ER Diagrams</a:t>
            </a:r>
            <a:endParaRPr lang="en-US" sz="2000" dirty="0"/>
          </a:p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Naming Conventions • Keys • Enhanced ER Model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858000" y="6350000"/>
            <a:ext cx="2540000" cy="508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9" name="Text 6"/>
          <p:cNvSpPr/>
          <p:nvPr/>
        </p:nvSpPr>
        <p:spPr>
          <a:xfrm>
            <a:off x="4318000" y="660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Semester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8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300" kern="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We Will Learn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2413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2413000"/>
            <a:ext cx="63500" cy="1778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2540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0734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Constraints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4925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Cardinality &amp; participation rules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2413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42000" y="2413000"/>
            <a:ext cx="63500" cy="1778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12" name="Text 10"/>
          <p:cNvSpPr/>
          <p:nvPr/>
        </p:nvSpPr>
        <p:spPr>
          <a:xfrm>
            <a:off x="6159500" y="2540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9500" y="30734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Entity Types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0" y="34925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Entities that depend on others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922000" y="2413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22000" y="2413000"/>
            <a:ext cx="63500" cy="1778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17" name="Text 15"/>
          <p:cNvSpPr/>
          <p:nvPr/>
        </p:nvSpPr>
        <p:spPr>
          <a:xfrm>
            <a:off x="11239500" y="2540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239500" y="30734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 Diagrams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39500" y="34925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visual language of databases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699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2000" y="4699000"/>
            <a:ext cx="63500" cy="1778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" y="482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9500" y="53594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Naming Conventions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79500" y="57785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 for naming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42000" y="4699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42000" y="4699000"/>
            <a:ext cx="63500" cy="1778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27" name="Text 25"/>
          <p:cNvSpPr/>
          <p:nvPr/>
        </p:nvSpPr>
        <p:spPr>
          <a:xfrm>
            <a:off x="6159500" y="482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59500" y="53594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Keys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59500" y="57785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identifiers in databases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922000" y="4699000"/>
            <a:ext cx="45720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922000" y="4699000"/>
            <a:ext cx="63500" cy="1778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32" name="Text 30"/>
          <p:cNvSpPr/>
          <p:nvPr/>
        </p:nvSpPr>
        <p:spPr>
          <a:xfrm>
            <a:off x="11239500" y="482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239500" y="5359400"/>
            <a:ext cx="393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ER Model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239500" y="57785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Specialization &amp; generalization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7112000"/>
            <a:ext cx="14732000" cy="12700"/>
          </a:xfrm>
          <a:prstGeom prst="rect">
            <a:avLst/>
          </a:prstGeom>
          <a:solidFill>
            <a:srgbClr val="E0DCD7"/>
          </a:solidFill>
          <a:ln/>
        </p:spPr>
      </p:sp>
      <p:sp>
        <p:nvSpPr>
          <p:cNvPr id="36" name="Text 34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ic2eluemf36i/mnt/agents/output/week2_db_course/images/1_Free_Jigsaw_Puzzle_Stock_Photos_Images.png">    </p:cNvPr>
          <p:cNvPicPr>
            <a:picLocks noChangeAspect="1"/>
          </p:cNvPicPr>
          <p:nvPr/>
        </p:nvPicPr>
        <p:blipFill>
          <a:blip r:embed="rId1"/>
          <a:srcRect l="0" r="0" t="820" b="82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5A4C">
                  <a:alpha val="94000"/>
                </a:srgbClr>
              </a:gs>
              <a:gs pos="60000">
                <a:srgbClr val="2D5A4C">
                  <a:alpha val="88000"/>
                </a:srgbClr>
              </a:gs>
              <a:gs pos="100000">
                <a:srgbClr val="2D5A4C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016000" cy="508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Constraints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762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how entities relate to each other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quantity and participation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Are Structural Constraints?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6985000" cy="279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2794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968500"/>
            <a:ext cx="635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constraints are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define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many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entities can be related to each other through a relationship.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answer two questions: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62038" y="43180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56808" y="204420"/>
                </a:moveTo>
                <a:lnTo>
                  <a:pt x="309195" y="152033"/>
                </a:lnTo>
                <a:cubicBezTo>
                  <a:pt x="316017" y="145212"/>
                  <a:pt x="316017" y="134134"/>
                  <a:pt x="309195" y="127313"/>
                </a:cubicBezTo>
                <a:lnTo>
                  <a:pt x="256808" y="74925"/>
                </a:lnTo>
                <a:cubicBezTo>
                  <a:pt x="249987" y="68104"/>
                  <a:pt x="238909" y="68104"/>
                  <a:pt x="232088" y="74925"/>
                </a:cubicBezTo>
                <a:cubicBezTo>
                  <a:pt x="225266" y="81746"/>
                  <a:pt x="225266" y="92824"/>
                  <a:pt x="232088" y="99645"/>
                </a:cubicBezTo>
                <a:lnTo>
                  <a:pt x="254680" y="122238"/>
                </a:lnTo>
                <a:lnTo>
                  <a:pt x="59591" y="122238"/>
                </a:lnTo>
                <a:lnTo>
                  <a:pt x="82183" y="99645"/>
                </a:lnTo>
                <a:cubicBezTo>
                  <a:pt x="89004" y="92824"/>
                  <a:pt x="89004" y="81746"/>
                  <a:pt x="82183" y="74925"/>
                </a:cubicBezTo>
                <a:cubicBezTo>
                  <a:pt x="75362" y="68104"/>
                  <a:pt x="64284" y="68104"/>
                  <a:pt x="57463" y="74925"/>
                </a:cubicBezTo>
                <a:lnTo>
                  <a:pt x="5075" y="127313"/>
                </a:lnTo>
                <a:cubicBezTo>
                  <a:pt x="1801" y="130587"/>
                  <a:pt x="-55" y="135007"/>
                  <a:pt x="-55" y="139645"/>
                </a:cubicBezTo>
                <a:cubicBezTo>
                  <a:pt x="-55" y="144284"/>
                  <a:pt x="1801" y="148704"/>
                  <a:pt x="5075" y="151978"/>
                </a:cubicBezTo>
                <a:lnTo>
                  <a:pt x="57463" y="204366"/>
                </a:lnTo>
                <a:cubicBezTo>
                  <a:pt x="64284" y="211187"/>
                  <a:pt x="75362" y="211187"/>
                  <a:pt x="82183" y="204366"/>
                </a:cubicBezTo>
                <a:cubicBezTo>
                  <a:pt x="89004" y="197545"/>
                  <a:pt x="89004" y="186467"/>
                  <a:pt x="82183" y="179645"/>
                </a:cubicBezTo>
                <a:lnTo>
                  <a:pt x="59591" y="157053"/>
                </a:lnTo>
                <a:lnTo>
                  <a:pt x="254680" y="157053"/>
                </a:lnTo>
                <a:lnTo>
                  <a:pt x="232088" y="179645"/>
                </a:lnTo>
                <a:cubicBezTo>
                  <a:pt x="225266" y="186467"/>
                  <a:pt x="225266" y="197545"/>
                  <a:pt x="232088" y="204366"/>
                </a:cubicBezTo>
                <a:cubicBezTo>
                  <a:pt x="238909" y="211187"/>
                  <a:pt x="249987" y="211187"/>
                  <a:pt x="256808" y="204366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9" name="Text 7"/>
          <p:cNvSpPr/>
          <p:nvPr/>
        </p:nvSpPr>
        <p:spPr>
          <a:xfrm>
            <a:off x="1460500" y="42926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Cardinality Ratio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How many relate?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14425" y="47625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36371" y="36453"/>
                </a:moveTo>
                <a:cubicBezTo>
                  <a:pt x="142047" y="28649"/>
                  <a:pt x="140300" y="17735"/>
                  <a:pt x="132497" y="12060"/>
                </a:cubicBezTo>
                <a:cubicBezTo>
                  <a:pt x="124693" y="6385"/>
                  <a:pt x="113779" y="8131"/>
                  <a:pt x="108104" y="15935"/>
                </a:cubicBezTo>
                <a:lnTo>
                  <a:pt x="50259" y="95443"/>
                </a:lnTo>
                <a:lnTo>
                  <a:pt x="29795" y="74980"/>
                </a:lnTo>
                <a:cubicBezTo>
                  <a:pt x="22974" y="68158"/>
                  <a:pt x="11896" y="68158"/>
                  <a:pt x="5075" y="74980"/>
                </a:cubicBezTo>
                <a:cubicBezTo>
                  <a:pt x="-1746" y="81801"/>
                  <a:pt x="-1746" y="92879"/>
                  <a:pt x="5075" y="99700"/>
                </a:cubicBezTo>
                <a:lnTo>
                  <a:pt x="40000" y="134625"/>
                </a:lnTo>
                <a:cubicBezTo>
                  <a:pt x="43602" y="138227"/>
                  <a:pt x="48622" y="140082"/>
                  <a:pt x="53697" y="139700"/>
                </a:cubicBezTo>
                <a:cubicBezTo>
                  <a:pt x="58772" y="139318"/>
                  <a:pt x="63465" y="136699"/>
                  <a:pt x="66467" y="132551"/>
                </a:cubicBezTo>
                <a:lnTo>
                  <a:pt x="136317" y="36508"/>
                </a:lnTo>
                <a:close/>
                <a:moveTo>
                  <a:pt x="206221" y="110669"/>
                </a:moveTo>
                <a:cubicBezTo>
                  <a:pt x="211897" y="102865"/>
                  <a:pt x="210150" y="91951"/>
                  <a:pt x="202347" y="86276"/>
                </a:cubicBezTo>
                <a:cubicBezTo>
                  <a:pt x="194543" y="80600"/>
                  <a:pt x="183629" y="82347"/>
                  <a:pt x="177954" y="90150"/>
                </a:cubicBezTo>
                <a:lnTo>
                  <a:pt x="85184" y="217681"/>
                </a:lnTo>
                <a:lnTo>
                  <a:pt x="47258" y="179755"/>
                </a:lnTo>
                <a:cubicBezTo>
                  <a:pt x="40437" y="172933"/>
                  <a:pt x="29359" y="172933"/>
                  <a:pt x="22538" y="179755"/>
                </a:cubicBezTo>
                <a:cubicBezTo>
                  <a:pt x="15716" y="186576"/>
                  <a:pt x="15716" y="197654"/>
                  <a:pt x="22538" y="204475"/>
                </a:cubicBezTo>
                <a:lnTo>
                  <a:pt x="74925" y="256862"/>
                </a:lnTo>
                <a:cubicBezTo>
                  <a:pt x="78527" y="260464"/>
                  <a:pt x="83547" y="262319"/>
                  <a:pt x="88622" y="261938"/>
                </a:cubicBezTo>
                <a:cubicBezTo>
                  <a:pt x="93697" y="261556"/>
                  <a:pt x="98390" y="258936"/>
                  <a:pt x="101392" y="254789"/>
                </a:cubicBezTo>
                <a:lnTo>
                  <a:pt x="206167" y="110723"/>
                </a:ln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47371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Participation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Must all entities join?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1460500"/>
            <a:ext cx="7366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8000" y="1460500"/>
            <a:ext cx="63500" cy="3429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14" name="Text 12"/>
          <p:cNvSpPr/>
          <p:nvPr/>
        </p:nvSpPr>
        <p:spPr>
          <a:xfrm>
            <a:off x="8445500" y="1587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REAL-LIFE ANALOGY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416925" y="20574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171450"/>
                </a:moveTo>
                <a:cubicBezTo>
                  <a:pt x="0" y="139928"/>
                  <a:pt x="25628" y="114300"/>
                  <a:pt x="57150" y="114300"/>
                </a:cubicBezTo>
                <a:lnTo>
                  <a:pt x="114300" y="114300"/>
                </a:lnTo>
                <a:lnTo>
                  <a:pt x="228511" y="11519"/>
                </a:lnTo>
                <a:cubicBezTo>
                  <a:pt x="244852" y="-3125"/>
                  <a:pt x="269587" y="-3125"/>
                  <a:pt x="285839" y="11519"/>
                </a:cubicBezTo>
                <a:lnTo>
                  <a:pt x="400050" y="114300"/>
                </a:lnTo>
                <a:lnTo>
                  <a:pt x="457200" y="114300"/>
                </a:lnTo>
                <a:cubicBezTo>
                  <a:pt x="488722" y="114300"/>
                  <a:pt x="514350" y="139928"/>
                  <a:pt x="514350" y="171450"/>
                </a:cubicBezTo>
                <a:lnTo>
                  <a:pt x="514350" y="400050"/>
                </a:lnTo>
                <a:cubicBezTo>
                  <a:pt x="514350" y="431572"/>
                  <a:pt x="488722" y="457200"/>
                  <a:pt x="45720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171450"/>
                </a:lnTo>
                <a:close/>
                <a:moveTo>
                  <a:pt x="200025" y="335756"/>
                </a:moveTo>
                <a:lnTo>
                  <a:pt x="200025" y="414338"/>
                </a:lnTo>
                <a:lnTo>
                  <a:pt x="314325" y="414338"/>
                </a:lnTo>
                <a:lnTo>
                  <a:pt x="314325" y="335756"/>
                </a:lnTo>
                <a:cubicBezTo>
                  <a:pt x="314325" y="316022"/>
                  <a:pt x="298341" y="300038"/>
                  <a:pt x="278606" y="300038"/>
                </a:cubicBezTo>
                <a:lnTo>
                  <a:pt x="235744" y="300038"/>
                </a:lnTo>
                <a:cubicBezTo>
                  <a:pt x="216009" y="300038"/>
                  <a:pt x="200025" y="316022"/>
                  <a:pt x="200025" y="335756"/>
                </a:cubicBezTo>
                <a:close/>
                <a:moveTo>
                  <a:pt x="100013" y="342900"/>
                </a:moveTo>
                <a:cubicBezTo>
                  <a:pt x="107871" y="342900"/>
                  <a:pt x="114300" y="336471"/>
                  <a:pt x="114300" y="328613"/>
                </a:cubicBezTo>
                <a:lnTo>
                  <a:pt x="114300" y="300038"/>
                </a:lnTo>
                <a:cubicBezTo>
                  <a:pt x="114300" y="292179"/>
                  <a:pt x="107871" y="285750"/>
                  <a:pt x="100013" y="285750"/>
                </a:cubicBezTo>
                <a:lnTo>
                  <a:pt x="71438" y="285750"/>
                </a:lnTo>
                <a:cubicBezTo>
                  <a:pt x="63579" y="285750"/>
                  <a:pt x="57150" y="292179"/>
                  <a:pt x="57150" y="300038"/>
                </a:cubicBezTo>
                <a:lnTo>
                  <a:pt x="57150" y="328613"/>
                </a:lnTo>
                <a:cubicBezTo>
                  <a:pt x="57150" y="336471"/>
                  <a:pt x="63579" y="342900"/>
                  <a:pt x="71438" y="342900"/>
                </a:cubicBezTo>
                <a:lnTo>
                  <a:pt x="100013" y="342900"/>
                </a:lnTo>
                <a:close/>
                <a:moveTo>
                  <a:pt x="114300" y="214313"/>
                </a:moveTo>
                <a:lnTo>
                  <a:pt x="114300" y="185738"/>
                </a:lnTo>
                <a:cubicBezTo>
                  <a:pt x="114300" y="177879"/>
                  <a:pt x="107871" y="171450"/>
                  <a:pt x="100013" y="171450"/>
                </a:cubicBezTo>
                <a:lnTo>
                  <a:pt x="71438" y="171450"/>
                </a:lnTo>
                <a:cubicBezTo>
                  <a:pt x="63579" y="171450"/>
                  <a:pt x="57150" y="177879"/>
                  <a:pt x="57150" y="185738"/>
                </a:cubicBezTo>
                <a:lnTo>
                  <a:pt x="57150" y="214313"/>
                </a:lnTo>
                <a:cubicBezTo>
                  <a:pt x="57150" y="222171"/>
                  <a:pt x="63579" y="228600"/>
                  <a:pt x="71438" y="228600"/>
                </a:cubicBezTo>
                <a:lnTo>
                  <a:pt x="100013" y="228600"/>
                </a:lnTo>
                <a:cubicBezTo>
                  <a:pt x="107871" y="228600"/>
                  <a:pt x="114300" y="222171"/>
                  <a:pt x="114300" y="214313"/>
                </a:cubicBezTo>
                <a:close/>
                <a:moveTo>
                  <a:pt x="442913" y="342900"/>
                </a:moveTo>
                <a:cubicBezTo>
                  <a:pt x="450771" y="342900"/>
                  <a:pt x="457200" y="336471"/>
                  <a:pt x="457200" y="328613"/>
                </a:cubicBezTo>
                <a:lnTo>
                  <a:pt x="457200" y="300038"/>
                </a:lnTo>
                <a:cubicBezTo>
                  <a:pt x="457200" y="292179"/>
                  <a:pt x="450771" y="285750"/>
                  <a:pt x="442913" y="285750"/>
                </a:cubicBezTo>
                <a:lnTo>
                  <a:pt x="414338" y="285750"/>
                </a:lnTo>
                <a:cubicBezTo>
                  <a:pt x="406479" y="285750"/>
                  <a:pt x="400050" y="292179"/>
                  <a:pt x="400050" y="300038"/>
                </a:cubicBezTo>
                <a:lnTo>
                  <a:pt x="400050" y="328613"/>
                </a:lnTo>
                <a:cubicBezTo>
                  <a:pt x="400050" y="336471"/>
                  <a:pt x="406479" y="342900"/>
                  <a:pt x="414338" y="342900"/>
                </a:cubicBezTo>
                <a:lnTo>
                  <a:pt x="442913" y="342900"/>
                </a:lnTo>
                <a:close/>
                <a:moveTo>
                  <a:pt x="457200" y="214313"/>
                </a:moveTo>
                <a:lnTo>
                  <a:pt x="457200" y="185738"/>
                </a:lnTo>
                <a:cubicBezTo>
                  <a:pt x="457200" y="177879"/>
                  <a:pt x="450771" y="171450"/>
                  <a:pt x="442913" y="171450"/>
                </a:cubicBezTo>
                <a:lnTo>
                  <a:pt x="414338" y="171450"/>
                </a:lnTo>
                <a:cubicBezTo>
                  <a:pt x="406479" y="171450"/>
                  <a:pt x="400050" y="177879"/>
                  <a:pt x="400050" y="185738"/>
                </a:cubicBezTo>
                <a:lnTo>
                  <a:pt x="400050" y="214313"/>
                </a:lnTo>
                <a:cubicBezTo>
                  <a:pt x="400050" y="222171"/>
                  <a:pt x="406479" y="228600"/>
                  <a:pt x="414338" y="228600"/>
                </a:cubicBezTo>
                <a:lnTo>
                  <a:pt x="442913" y="228600"/>
                </a:lnTo>
                <a:cubicBezTo>
                  <a:pt x="450771" y="228600"/>
                  <a:pt x="457200" y="222171"/>
                  <a:pt x="457200" y="214313"/>
                </a:cubicBezTo>
                <a:close/>
                <a:moveTo>
                  <a:pt x="257175" y="228600"/>
                </a:moveTo>
                <a:cubicBezTo>
                  <a:pt x="288717" y="228600"/>
                  <a:pt x="314325" y="202992"/>
                  <a:pt x="314325" y="171450"/>
                </a:cubicBezTo>
                <a:cubicBezTo>
                  <a:pt x="314325" y="139908"/>
                  <a:pt x="288717" y="114300"/>
                  <a:pt x="257175" y="114300"/>
                </a:cubicBezTo>
                <a:cubicBezTo>
                  <a:pt x="225633" y="114300"/>
                  <a:pt x="200025" y="139908"/>
                  <a:pt x="200025" y="171450"/>
                </a:cubicBezTo>
                <a:cubicBezTo>
                  <a:pt x="200025" y="202992"/>
                  <a:pt x="225633" y="228600"/>
                  <a:pt x="257175" y="228600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6" name="Text 14"/>
          <p:cNvSpPr/>
          <p:nvPr/>
        </p:nvSpPr>
        <p:spPr>
          <a:xfrm>
            <a:off x="9080500" y="20574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a Classroom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45500" y="2667000"/>
            <a:ext cx="6731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Cardinality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"How many students can one teacher have?"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Participation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"Must every student have a teacher?"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two rules control how our database relationships work!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334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2D5A4C">
              <a:alpha val="5098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55245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constraints ensure our database relationships make logical sense — just like classroom rules!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Cardinality Ratio — The Three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4572000" cy="68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6000" y="1651000"/>
            <a:ext cx="1016000" cy="406400"/>
          </a:xfrm>
          <a:prstGeom prst="roundRect">
            <a:avLst>
              <a:gd name="adj" fmla="val 16000"/>
            </a:avLst>
          </a:prstGeom>
          <a:solidFill>
            <a:srgbClr val="C4703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101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: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222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One-to-One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2794000"/>
            <a:ext cx="1524000" cy="635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2794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32000" y="3683000"/>
            <a:ext cx="1016000" cy="6350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11" name="Text 9"/>
          <p:cNvSpPr/>
          <p:nvPr/>
        </p:nvSpPr>
        <p:spPr>
          <a:xfrm>
            <a:off x="2032000" y="3683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32000" y="3429000"/>
            <a:ext cx="0" cy="2540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286000" y="4572000"/>
            <a:ext cx="1524000" cy="635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572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PASSPORT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40000" y="4318000"/>
            <a:ext cx="0" cy="2540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3302000" y="33655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56000" y="42545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5461000"/>
            <a:ext cx="406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entity relates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exactly one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other entity.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person has one passport. One passport belongs to one person.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42000" y="1460500"/>
            <a:ext cx="4572000" cy="68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96000" y="1651000"/>
            <a:ext cx="1016000" cy="406400"/>
          </a:xfrm>
          <a:prstGeom prst="roundRect">
            <a:avLst>
              <a:gd name="adj" fmla="val 16000"/>
            </a:avLst>
          </a:prstGeom>
          <a:solidFill>
            <a:srgbClr val="C4703F"/>
          </a:solidFill>
          <a:ln/>
        </p:spPr>
      </p:sp>
      <p:sp>
        <p:nvSpPr>
          <p:cNvPr id="21" name="Text 19"/>
          <p:cNvSpPr/>
          <p:nvPr/>
        </p:nvSpPr>
        <p:spPr>
          <a:xfrm>
            <a:off x="6096000" y="1651000"/>
            <a:ext cx="101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: 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0" y="2222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One-to-Many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0000" y="2794000"/>
            <a:ext cx="1778000" cy="635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24" name="Text 22"/>
          <p:cNvSpPr/>
          <p:nvPr/>
        </p:nvSpPr>
        <p:spPr>
          <a:xfrm>
            <a:off x="6350000" y="27940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MOTHER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39000" y="3683000"/>
            <a:ext cx="1016000" cy="6350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26" name="Text 24"/>
          <p:cNvSpPr/>
          <p:nvPr/>
        </p:nvSpPr>
        <p:spPr>
          <a:xfrm>
            <a:off x="7239000" y="3683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39000" y="3429000"/>
            <a:ext cx="0" cy="2540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366000" y="4572000"/>
            <a:ext cx="1524000" cy="635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29" name="Text 27"/>
          <p:cNvSpPr/>
          <p:nvPr/>
        </p:nvSpPr>
        <p:spPr>
          <a:xfrm>
            <a:off x="7366000" y="4572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747000" y="4318000"/>
            <a:ext cx="0" cy="2540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8509000" y="33655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36000" y="42545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96000" y="5461000"/>
            <a:ext cx="406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entity relates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others.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mother has many children. Each child has one mother.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922000" y="1460500"/>
            <a:ext cx="4572000" cy="68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1176000" y="1651000"/>
            <a:ext cx="1016000" cy="406400"/>
          </a:xfrm>
          <a:prstGeom prst="roundRect">
            <a:avLst>
              <a:gd name="adj" fmla="val 16000"/>
            </a:avLst>
          </a:prstGeom>
          <a:solidFill>
            <a:srgbClr val="C4703F"/>
          </a:solidFill>
          <a:ln/>
        </p:spPr>
      </p:sp>
      <p:sp>
        <p:nvSpPr>
          <p:cNvPr id="36" name="Text 34"/>
          <p:cNvSpPr/>
          <p:nvPr/>
        </p:nvSpPr>
        <p:spPr>
          <a:xfrm>
            <a:off x="11176000" y="1651000"/>
            <a:ext cx="101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 : 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176000" y="2222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Many-to-Many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430000" y="2794000"/>
            <a:ext cx="1524000" cy="635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9" name="Text 37"/>
          <p:cNvSpPr/>
          <p:nvPr/>
        </p:nvSpPr>
        <p:spPr>
          <a:xfrm>
            <a:off x="11430000" y="2794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2192000" y="3683000"/>
            <a:ext cx="1016000" cy="6350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41" name="Text 39"/>
          <p:cNvSpPr/>
          <p:nvPr/>
        </p:nvSpPr>
        <p:spPr>
          <a:xfrm>
            <a:off x="12192000" y="3683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2192000" y="3429000"/>
            <a:ext cx="0" cy="2540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2446000" y="4572000"/>
            <a:ext cx="1524000" cy="635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44" name="Text 42"/>
          <p:cNvSpPr/>
          <p:nvPr/>
        </p:nvSpPr>
        <p:spPr>
          <a:xfrm>
            <a:off x="12446000" y="4572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2827000" y="4318000"/>
            <a:ext cx="0" cy="2540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13462000" y="33655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3716000" y="42545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176000" y="5461000"/>
            <a:ext cx="406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entities relate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others.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enroll in many courses. Each course has many students.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Cardinality Examples with Diagrams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4732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6000" y="1651000"/>
            <a:ext cx="762000" cy="355600"/>
          </a:xfrm>
          <a:prstGeom prst="roundRect">
            <a:avLst>
              <a:gd name="adj" fmla="val 16000"/>
            </a:avLst>
          </a:prstGeom>
          <a:solidFill>
            <a:srgbClr val="2D5A4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68500" y="1625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 ↔ Parking Spot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2286000"/>
            <a:ext cx="1778000" cy="571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2286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0" y="2260600"/>
            <a:ext cx="1143000" cy="6096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11" name="Text 9"/>
          <p:cNvSpPr/>
          <p:nvPr/>
        </p:nvSpPr>
        <p:spPr>
          <a:xfrm>
            <a:off x="3810000" y="2260600"/>
            <a:ext cx="1143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2286000"/>
            <a:ext cx="2032000" cy="571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22860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PARKING_SPOT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48000" y="2565400"/>
            <a:ext cx="762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2565400"/>
            <a:ext cx="762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3073400" y="22860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2400" y="22860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55000" y="1651000"/>
            <a:ext cx="6985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employee gets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exactly one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parking spot.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parking spot belongs to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exactly one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Think: Employee ID #45 → Parking Spot #12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810000"/>
            <a:ext cx="14732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6000" y="4000500"/>
            <a:ext cx="762000" cy="355600"/>
          </a:xfrm>
          <a:prstGeom prst="roundRect">
            <a:avLst>
              <a:gd name="adj" fmla="val 16000"/>
            </a:avLst>
          </a:prstGeom>
          <a:solidFill>
            <a:srgbClr val="2D5A4C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40005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68500" y="39751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 → Employee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" y="4635500"/>
            <a:ext cx="2032000" cy="571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24" name="Text 22"/>
          <p:cNvSpPr/>
          <p:nvPr/>
        </p:nvSpPr>
        <p:spPr>
          <a:xfrm>
            <a:off x="1270000" y="4635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64000" y="4610100"/>
            <a:ext cx="1143000" cy="6096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26" name="Text 24"/>
          <p:cNvSpPr/>
          <p:nvPr/>
        </p:nvSpPr>
        <p:spPr>
          <a:xfrm>
            <a:off x="4064000" y="4610100"/>
            <a:ext cx="1143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969000" y="4635500"/>
            <a:ext cx="1778000" cy="571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28" name="Text 26"/>
          <p:cNvSpPr/>
          <p:nvPr/>
        </p:nvSpPr>
        <p:spPr>
          <a:xfrm>
            <a:off x="5969000" y="4635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02000" y="4914900"/>
            <a:ext cx="762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207000" y="4914900"/>
            <a:ext cx="762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3327400" y="46355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46355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55000" y="4000500"/>
            <a:ext cx="6985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department has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employees.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employee works in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department.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Think: IT Dept → John, Mary, Alex, Sara...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6159500"/>
            <a:ext cx="14732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16000" y="6350000"/>
            <a:ext cx="762000" cy="355600"/>
          </a:xfrm>
          <a:prstGeom prst="roundRect">
            <a:avLst>
              <a:gd name="adj" fmla="val 16000"/>
            </a:avLst>
          </a:prstGeom>
          <a:solidFill>
            <a:srgbClr val="2D5A4C"/>
          </a:solidFill>
          <a:ln/>
        </p:spPr>
      </p:sp>
      <p:sp>
        <p:nvSpPr>
          <p:cNvPr id="36" name="Text 34"/>
          <p:cNvSpPr/>
          <p:nvPr/>
        </p:nvSpPr>
        <p:spPr>
          <a:xfrm>
            <a:off x="1016000" y="6350000"/>
            <a:ext cx="7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M:N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968500" y="6324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↔ Course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70000" y="6985000"/>
            <a:ext cx="1651000" cy="571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9" name="Text 37"/>
          <p:cNvSpPr/>
          <p:nvPr/>
        </p:nvSpPr>
        <p:spPr>
          <a:xfrm>
            <a:off x="1270000" y="69850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0" y="6959600"/>
            <a:ext cx="1270000" cy="6096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41" name="Text 39"/>
          <p:cNvSpPr/>
          <p:nvPr/>
        </p:nvSpPr>
        <p:spPr>
          <a:xfrm>
            <a:off x="3810000" y="6959600"/>
            <a:ext cx="1270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969000" y="6985000"/>
            <a:ext cx="1651000" cy="571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43" name="Text 41"/>
          <p:cNvSpPr/>
          <p:nvPr/>
        </p:nvSpPr>
        <p:spPr>
          <a:xfrm>
            <a:off x="5969000" y="6985000"/>
            <a:ext cx="1651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921000" y="7264400"/>
            <a:ext cx="889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5080000" y="7264400"/>
            <a:ext cx="889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073400" y="6985000"/>
            <a:ext cx="44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59400" y="6985000"/>
            <a:ext cx="44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55000" y="6350000"/>
            <a:ext cx="6985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enroll in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courses.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course has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Think: Alice takes DB, AI, Networks. DB has Alice, Bob, Carol...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Participation Constraints — Total vs Partial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71120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5080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7" name="Text 5"/>
          <p:cNvSpPr/>
          <p:nvPr/>
        </p:nvSpPr>
        <p:spPr>
          <a:xfrm>
            <a:off x="1625600" y="1651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Participation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SYMBOL: DOUBLE 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79500" y="2730500"/>
            <a:ext cx="1016000" cy="381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10" name="Shape 8"/>
          <p:cNvSpPr/>
          <p:nvPr/>
        </p:nvSpPr>
        <p:spPr>
          <a:xfrm>
            <a:off x="1079500" y="2819400"/>
            <a:ext cx="1016000" cy="381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3048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entity instance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participate in the relationship.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41910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employee MUST work for a department.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cannot have an employee who doesn't belong to any department.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Shown with a double line in ER diagrams.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1460500"/>
            <a:ext cx="71120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2000" y="1460500"/>
            <a:ext cx="63500" cy="5080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16" name="Shape 14"/>
          <p:cNvSpPr/>
          <p:nvPr/>
        </p:nvSpPr>
        <p:spPr>
          <a:xfrm>
            <a:off x="8699500" y="165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7" name="Text 15"/>
          <p:cNvSpPr/>
          <p:nvPr/>
        </p:nvSpPr>
        <p:spPr>
          <a:xfrm>
            <a:off x="9245600" y="1651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 Participation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99500" y="22225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SYMBOL: SINGLE LINE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99500" y="2768600"/>
            <a:ext cx="1016000" cy="381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20" name="Text 18"/>
          <p:cNvSpPr/>
          <p:nvPr/>
        </p:nvSpPr>
        <p:spPr>
          <a:xfrm>
            <a:off x="8699500" y="3048000"/>
            <a:ext cx="647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entity instance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or MAY NOT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participate.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995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99500" y="4191000"/>
            <a:ext cx="6477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employee MAY manage a project.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every employee manages a project. Some do, some don't.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Shown with a single line in ER diagrams.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858000"/>
            <a:ext cx="14732000" cy="1397000"/>
          </a:xfrm>
          <a:prstGeom prst="roundRect">
            <a:avLst>
              <a:gd name="adj" fmla="val 6000"/>
            </a:avLst>
          </a:prstGeom>
          <a:solidFill>
            <a:srgbClr val="2D5A4C">
              <a:alpha val="509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57275" y="7112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25" name="Text 23"/>
          <p:cNvSpPr/>
          <p:nvPr/>
        </p:nvSpPr>
        <p:spPr>
          <a:xfrm>
            <a:off x="1587500" y="7048500"/>
            <a:ext cx="1358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Analogy: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student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 enrolled in at least one course (total). But not every student joins a club (partial).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Participation Examples with Diagrams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4732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16000" y="1625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1: Employee works_for Department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2286000"/>
            <a:ext cx="2032000" cy="698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0" y="2286000"/>
            <a:ext cx="20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45000" y="2260600"/>
            <a:ext cx="1397000" cy="7366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9" name="Text 7"/>
          <p:cNvSpPr/>
          <p:nvPr/>
        </p:nvSpPr>
        <p:spPr>
          <a:xfrm>
            <a:off x="4445000" y="2260600"/>
            <a:ext cx="1397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WORKS_FOR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85000" y="2286000"/>
            <a:ext cx="2032000" cy="698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11" name="Text 9"/>
          <p:cNvSpPr/>
          <p:nvPr/>
        </p:nvSpPr>
        <p:spPr>
          <a:xfrm>
            <a:off x="6985000" y="2286000"/>
            <a:ext cx="203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02000" y="2628900"/>
            <a:ext cx="1143000" cy="0"/>
          </a:xfrm>
          <a:prstGeom prst="straightConnector1">
            <a:avLst/>
          </a:prstGeom>
          <a:noFill/>
          <a:ln w="38100">
            <a:solidFill>
              <a:srgbClr val="2D5A4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302000" y="2717800"/>
            <a:ext cx="1143000" cy="0"/>
          </a:xfrm>
          <a:prstGeom prst="straightConnector1">
            <a:avLst/>
          </a:prstGeom>
          <a:noFill/>
          <a:ln w="38100">
            <a:solidFill>
              <a:srgbClr val="2D5A4C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842000" y="2628900"/>
            <a:ext cx="1143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3556000" y="2794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23000" y="2794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3302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Line = Total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emp. must work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000" y="33020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Line = Partial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Dept. can exist without emps.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0" y="1651000"/>
            <a:ext cx="533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participation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Every employee must belong to a department.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 participation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 department can exist with zero employees (newly created).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016500"/>
            <a:ext cx="14732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6000" y="5181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2: Student enrolled_in Course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70000" y="5842000"/>
            <a:ext cx="1778000" cy="698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" y="5842000"/>
            <a:ext cx="177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191000" y="5816600"/>
            <a:ext cx="1524000" cy="7366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25" name="Text 23"/>
          <p:cNvSpPr/>
          <p:nvPr/>
        </p:nvSpPr>
        <p:spPr>
          <a:xfrm>
            <a:off x="4191000" y="5816600"/>
            <a:ext cx="1524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ENROLLED_IN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66000" y="5842000"/>
            <a:ext cx="1778000" cy="698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27" name="Text 25"/>
          <p:cNvSpPr/>
          <p:nvPr/>
        </p:nvSpPr>
        <p:spPr>
          <a:xfrm>
            <a:off x="7366000" y="5842000"/>
            <a:ext cx="177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048000" y="6184900"/>
            <a:ext cx="1143000" cy="0"/>
          </a:xfrm>
          <a:prstGeom prst="straightConnector1">
            <a:avLst/>
          </a:prstGeom>
          <a:noFill/>
          <a:ln w="38100">
            <a:solidFill>
              <a:srgbClr val="2D5A4C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3048000" y="6273800"/>
            <a:ext cx="1143000" cy="0"/>
          </a:xfrm>
          <a:prstGeom prst="straightConnector1">
            <a:avLst/>
          </a:prstGeom>
          <a:noFill/>
          <a:ln w="38100">
            <a:solidFill>
              <a:srgbClr val="2D5A4C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5715000" y="6184900"/>
            <a:ext cx="1651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3429000" y="6350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0000" y="6350000"/>
            <a:ext cx="38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6000" y="68580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Line = Total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student enrolled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31000" y="6858000"/>
            <a:ext cx="304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Line = Partial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can have 0 students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906000" y="5207000"/>
            <a:ext cx="533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participation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Every student must be enrolled in at least one course.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 participation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 course can exist with zero students initially.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ic2eluemf36i/mnt/agents/output/week2_db_course/images/7_Free_Puzzle_Pieces_Connected_Image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5A4C">
                  <a:alpha val="94000"/>
                </a:srgbClr>
              </a:gs>
              <a:gs pos="60000">
                <a:srgbClr val="2D5A4C">
                  <a:alpha val="88000"/>
                </a:srgbClr>
              </a:gs>
              <a:gs pos="100000">
                <a:srgbClr val="2D5A4C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016000" cy="508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Entity Types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762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Entities that cannot exist on their own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depend on other entities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Are Weak Entity Types?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8890000" cy="2222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2222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49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905000"/>
            <a:ext cx="8255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entity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an entity type that does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have its own unique identifier (primary key)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exist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an "owner" entity.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937000"/>
            <a:ext cx="8890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9500" y="4038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11250" y="44704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27335" y="36413"/>
                </a:moveTo>
                <a:cubicBezTo>
                  <a:pt x="21134" y="30212"/>
                  <a:pt x="11063" y="30212"/>
                  <a:pt x="4862" y="36413"/>
                </a:cubicBezTo>
                <a:cubicBezTo>
                  <a:pt x="-1339" y="42614"/>
                  <a:pt x="-1339" y="52685"/>
                  <a:pt x="4862" y="58886"/>
                </a:cubicBezTo>
                <a:lnTo>
                  <a:pt x="73025" y="127000"/>
                </a:lnTo>
                <a:lnTo>
                  <a:pt x="4911" y="195163"/>
                </a:lnTo>
                <a:cubicBezTo>
                  <a:pt x="-1290" y="201364"/>
                  <a:pt x="-1290" y="211435"/>
                  <a:pt x="4911" y="217636"/>
                </a:cubicBezTo>
                <a:cubicBezTo>
                  <a:pt x="11113" y="223838"/>
                  <a:pt x="21183" y="223838"/>
                  <a:pt x="27384" y="217636"/>
                </a:cubicBezTo>
                <a:lnTo>
                  <a:pt x="95498" y="149473"/>
                </a:lnTo>
                <a:lnTo>
                  <a:pt x="163661" y="217587"/>
                </a:lnTo>
                <a:cubicBezTo>
                  <a:pt x="169863" y="223788"/>
                  <a:pt x="179933" y="223788"/>
                  <a:pt x="186134" y="217587"/>
                </a:cubicBezTo>
                <a:cubicBezTo>
                  <a:pt x="192336" y="211386"/>
                  <a:pt x="192336" y="201315"/>
                  <a:pt x="186134" y="195114"/>
                </a:cubicBezTo>
                <a:lnTo>
                  <a:pt x="117971" y="127000"/>
                </a:lnTo>
                <a:lnTo>
                  <a:pt x="186085" y="58837"/>
                </a:lnTo>
                <a:cubicBezTo>
                  <a:pt x="192286" y="52636"/>
                  <a:pt x="192286" y="42565"/>
                  <a:pt x="186085" y="36364"/>
                </a:cubicBezTo>
                <a:cubicBezTo>
                  <a:pt x="179884" y="30163"/>
                  <a:pt x="169813" y="30163"/>
                  <a:pt x="163612" y="36364"/>
                </a:cubicBezTo>
                <a:lnTo>
                  <a:pt x="95498" y="104527"/>
                </a:lnTo>
                <a:lnTo>
                  <a:pt x="27335" y="36413"/>
                </a:ln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4445000"/>
            <a:ext cx="787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primary key of its own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63625" y="48895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08111" y="47625"/>
                </a:moveTo>
                <a:cubicBezTo>
                  <a:pt x="199876" y="47625"/>
                  <a:pt x="191889" y="49857"/>
                  <a:pt x="184894" y="53925"/>
                </a:cubicBezTo>
                <a:cubicBezTo>
                  <a:pt x="177056" y="45988"/>
                  <a:pt x="167928" y="39340"/>
                  <a:pt x="157857" y="34330"/>
                </a:cubicBezTo>
                <a:cubicBezTo>
                  <a:pt x="171847" y="22423"/>
                  <a:pt x="189657" y="15875"/>
                  <a:pt x="208111" y="15875"/>
                </a:cubicBezTo>
                <a:cubicBezTo>
                  <a:pt x="250974" y="15875"/>
                  <a:pt x="285750" y="50602"/>
                  <a:pt x="285750" y="93514"/>
                </a:cubicBezTo>
                <a:cubicBezTo>
                  <a:pt x="285750" y="114102"/>
                  <a:pt x="277564" y="133846"/>
                  <a:pt x="263029" y="148382"/>
                </a:cubicBezTo>
                <a:lnTo>
                  <a:pt x="227757" y="183654"/>
                </a:lnTo>
                <a:cubicBezTo>
                  <a:pt x="213221" y="198189"/>
                  <a:pt x="193477" y="206375"/>
                  <a:pt x="172889" y="206375"/>
                </a:cubicBezTo>
                <a:cubicBezTo>
                  <a:pt x="130026" y="206375"/>
                  <a:pt x="95250" y="171648"/>
                  <a:pt x="95250" y="128736"/>
                </a:cubicBezTo>
                <a:cubicBezTo>
                  <a:pt x="95250" y="127992"/>
                  <a:pt x="95250" y="127248"/>
                  <a:pt x="95300" y="126504"/>
                </a:cubicBezTo>
                <a:cubicBezTo>
                  <a:pt x="95548" y="117723"/>
                  <a:pt x="102840" y="110827"/>
                  <a:pt x="111621" y="111075"/>
                </a:cubicBezTo>
                <a:cubicBezTo>
                  <a:pt x="120402" y="111323"/>
                  <a:pt x="127298" y="118616"/>
                  <a:pt x="127050" y="127397"/>
                </a:cubicBezTo>
                <a:cubicBezTo>
                  <a:pt x="127050" y="127843"/>
                  <a:pt x="127050" y="128290"/>
                  <a:pt x="127050" y="128687"/>
                </a:cubicBezTo>
                <a:cubicBezTo>
                  <a:pt x="127050" y="154037"/>
                  <a:pt x="147588" y="174575"/>
                  <a:pt x="172938" y="174575"/>
                </a:cubicBezTo>
                <a:cubicBezTo>
                  <a:pt x="185093" y="174575"/>
                  <a:pt x="196751" y="169763"/>
                  <a:pt x="205383" y="161131"/>
                </a:cubicBezTo>
                <a:lnTo>
                  <a:pt x="240655" y="125859"/>
                </a:lnTo>
                <a:cubicBezTo>
                  <a:pt x="249237" y="117277"/>
                  <a:pt x="254099" y="105569"/>
                  <a:pt x="254099" y="93414"/>
                </a:cubicBezTo>
                <a:cubicBezTo>
                  <a:pt x="254099" y="68064"/>
                  <a:pt x="233561" y="47526"/>
                  <a:pt x="208211" y="47526"/>
                </a:cubicBezTo>
                <a:close/>
                <a:moveTo>
                  <a:pt x="136525" y="85973"/>
                </a:moveTo>
                <a:cubicBezTo>
                  <a:pt x="135582" y="85576"/>
                  <a:pt x="134640" y="85030"/>
                  <a:pt x="133796" y="84435"/>
                </a:cubicBezTo>
                <a:cubicBezTo>
                  <a:pt x="127546" y="81211"/>
                  <a:pt x="120402" y="79375"/>
                  <a:pt x="112911" y="79375"/>
                </a:cubicBezTo>
                <a:cubicBezTo>
                  <a:pt x="100757" y="79375"/>
                  <a:pt x="89098" y="84187"/>
                  <a:pt x="80466" y="92819"/>
                </a:cubicBezTo>
                <a:lnTo>
                  <a:pt x="45194" y="128091"/>
                </a:lnTo>
                <a:cubicBezTo>
                  <a:pt x="36612" y="136674"/>
                  <a:pt x="31750" y="148382"/>
                  <a:pt x="31750" y="160536"/>
                </a:cubicBezTo>
                <a:cubicBezTo>
                  <a:pt x="31750" y="185886"/>
                  <a:pt x="52288" y="206425"/>
                  <a:pt x="77639" y="206425"/>
                </a:cubicBezTo>
                <a:cubicBezTo>
                  <a:pt x="85824" y="206425"/>
                  <a:pt x="93811" y="204242"/>
                  <a:pt x="100806" y="200174"/>
                </a:cubicBezTo>
                <a:cubicBezTo>
                  <a:pt x="108645" y="208111"/>
                  <a:pt x="117773" y="214759"/>
                  <a:pt x="127893" y="219770"/>
                </a:cubicBezTo>
                <a:cubicBezTo>
                  <a:pt x="113903" y="231626"/>
                  <a:pt x="96143" y="238224"/>
                  <a:pt x="77639" y="238224"/>
                </a:cubicBezTo>
                <a:cubicBezTo>
                  <a:pt x="34776" y="238224"/>
                  <a:pt x="0" y="203498"/>
                  <a:pt x="0" y="160586"/>
                </a:cubicBezTo>
                <a:cubicBezTo>
                  <a:pt x="0" y="139998"/>
                  <a:pt x="8186" y="120253"/>
                  <a:pt x="22721" y="105718"/>
                </a:cubicBezTo>
                <a:lnTo>
                  <a:pt x="57993" y="70445"/>
                </a:lnTo>
                <a:cubicBezTo>
                  <a:pt x="72529" y="55910"/>
                  <a:pt x="92273" y="47724"/>
                  <a:pt x="112861" y="47724"/>
                </a:cubicBezTo>
                <a:cubicBezTo>
                  <a:pt x="155823" y="47724"/>
                  <a:pt x="190500" y="82748"/>
                  <a:pt x="190500" y="125561"/>
                </a:cubicBezTo>
                <a:cubicBezTo>
                  <a:pt x="190500" y="126206"/>
                  <a:pt x="190500" y="126851"/>
                  <a:pt x="190500" y="127496"/>
                </a:cubicBezTo>
                <a:cubicBezTo>
                  <a:pt x="190302" y="136277"/>
                  <a:pt x="183009" y="143173"/>
                  <a:pt x="174228" y="142974"/>
                </a:cubicBezTo>
                <a:cubicBezTo>
                  <a:pt x="165447" y="142776"/>
                  <a:pt x="158552" y="135483"/>
                  <a:pt x="158750" y="126702"/>
                </a:cubicBezTo>
                <a:cubicBezTo>
                  <a:pt x="158750" y="126305"/>
                  <a:pt x="158750" y="125958"/>
                  <a:pt x="158750" y="125561"/>
                </a:cubicBezTo>
                <a:cubicBezTo>
                  <a:pt x="158750" y="108843"/>
                  <a:pt x="149820" y="94159"/>
                  <a:pt x="136525" y="86072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3" name="Text 11"/>
          <p:cNvSpPr/>
          <p:nvPr/>
        </p:nvSpPr>
        <p:spPr>
          <a:xfrm>
            <a:off x="1460500" y="4864100"/>
            <a:ext cx="787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Depends on another entity (the "owner")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" y="5308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6688" y="174625"/>
                </a:moveTo>
                <a:cubicBezTo>
                  <a:pt x="214908" y="174625"/>
                  <a:pt x="254000" y="135533"/>
                  <a:pt x="254000" y="87313"/>
                </a:cubicBezTo>
                <a:cubicBezTo>
                  <a:pt x="254000" y="39092"/>
                  <a:pt x="214908" y="0"/>
                  <a:pt x="166688" y="0"/>
                </a:cubicBezTo>
                <a:cubicBezTo>
                  <a:pt x="118467" y="0"/>
                  <a:pt x="79375" y="39092"/>
                  <a:pt x="79375" y="87313"/>
                </a:cubicBezTo>
                <a:cubicBezTo>
                  <a:pt x="79375" y="96589"/>
                  <a:pt x="80814" y="105569"/>
                  <a:pt x="83493" y="113953"/>
                </a:cubicBezTo>
                <a:lnTo>
                  <a:pt x="3473" y="193973"/>
                </a:lnTo>
                <a:cubicBezTo>
                  <a:pt x="1240" y="196205"/>
                  <a:pt x="0" y="199231"/>
                  <a:pt x="0" y="202406"/>
                </a:cubicBezTo>
                <a:lnTo>
                  <a:pt x="0" y="242094"/>
                </a:lnTo>
                <a:cubicBezTo>
                  <a:pt x="0" y="248692"/>
                  <a:pt x="5308" y="254000"/>
                  <a:pt x="11906" y="254000"/>
                </a:cubicBezTo>
                <a:lnTo>
                  <a:pt x="51594" y="254000"/>
                </a:lnTo>
                <a:cubicBezTo>
                  <a:pt x="58192" y="254000"/>
                  <a:pt x="63500" y="248692"/>
                  <a:pt x="63500" y="242094"/>
                </a:cubicBezTo>
                <a:lnTo>
                  <a:pt x="63500" y="222250"/>
                </a:lnTo>
                <a:lnTo>
                  <a:pt x="83344" y="222250"/>
                </a:lnTo>
                <a:cubicBezTo>
                  <a:pt x="89942" y="222250"/>
                  <a:pt x="95250" y="216942"/>
                  <a:pt x="95250" y="210344"/>
                </a:cubicBezTo>
                <a:lnTo>
                  <a:pt x="95250" y="190500"/>
                </a:lnTo>
                <a:lnTo>
                  <a:pt x="115094" y="190500"/>
                </a:lnTo>
                <a:cubicBezTo>
                  <a:pt x="118269" y="190500"/>
                  <a:pt x="121295" y="189260"/>
                  <a:pt x="123527" y="187027"/>
                </a:cubicBezTo>
                <a:lnTo>
                  <a:pt x="140047" y="170507"/>
                </a:lnTo>
                <a:cubicBezTo>
                  <a:pt x="148431" y="173186"/>
                  <a:pt x="157411" y="174625"/>
                  <a:pt x="166688" y="174625"/>
                </a:cubicBezTo>
                <a:close/>
                <a:moveTo>
                  <a:pt x="186531" y="47625"/>
                </a:moveTo>
                <a:cubicBezTo>
                  <a:pt x="197483" y="47625"/>
                  <a:pt x="206375" y="56517"/>
                  <a:pt x="206375" y="67469"/>
                </a:cubicBezTo>
                <a:cubicBezTo>
                  <a:pt x="206375" y="78421"/>
                  <a:pt x="197483" y="87313"/>
                  <a:pt x="186531" y="87313"/>
                </a:cubicBezTo>
                <a:cubicBezTo>
                  <a:pt x="175579" y="87313"/>
                  <a:pt x="166688" y="78421"/>
                  <a:pt x="166688" y="67469"/>
                </a:cubicBezTo>
                <a:cubicBezTo>
                  <a:pt x="166688" y="56517"/>
                  <a:pt x="175579" y="47625"/>
                  <a:pt x="186531" y="47625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5" name="Text 13"/>
          <p:cNvSpPr/>
          <p:nvPr/>
        </p:nvSpPr>
        <p:spPr>
          <a:xfrm>
            <a:off x="1460500" y="5283200"/>
            <a:ext cx="787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by partial key + owner's primary key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" y="5727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7" name="Text 15"/>
          <p:cNvSpPr/>
          <p:nvPr/>
        </p:nvSpPr>
        <p:spPr>
          <a:xfrm>
            <a:off x="1460500" y="5702300"/>
            <a:ext cx="787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Shown as double rectangle in ER diagrams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33000" y="1460500"/>
            <a:ext cx="5461000" cy="501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33000" y="1460500"/>
            <a:ext cx="63500" cy="50165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20" name="Text 18"/>
          <p:cNvSpPr/>
          <p:nvPr/>
        </p:nvSpPr>
        <p:spPr>
          <a:xfrm>
            <a:off x="10350500" y="1549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REAL-LIFE ANALOGY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407650" y="20066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157163" y="314325"/>
                </a:moveTo>
                <a:lnTo>
                  <a:pt x="185738" y="314325"/>
                </a:lnTo>
                <a:cubicBezTo>
                  <a:pt x="201543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128588" y="414338"/>
                </a:lnTo>
                <a:lnTo>
                  <a:pt x="128588" y="342900"/>
                </a:lnTo>
                <a:cubicBezTo>
                  <a:pt x="128588" y="327094"/>
                  <a:pt x="141357" y="314325"/>
                  <a:pt x="157163" y="314325"/>
                </a:cubicBezTo>
                <a:close/>
                <a:moveTo>
                  <a:pt x="85725" y="100013"/>
                </a:moveTo>
                <a:cubicBezTo>
                  <a:pt x="85725" y="92154"/>
                  <a:pt x="92154" y="85725"/>
                  <a:pt x="100013" y="85725"/>
                </a:cubicBezTo>
                <a:lnTo>
                  <a:pt x="128588" y="85725"/>
                </a:lnTo>
                <a:cubicBezTo>
                  <a:pt x="136446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36446" y="142875"/>
                  <a:pt x="128588" y="142875"/>
                </a:cubicBezTo>
                <a:lnTo>
                  <a:pt x="100013" y="142875"/>
                </a:lnTo>
                <a:cubicBezTo>
                  <a:pt x="92154" y="142875"/>
                  <a:pt x="85725" y="136446"/>
                  <a:pt x="85725" y="128588"/>
                </a:cubicBezTo>
                <a:lnTo>
                  <a:pt x="85725" y="100013"/>
                </a:lnTo>
                <a:close/>
                <a:moveTo>
                  <a:pt x="214313" y="85725"/>
                </a:moveTo>
                <a:lnTo>
                  <a:pt x="242888" y="85725"/>
                </a:lnTo>
                <a:cubicBezTo>
                  <a:pt x="250746" y="85725"/>
                  <a:pt x="257175" y="92154"/>
                  <a:pt x="257175" y="100013"/>
                </a:cubicBezTo>
                <a:lnTo>
                  <a:pt x="257175" y="128588"/>
                </a:lnTo>
                <a:cubicBezTo>
                  <a:pt x="257175" y="136446"/>
                  <a:pt x="250746" y="142875"/>
                  <a:pt x="242888" y="142875"/>
                </a:cubicBezTo>
                <a:lnTo>
                  <a:pt x="214313" y="142875"/>
                </a:lnTo>
                <a:cubicBezTo>
                  <a:pt x="206454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206454" y="85725"/>
                  <a:pt x="214313" y="85725"/>
                </a:cubicBezTo>
                <a:close/>
                <a:moveTo>
                  <a:pt x="85725" y="214313"/>
                </a:moveTo>
                <a:cubicBezTo>
                  <a:pt x="85725" y="206454"/>
                  <a:pt x="92154" y="200025"/>
                  <a:pt x="100013" y="200025"/>
                </a:cubicBezTo>
                <a:lnTo>
                  <a:pt x="128588" y="200025"/>
                </a:lnTo>
                <a:cubicBezTo>
                  <a:pt x="136446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36446" y="257175"/>
                  <a:pt x="128588" y="257175"/>
                </a:cubicBezTo>
                <a:lnTo>
                  <a:pt x="100013" y="257175"/>
                </a:lnTo>
                <a:cubicBezTo>
                  <a:pt x="92154" y="257175"/>
                  <a:pt x="85725" y="250746"/>
                  <a:pt x="85725" y="242888"/>
                </a:cubicBezTo>
                <a:lnTo>
                  <a:pt x="85725" y="214313"/>
                </a:lnTo>
                <a:close/>
                <a:moveTo>
                  <a:pt x="214313" y="200025"/>
                </a:moveTo>
                <a:lnTo>
                  <a:pt x="242888" y="200025"/>
                </a:lnTo>
                <a:cubicBezTo>
                  <a:pt x="250746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50746" y="257175"/>
                  <a:pt x="242888" y="257175"/>
                </a:cubicBezTo>
                <a:lnTo>
                  <a:pt x="214313" y="257175"/>
                </a:lnTo>
                <a:cubicBezTo>
                  <a:pt x="206454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206454" y="200025"/>
                  <a:pt x="214313" y="200025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22" name="Text 20"/>
          <p:cNvSpPr/>
          <p:nvPr/>
        </p:nvSpPr>
        <p:spPr>
          <a:xfrm>
            <a:off x="10985500" y="2006600"/>
            <a:ext cx="419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Apartment Building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50500" y="2641600"/>
            <a:ext cx="482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Room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101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makes sense when you know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which building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is in.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Room 101 in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A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different from Room 101 in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B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room number alone is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enough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 needs the building to be uniquely identified!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8580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2D5A4C">
              <a:alpha val="5098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79500" y="6985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weak entity is like a room number — it only becomes unique when combined with its "building" (owner entity).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Components of a Weak Entity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4699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6000" y="1651000"/>
            <a:ext cx="457200" cy="457200"/>
          </a:xfrm>
          <a:prstGeom prst="ellipse">
            <a:avLst/>
          </a:prstGeom>
          <a:solidFill>
            <a:srgbClr val="2D5A4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651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Entity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entity that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exist independently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Shown as a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rectangle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ER diagrams.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DEPENDENT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460500"/>
            <a:ext cx="4699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2500" y="1651000"/>
            <a:ext cx="457200" cy="457200"/>
          </a:xfrm>
          <a:prstGeom prst="ellipse">
            <a:avLst/>
          </a:prstGeom>
          <a:solidFill>
            <a:srgbClr val="2D5A4C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1651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16700" y="1651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Owner Entity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2860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entity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owns the weak entity.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Shown as a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rectangle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EMPLOYEE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460500"/>
            <a:ext cx="4699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049000" y="1651000"/>
            <a:ext cx="457200" cy="457200"/>
          </a:xfrm>
          <a:prstGeom prst="ellipse">
            <a:avLst/>
          </a:prstGeom>
          <a:solidFill>
            <a:srgbClr val="2D5A4C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0" y="1651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33200" y="1651000"/>
            <a:ext cx="355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Identifying Relationship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286000"/>
            <a:ext cx="4191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link between weak and owner entity.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Shown as a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diamond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DEPENDS_ON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953000"/>
            <a:ext cx="14732000" cy="1841500"/>
          </a:xfrm>
          <a:prstGeom prst="roundRect">
            <a:avLst>
              <a:gd name="adj" fmla="val 4000"/>
            </a:avLst>
          </a:prstGeom>
          <a:solidFill>
            <a:srgbClr val="C4703F">
              <a:alpha val="8235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4953000"/>
            <a:ext cx="63500" cy="18415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9500" y="520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37" y="177800"/>
                </a:moveTo>
                <a:cubicBezTo>
                  <a:pt x="33337" y="97998"/>
                  <a:pt x="97998" y="33337"/>
                  <a:pt x="177800" y="33337"/>
                </a:cubicBezTo>
                <a:cubicBezTo>
                  <a:pt x="221625" y="33337"/>
                  <a:pt x="260866" y="52854"/>
                  <a:pt x="287397" y="83691"/>
                </a:cubicBezTo>
                <a:cubicBezTo>
                  <a:pt x="293370" y="90706"/>
                  <a:pt x="303927" y="91470"/>
                  <a:pt x="310872" y="85497"/>
                </a:cubicBezTo>
                <a:cubicBezTo>
                  <a:pt x="317818" y="79524"/>
                  <a:pt x="318651" y="68967"/>
                  <a:pt x="312678" y="62022"/>
                </a:cubicBezTo>
                <a:cubicBezTo>
                  <a:pt x="280104" y="24031"/>
                  <a:pt x="231765" y="0"/>
                  <a:pt x="177800" y="0"/>
                </a:cubicBezTo>
                <a:cubicBezTo>
                  <a:pt x="79593" y="0"/>
                  <a:pt x="0" y="79593"/>
                  <a:pt x="0" y="177800"/>
                </a:cubicBezTo>
                <a:lnTo>
                  <a:pt x="0" y="205581"/>
                </a:lnTo>
                <a:cubicBezTo>
                  <a:pt x="0" y="214819"/>
                  <a:pt x="7431" y="222250"/>
                  <a:pt x="16669" y="222250"/>
                </a:cubicBezTo>
                <a:cubicBezTo>
                  <a:pt x="25906" y="222250"/>
                  <a:pt x="33337" y="214819"/>
                  <a:pt x="33337" y="205581"/>
                </a:cubicBezTo>
                <a:lnTo>
                  <a:pt x="33337" y="177800"/>
                </a:lnTo>
                <a:close/>
                <a:moveTo>
                  <a:pt x="351780" y="141059"/>
                </a:moveTo>
                <a:cubicBezTo>
                  <a:pt x="349905" y="132030"/>
                  <a:pt x="341015" y="126266"/>
                  <a:pt x="332055" y="128210"/>
                </a:cubicBezTo>
                <a:cubicBezTo>
                  <a:pt x="323096" y="130155"/>
                  <a:pt x="317262" y="138976"/>
                  <a:pt x="319207" y="147935"/>
                </a:cubicBezTo>
                <a:cubicBezTo>
                  <a:pt x="321221" y="157589"/>
                  <a:pt x="322332" y="167590"/>
                  <a:pt x="322332" y="177869"/>
                </a:cubicBezTo>
                <a:lnTo>
                  <a:pt x="322332" y="205651"/>
                </a:lnTo>
                <a:cubicBezTo>
                  <a:pt x="322332" y="214888"/>
                  <a:pt x="329763" y="222319"/>
                  <a:pt x="339001" y="222319"/>
                </a:cubicBezTo>
                <a:cubicBezTo>
                  <a:pt x="348238" y="222319"/>
                  <a:pt x="355669" y="214888"/>
                  <a:pt x="355669" y="205651"/>
                </a:cubicBezTo>
                <a:lnTo>
                  <a:pt x="355669" y="177869"/>
                </a:lnTo>
                <a:cubicBezTo>
                  <a:pt x="355669" y="165298"/>
                  <a:pt x="354350" y="153005"/>
                  <a:pt x="351850" y="141129"/>
                </a:cubicBezTo>
                <a:close/>
                <a:moveTo>
                  <a:pt x="177800" y="55563"/>
                </a:moveTo>
                <a:cubicBezTo>
                  <a:pt x="164604" y="55563"/>
                  <a:pt x="151825" y="57646"/>
                  <a:pt x="139948" y="61535"/>
                </a:cubicBezTo>
                <a:cubicBezTo>
                  <a:pt x="129391" y="65008"/>
                  <a:pt x="126960" y="77996"/>
                  <a:pt x="134183" y="86469"/>
                </a:cubicBezTo>
                <a:cubicBezTo>
                  <a:pt x="139115" y="92234"/>
                  <a:pt x="147241" y="93970"/>
                  <a:pt x="154603" y="91956"/>
                </a:cubicBezTo>
                <a:cubicBezTo>
                  <a:pt x="161965" y="89942"/>
                  <a:pt x="169743" y="88900"/>
                  <a:pt x="177800" y="88900"/>
                </a:cubicBezTo>
                <a:cubicBezTo>
                  <a:pt x="226903" y="88900"/>
                  <a:pt x="266700" y="128697"/>
                  <a:pt x="266700" y="177800"/>
                </a:cubicBezTo>
                <a:lnTo>
                  <a:pt x="266700" y="195094"/>
                </a:lnTo>
                <a:cubicBezTo>
                  <a:pt x="266700" y="212596"/>
                  <a:pt x="265658" y="230029"/>
                  <a:pt x="263644" y="247392"/>
                </a:cubicBezTo>
                <a:cubicBezTo>
                  <a:pt x="262463" y="257532"/>
                  <a:pt x="270173" y="266700"/>
                  <a:pt x="280452" y="266700"/>
                </a:cubicBezTo>
                <a:cubicBezTo>
                  <a:pt x="288647" y="266700"/>
                  <a:pt x="295662" y="260727"/>
                  <a:pt x="296634" y="252601"/>
                </a:cubicBezTo>
                <a:cubicBezTo>
                  <a:pt x="298926" y="233571"/>
                  <a:pt x="300107" y="214402"/>
                  <a:pt x="300107" y="195163"/>
                </a:cubicBezTo>
                <a:lnTo>
                  <a:pt x="300107" y="177869"/>
                </a:lnTo>
                <a:cubicBezTo>
                  <a:pt x="300107" y="110361"/>
                  <a:pt x="245378" y="55632"/>
                  <a:pt x="177869" y="55632"/>
                </a:cubicBezTo>
                <a:close/>
                <a:moveTo>
                  <a:pt x="104666" y="103277"/>
                </a:moveTo>
                <a:cubicBezTo>
                  <a:pt x="98346" y="95915"/>
                  <a:pt x="87094" y="95359"/>
                  <a:pt x="81121" y="102999"/>
                </a:cubicBezTo>
                <a:cubicBezTo>
                  <a:pt x="65078" y="123696"/>
                  <a:pt x="55562" y="149602"/>
                  <a:pt x="55562" y="177800"/>
                </a:cubicBezTo>
                <a:lnTo>
                  <a:pt x="55562" y="195094"/>
                </a:lnTo>
                <a:cubicBezTo>
                  <a:pt x="55562" y="211901"/>
                  <a:pt x="53757" y="228709"/>
                  <a:pt x="50145" y="245031"/>
                </a:cubicBezTo>
                <a:cubicBezTo>
                  <a:pt x="47784" y="255865"/>
                  <a:pt x="55632" y="266631"/>
                  <a:pt x="66744" y="266631"/>
                </a:cubicBezTo>
                <a:cubicBezTo>
                  <a:pt x="74037" y="266631"/>
                  <a:pt x="80566" y="261769"/>
                  <a:pt x="82163" y="254615"/>
                </a:cubicBezTo>
                <a:cubicBezTo>
                  <a:pt x="86608" y="235099"/>
                  <a:pt x="88900" y="215166"/>
                  <a:pt x="88900" y="195024"/>
                </a:cubicBezTo>
                <a:lnTo>
                  <a:pt x="88900" y="177731"/>
                </a:lnTo>
                <a:cubicBezTo>
                  <a:pt x="88900" y="158839"/>
                  <a:pt x="94804" y="141337"/>
                  <a:pt x="104805" y="126960"/>
                </a:cubicBezTo>
                <a:cubicBezTo>
                  <a:pt x="109805" y="119737"/>
                  <a:pt x="110361" y="109875"/>
                  <a:pt x="104666" y="103207"/>
                </a:cubicBezTo>
                <a:close/>
                <a:moveTo>
                  <a:pt x="177800" y="111125"/>
                </a:moveTo>
                <a:cubicBezTo>
                  <a:pt x="140990" y="111125"/>
                  <a:pt x="111125" y="140990"/>
                  <a:pt x="111125" y="177800"/>
                </a:cubicBezTo>
                <a:lnTo>
                  <a:pt x="111125" y="195094"/>
                </a:lnTo>
                <a:cubicBezTo>
                  <a:pt x="111125" y="220027"/>
                  <a:pt x="107930" y="244753"/>
                  <a:pt x="101540" y="268784"/>
                </a:cubicBezTo>
                <a:cubicBezTo>
                  <a:pt x="98901" y="278715"/>
                  <a:pt x="106194" y="288925"/>
                  <a:pt x="116473" y="288925"/>
                </a:cubicBezTo>
                <a:cubicBezTo>
                  <a:pt x="123071" y="288925"/>
                  <a:pt x="128905" y="284619"/>
                  <a:pt x="130641" y="278229"/>
                </a:cubicBezTo>
                <a:cubicBezTo>
                  <a:pt x="137934" y="251142"/>
                  <a:pt x="141684" y="223222"/>
                  <a:pt x="141684" y="195094"/>
                </a:cubicBezTo>
                <a:lnTo>
                  <a:pt x="141684" y="177800"/>
                </a:lnTo>
                <a:cubicBezTo>
                  <a:pt x="141684" y="157867"/>
                  <a:pt x="157867" y="141684"/>
                  <a:pt x="177800" y="141684"/>
                </a:cubicBezTo>
                <a:cubicBezTo>
                  <a:pt x="197733" y="141684"/>
                  <a:pt x="213916" y="157867"/>
                  <a:pt x="213916" y="177800"/>
                </a:cubicBezTo>
                <a:lnTo>
                  <a:pt x="213916" y="195094"/>
                </a:lnTo>
                <a:cubicBezTo>
                  <a:pt x="213916" y="220305"/>
                  <a:pt x="211485" y="245378"/>
                  <a:pt x="206693" y="270034"/>
                </a:cubicBezTo>
                <a:cubicBezTo>
                  <a:pt x="204817" y="279688"/>
                  <a:pt x="212040" y="288925"/>
                  <a:pt x="221833" y="288925"/>
                </a:cubicBezTo>
                <a:cubicBezTo>
                  <a:pt x="228918" y="288925"/>
                  <a:pt x="235029" y="284063"/>
                  <a:pt x="236418" y="277118"/>
                </a:cubicBezTo>
                <a:cubicBezTo>
                  <a:pt x="241766" y="250170"/>
                  <a:pt x="244475" y="222736"/>
                  <a:pt x="244475" y="195094"/>
                </a:cubicBezTo>
                <a:lnTo>
                  <a:pt x="244475" y="177800"/>
                </a:lnTo>
                <a:cubicBezTo>
                  <a:pt x="244475" y="140990"/>
                  <a:pt x="214610" y="111125"/>
                  <a:pt x="177800" y="111125"/>
                </a:cubicBezTo>
                <a:close/>
                <a:moveTo>
                  <a:pt x="194469" y="177800"/>
                </a:moveTo>
                <a:cubicBezTo>
                  <a:pt x="194469" y="168563"/>
                  <a:pt x="187037" y="161131"/>
                  <a:pt x="177800" y="161131"/>
                </a:cubicBezTo>
                <a:cubicBezTo>
                  <a:pt x="168563" y="161131"/>
                  <a:pt x="161131" y="168563"/>
                  <a:pt x="161131" y="177800"/>
                </a:cubicBezTo>
                <a:lnTo>
                  <a:pt x="161131" y="195094"/>
                </a:lnTo>
                <a:cubicBezTo>
                  <a:pt x="161131" y="236696"/>
                  <a:pt x="153491" y="277951"/>
                  <a:pt x="138559" y="316776"/>
                </a:cubicBezTo>
                <a:lnTo>
                  <a:pt x="134461" y="327402"/>
                </a:lnTo>
                <a:cubicBezTo>
                  <a:pt x="131128" y="336014"/>
                  <a:pt x="135434" y="345668"/>
                  <a:pt x="144046" y="348933"/>
                </a:cubicBezTo>
                <a:cubicBezTo>
                  <a:pt x="152658" y="352197"/>
                  <a:pt x="162312" y="347960"/>
                  <a:pt x="165576" y="339348"/>
                </a:cubicBezTo>
                <a:lnTo>
                  <a:pt x="169674" y="328722"/>
                </a:lnTo>
                <a:cubicBezTo>
                  <a:pt x="186065" y="286077"/>
                  <a:pt x="194469" y="240794"/>
                  <a:pt x="194469" y="195094"/>
                </a:cubicBezTo>
                <a:lnTo>
                  <a:pt x="194469" y="177800"/>
                </a:ln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22" name="Text 20"/>
          <p:cNvSpPr/>
          <p:nvPr/>
        </p:nvSpPr>
        <p:spPr>
          <a:xfrm>
            <a:off x="1587500" y="5181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 Key (Discriminator)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9500" y="5715000"/>
            <a:ext cx="14097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attribute that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partially identifies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weak entity. It becomes unique only when combined with the owner's primary key. Shown with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dashed underline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921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2D5A4C">
              <a:alpha val="5098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79500" y="7112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Tip: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Double rectangle + Double diamond = Weak Entity. The "doubles" remind you that it needs a partner!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Weak Entity Example — Employee &amp; Dependent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8890000" cy="673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16000" y="1549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 DIAGRAM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2159000"/>
            <a:ext cx="2540000" cy="1016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7" name="Shape 5"/>
          <p:cNvSpPr/>
          <p:nvPr/>
        </p:nvSpPr>
        <p:spPr>
          <a:xfrm>
            <a:off x="1320800" y="2209800"/>
            <a:ext cx="2438400" cy="914400"/>
          </a:xfrm>
          <a:prstGeom prst="rect">
            <a:avLst/>
          </a:prstGeom>
          <a:solidFill>
            <a:srgbClr val="2D5A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0000" y="2222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2603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u="sng" dirty="0">
                <a:solidFill>
                  <a:srgbClr val="FFFFFF">
                    <a:alpha val="80000"/>
                  </a:srgbClr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Emp_ID</a:t>
            </a:r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(PK)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28956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Name, Salary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40000" y="3810000"/>
            <a:ext cx="1270000" cy="8890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12" name="Shape 10"/>
          <p:cNvSpPr/>
          <p:nvPr/>
        </p:nvSpPr>
        <p:spPr>
          <a:xfrm>
            <a:off x="2590800" y="3860800"/>
            <a:ext cx="1168400" cy="787400"/>
          </a:xfrm>
          <a:prstGeom prst="diamond">
            <a:avLst/>
          </a:prstGeom>
          <a:solidFill>
            <a:srgbClr val="C470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0000" y="3937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" y="5334000"/>
            <a:ext cx="2921000" cy="1016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15" name="Shape 13"/>
          <p:cNvSpPr/>
          <p:nvPr/>
        </p:nvSpPr>
        <p:spPr>
          <a:xfrm>
            <a:off x="1320800" y="5384800"/>
            <a:ext cx="2819400" cy="914400"/>
          </a:xfrm>
          <a:prstGeom prst="rect">
            <a:avLst/>
          </a:prstGeom>
          <a:solidFill>
            <a:srgbClr val="2D5A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0000" y="54610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0000" y="58166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Dependent_Name (Partial Key)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0000" y="6070600"/>
            <a:ext cx="292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Relationship, Birth_Date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40000" y="3175000"/>
            <a:ext cx="0" cy="6350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730500" y="4699000"/>
            <a:ext cx="0" cy="635000"/>
          </a:xfrm>
          <a:prstGeom prst="straightConnector1">
            <a:avLst/>
          </a:prstGeom>
          <a:noFill/>
          <a:ln w="38100">
            <a:solidFill>
              <a:srgbClr val="2D5A4C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2806700" y="4699000"/>
            <a:ext cx="0" cy="635000"/>
          </a:xfrm>
          <a:prstGeom prst="straightConnector1">
            <a:avLst/>
          </a:prstGeom>
          <a:noFill/>
          <a:ln w="38100">
            <a:solidFill>
              <a:srgbClr val="2D5A4C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2565400" y="3200400"/>
            <a:ext cx="40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19400" y="4800600"/>
            <a:ext cx="406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80000" y="2159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LEGEND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80000" y="2603500"/>
            <a:ext cx="381000" cy="381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26" name="Shape 24"/>
          <p:cNvSpPr/>
          <p:nvPr/>
        </p:nvSpPr>
        <p:spPr>
          <a:xfrm>
            <a:off x="5080000" y="2692400"/>
            <a:ext cx="381000" cy="381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27" name="Text 25"/>
          <p:cNvSpPr/>
          <p:nvPr/>
        </p:nvSpPr>
        <p:spPr>
          <a:xfrm>
            <a:off x="5588000" y="254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line = Total participation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80000" y="3048000"/>
            <a:ext cx="317500" cy="2286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29" name="Shape 27"/>
          <p:cNvSpPr/>
          <p:nvPr/>
        </p:nvSpPr>
        <p:spPr>
          <a:xfrm>
            <a:off x="5130800" y="3098800"/>
            <a:ext cx="215900" cy="127000"/>
          </a:xfrm>
          <a:prstGeom prst="rect">
            <a:avLst/>
          </a:prstGeom>
          <a:solidFill>
            <a:srgbClr val="2D5A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88000" y="2997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rectangle = Weak entity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07000" y="3556000"/>
            <a:ext cx="254000" cy="2032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32" name="Shape 30"/>
          <p:cNvSpPr/>
          <p:nvPr/>
        </p:nvSpPr>
        <p:spPr>
          <a:xfrm>
            <a:off x="5257800" y="3581400"/>
            <a:ext cx="152400" cy="152400"/>
          </a:xfrm>
          <a:prstGeom prst="diamond">
            <a:avLst/>
          </a:prstGeom>
          <a:solidFill>
            <a:srgbClr val="C470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88000" y="34798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diamond = Identifying rel.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033000" y="1460500"/>
            <a:ext cx="5461000" cy="673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33000" y="1460500"/>
            <a:ext cx="63500" cy="6731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36" name="Text 34"/>
          <p:cNvSpPr/>
          <p:nvPr/>
        </p:nvSpPr>
        <p:spPr>
          <a:xfrm>
            <a:off x="10350500" y="1549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350500" y="1968500"/>
            <a:ext cx="4889500" cy="603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owner entity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(strong). It has its own primary key: Emp_ID.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DEPENDENT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entity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It has no primary key of its own.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 key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"Dependent_Name" alone is NOT unique.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 "John + Emp_ID 101"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unique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diamond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"DEPENDS" is the identifying relationship.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line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shows total participation — every dependent must belong to an employee.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ic2eluemf36i/mnt/agents/output/week2_db_course/images/3_Free_Geometric_Blueprint_Pattern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5A4C">
                  <a:alpha val="94000"/>
                </a:srgbClr>
              </a:gs>
              <a:gs pos="60000">
                <a:srgbClr val="2D5A4C">
                  <a:alpha val="88000"/>
                </a:srgbClr>
              </a:gs>
              <a:gs pos="100000">
                <a:srgbClr val="2D5A4C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016000" cy="508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 Diagrams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762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visual language of database design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how to draw and read ER diagrams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an ER Diagram?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8636000" cy="247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2476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49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905000"/>
            <a:ext cx="800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 (Entity-Relationship) Diagram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visual tool used to design and represent the structure of a database.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 shows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we store,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properties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has, and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pieces relate to each other.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00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Use ER Diagrams?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98538" y="45974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157163" y="17463"/>
                </a:moveTo>
                <a:cubicBezTo>
                  <a:pt x="113070" y="17463"/>
                  <a:pt x="77763" y="37544"/>
                  <a:pt x="52060" y="61446"/>
                </a:cubicBezTo>
                <a:cubicBezTo>
                  <a:pt x="26521" y="85184"/>
                  <a:pt x="9441" y="113506"/>
                  <a:pt x="1310" y="132988"/>
                </a:cubicBezTo>
                <a:cubicBezTo>
                  <a:pt x="-491" y="137299"/>
                  <a:pt x="-491" y="142101"/>
                  <a:pt x="1310" y="146412"/>
                </a:cubicBezTo>
                <a:cubicBezTo>
                  <a:pt x="9441" y="165894"/>
                  <a:pt x="26521" y="194270"/>
                  <a:pt x="52060" y="217954"/>
                </a:cubicBezTo>
                <a:cubicBezTo>
                  <a:pt x="77763" y="241801"/>
                  <a:pt x="113070" y="261938"/>
                  <a:pt x="157163" y="261938"/>
                </a:cubicBezTo>
                <a:cubicBezTo>
                  <a:pt x="201255" y="261938"/>
                  <a:pt x="236562" y="241856"/>
                  <a:pt x="262265" y="217954"/>
                </a:cubicBezTo>
                <a:cubicBezTo>
                  <a:pt x="287804" y="194216"/>
                  <a:pt x="304884" y="165894"/>
                  <a:pt x="313015" y="146412"/>
                </a:cubicBezTo>
                <a:cubicBezTo>
                  <a:pt x="314816" y="142101"/>
                  <a:pt x="314816" y="137299"/>
                  <a:pt x="313015" y="132988"/>
                </a:cubicBezTo>
                <a:cubicBezTo>
                  <a:pt x="304884" y="113506"/>
                  <a:pt x="287804" y="85130"/>
                  <a:pt x="262265" y="61446"/>
                </a:cubicBezTo>
                <a:cubicBezTo>
                  <a:pt x="236562" y="37599"/>
                  <a:pt x="201255" y="17462"/>
                  <a:pt x="157163" y="17462"/>
                </a:cubicBezTo>
                <a:close/>
                <a:moveTo>
                  <a:pt x="78581" y="139700"/>
                </a:moveTo>
                <a:cubicBezTo>
                  <a:pt x="78581" y="96330"/>
                  <a:pt x="113792" y="61119"/>
                  <a:pt x="157163" y="61119"/>
                </a:cubicBezTo>
                <a:cubicBezTo>
                  <a:pt x="200533" y="61119"/>
                  <a:pt x="235744" y="96330"/>
                  <a:pt x="235744" y="139700"/>
                </a:cubicBezTo>
                <a:cubicBezTo>
                  <a:pt x="235744" y="183070"/>
                  <a:pt x="200533" y="218281"/>
                  <a:pt x="157163" y="218281"/>
                </a:cubicBezTo>
                <a:cubicBezTo>
                  <a:pt x="113792" y="218281"/>
                  <a:pt x="78581" y="183070"/>
                  <a:pt x="78581" y="139700"/>
                </a:cubicBezTo>
                <a:close/>
                <a:moveTo>
                  <a:pt x="157163" y="104775"/>
                </a:moveTo>
                <a:cubicBezTo>
                  <a:pt x="157163" y="124038"/>
                  <a:pt x="141501" y="139700"/>
                  <a:pt x="122238" y="139700"/>
                </a:cubicBezTo>
                <a:cubicBezTo>
                  <a:pt x="115962" y="139700"/>
                  <a:pt x="110068" y="138063"/>
                  <a:pt x="104939" y="135116"/>
                </a:cubicBezTo>
                <a:cubicBezTo>
                  <a:pt x="104393" y="141064"/>
                  <a:pt x="104884" y="147176"/>
                  <a:pt x="106521" y="153233"/>
                </a:cubicBezTo>
                <a:cubicBezTo>
                  <a:pt x="113997" y="181173"/>
                  <a:pt x="142756" y="197763"/>
                  <a:pt x="170696" y="190287"/>
                </a:cubicBezTo>
                <a:cubicBezTo>
                  <a:pt x="198636" y="182811"/>
                  <a:pt x="215225" y="154052"/>
                  <a:pt x="207749" y="126112"/>
                </a:cubicBezTo>
                <a:cubicBezTo>
                  <a:pt x="201092" y="101173"/>
                  <a:pt x="177463" y="85293"/>
                  <a:pt x="152579" y="87476"/>
                </a:cubicBezTo>
                <a:cubicBezTo>
                  <a:pt x="155471" y="92551"/>
                  <a:pt x="157163" y="98445"/>
                  <a:pt x="157163" y="104775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0" name="Text 8"/>
          <p:cNvSpPr/>
          <p:nvPr/>
        </p:nvSpPr>
        <p:spPr>
          <a:xfrm>
            <a:off x="1460500" y="4572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to understand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even non-technical people can read them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5041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54188" y="139755"/>
                </a:moveTo>
                <a:lnTo>
                  <a:pt x="92060" y="74325"/>
                </a:lnTo>
                <a:cubicBezTo>
                  <a:pt x="89004" y="67667"/>
                  <a:pt x="87258" y="60246"/>
                  <a:pt x="87258" y="52388"/>
                </a:cubicBezTo>
                <a:cubicBezTo>
                  <a:pt x="87258" y="23465"/>
                  <a:pt x="110723" y="0"/>
                  <a:pt x="139645" y="0"/>
                </a:cubicBezTo>
                <a:cubicBezTo>
                  <a:pt x="168568" y="0"/>
                  <a:pt x="192033" y="23465"/>
                  <a:pt x="192033" y="52388"/>
                </a:cubicBezTo>
                <a:cubicBezTo>
                  <a:pt x="192033" y="60191"/>
                  <a:pt x="190341" y="67613"/>
                  <a:pt x="187231" y="74325"/>
                </a:cubicBezTo>
                <a:lnTo>
                  <a:pt x="211460" y="116180"/>
                </a:lnTo>
                <a:cubicBezTo>
                  <a:pt x="198854" y="130368"/>
                  <a:pt x="182156" y="140791"/>
                  <a:pt x="163220" y="145539"/>
                </a:cubicBezTo>
                <a:lnTo>
                  <a:pt x="139700" y="104720"/>
                </a:lnTo>
                <a:lnTo>
                  <a:pt x="102538" y="168895"/>
                </a:lnTo>
                <a:cubicBezTo>
                  <a:pt x="114270" y="172606"/>
                  <a:pt x="126712" y="174625"/>
                  <a:pt x="139700" y="174625"/>
                </a:cubicBezTo>
                <a:cubicBezTo>
                  <a:pt x="178281" y="174625"/>
                  <a:pt x="212715" y="156781"/>
                  <a:pt x="235143" y="128786"/>
                </a:cubicBezTo>
                <a:cubicBezTo>
                  <a:pt x="241201" y="121255"/>
                  <a:pt x="252169" y="120055"/>
                  <a:pt x="259700" y="126057"/>
                </a:cubicBezTo>
                <a:cubicBezTo>
                  <a:pt x="267231" y="132060"/>
                  <a:pt x="268431" y="143083"/>
                  <a:pt x="262429" y="150614"/>
                </a:cubicBezTo>
                <a:cubicBezTo>
                  <a:pt x="233670" y="186521"/>
                  <a:pt x="189359" y="209550"/>
                  <a:pt x="139755" y="209550"/>
                </a:cubicBezTo>
                <a:cubicBezTo>
                  <a:pt x="120437" y="209550"/>
                  <a:pt x="101883" y="206058"/>
                  <a:pt x="84802" y="199673"/>
                </a:cubicBezTo>
                <a:lnTo>
                  <a:pt x="53861" y="253043"/>
                </a:lnTo>
                <a:cubicBezTo>
                  <a:pt x="51296" y="257463"/>
                  <a:pt x="47476" y="261064"/>
                  <a:pt x="42892" y="263356"/>
                </a:cubicBezTo>
                <a:lnTo>
                  <a:pt x="12660" y="278472"/>
                </a:lnTo>
                <a:cubicBezTo>
                  <a:pt x="9932" y="279837"/>
                  <a:pt x="6712" y="279673"/>
                  <a:pt x="4147" y="278090"/>
                </a:cubicBezTo>
                <a:cubicBezTo>
                  <a:pt x="1583" y="276508"/>
                  <a:pt x="0" y="273670"/>
                  <a:pt x="0" y="270669"/>
                </a:cubicBezTo>
                <a:lnTo>
                  <a:pt x="0" y="240437"/>
                </a:lnTo>
                <a:cubicBezTo>
                  <a:pt x="0" y="235853"/>
                  <a:pt x="1201" y="231324"/>
                  <a:pt x="3547" y="227285"/>
                </a:cubicBezTo>
                <a:lnTo>
                  <a:pt x="36289" y="170696"/>
                </a:lnTo>
                <a:cubicBezTo>
                  <a:pt x="29304" y="164584"/>
                  <a:pt x="22865" y="157872"/>
                  <a:pt x="17026" y="150614"/>
                </a:cubicBezTo>
                <a:cubicBezTo>
                  <a:pt x="10969" y="143083"/>
                  <a:pt x="12224" y="132115"/>
                  <a:pt x="19754" y="126057"/>
                </a:cubicBezTo>
                <a:cubicBezTo>
                  <a:pt x="27285" y="120000"/>
                  <a:pt x="38254" y="121255"/>
                  <a:pt x="44311" y="128786"/>
                </a:cubicBezTo>
                <a:cubicBezTo>
                  <a:pt x="47422" y="132660"/>
                  <a:pt x="50750" y="136317"/>
                  <a:pt x="54243" y="139755"/>
                </a:cubicBezTo>
                <a:close/>
                <a:moveTo>
                  <a:pt x="207967" y="222592"/>
                </a:moveTo>
                <a:cubicBezTo>
                  <a:pt x="225703" y="215498"/>
                  <a:pt x="242019" y="205676"/>
                  <a:pt x="256480" y="193725"/>
                </a:cubicBezTo>
                <a:lnTo>
                  <a:pt x="275908" y="227285"/>
                </a:lnTo>
                <a:cubicBezTo>
                  <a:pt x="278199" y="231269"/>
                  <a:pt x="279455" y="235798"/>
                  <a:pt x="279455" y="240437"/>
                </a:cubicBezTo>
                <a:lnTo>
                  <a:pt x="279455" y="270669"/>
                </a:lnTo>
                <a:cubicBezTo>
                  <a:pt x="279455" y="273670"/>
                  <a:pt x="277872" y="276508"/>
                  <a:pt x="275307" y="278090"/>
                </a:cubicBezTo>
                <a:cubicBezTo>
                  <a:pt x="272742" y="279673"/>
                  <a:pt x="269523" y="279837"/>
                  <a:pt x="266794" y="278472"/>
                </a:cubicBezTo>
                <a:lnTo>
                  <a:pt x="236562" y="263356"/>
                </a:lnTo>
                <a:cubicBezTo>
                  <a:pt x="231978" y="261064"/>
                  <a:pt x="228158" y="257463"/>
                  <a:pt x="225594" y="253043"/>
                </a:cubicBezTo>
                <a:lnTo>
                  <a:pt x="207967" y="222592"/>
                </a:lnTo>
                <a:close/>
                <a:moveTo>
                  <a:pt x="139700" y="69850"/>
                </a:moveTo>
                <a:cubicBezTo>
                  <a:pt x="149338" y="69850"/>
                  <a:pt x="157163" y="62025"/>
                  <a:pt x="157163" y="52388"/>
                </a:cubicBezTo>
                <a:cubicBezTo>
                  <a:pt x="157163" y="42750"/>
                  <a:pt x="149338" y="34925"/>
                  <a:pt x="139700" y="34925"/>
                </a:cubicBezTo>
                <a:cubicBezTo>
                  <a:pt x="130062" y="34925"/>
                  <a:pt x="122238" y="42750"/>
                  <a:pt x="122238" y="52388"/>
                </a:cubicBezTo>
                <a:cubicBezTo>
                  <a:pt x="122238" y="62025"/>
                  <a:pt x="130062" y="69850"/>
                  <a:pt x="139700" y="69850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2" name="Text 10"/>
          <p:cNvSpPr/>
          <p:nvPr/>
        </p:nvSpPr>
        <p:spPr>
          <a:xfrm>
            <a:off x="1460500" y="50165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Helps plan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building the actual database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5486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cubicBezTo>
                  <a:pt x="158976" y="0"/>
                  <a:pt x="174625" y="15649"/>
                  <a:pt x="174625" y="34925"/>
                </a:cubicBezTo>
                <a:cubicBezTo>
                  <a:pt x="174625" y="54201"/>
                  <a:pt x="158976" y="69850"/>
                  <a:pt x="139700" y="69850"/>
                </a:cubicBezTo>
                <a:cubicBezTo>
                  <a:pt x="120424" y="69850"/>
                  <a:pt x="104775" y="54201"/>
                  <a:pt x="104775" y="34925"/>
                </a:cubicBezTo>
                <a:cubicBezTo>
                  <a:pt x="104775" y="15649"/>
                  <a:pt x="120424" y="0"/>
                  <a:pt x="139700" y="0"/>
                </a:cubicBezTo>
                <a:close/>
                <a:moveTo>
                  <a:pt x="192088" y="170259"/>
                </a:moveTo>
                <a:cubicBezTo>
                  <a:pt x="192088" y="183902"/>
                  <a:pt x="185157" y="195907"/>
                  <a:pt x="174625" y="202947"/>
                </a:cubicBezTo>
                <a:lnTo>
                  <a:pt x="174625" y="253206"/>
                </a:lnTo>
                <a:cubicBezTo>
                  <a:pt x="174625" y="267667"/>
                  <a:pt x="162892" y="279400"/>
                  <a:pt x="148431" y="279400"/>
                </a:cubicBezTo>
                <a:lnTo>
                  <a:pt x="130969" y="279400"/>
                </a:lnTo>
                <a:cubicBezTo>
                  <a:pt x="116508" y="279400"/>
                  <a:pt x="104775" y="267667"/>
                  <a:pt x="104775" y="253206"/>
                </a:cubicBezTo>
                <a:lnTo>
                  <a:pt x="104775" y="202947"/>
                </a:lnTo>
                <a:cubicBezTo>
                  <a:pt x="94243" y="195907"/>
                  <a:pt x="87313" y="183902"/>
                  <a:pt x="87313" y="170259"/>
                </a:cubicBezTo>
                <a:lnTo>
                  <a:pt x="87313" y="148431"/>
                </a:lnTo>
                <a:cubicBezTo>
                  <a:pt x="87313" y="119509"/>
                  <a:pt x="110778" y="96044"/>
                  <a:pt x="139700" y="96044"/>
                </a:cubicBezTo>
                <a:cubicBezTo>
                  <a:pt x="168622" y="96044"/>
                  <a:pt x="192088" y="119509"/>
                  <a:pt x="192088" y="148431"/>
                </a:cubicBezTo>
                <a:lnTo>
                  <a:pt x="192088" y="170259"/>
                </a:lnTo>
                <a:close/>
                <a:moveTo>
                  <a:pt x="52388" y="17463"/>
                </a:moveTo>
                <a:cubicBezTo>
                  <a:pt x="69254" y="17463"/>
                  <a:pt x="82947" y="31156"/>
                  <a:pt x="82947" y="48022"/>
                </a:cubicBezTo>
                <a:cubicBezTo>
                  <a:pt x="82947" y="64888"/>
                  <a:pt x="69254" y="78581"/>
                  <a:pt x="52388" y="78581"/>
                </a:cubicBezTo>
                <a:cubicBezTo>
                  <a:pt x="35521" y="78581"/>
                  <a:pt x="21828" y="64888"/>
                  <a:pt x="21828" y="48022"/>
                </a:cubicBezTo>
                <a:cubicBezTo>
                  <a:pt x="21828" y="31156"/>
                  <a:pt x="35521" y="17463"/>
                  <a:pt x="52387" y="17463"/>
                </a:cubicBezTo>
                <a:close/>
                <a:moveTo>
                  <a:pt x="61119" y="148431"/>
                </a:moveTo>
                <a:lnTo>
                  <a:pt x="61119" y="165894"/>
                </a:lnTo>
                <a:cubicBezTo>
                  <a:pt x="61119" y="183629"/>
                  <a:pt x="67722" y="199782"/>
                  <a:pt x="78581" y="212115"/>
                </a:cubicBezTo>
                <a:lnTo>
                  <a:pt x="78581" y="253206"/>
                </a:lnTo>
                <a:cubicBezTo>
                  <a:pt x="78581" y="253861"/>
                  <a:pt x="78581" y="254571"/>
                  <a:pt x="78636" y="255225"/>
                </a:cubicBezTo>
                <a:cubicBezTo>
                  <a:pt x="73997" y="259373"/>
                  <a:pt x="67885" y="261938"/>
                  <a:pt x="61119" y="261938"/>
                </a:cubicBezTo>
                <a:lnTo>
                  <a:pt x="43656" y="261938"/>
                </a:lnTo>
                <a:cubicBezTo>
                  <a:pt x="29195" y="261938"/>
                  <a:pt x="17463" y="250205"/>
                  <a:pt x="17463" y="235744"/>
                </a:cubicBezTo>
                <a:lnTo>
                  <a:pt x="17463" y="204857"/>
                </a:lnTo>
                <a:cubicBezTo>
                  <a:pt x="7040" y="198854"/>
                  <a:pt x="0" y="187558"/>
                  <a:pt x="0" y="174625"/>
                </a:cubicBezTo>
                <a:lnTo>
                  <a:pt x="0" y="157163"/>
                </a:lnTo>
                <a:cubicBezTo>
                  <a:pt x="0" y="128240"/>
                  <a:pt x="23465" y="104775"/>
                  <a:pt x="52388" y="104775"/>
                </a:cubicBezTo>
                <a:cubicBezTo>
                  <a:pt x="59318" y="104775"/>
                  <a:pt x="65921" y="106139"/>
                  <a:pt x="71978" y="108540"/>
                </a:cubicBezTo>
                <a:cubicBezTo>
                  <a:pt x="65102" y="120218"/>
                  <a:pt x="61119" y="133861"/>
                  <a:pt x="61119" y="148431"/>
                </a:cubicBezTo>
                <a:close/>
                <a:moveTo>
                  <a:pt x="200819" y="253206"/>
                </a:moveTo>
                <a:lnTo>
                  <a:pt x="200819" y="212115"/>
                </a:lnTo>
                <a:cubicBezTo>
                  <a:pt x="211678" y="199836"/>
                  <a:pt x="218281" y="183629"/>
                  <a:pt x="218281" y="165894"/>
                </a:cubicBezTo>
                <a:lnTo>
                  <a:pt x="218281" y="148431"/>
                </a:lnTo>
                <a:cubicBezTo>
                  <a:pt x="218281" y="133861"/>
                  <a:pt x="214298" y="120273"/>
                  <a:pt x="207422" y="108540"/>
                </a:cubicBezTo>
                <a:cubicBezTo>
                  <a:pt x="213479" y="106085"/>
                  <a:pt x="220082" y="104775"/>
                  <a:pt x="227013" y="104775"/>
                </a:cubicBezTo>
                <a:cubicBezTo>
                  <a:pt x="255935" y="104775"/>
                  <a:pt x="279400" y="128240"/>
                  <a:pt x="279400" y="157163"/>
                </a:cubicBezTo>
                <a:lnTo>
                  <a:pt x="279400" y="174625"/>
                </a:lnTo>
                <a:cubicBezTo>
                  <a:pt x="279400" y="187558"/>
                  <a:pt x="272360" y="198854"/>
                  <a:pt x="261938" y="204857"/>
                </a:cubicBezTo>
                <a:lnTo>
                  <a:pt x="261938" y="235744"/>
                </a:lnTo>
                <a:cubicBezTo>
                  <a:pt x="261938" y="250205"/>
                  <a:pt x="250205" y="261938"/>
                  <a:pt x="235744" y="261938"/>
                </a:cubicBezTo>
                <a:lnTo>
                  <a:pt x="218281" y="261938"/>
                </a:lnTo>
                <a:cubicBezTo>
                  <a:pt x="211569" y="261938"/>
                  <a:pt x="205403" y="259427"/>
                  <a:pt x="200764" y="255225"/>
                </a:cubicBezTo>
                <a:cubicBezTo>
                  <a:pt x="200764" y="254571"/>
                  <a:pt x="200819" y="253861"/>
                  <a:pt x="200819" y="253206"/>
                </a:cubicBezTo>
                <a:close/>
                <a:moveTo>
                  <a:pt x="227013" y="17463"/>
                </a:moveTo>
                <a:cubicBezTo>
                  <a:pt x="243879" y="17463"/>
                  <a:pt x="257572" y="31156"/>
                  <a:pt x="257572" y="48022"/>
                </a:cubicBezTo>
                <a:cubicBezTo>
                  <a:pt x="257572" y="64888"/>
                  <a:pt x="243879" y="78581"/>
                  <a:pt x="227013" y="78581"/>
                </a:cubicBezTo>
                <a:cubicBezTo>
                  <a:pt x="210146" y="78581"/>
                  <a:pt x="196453" y="64888"/>
                  <a:pt x="196453" y="48022"/>
                </a:cubicBezTo>
                <a:cubicBezTo>
                  <a:pt x="196453" y="31156"/>
                  <a:pt x="210146" y="17463"/>
                  <a:pt x="227013" y="17463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5461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Serves as a blueprint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the development team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" y="5930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27013" y="113506"/>
                </a:moveTo>
                <a:cubicBezTo>
                  <a:pt x="227013" y="138554"/>
                  <a:pt x="218882" y="161692"/>
                  <a:pt x="205184" y="180464"/>
                </a:cubicBezTo>
                <a:lnTo>
                  <a:pt x="274270" y="249605"/>
                </a:lnTo>
                <a:cubicBezTo>
                  <a:pt x="281092" y="256426"/>
                  <a:pt x="281092" y="267504"/>
                  <a:pt x="274270" y="274325"/>
                </a:cubicBezTo>
                <a:cubicBezTo>
                  <a:pt x="267449" y="281146"/>
                  <a:pt x="256371" y="281146"/>
                  <a:pt x="249550" y="274325"/>
                </a:cubicBezTo>
                <a:lnTo>
                  <a:pt x="180464" y="205184"/>
                </a:lnTo>
                <a:cubicBezTo>
                  <a:pt x="161692" y="218882"/>
                  <a:pt x="138554" y="227013"/>
                  <a:pt x="113506" y="227013"/>
                </a:cubicBezTo>
                <a:cubicBezTo>
                  <a:pt x="50805" y="227013"/>
                  <a:pt x="0" y="176208"/>
                  <a:pt x="0" y="113506"/>
                </a:cubicBezTo>
                <a:cubicBezTo>
                  <a:pt x="0" y="50805"/>
                  <a:pt x="50805" y="0"/>
                  <a:pt x="113506" y="0"/>
                </a:cubicBezTo>
                <a:cubicBezTo>
                  <a:pt x="176208" y="0"/>
                  <a:pt x="227013" y="50805"/>
                  <a:pt x="227013" y="113506"/>
                </a:cubicBezTo>
                <a:close/>
                <a:moveTo>
                  <a:pt x="113506" y="192088"/>
                </a:moveTo>
                <a:cubicBezTo>
                  <a:pt x="156876" y="192088"/>
                  <a:pt x="192088" y="156876"/>
                  <a:pt x="192088" y="113506"/>
                </a:cubicBezTo>
                <a:cubicBezTo>
                  <a:pt x="192088" y="70136"/>
                  <a:pt x="156876" y="34925"/>
                  <a:pt x="113506" y="34925"/>
                </a:cubicBezTo>
                <a:cubicBezTo>
                  <a:pt x="70136" y="34925"/>
                  <a:pt x="34925" y="70136"/>
                  <a:pt x="34925" y="113506"/>
                </a:cubicBezTo>
                <a:cubicBezTo>
                  <a:pt x="34925" y="156876"/>
                  <a:pt x="70136" y="192088"/>
                  <a:pt x="113506" y="192088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6" name="Text 14"/>
          <p:cNvSpPr/>
          <p:nvPr/>
        </p:nvSpPr>
        <p:spPr>
          <a:xfrm>
            <a:off x="1460500" y="59055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Spots design problems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early before coding begins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033000" y="1460500"/>
            <a:ext cx="5461000" cy="501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33000" y="1460500"/>
            <a:ext cx="63500" cy="50165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19" name="Text 17"/>
          <p:cNvSpPr/>
          <p:nvPr/>
        </p:nvSpPr>
        <p:spPr>
          <a:xfrm>
            <a:off x="10350500" y="1549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REAL-LIFE ANALOGY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3505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2370" y="8533"/>
                </a:moveTo>
                <a:cubicBezTo>
                  <a:pt x="244574" y="-2778"/>
                  <a:pt x="263426" y="-2778"/>
                  <a:pt x="275530" y="8533"/>
                </a:cubicBezTo>
                <a:lnTo>
                  <a:pt x="365125" y="91579"/>
                </a:lnTo>
                <a:lnTo>
                  <a:pt x="365125" y="79375"/>
                </a:lnTo>
                <a:cubicBezTo>
                  <a:pt x="365125" y="61813"/>
                  <a:pt x="379313" y="47625"/>
                  <a:pt x="396875" y="47625"/>
                </a:cubicBezTo>
                <a:lnTo>
                  <a:pt x="428625" y="47625"/>
                </a:lnTo>
                <a:cubicBezTo>
                  <a:pt x="446187" y="47625"/>
                  <a:pt x="460375" y="61813"/>
                  <a:pt x="460375" y="79375"/>
                </a:cubicBezTo>
                <a:lnTo>
                  <a:pt x="460375" y="180082"/>
                </a:lnTo>
                <a:lnTo>
                  <a:pt x="497880" y="214908"/>
                </a:lnTo>
                <a:cubicBezTo>
                  <a:pt x="507405" y="223838"/>
                  <a:pt x="510580" y="237629"/>
                  <a:pt x="505817" y="249734"/>
                </a:cubicBezTo>
                <a:cubicBezTo>
                  <a:pt x="501055" y="261838"/>
                  <a:pt x="489347" y="269875"/>
                  <a:pt x="476250" y="269875"/>
                </a:cubicBezTo>
                <a:lnTo>
                  <a:pt x="460375" y="269875"/>
                </a:lnTo>
                <a:lnTo>
                  <a:pt x="460375" y="444500"/>
                </a:lnTo>
                <a:cubicBezTo>
                  <a:pt x="460375" y="479524"/>
                  <a:pt x="431899" y="508000"/>
                  <a:pt x="396875" y="508000"/>
                </a:cubicBezTo>
                <a:lnTo>
                  <a:pt x="111125" y="508000"/>
                </a:lnTo>
                <a:cubicBezTo>
                  <a:pt x="76101" y="508000"/>
                  <a:pt x="47625" y="479524"/>
                  <a:pt x="47625" y="444500"/>
                </a:cubicBezTo>
                <a:lnTo>
                  <a:pt x="47625" y="269875"/>
                </a:lnTo>
                <a:lnTo>
                  <a:pt x="31750" y="269875"/>
                </a:lnTo>
                <a:cubicBezTo>
                  <a:pt x="18653" y="269875"/>
                  <a:pt x="6945" y="261838"/>
                  <a:pt x="2183" y="249734"/>
                </a:cubicBezTo>
                <a:cubicBezTo>
                  <a:pt x="-2580" y="237629"/>
                  <a:pt x="595" y="223738"/>
                  <a:pt x="10120" y="214908"/>
                </a:cubicBezTo>
                <a:lnTo>
                  <a:pt x="232370" y="8533"/>
                </a:lnTo>
                <a:close/>
                <a:moveTo>
                  <a:pt x="238125" y="317500"/>
                </a:moveTo>
                <a:cubicBezTo>
                  <a:pt x="211832" y="317500"/>
                  <a:pt x="190500" y="338832"/>
                  <a:pt x="190500" y="365125"/>
                </a:cubicBezTo>
                <a:lnTo>
                  <a:pt x="190500" y="460375"/>
                </a:lnTo>
                <a:lnTo>
                  <a:pt x="317500" y="460375"/>
                </a:lnTo>
                <a:lnTo>
                  <a:pt x="317500" y="365125"/>
                </a:lnTo>
                <a:cubicBezTo>
                  <a:pt x="317500" y="338832"/>
                  <a:pt x="296168" y="317500"/>
                  <a:pt x="269875" y="317500"/>
                </a:cubicBezTo>
                <a:lnTo>
                  <a:pt x="238125" y="317500"/>
                </a:ln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0" y="20320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an Architect's Blueprint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50500" y="2730500"/>
            <a:ext cx="4826000" cy="374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building a house, an architect draws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blueprint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showing: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Where each room goes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How rooms connect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What features each room has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 Diagram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same thing — but for a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 before you build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604000"/>
            <a:ext cx="8636000" cy="1587500"/>
          </a:xfrm>
          <a:prstGeom prst="roundRect">
            <a:avLst>
              <a:gd name="adj" fmla="val 6000"/>
            </a:avLst>
          </a:prstGeom>
          <a:solidFill>
            <a:srgbClr val="2D5A4C">
              <a:alpha val="5098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079500" y="673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ER Diagram Shows: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9500" y="71374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Entities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to store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83000" y="7493000"/>
            <a:ext cx="381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arrow"/>
          </a:ln>
        </p:spPr>
      </p:sp>
      <p:sp>
        <p:nvSpPr>
          <p:cNvPr id="27" name="Text 25"/>
          <p:cNvSpPr/>
          <p:nvPr/>
        </p:nvSpPr>
        <p:spPr>
          <a:xfrm>
            <a:off x="4191000" y="7137400"/>
            <a:ext cx="254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Attributes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Properties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94500" y="7493000"/>
            <a:ext cx="381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7302500" y="7137400"/>
            <a:ext cx="177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they link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ER Diagram Symbols &amp; Notations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6858000"/>
        </p:xfrm>
        <a:graphic>
          <a:graphicData uri="http://schemas.openxmlformats.org/drawingml/2006/table">
            <a:tbl>
              <a:tblPr/>
              <a:tblGrid>
                <a:gridCol w="3241040"/>
                <a:gridCol w="2651760"/>
                <a:gridCol w="4419600"/>
                <a:gridCol w="4419600"/>
              </a:tblGrid>
              <a:tr h="689631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Symbol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4C"/>
                    </a:solidFill>
                  </a:tcPr>
                </a:tc>
              </a:tr>
              <a:tr h="88119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Rectangle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Entity — A thing or object in the database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STUDENT, COURSE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119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Ellipse / Oval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Oval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Attribute — Property of an entity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Name, Age, 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</a:tr>
              <a:tr h="88119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Diamond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Diamond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0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Relationship — How entities connect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ENROLLS_IN, WORKS_FOR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119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Underlined Text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Attribute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Key — Unique identifier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Student_ID, Emp_ID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</a:tr>
              <a:tr h="88119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 Rectangle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 Rect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Weak Entity — Needs an owner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119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 Diamond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 Dia.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0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Identifying Relationship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DEPENDS_ON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</a:tr>
              <a:tr h="88119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Lines with Numbers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Line (1, N, M)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Cardinality — How many relate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1:N, M:N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Building an ER Diagram —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52500" y="1524000"/>
            <a:ext cx="558800" cy="558800"/>
          </a:xfrm>
          <a:prstGeom prst="ellipse">
            <a:avLst/>
          </a:prstGeom>
          <a:solidFill>
            <a:srgbClr val="2D5A4C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524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14500" y="152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All Entities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14500" y="1930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are the main objects? → Student, Course, Professor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1900" y="2082800"/>
            <a:ext cx="0" cy="355600"/>
          </a:xfrm>
          <a:prstGeom prst="straightConnector1">
            <a:avLst/>
          </a:prstGeom>
          <a:noFill/>
          <a:ln w="12700">
            <a:solidFill>
              <a:srgbClr val="E0DCD7"/>
            </a:solidFill>
            <a:prstDash val="sysDot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52500" y="2476500"/>
            <a:ext cx="558800" cy="558800"/>
          </a:xfrm>
          <a:prstGeom prst="ellipse">
            <a:avLst/>
          </a:prstGeom>
          <a:solidFill>
            <a:srgbClr val="2D5A4C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476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14500" y="247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 Attributes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14500" y="28829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properties? → Student: ID, Name, Email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1900" y="3035300"/>
            <a:ext cx="0" cy="355600"/>
          </a:xfrm>
          <a:prstGeom prst="straightConnector1">
            <a:avLst/>
          </a:prstGeom>
          <a:noFill/>
          <a:ln w="12700">
            <a:solidFill>
              <a:srgbClr val="E0DCD7"/>
            </a:solidFill>
            <a:prstDash val="sysDot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52500" y="3429000"/>
            <a:ext cx="558800" cy="558800"/>
          </a:xfrm>
          <a:prstGeom prst="ellipse">
            <a:avLst/>
          </a:prstGeom>
          <a:solidFill>
            <a:srgbClr val="2D5A4C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3429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14500" y="342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the Primary Key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14500" y="3835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uniquely identifies? → Student_ID for Student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31900" y="3987800"/>
            <a:ext cx="0" cy="355600"/>
          </a:xfrm>
          <a:prstGeom prst="straightConnector1">
            <a:avLst/>
          </a:prstGeom>
          <a:noFill/>
          <a:ln w="12700">
            <a:solidFill>
              <a:srgbClr val="E0DCD7"/>
            </a:solidFill>
            <a:prstDash val="sysDot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52500" y="4381500"/>
            <a:ext cx="558800" cy="558800"/>
          </a:xfrm>
          <a:prstGeom prst="ellipse">
            <a:avLst/>
          </a:prstGeom>
          <a:solidFill>
            <a:srgbClr val="2D5A4C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4381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14500" y="438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 Relationships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14500" y="47879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do they connect? → Student ENROLLS_IN Course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31900" y="4940300"/>
            <a:ext cx="0" cy="355600"/>
          </a:xfrm>
          <a:prstGeom prst="straightConnector1">
            <a:avLst/>
          </a:prstGeom>
          <a:noFill/>
          <a:ln w="12700">
            <a:solidFill>
              <a:srgbClr val="E0DCD7"/>
            </a:solidFill>
            <a:prstDash val="sysDot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52500" y="5334000"/>
            <a:ext cx="558800" cy="558800"/>
          </a:xfrm>
          <a:prstGeom prst="ellipse">
            <a:avLst/>
          </a:prstGeom>
          <a:solidFill>
            <a:srgbClr val="C4703F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5334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145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Cardinality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14500" y="5740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many on each side? → Professor 1:N Course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31900" y="5892800"/>
            <a:ext cx="0" cy="355600"/>
          </a:xfrm>
          <a:prstGeom prst="straightConnector1">
            <a:avLst/>
          </a:prstGeom>
          <a:noFill/>
          <a:ln w="12700">
            <a:solidFill>
              <a:srgbClr val="E0DCD7"/>
            </a:solidFill>
            <a:prstDash val="sysDot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52500" y="6286500"/>
            <a:ext cx="558800" cy="558800"/>
          </a:xfrm>
          <a:prstGeom prst="ellipse">
            <a:avLst/>
          </a:prstGeom>
          <a:solidFill>
            <a:srgbClr val="C4703F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6286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14500" y="628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Participation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14500" y="66929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or partial? → Must every student enroll?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31900" y="6845300"/>
            <a:ext cx="0" cy="355600"/>
          </a:xfrm>
          <a:prstGeom prst="straightConnector1">
            <a:avLst/>
          </a:prstGeom>
          <a:noFill/>
          <a:ln w="12700">
            <a:solidFill>
              <a:srgbClr val="E0DCD7"/>
            </a:solidFill>
            <a:prstDash val="sysDot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52500" y="7239000"/>
            <a:ext cx="558800" cy="558800"/>
          </a:xfrm>
          <a:prstGeom prst="ellipse">
            <a:avLst/>
          </a:prstGeom>
          <a:solidFill>
            <a:srgbClr val="C4703F"/>
          </a:solidFill>
          <a:ln/>
        </p:spPr>
      </p:sp>
      <p:sp>
        <p:nvSpPr>
          <p:cNvPr id="35" name="Text 33"/>
          <p:cNvSpPr/>
          <p:nvPr/>
        </p:nvSpPr>
        <p:spPr>
          <a:xfrm>
            <a:off x="952500" y="7239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714500" y="723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Draw the Complete Diagram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714500" y="76454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 it all together with proper symbols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890000" y="1524000"/>
            <a:ext cx="6604000" cy="66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890000" y="1524000"/>
            <a:ext cx="63500" cy="6604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40" name="Text 38"/>
          <p:cNvSpPr/>
          <p:nvPr/>
        </p:nvSpPr>
        <p:spPr>
          <a:xfrm>
            <a:off x="9207500" y="1625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264650" y="2095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61551" y="342900"/>
                </a:moveTo>
                <a:cubicBezTo>
                  <a:pt x="268069" y="322987"/>
                  <a:pt x="281107" y="304949"/>
                  <a:pt x="295841" y="289411"/>
                </a:cubicBezTo>
                <a:cubicBezTo>
                  <a:pt x="325041" y="258693"/>
                  <a:pt x="342900" y="217170"/>
                  <a:pt x="342900" y="171450"/>
                </a:cubicBezTo>
                <a:cubicBezTo>
                  <a:pt x="342900" y="76795"/>
                  <a:pt x="266105" y="0"/>
                  <a:pt x="171450" y="0"/>
                </a:cubicBezTo>
                <a:cubicBezTo>
                  <a:pt x="76795" y="0"/>
                  <a:pt x="0" y="76795"/>
                  <a:pt x="0" y="171450"/>
                </a:cubicBezTo>
                <a:cubicBezTo>
                  <a:pt x="0" y="217170"/>
                  <a:pt x="17859" y="258693"/>
                  <a:pt x="47059" y="289411"/>
                </a:cubicBezTo>
                <a:cubicBezTo>
                  <a:pt x="61793" y="304949"/>
                  <a:pt x="74920" y="322987"/>
                  <a:pt x="81349" y="342900"/>
                </a:cubicBezTo>
                <a:lnTo>
                  <a:pt x="261461" y="342900"/>
                </a:lnTo>
                <a:close/>
                <a:moveTo>
                  <a:pt x="257175" y="385763"/>
                </a:moveTo>
                <a:lnTo>
                  <a:pt x="85725" y="385763"/>
                </a:lnTo>
                <a:lnTo>
                  <a:pt x="85725" y="400050"/>
                </a:lnTo>
                <a:cubicBezTo>
                  <a:pt x="85725" y="439519"/>
                  <a:pt x="117693" y="471488"/>
                  <a:pt x="157163" y="471488"/>
                </a:cubicBezTo>
                <a:lnTo>
                  <a:pt x="185738" y="471488"/>
                </a:lnTo>
                <a:cubicBezTo>
                  <a:pt x="225207" y="471488"/>
                  <a:pt x="257175" y="439519"/>
                  <a:pt x="257175" y="400050"/>
                </a:cubicBezTo>
                <a:lnTo>
                  <a:pt x="257175" y="385763"/>
                </a:lnTo>
                <a:close/>
                <a:moveTo>
                  <a:pt x="164306" y="100013"/>
                </a:moveTo>
                <a:cubicBezTo>
                  <a:pt x="128766" y="100013"/>
                  <a:pt x="100013" y="128766"/>
                  <a:pt x="100013" y="164306"/>
                </a:cubicBezTo>
                <a:cubicBezTo>
                  <a:pt x="100013" y="176183"/>
                  <a:pt x="90458" y="185738"/>
                  <a:pt x="78581" y="185738"/>
                </a:cubicBezTo>
                <a:cubicBezTo>
                  <a:pt x="66705" y="185738"/>
                  <a:pt x="57150" y="176183"/>
                  <a:pt x="57150" y="164306"/>
                </a:cubicBezTo>
                <a:cubicBezTo>
                  <a:pt x="57150" y="105102"/>
                  <a:pt x="105102" y="57150"/>
                  <a:pt x="164306" y="57150"/>
                </a:cubicBezTo>
                <a:cubicBezTo>
                  <a:pt x="176183" y="57150"/>
                  <a:pt x="185738" y="66705"/>
                  <a:pt x="185738" y="78581"/>
                </a:cubicBezTo>
                <a:cubicBezTo>
                  <a:pt x="185738" y="90458"/>
                  <a:pt x="176183" y="100013"/>
                  <a:pt x="164306" y="100013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42" name="Text 40"/>
          <p:cNvSpPr/>
          <p:nvPr/>
        </p:nvSpPr>
        <p:spPr>
          <a:xfrm>
            <a:off x="9842500" y="2095500"/>
            <a:ext cx="533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Nouns!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07500" y="2730500"/>
            <a:ext cx="59690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simple trick to find entities: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 for nouns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your problem description.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who enroll in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courses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taught by 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professors</a:t>
            </a:r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Entities found: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STUDENT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COURSE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PROFESSOR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Relationships: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Student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enrolls in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Course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Professor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Course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ER Diagram — University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16000" y="1651000"/>
            <a:ext cx="2159000" cy="1143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676400"/>
            <a:ext cx="215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057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u="sng" dirty="0">
                <a:solidFill>
                  <a:srgbClr val="FFFFFF">
                    <a:alpha val="80000"/>
                  </a:srgbClr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Student_ID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(PK)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336800"/>
            <a:ext cx="215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Name, Email, Major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91000" y="1841500"/>
            <a:ext cx="1397000" cy="7620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9" name="Text 7"/>
          <p:cNvSpPr/>
          <p:nvPr/>
        </p:nvSpPr>
        <p:spPr>
          <a:xfrm>
            <a:off x="4191000" y="1841500"/>
            <a:ext cx="139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ENROLLS_IN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75000" y="2222500"/>
            <a:ext cx="1016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588000" y="2222500"/>
            <a:ext cx="1016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3429000" y="19685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42000" y="19685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04000" y="1651000"/>
            <a:ext cx="2159000" cy="1143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15" name="Text 13"/>
          <p:cNvSpPr/>
          <p:nvPr/>
        </p:nvSpPr>
        <p:spPr>
          <a:xfrm>
            <a:off x="6604000" y="1676400"/>
            <a:ext cx="215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04000" y="2057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u="sng" dirty="0">
                <a:solidFill>
                  <a:srgbClr val="FFFFFF">
                    <a:alpha val="80000"/>
                  </a:srgbClr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Course_Code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(PK)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04000" y="2336800"/>
            <a:ext cx="215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Title, Credits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779000" y="1841500"/>
            <a:ext cx="1270000" cy="7620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19" name="Text 17"/>
          <p:cNvSpPr/>
          <p:nvPr/>
        </p:nvSpPr>
        <p:spPr>
          <a:xfrm>
            <a:off x="9779000" y="18415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63000" y="2222500"/>
            <a:ext cx="1016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1049000" y="2222500"/>
            <a:ext cx="1016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017000" y="19685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303000" y="19685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065000" y="1651000"/>
            <a:ext cx="2159000" cy="1143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25" name="Text 23"/>
          <p:cNvSpPr/>
          <p:nvPr/>
        </p:nvSpPr>
        <p:spPr>
          <a:xfrm>
            <a:off x="12065000" y="1676400"/>
            <a:ext cx="215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065000" y="2057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u="sng" dirty="0">
                <a:solidFill>
                  <a:srgbClr val="FFFFFF">
                    <a:alpha val="80000"/>
                  </a:srgbClr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Prof_ID</a:t>
            </a:r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(PK)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065000" y="2336800"/>
            <a:ext cx="215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Name, Department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587500" y="4191000"/>
            <a:ext cx="1397000" cy="762000"/>
          </a:xfrm>
          <a:prstGeom prst="diamond">
            <a:avLst/>
          </a:prstGeom>
          <a:solidFill>
            <a:srgbClr val="C4703F"/>
          </a:solidFill>
          <a:ln/>
        </p:spPr>
      </p:sp>
      <p:sp>
        <p:nvSpPr>
          <p:cNvPr id="29" name="Text 27"/>
          <p:cNvSpPr/>
          <p:nvPr/>
        </p:nvSpPr>
        <p:spPr>
          <a:xfrm>
            <a:off x="1587500" y="4191000"/>
            <a:ext cx="139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HAS_ADVISOR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095500" y="2794000"/>
            <a:ext cx="0" cy="13970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2984500" y="4572000"/>
            <a:ext cx="90805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3144500" y="2794000"/>
            <a:ext cx="0" cy="17780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2222500" y="33020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208000" y="3429000"/>
            <a:ext cx="38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5461000"/>
            <a:ext cx="14732000" cy="292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79500" y="558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79500" y="5969000"/>
            <a:ext cx="444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↔ COURSE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M:N — Students enroll in many courses. Each course has many students.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42000" y="5969000"/>
            <a:ext cx="444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PROFESSOR → COURSE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1:N — One professor teaches many courses. Each course has one professor.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79500" y="7239000"/>
            <a:ext cx="4445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→ PROFESSOR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N:1 — Many students have one advisor. Each professor advises many students.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42000" y="7239000"/>
            <a:ext cx="4445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 = Primary Key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(underlined)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entity has a unique identifier marked with an underline.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ic2eluemf36i/mnt/agents/output/week2_db_course/images/6_Teacher_Addressing_Students_in_a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5A4C">
                  <a:alpha val="94000"/>
                </a:srgbClr>
              </a:gs>
              <a:gs pos="60000">
                <a:srgbClr val="2D5A4C">
                  <a:alpha val="88000"/>
                </a:srgbClr>
              </a:gs>
              <a:gs pos="100000">
                <a:srgbClr val="2D5A4C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016000" cy="508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Naming Conventions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762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 for naming entities,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attributes, and relationships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Naming Rules for Database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2D5A4C">
              <a:alpha val="5098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587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naming conventions matter: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Easier to understand • Ensures consistency • Reduces errors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603500"/>
            <a:ext cx="7112000" cy="520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2603500"/>
            <a:ext cx="63500" cy="5207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2768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41275" y="41275"/>
                </a:moveTo>
                <a:cubicBezTo>
                  <a:pt x="18509" y="41275"/>
                  <a:pt x="0" y="59784"/>
                  <a:pt x="0" y="82550"/>
                </a:cubicBezTo>
                <a:lnTo>
                  <a:pt x="0" y="247650"/>
                </a:lnTo>
                <a:cubicBezTo>
                  <a:pt x="0" y="270416"/>
                  <a:pt x="18509" y="288925"/>
                  <a:pt x="41275" y="288925"/>
                </a:cubicBezTo>
                <a:lnTo>
                  <a:pt x="288925" y="288925"/>
                </a:lnTo>
                <a:cubicBezTo>
                  <a:pt x="311691" y="288925"/>
                  <a:pt x="330200" y="270416"/>
                  <a:pt x="330200" y="247650"/>
                </a:cubicBezTo>
                <a:lnTo>
                  <a:pt x="330200" y="82550"/>
                </a:lnTo>
                <a:cubicBezTo>
                  <a:pt x="330200" y="59784"/>
                  <a:pt x="311691" y="41275"/>
                  <a:pt x="288925" y="41275"/>
                </a:cubicBezTo>
                <a:lnTo>
                  <a:pt x="41275" y="41275"/>
                </a:lnTo>
                <a:close/>
                <a:moveTo>
                  <a:pt x="103188" y="206375"/>
                </a:moveTo>
                <a:cubicBezTo>
                  <a:pt x="103188" y="217765"/>
                  <a:pt x="93940" y="227013"/>
                  <a:pt x="82550" y="227013"/>
                </a:cubicBezTo>
                <a:cubicBezTo>
                  <a:pt x="71160" y="227013"/>
                  <a:pt x="61912" y="217765"/>
                  <a:pt x="61912" y="206375"/>
                </a:cubicBezTo>
                <a:cubicBezTo>
                  <a:pt x="61912" y="194985"/>
                  <a:pt x="71160" y="185738"/>
                  <a:pt x="82550" y="185738"/>
                </a:cubicBezTo>
                <a:cubicBezTo>
                  <a:pt x="93940" y="185738"/>
                  <a:pt x="103188" y="194985"/>
                  <a:pt x="103188" y="206375"/>
                </a:cubicBezTo>
                <a:close/>
                <a:moveTo>
                  <a:pt x="82550" y="144463"/>
                </a:moveTo>
                <a:cubicBezTo>
                  <a:pt x="71160" y="144463"/>
                  <a:pt x="61912" y="135215"/>
                  <a:pt x="61912" y="123825"/>
                </a:cubicBezTo>
                <a:cubicBezTo>
                  <a:pt x="61912" y="112435"/>
                  <a:pt x="71160" y="103188"/>
                  <a:pt x="82550" y="103188"/>
                </a:cubicBezTo>
                <a:cubicBezTo>
                  <a:pt x="93940" y="103188"/>
                  <a:pt x="103188" y="112435"/>
                  <a:pt x="103188" y="123825"/>
                </a:cubicBezTo>
                <a:cubicBezTo>
                  <a:pt x="103188" y="135215"/>
                  <a:pt x="93940" y="144463"/>
                  <a:pt x="82550" y="144463"/>
                </a:cubicBezTo>
                <a:close/>
                <a:moveTo>
                  <a:pt x="159941" y="108347"/>
                </a:moveTo>
                <a:lnTo>
                  <a:pt x="252809" y="108347"/>
                </a:lnTo>
                <a:cubicBezTo>
                  <a:pt x="261387" y="108347"/>
                  <a:pt x="268288" y="115248"/>
                  <a:pt x="268288" y="123825"/>
                </a:cubicBezTo>
                <a:cubicBezTo>
                  <a:pt x="268288" y="132402"/>
                  <a:pt x="261387" y="139303"/>
                  <a:pt x="252809" y="139303"/>
                </a:cubicBezTo>
                <a:lnTo>
                  <a:pt x="159941" y="139303"/>
                </a:lnTo>
                <a:cubicBezTo>
                  <a:pt x="151363" y="139303"/>
                  <a:pt x="144463" y="132402"/>
                  <a:pt x="144463" y="123825"/>
                </a:cubicBezTo>
                <a:cubicBezTo>
                  <a:pt x="144463" y="115248"/>
                  <a:pt x="151363" y="108347"/>
                  <a:pt x="159941" y="108347"/>
                </a:cubicBezTo>
                <a:close/>
                <a:moveTo>
                  <a:pt x="159941" y="190897"/>
                </a:moveTo>
                <a:lnTo>
                  <a:pt x="252809" y="190897"/>
                </a:lnTo>
                <a:cubicBezTo>
                  <a:pt x="261387" y="190897"/>
                  <a:pt x="268288" y="197798"/>
                  <a:pt x="268288" y="206375"/>
                </a:cubicBezTo>
                <a:cubicBezTo>
                  <a:pt x="268288" y="214952"/>
                  <a:pt x="261387" y="221853"/>
                  <a:pt x="252809" y="221853"/>
                </a:cubicBezTo>
                <a:lnTo>
                  <a:pt x="159941" y="221853"/>
                </a:lnTo>
                <a:cubicBezTo>
                  <a:pt x="151363" y="221853"/>
                  <a:pt x="144463" y="214952"/>
                  <a:pt x="144463" y="206375"/>
                </a:cubicBezTo>
                <a:cubicBezTo>
                  <a:pt x="144463" y="197798"/>
                  <a:pt x="151363" y="190897"/>
                  <a:pt x="159941" y="190897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27432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 for Entities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3788" y="3327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3302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SINGULAR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nouns — STUDENT not STUDENTS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3788" y="37338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3" name="Text 11"/>
          <p:cNvSpPr/>
          <p:nvPr/>
        </p:nvSpPr>
        <p:spPr>
          <a:xfrm>
            <a:off x="1460500" y="37084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UPPERCASE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STUDENT not student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3788" y="4140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5" name="Text 13"/>
          <p:cNvSpPr/>
          <p:nvPr/>
        </p:nvSpPr>
        <p:spPr>
          <a:xfrm>
            <a:off x="1460500" y="41148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CUSTOMER not 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3788" y="4546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7" name="Text 15"/>
          <p:cNvSpPr/>
          <p:nvPr/>
        </p:nvSpPr>
        <p:spPr>
          <a:xfrm>
            <a:off x="1460500" y="45212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 abbreviations — DEPARTMENT not DEPT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9500" y="5080000"/>
            <a:ext cx="6477000" cy="952500"/>
          </a:xfrm>
          <a:prstGeom prst="roundRect">
            <a:avLst>
              <a:gd name="adj" fmla="val 6000"/>
            </a:avLst>
          </a:prstGeom>
          <a:solidFill>
            <a:srgbClr val="C4703F">
              <a:alpha val="6275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51816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EMPLOYEE, DEPARTMENT, CUSTOMER_ORDER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EMP, DEPTS, CUST_ORDERS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9500" y="60960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Think of someone reading your diagram for the first time. The name should tell them exactly what it is without guessing.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2603500"/>
            <a:ext cx="7112000" cy="520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82000" y="2603500"/>
            <a:ext cx="63500" cy="5207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23" name="Shape 21"/>
          <p:cNvSpPr/>
          <p:nvPr/>
        </p:nvSpPr>
        <p:spPr>
          <a:xfrm>
            <a:off x="8699500" y="2768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330200"/>
                </a:moveTo>
                <a:cubicBezTo>
                  <a:pt x="256221" y="330200"/>
                  <a:pt x="330200" y="256221"/>
                  <a:pt x="330200" y="165100"/>
                </a:cubicBezTo>
                <a:cubicBezTo>
                  <a:pt x="330200" y="73979"/>
                  <a:pt x="256221" y="0"/>
                  <a:pt x="165100" y="0"/>
                </a:cubicBezTo>
                <a:cubicBezTo>
                  <a:pt x="73979" y="0"/>
                  <a:pt x="0" y="73979"/>
                  <a:pt x="0" y="165100"/>
                </a:cubicBezTo>
                <a:cubicBezTo>
                  <a:pt x="0" y="256221"/>
                  <a:pt x="73979" y="330200"/>
                  <a:pt x="165100" y="330200"/>
                </a:cubicBezTo>
                <a:close/>
                <a:moveTo>
                  <a:pt x="165100" y="103188"/>
                </a:moveTo>
                <a:cubicBezTo>
                  <a:pt x="199270" y="103188"/>
                  <a:pt x="227013" y="130930"/>
                  <a:pt x="227013" y="165100"/>
                </a:cubicBezTo>
                <a:cubicBezTo>
                  <a:pt x="227013" y="199270"/>
                  <a:pt x="199270" y="227013"/>
                  <a:pt x="165100" y="227013"/>
                </a:cubicBezTo>
                <a:cubicBezTo>
                  <a:pt x="130930" y="227013"/>
                  <a:pt x="103188" y="199270"/>
                  <a:pt x="103188" y="165100"/>
                </a:cubicBezTo>
                <a:cubicBezTo>
                  <a:pt x="103188" y="130930"/>
                  <a:pt x="130930" y="103188"/>
                  <a:pt x="165100" y="103188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0" y="27432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 for Attributes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713788" y="3327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26" name="Text 24"/>
          <p:cNvSpPr/>
          <p:nvPr/>
        </p:nvSpPr>
        <p:spPr>
          <a:xfrm>
            <a:off x="9080500" y="3302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names — First_Name not FN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713788" y="37338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28" name="Text 26"/>
          <p:cNvSpPr/>
          <p:nvPr/>
        </p:nvSpPr>
        <p:spPr>
          <a:xfrm>
            <a:off x="9080500" y="37084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case — pick one style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713788" y="4140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30" name="Text 28"/>
          <p:cNvSpPr/>
          <p:nvPr/>
        </p:nvSpPr>
        <p:spPr>
          <a:xfrm>
            <a:off x="9080500" y="41148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spaces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Phone_Number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13788" y="4546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32" name="Text 30"/>
          <p:cNvSpPr/>
          <p:nvPr/>
        </p:nvSpPr>
        <p:spPr>
          <a:xfrm>
            <a:off x="9080500" y="45212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units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needed — Salary_USD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699500" y="5080000"/>
            <a:ext cx="6477000" cy="952500"/>
          </a:xfrm>
          <a:prstGeom prst="roundRect">
            <a:avLst>
              <a:gd name="adj" fmla="val 6000"/>
            </a:avLst>
          </a:prstGeom>
          <a:solidFill>
            <a:srgbClr val="C4703F">
              <a:alpha val="6275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890000" y="51816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Employee_ID, Hire_Date, Email_Address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EID, HD, email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99500" y="6096000"/>
            <a:ext cx="6477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underscores instead of spaces. This makes it easier to use the names in database queries later.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Naming Examples &amp; Best Practices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31115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D5A4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Good Names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C4703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Bad Names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4C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Entities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EMPLOYEE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DEPARTMENT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CUSTOMER_ORDER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CUST_ORDERS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Attributes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Employee_ID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Hire_Date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Email_Address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Relationships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WORKS_FOR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MANAGES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BELONGS_TO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715000"/>
            <a:ext cx="14732000" cy="266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2000" y="5715000"/>
            <a:ext cx="63500" cy="2667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7" name="Text 4"/>
          <p:cNvSpPr/>
          <p:nvPr/>
        </p:nvSpPr>
        <p:spPr>
          <a:xfrm>
            <a:off x="1079500" y="5816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PRACTICES SUMMARY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65213" y="6324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9" name="Text 6"/>
          <p:cNvSpPr/>
          <p:nvPr/>
        </p:nvSpPr>
        <p:spPr>
          <a:xfrm>
            <a:off x="1460500" y="62992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throughout the entire database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65213" y="6731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1" name="Text 8"/>
          <p:cNvSpPr/>
          <p:nvPr/>
        </p:nvSpPr>
        <p:spPr>
          <a:xfrm>
            <a:off x="1460500" y="67056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 your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organization's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naming style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65213" y="7137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3" name="Text 10"/>
          <p:cNvSpPr/>
          <p:nvPr/>
        </p:nvSpPr>
        <p:spPr>
          <a:xfrm>
            <a:off x="1460500" y="7112000"/>
            <a:ext cx="609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your naming conventions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13713" y="6324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5" name="Text 12"/>
          <p:cNvSpPr/>
          <p:nvPr/>
        </p:nvSpPr>
        <p:spPr>
          <a:xfrm>
            <a:off x="8509000" y="62992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reserved words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(ORDER, SELECT)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113713" y="6731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7" name="Text 14"/>
          <p:cNvSpPr/>
          <p:nvPr/>
        </p:nvSpPr>
        <p:spPr>
          <a:xfrm>
            <a:off x="8509000" y="67056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names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30 characters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13713" y="7137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9" name="Text 16"/>
          <p:cNvSpPr/>
          <p:nvPr/>
        </p:nvSpPr>
        <p:spPr>
          <a:xfrm>
            <a:off x="8509000" y="71120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0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 verbs</a:t>
            </a:r>
            <a:pPr>
              <a:lnSpc>
                <a:spcPct val="10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relationships (WORKS_FOR)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ic2eluemf36i/mnt/agents/output/week2_db_course/images/5_Unlocking_Bright_Future_with_Key.png">    </p:cNvPr>
          <p:cNvPicPr>
            <a:picLocks noChangeAspect="1"/>
          </p:cNvPicPr>
          <p:nvPr/>
        </p:nvPicPr>
        <p:blipFill>
          <a:blip r:embed="rId1"/>
          <a:srcRect l="0" r="0" t="7812" b="7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5A4C">
                  <a:alpha val="94000"/>
                </a:srgbClr>
              </a:gs>
              <a:gs pos="60000">
                <a:srgbClr val="2D5A4C">
                  <a:alpha val="88000"/>
                </a:srgbClr>
              </a:gs>
              <a:gs pos="100000">
                <a:srgbClr val="2D5A4C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016000" cy="508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Keys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762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unique identifiers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the most important concept in database design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a Key?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8636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2032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49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905000"/>
            <a:ext cx="800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an attribute (or set of attributes) that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uniquely identifies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record in an entity.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it like a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fingerprint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 uniquely identifies YOU.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33000" y="1460500"/>
            <a:ext cx="5461000" cy="247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33000" y="1460500"/>
            <a:ext cx="63500" cy="24765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10" name="Text 8"/>
          <p:cNvSpPr/>
          <p:nvPr/>
        </p:nvSpPr>
        <p:spPr>
          <a:xfrm>
            <a:off x="10350500" y="1549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REAL-LIFE ANALOGY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350500" y="2006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228600"/>
                </a:moveTo>
                <a:cubicBezTo>
                  <a:pt x="42863" y="125998"/>
                  <a:pt x="125998" y="42863"/>
                  <a:pt x="228600" y="42863"/>
                </a:cubicBezTo>
                <a:cubicBezTo>
                  <a:pt x="284946" y="42863"/>
                  <a:pt x="335399" y="67955"/>
                  <a:pt x="369510" y="107603"/>
                </a:cubicBezTo>
                <a:cubicBezTo>
                  <a:pt x="377190" y="116622"/>
                  <a:pt x="390763" y="117604"/>
                  <a:pt x="399693" y="109924"/>
                </a:cubicBezTo>
                <a:cubicBezTo>
                  <a:pt x="408623" y="102245"/>
                  <a:pt x="409694" y="88672"/>
                  <a:pt x="402015" y="79742"/>
                </a:cubicBezTo>
                <a:cubicBezTo>
                  <a:pt x="360134" y="30897"/>
                  <a:pt x="297984" y="0"/>
                  <a:pt x="228600" y="0"/>
                </a:cubicBezTo>
                <a:cubicBezTo>
                  <a:pt x="102334" y="0"/>
                  <a:pt x="0" y="102334"/>
                  <a:pt x="0" y="228600"/>
                </a:cubicBezTo>
                <a:lnTo>
                  <a:pt x="0" y="264319"/>
                </a:lnTo>
                <a:cubicBezTo>
                  <a:pt x="0" y="276195"/>
                  <a:pt x="9555" y="285750"/>
                  <a:pt x="21431" y="285750"/>
                </a:cubicBezTo>
                <a:cubicBezTo>
                  <a:pt x="33308" y="285750"/>
                  <a:pt x="42863" y="276195"/>
                  <a:pt x="42863" y="264319"/>
                </a:cubicBezTo>
                <a:lnTo>
                  <a:pt x="42863" y="228600"/>
                </a:lnTo>
                <a:close/>
                <a:moveTo>
                  <a:pt x="452289" y="181362"/>
                </a:moveTo>
                <a:cubicBezTo>
                  <a:pt x="449878" y="169753"/>
                  <a:pt x="438448" y="162342"/>
                  <a:pt x="426928" y="164842"/>
                </a:cubicBezTo>
                <a:cubicBezTo>
                  <a:pt x="415409" y="167342"/>
                  <a:pt x="407908" y="178683"/>
                  <a:pt x="410408" y="190202"/>
                </a:cubicBezTo>
                <a:cubicBezTo>
                  <a:pt x="412998" y="202615"/>
                  <a:pt x="414427" y="215473"/>
                  <a:pt x="414427" y="228689"/>
                </a:cubicBezTo>
                <a:lnTo>
                  <a:pt x="414427" y="264408"/>
                </a:lnTo>
                <a:cubicBezTo>
                  <a:pt x="414427" y="276285"/>
                  <a:pt x="423982" y="285839"/>
                  <a:pt x="435858" y="285839"/>
                </a:cubicBezTo>
                <a:cubicBezTo>
                  <a:pt x="447735" y="285839"/>
                  <a:pt x="457289" y="276285"/>
                  <a:pt x="457289" y="264408"/>
                </a:cubicBezTo>
                <a:lnTo>
                  <a:pt x="457289" y="228689"/>
                </a:lnTo>
                <a:cubicBezTo>
                  <a:pt x="457289" y="212527"/>
                  <a:pt x="455593" y="196721"/>
                  <a:pt x="452378" y="181451"/>
                </a:cubicBezTo>
                <a:close/>
                <a:moveTo>
                  <a:pt x="228600" y="71438"/>
                </a:moveTo>
                <a:cubicBezTo>
                  <a:pt x="211634" y="71438"/>
                  <a:pt x="195203" y="74116"/>
                  <a:pt x="179933" y="79117"/>
                </a:cubicBezTo>
                <a:cubicBezTo>
                  <a:pt x="166360" y="83582"/>
                  <a:pt x="163235" y="100280"/>
                  <a:pt x="172522" y="111175"/>
                </a:cubicBezTo>
                <a:cubicBezTo>
                  <a:pt x="178862" y="118586"/>
                  <a:pt x="189309" y="120819"/>
                  <a:pt x="198775" y="118229"/>
                </a:cubicBezTo>
                <a:cubicBezTo>
                  <a:pt x="208240" y="115639"/>
                  <a:pt x="218242" y="114300"/>
                  <a:pt x="228600" y="114300"/>
                </a:cubicBezTo>
                <a:cubicBezTo>
                  <a:pt x="291733" y="114300"/>
                  <a:pt x="342900" y="165467"/>
                  <a:pt x="342900" y="228600"/>
                </a:cubicBezTo>
                <a:lnTo>
                  <a:pt x="342900" y="250835"/>
                </a:lnTo>
                <a:cubicBezTo>
                  <a:pt x="342900" y="273338"/>
                  <a:pt x="341561" y="295751"/>
                  <a:pt x="338971" y="318075"/>
                </a:cubicBezTo>
                <a:cubicBezTo>
                  <a:pt x="337453" y="331113"/>
                  <a:pt x="347365" y="342900"/>
                  <a:pt x="360581" y="342900"/>
                </a:cubicBezTo>
                <a:cubicBezTo>
                  <a:pt x="371118" y="342900"/>
                  <a:pt x="380137" y="335220"/>
                  <a:pt x="381387" y="324773"/>
                </a:cubicBezTo>
                <a:cubicBezTo>
                  <a:pt x="384334" y="300305"/>
                  <a:pt x="385852" y="275659"/>
                  <a:pt x="385852" y="250924"/>
                </a:cubicBezTo>
                <a:lnTo>
                  <a:pt x="385852" y="228689"/>
                </a:lnTo>
                <a:cubicBezTo>
                  <a:pt x="385852" y="141893"/>
                  <a:pt x="315486" y="71527"/>
                  <a:pt x="228689" y="71527"/>
                </a:cubicBezTo>
                <a:close/>
                <a:moveTo>
                  <a:pt x="134570" y="132784"/>
                </a:moveTo>
                <a:cubicBezTo>
                  <a:pt x="126444" y="123319"/>
                  <a:pt x="111978" y="122605"/>
                  <a:pt x="104299" y="132427"/>
                </a:cubicBezTo>
                <a:cubicBezTo>
                  <a:pt x="83671" y="159038"/>
                  <a:pt x="71437" y="192345"/>
                  <a:pt x="71437" y="228600"/>
                </a:cubicBezTo>
                <a:lnTo>
                  <a:pt x="71437" y="250835"/>
                </a:lnTo>
                <a:cubicBezTo>
                  <a:pt x="71437" y="272445"/>
                  <a:pt x="69116" y="294055"/>
                  <a:pt x="64472" y="315039"/>
                </a:cubicBezTo>
                <a:cubicBezTo>
                  <a:pt x="61436" y="328970"/>
                  <a:pt x="71527" y="342811"/>
                  <a:pt x="85814" y="342811"/>
                </a:cubicBezTo>
                <a:cubicBezTo>
                  <a:pt x="95190" y="342811"/>
                  <a:pt x="103584" y="336560"/>
                  <a:pt x="105638" y="327362"/>
                </a:cubicBezTo>
                <a:cubicBezTo>
                  <a:pt x="111353" y="302270"/>
                  <a:pt x="114300" y="276642"/>
                  <a:pt x="114300" y="250746"/>
                </a:cubicBezTo>
                <a:lnTo>
                  <a:pt x="114300" y="228511"/>
                </a:lnTo>
                <a:cubicBezTo>
                  <a:pt x="114300" y="204222"/>
                  <a:pt x="121890" y="181719"/>
                  <a:pt x="134749" y="163235"/>
                </a:cubicBezTo>
                <a:cubicBezTo>
                  <a:pt x="141178" y="153948"/>
                  <a:pt x="141893" y="141268"/>
                  <a:pt x="134570" y="132695"/>
                </a:cubicBezTo>
                <a:close/>
                <a:moveTo>
                  <a:pt x="228600" y="142875"/>
                </a:moveTo>
                <a:cubicBezTo>
                  <a:pt x="181273" y="142875"/>
                  <a:pt x="142875" y="181273"/>
                  <a:pt x="142875" y="228600"/>
                </a:cubicBezTo>
                <a:lnTo>
                  <a:pt x="142875" y="250835"/>
                </a:lnTo>
                <a:cubicBezTo>
                  <a:pt x="142875" y="282892"/>
                  <a:pt x="138767" y="314682"/>
                  <a:pt x="130552" y="345579"/>
                </a:cubicBezTo>
                <a:cubicBezTo>
                  <a:pt x="127159" y="358348"/>
                  <a:pt x="136535" y="371475"/>
                  <a:pt x="149751" y="371475"/>
                </a:cubicBezTo>
                <a:cubicBezTo>
                  <a:pt x="158234" y="371475"/>
                  <a:pt x="165735" y="365939"/>
                  <a:pt x="167967" y="357723"/>
                </a:cubicBezTo>
                <a:cubicBezTo>
                  <a:pt x="177344" y="322898"/>
                  <a:pt x="182166" y="287000"/>
                  <a:pt x="182166" y="250835"/>
                </a:cubicBezTo>
                <a:lnTo>
                  <a:pt x="182166" y="228600"/>
                </a:lnTo>
                <a:cubicBezTo>
                  <a:pt x="182166" y="202972"/>
                  <a:pt x="202972" y="182166"/>
                  <a:pt x="228600" y="182166"/>
                </a:cubicBezTo>
                <a:cubicBezTo>
                  <a:pt x="254228" y="182166"/>
                  <a:pt x="275034" y="202972"/>
                  <a:pt x="275034" y="228600"/>
                </a:cubicBezTo>
                <a:lnTo>
                  <a:pt x="275034" y="250835"/>
                </a:lnTo>
                <a:cubicBezTo>
                  <a:pt x="275034" y="283250"/>
                  <a:pt x="271909" y="315486"/>
                  <a:pt x="265748" y="347186"/>
                </a:cubicBezTo>
                <a:cubicBezTo>
                  <a:pt x="263336" y="359599"/>
                  <a:pt x="272623" y="371475"/>
                  <a:pt x="285214" y="371475"/>
                </a:cubicBezTo>
                <a:cubicBezTo>
                  <a:pt x="294323" y="371475"/>
                  <a:pt x="302181" y="365224"/>
                  <a:pt x="303967" y="356295"/>
                </a:cubicBezTo>
                <a:cubicBezTo>
                  <a:pt x="310842" y="321647"/>
                  <a:pt x="314325" y="286375"/>
                  <a:pt x="314325" y="250835"/>
                </a:cubicBezTo>
                <a:lnTo>
                  <a:pt x="314325" y="228600"/>
                </a:lnTo>
                <a:cubicBezTo>
                  <a:pt x="314325" y="181273"/>
                  <a:pt x="275927" y="142875"/>
                  <a:pt x="228600" y="142875"/>
                </a:cubicBezTo>
                <a:close/>
                <a:moveTo>
                  <a:pt x="250031" y="228600"/>
                </a:moveTo>
                <a:cubicBezTo>
                  <a:pt x="250031" y="216724"/>
                  <a:pt x="240476" y="207169"/>
                  <a:pt x="228600" y="207169"/>
                </a:cubicBezTo>
                <a:cubicBezTo>
                  <a:pt x="216724" y="207169"/>
                  <a:pt x="207169" y="216724"/>
                  <a:pt x="207169" y="228600"/>
                </a:cubicBezTo>
                <a:lnTo>
                  <a:pt x="207169" y="250835"/>
                </a:lnTo>
                <a:cubicBezTo>
                  <a:pt x="207169" y="304324"/>
                  <a:pt x="197346" y="357366"/>
                  <a:pt x="178147" y="407283"/>
                </a:cubicBezTo>
                <a:lnTo>
                  <a:pt x="172879" y="420945"/>
                </a:lnTo>
                <a:cubicBezTo>
                  <a:pt x="168592" y="432018"/>
                  <a:pt x="174129" y="444431"/>
                  <a:pt x="185202" y="448628"/>
                </a:cubicBezTo>
                <a:cubicBezTo>
                  <a:pt x="196275" y="452824"/>
                  <a:pt x="208687" y="447377"/>
                  <a:pt x="212884" y="436305"/>
                </a:cubicBezTo>
                <a:lnTo>
                  <a:pt x="218152" y="422642"/>
                </a:lnTo>
                <a:cubicBezTo>
                  <a:pt x="239226" y="367814"/>
                  <a:pt x="250031" y="309592"/>
                  <a:pt x="250031" y="250835"/>
                </a:cubicBezTo>
                <a:lnTo>
                  <a:pt x="250031" y="228600"/>
                </a:ln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85500" y="2006600"/>
            <a:ext cx="419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Student ID Card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50500" y="2641600"/>
            <a:ext cx="4826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Student_ID =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101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uniquely identifies YOU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Student_ID =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102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a different student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two students share the same ID!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374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Are Keys Important?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4318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16000" y="450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7" name="Text 15"/>
          <p:cNvSpPr/>
          <p:nvPr/>
        </p:nvSpPr>
        <p:spPr>
          <a:xfrm>
            <a:off x="1498600" y="45085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Duplicates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5016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record is unique and distinguishable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08500" y="4318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84725" y="450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21" name="Text 19"/>
          <p:cNvSpPr/>
          <p:nvPr/>
        </p:nvSpPr>
        <p:spPr>
          <a:xfrm>
            <a:off x="5245100" y="45085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Searching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62500" y="5016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any record quickly using its key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55000" y="4318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86775" y="4508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25" name="Text 23"/>
          <p:cNvSpPr/>
          <p:nvPr/>
        </p:nvSpPr>
        <p:spPr>
          <a:xfrm>
            <a:off x="8991600" y="45085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Linking Tables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09000" y="50165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Keys connect related data across tables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001500" y="4318000"/>
            <a:ext cx="34925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2299950" y="450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29" name="Text 27"/>
          <p:cNvSpPr/>
          <p:nvPr/>
        </p:nvSpPr>
        <p:spPr>
          <a:xfrm>
            <a:off x="12738100" y="4508500"/>
            <a:ext cx="241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255500" y="5016500"/>
            <a:ext cx="298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confusion and data errors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350000"/>
            <a:ext cx="14732000" cy="1905000"/>
          </a:xfrm>
          <a:prstGeom prst="roundRect">
            <a:avLst>
              <a:gd name="adj" fmla="val 4000"/>
            </a:avLst>
          </a:prstGeom>
          <a:solidFill>
            <a:srgbClr val="C4703F">
              <a:alpha val="6275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2000" y="6350000"/>
            <a:ext cx="63500" cy="1905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33" name="Shape 31"/>
          <p:cNvSpPr/>
          <p:nvPr/>
        </p:nvSpPr>
        <p:spPr>
          <a:xfrm>
            <a:off x="10795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34" name="Text 32"/>
          <p:cNvSpPr/>
          <p:nvPr/>
        </p:nvSpPr>
        <p:spPr>
          <a:xfrm>
            <a:off x="1562100" y="660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Problem Without Keys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79500" y="7112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 class of 50 students, if two students have the same ID, we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can't tell them apart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Keys solve this problem by guaranteeing every record is unique!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Types of Keys — Super, Candidate, Primary &amp; Foreign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7112000" cy="171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0600" y="1625600"/>
            <a:ext cx="457200" cy="457200"/>
          </a:xfrm>
          <a:prstGeom prst="ellipse">
            <a:avLst/>
          </a:prstGeom>
          <a:solidFill>
            <a:srgbClr val="2D5A4C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625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87500" y="1625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 Key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59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set of attributes that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uniquely identify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record.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{Student_ID}, {Student_ID, Name}, {Email}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460500"/>
            <a:ext cx="7112000" cy="1714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10600" y="1625600"/>
            <a:ext cx="457200" cy="457200"/>
          </a:xfrm>
          <a:prstGeom prst="ellipse">
            <a:avLst/>
          </a:prstGeom>
          <a:solidFill>
            <a:srgbClr val="2D5A4C"/>
          </a:solidFill>
          <a:ln/>
        </p:spPr>
      </p:sp>
      <p:sp>
        <p:nvSpPr>
          <p:cNvPr id="11" name="Text 9"/>
          <p:cNvSpPr/>
          <p:nvPr/>
        </p:nvSpPr>
        <p:spPr>
          <a:xfrm>
            <a:off x="8610600" y="1625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07500" y="1625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 Key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159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super key — no extra attributes needed.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{Student_ID} or {Email} — each alone is enough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492500"/>
            <a:ext cx="7112000" cy="2159000"/>
          </a:xfrm>
          <a:prstGeom prst="roundRect">
            <a:avLst>
              <a:gd name="adj" fmla="val 6000"/>
            </a:avLst>
          </a:prstGeom>
          <a:solidFill>
            <a:srgbClr val="2D5A4C">
              <a:alpha val="7059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2000" y="3492500"/>
            <a:ext cx="63500" cy="2159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16" name="Shape 14"/>
          <p:cNvSpPr/>
          <p:nvPr/>
        </p:nvSpPr>
        <p:spPr>
          <a:xfrm>
            <a:off x="990600" y="3657600"/>
            <a:ext cx="457200" cy="457200"/>
          </a:xfrm>
          <a:prstGeom prst="ellipse">
            <a:avLst/>
          </a:prstGeom>
          <a:solidFill>
            <a:srgbClr val="C4703F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" y="3657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7500" y="3657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Key (PK)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1910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chosen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candidate key used as the main identifier.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Must be unique • Cannot be NULL • Should never change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Student_ID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3492500"/>
            <a:ext cx="7112000" cy="2159000"/>
          </a:xfrm>
          <a:prstGeom prst="roundRect">
            <a:avLst>
              <a:gd name="adj" fmla="val 6000"/>
            </a:avLst>
          </a:prstGeom>
          <a:solidFill>
            <a:srgbClr val="2D5A4C">
              <a:alpha val="7059"/>
            </a:srgbClr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82000" y="3492500"/>
            <a:ext cx="63500" cy="2159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10600" y="3657600"/>
            <a:ext cx="457200" cy="457200"/>
          </a:xfrm>
          <a:prstGeom prst="ellipse">
            <a:avLst/>
          </a:prstGeom>
          <a:solidFill>
            <a:srgbClr val="C4703F"/>
          </a:solidFill>
          <a:ln/>
        </p:spPr>
      </p:sp>
      <p:sp>
        <p:nvSpPr>
          <p:cNvPr id="23" name="Text 21"/>
          <p:cNvSpPr/>
          <p:nvPr/>
        </p:nvSpPr>
        <p:spPr>
          <a:xfrm>
            <a:off x="8610600" y="36576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07500" y="3657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Foreign Key (FK)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36000" y="41910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attribute that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refers to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Primary Key of another entity.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Links two tables together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Dept_ID in EMPLOYEE → Dept_ID in DEPARTMENT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969000"/>
            <a:ext cx="14732000" cy="2349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79500" y="6096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HIERARCHY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604000"/>
            <a:ext cx="2286000" cy="571500"/>
          </a:xfrm>
          <a:prstGeom prst="roundRect">
            <a:avLst>
              <a:gd name="adj" fmla="val 12000"/>
            </a:avLst>
          </a:prstGeom>
          <a:solidFill>
            <a:srgbClr val="2D5A4C"/>
          </a:solidFill>
          <a:ln/>
        </p:spPr>
      </p:sp>
      <p:sp>
        <p:nvSpPr>
          <p:cNvPr id="29" name="Text 27"/>
          <p:cNvSpPr/>
          <p:nvPr/>
        </p:nvSpPr>
        <p:spPr>
          <a:xfrm>
            <a:off x="1270000" y="66040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 KEY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83000" y="6870700"/>
            <a:ext cx="762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572000" y="6604000"/>
            <a:ext cx="2286000" cy="571500"/>
          </a:xfrm>
          <a:prstGeom prst="roundRect">
            <a:avLst>
              <a:gd name="adj" fmla="val 12000"/>
            </a:avLst>
          </a:prstGeom>
          <a:solidFill>
            <a:srgbClr val="2D5A4C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66040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 KEY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85000" y="6870700"/>
            <a:ext cx="762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7874000" y="6604000"/>
            <a:ext cx="2286000" cy="571500"/>
          </a:xfrm>
          <a:prstGeom prst="roundRect">
            <a:avLst>
              <a:gd name="adj" fmla="val 12000"/>
            </a:avLst>
          </a:prstGeom>
          <a:solidFill>
            <a:srgbClr val="C4703F"/>
          </a:solidFill>
          <a:ln/>
        </p:spPr>
      </p:sp>
      <p:sp>
        <p:nvSpPr>
          <p:cNvPr id="35" name="Text 33"/>
          <p:cNvSpPr/>
          <p:nvPr/>
        </p:nvSpPr>
        <p:spPr>
          <a:xfrm>
            <a:off x="7874000" y="66040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541000" y="66040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← Used in other tables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541000" y="7302500"/>
            <a:ext cx="2286000" cy="571500"/>
          </a:xfrm>
          <a:prstGeom prst="roundRect">
            <a:avLst>
              <a:gd name="adj" fmla="val 12000"/>
            </a:avLst>
          </a:prstGeom>
          <a:solidFill>
            <a:srgbClr val="8B7355"/>
          </a:solidFill>
          <a:ln/>
        </p:spPr>
      </p:sp>
      <p:sp>
        <p:nvSpPr>
          <p:cNvPr id="38" name="Text 36"/>
          <p:cNvSpPr/>
          <p:nvPr/>
        </p:nvSpPr>
        <p:spPr>
          <a:xfrm>
            <a:off x="10541000" y="73025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FOREIGN KEY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287000" y="7581900"/>
            <a:ext cx="254000" cy="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arrow"/>
            <a:tailEnd type="none"/>
          </a:ln>
        </p:spPr>
      </p:sp>
      <p:sp>
        <p:nvSpPr>
          <p:cNvPr id="40" name="Text 38"/>
          <p:cNvSpPr/>
          <p:nvPr/>
        </p:nvSpPr>
        <p:spPr>
          <a:xfrm>
            <a:off x="1270000" y="74295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Super Key contains a Candidate Key. We pick one Candidate Key as the Primary Key.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Examples with Diagrams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7112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3810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49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1: STUDENT ENTITY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0000" y="2032000"/>
            <a:ext cx="2540000" cy="1651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2057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2438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u="sng" dirty="0">
                <a:solidFill>
                  <a:srgbClr val="FFFFFF">
                    <a:alpha val="93333"/>
                  </a:srgbClr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Student_ID</a:t>
            </a:r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← PK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2768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← Candidate Key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" y="30988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Name, Phone, Major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91000" y="1968500"/>
            <a:ext cx="3429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 Keys: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{Student_ID}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{Email}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{Student_ID, Name}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 Keys: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{Student_ID}, {Email}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Key: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Student_ID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1460500"/>
            <a:ext cx="71120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82000" y="1460500"/>
            <a:ext cx="63500" cy="3810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15" name="Text 13"/>
          <p:cNvSpPr/>
          <p:nvPr/>
        </p:nvSpPr>
        <p:spPr>
          <a:xfrm>
            <a:off x="8699500" y="15494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2: FOREIGN KEY LINK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90000" y="2032000"/>
            <a:ext cx="2540000" cy="1524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2057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90000" y="2438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u="sng" dirty="0">
                <a:solidFill>
                  <a:srgbClr val="FFFFFF">
                    <a:alpha val="93333"/>
                  </a:srgbClr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Emp_ID</a:t>
            </a:r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← PK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0000" y="2768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Dept_ID ← FK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90000" y="30988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Name, Salary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30000" y="2768600"/>
            <a:ext cx="762000" cy="0"/>
          </a:xfrm>
          <a:prstGeom prst="straightConnector1">
            <a:avLst/>
          </a:prstGeom>
          <a:noFill/>
          <a:ln w="25400">
            <a:solidFill>
              <a:srgbClr val="C4703F"/>
            </a:solidFill>
            <a:prstDash val="solid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11493500" y="2540000"/>
            <a:ext cx="63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FK→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192000" y="2032000"/>
            <a:ext cx="2540000" cy="1524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24" name="Text 22"/>
          <p:cNvSpPr/>
          <p:nvPr/>
        </p:nvSpPr>
        <p:spPr>
          <a:xfrm>
            <a:off x="12192000" y="20574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192000" y="2438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u="sng" dirty="0">
                <a:solidFill>
                  <a:srgbClr val="FFFFFF">
                    <a:alpha val="93333"/>
                  </a:srgbClr>
                </a:solidFill>
                <a:uFill>
                  <a:solidFill>
                    <a:srgbClr val="000000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Dept_ID</a:t>
            </a:r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← PK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92000" y="2794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Dept_Name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90000" y="3810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Dept_ID in EMPLOYEE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Foreign Key that refers to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Dept_ID in DEPARTMENT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creates the link between the two tables!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5588000"/>
            <a:ext cx="14732000" cy="2730500"/>
          </a:xfrm>
          <a:prstGeom prst="roundRect">
            <a:avLst>
              <a:gd name="adj" fmla="val 4000"/>
            </a:avLst>
          </a:prstGeom>
          <a:solidFill>
            <a:srgbClr val="2D5A4C">
              <a:alpha val="5098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79500" y="571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SUMMARY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79500" y="6096000"/>
          <a:ext cx="14097000" cy="1968500"/>
        </p:xfrm>
        <a:graphic>
          <a:graphicData uri="http://schemas.openxmlformats.org/drawingml/2006/table">
            <a:tbl>
              <a:tblPr/>
              <a:tblGrid>
                <a:gridCol w="2819400"/>
                <a:gridCol w="5638800"/>
                <a:gridCol w="5638800"/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4C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Super Key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Any unique identifier set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{Student_ID, Name}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Candidate Key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Minimal unique identifier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{Student_ID}, {Email}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1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Key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Chosen main identifier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B2B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Student_ID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ic2eluemf36i/mnt/agents/output/week2_db_course/images/9_Abstract_digital_wave_with_numerical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5A4C">
                  <a:alpha val="94000"/>
                </a:srgbClr>
              </a:gs>
              <a:gs pos="60000">
                <a:srgbClr val="2D5A4C">
                  <a:alpha val="88000"/>
                </a:srgbClr>
              </a:gs>
              <a:gs pos="100000">
                <a:srgbClr val="2D5A4C">
                  <a:alpha val="6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1016000" cy="508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ER Model (EER)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7625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ER concepts — specialization,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generalization, and inheritance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the Enhanced ER Model?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8890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2159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494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905000"/>
            <a:ext cx="825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ER (EER) Model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extends the basic ER model with object-oriented concepts for modeling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complex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database scenarios.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873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Do We Need EER?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4445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0" name="Text 8"/>
          <p:cNvSpPr/>
          <p:nvPr/>
        </p:nvSpPr>
        <p:spPr>
          <a:xfrm>
            <a:off x="1397000" y="4419600"/>
            <a:ext cx="800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ER can't show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"is a"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relationships (inheritance)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4889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4864100"/>
            <a:ext cx="800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EER lets us model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subcategories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entities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533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14" name="Text 12"/>
          <p:cNvSpPr/>
          <p:nvPr/>
        </p:nvSpPr>
        <p:spPr>
          <a:xfrm>
            <a:off x="1397000" y="5308600"/>
            <a:ext cx="800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represents </a:t>
            </a:r>
            <a:pPr>
              <a:lnSpc>
                <a:spcPct val="100000"/>
              </a:lnSpc>
            </a:pPr>
            <a:r>
              <a:rPr lang="en-US" sz="18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hierarchies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96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Main EER Concepts: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6477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2D5A4C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6477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→ Down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10000" y="6477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C4703F"/>
          </a:solidFill>
          <a:ln/>
        </p:spPr>
      </p:sp>
      <p:sp>
        <p:nvSpPr>
          <p:cNvPr id="19" name="Text 17"/>
          <p:cNvSpPr/>
          <p:nvPr/>
        </p:nvSpPr>
        <p:spPr>
          <a:xfrm>
            <a:off x="3810000" y="6477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Generalization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Bottom → Up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0" y="64770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8B735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6477000"/>
            <a:ext cx="279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Inheritance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attributes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33000" y="1460500"/>
            <a:ext cx="5461000" cy="673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33000" y="1460500"/>
            <a:ext cx="63500" cy="6731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24" name="Text 22"/>
          <p:cNvSpPr/>
          <p:nvPr/>
        </p:nvSpPr>
        <p:spPr>
          <a:xfrm>
            <a:off x="10350500" y="1549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REAL-LIFE ANALOGY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350500" y="2006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34144" y="116483"/>
                </a:moveTo>
                <a:lnTo>
                  <a:pt x="108248" y="190500"/>
                </a:lnTo>
                <a:lnTo>
                  <a:pt x="399752" y="190500"/>
                </a:lnTo>
                <a:lnTo>
                  <a:pt x="373856" y="116483"/>
                </a:lnTo>
                <a:cubicBezTo>
                  <a:pt x="369391" y="103783"/>
                  <a:pt x="357386" y="95250"/>
                  <a:pt x="343892" y="95250"/>
                </a:cubicBezTo>
                <a:lnTo>
                  <a:pt x="164108" y="95250"/>
                </a:lnTo>
                <a:cubicBezTo>
                  <a:pt x="150614" y="95250"/>
                  <a:pt x="138609" y="103783"/>
                  <a:pt x="134144" y="116483"/>
                </a:cubicBezTo>
                <a:close/>
                <a:moveTo>
                  <a:pt x="39291" y="195263"/>
                </a:moveTo>
                <a:lnTo>
                  <a:pt x="74216" y="95548"/>
                </a:lnTo>
                <a:cubicBezTo>
                  <a:pt x="87610" y="57348"/>
                  <a:pt x="123627" y="31750"/>
                  <a:pt x="164108" y="31750"/>
                </a:cubicBezTo>
                <a:lnTo>
                  <a:pt x="343892" y="31750"/>
                </a:lnTo>
                <a:cubicBezTo>
                  <a:pt x="384373" y="31750"/>
                  <a:pt x="420390" y="57348"/>
                  <a:pt x="433784" y="95548"/>
                </a:cubicBezTo>
                <a:lnTo>
                  <a:pt x="468709" y="195263"/>
                </a:lnTo>
                <a:cubicBezTo>
                  <a:pt x="491728" y="204788"/>
                  <a:pt x="508000" y="227509"/>
                  <a:pt x="508000" y="254000"/>
                </a:cubicBezTo>
                <a:lnTo>
                  <a:pt x="508000" y="444500"/>
                </a:lnTo>
                <a:cubicBezTo>
                  <a:pt x="508000" y="462062"/>
                  <a:pt x="493812" y="476250"/>
                  <a:pt x="476250" y="476250"/>
                </a:cubicBezTo>
                <a:lnTo>
                  <a:pt x="444500" y="476250"/>
                </a:lnTo>
                <a:cubicBezTo>
                  <a:pt x="426938" y="476250"/>
                  <a:pt x="412750" y="462062"/>
                  <a:pt x="412750" y="444500"/>
                </a:cubicBezTo>
                <a:lnTo>
                  <a:pt x="412750" y="412750"/>
                </a:lnTo>
                <a:lnTo>
                  <a:pt x="95250" y="412750"/>
                </a:lnTo>
                <a:lnTo>
                  <a:pt x="95250" y="444500"/>
                </a:lnTo>
                <a:cubicBezTo>
                  <a:pt x="95250" y="462062"/>
                  <a:pt x="81062" y="476250"/>
                  <a:pt x="63500" y="476250"/>
                </a:cubicBezTo>
                <a:lnTo>
                  <a:pt x="31750" y="476250"/>
                </a:lnTo>
                <a:cubicBezTo>
                  <a:pt x="14188" y="476250"/>
                  <a:pt x="0" y="462062"/>
                  <a:pt x="0" y="444500"/>
                </a:cubicBezTo>
                <a:lnTo>
                  <a:pt x="0" y="254000"/>
                </a:lnTo>
                <a:cubicBezTo>
                  <a:pt x="0" y="227509"/>
                  <a:pt x="16272" y="204788"/>
                  <a:pt x="39291" y="195263"/>
                </a:cubicBezTo>
                <a:close/>
                <a:moveTo>
                  <a:pt x="127000" y="301625"/>
                </a:moveTo>
                <a:cubicBezTo>
                  <a:pt x="127000" y="284102"/>
                  <a:pt x="112773" y="269875"/>
                  <a:pt x="95250" y="269875"/>
                </a:cubicBezTo>
                <a:cubicBezTo>
                  <a:pt x="77727" y="269875"/>
                  <a:pt x="63500" y="284102"/>
                  <a:pt x="63500" y="301625"/>
                </a:cubicBezTo>
                <a:cubicBezTo>
                  <a:pt x="63500" y="319148"/>
                  <a:pt x="77727" y="333375"/>
                  <a:pt x="95250" y="333375"/>
                </a:cubicBezTo>
                <a:cubicBezTo>
                  <a:pt x="112773" y="333375"/>
                  <a:pt x="127000" y="319148"/>
                  <a:pt x="127000" y="301625"/>
                </a:cubicBezTo>
                <a:close/>
                <a:moveTo>
                  <a:pt x="412750" y="333375"/>
                </a:moveTo>
                <a:cubicBezTo>
                  <a:pt x="430273" y="333375"/>
                  <a:pt x="444500" y="319148"/>
                  <a:pt x="444500" y="301625"/>
                </a:cubicBezTo>
                <a:cubicBezTo>
                  <a:pt x="444500" y="284102"/>
                  <a:pt x="430273" y="269875"/>
                  <a:pt x="412750" y="269875"/>
                </a:cubicBezTo>
                <a:cubicBezTo>
                  <a:pt x="395227" y="269875"/>
                  <a:pt x="381000" y="284102"/>
                  <a:pt x="381000" y="301625"/>
                </a:cubicBezTo>
                <a:cubicBezTo>
                  <a:pt x="381000" y="319148"/>
                  <a:pt x="395227" y="333375"/>
                  <a:pt x="412750" y="333375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26" name="Text 24"/>
          <p:cNvSpPr/>
          <p:nvPr/>
        </p:nvSpPr>
        <p:spPr>
          <a:xfrm>
            <a:off x="11049000" y="20066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Vehicles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50500" y="2730500"/>
            <a:ext cx="4826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VEHICLE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general category.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TRUCK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MOTORCYCLE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specific types.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ALL share Vehicle attributes: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Make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Model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Year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 each has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attributes too: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Car: Num_Doors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Truck: Cargo_Capacity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Motorcycle: Engine_CC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Specialization &amp; Generalization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3556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625600"/>
            <a:ext cx="1397000" cy="381000"/>
          </a:xfrm>
          <a:prstGeom prst="roundRect">
            <a:avLst>
              <a:gd name="adj" fmla="val 16000"/>
            </a:avLst>
          </a:prstGeom>
          <a:solidFill>
            <a:srgbClr val="2D5A4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625600"/>
            <a:ext cx="139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→ DOWN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40000" y="16002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Specialization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844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a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entity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create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sub-entities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breaking a big category into smaller ones.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75000" y="3429000"/>
            <a:ext cx="1778000" cy="571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11" name="Text 9"/>
          <p:cNvSpPr/>
          <p:nvPr/>
        </p:nvSpPr>
        <p:spPr>
          <a:xfrm>
            <a:off x="3175000" y="34290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83000" y="4064000"/>
            <a:ext cx="762000" cy="508000"/>
          </a:xfrm>
          <a:prstGeom prst="triangle">
            <a:avLst>
              <a:gd name="adj" fmla="val 50000"/>
            </a:avLst>
          </a:prstGeom>
          <a:solidFill>
            <a:srgbClr val="C4703F"/>
          </a:solidFill>
          <a:ln/>
        </p:spPr>
      </p:sp>
      <p:sp>
        <p:nvSpPr>
          <p:cNvPr id="13" name="Text 11"/>
          <p:cNvSpPr/>
          <p:nvPr/>
        </p:nvSpPr>
        <p:spPr>
          <a:xfrm>
            <a:off x="3683000" y="4064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40000" y="4572000"/>
            <a:ext cx="1143000" cy="3175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445000" y="4572000"/>
            <a:ext cx="1143000" cy="3175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651000" y="4889500"/>
            <a:ext cx="1524000" cy="508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17" name="Text 15"/>
          <p:cNvSpPr/>
          <p:nvPr/>
        </p:nvSpPr>
        <p:spPr>
          <a:xfrm>
            <a:off x="1651000" y="4851400"/>
            <a:ext cx="152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53000" y="4889500"/>
            <a:ext cx="1524000" cy="508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19" name="Text 17"/>
          <p:cNvSpPr/>
          <p:nvPr/>
        </p:nvSpPr>
        <p:spPr>
          <a:xfrm>
            <a:off x="4953000" y="4851400"/>
            <a:ext cx="152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1460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82000" y="1460500"/>
            <a:ext cx="63500" cy="3556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36000" y="1625600"/>
            <a:ext cx="1397000" cy="381000"/>
          </a:xfrm>
          <a:prstGeom prst="roundRect">
            <a:avLst>
              <a:gd name="adj" fmla="val 16000"/>
            </a:avLst>
          </a:prstGeom>
          <a:solidFill>
            <a:srgbClr val="C4703F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1625600"/>
            <a:ext cx="139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BOTTOM → UP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0" y="16002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36000" y="21844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entities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find common attributes to create a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one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271000" y="3429000"/>
            <a:ext cx="1524000" cy="5715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27" name="Text 25"/>
          <p:cNvSpPr/>
          <p:nvPr/>
        </p:nvSpPr>
        <p:spPr>
          <a:xfrm>
            <a:off x="9271000" y="3429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081000" y="3429000"/>
            <a:ext cx="1524000" cy="5715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29" name="Text 27"/>
          <p:cNvSpPr/>
          <p:nvPr/>
        </p:nvSpPr>
        <p:spPr>
          <a:xfrm>
            <a:off x="13081000" y="3429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TRUCK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33000" y="4000500"/>
            <a:ext cx="1143000" cy="3175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2700000" y="4000500"/>
            <a:ext cx="1143000" cy="3175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1557000" y="4064000"/>
            <a:ext cx="762000" cy="508000"/>
          </a:xfrm>
          <a:prstGeom prst="triangle">
            <a:avLst>
              <a:gd name="adj" fmla="val 50000"/>
            </a:avLst>
          </a:prstGeom>
          <a:solidFill>
            <a:srgbClr val="2D5A4C"/>
          </a:solidFill>
          <a:ln/>
        </p:spPr>
      </p:sp>
      <p:sp>
        <p:nvSpPr>
          <p:cNvPr id="33" name="Text 31"/>
          <p:cNvSpPr/>
          <p:nvPr/>
        </p:nvSpPr>
        <p:spPr>
          <a:xfrm>
            <a:off x="11557000" y="4064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049000" y="4826000"/>
            <a:ext cx="1778000" cy="5715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5" name="Text 33"/>
          <p:cNvSpPr/>
          <p:nvPr/>
        </p:nvSpPr>
        <p:spPr>
          <a:xfrm>
            <a:off x="11049000" y="4787900"/>
            <a:ext cx="1778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VEHICLE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5524500"/>
            <a:ext cx="14732000" cy="2857500"/>
          </a:xfrm>
          <a:prstGeom prst="roundRect">
            <a:avLst>
              <a:gd name="adj" fmla="val 4000"/>
            </a:avLst>
          </a:prstGeom>
          <a:solidFill>
            <a:srgbClr val="2D5A4C">
              <a:alpha val="5098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79500" y="5461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INHERITANCE EXPLAINED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79500" y="5842000"/>
            <a:ext cx="14097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Sub-entities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inherit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attributes from the parent (supertype) plus have their own: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has: Name, SSN, Address →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inherits these + adds: GPA, Major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has: Name, SSN, Address →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inherits these + adds: Salary, Hire_Date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7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ISA triangle symbol means "is a" — A Student IS A Person. An Employee IS A Person.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71500"/>
            <a:ext cx="762000" cy="508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5A4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EER Constraints &amp; Complete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7112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2921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494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Disjoint vs Overlapping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9500" y="2057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</a:path>
            </a:pathLst>
          </a:custGeom>
          <a:solidFill>
            <a:srgbClr val="2D5A4C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2032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Disjoint: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subtype belongs to ONLY ONE category. EMPLOYEE is either FULL_TIME or PART_TIME, not both.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79500" y="279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/>
            </a:pathLst>
          </a:custGeom>
          <a:solidFill>
            <a:srgbClr val="C4703F"/>
          </a:solidFill>
          <a:ln/>
        </p:spPr>
      </p:sp>
      <p:sp>
        <p:nvSpPr>
          <p:cNvPr id="10" name="Text 8"/>
          <p:cNvSpPr/>
          <p:nvPr/>
        </p:nvSpPr>
        <p:spPr>
          <a:xfrm>
            <a:off x="1460500" y="28575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Overlapping: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subtype can belong to MULTIPLE categories. A PERSON can be both STUDENT and EMPLOYEE.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1460500"/>
            <a:ext cx="7112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82000" y="1460500"/>
            <a:ext cx="63500" cy="29210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13" name="Text 11"/>
          <p:cNvSpPr/>
          <p:nvPr/>
        </p:nvSpPr>
        <p:spPr>
          <a:xfrm>
            <a:off x="8699500" y="15494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vs Partial Specialization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99500" y="2057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C4703F"/>
          </a:solidFill>
          <a:ln/>
        </p:spPr>
      </p:sp>
      <p:sp>
        <p:nvSpPr>
          <p:cNvPr id="15" name="Text 13"/>
          <p:cNvSpPr/>
          <p:nvPr/>
        </p:nvSpPr>
        <p:spPr>
          <a:xfrm>
            <a:off x="9080500" y="20320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supertype must be a subtype. Every ACCOUNT must be SAVINGS or CHECKING.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99500" y="279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</a:path>
            </a:pathLst>
          </a:custGeom>
          <a:solidFill>
            <a:srgbClr val="8B7355"/>
          </a:solidFill>
          <a:ln/>
        </p:spPr>
      </p:sp>
      <p:sp>
        <p:nvSpPr>
          <p:cNvPr id="17" name="Text 15"/>
          <p:cNvSpPr/>
          <p:nvPr/>
        </p:nvSpPr>
        <p:spPr>
          <a:xfrm>
            <a:off x="9080500" y="28575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Partial: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B2B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supertype MAY NOT belong to any subtype. Not every PERSON is a STUDENT or EMPLOYEE.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699000"/>
            <a:ext cx="14732000" cy="355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3922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79500" y="4800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200" kern="0" dirty="0">
                <a:solidFill>
                  <a:srgbClr val="C470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EXAMPLE: VEHICLE HIERARCHY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0" y="5270500"/>
            <a:ext cx="2286000" cy="635000"/>
          </a:xfrm>
          <a:prstGeom prst="rect">
            <a:avLst/>
          </a:prstGeom>
          <a:solidFill>
            <a:srgbClr val="2D5A4C"/>
          </a:solidFill>
          <a:ln/>
        </p:spPr>
      </p:sp>
      <p:sp>
        <p:nvSpPr>
          <p:cNvPr id="21" name="Text 19"/>
          <p:cNvSpPr/>
          <p:nvPr/>
        </p:nvSpPr>
        <p:spPr>
          <a:xfrm>
            <a:off x="6350000" y="52705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VEHICLE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88000" y="5905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Vehicle_ID, Make, Model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12000" y="5969000"/>
            <a:ext cx="762000" cy="571500"/>
          </a:xfrm>
          <a:prstGeom prst="triangle">
            <a:avLst>
              <a:gd name="adj" fmla="val 50000"/>
            </a:avLst>
          </a:prstGeom>
          <a:solidFill>
            <a:srgbClr val="C4703F"/>
          </a:solidFill>
          <a:ln/>
        </p:spPr>
      </p:sp>
      <p:sp>
        <p:nvSpPr>
          <p:cNvPr id="24" name="Text 22"/>
          <p:cNvSpPr/>
          <p:nvPr/>
        </p:nvSpPr>
        <p:spPr>
          <a:xfrm>
            <a:off x="7112000" y="5969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34000" y="6540500"/>
            <a:ext cx="1778000" cy="3810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7112000" y="6540500"/>
            <a:ext cx="0" cy="3810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7874000" y="6540500"/>
            <a:ext cx="1778000" cy="381000"/>
          </a:xfrm>
          <a:prstGeom prst="straightConnector1">
            <a:avLst/>
          </a:prstGeom>
          <a:noFill/>
          <a:ln w="25400">
            <a:solidFill>
              <a:srgbClr val="8B7355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3556000" y="6921500"/>
            <a:ext cx="1778000" cy="5715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29" name="Text 27"/>
          <p:cNvSpPr/>
          <p:nvPr/>
        </p:nvSpPr>
        <p:spPr>
          <a:xfrm>
            <a:off x="3556000" y="6921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02000" y="75438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Num_Doors, Trunk_Size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23000" y="6921500"/>
            <a:ext cx="1778000" cy="5715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32" name="Text 30"/>
          <p:cNvSpPr/>
          <p:nvPr/>
        </p:nvSpPr>
        <p:spPr>
          <a:xfrm>
            <a:off x="6223000" y="6921500"/>
            <a:ext cx="177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TRUCK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69000" y="75438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Cargo_Capacity, Axles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890000" y="6921500"/>
            <a:ext cx="2032000" cy="5715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35" name="Text 33"/>
          <p:cNvSpPr/>
          <p:nvPr/>
        </p:nvSpPr>
        <p:spPr>
          <a:xfrm>
            <a:off x="8890000" y="6921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MOTORCYCLE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90000" y="7543800"/>
            <a:ext cx="203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Engine_CC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79500" y="7874000"/>
            <a:ext cx="140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D5A4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Constraints: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Disjoint (a vehicle is only one type) + Total (every vehicle is categorized)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732000" y="8509000"/>
            <a:ext cx="76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73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ic2eluemf36i/mnt/agents/output/week2_db_course/images/8_Lines_Background_Images_Browse_18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5A4C">
                  <a:alpha val="90000"/>
                </a:srgbClr>
              </a:gs>
              <a:gs pos="50000">
                <a:srgbClr val="2D5A4C">
                  <a:alpha val="85000"/>
                </a:srgbClr>
              </a:gs>
              <a:gs pos="100000">
                <a:srgbClr val="2D5A4C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1524000"/>
            <a:ext cx="2540000" cy="508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177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400" kern="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2 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778000" y="22225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3111500"/>
            <a:ext cx="2540000" cy="50800"/>
          </a:xfrm>
          <a:prstGeom prst="rect">
            <a:avLst/>
          </a:prstGeom>
          <a:solidFill>
            <a:srgbClr val="C4703F"/>
          </a:solidFill>
          <a:ln/>
        </p:spPr>
      </p:sp>
      <p:sp>
        <p:nvSpPr>
          <p:cNvPr id="8" name="Shape 5"/>
          <p:cNvSpPr/>
          <p:nvPr/>
        </p:nvSpPr>
        <p:spPr>
          <a:xfrm>
            <a:off x="1524000" y="3556000"/>
            <a:ext cx="381000" cy="381000"/>
          </a:xfrm>
          <a:prstGeom prst="ellipse">
            <a:avLst/>
          </a:prstGeom>
          <a:solidFill>
            <a:srgbClr val="C4703F"/>
          </a:solidFill>
          <a:ln/>
        </p:spPr>
      </p:sp>
      <p:sp>
        <p:nvSpPr>
          <p:cNvPr id="9" name="Text 6"/>
          <p:cNvSpPr/>
          <p:nvPr/>
        </p:nvSpPr>
        <p:spPr>
          <a:xfrm>
            <a:off x="1524000" y="3556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095500" y="3530600"/>
            <a:ext cx="6223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Structural Constraints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control how entities relate through cardinality and participation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524000" y="4381500"/>
            <a:ext cx="381000" cy="381000"/>
          </a:xfrm>
          <a:prstGeom prst="ellipse">
            <a:avLst/>
          </a:prstGeom>
          <a:solidFill>
            <a:srgbClr val="C4703F"/>
          </a:solidFill>
          <a:ln/>
        </p:spPr>
      </p:sp>
      <p:sp>
        <p:nvSpPr>
          <p:cNvPr id="12" name="Text 9"/>
          <p:cNvSpPr/>
          <p:nvPr/>
        </p:nvSpPr>
        <p:spPr>
          <a:xfrm>
            <a:off x="1524000" y="43815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95500" y="4419600"/>
            <a:ext cx="6223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Entities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depend on owner entities and use partial keys for identification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524000" y="5207000"/>
            <a:ext cx="381000" cy="381000"/>
          </a:xfrm>
          <a:prstGeom prst="ellipse">
            <a:avLst/>
          </a:prstGeom>
          <a:solidFill>
            <a:srgbClr val="C4703F"/>
          </a:solidFill>
          <a:ln/>
        </p:spPr>
      </p:sp>
      <p:sp>
        <p:nvSpPr>
          <p:cNvPr id="15" name="Text 12"/>
          <p:cNvSpPr/>
          <p:nvPr/>
        </p:nvSpPr>
        <p:spPr>
          <a:xfrm>
            <a:off x="1524000" y="5207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095500" y="5308600"/>
            <a:ext cx="6223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 Diagrams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the visual blueprint for database design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636000" y="3556000"/>
            <a:ext cx="381000" cy="381000"/>
          </a:xfrm>
          <a:prstGeom prst="ellipse">
            <a:avLst/>
          </a:prstGeom>
          <a:solidFill>
            <a:srgbClr val="C4703F"/>
          </a:solidFill>
          <a:ln/>
        </p:spPr>
      </p:sp>
      <p:sp>
        <p:nvSpPr>
          <p:cNvPr id="18" name="Text 15"/>
          <p:cNvSpPr/>
          <p:nvPr/>
        </p:nvSpPr>
        <p:spPr>
          <a:xfrm>
            <a:off x="8636000" y="3556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207500" y="3530600"/>
            <a:ext cx="6223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Naming Conventions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 consistency and clarity in your database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636000" y="4381500"/>
            <a:ext cx="381000" cy="381000"/>
          </a:xfrm>
          <a:prstGeom prst="ellipse">
            <a:avLst/>
          </a:prstGeom>
          <a:solidFill>
            <a:srgbClr val="C4703F"/>
          </a:solidFill>
          <a:ln/>
        </p:spPr>
      </p:sp>
      <p:sp>
        <p:nvSpPr>
          <p:cNvPr id="21" name="Text 18"/>
          <p:cNvSpPr/>
          <p:nvPr/>
        </p:nvSpPr>
        <p:spPr>
          <a:xfrm>
            <a:off x="8636000" y="43815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07500" y="4419600"/>
            <a:ext cx="6223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Keys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uniquely identify records and link tables together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636000" y="5207000"/>
            <a:ext cx="381000" cy="381000"/>
          </a:xfrm>
          <a:prstGeom prst="ellipse">
            <a:avLst/>
          </a:prstGeom>
          <a:solidFill>
            <a:srgbClr val="C4703F"/>
          </a:solidFill>
          <a:ln/>
        </p:spPr>
      </p:sp>
      <p:sp>
        <p:nvSpPr>
          <p:cNvPr id="24" name="Text 21"/>
          <p:cNvSpPr/>
          <p:nvPr/>
        </p:nvSpPr>
        <p:spPr>
          <a:xfrm>
            <a:off x="8636000" y="5207000"/>
            <a:ext cx="38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07500" y="5308600"/>
            <a:ext cx="6223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00" b="1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ER</a:t>
            </a:r>
            <a:pPr>
              <a:lnSpc>
                <a:spcPct val="140000"/>
              </a:lnSpc>
            </a:pPr>
            <a:r>
              <a:rPr lang="en-US" sz="17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adds specialization and generalization for complex modeling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588000" y="6223000"/>
            <a:ext cx="5080000" cy="25400"/>
          </a:xfrm>
          <a:prstGeom prst="rect">
            <a:avLst/>
          </a:prstGeom>
          <a:solidFill>
            <a:srgbClr val="FFFFFF">
              <a:alpha val="26667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2413000" y="64770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"Practice drawing ER diagrams for real-world scenarios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master these concepts!"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318000" y="774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300" kern="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SYSTEMS COURSE • SPRING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 - Week 2: Lectures 3 &amp; 4</dc:title>
  <dc:subject>Database Systems - Week 2: Lectures 3 &amp; 4</dc:subject>
  <dc:creator>Kimi</dc:creator>
  <cp:lastModifiedBy>Kimi</cp:lastModifiedBy>
  <cp:revision>1</cp:revision>
  <dcterms:created xsi:type="dcterms:W3CDTF">2026-05-22T09:41:47Z</dcterms:created>
  <dcterms:modified xsi:type="dcterms:W3CDTF">2026-05-22T09:41:47Z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{"Label":"Database Systems - Week 2: Lectures 3 &amp; 4","ContentProducer":"001191110108MACG2KBH8F10000","ProduceID":"19e4f042-dd22-8eec-8000-00002a4a4ee4","ReservedCode1":"","ContentPropagator":"001191110108MACG2KBH8F20000","PropagateID":"19e4f042-dd22-8eec-8000-00002a4a4ee4","ReservedCode2":""}</vt:lpwstr>
  </property>
</Properties>
</file>