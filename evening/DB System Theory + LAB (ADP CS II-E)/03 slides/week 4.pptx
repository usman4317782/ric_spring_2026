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slqihksl2c3w/mnt/agents/output/db-design/images/1_19_499_Dark_Data_Center_Royalty_Free.png">    </p:cNvPr>
          <p:cNvPicPr>
            <a:picLocks noChangeAspect="1"/>
          </p:cNvPicPr>
          <p:nvPr/>
        </p:nvPicPr>
        <p:blipFill>
          <a:blip r:embed="rId1"/>
          <a:srcRect l="0" r="0" t="74" b="7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4B">
                  <a:alpha val="60000"/>
                </a:srgbClr>
              </a:gs>
              <a:gs pos="50000">
                <a:srgbClr val="1B3A4B">
                  <a:alpha val="80000"/>
                </a:srgbClr>
              </a:gs>
              <a:gs pos="100000">
                <a:srgbClr val="1B3A4B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54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400" kern="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048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</a:t>
            </a:r>
            <a:endParaRPr lang="en-US" sz="4200" dirty="0"/>
          </a:p>
          <a:p>
            <a:pPr algn="ctr">
              <a:lnSpc>
                <a:spcPct val="120000"/>
              </a:lnSpc>
            </a:pPr>
            <a:r>
              <a:rPr lang="en-US" sz="4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&amp; MODEL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762500"/>
            <a:ext cx="2540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50165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 · Relational Model Concepts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 · Update Operations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 of Keys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53000" y="711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for: Database Management Systems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completing this lecture, students will be able to: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985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968500" y="2413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relational database design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the principles of organizing data into tables and relationships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360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413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 ER models into relational schemas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 entities, attributes, and relationships to tables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98575" y="4000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142875"/>
                </a:moveTo>
                <a:lnTo>
                  <a:pt x="228600" y="228600"/>
                </a:lnTo>
                <a:lnTo>
                  <a:pt x="342900" y="228600"/>
                </a:lnTo>
                <a:lnTo>
                  <a:pt x="342900" y="142875"/>
                </a:lnTo>
                <a:lnTo>
                  <a:pt x="228600" y="142875"/>
                </a:lnTo>
                <a:close/>
                <a:moveTo>
                  <a:pt x="171450" y="142875"/>
                </a:moveTo>
                <a:lnTo>
                  <a:pt x="57150" y="142875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1450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42900" y="285750"/>
                </a:moveTo>
                <a:lnTo>
                  <a:pt x="228600" y="285750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285750"/>
                </a:lnTo>
                <a:close/>
                <a:moveTo>
                  <a:pt x="171450" y="371475"/>
                </a:moveTo>
                <a:lnTo>
                  <a:pt x="171450" y="285750"/>
                </a:lnTo>
                <a:lnTo>
                  <a:pt x="57150" y="285750"/>
                </a:lnTo>
                <a:lnTo>
                  <a:pt x="57150" y="371475"/>
                </a:lnTo>
                <a:lnTo>
                  <a:pt x="171450" y="371475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2" name="Text 10"/>
          <p:cNvSpPr/>
          <p:nvPr/>
        </p:nvSpPr>
        <p:spPr>
          <a:xfrm>
            <a:off x="1968500" y="3937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 relational model concepts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Master tuples, attributes, domains, and relations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93150" y="4000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937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 relational constraints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domain, key, entity, and referential integrity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70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1124" y="19377"/>
                </a:moveTo>
                <a:cubicBezTo>
                  <a:pt x="401568" y="-179"/>
                  <a:pt x="369957" y="-179"/>
                  <a:pt x="350401" y="19377"/>
                </a:cubicBezTo>
                <a:lnTo>
                  <a:pt x="328613" y="41166"/>
                </a:lnTo>
                <a:lnTo>
                  <a:pt x="416034" y="128588"/>
                </a:lnTo>
                <a:lnTo>
                  <a:pt x="437823" y="106799"/>
                </a:lnTo>
                <a:cubicBezTo>
                  <a:pt x="457379" y="87243"/>
                  <a:pt x="457379" y="55632"/>
                  <a:pt x="437823" y="36076"/>
                </a:cubicBezTo>
                <a:lnTo>
                  <a:pt x="421124" y="19377"/>
                </a:lnTo>
                <a:close/>
                <a:moveTo>
                  <a:pt x="153948" y="215831"/>
                </a:moveTo>
                <a:cubicBezTo>
                  <a:pt x="148501" y="221278"/>
                  <a:pt x="144304" y="227975"/>
                  <a:pt x="141893" y="235387"/>
                </a:cubicBezTo>
                <a:lnTo>
                  <a:pt x="115461" y="314682"/>
                </a:lnTo>
                <a:cubicBezTo>
                  <a:pt x="112871" y="322362"/>
                  <a:pt x="114925" y="330845"/>
                  <a:pt x="120640" y="336649"/>
                </a:cubicBezTo>
                <a:cubicBezTo>
                  <a:pt x="126355" y="342454"/>
                  <a:pt x="134838" y="344418"/>
                  <a:pt x="142607" y="341828"/>
                </a:cubicBezTo>
                <a:lnTo>
                  <a:pt x="221903" y="315397"/>
                </a:lnTo>
                <a:cubicBezTo>
                  <a:pt x="229225" y="312986"/>
                  <a:pt x="235922" y="308789"/>
                  <a:pt x="241459" y="303341"/>
                </a:cubicBezTo>
                <a:lnTo>
                  <a:pt x="385763" y="158859"/>
                </a:lnTo>
                <a:lnTo>
                  <a:pt x="298341" y="71438"/>
                </a:lnTo>
                <a:lnTo>
                  <a:pt x="153948" y="215831"/>
                </a:lnTo>
                <a:close/>
                <a:moveTo>
                  <a:pt x="85725" y="57150"/>
                </a:moveTo>
                <a:cubicBezTo>
                  <a:pt x="38398" y="57150"/>
                  <a:pt x="0" y="95548"/>
                  <a:pt x="0" y="142875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314325" y="457200"/>
                </a:lnTo>
                <a:cubicBezTo>
                  <a:pt x="361652" y="457200"/>
                  <a:pt x="400050" y="418802"/>
                  <a:pt x="400050" y="371475"/>
                </a:cubicBezTo>
                <a:lnTo>
                  <a:pt x="400050" y="285750"/>
                </a:lnTo>
                <a:cubicBezTo>
                  <a:pt x="400050" y="269944"/>
                  <a:pt x="387281" y="257175"/>
                  <a:pt x="371475" y="257175"/>
                </a:cubicBezTo>
                <a:cubicBezTo>
                  <a:pt x="355669" y="257175"/>
                  <a:pt x="342900" y="269944"/>
                  <a:pt x="342900" y="285750"/>
                </a:cubicBezTo>
                <a:lnTo>
                  <a:pt x="342900" y="371475"/>
                </a:lnTo>
                <a:cubicBezTo>
                  <a:pt x="342900" y="387281"/>
                  <a:pt x="330131" y="400050"/>
                  <a:pt x="314325" y="400050"/>
                </a:cubicBezTo>
                <a:lnTo>
                  <a:pt x="85725" y="400050"/>
                </a:lnTo>
                <a:cubicBezTo>
                  <a:pt x="69919" y="400050"/>
                  <a:pt x="57150" y="387281"/>
                  <a:pt x="57150" y="371475"/>
                </a:cubicBezTo>
                <a:lnTo>
                  <a:pt x="57150" y="142875"/>
                </a:lnTo>
                <a:cubicBezTo>
                  <a:pt x="57150" y="127069"/>
                  <a:pt x="69919" y="114300"/>
                  <a:pt x="85725" y="114300"/>
                </a:cubicBezTo>
                <a:lnTo>
                  <a:pt x="171450" y="114300"/>
                </a:lnTo>
                <a:cubicBezTo>
                  <a:pt x="187256" y="114300"/>
                  <a:pt x="200025" y="101531"/>
                  <a:pt x="200025" y="85725"/>
                </a:cubicBezTo>
                <a:cubicBezTo>
                  <a:pt x="200025" y="69919"/>
                  <a:pt x="187256" y="57150"/>
                  <a:pt x="171450" y="57150"/>
                </a:cubicBezTo>
                <a:lnTo>
                  <a:pt x="85725" y="5715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968500" y="5461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update operations and violations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 INSERT, DELETE, and UPDATE correctly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36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5461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Differentiate between various database keys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 key, candidate key, primary key, and foreign key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DATABASE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design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process of organizing data into tables and defining relationships among them to create an efficient, consistent, and reliable database structure.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67000"/>
            <a:ext cx="50800" cy="330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285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of Design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3429000"/>
            <a:ext cx="647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data redundancy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data consistency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data integrity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Facilitate efficient data retrieval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2667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2667000"/>
            <a:ext cx="50800" cy="3302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8575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Phases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763000" y="3429000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342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3429000"/>
            <a:ext cx="584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Conceptual Design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ER modeling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63000" y="4064000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4064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000" y="4064000"/>
            <a:ext cx="584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Logical Design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Relational schemas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63000" y="4699000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469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8000" y="4699000"/>
            <a:ext cx="584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Design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Storage &amp; implementation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91600" y="3886200"/>
            <a:ext cx="0" cy="1778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8991600" y="4521200"/>
            <a:ext cx="0" cy="1778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RELATIONSHIP (ER)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Entity Relationship (ER) Model is a high-level conceptual data model used to represent data objects, attributes, and relationships among entities in a database system.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984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Components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4572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950" y="3810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81000" y="79375"/>
                </a:moveTo>
                <a:cubicBezTo>
                  <a:pt x="389731" y="79375"/>
                  <a:pt x="396875" y="86519"/>
                  <a:pt x="396875" y="95250"/>
                </a:cubicBezTo>
                <a:lnTo>
                  <a:pt x="396875" y="412750"/>
                </a:lnTo>
                <a:cubicBezTo>
                  <a:pt x="396875" y="421481"/>
                  <a:pt x="389731" y="428625"/>
                  <a:pt x="381000" y="428625"/>
                </a:cubicBezTo>
                <a:lnTo>
                  <a:pt x="63500" y="428625"/>
                </a:lnTo>
                <a:cubicBezTo>
                  <a:pt x="54769" y="428625"/>
                  <a:pt x="47625" y="421481"/>
                  <a:pt x="47625" y="412750"/>
                </a:cubicBezTo>
                <a:lnTo>
                  <a:pt x="47625" y="95250"/>
                </a:lnTo>
                <a:cubicBezTo>
                  <a:pt x="47625" y="86519"/>
                  <a:pt x="54769" y="79375"/>
                  <a:pt x="63500" y="79375"/>
                </a:cubicBezTo>
                <a:lnTo>
                  <a:pt x="381000" y="79375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3657600"/>
            <a:ext cx="349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Entities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 or things in the real world (e.g., Student, Course)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42000" y="3556000"/>
            <a:ext cx="4572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52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0375" y="254000"/>
                </a:moveTo>
                <a:cubicBezTo>
                  <a:pt x="460375" y="140099"/>
                  <a:pt x="367901" y="47625"/>
                  <a:pt x="254000" y="47625"/>
                </a:cubicBezTo>
                <a:cubicBezTo>
                  <a:pt x="140099" y="47625"/>
                  <a:pt x="47625" y="140099"/>
                  <a:pt x="47625" y="254000"/>
                </a:cubicBezTo>
                <a:cubicBezTo>
                  <a:pt x="47625" y="367901"/>
                  <a:pt x="140099" y="460375"/>
                  <a:pt x="254000" y="460375"/>
                </a:cubicBezTo>
                <a:cubicBezTo>
                  <a:pt x="367901" y="460375"/>
                  <a:pt x="460375" y="367901"/>
                  <a:pt x="460375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0" y="3657600"/>
            <a:ext cx="349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Attributes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Properties that describe entities (e.g., Name, ID)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22000" y="3556000"/>
            <a:ext cx="4572000" cy="146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252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7184" y="71438"/>
                </a:moveTo>
                <a:lnTo>
                  <a:pt x="254000" y="163711"/>
                </a:lnTo>
                <a:lnTo>
                  <a:pt x="340816" y="71438"/>
                </a:lnTo>
                <a:lnTo>
                  <a:pt x="167184" y="71438"/>
                </a:lnTo>
                <a:close/>
                <a:moveTo>
                  <a:pt x="380901" y="98326"/>
                </a:moveTo>
                <a:lnTo>
                  <a:pt x="309166" y="174625"/>
                </a:lnTo>
                <a:lnTo>
                  <a:pt x="437158" y="174625"/>
                </a:lnTo>
                <a:lnTo>
                  <a:pt x="381000" y="98326"/>
                </a:lnTo>
                <a:close/>
                <a:moveTo>
                  <a:pt x="430510" y="222250"/>
                </a:moveTo>
                <a:lnTo>
                  <a:pt x="77490" y="222250"/>
                </a:lnTo>
                <a:lnTo>
                  <a:pt x="254000" y="417016"/>
                </a:lnTo>
                <a:lnTo>
                  <a:pt x="430510" y="222250"/>
                </a:lnTo>
                <a:close/>
                <a:moveTo>
                  <a:pt x="70941" y="174625"/>
                </a:moveTo>
                <a:lnTo>
                  <a:pt x="198934" y="174625"/>
                </a:lnTo>
                <a:lnTo>
                  <a:pt x="127198" y="98326"/>
                </a:lnTo>
                <a:lnTo>
                  <a:pt x="71041" y="174625"/>
                </a:lnTo>
                <a:close/>
                <a:moveTo>
                  <a:pt x="501848" y="214412"/>
                </a:moveTo>
                <a:lnTo>
                  <a:pt x="271661" y="468412"/>
                </a:lnTo>
                <a:cubicBezTo>
                  <a:pt x="267196" y="473373"/>
                  <a:pt x="260747" y="476250"/>
                  <a:pt x="254000" y="476250"/>
                </a:cubicBezTo>
                <a:cubicBezTo>
                  <a:pt x="247253" y="476250"/>
                  <a:pt x="240903" y="473373"/>
                  <a:pt x="236339" y="468412"/>
                </a:cubicBezTo>
                <a:lnTo>
                  <a:pt x="6152" y="214412"/>
                </a:lnTo>
                <a:cubicBezTo>
                  <a:pt x="-1488" y="205978"/>
                  <a:pt x="-2084" y="193377"/>
                  <a:pt x="4663" y="184249"/>
                </a:cubicBezTo>
                <a:lnTo>
                  <a:pt x="115788" y="33437"/>
                </a:lnTo>
                <a:cubicBezTo>
                  <a:pt x="120253" y="27384"/>
                  <a:pt x="127397" y="23713"/>
                  <a:pt x="134938" y="23713"/>
                </a:cubicBezTo>
                <a:lnTo>
                  <a:pt x="373063" y="23713"/>
                </a:lnTo>
                <a:cubicBezTo>
                  <a:pt x="380603" y="23713"/>
                  <a:pt x="387747" y="27285"/>
                  <a:pt x="392212" y="33437"/>
                </a:cubicBezTo>
                <a:lnTo>
                  <a:pt x="503337" y="184249"/>
                </a:lnTo>
                <a:cubicBezTo>
                  <a:pt x="510084" y="193377"/>
                  <a:pt x="509389" y="205978"/>
                  <a:pt x="501848" y="214412"/>
                </a:cubicBez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47500" y="3657600"/>
            <a:ext cx="349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Relationships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Associations between entities (e.g., Enrolls)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143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2000" y="5651500"/>
            <a:ext cx="14732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715000"/>
            <a:ext cx="14224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university system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entity with attributes like StudentID, Name, and Major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entity with attributes like CourseID, Title, and Credits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Enrollment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relationship connecting Students to Courses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7620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 Diagram Notation: 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▢ Rectangles = Entities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◆ Diamonds = Relationships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○ Ovals = Attributes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ER-TO-RELATIONAL MAPPING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process of converting an ER diagram into a set of relational tables that can be implemented in a DBMS.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730500"/>
            <a:ext cx="50800" cy="2667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2895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" y="34036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 conceptual design into logical schema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Prepare database for implementation in DBMS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Bridge the gap between design and development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2730500"/>
            <a:ext cx="7048500" cy="2667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2730500"/>
            <a:ext cx="50800" cy="2667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2895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63000" y="3403600"/>
            <a:ext cx="647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(Relations)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(Attributes)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Constraints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58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Process Flow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70000" y="6223000"/>
            <a:ext cx="2794000" cy="8890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6223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(Conceptual)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4000" y="6604000"/>
            <a:ext cx="1016000" cy="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080000" y="6223000"/>
            <a:ext cx="2794000" cy="889000"/>
          </a:xfrm>
          <a:prstGeom prst="roundRect">
            <a:avLst>
              <a:gd name="adj" fmla="val 10000"/>
            </a:avLst>
          </a:pr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5080000" y="6223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Rules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(Transformation)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0" y="6604000"/>
            <a:ext cx="1016000" cy="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890000" y="6223000"/>
            <a:ext cx="2794000" cy="8890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/>
        </p:spPr>
      </p:sp>
      <p:sp>
        <p:nvSpPr>
          <p:cNvPr id="23" name="Text 21"/>
          <p:cNvSpPr/>
          <p:nvPr/>
        </p:nvSpPr>
        <p:spPr>
          <a:xfrm>
            <a:off x="8890000" y="6223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Schema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(Logical)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684000" y="6604000"/>
            <a:ext cx="1016000" cy="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700000" y="6223000"/>
            <a:ext cx="2794000" cy="889000"/>
          </a:xfrm>
          <a:prstGeom prst="roundRect">
            <a:avLst>
              <a:gd name="adj" fmla="val 10000"/>
            </a:avLst>
          </a:prstGeom>
          <a:solidFill>
            <a:srgbClr val="5A6B7B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6223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DBMS Tables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(Physical)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REGULAR ENTITY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9144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regular entity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(strong entity) has its own primary key and can exist independently. Every strong entity is converted into a separate 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Steps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27400"/>
            <a:ext cx="406400" cy="5080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327400"/>
            <a:ext cx="406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" y="3302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table for the entity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898900"/>
            <a:ext cx="406400" cy="5080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898900"/>
            <a:ext cx="406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873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Include all simple attributes as columns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470400"/>
            <a:ext cx="406400" cy="5080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470400"/>
            <a:ext cx="406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" y="4445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the primary key from key attributes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143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2000" y="56515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5778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Entity →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Name, Department)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Key: StudentID (underlined)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445500" y="56515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9500" y="5778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Online Shopping System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Customer(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CustomerID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CustomerName, Email)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customer stored as an independent record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WEAK ENTITY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weak entity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exist independently and depends on a strong (owner) entity. It has a partial key (discriminator) instead of a full primary key.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Steps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890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3302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table for the weak entity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9000" y="397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3873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Include the partial key (discriminator)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9000" y="454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4445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Include owner entity's primary key as foreign key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9000" y="511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5016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 primary key = (Owner PK + Partial Key)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45500" y="273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Diagram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90000" y="3429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342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(Owner Entity)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10287000" y="4318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B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90000" y="4699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46990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(Weak Entity)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71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Resulting Table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6223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000" y="6350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Dependent(</a:t>
            </a:r>
            <a:pPr algn="ctr">
              <a:lnSpc>
                <a:spcPct val="160000"/>
              </a:lnSpc>
            </a:pPr>
            <a:r>
              <a:rPr lang="en-US" sz="20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20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DependentName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Age)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 Primary Key: (EmpID, DependentName) · EmpID is a foreign key referencing Employee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ONE-TO-ONE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one-to-one (1:1)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relationship, a foreign key is added to one of the relations. The foreign key references the primary key of the other relation.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70485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766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record in Table A relates to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exactly one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record in Table B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record in Table B relates to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exactly one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record in Table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500" y="266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45500" y="3175000"/>
            <a:ext cx="70485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32766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foreign key of one relation to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other relation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 the side with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participation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host the FK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5207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57785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5778500"/>
            <a:ext cx="7048500" cy="457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7785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350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Name,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85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PassportID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PassportID is a foreign key referencing Passport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45500" y="57785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5500" y="5778500"/>
            <a:ext cx="7048500" cy="4572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45500" y="57785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PASSPORT TABLE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6350000"/>
            <a:ext cx="654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Passport(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PassportID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IssueDate)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employee has exactly one passport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810500" y="5969000"/>
            <a:ext cx="635000" cy="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arrow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ONE-TO-MANY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one-to-many (1:N)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relationship, the primary key of the "one" side is placed 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"many" side relation.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670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68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"many" side table gets a foreign key column that references the primary key of the "one" side table.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873500"/>
            <a:ext cx="5842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873500"/>
            <a:ext cx="5842000" cy="457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735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 ("ONE" SIDE)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508500"/>
            <a:ext cx="533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Department(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DeptName)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department has many employees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56000" y="57785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3746500" y="584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 becomes FK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286500"/>
            <a:ext cx="5842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6286500"/>
            <a:ext cx="5842000" cy="4572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2865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("MANY" SIDE)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921500"/>
            <a:ext cx="533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Name,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85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DeptID is FK referencing Department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0" y="3873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28000" y="4699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4699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(One)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5080000"/>
            <a:ext cx="1524000" cy="0"/>
          </a:xfrm>
          <a:prstGeom prst="straightConnector1">
            <a:avLst/>
          </a:prstGeom>
          <a:noFill/>
          <a:ln w="381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0858500" y="47625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: 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192000" y="4699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D485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4699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(Many)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0" y="6096000"/>
            <a:ext cx="787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foreign key always goes on the "many" side. This avoids data duplication and maintains referential integrity.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206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MANY-TO-MANY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many-to-many (M:N)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 occurs when multiple records in one table relate to multiple records in another table.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junction table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required.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3810000" cy="1016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73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238500"/>
            <a:ext cx="1016000" cy="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arrow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588000" y="2730500"/>
            <a:ext cx="4318000" cy="1397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5588000" y="27305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(Junction)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</a:t>
            </a:r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CourseID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Grade)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PK: (StudentID, CourseID)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0" y="3238500"/>
            <a:ext cx="1016000" cy="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922000" y="2730500"/>
            <a:ext cx="3810000" cy="1016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30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pPr algn="ctr">
              <a:lnSpc>
                <a:spcPct val="100000"/>
              </a:lnSpc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CourseID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Title)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5500" y="2921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 : 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69500" y="29210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 : 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44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62000" y="4953000"/>
            <a:ext cx="14732000" cy="1968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0800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junction table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(Enrollment) contains the primary keys from both participating entities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two foreign keys together form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 primary key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junction table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Additional attributes of the relationship (like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i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Grade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are also included in the junction table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Real-world: Students can enroll in many courses, and each course can contain many students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MULTIVALUED ATTRIBUTES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Multivalued attributes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hold multiple values for a single entity instance. They require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table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avoid data redundancy and violation of first normal form.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667000"/>
            <a:ext cx="508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68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a separate table?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employee can have multiple phone numbers. Storing all in one cell would violate database normalization rules.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746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Entity Table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254500"/>
            <a:ext cx="6350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4254500"/>
            <a:ext cx="6350000" cy="457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254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 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826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Employee(</a:t>
            </a:r>
            <a:pPr algn="ctr"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10000" y="56515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762000" y="635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Multivalued Attribute Table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6858000"/>
            <a:ext cx="6350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6858000"/>
            <a:ext cx="6350000" cy="4572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6858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EMPLOYEE_PHONE 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4295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EmployeePhone(</a:t>
            </a:r>
            <a:pPr algn="ctr"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PhoneNumber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74000" y="3746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874000" y="4254500"/>
            <a:ext cx="7620000" cy="4000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8191500" y="4445000"/>
            <a:ext cx="6985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multivalued attribute gets its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own table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entity's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key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becomes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key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new table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multivalued attribute and FK together form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composite primary key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ensures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Normal Form (1NF)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compliance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Other examples: multiple email addresses, multiple skills, multiple addresses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ER-TO-RELATIONAL MAPPING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MAPPING RECURSIVE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recursive relationship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occurs when an entity relates to itself. It is mapped by adding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references the primary key of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table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3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276600"/>
            <a:ext cx="7048500" cy="762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365500"/>
            <a:ext cx="6032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Organizational hierarchy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employees report to managers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3276600"/>
            <a:ext cx="7048500" cy="762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95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3365500"/>
            <a:ext cx="6032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Reporting structure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chain of command in organizations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3815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Employee Hierarchy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953000"/>
          <a:ext cx="8890000" cy="2540000"/>
        </p:xfrm>
        <a:graphic>
          <a:graphicData uri="http://schemas.openxmlformats.org/drawingml/2006/table">
            <a:tbl>
              <a:tblPr/>
              <a:tblGrid>
                <a:gridCol w="1778000"/>
                <a:gridCol w="2222500"/>
                <a:gridCol w="2222500"/>
                <a:gridCol w="2667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SupervisorID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Reference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6B7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CEO (no supervisor)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6B7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Reports to Alice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5A6B7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Reports to Alice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0414000" y="4381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Resulting Schema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0414000" y="4953000"/>
            <a:ext cx="5080000" cy="273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68000" y="51435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Employee(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Name,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SupervisorID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SupervisorID → FK references EmpID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RELATIONAL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8890000" cy="1333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133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838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relational model is a database model that stores data in the form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 (tables)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consisting of rows and columns.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0" y="17145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0394950" y="20066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85500" y="1879600"/>
            <a:ext cx="425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by Edgar F. Codd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IBM in 1970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302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38354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403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111125"/>
                </a:moveTo>
                <a:lnTo>
                  <a:pt x="177800" y="177800"/>
                </a:lnTo>
                <a:lnTo>
                  <a:pt x="266700" y="177800"/>
                </a:lnTo>
                <a:lnTo>
                  <a:pt x="266700" y="111125"/>
                </a:lnTo>
                <a:lnTo>
                  <a:pt x="177800" y="111125"/>
                </a:lnTo>
                <a:close/>
                <a:moveTo>
                  <a:pt x="133350" y="111125"/>
                </a:moveTo>
                <a:lnTo>
                  <a:pt x="44450" y="111125"/>
                </a:lnTo>
                <a:lnTo>
                  <a:pt x="44450" y="177800"/>
                </a:lnTo>
                <a:lnTo>
                  <a:pt x="133350" y="177800"/>
                </a:lnTo>
                <a:lnTo>
                  <a:pt x="13335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266700" y="222250"/>
                </a:moveTo>
                <a:lnTo>
                  <a:pt x="177800" y="222250"/>
                </a:lnTo>
                <a:lnTo>
                  <a:pt x="177800" y="288925"/>
                </a:lnTo>
                <a:lnTo>
                  <a:pt x="266700" y="288925"/>
                </a:lnTo>
                <a:lnTo>
                  <a:pt x="266700" y="222250"/>
                </a:lnTo>
                <a:close/>
                <a:moveTo>
                  <a:pt x="133350" y="288925"/>
                </a:moveTo>
                <a:lnTo>
                  <a:pt x="133350" y="222250"/>
                </a:lnTo>
                <a:lnTo>
                  <a:pt x="44450" y="222250"/>
                </a:lnTo>
                <a:lnTo>
                  <a:pt x="44450" y="288925"/>
                </a:lnTo>
                <a:lnTo>
                  <a:pt x="133350" y="288925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4704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Table-based structure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08500" y="38354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2500" y="403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75" y="0"/>
                </a:moveTo>
                <a:cubicBezTo>
                  <a:pt x="272951" y="0"/>
                  <a:pt x="300246" y="11321"/>
                  <a:pt x="320318" y="31393"/>
                </a:cubicBezTo>
                <a:lnTo>
                  <a:pt x="324138" y="35213"/>
                </a:lnTo>
                <a:cubicBezTo>
                  <a:pt x="344279" y="55354"/>
                  <a:pt x="355600" y="82649"/>
                  <a:pt x="355600" y="111056"/>
                </a:cubicBezTo>
                <a:cubicBezTo>
                  <a:pt x="355600" y="127794"/>
                  <a:pt x="351641" y="144115"/>
                  <a:pt x="344349" y="158839"/>
                </a:cubicBezTo>
                <a:cubicBezTo>
                  <a:pt x="343029" y="161409"/>
                  <a:pt x="340668" y="163354"/>
                  <a:pt x="337889" y="164187"/>
                </a:cubicBezTo>
                <a:lnTo>
                  <a:pt x="260102" y="187523"/>
                </a:lnTo>
                <a:cubicBezTo>
                  <a:pt x="257393" y="188357"/>
                  <a:pt x="255587" y="190788"/>
                  <a:pt x="255587" y="193635"/>
                </a:cubicBezTo>
                <a:cubicBezTo>
                  <a:pt x="255587" y="197177"/>
                  <a:pt x="258435" y="200025"/>
                  <a:pt x="261977" y="200025"/>
                </a:cubicBezTo>
                <a:lnTo>
                  <a:pt x="284341" y="200025"/>
                </a:lnTo>
                <a:cubicBezTo>
                  <a:pt x="294273" y="200025"/>
                  <a:pt x="299204" y="211971"/>
                  <a:pt x="292189" y="218986"/>
                </a:cubicBezTo>
                <a:lnTo>
                  <a:pt x="276632" y="234543"/>
                </a:lnTo>
                <a:cubicBezTo>
                  <a:pt x="275312" y="235863"/>
                  <a:pt x="273715" y="236766"/>
                  <a:pt x="271978" y="237321"/>
                </a:cubicBezTo>
                <a:lnTo>
                  <a:pt x="215721" y="254198"/>
                </a:lnTo>
                <a:cubicBezTo>
                  <a:pt x="213013" y="255032"/>
                  <a:pt x="211207" y="257463"/>
                  <a:pt x="211207" y="260310"/>
                </a:cubicBezTo>
                <a:cubicBezTo>
                  <a:pt x="211207" y="263852"/>
                  <a:pt x="214055" y="266700"/>
                  <a:pt x="217597" y="266700"/>
                </a:cubicBezTo>
                <a:cubicBezTo>
                  <a:pt x="226764" y="266700"/>
                  <a:pt x="230723" y="277604"/>
                  <a:pt x="223014" y="282605"/>
                </a:cubicBezTo>
                <a:cubicBezTo>
                  <a:pt x="194469" y="301079"/>
                  <a:pt x="160992" y="311150"/>
                  <a:pt x="126474" y="311150"/>
                </a:cubicBezTo>
                <a:lnTo>
                  <a:pt x="66744" y="311150"/>
                </a:lnTo>
                <a:lnTo>
                  <a:pt x="33407" y="344488"/>
                </a:lnTo>
                <a:cubicBezTo>
                  <a:pt x="27295" y="350599"/>
                  <a:pt x="17294" y="350599"/>
                  <a:pt x="11182" y="344488"/>
                </a:cubicBezTo>
                <a:cubicBezTo>
                  <a:pt x="5070" y="338376"/>
                  <a:pt x="5070" y="328374"/>
                  <a:pt x="11182" y="322263"/>
                </a:cubicBezTo>
                <a:lnTo>
                  <a:pt x="177800" y="155575"/>
                </a:lnTo>
                <a:cubicBezTo>
                  <a:pt x="183912" y="149463"/>
                  <a:pt x="183912" y="139462"/>
                  <a:pt x="177800" y="133350"/>
                </a:cubicBezTo>
                <a:cubicBezTo>
                  <a:pt x="171688" y="127238"/>
                  <a:pt x="161687" y="127238"/>
                  <a:pt x="155575" y="133350"/>
                </a:cubicBezTo>
                <a:lnTo>
                  <a:pt x="55215" y="233710"/>
                </a:lnTo>
                <a:cubicBezTo>
                  <a:pt x="51256" y="237669"/>
                  <a:pt x="44450" y="234890"/>
                  <a:pt x="44450" y="229265"/>
                </a:cubicBezTo>
                <a:cubicBezTo>
                  <a:pt x="44450" y="182106"/>
                  <a:pt x="63202" y="136892"/>
                  <a:pt x="96540" y="103555"/>
                </a:cubicBezTo>
                <a:lnTo>
                  <a:pt x="168632" y="31393"/>
                </a:lnTo>
                <a:cubicBezTo>
                  <a:pt x="188704" y="11321"/>
                  <a:pt x="215999" y="0"/>
                  <a:pt x="244475" y="0"/>
                </a:cubicBez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4699000" y="44704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Simplicity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38354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9000" y="403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8445500" y="44704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001500" y="3835400"/>
            <a:ext cx="34925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8675" y="4038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96275" y="54243"/>
                </a:moveTo>
                <a:cubicBezTo>
                  <a:pt x="201831" y="35282"/>
                  <a:pt x="219194" y="22225"/>
                  <a:pt x="238919" y="22225"/>
                </a:cubicBezTo>
                <a:lnTo>
                  <a:pt x="377825" y="22225"/>
                </a:lnTo>
                <a:cubicBezTo>
                  <a:pt x="390118" y="22225"/>
                  <a:pt x="400050" y="32157"/>
                  <a:pt x="400050" y="44450"/>
                </a:cubicBezTo>
                <a:cubicBezTo>
                  <a:pt x="400050" y="56743"/>
                  <a:pt x="390118" y="66675"/>
                  <a:pt x="377825" y="66675"/>
                </a:cubicBezTo>
                <a:lnTo>
                  <a:pt x="238919" y="66675"/>
                </a:lnTo>
                <a:lnTo>
                  <a:pt x="165785" y="317401"/>
                </a:lnTo>
                <a:cubicBezTo>
                  <a:pt x="163284" y="325944"/>
                  <a:pt x="155992" y="332125"/>
                  <a:pt x="147171" y="333236"/>
                </a:cubicBezTo>
                <a:cubicBezTo>
                  <a:pt x="138351" y="334347"/>
                  <a:pt x="129738" y="330041"/>
                  <a:pt x="125293" y="322401"/>
                </a:cubicBezTo>
                <a:lnTo>
                  <a:pt x="53896" y="200025"/>
                </a:ln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53896" y="155575"/>
                </a:lnTo>
                <a:cubicBezTo>
                  <a:pt x="69731" y="155575"/>
                  <a:pt x="84316" y="163979"/>
                  <a:pt x="92303" y="177661"/>
                </a:cubicBezTo>
                <a:lnTo>
                  <a:pt x="137587" y="255310"/>
                </a:lnTo>
                <a:lnTo>
                  <a:pt x="196205" y="54243"/>
                </a:lnTo>
                <a:close/>
                <a:moveTo>
                  <a:pt x="273229" y="162104"/>
                </a:moveTo>
                <a:cubicBezTo>
                  <a:pt x="281910" y="153422"/>
                  <a:pt x="296009" y="153422"/>
                  <a:pt x="304691" y="162104"/>
                </a:cubicBezTo>
                <a:lnTo>
                  <a:pt x="333444" y="190857"/>
                </a:lnTo>
                <a:lnTo>
                  <a:pt x="362198" y="162104"/>
                </a:lnTo>
                <a:cubicBezTo>
                  <a:pt x="370880" y="153422"/>
                  <a:pt x="384979" y="153422"/>
                  <a:pt x="393660" y="162104"/>
                </a:cubicBezTo>
                <a:cubicBezTo>
                  <a:pt x="402342" y="170785"/>
                  <a:pt x="402342" y="184884"/>
                  <a:pt x="393660" y="193566"/>
                </a:cubicBezTo>
                <a:lnTo>
                  <a:pt x="364907" y="222319"/>
                </a:lnTo>
                <a:lnTo>
                  <a:pt x="393660" y="251073"/>
                </a:lnTo>
                <a:cubicBezTo>
                  <a:pt x="402342" y="259755"/>
                  <a:pt x="402342" y="273854"/>
                  <a:pt x="393660" y="282535"/>
                </a:cubicBezTo>
                <a:cubicBezTo>
                  <a:pt x="384979" y="291217"/>
                  <a:pt x="370880" y="291217"/>
                  <a:pt x="362198" y="282535"/>
                </a:cubicBezTo>
                <a:lnTo>
                  <a:pt x="333444" y="253782"/>
                </a:lnTo>
                <a:lnTo>
                  <a:pt x="304691" y="282535"/>
                </a:lnTo>
                <a:cubicBezTo>
                  <a:pt x="296009" y="291217"/>
                  <a:pt x="281910" y="291217"/>
                  <a:pt x="273229" y="282535"/>
                </a:cubicBezTo>
                <a:cubicBezTo>
                  <a:pt x="264547" y="273854"/>
                  <a:pt x="264547" y="259755"/>
                  <a:pt x="273229" y="251073"/>
                </a:cubicBezTo>
                <a:lnTo>
                  <a:pt x="301982" y="222319"/>
                </a:lnTo>
                <a:lnTo>
                  <a:pt x="273229" y="193566"/>
                </a:lnTo>
                <a:cubicBezTo>
                  <a:pt x="264547" y="184884"/>
                  <a:pt x="264547" y="170785"/>
                  <a:pt x="273229" y="162104"/>
                </a:cubicBez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0" y="44704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foundation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461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Relational DBMS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59944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61595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relational model forms the foundation of modern database management systems: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Oracle Database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MySQL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Microsoft SQL Server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SQLite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TERMINOLOGIES IN RELATIONAL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fundamental terminology is essential for working with relational databases: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2349500"/>
          <a:ext cx="13208000" cy="4826000"/>
        </p:xfrm>
        <a:graphic>
          <a:graphicData uri="http://schemas.openxmlformats.org/drawingml/2006/table">
            <a:tbl>
              <a:tblPr/>
              <a:tblGrid>
                <a:gridCol w="4622800"/>
                <a:gridCol w="4622800"/>
                <a:gridCol w="3962400"/>
              </a:tblGrid>
              <a:tr h="67666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Relational Term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spreadsheet sheet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Tuple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Row / Record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single line of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 / Field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column header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Allowed values for an 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 data types/ranges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Degree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columns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 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2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Cardinality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rows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Row 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524000" y="7493000"/>
            <a:ext cx="1320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Relational databases use precise mathematical terminology. "Relation" = Table, "Tuple" = Row, "Attribute" = Column.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OF A RELATION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consists of rows (tuples) and columns (attributes). Here is an example Student relation: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02000" y="2349500"/>
          <a:ext cx="9652000" cy="2286000"/>
        </p:xfrm>
        <a:graphic>
          <a:graphicData uri="http://schemas.openxmlformats.org/drawingml/2006/table">
            <a:tbl>
              <a:tblPr/>
              <a:tblGrid>
                <a:gridCol w="2895600"/>
                <a:gridCol w="3378200"/>
                <a:gridCol w="33782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Semester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John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270000" y="3048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Tuple (Row)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139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 (Column) 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5016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Rules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5588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177800"/>
                </a:moveTo>
                <a:cubicBezTo>
                  <a:pt x="33337" y="97998"/>
                  <a:pt x="97998" y="33337"/>
                  <a:pt x="177800" y="33337"/>
                </a:cubicBezTo>
                <a:cubicBezTo>
                  <a:pt x="221625" y="33337"/>
                  <a:pt x="260866" y="52854"/>
                  <a:pt x="287397" y="83691"/>
                </a:cubicBezTo>
                <a:cubicBezTo>
                  <a:pt x="293370" y="90706"/>
                  <a:pt x="303927" y="91470"/>
                  <a:pt x="310872" y="85497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6" y="222250"/>
                  <a:pt x="33337" y="214819"/>
                  <a:pt x="33337" y="205581"/>
                </a:cubicBezTo>
                <a:lnTo>
                  <a:pt x="33337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2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3"/>
                </a:moveTo>
                <a:cubicBezTo>
                  <a:pt x="164604" y="55563"/>
                  <a:pt x="151825" y="57646"/>
                  <a:pt x="139948" y="61535"/>
                </a:cubicBezTo>
                <a:cubicBezTo>
                  <a:pt x="129391" y="65008"/>
                  <a:pt x="126960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5" y="89942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6"/>
                  <a:pt x="265658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1"/>
                </a:cubicBezTo>
                <a:cubicBezTo>
                  <a:pt x="298926" y="233571"/>
                  <a:pt x="300107" y="214402"/>
                  <a:pt x="300107" y="195163"/>
                </a:cubicBezTo>
                <a:lnTo>
                  <a:pt x="300107" y="177869"/>
                </a:lnTo>
                <a:cubicBezTo>
                  <a:pt x="300107" y="110361"/>
                  <a:pt x="245378" y="55632"/>
                  <a:pt x="177869" y="55632"/>
                </a:cubicBezTo>
                <a:close/>
                <a:moveTo>
                  <a:pt x="104666" y="103277"/>
                </a:moveTo>
                <a:cubicBezTo>
                  <a:pt x="98346" y="95915"/>
                  <a:pt x="87094" y="95359"/>
                  <a:pt x="81121" y="102999"/>
                </a:cubicBezTo>
                <a:cubicBezTo>
                  <a:pt x="65078" y="123696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5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0"/>
                </a:cubicBezTo>
                <a:cubicBezTo>
                  <a:pt x="109805" y="119737"/>
                  <a:pt x="110361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7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9"/>
                  <a:pt x="130641" y="278229"/>
                </a:cubicBezTo>
                <a:cubicBezTo>
                  <a:pt x="137934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5"/>
                  <a:pt x="211485" y="245378"/>
                  <a:pt x="206693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59" y="316776"/>
                </a:cubicBezTo>
                <a:lnTo>
                  <a:pt x="134461" y="327402"/>
                </a:lnTo>
                <a:cubicBezTo>
                  <a:pt x="131128" y="336014"/>
                  <a:pt x="135434" y="345668"/>
                  <a:pt x="144046" y="348933"/>
                </a:cubicBezTo>
                <a:cubicBezTo>
                  <a:pt x="152658" y="352197"/>
                  <a:pt x="162312" y="347960"/>
                  <a:pt x="165576" y="339348"/>
                </a:cubicBezTo>
                <a:lnTo>
                  <a:pt x="169674" y="328722"/>
                </a:lnTo>
                <a:cubicBezTo>
                  <a:pt x="186065" y="286077"/>
                  <a:pt x="194469" y="240794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0"/>
          <p:cNvSpPr/>
          <p:nvPr/>
        </p:nvSpPr>
        <p:spPr>
          <a:xfrm>
            <a:off x="1524000" y="5778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Rows are unique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two rows can be identical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778500" y="5588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25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3"/>
          <p:cNvSpPr/>
          <p:nvPr/>
        </p:nvSpPr>
        <p:spPr>
          <a:xfrm>
            <a:off x="6540500" y="5778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 of rows does not matter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Rows have no inherent sequence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795000" y="5588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49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6"/>
          <p:cNvSpPr/>
          <p:nvPr/>
        </p:nvSpPr>
        <p:spPr>
          <a:xfrm>
            <a:off x="11557000" y="5778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Columns have unique names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duplicate column names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DOMAINS IN RELATIONAL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set of permissible values for an attribute. It defines the data type, range, and format of values that an attribute can hold.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Examples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29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4290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29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ATTRIBUTE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0386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Integer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Range: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 – 100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78500" y="3429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8500" y="34290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5778500" y="3429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GENDER ATTRIBUTE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40386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String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Values: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Male, Female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3429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95000" y="34290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0" y="34290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GPA ATTRIBUTE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40386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Decimal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Range: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0.0 – 4.0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539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Example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2000" y="5943600"/>
            <a:ext cx="7048500" cy="1143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000" y="617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1524000" y="6032500"/>
            <a:ext cx="603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53E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 = "ABC"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Violates domain constraint: Age must be a numeric value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45500" y="539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445500" y="5943600"/>
            <a:ext cx="7048500" cy="11430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99500" y="6172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9207500" y="6032500"/>
            <a:ext cx="603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Domains maintain data accuracy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Prevents invalid data entry and improves data quality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MODEL CONSTRAINTS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Constraints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rules enforced on database tables to maintain accuracy, validity, and integrity of data. Without them, databases may contain duplicate or invalid records.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Constraints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29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2500" y="3619500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61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36195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52500" y="42164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must belong to the specified domain of the attribute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0" y="3429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99000" y="3619500"/>
            <a:ext cx="457200" cy="4572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361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0500" y="36195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99000" y="42164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Keys must uniquely identify each tuple in a relation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3429000"/>
            <a:ext cx="342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5500" y="3619500"/>
            <a:ext cx="457200" cy="45720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500" y="361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17000" y="36195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Integrity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45500" y="42164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 values cannot be NULL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01500" y="3429000"/>
            <a:ext cx="34925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B6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92000" y="3619500"/>
            <a:ext cx="457200" cy="457200"/>
          </a:xfrm>
          <a:prstGeom prst="ellipse">
            <a:avLst/>
          </a:prstGeom>
          <a:solidFill>
            <a:srgbClr val="7B6B5A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0" y="361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63500" y="3619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Referential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192000" y="4216400"/>
            <a:ext cx="311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keys must reference valid existing primary keys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university database should not allow two students with the same StudentID (Key Constraint), nor should it allow a StudentID of NULL (Entity Integrity), nor should it allow a department ID that does not exist (Referential Integrity).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7048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2000" y="7594600"/>
            <a:ext cx="1473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Maintains consistency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prevents invalid data entry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Improves reliability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database systems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CONSTRAINTS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Domain constraints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specify that each attribute must contain values from its specified domain. Every value in a column must be of the same data type and within the allowed range.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Example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7048500" cy="22860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530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4038600"/>
          <a:ext cx="6540500" cy="1460500"/>
        </p:xfrm>
        <a:graphic>
          <a:graphicData uri="http://schemas.openxmlformats.org/drawingml/2006/table">
            <a:tbl>
              <a:tblPr/>
              <a:tblGrid>
                <a:gridCol w="3270250"/>
                <a:gridCol w="327025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"Alice"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4455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Example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445500" y="3403600"/>
            <a:ext cx="7048500" cy="2286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995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9182100" y="3530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</a:t>
            </a:r>
            <a:endParaRPr lang="en-US" sz="16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99500" y="4038600"/>
          <a:ext cx="6540500" cy="1460500"/>
        </p:xfrm>
        <a:graphic>
          <a:graphicData uri="http://schemas.openxmlformats.org/drawingml/2006/table">
            <a:tbl>
              <a:tblPr/>
              <a:tblGrid>
                <a:gridCol w="3270250"/>
                <a:gridCol w="327025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53E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"ABC"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Salary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53E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"-500"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62000" y="6032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62000" y="6540500"/>
            <a:ext cx="7048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16000" y="680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22" name="Text 18"/>
          <p:cNvSpPr/>
          <p:nvPr/>
        </p:nvSpPr>
        <p:spPr>
          <a:xfrm>
            <a:off x="1524000" y="6667500"/>
            <a:ext cx="603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Prevents invalid data entry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valid, type-appropriate values are accepted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8445500" y="6540500"/>
            <a:ext cx="7048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99500" y="680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25" name="Text 21"/>
          <p:cNvSpPr/>
          <p:nvPr/>
        </p:nvSpPr>
        <p:spPr>
          <a:xfrm>
            <a:off x="9207500" y="6667500"/>
            <a:ext cx="603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Improves data quality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Ensures consistency and reliability of stored data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CONSTRAINTS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constraints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ensure that keys uniquely identify tuples in a relation. No two tuples can have the same value for the key attribute(s), preventing duplicate records.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70485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5306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 duplicate records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database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uniqueness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every tuple in a relation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reliable way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identify and access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455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445500" y="3403600"/>
            <a:ext cx="70485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3530600"/>
            <a:ext cx="6540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Name, Department)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 must be unique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every student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two students can share the same 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270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Explanation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5842000"/>
          <a:ext cx="7620000" cy="2032000"/>
        </p:xfrm>
        <a:graphic>
          <a:graphicData uri="http://schemas.openxmlformats.org/drawingml/2006/table">
            <a:tbl>
              <a:tblPr/>
              <a:tblGrid>
                <a:gridCol w="2286000"/>
                <a:gridCol w="2667000"/>
                <a:gridCol w="2667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53E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 ✗ Duplicate!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John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9652000" y="6223000"/>
            <a:ext cx="584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second row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53E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violates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key constraint because StudentID 101 already exists.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DBMS will reject this insertion to maintain data integrity.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INTEGRITY CONSTRAINT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Entity Integrity: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Primary key values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Every row in a table must have a unique, non-null primary key value to be uniquely identifiable.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7048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5306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a primary key were NULL: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row could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be uniquely identified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keys would have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nothing to reference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integrity would be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compromised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45500" y="285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445500" y="34036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9500" y="3530600"/>
            <a:ext cx="6540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 cannot be NULL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student must have a valid, unique 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397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vs. Invalid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5905500"/>
            <a:ext cx="7048500" cy="15875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604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1422400" y="60198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477000"/>
          <a:ext cx="6540500" cy="825500"/>
        </p:xfrm>
        <a:graphic>
          <a:graphicData uri="http://schemas.openxmlformats.org/drawingml/2006/table">
            <a:tbl>
              <a:tblPr/>
              <a:tblGrid>
                <a:gridCol w="2616200"/>
                <a:gridCol w="3924300"/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4A85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445500" y="5905500"/>
            <a:ext cx="7048500" cy="15875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99500" y="604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9105900" y="60198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</a:t>
            </a:r>
            <a:endParaRPr lang="en-US" sz="16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99500" y="6477000"/>
          <a:ext cx="6540500" cy="825500"/>
        </p:xfrm>
        <a:graphic>
          <a:graphicData uri="http://schemas.openxmlformats.org/drawingml/2006/table">
            <a:tbl>
              <a:tblPr/>
              <a:tblGrid>
                <a:gridCol w="2616200"/>
                <a:gridCol w="3924300"/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53E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 ✗ Violation!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RELATIONAL CONSTRAINTS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REFERENTIAL INTEGRITY CONSTRAINT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Referential integrity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ensures that foreign key values always reference valid, existing rows in another table. A child table cannot contain a foreign key that does not exist in the parent 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Parent-Child Relationship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6350000" cy="1778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49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810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2545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Department(</a:t>
            </a:r>
            <a:pPr>
              <a:lnSpc>
                <a:spcPct val="100000"/>
              </a:lnSpc>
            </a:pPr>
            <a:r>
              <a:rPr lang="en-US" sz="16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DeptID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DeptName)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DeptID = 10 exists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56000" y="5181600"/>
            <a:ext cx="0" cy="4445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62000" y="5626100"/>
            <a:ext cx="6350000" cy="1778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71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6032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647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Employee(</a:t>
            </a:r>
            <a:pPr>
              <a:lnSpc>
                <a:spcPct val="100000"/>
              </a:lnSpc>
            </a:pPr>
            <a:r>
              <a:rPr lang="en-US" sz="16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EmpID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Name,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DeptID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DeptID references Department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74000" y="2857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Examples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874000" y="3403600"/>
            <a:ext cx="7620000" cy="11430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0" y="35306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EmpID = 101, DeptID = 10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4A85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Valid: Department 10 exists in the parent table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74000" y="4762500"/>
            <a:ext cx="7620000" cy="1143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000" y="504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48895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53E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EmpID = 102, DeptID = 99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53E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Invalid: Department 99 does not exist —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orphan record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74000" y="61722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74000" y="6705600"/>
            <a:ext cx="762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consistency between tables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Prevents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orphan records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child tables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UPDATE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modify the contents of a database. These operations must be carefully managed as they may violate integrity constraints if not properly handled.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794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8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7169" y="307181"/>
                </a:moveTo>
                <a:lnTo>
                  <a:pt x="207169" y="250031"/>
                </a:ln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lnTo>
                  <a:pt x="207169" y="207169"/>
                </a:lnTo>
                <a:lnTo>
                  <a:pt x="207169" y="150019"/>
                </a:lnTo>
                <a:cubicBezTo>
                  <a:pt x="207169" y="138142"/>
                  <a:pt x="216724" y="128588"/>
                  <a:pt x="228600" y="128588"/>
                </a:cubicBezTo>
                <a:cubicBezTo>
                  <a:pt x="240476" y="128588"/>
                  <a:pt x="250031" y="138142"/>
                  <a:pt x="250031" y="150019"/>
                </a:cubicBezTo>
                <a:lnTo>
                  <a:pt x="250031" y="207169"/>
                </a:ln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250031" y="250031"/>
                </a:lnTo>
                <a:lnTo>
                  <a:pt x="250031" y="307181"/>
                </a:lnTo>
                <a:cubicBezTo>
                  <a:pt x="250031" y="319058"/>
                  <a:pt x="240476" y="328613"/>
                  <a:pt x="228600" y="328613"/>
                </a:cubicBezTo>
                <a:cubicBezTo>
                  <a:pt x="216724" y="328613"/>
                  <a:pt x="207169" y="319058"/>
                  <a:pt x="207169" y="307181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127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63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new tuples (rows) into a relation. Must satisfy all constraints including domain, key, and referential integrity.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2794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98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50019" y="207169"/>
                </a:move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4127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463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Removes existing tuples from a relation. May cause referential integrity violations if referenced by foreign keys.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2794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984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2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490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1124" y="19377"/>
                </a:moveTo>
                <a:cubicBezTo>
                  <a:pt x="401568" y="-179"/>
                  <a:pt x="369957" y="-179"/>
                  <a:pt x="350401" y="19377"/>
                </a:cubicBezTo>
                <a:lnTo>
                  <a:pt x="328613" y="41166"/>
                </a:lnTo>
                <a:lnTo>
                  <a:pt x="416034" y="128588"/>
                </a:lnTo>
                <a:lnTo>
                  <a:pt x="437823" y="106799"/>
                </a:lnTo>
                <a:cubicBezTo>
                  <a:pt x="457379" y="87243"/>
                  <a:pt x="457379" y="55632"/>
                  <a:pt x="437823" y="36076"/>
                </a:cubicBezTo>
                <a:lnTo>
                  <a:pt x="421124" y="19377"/>
                </a:lnTo>
                <a:close/>
                <a:moveTo>
                  <a:pt x="153948" y="215831"/>
                </a:moveTo>
                <a:cubicBezTo>
                  <a:pt x="148501" y="221278"/>
                  <a:pt x="144304" y="227975"/>
                  <a:pt x="141893" y="235387"/>
                </a:cubicBezTo>
                <a:lnTo>
                  <a:pt x="115461" y="314682"/>
                </a:lnTo>
                <a:cubicBezTo>
                  <a:pt x="112871" y="322362"/>
                  <a:pt x="114925" y="330845"/>
                  <a:pt x="120640" y="336649"/>
                </a:cubicBezTo>
                <a:cubicBezTo>
                  <a:pt x="126355" y="342454"/>
                  <a:pt x="134838" y="344418"/>
                  <a:pt x="142607" y="341828"/>
                </a:cubicBezTo>
                <a:lnTo>
                  <a:pt x="221903" y="315397"/>
                </a:lnTo>
                <a:cubicBezTo>
                  <a:pt x="229225" y="312986"/>
                  <a:pt x="235922" y="308789"/>
                  <a:pt x="241459" y="303341"/>
                </a:cubicBezTo>
                <a:lnTo>
                  <a:pt x="385763" y="158859"/>
                </a:lnTo>
                <a:lnTo>
                  <a:pt x="298341" y="71438"/>
                </a:lnTo>
                <a:lnTo>
                  <a:pt x="153948" y="215831"/>
                </a:lnTo>
                <a:close/>
                <a:moveTo>
                  <a:pt x="85725" y="57150"/>
                </a:moveTo>
                <a:cubicBezTo>
                  <a:pt x="38398" y="57150"/>
                  <a:pt x="0" y="95548"/>
                  <a:pt x="0" y="142875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314325" y="457200"/>
                </a:lnTo>
                <a:cubicBezTo>
                  <a:pt x="361652" y="457200"/>
                  <a:pt x="400050" y="418802"/>
                  <a:pt x="400050" y="371475"/>
                </a:cubicBezTo>
                <a:lnTo>
                  <a:pt x="400050" y="285750"/>
                </a:lnTo>
                <a:cubicBezTo>
                  <a:pt x="400050" y="269944"/>
                  <a:pt x="387281" y="257175"/>
                  <a:pt x="371475" y="257175"/>
                </a:cubicBezTo>
                <a:cubicBezTo>
                  <a:pt x="355669" y="257175"/>
                  <a:pt x="342900" y="269944"/>
                  <a:pt x="342900" y="285750"/>
                </a:cubicBezTo>
                <a:lnTo>
                  <a:pt x="342900" y="371475"/>
                </a:lnTo>
                <a:cubicBezTo>
                  <a:pt x="342900" y="387281"/>
                  <a:pt x="330131" y="400050"/>
                  <a:pt x="314325" y="400050"/>
                </a:cubicBezTo>
                <a:lnTo>
                  <a:pt x="85725" y="400050"/>
                </a:lnTo>
                <a:cubicBezTo>
                  <a:pt x="69919" y="400050"/>
                  <a:pt x="57150" y="387281"/>
                  <a:pt x="57150" y="371475"/>
                </a:cubicBezTo>
                <a:lnTo>
                  <a:pt x="57150" y="142875"/>
                </a:lnTo>
                <a:cubicBezTo>
                  <a:pt x="57150" y="127069"/>
                  <a:pt x="69919" y="114300"/>
                  <a:pt x="85725" y="114300"/>
                </a:cubicBezTo>
                <a:lnTo>
                  <a:pt x="171450" y="114300"/>
                </a:lnTo>
                <a:cubicBezTo>
                  <a:pt x="187256" y="114300"/>
                  <a:pt x="200025" y="101531"/>
                  <a:pt x="200025" y="85725"/>
                </a:cubicBezTo>
                <a:cubicBezTo>
                  <a:pt x="200025" y="69919"/>
                  <a:pt x="187256" y="57150"/>
                  <a:pt x="171450" y="57150"/>
                </a:cubicBezTo>
                <a:lnTo>
                  <a:pt x="85725" y="57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4127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4635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Modifies existing tuples in a relation. Changes to key values require special care to maintain referential integrity.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6350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1524000" y="6413500"/>
            <a:ext cx="1371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three operations may violate constraints if not properly managed. The DBMS must check constraints before and after each operation to ensure data integrity.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new tuples into a relation. The DBMS must validate the new data against all constraints.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14732000" cy="6096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8829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INSERT INTO Student VALUES (101, 'Ali', 3);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Possible Violations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508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4673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Primary Key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207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Inserting a row with a StudentID that already exists in the table violates the key constraint.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4508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0275" y="469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5100" y="4673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Foreign Key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5207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Inserting a row with a DeptID that does not exist in the Department table violates referential integrity.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4508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49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11531600" y="4673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Violation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5207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Inserting text into a numeric column or a value outside the allowed range violates the domain constraint.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removes tuples from a relation. Special care is needed when deleting parent records to avoid orphan child records.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14732000" cy="6096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8829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DELETE FROM Department WHERE DeptID = 10;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Orphan Records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445000"/>
            <a:ext cx="14732000" cy="1079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470400"/>
            <a:ext cx="50800" cy="10160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5466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Deleting a parent record (e.g., Department with DeptID = 10) may leave child records (Employees with DeptID = 10) without a valid parent reference. These become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orphan records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8166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6324600"/>
            <a:ext cx="46990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288925" y="44450"/>
                </a:lnTo>
                <a:cubicBezTo>
                  <a:pt x="301218" y="44450"/>
                  <a:pt x="311150" y="54382"/>
                  <a:pt x="311150" y="66675"/>
                </a:cubicBezTo>
                <a:cubicBezTo>
                  <a:pt x="311150" y="78968"/>
                  <a:pt x="301218" y="88900"/>
                  <a:pt x="28892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close/>
                <a:moveTo>
                  <a:pt x="44450" y="177800"/>
                </a:moveTo>
                <a:cubicBezTo>
                  <a:pt x="44450" y="165507"/>
                  <a:pt x="54382" y="155575"/>
                  <a:pt x="6667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66675" y="200025"/>
                </a:lnTo>
                <a:cubicBezTo>
                  <a:pt x="54382" y="200025"/>
                  <a:pt x="44450" y="190093"/>
                  <a:pt x="44450" y="177800"/>
                </a:cubicBezTo>
                <a:close/>
                <a:moveTo>
                  <a:pt x="311150" y="288925"/>
                </a:moveTo>
                <a:cubicBezTo>
                  <a:pt x="311150" y="301218"/>
                  <a:pt x="301218" y="311150"/>
                  <a:pt x="288925" y="311150"/>
                </a:cubicBezTo>
                <a:lnTo>
                  <a:pt x="22225" y="311150"/>
                </a:lnTo>
                <a:cubicBezTo>
                  <a:pt x="9932" y="311150"/>
                  <a:pt x="0" y="301218"/>
                  <a:pt x="0" y="288925"/>
                </a:cubicBezTo>
                <a:cubicBezTo>
                  <a:pt x="0" y="276632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76632"/>
                  <a:pt x="311150" y="288925"/>
                </a:cubicBez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6540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Cascade Delete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6985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delete all child records when parent is deleted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8500" y="6324600"/>
            <a:ext cx="46990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2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6540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Restrict Delete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0" y="6985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deletion if child records exist (safest option)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6324600"/>
            <a:ext cx="4699000" cy="162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6775" y="660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23974" y="288925"/>
                </a:moveTo>
                <a:lnTo>
                  <a:pt x="209401" y="288925"/>
                </a:lnTo>
                <a:lnTo>
                  <a:pt x="254754" y="243572"/>
                </a:lnTo>
                <a:lnTo>
                  <a:pt x="134253" y="123071"/>
                </a:lnTo>
                <a:lnTo>
                  <a:pt x="46256" y="211068"/>
                </a:lnTo>
                <a:lnTo>
                  <a:pt x="124043" y="288856"/>
                </a:lnTo>
                <a:close/>
                <a:moveTo>
                  <a:pt x="155575" y="333375"/>
                </a:moveTo>
                <a:lnTo>
                  <a:pt x="123974" y="333375"/>
                </a:lnTo>
                <a:cubicBezTo>
                  <a:pt x="112167" y="333375"/>
                  <a:pt x="100846" y="328722"/>
                  <a:pt x="92512" y="320387"/>
                </a:cubicBezTo>
                <a:lnTo>
                  <a:pt x="11807" y="239613"/>
                </a:lnTo>
                <a:cubicBezTo>
                  <a:pt x="4237" y="232043"/>
                  <a:pt x="0" y="221833"/>
                  <a:pt x="0" y="211138"/>
                </a:cubicBezTo>
                <a:cubicBezTo>
                  <a:pt x="0" y="200442"/>
                  <a:pt x="4237" y="190232"/>
                  <a:pt x="11807" y="182662"/>
                </a:cubicBezTo>
                <a:lnTo>
                  <a:pt x="182662" y="11807"/>
                </a:lnTo>
                <a:cubicBezTo>
                  <a:pt x="190232" y="4237"/>
                  <a:pt x="200442" y="0"/>
                  <a:pt x="211138" y="0"/>
                </a:cubicBezTo>
                <a:cubicBezTo>
                  <a:pt x="221833" y="0"/>
                  <a:pt x="232043" y="4237"/>
                  <a:pt x="239613" y="11807"/>
                </a:cubicBezTo>
                <a:lnTo>
                  <a:pt x="366018" y="138212"/>
                </a:lnTo>
                <a:cubicBezTo>
                  <a:pt x="373588" y="145782"/>
                  <a:pt x="377825" y="155992"/>
                  <a:pt x="377825" y="166688"/>
                </a:cubicBezTo>
                <a:cubicBezTo>
                  <a:pt x="377825" y="177383"/>
                  <a:pt x="373588" y="187593"/>
                  <a:pt x="366018" y="195163"/>
                </a:cubicBezTo>
                <a:lnTo>
                  <a:pt x="272256" y="288925"/>
                </a:lnTo>
                <a:lnTo>
                  <a:pt x="355600" y="288925"/>
                </a:lnTo>
                <a:cubicBezTo>
                  <a:pt x="367893" y="288925"/>
                  <a:pt x="377825" y="298857"/>
                  <a:pt x="377825" y="311150"/>
                </a:cubicBezTo>
                <a:cubicBezTo>
                  <a:pt x="377825" y="323443"/>
                  <a:pt x="367893" y="333375"/>
                  <a:pt x="355600" y="333375"/>
                </a:cubicBezTo>
                <a:lnTo>
                  <a:pt x="155575" y="333375"/>
                </a:lnTo>
                <a:close/>
              </a:path>
            </a:pathLst>
          </a:custGeom>
          <a:solidFill>
            <a:srgbClr val="5A6B7B"/>
          </a:solidFill>
          <a:ln/>
        </p:spPr>
      </p:sp>
      <p:sp>
        <p:nvSpPr>
          <p:cNvPr id="25" name="Text 23"/>
          <p:cNvSpPr/>
          <p:nvPr/>
        </p:nvSpPr>
        <p:spPr>
          <a:xfrm>
            <a:off x="11531600" y="6540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NULL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6985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foreign key to NULL in child records when parent is deleted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OPERATION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(or MODIFY) changes existing values in one or more tuples of a relation.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14732000" cy="7366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8829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UPDATE Student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SET Semester = 5 WHERE StudentID = 101;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Possible Violations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4762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4927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Data 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461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 a numeric column to a text value violates the domain constraint.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4762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6950" y="495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5100" y="4927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 Violation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5461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Changing a primary key to a value that already exists violates the key constraint.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4762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26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10386" y="264755"/>
                </a:lnTo>
                <a:cubicBezTo>
                  <a:pt x="313303" y="262394"/>
                  <a:pt x="316151" y="259824"/>
                  <a:pt x="318790" y="257185"/>
                </a:cubicBezTo>
                <a:lnTo>
                  <a:pt x="368171" y="207804"/>
                </a:lnTo>
                <a:cubicBezTo>
                  <a:pt x="388521" y="187454"/>
                  <a:pt x="399981" y="159812"/>
                  <a:pt x="399981" y="130989"/>
                </a:cubicBezTo>
                <a:cubicBezTo>
                  <a:pt x="399981" y="70981"/>
                  <a:pt x="351363" y="22294"/>
                  <a:pt x="291286" y="22294"/>
                </a:cubicBezTo>
                <a:cubicBezTo>
                  <a:pt x="265380" y="22294"/>
                  <a:pt x="240516" y="31532"/>
                  <a:pt x="220930" y="48131"/>
                </a:cubicBezTo>
                <a:cubicBezTo>
                  <a:pt x="235029" y="55146"/>
                  <a:pt x="247809" y="64453"/>
                  <a:pt x="258782" y="75565"/>
                </a:cubicBezTo>
                <a:cubicBezTo>
                  <a:pt x="268575" y="69800"/>
                  <a:pt x="279757" y="66744"/>
                  <a:pt x="291286" y="66744"/>
                </a:cubicBezTo>
                <a:cubicBezTo>
                  <a:pt x="326777" y="66744"/>
                  <a:pt x="355531" y="95498"/>
                  <a:pt x="355531" y="130989"/>
                </a:cubicBezTo>
                <a:cubicBezTo>
                  <a:pt x="355531" y="148005"/>
                  <a:pt x="348794" y="164326"/>
                  <a:pt x="336709" y="176411"/>
                </a:cubicBezTo>
                <a:lnTo>
                  <a:pt x="287328" y="225792"/>
                </a:lnTo>
                <a:cubicBezTo>
                  <a:pt x="284619" y="228501"/>
                  <a:pt x="281702" y="230932"/>
                  <a:pt x="278576" y="233085"/>
                </a:cubicBezTo>
                <a:lnTo>
                  <a:pt x="245586" y="200094"/>
                </a:lnTo>
                <a:cubicBezTo>
                  <a:pt x="257046" y="199469"/>
                  <a:pt x="266214" y="190093"/>
                  <a:pt x="266561" y="178495"/>
                </a:cubicBezTo>
                <a:cubicBezTo>
                  <a:pt x="266561" y="177592"/>
                  <a:pt x="266561" y="176689"/>
                  <a:pt x="266561" y="175786"/>
                </a:cubicBezTo>
                <a:cubicBezTo>
                  <a:pt x="266561" y="115848"/>
                  <a:pt x="218013" y="66814"/>
                  <a:pt x="157867" y="66814"/>
                </a:cubicBezTo>
                <a:cubicBezTo>
                  <a:pt x="144532" y="66814"/>
                  <a:pt x="131544" y="69245"/>
                  <a:pt x="119320" y="73898"/>
                </a:cubicBezTo>
                <a:lnTo>
                  <a:pt x="28476" y="-17294"/>
                </a:lnTo>
                <a:close/>
                <a:moveTo>
                  <a:pt x="156895" y="111125"/>
                </a:moveTo>
                <a:cubicBezTo>
                  <a:pt x="157311" y="111125"/>
                  <a:pt x="157659" y="111125"/>
                  <a:pt x="158075" y="111125"/>
                </a:cubicBezTo>
                <a:cubicBezTo>
                  <a:pt x="168563" y="111125"/>
                  <a:pt x="178564" y="113695"/>
                  <a:pt x="187315" y="118209"/>
                </a:cubicBezTo>
                <a:cubicBezTo>
                  <a:pt x="188565" y="119043"/>
                  <a:pt x="189815" y="119807"/>
                  <a:pt x="191135" y="120362"/>
                </a:cubicBezTo>
                <a:cubicBezTo>
                  <a:pt x="209748" y="131683"/>
                  <a:pt x="222250" y="152241"/>
                  <a:pt x="222250" y="175647"/>
                </a:cubicBezTo>
                <a:cubicBezTo>
                  <a:pt x="222250" y="175925"/>
                  <a:pt x="222250" y="176203"/>
                  <a:pt x="222250" y="176480"/>
                </a:cubicBezTo>
                <a:lnTo>
                  <a:pt x="156895" y="111125"/>
                </a:lnTo>
                <a:close/>
                <a:moveTo>
                  <a:pt x="240447" y="288925"/>
                </a:moveTo>
                <a:lnTo>
                  <a:pt x="133350" y="181828"/>
                </a:lnTo>
                <a:cubicBezTo>
                  <a:pt x="134183" y="240586"/>
                  <a:pt x="181689" y="288022"/>
                  <a:pt x="240377" y="288856"/>
                </a:cubicBezTo>
                <a:close/>
                <a:moveTo>
                  <a:pt x="97026" y="145504"/>
                </a:moveTo>
                <a:lnTo>
                  <a:pt x="65564" y="114042"/>
                </a:lnTo>
                <a:lnTo>
                  <a:pt x="31810" y="147796"/>
                </a:lnTo>
                <a:cubicBezTo>
                  <a:pt x="11460" y="168146"/>
                  <a:pt x="0" y="195788"/>
                  <a:pt x="0" y="224611"/>
                </a:cubicBezTo>
                <a:cubicBezTo>
                  <a:pt x="0" y="284619"/>
                  <a:pt x="48617" y="333306"/>
                  <a:pt x="108694" y="333306"/>
                </a:cubicBezTo>
                <a:cubicBezTo>
                  <a:pt x="134531" y="333306"/>
                  <a:pt x="159464" y="324068"/>
                  <a:pt x="179050" y="307469"/>
                </a:cubicBezTo>
                <a:cubicBezTo>
                  <a:pt x="164951" y="300454"/>
                  <a:pt x="152102" y="291148"/>
                  <a:pt x="141129" y="280035"/>
                </a:cubicBezTo>
                <a:cubicBezTo>
                  <a:pt x="131405" y="285730"/>
                  <a:pt x="120223" y="288786"/>
                  <a:pt x="108694" y="288786"/>
                </a:cubicBezTo>
                <a:cubicBezTo>
                  <a:pt x="73204" y="288786"/>
                  <a:pt x="44450" y="260033"/>
                  <a:pt x="44450" y="224542"/>
                </a:cubicBezTo>
                <a:cubicBezTo>
                  <a:pt x="44450" y="207526"/>
                  <a:pt x="51187" y="191204"/>
                  <a:pt x="63272" y="179120"/>
                </a:cubicBezTo>
                <a:lnTo>
                  <a:pt x="97026" y="145365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11531600" y="49276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Invalid Foreign Key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5461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Updating a foreign key to reference a non-existent primary key violates referential integrity.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175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7175500"/>
            <a:ext cx="508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72771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DBMS checks all constraints before committing an UPDATE. If any violation is found, the entire operation is rolled back.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OPERATIONS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DEALING WITH CONSTRAINT VIOLATIONS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DBMS prevents operations that violate integrity constraints. When a violation is detected, the system can respond using several techniques to protect database consistency.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30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Techniques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3020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500" y="3530600"/>
            <a:ext cx="457200" cy="45720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530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49400" y="3492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53E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Reject Operation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89400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Simply reject the invalid operation and return an error to the user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45500" y="33020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6000" y="3530600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530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2900" y="34925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Cascade Updates/Deletes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4089400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propagate changes to all related child records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0165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500" y="5245100"/>
            <a:ext cx="457200" cy="4572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245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49400" y="5207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NULL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803900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the foreign key value to NULL when the parent is deleted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5500" y="5016500"/>
            <a:ext cx="7048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B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6000" y="5245100"/>
            <a:ext cx="457200" cy="457200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5245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2900" y="520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Default Value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99500" y="5803900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the foreign key with a predefined default value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79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67945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000" y="704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24000" y="6858000"/>
            <a:ext cx="1371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Importance: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Proper constraint handling is essential for maintaining database consistency. The choice of technique depends on the business rules and the specific relationship between tables.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 OF KEYS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set of one or more attributes that uniquely identifies each tuple in a relation. A super key may contain extra (unnecessary) attributes beyond what is needed for unique identification.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5306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university database, consider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 with attributes: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Email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CNIC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{StudentID}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{StudentID, Name}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uniquely identify a student. Both are super keys, but the second contains an unnecessary attribute.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016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Possible Super Keys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5626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5626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{StudentID}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super key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0" y="55626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08500" y="55626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{CNIC}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unique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55626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0" y="55626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{Email}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unique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01500" y="55626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500" y="5562600"/>
            <a:ext cx="349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{StudentID, Name}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 extra attr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9215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6921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9596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super key is any combination of attributes that guarantees uniqueness. The "minimal" super key (with no unnecessary attributes) becomes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candidate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 OF KEYS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CANDIDATE KEY &amp; PRIMARY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778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78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CANDIDATE KEY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minimal super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no redundant attributes. Removing any attribute would destroy uniqueness.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Student(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CNIC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B3A4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Candidate Keys: StudentID, CNIC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1778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1778000"/>
            <a:ext cx="7048500" cy="508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1778000"/>
            <a:ext cx="704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476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candidate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selected as the main identifier for the table.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duplicates allowed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Non-null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cannot be empty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85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rarely changes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10500" y="3175000"/>
            <a:ext cx="635000" cy="0"/>
          </a:xfrm>
          <a:prstGeom prst="straightConnector1">
            <a:avLst/>
          </a:prstGeom>
          <a:noFill/>
          <a:ln w="25400">
            <a:solidFill>
              <a:srgbClr val="5A6B7B"/>
            </a:solidFill>
            <a:prstDash val="solid"/>
            <a:headEnd type="arrow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7493000" y="1498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B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397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 Summary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59436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0706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Any set of attributes that uniquely identifies a tuple (may have extra attributes)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Candidate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minimal super key with no redundant attributes (a table can have multiple)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Primary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candidate key chosen as the main identifier (only one per table)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14732000" cy="12700"/>
          </a:xfrm>
          <a:prstGeom prst="rect">
            <a:avLst/>
          </a:prstGeom>
          <a:solidFill>
            <a:srgbClr val="5A6B7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 OF KEYS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spc="2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14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key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attribute in one relation that references the primary key of another relation. Foreign keys establish relationships between tables and enforce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referential integrity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Diagram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3492500"/>
            <a:ext cx="5080000" cy="1397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3581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39116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14500" y="43180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Customer(</a:t>
            </a:r>
            <a:pPr>
              <a:lnSpc>
                <a:spcPct val="100000"/>
              </a:lnSpc>
            </a:pPr>
            <a:r>
              <a:rPr lang="en-US" sz="1500" u="sng" dirty="0">
                <a:solidFill>
                  <a:srgbClr val="D4853A"/>
                </a:solidFill>
                <a:uFill>
                  <a:solidFill>
                    <a:srgbClr val="D4853A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CustomerID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Name)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04000" y="4064000"/>
            <a:ext cx="1778000" cy="0"/>
          </a:xfrm>
          <a:prstGeom prst="straightConnector1">
            <a:avLst/>
          </a:prstGeom>
          <a:noFill/>
          <a:ln w="38100">
            <a:solidFill>
              <a:srgbClr val="D4853A"/>
            </a:solidFill>
            <a:prstDash val="solid"/>
            <a:headEnd type="arrow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6921500" y="3746500"/>
            <a:ext cx="114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FK → PK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492500"/>
            <a:ext cx="5080000" cy="1397000"/>
          </a:xfrm>
          <a:prstGeom prst="roundRect">
            <a:avLst>
              <a:gd name="adj" fmla="val 8000"/>
            </a:avLst>
          </a:pr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0" y="3581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FFFF">
                    <a:alpha val="6666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 TABLE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39116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43180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Orders(</a:t>
            </a:r>
            <a:pPr>
              <a:lnSpc>
                <a:spcPct val="100000"/>
              </a:lnSpc>
            </a:pPr>
            <a:r>
              <a:rPr lang="en-US" sz="15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OrderID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CustomerID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27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5816600"/>
            <a:ext cx="7048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5943600"/>
            <a:ext cx="654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Establish relationships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between tables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Enforce referential integrity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the database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 operations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combine related data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45500" y="527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45500" y="5816600"/>
            <a:ext cx="70485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CC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99500" y="5867400"/>
            <a:ext cx="65405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e-commerce system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 stores customer data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table references CustomerID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customer can place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orders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6B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slqihksl2c3w/mnt/agents/output/db-design/images/3_55_224_Data_Server_Black_Background.png">    </p:cNvPr>
          <p:cNvPicPr>
            <a:picLocks noChangeAspect="1"/>
          </p:cNvPicPr>
          <p:nvPr/>
        </p:nvPicPr>
        <p:blipFill>
          <a:blip r:embed="rId1"/>
          <a:srcRect l="74" r="7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4B">
                  <a:alpha val="67000"/>
                </a:srgbClr>
              </a:gs>
              <a:gs pos="50000">
                <a:srgbClr val="1B3A4B">
                  <a:alpha val="87000"/>
                </a:srgbClr>
              </a:gs>
              <a:gs pos="100000">
                <a:srgbClr val="1B3A4B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953000" y="203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400" kern="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SUMMARY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13000" y="24765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AND CONCLUSION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7" name="Text 4"/>
          <p:cNvSpPr/>
          <p:nvPr/>
        </p:nvSpPr>
        <p:spPr>
          <a:xfrm>
            <a:off x="2032000" y="3556000"/>
            <a:ext cx="1219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this lecture, we studied: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ER-to-Relational Mapping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Model Concepts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Constraints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Operations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 Handling</a:t>
            </a:r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</a:t>
            </a:r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Keys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88000" y="5778500"/>
            <a:ext cx="5080000" cy="12700"/>
          </a:xfrm>
          <a:prstGeom prst="rect">
            <a:avLst/>
          </a:prstGeom>
          <a:solidFill>
            <a:srgbClr val="FFFFFF">
              <a:alpha val="26667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032000" y="59055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relational database design ensures consistency,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integrity, and efficient data management in database systems.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749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spc="6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Design and Relational Model</dc:title>
  <dc:subject>Relational Database Design and Relational Model</dc:subject>
  <dc:creator>Kimi</dc:creator>
  <cp:lastModifiedBy>Kimi</cp:lastModifiedBy>
  <cp:revision>1</cp:revision>
  <dcterms:created xsi:type="dcterms:W3CDTF">2026-05-22T10:37:38Z</dcterms:created>
  <dcterms:modified xsi:type="dcterms:W3CDTF">2026-05-22T10:37:38Z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{"Label":"Relational Database Design and Relational Model","ContentProducer":"001191110108MACG2KBH8F10000","ProduceID":"19e4f3e2-6302-86b5-8000-0000a8a8ee3c","ReservedCode1":"","ContentPropagator":"001191110108MACG2KBH8F20000","PropagateID":"19e4f3e2-6302-86b5-8000-0000a8a8ee3c","ReservedCode2":""}</vt:lpwstr>
  </property>
</Properties>
</file>