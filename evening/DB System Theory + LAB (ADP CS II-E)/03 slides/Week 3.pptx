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000" y="2921000"/>
            <a:ext cx="1270000" cy="381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302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spc="400" kern="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DATABASE SYSTEMS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778000" y="4318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spc="6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5080000"/>
            <a:ext cx="2540000" cy="254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6" name="Text 4"/>
          <p:cNvSpPr/>
          <p:nvPr/>
        </p:nvSpPr>
        <p:spPr>
          <a:xfrm>
            <a:off x="2413000" y="5334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DE8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5 &amp; 6: ER Practice &amp; Relational Database Design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DE8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ER-to-Relational Mapping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8128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Science Department | Spring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7048500" cy="6096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59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048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5: ER Modeling Practice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3619500"/>
            <a:ext cx="1016000" cy="254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873500"/>
            <a:ext cx="635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ER Model Core Concepts Review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Entity Types: Strong vs. Weak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Attribute Types &amp; Notations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Relationship Types &amp; Constraints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Cardinality &amp; Participation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Chen vs. Crow's Foot Notation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Practice: University Database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Practice: Company Database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Common Mistakes &amp; Best Practices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0" y="1778000"/>
            <a:ext cx="7048500" cy="6096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1" name="Text 9"/>
          <p:cNvSpPr/>
          <p:nvPr/>
        </p:nvSpPr>
        <p:spPr>
          <a:xfrm>
            <a:off x="8826500" y="2159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26500" y="3048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6: ER-to-Relational Mapping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26500" y="3619500"/>
            <a:ext cx="1016000" cy="254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14" name="Text 12"/>
          <p:cNvSpPr/>
          <p:nvPr/>
        </p:nvSpPr>
        <p:spPr>
          <a:xfrm>
            <a:off x="8826500" y="3873500"/>
            <a:ext cx="635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Introduction to ER-to-Relational Mapping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Step 1: Mapping Strong Entities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Step 2: Mapping Weak Entities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Step 3: Mapping 1:1 Relationships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Step 4: Mapping 1:N Relationships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Step 5: Mapping M:N Relationships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Step 6: Mapping Multivalued Attributes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Step 7: Mapping Specialization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Mapping Examples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200" b="1" spc="200" kern="0" dirty="0">
                <a:solidFill>
                  <a:srgbClr val="C493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62000" y="3556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4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191000"/>
            <a:ext cx="1524000" cy="381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572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spc="3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 MODELING PRACTICE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461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Review, Exercises &amp; Best Practices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0" y="2540000"/>
            <a:ext cx="25400" cy="4064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938000" y="2540000"/>
            <a:ext cx="3556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Entities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Attributes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Relationships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Cardinality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Participation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ER Model — Core Concepts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14732000" cy="1206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24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8796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Entity-Relationship (ER) Model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high-level conceptual data model introduced by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Peter Chen in 1976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 enables graphical description of database schemas before implementation.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30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PURPOSE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1115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represent 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logical structure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 database graphically, serving as a bridge between real-world requirements and physical database implementation.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0" y="2730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FUNDAMENTAL COMPONENTS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0" y="3238500"/>
            <a:ext cx="2286000" cy="1524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2" name="Shape 10"/>
          <p:cNvSpPr/>
          <p:nvPr/>
        </p:nvSpPr>
        <p:spPr>
          <a:xfrm>
            <a:off x="9070975" y="3365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42900" y="71438"/>
                </a:moveTo>
                <a:cubicBezTo>
                  <a:pt x="350758" y="71438"/>
                  <a:pt x="357188" y="77867"/>
                  <a:pt x="357188" y="85725"/>
                </a:cubicBezTo>
                <a:lnTo>
                  <a:pt x="357188" y="371475"/>
                </a:lnTo>
                <a:cubicBezTo>
                  <a:pt x="357188" y="379333"/>
                  <a:pt x="350758" y="385763"/>
                  <a:pt x="342900" y="385763"/>
                </a:cubicBezTo>
                <a:lnTo>
                  <a:pt x="57150" y="385763"/>
                </a:lnTo>
                <a:cubicBezTo>
                  <a:pt x="49292" y="385763"/>
                  <a:pt x="42863" y="379333"/>
                  <a:pt x="42863" y="371475"/>
                </a:cubicBezTo>
                <a:lnTo>
                  <a:pt x="42863" y="85725"/>
                </a:lnTo>
                <a:cubicBezTo>
                  <a:pt x="42863" y="77867"/>
                  <a:pt x="49292" y="71438"/>
                  <a:pt x="57150" y="71438"/>
                </a:cubicBezTo>
                <a:lnTo>
                  <a:pt x="342900" y="71438"/>
                </a:lnTo>
                <a:close/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55000" y="39116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55000" y="4254500"/>
            <a:ext cx="203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Objects that exist and are distinguishable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3238500"/>
            <a:ext cx="2286000" cy="1524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582400" y="336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4338" y="228600"/>
                </a:moveTo>
                <a:cubicBezTo>
                  <a:pt x="414338" y="126089"/>
                  <a:pt x="331111" y="42863"/>
                  <a:pt x="228600" y="42863"/>
                </a:cubicBezTo>
                <a:cubicBezTo>
                  <a:pt x="126089" y="42863"/>
                  <a:pt x="42863" y="126089"/>
                  <a:pt x="42863" y="228600"/>
                </a:cubicBezTo>
                <a:cubicBezTo>
                  <a:pt x="42863" y="331111"/>
                  <a:pt x="126089" y="414338"/>
                  <a:pt x="228600" y="414338"/>
                </a:cubicBezTo>
                <a:cubicBezTo>
                  <a:pt x="331111" y="414338"/>
                  <a:pt x="414338" y="331111"/>
                  <a:pt x="414338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795000" y="39116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ATTRIBUTES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95000" y="4254500"/>
            <a:ext cx="203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Properties that describe entities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208000" y="3238500"/>
            <a:ext cx="2286000" cy="1524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0" name="Shape 18"/>
          <p:cNvSpPr/>
          <p:nvPr/>
        </p:nvSpPr>
        <p:spPr>
          <a:xfrm>
            <a:off x="14122400" y="336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0465" y="64294"/>
                </a:moveTo>
                <a:lnTo>
                  <a:pt x="228600" y="147340"/>
                </a:lnTo>
                <a:lnTo>
                  <a:pt x="306735" y="64294"/>
                </a:lnTo>
                <a:lnTo>
                  <a:pt x="150465" y="64294"/>
                </a:lnTo>
                <a:close/>
                <a:moveTo>
                  <a:pt x="342811" y="88493"/>
                </a:moveTo>
                <a:lnTo>
                  <a:pt x="278249" y="157163"/>
                </a:lnTo>
                <a:lnTo>
                  <a:pt x="393442" y="157163"/>
                </a:lnTo>
                <a:lnTo>
                  <a:pt x="342900" y="88493"/>
                </a:lnTo>
                <a:close/>
                <a:moveTo>
                  <a:pt x="387459" y="200025"/>
                </a:moveTo>
                <a:lnTo>
                  <a:pt x="69741" y="200025"/>
                </a:lnTo>
                <a:lnTo>
                  <a:pt x="228600" y="375315"/>
                </a:lnTo>
                <a:lnTo>
                  <a:pt x="387459" y="200025"/>
                </a:lnTo>
                <a:close/>
                <a:moveTo>
                  <a:pt x="63847" y="157163"/>
                </a:moveTo>
                <a:lnTo>
                  <a:pt x="179040" y="157163"/>
                </a:lnTo>
                <a:lnTo>
                  <a:pt x="114479" y="88493"/>
                </a:lnTo>
                <a:lnTo>
                  <a:pt x="63937" y="157163"/>
                </a:lnTo>
                <a:close/>
                <a:moveTo>
                  <a:pt x="451664" y="192971"/>
                </a:moveTo>
                <a:lnTo>
                  <a:pt x="244495" y="421571"/>
                </a:lnTo>
                <a:cubicBezTo>
                  <a:pt x="240476" y="426035"/>
                  <a:pt x="234672" y="428625"/>
                  <a:pt x="228600" y="428625"/>
                </a:cubicBezTo>
                <a:cubicBezTo>
                  <a:pt x="222528" y="428625"/>
                  <a:pt x="216813" y="426035"/>
                  <a:pt x="212705" y="421571"/>
                </a:cubicBezTo>
                <a:lnTo>
                  <a:pt x="5536" y="192971"/>
                </a:lnTo>
                <a:cubicBezTo>
                  <a:pt x="-1339" y="185380"/>
                  <a:pt x="-1875" y="174040"/>
                  <a:pt x="4197" y="165824"/>
                </a:cubicBezTo>
                <a:lnTo>
                  <a:pt x="104209" y="30093"/>
                </a:lnTo>
                <a:cubicBezTo>
                  <a:pt x="108228" y="24646"/>
                  <a:pt x="114657" y="21342"/>
                  <a:pt x="121444" y="21342"/>
                </a:cubicBezTo>
                <a:lnTo>
                  <a:pt x="335756" y="21342"/>
                </a:lnTo>
                <a:cubicBezTo>
                  <a:pt x="342543" y="21342"/>
                  <a:pt x="348972" y="24557"/>
                  <a:pt x="352991" y="30093"/>
                </a:cubicBezTo>
                <a:lnTo>
                  <a:pt x="453003" y="165824"/>
                </a:lnTo>
                <a:cubicBezTo>
                  <a:pt x="459075" y="174040"/>
                  <a:pt x="458450" y="185380"/>
                  <a:pt x="451664" y="19297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0" y="39116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RELATIONSHIPS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0" y="4254500"/>
            <a:ext cx="203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Associations among entities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508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 MODEL IN DATABASE DESIGN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5588000"/>
            <a:ext cx="2794000" cy="889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5" name="Text 23"/>
          <p:cNvSpPr/>
          <p:nvPr/>
        </p:nvSpPr>
        <p:spPr>
          <a:xfrm>
            <a:off x="889000" y="5715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Requirements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56000" y="5969000"/>
            <a:ext cx="508000" cy="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4064000" y="5588000"/>
            <a:ext cx="2794000" cy="889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8" name="Text 26"/>
          <p:cNvSpPr/>
          <p:nvPr/>
        </p:nvSpPr>
        <p:spPr>
          <a:xfrm>
            <a:off x="4191000" y="5715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Conceptual Design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 Diagram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0" y="5969000"/>
            <a:ext cx="508000" cy="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7366000" y="5588000"/>
            <a:ext cx="2794000" cy="889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31" name="Text 29"/>
          <p:cNvSpPr/>
          <p:nvPr/>
        </p:nvSpPr>
        <p:spPr>
          <a:xfrm>
            <a:off x="7493000" y="5715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Logical Design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Schema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160000" y="5969000"/>
            <a:ext cx="508000" cy="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10668000" y="5588000"/>
            <a:ext cx="2794000" cy="889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34" name="Text 32"/>
          <p:cNvSpPr/>
          <p:nvPr/>
        </p:nvSpPr>
        <p:spPr>
          <a:xfrm>
            <a:off x="10795000" y="5715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Design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3462000" y="5969000"/>
            <a:ext cx="508000" cy="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13970000" y="5588000"/>
            <a:ext cx="1524000" cy="889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7" name="Text 35"/>
          <p:cNvSpPr/>
          <p:nvPr/>
        </p:nvSpPr>
        <p:spPr>
          <a:xfrm>
            <a:off x="13970000" y="5715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DBMS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2000" y="68580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i="1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ER model sits at the conceptual design phase — it translates real-world requirements into a structured, visual representation that can then be mapped to a relational database schema.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Entity Types — Strong vs. Weak Entities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ENTITY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8415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entity type that has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attribute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its own and does not depend on another entity for its existence. Represented by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rectangle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21000"/>
            <a:ext cx="685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EMPLOYEE with Ssn as the primary key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0" y="3429000"/>
            <a:ext cx="2286000" cy="762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9" name="Text 7"/>
          <p:cNvSpPr/>
          <p:nvPr/>
        </p:nvSpPr>
        <p:spPr>
          <a:xfrm>
            <a:off x="2540000" y="3429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51000" y="4572000"/>
            <a:ext cx="1778000" cy="635000"/>
          </a:xfrm>
          <a:prstGeom prst="ellipse">
            <a:avLst/>
          </a:prstGeom>
          <a:solidFill>
            <a:srgbClr val="EDE8E0"/>
          </a:solidFill>
          <a:ln w="12700">
            <a:solidFill>
              <a:srgbClr val="D5CF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51000" y="4572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40000" y="4191000"/>
            <a:ext cx="1016000" cy="381000"/>
          </a:xfrm>
          <a:prstGeom prst="straightConnector1">
            <a:avLst/>
          </a:prstGeom>
          <a:noFill/>
          <a:ln w="127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937000" y="4572000"/>
            <a:ext cx="1778000" cy="635000"/>
          </a:xfrm>
          <a:prstGeom prst="ellipse">
            <a:avLst/>
          </a:prstGeom>
          <a:solidFill>
            <a:srgbClr val="EDE8E0"/>
          </a:solidFill>
          <a:ln w="12700">
            <a:solidFill>
              <a:srgbClr val="D5CF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7000" y="4572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37000" y="4191000"/>
            <a:ext cx="635000" cy="381000"/>
          </a:xfrm>
          <a:prstGeom prst="straightConnector1">
            <a:avLst/>
          </a:prstGeom>
          <a:noFill/>
          <a:ln w="127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8382000" y="1460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ENTITY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18415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entity type that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not have a key attribute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its own and whose existence depends on another entity (owner). Represented by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rectangle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2921000"/>
            <a:ext cx="711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DEPENDENT of an EMPLOYEE — identified by employee's key + partial key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90000" y="3429000"/>
            <a:ext cx="2286000" cy="762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0" name="Text 18"/>
          <p:cNvSpPr/>
          <p:nvPr/>
        </p:nvSpPr>
        <p:spPr>
          <a:xfrm>
            <a:off x="8890000" y="3429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192000" y="3429000"/>
            <a:ext cx="1778000" cy="7620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22" name="Text 20"/>
          <p:cNvSpPr/>
          <p:nvPr/>
        </p:nvSpPr>
        <p:spPr>
          <a:xfrm>
            <a:off x="12192000" y="3429000"/>
            <a:ext cx="177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176000" y="3810000"/>
            <a:ext cx="1016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4478000" y="3365500"/>
            <a:ext cx="1016000" cy="889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5" name="Shape 23"/>
          <p:cNvSpPr/>
          <p:nvPr/>
        </p:nvSpPr>
        <p:spPr>
          <a:xfrm>
            <a:off x="14541500" y="3429000"/>
            <a:ext cx="889000" cy="7620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6" name="Shape 24"/>
          <p:cNvSpPr/>
          <p:nvPr/>
        </p:nvSpPr>
        <p:spPr>
          <a:xfrm>
            <a:off x="14579600" y="3467100"/>
            <a:ext cx="812800" cy="6858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7" name="Text 25"/>
          <p:cNvSpPr/>
          <p:nvPr/>
        </p:nvSpPr>
        <p:spPr>
          <a:xfrm>
            <a:off x="14478000" y="33655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970000" y="3810000"/>
            <a:ext cx="508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2192000" y="4572000"/>
            <a:ext cx="2032000" cy="635000"/>
          </a:xfrm>
          <a:prstGeom prst="ellipse">
            <a:avLst/>
          </a:prstGeom>
          <a:solidFill>
            <a:srgbClr val="EDE8E0"/>
          </a:solidFill>
          <a:ln w="12700">
            <a:solidFill>
              <a:srgbClr val="D5CF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192000" y="4572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Dependent_name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954000" y="4191000"/>
            <a:ext cx="635000" cy="381000"/>
          </a:xfrm>
          <a:prstGeom prst="straightConnector1">
            <a:avLst/>
          </a:prstGeom>
          <a:noFill/>
          <a:ln w="127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762000" y="5588000"/>
            <a:ext cx="14732000" cy="2667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33" name="Text 31"/>
          <p:cNvSpPr/>
          <p:nvPr/>
        </p:nvSpPr>
        <p:spPr>
          <a:xfrm>
            <a:off x="1016000" y="571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COMPARISON TABLE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6159500"/>
          <a:ext cx="14224000" cy="1905000"/>
        </p:xfrm>
        <a:graphic>
          <a:graphicData uri="http://schemas.openxmlformats.org/drawingml/2006/table">
            <a:tbl>
              <a:tblPr/>
              <a:tblGrid>
                <a:gridCol w="3129280"/>
                <a:gridCol w="5547360"/>
                <a:gridCol w="554736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Strong Entity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Weak Entity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Attribute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Has its own key attribute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key attribute; uses partial key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Existence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Independent existence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Depends on owner entity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rectangle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 rectangle + identifying relationship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 32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Attribute Types in ER Diagrams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3429000" cy="3302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5875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ATTRIBUTE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19304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Atomic, indivisible value. Represented by a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oval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2641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i="1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Age, Ssn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14500" y="3175000"/>
            <a:ext cx="1524000" cy="698500"/>
          </a:xfrm>
          <a:prstGeom prst="ellipse">
            <a:avLst/>
          </a:prstGeom>
          <a:solidFill>
            <a:srgbClr val="F5F0EB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4500" y="3175000"/>
            <a:ext cx="152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22500" y="3873500"/>
            <a:ext cx="0" cy="381000"/>
          </a:xfrm>
          <a:prstGeom prst="straightConnector1">
            <a:avLst/>
          </a:prstGeom>
          <a:noFill/>
          <a:ln w="12700">
            <a:solidFill>
              <a:srgbClr val="2D4A3E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60500" y="4254500"/>
            <a:ext cx="1524000" cy="381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3" name="Text 11"/>
          <p:cNvSpPr/>
          <p:nvPr/>
        </p:nvSpPr>
        <p:spPr>
          <a:xfrm>
            <a:off x="1460500" y="42545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45000" y="1460500"/>
            <a:ext cx="3429000" cy="3302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5" name="Text 13"/>
          <p:cNvSpPr/>
          <p:nvPr/>
        </p:nvSpPr>
        <p:spPr>
          <a:xfrm>
            <a:off x="4635500" y="15875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COMPOSITE ATTRIBUTE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35500" y="19304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be divided into subparts.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Oval with sub-ovals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35500" y="2641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i="1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Name → Fname, Lname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97500" y="3111500"/>
            <a:ext cx="1524000" cy="571500"/>
          </a:xfrm>
          <a:prstGeom prst="ellipse">
            <a:avLst/>
          </a:prstGeom>
          <a:solidFill>
            <a:srgbClr val="F5F0EB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7500" y="31115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62500" y="3937000"/>
            <a:ext cx="1016000" cy="508000"/>
          </a:xfrm>
          <a:prstGeom prst="ellipse">
            <a:avLst/>
          </a:prstGeom>
          <a:solidFill>
            <a:srgbClr val="F5F0EB"/>
          </a:solidFill>
          <a:ln w="12700">
            <a:solidFill>
              <a:srgbClr val="8A9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2500" y="3937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Fname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70500" y="3683000"/>
            <a:ext cx="508000" cy="254000"/>
          </a:xfrm>
          <a:prstGeom prst="straightConnector1">
            <a:avLst/>
          </a:prstGeom>
          <a:noFill/>
          <a:ln w="12700">
            <a:solidFill>
              <a:srgbClr val="8A9A8C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540500" y="3937000"/>
            <a:ext cx="1016000" cy="508000"/>
          </a:xfrm>
          <a:prstGeom prst="ellipse">
            <a:avLst/>
          </a:prstGeom>
          <a:solidFill>
            <a:srgbClr val="F5F0EB"/>
          </a:solidFill>
          <a:ln w="12700">
            <a:solidFill>
              <a:srgbClr val="8A9A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0500" y="3937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Lname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13500" y="3683000"/>
            <a:ext cx="508000" cy="254000"/>
          </a:xfrm>
          <a:prstGeom prst="straightConnector1">
            <a:avLst/>
          </a:prstGeom>
          <a:noFill/>
          <a:ln w="12700">
            <a:solidFill>
              <a:srgbClr val="8A9A8C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8128000" y="1460500"/>
            <a:ext cx="3429000" cy="3302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7" name="Text 25"/>
          <p:cNvSpPr/>
          <p:nvPr/>
        </p:nvSpPr>
        <p:spPr>
          <a:xfrm>
            <a:off x="8318500" y="15875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MULTIVALUED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18500" y="19304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values allowed. Represented by a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oval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18500" y="2641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i="1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Locations, Colors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890000" y="3111500"/>
            <a:ext cx="1905000" cy="762000"/>
          </a:xfrm>
          <a:prstGeom prst="ellipse">
            <a:avLst/>
          </a:prstGeom>
          <a:solidFill>
            <a:srgbClr val="F5F0EB"/>
          </a:solidFill>
          <a:ln w="25400">
            <a:solidFill>
              <a:srgbClr val="2D4A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6200" y="3187700"/>
            <a:ext cx="1752600" cy="609600"/>
          </a:xfrm>
          <a:prstGeom prst="ellipse">
            <a:avLst/>
          </a:prstGeom>
          <a:solidFill>
            <a:srgbClr val="F5F0EB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90000" y="3111500"/>
            <a:ext cx="1905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811000" y="1460500"/>
            <a:ext cx="3683000" cy="3302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34" name="Text 32"/>
          <p:cNvSpPr/>
          <p:nvPr/>
        </p:nvSpPr>
        <p:spPr>
          <a:xfrm>
            <a:off x="12001500" y="15875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 ATTRIBUTE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001500" y="19304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Computed from other attributes.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Dashed oval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001500" y="26416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i="1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Age from Birth_date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700000" y="3175000"/>
            <a:ext cx="1905000" cy="698500"/>
          </a:xfrm>
          <a:prstGeom prst="ellipse">
            <a:avLst/>
          </a:prstGeom>
          <a:solidFill>
            <a:srgbClr val="F5F0EB"/>
          </a:solidFill>
          <a:ln w="25400">
            <a:solidFill>
              <a:srgbClr val="2D4A3E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2700000" y="3175000"/>
            <a:ext cx="1905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62000" y="5080000"/>
            <a:ext cx="14732000" cy="3175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40" name="Text 38"/>
          <p:cNvSpPr/>
          <p:nvPr/>
        </p:nvSpPr>
        <p:spPr>
          <a:xfrm>
            <a:off x="1016000" y="520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ATTRIBUTE NOTATION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16000" y="55880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attribute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(underlined) uniquely identifies each entity instance. In the diagram, the attribute name is </a:t>
            </a:r>
            <a:pPr>
              <a:lnSpc>
                <a:spcPct val="150000"/>
              </a:lnSpc>
            </a:pPr>
            <a:r>
              <a:rPr lang="en-US" sz="15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underlined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Every strong entity must have at least one key attribute.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540000" y="6477000"/>
            <a:ext cx="2032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43" name="Text 41"/>
          <p:cNvSpPr/>
          <p:nvPr/>
        </p:nvSpPr>
        <p:spPr>
          <a:xfrm>
            <a:off x="2540000" y="6477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270000" y="7366000"/>
            <a:ext cx="1524000" cy="571500"/>
          </a:xfrm>
          <a:prstGeom prst="ellipse">
            <a:avLst/>
          </a:prstGeom>
          <a:solidFill>
            <a:srgbClr val="F5F0EB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70000" y="73660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794000" y="7112000"/>
            <a:ext cx="762000" cy="254000"/>
          </a:xfrm>
          <a:prstGeom prst="straightConnector1">
            <a:avLst/>
          </a:prstGeom>
          <a:noFill/>
          <a:ln w="12700">
            <a:solidFill>
              <a:srgbClr val="2D4A3E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3302000" y="7366000"/>
            <a:ext cx="1524000" cy="571500"/>
          </a:xfrm>
          <a:prstGeom prst="ellipse">
            <a:avLst/>
          </a:prstGeom>
          <a:solidFill>
            <a:srgbClr val="F5F0EB"/>
          </a:solidFill>
          <a:ln w="12700">
            <a:solidFill>
              <a:srgbClr val="8A9A8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02000" y="73660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10000" y="7112000"/>
            <a:ext cx="508000" cy="254000"/>
          </a:xfrm>
          <a:prstGeom prst="straightConnector1">
            <a:avLst/>
          </a:prstGeom>
          <a:noFill/>
          <a:ln w="12700">
            <a:solidFill>
              <a:srgbClr val="8A9A8C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5334000" y="7366000"/>
            <a:ext cx="1524000" cy="571500"/>
          </a:xfrm>
          <a:prstGeom prst="ellipse">
            <a:avLst/>
          </a:prstGeom>
          <a:solidFill>
            <a:srgbClr val="F5F0EB"/>
          </a:solidFill>
          <a:ln w="12700">
            <a:solidFill>
              <a:srgbClr val="8A9A8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34000" y="73660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572000" y="7112000"/>
            <a:ext cx="1016000" cy="254000"/>
          </a:xfrm>
          <a:prstGeom prst="straightConnector1">
            <a:avLst/>
          </a:prstGeom>
          <a:noFill/>
          <a:ln w="12700">
            <a:solidFill>
              <a:srgbClr val="8A9A8C"/>
            </a:solidFill>
            <a:prstDash val="solid"/>
            <a:headEnd type="none"/>
            <a:tailEnd type="none"/>
          </a:ln>
        </p:spPr>
      </p:sp>
      <p:sp>
        <p:nvSpPr>
          <p:cNvPr id="53" name="Text 51"/>
          <p:cNvSpPr/>
          <p:nvPr/>
        </p:nvSpPr>
        <p:spPr>
          <a:xfrm>
            <a:off x="7620000" y="66040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Underline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indicates the key attribute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Solid oval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simple attribute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oval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multivalued attribute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Dashed oval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derived attribute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Relationship Types — Degree, Cardinality &amp; Participation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60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Relationship Type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an association among two or more entity types, represented by a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diamond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Degree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number of participating entity types.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8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CARDINALITY RATIOS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730500"/>
            <a:ext cx="4699000" cy="2540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28194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1:1 (ONE-TO-ONE)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3365500"/>
            <a:ext cx="1270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3655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40000" y="3365500"/>
            <a:ext cx="1143000" cy="5715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13" name="Text 11"/>
          <p:cNvSpPr/>
          <p:nvPr/>
        </p:nvSpPr>
        <p:spPr>
          <a:xfrm>
            <a:off x="2540000" y="3365500"/>
            <a:ext cx="1143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37000" y="3365500"/>
            <a:ext cx="1270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5" name="Text 13"/>
          <p:cNvSpPr/>
          <p:nvPr/>
        </p:nvSpPr>
        <p:spPr>
          <a:xfrm>
            <a:off x="3937000" y="33655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0" y="3644900"/>
            <a:ext cx="381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556000" y="3644900"/>
            <a:ext cx="508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2286000" y="31750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83000" y="31750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2500" y="4127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employee manages exactly one department, and each department has exactly one manager.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0" y="2730500"/>
            <a:ext cx="4699000" cy="2540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2" name="Text 20"/>
          <p:cNvSpPr/>
          <p:nvPr/>
        </p:nvSpPr>
        <p:spPr>
          <a:xfrm>
            <a:off x="5905500" y="2819400"/>
            <a:ext cx="177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1:N (ONE-TO-MANY)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69000" y="3365500"/>
            <a:ext cx="1270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4" name="Text 22"/>
          <p:cNvSpPr/>
          <p:nvPr/>
        </p:nvSpPr>
        <p:spPr>
          <a:xfrm>
            <a:off x="5969000" y="33655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93000" y="3365500"/>
            <a:ext cx="1143000" cy="5715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26" name="Text 24"/>
          <p:cNvSpPr/>
          <p:nvPr/>
        </p:nvSpPr>
        <p:spPr>
          <a:xfrm>
            <a:off x="7493000" y="3365500"/>
            <a:ext cx="1143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890000" y="3365500"/>
            <a:ext cx="1270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8" name="Text 26"/>
          <p:cNvSpPr/>
          <p:nvPr/>
        </p:nvSpPr>
        <p:spPr>
          <a:xfrm>
            <a:off x="8890000" y="33655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39000" y="3644900"/>
            <a:ext cx="381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8509000" y="3644900"/>
            <a:ext cx="508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7239000" y="31750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36000" y="31750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05500" y="4127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department has many employees, but each employee works for exactly one department.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668000" y="2730500"/>
            <a:ext cx="4826000" cy="2540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35" name="Text 33"/>
          <p:cNvSpPr/>
          <p:nvPr/>
        </p:nvSpPr>
        <p:spPr>
          <a:xfrm>
            <a:off x="10858500" y="2819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M:N (MANY-TO-MANY)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922000" y="3365500"/>
            <a:ext cx="1270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7" name="Text 35"/>
          <p:cNvSpPr/>
          <p:nvPr/>
        </p:nvSpPr>
        <p:spPr>
          <a:xfrm>
            <a:off x="10922000" y="33655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509500" y="3365500"/>
            <a:ext cx="1143000" cy="5715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39" name="Text 37"/>
          <p:cNvSpPr/>
          <p:nvPr/>
        </p:nvSpPr>
        <p:spPr>
          <a:xfrm>
            <a:off x="12509500" y="3365500"/>
            <a:ext cx="1143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Works_on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3970000" y="3365500"/>
            <a:ext cx="1270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41" name="Text 39"/>
          <p:cNvSpPr/>
          <p:nvPr/>
        </p:nvSpPr>
        <p:spPr>
          <a:xfrm>
            <a:off x="13970000" y="33655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2192000" y="3644900"/>
            <a:ext cx="4445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13589000" y="3644900"/>
            <a:ext cx="508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12192000" y="31750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3716000" y="31750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858500" y="41275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employee can work on multiple projects, and each project can have multiple employees.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62000" y="5524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PARTICIPATION CONSTRAINTS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62000" y="5969000"/>
            <a:ext cx="7112000" cy="1143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49" name="Text 47"/>
          <p:cNvSpPr/>
          <p:nvPr/>
        </p:nvSpPr>
        <p:spPr>
          <a:xfrm>
            <a:off x="952500" y="6070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Participation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52500" y="6413500"/>
            <a:ext cx="673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entity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participate in the relationship. Represented by a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line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28000" y="5969000"/>
            <a:ext cx="7366000" cy="1143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52" name="Text 50"/>
          <p:cNvSpPr/>
          <p:nvPr/>
        </p:nvSpPr>
        <p:spPr>
          <a:xfrm>
            <a:off x="8318500" y="6070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 Participation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18500" y="6413500"/>
            <a:ext cx="698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entities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not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participate. Represented by a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line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62000" y="73660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Degree Types: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Unary (Recursive)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one entity type relates to itself (e.g., EMPLOYEE supervises EMPLOYEE).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two entity types (most common).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Ternary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three entity types.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Structural Constraints — Cardinality &amp; Participation Combined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762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60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(MIN, MAX) NOTATION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752600"/>
            <a:ext cx="1422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more expressive way to specify constraints: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minimum instances (0 = partial, 1 = total),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maximum instances (1 or N).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4130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1: EMPLOYEE works_for DEPARTMENT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57500"/>
            <a:ext cx="7112000" cy="2032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0" name="Shape 8"/>
          <p:cNvSpPr/>
          <p:nvPr/>
        </p:nvSpPr>
        <p:spPr>
          <a:xfrm>
            <a:off x="1270000" y="3365500"/>
            <a:ext cx="1651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33655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56000" y="3365500"/>
            <a:ext cx="1270000" cy="6350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13" name="Text 11"/>
          <p:cNvSpPr/>
          <p:nvPr/>
        </p:nvSpPr>
        <p:spPr>
          <a:xfrm>
            <a:off x="3556000" y="33655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works_for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61000" y="3365500"/>
            <a:ext cx="1651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5" name="Text 13"/>
          <p:cNvSpPr/>
          <p:nvPr/>
        </p:nvSpPr>
        <p:spPr>
          <a:xfrm>
            <a:off x="5461000" y="33655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21000" y="3683000"/>
            <a:ext cx="762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826000" y="3683000"/>
            <a:ext cx="635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2921000" y="3048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(1,1)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26000" y="3048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(0,N)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2500" y="4191000"/>
            <a:ext cx="673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employee works for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exactly one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department. A department can have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employees (or zero).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24130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2: EMPLOYEE manages DEPARTMENT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2857500"/>
            <a:ext cx="7112000" cy="2032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3" name="Shape 21"/>
          <p:cNvSpPr/>
          <p:nvPr/>
        </p:nvSpPr>
        <p:spPr>
          <a:xfrm>
            <a:off x="8890000" y="3365500"/>
            <a:ext cx="1651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4" name="Text 22"/>
          <p:cNvSpPr/>
          <p:nvPr/>
        </p:nvSpPr>
        <p:spPr>
          <a:xfrm>
            <a:off x="8890000" y="33655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176000" y="3365500"/>
            <a:ext cx="1270000" cy="6350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26" name="Text 24"/>
          <p:cNvSpPr/>
          <p:nvPr/>
        </p:nvSpPr>
        <p:spPr>
          <a:xfrm>
            <a:off x="11176000" y="33655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081000" y="3365500"/>
            <a:ext cx="1651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8" name="Text 26"/>
          <p:cNvSpPr/>
          <p:nvPr/>
        </p:nvSpPr>
        <p:spPr>
          <a:xfrm>
            <a:off x="13081000" y="33655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541000" y="3683000"/>
            <a:ext cx="762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2446000" y="3683000"/>
            <a:ext cx="635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10541000" y="3048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(0,1)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446000" y="3048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(1,1)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72500" y="4191000"/>
            <a:ext cx="673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employee manages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most one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department. A department has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exactly one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manager.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5207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NOTATION COMPARISON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651500"/>
          <a:ext cx="14732000" cy="2540000"/>
        </p:xfrm>
        <a:graphic>
          <a:graphicData uri="http://schemas.openxmlformats.org/drawingml/2006/table">
            <a:tbl>
              <a:tblPr/>
              <a:tblGrid>
                <a:gridCol w="2946400"/>
                <a:gridCol w="5892800"/>
                <a:gridCol w="58928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Constraint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Traditional Notation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(Min, Max) Notation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1:1 Relationship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on both sides of the diamond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(1,1) on both sides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1:N Relationship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on one side, N on the other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(1,1) on "1" side, (0,N) or (1,N) on "N" side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Total Participation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 line connecting entity to relationship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 = 1 (e.g., (1,1) or (1,N))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Partial Participation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line connecting entity to relationship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 = 0 (e.g., (0,1) or (0,N))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 Diagram Notation Summary — Chen vs. Crow's Foot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200" kern="0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CHEN NOTATION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778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Entities as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rectangles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relationships as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diamonds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attributes as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ovals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Cardinality as 1/M/N labels.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70000" y="2667000"/>
            <a:ext cx="1524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2667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9000" y="2667000"/>
            <a:ext cx="1270000" cy="6350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667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WorksFor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0" y="2667000"/>
            <a:ext cx="1524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2" name="Text 10"/>
          <p:cNvSpPr/>
          <p:nvPr/>
        </p:nvSpPr>
        <p:spPr>
          <a:xfrm>
            <a:off x="5334000" y="2667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94000" y="2984500"/>
            <a:ext cx="762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699000" y="2984500"/>
            <a:ext cx="762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2794000" y="27305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80000" y="27305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810000"/>
            <a:ext cx="1143000" cy="508000"/>
          </a:xfrm>
          <a:prstGeom prst="ellipse">
            <a:avLst/>
          </a:prstGeom>
          <a:solidFill>
            <a:srgbClr val="EDE8E0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38100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524000" y="3683000"/>
            <a:ext cx="508000" cy="127000"/>
          </a:xfrm>
          <a:prstGeom prst="straightConnector1">
            <a:avLst/>
          </a:prstGeom>
          <a:noFill/>
          <a:ln w="12700">
            <a:solidFill>
              <a:srgbClr val="2D4A3E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2159000" y="3810000"/>
            <a:ext cx="1143000" cy="508000"/>
          </a:xfrm>
          <a:prstGeom prst="ellipse">
            <a:avLst/>
          </a:prstGeom>
          <a:solidFill>
            <a:srgbClr val="EDE8E0"/>
          </a:solidFill>
          <a:ln w="12700">
            <a:solidFill>
              <a:srgbClr val="8A9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59000" y="38100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413000" y="3683000"/>
            <a:ext cx="381000" cy="127000"/>
          </a:xfrm>
          <a:prstGeom prst="straightConnector1">
            <a:avLst/>
          </a:prstGeom>
          <a:noFill/>
          <a:ln w="12700">
            <a:solidFill>
              <a:srgbClr val="8A9A8C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83820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200" kern="0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CROW'S FOOT NOTATION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000" y="17780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Entities as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rectangles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relationships as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directly connecting entities. Cardinality via symbols.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890000" y="2667000"/>
            <a:ext cx="1524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6" name="Text 24"/>
          <p:cNvSpPr/>
          <p:nvPr/>
        </p:nvSpPr>
        <p:spPr>
          <a:xfrm>
            <a:off x="8890000" y="2667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335000" y="2667000"/>
            <a:ext cx="1524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8" name="Text 26"/>
          <p:cNvSpPr/>
          <p:nvPr/>
        </p:nvSpPr>
        <p:spPr>
          <a:xfrm>
            <a:off x="13335000" y="2667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414000" y="2984500"/>
            <a:ext cx="2921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0414000" y="2857500"/>
            <a:ext cx="508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E1E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954000" y="2857500"/>
            <a:ext cx="381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E1E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68000" y="32385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827000" y="32385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2000" y="3810000"/>
            <a:ext cx="1143000" cy="508000"/>
          </a:xfrm>
          <a:prstGeom prst="ellipse">
            <a:avLst/>
          </a:prstGeom>
          <a:solidFill>
            <a:srgbClr val="EDE8E0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2000" y="38100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144000" y="3683000"/>
            <a:ext cx="508000" cy="127000"/>
          </a:xfrm>
          <a:prstGeom prst="straightConnector1">
            <a:avLst/>
          </a:prstGeom>
          <a:noFill/>
          <a:ln w="12700">
            <a:solidFill>
              <a:srgbClr val="2D4A3E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779000" y="3810000"/>
            <a:ext cx="1143000" cy="508000"/>
          </a:xfrm>
          <a:prstGeom prst="ellipse">
            <a:avLst/>
          </a:prstGeom>
          <a:solidFill>
            <a:srgbClr val="EDE8E0"/>
          </a:solidFill>
          <a:ln w="12700">
            <a:solidFill>
              <a:srgbClr val="8A9A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79000" y="38100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33000" y="3683000"/>
            <a:ext cx="381000" cy="127000"/>
          </a:xfrm>
          <a:prstGeom prst="straightConnector1">
            <a:avLst/>
          </a:prstGeom>
          <a:noFill/>
          <a:ln w="12700">
            <a:solidFill>
              <a:srgbClr val="8A9A8C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762000" y="4699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CROW'S FOOT SYMBOLS REFERENCE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143500"/>
          <a:ext cx="14732000" cy="3048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  <a:gridCol w="3683000"/>
              </a:tblGrid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Symbol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Symbol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vertical bar |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One and only one (1,1)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Circle on the line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Zero or one (0,1)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Crow's foot (three lines)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Many — zero or more (0,N)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Crow's foot + bar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One or more (1,N)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 line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Total participation (mandatory)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line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Partial participation (optional)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Chen: Rectangle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Entity 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Chen: Diamond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Relationship 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Chen: Oval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Attribute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Chen: Underlined oval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attribute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 39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Practice Exercise — University Database ER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6764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an ER diagram for a university database with the following entities and relationships: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1844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ENTITIES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540000"/>
            <a:ext cx="1651000" cy="508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540000"/>
            <a:ext cx="165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086100"/>
            <a:ext cx="165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Name,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Address, Phone,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Birth_date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67000" y="2540000"/>
            <a:ext cx="1651000" cy="508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2" name="Text 10"/>
          <p:cNvSpPr/>
          <p:nvPr/>
        </p:nvSpPr>
        <p:spPr>
          <a:xfrm>
            <a:off x="2667000" y="2540000"/>
            <a:ext cx="165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67000" y="3086100"/>
            <a:ext cx="165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Course#</a:t>
            </a:r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Course_name,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0" y="2540000"/>
            <a:ext cx="1651000" cy="508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540000"/>
            <a:ext cx="165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INSTRUCTOR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086100"/>
            <a:ext cx="165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Name,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Office, Salary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77000" y="2540000"/>
            <a:ext cx="1651000" cy="508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8" name="Text 16"/>
          <p:cNvSpPr/>
          <p:nvPr/>
        </p:nvSpPr>
        <p:spPr>
          <a:xfrm>
            <a:off x="6477000" y="2540000"/>
            <a:ext cx="165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7000" y="3086100"/>
            <a:ext cx="165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Dnumber</a:t>
            </a:r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Dname,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Office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21844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RELATIONSHIPS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36000" y="25400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enrolls_in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COURSE (M:N) with </a:t>
            </a:r>
            <a:pPr>
              <a:lnSpc>
                <a:spcPct val="140000"/>
              </a:lnSpc>
            </a:pPr>
            <a:r>
              <a:rPr lang="en-US" sz="1100" i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INSTRUCTOR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teaches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COURSE (1:N)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COURSE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belongs_to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DEPARTMENT (N:1)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DEPARTMENT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has_chair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INSTRUCTOR (1:1)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INSTRUCTOR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works_for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DEPARTMENT (N:1)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937000"/>
            <a:ext cx="14732000" cy="4318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4038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ER DIAGRAM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70000" y="4826000"/>
            <a:ext cx="1524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5" name="Text 23"/>
          <p:cNvSpPr/>
          <p:nvPr/>
        </p:nvSpPr>
        <p:spPr>
          <a:xfrm>
            <a:off x="1270000" y="48260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56000" y="4826000"/>
            <a:ext cx="1270000" cy="5715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27" name="Text 25"/>
          <p:cNvSpPr/>
          <p:nvPr/>
        </p:nvSpPr>
        <p:spPr>
          <a:xfrm>
            <a:off x="3556000" y="48260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enrolls_in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88000" y="4826000"/>
            <a:ext cx="1524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9" name="Text 27"/>
          <p:cNvSpPr/>
          <p:nvPr/>
        </p:nvSpPr>
        <p:spPr>
          <a:xfrm>
            <a:off x="5588000" y="48260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794000" y="5105400"/>
            <a:ext cx="889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4826000" y="5105400"/>
            <a:ext cx="889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2857500" y="4889500"/>
            <a:ext cx="38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43500" y="4889500"/>
            <a:ext cx="38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83000" y="4318000"/>
            <a:ext cx="1016000" cy="444500"/>
          </a:xfrm>
          <a:prstGeom prst="ellipse">
            <a:avLst/>
          </a:prstGeom>
          <a:solidFill>
            <a:srgbClr val="F5F0EB"/>
          </a:solidFill>
          <a:ln w="12700">
            <a:solidFill>
              <a:srgbClr val="C493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83000" y="4318000"/>
            <a:ext cx="10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191000" y="4762500"/>
            <a:ext cx="0" cy="63500"/>
          </a:xfrm>
          <a:prstGeom prst="straightConnector1">
            <a:avLst/>
          </a:prstGeom>
          <a:noFill/>
          <a:ln w="12700">
            <a:solidFill>
              <a:srgbClr val="C4933F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270000" y="6604000"/>
            <a:ext cx="1524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8" name="Text 36"/>
          <p:cNvSpPr/>
          <p:nvPr/>
        </p:nvSpPr>
        <p:spPr>
          <a:xfrm>
            <a:off x="1270000" y="66040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INSTRUCTOR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556000" y="5842000"/>
            <a:ext cx="1270000" cy="5715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40" name="Text 38"/>
          <p:cNvSpPr/>
          <p:nvPr/>
        </p:nvSpPr>
        <p:spPr>
          <a:xfrm>
            <a:off x="3556000" y="58420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794000" y="6350000"/>
            <a:ext cx="1016000" cy="53340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4826000" y="5397500"/>
            <a:ext cx="1016000" cy="50800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/>
          <p:nvPr/>
        </p:nvSpPr>
        <p:spPr>
          <a:xfrm>
            <a:off x="2794000" y="6096000"/>
            <a:ext cx="38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70500" y="5334000"/>
            <a:ext cx="38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556000" y="7366000"/>
            <a:ext cx="1270000" cy="5715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46" name="Text 44"/>
          <p:cNvSpPr/>
          <p:nvPr/>
        </p:nvSpPr>
        <p:spPr>
          <a:xfrm>
            <a:off x="3556000" y="73660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works_for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794000" y="6985000"/>
            <a:ext cx="1016000" cy="57150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4826000" y="6985000"/>
            <a:ext cx="1016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49" name="Text 47"/>
          <p:cNvSpPr/>
          <p:nvPr/>
        </p:nvSpPr>
        <p:spPr>
          <a:xfrm>
            <a:off x="2794000" y="7048500"/>
            <a:ext cx="38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080000" y="7048500"/>
            <a:ext cx="38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842000" y="6604000"/>
            <a:ext cx="1524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52" name="Text 50"/>
          <p:cNvSpPr/>
          <p:nvPr/>
        </p:nvSpPr>
        <p:spPr>
          <a:xfrm>
            <a:off x="5842000" y="66040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28000" y="6604000"/>
            <a:ext cx="1270000" cy="5715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54" name="Text 52"/>
          <p:cNvSpPr/>
          <p:nvPr/>
        </p:nvSpPr>
        <p:spPr>
          <a:xfrm>
            <a:off x="8128000" y="66040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has_chair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366000" y="6883400"/>
            <a:ext cx="889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9398000" y="6883400"/>
            <a:ext cx="889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57" name="Text 55"/>
          <p:cNvSpPr/>
          <p:nvPr/>
        </p:nvSpPr>
        <p:spPr>
          <a:xfrm>
            <a:off x="7429500" y="66675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588500" y="66675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0287000" y="6604000"/>
            <a:ext cx="1524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60" name="Text 58"/>
          <p:cNvSpPr/>
          <p:nvPr/>
        </p:nvSpPr>
        <p:spPr>
          <a:xfrm>
            <a:off x="10287000" y="66040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INSTRUCTOR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842000" y="5461000"/>
            <a:ext cx="1270000" cy="5715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62" name="Text 60"/>
          <p:cNvSpPr/>
          <p:nvPr/>
        </p:nvSpPr>
        <p:spPr>
          <a:xfrm>
            <a:off x="5842000" y="54610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belongs_to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50000" y="5397500"/>
            <a:ext cx="0" cy="6350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 flipH="1">
            <a:off x="7112000" y="5397500"/>
            <a:ext cx="635000" cy="127000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65" name="Text 63"/>
          <p:cNvSpPr/>
          <p:nvPr/>
        </p:nvSpPr>
        <p:spPr>
          <a:xfrm>
            <a:off x="6350000" y="5143500"/>
            <a:ext cx="38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366000" y="6477000"/>
            <a:ext cx="38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Practice Exercise — Company Database ER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676400"/>
            <a:ext cx="1473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an ER diagram for a company database. Key entities and relationships: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095500"/>
            <a:ext cx="685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Entities: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Fname, Minit, Lname, </a:t>
            </a:r>
            <a:pPr>
              <a:lnSpc>
                <a:spcPct val="150000"/>
              </a:lnSpc>
            </a:pPr>
            <a:r>
              <a:rPr lang="en-US" sz="12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Bdate, Address, Salary, Sex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Dname, </a:t>
            </a:r>
            <a:pPr>
              <a:lnSpc>
                <a:spcPct val="150000"/>
              </a:lnSpc>
            </a:pPr>
            <a:r>
              <a:rPr lang="en-US" sz="12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Dnumber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Pname, </a:t>
            </a:r>
            <a:pPr>
              <a:lnSpc>
                <a:spcPct val="150000"/>
              </a:lnSpc>
            </a:pPr>
            <a:r>
              <a:rPr lang="en-US" sz="12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Pnumber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Plocation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DEPENDENT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</a:t>
            </a:r>
            <a:pPr>
              <a:lnSpc>
                <a:spcPct val="150000"/>
              </a:lnSpc>
            </a:pPr>
            <a:r>
              <a:rPr lang="en-US" sz="12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Dependent_name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Sex, Bdate, Relationship (weak)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74000" y="2095500"/>
            <a:ext cx="762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0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Relationships: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</a:t>
            </a:r>
            <a:pPr>
              <a:lnSpc>
                <a:spcPct val="135000"/>
              </a:lnSpc>
            </a:pPr>
            <a:r>
              <a:rPr lang="en-US" sz="10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works_for</a:t>
            </a:r>
            <a:pPr>
              <a:lnSpc>
                <a:spcPct val="135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DEPARTMENT (M:N, with </a:t>
            </a:r>
            <a:pPr>
              <a:lnSpc>
                <a:spcPct val="135000"/>
              </a:lnSpc>
            </a:pPr>
            <a:r>
              <a:rPr lang="en-US" sz="1000" i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Hours</a:t>
            </a:r>
            <a:pPr>
              <a:lnSpc>
                <a:spcPct val="135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</a:t>
            </a:r>
            <a:pPr>
              <a:lnSpc>
                <a:spcPct val="135000"/>
              </a:lnSpc>
            </a:pPr>
            <a:r>
              <a:rPr lang="en-US" sz="10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</a:t>
            </a:r>
            <a:pPr>
              <a:lnSpc>
                <a:spcPct val="135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DEPARTMENT (1:1, with </a:t>
            </a:r>
            <a:pPr>
              <a:lnSpc>
                <a:spcPct val="135000"/>
              </a:lnSpc>
            </a:pPr>
            <a:r>
              <a:rPr lang="en-US" sz="1000" i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Start_date</a:t>
            </a:r>
            <a:pPr>
              <a:lnSpc>
                <a:spcPct val="135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</a:t>
            </a:r>
            <a:pPr>
              <a:lnSpc>
                <a:spcPct val="135000"/>
              </a:lnSpc>
            </a:pPr>
            <a:r>
              <a:rPr lang="en-US" sz="10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works_on</a:t>
            </a:r>
            <a:pPr>
              <a:lnSpc>
                <a:spcPct val="135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PROJECT (M:N, with </a:t>
            </a:r>
            <a:pPr>
              <a:lnSpc>
                <a:spcPct val="135000"/>
              </a:lnSpc>
            </a:pPr>
            <a:r>
              <a:rPr lang="en-US" sz="1000" i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Hours</a:t>
            </a:r>
            <a:pPr>
              <a:lnSpc>
                <a:spcPct val="135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</a:t>
            </a:r>
            <a:pPr>
              <a:lnSpc>
                <a:spcPct val="135000"/>
              </a:lnSpc>
            </a:pPr>
            <a:r>
              <a:rPr lang="en-US" sz="10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controls</a:t>
            </a:r>
            <a:pPr>
              <a:lnSpc>
                <a:spcPct val="135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PROJECT (1:N)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</a:t>
            </a:r>
            <a:pPr>
              <a:lnSpc>
                <a:spcPct val="135000"/>
              </a:lnSpc>
            </a:pPr>
            <a:r>
              <a:rPr lang="en-US" sz="10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supervises</a:t>
            </a:r>
            <a:pPr>
              <a:lnSpc>
                <a:spcPct val="135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EMPLOYEE (1:N, recursive)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</a:t>
            </a:r>
            <a:pPr>
              <a:lnSpc>
                <a:spcPct val="135000"/>
              </a:lnSpc>
            </a:pPr>
            <a:r>
              <a:rPr lang="en-US" sz="10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</a:t>
            </a:r>
            <a:pPr>
              <a:lnSpc>
                <a:spcPct val="135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DEPENDENT (1:N, identifying)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683000"/>
            <a:ext cx="14732000" cy="4572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3784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ER DIAGRAM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70000" y="4572000"/>
            <a:ext cx="1651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45720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0" y="4572000"/>
            <a:ext cx="1651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4" name="Text 12"/>
          <p:cNvSpPr/>
          <p:nvPr/>
        </p:nvSpPr>
        <p:spPr>
          <a:xfrm>
            <a:off x="6350000" y="45720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30000" y="4572000"/>
            <a:ext cx="1651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0" y="45720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83000" y="4318000"/>
            <a:ext cx="1270000" cy="5080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18" name="Text 16"/>
          <p:cNvSpPr/>
          <p:nvPr/>
        </p:nvSpPr>
        <p:spPr>
          <a:xfrm>
            <a:off x="3683000" y="4318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works_for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921000" y="4699000"/>
            <a:ext cx="889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953000" y="4699000"/>
            <a:ext cx="1524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2921000" y="4445000"/>
            <a:ext cx="444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7500" y="4445000"/>
            <a:ext cx="444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37000" y="5461000"/>
            <a:ext cx="1270000" cy="5080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24" name="Text 22"/>
          <p:cNvSpPr/>
          <p:nvPr/>
        </p:nvSpPr>
        <p:spPr>
          <a:xfrm>
            <a:off x="3937000" y="5461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921000" y="5143500"/>
            <a:ext cx="1270000" cy="50800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flipV="1">
            <a:off x="5207000" y="5143500"/>
            <a:ext cx="1524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3302000" y="5270500"/>
            <a:ext cx="317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69000" y="4953000"/>
            <a:ext cx="317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763000" y="4318000"/>
            <a:ext cx="1270000" cy="5080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30" name="Text 28"/>
          <p:cNvSpPr/>
          <p:nvPr/>
        </p:nvSpPr>
        <p:spPr>
          <a:xfrm>
            <a:off x="8763000" y="4318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01000" y="4699000"/>
            <a:ext cx="889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0033000" y="4699000"/>
            <a:ext cx="1524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8128000" y="4445000"/>
            <a:ext cx="317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604500" y="4445000"/>
            <a:ext cx="444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890000" y="5461000"/>
            <a:ext cx="1270000" cy="5080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36" name="Text 34"/>
          <p:cNvSpPr/>
          <p:nvPr/>
        </p:nvSpPr>
        <p:spPr>
          <a:xfrm>
            <a:off x="8890000" y="5461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works_on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 flipV="1">
            <a:off x="2921000" y="5143500"/>
            <a:ext cx="6604000" cy="63500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 flipV="1">
            <a:off x="10160000" y="5143500"/>
            <a:ext cx="1651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5651500" y="5461000"/>
            <a:ext cx="444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731500" y="5270500"/>
            <a:ext cx="444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270000" y="6858000"/>
            <a:ext cx="1270000" cy="698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42" name="Shape 40"/>
          <p:cNvSpPr/>
          <p:nvPr/>
        </p:nvSpPr>
        <p:spPr>
          <a:xfrm>
            <a:off x="1333500" y="6921500"/>
            <a:ext cx="1143000" cy="571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43" name="Text 41"/>
          <p:cNvSpPr/>
          <p:nvPr/>
        </p:nvSpPr>
        <p:spPr>
          <a:xfrm>
            <a:off x="1270000" y="6858000"/>
            <a:ext cx="127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302000" y="6858000"/>
            <a:ext cx="1016000" cy="5080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45" name="Text 43"/>
          <p:cNvSpPr/>
          <p:nvPr/>
        </p:nvSpPr>
        <p:spPr>
          <a:xfrm>
            <a:off x="3302000" y="6858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540000" y="7137400"/>
            <a:ext cx="889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4318000" y="7137400"/>
            <a:ext cx="2032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48" name="Text 46"/>
          <p:cNvSpPr/>
          <p:nvPr/>
        </p:nvSpPr>
        <p:spPr>
          <a:xfrm>
            <a:off x="2667000" y="6921500"/>
            <a:ext cx="317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953000" y="6921500"/>
            <a:ext cx="444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70000" y="5842000"/>
            <a:ext cx="1651000" cy="508000"/>
          </a:xfrm>
          <a:prstGeom prst="ellipse">
            <a:avLst/>
          </a:prstGeom>
          <a:solidFill>
            <a:srgbClr val="F5F0EB"/>
          </a:solidFill>
          <a:ln w="12700">
            <a:solidFill>
              <a:srgbClr val="C4933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70000" y="5842000"/>
            <a:ext cx="165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supervises (1:N)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2095500" y="5143500"/>
            <a:ext cx="0" cy="698500"/>
          </a:xfrm>
          <a:prstGeom prst="straightConnector1">
            <a:avLst/>
          </a:prstGeom>
          <a:noFill/>
          <a:ln w="12700">
            <a:solidFill>
              <a:srgbClr val="C4933F"/>
            </a:solidFill>
            <a:prstDash val="solid"/>
            <a:headEnd type="none"/>
            <a:tailEnd type="none"/>
          </a:ln>
        </p:spPr>
      </p:sp>
      <p:sp>
        <p:nvSpPr>
          <p:cNvPr id="53" name="Text 5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Common ER Modeling Mistakes &amp; Best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8B451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MISTAKES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03400"/>
            <a:ext cx="7048500" cy="1016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7" name="Shape 5"/>
          <p:cNvSpPr/>
          <p:nvPr/>
        </p:nvSpPr>
        <p:spPr>
          <a:xfrm>
            <a:off x="889000" y="1930400"/>
            <a:ext cx="355600" cy="35560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1930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879600"/>
            <a:ext cx="622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Confusing Entities with Attributes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1971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Making Department an attribute of Employee instead of a separate entity with its own properties.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45500" y="1803400"/>
            <a:ext cx="7048500" cy="1016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1930400"/>
            <a:ext cx="355600" cy="35560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500" y="1930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55100" y="1879600"/>
            <a:ext cx="622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Incorrect Cardinality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55100" y="2197100"/>
            <a:ext cx="622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Assigning 1:1 when the relationship should be 1:N or M:N based on business rules.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2946400"/>
            <a:ext cx="7048500" cy="1016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7" name="Shape 15"/>
          <p:cNvSpPr/>
          <p:nvPr/>
        </p:nvSpPr>
        <p:spPr>
          <a:xfrm>
            <a:off x="889000" y="3073400"/>
            <a:ext cx="355600" cy="35560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18" name="Text 16"/>
          <p:cNvSpPr/>
          <p:nvPr/>
        </p:nvSpPr>
        <p:spPr>
          <a:xfrm>
            <a:off x="889000" y="3073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022600"/>
            <a:ext cx="622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Weak Entity Identification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3401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Forgetting the identifying relationship (double diamond) and partial key for weak entities.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45500" y="2946400"/>
            <a:ext cx="7048500" cy="1016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2" name="Shape 20"/>
          <p:cNvSpPr/>
          <p:nvPr/>
        </p:nvSpPr>
        <p:spPr>
          <a:xfrm>
            <a:off x="8572500" y="3073400"/>
            <a:ext cx="355600" cy="35560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3" name="Text 21"/>
          <p:cNvSpPr/>
          <p:nvPr/>
        </p:nvSpPr>
        <p:spPr>
          <a:xfrm>
            <a:off x="8572500" y="3073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55100" y="3022600"/>
            <a:ext cx="622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Redundant Relationships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55100" y="3340100"/>
            <a:ext cx="622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both a relationship and an attribute that convey the same information.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4089400"/>
            <a:ext cx="7048500" cy="1016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7" name="Shape 25"/>
          <p:cNvSpPr/>
          <p:nvPr/>
        </p:nvSpPr>
        <p:spPr>
          <a:xfrm>
            <a:off x="889000" y="4216400"/>
            <a:ext cx="355600" cy="35560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8" name="Text 26"/>
          <p:cNvSpPr/>
          <p:nvPr/>
        </p:nvSpPr>
        <p:spPr>
          <a:xfrm>
            <a:off x="889000" y="4216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4165600"/>
            <a:ext cx="622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Ignoring Participation Constraints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44831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single lines where double lines (total participation) are required by the business rules.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5397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69963" y="5905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33" name="Text 31"/>
          <p:cNvSpPr/>
          <p:nvPr/>
        </p:nvSpPr>
        <p:spPr>
          <a:xfrm>
            <a:off x="1333500" y="5867400"/>
            <a:ext cx="622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all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entity types first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then define relationships between them.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69963" y="63246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35" name="Text 33"/>
          <p:cNvSpPr/>
          <p:nvPr/>
        </p:nvSpPr>
        <p:spPr>
          <a:xfrm>
            <a:off x="1333500" y="6286500"/>
            <a:ext cx="622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 names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all entities, attributes, and relationships.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69963" y="67437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37" name="Text 35"/>
          <p:cNvSpPr/>
          <p:nvPr/>
        </p:nvSpPr>
        <p:spPr>
          <a:xfrm>
            <a:off x="1333500" y="6705600"/>
            <a:ext cx="622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relationship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correct cardinality and participation.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62963" y="5905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39" name="Text 37"/>
          <p:cNvSpPr/>
          <p:nvPr/>
        </p:nvSpPr>
        <p:spPr>
          <a:xfrm>
            <a:off x="8826500" y="58674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 no attribute belongs to a relationship that should be an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entity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62963" y="63246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41" name="Text 39"/>
          <p:cNvSpPr/>
          <p:nvPr/>
        </p:nvSpPr>
        <p:spPr>
          <a:xfrm>
            <a:off x="8826500" y="62865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the diagram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against the original requirements.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62963" y="67437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43" name="Text 41"/>
          <p:cNvSpPr/>
          <p:nvPr/>
        </p:nvSpPr>
        <p:spPr>
          <a:xfrm>
            <a:off x="8826500" y="67056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assumptions when requirements are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ambiguous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62000" y="7366000"/>
            <a:ext cx="14732000" cy="762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45" name="Shape 43"/>
          <p:cNvSpPr/>
          <p:nvPr/>
        </p:nvSpPr>
        <p:spPr>
          <a:xfrm>
            <a:off x="1060450" y="7556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C4933F"/>
          </a:solidFill>
          <a:ln/>
        </p:spPr>
      </p:sp>
      <p:sp>
        <p:nvSpPr>
          <p:cNvPr id="46" name="Text 44"/>
          <p:cNvSpPr/>
          <p:nvPr/>
        </p:nvSpPr>
        <p:spPr>
          <a:xfrm>
            <a:off x="1524000" y="7467600"/>
            <a:ext cx="1371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in doubt, ask "Can this thing have independent existence?" If yes, it's an entity. If no, it's likely an attribute or weak entity.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200" b="1" spc="200" kern="0" dirty="0">
                <a:solidFill>
                  <a:srgbClr val="C493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62000" y="3556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4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191000"/>
            <a:ext cx="1524000" cy="381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572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b="1" spc="3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ER-TO-RELATIONAL MAPPING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461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Conceptual Model to Relational Schema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0" y="2540000"/>
            <a:ext cx="25400" cy="4064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938000" y="2540000"/>
            <a:ext cx="3556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Entities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 Weak Entities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 1:1 Relations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 1:N Relations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5: M:N Relations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6: Multivalued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7: Specialization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Examples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to ER-to-Relational Mapping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1016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60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7526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ER-to-Relational Mapping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converts an ER schema into relational table schemas for a relational DBMS. It bridges conceptual and logical design.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66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APPROACH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111500"/>
            <a:ext cx="3302000" cy="1143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32004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Entity Type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becomes a Relation (Table)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64000" y="3619500"/>
            <a:ext cx="381000" cy="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445000" y="3111500"/>
            <a:ext cx="3302000" cy="1143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2004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Relationship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needs a Mapping Strategy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47000" y="3619500"/>
            <a:ext cx="381000" cy="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8128000" y="3111500"/>
            <a:ext cx="3302000" cy="1143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6" name="Text 14"/>
          <p:cNvSpPr/>
          <p:nvPr/>
        </p:nvSpPr>
        <p:spPr>
          <a:xfrm>
            <a:off x="8255000" y="32004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Attributes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become Columns in Tables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430000" y="3619500"/>
            <a:ext cx="381000" cy="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1811000" y="3111500"/>
            <a:ext cx="3683000" cy="1143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19" name="Text 17"/>
          <p:cNvSpPr/>
          <p:nvPr/>
        </p:nvSpPr>
        <p:spPr>
          <a:xfrm>
            <a:off x="11938000" y="3200400"/>
            <a:ext cx="342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Relational Schema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PKs and FKs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57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7-STEP MAPPING ALGORITHM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016500"/>
          <a:ext cx="14732000" cy="3175000"/>
        </p:xfrm>
        <a:graphic>
          <a:graphicData uri="http://schemas.openxmlformats.org/drawingml/2006/table">
            <a:tbl>
              <a:tblPr/>
              <a:tblGrid>
                <a:gridCol w="1178560"/>
                <a:gridCol w="4714240"/>
                <a:gridCol w="8839200"/>
              </a:tblGrid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Mapping Task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Strong Entity Types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 one relation per strong entity with all simple attributes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Weak Entity Types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 relation including owner's primary key as foreign key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1:1 Relationship Types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Merge foreign key based on participation constraints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1:N Relationship Types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Add primary key of "1" side as foreign key to "N" side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M:N Relationship Types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 new junction relation with both primary keys as foreign keys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Multivalued Attributes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 separate relation with entity key and multivalued attribute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Specialization / Generalization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Choose from multiple table, single table, or class table inheritance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1 — Mapping Strong Entity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1016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60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7526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each strong entity E, create relation R with all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attributes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For composite attrs, include only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 simple attrs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Key attr =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key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66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1: EMPLOYEE ENTITY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111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 ENTITY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3556000"/>
            <a:ext cx="2032000" cy="698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556000"/>
            <a:ext cx="203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000" y="4572000"/>
            <a:ext cx="1270000" cy="508000"/>
          </a:xfrm>
          <a:prstGeom prst="ellipse">
            <a:avLst/>
          </a:prstGeom>
          <a:solidFill>
            <a:srgbClr val="EDE8E0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000" y="4572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" y="4254500"/>
            <a:ext cx="635000" cy="317500"/>
          </a:xfrm>
          <a:prstGeom prst="straightConnector1">
            <a:avLst/>
          </a:prstGeom>
          <a:noFill/>
          <a:ln w="12700">
            <a:solidFill>
              <a:srgbClr val="2D4A3E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968500" y="4572000"/>
            <a:ext cx="1270000" cy="508000"/>
          </a:xfrm>
          <a:prstGeom prst="ellipse">
            <a:avLst/>
          </a:prstGeom>
          <a:solidFill>
            <a:srgbClr val="EDE8E0"/>
          </a:solidFill>
          <a:ln w="12700">
            <a:solidFill>
              <a:srgbClr val="8A9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8500" y="4572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Fname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159000" y="4254500"/>
            <a:ext cx="381000" cy="317500"/>
          </a:xfrm>
          <a:prstGeom prst="straightConnector1">
            <a:avLst/>
          </a:prstGeom>
          <a:noFill/>
          <a:ln w="12700">
            <a:solidFill>
              <a:srgbClr val="8A9A8C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08000" y="5334000"/>
            <a:ext cx="1270000" cy="508000"/>
          </a:xfrm>
          <a:prstGeom prst="ellipse">
            <a:avLst/>
          </a:prstGeom>
          <a:solidFill>
            <a:srgbClr val="EDE8E0"/>
          </a:solidFill>
          <a:ln w="12700">
            <a:solidFill>
              <a:srgbClr val="8A9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000" y="5334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Bdate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4254500"/>
            <a:ext cx="254000" cy="1079500"/>
          </a:xfrm>
          <a:prstGeom prst="straightConnector1">
            <a:avLst/>
          </a:prstGeom>
          <a:noFill/>
          <a:ln w="12700">
            <a:solidFill>
              <a:srgbClr val="8A9A8C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968500" y="5334000"/>
            <a:ext cx="1270000" cy="508000"/>
          </a:xfrm>
          <a:prstGeom prst="ellipse">
            <a:avLst/>
          </a:prstGeom>
          <a:solidFill>
            <a:srgbClr val="EDE8E0"/>
          </a:solidFill>
          <a:ln w="12700">
            <a:solidFill>
              <a:srgbClr val="8A9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8500" y="5334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159000" y="4254500"/>
            <a:ext cx="381000" cy="1079500"/>
          </a:xfrm>
          <a:prstGeom prst="straightConnector1">
            <a:avLst/>
          </a:prstGeom>
          <a:noFill/>
          <a:ln w="12700">
            <a:solidFill>
              <a:srgbClr val="8A9A8C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3683000" y="4318000"/>
            <a:ext cx="762000" cy="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25" name="Text 23"/>
          <p:cNvSpPr/>
          <p:nvPr/>
        </p:nvSpPr>
        <p:spPr>
          <a:xfrm>
            <a:off x="3683000" y="4064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maps to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26000" y="3111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 SCHEMA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6000" y="3492500"/>
          <a:ext cx="6350000" cy="2540000"/>
        </p:xfrm>
        <a:graphic>
          <a:graphicData uri="http://schemas.openxmlformats.org/drawingml/2006/table">
            <a:tbl>
              <a:tblPr/>
              <a:tblGrid>
                <a:gridCol w="2222500"/>
                <a:gridCol w="1587500"/>
                <a:gridCol w="2540000"/>
              </a:tblGrid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Column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Constraint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Ssn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PRIMARY KEY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Minit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CHAR(1)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762000" y="6350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2: COMPOSITE ATTRIBUTE HANDLING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2000" y="67310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EMPLOYEE has a composite attribute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(Fname, Minit, Lname), the relation includes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the simple components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60000"/>
              </a:lnSpc>
            </a:pPr>
            <a:r>
              <a:rPr lang="en-US" sz="15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Fname, Minit, Lname, Bdate, Address, Salary, Sex) — </a:t>
            </a:r>
            <a:pPr>
              <a:lnSpc>
                <a:spcPct val="160000"/>
              </a:lnSpc>
            </a:pPr>
            <a:r>
              <a:rPr lang="en-US" sz="1500" i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 itself is NOT a column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DEPARTMENT has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multivalued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attribute Locations, it is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excluded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this step (handled in Step 6).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2 — Mapping Weak Entity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1016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60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7526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weak entity W with owner E: (1) Include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simple attrs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W, (2) Include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 of 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FK, (3)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Combination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E's PK + W's partial key =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new relation.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66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DIAGRAM TO SCHEMA MAPPING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70000" y="3302000"/>
            <a:ext cx="2032000" cy="698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0" name="Text 8"/>
          <p:cNvSpPr/>
          <p:nvPr/>
        </p:nvSpPr>
        <p:spPr>
          <a:xfrm>
            <a:off x="1270000" y="3302000"/>
            <a:ext cx="203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0000" y="4064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PK: </a:t>
            </a:r>
            <a:pPr algn="ctr">
              <a:lnSpc>
                <a:spcPct val="100000"/>
              </a:lnSpc>
            </a:pPr>
            <a:r>
              <a:rPr lang="en-US" sz="1200" u="sng" dirty="0">
                <a:solidFill>
                  <a:srgbClr val="C4933F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64000" y="3302000"/>
            <a:ext cx="1397000" cy="6985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13" name="Text 11"/>
          <p:cNvSpPr/>
          <p:nvPr/>
        </p:nvSpPr>
        <p:spPr>
          <a:xfrm>
            <a:off x="4064000" y="3302000"/>
            <a:ext cx="139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02000" y="3644900"/>
            <a:ext cx="889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461000" y="3644900"/>
            <a:ext cx="889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350000" y="3213100"/>
            <a:ext cx="1651000" cy="8636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7" name="Shape 15"/>
          <p:cNvSpPr/>
          <p:nvPr/>
        </p:nvSpPr>
        <p:spPr>
          <a:xfrm>
            <a:off x="6426200" y="3289300"/>
            <a:ext cx="1498600" cy="7112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8" name="Text 16"/>
          <p:cNvSpPr/>
          <p:nvPr/>
        </p:nvSpPr>
        <p:spPr>
          <a:xfrm>
            <a:off x="6350000" y="3213100"/>
            <a:ext cx="1651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0000" y="41275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Partial: </a:t>
            </a:r>
            <a:pPr algn="ctr">
              <a:lnSpc>
                <a:spcPct val="100000"/>
              </a:lnSpc>
            </a:pPr>
            <a:r>
              <a:rPr lang="en-US" sz="1200" u="sng" dirty="0">
                <a:solidFill>
                  <a:srgbClr val="8A9A8C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75500" y="4572000"/>
            <a:ext cx="0" cy="50800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207000"/>
          <a:ext cx="7620000" cy="1651000"/>
        </p:xfrm>
        <a:graphic>
          <a:graphicData uri="http://schemas.openxmlformats.org/drawingml/2006/table">
            <a:tbl>
              <a:tblPr/>
              <a:tblGrid>
                <a:gridCol w="2286000"/>
                <a:gridCol w="1905000"/>
                <a:gridCol w="3429000"/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Column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Constraint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Essn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 → EMPLOYEE(Ssn), part of PK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Dependent_name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 of PK (partial key)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Sex, Bdate, Relationship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Various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Regular attributes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762000" y="488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DEPENDENT RELATION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890000" y="3302000"/>
            <a:ext cx="660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Points: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owner's PK (</a:t>
            </a:r>
            <a:pPr>
              <a:lnSpc>
                <a:spcPct val="170000"/>
              </a:lnSpc>
            </a:pPr>
            <a:r>
              <a:rPr lang="en-US" sz="15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is renamed to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Essn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(Employee ssn) as a foreign key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Essn + Dependent_name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together form the composite primary key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weak entity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exist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its owner — enforced by the FK constraint and NOT NULL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Total participation is implied by the identifying relationship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3 — Mapping 1:1 Relationship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1016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60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7526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1:1 relationship between E1 and E2: Include PK of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total-participation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entity as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FK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partial-participation entity's relation. Include relationship attrs.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6670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EMPLOYEE (0,1) manages (1,1) DEPARTMENT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111500"/>
            <a:ext cx="7112000" cy="2540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0" name="Shape 8"/>
          <p:cNvSpPr/>
          <p:nvPr/>
        </p:nvSpPr>
        <p:spPr>
          <a:xfrm>
            <a:off x="1270000" y="3556000"/>
            <a:ext cx="1651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3556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9500" y="42545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 (0,1)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0" y="3556000"/>
            <a:ext cx="1270000" cy="6350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14" name="Text 12"/>
          <p:cNvSpPr/>
          <p:nvPr/>
        </p:nvSpPr>
        <p:spPr>
          <a:xfrm>
            <a:off x="3810000" y="3556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69000" y="3556000"/>
            <a:ext cx="1651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6" name="Text 14"/>
          <p:cNvSpPr/>
          <p:nvPr/>
        </p:nvSpPr>
        <p:spPr>
          <a:xfrm>
            <a:off x="5969000" y="3556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78500" y="42545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(1,1)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921000" y="3873500"/>
            <a:ext cx="1016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080000" y="3873500"/>
            <a:ext cx="1016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937000" y="4635500"/>
            <a:ext cx="1016000" cy="444500"/>
          </a:xfrm>
          <a:prstGeom prst="ellipse">
            <a:avLst/>
          </a:prstGeom>
          <a:solidFill>
            <a:srgbClr val="F5F0EB"/>
          </a:solidFill>
          <a:ln w="12700">
            <a:solidFill>
              <a:srgbClr val="C493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7000" y="4635500"/>
            <a:ext cx="10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Start_date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45000" y="4191000"/>
            <a:ext cx="0" cy="444500"/>
          </a:xfrm>
          <a:prstGeom prst="straightConnector1">
            <a:avLst/>
          </a:prstGeom>
          <a:noFill/>
          <a:ln w="12700">
            <a:solidFill>
              <a:srgbClr val="C4933F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8382000" y="266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MAPPING RESULT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3111500"/>
            <a:ext cx="7112000" cy="2540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5" name="Text 23"/>
          <p:cNvSpPr/>
          <p:nvPr/>
        </p:nvSpPr>
        <p:spPr>
          <a:xfrm>
            <a:off x="8636000" y="32385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total participation, so EMPLOYEE's PK is added to DEPARTMENT: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(Dname, </a:t>
            </a:r>
            <a:pPr>
              <a:lnSpc>
                <a:spcPct val="150000"/>
              </a:lnSpc>
            </a:pPr>
            <a:r>
              <a:rPr lang="en-US" sz="14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Dnumber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Mgr_ssn, Start_date)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Mgr_ssn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FK referencing EMPLOYEE(Ssn)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Start_date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relationship attribute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Mgr_ssn can be NULL (partial participation)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596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ALTERNATIVE: BOTH TOTAL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350000"/>
            <a:ext cx="14732000" cy="1778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64770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entities have total participation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 1:1 relationship, two options exist: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A: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Merge both entities and the relationship into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relation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containing all attributes from both entities.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B: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Choose either entity to host the foreign key (either approach works; pick based on query patterns).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4 — Mapping 1:N Relationship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762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60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752600"/>
            <a:ext cx="1422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 the primary key of the entity on the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"1" side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a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foreign key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relation of the entity on the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"N" side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Include any relationship attributes in the N-side relation.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4130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DEPARTMENT (1) — has — EMPLOYEE (N)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57500"/>
            <a:ext cx="6350000" cy="2286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0" name="Shape 8"/>
          <p:cNvSpPr/>
          <p:nvPr/>
        </p:nvSpPr>
        <p:spPr>
          <a:xfrm>
            <a:off x="1270000" y="3492500"/>
            <a:ext cx="1651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34925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4165600"/>
            <a:ext cx="165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PK: </a:t>
            </a:r>
            <a:pPr algn="ctr">
              <a:lnSpc>
                <a:spcPct val="100000"/>
              </a:lnSpc>
            </a:pPr>
            <a:r>
              <a:rPr lang="en-US" sz="1100" u="sng" dirty="0">
                <a:solidFill>
                  <a:srgbClr val="C4933F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Dnumber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0" y="3492500"/>
            <a:ext cx="1143000" cy="6350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14" name="Text 12"/>
          <p:cNvSpPr/>
          <p:nvPr/>
        </p:nvSpPr>
        <p:spPr>
          <a:xfrm>
            <a:off x="3810000" y="3492500"/>
            <a:ext cx="114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works_for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42000" y="3492500"/>
            <a:ext cx="1016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6" name="Text 14"/>
          <p:cNvSpPr/>
          <p:nvPr/>
        </p:nvSpPr>
        <p:spPr>
          <a:xfrm>
            <a:off x="5842000" y="3492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21000" y="3810000"/>
            <a:ext cx="1016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953000" y="3810000"/>
            <a:ext cx="1016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3048000" y="3581400"/>
            <a:ext cx="31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70500" y="3581400"/>
            <a:ext cx="44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50000" y="3810000"/>
            <a:ext cx="0" cy="63500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7620000" y="2413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MAPPING RESULT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0" y="2857500"/>
            <a:ext cx="7874000" cy="2286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4" name="Text 22"/>
          <p:cNvSpPr/>
          <p:nvPr/>
        </p:nvSpPr>
        <p:spPr>
          <a:xfrm>
            <a:off x="7874000" y="2984500"/>
            <a:ext cx="736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Dnumber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(PK of "1" side) as FK to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("N" side):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(Fname, Minit, Lname, </a:t>
            </a:r>
            <a:pPr>
              <a:lnSpc>
                <a:spcPct val="150000"/>
              </a:lnSpc>
            </a:pPr>
            <a:r>
              <a:rPr lang="en-US" sz="14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Bdate, Address, Salary, Sex,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Dno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Dno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FK referencing DEPARTMENT(Dnumber)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Dno may be NULL if partial participation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461000"/>
            <a:ext cx="14732000" cy="2794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558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THE "N" SIDE?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5969000"/>
            <a:ext cx="1422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Placing the foreign key on the "N" side avoids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redundancy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FK were on the "1" side (DEPARTMENT), one department row would need to store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employee SSNs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violating First Normal Form.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placing Dno in each EMPLOYEE row, each employee references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exactly one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department with no redundancy.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approach is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applicable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regardless of participation constraints.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5 — Mapping M:N Relationship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762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60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651000"/>
            <a:ext cx="1422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</a:t>
            </a:r>
            <a:pPr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junction relation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S. Include FKs of </a:t>
            </a:r>
            <a:pPr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entities forming a </a:t>
            </a:r>
            <a:pPr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composite PK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Include relationship attrs. Neither entity relation is modified.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4130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EMPLOYEE (M) — works_on — (N) PROJECT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57500"/>
            <a:ext cx="6858000" cy="2540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0" name="Shape 8"/>
          <p:cNvSpPr/>
          <p:nvPr/>
        </p:nvSpPr>
        <p:spPr>
          <a:xfrm>
            <a:off x="1270000" y="3683000"/>
            <a:ext cx="1651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3683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4356100"/>
            <a:ext cx="165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PK: </a:t>
            </a:r>
            <a:pPr algn="ctr">
              <a:lnSpc>
                <a:spcPct val="100000"/>
              </a:lnSpc>
            </a:pPr>
            <a:r>
              <a:rPr lang="en-US" sz="1100" u="sng" dirty="0">
                <a:solidFill>
                  <a:srgbClr val="C4933F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0" y="3683000"/>
            <a:ext cx="1270000" cy="6350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14" name="Text 12"/>
          <p:cNvSpPr/>
          <p:nvPr/>
        </p:nvSpPr>
        <p:spPr>
          <a:xfrm>
            <a:off x="3810000" y="3683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works_on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69000" y="3683000"/>
            <a:ext cx="1270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6" name="Text 14"/>
          <p:cNvSpPr/>
          <p:nvPr/>
        </p:nvSpPr>
        <p:spPr>
          <a:xfrm>
            <a:off x="5969000" y="3683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42000" y="43561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PK: </a:t>
            </a:r>
            <a:pPr algn="ctr">
              <a:lnSpc>
                <a:spcPct val="100000"/>
              </a:lnSpc>
            </a:pPr>
            <a:r>
              <a:rPr lang="en-US" sz="1100" u="sng" dirty="0">
                <a:solidFill>
                  <a:srgbClr val="C4933F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Pnumber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921000" y="4000500"/>
            <a:ext cx="1016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080000" y="4000500"/>
            <a:ext cx="1016000" cy="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2984500" y="3771900"/>
            <a:ext cx="44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7500" y="3771900"/>
            <a:ext cx="44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37000" y="4699000"/>
            <a:ext cx="1016000" cy="444500"/>
          </a:xfrm>
          <a:prstGeom prst="ellipse">
            <a:avLst/>
          </a:prstGeom>
          <a:solidFill>
            <a:srgbClr val="F5F0EB"/>
          </a:solidFill>
          <a:ln w="12700">
            <a:solidFill>
              <a:srgbClr val="C493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7000" y="4699000"/>
            <a:ext cx="10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45000" y="4318000"/>
            <a:ext cx="0" cy="381000"/>
          </a:xfrm>
          <a:prstGeom prst="straightConnector1">
            <a:avLst/>
          </a:prstGeom>
          <a:noFill/>
          <a:ln w="12700">
            <a:solidFill>
              <a:srgbClr val="C4933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4191000" y="5397500"/>
            <a:ext cx="0" cy="38100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8128000" y="2413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JUNCTION TABLE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0" y="2857500"/>
          <a:ext cx="7366000" cy="2540000"/>
        </p:xfrm>
        <a:graphic>
          <a:graphicData uri="http://schemas.openxmlformats.org/drawingml/2006/table">
            <a:tbl>
              <a:tblPr/>
              <a:tblGrid>
                <a:gridCol w="2062480"/>
                <a:gridCol w="1620520"/>
                <a:gridCol w="36830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Column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Constraint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Essn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 → EMPLOYEE(Ssn), part of PK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 → PROJECT(Pnumber), part of PK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Hours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DECIMAL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Relationship attribute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 gridSpan="2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Composite PK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(Essn, Pno)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762000" y="5969000"/>
            <a:ext cx="14732000" cy="2286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9" name="Text 26"/>
          <p:cNvSpPr/>
          <p:nvPr/>
        </p:nvSpPr>
        <p:spPr>
          <a:xfrm>
            <a:off x="1016000" y="609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16000" y="6477000"/>
            <a:ext cx="1422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M:N relationships always require a junction table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you cannot represent them by adding a foreign key to either entity table alone.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junction table's primary key is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composite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combining both foreign keys.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Neither EMPLOYEE nor PROJECT tables are modified — they remain independent.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Additional attributes of the relationship (like Hours) become regular columns in the junction table.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6 — Mapping Multivalued Attributes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762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60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651000"/>
            <a:ext cx="1422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multivalued attr A of entity E with PK K: Create </a:t>
            </a:r>
            <a:pPr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relation R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 and K. </a:t>
            </a:r>
            <a:pPr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Combination of K+A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PK of R. K is FK referencing 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4130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DEPARTMENT WITH MULTIVALUED Locations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57500"/>
            <a:ext cx="6350000" cy="2540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0" y="3492500"/>
            <a:ext cx="2032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4925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41656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PK: </a:t>
            </a:r>
            <a:pPr algn="ctr">
              <a:lnSpc>
                <a:spcPct val="100000"/>
              </a:lnSpc>
            </a:pPr>
            <a:r>
              <a:rPr lang="en-US" sz="1100" u="sng" dirty="0">
                <a:solidFill>
                  <a:srgbClr val="C4933F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Dnumber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" y="4699000"/>
            <a:ext cx="1778000" cy="571500"/>
          </a:xfrm>
          <a:prstGeom prst="ellipse">
            <a:avLst/>
          </a:prstGeom>
          <a:solidFill>
            <a:srgbClr val="F5F0EB"/>
          </a:solidFill>
          <a:ln w="25400">
            <a:solidFill>
              <a:srgbClr val="2D4A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46200" y="4775200"/>
            <a:ext cx="1625600" cy="419100"/>
          </a:xfrm>
          <a:prstGeom prst="ellipse">
            <a:avLst/>
          </a:prstGeom>
          <a:solidFill>
            <a:srgbClr val="F5F0EB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0000" y="46990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159000" y="4127500"/>
            <a:ext cx="635000" cy="571500"/>
          </a:xfrm>
          <a:prstGeom prst="straightConnector1">
            <a:avLst/>
          </a:prstGeom>
          <a:noFill/>
          <a:ln w="12700">
            <a:solidFill>
              <a:srgbClr val="2D4A3E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937000" y="4318000"/>
            <a:ext cx="0" cy="63500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7620000" y="2413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SEPARATE TABLE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0" y="2857500"/>
          <a:ext cx="7874000" cy="1524000"/>
        </p:xfrm>
        <a:graphic>
          <a:graphicData uri="http://schemas.openxmlformats.org/drawingml/2006/table">
            <a:tbl>
              <a:tblPr/>
              <a:tblGrid>
                <a:gridCol w="2362200"/>
                <a:gridCol w="1574800"/>
                <a:gridCol w="39370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Column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Constraint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Dnumber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 → DEPARTMENT, part of PK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 of PK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381000">
                <a:tc gridSpan="2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 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DEPT_LOCATIONS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762000" y="5715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A SEPARATE TABLE?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6159500"/>
            <a:ext cx="14732000" cy="2159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2" name="Text 19"/>
          <p:cNvSpPr/>
          <p:nvPr/>
        </p:nvSpPr>
        <p:spPr>
          <a:xfrm>
            <a:off x="1016000" y="6286500"/>
            <a:ext cx="1422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a separate table, storing multiple locations causes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redundancy and anomalies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8B451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Wrong: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DEPARTMENT(Dname, </a:t>
            </a:r>
            <a:pPr>
              <a:lnSpc>
                <a:spcPct val="150000"/>
              </a:lnSpc>
            </a:pPr>
            <a:r>
              <a:rPr lang="en-US" sz="14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Dnumber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Office, Location1, Location2...)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DEPARTMENT(Dname, </a:t>
            </a:r>
            <a:pPr>
              <a:lnSpc>
                <a:spcPct val="150000"/>
              </a:lnSpc>
            </a:pPr>
            <a:r>
              <a:rPr lang="en-US" sz="14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Dnumber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Office) + DEPT_LOCATIONS(</a:t>
            </a:r>
            <a:pPr>
              <a:lnSpc>
                <a:spcPct val="150000"/>
              </a:lnSpc>
            </a:pPr>
            <a:r>
              <a:rPr lang="en-US" sz="14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Dnumber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4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separate table follows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Normal Form (1NF)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each cell contains a single atomic value.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7 — Mapping Specialization/Generalization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1473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Specialization (top-down) and Generalization (bottom-up) represent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IS-A relationships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Three mapping options exist, each with trade-offs: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4699000" cy="3937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095500"/>
            <a:ext cx="4699000" cy="444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1336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1: Multiple Relations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2641600"/>
            <a:ext cx="431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Superclass + Subclasses (Class Table Inheritance)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9000" y="2946400"/>
            <a:ext cx="431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 relation for the superclass with its PK and all superclass attributes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 relation per subclass with: subclass-specific attributes + superclass PK (serves as both PK and FK)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NULL values; clean design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joins for complete object retrieval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i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when: subclasses have many specific attributes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0" y="2095500"/>
            <a:ext cx="4699000" cy="3937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0" y="2095500"/>
            <a:ext cx="4699000" cy="444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3" name="Text 11"/>
          <p:cNvSpPr/>
          <p:nvPr/>
        </p:nvSpPr>
        <p:spPr>
          <a:xfrm>
            <a:off x="5842000" y="21336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2: Subclasses Only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42000" y="2641600"/>
            <a:ext cx="431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attributes in subclass tables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42000" y="2946400"/>
            <a:ext cx="431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a relation for each subclass containing: all superclass attributes + subclass-specific attributes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separate superclass relation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joins needed for subclass queries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duplication of superclass attrs; works only if subclasses are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disjoint and total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i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when: all instances belong to a subclass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68000" y="2095500"/>
            <a:ext cx="4826000" cy="3937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68000" y="2095500"/>
            <a:ext cx="4826000" cy="444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0" y="21336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3: Single Relation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95000" y="26416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in one table (Single Table Inheritance)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95000" y="2946400"/>
            <a:ext cx="4445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one relation with: all superclass attributes + all subclass attributes + a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 discriminator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attribute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NULL values for attributes not applicable to a given tuple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joins needed; simple queries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Many NULL values; table grows wide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i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when: subclasses have few specific attributes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6286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EMPLOYEE SUPERCLASS WITH SUBCLASSES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667500"/>
            <a:ext cx="14732000" cy="1587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67564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Superclass: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EMPLOYEE(</a:t>
            </a:r>
            <a:pPr>
              <a:lnSpc>
                <a:spcPct val="150000"/>
              </a:lnSpc>
            </a:pPr>
            <a:r>
              <a:rPr lang="en-US" sz="13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Name, Bdate, Address, Salary) |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Subclasses: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SECRETARY(Typing_speed), ENGINEER(Eng_type), TECHNICIAN(Tgrade)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1: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EMPLOYEE + SECRETARY(</a:t>
            </a:r>
            <a:pPr>
              <a:lnSpc>
                <a:spcPct val="150000"/>
              </a:lnSpc>
            </a:pPr>
            <a:r>
              <a:rPr lang="en-US" sz="13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Typing_speed) + ENGINEER(</a:t>
            </a:r>
            <a:pPr>
              <a:lnSpc>
                <a:spcPct val="150000"/>
              </a:lnSpc>
            </a:pPr>
            <a:r>
              <a:rPr lang="en-US" sz="13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Eng_type) + TECHNICIAN(</a:t>
            </a:r>
            <a:pPr>
              <a:lnSpc>
                <a:spcPct val="150000"/>
              </a:lnSpc>
            </a:pPr>
            <a:r>
              <a:rPr lang="en-US" sz="13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Tgrade) — Ssn is PK and FK in each subclass table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2: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SECRETARY(</a:t>
            </a:r>
            <a:pPr>
              <a:lnSpc>
                <a:spcPct val="150000"/>
              </a:lnSpc>
            </a:pPr>
            <a:r>
              <a:rPr lang="en-US" sz="13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Name, Bdate, Address, Salary, Typing_speed) + ENGINEER(</a:t>
            </a:r>
            <a:pPr>
              <a:lnSpc>
                <a:spcPct val="150000"/>
              </a:lnSpc>
            </a:pPr>
            <a:r>
              <a:rPr lang="en-US" sz="13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Name, Bdate, Address, Salary, Eng_type) + ...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3: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EMPLOYEE(</a:t>
            </a:r>
            <a:pPr>
              <a:lnSpc>
                <a:spcPct val="150000"/>
              </a:lnSpc>
            </a:pPr>
            <a:r>
              <a:rPr lang="en-US" sz="13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Name, Bdate, Address, Salary, Typing_speed, Eng_type, Tgrade,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Emp_type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— Emp_type ∈ {'S', 'E', 'T'}; unused columns are NULL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Mapping N-ary Relationship Types (Degree &gt;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60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N-ary relationship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involves N entity types where N &gt; 2.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Ternary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3 entities,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Quaternary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4 entities. The mapping follows a generalized junction table approach.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286000"/>
            <a:ext cx="14732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387600"/>
            <a:ext cx="1422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a new relation R with the primary keys of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participating entities as foreign keys. Their combination forms the composite PK. Include relationship attributes.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1750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TERNARY SUPPLY RELATIONSHIP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619500"/>
            <a:ext cx="7112000" cy="2921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1" name="Shape 9"/>
          <p:cNvSpPr/>
          <p:nvPr/>
        </p:nvSpPr>
        <p:spPr>
          <a:xfrm>
            <a:off x="1270000" y="4318000"/>
            <a:ext cx="1524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43180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SUPPLIER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0000" y="4927600"/>
            <a:ext cx="152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PK: </a:t>
            </a:r>
            <a:pPr algn="ctr">
              <a:lnSpc>
                <a:spcPct val="100000"/>
              </a:lnSpc>
            </a:pPr>
            <a:r>
              <a:rPr lang="en-US" sz="1000" u="sng" dirty="0">
                <a:solidFill>
                  <a:srgbClr val="C4933F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Supplier_id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42000" y="3810000"/>
            <a:ext cx="1270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5" name="Text 13"/>
          <p:cNvSpPr/>
          <p:nvPr/>
        </p:nvSpPr>
        <p:spPr>
          <a:xfrm>
            <a:off x="5842000" y="38100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0" y="4419600"/>
            <a:ext cx="152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PK: </a:t>
            </a:r>
            <a:pPr algn="ctr">
              <a:lnSpc>
                <a:spcPct val="100000"/>
              </a:lnSpc>
            </a:pPr>
            <a:r>
              <a:rPr lang="en-US" sz="1000" u="sng" dirty="0">
                <a:solidFill>
                  <a:srgbClr val="C4933F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Part_no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42000" y="5588000"/>
            <a:ext cx="1270000" cy="5715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8" name="Text 16"/>
          <p:cNvSpPr/>
          <p:nvPr/>
        </p:nvSpPr>
        <p:spPr>
          <a:xfrm>
            <a:off x="5842000" y="55880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0" y="6197600"/>
            <a:ext cx="152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PK: </a:t>
            </a:r>
            <a:pPr algn="ctr">
              <a:lnSpc>
                <a:spcPct val="100000"/>
              </a:lnSpc>
            </a:pPr>
            <a:r>
              <a:rPr lang="en-US" sz="1000" u="sng" dirty="0">
                <a:solidFill>
                  <a:srgbClr val="C4933F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Proj_no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83000" y="4699000"/>
            <a:ext cx="1270000" cy="5715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21" name="Text 19"/>
          <p:cNvSpPr/>
          <p:nvPr/>
        </p:nvSpPr>
        <p:spPr>
          <a:xfrm>
            <a:off x="3683000" y="46990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94000" y="4597400"/>
            <a:ext cx="1016000" cy="31750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4953000" y="4089400"/>
            <a:ext cx="1016000" cy="76200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 flipV="1">
            <a:off x="4953000" y="5080000"/>
            <a:ext cx="1016000" cy="698500"/>
          </a:xfrm>
          <a:prstGeom prst="straightConnector1">
            <a:avLst/>
          </a:prstGeom>
          <a:noFill/>
          <a:ln w="25400">
            <a:solidFill>
              <a:srgbClr val="1E1E1E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3810000" y="5588000"/>
            <a:ext cx="1016000" cy="444500"/>
          </a:xfrm>
          <a:prstGeom prst="ellipse">
            <a:avLst/>
          </a:prstGeom>
          <a:solidFill>
            <a:srgbClr val="F5F0EB"/>
          </a:solidFill>
          <a:ln w="12700">
            <a:solidFill>
              <a:srgbClr val="C493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10000" y="5588000"/>
            <a:ext cx="10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Quantity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18000" y="5270500"/>
            <a:ext cx="0" cy="317500"/>
          </a:xfrm>
          <a:prstGeom prst="straightConnector1">
            <a:avLst/>
          </a:prstGeom>
          <a:noFill/>
          <a:ln w="12700">
            <a:solidFill>
              <a:srgbClr val="C4933F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8382000" y="3175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JUNCTION TABLE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3619500"/>
          <a:ext cx="7112000" cy="2921000"/>
        </p:xfrm>
        <a:graphic>
          <a:graphicData uri="http://schemas.openxmlformats.org/drawingml/2006/table">
            <a:tbl>
              <a:tblPr/>
              <a:tblGrid>
                <a:gridCol w="2133600"/>
                <a:gridCol w="1422400"/>
                <a:gridCol w="3556000"/>
              </a:tblGrid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Column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Constraint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Supplier_id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 → SUPPLIER, part of PK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Part_no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 → PART, part of PK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Proj_no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 → PROJECT, part of PK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Quantity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Relationship attribute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486833">
                <a:tc gridSpan="2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Composite PK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(Supplier_id, Part_no, Proj_no)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762000" y="6794500"/>
            <a:ext cx="14732000" cy="1397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31" name="Text 28"/>
          <p:cNvSpPr/>
          <p:nvPr/>
        </p:nvSpPr>
        <p:spPr>
          <a:xfrm>
            <a:off x="1016000" y="68961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 NOTES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16000" y="7213600"/>
            <a:ext cx="1422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Cardinality constraints in N-ary relationships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be directly represented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relational model — must be enforced by application logic or triggers.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the combination of all N foreign keys is not unique, an additional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surrogate key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may be needed as the primary key.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Mapping Example — University Database (Part 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Starting from the University ER diagram (Lecture 5), here are the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entity mappings and first relationship mappings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879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ENTITY MAPPINGS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22500"/>
          <a:ext cx="14732000" cy="1968500"/>
        </p:xfrm>
        <a:graphic>
          <a:graphicData uri="http://schemas.openxmlformats.org/drawingml/2006/table">
            <a:tbl>
              <a:tblPr/>
              <a:tblGrid>
                <a:gridCol w="2651760"/>
                <a:gridCol w="6187440"/>
                <a:gridCol w="2946400"/>
                <a:gridCol w="2946400"/>
              </a:tblGrid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 Schema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Primary Key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 Applied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STUDENT(Ssn, Fname, Minit, Lname, Address, Phone, Birth_date)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Ssn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 1 (Strong)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INSTRUCTOR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INSTRUCTOR(Ssn, Fname, Minit, Lname, Office, Salary)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Ssn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 1 (Strong)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COURSE(Course_number, Course_name, Credits)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Course_number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 1 (Strong)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DEPARTMENT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DEPARTMENT(Dnumber, Dname, Office)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Dnumber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 1 (Strong)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4419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STEPS 3-4: RELATIONSHIP MAPPINGS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4762500"/>
            <a:ext cx="14732000" cy="3492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0" name="Text 7"/>
          <p:cNvSpPr/>
          <p:nvPr/>
        </p:nvSpPr>
        <p:spPr>
          <a:xfrm>
            <a:off x="1016000" y="48895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INSTRUCTOR works_for DEPARTMENT (1:N)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Step 4: Add Dno FK to INSTRUCTOR (N side)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INSTRUCTOR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4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Fname, Minit, Lname, Office, Salary,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Dno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where Dno → FK(DEPARTMENT)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16000" y="56515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DEPARTMENT has_chair INSTRUCTOR (1:1, total on DEPARTMENT)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Step 3: Add to DEPARTMENT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4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Dnumber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Dname, Office,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Chair_ssn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Start_date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where Chair_ssn → FK(INSTRUCTOR)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16000" y="64135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COURSE belongs_to DEPARTMENT (N:1)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Step 4: Add Dno FK to COURSE (N side)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4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Course_number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Course_name, Credits,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Dno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where Dno → FK(DEPARTMENT)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16000" y="7175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i="1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 The enrolls_in (M:N) and teaches (1:N) relationships will be mapped in Part 2. Each relationship mapping preserves the original constraints from the ER diagram — cardinality ratios determine which step applies, and participation constraints determine NULL vs NOT NULL on foreign keys.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Mapping Example — University Database (Part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Continuing from Part 1 — mapping the remaining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M:N relationship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1:N teaching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relationship: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8796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5: STUDENT enrolls_in COURSE (M:N) with Grade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14732000" cy="10160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3114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new junction table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ENROLLMENT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ENROLLMENT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40000"/>
              </a:lnSpc>
            </a:pPr>
            <a:r>
              <a:rPr lang="en-US" sz="12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Course_number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Grade) where Ssn → FK(STUDENT), Course_number → FK(COURSE)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Composite PK = (</a:t>
            </a:r>
            <a:pPr>
              <a:lnSpc>
                <a:spcPct val="140000"/>
              </a:lnSpc>
            </a:pPr>
            <a:r>
              <a:rPr lang="en-US" sz="12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Course_number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| Grade is the relationship attribute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 INSTRUCTOR teaches COURSE (1:N)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771900"/>
            <a:ext cx="14732000" cy="698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8608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Instructor_ssn FK to COURSE (N side):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40000"/>
              </a:lnSpc>
            </a:pPr>
            <a:r>
              <a:rPr lang="en-US" sz="1200" u="sng" dirty="0">
                <a:solidFill>
                  <a:srgbClr val="1E1E1E"/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Course_number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Course_name, Credits, Dno,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Instructor_ssn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Instructor_ssn → FK(INSTRUCTOR), Dno → FK(DEPARTMENT)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762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COMPLETE RELATIONAL SCHEMA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143500"/>
          <a:ext cx="14732000" cy="3048000"/>
        </p:xfrm>
        <a:graphic>
          <a:graphicData uri="http://schemas.openxmlformats.org/drawingml/2006/table">
            <a:tbl>
              <a:tblPr/>
              <a:tblGrid>
                <a:gridCol w="3241040"/>
                <a:gridCol w="7366000"/>
                <a:gridCol w="412496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Schema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(Ssn, Fname, Minit, Lname, Address, Phone, Birth_date)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PK: Ssn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INSTRUCTOR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(Ssn, Fname, Minit, Lname, Office, Salary, Dno)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PK: Ssn | FK: Dno→DEPARTMENT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DEPARTMENT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(Dnumber, Dname, Office, Chair_ssn, Start_date)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PK: Dnumber | FK: Chair_ssn→INSTRUCTOR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(Course_number, Course_name, Credits, Dno, Instructor_ssn)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PK: Course# | FKs: Dno, Instructor_ssn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ENROLLMENT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(Ssn, Course_number, Grade)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PK: (Ssn, Course#) | FKs: both cols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381000">
                <a:tc gridSpan="2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Total: 5 Relations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Entities + 1 Junction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Mapping Example — Company Database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mapping of the Company ER diagram produces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relations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4 entities + 2 multivalued attributes: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79600"/>
          <a:ext cx="14732000" cy="5448300"/>
        </p:xfrm>
        <a:graphic>
          <a:graphicData uri="http://schemas.openxmlformats.org/drawingml/2006/table">
            <a:tbl>
              <a:tblPr/>
              <a:tblGrid>
                <a:gridCol w="2651760"/>
                <a:gridCol w="7660640"/>
                <a:gridCol w="4419600"/>
              </a:tblGrid>
              <a:tr h="557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Schema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81091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EMPLOYEE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(Fname, Minit, Lname, Ssn, Bdate, Address, Salary, Sex, Super_ssn, Dno)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PK: Ssn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FK: Super_ssn→EMPLOYEE(Ssn)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FK: Dno→DEPARTMENT(Dnumber)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091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DEPARTMENT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(Dname, Dnumber, Mgr_ssn, Start_date)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PK: Dnumber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FK: Mgr_ssn→EMPLOYEE(Ssn)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81091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DEPT_LOCATIONS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(Dnumber, Location)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933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PK: (Dnumber, Location)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400" u="none" dirty="0">
                          <a:solidFill>
                            <a:srgbClr val="C4933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FK: Dnumber→DEPARTMENT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400" u="none" dirty="0">
                          <a:solidFill>
                            <a:srgbClr val="C4933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 6: Multivalued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091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PROJECT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(Pname, Pnumber, Plocation, Dnum)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PK: Pnumber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FK: Dnum→DEPARTMENT(Dnumber)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83625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WORKS_ON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(Essn, Pno, Hours)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933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PK: (Essn, Pno)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400" u="none" dirty="0">
                          <a:solidFill>
                            <a:srgbClr val="C4933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FK: Essn→EMPLOYEE(Ssn)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400" u="none" dirty="0">
                          <a:solidFill>
                            <a:srgbClr val="C4933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FK: Pno→PROJECT(Pnumber)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400" u="none" dirty="0">
                          <a:solidFill>
                            <a:srgbClr val="C4933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 5: M:N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091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DEPENDENT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(Essn, Dependent_name, Sex, Bdate, Relationship)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933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PK: (Essn, Dependent_name)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400" u="none" dirty="0">
                          <a:solidFill>
                            <a:srgbClr val="C4933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FK: Essn→EMPLOYEE(Ssn)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400" u="none" dirty="0">
                          <a:solidFill>
                            <a:srgbClr val="C4933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 2: Weak Entity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8255000"/>
            <a:ext cx="1473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i="1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 The recursive supervises relationship (1:N) on EMPLOYEE is mapped by adding Super_ssn as a self-referencing foreign key — Step 4 applied to the same entity type.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Summary — The 7-Step ER-to-Relational Mapping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4826000"/>
        </p:xfrm>
        <a:graphic>
          <a:graphicData uri="http://schemas.openxmlformats.org/drawingml/2006/table">
            <a:tbl>
              <a:tblPr/>
              <a:tblGrid>
                <a:gridCol w="883920"/>
                <a:gridCol w="3241040"/>
                <a:gridCol w="6187440"/>
                <a:gridCol w="4419600"/>
              </a:tblGrid>
              <a:tr h="47882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What To Do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Result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Strong Entities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One relation per strong entity; simple attributes only; PK = entity key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Entity tables with PK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Weak Entities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Separate relation; include owner's PK as FK; composite PK = (owner PK + partial key)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Weak entity table with composite PK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1:1 Relationships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Merge FK into one side based on participation; include relationship attributes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 added to one entity table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1:N Relationships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Add "1"-side PK as FK to "N"-side relation; include relationship attributes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 added to N-side table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M:N Relationships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 new junction relation with both PKs as FKs forming composite PK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New junction/bridge table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Multivalued Attributes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 separate relation with entity PK and multivalued attribute as composite PK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Separate table for MV attr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71823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Specialization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Choose: Multiple tables (Option 1), Subclass-only (Option 2), or Single table (Option 3)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Depends on constraints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6540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FLOWCHART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6921500"/>
            <a:ext cx="14732000" cy="1333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8" name="Shape 5"/>
          <p:cNvSpPr/>
          <p:nvPr/>
        </p:nvSpPr>
        <p:spPr>
          <a:xfrm>
            <a:off x="1016000" y="7175500"/>
            <a:ext cx="1651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7175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Entity?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Strong→Step 1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Weak→Step 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67000" y="7493000"/>
            <a:ext cx="508000" cy="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3175000" y="7175500"/>
            <a:ext cx="1651000" cy="635000"/>
          </a:xfrm>
          <a:prstGeom prst="diamond">
            <a:avLst/>
          </a:prstGeom>
          <a:solidFill>
            <a:srgbClr val="8A9A8C"/>
          </a:solidFill>
          <a:ln/>
        </p:spPr>
      </p:sp>
      <p:sp>
        <p:nvSpPr>
          <p:cNvPr id="12" name="Text 9"/>
          <p:cNvSpPr/>
          <p:nvPr/>
        </p:nvSpPr>
        <p:spPr>
          <a:xfrm>
            <a:off x="3175000" y="7175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Relationship?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1:1→Step 3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1:N→Step 4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M:N→Step 5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826000" y="7493000"/>
            <a:ext cx="508000" cy="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5334000" y="7175500"/>
            <a:ext cx="1905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5" name="Text 12"/>
          <p:cNvSpPr/>
          <p:nvPr/>
        </p:nvSpPr>
        <p:spPr>
          <a:xfrm>
            <a:off x="5334000" y="71755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Multivalued Attr?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 → Step 6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239000" y="7493000"/>
            <a:ext cx="508000" cy="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7747000" y="7175500"/>
            <a:ext cx="1905000" cy="635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8" name="Text 15"/>
          <p:cNvSpPr/>
          <p:nvPr/>
        </p:nvSpPr>
        <p:spPr>
          <a:xfrm>
            <a:off x="7747000" y="71755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Specialization?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 → Step 7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652000" y="7493000"/>
            <a:ext cx="508000" cy="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10160000" y="7175500"/>
            <a:ext cx="1905000" cy="635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21" name="Text 18"/>
          <p:cNvSpPr/>
          <p:nvPr/>
        </p:nvSpPr>
        <p:spPr>
          <a:xfrm>
            <a:off x="10160000" y="71755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N-ary (&gt;2)?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 → Junction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all PKs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2065000" y="7493000"/>
            <a:ext cx="508000" cy="0"/>
          </a:xfrm>
          <a:prstGeom prst="straightConnector1">
            <a:avLst/>
          </a:prstGeom>
          <a:noFill/>
          <a:ln w="25400">
            <a:solidFill>
              <a:srgbClr val="C4933F"/>
            </a:solidFill>
            <a:prstDash val="solid"/>
            <a:headEnd type="none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12573000" y="7175500"/>
            <a:ext cx="2667000" cy="635000"/>
          </a:xfrm>
          <a:prstGeom prst="rect">
            <a:avLst/>
          </a:prstGeom>
          <a:solidFill>
            <a:srgbClr val="2D5A3E"/>
          </a:solidFill>
          <a:ln/>
        </p:spPr>
      </p:sp>
      <p:sp>
        <p:nvSpPr>
          <p:cNvPr id="24" name="Text 21"/>
          <p:cNvSpPr/>
          <p:nvPr/>
        </p:nvSpPr>
        <p:spPr>
          <a:xfrm>
            <a:off x="12573000" y="71755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SCHEMA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with PKs &amp; FKs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84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Takeaways &amp; Review Checklist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97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03400"/>
            <a:ext cx="7048500" cy="698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7" name="Shape 5"/>
          <p:cNvSpPr/>
          <p:nvPr/>
        </p:nvSpPr>
        <p:spPr>
          <a:xfrm>
            <a:off x="935038" y="19685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168895" y="-10314"/>
                </a:moveTo>
                <a:cubicBezTo>
                  <a:pt x="166658" y="-14679"/>
                  <a:pt x="162128" y="-17462"/>
                  <a:pt x="157217" y="-17462"/>
                </a:cubicBezTo>
                <a:cubicBezTo>
                  <a:pt x="152306" y="-17462"/>
                  <a:pt x="147776" y="-14679"/>
                  <a:pt x="145539" y="-10314"/>
                </a:cubicBezTo>
                <a:lnTo>
                  <a:pt x="105375" y="68377"/>
                </a:lnTo>
                <a:lnTo>
                  <a:pt x="18117" y="82237"/>
                </a:lnTo>
                <a:cubicBezTo>
                  <a:pt x="13261" y="83001"/>
                  <a:pt x="9222" y="86439"/>
                  <a:pt x="7694" y="91132"/>
                </a:cubicBezTo>
                <a:cubicBezTo>
                  <a:pt x="6166" y="95825"/>
                  <a:pt x="7422" y="100955"/>
                  <a:pt x="10859" y="104448"/>
                </a:cubicBezTo>
                <a:lnTo>
                  <a:pt x="73288" y="166931"/>
                </a:lnTo>
                <a:lnTo>
                  <a:pt x="59536" y="254189"/>
                </a:lnTo>
                <a:cubicBezTo>
                  <a:pt x="58772" y="259045"/>
                  <a:pt x="60791" y="263957"/>
                  <a:pt x="64775" y="266849"/>
                </a:cubicBezTo>
                <a:cubicBezTo>
                  <a:pt x="68759" y="269741"/>
                  <a:pt x="73997" y="270178"/>
                  <a:pt x="78418" y="267940"/>
                </a:cubicBezTo>
                <a:lnTo>
                  <a:pt x="157217" y="227886"/>
                </a:lnTo>
                <a:lnTo>
                  <a:pt x="235962" y="267940"/>
                </a:lnTo>
                <a:cubicBezTo>
                  <a:pt x="240328" y="270178"/>
                  <a:pt x="245621" y="269741"/>
                  <a:pt x="249605" y="266849"/>
                </a:cubicBezTo>
                <a:cubicBezTo>
                  <a:pt x="253588" y="263957"/>
                  <a:pt x="255607" y="259100"/>
                  <a:pt x="254843" y="254189"/>
                </a:cubicBezTo>
                <a:lnTo>
                  <a:pt x="241037" y="166931"/>
                </a:lnTo>
                <a:lnTo>
                  <a:pt x="303466" y="104448"/>
                </a:lnTo>
                <a:cubicBezTo>
                  <a:pt x="306958" y="100955"/>
                  <a:pt x="308159" y="95825"/>
                  <a:pt x="306631" y="91132"/>
                </a:cubicBezTo>
                <a:cubicBezTo>
                  <a:pt x="305103" y="86439"/>
                  <a:pt x="301119" y="83001"/>
                  <a:pt x="296208" y="82237"/>
                </a:cubicBezTo>
                <a:lnTo>
                  <a:pt x="209004" y="68377"/>
                </a:lnTo>
                <a:lnTo>
                  <a:pt x="168895" y="-10314"/>
                </a:lnTo>
                <a:close/>
              </a:path>
            </a:pathLst>
          </a:custGeom>
          <a:solidFill>
            <a:srgbClr val="C4933F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1841500"/>
            <a:ext cx="628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ER model provides a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graphical way to design databases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the conceptual level before implementation.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1803400"/>
            <a:ext cx="7048500" cy="698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0" name="Shape 8"/>
          <p:cNvSpPr/>
          <p:nvPr/>
        </p:nvSpPr>
        <p:spPr>
          <a:xfrm>
            <a:off x="8618538" y="19685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168895" y="-10314"/>
                </a:moveTo>
                <a:cubicBezTo>
                  <a:pt x="166658" y="-14679"/>
                  <a:pt x="162128" y="-17462"/>
                  <a:pt x="157217" y="-17462"/>
                </a:cubicBezTo>
                <a:cubicBezTo>
                  <a:pt x="152306" y="-17462"/>
                  <a:pt x="147776" y="-14679"/>
                  <a:pt x="145539" y="-10314"/>
                </a:cubicBezTo>
                <a:lnTo>
                  <a:pt x="105375" y="68377"/>
                </a:lnTo>
                <a:lnTo>
                  <a:pt x="18117" y="82237"/>
                </a:lnTo>
                <a:cubicBezTo>
                  <a:pt x="13261" y="83001"/>
                  <a:pt x="9222" y="86439"/>
                  <a:pt x="7694" y="91132"/>
                </a:cubicBezTo>
                <a:cubicBezTo>
                  <a:pt x="6166" y="95825"/>
                  <a:pt x="7422" y="100955"/>
                  <a:pt x="10859" y="104448"/>
                </a:cubicBezTo>
                <a:lnTo>
                  <a:pt x="73288" y="166931"/>
                </a:lnTo>
                <a:lnTo>
                  <a:pt x="59536" y="254189"/>
                </a:lnTo>
                <a:cubicBezTo>
                  <a:pt x="58772" y="259045"/>
                  <a:pt x="60791" y="263957"/>
                  <a:pt x="64775" y="266849"/>
                </a:cubicBezTo>
                <a:cubicBezTo>
                  <a:pt x="68759" y="269741"/>
                  <a:pt x="73997" y="270178"/>
                  <a:pt x="78418" y="267940"/>
                </a:cubicBezTo>
                <a:lnTo>
                  <a:pt x="157217" y="227886"/>
                </a:lnTo>
                <a:lnTo>
                  <a:pt x="235962" y="267940"/>
                </a:lnTo>
                <a:cubicBezTo>
                  <a:pt x="240328" y="270178"/>
                  <a:pt x="245621" y="269741"/>
                  <a:pt x="249605" y="266849"/>
                </a:cubicBezTo>
                <a:cubicBezTo>
                  <a:pt x="253588" y="263957"/>
                  <a:pt x="255607" y="259100"/>
                  <a:pt x="254843" y="254189"/>
                </a:cubicBezTo>
                <a:lnTo>
                  <a:pt x="241037" y="166931"/>
                </a:lnTo>
                <a:lnTo>
                  <a:pt x="303466" y="104448"/>
                </a:lnTo>
                <a:cubicBezTo>
                  <a:pt x="306958" y="100955"/>
                  <a:pt x="308159" y="95825"/>
                  <a:pt x="306631" y="91132"/>
                </a:cubicBezTo>
                <a:cubicBezTo>
                  <a:pt x="305103" y="86439"/>
                  <a:pt x="301119" y="83001"/>
                  <a:pt x="296208" y="82237"/>
                </a:cubicBezTo>
                <a:lnTo>
                  <a:pt x="209004" y="68377"/>
                </a:lnTo>
                <a:lnTo>
                  <a:pt x="168895" y="-10314"/>
                </a:lnTo>
                <a:close/>
              </a:path>
            </a:pathLst>
          </a:custGeom>
          <a:solidFill>
            <a:srgbClr val="C4933F"/>
          </a:solidFill>
          <a:ln/>
        </p:spPr>
      </p:sp>
      <p:sp>
        <p:nvSpPr>
          <p:cNvPr id="11" name="Text 9"/>
          <p:cNvSpPr/>
          <p:nvPr/>
        </p:nvSpPr>
        <p:spPr>
          <a:xfrm>
            <a:off x="9017000" y="1841500"/>
            <a:ext cx="628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entities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map directly to tables;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entities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need the owner's key included as part of their PK.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2628900"/>
            <a:ext cx="7048500" cy="698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3" name="Shape 11"/>
          <p:cNvSpPr/>
          <p:nvPr/>
        </p:nvSpPr>
        <p:spPr>
          <a:xfrm>
            <a:off x="935038" y="27940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168895" y="-10314"/>
                </a:moveTo>
                <a:cubicBezTo>
                  <a:pt x="166658" y="-14679"/>
                  <a:pt x="162128" y="-17462"/>
                  <a:pt x="157217" y="-17462"/>
                </a:cubicBezTo>
                <a:cubicBezTo>
                  <a:pt x="152306" y="-17462"/>
                  <a:pt x="147776" y="-14679"/>
                  <a:pt x="145539" y="-10314"/>
                </a:cubicBezTo>
                <a:lnTo>
                  <a:pt x="105375" y="68377"/>
                </a:lnTo>
                <a:lnTo>
                  <a:pt x="18117" y="82237"/>
                </a:lnTo>
                <a:cubicBezTo>
                  <a:pt x="13261" y="83001"/>
                  <a:pt x="9222" y="86439"/>
                  <a:pt x="7694" y="91132"/>
                </a:cubicBezTo>
                <a:cubicBezTo>
                  <a:pt x="6166" y="95825"/>
                  <a:pt x="7422" y="100955"/>
                  <a:pt x="10859" y="104448"/>
                </a:cubicBezTo>
                <a:lnTo>
                  <a:pt x="73288" y="166931"/>
                </a:lnTo>
                <a:lnTo>
                  <a:pt x="59536" y="254189"/>
                </a:lnTo>
                <a:cubicBezTo>
                  <a:pt x="58772" y="259045"/>
                  <a:pt x="60791" y="263957"/>
                  <a:pt x="64775" y="266849"/>
                </a:cubicBezTo>
                <a:cubicBezTo>
                  <a:pt x="68759" y="269741"/>
                  <a:pt x="73997" y="270178"/>
                  <a:pt x="78418" y="267940"/>
                </a:cubicBezTo>
                <a:lnTo>
                  <a:pt x="157217" y="227886"/>
                </a:lnTo>
                <a:lnTo>
                  <a:pt x="235962" y="267940"/>
                </a:lnTo>
                <a:cubicBezTo>
                  <a:pt x="240328" y="270178"/>
                  <a:pt x="245621" y="269741"/>
                  <a:pt x="249605" y="266849"/>
                </a:cubicBezTo>
                <a:cubicBezTo>
                  <a:pt x="253588" y="263957"/>
                  <a:pt x="255607" y="259100"/>
                  <a:pt x="254843" y="254189"/>
                </a:cubicBezTo>
                <a:lnTo>
                  <a:pt x="241037" y="166931"/>
                </a:lnTo>
                <a:lnTo>
                  <a:pt x="303466" y="104448"/>
                </a:lnTo>
                <a:cubicBezTo>
                  <a:pt x="306958" y="100955"/>
                  <a:pt x="308159" y="95825"/>
                  <a:pt x="306631" y="91132"/>
                </a:cubicBezTo>
                <a:cubicBezTo>
                  <a:pt x="305103" y="86439"/>
                  <a:pt x="301119" y="83001"/>
                  <a:pt x="296208" y="82237"/>
                </a:cubicBezTo>
                <a:lnTo>
                  <a:pt x="209004" y="68377"/>
                </a:lnTo>
                <a:lnTo>
                  <a:pt x="168895" y="-10314"/>
                </a:lnTo>
                <a:close/>
              </a:path>
            </a:pathLst>
          </a:custGeom>
          <a:solidFill>
            <a:srgbClr val="C4933F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2667000"/>
            <a:ext cx="628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Cardinality ratio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determines the mapping strategy: 1:1 (merge), 1:N (FK on N-side), M:N (junction table).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45500" y="2628900"/>
            <a:ext cx="7048500" cy="698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6" name="Shape 14"/>
          <p:cNvSpPr/>
          <p:nvPr/>
        </p:nvSpPr>
        <p:spPr>
          <a:xfrm>
            <a:off x="8618538" y="27940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168895" y="-10314"/>
                </a:moveTo>
                <a:cubicBezTo>
                  <a:pt x="166658" y="-14679"/>
                  <a:pt x="162128" y="-17462"/>
                  <a:pt x="157217" y="-17462"/>
                </a:cubicBezTo>
                <a:cubicBezTo>
                  <a:pt x="152306" y="-17462"/>
                  <a:pt x="147776" y="-14679"/>
                  <a:pt x="145539" y="-10314"/>
                </a:cubicBezTo>
                <a:lnTo>
                  <a:pt x="105375" y="68377"/>
                </a:lnTo>
                <a:lnTo>
                  <a:pt x="18117" y="82237"/>
                </a:lnTo>
                <a:cubicBezTo>
                  <a:pt x="13261" y="83001"/>
                  <a:pt x="9222" y="86439"/>
                  <a:pt x="7694" y="91132"/>
                </a:cubicBezTo>
                <a:cubicBezTo>
                  <a:pt x="6166" y="95825"/>
                  <a:pt x="7422" y="100955"/>
                  <a:pt x="10859" y="104448"/>
                </a:cubicBezTo>
                <a:lnTo>
                  <a:pt x="73288" y="166931"/>
                </a:lnTo>
                <a:lnTo>
                  <a:pt x="59536" y="254189"/>
                </a:lnTo>
                <a:cubicBezTo>
                  <a:pt x="58772" y="259045"/>
                  <a:pt x="60791" y="263957"/>
                  <a:pt x="64775" y="266849"/>
                </a:cubicBezTo>
                <a:cubicBezTo>
                  <a:pt x="68759" y="269741"/>
                  <a:pt x="73997" y="270178"/>
                  <a:pt x="78418" y="267940"/>
                </a:cubicBezTo>
                <a:lnTo>
                  <a:pt x="157217" y="227886"/>
                </a:lnTo>
                <a:lnTo>
                  <a:pt x="235962" y="267940"/>
                </a:lnTo>
                <a:cubicBezTo>
                  <a:pt x="240328" y="270178"/>
                  <a:pt x="245621" y="269741"/>
                  <a:pt x="249605" y="266849"/>
                </a:cubicBezTo>
                <a:cubicBezTo>
                  <a:pt x="253588" y="263957"/>
                  <a:pt x="255607" y="259100"/>
                  <a:pt x="254843" y="254189"/>
                </a:cubicBezTo>
                <a:lnTo>
                  <a:pt x="241037" y="166931"/>
                </a:lnTo>
                <a:lnTo>
                  <a:pt x="303466" y="104448"/>
                </a:lnTo>
                <a:cubicBezTo>
                  <a:pt x="306958" y="100955"/>
                  <a:pt x="308159" y="95825"/>
                  <a:pt x="306631" y="91132"/>
                </a:cubicBezTo>
                <a:cubicBezTo>
                  <a:pt x="305103" y="86439"/>
                  <a:pt x="301119" y="83001"/>
                  <a:pt x="296208" y="82237"/>
                </a:cubicBezTo>
                <a:lnTo>
                  <a:pt x="209004" y="68377"/>
                </a:lnTo>
                <a:lnTo>
                  <a:pt x="168895" y="-10314"/>
                </a:lnTo>
                <a:close/>
              </a:path>
            </a:pathLst>
          </a:custGeom>
          <a:solidFill>
            <a:srgbClr val="C4933F"/>
          </a:solidFill>
          <a:ln/>
        </p:spPr>
      </p:sp>
      <p:sp>
        <p:nvSpPr>
          <p:cNvPr id="17" name="Text 15"/>
          <p:cNvSpPr/>
          <p:nvPr/>
        </p:nvSpPr>
        <p:spPr>
          <a:xfrm>
            <a:off x="9017000" y="2667000"/>
            <a:ext cx="628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M:N relationships always require a junction table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never try to represent them with a single foreign key.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454400"/>
            <a:ext cx="7048500" cy="698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19" name="Shape 17"/>
          <p:cNvSpPr/>
          <p:nvPr/>
        </p:nvSpPr>
        <p:spPr>
          <a:xfrm>
            <a:off x="935038" y="36195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168895" y="-10314"/>
                </a:moveTo>
                <a:cubicBezTo>
                  <a:pt x="166658" y="-14679"/>
                  <a:pt x="162128" y="-17462"/>
                  <a:pt x="157217" y="-17462"/>
                </a:cubicBezTo>
                <a:cubicBezTo>
                  <a:pt x="152306" y="-17462"/>
                  <a:pt x="147776" y="-14679"/>
                  <a:pt x="145539" y="-10314"/>
                </a:cubicBezTo>
                <a:lnTo>
                  <a:pt x="105375" y="68377"/>
                </a:lnTo>
                <a:lnTo>
                  <a:pt x="18117" y="82237"/>
                </a:lnTo>
                <a:cubicBezTo>
                  <a:pt x="13261" y="83001"/>
                  <a:pt x="9222" y="86439"/>
                  <a:pt x="7694" y="91132"/>
                </a:cubicBezTo>
                <a:cubicBezTo>
                  <a:pt x="6166" y="95825"/>
                  <a:pt x="7422" y="100955"/>
                  <a:pt x="10859" y="104448"/>
                </a:cubicBezTo>
                <a:lnTo>
                  <a:pt x="73288" y="166931"/>
                </a:lnTo>
                <a:lnTo>
                  <a:pt x="59536" y="254189"/>
                </a:lnTo>
                <a:cubicBezTo>
                  <a:pt x="58772" y="259045"/>
                  <a:pt x="60791" y="263957"/>
                  <a:pt x="64775" y="266849"/>
                </a:cubicBezTo>
                <a:cubicBezTo>
                  <a:pt x="68759" y="269741"/>
                  <a:pt x="73997" y="270178"/>
                  <a:pt x="78418" y="267940"/>
                </a:cubicBezTo>
                <a:lnTo>
                  <a:pt x="157217" y="227886"/>
                </a:lnTo>
                <a:lnTo>
                  <a:pt x="235962" y="267940"/>
                </a:lnTo>
                <a:cubicBezTo>
                  <a:pt x="240328" y="270178"/>
                  <a:pt x="245621" y="269741"/>
                  <a:pt x="249605" y="266849"/>
                </a:cubicBezTo>
                <a:cubicBezTo>
                  <a:pt x="253588" y="263957"/>
                  <a:pt x="255607" y="259100"/>
                  <a:pt x="254843" y="254189"/>
                </a:cubicBezTo>
                <a:lnTo>
                  <a:pt x="241037" y="166931"/>
                </a:lnTo>
                <a:lnTo>
                  <a:pt x="303466" y="104448"/>
                </a:lnTo>
                <a:cubicBezTo>
                  <a:pt x="306958" y="100955"/>
                  <a:pt x="308159" y="95825"/>
                  <a:pt x="306631" y="91132"/>
                </a:cubicBezTo>
                <a:cubicBezTo>
                  <a:pt x="305103" y="86439"/>
                  <a:pt x="301119" y="83001"/>
                  <a:pt x="296208" y="82237"/>
                </a:cubicBezTo>
                <a:lnTo>
                  <a:pt x="209004" y="68377"/>
                </a:lnTo>
                <a:lnTo>
                  <a:pt x="168895" y="-10314"/>
                </a:lnTo>
                <a:close/>
              </a:path>
            </a:pathLst>
          </a:custGeom>
          <a:solidFill>
            <a:srgbClr val="C4933F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3492500"/>
            <a:ext cx="628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Multivalued attributes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must be placed in separate tables to maintain First Normal Form (1NF).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45500" y="3454400"/>
            <a:ext cx="7048500" cy="698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2" name="Shape 20"/>
          <p:cNvSpPr/>
          <p:nvPr/>
        </p:nvSpPr>
        <p:spPr>
          <a:xfrm>
            <a:off x="8618538" y="36195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168895" y="-10314"/>
                </a:moveTo>
                <a:cubicBezTo>
                  <a:pt x="166658" y="-14679"/>
                  <a:pt x="162128" y="-17462"/>
                  <a:pt x="157217" y="-17462"/>
                </a:cubicBezTo>
                <a:cubicBezTo>
                  <a:pt x="152306" y="-17462"/>
                  <a:pt x="147776" y="-14679"/>
                  <a:pt x="145539" y="-10314"/>
                </a:cubicBezTo>
                <a:lnTo>
                  <a:pt x="105375" y="68377"/>
                </a:lnTo>
                <a:lnTo>
                  <a:pt x="18117" y="82237"/>
                </a:lnTo>
                <a:cubicBezTo>
                  <a:pt x="13261" y="83001"/>
                  <a:pt x="9222" y="86439"/>
                  <a:pt x="7694" y="91132"/>
                </a:cubicBezTo>
                <a:cubicBezTo>
                  <a:pt x="6166" y="95825"/>
                  <a:pt x="7422" y="100955"/>
                  <a:pt x="10859" y="104448"/>
                </a:cubicBezTo>
                <a:lnTo>
                  <a:pt x="73288" y="166931"/>
                </a:lnTo>
                <a:lnTo>
                  <a:pt x="59536" y="254189"/>
                </a:lnTo>
                <a:cubicBezTo>
                  <a:pt x="58772" y="259045"/>
                  <a:pt x="60791" y="263957"/>
                  <a:pt x="64775" y="266849"/>
                </a:cubicBezTo>
                <a:cubicBezTo>
                  <a:pt x="68759" y="269741"/>
                  <a:pt x="73997" y="270178"/>
                  <a:pt x="78418" y="267940"/>
                </a:cubicBezTo>
                <a:lnTo>
                  <a:pt x="157217" y="227886"/>
                </a:lnTo>
                <a:lnTo>
                  <a:pt x="235962" y="267940"/>
                </a:lnTo>
                <a:cubicBezTo>
                  <a:pt x="240328" y="270178"/>
                  <a:pt x="245621" y="269741"/>
                  <a:pt x="249605" y="266849"/>
                </a:cubicBezTo>
                <a:cubicBezTo>
                  <a:pt x="253588" y="263957"/>
                  <a:pt x="255607" y="259100"/>
                  <a:pt x="254843" y="254189"/>
                </a:cubicBezTo>
                <a:lnTo>
                  <a:pt x="241037" y="166931"/>
                </a:lnTo>
                <a:lnTo>
                  <a:pt x="303466" y="104448"/>
                </a:lnTo>
                <a:cubicBezTo>
                  <a:pt x="306958" y="100955"/>
                  <a:pt x="308159" y="95825"/>
                  <a:pt x="306631" y="91132"/>
                </a:cubicBezTo>
                <a:cubicBezTo>
                  <a:pt x="305103" y="86439"/>
                  <a:pt x="301119" y="83001"/>
                  <a:pt x="296208" y="82237"/>
                </a:cubicBezTo>
                <a:lnTo>
                  <a:pt x="209004" y="68377"/>
                </a:lnTo>
                <a:lnTo>
                  <a:pt x="168895" y="-10314"/>
                </a:lnTo>
                <a:close/>
              </a:path>
            </a:pathLst>
          </a:custGeom>
          <a:solidFill>
            <a:srgbClr val="C4933F"/>
          </a:solidFill>
          <a:ln/>
        </p:spPr>
      </p:sp>
      <p:sp>
        <p:nvSpPr>
          <p:cNvPr id="23" name="Text 21"/>
          <p:cNvSpPr/>
          <p:nvPr/>
        </p:nvSpPr>
        <p:spPr>
          <a:xfrm>
            <a:off x="9017000" y="3492500"/>
            <a:ext cx="628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7-step algorithm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systematically converts any ER diagram to a relational schema with proper PKs and FKs.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4508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93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CHECKLIST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4889500"/>
            <a:ext cx="14732000" cy="3365500"/>
          </a:xfrm>
          <a:prstGeom prst="rect">
            <a:avLst/>
          </a:prstGeom>
          <a:solidFill>
            <a:srgbClr val="EDE8E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9500" y="5143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53206" y="139700"/>
                </a:moveTo>
                <a:cubicBezTo>
                  <a:pt x="253206" y="77054"/>
                  <a:pt x="202346" y="26194"/>
                  <a:pt x="139700" y="26194"/>
                </a:cubicBezTo>
                <a:cubicBezTo>
                  <a:pt x="77054" y="26194"/>
                  <a:pt x="26194" y="77054"/>
                  <a:pt x="26194" y="139700"/>
                </a:cubicBezTo>
                <a:cubicBezTo>
                  <a:pt x="26194" y="202346"/>
                  <a:pt x="77054" y="253206"/>
                  <a:pt x="139700" y="253206"/>
                </a:cubicBezTo>
                <a:cubicBezTo>
                  <a:pt x="202346" y="253206"/>
                  <a:pt x="253206" y="202346"/>
                  <a:pt x="253206" y="139700"/>
                </a:cubicBezTo>
                <a:close/>
                <a:moveTo>
                  <a:pt x="0" y="139700"/>
                </a:moveTo>
                <a:cubicBezTo>
                  <a:pt x="0" y="62597"/>
                  <a:pt x="62597" y="0"/>
                  <a:pt x="139700" y="0"/>
                </a:cubicBezTo>
                <a:cubicBezTo>
                  <a:pt x="216803" y="0"/>
                  <a:pt x="279400" y="62597"/>
                  <a:pt x="279400" y="139700"/>
                </a:cubicBezTo>
                <a:cubicBezTo>
                  <a:pt x="279400" y="216803"/>
                  <a:pt x="216803" y="279400"/>
                  <a:pt x="139700" y="279400"/>
                </a:cubicBezTo>
                <a:cubicBezTo>
                  <a:pt x="62597" y="279400"/>
                  <a:pt x="0" y="216803"/>
                  <a:pt x="0" y="139700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27" name="Text 25"/>
          <p:cNvSpPr/>
          <p:nvPr/>
        </p:nvSpPr>
        <p:spPr>
          <a:xfrm>
            <a:off x="1460500" y="5080000"/>
            <a:ext cx="635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you identify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vs. weak entities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an ER diagram?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79500" y="5651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53206" y="139700"/>
                </a:moveTo>
                <a:cubicBezTo>
                  <a:pt x="253206" y="77054"/>
                  <a:pt x="202346" y="26194"/>
                  <a:pt x="139700" y="26194"/>
                </a:cubicBezTo>
                <a:cubicBezTo>
                  <a:pt x="77054" y="26194"/>
                  <a:pt x="26194" y="77054"/>
                  <a:pt x="26194" y="139700"/>
                </a:cubicBezTo>
                <a:cubicBezTo>
                  <a:pt x="26194" y="202346"/>
                  <a:pt x="77054" y="253206"/>
                  <a:pt x="139700" y="253206"/>
                </a:cubicBezTo>
                <a:cubicBezTo>
                  <a:pt x="202346" y="253206"/>
                  <a:pt x="253206" y="202346"/>
                  <a:pt x="253206" y="139700"/>
                </a:cubicBezTo>
                <a:close/>
                <a:moveTo>
                  <a:pt x="0" y="139700"/>
                </a:moveTo>
                <a:cubicBezTo>
                  <a:pt x="0" y="62597"/>
                  <a:pt x="62597" y="0"/>
                  <a:pt x="139700" y="0"/>
                </a:cubicBezTo>
                <a:cubicBezTo>
                  <a:pt x="216803" y="0"/>
                  <a:pt x="279400" y="62597"/>
                  <a:pt x="279400" y="139700"/>
                </a:cubicBezTo>
                <a:cubicBezTo>
                  <a:pt x="279400" y="216803"/>
                  <a:pt x="216803" y="279400"/>
                  <a:pt x="139700" y="279400"/>
                </a:cubicBezTo>
                <a:cubicBezTo>
                  <a:pt x="62597" y="279400"/>
                  <a:pt x="0" y="216803"/>
                  <a:pt x="0" y="139700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29" name="Text 27"/>
          <p:cNvSpPr/>
          <p:nvPr/>
        </p:nvSpPr>
        <p:spPr>
          <a:xfrm>
            <a:off x="1460500" y="5588000"/>
            <a:ext cx="635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you determine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cardinality and participation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constraints?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79500" y="6159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53206" y="139700"/>
                </a:moveTo>
                <a:cubicBezTo>
                  <a:pt x="253206" y="77054"/>
                  <a:pt x="202346" y="26194"/>
                  <a:pt x="139700" y="26194"/>
                </a:cubicBezTo>
                <a:cubicBezTo>
                  <a:pt x="77054" y="26194"/>
                  <a:pt x="26194" y="77054"/>
                  <a:pt x="26194" y="139700"/>
                </a:cubicBezTo>
                <a:cubicBezTo>
                  <a:pt x="26194" y="202346"/>
                  <a:pt x="77054" y="253206"/>
                  <a:pt x="139700" y="253206"/>
                </a:cubicBezTo>
                <a:cubicBezTo>
                  <a:pt x="202346" y="253206"/>
                  <a:pt x="253206" y="202346"/>
                  <a:pt x="253206" y="139700"/>
                </a:cubicBezTo>
                <a:close/>
                <a:moveTo>
                  <a:pt x="0" y="139700"/>
                </a:moveTo>
                <a:cubicBezTo>
                  <a:pt x="0" y="62597"/>
                  <a:pt x="62597" y="0"/>
                  <a:pt x="139700" y="0"/>
                </a:cubicBezTo>
                <a:cubicBezTo>
                  <a:pt x="216803" y="0"/>
                  <a:pt x="279400" y="62597"/>
                  <a:pt x="279400" y="139700"/>
                </a:cubicBezTo>
                <a:cubicBezTo>
                  <a:pt x="279400" y="216803"/>
                  <a:pt x="216803" y="279400"/>
                  <a:pt x="139700" y="279400"/>
                </a:cubicBezTo>
                <a:cubicBezTo>
                  <a:pt x="62597" y="279400"/>
                  <a:pt x="0" y="216803"/>
                  <a:pt x="0" y="139700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31" name="Text 29"/>
          <p:cNvSpPr/>
          <p:nvPr/>
        </p:nvSpPr>
        <p:spPr>
          <a:xfrm>
            <a:off x="1460500" y="6096000"/>
            <a:ext cx="635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you apply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of the 7 mapping steps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correctly?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79500" y="6667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53206" y="139700"/>
                </a:moveTo>
                <a:cubicBezTo>
                  <a:pt x="253206" y="77054"/>
                  <a:pt x="202346" y="26194"/>
                  <a:pt x="139700" y="26194"/>
                </a:cubicBezTo>
                <a:cubicBezTo>
                  <a:pt x="77054" y="26194"/>
                  <a:pt x="26194" y="77054"/>
                  <a:pt x="26194" y="139700"/>
                </a:cubicBezTo>
                <a:cubicBezTo>
                  <a:pt x="26194" y="202346"/>
                  <a:pt x="77054" y="253206"/>
                  <a:pt x="139700" y="253206"/>
                </a:cubicBezTo>
                <a:cubicBezTo>
                  <a:pt x="202346" y="253206"/>
                  <a:pt x="253206" y="202346"/>
                  <a:pt x="253206" y="139700"/>
                </a:cubicBezTo>
                <a:close/>
                <a:moveTo>
                  <a:pt x="0" y="139700"/>
                </a:moveTo>
                <a:cubicBezTo>
                  <a:pt x="0" y="62597"/>
                  <a:pt x="62597" y="0"/>
                  <a:pt x="139700" y="0"/>
                </a:cubicBezTo>
                <a:cubicBezTo>
                  <a:pt x="216803" y="0"/>
                  <a:pt x="279400" y="62597"/>
                  <a:pt x="279400" y="139700"/>
                </a:cubicBezTo>
                <a:cubicBezTo>
                  <a:pt x="279400" y="216803"/>
                  <a:pt x="216803" y="279400"/>
                  <a:pt x="139700" y="279400"/>
                </a:cubicBezTo>
                <a:cubicBezTo>
                  <a:pt x="62597" y="279400"/>
                  <a:pt x="0" y="216803"/>
                  <a:pt x="0" y="139700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33" name="Text 31"/>
          <p:cNvSpPr/>
          <p:nvPr/>
        </p:nvSpPr>
        <p:spPr>
          <a:xfrm>
            <a:off x="1460500" y="65405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you map a </a:t>
            </a:r>
            <a:pPr>
              <a:lnSpc>
                <a:spcPct val="13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ER diagram</a:t>
            </a:r>
            <a:pPr>
              <a:lnSpc>
                <a:spcPct val="13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relational schemas with PKs and FKs?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45500" y="5143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53206" y="139700"/>
                </a:moveTo>
                <a:cubicBezTo>
                  <a:pt x="253206" y="77054"/>
                  <a:pt x="202346" y="26194"/>
                  <a:pt x="139700" y="26194"/>
                </a:cubicBezTo>
                <a:cubicBezTo>
                  <a:pt x="77054" y="26194"/>
                  <a:pt x="26194" y="77054"/>
                  <a:pt x="26194" y="139700"/>
                </a:cubicBezTo>
                <a:cubicBezTo>
                  <a:pt x="26194" y="202346"/>
                  <a:pt x="77054" y="253206"/>
                  <a:pt x="139700" y="253206"/>
                </a:cubicBezTo>
                <a:cubicBezTo>
                  <a:pt x="202346" y="253206"/>
                  <a:pt x="253206" y="202346"/>
                  <a:pt x="253206" y="139700"/>
                </a:cubicBezTo>
                <a:close/>
                <a:moveTo>
                  <a:pt x="0" y="139700"/>
                </a:moveTo>
                <a:cubicBezTo>
                  <a:pt x="0" y="62597"/>
                  <a:pt x="62597" y="0"/>
                  <a:pt x="139700" y="0"/>
                </a:cubicBezTo>
                <a:cubicBezTo>
                  <a:pt x="216803" y="0"/>
                  <a:pt x="279400" y="62597"/>
                  <a:pt x="279400" y="139700"/>
                </a:cubicBezTo>
                <a:cubicBezTo>
                  <a:pt x="279400" y="216803"/>
                  <a:pt x="216803" y="279400"/>
                  <a:pt x="139700" y="279400"/>
                </a:cubicBezTo>
                <a:cubicBezTo>
                  <a:pt x="62597" y="279400"/>
                  <a:pt x="0" y="216803"/>
                  <a:pt x="0" y="139700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35" name="Text 33"/>
          <p:cNvSpPr/>
          <p:nvPr/>
        </p:nvSpPr>
        <p:spPr>
          <a:xfrm>
            <a:off x="8826500" y="5080000"/>
            <a:ext cx="635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you explain the difference between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Chen and Crow's Foot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notation?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45500" y="5651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53206" y="139700"/>
                </a:moveTo>
                <a:cubicBezTo>
                  <a:pt x="253206" y="77054"/>
                  <a:pt x="202346" y="26194"/>
                  <a:pt x="139700" y="26194"/>
                </a:cubicBezTo>
                <a:cubicBezTo>
                  <a:pt x="77054" y="26194"/>
                  <a:pt x="26194" y="77054"/>
                  <a:pt x="26194" y="139700"/>
                </a:cubicBezTo>
                <a:cubicBezTo>
                  <a:pt x="26194" y="202346"/>
                  <a:pt x="77054" y="253206"/>
                  <a:pt x="139700" y="253206"/>
                </a:cubicBezTo>
                <a:cubicBezTo>
                  <a:pt x="202346" y="253206"/>
                  <a:pt x="253206" y="202346"/>
                  <a:pt x="253206" y="139700"/>
                </a:cubicBezTo>
                <a:close/>
                <a:moveTo>
                  <a:pt x="0" y="139700"/>
                </a:moveTo>
                <a:cubicBezTo>
                  <a:pt x="0" y="62597"/>
                  <a:pt x="62597" y="0"/>
                  <a:pt x="139700" y="0"/>
                </a:cubicBezTo>
                <a:cubicBezTo>
                  <a:pt x="216803" y="0"/>
                  <a:pt x="279400" y="62597"/>
                  <a:pt x="279400" y="139700"/>
                </a:cubicBezTo>
                <a:cubicBezTo>
                  <a:pt x="279400" y="216803"/>
                  <a:pt x="216803" y="279400"/>
                  <a:pt x="139700" y="279400"/>
                </a:cubicBezTo>
                <a:cubicBezTo>
                  <a:pt x="62597" y="279400"/>
                  <a:pt x="0" y="216803"/>
                  <a:pt x="0" y="139700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37" name="Text 35"/>
          <p:cNvSpPr/>
          <p:nvPr/>
        </p:nvSpPr>
        <p:spPr>
          <a:xfrm>
            <a:off x="8826500" y="5588000"/>
            <a:ext cx="635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you identify and fix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ER modeling mistakes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45500" y="6159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53206" y="139700"/>
                </a:moveTo>
                <a:cubicBezTo>
                  <a:pt x="253206" y="77054"/>
                  <a:pt x="202346" y="26194"/>
                  <a:pt x="139700" y="26194"/>
                </a:cubicBezTo>
                <a:cubicBezTo>
                  <a:pt x="77054" y="26194"/>
                  <a:pt x="26194" y="77054"/>
                  <a:pt x="26194" y="139700"/>
                </a:cubicBezTo>
                <a:cubicBezTo>
                  <a:pt x="26194" y="202346"/>
                  <a:pt x="77054" y="253206"/>
                  <a:pt x="139700" y="253206"/>
                </a:cubicBezTo>
                <a:cubicBezTo>
                  <a:pt x="202346" y="253206"/>
                  <a:pt x="253206" y="202346"/>
                  <a:pt x="253206" y="139700"/>
                </a:cubicBezTo>
                <a:close/>
                <a:moveTo>
                  <a:pt x="0" y="139700"/>
                </a:moveTo>
                <a:cubicBezTo>
                  <a:pt x="0" y="62597"/>
                  <a:pt x="62597" y="0"/>
                  <a:pt x="139700" y="0"/>
                </a:cubicBezTo>
                <a:cubicBezTo>
                  <a:pt x="216803" y="0"/>
                  <a:pt x="279400" y="62597"/>
                  <a:pt x="279400" y="139700"/>
                </a:cubicBezTo>
                <a:cubicBezTo>
                  <a:pt x="279400" y="216803"/>
                  <a:pt x="216803" y="279400"/>
                  <a:pt x="139700" y="279400"/>
                </a:cubicBezTo>
                <a:cubicBezTo>
                  <a:pt x="62597" y="279400"/>
                  <a:pt x="0" y="216803"/>
                  <a:pt x="0" y="139700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39" name="Text 37"/>
          <p:cNvSpPr/>
          <p:nvPr/>
        </p:nvSpPr>
        <p:spPr>
          <a:xfrm>
            <a:off x="8826500" y="6096000"/>
            <a:ext cx="635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you choose the right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specialization mapping option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79500" y="72390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i="1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exercises: Try drawing ER diagrams for a Library system (Books, Members, Loans) and a Hospital system (Patients, Doctors, Appointments, Treatments), then map them to relational schemas using the 7-step algorithm.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8A9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429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spc="6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0" y="4572000"/>
            <a:ext cx="2540000" cy="25400"/>
          </a:xfrm>
          <a:prstGeom prst="rect">
            <a:avLst/>
          </a:prstGeom>
          <a:solidFill>
            <a:srgbClr val="C4933F"/>
          </a:solidFill>
          <a:ln/>
        </p:spPr>
      </p:sp>
      <p:sp>
        <p:nvSpPr>
          <p:cNvPr id="5" name="Text 3"/>
          <p:cNvSpPr/>
          <p:nvPr/>
        </p:nvSpPr>
        <p:spPr>
          <a:xfrm>
            <a:off x="2413000" y="4889500"/>
            <a:ext cx="1143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3 Complete — Practice ER modeling and mapping exercises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8A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the next session. Questions?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7874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25098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Systems | Computer Science Department | Spring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 - Week 3: ER Practice &amp; ER-to-Relational Mapping</dc:title>
  <dc:subject>Database Systems - Week 3: ER Practice &amp; ER-to-Relational Mapping</dc:subject>
  <dc:creator>Kimi</dc:creator>
  <cp:lastModifiedBy>Kimi</cp:lastModifiedBy>
  <cp:revision>1</cp:revision>
  <dcterms:created xsi:type="dcterms:W3CDTF">2026-05-22T09:42:34Z</dcterms:created>
  <dcterms:modified xsi:type="dcterms:W3CDTF">2026-05-22T09:42:34Z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{"Label":"Database Systems - Week 3: ER Practice &amp; ER-to-Relational Mapping","ContentProducer":"001191110108MACG2KBH8F10000","ProduceID":"19e4f090-2fb2-8922-8000-0000abefb741","ReservedCode1":"","ContentPropagator":"001191110108MACG2KBH8F20000","PropagateID":"19e4f090-2fb2-8922-8000-0000abefb741","ReservedCode2":""}</vt:lpwstr>
  </property>
</Properties>
</file>