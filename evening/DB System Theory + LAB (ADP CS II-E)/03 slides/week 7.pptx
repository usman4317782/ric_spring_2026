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Liter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90000" cy="9144000"/>
          </a:xfrm>
          <a:prstGeom prst="rect">
            <a:avLst/>
          </a:prstGeom>
          <a:solidFill>
            <a:srgbClr val="0D5C4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4318000"/>
            <a:ext cx="101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2794000"/>
            <a:ext cx="736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200" b="1" spc="300" kern="0" dirty="0">
                <a:solidFill>
                  <a:srgbClr val="F4F1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4200" b="1" spc="300" kern="0" dirty="0">
                <a:solidFill>
                  <a:srgbClr val="F4F1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SQL (DML)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62000" y="4699000"/>
            <a:ext cx="736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B8D4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Manipulation Language Basics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398000" y="2540000"/>
            <a:ext cx="2032000" cy="457200"/>
          </a:xfrm>
          <a:prstGeom prst="roundRect">
            <a:avLst>
              <a:gd name="adj" fmla="val 8000"/>
            </a:avLst>
          </a:prstGeom>
          <a:solidFill>
            <a:srgbClr val="0D5C4F"/>
          </a:solidFill>
          <a:ln/>
        </p:spPr>
      </p:sp>
      <p:sp>
        <p:nvSpPr>
          <p:cNvPr id="7" name="Text 5"/>
          <p:cNvSpPr/>
          <p:nvPr/>
        </p:nvSpPr>
        <p:spPr>
          <a:xfrm>
            <a:off x="9398000" y="25400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8000" y="3302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13 &amp; 14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98000" y="3937000"/>
            <a:ext cx="584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4191000"/>
            <a:ext cx="584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SQL DML Basics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Statement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Clause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Comparison Operators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NULL Values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98000" y="73660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0" y="7747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"Finding customer records from a shopping website database."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SQL?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803400"/>
            <a:ext cx="685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stands for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Structured Query Language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47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IS USED 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2857500"/>
            <a:ext cx="685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Store data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Retrieve data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Update data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Delete data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5080000"/>
            <a:ext cx="6858000" cy="3175000"/>
          </a:xfrm>
          <a:prstGeom prst="roundRect">
            <a:avLst>
              <a:gd name="adj" fmla="val 6000"/>
            </a:avLst>
          </a:prstGeom>
          <a:solidFill>
            <a:srgbClr val="0D5C4F">
              <a:alpha val="7059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5270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9500" y="5651500"/>
            <a:ext cx="6223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Banks use SQL databases to manage: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Customer accounts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Transactions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ATM records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588500" y="2286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889000" y="408384"/>
                </a:moveTo>
                <a:cubicBezTo>
                  <a:pt x="859631" y="427831"/>
                  <a:pt x="825897" y="443508"/>
                  <a:pt x="790773" y="456009"/>
                </a:cubicBezTo>
                <a:cubicBezTo>
                  <a:pt x="697508" y="489347"/>
                  <a:pt x="575072" y="508000"/>
                  <a:pt x="444500" y="508000"/>
                </a:cubicBezTo>
                <a:cubicBezTo>
                  <a:pt x="313928" y="508000"/>
                  <a:pt x="191294" y="489148"/>
                  <a:pt x="98227" y="456009"/>
                </a:cubicBezTo>
                <a:cubicBezTo>
                  <a:pt x="63302" y="443508"/>
                  <a:pt x="29369" y="427831"/>
                  <a:pt x="0" y="408384"/>
                </a:cubicBezTo>
                <a:lnTo>
                  <a:pt x="0" y="571500"/>
                </a:lnTo>
                <a:cubicBezTo>
                  <a:pt x="0" y="659209"/>
                  <a:pt x="199033" y="730250"/>
                  <a:pt x="444500" y="730250"/>
                </a:cubicBezTo>
                <a:cubicBezTo>
                  <a:pt x="689967" y="730250"/>
                  <a:pt x="889000" y="659209"/>
                  <a:pt x="889000" y="571500"/>
                </a:cubicBezTo>
                <a:lnTo>
                  <a:pt x="889000" y="408384"/>
                </a:lnTo>
                <a:close/>
                <a:moveTo>
                  <a:pt x="889000" y="254000"/>
                </a:moveTo>
                <a:lnTo>
                  <a:pt x="889000" y="158750"/>
                </a:lnTo>
                <a:cubicBezTo>
                  <a:pt x="889000" y="71041"/>
                  <a:pt x="689967" y="0"/>
                  <a:pt x="444500" y="0"/>
                </a:cubicBezTo>
                <a:cubicBezTo>
                  <a:pt x="199033" y="0"/>
                  <a:pt x="0" y="71041"/>
                  <a:pt x="0" y="158750"/>
                </a:cubicBezTo>
                <a:lnTo>
                  <a:pt x="0" y="254000"/>
                </a:lnTo>
                <a:cubicBezTo>
                  <a:pt x="0" y="341709"/>
                  <a:pt x="199033" y="412750"/>
                  <a:pt x="444500" y="412750"/>
                </a:cubicBezTo>
                <a:cubicBezTo>
                  <a:pt x="689967" y="412750"/>
                  <a:pt x="889000" y="341709"/>
                  <a:pt x="889000" y="254000"/>
                </a:cubicBezTo>
                <a:close/>
                <a:moveTo>
                  <a:pt x="790773" y="773509"/>
                </a:moveTo>
                <a:cubicBezTo>
                  <a:pt x="697706" y="806648"/>
                  <a:pt x="575270" y="825500"/>
                  <a:pt x="444500" y="825500"/>
                </a:cubicBezTo>
                <a:cubicBezTo>
                  <a:pt x="313730" y="825500"/>
                  <a:pt x="191294" y="806648"/>
                  <a:pt x="98227" y="773509"/>
                </a:cubicBezTo>
                <a:cubicBezTo>
                  <a:pt x="63302" y="761008"/>
                  <a:pt x="29369" y="745331"/>
                  <a:pt x="0" y="725884"/>
                </a:cubicBezTo>
                <a:lnTo>
                  <a:pt x="0" y="857250"/>
                </a:lnTo>
                <a:cubicBezTo>
                  <a:pt x="0" y="944959"/>
                  <a:pt x="199033" y="1016000"/>
                  <a:pt x="444500" y="1016000"/>
                </a:cubicBezTo>
                <a:cubicBezTo>
                  <a:pt x="689967" y="1016000"/>
                  <a:pt x="889000" y="944959"/>
                  <a:pt x="889000" y="857250"/>
                </a:cubicBezTo>
                <a:lnTo>
                  <a:pt x="889000" y="725884"/>
                </a:lnTo>
                <a:cubicBezTo>
                  <a:pt x="859631" y="745331"/>
                  <a:pt x="825897" y="761008"/>
                  <a:pt x="790773" y="773509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36830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is the standard language for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communicating with databases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almost every industry.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63000" y="5842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0D5C4F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5842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287000" y="5842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1E2328"/>
          </a:solidFill>
          <a:ln/>
        </p:spPr>
      </p:sp>
      <p:sp>
        <p:nvSpPr>
          <p:cNvPr id="16" name="Text 14"/>
          <p:cNvSpPr/>
          <p:nvPr/>
        </p:nvSpPr>
        <p:spPr>
          <a:xfrm>
            <a:off x="10287000" y="5842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11000" y="5842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1E2328"/>
          </a:solidFill>
          <a:ln/>
        </p:spPr>
      </p:sp>
      <p:sp>
        <p:nvSpPr>
          <p:cNvPr id="18" name="Text 16"/>
          <p:cNvSpPr/>
          <p:nvPr/>
        </p:nvSpPr>
        <p:spPr>
          <a:xfrm>
            <a:off x="11811000" y="5842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335000" y="5842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1E2328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0" y="5842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DML?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DML DEFINITION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DML stands for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Manipulation Language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used to work with data inside tables.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921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DML COMMANDS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33655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0D5C4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3365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76500" y="33655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1E2328"/>
          </a:solidFill>
          <a:ln/>
        </p:spPr>
      </p:sp>
      <p:sp>
        <p:nvSpPr>
          <p:cNvPr id="10" name="Text 8"/>
          <p:cNvSpPr/>
          <p:nvPr/>
        </p:nvSpPr>
        <p:spPr>
          <a:xfrm>
            <a:off x="2476500" y="3365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91000" y="33655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1E2328"/>
          </a:solidFill>
          <a:ln/>
        </p:spPr>
      </p:sp>
      <p:sp>
        <p:nvSpPr>
          <p:cNvPr id="12" name="Text 10"/>
          <p:cNvSpPr/>
          <p:nvPr/>
        </p:nvSpPr>
        <p:spPr>
          <a:xfrm>
            <a:off x="4191000" y="3365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05500" y="33655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1E2328"/>
          </a:solidFill>
          <a:ln/>
        </p:spPr>
      </p:sp>
      <p:sp>
        <p:nvSpPr>
          <p:cNvPr id="14" name="Text 12"/>
          <p:cNvSpPr/>
          <p:nvPr/>
        </p:nvSpPr>
        <p:spPr>
          <a:xfrm>
            <a:off x="5905500" y="3365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360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DIAGRAM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906000" y="2159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0D5C4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0" y="2159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49000" y="2921000"/>
            <a:ext cx="0" cy="63500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9906000" y="3683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1E2328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3683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049000" y="4445000"/>
            <a:ext cx="0" cy="63500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144000" y="5207000"/>
            <a:ext cx="4064000" cy="762000"/>
          </a:xfrm>
          <a:prstGeom prst="roundRect">
            <a:avLst>
              <a:gd name="adj" fmla="val 10000"/>
            </a:avLst>
          </a:prstGeom>
          <a:solidFill>
            <a:srgbClr val="D4763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5207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Manipulation (DML)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SELECT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841500"/>
            <a:ext cx="685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 statement is used to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retrieve data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a table.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603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984500"/>
            <a:ext cx="6858000" cy="1143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1115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column_name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4445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4826000"/>
            <a:ext cx="6858000" cy="1143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953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6223000"/>
            <a:ext cx="685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retrieves names of all students.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239375" y="2540000"/>
            <a:ext cx="1111250" cy="1270000"/>
          </a:xfrm>
          <a:custGeom>
            <a:avLst/>
            <a:gdLst/>
            <a:ahLst/>
            <a:cxnLst/>
            <a:rect l="l" t="t" r="r" b="b"/>
            <a:pathLst>
              <a:path w="1111250" h="1270000">
                <a:moveTo>
                  <a:pt x="635000" y="396875"/>
                </a:moveTo>
                <a:lnTo>
                  <a:pt x="635000" y="635000"/>
                </a:lnTo>
                <a:lnTo>
                  <a:pt x="952500" y="635000"/>
                </a:lnTo>
                <a:lnTo>
                  <a:pt x="952500" y="396875"/>
                </a:lnTo>
                <a:lnTo>
                  <a:pt x="635000" y="396875"/>
                </a:lnTo>
                <a:close/>
                <a:moveTo>
                  <a:pt x="476250" y="396875"/>
                </a:moveTo>
                <a:lnTo>
                  <a:pt x="158750" y="396875"/>
                </a:lnTo>
                <a:lnTo>
                  <a:pt x="158750" y="635000"/>
                </a:lnTo>
                <a:lnTo>
                  <a:pt x="476250" y="635000"/>
                </a:lnTo>
                <a:lnTo>
                  <a:pt x="476250" y="396875"/>
                </a:lnTo>
                <a:close/>
                <a:moveTo>
                  <a:pt x="0" y="793750"/>
                </a:moveTo>
                <a:lnTo>
                  <a:pt x="0" y="238125"/>
                </a:lnTo>
                <a:cubicBezTo>
                  <a:pt x="0" y="150564"/>
                  <a:pt x="71189" y="79375"/>
                  <a:pt x="158750" y="79375"/>
                </a:cubicBezTo>
                <a:lnTo>
                  <a:pt x="952500" y="79375"/>
                </a:lnTo>
                <a:cubicBezTo>
                  <a:pt x="1040061" y="79375"/>
                  <a:pt x="1111250" y="150564"/>
                  <a:pt x="1111250" y="238125"/>
                </a:cubicBezTo>
                <a:lnTo>
                  <a:pt x="1111250" y="1031875"/>
                </a:lnTo>
                <a:cubicBezTo>
                  <a:pt x="1111250" y="1119436"/>
                  <a:pt x="1040061" y="1190625"/>
                  <a:pt x="952500" y="1190625"/>
                </a:cubicBezTo>
                <a:lnTo>
                  <a:pt x="158750" y="1190625"/>
                </a:lnTo>
                <a:cubicBezTo>
                  <a:pt x="71189" y="1190625"/>
                  <a:pt x="0" y="1119436"/>
                  <a:pt x="0" y="1031875"/>
                </a:cubicBezTo>
                <a:lnTo>
                  <a:pt x="0" y="793750"/>
                </a:lnTo>
                <a:close/>
                <a:moveTo>
                  <a:pt x="952500" y="793750"/>
                </a:moveTo>
                <a:lnTo>
                  <a:pt x="635000" y="793750"/>
                </a:lnTo>
                <a:lnTo>
                  <a:pt x="635000" y="1031875"/>
                </a:lnTo>
                <a:lnTo>
                  <a:pt x="952500" y="1031875"/>
                </a:lnTo>
                <a:lnTo>
                  <a:pt x="952500" y="793750"/>
                </a:lnTo>
                <a:close/>
                <a:moveTo>
                  <a:pt x="476250" y="1031875"/>
                </a:moveTo>
                <a:lnTo>
                  <a:pt x="476250" y="793750"/>
                </a:lnTo>
                <a:lnTo>
                  <a:pt x="158750" y="793750"/>
                </a:lnTo>
                <a:lnTo>
                  <a:pt x="158750" y="1031875"/>
                </a:lnTo>
                <a:lnTo>
                  <a:pt x="476250" y="1031875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4318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SELECT statement is the most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 and frequently used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command in SQL.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STUDENT 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 will use this table in upcoming examples.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2159000"/>
          <a:ext cx="11176000" cy="3175000"/>
        </p:xfrm>
        <a:graphic>
          <a:graphicData uri="http://schemas.openxmlformats.org/drawingml/2006/table">
            <a:tbl>
              <a:tblPr/>
              <a:tblGrid>
                <a:gridCol w="2794000"/>
                <a:gridCol w="2794000"/>
                <a:gridCol w="2794000"/>
                <a:gridCol w="2794000"/>
              </a:tblGrid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Karachi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Islamabad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540000" y="5588000"/>
            <a:ext cx="1117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Table: students — 3 records with 4 columns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09625" y="27940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381000" y="238125"/>
                </a:moveTo>
                <a:lnTo>
                  <a:pt x="381000" y="381000"/>
                </a:lnTo>
                <a:lnTo>
                  <a:pt x="571500" y="381000"/>
                </a:lnTo>
                <a:lnTo>
                  <a:pt x="571500" y="238125"/>
                </a:lnTo>
                <a:lnTo>
                  <a:pt x="381000" y="238125"/>
                </a:lnTo>
                <a:close/>
                <a:moveTo>
                  <a:pt x="285750" y="238125"/>
                </a:moveTo>
                <a:lnTo>
                  <a:pt x="95250" y="238125"/>
                </a:lnTo>
                <a:lnTo>
                  <a:pt x="95250" y="381000"/>
                </a:lnTo>
                <a:lnTo>
                  <a:pt x="285750" y="381000"/>
                </a:lnTo>
                <a:lnTo>
                  <a:pt x="285750" y="238125"/>
                </a:lnTo>
                <a:close/>
                <a:moveTo>
                  <a:pt x="0" y="476250"/>
                </a:moveTo>
                <a:lnTo>
                  <a:pt x="0" y="142875"/>
                </a:lnTo>
                <a:cubicBezTo>
                  <a:pt x="0" y="90339"/>
                  <a:pt x="42714" y="47625"/>
                  <a:pt x="95250" y="47625"/>
                </a:cubicBezTo>
                <a:lnTo>
                  <a:pt x="571500" y="47625"/>
                </a:lnTo>
                <a:cubicBezTo>
                  <a:pt x="624036" y="47625"/>
                  <a:pt x="666750" y="90339"/>
                  <a:pt x="666750" y="142875"/>
                </a:cubicBezTo>
                <a:lnTo>
                  <a:pt x="666750" y="619125"/>
                </a:lnTo>
                <a:cubicBezTo>
                  <a:pt x="666750" y="671661"/>
                  <a:pt x="624036" y="714375"/>
                  <a:pt x="571500" y="714375"/>
                </a:cubicBezTo>
                <a:lnTo>
                  <a:pt x="95250" y="714375"/>
                </a:lnTo>
                <a:cubicBezTo>
                  <a:pt x="42714" y="714375"/>
                  <a:pt x="0" y="671661"/>
                  <a:pt x="0" y="619125"/>
                </a:cubicBezTo>
                <a:lnTo>
                  <a:pt x="0" y="476250"/>
                </a:lnTo>
                <a:close/>
                <a:moveTo>
                  <a:pt x="571500" y="476250"/>
                </a:moveTo>
                <a:lnTo>
                  <a:pt x="381000" y="476250"/>
                </a:lnTo>
                <a:lnTo>
                  <a:pt x="381000" y="619125"/>
                </a:lnTo>
                <a:lnTo>
                  <a:pt x="571500" y="619125"/>
                </a:lnTo>
                <a:lnTo>
                  <a:pt x="571500" y="476250"/>
                </a:lnTo>
                <a:close/>
                <a:moveTo>
                  <a:pt x="285750" y="619125"/>
                </a:moveTo>
                <a:lnTo>
                  <a:pt x="285750" y="476250"/>
                </a:lnTo>
                <a:lnTo>
                  <a:pt x="95250" y="476250"/>
                </a:lnTo>
                <a:lnTo>
                  <a:pt x="95250" y="619125"/>
                </a:lnTo>
                <a:lnTo>
                  <a:pt x="285750" y="619125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8" name="Shape 5"/>
          <p:cNvSpPr/>
          <p:nvPr/>
        </p:nvSpPr>
        <p:spPr>
          <a:xfrm>
            <a:off x="2540000" y="6477000"/>
            <a:ext cx="11176000" cy="1651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857500" y="660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 DETAILS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57500" y="6985000"/>
            <a:ext cx="1054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student_id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Unique identifier for each student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Student's name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Student's city |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Student's score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SELECTING ONE COLUMN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685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238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683000"/>
          <a:ext cx="3810000" cy="2032000"/>
        </p:xfrm>
        <a:graphic>
          <a:graphicData uri="http://schemas.openxmlformats.org/drawingml/2006/table">
            <a:tbl>
              <a:tblPr/>
              <a:tblGrid>
                <a:gridCol w="3810000"/>
              </a:tblGrid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9055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... and Ahmed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62000" y="6604000"/>
            <a:ext cx="6858000" cy="1651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079500" y="679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79500" y="7175500"/>
            <a:ext cx="6223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School administration retrieving only student names from the database.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033000" y="2540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336153" y="997347"/>
                </a:moveTo>
                <a:cubicBezTo>
                  <a:pt x="360958" y="1022152"/>
                  <a:pt x="401241" y="1022152"/>
                  <a:pt x="426045" y="997347"/>
                </a:cubicBezTo>
                <a:lnTo>
                  <a:pt x="743545" y="679847"/>
                </a:lnTo>
                <a:cubicBezTo>
                  <a:pt x="768350" y="655042"/>
                  <a:pt x="768350" y="614759"/>
                  <a:pt x="743545" y="589955"/>
                </a:cubicBezTo>
                <a:cubicBezTo>
                  <a:pt x="718741" y="565150"/>
                  <a:pt x="678458" y="565150"/>
                  <a:pt x="653653" y="589955"/>
                </a:cubicBezTo>
                <a:lnTo>
                  <a:pt x="444500" y="799108"/>
                </a:lnTo>
                <a:lnTo>
                  <a:pt x="444500" y="63500"/>
                </a:lnTo>
                <a:cubicBezTo>
                  <a:pt x="444500" y="28377"/>
                  <a:pt x="416123" y="0"/>
                  <a:pt x="381000" y="0"/>
                </a:cubicBezTo>
                <a:cubicBezTo>
                  <a:pt x="345877" y="0"/>
                  <a:pt x="317500" y="28377"/>
                  <a:pt x="317500" y="63500"/>
                </a:cubicBezTo>
                <a:lnTo>
                  <a:pt x="317500" y="799108"/>
                </a:lnTo>
                <a:lnTo>
                  <a:pt x="108347" y="589955"/>
                </a:lnTo>
                <a:cubicBezTo>
                  <a:pt x="83542" y="565150"/>
                  <a:pt x="43259" y="565150"/>
                  <a:pt x="18455" y="589955"/>
                </a:cubicBezTo>
                <a:cubicBezTo>
                  <a:pt x="-6350" y="614759"/>
                  <a:pt x="-6350" y="655042"/>
                  <a:pt x="18455" y="679847"/>
                </a:cubicBezTo>
                <a:lnTo>
                  <a:pt x="335955" y="997347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4" name="Text 11"/>
          <p:cNvSpPr/>
          <p:nvPr/>
        </p:nvSpPr>
        <p:spPr>
          <a:xfrm>
            <a:off x="8636000" y="3937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Specify the exact column name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SELECT to retrieve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that column's data.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SELECTING MULTIPLE COLUMNS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685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name, city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238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683000"/>
          <a:ext cx="5080000" cy="2032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Karachi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905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... and Ahmed — Islamabad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62000" y="6604000"/>
            <a:ext cx="6858000" cy="1651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27125" y="6921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2" name="Text 9"/>
          <p:cNvSpPr/>
          <p:nvPr/>
        </p:nvSpPr>
        <p:spPr>
          <a:xfrm>
            <a:off x="1651000" y="6794500"/>
            <a:ext cx="56515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Separate multiple column names with commas. The order in SELECT determines the order in output.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350500" y="3048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0" y="190500"/>
                </a:moveTo>
                <a:cubicBezTo>
                  <a:pt x="0" y="120452"/>
                  <a:pt x="56952" y="63500"/>
                  <a:pt x="127000" y="63500"/>
                </a:cubicBezTo>
                <a:lnTo>
                  <a:pt x="762000" y="63500"/>
                </a:lnTo>
                <a:cubicBezTo>
                  <a:pt x="832048" y="63500"/>
                  <a:pt x="889000" y="120452"/>
                  <a:pt x="889000" y="190500"/>
                </a:cubicBezTo>
                <a:lnTo>
                  <a:pt x="889000" y="825500"/>
                </a:lnTo>
                <a:cubicBezTo>
                  <a:pt x="889000" y="895548"/>
                  <a:pt x="832048" y="952500"/>
                  <a:pt x="762000" y="952500"/>
                </a:cubicBezTo>
                <a:lnTo>
                  <a:pt x="127000" y="952500"/>
                </a:lnTo>
                <a:cubicBezTo>
                  <a:pt x="56952" y="952500"/>
                  <a:pt x="0" y="895548"/>
                  <a:pt x="0" y="825500"/>
                </a:cubicBezTo>
                <a:lnTo>
                  <a:pt x="0" y="190500"/>
                </a:lnTo>
                <a:close/>
                <a:moveTo>
                  <a:pt x="127000" y="317500"/>
                </a:moveTo>
                <a:lnTo>
                  <a:pt x="127000" y="825500"/>
                </a:lnTo>
                <a:lnTo>
                  <a:pt x="381000" y="825500"/>
                </a:lnTo>
                <a:lnTo>
                  <a:pt x="381000" y="317500"/>
                </a:lnTo>
                <a:lnTo>
                  <a:pt x="127000" y="317500"/>
                </a:lnTo>
                <a:close/>
                <a:moveTo>
                  <a:pt x="762000" y="317500"/>
                </a:moveTo>
                <a:lnTo>
                  <a:pt x="508000" y="317500"/>
                </a:lnTo>
                <a:lnTo>
                  <a:pt x="508000" y="825500"/>
                </a:lnTo>
                <a:lnTo>
                  <a:pt x="762000" y="825500"/>
                </a:lnTo>
                <a:lnTo>
                  <a:pt x="762000" y="317500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4" name="Text 11"/>
          <p:cNvSpPr/>
          <p:nvPr/>
        </p:nvSpPr>
        <p:spPr>
          <a:xfrm>
            <a:off x="8636000" y="4572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List all desired columns separated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commas to retrieve multiple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fields at once.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WILDCARD (*) IN 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6858000" cy="14605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006600"/>
            <a:ext cx="622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wildcard </a:t>
            </a:r>
            <a:pPr>
              <a:lnSpc>
                <a:spcPct val="160000"/>
              </a:lnSpc>
            </a:pPr>
            <a:r>
              <a:rPr lang="en-US" sz="2800" b="1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means: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"Select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columns from the table."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429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5270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57275" y="558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54610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shorthand that saves you from typing all column names individually.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890000" y="1905000"/>
            <a:ext cx="6350000" cy="317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0" dirty="0">
                <a:solidFill>
                  <a:srgbClr val="0D5C4F">
                    <a:alpha val="1254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0" y="5334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* when you need to see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available data at once.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OF SELECT *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1524000"/>
          <a:ext cx="11176000" cy="3175000"/>
        </p:xfrm>
        <a:graphic>
          <a:graphicData uri="http://schemas.openxmlformats.org/drawingml/2006/table">
            <a:tbl>
              <a:tblPr/>
              <a:tblGrid>
                <a:gridCol w="2794000"/>
                <a:gridCol w="2794000"/>
                <a:gridCol w="2794000"/>
                <a:gridCol w="2794000"/>
              </a:tblGrid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Karachi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Islamabad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2070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5651500"/>
            <a:ext cx="6858000" cy="127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103313" y="5969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5842000"/>
            <a:ext cx="571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Quickly retrieves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data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the table.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36000" y="520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USED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36000" y="5651500"/>
            <a:ext cx="6350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11" name="Text 8"/>
          <p:cNvSpPr/>
          <p:nvPr/>
        </p:nvSpPr>
        <p:spPr>
          <a:xfrm>
            <a:off x="8890000" y="5778500"/>
            <a:ext cx="584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WILDCARD (*) VS ATTRIBUTE 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12000" cy="6731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587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1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WILDCARD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79500" y="2159000"/>
            <a:ext cx="6477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2286000"/>
            <a:ext cx="5969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3429000"/>
            <a:ext cx="647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Retrieves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columns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9500" y="4064000"/>
          <a:ext cx="6477000" cy="2286000"/>
        </p:xfrm>
        <a:graphic>
          <a:graphicData uri="http://schemas.openxmlformats.org/drawingml/2006/table">
            <a:tbl>
              <a:tblPr/>
              <a:tblGrid>
                <a:gridCol w="1619250"/>
                <a:gridCol w="1619250"/>
                <a:gridCol w="1619250"/>
                <a:gridCol w="16192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Karachi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079500" y="66040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Gets everything at once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Useful for exploration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More data transfer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382000" y="1397000"/>
            <a:ext cx="7112000" cy="6731000"/>
          </a:xfrm>
          <a:prstGeom prst="roundRect">
            <a:avLst>
              <a:gd name="adj" fmla="val 6000"/>
            </a:avLst>
          </a:prstGeom>
          <a:solidFill>
            <a:srgbClr val="D4763A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699500" y="15875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ATTRIBUTE LIST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99500" y="2159000"/>
            <a:ext cx="6477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14" name="Text 11"/>
          <p:cNvSpPr/>
          <p:nvPr/>
        </p:nvSpPr>
        <p:spPr>
          <a:xfrm>
            <a:off x="8953500" y="2286000"/>
            <a:ext cx="5969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name, marks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students;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99500" y="3429000"/>
            <a:ext cx="647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Retrieves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selected columns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only.</a:t>
            </a:r>
            <a:endParaRPr lang="en-US" sz="2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99500" y="4064000"/>
          <a:ext cx="4318000" cy="2286000"/>
        </p:xfrm>
        <a:graphic>
          <a:graphicData uri="http://schemas.openxmlformats.org/drawingml/2006/table">
            <a:tbl>
              <a:tblPr/>
              <a:tblGrid>
                <a:gridCol w="2159000"/>
                <a:gridCol w="21590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8699500" y="66040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Gets only needed data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Better performance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Used in production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TABLE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651000"/>
          <a:ext cx="13716000" cy="4826000"/>
        </p:xfrm>
        <a:graphic>
          <a:graphicData uri="http://schemas.openxmlformats.org/drawingml/2006/table">
            <a:tbl>
              <a:tblPr/>
              <a:tblGrid>
                <a:gridCol w="4800600"/>
                <a:gridCol w="4457700"/>
                <a:gridCol w="4457700"/>
              </a:tblGrid>
              <a:tr h="7726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Wildcard (*)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 List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1013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Columns Retrieved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columns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Specific columns only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3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Volume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data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data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1013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Performance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Slower for large tables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1333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Used For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Testing, exploration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Professional systems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270000" y="6858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587500" y="717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7" name="Text 4"/>
          <p:cNvSpPr/>
          <p:nvPr/>
        </p:nvSpPr>
        <p:spPr>
          <a:xfrm>
            <a:off x="2095500" y="6985000"/>
            <a:ext cx="1257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production environments, always specify the exact columns you need instead of using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*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This improves query performance and makes your code more maintainable.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— UNIVERSITY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*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7112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32000"/>
            <a:ext cx="660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teachers;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3556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Salary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Address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Phone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Department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128000" y="1460500"/>
            <a:ext cx="25400" cy="63500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4605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ATTRIBUTE LIST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0" y="1905000"/>
            <a:ext cx="6858000" cy="1016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0" y="2032000"/>
            <a:ext cx="635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name, department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teachers;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6000" y="3175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36000" y="3619500"/>
            <a:ext cx="6858000" cy="1270000"/>
          </a:xfrm>
          <a:prstGeom prst="roundRect">
            <a:avLst>
              <a:gd name="adj" fmla="val 6000"/>
            </a:avLst>
          </a:prstGeom>
          <a:solidFill>
            <a:srgbClr val="D4763A">
              <a:alpha val="627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0" y="37465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department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columns.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36000" y="5207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More efficient when you only need specific information about teachers.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WHERE CLAUSE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7620000" cy="1016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0066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WHERE clause is used to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filter records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based on conditions.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7620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8735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column_name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condition;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41000" y="2286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79375" y="158750"/>
                </a:moveTo>
                <a:cubicBezTo>
                  <a:pt x="47377" y="158750"/>
                  <a:pt x="18355" y="178098"/>
                  <a:pt x="5953" y="207863"/>
                </a:cubicBezTo>
                <a:cubicBezTo>
                  <a:pt x="-6449" y="237629"/>
                  <a:pt x="496" y="271611"/>
                  <a:pt x="23316" y="294184"/>
                </a:cubicBezTo>
                <a:lnTo>
                  <a:pt x="476250" y="747365"/>
                </a:lnTo>
                <a:lnTo>
                  <a:pt x="476250" y="1031875"/>
                </a:lnTo>
                <a:cubicBezTo>
                  <a:pt x="476250" y="1052959"/>
                  <a:pt x="484684" y="1073051"/>
                  <a:pt x="499566" y="1087934"/>
                </a:cubicBezTo>
                <a:lnTo>
                  <a:pt x="658316" y="1246684"/>
                </a:lnTo>
                <a:cubicBezTo>
                  <a:pt x="681137" y="1269504"/>
                  <a:pt x="715119" y="1276201"/>
                  <a:pt x="744885" y="1263799"/>
                </a:cubicBezTo>
                <a:cubicBezTo>
                  <a:pt x="774650" y="1251396"/>
                  <a:pt x="793750" y="1222623"/>
                  <a:pt x="793750" y="1190625"/>
                </a:cubicBezTo>
                <a:lnTo>
                  <a:pt x="793750" y="747365"/>
                </a:lnTo>
                <a:lnTo>
                  <a:pt x="1246684" y="294432"/>
                </a:lnTo>
                <a:cubicBezTo>
                  <a:pt x="1269504" y="271611"/>
                  <a:pt x="1276201" y="237629"/>
                  <a:pt x="1263799" y="207863"/>
                </a:cubicBezTo>
                <a:cubicBezTo>
                  <a:pt x="1251396" y="178098"/>
                  <a:pt x="1222623" y="158750"/>
                  <a:pt x="1190625" y="158750"/>
                </a:cubicBezTo>
                <a:lnTo>
                  <a:pt x="79375" y="158750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4064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Think of WHERE as a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filter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keeps only the rows that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match your condition.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5651500"/>
            <a:ext cx="7620000" cy="1016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778500"/>
            <a:ext cx="647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WHERE comes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in the query order.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CLAUSE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68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city =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E91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'Lahore'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619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64000"/>
          <a:ext cx="6858000" cy="12700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62000" y="5651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the record where city equals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'Lahore'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returned.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636000" y="18415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953500" y="2032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CONDITION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953500" y="2476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city = 'Lahore'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checks each row's city column. Only rows matching this condition are included in the result.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1176000" y="5334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25500" y="412750"/>
                </a:moveTo>
                <a:cubicBezTo>
                  <a:pt x="825500" y="503833"/>
                  <a:pt x="795933" y="587970"/>
                  <a:pt x="746125" y="656233"/>
                </a:cubicBezTo>
                <a:lnTo>
                  <a:pt x="997347" y="907653"/>
                </a:lnTo>
                <a:cubicBezTo>
                  <a:pt x="1022152" y="932458"/>
                  <a:pt x="1022152" y="972741"/>
                  <a:pt x="997347" y="997545"/>
                </a:cubicBezTo>
                <a:cubicBezTo>
                  <a:pt x="972542" y="1022350"/>
                  <a:pt x="932259" y="1022350"/>
                  <a:pt x="907455" y="997545"/>
                </a:cubicBezTo>
                <a:lnTo>
                  <a:pt x="656233" y="746125"/>
                </a:lnTo>
                <a:cubicBezTo>
                  <a:pt x="587970" y="795933"/>
                  <a:pt x="503833" y="825500"/>
                  <a:pt x="412750" y="825500"/>
                </a:cubicBezTo>
                <a:cubicBezTo>
                  <a:pt x="184745" y="825500"/>
                  <a:pt x="0" y="640755"/>
                  <a:pt x="0" y="412750"/>
                </a:cubicBezTo>
                <a:cubicBezTo>
                  <a:pt x="0" y="184745"/>
                  <a:pt x="184745" y="0"/>
                  <a:pt x="412750" y="0"/>
                </a:cubicBezTo>
                <a:cubicBezTo>
                  <a:pt x="640755" y="0"/>
                  <a:pt x="825500" y="184745"/>
                  <a:pt x="825500" y="412750"/>
                </a:cubicBezTo>
                <a:close/>
                <a:moveTo>
                  <a:pt x="412750" y="698500"/>
                </a:moveTo>
                <a:cubicBezTo>
                  <a:pt x="570460" y="698500"/>
                  <a:pt x="698500" y="570460"/>
                  <a:pt x="698500" y="412750"/>
                </a:cubicBezTo>
                <a:cubicBezTo>
                  <a:pt x="698500" y="255040"/>
                  <a:pt x="570460" y="127000"/>
                  <a:pt x="412750" y="127000"/>
                </a:cubicBezTo>
                <a:cubicBezTo>
                  <a:pt x="255040" y="127000"/>
                  <a:pt x="127000" y="255040"/>
                  <a:pt x="127000" y="412750"/>
                </a:cubicBezTo>
                <a:cubicBezTo>
                  <a:pt x="127000" y="570460"/>
                  <a:pt x="255040" y="698500"/>
                  <a:pt x="412750" y="698500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4" name="Text 11"/>
          <p:cNvSpPr/>
          <p:nvPr/>
        </p:nvSpPr>
        <p:spPr>
          <a:xfrm>
            <a:off x="8890000" y="6604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 values in SQL must be enclosed in </a:t>
            </a:r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quotes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OPERATORS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operators used in WHERE conditions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1968500"/>
          <a:ext cx="11176000" cy="4826000"/>
        </p:xfrm>
        <a:graphic>
          <a:graphicData uri="http://schemas.openxmlformats.org/drawingml/2006/table">
            <a:tbl>
              <a:tblPr/>
              <a:tblGrid>
                <a:gridCol w="2235200"/>
                <a:gridCol w="4470400"/>
                <a:gridCol w="4470400"/>
              </a:tblGrid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=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Equal to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 = 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Greater than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 &gt; 80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than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 &lt; 80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&gt;=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Greater than or equal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 &gt;= 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&lt;=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than or equal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 &lt;= 70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942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&lt;&gt;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equal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 &lt;&gt; 'Karachi'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40000" y="7112000"/>
            <a:ext cx="11176000" cy="889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95600" y="7302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8" name="Text 5"/>
          <p:cNvSpPr/>
          <p:nvPr/>
        </p:nvSpPr>
        <p:spPr>
          <a:xfrm>
            <a:off x="3302000" y="7175500"/>
            <a:ext cx="1009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operators work with numbers, text, and dates in WHERE clauses.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EQUAL TO (=)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016000" cy="508000"/>
          </a:xfrm>
          <a:prstGeom prst="roundRect">
            <a:avLst>
              <a:gd name="adj" fmla="val 10000"/>
            </a:avLst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095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 =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54500"/>
          <a:ext cx="5080000" cy="1270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36000" y="20955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953500" y="2286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53500" y="2730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=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checks for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exact equality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rows where marks is exactly 90 are returned.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1239500" y="5334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63500" y="254000"/>
                </a:moveTo>
                <a:cubicBezTo>
                  <a:pt x="28377" y="254000"/>
                  <a:pt x="0" y="282377"/>
                  <a:pt x="0" y="317500"/>
                </a:cubicBezTo>
                <a:cubicBezTo>
                  <a:pt x="0" y="352623"/>
                  <a:pt x="28377" y="381000"/>
                  <a:pt x="63500" y="381000"/>
                </a:cubicBezTo>
                <a:lnTo>
                  <a:pt x="825500" y="381000"/>
                </a:lnTo>
                <a:cubicBezTo>
                  <a:pt x="860623" y="381000"/>
                  <a:pt x="889000" y="352623"/>
                  <a:pt x="889000" y="317500"/>
                </a:cubicBezTo>
                <a:cubicBezTo>
                  <a:pt x="889000" y="282377"/>
                  <a:pt x="860623" y="254000"/>
                  <a:pt x="825500" y="254000"/>
                </a:cubicBezTo>
                <a:lnTo>
                  <a:pt x="63500" y="254000"/>
                </a:lnTo>
                <a:close/>
                <a:moveTo>
                  <a:pt x="63500" y="635000"/>
                </a:moveTo>
                <a:cubicBezTo>
                  <a:pt x="28377" y="635000"/>
                  <a:pt x="0" y="663377"/>
                  <a:pt x="0" y="698500"/>
                </a:cubicBezTo>
                <a:cubicBezTo>
                  <a:pt x="0" y="733623"/>
                  <a:pt x="28377" y="762000"/>
                  <a:pt x="63500" y="762000"/>
                </a:cubicBezTo>
                <a:lnTo>
                  <a:pt x="825500" y="762000"/>
                </a:lnTo>
                <a:cubicBezTo>
                  <a:pt x="860623" y="762000"/>
                  <a:pt x="889000" y="733623"/>
                  <a:pt x="889000" y="698500"/>
                </a:cubicBezTo>
                <a:cubicBezTo>
                  <a:pt x="889000" y="663377"/>
                  <a:pt x="860623" y="635000"/>
                  <a:pt x="825500" y="635000"/>
                </a:cubicBezTo>
                <a:lnTo>
                  <a:pt x="63500" y="635000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GREATER THAN (&gt;)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016000" cy="508000"/>
          </a:xfrm>
          <a:prstGeom prst="roundRect">
            <a:avLst>
              <a:gd name="adj" fmla="val 10000"/>
            </a:avLst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095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 &gt;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54500"/>
          <a:ext cx="5080000" cy="1778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36000" y="20955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953500" y="2286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53500" y="2730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returns rows where the value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strictly greater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the specified number.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85 &gt; 80 and 90 &gt; 80, so both are included.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1303000" y="5334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425847" y="34528"/>
                </a:moveTo>
                <a:cubicBezTo>
                  <a:pt x="401042" y="9723"/>
                  <a:pt x="360759" y="9723"/>
                  <a:pt x="335955" y="34528"/>
                </a:cubicBezTo>
                <a:lnTo>
                  <a:pt x="18455" y="352028"/>
                </a:lnTo>
                <a:cubicBezTo>
                  <a:pt x="-6350" y="376833"/>
                  <a:pt x="-6350" y="417116"/>
                  <a:pt x="18455" y="441920"/>
                </a:cubicBezTo>
                <a:cubicBezTo>
                  <a:pt x="43259" y="466725"/>
                  <a:pt x="83542" y="466725"/>
                  <a:pt x="108347" y="441920"/>
                </a:cubicBezTo>
                <a:lnTo>
                  <a:pt x="317500" y="232767"/>
                </a:lnTo>
                <a:lnTo>
                  <a:pt x="317500" y="968375"/>
                </a:lnTo>
                <a:cubicBezTo>
                  <a:pt x="317500" y="1003498"/>
                  <a:pt x="345877" y="1031875"/>
                  <a:pt x="381000" y="1031875"/>
                </a:cubicBezTo>
                <a:cubicBezTo>
                  <a:pt x="416123" y="1031875"/>
                  <a:pt x="444500" y="1003498"/>
                  <a:pt x="444500" y="968375"/>
                </a:cubicBezTo>
                <a:lnTo>
                  <a:pt x="444500" y="232767"/>
                </a:lnTo>
                <a:lnTo>
                  <a:pt x="653653" y="441920"/>
                </a:lnTo>
                <a:cubicBezTo>
                  <a:pt x="678458" y="466725"/>
                  <a:pt x="718741" y="466725"/>
                  <a:pt x="743545" y="441920"/>
                </a:cubicBezTo>
                <a:cubicBezTo>
                  <a:pt x="768350" y="417116"/>
                  <a:pt x="768350" y="376833"/>
                  <a:pt x="743545" y="352028"/>
                </a:cubicBezTo>
                <a:lnTo>
                  <a:pt x="426045" y="34528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 THAN (&lt;)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016000" cy="508000"/>
          </a:xfrm>
          <a:prstGeom prst="roundRect">
            <a:avLst>
              <a:gd name="adj" fmla="val 10000"/>
            </a:avLst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3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095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 &lt;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54500"/>
          <a:ext cx="5080000" cy="1270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36000" y="20955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953500" y="2286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53500" y="2730500"/>
            <a:ext cx="622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returns rows where the value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strictly less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than the specified number.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70 &lt; 80, so Ahmed's record is included. Ali (85) and Sara (90) are excluded.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1303000" y="5334000"/>
            <a:ext cx="762000" cy="1016000"/>
          </a:xfrm>
          <a:custGeom>
            <a:avLst/>
            <a:gdLst/>
            <a:ahLst/>
            <a:cxnLst/>
            <a:rect l="l" t="t" r="r" b="b"/>
            <a:pathLst>
              <a:path w="762000" h="1016000">
                <a:moveTo>
                  <a:pt x="336153" y="997347"/>
                </a:moveTo>
                <a:cubicBezTo>
                  <a:pt x="360958" y="1022152"/>
                  <a:pt x="401241" y="1022152"/>
                  <a:pt x="426045" y="997347"/>
                </a:cubicBezTo>
                <a:lnTo>
                  <a:pt x="743545" y="679847"/>
                </a:lnTo>
                <a:cubicBezTo>
                  <a:pt x="768350" y="655042"/>
                  <a:pt x="768350" y="614759"/>
                  <a:pt x="743545" y="589955"/>
                </a:cubicBezTo>
                <a:cubicBezTo>
                  <a:pt x="718741" y="565150"/>
                  <a:pt x="678458" y="565150"/>
                  <a:pt x="653653" y="589955"/>
                </a:cubicBezTo>
                <a:lnTo>
                  <a:pt x="444500" y="799108"/>
                </a:lnTo>
                <a:lnTo>
                  <a:pt x="444500" y="63500"/>
                </a:lnTo>
                <a:cubicBezTo>
                  <a:pt x="444500" y="28377"/>
                  <a:pt x="416123" y="0"/>
                  <a:pt x="381000" y="0"/>
                </a:cubicBezTo>
                <a:cubicBezTo>
                  <a:pt x="345877" y="0"/>
                  <a:pt x="317500" y="28377"/>
                  <a:pt x="317500" y="63500"/>
                </a:cubicBezTo>
                <a:lnTo>
                  <a:pt x="317500" y="799108"/>
                </a:lnTo>
                <a:lnTo>
                  <a:pt x="108347" y="589955"/>
                </a:lnTo>
                <a:cubicBezTo>
                  <a:pt x="83542" y="565150"/>
                  <a:pt x="43259" y="565150"/>
                  <a:pt x="18455" y="589955"/>
                </a:cubicBezTo>
                <a:cubicBezTo>
                  <a:pt x="-6350" y="614759"/>
                  <a:pt x="-6350" y="655042"/>
                  <a:pt x="18455" y="679847"/>
                </a:cubicBezTo>
                <a:lnTo>
                  <a:pt x="335955" y="997347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GREATER THAN OR EQUAL TO (&gt;=)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095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 &gt;=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54500"/>
          <a:ext cx="5080000" cy="1778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36000" y="20955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953500" y="2286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53500" y="2730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&gt;=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includes values that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greater than OR equal to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specified number.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85 &gt;= 85 (true) and 90 &gt;= 85 (true).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1112500" y="5334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298847" y="82153"/>
                </a:moveTo>
                <a:cubicBezTo>
                  <a:pt x="274042" y="57348"/>
                  <a:pt x="233759" y="57348"/>
                  <a:pt x="208955" y="82153"/>
                </a:cubicBezTo>
                <a:lnTo>
                  <a:pt x="18455" y="272653"/>
                </a:lnTo>
                <a:cubicBezTo>
                  <a:pt x="-6350" y="297458"/>
                  <a:pt x="-6350" y="337741"/>
                  <a:pt x="18455" y="362545"/>
                </a:cubicBezTo>
                <a:cubicBezTo>
                  <a:pt x="43259" y="387350"/>
                  <a:pt x="83542" y="387350"/>
                  <a:pt x="108347" y="362545"/>
                </a:cubicBezTo>
                <a:lnTo>
                  <a:pt x="190500" y="280392"/>
                </a:lnTo>
                <a:lnTo>
                  <a:pt x="190500" y="889000"/>
                </a:lnTo>
                <a:cubicBezTo>
                  <a:pt x="190500" y="924123"/>
                  <a:pt x="218877" y="952500"/>
                  <a:pt x="254000" y="952500"/>
                </a:cubicBezTo>
                <a:cubicBezTo>
                  <a:pt x="289123" y="952500"/>
                  <a:pt x="317500" y="924123"/>
                  <a:pt x="317500" y="889000"/>
                </a:cubicBezTo>
                <a:lnTo>
                  <a:pt x="317500" y="280392"/>
                </a:lnTo>
                <a:lnTo>
                  <a:pt x="399653" y="362545"/>
                </a:lnTo>
                <a:cubicBezTo>
                  <a:pt x="424458" y="387350"/>
                  <a:pt x="464741" y="387350"/>
                  <a:pt x="489545" y="362545"/>
                </a:cubicBezTo>
                <a:cubicBezTo>
                  <a:pt x="514350" y="337741"/>
                  <a:pt x="514350" y="297458"/>
                  <a:pt x="489545" y="272653"/>
                </a:cubicBezTo>
                <a:lnTo>
                  <a:pt x="299045" y="82153"/>
                </a:lnTo>
                <a:close/>
                <a:moveTo>
                  <a:pt x="635000" y="952500"/>
                </a:moveTo>
                <a:lnTo>
                  <a:pt x="698500" y="952500"/>
                </a:lnTo>
                <a:cubicBezTo>
                  <a:pt x="733623" y="952500"/>
                  <a:pt x="762000" y="924123"/>
                  <a:pt x="762000" y="889000"/>
                </a:cubicBezTo>
                <a:cubicBezTo>
                  <a:pt x="762000" y="853877"/>
                  <a:pt x="733623" y="825500"/>
                  <a:pt x="698500" y="825500"/>
                </a:cubicBezTo>
                <a:lnTo>
                  <a:pt x="635000" y="825500"/>
                </a:lnTo>
                <a:cubicBezTo>
                  <a:pt x="599877" y="825500"/>
                  <a:pt x="571500" y="853877"/>
                  <a:pt x="571500" y="889000"/>
                </a:cubicBezTo>
                <a:cubicBezTo>
                  <a:pt x="571500" y="924123"/>
                  <a:pt x="599877" y="952500"/>
                  <a:pt x="635000" y="952500"/>
                </a:cubicBezTo>
                <a:close/>
                <a:moveTo>
                  <a:pt x="635000" y="698500"/>
                </a:moveTo>
                <a:lnTo>
                  <a:pt x="825500" y="698500"/>
                </a:lnTo>
                <a:cubicBezTo>
                  <a:pt x="860623" y="698500"/>
                  <a:pt x="889000" y="670123"/>
                  <a:pt x="889000" y="635000"/>
                </a:cubicBezTo>
                <a:cubicBezTo>
                  <a:pt x="889000" y="599877"/>
                  <a:pt x="860623" y="571500"/>
                  <a:pt x="825500" y="571500"/>
                </a:cubicBezTo>
                <a:lnTo>
                  <a:pt x="635000" y="571500"/>
                </a:lnTo>
                <a:cubicBezTo>
                  <a:pt x="599877" y="571500"/>
                  <a:pt x="571500" y="599877"/>
                  <a:pt x="571500" y="635000"/>
                </a:cubicBezTo>
                <a:cubicBezTo>
                  <a:pt x="571500" y="670123"/>
                  <a:pt x="599877" y="698500"/>
                  <a:pt x="635000" y="698500"/>
                </a:cubicBezTo>
                <a:close/>
                <a:moveTo>
                  <a:pt x="635000" y="444500"/>
                </a:moveTo>
                <a:lnTo>
                  <a:pt x="952500" y="444500"/>
                </a:lnTo>
                <a:cubicBezTo>
                  <a:pt x="987623" y="444500"/>
                  <a:pt x="1016000" y="416123"/>
                  <a:pt x="1016000" y="381000"/>
                </a:cubicBezTo>
                <a:cubicBezTo>
                  <a:pt x="1016000" y="345877"/>
                  <a:pt x="987623" y="317500"/>
                  <a:pt x="952500" y="317500"/>
                </a:cubicBezTo>
                <a:lnTo>
                  <a:pt x="635000" y="317500"/>
                </a:lnTo>
                <a:cubicBezTo>
                  <a:pt x="599877" y="317500"/>
                  <a:pt x="571500" y="345877"/>
                  <a:pt x="571500" y="381000"/>
                </a:cubicBezTo>
                <a:cubicBezTo>
                  <a:pt x="571500" y="416123"/>
                  <a:pt x="599877" y="444500"/>
                  <a:pt x="635000" y="444500"/>
                </a:cubicBezTo>
                <a:close/>
                <a:moveTo>
                  <a:pt x="635000" y="190500"/>
                </a:moveTo>
                <a:lnTo>
                  <a:pt x="1079500" y="190500"/>
                </a:lnTo>
                <a:cubicBezTo>
                  <a:pt x="1114623" y="190500"/>
                  <a:pt x="1143000" y="162123"/>
                  <a:pt x="1143000" y="127000"/>
                </a:cubicBezTo>
                <a:cubicBezTo>
                  <a:pt x="1143000" y="91877"/>
                  <a:pt x="1114623" y="63500"/>
                  <a:pt x="1079500" y="63500"/>
                </a:cubicBezTo>
                <a:lnTo>
                  <a:pt x="635000" y="63500"/>
                </a:lnTo>
                <a:cubicBezTo>
                  <a:pt x="599877" y="63500"/>
                  <a:pt x="571500" y="91877"/>
                  <a:pt x="571500" y="127000"/>
                </a:cubicBezTo>
                <a:cubicBezTo>
                  <a:pt x="571500" y="162123"/>
                  <a:pt x="599877" y="190500"/>
                  <a:pt x="635000" y="190500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 THAN OR EQUAL TO (&lt;=)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&lt;=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095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 &lt;=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54500"/>
          <a:ext cx="5080000" cy="1270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36000" y="20955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953500" y="2286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53500" y="2730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&lt;=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includes values that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 than OR equal to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specified number.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70 &lt;= 70 (true). Ali (85) and Sara (90) are excluded.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1112500" y="5334000"/>
            <a:ext cx="1143000" cy="1016000"/>
          </a:xfrm>
          <a:custGeom>
            <a:avLst/>
            <a:gdLst/>
            <a:ahLst/>
            <a:cxnLst/>
            <a:rect l="l" t="t" r="r" b="b"/>
            <a:pathLst>
              <a:path w="1143000" h="1016000">
                <a:moveTo>
                  <a:pt x="489347" y="743347"/>
                </a:moveTo>
                <a:lnTo>
                  <a:pt x="298847" y="933847"/>
                </a:lnTo>
                <a:cubicBezTo>
                  <a:pt x="274042" y="958652"/>
                  <a:pt x="233759" y="958652"/>
                  <a:pt x="208955" y="933847"/>
                </a:cubicBezTo>
                <a:lnTo>
                  <a:pt x="18455" y="743347"/>
                </a:lnTo>
                <a:cubicBezTo>
                  <a:pt x="-6350" y="718542"/>
                  <a:pt x="-6350" y="678259"/>
                  <a:pt x="18455" y="653455"/>
                </a:cubicBezTo>
                <a:cubicBezTo>
                  <a:pt x="43259" y="628650"/>
                  <a:pt x="83542" y="628650"/>
                  <a:pt x="108347" y="653455"/>
                </a:cubicBezTo>
                <a:lnTo>
                  <a:pt x="190500" y="735608"/>
                </a:lnTo>
                <a:lnTo>
                  <a:pt x="190500" y="127000"/>
                </a:lnTo>
                <a:cubicBezTo>
                  <a:pt x="190500" y="91877"/>
                  <a:pt x="218877" y="63500"/>
                  <a:pt x="254000" y="63500"/>
                </a:cubicBezTo>
                <a:cubicBezTo>
                  <a:pt x="289123" y="63500"/>
                  <a:pt x="317500" y="91877"/>
                  <a:pt x="317500" y="127000"/>
                </a:cubicBezTo>
                <a:lnTo>
                  <a:pt x="317500" y="735608"/>
                </a:lnTo>
                <a:lnTo>
                  <a:pt x="399653" y="653455"/>
                </a:lnTo>
                <a:cubicBezTo>
                  <a:pt x="424458" y="628650"/>
                  <a:pt x="464741" y="628650"/>
                  <a:pt x="489545" y="653455"/>
                </a:cubicBezTo>
                <a:cubicBezTo>
                  <a:pt x="514350" y="678259"/>
                  <a:pt x="514350" y="718542"/>
                  <a:pt x="489545" y="743347"/>
                </a:cubicBezTo>
                <a:close/>
                <a:moveTo>
                  <a:pt x="635000" y="952500"/>
                </a:moveTo>
                <a:cubicBezTo>
                  <a:pt x="599877" y="952500"/>
                  <a:pt x="571500" y="924123"/>
                  <a:pt x="571500" y="889000"/>
                </a:cubicBezTo>
                <a:cubicBezTo>
                  <a:pt x="571500" y="853877"/>
                  <a:pt x="599877" y="825500"/>
                  <a:pt x="635000" y="825500"/>
                </a:cubicBezTo>
                <a:lnTo>
                  <a:pt x="698500" y="825500"/>
                </a:lnTo>
                <a:cubicBezTo>
                  <a:pt x="733623" y="825500"/>
                  <a:pt x="762000" y="853877"/>
                  <a:pt x="762000" y="889000"/>
                </a:cubicBezTo>
                <a:cubicBezTo>
                  <a:pt x="762000" y="924123"/>
                  <a:pt x="733623" y="952500"/>
                  <a:pt x="698500" y="952500"/>
                </a:cubicBezTo>
                <a:lnTo>
                  <a:pt x="635000" y="952500"/>
                </a:lnTo>
                <a:close/>
                <a:moveTo>
                  <a:pt x="635000" y="698500"/>
                </a:moveTo>
                <a:cubicBezTo>
                  <a:pt x="599877" y="698500"/>
                  <a:pt x="571500" y="670123"/>
                  <a:pt x="571500" y="635000"/>
                </a:cubicBezTo>
                <a:cubicBezTo>
                  <a:pt x="571500" y="599877"/>
                  <a:pt x="599877" y="571500"/>
                  <a:pt x="635000" y="571500"/>
                </a:cubicBezTo>
                <a:lnTo>
                  <a:pt x="825500" y="571500"/>
                </a:lnTo>
                <a:cubicBezTo>
                  <a:pt x="860623" y="571500"/>
                  <a:pt x="889000" y="599877"/>
                  <a:pt x="889000" y="635000"/>
                </a:cubicBezTo>
                <a:cubicBezTo>
                  <a:pt x="889000" y="670123"/>
                  <a:pt x="860623" y="698500"/>
                  <a:pt x="825500" y="698500"/>
                </a:cubicBezTo>
                <a:lnTo>
                  <a:pt x="635000" y="698500"/>
                </a:lnTo>
                <a:close/>
                <a:moveTo>
                  <a:pt x="635000" y="444500"/>
                </a:moveTo>
                <a:cubicBezTo>
                  <a:pt x="599877" y="444500"/>
                  <a:pt x="571500" y="416123"/>
                  <a:pt x="571500" y="381000"/>
                </a:cubicBezTo>
                <a:cubicBezTo>
                  <a:pt x="571500" y="345877"/>
                  <a:pt x="599877" y="317500"/>
                  <a:pt x="635000" y="317500"/>
                </a:cubicBezTo>
                <a:lnTo>
                  <a:pt x="952500" y="317500"/>
                </a:lnTo>
                <a:cubicBezTo>
                  <a:pt x="987623" y="317500"/>
                  <a:pt x="1016000" y="345877"/>
                  <a:pt x="1016000" y="381000"/>
                </a:cubicBezTo>
                <a:cubicBezTo>
                  <a:pt x="1016000" y="416123"/>
                  <a:pt x="987623" y="444500"/>
                  <a:pt x="952500" y="444500"/>
                </a:cubicBezTo>
                <a:lnTo>
                  <a:pt x="635000" y="444500"/>
                </a:lnTo>
                <a:close/>
                <a:moveTo>
                  <a:pt x="635000" y="190500"/>
                </a:moveTo>
                <a:cubicBezTo>
                  <a:pt x="599877" y="190500"/>
                  <a:pt x="571500" y="162123"/>
                  <a:pt x="571500" y="127000"/>
                </a:cubicBezTo>
                <a:cubicBezTo>
                  <a:pt x="571500" y="91877"/>
                  <a:pt x="599877" y="63500"/>
                  <a:pt x="635000" y="63500"/>
                </a:cubicBezTo>
                <a:lnTo>
                  <a:pt x="1079500" y="63500"/>
                </a:lnTo>
                <a:cubicBezTo>
                  <a:pt x="1114623" y="63500"/>
                  <a:pt x="1143000" y="91877"/>
                  <a:pt x="1143000" y="127000"/>
                </a:cubicBezTo>
                <a:cubicBezTo>
                  <a:pt x="1143000" y="162123"/>
                  <a:pt x="1114623" y="190500"/>
                  <a:pt x="1079500" y="190500"/>
                </a:cubicBezTo>
                <a:lnTo>
                  <a:pt x="635000" y="190500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EQUAL TO (&lt;&gt;)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2000" y="2095500"/>
            <a:ext cx="6858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name, city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city &lt;&gt;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CE91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'Karachi'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54500"/>
          <a:ext cx="5080000" cy="1778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city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Lahore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Islamabad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636000" y="2095500"/>
            <a:ext cx="6858000" cy="254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953500" y="2286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953500" y="2730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operator excludes rows that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match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specified value.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Sara from Karachi is excluded. All other cities are included.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1239500" y="5334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751284" y="162322"/>
                </a:moveTo>
                <a:cubicBezTo>
                  <a:pt x="770731" y="133152"/>
                  <a:pt x="762794" y="93662"/>
                  <a:pt x="733623" y="74216"/>
                </a:cubicBezTo>
                <a:cubicBezTo>
                  <a:pt x="704453" y="54769"/>
                  <a:pt x="664964" y="62706"/>
                  <a:pt x="645517" y="91877"/>
                </a:cubicBezTo>
                <a:lnTo>
                  <a:pt x="537567" y="254000"/>
                </a:lnTo>
                <a:lnTo>
                  <a:pt x="63500" y="254000"/>
                </a:lnTo>
                <a:cubicBezTo>
                  <a:pt x="28377" y="254000"/>
                  <a:pt x="0" y="282377"/>
                  <a:pt x="0" y="317500"/>
                </a:cubicBezTo>
                <a:cubicBezTo>
                  <a:pt x="0" y="352623"/>
                  <a:pt x="28377" y="381000"/>
                  <a:pt x="63500" y="381000"/>
                </a:cubicBezTo>
                <a:lnTo>
                  <a:pt x="452834" y="381000"/>
                </a:lnTo>
                <a:lnTo>
                  <a:pt x="283567" y="635000"/>
                </a:lnTo>
                <a:lnTo>
                  <a:pt x="63500" y="635000"/>
                </a:lnTo>
                <a:cubicBezTo>
                  <a:pt x="28377" y="635000"/>
                  <a:pt x="0" y="663377"/>
                  <a:pt x="0" y="698500"/>
                </a:cubicBezTo>
                <a:cubicBezTo>
                  <a:pt x="0" y="733623"/>
                  <a:pt x="28377" y="762000"/>
                  <a:pt x="63500" y="762000"/>
                </a:cubicBezTo>
                <a:lnTo>
                  <a:pt x="198834" y="762000"/>
                </a:lnTo>
                <a:lnTo>
                  <a:pt x="137716" y="853678"/>
                </a:lnTo>
                <a:cubicBezTo>
                  <a:pt x="118269" y="882848"/>
                  <a:pt x="126206" y="922338"/>
                  <a:pt x="155377" y="941784"/>
                </a:cubicBezTo>
                <a:cubicBezTo>
                  <a:pt x="184547" y="961231"/>
                  <a:pt x="224036" y="953294"/>
                  <a:pt x="243483" y="924123"/>
                </a:cubicBezTo>
                <a:lnTo>
                  <a:pt x="351433" y="762000"/>
                </a:lnTo>
                <a:lnTo>
                  <a:pt x="825500" y="762000"/>
                </a:lnTo>
                <a:cubicBezTo>
                  <a:pt x="860623" y="762000"/>
                  <a:pt x="889000" y="733623"/>
                  <a:pt x="889000" y="698500"/>
                </a:cubicBezTo>
                <a:cubicBezTo>
                  <a:pt x="889000" y="663377"/>
                  <a:pt x="860623" y="635000"/>
                  <a:pt x="825500" y="635000"/>
                </a:cubicBezTo>
                <a:lnTo>
                  <a:pt x="436166" y="635000"/>
                </a:lnTo>
                <a:lnTo>
                  <a:pt x="605433" y="381000"/>
                </a:lnTo>
                <a:lnTo>
                  <a:pt x="825500" y="381000"/>
                </a:lnTo>
                <a:cubicBezTo>
                  <a:pt x="860623" y="381000"/>
                  <a:pt x="889000" y="352623"/>
                  <a:pt x="889000" y="317500"/>
                </a:cubicBezTo>
                <a:cubicBezTo>
                  <a:pt x="889000" y="282377"/>
                  <a:pt x="860623" y="254000"/>
                  <a:pt x="825500" y="254000"/>
                </a:cubicBezTo>
                <a:lnTo>
                  <a:pt x="690166" y="254000"/>
                </a:lnTo>
                <a:lnTo>
                  <a:pt x="751284" y="162322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— ONLINE SHOPPING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14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23812" y="-15875"/>
                </a:moveTo>
                <a:cubicBezTo>
                  <a:pt x="10616" y="-15875"/>
                  <a:pt x="0" y="-5259"/>
                  <a:pt x="0" y="7938"/>
                </a:cubicBezTo>
                <a:cubicBezTo>
                  <a:pt x="0" y="21134"/>
                  <a:pt x="10616" y="31750"/>
                  <a:pt x="23812" y="31750"/>
                </a:cubicBezTo>
                <a:lnTo>
                  <a:pt x="68759" y="31750"/>
                </a:lnTo>
                <a:cubicBezTo>
                  <a:pt x="72628" y="31750"/>
                  <a:pt x="75902" y="34528"/>
                  <a:pt x="76597" y="38298"/>
                </a:cubicBezTo>
                <a:lnTo>
                  <a:pt x="128290" y="322362"/>
                </a:lnTo>
                <a:cubicBezTo>
                  <a:pt x="134441" y="356295"/>
                  <a:pt x="164009" y="381000"/>
                  <a:pt x="198537" y="381000"/>
                </a:cubicBezTo>
                <a:lnTo>
                  <a:pt x="452437" y="381000"/>
                </a:lnTo>
                <a:cubicBezTo>
                  <a:pt x="465634" y="381000"/>
                  <a:pt x="476250" y="370384"/>
                  <a:pt x="476250" y="357188"/>
                </a:cubicBezTo>
                <a:cubicBezTo>
                  <a:pt x="476250" y="343991"/>
                  <a:pt x="465634" y="333375"/>
                  <a:pt x="452437" y="333375"/>
                </a:cubicBezTo>
                <a:lnTo>
                  <a:pt x="198537" y="333375"/>
                </a:lnTo>
                <a:cubicBezTo>
                  <a:pt x="187027" y="333375"/>
                  <a:pt x="177205" y="325140"/>
                  <a:pt x="175121" y="313829"/>
                </a:cubicBezTo>
                <a:lnTo>
                  <a:pt x="170061" y="285750"/>
                </a:lnTo>
                <a:lnTo>
                  <a:pt x="471289" y="285750"/>
                </a:lnTo>
                <a:cubicBezTo>
                  <a:pt x="501848" y="285750"/>
                  <a:pt x="528042" y="264021"/>
                  <a:pt x="533698" y="233958"/>
                </a:cubicBezTo>
                <a:lnTo>
                  <a:pt x="564455" y="69354"/>
                </a:lnTo>
                <a:cubicBezTo>
                  <a:pt x="568127" y="49808"/>
                  <a:pt x="553145" y="31750"/>
                  <a:pt x="533202" y="31750"/>
                </a:cubicBezTo>
                <a:lnTo>
                  <a:pt x="123726" y="31750"/>
                </a:lnTo>
                <a:lnTo>
                  <a:pt x="123329" y="29766"/>
                </a:lnTo>
                <a:cubicBezTo>
                  <a:pt x="118566" y="3373"/>
                  <a:pt x="95548" y="-15875"/>
                  <a:pt x="68659" y="-15875"/>
                </a:cubicBezTo>
                <a:lnTo>
                  <a:pt x="23812" y="-15875"/>
                </a:lnTo>
                <a:close/>
                <a:moveTo>
                  <a:pt x="206375" y="508000"/>
                </a:moveTo>
                <a:cubicBezTo>
                  <a:pt x="232660" y="508000"/>
                  <a:pt x="254000" y="486660"/>
                  <a:pt x="254000" y="460375"/>
                </a:cubicBezTo>
                <a:cubicBezTo>
                  <a:pt x="254000" y="434090"/>
                  <a:pt x="232660" y="412750"/>
                  <a:pt x="206375" y="412750"/>
                </a:cubicBezTo>
                <a:cubicBezTo>
                  <a:pt x="180090" y="412750"/>
                  <a:pt x="158750" y="434090"/>
                  <a:pt x="158750" y="460375"/>
                </a:cubicBezTo>
                <a:cubicBezTo>
                  <a:pt x="158750" y="486660"/>
                  <a:pt x="180090" y="508000"/>
                  <a:pt x="206375" y="508000"/>
                </a:cubicBezTo>
                <a:close/>
                <a:moveTo>
                  <a:pt x="428625" y="508000"/>
                </a:moveTo>
                <a:cubicBezTo>
                  <a:pt x="454910" y="508000"/>
                  <a:pt x="476250" y="486660"/>
                  <a:pt x="476250" y="460375"/>
                </a:cubicBezTo>
                <a:cubicBezTo>
                  <a:pt x="476250" y="434090"/>
                  <a:pt x="454910" y="412750"/>
                  <a:pt x="428625" y="412750"/>
                </a:cubicBezTo>
                <a:cubicBezTo>
                  <a:pt x="402340" y="412750"/>
                  <a:pt x="381000" y="434090"/>
                  <a:pt x="381000" y="460375"/>
                </a:cubicBezTo>
                <a:cubicBezTo>
                  <a:pt x="381000" y="486660"/>
                  <a:pt x="402340" y="508000"/>
                  <a:pt x="428625" y="508000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1587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Scenario: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 online shopping website wants to show only expensive products to customers looking for premium items.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04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QUERY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492500"/>
            <a:ext cx="7620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6195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products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price &gt;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527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5689600"/>
            <a:ext cx="7620000" cy="1016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79500" y="58166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Shows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expensive products only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(price greater than 5000).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001375" y="3810000"/>
            <a:ext cx="1111250" cy="1270000"/>
          </a:xfrm>
          <a:custGeom>
            <a:avLst/>
            <a:gdLst/>
            <a:ahLst/>
            <a:cxnLst/>
            <a:rect l="l" t="t" r="r" b="b"/>
            <a:pathLst>
              <a:path w="1111250" h="1270000">
                <a:moveTo>
                  <a:pt x="396875" y="198438"/>
                </a:moveTo>
                <a:cubicBezTo>
                  <a:pt x="396875" y="110877"/>
                  <a:pt x="468064" y="39688"/>
                  <a:pt x="555625" y="39688"/>
                </a:cubicBezTo>
                <a:cubicBezTo>
                  <a:pt x="643186" y="39688"/>
                  <a:pt x="714375" y="110877"/>
                  <a:pt x="714375" y="198438"/>
                </a:cubicBezTo>
                <a:lnTo>
                  <a:pt x="714375" y="317500"/>
                </a:lnTo>
                <a:lnTo>
                  <a:pt x="396875" y="317500"/>
                </a:lnTo>
                <a:lnTo>
                  <a:pt x="396875" y="198438"/>
                </a:lnTo>
                <a:close/>
                <a:moveTo>
                  <a:pt x="277813" y="317500"/>
                </a:moveTo>
                <a:lnTo>
                  <a:pt x="119062" y="317500"/>
                </a:lnTo>
                <a:cubicBezTo>
                  <a:pt x="53330" y="317500"/>
                  <a:pt x="0" y="370830"/>
                  <a:pt x="0" y="436563"/>
                </a:cubicBezTo>
                <a:lnTo>
                  <a:pt x="0" y="952500"/>
                </a:lnTo>
                <a:cubicBezTo>
                  <a:pt x="0" y="1083965"/>
                  <a:pt x="106660" y="1190625"/>
                  <a:pt x="238125" y="1190625"/>
                </a:cubicBezTo>
                <a:lnTo>
                  <a:pt x="873125" y="1190625"/>
                </a:lnTo>
                <a:cubicBezTo>
                  <a:pt x="1004590" y="1190625"/>
                  <a:pt x="1111250" y="1083965"/>
                  <a:pt x="1111250" y="952500"/>
                </a:cubicBezTo>
                <a:lnTo>
                  <a:pt x="1111250" y="436563"/>
                </a:lnTo>
                <a:cubicBezTo>
                  <a:pt x="1111250" y="370830"/>
                  <a:pt x="1057920" y="317500"/>
                  <a:pt x="992188" y="317500"/>
                </a:cubicBezTo>
                <a:lnTo>
                  <a:pt x="833438" y="317500"/>
                </a:lnTo>
                <a:lnTo>
                  <a:pt x="833438" y="198438"/>
                </a:lnTo>
                <a:cubicBezTo>
                  <a:pt x="833438" y="44896"/>
                  <a:pt x="709166" y="-79375"/>
                  <a:pt x="555625" y="-79375"/>
                </a:cubicBezTo>
                <a:cubicBezTo>
                  <a:pt x="402084" y="-79375"/>
                  <a:pt x="277813" y="44896"/>
                  <a:pt x="277813" y="198438"/>
                </a:cubicBezTo>
                <a:lnTo>
                  <a:pt x="277813" y="317500"/>
                </a:lnTo>
                <a:close/>
                <a:moveTo>
                  <a:pt x="337344" y="436563"/>
                </a:moveTo>
                <a:cubicBezTo>
                  <a:pt x="370200" y="436563"/>
                  <a:pt x="396875" y="463238"/>
                  <a:pt x="396875" y="496094"/>
                </a:cubicBezTo>
                <a:cubicBezTo>
                  <a:pt x="396875" y="528950"/>
                  <a:pt x="370200" y="555625"/>
                  <a:pt x="337344" y="555625"/>
                </a:cubicBezTo>
                <a:cubicBezTo>
                  <a:pt x="304488" y="555625"/>
                  <a:pt x="277813" y="528950"/>
                  <a:pt x="277813" y="496094"/>
                </a:cubicBezTo>
                <a:cubicBezTo>
                  <a:pt x="277813" y="463238"/>
                  <a:pt x="304488" y="436563"/>
                  <a:pt x="337344" y="436563"/>
                </a:cubicBezTo>
                <a:close/>
                <a:moveTo>
                  <a:pt x="714375" y="496094"/>
                </a:moveTo>
                <a:cubicBezTo>
                  <a:pt x="714375" y="463238"/>
                  <a:pt x="741050" y="436563"/>
                  <a:pt x="773906" y="436563"/>
                </a:cubicBezTo>
                <a:cubicBezTo>
                  <a:pt x="806762" y="436563"/>
                  <a:pt x="833438" y="463238"/>
                  <a:pt x="833438" y="496094"/>
                </a:cubicBezTo>
                <a:cubicBezTo>
                  <a:pt x="833438" y="528950"/>
                  <a:pt x="806762" y="555625"/>
                  <a:pt x="773906" y="555625"/>
                </a:cubicBezTo>
                <a:cubicBezTo>
                  <a:pt x="741050" y="555625"/>
                  <a:pt x="714375" y="528950"/>
                  <a:pt x="714375" y="496094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5461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E-commerce sites use similar queries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 power their filtering and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features.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COMBINING SELECT AND 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7620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0066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name, marks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marks &gt;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B5CEA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3683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27500"/>
          <a:ext cx="5080000" cy="1778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marks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2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2000" y="6350000"/>
            <a:ext cx="7620000" cy="127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79500" y="666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1" name="Text 8"/>
          <p:cNvSpPr/>
          <p:nvPr/>
        </p:nvSpPr>
        <p:spPr>
          <a:xfrm>
            <a:off x="1587500" y="64770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Demonstrates combining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 selection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row filtering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one query.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398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FLOW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398000" y="1968500"/>
            <a:ext cx="6096000" cy="698500"/>
          </a:xfrm>
          <a:prstGeom prst="roundRect">
            <a:avLst>
              <a:gd name="adj" fmla="val 8000"/>
            </a:avLst>
          </a:prstGeom>
          <a:solidFill>
            <a:srgbClr val="0D5C4F"/>
          </a:solidFill>
          <a:ln/>
        </p:spPr>
      </p:sp>
      <p:sp>
        <p:nvSpPr>
          <p:cNvPr id="14" name="Text 11"/>
          <p:cNvSpPr/>
          <p:nvPr/>
        </p:nvSpPr>
        <p:spPr>
          <a:xfrm>
            <a:off x="9652000" y="1968500"/>
            <a:ext cx="558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FROM students — Select the table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2319000" y="2667000"/>
            <a:ext cx="0" cy="31750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9398000" y="3048000"/>
            <a:ext cx="6096000" cy="698500"/>
          </a:xfrm>
          <a:prstGeom prst="roundRect">
            <a:avLst>
              <a:gd name="adj" fmla="val 8000"/>
            </a:avLst>
          </a:prstGeom>
          <a:solidFill>
            <a:srgbClr val="1E2328"/>
          </a:solidFill>
          <a:ln/>
        </p:spPr>
      </p:sp>
      <p:sp>
        <p:nvSpPr>
          <p:cNvPr id="17" name="Text 14"/>
          <p:cNvSpPr/>
          <p:nvPr/>
        </p:nvSpPr>
        <p:spPr>
          <a:xfrm>
            <a:off x="9652000" y="3048000"/>
            <a:ext cx="558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WHERE marks &gt; 80 — Filter rows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319000" y="3746500"/>
            <a:ext cx="0" cy="31750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19" name="Shape 16"/>
          <p:cNvSpPr/>
          <p:nvPr/>
        </p:nvSpPr>
        <p:spPr>
          <a:xfrm>
            <a:off x="9398000" y="4127500"/>
            <a:ext cx="6096000" cy="698500"/>
          </a:xfrm>
          <a:prstGeom prst="roundRect">
            <a:avLst>
              <a:gd name="adj" fmla="val 8000"/>
            </a:avLst>
          </a:prstGeom>
          <a:solidFill>
            <a:srgbClr val="D4763A"/>
          </a:solidFill>
          <a:ln/>
        </p:spPr>
      </p:sp>
      <p:sp>
        <p:nvSpPr>
          <p:cNvPr id="20" name="Text 17"/>
          <p:cNvSpPr/>
          <p:nvPr/>
        </p:nvSpPr>
        <p:spPr>
          <a:xfrm>
            <a:off x="9652000" y="4127500"/>
            <a:ext cx="558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SELECT name, marks — Pick columns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NULL?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7620000" cy="127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032000"/>
            <a:ext cx="698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 means </a:t>
            </a:r>
            <a:pPr>
              <a:lnSpc>
                <a:spcPct val="160000"/>
              </a:lnSpc>
            </a:pPr>
            <a:r>
              <a:rPr lang="en-US" sz="2200" b="1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"No value"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2200" b="1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"Missing value"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2000" y="3619500"/>
            <a:ext cx="7620000" cy="2032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873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9" name="Text 7"/>
          <p:cNvSpPr/>
          <p:nvPr/>
        </p:nvSpPr>
        <p:spPr>
          <a:xfrm>
            <a:off x="1587500" y="381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DOES NOT MEAN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381500"/>
            <a:ext cx="698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C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Zero (0)</a:t>
            </a:r>
            <a:endParaRPr lang="en-US" sz="20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CC444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Empty space (' ')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906000" y="2286000"/>
            <a:ext cx="5080000" cy="190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0" dirty="0">
                <a:solidFill>
                  <a:srgbClr val="0D5C4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45720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 represents the absence of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any value — it's a special marker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databases.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62000" y="62230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6350000"/>
            <a:ext cx="1358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NULL is not the same as zero or an empty string. It literally means "we don't know" or "not applicable."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TABLE WITH NULL VALUES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Employee table with some missing phone numbers:</a:t>
            </a:r>
            <a:endParaRPr lang="en-US" sz="2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2032000"/>
          <a:ext cx="11176000" cy="2794000"/>
        </p:xfrm>
        <a:graphic>
          <a:graphicData uri="http://schemas.openxmlformats.org/drawingml/2006/table">
            <a:tbl>
              <a:tblPr/>
              <a:tblGrid>
                <a:gridCol w="2235200"/>
                <a:gridCol w="3352800"/>
                <a:gridCol w="55880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emp_id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phone_number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03001234567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03111222333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540000" y="5207000"/>
            <a:ext cx="11176000" cy="1016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2835275" y="5461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8" name="Text 5"/>
          <p:cNvSpPr/>
          <p:nvPr/>
        </p:nvSpPr>
        <p:spPr>
          <a:xfrm>
            <a:off x="3365500" y="5334000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Notice that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Sara's phone_number is NULL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meaning no phone number was recorded.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2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62000"/>
                </a:moveTo>
                <a:cubicBezTo>
                  <a:pt x="591280" y="762000"/>
                  <a:pt x="762000" y="591280"/>
                  <a:pt x="762000" y="381000"/>
                </a:cubicBezTo>
                <a:cubicBezTo>
                  <a:pt x="762000" y="170720"/>
                  <a:pt x="591280" y="0"/>
                  <a:pt x="381000" y="0"/>
                </a:cubicBezTo>
                <a:cubicBezTo>
                  <a:pt x="170720" y="0"/>
                  <a:pt x="0" y="170720"/>
                  <a:pt x="0" y="381000"/>
                </a:cubicBezTo>
                <a:cubicBezTo>
                  <a:pt x="0" y="591280"/>
                  <a:pt x="170720" y="762000"/>
                  <a:pt x="381000" y="762000"/>
                </a:cubicBezTo>
                <a:close/>
                <a:moveTo>
                  <a:pt x="381000" y="261938"/>
                </a:moveTo>
                <a:cubicBezTo>
                  <a:pt x="354657" y="261938"/>
                  <a:pt x="333375" y="283220"/>
                  <a:pt x="333375" y="309563"/>
                </a:cubicBezTo>
                <a:cubicBezTo>
                  <a:pt x="333375" y="329357"/>
                  <a:pt x="317450" y="345281"/>
                  <a:pt x="297656" y="345281"/>
                </a:cubicBezTo>
                <a:cubicBezTo>
                  <a:pt x="277862" y="345281"/>
                  <a:pt x="261938" y="329357"/>
                  <a:pt x="261938" y="309563"/>
                </a:cubicBezTo>
                <a:cubicBezTo>
                  <a:pt x="261938" y="243780"/>
                  <a:pt x="315218" y="190500"/>
                  <a:pt x="381000" y="190500"/>
                </a:cubicBezTo>
                <a:cubicBezTo>
                  <a:pt x="446782" y="190500"/>
                  <a:pt x="500063" y="243780"/>
                  <a:pt x="500063" y="309563"/>
                </a:cubicBezTo>
                <a:cubicBezTo>
                  <a:pt x="500063" y="379809"/>
                  <a:pt x="446484" y="409575"/>
                  <a:pt x="416719" y="420439"/>
                </a:cubicBezTo>
                <a:lnTo>
                  <a:pt x="416719" y="426095"/>
                </a:lnTo>
                <a:cubicBezTo>
                  <a:pt x="416719" y="445889"/>
                  <a:pt x="400794" y="461814"/>
                  <a:pt x="381000" y="461814"/>
                </a:cubicBezTo>
                <a:cubicBezTo>
                  <a:pt x="361206" y="461814"/>
                  <a:pt x="345281" y="445889"/>
                  <a:pt x="345281" y="426095"/>
                </a:cubicBezTo>
                <a:lnTo>
                  <a:pt x="345281" y="414040"/>
                </a:lnTo>
                <a:cubicBezTo>
                  <a:pt x="345281" y="383530"/>
                  <a:pt x="367308" y="361652"/>
                  <a:pt x="390079" y="354211"/>
                </a:cubicBezTo>
                <a:cubicBezTo>
                  <a:pt x="399604" y="351086"/>
                  <a:pt x="409724" y="346025"/>
                  <a:pt x="417165" y="338882"/>
                </a:cubicBezTo>
                <a:cubicBezTo>
                  <a:pt x="423565" y="332631"/>
                  <a:pt x="428625" y="323999"/>
                  <a:pt x="428625" y="309711"/>
                </a:cubicBezTo>
                <a:cubicBezTo>
                  <a:pt x="428625" y="283369"/>
                  <a:pt x="407343" y="262086"/>
                  <a:pt x="381000" y="262086"/>
                </a:cubicBezTo>
                <a:close/>
                <a:moveTo>
                  <a:pt x="333375" y="547687"/>
                </a:moveTo>
                <a:cubicBezTo>
                  <a:pt x="333375" y="521403"/>
                  <a:pt x="354715" y="500063"/>
                  <a:pt x="381000" y="500063"/>
                </a:cubicBezTo>
                <a:cubicBezTo>
                  <a:pt x="407285" y="500063"/>
                  <a:pt x="428625" y="521403"/>
                  <a:pt x="428625" y="547687"/>
                </a:cubicBezTo>
                <a:cubicBezTo>
                  <a:pt x="428625" y="573972"/>
                  <a:pt x="407285" y="595313"/>
                  <a:pt x="381000" y="595313"/>
                </a:cubicBezTo>
                <a:cubicBezTo>
                  <a:pt x="354715" y="595313"/>
                  <a:pt x="333375" y="573972"/>
                  <a:pt x="333375" y="547687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0" name="Shape 7"/>
          <p:cNvSpPr/>
          <p:nvPr/>
        </p:nvSpPr>
        <p:spPr>
          <a:xfrm>
            <a:off x="2540000" y="6604000"/>
            <a:ext cx="11176000" cy="1270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857500" y="6794500"/>
            <a:ext cx="1054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D5C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Ali and Ahmed have phone numbers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Sara's phone number is missing (NULL)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NULL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7620000" cy="889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006600"/>
            <a:ext cx="69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to find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missing values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column.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556000"/>
            <a:ext cx="7620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6830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phone_number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NULL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5397500"/>
            <a:ext cx="7620000" cy="1016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79500" y="565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2" name="Text 10"/>
          <p:cNvSpPr/>
          <p:nvPr/>
        </p:nvSpPr>
        <p:spPr>
          <a:xfrm>
            <a:off x="1587500" y="5461000"/>
            <a:ext cx="647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NULL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= NULL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 = operator does not work with NULL!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22000" y="3175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031875" y="515937"/>
                </a:moveTo>
                <a:cubicBezTo>
                  <a:pt x="1031875" y="629791"/>
                  <a:pt x="994916" y="734963"/>
                  <a:pt x="932656" y="820291"/>
                </a:cubicBezTo>
                <a:lnTo>
                  <a:pt x="1246684" y="1134566"/>
                </a:lnTo>
                <a:cubicBezTo>
                  <a:pt x="1277689" y="1165572"/>
                  <a:pt x="1277689" y="1215926"/>
                  <a:pt x="1246684" y="1246932"/>
                </a:cubicBezTo>
                <a:cubicBezTo>
                  <a:pt x="1215678" y="1277938"/>
                  <a:pt x="1165324" y="1277938"/>
                  <a:pt x="1134318" y="1246932"/>
                </a:cubicBezTo>
                <a:lnTo>
                  <a:pt x="820291" y="932656"/>
                </a:lnTo>
                <a:cubicBezTo>
                  <a:pt x="734963" y="994916"/>
                  <a:pt x="629791" y="1031875"/>
                  <a:pt x="515937" y="1031875"/>
                </a:cubicBezTo>
                <a:cubicBezTo>
                  <a:pt x="230932" y="1031875"/>
                  <a:pt x="0" y="800943"/>
                  <a:pt x="0" y="515937"/>
                </a:cubicBezTo>
                <a:cubicBezTo>
                  <a:pt x="0" y="230932"/>
                  <a:pt x="230932" y="0"/>
                  <a:pt x="515937" y="0"/>
                </a:cubicBezTo>
                <a:cubicBezTo>
                  <a:pt x="800943" y="0"/>
                  <a:pt x="1031875" y="230932"/>
                  <a:pt x="1031875" y="515937"/>
                </a:cubicBezTo>
                <a:close/>
                <a:moveTo>
                  <a:pt x="337344" y="456406"/>
                </a:moveTo>
                <a:cubicBezTo>
                  <a:pt x="304354" y="456406"/>
                  <a:pt x="277813" y="482947"/>
                  <a:pt x="277813" y="515937"/>
                </a:cubicBezTo>
                <a:cubicBezTo>
                  <a:pt x="277813" y="548928"/>
                  <a:pt x="304354" y="575469"/>
                  <a:pt x="337344" y="575469"/>
                </a:cubicBezTo>
                <a:lnTo>
                  <a:pt x="694531" y="575469"/>
                </a:lnTo>
                <a:cubicBezTo>
                  <a:pt x="727521" y="575469"/>
                  <a:pt x="754063" y="548928"/>
                  <a:pt x="754063" y="515937"/>
                </a:cubicBezTo>
                <a:cubicBezTo>
                  <a:pt x="754063" y="482947"/>
                  <a:pt x="727521" y="456406"/>
                  <a:pt x="694531" y="456406"/>
                </a:cubicBezTo>
                <a:lnTo>
                  <a:pt x="337344" y="456406"/>
                </a:ln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4953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NULL searches for records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where the specified column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has no value stored.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OF IS NULL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1651000"/>
          <a:ext cx="11176000" cy="1905000"/>
        </p:xfrm>
        <a:graphic>
          <a:graphicData uri="http://schemas.openxmlformats.org/drawingml/2006/table">
            <a:tbl>
              <a:tblPr/>
              <a:tblGrid>
                <a:gridCol w="2235200"/>
                <a:gridCol w="3352800"/>
                <a:gridCol w="558800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emp_id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phone_number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D476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4191000"/>
            <a:ext cx="7620000" cy="1651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79500" y="4381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27125" y="4889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47625" y="0"/>
                </a:moveTo>
                <a:cubicBezTo>
                  <a:pt x="21357" y="0"/>
                  <a:pt x="0" y="21357"/>
                  <a:pt x="0" y="47625"/>
                </a:cubicBezTo>
                <a:lnTo>
                  <a:pt x="0" y="333375"/>
                </a:lnTo>
                <a:cubicBezTo>
                  <a:pt x="0" y="359643"/>
                  <a:pt x="21357" y="381000"/>
                  <a:pt x="47625" y="381000"/>
                </a:cubicBezTo>
                <a:lnTo>
                  <a:pt x="238125" y="381000"/>
                </a:lnTo>
                <a:cubicBezTo>
                  <a:pt x="264393" y="381000"/>
                  <a:pt x="285750" y="359643"/>
                  <a:pt x="285750" y="333375"/>
                </a:cubicBezTo>
                <a:lnTo>
                  <a:pt x="285750" y="47625"/>
                </a:lnTo>
                <a:cubicBezTo>
                  <a:pt x="285750" y="21357"/>
                  <a:pt x="264393" y="0"/>
                  <a:pt x="238125" y="0"/>
                </a:cubicBezTo>
                <a:lnTo>
                  <a:pt x="47625" y="0"/>
                </a:lnTo>
                <a:close/>
                <a:moveTo>
                  <a:pt x="130969" y="261938"/>
                </a:moveTo>
                <a:lnTo>
                  <a:pt x="154781" y="261938"/>
                </a:lnTo>
                <a:cubicBezTo>
                  <a:pt x="167953" y="261938"/>
                  <a:pt x="178594" y="272579"/>
                  <a:pt x="178594" y="285750"/>
                </a:cubicBezTo>
                <a:lnTo>
                  <a:pt x="178594" y="345281"/>
                </a:lnTo>
                <a:lnTo>
                  <a:pt x="107156" y="345281"/>
                </a:lnTo>
                <a:lnTo>
                  <a:pt x="107156" y="285750"/>
                </a:lnTo>
                <a:cubicBezTo>
                  <a:pt x="107156" y="272579"/>
                  <a:pt x="117797" y="261938"/>
                  <a:pt x="130969" y="261938"/>
                </a:cubicBezTo>
                <a:close/>
                <a:moveTo>
                  <a:pt x="71438" y="83344"/>
                </a:moveTo>
                <a:cubicBezTo>
                  <a:pt x="71438" y="76795"/>
                  <a:pt x="76795" y="71438"/>
                  <a:pt x="83344" y="71438"/>
                </a:cubicBezTo>
                <a:lnTo>
                  <a:pt x="107156" y="71438"/>
                </a:lnTo>
                <a:cubicBezTo>
                  <a:pt x="113705" y="71438"/>
                  <a:pt x="119063" y="76795"/>
                  <a:pt x="119063" y="83344"/>
                </a:cubicBezTo>
                <a:lnTo>
                  <a:pt x="119063" y="107156"/>
                </a:lnTo>
                <a:cubicBezTo>
                  <a:pt x="119063" y="113705"/>
                  <a:pt x="113705" y="119063"/>
                  <a:pt x="107156" y="119063"/>
                </a:cubicBezTo>
                <a:lnTo>
                  <a:pt x="83344" y="119063"/>
                </a:lnTo>
                <a:cubicBezTo>
                  <a:pt x="76795" y="119063"/>
                  <a:pt x="71438" y="113705"/>
                  <a:pt x="71438" y="107156"/>
                </a:cubicBezTo>
                <a:lnTo>
                  <a:pt x="71438" y="83344"/>
                </a:lnTo>
                <a:close/>
                <a:moveTo>
                  <a:pt x="178594" y="71438"/>
                </a:moveTo>
                <a:lnTo>
                  <a:pt x="202406" y="71438"/>
                </a:lnTo>
                <a:cubicBezTo>
                  <a:pt x="208955" y="71438"/>
                  <a:pt x="214313" y="76795"/>
                  <a:pt x="214313" y="83344"/>
                </a:cubicBezTo>
                <a:lnTo>
                  <a:pt x="214313" y="107156"/>
                </a:lnTo>
                <a:cubicBezTo>
                  <a:pt x="214313" y="113705"/>
                  <a:pt x="208955" y="119063"/>
                  <a:pt x="202406" y="119063"/>
                </a:cubicBezTo>
                <a:lnTo>
                  <a:pt x="178594" y="119063"/>
                </a:lnTo>
                <a:cubicBezTo>
                  <a:pt x="172045" y="119063"/>
                  <a:pt x="166688" y="113705"/>
                  <a:pt x="166688" y="107156"/>
                </a:cubicBezTo>
                <a:lnTo>
                  <a:pt x="166688" y="83344"/>
                </a:lnTo>
                <a:cubicBezTo>
                  <a:pt x="166688" y="76795"/>
                  <a:pt x="172045" y="71438"/>
                  <a:pt x="178594" y="71438"/>
                </a:cubicBezTo>
                <a:close/>
                <a:moveTo>
                  <a:pt x="71438" y="178594"/>
                </a:moveTo>
                <a:cubicBezTo>
                  <a:pt x="71438" y="172045"/>
                  <a:pt x="76795" y="166688"/>
                  <a:pt x="83344" y="166688"/>
                </a:cubicBezTo>
                <a:lnTo>
                  <a:pt x="107156" y="166688"/>
                </a:lnTo>
                <a:cubicBezTo>
                  <a:pt x="113705" y="166688"/>
                  <a:pt x="119063" y="172045"/>
                  <a:pt x="119063" y="178594"/>
                </a:cubicBezTo>
                <a:lnTo>
                  <a:pt x="119063" y="202406"/>
                </a:lnTo>
                <a:cubicBezTo>
                  <a:pt x="119063" y="208955"/>
                  <a:pt x="113705" y="214313"/>
                  <a:pt x="107156" y="214313"/>
                </a:cubicBezTo>
                <a:lnTo>
                  <a:pt x="83344" y="214313"/>
                </a:lnTo>
                <a:cubicBezTo>
                  <a:pt x="76795" y="214313"/>
                  <a:pt x="71438" y="208955"/>
                  <a:pt x="71438" y="202406"/>
                </a:cubicBezTo>
                <a:lnTo>
                  <a:pt x="71438" y="178594"/>
                </a:lnTo>
                <a:close/>
                <a:moveTo>
                  <a:pt x="178594" y="166688"/>
                </a:moveTo>
                <a:lnTo>
                  <a:pt x="202406" y="166688"/>
                </a:lnTo>
                <a:cubicBezTo>
                  <a:pt x="208955" y="166688"/>
                  <a:pt x="214313" y="172045"/>
                  <a:pt x="214313" y="178594"/>
                </a:cubicBezTo>
                <a:lnTo>
                  <a:pt x="214313" y="202406"/>
                </a:lnTo>
                <a:cubicBezTo>
                  <a:pt x="214313" y="208955"/>
                  <a:pt x="208955" y="214313"/>
                  <a:pt x="202406" y="214313"/>
                </a:cubicBezTo>
                <a:lnTo>
                  <a:pt x="178594" y="214313"/>
                </a:lnTo>
                <a:cubicBezTo>
                  <a:pt x="172045" y="214313"/>
                  <a:pt x="166688" y="208955"/>
                  <a:pt x="166688" y="202406"/>
                </a:cubicBezTo>
                <a:lnTo>
                  <a:pt x="166688" y="178594"/>
                </a:lnTo>
                <a:cubicBezTo>
                  <a:pt x="166688" y="172045"/>
                  <a:pt x="172045" y="166688"/>
                  <a:pt x="178594" y="166688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4762500"/>
            <a:ext cx="6413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Finding employees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phone numbers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update their contact records.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98000" y="419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USED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398000" y="4635500"/>
            <a:ext cx="6096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11" name="Text 8"/>
          <p:cNvSpPr/>
          <p:nvPr/>
        </p:nvSpPr>
        <p:spPr>
          <a:xfrm>
            <a:off x="9715500" y="4762500"/>
            <a:ext cx="546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phone_number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NULL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540000" y="6604000"/>
            <a:ext cx="11176000" cy="1016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0" y="685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4" name="Text 11"/>
          <p:cNvSpPr/>
          <p:nvPr/>
        </p:nvSpPr>
        <p:spPr>
          <a:xfrm>
            <a:off x="3365500" y="6731000"/>
            <a:ext cx="1003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Result: Only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Sara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returned because her phone_number is the only NULL value.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NOT NULL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2000" y="1879600"/>
            <a:ext cx="7620000" cy="889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006600"/>
            <a:ext cx="69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to find records with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available values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111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556000"/>
            <a:ext cx="7620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6830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phone_number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NOT NULL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922000" y="3175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1031875" y="515937"/>
                </a:moveTo>
                <a:cubicBezTo>
                  <a:pt x="1031875" y="629791"/>
                  <a:pt x="994916" y="734963"/>
                  <a:pt x="932656" y="820291"/>
                </a:cubicBezTo>
                <a:lnTo>
                  <a:pt x="1246684" y="1134566"/>
                </a:lnTo>
                <a:cubicBezTo>
                  <a:pt x="1277689" y="1165572"/>
                  <a:pt x="1277689" y="1215926"/>
                  <a:pt x="1246684" y="1246932"/>
                </a:cubicBezTo>
                <a:cubicBezTo>
                  <a:pt x="1215678" y="1277938"/>
                  <a:pt x="1165324" y="1277938"/>
                  <a:pt x="1134318" y="1246932"/>
                </a:cubicBezTo>
                <a:lnTo>
                  <a:pt x="820291" y="932656"/>
                </a:lnTo>
                <a:cubicBezTo>
                  <a:pt x="734963" y="994916"/>
                  <a:pt x="629791" y="1031875"/>
                  <a:pt x="515937" y="1031875"/>
                </a:cubicBezTo>
                <a:cubicBezTo>
                  <a:pt x="230932" y="1031875"/>
                  <a:pt x="0" y="800943"/>
                  <a:pt x="0" y="515937"/>
                </a:cubicBezTo>
                <a:cubicBezTo>
                  <a:pt x="0" y="230932"/>
                  <a:pt x="230932" y="0"/>
                  <a:pt x="515937" y="0"/>
                </a:cubicBezTo>
                <a:cubicBezTo>
                  <a:pt x="800943" y="0"/>
                  <a:pt x="1031875" y="230932"/>
                  <a:pt x="1031875" y="515937"/>
                </a:cubicBezTo>
                <a:close/>
                <a:moveTo>
                  <a:pt x="515937" y="277813"/>
                </a:moveTo>
                <a:cubicBezTo>
                  <a:pt x="482947" y="277813"/>
                  <a:pt x="456406" y="304354"/>
                  <a:pt x="456406" y="337344"/>
                </a:cubicBezTo>
                <a:lnTo>
                  <a:pt x="456406" y="456406"/>
                </a:lnTo>
                <a:lnTo>
                  <a:pt x="337344" y="456406"/>
                </a:lnTo>
                <a:cubicBezTo>
                  <a:pt x="304354" y="456406"/>
                  <a:pt x="277813" y="482947"/>
                  <a:pt x="277813" y="515937"/>
                </a:cubicBezTo>
                <a:cubicBezTo>
                  <a:pt x="277813" y="548928"/>
                  <a:pt x="304354" y="575469"/>
                  <a:pt x="337344" y="575469"/>
                </a:cubicBezTo>
                <a:lnTo>
                  <a:pt x="456406" y="575469"/>
                </a:lnTo>
                <a:lnTo>
                  <a:pt x="456406" y="694531"/>
                </a:lnTo>
                <a:cubicBezTo>
                  <a:pt x="456406" y="727521"/>
                  <a:pt x="482947" y="754063"/>
                  <a:pt x="515937" y="754063"/>
                </a:cubicBezTo>
                <a:cubicBezTo>
                  <a:pt x="548928" y="754063"/>
                  <a:pt x="575469" y="727521"/>
                  <a:pt x="575469" y="694531"/>
                </a:cubicBezTo>
                <a:lnTo>
                  <a:pt x="575469" y="575469"/>
                </a:lnTo>
                <a:lnTo>
                  <a:pt x="694531" y="575469"/>
                </a:lnTo>
                <a:cubicBezTo>
                  <a:pt x="727521" y="575469"/>
                  <a:pt x="754063" y="548928"/>
                  <a:pt x="754063" y="515937"/>
                </a:cubicBezTo>
                <a:cubicBezTo>
                  <a:pt x="754063" y="482947"/>
                  <a:pt x="727521" y="456406"/>
                  <a:pt x="694531" y="456406"/>
                </a:cubicBezTo>
                <a:lnTo>
                  <a:pt x="575469" y="456406"/>
                </a:lnTo>
                <a:lnTo>
                  <a:pt x="575469" y="337344"/>
                </a:lnTo>
                <a:cubicBezTo>
                  <a:pt x="575469" y="304354"/>
                  <a:pt x="548928" y="277813"/>
                  <a:pt x="515937" y="277813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4953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NOT NULL does the opposite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of IS NULL — it finds records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where data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present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5461000"/>
            <a:ext cx="7620000" cy="1270000"/>
          </a:xfrm>
          <a:prstGeom prst="roundRect">
            <a:avLst>
              <a:gd name="adj" fmla="val 6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7275" y="577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26846" y="260171"/>
                </a:moveTo>
                <a:lnTo>
                  <a:pt x="393521" y="193496"/>
                </a:lnTo>
                <a:cubicBezTo>
                  <a:pt x="402203" y="184815"/>
                  <a:pt x="402203" y="170716"/>
                  <a:pt x="393521" y="162034"/>
                </a:cubicBezTo>
                <a:lnTo>
                  <a:pt x="326846" y="95359"/>
                </a:lnTo>
                <a:cubicBezTo>
                  <a:pt x="318165" y="86678"/>
                  <a:pt x="304066" y="86678"/>
                  <a:pt x="295384" y="95359"/>
                </a:cubicBezTo>
                <a:cubicBezTo>
                  <a:pt x="286703" y="104041"/>
                  <a:pt x="286703" y="118140"/>
                  <a:pt x="295384" y="126821"/>
                </a:cubicBezTo>
                <a:lnTo>
                  <a:pt x="324138" y="155575"/>
                </a:lnTo>
                <a:lnTo>
                  <a:pt x="75843" y="155575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ubicBezTo>
                  <a:pt x="95915" y="86678"/>
                  <a:pt x="81816" y="86678"/>
                  <a:pt x="73134" y="95359"/>
                </a:cubicBezTo>
                <a:lnTo>
                  <a:pt x="6459" y="162034"/>
                </a:lnTo>
                <a:cubicBezTo>
                  <a:pt x="2292" y="166201"/>
                  <a:pt x="-69" y="171827"/>
                  <a:pt x="-69" y="177731"/>
                </a:cubicBezTo>
                <a:cubicBezTo>
                  <a:pt x="-69" y="183634"/>
                  <a:pt x="2292" y="189260"/>
                  <a:pt x="6459" y="193427"/>
                </a:cubicBezTo>
                <a:lnTo>
                  <a:pt x="73134" y="260102"/>
                </a:lnTo>
                <a:cubicBezTo>
                  <a:pt x="81816" y="268784"/>
                  <a:pt x="95915" y="268784"/>
                  <a:pt x="104596" y="260102"/>
                </a:cubicBezTo>
                <a:cubicBezTo>
                  <a:pt x="113278" y="251420"/>
                  <a:pt x="113278" y="237321"/>
                  <a:pt x="104596" y="228640"/>
                </a:cubicBezTo>
                <a:lnTo>
                  <a:pt x="75843" y="199886"/>
                </a:lnTo>
                <a:lnTo>
                  <a:pt x="324138" y="199886"/>
                </a:lnTo>
                <a:lnTo>
                  <a:pt x="295384" y="228640"/>
                </a:lnTo>
                <a:cubicBezTo>
                  <a:pt x="286703" y="237321"/>
                  <a:pt x="286703" y="251420"/>
                  <a:pt x="295384" y="260102"/>
                </a:cubicBezTo>
                <a:cubicBezTo>
                  <a:pt x="304066" y="268784"/>
                  <a:pt x="318165" y="268784"/>
                  <a:pt x="326846" y="260102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651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NULL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missing values |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 NOT NULL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= existing values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041400"/>
            <a:ext cx="635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0D5C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OF IS NOT NULL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40000" y="1651000"/>
          <a:ext cx="11176000" cy="2540000"/>
        </p:xfrm>
        <a:graphic>
          <a:graphicData uri="http://schemas.openxmlformats.org/drawingml/2006/table">
            <a:tbl>
              <a:tblPr/>
              <a:tblGrid>
                <a:gridCol w="2235200"/>
                <a:gridCol w="3352800"/>
                <a:gridCol w="5588000"/>
              </a:tblGrid>
              <a:tr h="84666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emp_id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phone_number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C4F"/>
                    </a:solidFill>
                  </a:tcPr>
                </a:tc>
              </a:tr>
              <a:tr h="846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0D5C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03001234567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667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0D5C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03111222333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69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USED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62000" y="5080000"/>
            <a:ext cx="7620000" cy="1397000"/>
          </a:xfrm>
          <a:prstGeom prst="roundRect">
            <a:avLst>
              <a:gd name="adj" fmla="val 6000"/>
            </a:avLst>
          </a:prstGeom>
          <a:solidFill>
            <a:srgbClr val="1E2328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" y="52070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phone_number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EC9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NOT NULL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4D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6858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0D5C4F">
              <a:alpha val="6275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0795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D5C4F"/>
          </a:solidFill>
          <a:ln/>
        </p:spPr>
      </p:sp>
      <p:sp>
        <p:nvSpPr>
          <p:cNvPr id="10" name="Text 7"/>
          <p:cNvSpPr/>
          <p:nvPr/>
        </p:nvSpPr>
        <p:spPr>
          <a:xfrm>
            <a:off x="1587500" y="6985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Result: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Ali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Ahmed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23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returned — they have phone numbers. Sara is excluded.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spc="1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5C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spc="300" kern="0" dirty="0">
                <a:solidFill>
                  <a:srgbClr val="F4F1E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01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 COVERED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159000"/>
            <a:ext cx="6858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Introduction to SQL DML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statement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Wildcard (*)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Attribute List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clause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Comparison operators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NULL values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NULL / IS NOT NULL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74000" y="1651000"/>
            <a:ext cx="25400" cy="54610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382000" y="16510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spc="2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UNDERSTANDING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2222500"/>
            <a:ext cx="6858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helps organizations: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records efficiently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Filter information precisely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 data quickly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F4F1E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Manage databases effectively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5080000"/>
            <a:ext cx="635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5334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B8D4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"Data is the new oil, and SQL is the refinery."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7112000"/>
            <a:ext cx="2286000" cy="508000"/>
          </a:xfrm>
          <a:prstGeom prst="roundRect">
            <a:avLst>
              <a:gd name="adj" fmla="val 8000"/>
            </a:avLst>
          </a:prstGeom>
          <a:solidFill>
            <a:srgbClr val="D476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7112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781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B8D4C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13 &amp; 14 — Introduction to SQL (DML)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B8D4C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 (DML)</dc:title>
  <dc:subject>Introduction to SQL (DML)</dc:subject>
  <dc:creator>Kimi</dc:creator>
  <cp:lastModifiedBy>Kimi</cp:lastModifiedBy>
  <cp:revision>1</cp:revision>
  <dcterms:created xsi:type="dcterms:W3CDTF">2026-05-22T12:40:36Z</dcterms:created>
  <dcterms:modified xsi:type="dcterms:W3CDTF">2026-05-22T12:40:36Z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{"Label":"Introduction to SQL (DML)","ContentProducer":"001191110108MACG2KBH8F10000","ProduceID":"19e4f52e-1e02-8a25-8000-0000b56afb7f","ReservedCode1":"","ContentPropagator":"001191110108MACG2KBH8F20000","PropagateID":"19e4f52e-1e02-8a25-8000-0000b56afb7f","ReservedCode2":""}</vt:lpwstr>
  </property>
</Properties>
</file>