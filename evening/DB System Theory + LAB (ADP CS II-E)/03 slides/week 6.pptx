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t7e2ukioavs/mnt/agents/output/sql-lecture/images/4_Teal_Data_Stream_Landscape_Futuristic.png">    </p:cNvPr>
          <p:cNvPicPr>
            <a:picLocks noChangeAspect="1"/>
          </p:cNvPicPr>
          <p:nvPr/>
        </p:nvPicPr>
        <p:blipFill>
          <a:blip r:embed="rId1"/>
          <a:srcRect l="111" r="11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E3D3D">
                  <a:alpha val="94000"/>
                </a:srgbClr>
              </a:gs>
              <a:gs pos="55000">
                <a:srgbClr val="1E3D3D">
                  <a:alpha val="75000"/>
                </a:srgbClr>
              </a:gs>
              <a:gs pos="100000">
                <a:srgbClr val="1E3D3D">
                  <a:alpha val="25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2286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spc="300" kern="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WEEK 6 — LECTURE 11 &amp; 12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62000" y="2794000"/>
            <a:ext cx="889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DATA</a:t>
            </a:r>
            <a:endParaRPr lang="en-US" sz="4000" dirty="0"/>
          </a:p>
          <a:p>
            <a:pPr>
              <a:lnSpc>
                <a:spcPct val="120000"/>
              </a:lnSpc>
            </a:pPr>
            <a:r>
              <a:rPr lang="en-US" sz="40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MANIPULATION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62000" y="4445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spc="4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TABLE ALTERATION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62000" y="5207000"/>
            <a:ext cx="1524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/>
          <p:nvPr/>
        </p:nvSpPr>
        <p:spPr>
          <a:xfrm>
            <a:off x="762000" y="5461000"/>
            <a:ext cx="635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ALTER TABLE — Add, Modify, Drop Columns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INSERT Statement — Adding Records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 Statement — Modifying Data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DELETE Statement — Removing Records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73660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 Focus: Student Management, Banking, Shopping Systems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C4843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ALTER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524000"/>
            <a:ext cx="190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20066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changes an existing table structure. Add, modify, or remove columns.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3124200"/>
            <a:ext cx="6858000" cy="2032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251200"/>
            <a:ext cx="254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16000" y="37338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 new columns to store additional data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Modify existing columns (datatype, size)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Remove columns that are no longer needed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5588000"/>
            <a:ext cx="317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Real-Life Example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6070600"/>
            <a:ext cx="6858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6223000"/>
            <a:ext cx="635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school database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initially stores: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 ID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Name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Later, administration decides to store: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Email</a:t>
            </a:r>
            <a:endParaRPr lang="en-US" sz="18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Phone Number</a:t>
            </a:r>
            <a:endParaRPr lang="en-US" sz="1800" dirty="0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E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 the table structure must be altered.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128000" y="1524000"/>
            <a:ext cx="7366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4" name="Text 12"/>
          <p:cNvSpPr/>
          <p:nvPr/>
        </p:nvSpPr>
        <p:spPr>
          <a:xfrm>
            <a:off x="8636000" y="1905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Evolution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36000" y="2362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8636000" y="266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TABLE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3048000"/>
          <a:ext cx="6350000" cy="1016000"/>
        </p:xfrm>
        <a:graphic>
          <a:graphicData uri="http://schemas.openxmlformats.org/drawingml/2006/table">
            <a:tbl>
              <a:tblPr/>
              <a:tblGrid>
                <a:gridCol w="3175000"/>
                <a:gridCol w="3175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11684000" y="4318000"/>
            <a:ext cx="508000" cy="508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4927600"/>
            <a:ext cx="635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email VARCHAR(100);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1684000" y="5765800"/>
            <a:ext cx="508000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21" name="Text 18"/>
          <p:cNvSpPr/>
          <p:nvPr/>
        </p:nvSpPr>
        <p:spPr>
          <a:xfrm>
            <a:off x="8636000" y="635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TABLE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36000" y="6731000"/>
          <a:ext cx="6350000" cy="1016000"/>
        </p:xfrm>
        <a:graphic>
          <a:graphicData uri="http://schemas.openxmlformats.org/drawingml/2006/table">
            <a:tbl>
              <a:tblPr/>
              <a:tblGrid>
                <a:gridCol w="2095500"/>
                <a:gridCol w="2159000"/>
                <a:gridCol w="20955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ALTER TABLE is Important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524000"/>
            <a:ext cx="190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62000" y="1981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61131" y="238919"/>
                </a:moveTo>
                <a:lnTo>
                  <a:pt x="161131" y="194469"/>
                </a:lnTo>
                <a:lnTo>
                  <a:pt x="116681" y="194469"/>
                </a:lnTo>
                <a:cubicBezTo>
                  <a:pt x="107444" y="194469"/>
                  <a:pt x="100013" y="187037"/>
                  <a:pt x="100013" y="177800"/>
                </a:cubicBezTo>
                <a:cubicBezTo>
                  <a:pt x="100013" y="168563"/>
                  <a:pt x="107444" y="161131"/>
                  <a:pt x="116681" y="161131"/>
                </a:cubicBezTo>
                <a:lnTo>
                  <a:pt x="161131" y="161131"/>
                </a:lnTo>
                <a:lnTo>
                  <a:pt x="161131" y="116681"/>
                </a:lnTo>
                <a:cubicBezTo>
                  <a:pt x="161131" y="107444"/>
                  <a:pt x="168563" y="100013"/>
                  <a:pt x="177800" y="100013"/>
                </a:cubicBezTo>
                <a:cubicBezTo>
                  <a:pt x="187037" y="100013"/>
                  <a:pt x="194469" y="107444"/>
                  <a:pt x="194469" y="116681"/>
                </a:cubicBezTo>
                <a:lnTo>
                  <a:pt x="194469" y="161131"/>
                </a:lnTo>
                <a:lnTo>
                  <a:pt x="238919" y="161131"/>
                </a:lnTo>
                <a:cubicBezTo>
                  <a:pt x="248156" y="161131"/>
                  <a:pt x="255587" y="168563"/>
                  <a:pt x="255587" y="177800"/>
                </a:cubicBezTo>
                <a:cubicBezTo>
                  <a:pt x="255587" y="187037"/>
                  <a:pt x="248156" y="194469"/>
                  <a:pt x="238919" y="194469"/>
                </a:cubicBezTo>
                <a:lnTo>
                  <a:pt x="194469" y="194469"/>
                </a:lnTo>
                <a:lnTo>
                  <a:pt x="194469" y="238919"/>
                </a:lnTo>
                <a:cubicBezTo>
                  <a:pt x="194469" y="248156"/>
                  <a:pt x="187037" y="255587"/>
                  <a:pt x="177800" y="255587"/>
                </a:cubicBezTo>
                <a:cubicBezTo>
                  <a:pt x="168563" y="255587"/>
                  <a:pt x="161131" y="248156"/>
                  <a:pt x="161131" y="238919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133600"/>
            <a:ext cx="2489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new business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45000" y="19812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4699000" y="215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5770" y="158700"/>
                </a:moveTo>
                <a:cubicBezTo>
                  <a:pt x="55007" y="94109"/>
                  <a:pt x="110639" y="44450"/>
                  <a:pt x="177800" y="44450"/>
                </a:cubicBezTo>
                <a:cubicBezTo>
                  <a:pt x="214610" y="44450"/>
                  <a:pt x="247948" y="59382"/>
                  <a:pt x="272117" y="83483"/>
                </a:cubicBezTo>
                <a:cubicBezTo>
                  <a:pt x="272256" y="83622"/>
                  <a:pt x="272395" y="83760"/>
                  <a:pt x="272534" y="83899"/>
                </a:cubicBezTo>
                <a:lnTo>
                  <a:pt x="277813" y="88900"/>
                </a:lnTo>
                <a:lnTo>
                  <a:pt x="244544" y="88900"/>
                </a:lnTo>
                <a:cubicBezTo>
                  <a:pt x="232251" y="88900"/>
                  <a:pt x="222319" y="98832"/>
                  <a:pt x="222319" y="111125"/>
                </a:cubicBezTo>
                <a:cubicBezTo>
                  <a:pt x="222319" y="123418"/>
                  <a:pt x="232251" y="133350"/>
                  <a:pt x="244544" y="133350"/>
                </a:cubicBezTo>
                <a:lnTo>
                  <a:pt x="333444" y="133350"/>
                </a:lnTo>
                <a:cubicBezTo>
                  <a:pt x="345738" y="133350"/>
                  <a:pt x="355669" y="123418"/>
                  <a:pt x="355669" y="111125"/>
                </a:cubicBezTo>
                <a:lnTo>
                  <a:pt x="355669" y="22225"/>
                </a:lnTo>
                <a:cubicBezTo>
                  <a:pt x="355669" y="9932"/>
                  <a:pt x="345738" y="0"/>
                  <a:pt x="333444" y="0"/>
                </a:cubicBezTo>
                <a:cubicBezTo>
                  <a:pt x="321151" y="0"/>
                  <a:pt x="311219" y="9932"/>
                  <a:pt x="311219" y="22225"/>
                </a:cubicBezTo>
                <a:lnTo>
                  <a:pt x="311219" y="59313"/>
                </a:lnTo>
                <a:lnTo>
                  <a:pt x="303371" y="51881"/>
                </a:lnTo>
                <a:cubicBezTo>
                  <a:pt x="271214" y="19864"/>
                  <a:pt x="226764" y="0"/>
                  <a:pt x="177800" y="0"/>
                </a:cubicBezTo>
                <a:cubicBezTo>
                  <a:pt x="88205" y="0"/>
                  <a:pt x="14099" y="66258"/>
                  <a:pt x="1806" y="152450"/>
                </a:cubicBezTo>
                <a:cubicBezTo>
                  <a:pt x="69" y="164604"/>
                  <a:pt x="8473" y="175855"/>
                  <a:pt x="20628" y="177592"/>
                </a:cubicBezTo>
                <a:cubicBezTo>
                  <a:pt x="32782" y="179328"/>
                  <a:pt x="44033" y="170855"/>
                  <a:pt x="45770" y="158770"/>
                </a:cubicBezTo>
                <a:close/>
                <a:moveTo>
                  <a:pt x="353794" y="203150"/>
                </a:moveTo>
                <a:cubicBezTo>
                  <a:pt x="355531" y="190996"/>
                  <a:pt x="347057" y="179745"/>
                  <a:pt x="334972" y="178008"/>
                </a:cubicBezTo>
                <a:cubicBezTo>
                  <a:pt x="322888" y="176272"/>
                  <a:pt x="311567" y="184745"/>
                  <a:pt x="309830" y="196830"/>
                </a:cubicBezTo>
                <a:cubicBezTo>
                  <a:pt x="300593" y="261422"/>
                  <a:pt x="244961" y="311081"/>
                  <a:pt x="177800" y="311081"/>
                </a:cubicBezTo>
                <a:cubicBezTo>
                  <a:pt x="140990" y="311081"/>
                  <a:pt x="107652" y="296148"/>
                  <a:pt x="83483" y="272048"/>
                </a:cubicBezTo>
                <a:cubicBezTo>
                  <a:pt x="83344" y="271909"/>
                  <a:pt x="83205" y="271770"/>
                  <a:pt x="83066" y="271631"/>
                </a:cubicBezTo>
                <a:lnTo>
                  <a:pt x="77787" y="266631"/>
                </a:lnTo>
                <a:lnTo>
                  <a:pt x="111056" y="266631"/>
                </a:lnTo>
                <a:cubicBezTo>
                  <a:pt x="123349" y="266631"/>
                  <a:pt x="133281" y="256699"/>
                  <a:pt x="133281" y="244406"/>
                </a:cubicBezTo>
                <a:cubicBezTo>
                  <a:pt x="133281" y="232112"/>
                  <a:pt x="123349" y="222181"/>
                  <a:pt x="111056" y="222181"/>
                </a:cubicBezTo>
                <a:lnTo>
                  <a:pt x="22225" y="222250"/>
                </a:lnTo>
                <a:cubicBezTo>
                  <a:pt x="16321" y="222250"/>
                  <a:pt x="10626" y="224611"/>
                  <a:pt x="6459" y="228848"/>
                </a:cubicBezTo>
                <a:cubicBezTo>
                  <a:pt x="2292" y="233085"/>
                  <a:pt x="-69" y="238710"/>
                  <a:pt x="0" y="244683"/>
                </a:cubicBezTo>
                <a:lnTo>
                  <a:pt x="695" y="332889"/>
                </a:lnTo>
                <a:cubicBezTo>
                  <a:pt x="764" y="345182"/>
                  <a:pt x="10835" y="355044"/>
                  <a:pt x="23128" y="354905"/>
                </a:cubicBezTo>
                <a:cubicBezTo>
                  <a:pt x="35421" y="354767"/>
                  <a:pt x="45283" y="344765"/>
                  <a:pt x="45145" y="332472"/>
                </a:cubicBezTo>
                <a:lnTo>
                  <a:pt x="44867" y="296704"/>
                </a:lnTo>
                <a:lnTo>
                  <a:pt x="52298" y="303719"/>
                </a:lnTo>
                <a:cubicBezTo>
                  <a:pt x="84455" y="335736"/>
                  <a:pt x="128836" y="355600"/>
                  <a:pt x="177800" y="355600"/>
                </a:cubicBezTo>
                <a:cubicBezTo>
                  <a:pt x="267395" y="355600"/>
                  <a:pt x="341501" y="289342"/>
                  <a:pt x="353794" y="203150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1" name="Text 9"/>
          <p:cNvSpPr/>
          <p:nvPr/>
        </p:nvSpPr>
        <p:spPr>
          <a:xfrm>
            <a:off x="5181600" y="2133600"/>
            <a:ext cx="2489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database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4798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8225" y="3657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94942" y="4098"/>
                </a:moveTo>
                <a:cubicBezTo>
                  <a:pt x="97998" y="-5001"/>
                  <a:pt x="106472" y="-11112"/>
                  <a:pt x="116056" y="-11112"/>
                </a:cubicBezTo>
                <a:lnTo>
                  <a:pt x="195163" y="-11112"/>
                </a:lnTo>
                <a:cubicBezTo>
                  <a:pt x="204748" y="-11112"/>
                  <a:pt x="213221" y="-5001"/>
                  <a:pt x="216277" y="4098"/>
                </a:cubicBezTo>
                <a:lnTo>
                  <a:pt x="222250" y="22225"/>
                </a:lnTo>
                <a:lnTo>
                  <a:pt x="288925" y="22225"/>
                </a:lnTo>
                <a:cubicBezTo>
                  <a:pt x="301218" y="22225"/>
                  <a:pt x="311150" y="32157"/>
                  <a:pt x="311150" y="44450"/>
                </a:cubicBezTo>
                <a:cubicBezTo>
                  <a:pt x="311150" y="56743"/>
                  <a:pt x="301218" y="66675"/>
                  <a:pt x="288925" y="66675"/>
                </a:cubicBezTo>
                <a:lnTo>
                  <a:pt x="22225" y="66675"/>
                </a:lnTo>
                <a:cubicBezTo>
                  <a:pt x="9932" y="66675"/>
                  <a:pt x="0" y="56743"/>
                  <a:pt x="0" y="44450"/>
                </a:cubicBezTo>
                <a:cubicBezTo>
                  <a:pt x="0" y="32157"/>
                  <a:pt x="9932" y="22225"/>
                  <a:pt x="22225" y="22225"/>
                </a:cubicBezTo>
                <a:lnTo>
                  <a:pt x="88900" y="22225"/>
                </a:lnTo>
                <a:lnTo>
                  <a:pt x="94942" y="4098"/>
                </a:lnTo>
                <a:close/>
                <a:moveTo>
                  <a:pt x="22225" y="100013"/>
                </a:moveTo>
                <a:lnTo>
                  <a:pt x="288925" y="100013"/>
                </a:lnTo>
                <a:lnTo>
                  <a:pt x="288925" y="311150"/>
                </a:lnTo>
                <a:cubicBezTo>
                  <a:pt x="288925" y="335667"/>
                  <a:pt x="268992" y="355600"/>
                  <a:pt x="244475" y="355600"/>
                </a:cubicBezTo>
                <a:lnTo>
                  <a:pt x="66675" y="355600"/>
                </a:lnTo>
                <a:cubicBezTo>
                  <a:pt x="42158" y="355600"/>
                  <a:pt x="22225" y="335667"/>
                  <a:pt x="22225" y="311150"/>
                </a:cubicBezTo>
                <a:lnTo>
                  <a:pt x="22225" y="100013"/>
                </a:lnTo>
                <a:close/>
                <a:moveTo>
                  <a:pt x="83344" y="144463"/>
                </a:moveTo>
                <a:cubicBezTo>
                  <a:pt x="74106" y="144463"/>
                  <a:pt x="66675" y="151894"/>
                  <a:pt x="66675" y="161131"/>
                </a:cubicBezTo>
                <a:lnTo>
                  <a:pt x="66675" y="294481"/>
                </a:lnTo>
                <a:cubicBezTo>
                  <a:pt x="66675" y="303719"/>
                  <a:pt x="74106" y="311150"/>
                  <a:pt x="83344" y="311150"/>
                </a:cubicBezTo>
                <a:cubicBezTo>
                  <a:pt x="92581" y="311150"/>
                  <a:pt x="100013" y="303719"/>
                  <a:pt x="100013" y="294481"/>
                </a:cubicBezTo>
                <a:lnTo>
                  <a:pt x="100013" y="161131"/>
                </a:lnTo>
                <a:cubicBezTo>
                  <a:pt x="100013" y="151894"/>
                  <a:pt x="92581" y="144463"/>
                  <a:pt x="83344" y="144463"/>
                </a:cubicBezTo>
                <a:close/>
                <a:moveTo>
                  <a:pt x="155575" y="144463"/>
                </a:moveTo>
                <a:cubicBezTo>
                  <a:pt x="146338" y="144463"/>
                  <a:pt x="138906" y="151894"/>
                  <a:pt x="138906" y="161131"/>
                </a:cubicBezTo>
                <a:lnTo>
                  <a:pt x="138906" y="294481"/>
                </a:lnTo>
                <a:cubicBezTo>
                  <a:pt x="138906" y="303719"/>
                  <a:pt x="146338" y="311150"/>
                  <a:pt x="155575" y="311150"/>
                </a:cubicBezTo>
                <a:cubicBezTo>
                  <a:pt x="164812" y="311150"/>
                  <a:pt x="172244" y="303719"/>
                  <a:pt x="172244" y="294481"/>
                </a:cubicBezTo>
                <a:lnTo>
                  <a:pt x="172244" y="161131"/>
                </a:lnTo>
                <a:cubicBezTo>
                  <a:pt x="172244" y="151894"/>
                  <a:pt x="164812" y="144463"/>
                  <a:pt x="155575" y="144463"/>
                </a:cubicBezTo>
                <a:close/>
                <a:moveTo>
                  <a:pt x="227806" y="144463"/>
                </a:moveTo>
                <a:cubicBezTo>
                  <a:pt x="218569" y="144463"/>
                  <a:pt x="211138" y="151894"/>
                  <a:pt x="211138" y="161131"/>
                </a:cubicBezTo>
                <a:lnTo>
                  <a:pt x="211138" y="294481"/>
                </a:lnTo>
                <a:cubicBezTo>
                  <a:pt x="211138" y="303719"/>
                  <a:pt x="218569" y="311150"/>
                  <a:pt x="227806" y="311150"/>
                </a:cubicBezTo>
                <a:cubicBezTo>
                  <a:pt x="237044" y="311150"/>
                  <a:pt x="244475" y="303719"/>
                  <a:pt x="244475" y="294481"/>
                </a:cubicBezTo>
                <a:lnTo>
                  <a:pt x="244475" y="161131"/>
                </a:lnTo>
                <a:cubicBezTo>
                  <a:pt x="244475" y="151894"/>
                  <a:pt x="237044" y="144463"/>
                  <a:pt x="227806" y="144463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3632200"/>
            <a:ext cx="2489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unnecessary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fields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45000" y="3479800"/>
            <a:ext cx="3429000" cy="127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6" name="Shape 14"/>
          <p:cNvSpPr/>
          <p:nvPr/>
        </p:nvSpPr>
        <p:spPr>
          <a:xfrm>
            <a:off x="4699000" y="3657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27541" y="15071"/>
                </a:moveTo>
                <a:cubicBezTo>
                  <a:pt x="312331" y="-139"/>
                  <a:pt x="287744" y="-139"/>
                  <a:pt x="272534" y="15071"/>
                </a:cubicBezTo>
                <a:lnTo>
                  <a:pt x="255587" y="32018"/>
                </a:lnTo>
                <a:lnTo>
                  <a:pt x="323582" y="100013"/>
                </a:lnTo>
                <a:lnTo>
                  <a:pt x="340529" y="83066"/>
                </a:lnTo>
                <a:cubicBezTo>
                  <a:pt x="355739" y="67856"/>
                  <a:pt x="355739" y="43269"/>
                  <a:pt x="340529" y="28059"/>
                </a:cubicBezTo>
                <a:lnTo>
                  <a:pt x="327541" y="15071"/>
                </a:lnTo>
                <a:close/>
                <a:moveTo>
                  <a:pt x="119737" y="167868"/>
                </a:moveTo>
                <a:cubicBezTo>
                  <a:pt x="115501" y="172105"/>
                  <a:pt x="112236" y="177314"/>
                  <a:pt x="110361" y="183078"/>
                </a:cubicBezTo>
                <a:lnTo>
                  <a:pt x="89803" y="244753"/>
                </a:lnTo>
                <a:cubicBezTo>
                  <a:pt x="87789" y="250726"/>
                  <a:pt x="89386" y="257324"/>
                  <a:pt x="93831" y="261838"/>
                </a:cubicBezTo>
                <a:cubicBezTo>
                  <a:pt x="98276" y="266353"/>
                  <a:pt x="104874" y="267881"/>
                  <a:pt x="110917" y="265867"/>
                </a:cubicBezTo>
                <a:lnTo>
                  <a:pt x="172591" y="245308"/>
                </a:lnTo>
                <a:cubicBezTo>
                  <a:pt x="178286" y="243433"/>
                  <a:pt x="183495" y="240169"/>
                  <a:pt x="187801" y="235932"/>
                </a:cubicBezTo>
                <a:lnTo>
                  <a:pt x="300038" y="123557"/>
                </a:lnTo>
                <a:lnTo>
                  <a:pt x="232043" y="55563"/>
                </a:lnTo>
                <a:lnTo>
                  <a:pt x="119737" y="167868"/>
                </a:lnTo>
                <a:close/>
                <a:moveTo>
                  <a:pt x="66675" y="44450"/>
                </a:moveTo>
                <a:cubicBezTo>
                  <a:pt x="29865" y="44450"/>
                  <a:pt x="0" y="74315"/>
                  <a:pt x="0" y="111125"/>
                </a:cubicBezTo>
                <a:lnTo>
                  <a:pt x="0" y="288925"/>
                </a:lnTo>
                <a:cubicBezTo>
                  <a:pt x="0" y="325735"/>
                  <a:pt x="29865" y="355600"/>
                  <a:pt x="66675" y="355600"/>
                </a:cubicBezTo>
                <a:lnTo>
                  <a:pt x="244475" y="355600"/>
                </a:lnTo>
                <a:cubicBezTo>
                  <a:pt x="281285" y="355600"/>
                  <a:pt x="311150" y="325735"/>
                  <a:pt x="311150" y="288925"/>
                </a:cubicBezTo>
                <a:lnTo>
                  <a:pt x="311150" y="222250"/>
                </a:lnTo>
                <a:cubicBezTo>
                  <a:pt x="311150" y="209957"/>
                  <a:pt x="301218" y="200025"/>
                  <a:pt x="288925" y="200025"/>
                </a:cubicBezTo>
                <a:cubicBezTo>
                  <a:pt x="276632" y="200025"/>
                  <a:pt x="266700" y="209957"/>
                  <a:pt x="266700" y="222250"/>
                </a:cubicBezTo>
                <a:lnTo>
                  <a:pt x="266700" y="288925"/>
                </a:lnTo>
                <a:cubicBezTo>
                  <a:pt x="266700" y="301218"/>
                  <a:pt x="256768" y="311150"/>
                  <a:pt x="244475" y="311150"/>
                </a:cubicBezTo>
                <a:lnTo>
                  <a:pt x="66675" y="311150"/>
                </a:lnTo>
                <a:cubicBezTo>
                  <a:pt x="54382" y="311150"/>
                  <a:pt x="44450" y="301218"/>
                  <a:pt x="44450" y="288925"/>
                </a:cubicBezTo>
                <a:lnTo>
                  <a:pt x="44450" y="111125"/>
                </a:lnTo>
                <a:cubicBezTo>
                  <a:pt x="44450" y="98832"/>
                  <a:pt x="54382" y="88900"/>
                  <a:pt x="66675" y="88900"/>
                </a:cubicBezTo>
                <a:lnTo>
                  <a:pt x="133350" y="88900"/>
                </a:lnTo>
                <a:cubicBezTo>
                  <a:pt x="145643" y="88900"/>
                  <a:pt x="155575" y="78968"/>
                  <a:pt x="155575" y="66675"/>
                </a:cubicBezTo>
                <a:cubicBezTo>
                  <a:pt x="155575" y="54382"/>
                  <a:pt x="145643" y="44450"/>
                  <a:pt x="133350" y="44450"/>
                </a:cubicBezTo>
                <a:lnTo>
                  <a:pt x="66675" y="44450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7" name="Text 15"/>
          <p:cNvSpPr/>
          <p:nvPr/>
        </p:nvSpPr>
        <p:spPr>
          <a:xfrm>
            <a:off x="5181600" y="3632200"/>
            <a:ext cx="2489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data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2070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Real-Life Scenario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2000" y="5689600"/>
            <a:ext cx="7112000" cy="292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8850" y="58674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1431" y="-14287"/>
                </a:moveTo>
                <a:cubicBezTo>
                  <a:pt x="9555" y="-14287"/>
                  <a:pt x="0" y="-4733"/>
                  <a:pt x="0" y="7144"/>
                </a:cubicBezTo>
                <a:cubicBezTo>
                  <a:pt x="0" y="19020"/>
                  <a:pt x="9555" y="28575"/>
                  <a:pt x="21431" y="28575"/>
                </a:cubicBezTo>
                <a:lnTo>
                  <a:pt x="61883" y="28575"/>
                </a:lnTo>
                <a:cubicBezTo>
                  <a:pt x="65365" y="28575"/>
                  <a:pt x="68312" y="31075"/>
                  <a:pt x="68937" y="34469"/>
                </a:cubicBezTo>
                <a:lnTo>
                  <a:pt x="115461" y="290126"/>
                </a:lnTo>
                <a:cubicBezTo>
                  <a:pt x="120997" y="320665"/>
                  <a:pt x="147608" y="342900"/>
                  <a:pt x="178683" y="342900"/>
                </a:cubicBezTo>
                <a:lnTo>
                  <a:pt x="407194" y="342900"/>
                </a:lnTo>
                <a:cubicBezTo>
                  <a:pt x="419070" y="342900"/>
                  <a:pt x="428625" y="333345"/>
                  <a:pt x="428625" y="321469"/>
                </a:cubicBezTo>
                <a:cubicBezTo>
                  <a:pt x="428625" y="309592"/>
                  <a:pt x="419070" y="300038"/>
                  <a:pt x="407194" y="300038"/>
                </a:cubicBezTo>
                <a:lnTo>
                  <a:pt x="178683" y="300038"/>
                </a:lnTo>
                <a:cubicBezTo>
                  <a:pt x="168325" y="300038"/>
                  <a:pt x="159484" y="292626"/>
                  <a:pt x="157609" y="282446"/>
                </a:cubicBezTo>
                <a:lnTo>
                  <a:pt x="153055" y="257175"/>
                </a:lnTo>
                <a:lnTo>
                  <a:pt x="424160" y="257175"/>
                </a:lnTo>
                <a:cubicBezTo>
                  <a:pt x="451664" y="257175"/>
                  <a:pt x="475238" y="237619"/>
                  <a:pt x="480328" y="210562"/>
                </a:cubicBezTo>
                <a:lnTo>
                  <a:pt x="508010" y="62419"/>
                </a:lnTo>
                <a:cubicBezTo>
                  <a:pt x="511314" y="44827"/>
                  <a:pt x="497830" y="28575"/>
                  <a:pt x="479881" y="28575"/>
                </a:cubicBezTo>
                <a:lnTo>
                  <a:pt x="111353" y="28575"/>
                </a:lnTo>
                <a:lnTo>
                  <a:pt x="110996" y="26789"/>
                </a:lnTo>
                <a:cubicBezTo>
                  <a:pt x="106710" y="3036"/>
                  <a:pt x="85993" y="-14287"/>
                  <a:pt x="61793" y="-14287"/>
                </a:cubicBezTo>
                <a:lnTo>
                  <a:pt x="21431" y="-14287"/>
                </a:lnTo>
                <a:close/>
                <a:moveTo>
                  <a:pt x="185738" y="457200"/>
                </a:moveTo>
                <a:cubicBezTo>
                  <a:pt x="209394" y="457200"/>
                  <a:pt x="228600" y="437994"/>
                  <a:pt x="228600" y="414338"/>
                </a:cubicBezTo>
                <a:cubicBezTo>
                  <a:pt x="228600" y="390681"/>
                  <a:pt x="209394" y="371475"/>
                  <a:pt x="185738" y="371475"/>
                </a:cubicBezTo>
                <a:cubicBezTo>
                  <a:pt x="162081" y="371475"/>
                  <a:pt x="142875" y="390681"/>
                  <a:pt x="142875" y="414338"/>
                </a:cubicBezTo>
                <a:cubicBezTo>
                  <a:pt x="142875" y="437994"/>
                  <a:pt x="162081" y="457200"/>
                  <a:pt x="185738" y="457200"/>
                </a:cubicBezTo>
                <a:close/>
                <a:moveTo>
                  <a:pt x="385763" y="457200"/>
                </a:moveTo>
                <a:cubicBezTo>
                  <a:pt x="409419" y="457200"/>
                  <a:pt x="428625" y="437994"/>
                  <a:pt x="428625" y="414338"/>
                </a:cubicBezTo>
                <a:cubicBezTo>
                  <a:pt x="428625" y="390681"/>
                  <a:pt x="409419" y="371475"/>
                  <a:pt x="385763" y="371475"/>
                </a:cubicBezTo>
                <a:cubicBezTo>
                  <a:pt x="362106" y="371475"/>
                  <a:pt x="342900" y="390681"/>
                  <a:pt x="342900" y="414338"/>
                </a:cubicBezTo>
                <a:cubicBezTo>
                  <a:pt x="342900" y="437994"/>
                  <a:pt x="362106" y="457200"/>
                  <a:pt x="385763" y="457200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1" name="Text 19"/>
          <p:cNvSpPr/>
          <p:nvPr/>
        </p:nvSpPr>
        <p:spPr>
          <a:xfrm>
            <a:off x="1651000" y="58928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Shopping Website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6000" y="6477000"/>
            <a:ext cx="660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online shopping platform decides to add new features: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 loyalty points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reward returning customers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Delivery status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track order fulfillment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database must be updated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deleting old data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ALTER TABLE makes this possible.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20320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Principle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8890000" y="2794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ALTER TABLE allows you to evolve your database schema to meet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changing business needs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losing existing data.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critical for production systems where data preservation is paramount.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90000" y="5588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CODE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890000" y="5969000"/>
            <a:ext cx="6096000" cy="2286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0" y="6172200"/>
            <a:ext cx="558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loyalty_points INT;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delivery_status VARCHAR(50);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 of ALTER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8890000" cy="1143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24000"/>
            <a:ext cx="76200" cy="11430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1625600"/>
            <a:ext cx="165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 COLUMN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930400"/>
            <a:ext cx="833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 datatype;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2895600"/>
            <a:ext cx="8890000" cy="1143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2895600"/>
            <a:ext cx="76200" cy="11430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2997200"/>
            <a:ext cx="203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 COLUMN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66800" y="3302000"/>
            <a:ext cx="833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 datatype;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267200"/>
            <a:ext cx="8890000" cy="1143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267200"/>
            <a:ext cx="76200" cy="11430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368800"/>
            <a:ext cx="190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COLUMN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" y="4673600"/>
            <a:ext cx="8331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table_name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COLUMN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7658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 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62000" y="6223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1E3D3D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6223000"/>
            <a:ext cx="254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Old Table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556000" y="6578600"/>
            <a:ext cx="1016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21" name="Shape 19"/>
          <p:cNvSpPr/>
          <p:nvPr/>
        </p:nvSpPr>
        <p:spPr>
          <a:xfrm>
            <a:off x="4826000" y="6223000"/>
            <a:ext cx="3048000" cy="1016000"/>
          </a:xfrm>
          <a:prstGeom prst="roundRect">
            <a:avLst>
              <a:gd name="adj" fmla="val 10000"/>
            </a:avLst>
          </a:prstGeom>
          <a:solidFill>
            <a:srgbClr val="C4843C"/>
          </a:solidFill>
          <a:ln/>
        </p:spPr>
      </p:sp>
      <p:sp>
        <p:nvSpPr>
          <p:cNvPr id="22" name="Text 20"/>
          <p:cNvSpPr/>
          <p:nvPr/>
        </p:nvSpPr>
        <p:spPr>
          <a:xfrm>
            <a:off x="4826000" y="6223000"/>
            <a:ext cx="304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128000" y="6578600"/>
            <a:ext cx="10160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24" name="Shape 22"/>
          <p:cNvSpPr/>
          <p:nvPr/>
        </p:nvSpPr>
        <p:spPr>
          <a:xfrm>
            <a:off x="9398000" y="6223000"/>
            <a:ext cx="3048000" cy="1016000"/>
          </a:xfrm>
          <a:prstGeom prst="roundRect">
            <a:avLst>
              <a:gd name="adj" fmla="val 10000"/>
            </a:avLst>
          </a:prstGeom>
          <a:solidFill>
            <a:srgbClr val="4A7C6F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0" y="6223000"/>
            <a:ext cx="304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Table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160000" y="1524000"/>
            <a:ext cx="5588000" cy="4318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541000" y="1778000"/>
            <a:ext cx="482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541000" y="2209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0541000" y="2463800"/>
            <a:ext cx="4826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when you need new data fields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when data types need changing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DROP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Use with caution; data is lost permanently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backup before using DROP!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Sample 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524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54200"/>
            <a:ext cx="8001000" cy="16764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54200"/>
            <a:ext cx="76200" cy="16764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955800"/>
            <a:ext cx="749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 (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student_id 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PRIMARY KEY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(50),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</a:t>
            </a:r>
            <a:pPr>
              <a:lnSpc>
                <a:spcPct val="12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8100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STRUCTURE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91000"/>
          <a:ext cx="7620000" cy="1397000"/>
        </p:xfrm>
        <a:graphic>
          <a:graphicData uri="http://schemas.openxmlformats.org/drawingml/2006/table">
            <a:tbl>
              <a:tblPr/>
              <a:tblGrid>
                <a:gridCol w="2514600"/>
                <a:gridCol w="2590800"/>
                <a:gridCol w="25146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62000" y="5969000"/>
            <a:ext cx="7620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00" y="61468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E3D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 Definitions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016000" y="66040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student_id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Integer, Primary Key (unique identifier)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Variable character string, max 50 chars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Integer value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table will be used for all ALTER TABLE demonstrations.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890000" y="1651000"/>
            <a:ext cx="6604000" cy="6985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5" name="Text 12"/>
          <p:cNvSpPr/>
          <p:nvPr/>
        </p:nvSpPr>
        <p:spPr>
          <a:xfrm>
            <a:off x="9271000" y="19812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Types Used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271000" y="24130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7" name="Text 14"/>
          <p:cNvSpPr/>
          <p:nvPr/>
        </p:nvSpPr>
        <p:spPr>
          <a:xfrm>
            <a:off x="9271000" y="2692400"/>
            <a:ext cx="5842000" cy="551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Whole numbers for IDs, counts, ages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VARCHAR(n)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Variable-length text strings with max length 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Uniquely identifies each row; cannot be NULL or duplicated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DECIMAL(p,s)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p, scale s — for exact numeric values like money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 ADD Column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column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into an existing table.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7874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7874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63800"/>
            <a:ext cx="655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email VARCHAR(100);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29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784600"/>
          <a:ext cx="5080000" cy="1016000"/>
        </p:xfrm>
        <a:graphic>
          <a:graphicData uri="http://schemas.openxmlformats.org/drawingml/2006/table">
            <a:tbl>
              <a:tblPr/>
              <a:tblGrid>
                <a:gridCol w="1676400"/>
                <a:gridCol w="1727200"/>
                <a:gridCol w="16764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048000" y="49530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546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816600"/>
          <a:ext cx="6858000" cy="1016000"/>
        </p:xfrm>
        <a:graphic>
          <a:graphicData uri="http://schemas.openxmlformats.org/drawingml/2006/table">
            <a:tbl>
              <a:tblPr/>
              <a:tblGrid>
                <a:gridCol w="1714500"/>
                <a:gridCol w="1714500"/>
                <a:gridCol w="1714500"/>
                <a:gridCol w="17145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62000" y="70612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 columns are initialized with NULL for existing rows.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7" name="Shape 13"/>
          <p:cNvSpPr/>
          <p:nvPr/>
        </p:nvSpPr>
        <p:spPr>
          <a:xfrm>
            <a:off x="8858250" y="203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8" name="Text 14"/>
          <p:cNvSpPr/>
          <p:nvPr/>
        </p:nvSpPr>
        <p:spPr>
          <a:xfrm>
            <a:off x="8890000" y="2794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890000" y="3251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0" name="Text 16"/>
          <p:cNvSpPr/>
          <p:nvPr/>
        </p:nvSpPr>
        <p:spPr>
          <a:xfrm>
            <a:off x="8890000" y="3556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decides to start collecting student email addresses for digital communication.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Rather than creating a new table, they simply add an email column to the existing students table.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890000" y="635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8890000" y="6731000"/>
            <a:ext cx="6096000" cy="1524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0" y="6934200"/>
            <a:ext cx="558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Existing students will have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email column until they provide their email addresses.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— ADD Column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Table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286000"/>
          <a:ext cx="3810000" cy="1651000"/>
        </p:xfrm>
        <a:graphic>
          <a:graphicData uri="http://schemas.openxmlformats.org/drawingml/2006/table">
            <a:tbl>
              <a:tblPr/>
              <a:tblGrid>
                <a:gridCol w="1257300"/>
                <a:gridCol w="1295400"/>
                <a:gridCol w="125730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34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0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Text 8"/>
          <p:cNvSpPr/>
          <p:nvPr/>
        </p:nvSpPr>
        <p:spPr>
          <a:xfrm>
            <a:off x="6604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ADD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4000" y="23622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VARCHAR(100);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22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5" name="Shape 12"/>
          <p:cNvSpPr/>
          <p:nvPr/>
        </p:nvSpPr>
        <p:spPr>
          <a:xfrm>
            <a:off x="11938000" y="1651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92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954000" y="18542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Table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92000" y="2286000"/>
          <a:ext cx="3048000" cy="165100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62000" y="4699000"/>
            <a:ext cx="14732000" cy="3810000"/>
          </a:xfrm>
          <a:prstGeom prst="roundRect">
            <a:avLst>
              <a:gd name="adj" fmla="val 4000"/>
            </a:avLst>
          </a:prstGeom>
          <a:solidFill>
            <a:srgbClr val="1E3D3D"/>
          </a:solidFill>
          <a:ln/>
        </p:spPr>
      </p:sp>
      <p:sp>
        <p:nvSpPr>
          <p:cNvPr id="20" name="Text 16"/>
          <p:cNvSpPr/>
          <p:nvPr/>
        </p:nvSpPr>
        <p:spPr>
          <a:xfrm>
            <a:off x="1270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Behind the Scenes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270000" y="5384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/>
          <p:nvPr/>
        </p:nvSpPr>
        <p:spPr>
          <a:xfrm>
            <a:off x="1270000" y="56642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Schema Update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engine updates the table schema to include the new column definition.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842000" y="56642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NULL Population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existing rows get NULL (or default value) in the new column automatically.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0414000" y="5664200"/>
            <a:ext cx="4572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No Data Loss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 data remains intact. Only the structure changes, not the existing records.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 MODIFY Column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Changes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datatype or size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an existing column.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8128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8128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 VARCHAR(100);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79800"/>
            <a:ext cx="3175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Modify?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3937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EARLIER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4445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VARCHAR(50)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18000" y="4445000"/>
            <a:ext cx="635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7000" y="3937000"/>
            <a:ext cx="3302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1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61000" y="4445000"/>
            <a:ext cx="279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VARCHAR(100)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57658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Because some students have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long names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don't fit in 50 characters. The database needs more space.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890000" y="1524000"/>
            <a:ext cx="6604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0" name="Text 18"/>
          <p:cNvSpPr/>
          <p:nvPr/>
        </p:nvSpPr>
        <p:spPr>
          <a:xfrm>
            <a:off x="9271000" y="1905000"/>
            <a:ext cx="584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MODIFY Scenarios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271000" y="2336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9271000" y="2616200"/>
            <a:ext cx="5842000" cy="55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Increasing Size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VARCHAR(30) → VARCHAR(100) for longer text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Changing Type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 → DECIMAL for precision values like currency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Constraints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Allow NULL → NOT NULL after data cleanup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 Note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Some databases use ALTER COLUMN instead of MODIFY. Check your DBMS documentation.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 — MODIFY in Banking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42798" y="18038"/>
                </a:moveTo>
                <a:cubicBezTo>
                  <a:pt x="234047" y="13037"/>
                  <a:pt x="223242" y="13037"/>
                  <a:pt x="214402" y="18038"/>
                </a:cubicBezTo>
                <a:lnTo>
                  <a:pt x="14377" y="132338"/>
                </a:lnTo>
                <a:cubicBezTo>
                  <a:pt x="3125" y="138767"/>
                  <a:pt x="-2411" y="151983"/>
                  <a:pt x="893" y="164485"/>
                </a:cubicBezTo>
                <a:cubicBezTo>
                  <a:pt x="4197" y="176986"/>
                  <a:pt x="15627" y="185738"/>
                  <a:pt x="28575" y="185738"/>
                </a:cubicBezTo>
                <a:lnTo>
                  <a:pt x="57150" y="185738"/>
                </a:lnTo>
                <a:lnTo>
                  <a:pt x="57150" y="371475"/>
                </a:lnTo>
                <a:lnTo>
                  <a:pt x="57150" y="371475"/>
                </a:lnTo>
                <a:lnTo>
                  <a:pt x="11430" y="405765"/>
                </a:lnTo>
                <a:cubicBezTo>
                  <a:pt x="4197" y="411123"/>
                  <a:pt x="0" y="419606"/>
                  <a:pt x="0" y="428625"/>
                </a:cubicBezTo>
                <a:cubicBezTo>
                  <a:pt x="0" y="444431"/>
                  <a:pt x="12769" y="457200"/>
                  <a:pt x="28575" y="457200"/>
                </a:cubicBezTo>
                <a:lnTo>
                  <a:pt x="428625" y="457200"/>
                </a:lnTo>
                <a:cubicBezTo>
                  <a:pt x="444431" y="457200"/>
                  <a:pt x="457200" y="444431"/>
                  <a:pt x="457200" y="428625"/>
                </a:cubicBezTo>
                <a:cubicBezTo>
                  <a:pt x="457200" y="419606"/>
                  <a:pt x="453003" y="411123"/>
                  <a:pt x="445770" y="405765"/>
                </a:cubicBezTo>
                <a:lnTo>
                  <a:pt x="400050" y="371475"/>
                </a:lnTo>
                <a:lnTo>
                  <a:pt x="400050" y="185738"/>
                </a:lnTo>
                <a:lnTo>
                  <a:pt x="428625" y="185738"/>
                </a:lnTo>
                <a:cubicBezTo>
                  <a:pt x="441573" y="185738"/>
                  <a:pt x="452914" y="176986"/>
                  <a:pt x="456218" y="164485"/>
                </a:cubicBezTo>
                <a:cubicBezTo>
                  <a:pt x="459522" y="151983"/>
                  <a:pt x="453985" y="138767"/>
                  <a:pt x="442734" y="132338"/>
                </a:cubicBezTo>
                <a:lnTo>
                  <a:pt x="242709" y="18038"/>
                </a:lnTo>
                <a:close/>
                <a:moveTo>
                  <a:pt x="357188" y="185738"/>
                </a:moveTo>
                <a:lnTo>
                  <a:pt x="357188" y="371475"/>
                </a:lnTo>
                <a:lnTo>
                  <a:pt x="300038" y="371475"/>
                </a:lnTo>
                <a:lnTo>
                  <a:pt x="300038" y="185738"/>
                </a:lnTo>
                <a:lnTo>
                  <a:pt x="357188" y="185738"/>
                </a:lnTo>
                <a:close/>
                <a:moveTo>
                  <a:pt x="257175" y="185738"/>
                </a:moveTo>
                <a:lnTo>
                  <a:pt x="257175" y="371475"/>
                </a:lnTo>
                <a:lnTo>
                  <a:pt x="200025" y="371475"/>
                </a:lnTo>
                <a:lnTo>
                  <a:pt x="200025" y="185738"/>
                </a:lnTo>
                <a:lnTo>
                  <a:pt x="257175" y="185738"/>
                </a:lnTo>
                <a:close/>
                <a:moveTo>
                  <a:pt x="157163" y="185738"/>
                </a:moveTo>
                <a:lnTo>
                  <a:pt x="157163" y="371475"/>
                </a:lnTo>
                <a:lnTo>
                  <a:pt x="100013" y="371475"/>
                </a:lnTo>
                <a:lnTo>
                  <a:pt x="100013" y="185738"/>
                </a:lnTo>
                <a:lnTo>
                  <a:pt x="157163" y="185738"/>
                </a:lnTo>
                <a:close/>
                <a:moveTo>
                  <a:pt x="228600" y="85725"/>
                </a:moveTo>
                <a:cubicBezTo>
                  <a:pt x="244371" y="85725"/>
                  <a:pt x="257175" y="98529"/>
                  <a:pt x="257175" y="114300"/>
                </a:cubicBezTo>
                <a:cubicBezTo>
                  <a:pt x="257175" y="130071"/>
                  <a:pt x="244371" y="142875"/>
                  <a:pt x="228600" y="142875"/>
                </a:cubicBezTo>
                <a:cubicBezTo>
                  <a:pt x="212829" y="142875"/>
                  <a:pt x="200025" y="130071"/>
                  <a:pt x="200025" y="114300"/>
                </a:cubicBezTo>
                <a:cubicBezTo>
                  <a:pt x="200025" y="98529"/>
                  <a:pt x="212829" y="85725"/>
                  <a:pt x="228600" y="85725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574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Banking System Scenario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098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23622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7432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 names were limited to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30 characters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Some customers have very long names (e.g., "Mohammad Abdullah Al-Rashid") and cannot be stored properly.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2672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16000" y="4419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4800600"/>
            <a:ext cx="660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Database administrator increases the column size to accommodate longer names without losing any existing customer data.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63500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COMMAND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680200"/>
            <a:ext cx="7112000" cy="9398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6807200"/>
            <a:ext cx="65532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customer_name VARCHAR(80);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Analysis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890000" y="2794000"/>
            <a:ext cx="6096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VARCHAR(30) — Max 30 characters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Names truncated: "Mohammad Abdullah Al-..."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VARCHAR(80) — Max 80 characters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 names stored correctly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Takeaway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plan for data variability. It's easier to increase size than to deal with truncated data.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 DROP COLUMN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Removes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 unnecessary column from the table permanently.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8128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8128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COLUMN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798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vs After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3937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16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4445000"/>
          <a:ext cx="3048000" cy="1524000"/>
        </p:xfrm>
        <a:graphic>
          <a:graphicData uri="http://schemas.openxmlformats.org/drawingml/2006/table">
            <a:tbl>
              <a:tblPr/>
              <a:tblGrid>
                <a:gridCol w="1005840"/>
                <a:gridCol w="1036320"/>
                <a:gridCol w="100584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572000" y="4826000"/>
            <a:ext cx="635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54A3F"/>
          </a:solidFill>
          <a:ln/>
        </p:spPr>
      </p:sp>
      <p:sp>
        <p:nvSpPr>
          <p:cNvPr id="15" name="Shape 12"/>
          <p:cNvSpPr/>
          <p:nvPr/>
        </p:nvSpPr>
        <p:spPr>
          <a:xfrm>
            <a:off x="5461000" y="3937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715000" y="406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0" y="4445000"/>
          <a:ext cx="3048000" cy="1524000"/>
        </p:xfrm>
        <a:graphic>
          <a:graphicData uri="http://schemas.openxmlformats.org/drawingml/2006/table">
            <a:tbl>
              <a:tblPr/>
              <a:tblGrid>
                <a:gridCol w="1524000"/>
                <a:gridCol w="152400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8" name="Text 14"/>
          <p:cNvSpPr/>
          <p:nvPr/>
        </p:nvSpPr>
        <p:spPr>
          <a:xfrm>
            <a:off x="762000" y="6477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column removed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9652000" y="1524000"/>
            <a:ext cx="5842000" cy="2540000"/>
          </a:xfrm>
          <a:prstGeom prst="roundRect">
            <a:avLst>
              <a:gd name="adj" fmla="val 8000"/>
            </a:avLst>
          </a:prstGeom>
          <a:solidFill>
            <a:srgbClr val="F5E6E0"/>
          </a:solidFill>
          <a:ln/>
        </p:spPr>
      </p:sp>
      <p:sp>
        <p:nvSpPr>
          <p:cNvPr id="20" name="Shape 16"/>
          <p:cNvSpPr/>
          <p:nvPr/>
        </p:nvSpPr>
        <p:spPr>
          <a:xfrm>
            <a:off x="10033000" y="1879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21" name="Text 17"/>
          <p:cNvSpPr/>
          <p:nvPr/>
        </p:nvSpPr>
        <p:spPr>
          <a:xfrm>
            <a:off x="10591800" y="1905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Warning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0033000" y="2489200"/>
            <a:ext cx="508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Dropped column data is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permanently removed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There is no undo. Always backup your data before dropping columns.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9652000" y="4445000"/>
            <a:ext cx="5842000" cy="4191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4" name="Text 20"/>
          <p:cNvSpPr/>
          <p:nvPr/>
        </p:nvSpPr>
        <p:spPr>
          <a:xfrm>
            <a:off x="10033000" y="47752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10033000" y="52070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6" name="Text 22"/>
          <p:cNvSpPr/>
          <p:nvPr/>
        </p:nvSpPr>
        <p:spPr>
          <a:xfrm>
            <a:off x="10033000" y="5461000"/>
            <a:ext cx="508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company removes the old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fax number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field from their contacts table.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Why? Because nobody uses fax anymore.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column and all its data are permanently deleted, freeing up storage space.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Only drop when you're 100% certain the data is no longer needed.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Note About DROP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778000"/>
          </a:xfrm>
          <a:prstGeom prst="roundRect">
            <a:avLst>
              <a:gd name="adj" fmla="val 6000"/>
            </a:avLst>
          </a:prstGeom>
          <a:solidFill>
            <a:srgbClr val="F5E6E0"/>
          </a:solidFill>
          <a:ln/>
        </p:spPr>
      </p:sp>
      <p:sp>
        <p:nvSpPr>
          <p:cNvPr id="6" name="Shape 4"/>
          <p:cNvSpPr/>
          <p:nvPr/>
        </p:nvSpPr>
        <p:spPr>
          <a:xfrm>
            <a:off x="1270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609600"/>
                </a:moveTo>
                <a:cubicBezTo>
                  <a:pt x="473024" y="609600"/>
                  <a:pt x="609600" y="473024"/>
                  <a:pt x="609600" y="304800"/>
                </a:cubicBezTo>
                <a:cubicBezTo>
                  <a:pt x="609600" y="136576"/>
                  <a:pt x="473024" y="0"/>
                  <a:pt x="304800" y="0"/>
                </a:cubicBezTo>
                <a:cubicBezTo>
                  <a:pt x="136576" y="0"/>
                  <a:pt x="0" y="136576"/>
                  <a:pt x="0" y="304800"/>
                </a:cubicBezTo>
                <a:cubicBezTo>
                  <a:pt x="0" y="473024"/>
                  <a:pt x="136576" y="609600"/>
                  <a:pt x="304800" y="609600"/>
                </a:cubicBezTo>
                <a:close/>
                <a:moveTo>
                  <a:pt x="304800" y="161925"/>
                </a:moveTo>
                <a:cubicBezTo>
                  <a:pt x="320635" y="161925"/>
                  <a:pt x="333375" y="174665"/>
                  <a:pt x="333375" y="190500"/>
                </a:cubicBezTo>
                <a:lnTo>
                  <a:pt x="333375" y="323850"/>
                </a:lnTo>
                <a:cubicBezTo>
                  <a:pt x="333375" y="339685"/>
                  <a:pt x="320635" y="352425"/>
                  <a:pt x="304800" y="352425"/>
                </a:cubicBezTo>
                <a:cubicBezTo>
                  <a:pt x="288965" y="352425"/>
                  <a:pt x="276225" y="339685"/>
                  <a:pt x="276225" y="323850"/>
                </a:cubicBezTo>
                <a:lnTo>
                  <a:pt x="276225" y="190500"/>
                </a:lnTo>
                <a:cubicBezTo>
                  <a:pt x="276225" y="174665"/>
                  <a:pt x="288965" y="161925"/>
                  <a:pt x="304800" y="161925"/>
                </a:cubicBezTo>
                <a:close/>
                <a:moveTo>
                  <a:pt x="273010" y="419100"/>
                </a:moveTo>
                <a:cubicBezTo>
                  <a:pt x="272287" y="407300"/>
                  <a:pt x="278172" y="396073"/>
                  <a:pt x="288287" y="389955"/>
                </a:cubicBezTo>
                <a:cubicBezTo>
                  <a:pt x="298403" y="383836"/>
                  <a:pt x="311078" y="383836"/>
                  <a:pt x="321194" y="389955"/>
                </a:cubicBezTo>
                <a:cubicBezTo>
                  <a:pt x="331309" y="396073"/>
                  <a:pt x="337194" y="407300"/>
                  <a:pt x="336471" y="419100"/>
                </a:cubicBezTo>
                <a:cubicBezTo>
                  <a:pt x="337194" y="430900"/>
                  <a:pt x="331309" y="442127"/>
                  <a:pt x="321194" y="448245"/>
                </a:cubicBezTo>
                <a:cubicBezTo>
                  <a:pt x="311078" y="454364"/>
                  <a:pt x="298403" y="454364"/>
                  <a:pt x="288287" y="448245"/>
                </a:cubicBezTo>
                <a:cubicBezTo>
                  <a:pt x="278172" y="442127"/>
                  <a:pt x="272287" y="430900"/>
                  <a:pt x="273010" y="419100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7" name="Text 5"/>
          <p:cNvSpPr/>
          <p:nvPr/>
        </p:nvSpPr>
        <p:spPr>
          <a:xfrm>
            <a:off x="2159000" y="1879600"/>
            <a:ext cx="129540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Dropped column data is PERMANENTLY removed.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2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There is NO undo operation.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68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Real-Life Example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4216400"/>
            <a:ext cx="7112000" cy="309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6000" y="4470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27000" y="50800"/>
                </a:moveTo>
                <a:lnTo>
                  <a:pt x="127000" y="114300"/>
                </a:lnTo>
                <a:lnTo>
                  <a:pt x="177800" y="114300"/>
                </a:lnTo>
                <a:lnTo>
                  <a:pt x="177800" y="50800"/>
                </a:lnTo>
                <a:lnTo>
                  <a:pt x="294243" y="50800"/>
                </a:lnTo>
                <a:lnTo>
                  <a:pt x="330200" y="86757"/>
                </a:lnTo>
                <a:lnTo>
                  <a:pt x="330200" y="114300"/>
                </a:lnTo>
                <a:lnTo>
                  <a:pt x="381000" y="114300"/>
                </a:lnTo>
                <a:lnTo>
                  <a:pt x="381000" y="86757"/>
                </a:lnTo>
                <a:cubicBezTo>
                  <a:pt x="381000" y="73263"/>
                  <a:pt x="375682" y="60325"/>
                  <a:pt x="366157" y="50800"/>
                </a:cubicBezTo>
                <a:lnTo>
                  <a:pt x="330200" y="14843"/>
                </a:lnTo>
                <a:cubicBezTo>
                  <a:pt x="320675" y="5318"/>
                  <a:pt x="307737" y="0"/>
                  <a:pt x="294243" y="0"/>
                </a:cubicBezTo>
                <a:lnTo>
                  <a:pt x="177800" y="0"/>
                </a:lnTo>
                <a:cubicBezTo>
                  <a:pt x="149781" y="0"/>
                  <a:pt x="127000" y="22781"/>
                  <a:pt x="127000" y="50800"/>
                </a:cubicBezTo>
                <a:close/>
                <a:moveTo>
                  <a:pt x="25400" y="101600"/>
                </a:moveTo>
                <a:cubicBezTo>
                  <a:pt x="11351" y="101600"/>
                  <a:pt x="0" y="112951"/>
                  <a:pt x="0" y="127000"/>
                </a:cubicBezTo>
                <a:lnTo>
                  <a:pt x="0" y="355600"/>
                </a:lnTo>
                <a:cubicBezTo>
                  <a:pt x="0" y="369649"/>
                  <a:pt x="11351" y="381000"/>
                  <a:pt x="25400" y="381000"/>
                </a:cubicBezTo>
                <a:lnTo>
                  <a:pt x="63500" y="381000"/>
                </a:lnTo>
                <a:cubicBezTo>
                  <a:pt x="77549" y="381000"/>
                  <a:pt x="88900" y="369649"/>
                  <a:pt x="88900" y="355600"/>
                </a:cubicBezTo>
                <a:lnTo>
                  <a:pt x="88900" y="127000"/>
                </a:lnTo>
                <a:cubicBezTo>
                  <a:pt x="88900" y="112951"/>
                  <a:pt x="77549" y="101600"/>
                  <a:pt x="63500" y="101600"/>
                </a:cubicBezTo>
                <a:lnTo>
                  <a:pt x="25400" y="101600"/>
                </a:lnTo>
                <a:close/>
                <a:moveTo>
                  <a:pt x="381000" y="152400"/>
                </a:moveTo>
                <a:lnTo>
                  <a:pt x="127000" y="152400"/>
                </a:lnTo>
                <a:lnTo>
                  <a:pt x="127000" y="355600"/>
                </a:lnTo>
                <a:cubicBezTo>
                  <a:pt x="127000" y="369649"/>
                  <a:pt x="138351" y="381000"/>
                  <a:pt x="152400" y="381000"/>
                </a:cubicBezTo>
                <a:lnTo>
                  <a:pt x="381000" y="381000"/>
                </a:lnTo>
                <a:cubicBezTo>
                  <a:pt x="395049" y="381000"/>
                  <a:pt x="406400" y="369649"/>
                  <a:pt x="406400" y="355600"/>
                </a:cubicBezTo>
                <a:lnTo>
                  <a:pt x="406400" y="177800"/>
                </a:lnTo>
                <a:cubicBezTo>
                  <a:pt x="406400" y="163751"/>
                  <a:pt x="395049" y="152400"/>
                  <a:pt x="381000" y="152400"/>
                </a:cubicBezTo>
                <a:close/>
                <a:moveTo>
                  <a:pt x="177800" y="228600"/>
                </a:moveTo>
                <a:cubicBezTo>
                  <a:pt x="177800" y="218086"/>
                  <a:pt x="186336" y="209550"/>
                  <a:pt x="196850" y="209550"/>
                </a:cubicBezTo>
                <a:cubicBezTo>
                  <a:pt x="207364" y="209550"/>
                  <a:pt x="215900" y="218086"/>
                  <a:pt x="215900" y="228600"/>
                </a:cubicBezTo>
                <a:cubicBezTo>
                  <a:pt x="215900" y="239114"/>
                  <a:pt x="207364" y="247650"/>
                  <a:pt x="196850" y="247650"/>
                </a:cubicBezTo>
                <a:cubicBezTo>
                  <a:pt x="186336" y="247650"/>
                  <a:pt x="177800" y="239114"/>
                  <a:pt x="177800" y="228600"/>
                </a:cubicBezTo>
                <a:close/>
                <a:moveTo>
                  <a:pt x="177800" y="304800"/>
                </a:moveTo>
                <a:cubicBezTo>
                  <a:pt x="177800" y="294286"/>
                  <a:pt x="186336" y="285750"/>
                  <a:pt x="196850" y="285750"/>
                </a:cubicBezTo>
                <a:cubicBezTo>
                  <a:pt x="207364" y="285750"/>
                  <a:pt x="215900" y="294286"/>
                  <a:pt x="215900" y="304800"/>
                </a:cubicBezTo>
                <a:cubicBezTo>
                  <a:pt x="215900" y="315314"/>
                  <a:pt x="207364" y="323850"/>
                  <a:pt x="196850" y="323850"/>
                </a:cubicBezTo>
                <a:cubicBezTo>
                  <a:pt x="186336" y="323850"/>
                  <a:pt x="177800" y="315314"/>
                  <a:pt x="177800" y="304800"/>
                </a:cubicBezTo>
                <a:close/>
                <a:moveTo>
                  <a:pt x="266700" y="209550"/>
                </a:moveTo>
                <a:cubicBezTo>
                  <a:pt x="277214" y="209550"/>
                  <a:pt x="285750" y="218086"/>
                  <a:pt x="285750" y="228600"/>
                </a:cubicBezTo>
                <a:cubicBezTo>
                  <a:pt x="285750" y="239114"/>
                  <a:pt x="277214" y="247650"/>
                  <a:pt x="266700" y="247650"/>
                </a:cubicBezTo>
                <a:cubicBezTo>
                  <a:pt x="256186" y="247650"/>
                  <a:pt x="247650" y="239114"/>
                  <a:pt x="247650" y="228600"/>
                </a:cubicBezTo>
                <a:cubicBezTo>
                  <a:pt x="247650" y="218086"/>
                  <a:pt x="256186" y="209550"/>
                  <a:pt x="266700" y="209550"/>
                </a:cubicBezTo>
                <a:close/>
                <a:moveTo>
                  <a:pt x="247650" y="304800"/>
                </a:moveTo>
                <a:cubicBezTo>
                  <a:pt x="247650" y="294286"/>
                  <a:pt x="256186" y="285750"/>
                  <a:pt x="266700" y="285750"/>
                </a:cubicBezTo>
                <a:cubicBezTo>
                  <a:pt x="277214" y="285750"/>
                  <a:pt x="285750" y="294286"/>
                  <a:pt x="285750" y="304800"/>
                </a:cubicBezTo>
                <a:cubicBezTo>
                  <a:pt x="285750" y="315314"/>
                  <a:pt x="277214" y="323850"/>
                  <a:pt x="266700" y="323850"/>
                </a:cubicBezTo>
                <a:cubicBezTo>
                  <a:pt x="256186" y="323850"/>
                  <a:pt x="247650" y="315314"/>
                  <a:pt x="247650" y="304800"/>
                </a:cubicBezTo>
                <a:close/>
                <a:moveTo>
                  <a:pt x="336550" y="209550"/>
                </a:moveTo>
                <a:cubicBezTo>
                  <a:pt x="347064" y="209550"/>
                  <a:pt x="355600" y="218086"/>
                  <a:pt x="355600" y="228600"/>
                </a:cubicBezTo>
                <a:cubicBezTo>
                  <a:pt x="355600" y="239114"/>
                  <a:pt x="347064" y="247650"/>
                  <a:pt x="336550" y="247650"/>
                </a:cubicBezTo>
                <a:cubicBezTo>
                  <a:pt x="326036" y="247650"/>
                  <a:pt x="317500" y="239114"/>
                  <a:pt x="317500" y="228600"/>
                </a:cubicBezTo>
                <a:cubicBezTo>
                  <a:pt x="317500" y="218086"/>
                  <a:pt x="326036" y="209550"/>
                  <a:pt x="336550" y="209550"/>
                </a:cubicBezTo>
                <a:close/>
                <a:moveTo>
                  <a:pt x="317500" y="304800"/>
                </a:moveTo>
                <a:cubicBezTo>
                  <a:pt x="317500" y="294286"/>
                  <a:pt x="326036" y="285750"/>
                  <a:pt x="336550" y="285750"/>
                </a:cubicBezTo>
                <a:cubicBezTo>
                  <a:pt x="347064" y="285750"/>
                  <a:pt x="355600" y="294286"/>
                  <a:pt x="355600" y="304800"/>
                </a:cubicBezTo>
                <a:cubicBezTo>
                  <a:pt x="355600" y="315314"/>
                  <a:pt x="347064" y="323850"/>
                  <a:pt x="336550" y="323850"/>
                </a:cubicBezTo>
                <a:cubicBezTo>
                  <a:pt x="326036" y="323850"/>
                  <a:pt x="317500" y="315314"/>
                  <a:pt x="317500" y="304800"/>
                </a:cubicBezTo>
                <a:close/>
              </a:path>
            </a:pathLst>
          </a:custGeom>
          <a:solidFill>
            <a:srgbClr val="6B7F7F"/>
          </a:solidFill>
          <a:ln/>
        </p:spPr>
      </p:sp>
      <p:sp>
        <p:nvSpPr>
          <p:cNvPr id="11" name="Text 9"/>
          <p:cNvSpPr/>
          <p:nvPr/>
        </p:nvSpPr>
        <p:spPr>
          <a:xfrm>
            <a:off x="1574800" y="44958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Removing Fax Number Field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6000" y="5080000"/>
            <a:ext cx="6604000" cy="208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company decides to remove the old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fax number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column from their contacts database.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B54A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Nobody uses fax anymore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54A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data is obsolete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B54A3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Removing it saves storage space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3683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Before You DROP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382000" y="42164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0" y="4419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A7C6F"/>
          </a:solidFill>
          <a:ln/>
        </p:spPr>
      </p:sp>
      <p:sp>
        <p:nvSpPr>
          <p:cNvPr id="16" name="Text 14"/>
          <p:cNvSpPr/>
          <p:nvPr/>
        </p:nvSpPr>
        <p:spPr>
          <a:xfrm>
            <a:off x="9194800" y="4343400"/>
            <a:ext cx="604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Backup the database first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382000" y="51562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0" y="5359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A7C6F"/>
          </a:solidFill>
          <a:ln/>
        </p:spPr>
      </p:sp>
      <p:sp>
        <p:nvSpPr>
          <p:cNvPr id="19" name="Text 17"/>
          <p:cNvSpPr/>
          <p:nvPr/>
        </p:nvSpPr>
        <p:spPr>
          <a:xfrm>
            <a:off x="9194800" y="5283200"/>
            <a:ext cx="604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Verify no application uses this column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60960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0" y="6299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A7C6F"/>
          </a:solidFill>
          <a:ln/>
        </p:spPr>
      </p:sp>
      <p:sp>
        <p:nvSpPr>
          <p:cNvPr id="22" name="Text 20"/>
          <p:cNvSpPr/>
          <p:nvPr/>
        </p:nvSpPr>
        <p:spPr>
          <a:xfrm>
            <a:off x="9194800" y="6223000"/>
            <a:ext cx="604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on a copy first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7035800"/>
            <a:ext cx="7112000" cy="762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0" y="723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4A7C6F"/>
          </a:solidFill>
          <a:ln/>
        </p:spPr>
      </p:sp>
      <p:sp>
        <p:nvSpPr>
          <p:cNvPr id="25" name="Text 23"/>
          <p:cNvSpPr/>
          <p:nvPr/>
        </p:nvSpPr>
        <p:spPr>
          <a:xfrm>
            <a:off x="9194800" y="7162800"/>
            <a:ext cx="604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Document the change for your team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62000" y="7874000"/>
            <a:ext cx="1473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6B7F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 Consider renaming the column first (if supported) to see if anything breaks before permanently dropping it.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ALTER TABLE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— ALTER TABLE Examples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1: CREATE 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03400"/>
            <a:ext cx="14732000" cy="1320800"/>
          </a:xfrm>
          <a:prstGeom prst="roundRect">
            <a:avLst>
              <a:gd name="adj" fmla="val 4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76200" cy="1320800"/>
          </a:xfrm>
          <a:prstGeom prst="rect">
            <a:avLst/>
          </a:prstGeom>
          <a:solidFill>
            <a:srgbClr val="1E3D3D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955800"/>
            <a:ext cx="1417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 (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emp_id </a:t>
            </a:r>
            <a:pPr>
              <a:lnSpc>
                <a:spcPct val="115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 PRIMARY KEY</a:t>
            </a:r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emp_name </a:t>
            </a:r>
            <a:pPr>
              <a:lnSpc>
                <a:spcPct val="115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</a:t>
            </a:r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(50)</a:t>
            </a:r>
            <a:endParaRPr lang="en-US" sz="1600" dirty="0"/>
          </a:p>
          <a:p>
            <a:pPr>
              <a:lnSpc>
                <a:spcPct val="115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2766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2: ADD COLUMN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606800"/>
            <a:ext cx="14732000" cy="939800"/>
          </a:xfrm>
          <a:prstGeom prst="roundRect">
            <a:avLst>
              <a:gd name="adj" fmla="val 4000"/>
            </a:avLst>
          </a:prstGeom>
          <a:solidFill>
            <a:srgbClr val="E8E2D9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606800"/>
            <a:ext cx="76200" cy="9398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3759200"/>
            <a:ext cx="141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salary DECIMAL(10,2);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775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3: MODIFY COLUMN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105400"/>
            <a:ext cx="14732000" cy="939800"/>
          </a:xfrm>
          <a:prstGeom prst="roundRect">
            <a:avLst>
              <a:gd name="adj" fmla="val 4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762000" y="5105400"/>
            <a:ext cx="76200" cy="9398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" y="5257800"/>
            <a:ext cx="141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MODIFY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emp_name VARCHAR(100);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2738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 4: DROP COLUMN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604000"/>
            <a:ext cx="14732000" cy="939800"/>
          </a:xfrm>
          <a:prstGeom prst="roundRect">
            <a:avLst>
              <a:gd name="adj" fmla="val 4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604000"/>
            <a:ext cx="76200" cy="9398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756400"/>
            <a:ext cx="1417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DROP COLUMN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salary;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77978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i="1" dirty="0">
                <a:solidFill>
                  <a:srgbClr val="6B7F7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operation builds on the previous one. Try these commands in order to see the full ALTER TABLE workflow.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t7e2ukioavs/mnt/agents/output/sql-lecture/images/1_55_224_Data_Server_Black_Background.png">    </p:cNvPr>
          <p:cNvPicPr>
            <a:picLocks noChangeAspect="1"/>
          </p:cNvPicPr>
          <p:nvPr/>
        </p:nvPicPr>
        <p:blipFill>
          <a:blip r:embed="rId1"/>
          <a:srcRect l="28157" r="28157" t="0" b="0"/>
          <a:stretch/>
        </p:blipFill>
        <p:spPr>
          <a:xfrm>
            <a:off x="0" y="0"/>
            <a:ext cx="7112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E3D3D">
                  <a:alpha val="0"/>
                </a:srgbClr>
              </a:gs>
              <a:gs pos="100000">
                <a:srgbClr val="1E3D3D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874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874000" y="3683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Statement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874000" y="4508500"/>
            <a:ext cx="1270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874000" y="4762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Records to Your Database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empty tables to populated data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C4843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of INSERT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11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used to add records into a table.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ALL ATTRIBUTES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7112000" cy="8382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413000"/>
            <a:ext cx="76200" cy="8382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(1, 'Ali', 20, 'ali@gmail.com');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798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RESULT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35400"/>
          <a:ext cx="7112000" cy="1016000"/>
        </p:xfrm>
        <a:graphic>
          <a:graphicData uri="http://schemas.openxmlformats.org/drawingml/2006/table">
            <a:tbl>
              <a:tblPr/>
              <a:tblGrid>
                <a:gridCol w="711200"/>
                <a:gridCol w="1778000"/>
                <a:gridCol w="1066800"/>
                <a:gridCol w="3556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ali@gmail.com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5207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Important Rules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2000" y="57404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Values must be in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order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as the columns were defined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String values must be enclosed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quotes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62000" y="66802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Number values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 not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need quotes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The number of values must match the number of columns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6" name="Text 13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8890000" y="2794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INSERT statement creates 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row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table with the specified values.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value is placed in its corresponding column based on position.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890000" y="5588000"/>
            <a:ext cx="6096000" cy="2540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9144000" y="5842000"/>
            <a:ext cx="558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INSERT like filling out a form — each field (column) gets a value in the correct order.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 skip a field or put values in the wrong order, the form is rejected.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with Column Names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62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Specify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which columns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insert data into explicitly.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16510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(student_id, name, age)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(2, 'Ahmed', 21);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140200"/>
            <a:ext cx="3810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Benefits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4648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0452" y="23892"/>
                </a:moveTo>
                <a:cubicBezTo>
                  <a:pt x="288786" y="20419"/>
                  <a:pt x="298301" y="22364"/>
                  <a:pt x="304691" y="28684"/>
                </a:cubicBezTo>
                <a:lnTo>
                  <a:pt x="349141" y="73134"/>
                </a:lnTo>
                <a:cubicBezTo>
                  <a:pt x="353308" y="77301"/>
                  <a:pt x="355669" y="82927"/>
                  <a:pt x="355669" y="88831"/>
                </a:cubicBezTo>
                <a:cubicBezTo>
                  <a:pt x="355669" y="94734"/>
                  <a:pt x="353308" y="100360"/>
                  <a:pt x="349141" y="104527"/>
                </a:cubicBezTo>
                <a:lnTo>
                  <a:pt x="304691" y="148977"/>
                </a:lnTo>
                <a:cubicBezTo>
                  <a:pt x="298301" y="155367"/>
                  <a:pt x="288786" y="157242"/>
                  <a:pt x="280452" y="153769"/>
                </a:cubicBezTo>
                <a:cubicBezTo>
                  <a:pt x="272117" y="150297"/>
                  <a:pt x="266700" y="142309"/>
                  <a:pt x="266700" y="133350"/>
                </a:cubicBezTo>
                <a:lnTo>
                  <a:pt x="266700" y="111125"/>
                </a:lnTo>
                <a:lnTo>
                  <a:pt x="244475" y="111125"/>
                </a:lnTo>
                <a:cubicBezTo>
                  <a:pt x="237460" y="111125"/>
                  <a:pt x="230862" y="114389"/>
                  <a:pt x="226695" y="120015"/>
                </a:cubicBezTo>
                <a:lnTo>
                  <a:pt x="204192" y="150019"/>
                </a:lnTo>
                <a:lnTo>
                  <a:pt x="176411" y="113000"/>
                </a:lnTo>
                <a:lnTo>
                  <a:pt x="191135" y="93345"/>
                </a:lnTo>
                <a:cubicBezTo>
                  <a:pt x="203706" y="76537"/>
                  <a:pt x="223500" y="66675"/>
                  <a:pt x="244475" y="66675"/>
                </a:cubicBezTo>
                <a:lnTo>
                  <a:pt x="266700" y="66675"/>
                </a:lnTo>
                <a:lnTo>
                  <a:pt x="266700" y="44450"/>
                </a:lnTo>
                <a:cubicBezTo>
                  <a:pt x="266700" y="35491"/>
                  <a:pt x="272117" y="27365"/>
                  <a:pt x="280452" y="23892"/>
                </a:cubicBezTo>
                <a:close/>
                <a:moveTo>
                  <a:pt x="106958" y="205581"/>
                </a:moveTo>
                <a:lnTo>
                  <a:pt x="134739" y="242600"/>
                </a:lnTo>
                <a:lnTo>
                  <a:pt x="120015" y="262255"/>
                </a:lnTo>
                <a:cubicBezTo>
                  <a:pt x="107444" y="279063"/>
                  <a:pt x="87650" y="288925"/>
                  <a:pt x="66675" y="288925"/>
                </a:cubicBezTo>
                <a:lnTo>
                  <a:pt x="22225" y="288925"/>
                </a:lnTo>
                <a:cubicBezTo>
                  <a:pt x="9932" y="288925"/>
                  <a:pt x="0" y="278993"/>
                  <a:pt x="0" y="266700"/>
                </a:cubicBezTo>
                <a:cubicBezTo>
                  <a:pt x="0" y="254407"/>
                  <a:pt x="9932" y="244475"/>
                  <a:pt x="22225" y="244475"/>
                </a:cubicBezTo>
                <a:lnTo>
                  <a:pt x="66675" y="244475"/>
                </a:lnTo>
                <a:cubicBezTo>
                  <a:pt x="73690" y="244475"/>
                  <a:pt x="80288" y="241211"/>
                  <a:pt x="84455" y="235585"/>
                </a:cubicBezTo>
                <a:lnTo>
                  <a:pt x="106958" y="205581"/>
                </a:lnTo>
                <a:close/>
                <a:moveTo>
                  <a:pt x="304621" y="326846"/>
                </a:moveTo>
                <a:cubicBezTo>
                  <a:pt x="298232" y="333236"/>
                  <a:pt x="288717" y="335111"/>
                  <a:pt x="280382" y="331639"/>
                </a:cubicBezTo>
                <a:cubicBezTo>
                  <a:pt x="272048" y="328166"/>
                  <a:pt x="266700" y="320109"/>
                  <a:pt x="266700" y="311150"/>
                </a:cubicBezTo>
                <a:lnTo>
                  <a:pt x="266700" y="288925"/>
                </a:lnTo>
                <a:lnTo>
                  <a:pt x="244475" y="288925"/>
                </a:lnTo>
                <a:cubicBezTo>
                  <a:pt x="223500" y="288925"/>
                  <a:pt x="203706" y="279063"/>
                  <a:pt x="191135" y="262255"/>
                </a:cubicBezTo>
                <a:lnTo>
                  <a:pt x="84455" y="120015"/>
                </a:lnTo>
                <a:cubicBezTo>
                  <a:pt x="80288" y="114389"/>
                  <a:pt x="73690" y="111125"/>
                  <a:pt x="66675" y="111125"/>
                </a:cubicBezTo>
                <a:lnTo>
                  <a:pt x="22225" y="111125"/>
                </a:lnTo>
                <a:cubicBezTo>
                  <a:pt x="9932" y="111125"/>
                  <a:pt x="0" y="101193"/>
                  <a:pt x="0" y="88900"/>
                </a:cubicBezTo>
                <a:cubicBezTo>
                  <a:pt x="0" y="76607"/>
                  <a:pt x="9932" y="66675"/>
                  <a:pt x="22225" y="66675"/>
                </a:cubicBezTo>
                <a:lnTo>
                  <a:pt x="66675" y="66675"/>
                </a:lnTo>
                <a:cubicBezTo>
                  <a:pt x="87650" y="66675"/>
                  <a:pt x="107444" y="76537"/>
                  <a:pt x="120015" y="93345"/>
                </a:cubicBezTo>
                <a:lnTo>
                  <a:pt x="226695" y="235585"/>
                </a:lnTo>
                <a:cubicBezTo>
                  <a:pt x="230862" y="241211"/>
                  <a:pt x="237460" y="244475"/>
                  <a:pt x="244475" y="244475"/>
                </a:cubicBezTo>
                <a:lnTo>
                  <a:pt x="266700" y="244475"/>
                </a:lnTo>
                <a:lnTo>
                  <a:pt x="266700" y="222250"/>
                </a:lnTo>
                <a:cubicBezTo>
                  <a:pt x="266700" y="213291"/>
                  <a:pt x="272117" y="205165"/>
                  <a:pt x="280452" y="201692"/>
                </a:cubicBezTo>
                <a:cubicBezTo>
                  <a:pt x="288786" y="198219"/>
                  <a:pt x="298301" y="200164"/>
                  <a:pt x="304691" y="206484"/>
                </a:cubicBezTo>
                <a:lnTo>
                  <a:pt x="349141" y="250934"/>
                </a:lnTo>
                <a:cubicBezTo>
                  <a:pt x="353308" y="255101"/>
                  <a:pt x="355669" y="260727"/>
                  <a:pt x="355669" y="266631"/>
                </a:cubicBezTo>
                <a:cubicBezTo>
                  <a:pt x="355669" y="272534"/>
                  <a:pt x="353308" y="278160"/>
                  <a:pt x="349141" y="282327"/>
                </a:cubicBezTo>
                <a:lnTo>
                  <a:pt x="304691" y="326777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4749800"/>
            <a:ext cx="2489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 order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 columns in any order you want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0" y="4648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4699000" y="485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6" name="Text 14"/>
          <p:cNvSpPr/>
          <p:nvPr/>
        </p:nvSpPr>
        <p:spPr>
          <a:xfrm>
            <a:off x="5181600" y="4749800"/>
            <a:ext cx="2489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Selective insert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provide values for needed columns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918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612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6019800"/>
            <a:ext cx="2489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Safer code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prone to column order errors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5000" y="5918200"/>
            <a:ext cx="3429000" cy="1143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1" name="Shape 19"/>
          <p:cNvSpPr/>
          <p:nvPr/>
        </p:nvSpPr>
        <p:spPr>
          <a:xfrm>
            <a:off x="4699000" y="6121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ubicBezTo>
                  <a:pt x="0" y="79670"/>
                  <a:pt x="79670" y="0"/>
                  <a:pt x="177800" y="0"/>
                </a:cubicBezTo>
                <a:close/>
                <a:moveTo>
                  <a:pt x="161131" y="83344"/>
                </a:moveTo>
                <a:lnTo>
                  <a:pt x="161131" y="177800"/>
                </a:lnTo>
                <a:cubicBezTo>
                  <a:pt x="161131" y="183356"/>
                  <a:pt x="163909" y="188565"/>
                  <a:pt x="168563" y="191691"/>
                </a:cubicBezTo>
                <a:lnTo>
                  <a:pt x="235238" y="236141"/>
                </a:lnTo>
                <a:cubicBezTo>
                  <a:pt x="242878" y="241280"/>
                  <a:pt x="253226" y="239197"/>
                  <a:pt x="258366" y="231487"/>
                </a:cubicBezTo>
                <a:cubicBezTo>
                  <a:pt x="263505" y="223778"/>
                  <a:pt x="261422" y="213499"/>
                  <a:pt x="253712" y="208359"/>
                </a:cubicBezTo>
                <a:lnTo>
                  <a:pt x="194469" y="168910"/>
                </a:lnTo>
                <a:lnTo>
                  <a:pt x="194469" y="83344"/>
                </a:lnTo>
                <a:cubicBezTo>
                  <a:pt x="194469" y="74106"/>
                  <a:pt x="187037" y="66675"/>
                  <a:pt x="177800" y="66675"/>
                </a:cubicBezTo>
                <a:cubicBezTo>
                  <a:pt x="168563" y="66675"/>
                  <a:pt x="161131" y="74106"/>
                  <a:pt x="161131" y="83344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600" y="6019800"/>
            <a:ext cx="24892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Future-proof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Works even if table structure changes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8890000" y="2794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WITHOUT COLUMNS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890000" y="3149600"/>
            <a:ext cx="6096000" cy="1016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3276600"/>
            <a:ext cx="558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(1, 'Ali', 20, 'ali@email.com');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0000" y="444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COLUMNS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890000" y="4800600"/>
            <a:ext cx="6096000" cy="1270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0" y="4927600"/>
            <a:ext cx="558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(student_id, name, age, email)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(1, 'Ali', 20, 'ali@email.com');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0" y="6350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specify column names. It makes your code more readable, maintainable, and resistant to schema changes.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— INSERT Statement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Before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286000"/>
          <a:ext cx="3810000" cy="1651000"/>
        </p:xfrm>
        <a:graphic>
          <a:graphicData uri="http://schemas.openxmlformats.org/drawingml/2006/table">
            <a:tbl>
              <a:tblPr/>
              <a:tblGrid>
                <a:gridCol w="381000"/>
                <a:gridCol w="1143000"/>
                <a:gridCol w="762000"/>
                <a:gridCol w="152400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34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0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Text 8"/>
          <p:cNvSpPr/>
          <p:nvPr/>
        </p:nvSpPr>
        <p:spPr>
          <a:xfrm>
            <a:off x="6604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INSERT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4000" y="23622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(3, 'Ahmed', 21,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'ahmed@mail.com');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22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5" name="Shape 12"/>
          <p:cNvSpPr/>
          <p:nvPr/>
        </p:nvSpPr>
        <p:spPr>
          <a:xfrm>
            <a:off x="11938000" y="1651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92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954000" y="18542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After</a:t>
            </a:r>
            <a:endParaRPr lang="en-US" sz="16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92000" y="2286000"/>
          <a:ext cx="3048000" cy="1943100"/>
        </p:xfrm>
        <a:graphic>
          <a:graphicData uri="http://schemas.openxmlformats.org/drawingml/2006/table">
            <a:tbl>
              <a:tblPr/>
              <a:tblGrid>
                <a:gridCol w="304800"/>
                <a:gridCol w="914400"/>
                <a:gridCol w="609600"/>
                <a:gridCol w="12192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62000" y="4699000"/>
            <a:ext cx="14732000" cy="3556000"/>
          </a:xfrm>
          <a:prstGeom prst="roundRect">
            <a:avLst>
              <a:gd name="adj" fmla="val 4000"/>
            </a:avLst>
          </a:prstGeom>
          <a:solidFill>
            <a:srgbClr val="1E3D3D"/>
          </a:solidFill>
          <a:ln/>
        </p:spPr>
      </p:sp>
      <p:sp>
        <p:nvSpPr>
          <p:cNvPr id="20" name="Text 16"/>
          <p:cNvSpPr/>
          <p:nvPr/>
        </p:nvSpPr>
        <p:spPr>
          <a:xfrm>
            <a:off x="1270000" y="495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INSERT Flow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270000" y="5384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/>
          <p:nvPr/>
        </p:nvSpPr>
        <p:spPr>
          <a:xfrm>
            <a:off x="1270000" y="56642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Identify Target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Specify the table name after INSERT INTO. The database knows exactly where to add the new row.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842000" y="56642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Validate Data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checks data types, constraints, and primary key uniqueness before inserting.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0414000" y="56642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Commit Row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row is permanently stored. A success message confirms the operation. The new data is immediately queryable.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with NULL Value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62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Some attributes may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have values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initially.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WITH NULL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8636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8636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(3, 'Sara', 22,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798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RESULT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35400"/>
          <a:ext cx="7112000" cy="1016000"/>
        </p:xfrm>
        <a:graphic>
          <a:graphicData uri="http://schemas.openxmlformats.org/drawingml/2006/table">
            <a:tbl>
              <a:tblPr/>
              <a:tblGrid>
                <a:gridCol w="711200"/>
                <a:gridCol w="1778000"/>
                <a:gridCol w="1066800"/>
                <a:gridCol w="3556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5207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16000" y="533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NULL?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5715000"/>
            <a:ext cx="6604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means "no value" or "unknown." It is not the same as zero or empty string. It represents missing or undefined data.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6" name="Shape 13"/>
          <p:cNvSpPr/>
          <p:nvPr/>
        </p:nvSpPr>
        <p:spPr>
          <a:xfrm>
            <a:off x="8858250" y="203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7" name="Text 14"/>
          <p:cNvSpPr/>
          <p:nvPr/>
        </p:nvSpPr>
        <p:spPr>
          <a:xfrm>
            <a:off x="8890000" y="2794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890000" y="3251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8890000" y="3556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not provided their email address yet during registration.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Rather than using a fake email, we store 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</a:t>
            </a:r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indicate the email is genuinely unknown.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890000" y="6350000"/>
            <a:ext cx="6096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 Rules: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is not equal to 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is not equal to ''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IS NULL to check for NULL values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 Attribute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03400"/>
            <a:ext cx="7112000" cy="17272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03400"/>
            <a:ext cx="76200" cy="1727200"/>
          </a:xfrm>
          <a:prstGeom prst="rect">
            <a:avLst/>
          </a:prstGeom>
          <a:solidFill>
            <a:srgbClr val="1E3D3D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879600"/>
            <a:ext cx="65532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TABLE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 (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emp_id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emp_name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(50),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phone 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VARCHAR</a:t>
            </a:r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(20)</a:t>
            </a:r>
            <a:endParaRPr lang="en-US" sz="1600" dirty="0"/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1524000" cy="406400"/>
          </a:xfrm>
          <a:prstGeom prst="roundRect">
            <a:avLst>
              <a:gd name="adj" fmla="val 16000"/>
            </a:avLst>
          </a:prstGeom>
          <a:solidFill>
            <a:srgbClr val="C4843C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683000"/>
            <a:ext cx="1524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489200" y="3632200"/>
            <a:ext cx="5384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phone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column is optional — not every employee has one.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45212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4876800"/>
            <a:ext cx="7112000" cy="13462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4876800"/>
            <a:ext cx="76200" cy="13462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" y="4978400"/>
            <a:ext cx="65532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employees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(emp_id, emp_name)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(101, 'Usman');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3754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RESULT</a:t>
            </a:r>
            <a:endParaRPr lang="en-US" sz="1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731000"/>
          <a:ext cx="7112000" cy="1016000"/>
        </p:xfrm>
        <a:graphic>
          <a:graphicData uri="http://schemas.openxmlformats.org/drawingml/2006/table">
            <a:tbl>
              <a:tblPr/>
              <a:tblGrid>
                <a:gridCol w="1422400"/>
                <a:gridCol w="2844800"/>
                <a:gridCol w="28448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emp_name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phone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Usman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NULL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9" name="Text 16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8890000" y="2794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By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omitting the phone column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INSERT statement, the database automatically assigns NULL to that column.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is cleaner than explicitly writing NULL in the VALUES clause.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890000" y="5588000"/>
            <a:ext cx="6096000" cy="2540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9144000" y="5842000"/>
            <a:ext cx="558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a column allows NULL values, you can skip it in the INSERT statement. Only include columns that have known values.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Row INSERT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62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many records at once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single query.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MULTI-ROW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4130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413000"/>
            <a:ext cx="76200" cy="20320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514600"/>
            <a:ext cx="6553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(4, 'Ayesha', 20, 'a@gmail.com'),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(5, 'Bilal', 23, 'b@gmail.com'),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(6, 'Hina', 19, 'h@gmail.com');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44958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Use Multi-Row INSERT?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62000" y="50292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8225" y="5283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3" name="Text 11"/>
          <p:cNvSpPr/>
          <p:nvPr/>
        </p:nvSpPr>
        <p:spPr>
          <a:xfrm>
            <a:off x="1498600" y="51816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Faster execution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query vs. many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45000" y="50292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5" name="Shape 13"/>
          <p:cNvSpPr/>
          <p:nvPr/>
        </p:nvSpPr>
        <p:spPr>
          <a:xfrm>
            <a:off x="4676775" y="5283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72244" y="61119"/>
                </a:moveTo>
                <a:lnTo>
                  <a:pt x="227806" y="61119"/>
                </a:lnTo>
                <a:lnTo>
                  <a:pt x="227806" y="94456"/>
                </a:lnTo>
                <a:lnTo>
                  <a:pt x="172244" y="94456"/>
                </a:lnTo>
                <a:lnTo>
                  <a:pt x="172244" y="61119"/>
                </a:lnTo>
                <a:close/>
                <a:moveTo>
                  <a:pt x="166688" y="22225"/>
                </a:moveTo>
                <a:cubicBezTo>
                  <a:pt x="148282" y="22225"/>
                  <a:pt x="133350" y="37157"/>
                  <a:pt x="133350" y="55563"/>
                </a:cubicBezTo>
                <a:lnTo>
                  <a:pt x="133350" y="100013"/>
                </a:lnTo>
                <a:cubicBezTo>
                  <a:pt x="133350" y="118418"/>
                  <a:pt x="148282" y="133350"/>
                  <a:pt x="166688" y="133350"/>
                </a:cubicBezTo>
                <a:lnTo>
                  <a:pt x="177800" y="133350"/>
                </a:lnTo>
                <a:lnTo>
                  <a:pt x="177800" y="155575"/>
                </a:lnTo>
                <a:lnTo>
                  <a:pt x="22225" y="155575"/>
                </a:lnTo>
                <a:cubicBezTo>
                  <a:pt x="9932" y="155575"/>
                  <a:pt x="0" y="165507"/>
                  <a:pt x="0" y="177800"/>
                </a:cubicBezTo>
                <a:cubicBezTo>
                  <a:pt x="0" y="190093"/>
                  <a:pt x="9932" y="200025"/>
                  <a:pt x="22225" y="200025"/>
                </a:cubicBezTo>
                <a:lnTo>
                  <a:pt x="88900" y="200025"/>
                </a:lnTo>
                <a:lnTo>
                  <a:pt x="88900" y="222250"/>
                </a:lnTo>
                <a:lnTo>
                  <a:pt x="77788" y="222250"/>
                </a:lnTo>
                <a:cubicBezTo>
                  <a:pt x="59382" y="222250"/>
                  <a:pt x="44450" y="237182"/>
                  <a:pt x="44450" y="255587"/>
                </a:cubicBezTo>
                <a:lnTo>
                  <a:pt x="44450" y="300038"/>
                </a:lnTo>
                <a:cubicBezTo>
                  <a:pt x="44450" y="318443"/>
                  <a:pt x="59382" y="333375"/>
                  <a:pt x="77788" y="333375"/>
                </a:cubicBezTo>
                <a:lnTo>
                  <a:pt x="144463" y="333375"/>
                </a:lnTo>
                <a:cubicBezTo>
                  <a:pt x="162868" y="333375"/>
                  <a:pt x="177800" y="318443"/>
                  <a:pt x="177800" y="300038"/>
                </a:cubicBezTo>
                <a:lnTo>
                  <a:pt x="177800" y="255587"/>
                </a:lnTo>
                <a:cubicBezTo>
                  <a:pt x="177800" y="237182"/>
                  <a:pt x="162868" y="222250"/>
                  <a:pt x="144463" y="222250"/>
                </a:cubicBezTo>
                <a:lnTo>
                  <a:pt x="133350" y="222250"/>
                </a:lnTo>
                <a:lnTo>
                  <a:pt x="133350" y="200025"/>
                </a:lnTo>
                <a:lnTo>
                  <a:pt x="266700" y="200025"/>
                </a:lnTo>
                <a:lnTo>
                  <a:pt x="266700" y="222250"/>
                </a:lnTo>
                <a:lnTo>
                  <a:pt x="255587" y="222250"/>
                </a:lnTo>
                <a:cubicBezTo>
                  <a:pt x="237182" y="222250"/>
                  <a:pt x="222250" y="237182"/>
                  <a:pt x="222250" y="255587"/>
                </a:cubicBezTo>
                <a:lnTo>
                  <a:pt x="222250" y="300038"/>
                </a:lnTo>
                <a:cubicBezTo>
                  <a:pt x="222250" y="318443"/>
                  <a:pt x="237182" y="333375"/>
                  <a:pt x="255587" y="333375"/>
                </a:cubicBezTo>
                <a:lnTo>
                  <a:pt x="322263" y="333375"/>
                </a:lnTo>
                <a:cubicBezTo>
                  <a:pt x="340668" y="333375"/>
                  <a:pt x="355600" y="318443"/>
                  <a:pt x="355600" y="300038"/>
                </a:cubicBezTo>
                <a:lnTo>
                  <a:pt x="355600" y="255587"/>
                </a:lnTo>
                <a:cubicBezTo>
                  <a:pt x="355600" y="237182"/>
                  <a:pt x="340668" y="222250"/>
                  <a:pt x="322263" y="222250"/>
                </a:cubicBezTo>
                <a:lnTo>
                  <a:pt x="311150" y="222250"/>
                </a:lnTo>
                <a:lnTo>
                  <a:pt x="311150" y="200025"/>
                </a:lnTo>
                <a:lnTo>
                  <a:pt x="377825" y="200025"/>
                </a:lnTo>
                <a:cubicBezTo>
                  <a:pt x="390118" y="200025"/>
                  <a:pt x="400050" y="190093"/>
                  <a:pt x="400050" y="177800"/>
                </a:cubicBezTo>
                <a:cubicBezTo>
                  <a:pt x="400050" y="165507"/>
                  <a:pt x="390118" y="155575"/>
                  <a:pt x="377825" y="155575"/>
                </a:cubicBezTo>
                <a:lnTo>
                  <a:pt x="222250" y="155575"/>
                </a:lnTo>
                <a:lnTo>
                  <a:pt x="222250" y="133350"/>
                </a:lnTo>
                <a:lnTo>
                  <a:pt x="233363" y="133350"/>
                </a:lnTo>
                <a:cubicBezTo>
                  <a:pt x="251768" y="133350"/>
                  <a:pt x="266700" y="118418"/>
                  <a:pt x="266700" y="100013"/>
                </a:cubicBezTo>
                <a:lnTo>
                  <a:pt x="266700" y="55563"/>
                </a:lnTo>
                <a:cubicBezTo>
                  <a:pt x="266700" y="37157"/>
                  <a:pt x="251768" y="22225"/>
                  <a:pt x="233363" y="22225"/>
                </a:cubicBezTo>
                <a:lnTo>
                  <a:pt x="166688" y="22225"/>
                </a:lnTo>
                <a:close/>
                <a:moveTo>
                  <a:pt x="311150" y="261144"/>
                </a:moveTo>
                <a:lnTo>
                  <a:pt x="316706" y="261144"/>
                </a:lnTo>
                <a:lnTo>
                  <a:pt x="316706" y="294481"/>
                </a:lnTo>
                <a:lnTo>
                  <a:pt x="261144" y="294481"/>
                </a:lnTo>
                <a:lnTo>
                  <a:pt x="261144" y="261144"/>
                </a:lnTo>
                <a:lnTo>
                  <a:pt x="311150" y="261144"/>
                </a:lnTo>
                <a:close/>
                <a:moveTo>
                  <a:pt x="133350" y="261144"/>
                </a:moveTo>
                <a:lnTo>
                  <a:pt x="138906" y="261144"/>
                </a:lnTo>
                <a:lnTo>
                  <a:pt x="138906" y="294481"/>
                </a:lnTo>
                <a:lnTo>
                  <a:pt x="83344" y="294481"/>
                </a:lnTo>
                <a:lnTo>
                  <a:pt x="83344" y="261144"/>
                </a:lnTo>
                <a:lnTo>
                  <a:pt x="133350" y="261144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6" name="Text 14"/>
          <p:cNvSpPr/>
          <p:nvPr/>
        </p:nvSpPr>
        <p:spPr>
          <a:xfrm>
            <a:off x="5181600" y="51816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network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overhead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62738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8" name="Shape 16"/>
          <p:cNvSpPr/>
          <p:nvPr/>
        </p:nvSpPr>
        <p:spPr>
          <a:xfrm>
            <a:off x="1060450" y="6527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107097" y="205303"/>
                </a:moveTo>
                <a:cubicBezTo>
                  <a:pt x="113070" y="198289"/>
                  <a:pt x="112306" y="187801"/>
                  <a:pt x="105291" y="181828"/>
                </a:cubicBezTo>
                <a:cubicBezTo>
                  <a:pt x="98276" y="175855"/>
                  <a:pt x="87789" y="176619"/>
                  <a:pt x="81816" y="183634"/>
                </a:cubicBezTo>
                <a:lnTo>
                  <a:pt x="48478" y="222528"/>
                </a:lnTo>
                <a:cubicBezTo>
                  <a:pt x="43130" y="228779"/>
                  <a:pt x="43130" y="237946"/>
                  <a:pt x="48478" y="244197"/>
                </a:cubicBezTo>
                <a:lnTo>
                  <a:pt x="81816" y="283091"/>
                </a:lnTo>
                <a:cubicBezTo>
                  <a:pt x="87789" y="290106"/>
                  <a:pt x="98346" y="290870"/>
                  <a:pt x="105291" y="284897"/>
                </a:cubicBezTo>
                <a:cubicBezTo>
                  <a:pt x="112236" y="278924"/>
                  <a:pt x="113070" y="268367"/>
                  <a:pt x="107097" y="261422"/>
                </a:cubicBezTo>
                <a:lnTo>
                  <a:pt x="83066" y="233363"/>
                </a:lnTo>
                <a:lnTo>
                  <a:pt x="107097" y="205303"/>
                </a:lnTo>
                <a:close/>
                <a:moveTo>
                  <a:pt x="184884" y="183634"/>
                </a:moveTo>
                <a:cubicBezTo>
                  <a:pt x="178911" y="176619"/>
                  <a:pt x="168354" y="175855"/>
                  <a:pt x="161409" y="181828"/>
                </a:cubicBezTo>
                <a:cubicBezTo>
                  <a:pt x="154464" y="187801"/>
                  <a:pt x="153630" y="198358"/>
                  <a:pt x="159603" y="205303"/>
                </a:cubicBezTo>
                <a:lnTo>
                  <a:pt x="183634" y="233363"/>
                </a:lnTo>
                <a:lnTo>
                  <a:pt x="159603" y="261422"/>
                </a:lnTo>
                <a:cubicBezTo>
                  <a:pt x="153630" y="268436"/>
                  <a:pt x="154394" y="278924"/>
                  <a:pt x="161409" y="284897"/>
                </a:cubicBezTo>
                <a:cubicBezTo>
                  <a:pt x="168424" y="290870"/>
                  <a:pt x="178911" y="290106"/>
                  <a:pt x="184884" y="283091"/>
                </a:cubicBezTo>
                <a:lnTo>
                  <a:pt x="218222" y="244197"/>
                </a:lnTo>
                <a:cubicBezTo>
                  <a:pt x="223570" y="237946"/>
                  <a:pt x="223570" y="228779"/>
                  <a:pt x="218222" y="222528"/>
                </a:cubicBezTo>
                <a:lnTo>
                  <a:pt x="184884" y="183634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19" name="Text 17"/>
          <p:cNvSpPr/>
          <p:nvPr/>
        </p:nvSpPr>
        <p:spPr>
          <a:xfrm>
            <a:off x="1498600" y="64262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Cleaner code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Easier to maintain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45000" y="6273800"/>
            <a:ext cx="3429000" cy="1016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43450" y="65278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2" name="Text 20"/>
          <p:cNvSpPr/>
          <p:nvPr/>
        </p:nvSpPr>
        <p:spPr>
          <a:xfrm>
            <a:off x="5181600" y="6426200"/>
            <a:ext cx="2489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Atomic operation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or nothing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4" name="Text 22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Table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890000" y="2794000"/>
          <a:ext cx="6096000" cy="2540000"/>
        </p:xfrm>
        <a:graphic>
          <a:graphicData uri="http://schemas.openxmlformats.org/drawingml/2006/table">
            <a:tbl>
              <a:tblPr/>
              <a:tblGrid>
                <a:gridCol w="609600"/>
                <a:gridCol w="1828800"/>
                <a:gridCol w="914400"/>
                <a:gridCol w="27432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Ayesha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a@gmail.com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Bilal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b@gmail.com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Hina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h@gmail.com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8890000" y="5588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Each row is separated by a comma. The last row ends with a semicolon.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any row fails validation, the entire INSERT is rejected (in most databases with transactions).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INSERT — Online Store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04850" y="1524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1431" y="-14287"/>
                </a:moveTo>
                <a:cubicBezTo>
                  <a:pt x="9555" y="-14287"/>
                  <a:pt x="0" y="-4733"/>
                  <a:pt x="0" y="7144"/>
                </a:cubicBezTo>
                <a:cubicBezTo>
                  <a:pt x="0" y="19020"/>
                  <a:pt x="9555" y="28575"/>
                  <a:pt x="21431" y="28575"/>
                </a:cubicBezTo>
                <a:lnTo>
                  <a:pt x="61883" y="28575"/>
                </a:lnTo>
                <a:cubicBezTo>
                  <a:pt x="65365" y="28575"/>
                  <a:pt x="68312" y="31075"/>
                  <a:pt x="68937" y="34469"/>
                </a:cubicBezTo>
                <a:lnTo>
                  <a:pt x="115461" y="290126"/>
                </a:lnTo>
                <a:cubicBezTo>
                  <a:pt x="120997" y="320665"/>
                  <a:pt x="147608" y="342900"/>
                  <a:pt x="178683" y="342900"/>
                </a:cubicBezTo>
                <a:lnTo>
                  <a:pt x="407194" y="342900"/>
                </a:lnTo>
                <a:cubicBezTo>
                  <a:pt x="419070" y="342900"/>
                  <a:pt x="428625" y="333345"/>
                  <a:pt x="428625" y="321469"/>
                </a:cubicBezTo>
                <a:cubicBezTo>
                  <a:pt x="428625" y="309592"/>
                  <a:pt x="419070" y="300038"/>
                  <a:pt x="407194" y="300038"/>
                </a:cubicBezTo>
                <a:lnTo>
                  <a:pt x="178683" y="300038"/>
                </a:lnTo>
                <a:cubicBezTo>
                  <a:pt x="168325" y="300038"/>
                  <a:pt x="159484" y="292626"/>
                  <a:pt x="157609" y="282446"/>
                </a:cubicBezTo>
                <a:lnTo>
                  <a:pt x="153055" y="257175"/>
                </a:lnTo>
                <a:lnTo>
                  <a:pt x="424160" y="257175"/>
                </a:lnTo>
                <a:cubicBezTo>
                  <a:pt x="451664" y="257175"/>
                  <a:pt x="475238" y="237619"/>
                  <a:pt x="480328" y="210562"/>
                </a:cubicBezTo>
                <a:lnTo>
                  <a:pt x="508010" y="62419"/>
                </a:lnTo>
                <a:cubicBezTo>
                  <a:pt x="511314" y="44827"/>
                  <a:pt x="497830" y="28575"/>
                  <a:pt x="479881" y="28575"/>
                </a:cubicBezTo>
                <a:lnTo>
                  <a:pt x="111353" y="28575"/>
                </a:lnTo>
                <a:lnTo>
                  <a:pt x="110996" y="26789"/>
                </a:lnTo>
                <a:cubicBezTo>
                  <a:pt x="106710" y="3036"/>
                  <a:pt x="85993" y="-14287"/>
                  <a:pt x="61793" y="-14287"/>
                </a:cubicBezTo>
                <a:lnTo>
                  <a:pt x="21431" y="-14287"/>
                </a:lnTo>
                <a:close/>
                <a:moveTo>
                  <a:pt x="185738" y="457200"/>
                </a:moveTo>
                <a:cubicBezTo>
                  <a:pt x="209394" y="457200"/>
                  <a:pt x="228600" y="437994"/>
                  <a:pt x="228600" y="414338"/>
                </a:cubicBezTo>
                <a:cubicBezTo>
                  <a:pt x="228600" y="390681"/>
                  <a:pt x="209394" y="371475"/>
                  <a:pt x="185738" y="371475"/>
                </a:cubicBezTo>
                <a:cubicBezTo>
                  <a:pt x="162081" y="371475"/>
                  <a:pt x="142875" y="390681"/>
                  <a:pt x="142875" y="414338"/>
                </a:cubicBezTo>
                <a:cubicBezTo>
                  <a:pt x="142875" y="437994"/>
                  <a:pt x="162081" y="457200"/>
                  <a:pt x="185738" y="457200"/>
                </a:cubicBezTo>
                <a:close/>
                <a:moveTo>
                  <a:pt x="385763" y="457200"/>
                </a:moveTo>
                <a:cubicBezTo>
                  <a:pt x="409419" y="457200"/>
                  <a:pt x="428625" y="437994"/>
                  <a:pt x="428625" y="414338"/>
                </a:cubicBezTo>
                <a:cubicBezTo>
                  <a:pt x="428625" y="390681"/>
                  <a:pt x="409419" y="371475"/>
                  <a:pt x="385763" y="371475"/>
                </a:cubicBezTo>
                <a:cubicBezTo>
                  <a:pt x="362106" y="371475"/>
                  <a:pt x="342900" y="390681"/>
                  <a:pt x="342900" y="414338"/>
                </a:cubicBezTo>
                <a:cubicBezTo>
                  <a:pt x="342900" y="437994"/>
                  <a:pt x="362106" y="457200"/>
                  <a:pt x="385763" y="457200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5748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Store 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209800"/>
            <a:ext cx="71120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a customer places an order, the system stores it permanently in the database.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 INSERT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505200"/>
            <a:ext cx="7112000" cy="1270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0" name="Shape 8"/>
          <p:cNvSpPr/>
          <p:nvPr/>
        </p:nvSpPr>
        <p:spPr>
          <a:xfrm>
            <a:off x="762000" y="3505200"/>
            <a:ext cx="76200" cy="1270000"/>
          </a:xfrm>
          <a:prstGeom prst="rect">
            <a:avLst/>
          </a:prstGeom>
          <a:solidFill>
            <a:srgbClr val="4A7C6F"/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3606800"/>
            <a:ext cx="655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(1001, 'Laptop', 2);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826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 TABLE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181600"/>
          <a:ext cx="7112000" cy="1016000"/>
        </p:xfrm>
        <a:graphic>
          <a:graphicData uri="http://schemas.openxmlformats.org/drawingml/2006/table">
            <a:tbl>
              <a:tblPr/>
              <a:tblGrid>
                <a:gridCol w="1778000"/>
                <a:gridCol w="2844800"/>
                <a:gridCol w="24892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order_id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quantity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Laptop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762000" y="66548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Order Processing Flow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62000" y="71882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1E3D3D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71882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67000" y="7391400"/>
            <a:ext cx="508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8" name="Shape 15"/>
          <p:cNvSpPr/>
          <p:nvPr/>
        </p:nvSpPr>
        <p:spPr>
          <a:xfrm>
            <a:off x="3302000" y="7188200"/>
            <a:ext cx="1778000" cy="635000"/>
          </a:xfrm>
          <a:prstGeom prst="roundRect">
            <a:avLst>
              <a:gd name="adj" fmla="val 10000"/>
            </a:avLst>
          </a:prstGeom>
          <a:solidFill>
            <a:srgbClr val="C4843C"/>
          </a:solidFill>
          <a:ln/>
        </p:spPr>
      </p:sp>
      <p:sp>
        <p:nvSpPr>
          <p:cNvPr id="19" name="Text 16"/>
          <p:cNvSpPr/>
          <p:nvPr/>
        </p:nvSpPr>
        <p:spPr>
          <a:xfrm>
            <a:off x="3302000" y="7188200"/>
            <a:ext cx="177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Places Order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207000" y="7391400"/>
            <a:ext cx="508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21" name="Shape 18"/>
          <p:cNvSpPr/>
          <p:nvPr/>
        </p:nvSpPr>
        <p:spPr>
          <a:xfrm>
            <a:off x="5842000" y="71882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4A7C6F"/>
          </a:solidFill>
          <a:ln/>
        </p:spPr>
      </p:sp>
      <p:sp>
        <p:nvSpPr>
          <p:cNvPr id="22" name="Text 19"/>
          <p:cNvSpPr/>
          <p:nvPr/>
        </p:nvSpPr>
        <p:spPr>
          <a:xfrm>
            <a:off x="5842000" y="71882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Query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4" name="Text 21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8890000" y="2794000"/>
            <a:ext cx="6096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online transaction you make follows this pattern: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action triggers an event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Application builds an INSERT query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Database stores the record permanently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Other Examples: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User registration → INSERT into users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Blog post → INSERT into posts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Comment → INSERT into comments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Payment → INSERT into transactions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INSERT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INSERT Errors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5E6E0"/>
          </a:solidFill>
          <a:ln/>
        </p:spPr>
      </p:sp>
      <p:sp>
        <p:nvSpPr>
          <p:cNvPr id="6" name="Shape 4"/>
          <p:cNvSpPr/>
          <p:nvPr/>
        </p:nvSpPr>
        <p:spPr>
          <a:xfrm>
            <a:off x="1016000" y="172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17272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Wrong Datatype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184400"/>
            <a:ext cx="4191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Inserting text into an INT column, or a number into a DATE column.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ERROR: Invalid data type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0" y="15240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5E6E0"/>
          </a:solidFill>
          <a:ln/>
        </p:spPr>
      </p:sp>
      <p:sp>
        <p:nvSpPr>
          <p:cNvPr id="10" name="Shape 8"/>
          <p:cNvSpPr/>
          <p:nvPr/>
        </p:nvSpPr>
        <p:spPr>
          <a:xfrm>
            <a:off x="5969000" y="1727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11" name="Text 9"/>
          <p:cNvSpPr/>
          <p:nvPr/>
        </p:nvSpPr>
        <p:spPr>
          <a:xfrm>
            <a:off x="6451600" y="1727200"/>
            <a:ext cx="3683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Required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69000" y="2184400"/>
            <a:ext cx="4191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Leaving out a NOT NULL column or providing too few values.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ERROR: Column cannot be NULL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810000"/>
            <a:ext cx="9652000" cy="2032000"/>
          </a:xfrm>
          <a:prstGeom prst="roundRect">
            <a:avLst>
              <a:gd name="adj" fmla="val 8000"/>
            </a:avLst>
          </a:prstGeom>
          <a:solidFill>
            <a:srgbClr val="F5E6E0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401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15" name="Text 13"/>
          <p:cNvSpPr/>
          <p:nvPr/>
        </p:nvSpPr>
        <p:spPr>
          <a:xfrm>
            <a:off x="1498600" y="40132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Primary Key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470400"/>
            <a:ext cx="914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Trying to insert a row with a primary key that already exists in the table.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ERROR: Duplicate entry '1' for key 'PRIMARY'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61722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ERROR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502400"/>
            <a:ext cx="9652000" cy="1270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000" y="6502400"/>
            <a:ext cx="76200" cy="12700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800" y="6604000"/>
            <a:ext cx="909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 INTO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(1, 'Ali', 20);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-- ERROR: ID 1 already exists!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1524000"/>
            <a:ext cx="457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11303000" y="2032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Tips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303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1303000" y="2794000"/>
            <a:ext cx="3810000" cy="546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specify column names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datatypes before inserting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primary key uniqueness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transactions for batch inserts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 NULL constraints properly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Debug Strategy: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a SELECT first to check existing data, then construct your INSERT carefully.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t7e2ukioavs/mnt/agents/output/sql-lecture/images/6_Concept_of_a_Data_Center_Room_with.png">    </p:cNvPr>
          <p:cNvPicPr>
            <a:picLocks noChangeAspect="1"/>
          </p:cNvPicPr>
          <p:nvPr/>
        </p:nvPicPr>
        <p:blipFill>
          <a:blip r:embed="rId1"/>
          <a:srcRect l="23069" r="23069" t="0" b="0"/>
          <a:stretch/>
        </p:blipFill>
        <p:spPr>
          <a:xfrm>
            <a:off x="0" y="0"/>
            <a:ext cx="7112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E3D3D">
                  <a:alpha val="0"/>
                </a:srgbClr>
              </a:gs>
              <a:gs pos="100000">
                <a:srgbClr val="1E3D3D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874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874000" y="3683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Statement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874000" y="4508500"/>
            <a:ext cx="1270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874000" y="4762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Modifying Existing Data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records without deleting them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C4843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of UPDATE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62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changes existing data inside a table.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12954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12954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student_id = 1;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733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089400"/>
          <a:ext cx="5080000" cy="1016000"/>
        </p:xfrm>
        <a:graphic>
          <a:graphicData uri="http://schemas.openxmlformats.org/drawingml/2006/table">
            <a:tbl>
              <a:tblPr/>
              <a:tblGrid>
                <a:gridCol w="1676400"/>
                <a:gridCol w="1727200"/>
                <a:gridCol w="16764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048000" y="52832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5816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172200"/>
          <a:ext cx="5080000" cy="1016000"/>
        </p:xfrm>
        <a:graphic>
          <a:graphicData uri="http://schemas.openxmlformats.org/drawingml/2006/table">
            <a:tbl>
              <a:tblPr/>
              <a:tblGrid>
                <a:gridCol w="1676400"/>
                <a:gridCol w="1727200"/>
                <a:gridCol w="16764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62000" y="75692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clause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A1F2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critical — it identifies which row(s) to update.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7" name="Text 13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Breaking Down the Syntax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8890000" y="2794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Specifies which table to modify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890000" y="4064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age = 25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Defines the new value for the column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8890000" y="5334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student_id = 1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Filters which rows get updated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8890000" y="6731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Real-Life: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student changes their phone number. UPDATE targets only their record using their unique ID.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Multiple Columns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524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MULTI-COLUMN SYNTAX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1879600"/>
            <a:ext cx="7112000" cy="2032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7" name="Shape 5"/>
          <p:cNvSpPr/>
          <p:nvPr/>
        </p:nvSpPr>
        <p:spPr>
          <a:xfrm>
            <a:off x="762000" y="1879600"/>
            <a:ext cx="76200" cy="20320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8" name="Text 6"/>
          <p:cNvSpPr/>
          <p:nvPr/>
        </p:nvSpPr>
        <p:spPr>
          <a:xfrm>
            <a:off x="1066800" y="1955800"/>
            <a:ext cx="65532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 = 'Ali Khan',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 = 23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student_id = 1;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937000"/>
            <a:ext cx="711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i="1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SET clauses are separated by commas.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445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00600"/>
          <a:ext cx="5080000" cy="1016000"/>
        </p:xfrm>
        <a:graphic>
          <a:graphicData uri="http://schemas.openxmlformats.org/drawingml/2006/table">
            <a:tbl>
              <a:tblPr/>
              <a:tblGrid>
                <a:gridCol w="1676400"/>
                <a:gridCol w="1727200"/>
                <a:gridCol w="16764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048000" y="59944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6527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883400"/>
          <a:ext cx="5080000" cy="1016000"/>
        </p:xfrm>
        <a:graphic>
          <a:graphicData uri="http://schemas.openxmlformats.org/drawingml/2006/table">
            <a:tbl>
              <a:tblPr/>
              <a:tblGrid>
                <a:gridCol w="1676400"/>
                <a:gridCol w="1727200"/>
                <a:gridCol w="16764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 Khan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6" name="Text 12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8" name="Text 14"/>
          <p:cNvSpPr/>
          <p:nvPr/>
        </p:nvSpPr>
        <p:spPr>
          <a:xfrm>
            <a:off x="8890000" y="2794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employee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updates their profile information. Multiple fields change at once: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890000" y="5334000"/>
            <a:ext cx="6096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 (marriage, legal change)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Address (moved to new location)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8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8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Phone number (new contact)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890000" y="7112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Group related updates in a single query rather than running multiple UPDATE statements.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 Without WHERE — Danger!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270000"/>
          </a:xfrm>
          <a:prstGeom prst="roundRect">
            <a:avLst>
              <a:gd name="adj" fmla="val 6000"/>
            </a:avLst>
          </a:prstGeom>
          <a:solidFill>
            <a:srgbClr val="F5E6E0"/>
          </a:solidFill>
          <a:ln/>
        </p:spPr>
      </p:sp>
      <p:sp>
        <p:nvSpPr>
          <p:cNvPr id="6" name="Shape 4"/>
          <p:cNvSpPr/>
          <p:nvPr/>
        </p:nvSpPr>
        <p:spPr>
          <a:xfrm>
            <a:off x="1301750" y="18796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381000" y="142875"/>
                </a:moveTo>
                <a:cubicBezTo>
                  <a:pt x="381000" y="63996"/>
                  <a:pt x="309959" y="0"/>
                  <a:pt x="222250" y="0"/>
                </a:cubicBezTo>
                <a:cubicBezTo>
                  <a:pt x="134541" y="0"/>
                  <a:pt x="63500" y="63996"/>
                  <a:pt x="63500" y="142875"/>
                </a:cubicBezTo>
                <a:cubicBezTo>
                  <a:pt x="63500" y="189607"/>
                  <a:pt x="88404" y="231080"/>
                  <a:pt x="127000" y="257175"/>
                </a:cubicBezTo>
                <a:lnTo>
                  <a:pt x="127000" y="285750"/>
                </a:lnTo>
                <a:cubicBezTo>
                  <a:pt x="127000" y="303312"/>
                  <a:pt x="141188" y="317500"/>
                  <a:pt x="158750" y="317500"/>
                </a:cubicBezTo>
                <a:lnTo>
                  <a:pt x="285750" y="317500"/>
                </a:lnTo>
                <a:cubicBezTo>
                  <a:pt x="303312" y="317500"/>
                  <a:pt x="317500" y="303312"/>
                  <a:pt x="317500" y="285750"/>
                </a:cubicBezTo>
                <a:lnTo>
                  <a:pt x="317500" y="257175"/>
                </a:lnTo>
                <a:cubicBezTo>
                  <a:pt x="356096" y="231080"/>
                  <a:pt x="381000" y="189607"/>
                  <a:pt x="381000" y="142875"/>
                </a:cubicBezTo>
                <a:close/>
                <a:moveTo>
                  <a:pt x="158750" y="127000"/>
                </a:moveTo>
                <a:cubicBezTo>
                  <a:pt x="176273" y="127000"/>
                  <a:pt x="190500" y="141227"/>
                  <a:pt x="190500" y="158750"/>
                </a:cubicBezTo>
                <a:cubicBezTo>
                  <a:pt x="190500" y="176273"/>
                  <a:pt x="176273" y="190500"/>
                  <a:pt x="158750" y="190500"/>
                </a:cubicBezTo>
                <a:cubicBezTo>
                  <a:pt x="141227" y="190500"/>
                  <a:pt x="127000" y="176273"/>
                  <a:pt x="127000" y="158750"/>
                </a:cubicBezTo>
                <a:cubicBezTo>
                  <a:pt x="127000" y="141227"/>
                  <a:pt x="141227" y="127000"/>
                  <a:pt x="158750" y="127000"/>
                </a:cubicBezTo>
                <a:close/>
                <a:moveTo>
                  <a:pt x="254000" y="158750"/>
                </a:moveTo>
                <a:cubicBezTo>
                  <a:pt x="254000" y="141227"/>
                  <a:pt x="268227" y="127000"/>
                  <a:pt x="285750" y="127000"/>
                </a:cubicBezTo>
                <a:cubicBezTo>
                  <a:pt x="303273" y="127000"/>
                  <a:pt x="317500" y="141227"/>
                  <a:pt x="317500" y="158750"/>
                </a:cubicBezTo>
                <a:cubicBezTo>
                  <a:pt x="317500" y="176273"/>
                  <a:pt x="303273" y="190500"/>
                  <a:pt x="285750" y="190500"/>
                </a:cubicBezTo>
                <a:cubicBezTo>
                  <a:pt x="268227" y="190500"/>
                  <a:pt x="254000" y="176273"/>
                  <a:pt x="254000" y="158750"/>
                </a:cubicBezTo>
                <a:close/>
                <a:moveTo>
                  <a:pt x="442020" y="337046"/>
                </a:moveTo>
                <a:cubicBezTo>
                  <a:pt x="435273" y="320873"/>
                  <a:pt x="416719" y="313234"/>
                  <a:pt x="400546" y="319980"/>
                </a:cubicBezTo>
                <a:lnTo>
                  <a:pt x="222250" y="394196"/>
                </a:lnTo>
                <a:lnTo>
                  <a:pt x="43954" y="319980"/>
                </a:lnTo>
                <a:cubicBezTo>
                  <a:pt x="27781" y="313234"/>
                  <a:pt x="9227" y="320873"/>
                  <a:pt x="2480" y="337046"/>
                </a:cubicBezTo>
                <a:cubicBezTo>
                  <a:pt x="-4266" y="353219"/>
                  <a:pt x="3373" y="371773"/>
                  <a:pt x="19546" y="378520"/>
                </a:cubicBezTo>
                <a:lnTo>
                  <a:pt x="139700" y="428625"/>
                </a:lnTo>
                <a:lnTo>
                  <a:pt x="19546" y="478730"/>
                </a:lnTo>
                <a:cubicBezTo>
                  <a:pt x="3373" y="485477"/>
                  <a:pt x="-4266" y="504031"/>
                  <a:pt x="2480" y="520204"/>
                </a:cubicBezTo>
                <a:cubicBezTo>
                  <a:pt x="9227" y="536377"/>
                  <a:pt x="27781" y="544016"/>
                  <a:pt x="43954" y="537270"/>
                </a:cubicBezTo>
                <a:lnTo>
                  <a:pt x="222250" y="463054"/>
                </a:lnTo>
                <a:lnTo>
                  <a:pt x="400546" y="537270"/>
                </a:lnTo>
                <a:cubicBezTo>
                  <a:pt x="416719" y="544016"/>
                  <a:pt x="435273" y="536377"/>
                  <a:pt x="442020" y="520204"/>
                </a:cubicBezTo>
                <a:cubicBezTo>
                  <a:pt x="448766" y="504031"/>
                  <a:pt x="441127" y="485477"/>
                  <a:pt x="424954" y="478730"/>
                </a:cubicBezTo>
                <a:lnTo>
                  <a:pt x="304800" y="428625"/>
                </a:lnTo>
                <a:lnTo>
                  <a:pt x="424954" y="378520"/>
                </a:lnTo>
                <a:cubicBezTo>
                  <a:pt x="441127" y="371773"/>
                  <a:pt x="448766" y="353219"/>
                  <a:pt x="442020" y="337046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7" name="Text 5"/>
          <p:cNvSpPr/>
          <p:nvPr/>
        </p:nvSpPr>
        <p:spPr>
          <a:xfrm>
            <a:off x="2032000" y="177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the most dangerous SQL mistake!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32000" y="2209800"/>
            <a:ext cx="1016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Without WHERE, the update applies to ALL rows in the table.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0988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DANGEROUS QUERY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429000"/>
            <a:ext cx="7112000" cy="863600"/>
          </a:xfrm>
          <a:prstGeom prst="roundRect">
            <a:avLst>
              <a:gd name="adj" fmla="val 6000"/>
            </a:avLst>
          </a:prstGeom>
          <a:solidFill>
            <a:srgbClr val="F5E6E0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3429000"/>
            <a:ext cx="76200" cy="8636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3530600"/>
            <a:ext cx="655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30;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5212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876800"/>
          <a:ext cx="7112000" cy="1524000"/>
        </p:xfrm>
        <a:graphic>
          <a:graphicData uri="http://schemas.openxmlformats.org/drawingml/2006/table">
            <a:tbl>
              <a:tblPr/>
              <a:tblGrid>
                <a:gridCol w="1422400"/>
                <a:gridCol w="2489200"/>
                <a:gridCol w="1066800"/>
                <a:gridCol w="2133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064000" y="66040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54A3F"/>
          </a:solidFill>
          <a:ln/>
        </p:spPr>
      </p:sp>
      <p:sp>
        <p:nvSpPr>
          <p:cNvPr id="16" name="Text 13"/>
          <p:cNvSpPr/>
          <p:nvPr/>
        </p:nvSpPr>
        <p:spPr>
          <a:xfrm>
            <a:off x="762000" y="7137400"/>
            <a:ext cx="279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— ALL AGES = 30!</a:t>
            </a:r>
            <a:endParaRPr lang="en-US" sz="16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7493000"/>
          <a:ext cx="7112000" cy="1016000"/>
        </p:xfrm>
        <a:graphic>
          <a:graphicData uri="http://schemas.openxmlformats.org/drawingml/2006/table">
            <a:tbl>
              <a:tblPr/>
              <a:tblGrid>
                <a:gridCol w="1422400"/>
                <a:gridCol w="2489200"/>
                <a:gridCol w="1066800"/>
                <a:gridCol w="2133600"/>
              </a:tblGrid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8" name="Shape 14"/>
          <p:cNvSpPr/>
          <p:nvPr/>
        </p:nvSpPr>
        <p:spPr>
          <a:xfrm>
            <a:off x="8382000" y="3098800"/>
            <a:ext cx="7112000" cy="55372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9" name="Text 15"/>
          <p:cNvSpPr/>
          <p:nvPr/>
        </p:nvSpPr>
        <p:spPr>
          <a:xfrm>
            <a:off x="8890000" y="34798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Prevent This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890000" y="39370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1" name="Text 17"/>
          <p:cNvSpPr/>
          <p:nvPr/>
        </p:nvSpPr>
        <p:spPr>
          <a:xfrm>
            <a:off x="8890000" y="4241800"/>
            <a:ext cx="6096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Always write WHERE first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the WHERE clause before the SET clause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Test with SELECT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SELECT with your WHERE condition to verify which rows will be affected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Use transactions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Wrap UPDATE in BEGIN...ROLLBACK to test safely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 Limit clause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LIMIT 1 as a safety net during development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UPDATE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Diagram — UPDATE Statement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CB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Original Data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16000" y="2286000"/>
          <a:ext cx="3810000" cy="1651000"/>
        </p:xfrm>
        <a:graphic>
          <a:graphicData uri="http://schemas.openxmlformats.org/drawingml/2006/table">
            <a:tbl>
              <a:tblPr/>
              <a:tblGrid>
                <a:gridCol w="381000"/>
                <a:gridCol w="1143000"/>
                <a:gridCol w="762000"/>
                <a:gridCol w="152400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334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0" name="Shape 7"/>
          <p:cNvSpPr/>
          <p:nvPr/>
        </p:nvSpPr>
        <p:spPr>
          <a:xfrm>
            <a:off x="6350000" y="1651000"/>
            <a:ext cx="4318000" cy="2540000"/>
          </a:xfrm>
          <a:prstGeom prst="roundRect">
            <a:avLst>
              <a:gd name="adj" fmla="val 8000"/>
            </a:avLst>
          </a:prstGeom>
          <a:solidFill>
            <a:srgbClr val="E8E2D9"/>
          </a:solidFill>
          <a:ln/>
        </p:spPr>
      </p:sp>
      <p:sp>
        <p:nvSpPr>
          <p:cNvPr id="11" name="Text 8"/>
          <p:cNvSpPr/>
          <p:nvPr/>
        </p:nvSpPr>
        <p:spPr>
          <a:xfrm>
            <a:off x="6604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66000" y="1854200"/>
            <a:ext cx="3048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Execute UPDATE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604000" y="2362200"/>
            <a:ext cx="381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 = 23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student_id = 2;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922000" y="2540000"/>
            <a:ext cx="7620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4843C"/>
          </a:solidFill>
          <a:ln/>
        </p:spPr>
      </p:sp>
      <p:sp>
        <p:nvSpPr>
          <p:cNvPr id="15" name="Shape 12"/>
          <p:cNvSpPr/>
          <p:nvPr/>
        </p:nvSpPr>
        <p:spPr>
          <a:xfrm>
            <a:off x="11938000" y="1651000"/>
            <a:ext cx="3556000" cy="254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4A7C6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192000" y="1803400"/>
            <a:ext cx="76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2954000" y="1854200"/>
            <a:ext cx="228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Updated Data</a:t>
            </a:r>
            <a:endParaRPr lang="en-US" sz="16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92000" y="2286000"/>
          <a:ext cx="3048000" cy="1651000"/>
        </p:xfrm>
        <a:graphic>
          <a:graphicData uri="http://schemas.openxmlformats.org/drawingml/2006/table">
            <a:tbl>
              <a:tblPr/>
              <a:tblGrid>
                <a:gridCol w="304800"/>
                <a:gridCol w="914400"/>
                <a:gridCol w="609600"/>
                <a:gridCol w="1219200"/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57974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762000" y="4699000"/>
            <a:ext cx="14732000" cy="3556000"/>
          </a:xfrm>
          <a:prstGeom prst="roundRect">
            <a:avLst>
              <a:gd name="adj" fmla="val 4000"/>
            </a:avLst>
          </a:prstGeom>
          <a:solidFill>
            <a:srgbClr val="1E3D3D"/>
          </a:solidFill>
          <a:ln/>
        </p:spPr>
      </p:sp>
      <p:sp>
        <p:nvSpPr>
          <p:cNvPr id="20" name="Text 16"/>
          <p:cNvSpPr/>
          <p:nvPr/>
        </p:nvSpPr>
        <p:spPr>
          <a:xfrm>
            <a:off x="1270000" y="495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UPDATE Flow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1270000" y="5384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/>
          <p:nvPr/>
        </p:nvSpPr>
        <p:spPr>
          <a:xfrm>
            <a:off x="1270000" y="56642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 WHERE Filter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first identifies rows matching the WHERE condition. Only these rows will be modified.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842000" y="56642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 SET Application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New values are applied to the specified columns for all matched rows.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10414000" y="56642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 Commit Changes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are saved permanently. Original values are overwritten and cannot be recovered without a backup.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7xt7e2ukioavs/mnt/agents/output/sql-lecture/images/8_Abstract_Data_Visualization_Featuring.png">    </p:cNvPr>
          <p:cNvPicPr>
            <a:picLocks noChangeAspect="1"/>
          </p:cNvPicPr>
          <p:nvPr/>
        </p:nvPicPr>
        <p:blipFill>
          <a:blip r:embed="rId1"/>
          <a:srcRect l="28174" r="28174" t="0" b="0"/>
          <a:stretch/>
        </p:blipFill>
        <p:spPr>
          <a:xfrm>
            <a:off x="0" y="0"/>
            <a:ext cx="7112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2540000" cy="9144000"/>
          </a:xfrm>
          <a:prstGeom prst="rect">
            <a:avLst/>
          </a:prstGeom>
          <a:gradFill rotWithShape="1" flip="none">
            <a:gsLst>
              <a:gs pos="0">
                <a:srgbClr val="1E3D3D">
                  <a:alpha val="0"/>
                </a:srgbClr>
              </a:gs>
              <a:gs pos="100000">
                <a:srgbClr val="1E3D3D"/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874000" y="2540000"/>
            <a:ext cx="3810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7874000" y="3683000"/>
            <a:ext cx="736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6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Statement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7874000" y="4508500"/>
            <a:ext cx="1270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874000" y="47625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Removing Records Safely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73333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Delete with precision and caution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9017000"/>
            <a:ext cx="16256000" cy="127000"/>
          </a:xfrm>
          <a:prstGeom prst="rect">
            <a:avLst/>
          </a:prstGeom>
          <a:solidFill>
            <a:srgbClr val="C4843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Syntax of DELETE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473200"/>
            <a:ext cx="7620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F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removes records from a table.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057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BASIC 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387600"/>
            <a:ext cx="7112000" cy="889000"/>
          </a:xfrm>
          <a:prstGeom prst="roundRect">
            <a:avLst>
              <a:gd name="adj" fmla="val 6000"/>
            </a:avLst>
          </a:prstGeom>
          <a:solidFill>
            <a:srgbClr val="E8E2D9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2387600"/>
            <a:ext cx="76200" cy="889000"/>
          </a:xfrm>
          <a:prstGeom prst="rect">
            <a:avLst/>
          </a:prstGeom>
          <a:solidFill>
            <a:srgbClr val="B54A3F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2489200"/>
            <a:ext cx="6553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student_id = 2;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4798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835400"/>
          <a:ext cx="5080000" cy="1397000"/>
        </p:xfrm>
        <a:graphic>
          <a:graphicData uri="http://schemas.openxmlformats.org/drawingml/2006/table">
            <a:tbl>
              <a:tblPr/>
              <a:tblGrid>
                <a:gridCol w="1016000"/>
                <a:gridCol w="2032000"/>
                <a:gridCol w="1016000"/>
                <a:gridCol w="1016000"/>
              </a:tblGrid>
              <a:tr h="415324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490838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048000" y="54102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54A3F"/>
          </a:solidFill>
          <a:ln/>
        </p:spPr>
      </p:sp>
      <p:sp>
        <p:nvSpPr>
          <p:cNvPr id="13" name="Text 10"/>
          <p:cNvSpPr/>
          <p:nvPr/>
        </p:nvSpPr>
        <p:spPr>
          <a:xfrm>
            <a:off x="762000" y="594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4A7C6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</a:t>
            </a:r>
            <a:endParaRPr lang="en-US" sz="16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299200"/>
          <a:ext cx="5080000" cy="1016000"/>
        </p:xfrm>
        <a:graphic>
          <a:graphicData uri="http://schemas.openxmlformats.org/drawingml/2006/table">
            <a:tbl>
              <a:tblPr/>
              <a:tblGrid>
                <a:gridCol w="1016000"/>
                <a:gridCol w="2032000"/>
                <a:gridCol w="1016000"/>
                <a:gridCol w="1016000"/>
              </a:tblGrid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...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762000" y="7569200"/>
            <a:ext cx="508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Ahmed's record (id=2) has been deleted.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382000" y="1524000"/>
            <a:ext cx="7112000" cy="71120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7" name="Text 13"/>
          <p:cNvSpPr/>
          <p:nvPr/>
        </p:nvSpPr>
        <p:spPr>
          <a:xfrm>
            <a:off x="8890000" y="20320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DELETE Works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890000" y="24892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/>
          <p:nvPr/>
        </p:nvSpPr>
        <p:spPr>
          <a:xfrm>
            <a:off x="8890000" y="27940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WHERE clause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determines which row(s) get removed.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rows matching the condition are deleted. Other rows remain untouched.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890000" y="5588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8890000" y="5969000"/>
            <a:ext cx="6096000" cy="22860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9144000" y="6172200"/>
            <a:ext cx="558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employee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resigns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the company. HR deletes their record from the employee database.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WHERE clause uses their unique employee_id to ensure only their record is removed.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F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3048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C4843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DELETE STATEMENT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6604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E3D3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Without WHERE — Extreme Danger!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193800"/>
            <a:ext cx="1016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524000"/>
          </a:xfrm>
          <a:prstGeom prst="roundRect">
            <a:avLst>
              <a:gd name="adj" fmla="val 6000"/>
            </a:avLst>
          </a:prstGeom>
          <a:solidFill>
            <a:srgbClr val="F5E6E0"/>
          </a:solidFill>
          <a:ln/>
        </p:spPr>
      </p:sp>
      <p:sp>
        <p:nvSpPr>
          <p:cNvPr id="6" name="Shape 4"/>
          <p:cNvSpPr/>
          <p:nvPr/>
        </p:nvSpPr>
        <p:spPr>
          <a:xfrm>
            <a:off x="1235075" y="1930400"/>
            <a:ext cx="628650" cy="558800"/>
          </a:xfrm>
          <a:custGeom>
            <a:avLst/>
            <a:gdLst/>
            <a:ahLst/>
            <a:cxnLst/>
            <a:rect l="l" t="t" r="r" b="b"/>
            <a:pathLst>
              <a:path w="628650" h="558800">
                <a:moveTo>
                  <a:pt x="523875" y="-17462"/>
                </a:moveTo>
                <a:cubicBezTo>
                  <a:pt x="531406" y="-17462"/>
                  <a:pt x="538063" y="-12660"/>
                  <a:pt x="540464" y="-5566"/>
                </a:cubicBezTo>
                <a:lnTo>
                  <a:pt x="555198" y="38527"/>
                </a:lnTo>
                <a:lnTo>
                  <a:pt x="599291" y="53261"/>
                </a:lnTo>
                <a:cubicBezTo>
                  <a:pt x="606385" y="55662"/>
                  <a:pt x="611188" y="62319"/>
                  <a:pt x="611188" y="69850"/>
                </a:cubicBezTo>
                <a:cubicBezTo>
                  <a:pt x="611188" y="77381"/>
                  <a:pt x="606385" y="84038"/>
                  <a:pt x="599291" y="86439"/>
                </a:cubicBezTo>
                <a:lnTo>
                  <a:pt x="555198" y="101173"/>
                </a:lnTo>
                <a:lnTo>
                  <a:pt x="540464" y="145266"/>
                </a:lnTo>
                <a:cubicBezTo>
                  <a:pt x="538063" y="152360"/>
                  <a:pt x="531406" y="157163"/>
                  <a:pt x="523875" y="157163"/>
                </a:cubicBezTo>
                <a:cubicBezTo>
                  <a:pt x="516344" y="157163"/>
                  <a:pt x="509687" y="152360"/>
                  <a:pt x="507286" y="145266"/>
                </a:cubicBezTo>
                <a:lnTo>
                  <a:pt x="492552" y="101173"/>
                </a:lnTo>
                <a:lnTo>
                  <a:pt x="448459" y="86439"/>
                </a:lnTo>
                <a:cubicBezTo>
                  <a:pt x="441365" y="84038"/>
                  <a:pt x="436563" y="77381"/>
                  <a:pt x="436563" y="69850"/>
                </a:cubicBezTo>
                <a:cubicBezTo>
                  <a:pt x="436563" y="62319"/>
                  <a:pt x="441365" y="55662"/>
                  <a:pt x="448459" y="53261"/>
                </a:cubicBezTo>
                <a:lnTo>
                  <a:pt x="492552" y="38527"/>
                </a:lnTo>
                <a:lnTo>
                  <a:pt x="507286" y="-5566"/>
                </a:lnTo>
                <a:cubicBezTo>
                  <a:pt x="509687" y="-12660"/>
                  <a:pt x="516344" y="-17462"/>
                  <a:pt x="523875" y="-17462"/>
                </a:cubicBezTo>
                <a:close/>
                <a:moveTo>
                  <a:pt x="350778" y="106303"/>
                </a:moveTo>
                <a:cubicBezTo>
                  <a:pt x="364421" y="92660"/>
                  <a:pt x="386576" y="92660"/>
                  <a:pt x="400219" y="106303"/>
                </a:cubicBezTo>
                <a:lnTo>
                  <a:pt x="487531" y="193615"/>
                </a:lnTo>
                <a:cubicBezTo>
                  <a:pt x="501174" y="207258"/>
                  <a:pt x="501174" y="229414"/>
                  <a:pt x="487531" y="243056"/>
                </a:cubicBezTo>
                <a:lnTo>
                  <a:pt x="475635" y="254953"/>
                </a:lnTo>
                <a:cubicBezTo>
                  <a:pt x="484257" y="278963"/>
                  <a:pt x="488950" y="304830"/>
                  <a:pt x="488950" y="331897"/>
                </a:cubicBezTo>
                <a:cubicBezTo>
                  <a:pt x="488950" y="457299"/>
                  <a:pt x="387340" y="558909"/>
                  <a:pt x="261938" y="558909"/>
                </a:cubicBezTo>
                <a:cubicBezTo>
                  <a:pt x="136535" y="558909"/>
                  <a:pt x="34925" y="457190"/>
                  <a:pt x="34925" y="331788"/>
                </a:cubicBezTo>
                <a:cubicBezTo>
                  <a:pt x="34925" y="206385"/>
                  <a:pt x="136535" y="104775"/>
                  <a:pt x="261938" y="104775"/>
                </a:cubicBezTo>
                <a:cubicBezTo>
                  <a:pt x="288895" y="104775"/>
                  <a:pt x="314871" y="109468"/>
                  <a:pt x="338882" y="118199"/>
                </a:cubicBezTo>
                <a:lnTo>
                  <a:pt x="350778" y="106303"/>
                </a:lnTo>
                <a:close/>
                <a:moveTo>
                  <a:pt x="157163" y="331788"/>
                </a:moveTo>
                <a:cubicBezTo>
                  <a:pt x="157163" y="273943"/>
                  <a:pt x="204093" y="227013"/>
                  <a:pt x="261938" y="227013"/>
                </a:cubicBezTo>
                <a:cubicBezTo>
                  <a:pt x="276453" y="227013"/>
                  <a:pt x="288131" y="215334"/>
                  <a:pt x="288131" y="200819"/>
                </a:cubicBezTo>
                <a:cubicBezTo>
                  <a:pt x="288131" y="186303"/>
                  <a:pt x="276453" y="174625"/>
                  <a:pt x="261938" y="174625"/>
                </a:cubicBezTo>
                <a:cubicBezTo>
                  <a:pt x="175171" y="174625"/>
                  <a:pt x="104775" y="245021"/>
                  <a:pt x="104775" y="331788"/>
                </a:cubicBezTo>
                <a:cubicBezTo>
                  <a:pt x="104775" y="346303"/>
                  <a:pt x="116453" y="357981"/>
                  <a:pt x="130969" y="357981"/>
                </a:cubicBezTo>
                <a:cubicBezTo>
                  <a:pt x="145484" y="357981"/>
                  <a:pt x="157163" y="346303"/>
                  <a:pt x="157163" y="331788"/>
                </a:cubicBezTo>
                <a:close/>
              </a:path>
            </a:pathLst>
          </a:custGeom>
          <a:solidFill>
            <a:srgbClr val="B54A3F"/>
          </a:solidFill>
          <a:ln/>
        </p:spPr>
      </p:sp>
      <p:sp>
        <p:nvSpPr>
          <p:cNvPr id="7" name="Text 5"/>
          <p:cNvSpPr/>
          <p:nvPr/>
        </p:nvSpPr>
        <p:spPr>
          <a:xfrm>
            <a:off x="2108200" y="1778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 FROM students;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108200" y="22352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deletes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SINGLE ROW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the table. All records are gone forever.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3403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6B7F7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759200"/>
          <a:ext cx="7112000" cy="1524000"/>
        </p:xfrm>
        <a:graphic>
          <a:graphicData uri="http://schemas.openxmlformats.org/drawingml/2006/table">
            <a:tbl>
              <a:tblPr/>
              <a:tblGrid>
                <a:gridCol w="711200"/>
                <a:gridCol w="1778000"/>
                <a:gridCol w="1066800"/>
                <a:gridCol w="35560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2D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ahmed@mail.com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064000" y="5461000"/>
            <a:ext cx="508000" cy="3810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54A3F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" y="599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spc="100" kern="0" dirty="0">
                <a:solidFill>
                  <a:srgbClr val="B54A3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AFTER — TABLE IS EMPTY!</a:t>
            </a:r>
            <a:endParaRPr lang="en-US" sz="16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350000"/>
          <a:ext cx="7112000" cy="762000"/>
        </p:xfrm>
        <a:graphic>
          <a:graphicData uri="http://schemas.openxmlformats.org/drawingml/2006/table">
            <a:tbl>
              <a:tblPr/>
              <a:tblGrid>
                <a:gridCol w="711200"/>
                <a:gridCol w="1778000"/>
                <a:gridCol w="1066800"/>
                <a:gridCol w="3556000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email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D3D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(no rows)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1F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&lt;p&gt;&lt;span&gt;&lt;/span&gt;&lt;/p&gt;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B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8382000" y="3403600"/>
            <a:ext cx="7112000" cy="5232400"/>
          </a:xfrm>
          <a:prstGeom prst="roundRect">
            <a:avLst>
              <a:gd name="adj" fmla="val 6000"/>
            </a:avLst>
          </a:prstGeom>
          <a:solidFill>
            <a:srgbClr val="1E3D3D"/>
          </a:solidFill>
          <a:ln/>
        </p:spPr>
      </p:sp>
      <p:sp>
        <p:nvSpPr>
          <p:cNvPr id="15" name="Text 11"/>
          <p:cNvSpPr/>
          <p:nvPr/>
        </p:nvSpPr>
        <p:spPr>
          <a:xfrm>
            <a:off x="8890000" y="37846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Prevention Checklist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8890000" y="4241800"/>
            <a:ext cx="762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7" name="Text 13"/>
          <p:cNvSpPr/>
          <p:nvPr/>
        </p:nvSpPr>
        <p:spPr>
          <a:xfrm>
            <a:off x="8890000" y="4546600"/>
            <a:ext cx="60960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Never run DELETE without WHERE on production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test with SELECT first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transactions (BEGIN / ROLLBACK)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 regular backups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soft delete (status column) when possible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Golden Rule: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you're not 100% sure, don't run it. Ask a senior developer to review.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7F7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3D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76200"/>
          </a:xfrm>
          <a:prstGeom prst="rect">
            <a:avLst/>
          </a:prstGeom>
          <a:solidFill>
            <a:srgbClr val="C4843C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1346200"/>
            <a:ext cx="1270000" cy="0"/>
          </a:xfrm>
          <a:prstGeom prst="straightConnector1">
            <a:avLst/>
          </a:prstGeom>
          <a:noFill/>
          <a:ln w="381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65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54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 TABLE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286000"/>
            <a:ext cx="292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column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MODIFY column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DROP column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Changes table structure without losing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45000" y="165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699000" y="1854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INSERT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99000" y="2286000"/>
            <a:ext cx="292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Full row insertion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Column-specific insert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NULL values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rows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Adds new records to tables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28000" y="165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1854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UPDATE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2286000"/>
            <a:ext cx="292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Single column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Multiple columns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clause critical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Modifies existing records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811000" y="1651000"/>
            <a:ext cx="3429000" cy="3556000"/>
          </a:xfrm>
          <a:prstGeom prst="roundRect">
            <a:avLst>
              <a:gd name="adj" fmla="val 8000"/>
            </a:avLst>
          </a:prstGeom>
          <a:solidFill>
            <a:srgbClr val="FFFFFF">
              <a:alpha val="8235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2065000" y="1854200"/>
            <a:ext cx="2921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DELETE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65000" y="2286000"/>
            <a:ext cx="2921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Targeted deletion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C4843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clause required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54A3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●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WHERE = danger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Removes records permanently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43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6019800"/>
            <a:ext cx="1016000" cy="0"/>
          </a:xfrm>
          <a:prstGeom prst="straightConnector1">
            <a:avLst/>
          </a:prstGeom>
          <a:noFill/>
          <a:ln w="25400">
            <a:solidFill>
              <a:srgbClr val="C4843C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93775" y="635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3337" y="135989"/>
                </a:moveTo>
                <a:lnTo>
                  <a:pt x="178633" y="195788"/>
                </a:lnTo>
                <a:cubicBezTo>
                  <a:pt x="185440" y="198566"/>
                  <a:pt x="192663" y="200025"/>
                  <a:pt x="200025" y="200025"/>
                </a:cubicBezTo>
                <a:cubicBezTo>
                  <a:pt x="207387" y="200025"/>
                  <a:pt x="214610" y="198566"/>
                  <a:pt x="221417" y="195788"/>
                </a:cubicBezTo>
                <a:lnTo>
                  <a:pt x="389771" y="126474"/>
                </a:lnTo>
                <a:cubicBezTo>
                  <a:pt x="396022" y="123904"/>
                  <a:pt x="400050" y="117862"/>
                  <a:pt x="400050" y="111125"/>
                </a:cubicBezTo>
                <a:cubicBezTo>
                  <a:pt x="400050" y="104388"/>
                  <a:pt x="396022" y="98346"/>
                  <a:pt x="389771" y="95776"/>
                </a:cubicBezTo>
                <a:lnTo>
                  <a:pt x="221417" y="26462"/>
                </a:lnTo>
                <a:cubicBezTo>
                  <a:pt x="214610" y="23684"/>
                  <a:pt x="207387" y="22225"/>
                  <a:pt x="200025" y="22225"/>
                </a:cubicBezTo>
                <a:cubicBezTo>
                  <a:pt x="192663" y="22225"/>
                  <a:pt x="185440" y="23684"/>
                  <a:pt x="178633" y="26462"/>
                </a:cubicBezTo>
                <a:lnTo>
                  <a:pt x="10279" y="95776"/>
                </a:lnTo>
                <a:cubicBezTo>
                  <a:pt x="4028" y="98346"/>
                  <a:pt x="0" y="104388"/>
                  <a:pt x="0" y="111125"/>
                </a:cubicBezTo>
                <a:lnTo>
                  <a:pt x="0" y="316706"/>
                </a:lnTo>
                <a:cubicBezTo>
                  <a:pt x="0" y="325944"/>
                  <a:pt x="7431" y="333375"/>
                  <a:pt x="16669" y="333375"/>
                </a:cubicBezTo>
                <a:cubicBezTo>
                  <a:pt x="25906" y="333375"/>
                  <a:pt x="33337" y="325944"/>
                  <a:pt x="33337" y="316706"/>
                </a:cubicBezTo>
                <a:lnTo>
                  <a:pt x="33337" y="135989"/>
                </a:lnTo>
                <a:close/>
                <a:moveTo>
                  <a:pt x="66675" y="185787"/>
                </a:moveTo>
                <a:lnTo>
                  <a:pt x="66675" y="266700"/>
                </a:lnTo>
                <a:cubicBezTo>
                  <a:pt x="66675" y="303510"/>
                  <a:pt x="126405" y="333375"/>
                  <a:pt x="200025" y="333375"/>
                </a:cubicBezTo>
                <a:cubicBezTo>
                  <a:pt x="273645" y="333375"/>
                  <a:pt x="333375" y="303510"/>
                  <a:pt x="333375" y="266700"/>
                </a:cubicBezTo>
                <a:lnTo>
                  <a:pt x="333375" y="185718"/>
                </a:lnTo>
                <a:lnTo>
                  <a:pt x="234126" y="226626"/>
                </a:lnTo>
                <a:cubicBezTo>
                  <a:pt x="223292" y="231071"/>
                  <a:pt x="211763" y="233362"/>
                  <a:pt x="200025" y="233362"/>
                </a:cubicBezTo>
                <a:cubicBezTo>
                  <a:pt x="188287" y="233362"/>
                  <a:pt x="176758" y="231071"/>
                  <a:pt x="165924" y="226626"/>
                </a:cubicBezTo>
                <a:lnTo>
                  <a:pt x="66675" y="185718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0" name="Text 18"/>
          <p:cNvSpPr/>
          <p:nvPr/>
        </p:nvSpPr>
        <p:spPr>
          <a:xfrm>
            <a:off x="1524000" y="6350000"/>
            <a:ext cx="20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10000" y="635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2" name="Text 20"/>
          <p:cNvSpPr/>
          <p:nvPr/>
        </p:nvSpPr>
        <p:spPr>
          <a:xfrm>
            <a:off x="4318000" y="635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73775" y="6350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88900" y="44450"/>
                </a:moveTo>
                <a:cubicBezTo>
                  <a:pt x="88900" y="19933"/>
                  <a:pt x="108833" y="0"/>
                  <a:pt x="133350" y="0"/>
                </a:cubicBezTo>
                <a:lnTo>
                  <a:pt x="266700" y="0"/>
                </a:lnTo>
                <a:cubicBezTo>
                  <a:pt x="291217" y="0"/>
                  <a:pt x="311150" y="19933"/>
                  <a:pt x="311150" y="44450"/>
                </a:cubicBezTo>
                <a:lnTo>
                  <a:pt x="311150" y="88900"/>
                </a:lnTo>
                <a:lnTo>
                  <a:pt x="355600" y="88900"/>
                </a:lnTo>
                <a:cubicBezTo>
                  <a:pt x="380117" y="88900"/>
                  <a:pt x="400050" y="108833"/>
                  <a:pt x="400050" y="133350"/>
                </a:cubicBezTo>
                <a:lnTo>
                  <a:pt x="400050" y="311150"/>
                </a:lnTo>
                <a:cubicBezTo>
                  <a:pt x="400050" y="335667"/>
                  <a:pt x="380117" y="355600"/>
                  <a:pt x="35560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33350"/>
                </a:lnTo>
                <a:cubicBezTo>
                  <a:pt x="0" y="108833"/>
                  <a:pt x="19933" y="88900"/>
                  <a:pt x="44450" y="88900"/>
                </a:cubicBezTo>
                <a:lnTo>
                  <a:pt x="88900" y="88900"/>
                </a:lnTo>
                <a:lnTo>
                  <a:pt x="88900" y="44450"/>
                </a:lnTo>
                <a:close/>
                <a:moveTo>
                  <a:pt x="188913" y="244475"/>
                </a:moveTo>
                <a:cubicBezTo>
                  <a:pt x="176619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233363" y="322263"/>
                </a:lnTo>
                <a:lnTo>
                  <a:pt x="233363" y="266700"/>
                </a:lnTo>
                <a:cubicBezTo>
                  <a:pt x="233363" y="254407"/>
                  <a:pt x="223431" y="244475"/>
                  <a:pt x="211138" y="244475"/>
                </a:cubicBezTo>
                <a:lnTo>
                  <a:pt x="188913" y="244475"/>
                </a:lnTo>
                <a:close/>
                <a:moveTo>
                  <a:pt x="88900" y="255587"/>
                </a:moveTo>
                <a:lnTo>
                  <a:pt x="88900" y="233363"/>
                </a:lnTo>
                <a:cubicBezTo>
                  <a:pt x="88900" y="227251"/>
                  <a:pt x="83899" y="222250"/>
                  <a:pt x="77788" y="222250"/>
                </a:cubicBezTo>
                <a:lnTo>
                  <a:pt x="55563" y="222250"/>
                </a:lnTo>
                <a:cubicBezTo>
                  <a:pt x="49451" y="222250"/>
                  <a:pt x="44450" y="227251"/>
                  <a:pt x="44450" y="233363"/>
                </a:cubicBezTo>
                <a:lnTo>
                  <a:pt x="44450" y="255587"/>
                </a:lnTo>
                <a:cubicBezTo>
                  <a:pt x="44450" y="261699"/>
                  <a:pt x="49451" y="266700"/>
                  <a:pt x="55563" y="266700"/>
                </a:cubicBezTo>
                <a:lnTo>
                  <a:pt x="77788" y="266700"/>
                </a:lnTo>
                <a:cubicBezTo>
                  <a:pt x="83899" y="266700"/>
                  <a:pt x="88900" y="261699"/>
                  <a:pt x="88900" y="255587"/>
                </a:cubicBezTo>
                <a:close/>
                <a:moveTo>
                  <a:pt x="77788" y="177800"/>
                </a:moveTo>
                <a:cubicBezTo>
                  <a:pt x="83899" y="177800"/>
                  <a:pt x="88900" y="172799"/>
                  <a:pt x="88900" y="166688"/>
                </a:cubicBezTo>
                <a:lnTo>
                  <a:pt x="88900" y="144463"/>
                </a:lnTo>
                <a:cubicBezTo>
                  <a:pt x="88900" y="138351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38351"/>
                  <a:pt x="44450" y="144463"/>
                </a:cubicBezTo>
                <a:lnTo>
                  <a:pt x="44450" y="166688"/>
                </a:lnTo>
                <a:cubicBezTo>
                  <a:pt x="44450" y="172799"/>
                  <a:pt x="49451" y="177800"/>
                  <a:pt x="55563" y="177800"/>
                </a:cubicBezTo>
                <a:lnTo>
                  <a:pt x="77788" y="177800"/>
                </a:lnTo>
                <a:close/>
                <a:moveTo>
                  <a:pt x="355600" y="255587"/>
                </a:moveTo>
                <a:lnTo>
                  <a:pt x="355600" y="233363"/>
                </a:lnTo>
                <a:cubicBezTo>
                  <a:pt x="355600" y="227251"/>
                  <a:pt x="350599" y="222250"/>
                  <a:pt x="344488" y="222250"/>
                </a:cubicBezTo>
                <a:lnTo>
                  <a:pt x="322263" y="222250"/>
                </a:lnTo>
                <a:cubicBezTo>
                  <a:pt x="316151" y="222250"/>
                  <a:pt x="311150" y="227251"/>
                  <a:pt x="311150" y="233363"/>
                </a:cubicBezTo>
                <a:lnTo>
                  <a:pt x="311150" y="255587"/>
                </a:lnTo>
                <a:cubicBezTo>
                  <a:pt x="311150" y="261699"/>
                  <a:pt x="316151" y="266700"/>
                  <a:pt x="322263" y="266700"/>
                </a:cubicBezTo>
                <a:lnTo>
                  <a:pt x="344488" y="266700"/>
                </a:lnTo>
                <a:cubicBezTo>
                  <a:pt x="350599" y="266700"/>
                  <a:pt x="355600" y="261699"/>
                  <a:pt x="355600" y="255587"/>
                </a:cubicBezTo>
                <a:close/>
                <a:moveTo>
                  <a:pt x="344488" y="177800"/>
                </a:moveTo>
                <a:cubicBezTo>
                  <a:pt x="350599" y="177800"/>
                  <a:pt x="355600" y="172799"/>
                  <a:pt x="355600" y="166688"/>
                </a:cubicBezTo>
                <a:lnTo>
                  <a:pt x="355600" y="144463"/>
                </a:lnTo>
                <a:cubicBezTo>
                  <a:pt x="355600" y="138351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38351"/>
                  <a:pt x="311150" y="144463"/>
                </a:cubicBezTo>
                <a:lnTo>
                  <a:pt x="311150" y="166688"/>
                </a:lnTo>
                <a:cubicBezTo>
                  <a:pt x="311150" y="172799"/>
                  <a:pt x="316151" y="177800"/>
                  <a:pt x="322263" y="177800"/>
                </a:cubicBezTo>
                <a:lnTo>
                  <a:pt x="344488" y="177800"/>
                </a:lnTo>
                <a:close/>
                <a:moveTo>
                  <a:pt x="183356" y="72231"/>
                </a:moveTo>
                <a:lnTo>
                  <a:pt x="183356" y="94456"/>
                </a:lnTo>
                <a:lnTo>
                  <a:pt x="161131" y="94456"/>
                </a:lnTo>
                <a:cubicBezTo>
                  <a:pt x="155019" y="94456"/>
                  <a:pt x="150019" y="99457"/>
                  <a:pt x="150019" y="105569"/>
                </a:cubicBezTo>
                <a:lnTo>
                  <a:pt x="150019" y="116681"/>
                </a:lnTo>
                <a:cubicBezTo>
                  <a:pt x="150019" y="122793"/>
                  <a:pt x="155019" y="127794"/>
                  <a:pt x="161131" y="127794"/>
                </a:cubicBezTo>
                <a:lnTo>
                  <a:pt x="183356" y="127794"/>
                </a:lnTo>
                <a:lnTo>
                  <a:pt x="183356" y="150019"/>
                </a:lnTo>
                <a:cubicBezTo>
                  <a:pt x="183356" y="156131"/>
                  <a:pt x="188357" y="161131"/>
                  <a:pt x="194469" y="161131"/>
                </a:cubicBezTo>
                <a:lnTo>
                  <a:pt x="205581" y="161131"/>
                </a:lnTo>
                <a:cubicBezTo>
                  <a:pt x="211693" y="161131"/>
                  <a:pt x="216694" y="156131"/>
                  <a:pt x="216694" y="150019"/>
                </a:cubicBezTo>
                <a:lnTo>
                  <a:pt x="216694" y="127794"/>
                </a:lnTo>
                <a:lnTo>
                  <a:pt x="238919" y="127794"/>
                </a:lnTo>
                <a:cubicBezTo>
                  <a:pt x="245031" y="127794"/>
                  <a:pt x="250031" y="122793"/>
                  <a:pt x="250031" y="116681"/>
                </a:cubicBezTo>
                <a:lnTo>
                  <a:pt x="250031" y="105569"/>
                </a:lnTo>
                <a:cubicBezTo>
                  <a:pt x="250031" y="99457"/>
                  <a:pt x="245031" y="94456"/>
                  <a:pt x="238919" y="94456"/>
                </a:cubicBezTo>
                <a:lnTo>
                  <a:pt x="216694" y="94456"/>
                </a:lnTo>
                <a:lnTo>
                  <a:pt x="216694" y="72231"/>
                </a:lnTo>
                <a:cubicBezTo>
                  <a:pt x="216694" y="66119"/>
                  <a:pt x="211693" y="61119"/>
                  <a:pt x="205581" y="61119"/>
                </a:cubicBezTo>
                <a:lnTo>
                  <a:pt x="194469" y="61119"/>
                </a:lnTo>
                <a:cubicBezTo>
                  <a:pt x="188357" y="61119"/>
                  <a:pt x="183356" y="66119"/>
                  <a:pt x="183356" y="72231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4" name="Text 22"/>
          <p:cNvSpPr/>
          <p:nvPr/>
        </p:nvSpPr>
        <p:spPr>
          <a:xfrm>
            <a:off x="6604000" y="6350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Hospitals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37550" y="6350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16669" y="-11112"/>
                </a:moveTo>
                <a:cubicBezTo>
                  <a:pt x="7431" y="-11112"/>
                  <a:pt x="0" y="-3681"/>
                  <a:pt x="0" y="5556"/>
                </a:cubicBezTo>
                <a:cubicBezTo>
                  <a:pt x="0" y="14794"/>
                  <a:pt x="7431" y="22225"/>
                  <a:pt x="16669" y="22225"/>
                </a:cubicBezTo>
                <a:lnTo>
                  <a:pt x="48131" y="22225"/>
                </a:lnTo>
                <a:cubicBezTo>
                  <a:pt x="50840" y="22225"/>
                  <a:pt x="53132" y="24170"/>
                  <a:pt x="53618" y="26809"/>
                </a:cubicBezTo>
                <a:lnTo>
                  <a:pt x="89803" y="225653"/>
                </a:lnTo>
                <a:cubicBezTo>
                  <a:pt x="94109" y="249406"/>
                  <a:pt x="114806" y="266700"/>
                  <a:pt x="138976" y="266700"/>
                </a:cubicBezTo>
                <a:lnTo>
                  <a:pt x="316706" y="266700"/>
                </a:lnTo>
                <a:cubicBezTo>
                  <a:pt x="325944" y="266700"/>
                  <a:pt x="333375" y="259269"/>
                  <a:pt x="333375" y="250031"/>
                </a:cubicBezTo>
                <a:cubicBezTo>
                  <a:pt x="333375" y="240794"/>
                  <a:pt x="325944" y="233363"/>
                  <a:pt x="316706" y="233363"/>
                </a:cubicBezTo>
                <a:lnTo>
                  <a:pt x="138976" y="233363"/>
                </a:lnTo>
                <a:cubicBezTo>
                  <a:pt x="130919" y="233363"/>
                  <a:pt x="124043" y="227598"/>
                  <a:pt x="122585" y="219680"/>
                </a:cubicBezTo>
                <a:lnTo>
                  <a:pt x="119043" y="200025"/>
                </a:lnTo>
                <a:lnTo>
                  <a:pt x="329902" y="200025"/>
                </a:lnTo>
                <a:cubicBezTo>
                  <a:pt x="351294" y="200025"/>
                  <a:pt x="369630" y="184815"/>
                  <a:pt x="373588" y="163770"/>
                </a:cubicBezTo>
                <a:lnTo>
                  <a:pt x="395119" y="48548"/>
                </a:lnTo>
                <a:cubicBezTo>
                  <a:pt x="397689" y="34865"/>
                  <a:pt x="387201" y="22225"/>
                  <a:pt x="373241" y="22225"/>
                </a:cubicBezTo>
                <a:lnTo>
                  <a:pt x="86608" y="22225"/>
                </a:lnTo>
                <a:lnTo>
                  <a:pt x="86330" y="20836"/>
                </a:lnTo>
                <a:cubicBezTo>
                  <a:pt x="82996" y="2361"/>
                  <a:pt x="66883" y="-11112"/>
                  <a:pt x="48062" y="-11112"/>
                </a:cubicBezTo>
                <a:lnTo>
                  <a:pt x="16669" y="-11112"/>
                </a:lnTo>
                <a:close/>
                <a:moveTo>
                  <a:pt x="144463" y="355600"/>
                </a:moveTo>
                <a:cubicBezTo>
                  <a:pt x="162862" y="355600"/>
                  <a:pt x="177800" y="340662"/>
                  <a:pt x="177800" y="322263"/>
                </a:cubicBezTo>
                <a:cubicBezTo>
                  <a:pt x="177800" y="303863"/>
                  <a:pt x="162862" y="288925"/>
                  <a:pt x="144463" y="288925"/>
                </a:cubicBezTo>
                <a:cubicBezTo>
                  <a:pt x="126063" y="288925"/>
                  <a:pt x="111125" y="303863"/>
                  <a:pt x="111125" y="322263"/>
                </a:cubicBezTo>
                <a:cubicBezTo>
                  <a:pt x="111125" y="340662"/>
                  <a:pt x="126063" y="355600"/>
                  <a:pt x="144463" y="355600"/>
                </a:cubicBezTo>
                <a:close/>
                <a:moveTo>
                  <a:pt x="300038" y="355600"/>
                </a:moveTo>
                <a:cubicBezTo>
                  <a:pt x="318437" y="355600"/>
                  <a:pt x="333375" y="340662"/>
                  <a:pt x="333375" y="322263"/>
                </a:cubicBezTo>
                <a:cubicBezTo>
                  <a:pt x="333375" y="303863"/>
                  <a:pt x="318437" y="288925"/>
                  <a:pt x="300038" y="288925"/>
                </a:cubicBezTo>
                <a:cubicBezTo>
                  <a:pt x="281638" y="288925"/>
                  <a:pt x="266700" y="303863"/>
                  <a:pt x="266700" y="322263"/>
                </a:cubicBezTo>
                <a:cubicBezTo>
                  <a:pt x="266700" y="340662"/>
                  <a:pt x="281638" y="355600"/>
                  <a:pt x="300038" y="355600"/>
                </a:cubicBez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6" name="Text 24"/>
          <p:cNvSpPr/>
          <p:nvPr/>
        </p:nvSpPr>
        <p:spPr>
          <a:xfrm>
            <a:off x="8890000" y="6350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Shopping Sites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74450" y="635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112" y="44450"/>
                </a:moveTo>
                <a:cubicBezTo>
                  <a:pt x="11112" y="19933"/>
                  <a:pt x="31046" y="0"/>
                  <a:pt x="55563" y="0"/>
                </a:cubicBezTo>
                <a:lnTo>
                  <a:pt x="211138" y="0"/>
                </a:lnTo>
                <a:cubicBezTo>
                  <a:pt x="235654" y="0"/>
                  <a:pt x="255587" y="19933"/>
                  <a:pt x="255587" y="44450"/>
                </a:cubicBezTo>
                <a:lnTo>
                  <a:pt x="255587" y="311150"/>
                </a:lnTo>
                <a:cubicBezTo>
                  <a:pt x="255587" y="335667"/>
                  <a:pt x="235654" y="355600"/>
                  <a:pt x="211138" y="355600"/>
                </a:cubicBezTo>
                <a:lnTo>
                  <a:pt x="55563" y="355600"/>
                </a:lnTo>
                <a:cubicBezTo>
                  <a:pt x="31046" y="355600"/>
                  <a:pt x="11112" y="335667"/>
                  <a:pt x="11112" y="311150"/>
                </a:cubicBezTo>
                <a:lnTo>
                  <a:pt x="11112" y="44450"/>
                </a:lnTo>
                <a:close/>
                <a:moveTo>
                  <a:pt x="88900" y="305594"/>
                </a:moveTo>
                <a:cubicBezTo>
                  <a:pt x="88900" y="314831"/>
                  <a:pt x="96331" y="322263"/>
                  <a:pt x="105569" y="322263"/>
                </a:cubicBezTo>
                <a:lnTo>
                  <a:pt x="161131" y="322263"/>
                </a:lnTo>
                <a:cubicBezTo>
                  <a:pt x="170369" y="322263"/>
                  <a:pt x="177800" y="314831"/>
                  <a:pt x="177800" y="305594"/>
                </a:cubicBezTo>
                <a:cubicBezTo>
                  <a:pt x="177800" y="296356"/>
                  <a:pt x="170369" y="288925"/>
                  <a:pt x="161131" y="288925"/>
                </a:cubicBezTo>
                <a:lnTo>
                  <a:pt x="105569" y="288925"/>
                </a:lnTo>
                <a:cubicBezTo>
                  <a:pt x="96331" y="288925"/>
                  <a:pt x="88900" y="296356"/>
                  <a:pt x="88900" y="305594"/>
                </a:cubicBezTo>
                <a:close/>
                <a:moveTo>
                  <a:pt x="211138" y="44450"/>
                </a:moveTo>
                <a:lnTo>
                  <a:pt x="55563" y="44450"/>
                </a:lnTo>
                <a:lnTo>
                  <a:pt x="55563" y="255587"/>
                </a:lnTo>
                <a:lnTo>
                  <a:pt x="211138" y="255587"/>
                </a:lnTo>
                <a:lnTo>
                  <a:pt x="211138" y="44450"/>
                </a:lnTo>
                <a:close/>
              </a:path>
            </a:pathLst>
          </a:custGeom>
          <a:solidFill>
            <a:srgbClr val="C4843C"/>
          </a:solidFill>
          <a:ln/>
        </p:spPr>
      </p:sp>
      <p:sp>
        <p:nvSpPr>
          <p:cNvPr id="28" name="Text 26"/>
          <p:cNvSpPr/>
          <p:nvPr/>
        </p:nvSpPr>
        <p:spPr>
          <a:xfrm>
            <a:off x="11938000" y="6350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 Apps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Databases are continuously updated in every modern application.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Mastering these four operations is essential for any database professional.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0" y="9067800"/>
            <a:ext cx="16256000" cy="76200"/>
          </a:xfrm>
          <a:prstGeom prst="rect">
            <a:avLst/>
          </a:prstGeom>
          <a:solidFill>
            <a:srgbClr val="C4843C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Data Manipulation &amp; Table Alteration</dc:title>
  <dc:subject>SQL Data Manipulation &amp; Table Alteration</dc:subject>
  <dc:creator>Kimi</dc:creator>
  <cp:lastModifiedBy>Kimi</cp:lastModifiedBy>
  <cp:revision>1</cp:revision>
  <dcterms:created xsi:type="dcterms:W3CDTF">2026-05-22T10:38:04Z</dcterms:created>
  <dcterms:modified xsi:type="dcterms:W3CDTF">2026-05-22T10:38:04Z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{"Label":"SQL Data Manipulation &amp; Table Alteration","ContentProducer":"001191110108MACG2KBH8F10000","ProduceID":"19e4f3f7-2112-8263-8000-0000291b8946","ReservedCode1":"","ContentPropagator":"001191110108MACG2KBH8F20000","PropagateID":"19e4f3f7-2112-8263-8000-0000291b8946","ReservedCode2":""}</vt:lpwstr>
  </property>
</Properties>
</file>