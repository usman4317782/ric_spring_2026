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6256000" cy="9144000"/>
  <p:notesSz cx="9144000" cy="16256000"/>
  <p:embeddedFontLst>
    <p:embeddedFont>
      <p:font typeface="Quattrocento Sans" charset="-122" pitchFamily="34"/>
      <p:regular r:id="rId33"/>
    </p:embeddedFont>
    <p:embeddedFont>
      <p:font typeface="Liter" charset="-122" pitchFamily="34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font" Target="fonts/font1.fntdata"/><Relationship Id="rId3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gnjpd5kb3urc/mnt/agents/output/game_programming_week7/images/2_Free_Productive_Developer_Paradise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0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0F172A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17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spc="4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858000" y="4191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4445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7 — C# Fundamentals &amp; Unity Tilemaps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18000" y="762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14 &amp; 15 | Game Programming Course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70000" y="5334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D97706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970000" y="5334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D97706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Today's Agenda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921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" y="29464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14 — C# Programming Fundamentals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05000" y="34036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Variables, Conditionals, Loops, Functions, Classes &amp; Unity Integration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064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4572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" y="45974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15 — Unity Tilemap System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05000" y="50546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Tile Palette, Rule Tiles &amp; Animated Tiles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715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55425" y="3048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1E293B">
              <a:alpha val="12549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2575" y="4699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2900" y="85725"/>
                </a:moveTo>
                <a:lnTo>
                  <a:pt x="342900" y="200025"/>
                </a:lnTo>
                <a:lnTo>
                  <a:pt x="228600" y="200025"/>
                </a:lnTo>
                <a:lnTo>
                  <a:pt x="228600" y="85725"/>
                </a:lnTo>
                <a:lnTo>
                  <a:pt x="342900" y="85725"/>
                </a:lnTo>
                <a:close/>
                <a:moveTo>
                  <a:pt x="342900" y="257175"/>
                </a:moveTo>
                <a:lnTo>
                  <a:pt x="342900" y="371475"/>
                </a:lnTo>
                <a:lnTo>
                  <a:pt x="228600" y="371475"/>
                </a:lnTo>
                <a:lnTo>
                  <a:pt x="228600" y="257175"/>
                </a:lnTo>
                <a:lnTo>
                  <a:pt x="342900" y="257175"/>
                </a:lnTo>
                <a:close/>
                <a:moveTo>
                  <a:pt x="171450" y="200025"/>
                </a:moveTo>
                <a:lnTo>
                  <a:pt x="57150" y="200025"/>
                </a:lnTo>
                <a:lnTo>
                  <a:pt x="57150" y="85725"/>
                </a:lnTo>
                <a:lnTo>
                  <a:pt x="171450" y="85725"/>
                </a:lnTo>
                <a:lnTo>
                  <a:pt x="171450" y="200025"/>
                </a:lnTo>
                <a:close/>
                <a:moveTo>
                  <a:pt x="57150" y="257175"/>
                </a:moveTo>
                <a:lnTo>
                  <a:pt x="171450" y="257175"/>
                </a:lnTo>
                <a:lnTo>
                  <a:pt x="171450" y="371475"/>
                </a:lnTo>
                <a:lnTo>
                  <a:pt x="57150" y="371475"/>
                </a:lnTo>
                <a:lnTo>
                  <a:pt x="57150" y="257175"/>
                </a:lnTo>
                <a:close/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</a:path>
            </a:pathLst>
          </a:custGeom>
          <a:solidFill>
            <a:srgbClr val="1E293B">
              <a:alpha val="12549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8382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Programming | Week 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gnjpd5kb3urc/mnt/agents/output/game_programming_week7/images/5_C_in_Unity_with_Visual_Studio_Unity.png">    </p:cNvPr>
          <p:cNvPicPr>
            <a:picLocks noChangeAspect="1"/>
          </p:cNvPicPr>
          <p:nvPr/>
        </p:nvPicPr>
        <p:blipFill>
          <a:blip r:embed="rId1"/>
          <a:srcRect l="0" r="0" t="23795" b="2379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4000"/>
                </a:srgbClr>
              </a:gs>
              <a:gs pos="60000">
                <a:srgbClr val="0F172A">
                  <a:alpha val="82000"/>
                </a:srgbClr>
              </a:gs>
              <a:gs pos="100000">
                <a:srgbClr val="0F172A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0" spc="200" kern="0" dirty="0">
                <a:solidFill>
                  <a:srgbClr val="FFFFFF">
                    <a:alpha val="627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27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572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C# PROGRAMMING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334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FUNDAMENTALS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6350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Variables, Control Flow, Functions, Classes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Unity Integration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C# Variables — Storing Data in Your Programs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are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named containers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store data values in memory. C# is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strongly-typed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language — every variable must have a declared type.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857500"/>
            <a:ext cx="7112000" cy="24765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9845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Variable declaration syntax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whole numbers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speed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5.5f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decimal (suffix 'f')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isAlive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true or false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"Player"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text sequence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5524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 Scope &amp; Constants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9944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determines where a variable can be accessed — local variables exist within their enclosing braces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{}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while class-level fields are accessible throughout the class.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Constants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(declared with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cannot be modified after initialization.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1524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Built-in Types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032000"/>
          <a:ext cx="7112000" cy="3556000"/>
        </p:xfrm>
        <a:graphic>
          <a:graphicData uri="http://schemas.openxmlformats.org/drawingml/2006/table">
            <a:tbl>
              <a:tblPr/>
              <a:tblGrid>
                <a:gridCol w="1991360"/>
                <a:gridCol w="2560320"/>
                <a:gridCol w="2560320"/>
              </a:tblGrid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Whole numbers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42, -7, 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float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Decimal numbers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3.14f, -0.5f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High-precision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3.14159265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 / False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true, false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8212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Text sequence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"Hello"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382000" y="5905500"/>
            <a:ext cx="7112000" cy="12065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382000" y="5905500"/>
            <a:ext cx="50800" cy="1206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0"/>
          <p:cNvSpPr/>
          <p:nvPr/>
        </p:nvSpPr>
        <p:spPr>
          <a:xfrm>
            <a:off x="8670925" y="60960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9017000" y="6070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Tip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636000" y="6451600"/>
            <a:ext cx="660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[SerializeField]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expose private variables in the Unity Inspector.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 Types &amp; Type Conversion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048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8225" y="1778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498600" y="1752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Types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260600"/>
            <a:ext cx="6540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data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directly on the stack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Types: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int, float, bool, struct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Unity: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Vector2, Vector3, Quaternion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structs.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45500" y="1587500"/>
            <a:ext cx="7048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77275" y="177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9182100" y="1752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 Types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99500" y="2260600"/>
            <a:ext cx="6540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a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reference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the stack pointing to heap data.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Types: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string, class, array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Objects created with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reference types.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38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Conversion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889500"/>
            <a:ext cx="7048500" cy="2159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016500"/>
            <a:ext cx="6540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Implicit conversion (no data loss)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 = i;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10.0f auto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Explicit casting (possible data loss)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f2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3.7f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= 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)f2;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x = 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45500" y="4381500"/>
            <a:ext cx="70485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77275" y="4572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82940" y="-18752"/>
                </a:moveTo>
                <a:lnTo>
                  <a:pt x="193219" y="6806"/>
                </a:lnTo>
                <a:lnTo>
                  <a:pt x="218777" y="17085"/>
                </a:lnTo>
                <a:cubicBezTo>
                  <a:pt x="220861" y="17919"/>
                  <a:pt x="222250" y="20003"/>
                  <a:pt x="222250" y="22225"/>
                </a:cubicBezTo>
                <a:cubicBezTo>
                  <a:pt x="222250" y="24448"/>
                  <a:pt x="220861" y="26531"/>
                  <a:pt x="218777" y="27365"/>
                </a:cubicBezTo>
                <a:lnTo>
                  <a:pt x="193219" y="37644"/>
                </a:lnTo>
                <a:lnTo>
                  <a:pt x="182940" y="63202"/>
                </a:lnTo>
                <a:cubicBezTo>
                  <a:pt x="182106" y="65286"/>
                  <a:pt x="180022" y="66675"/>
                  <a:pt x="177800" y="66675"/>
                </a:cubicBezTo>
                <a:cubicBezTo>
                  <a:pt x="175577" y="66675"/>
                  <a:pt x="173494" y="65286"/>
                  <a:pt x="172660" y="63202"/>
                </a:cubicBezTo>
                <a:lnTo>
                  <a:pt x="162381" y="37644"/>
                </a:lnTo>
                <a:lnTo>
                  <a:pt x="136823" y="27365"/>
                </a:lnTo>
                <a:cubicBezTo>
                  <a:pt x="134739" y="26531"/>
                  <a:pt x="133350" y="24447"/>
                  <a:pt x="133350" y="22225"/>
                </a:cubicBezTo>
                <a:cubicBezTo>
                  <a:pt x="133350" y="20003"/>
                  <a:pt x="134739" y="17919"/>
                  <a:pt x="136823" y="17085"/>
                </a:cubicBezTo>
                <a:lnTo>
                  <a:pt x="162381" y="6806"/>
                </a:lnTo>
                <a:lnTo>
                  <a:pt x="172660" y="-18752"/>
                </a:lnTo>
                <a:cubicBezTo>
                  <a:pt x="173494" y="-20836"/>
                  <a:pt x="175577" y="-22225"/>
                  <a:pt x="177800" y="-22225"/>
                </a:cubicBezTo>
                <a:cubicBezTo>
                  <a:pt x="180023" y="-22225"/>
                  <a:pt x="182106" y="-20836"/>
                  <a:pt x="182940" y="-18752"/>
                </a:cubicBezTo>
                <a:close/>
                <a:moveTo>
                  <a:pt x="76885" y="28962"/>
                </a:moveTo>
                <a:lnTo>
                  <a:pt x="91817" y="63758"/>
                </a:lnTo>
                <a:lnTo>
                  <a:pt x="126613" y="78690"/>
                </a:lnTo>
                <a:cubicBezTo>
                  <a:pt x="130711" y="80427"/>
                  <a:pt x="133350" y="84455"/>
                  <a:pt x="133350" y="88900"/>
                </a:cubicBezTo>
                <a:cubicBezTo>
                  <a:pt x="133350" y="93345"/>
                  <a:pt x="130711" y="97373"/>
                  <a:pt x="126613" y="99110"/>
                </a:cubicBezTo>
                <a:lnTo>
                  <a:pt x="91817" y="114042"/>
                </a:lnTo>
                <a:lnTo>
                  <a:pt x="76885" y="148838"/>
                </a:lnTo>
                <a:cubicBezTo>
                  <a:pt x="75148" y="152936"/>
                  <a:pt x="71120" y="155575"/>
                  <a:pt x="66675" y="155575"/>
                </a:cubicBezTo>
                <a:cubicBezTo>
                  <a:pt x="62230" y="155575"/>
                  <a:pt x="58202" y="152936"/>
                  <a:pt x="56465" y="148838"/>
                </a:cubicBezTo>
                <a:lnTo>
                  <a:pt x="41533" y="114042"/>
                </a:lnTo>
                <a:lnTo>
                  <a:pt x="6737" y="99110"/>
                </a:lnTo>
                <a:cubicBezTo>
                  <a:pt x="2639" y="97373"/>
                  <a:pt x="0" y="93345"/>
                  <a:pt x="0" y="88900"/>
                </a:cubicBezTo>
                <a:cubicBezTo>
                  <a:pt x="0" y="84455"/>
                  <a:pt x="2639" y="80427"/>
                  <a:pt x="6737" y="78690"/>
                </a:cubicBezTo>
                <a:lnTo>
                  <a:pt x="41533" y="63758"/>
                </a:lnTo>
                <a:lnTo>
                  <a:pt x="56465" y="28962"/>
                </a:lnTo>
                <a:cubicBezTo>
                  <a:pt x="58202" y="24864"/>
                  <a:pt x="62230" y="22225"/>
                  <a:pt x="66675" y="22225"/>
                </a:cubicBezTo>
                <a:cubicBezTo>
                  <a:pt x="71120" y="22225"/>
                  <a:pt x="75148" y="24864"/>
                  <a:pt x="76885" y="28962"/>
                </a:cubicBezTo>
                <a:close/>
                <a:moveTo>
                  <a:pt x="322263" y="211138"/>
                </a:moveTo>
                <a:cubicBezTo>
                  <a:pt x="326708" y="211138"/>
                  <a:pt x="330736" y="213777"/>
                  <a:pt x="332472" y="217874"/>
                </a:cubicBezTo>
                <a:lnTo>
                  <a:pt x="347405" y="252670"/>
                </a:lnTo>
                <a:lnTo>
                  <a:pt x="382201" y="267603"/>
                </a:lnTo>
                <a:cubicBezTo>
                  <a:pt x="386298" y="269339"/>
                  <a:pt x="388938" y="273368"/>
                  <a:pt x="388938" y="277813"/>
                </a:cubicBezTo>
                <a:cubicBezTo>
                  <a:pt x="388938" y="282257"/>
                  <a:pt x="386298" y="286286"/>
                  <a:pt x="382201" y="288022"/>
                </a:cubicBezTo>
                <a:lnTo>
                  <a:pt x="347405" y="302955"/>
                </a:lnTo>
                <a:lnTo>
                  <a:pt x="332472" y="337751"/>
                </a:lnTo>
                <a:cubicBezTo>
                  <a:pt x="330736" y="341848"/>
                  <a:pt x="326707" y="344488"/>
                  <a:pt x="322263" y="344488"/>
                </a:cubicBezTo>
                <a:cubicBezTo>
                  <a:pt x="317818" y="344488"/>
                  <a:pt x="313789" y="341848"/>
                  <a:pt x="312053" y="337751"/>
                </a:cubicBezTo>
                <a:lnTo>
                  <a:pt x="297120" y="302955"/>
                </a:lnTo>
                <a:lnTo>
                  <a:pt x="262324" y="288022"/>
                </a:lnTo>
                <a:cubicBezTo>
                  <a:pt x="258227" y="286286"/>
                  <a:pt x="255587" y="282257"/>
                  <a:pt x="255587" y="277813"/>
                </a:cubicBezTo>
                <a:cubicBezTo>
                  <a:pt x="255587" y="273368"/>
                  <a:pt x="258227" y="269339"/>
                  <a:pt x="262324" y="267603"/>
                </a:cubicBezTo>
                <a:lnTo>
                  <a:pt x="297120" y="252670"/>
                </a:lnTo>
                <a:lnTo>
                  <a:pt x="312053" y="217874"/>
                </a:lnTo>
                <a:cubicBezTo>
                  <a:pt x="313789" y="213777"/>
                  <a:pt x="317818" y="211138"/>
                  <a:pt x="322263" y="211138"/>
                </a:cubicBezTo>
                <a:close/>
                <a:moveTo>
                  <a:pt x="319484" y="0"/>
                </a:moveTo>
                <a:cubicBezTo>
                  <a:pt x="327124" y="0"/>
                  <a:pt x="334486" y="3056"/>
                  <a:pt x="339973" y="8473"/>
                </a:cubicBezTo>
                <a:lnTo>
                  <a:pt x="369352" y="37852"/>
                </a:lnTo>
                <a:cubicBezTo>
                  <a:pt x="374769" y="43339"/>
                  <a:pt x="377825" y="50701"/>
                  <a:pt x="377825" y="58341"/>
                </a:cubicBezTo>
                <a:cubicBezTo>
                  <a:pt x="377825" y="65980"/>
                  <a:pt x="374769" y="73343"/>
                  <a:pt x="369352" y="78829"/>
                </a:cubicBezTo>
                <a:lnTo>
                  <a:pt x="308094" y="140087"/>
                </a:lnTo>
                <a:lnTo>
                  <a:pt x="237738" y="69731"/>
                </a:lnTo>
                <a:lnTo>
                  <a:pt x="298996" y="8473"/>
                </a:lnTo>
                <a:cubicBezTo>
                  <a:pt x="304483" y="3056"/>
                  <a:pt x="311845" y="0"/>
                  <a:pt x="319484" y="0"/>
                </a:cubicBezTo>
                <a:close/>
                <a:moveTo>
                  <a:pt x="30698" y="276771"/>
                </a:moveTo>
                <a:lnTo>
                  <a:pt x="214193" y="93276"/>
                </a:lnTo>
                <a:lnTo>
                  <a:pt x="284549" y="163632"/>
                </a:lnTo>
                <a:lnTo>
                  <a:pt x="101054" y="347127"/>
                </a:lnTo>
                <a:cubicBezTo>
                  <a:pt x="95567" y="352544"/>
                  <a:pt x="88205" y="355600"/>
                  <a:pt x="80566" y="355600"/>
                </a:cubicBezTo>
                <a:cubicBezTo>
                  <a:pt x="72926" y="355600"/>
                  <a:pt x="65564" y="352544"/>
                  <a:pt x="60077" y="347127"/>
                </a:cubicBezTo>
                <a:lnTo>
                  <a:pt x="30698" y="317748"/>
                </a:lnTo>
                <a:cubicBezTo>
                  <a:pt x="25281" y="312261"/>
                  <a:pt x="22225" y="304899"/>
                  <a:pt x="22225" y="297259"/>
                </a:cubicBezTo>
                <a:cubicBezTo>
                  <a:pt x="22225" y="289620"/>
                  <a:pt x="25281" y="282257"/>
                  <a:pt x="30698" y="276771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9182100" y="4546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Inference with var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99500" y="5054600"/>
            <a:ext cx="654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 lets the compiler infer the type: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health =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compiler infers int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Conditionals — Making Decisions in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Conditional statements execute different code blocks based on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boolean expressions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476500"/>
            <a:ext cx="7112000" cy="23495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5654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if-else if-else chain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(score &gt;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levelUp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(score &gt;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bonus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gameOver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4953000"/>
            <a:ext cx="7112000" cy="23495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0546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switch — ideal for state machines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(gameState)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"Menu"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ShowMenu();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"Play"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UpdateGame();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"Pause"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ShowPause();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14986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&amp; Logical Operators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006600"/>
          <a:ext cx="7112000" cy="2476500"/>
        </p:xfrm>
        <a:graphic>
          <a:graphicData uri="http://schemas.openxmlformats.org/drawingml/2006/table">
            <a:tbl>
              <a:tblPr/>
              <a:tblGrid>
                <a:gridCol w="2489200"/>
                <a:gridCol w="2133600"/>
                <a:gridCol w="2489200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==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Equal to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== 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!=, &lt;, &gt;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equal, etc.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!= b, a &gt; 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&amp;&amp;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&gt; 0 &amp;&amp; b &lt; 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||, !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OR, NOT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|| b, !active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382000" y="4762500"/>
            <a:ext cx="7112000" cy="10160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382000" y="4762500"/>
            <a:ext cx="50800" cy="101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8636000" y="4889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Ternary Operator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compact conditional: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condition ? valueIfTrue : valueIfFalse;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82000" y="5969000"/>
            <a:ext cx="7112000" cy="82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36000" y="60706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Short-circuit: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&amp;&amp;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||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stop evaluating once the result is determined.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Loops — Repeating Code Efficiently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Loops execute code blocks repeatedly. Choose the right loop for your use case.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7112000" cy="17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22225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loop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5654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known iteration counts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i 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i++) { spawnEnemy(); 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2095500"/>
            <a:ext cx="7112000" cy="17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36000" y="22225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 loop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0" y="25654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while condition is true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(health &gt;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{ ProcessCombat(); 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127500"/>
            <a:ext cx="7112000" cy="17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6000" y="42545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foreach loop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5974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Iterates over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collections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index management.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foreach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enemy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enemies) { enemy.Move(); 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4127500"/>
            <a:ext cx="7112000" cy="17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36000" y="42545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do-while loop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0" y="45974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least one execution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 ShowPrompt(); }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(!validInput);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622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Loop Control Keywords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731000"/>
            <a:ext cx="7048500" cy="8890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6731000"/>
            <a:ext cx="50800" cy="88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6832600"/>
            <a:ext cx="6540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exits the loop immediately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skips to the next iteration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45500" y="6223000"/>
            <a:ext cx="70485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61400" y="6375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66700" y="38100"/>
                </a:moveTo>
                <a:cubicBezTo>
                  <a:pt x="329803" y="38100"/>
                  <a:pt x="381000" y="89297"/>
                  <a:pt x="381000" y="152400"/>
                </a:cubicBezTo>
                <a:cubicBezTo>
                  <a:pt x="381000" y="215503"/>
                  <a:pt x="329803" y="266700"/>
                  <a:pt x="266700" y="266700"/>
                </a:cubicBezTo>
                <a:lnTo>
                  <a:pt x="114300" y="266700"/>
                </a:lnTo>
                <a:cubicBezTo>
                  <a:pt x="51197" y="266700"/>
                  <a:pt x="0" y="215503"/>
                  <a:pt x="0" y="152400"/>
                </a:cubicBezTo>
                <a:cubicBezTo>
                  <a:pt x="0" y="89297"/>
                  <a:pt x="51197" y="38100"/>
                  <a:pt x="114300" y="38100"/>
                </a:cubicBezTo>
                <a:lnTo>
                  <a:pt x="266700" y="38100"/>
                </a:lnTo>
                <a:close/>
                <a:moveTo>
                  <a:pt x="114300" y="104775"/>
                </a:moveTo>
                <a:cubicBezTo>
                  <a:pt x="106382" y="104775"/>
                  <a:pt x="100013" y="111145"/>
                  <a:pt x="100013" y="119062"/>
                </a:cubicBezTo>
                <a:lnTo>
                  <a:pt x="100013" y="138113"/>
                </a:lnTo>
                <a:lnTo>
                  <a:pt x="80962" y="138113"/>
                </a:lnTo>
                <a:cubicBezTo>
                  <a:pt x="73045" y="138113"/>
                  <a:pt x="66675" y="144482"/>
                  <a:pt x="66675" y="152400"/>
                </a:cubicBezTo>
                <a:cubicBezTo>
                  <a:pt x="66675" y="160318"/>
                  <a:pt x="73045" y="166688"/>
                  <a:pt x="80962" y="166688"/>
                </a:cubicBezTo>
                <a:lnTo>
                  <a:pt x="100013" y="166688"/>
                </a:lnTo>
                <a:lnTo>
                  <a:pt x="100013" y="185738"/>
                </a:lnTo>
                <a:cubicBezTo>
                  <a:pt x="100013" y="193655"/>
                  <a:pt x="106382" y="200025"/>
                  <a:pt x="114300" y="200025"/>
                </a:cubicBezTo>
                <a:cubicBezTo>
                  <a:pt x="122218" y="200025"/>
                  <a:pt x="128588" y="193655"/>
                  <a:pt x="128588" y="185738"/>
                </a:cubicBezTo>
                <a:lnTo>
                  <a:pt x="128588" y="166688"/>
                </a:lnTo>
                <a:lnTo>
                  <a:pt x="147638" y="166688"/>
                </a:lnTo>
                <a:cubicBezTo>
                  <a:pt x="155555" y="166688"/>
                  <a:pt x="161925" y="160318"/>
                  <a:pt x="161925" y="152400"/>
                </a:cubicBezTo>
                <a:cubicBezTo>
                  <a:pt x="161925" y="144482"/>
                  <a:pt x="155555" y="138113"/>
                  <a:pt x="147638" y="138113"/>
                </a:cubicBezTo>
                <a:lnTo>
                  <a:pt x="128588" y="138113"/>
                </a:lnTo>
                <a:lnTo>
                  <a:pt x="128588" y="119062"/>
                </a:lnTo>
                <a:cubicBezTo>
                  <a:pt x="128588" y="111145"/>
                  <a:pt x="122218" y="104775"/>
                  <a:pt x="114300" y="104775"/>
                </a:cubicBezTo>
                <a:close/>
                <a:moveTo>
                  <a:pt x="257175" y="161925"/>
                </a:moveTo>
                <a:cubicBezTo>
                  <a:pt x="246661" y="161925"/>
                  <a:pt x="238125" y="170461"/>
                  <a:pt x="238125" y="180975"/>
                </a:cubicBezTo>
                <a:cubicBezTo>
                  <a:pt x="238125" y="191489"/>
                  <a:pt x="246661" y="200025"/>
                  <a:pt x="257175" y="200025"/>
                </a:cubicBezTo>
                <a:cubicBezTo>
                  <a:pt x="267689" y="200025"/>
                  <a:pt x="276225" y="191489"/>
                  <a:pt x="276225" y="180975"/>
                </a:cubicBezTo>
                <a:cubicBezTo>
                  <a:pt x="276225" y="170461"/>
                  <a:pt x="267689" y="161925"/>
                  <a:pt x="257175" y="161925"/>
                </a:cubicBezTo>
                <a:close/>
                <a:moveTo>
                  <a:pt x="295275" y="104775"/>
                </a:moveTo>
                <a:cubicBezTo>
                  <a:pt x="284761" y="104775"/>
                  <a:pt x="276225" y="113311"/>
                  <a:pt x="276225" y="123825"/>
                </a:cubicBezTo>
                <a:cubicBezTo>
                  <a:pt x="276225" y="134339"/>
                  <a:pt x="284761" y="142875"/>
                  <a:pt x="295275" y="142875"/>
                </a:cubicBezTo>
                <a:cubicBezTo>
                  <a:pt x="305789" y="142875"/>
                  <a:pt x="314325" y="134339"/>
                  <a:pt x="314325" y="123825"/>
                </a:cubicBezTo>
                <a:cubicBezTo>
                  <a:pt x="314325" y="113311"/>
                  <a:pt x="305789" y="104775"/>
                  <a:pt x="295275" y="1047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63500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uses loops for: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Spawning enemies, processing GameObject arrays, animation sequences, and batch operations.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Functions — Organizing Code into Reusable Blocks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 encapsulate reusable code blocks.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7112000" cy="3175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413000"/>
            <a:ext cx="6604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Method declaration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returnType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Name(params)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body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value;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Examples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Jump() { vel.y = jumpForce;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a+b; 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5524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 Passing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969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value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copy is passed (default)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passes the actual variable reference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output parameter, must be assigned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 Heal(ref int hp) { hp += 10; 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14986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Overloading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2006600"/>
            <a:ext cx="7112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6000" y="21336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methods with the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name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but different params: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</a:t>
            </a:r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Damage(</a:t>
            </a:r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amt);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Damage(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amt,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bool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c);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3683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Recursion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4191000"/>
            <a:ext cx="71120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36000" y="4318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 that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 themselves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useful for tree traversal and procedural generation.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5461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5969000"/>
            <a:ext cx="7112000" cy="13335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82000" y="5969000"/>
            <a:ext cx="50800" cy="133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60706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responsibility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one task per function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naming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verb-based: CalculateDamage()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short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under 20-30 lines for readability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Classes — Object-Oriented Programming in C#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 are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blueprints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creating objects, combining data (fields/properties) and behavior (methods).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09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OOP Principles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6035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7275" y="2730500"/>
            <a:ext cx="247650" cy="330200"/>
          </a:xfrm>
          <a:custGeom>
            <a:avLst/>
            <a:gdLst/>
            <a:ahLst/>
            <a:cxnLst/>
            <a:rect l="l" t="t" r="r" b="b"/>
            <a:pathLst>
              <a:path w="247650" h="330200">
                <a:moveTo>
                  <a:pt x="82550" y="61912"/>
                </a:moveTo>
                <a:lnTo>
                  <a:pt x="82550" y="103188"/>
                </a:lnTo>
                <a:lnTo>
                  <a:pt x="165100" y="103188"/>
                </a:lnTo>
                <a:lnTo>
                  <a:pt x="165100" y="61912"/>
                </a:lnTo>
                <a:cubicBezTo>
                  <a:pt x="165100" y="39147"/>
                  <a:pt x="146591" y="20638"/>
                  <a:pt x="123825" y="20638"/>
                </a:cubicBezTo>
                <a:cubicBezTo>
                  <a:pt x="101059" y="20638"/>
                  <a:pt x="82550" y="39147"/>
                  <a:pt x="82550" y="61912"/>
                </a:cubicBezTo>
                <a:close/>
                <a:moveTo>
                  <a:pt x="41275" y="103188"/>
                </a:moveTo>
                <a:lnTo>
                  <a:pt x="41275" y="61912"/>
                </a:lnTo>
                <a:cubicBezTo>
                  <a:pt x="41275" y="16317"/>
                  <a:pt x="78229" y="-20637"/>
                  <a:pt x="123825" y="-20637"/>
                </a:cubicBezTo>
                <a:cubicBezTo>
                  <a:pt x="169421" y="-20637"/>
                  <a:pt x="206375" y="16317"/>
                  <a:pt x="206375" y="61912"/>
                </a:cubicBezTo>
                <a:lnTo>
                  <a:pt x="206375" y="103188"/>
                </a:lnTo>
                <a:cubicBezTo>
                  <a:pt x="229141" y="103188"/>
                  <a:pt x="247650" y="121697"/>
                  <a:pt x="247650" y="144463"/>
                </a:cubicBezTo>
                <a:lnTo>
                  <a:pt x="247650" y="288925"/>
                </a:lnTo>
                <a:cubicBezTo>
                  <a:pt x="247650" y="311691"/>
                  <a:pt x="229141" y="330200"/>
                  <a:pt x="206375" y="330200"/>
                </a:cubicBezTo>
                <a:lnTo>
                  <a:pt x="41275" y="330200"/>
                </a:lnTo>
                <a:cubicBezTo>
                  <a:pt x="18509" y="330200"/>
                  <a:pt x="0" y="311691"/>
                  <a:pt x="0" y="288925"/>
                </a:cubicBezTo>
                <a:lnTo>
                  <a:pt x="0" y="144463"/>
                </a:lnTo>
                <a:cubicBezTo>
                  <a:pt x="0" y="121697"/>
                  <a:pt x="18509" y="103188"/>
                  <a:pt x="41275" y="10318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27051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1496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Hide state with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Expose via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properties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getters/setters.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6035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2500" y="2730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23825" y="41275"/>
                </a:moveTo>
                <a:cubicBezTo>
                  <a:pt x="123825" y="29860"/>
                  <a:pt x="133047" y="20638"/>
                  <a:pt x="144463" y="20638"/>
                </a:cubicBezTo>
                <a:lnTo>
                  <a:pt x="185738" y="20638"/>
                </a:lnTo>
                <a:cubicBezTo>
                  <a:pt x="197153" y="20638"/>
                  <a:pt x="206375" y="29860"/>
                  <a:pt x="206375" y="41275"/>
                </a:cubicBezTo>
                <a:lnTo>
                  <a:pt x="206375" y="82550"/>
                </a:lnTo>
                <a:cubicBezTo>
                  <a:pt x="206375" y="93965"/>
                  <a:pt x="197153" y="103188"/>
                  <a:pt x="185738" y="103188"/>
                </a:cubicBezTo>
                <a:lnTo>
                  <a:pt x="180578" y="103188"/>
                </a:lnTo>
                <a:lnTo>
                  <a:pt x="180578" y="144463"/>
                </a:lnTo>
                <a:lnTo>
                  <a:pt x="257969" y="144463"/>
                </a:lnTo>
                <a:cubicBezTo>
                  <a:pt x="283637" y="144463"/>
                  <a:pt x="304403" y="165229"/>
                  <a:pt x="304403" y="190897"/>
                </a:cubicBezTo>
                <a:lnTo>
                  <a:pt x="304403" y="227013"/>
                </a:lnTo>
                <a:lnTo>
                  <a:pt x="309563" y="227013"/>
                </a:lnTo>
                <a:cubicBezTo>
                  <a:pt x="320978" y="227013"/>
                  <a:pt x="330200" y="236235"/>
                  <a:pt x="330200" y="247650"/>
                </a:cubicBezTo>
                <a:lnTo>
                  <a:pt x="330200" y="288925"/>
                </a:lnTo>
                <a:cubicBezTo>
                  <a:pt x="330200" y="300340"/>
                  <a:pt x="320978" y="309563"/>
                  <a:pt x="309563" y="309563"/>
                </a:cubicBezTo>
                <a:lnTo>
                  <a:pt x="268288" y="309563"/>
                </a:lnTo>
                <a:cubicBezTo>
                  <a:pt x="256872" y="309563"/>
                  <a:pt x="247650" y="300340"/>
                  <a:pt x="247650" y="288925"/>
                </a:cubicBezTo>
                <a:lnTo>
                  <a:pt x="247650" y="247650"/>
                </a:lnTo>
                <a:cubicBezTo>
                  <a:pt x="247650" y="236235"/>
                  <a:pt x="256872" y="227013"/>
                  <a:pt x="268288" y="227013"/>
                </a:cubicBezTo>
                <a:lnTo>
                  <a:pt x="273447" y="227013"/>
                </a:lnTo>
                <a:lnTo>
                  <a:pt x="273447" y="190897"/>
                </a:lnTo>
                <a:cubicBezTo>
                  <a:pt x="273447" y="182319"/>
                  <a:pt x="266546" y="175419"/>
                  <a:pt x="257969" y="175419"/>
                </a:cubicBezTo>
                <a:lnTo>
                  <a:pt x="180578" y="175419"/>
                </a:lnTo>
                <a:lnTo>
                  <a:pt x="180578" y="227013"/>
                </a:lnTo>
                <a:lnTo>
                  <a:pt x="185738" y="227013"/>
                </a:lnTo>
                <a:cubicBezTo>
                  <a:pt x="197153" y="227013"/>
                  <a:pt x="206375" y="236235"/>
                  <a:pt x="206375" y="247650"/>
                </a:cubicBezTo>
                <a:lnTo>
                  <a:pt x="206375" y="288925"/>
                </a:lnTo>
                <a:cubicBezTo>
                  <a:pt x="206375" y="300340"/>
                  <a:pt x="197153" y="309563"/>
                  <a:pt x="185738" y="309563"/>
                </a:cubicBezTo>
                <a:lnTo>
                  <a:pt x="144463" y="309563"/>
                </a:lnTo>
                <a:cubicBezTo>
                  <a:pt x="133047" y="309563"/>
                  <a:pt x="123825" y="300340"/>
                  <a:pt x="123825" y="288925"/>
                </a:cubicBezTo>
                <a:lnTo>
                  <a:pt x="123825" y="247650"/>
                </a:lnTo>
                <a:cubicBezTo>
                  <a:pt x="123825" y="236235"/>
                  <a:pt x="133047" y="227013"/>
                  <a:pt x="144463" y="227013"/>
                </a:cubicBezTo>
                <a:lnTo>
                  <a:pt x="149622" y="227013"/>
                </a:lnTo>
                <a:lnTo>
                  <a:pt x="149622" y="175419"/>
                </a:lnTo>
                <a:lnTo>
                  <a:pt x="72231" y="175419"/>
                </a:lnTo>
                <a:cubicBezTo>
                  <a:pt x="63654" y="175419"/>
                  <a:pt x="56753" y="182319"/>
                  <a:pt x="56753" y="190897"/>
                </a:cubicBezTo>
                <a:lnTo>
                  <a:pt x="56753" y="227013"/>
                </a:lnTo>
                <a:lnTo>
                  <a:pt x="61912" y="227013"/>
                </a:lnTo>
                <a:cubicBezTo>
                  <a:pt x="73328" y="227013"/>
                  <a:pt x="82550" y="236235"/>
                  <a:pt x="82550" y="247650"/>
                </a:cubicBezTo>
                <a:lnTo>
                  <a:pt x="82550" y="288925"/>
                </a:lnTo>
                <a:cubicBezTo>
                  <a:pt x="82550" y="300340"/>
                  <a:pt x="73328" y="309563"/>
                  <a:pt x="61912" y="309563"/>
                </a:cubicBezTo>
                <a:lnTo>
                  <a:pt x="20638" y="309563"/>
                </a:lnTo>
                <a:cubicBezTo>
                  <a:pt x="9222" y="309563"/>
                  <a:pt x="0" y="300340"/>
                  <a:pt x="0" y="288925"/>
                </a:cubicBezTo>
                <a:lnTo>
                  <a:pt x="0" y="247650"/>
                </a:lnTo>
                <a:cubicBezTo>
                  <a:pt x="0" y="236235"/>
                  <a:pt x="9222" y="227013"/>
                  <a:pt x="20638" y="227013"/>
                </a:cubicBezTo>
                <a:lnTo>
                  <a:pt x="25797" y="227013"/>
                </a:lnTo>
                <a:lnTo>
                  <a:pt x="25797" y="190897"/>
                </a:lnTo>
                <a:cubicBezTo>
                  <a:pt x="25797" y="165229"/>
                  <a:pt x="46563" y="144463"/>
                  <a:pt x="72231" y="144463"/>
                </a:cubicBezTo>
                <a:lnTo>
                  <a:pt x="149622" y="144463"/>
                </a:lnTo>
                <a:lnTo>
                  <a:pt x="149622" y="103188"/>
                </a:lnTo>
                <a:lnTo>
                  <a:pt x="144463" y="103188"/>
                </a:lnTo>
                <a:cubicBezTo>
                  <a:pt x="133047" y="103188"/>
                  <a:pt x="123825" y="93965"/>
                  <a:pt x="123825" y="82550"/>
                </a:cubicBezTo>
                <a:lnTo>
                  <a:pt x="123825" y="4127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300" y="27051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31496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 from base classes to reuse and extend: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</a:t>
            </a:r>
            <a:pPr>
              <a:lnSpc>
                <a:spcPct val="14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4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Enemy</a:t>
            </a:r>
            <a:pPr>
              <a:lnSpc>
                <a:spcPct val="14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Character { 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26035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9000" y="2730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60419" y="22185"/>
                </a:moveTo>
                <a:cubicBezTo>
                  <a:pt x="268159" y="18961"/>
                  <a:pt x="276994" y="20766"/>
                  <a:pt x="282927" y="26635"/>
                </a:cubicBezTo>
                <a:lnTo>
                  <a:pt x="324202" y="67910"/>
                </a:lnTo>
                <a:cubicBezTo>
                  <a:pt x="328072" y="71780"/>
                  <a:pt x="330264" y="77004"/>
                  <a:pt x="330264" y="82486"/>
                </a:cubicBezTo>
                <a:cubicBezTo>
                  <a:pt x="330264" y="87967"/>
                  <a:pt x="328072" y="93191"/>
                  <a:pt x="324202" y="97061"/>
                </a:cubicBezTo>
                <a:lnTo>
                  <a:pt x="282927" y="138336"/>
                </a:lnTo>
                <a:cubicBezTo>
                  <a:pt x="276994" y="144269"/>
                  <a:pt x="268159" y="146010"/>
                  <a:pt x="260419" y="142786"/>
                </a:cubicBezTo>
                <a:cubicBezTo>
                  <a:pt x="252680" y="139561"/>
                  <a:pt x="247650" y="132144"/>
                  <a:pt x="247650" y="123825"/>
                </a:cubicBezTo>
                <a:lnTo>
                  <a:pt x="247650" y="103188"/>
                </a:lnTo>
                <a:lnTo>
                  <a:pt x="227013" y="103188"/>
                </a:lnTo>
                <a:cubicBezTo>
                  <a:pt x="220499" y="103188"/>
                  <a:pt x="214372" y="106219"/>
                  <a:pt x="210503" y="111443"/>
                </a:cubicBezTo>
                <a:lnTo>
                  <a:pt x="189607" y="139303"/>
                </a:lnTo>
                <a:lnTo>
                  <a:pt x="163810" y="104929"/>
                </a:lnTo>
                <a:lnTo>
                  <a:pt x="177482" y="86677"/>
                </a:lnTo>
                <a:cubicBezTo>
                  <a:pt x="189156" y="71070"/>
                  <a:pt x="207536" y="61912"/>
                  <a:pt x="227013" y="61912"/>
                </a:cubicBezTo>
                <a:lnTo>
                  <a:pt x="247650" y="61912"/>
                </a:lnTo>
                <a:lnTo>
                  <a:pt x="247650" y="41275"/>
                </a:lnTo>
                <a:cubicBezTo>
                  <a:pt x="247650" y="32956"/>
                  <a:pt x="252680" y="25410"/>
                  <a:pt x="260419" y="22185"/>
                </a:cubicBezTo>
                <a:close/>
                <a:moveTo>
                  <a:pt x="99318" y="190897"/>
                </a:moveTo>
                <a:lnTo>
                  <a:pt x="125115" y="225271"/>
                </a:lnTo>
                <a:lnTo>
                  <a:pt x="111443" y="243523"/>
                </a:lnTo>
                <a:cubicBezTo>
                  <a:pt x="99769" y="259130"/>
                  <a:pt x="81389" y="268288"/>
                  <a:pt x="61912" y="268288"/>
                </a:cubicBezTo>
                <a:lnTo>
                  <a:pt x="20638" y="268288"/>
                </a:lnTo>
                <a:cubicBezTo>
                  <a:pt x="9222" y="268288"/>
                  <a:pt x="0" y="259065"/>
                  <a:pt x="0" y="247650"/>
                </a:cubicBezTo>
                <a:cubicBezTo>
                  <a:pt x="0" y="236235"/>
                  <a:pt x="9222" y="227013"/>
                  <a:pt x="20638" y="227013"/>
                </a:cubicBezTo>
                <a:lnTo>
                  <a:pt x="61912" y="227013"/>
                </a:lnTo>
                <a:cubicBezTo>
                  <a:pt x="68426" y="227013"/>
                  <a:pt x="74553" y="223981"/>
                  <a:pt x="78423" y="218758"/>
                </a:cubicBezTo>
                <a:lnTo>
                  <a:pt x="99318" y="190897"/>
                </a:lnTo>
                <a:close/>
                <a:moveTo>
                  <a:pt x="282863" y="303500"/>
                </a:moveTo>
                <a:cubicBezTo>
                  <a:pt x="276929" y="309434"/>
                  <a:pt x="268094" y="311175"/>
                  <a:pt x="260355" y="307950"/>
                </a:cubicBezTo>
                <a:cubicBezTo>
                  <a:pt x="252616" y="304726"/>
                  <a:pt x="247650" y="297244"/>
                  <a:pt x="247650" y="288925"/>
                </a:cubicBezTo>
                <a:lnTo>
                  <a:pt x="247650" y="268288"/>
                </a:lnTo>
                <a:lnTo>
                  <a:pt x="227013" y="268288"/>
                </a:lnTo>
                <a:cubicBezTo>
                  <a:pt x="207536" y="268288"/>
                  <a:pt x="189156" y="259130"/>
                  <a:pt x="177482" y="243523"/>
                </a:cubicBezTo>
                <a:lnTo>
                  <a:pt x="78423" y="111443"/>
                </a:lnTo>
                <a:cubicBezTo>
                  <a:pt x="74553" y="106219"/>
                  <a:pt x="68426" y="103188"/>
                  <a:pt x="61912" y="103188"/>
                </a:cubicBezTo>
                <a:lnTo>
                  <a:pt x="20638" y="103188"/>
                </a:lnTo>
                <a:cubicBezTo>
                  <a:pt x="9222" y="103188"/>
                  <a:pt x="0" y="93965"/>
                  <a:pt x="0" y="82550"/>
                </a:cubicBezTo>
                <a:cubicBezTo>
                  <a:pt x="0" y="71135"/>
                  <a:pt x="9222" y="61912"/>
                  <a:pt x="20638" y="61912"/>
                </a:cubicBezTo>
                <a:lnTo>
                  <a:pt x="61912" y="61912"/>
                </a:lnTo>
                <a:cubicBezTo>
                  <a:pt x="81389" y="61912"/>
                  <a:pt x="99769" y="71070"/>
                  <a:pt x="111443" y="86678"/>
                </a:cubicBezTo>
                <a:lnTo>
                  <a:pt x="210503" y="218758"/>
                </a:lnTo>
                <a:cubicBezTo>
                  <a:pt x="214372" y="223981"/>
                  <a:pt x="220499" y="227013"/>
                  <a:pt x="227013" y="227013"/>
                </a:cubicBezTo>
                <a:lnTo>
                  <a:pt x="247650" y="227013"/>
                </a:lnTo>
                <a:lnTo>
                  <a:pt x="247650" y="206375"/>
                </a:lnTo>
                <a:cubicBezTo>
                  <a:pt x="247650" y="198056"/>
                  <a:pt x="252680" y="190510"/>
                  <a:pt x="260419" y="187285"/>
                </a:cubicBezTo>
                <a:cubicBezTo>
                  <a:pt x="268159" y="184061"/>
                  <a:pt x="276994" y="185866"/>
                  <a:pt x="282927" y="191735"/>
                </a:cubicBezTo>
                <a:lnTo>
                  <a:pt x="324202" y="233010"/>
                </a:lnTo>
                <a:cubicBezTo>
                  <a:pt x="328072" y="236880"/>
                  <a:pt x="330264" y="242104"/>
                  <a:pt x="330264" y="247586"/>
                </a:cubicBezTo>
                <a:cubicBezTo>
                  <a:pt x="330264" y="253067"/>
                  <a:pt x="328072" y="258291"/>
                  <a:pt x="324202" y="262161"/>
                </a:cubicBezTo>
                <a:lnTo>
                  <a:pt x="282927" y="30343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1480800" y="27051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31496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Override base class methods in derived classes for specialized behavior at runtime.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457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Example: Player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080000"/>
            <a:ext cx="8890000" cy="33655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5207000"/>
            <a:ext cx="838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MonoBehaviour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hp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HP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set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TakeDmg(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d) { HP -= d;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33000" y="5080000"/>
            <a:ext cx="5461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0" y="5207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Members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87000" y="5562600"/>
            <a:ext cx="495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Belong to the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itself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instances. Shared across all objects.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33000" y="6413500"/>
            <a:ext cx="5461000" cy="120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87000" y="6540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Namespaces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87000" y="6896100"/>
            <a:ext cx="495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 related classes and prevent naming conflicts: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UnityEngine;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C# within Unity — MonoBehaviour Lifecycle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scripts inherit from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MonoBehaviour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gaining access to the engine's callback system.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2159000" cy="6985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222500"/>
            <a:ext cx="215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Awake()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1000" y="25400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429000" y="2222500"/>
            <a:ext cx="2159000" cy="6985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222500"/>
            <a:ext cx="215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Start()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88000" y="25400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6096000" y="2222500"/>
            <a:ext cx="2159000" cy="698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2222500"/>
            <a:ext cx="215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55000" y="25400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763000" y="2222500"/>
            <a:ext cx="2159000" cy="698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0" y="2222500"/>
            <a:ext cx="215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LateUpdate()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22000" y="25400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430000" y="2222500"/>
            <a:ext cx="2159000" cy="698500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0" y="2222500"/>
            <a:ext cx="215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OnDestroy()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04000" y="3048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loops every frame 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361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Lifecycle Methods Explained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127500"/>
            <a:ext cx="46990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6000" y="42164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Awake()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4521200"/>
            <a:ext cx="419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Called once when script loads. Init references.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78500" y="4127500"/>
            <a:ext cx="46990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2500" y="42164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Start()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2500" y="4521200"/>
            <a:ext cx="419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Called before first frame. Game logic init.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95000" y="4127500"/>
            <a:ext cx="46990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049000" y="4216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Update()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49000" y="4521200"/>
            <a:ext cx="419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Called every frame. Input and game logic.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5334000"/>
            <a:ext cx="46990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6000" y="54229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FixedUpdate()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6000" y="5727700"/>
            <a:ext cx="419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 intervals. Physics code (Rigidbody).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78500" y="5334000"/>
            <a:ext cx="46990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2500" y="54229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LateUpdate()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32500" y="5727700"/>
            <a:ext cx="419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all Updates. Camera, post-processing.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795000" y="5334000"/>
            <a:ext cx="4699000" cy="10160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795000" y="5334000"/>
            <a:ext cx="50800" cy="101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11049000" y="54229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Coroutines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49000" y="5727700"/>
            <a:ext cx="419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Time-delayed ops via yield return.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2000" y="6731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Order: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Awake → Start → (FixedUpdate / Update / LateUpdate loop) → OnDestroy. Use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[DefaultExecutionOrder]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attribute to customize script execution priority.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Scripting — GameObject &amp; Component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uses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GameObjects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(entities)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(modules).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Accessing Components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794000"/>
            <a:ext cx="7112000" cy="3175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921000"/>
            <a:ext cx="6604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Get component on same GameObject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rb = GetComponent&lt;Rigidbody2D&gt;();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Search in children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GetComponentInChildren&lt;SpriteRenderer&gt;();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Find in scene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FindObjectOfType&lt;Player&gt;();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032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&amp; Object Management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6477000"/>
            <a:ext cx="711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position, rotation, scale: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transform.position += Vector3.right * speed;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Instantiate()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create copies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Destroy()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remove objects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14986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Handling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006600"/>
            <a:ext cx="7112000" cy="17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36000" y="2133600"/>
            <a:ext cx="660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Input.GetAxis("Horizontal")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analog input (-1 to 1)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Input.GetKeyDown(KeyCode.Space)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key press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Input.GetMouseButton(0)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left mouse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Input.GetButtonDown("Fire1")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mapped button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4038600"/>
            <a:ext cx="7112000" cy="15240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82000" y="4038600"/>
            <a:ext cx="50800" cy="1524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3"/>
          <p:cNvSpPr/>
          <p:nvPr/>
        </p:nvSpPr>
        <p:spPr>
          <a:xfrm>
            <a:off x="8636000" y="419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38100"/>
                </a:moveTo>
                <a:cubicBezTo>
                  <a:pt x="8513" y="38100"/>
                  <a:pt x="0" y="46613"/>
                  <a:pt x="0" y="57150"/>
                </a:cubicBezTo>
                <a:cubicBezTo>
                  <a:pt x="0" y="67687"/>
                  <a:pt x="8513" y="76200"/>
                  <a:pt x="19050" y="76200"/>
                </a:cubicBezTo>
                <a:lnTo>
                  <a:pt x="70664" y="76200"/>
                </a:lnTo>
                <a:cubicBezTo>
                  <a:pt x="77986" y="93047"/>
                  <a:pt x="94774" y="104775"/>
                  <a:pt x="114300" y="104775"/>
                </a:cubicBezTo>
                <a:cubicBezTo>
                  <a:pt x="133826" y="104775"/>
                  <a:pt x="150614" y="93047"/>
                  <a:pt x="157936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57936" y="38100"/>
                </a:lnTo>
                <a:cubicBezTo>
                  <a:pt x="150614" y="21253"/>
                  <a:pt x="133826" y="9525"/>
                  <a:pt x="114300" y="9525"/>
                </a:cubicBezTo>
                <a:cubicBezTo>
                  <a:pt x="94774" y="9525"/>
                  <a:pt x="77986" y="21253"/>
                  <a:pt x="70664" y="38100"/>
                </a:cubicBezTo>
                <a:lnTo>
                  <a:pt x="19050" y="38100"/>
                </a:lnTo>
                <a:close/>
                <a:moveTo>
                  <a:pt x="19050" y="133350"/>
                </a:move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165914" y="171450"/>
                </a:lnTo>
                <a:cubicBezTo>
                  <a:pt x="173236" y="188297"/>
                  <a:pt x="190024" y="200025"/>
                  <a:pt x="209550" y="200025"/>
                </a:cubicBezTo>
                <a:cubicBezTo>
                  <a:pt x="229076" y="200025"/>
                  <a:pt x="245864" y="188297"/>
                  <a:pt x="253186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253186" y="133350"/>
                </a:lnTo>
                <a:cubicBezTo>
                  <a:pt x="245864" y="116503"/>
                  <a:pt x="229076" y="104775"/>
                  <a:pt x="209550" y="104775"/>
                </a:cubicBezTo>
                <a:cubicBezTo>
                  <a:pt x="190024" y="104775"/>
                  <a:pt x="173236" y="116503"/>
                  <a:pt x="165914" y="133350"/>
                </a:cubicBezTo>
                <a:lnTo>
                  <a:pt x="19050" y="133350"/>
                </a:lnTo>
                <a:close/>
                <a:moveTo>
                  <a:pt x="19050" y="228600"/>
                </a:moveTo>
                <a:cubicBezTo>
                  <a:pt x="8513" y="228600"/>
                  <a:pt x="0" y="237113"/>
                  <a:pt x="0" y="247650"/>
                </a:cubicBezTo>
                <a:cubicBezTo>
                  <a:pt x="0" y="258187"/>
                  <a:pt x="8513" y="266700"/>
                  <a:pt x="19050" y="266700"/>
                </a:cubicBezTo>
                <a:lnTo>
                  <a:pt x="51614" y="266700"/>
                </a:lnTo>
                <a:cubicBezTo>
                  <a:pt x="58936" y="283547"/>
                  <a:pt x="75724" y="295275"/>
                  <a:pt x="95250" y="295275"/>
                </a:cubicBezTo>
                <a:cubicBezTo>
                  <a:pt x="114776" y="295275"/>
                  <a:pt x="131564" y="283547"/>
                  <a:pt x="138886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38886" y="228600"/>
                </a:lnTo>
                <a:cubicBezTo>
                  <a:pt x="131564" y="211753"/>
                  <a:pt x="114776" y="200025"/>
                  <a:pt x="95250" y="200025"/>
                </a:cubicBezTo>
                <a:cubicBezTo>
                  <a:pt x="75724" y="200025"/>
                  <a:pt x="58936" y="211753"/>
                  <a:pt x="51614" y="228600"/>
                </a:cubicBezTo>
                <a:lnTo>
                  <a:pt x="19050" y="2286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067800" y="4165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[SerializeField] Attribute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36000" y="45974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Exposes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fields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Inspector for designer-friendly tuning without breaking encapsulation.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Patterns in 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design patterns that solve recurring problems in Unity game development.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3775" y="2349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7388" y="60563"/>
                </a:moveTo>
                <a:cubicBezTo>
                  <a:pt x="223778" y="55493"/>
                  <a:pt x="227806" y="47645"/>
                  <a:pt x="227806" y="38894"/>
                </a:cubicBezTo>
                <a:cubicBezTo>
                  <a:pt x="227806" y="23545"/>
                  <a:pt x="215374" y="11112"/>
                  <a:pt x="200025" y="11112"/>
                </a:cubicBezTo>
                <a:cubicBezTo>
                  <a:pt x="184676" y="11112"/>
                  <a:pt x="172244" y="23545"/>
                  <a:pt x="172244" y="38894"/>
                </a:cubicBezTo>
                <a:cubicBezTo>
                  <a:pt x="172244" y="47645"/>
                  <a:pt x="176341" y="55493"/>
                  <a:pt x="182662" y="60563"/>
                </a:cubicBezTo>
                <a:lnTo>
                  <a:pt x="135156" y="135295"/>
                </a:lnTo>
                <a:cubicBezTo>
                  <a:pt x="128210" y="146199"/>
                  <a:pt x="113417" y="148908"/>
                  <a:pt x="103068" y="141129"/>
                </a:cubicBezTo>
                <a:lnTo>
                  <a:pt x="61744" y="110222"/>
                </a:lnTo>
                <a:cubicBezTo>
                  <a:pt x="64869" y="105777"/>
                  <a:pt x="66675" y="100290"/>
                  <a:pt x="66675" y="94456"/>
                </a:cubicBezTo>
                <a:cubicBezTo>
                  <a:pt x="66675" y="79107"/>
                  <a:pt x="54243" y="66675"/>
                  <a:pt x="38894" y="66675"/>
                </a:cubicBezTo>
                <a:cubicBezTo>
                  <a:pt x="23545" y="66675"/>
                  <a:pt x="11112" y="79107"/>
                  <a:pt x="11112" y="94456"/>
                </a:cubicBezTo>
                <a:cubicBezTo>
                  <a:pt x="11112" y="109597"/>
                  <a:pt x="23267" y="121960"/>
                  <a:pt x="38338" y="122238"/>
                </a:cubicBezTo>
                <a:lnTo>
                  <a:pt x="60980" y="273298"/>
                </a:lnTo>
                <a:cubicBezTo>
                  <a:pt x="64244" y="295037"/>
                  <a:pt x="82927" y="311150"/>
                  <a:pt x="104944" y="311150"/>
                </a:cubicBezTo>
                <a:lnTo>
                  <a:pt x="295106" y="311150"/>
                </a:lnTo>
                <a:cubicBezTo>
                  <a:pt x="317123" y="311150"/>
                  <a:pt x="335806" y="295037"/>
                  <a:pt x="339070" y="273298"/>
                </a:cubicBezTo>
                <a:lnTo>
                  <a:pt x="361712" y="122238"/>
                </a:lnTo>
                <a:cubicBezTo>
                  <a:pt x="376783" y="121960"/>
                  <a:pt x="388938" y="109597"/>
                  <a:pt x="388938" y="94456"/>
                </a:cubicBezTo>
                <a:cubicBezTo>
                  <a:pt x="388938" y="79107"/>
                  <a:pt x="376505" y="66675"/>
                  <a:pt x="361156" y="66675"/>
                </a:cubicBezTo>
                <a:cubicBezTo>
                  <a:pt x="345807" y="66675"/>
                  <a:pt x="333375" y="79107"/>
                  <a:pt x="333375" y="94456"/>
                </a:cubicBezTo>
                <a:cubicBezTo>
                  <a:pt x="333375" y="100290"/>
                  <a:pt x="335181" y="105777"/>
                  <a:pt x="338306" y="110222"/>
                </a:cubicBezTo>
                <a:lnTo>
                  <a:pt x="297051" y="141198"/>
                </a:lnTo>
                <a:cubicBezTo>
                  <a:pt x="286703" y="148977"/>
                  <a:pt x="271909" y="146268"/>
                  <a:pt x="264964" y="135364"/>
                </a:cubicBezTo>
                <a:lnTo>
                  <a:pt x="217388" y="60563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3241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Singleton Pattern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8194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only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instance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 manager exists globally.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for: GameManager, AudioManager.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static GameManager Instance;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1590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54725" y="234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0"/>
                </a:moveTo>
                <a:cubicBezTo>
                  <a:pt x="143282" y="0"/>
                  <a:pt x="133350" y="9932"/>
                  <a:pt x="133350" y="22225"/>
                </a:cubicBezTo>
                <a:lnTo>
                  <a:pt x="133350" y="24448"/>
                </a:lnTo>
                <a:cubicBezTo>
                  <a:pt x="82649" y="34727"/>
                  <a:pt x="44450" y="79593"/>
                  <a:pt x="44450" y="133350"/>
                </a:cubicBezTo>
                <a:lnTo>
                  <a:pt x="44450" y="148421"/>
                </a:lnTo>
                <a:cubicBezTo>
                  <a:pt x="44450" y="181828"/>
                  <a:pt x="33060" y="214263"/>
                  <a:pt x="12224" y="240377"/>
                </a:cubicBezTo>
                <a:lnTo>
                  <a:pt x="5417" y="248851"/>
                </a:lnTo>
                <a:cubicBezTo>
                  <a:pt x="1875" y="253226"/>
                  <a:pt x="0" y="258643"/>
                  <a:pt x="0" y="264269"/>
                </a:cubicBezTo>
                <a:cubicBezTo>
                  <a:pt x="0" y="277882"/>
                  <a:pt x="11043" y="288925"/>
                  <a:pt x="24656" y="288925"/>
                </a:cubicBezTo>
                <a:lnTo>
                  <a:pt x="286425" y="288925"/>
                </a:lnTo>
                <a:cubicBezTo>
                  <a:pt x="300038" y="288925"/>
                  <a:pt x="311081" y="277882"/>
                  <a:pt x="311081" y="264269"/>
                </a:cubicBezTo>
                <a:cubicBezTo>
                  <a:pt x="311081" y="258643"/>
                  <a:pt x="309205" y="253226"/>
                  <a:pt x="305663" y="248851"/>
                </a:cubicBezTo>
                <a:lnTo>
                  <a:pt x="298857" y="240377"/>
                </a:lnTo>
                <a:cubicBezTo>
                  <a:pt x="278090" y="214263"/>
                  <a:pt x="266700" y="181828"/>
                  <a:pt x="266700" y="148421"/>
                </a:cubicBezTo>
                <a:lnTo>
                  <a:pt x="266700" y="133350"/>
                </a:lnTo>
                <a:cubicBezTo>
                  <a:pt x="266700" y="79593"/>
                  <a:pt x="228501" y="34727"/>
                  <a:pt x="177800" y="24447"/>
                </a:cubicBezTo>
                <a:lnTo>
                  <a:pt x="177800" y="22225"/>
                </a:lnTo>
                <a:cubicBezTo>
                  <a:pt x="177800" y="9932"/>
                  <a:pt x="167868" y="0"/>
                  <a:pt x="155575" y="0"/>
                </a:cubicBezTo>
                <a:close/>
                <a:moveTo>
                  <a:pt x="112514" y="322263"/>
                </a:moveTo>
                <a:cubicBezTo>
                  <a:pt x="117445" y="341432"/>
                  <a:pt x="134878" y="355600"/>
                  <a:pt x="155575" y="355600"/>
                </a:cubicBezTo>
                <a:cubicBezTo>
                  <a:pt x="176272" y="355600"/>
                  <a:pt x="193705" y="341432"/>
                  <a:pt x="198636" y="322263"/>
                </a:cubicBezTo>
                <a:lnTo>
                  <a:pt x="112514" y="322263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515100" y="23241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Observer Pattern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8194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C#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events and delegates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loose coupling between systems.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event Action OnHealthChanged;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Subscribers react without direct references.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1590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49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5777" y="41672"/>
                </a:moveTo>
                <a:cubicBezTo>
                  <a:pt x="137864" y="-13891"/>
                  <a:pt x="218083" y="-13891"/>
                  <a:pt x="250170" y="41672"/>
                </a:cubicBezTo>
                <a:lnTo>
                  <a:pt x="276076" y="86539"/>
                </a:lnTo>
                <a:lnTo>
                  <a:pt x="295315" y="75426"/>
                </a:lnTo>
                <a:cubicBezTo>
                  <a:pt x="301149" y="72023"/>
                  <a:pt x="308441" y="72509"/>
                  <a:pt x="313789" y="76607"/>
                </a:cubicBezTo>
                <a:cubicBezTo>
                  <a:pt x="319137" y="80705"/>
                  <a:pt x="321499" y="87650"/>
                  <a:pt x="319762" y="94178"/>
                </a:cubicBezTo>
                <a:lnTo>
                  <a:pt x="303441" y="154880"/>
                </a:lnTo>
                <a:cubicBezTo>
                  <a:pt x="301079" y="163770"/>
                  <a:pt x="291911" y="169049"/>
                  <a:pt x="283021" y="166688"/>
                </a:cubicBezTo>
                <a:lnTo>
                  <a:pt x="222319" y="150435"/>
                </a:lnTo>
                <a:cubicBezTo>
                  <a:pt x="215791" y="148699"/>
                  <a:pt x="210999" y="143212"/>
                  <a:pt x="210096" y="136545"/>
                </a:cubicBezTo>
                <a:cubicBezTo>
                  <a:pt x="209193" y="129877"/>
                  <a:pt x="212457" y="123279"/>
                  <a:pt x="218291" y="119946"/>
                </a:cubicBezTo>
                <a:lnTo>
                  <a:pt x="237530" y="108833"/>
                </a:lnTo>
                <a:lnTo>
                  <a:pt x="211624" y="63966"/>
                </a:lnTo>
                <a:cubicBezTo>
                  <a:pt x="196622" y="38060"/>
                  <a:pt x="159256" y="38060"/>
                  <a:pt x="144254" y="63966"/>
                </a:cubicBezTo>
                <a:lnTo>
                  <a:pt x="140573" y="70287"/>
                </a:lnTo>
                <a:cubicBezTo>
                  <a:pt x="134461" y="80913"/>
                  <a:pt x="120848" y="84524"/>
                  <a:pt x="110222" y="78413"/>
                </a:cubicBezTo>
                <a:cubicBezTo>
                  <a:pt x="99596" y="72301"/>
                  <a:pt x="95984" y="58688"/>
                  <a:pt x="102096" y="47992"/>
                </a:cubicBezTo>
                <a:lnTo>
                  <a:pt x="105777" y="41672"/>
                </a:lnTo>
                <a:close/>
                <a:moveTo>
                  <a:pt x="312331" y="193844"/>
                </a:moveTo>
                <a:cubicBezTo>
                  <a:pt x="322957" y="187732"/>
                  <a:pt x="336570" y="191343"/>
                  <a:pt x="342682" y="201970"/>
                </a:cubicBezTo>
                <a:lnTo>
                  <a:pt x="346363" y="208290"/>
                </a:lnTo>
                <a:cubicBezTo>
                  <a:pt x="378450" y="263852"/>
                  <a:pt x="338376" y="333306"/>
                  <a:pt x="274201" y="333306"/>
                </a:cubicBezTo>
                <a:lnTo>
                  <a:pt x="222389" y="333306"/>
                </a:lnTo>
                <a:lnTo>
                  <a:pt x="222389" y="355531"/>
                </a:lnTo>
                <a:cubicBezTo>
                  <a:pt x="222389" y="362268"/>
                  <a:pt x="218361" y="368379"/>
                  <a:pt x="212110" y="370949"/>
                </a:cubicBezTo>
                <a:cubicBezTo>
                  <a:pt x="205859" y="373519"/>
                  <a:pt x="198705" y="372130"/>
                  <a:pt x="193913" y="367338"/>
                </a:cubicBezTo>
                <a:lnTo>
                  <a:pt x="149463" y="322888"/>
                </a:lnTo>
                <a:cubicBezTo>
                  <a:pt x="142935" y="316359"/>
                  <a:pt x="142935" y="305802"/>
                  <a:pt x="149463" y="299343"/>
                </a:cubicBezTo>
                <a:lnTo>
                  <a:pt x="193913" y="254893"/>
                </a:lnTo>
                <a:cubicBezTo>
                  <a:pt x="198705" y="250101"/>
                  <a:pt x="205859" y="248712"/>
                  <a:pt x="212110" y="251281"/>
                </a:cubicBezTo>
                <a:cubicBezTo>
                  <a:pt x="218361" y="253851"/>
                  <a:pt x="222389" y="259963"/>
                  <a:pt x="222389" y="266700"/>
                </a:cubicBezTo>
                <a:lnTo>
                  <a:pt x="222389" y="288925"/>
                </a:lnTo>
                <a:lnTo>
                  <a:pt x="274201" y="288925"/>
                </a:lnTo>
                <a:cubicBezTo>
                  <a:pt x="304135" y="288925"/>
                  <a:pt x="322888" y="256490"/>
                  <a:pt x="307886" y="230584"/>
                </a:cubicBezTo>
                <a:lnTo>
                  <a:pt x="304205" y="224264"/>
                </a:lnTo>
                <a:cubicBezTo>
                  <a:pt x="298093" y="213638"/>
                  <a:pt x="301704" y="200025"/>
                  <a:pt x="312331" y="193913"/>
                </a:cubicBezTo>
                <a:close/>
                <a:moveTo>
                  <a:pt x="35421" y="163493"/>
                </a:moveTo>
                <a:lnTo>
                  <a:pt x="16183" y="152380"/>
                </a:lnTo>
                <a:cubicBezTo>
                  <a:pt x="10349" y="148977"/>
                  <a:pt x="7084" y="142448"/>
                  <a:pt x="7987" y="135781"/>
                </a:cubicBezTo>
                <a:cubicBezTo>
                  <a:pt x="8890" y="129113"/>
                  <a:pt x="13682" y="123627"/>
                  <a:pt x="20211" y="121890"/>
                </a:cubicBezTo>
                <a:lnTo>
                  <a:pt x="80913" y="105569"/>
                </a:lnTo>
                <a:cubicBezTo>
                  <a:pt x="89803" y="103207"/>
                  <a:pt x="98971" y="108486"/>
                  <a:pt x="101332" y="117376"/>
                </a:cubicBezTo>
                <a:lnTo>
                  <a:pt x="117584" y="178078"/>
                </a:lnTo>
                <a:cubicBezTo>
                  <a:pt x="119320" y="184606"/>
                  <a:pt x="116959" y="191482"/>
                  <a:pt x="111611" y="195649"/>
                </a:cubicBezTo>
                <a:cubicBezTo>
                  <a:pt x="106263" y="199817"/>
                  <a:pt x="98971" y="200233"/>
                  <a:pt x="93137" y="196830"/>
                </a:cubicBezTo>
                <a:lnTo>
                  <a:pt x="73898" y="185718"/>
                </a:lnTo>
                <a:lnTo>
                  <a:pt x="47992" y="230584"/>
                </a:lnTo>
                <a:cubicBezTo>
                  <a:pt x="32990" y="256490"/>
                  <a:pt x="51743" y="288925"/>
                  <a:pt x="81677" y="288925"/>
                </a:cubicBezTo>
                <a:lnTo>
                  <a:pt x="89039" y="288925"/>
                </a:lnTo>
                <a:cubicBezTo>
                  <a:pt x="101332" y="288925"/>
                  <a:pt x="111264" y="298857"/>
                  <a:pt x="111264" y="311150"/>
                </a:cubicBezTo>
                <a:cubicBezTo>
                  <a:pt x="111264" y="323443"/>
                  <a:pt x="101332" y="333375"/>
                  <a:pt x="89039" y="333375"/>
                </a:cubicBezTo>
                <a:lnTo>
                  <a:pt x="81677" y="333375"/>
                </a:lnTo>
                <a:cubicBezTo>
                  <a:pt x="17572" y="333375"/>
                  <a:pt x="-22503" y="263922"/>
                  <a:pt x="9585" y="208359"/>
                </a:cubicBezTo>
                <a:lnTo>
                  <a:pt x="35421" y="163493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1531600" y="23241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Pooling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8194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Reuse GameObjects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of Instantiate/Destroy to prevent GC stutter.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for: projectiles, enemies.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Pre-allocate, activate/deactivate.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01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Machine Pattern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524500"/>
            <a:ext cx="7112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" y="56515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game states (Menu, Playing, Paused, GameOver) with switch or state classes. Each state has its own behavior.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enum</a:t>
            </a:r>
            <a:pPr>
              <a:lnSpc>
                <a:spcPct val="14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GameState { Menu, Playing, Paused, GameOver }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501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Component-Based Design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5524500"/>
            <a:ext cx="7112000" cy="13970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382000" y="5524500"/>
            <a:ext cx="50800" cy="1397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8636000" y="56515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Prefer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composition over inheritance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Build entities by combining small, focused components. A "Player" is a Rigidbody2D + SpriteRenderer + PlayerController + HealthSystem — not a deep inheritance chain.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gnjpd5kb3urc/mnt/agents/output/game_programming_week7/images/6_Platformer_Game_Concept_Art_Images.png">    </p:cNvPr>
          <p:cNvPicPr>
            <a:picLocks noChangeAspect="1"/>
          </p:cNvPicPr>
          <p:nvPr/>
        </p:nvPicPr>
        <p:blipFill>
          <a:blip r:embed="rId1"/>
          <a:srcRect l="0" r="0" t="78" b="7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4000"/>
                </a:srgbClr>
              </a:gs>
              <a:gs pos="60000">
                <a:srgbClr val="0F172A">
                  <a:alpha val="82000"/>
                </a:srgbClr>
              </a:gs>
              <a:gs pos="100000">
                <a:srgbClr val="0F172A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0" spc="200" kern="0" dirty="0">
                <a:solidFill>
                  <a:srgbClr val="FFFFFF">
                    <a:alpha val="627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27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572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TILEMAP SYSTEM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461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Tile Palette, Rule Tiles &amp; Animated Tiles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Efficient 2D Level Design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Unity Tilemaps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Tilemap system provides 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2D level design workflow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Tilemaps are grids where each cell contains a Tile.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603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31115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Rapid level prototyping and iteration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Memory-efficient rendering (batched draw calls)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Runtime tile manipulation for dynamic worlds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Built-in collision via TilemapCollider2D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5397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905500"/>
            <a:ext cx="2159000" cy="127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1549400" y="6032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04800" y="76200"/>
                </a:moveTo>
                <a:lnTo>
                  <a:pt x="304800" y="127000"/>
                </a:lnTo>
                <a:lnTo>
                  <a:pt x="254000" y="127000"/>
                </a:lnTo>
                <a:lnTo>
                  <a:pt x="254000" y="76200"/>
                </a:lnTo>
                <a:lnTo>
                  <a:pt x="304800" y="76200"/>
                </a:lnTo>
                <a:close/>
                <a:moveTo>
                  <a:pt x="304800" y="177800"/>
                </a:moveTo>
                <a:lnTo>
                  <a:pt x="304800" y="228600"/>
                </a:lnTo>
                <a:lnTo>
                  <a:pt x="254000" y="228600"/>
                </a:lnTo>
                <a:lnTo>
                  <a:pt x="254000" y="177800"/>
                </a:lnTo>
                <a:lnTo>
                  <a:pt x="304800" y="177800"/>
                </a:lnTo>
                <a:close/>
                <a:moveTo>
                  <a:pt x="304800" y="279400"/>
                </a:moveTo>
                <a:lnTo>
                  <a:pt x="304800" y="330200"/>
                </a:lnTo>
                <a:lnTo>
                  <a:pt x="254000" y="330200"/>
                </a:lnTo>
                <a:lnTo>
                  <a:pt x="254000" y="279400"/>
                </a:lnTo>
                <a:lnTo>
                  <a:pt x="304800" y="279400"/>
                </a:lnTo>
                <a:close/>
                <a:moveTo>
                  <a:pt x="203200" y="228600"/>
                </a:moveTo>
                <a:lnTo>
                  <a:pt x="152400" y="228600"/>
                </a:lnTo>
                <a:lnTo>
                  <a:pt x="152400" y="177800"/>
                </a:lnTo>
                <a:lnTo>
                  <a:pt x="203200" y="177800"/>
                </a:lnTo>
                <a:lnTo>
                  <a:pt x="203200" y="228600"/>
                </a:lnTo>
                <a:close/>
                <a:moveTo>
                  <a:pt x="152400" y="279400"/>
                </a:moveTo>
                <a:lnTo>
                  <a:pt x="203200" y="279400"/>
                </a:lnTo>
                <a:lnTo>
                  <a:pt x="203200" y="330200"/>
                </a:lnTo>
                <a:lnTo>
                  <a:pt x="152400" y="330200"/>
                </a:lnTo>
                <a:lnTo>
                  <a:pt x="152400" y="279400"/>
                </a:lnTo>
                <a:close/>
                <a:moveTo>
                  <a:pt x="101600" y="228600"/>
                </a:moveTo>
                <a:lnTo>
                  <a:pt x="50800" y="228600"/>
                </a:lnTo>
                <a:lnTo>
                  <a:pt x="50800" y="177800"/>
                </a:lnTo>
                <a:lnTo>
                  <a:pt x="101600" y="177800"/>
                </a:lnTo>
                <a:lnTo>
                  <a:pt x="101600" y="228600"/>
                </a:lnTo>
                <a:close/>
                <a:moveTo>
                  <a:pt x="50800" y="279400"/>
                </a:moveTo>
                <a:lnTo>
                  <a:pt x="101600" y="279400"/>
                </a:lnTo>
                <a:lnTo>
                  <a:pt x="101600" y="330200"/>
                </a:lnTo>
                <a:lnTo>
                  <a:pt x="50800" y="330200"/>
                </a:lnTo>
                <a:lnTo>
                  <a:pt x="50800" y="279400"/>
                </a:lnTo>
                <a:close/>
                <a:moveTo>
                  <a:pt x="50800" y="127000"/>
                </a:moveTo>
                <a:lnTo>
                  <a:pt x="50800" y="76200"/>
                </a:lnTo>
                <a:lnTo>
                  <a:pt x="101600" y="76200"/>
                </a:lnTo>
                <a:lnTo>
                  <a:pt x="101600" y="127000"/>
                </a:lnTo>
                <a:lnTo>
                  <a:pt x="50800" y="127000"/>
                </a:lnTo>
                <a:close/>
                <a:moveTo>
                  <a:pt x="152400" y="127000"/>
                </a:moveTo>
                <a:lnTo>
                  <a:pt x="152400" y="76200"/>
                </a:lnTo>
                <a:lnTo>
                  <a:pt x="203200" y="76200"/>
                </a:lnTo>
                <a:lnTo>
                  <a:pt x="203200" y="127000"/>
                </a:lnTo>
                <a:lnTo>
                  <a:pt x="152400" y="127000"/>
                </a:lnTo>
                <a:close/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5024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7945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Layout structure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48000" y="6477000"/>
            <a:ext cx="381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3556000" y="5905500"/>
            <a:ext cx="2159000" cy="1270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4318000" y="603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556000" y="65024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56000" y="67945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layer on Grid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42000" y="6477000"/>
            <a:ext cx="381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350000" y="5905500"/>
            <a:ext cx="2159000" cy="127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7400" y="6032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101600" y="88900"/>
                </a:moveTo>
                <a:cubicBezTo>
                  <a:pt x="122628" y="88900"/>
                  <a:pt x="139700" y="105972"/>
                  <a:pt x="139700" y="127000"/>
                </a:cubicBezTo>
                <a:cubicBezTo>
                  <a:pt x="139700" y="148028"/>
                  <a:pt x="122628" y="165100"/>
                  <a:pt x="101600" y="165100"/>
                </a:cubicBezTo>
                <a:cubicBezTo>
                  <a:pt x="80572" y="165100"/>
                  <a:pt x="63500" y="148028"/>
                  <a:pt x="63500" y="127000"/>
                </a:cubicBezTo>
                <a:cubicBezTo>
                  <a:pt x="63500" y="105972"/>
                  <a:pt x="80572" y="88900"/>
                  <a:pt x="101600" y="88900"/>
                </a:cubicBezTo>
                <a:close/>
                <a:moveTo>
                  <a:pt x="215900" y="177800"/>
                </a:moveTo>
                <a:cubicBezTo>
                  <a:pt x="222567" y="177800"/>
                  <a:pt x="228679" y="181293"/>
                  <a:pt x="232172" y="186928"/>
                </a:cubicBezTo>
                <a:lnTo>
                  <a:pt x="302022" y="301228"/>
                </a:lnTo>
                <a:cubicBezTo>
                  <a:pt x="305594" y="307102"/>
                  <a:pt x="305753" y="314484"/>
                  <a:pt x="302419" y="320516"/>
                </a:cubicBezTo>
                <a:cubicBezTo>
                  <a:pt x="299085" y="326549"/>
                  <a:pt x="292656" y="330200"/>
                  <a:pt x="285750" y="330200"/>
                </a:cubicBezTo>
                <a:lnTo>
                  <a:pt x="69850" y="330200"/>
                </a:lnTo>
                <a:cubicBezTo>
                  <a:pt x="62786" y="330200"/>
                  <a:pt x="56198" y="326231"/>
                  <a:pt x="52943" y="319961"/>
                </a:cubicBezTo>
                <a:cubicBezTo>
                  <a:pt x="49689" y="313690"/>
                  <a:pt x="50165" y="306070"/>
                  <a:pt x="54213" y="300276"/>
                </a:cubicBezTo>
                <a:lnTo>
                  <a:pt x="98663" y="236776"/>
                </a:lnTo>
                <a:cubicBezTo>
                  <a:pt x="102235" y="231696"/>
                  <a:pt x="108029" y="228679"/>
                  <a:pt x="114300" y="228679"/>
                </a:cubicBezTo>
                <a:cubicBezTo>
                  <a:pt x="120571" y="228679"/>
                  <a:pt x="126365" y="231696"/>
                  <a:pt x="129937" y="236776"/>
                </a:cubicBezTo>
                <a:lnTo>
                  <a:pt x="150892" y="266779"/>
                </a:lnTo>
                <a:lnTo>
                  <a:pt x="199628" y="187008"/>
                </a:lnTo>
                <a:cubicBezTo>
                  <a:pt x="203121" y="181372"/>
                  <a:pt x="209233" y="177879"/>
                  <a:pt x="215900" y="17787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350000" y="65024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0000" y="67945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asset</a:t>
            </a:r>
            <a:endParaRPr lang="en-US" sz="1600" dirty="0"/>
          </a:p>
        </p:txBody>
      </p:sp>
      <p:pic>
        <p:nvPicPr>
          <p:cNvPr id="22" name="Image 0" descr="https://kimi-img.moonshot.cn/pub/slides/okc/6gnjpd5kb3urc/mnt/agents/output/game_programming_week7/images/1_1_367_Tile_Map_Pixel_Art_Royalty.png">    </p:cNvPr>
          <p:cNvPicPr>
            <a:picLocks noChangeAspect="1"/>
          </p:cNvPicPr>
          <p:nvPr/>
        </p:nvPicPr>
        <p:blipFill>
          <a:blip r:embed="rId1"/>
          <a:srcRect l="0" r="0" t="2725" b="2725"/>
          <a:stretch/>
        </p:blipFill>
        <p:spPr>
          <a:xfrm>
            <a:off x="9144000" y="1498600"/>
            <a:ext cx="6350000" cy="3937000"/>
          </a:xfrm>
          <a:prstGeom prst="roundRect">
            <a:avLst>
              <a:gd name="adj" fmla="val 5000"/>
            </a:avLst>
          </a:prstGeom>
        </p:spPr>
      </p:pic>
      <p:sp>
        <p:nvSpPr>
          <p:cNvPr id="23" name="Shape 20"/>
          <p:cNvSpPr/>
          <p:nvPr/>
        </p:nvSpPr>
        <p:spPr>
          <a:xfrm>
            <a:off x="9144000" y="5651500"/>
            <a:ext cx="6350000" cy="12700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9144000" y="5651500"/>
            <a:ext cx="50800" cy="1206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2"/>
          <p:cNvSpPr/>
          <p:nvPr/>
        </p:nvSpPr>
        <p:spPr>
          <a:xfrm>
            <a:off x="9398000" y="5778500"/>
            <a:ext cx="5842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Tilemap layers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be stacked on a single Grid for parallax backgrounds, foreground details, and collision separation.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Setting Up the Tile Palette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Tile Palette window is the primary tool for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painting tiles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onto Tilemaps.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59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GameObject → 2D Object → Tilemap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7940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794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794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 → 2D → Tile Palette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4290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429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429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new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Palette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asset (New → name → save)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0640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064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064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 sprites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the Palette — auto-generates Tiles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6990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699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699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a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Tilemap target layer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brush tool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3340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5334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334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Paint directly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Scene view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2159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Brush Tools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667000"/>
          <a:ext cx="7112000" cy="2476500"/>
        </p:xfrm>
        <a:graphic>
          <a:graphicData uri="http://schemas.openxmlformats.org/drawingml/2006/table">
            <a:tbl>
              <a:tblPr/>
              <a:tblGrid>
                <a:gridCol w="2133600"/>
                <a:gridCol w="4978400"/>
              </a:tblGrid>
              <a:tr h="41484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484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tile placement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84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Box Fill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Rectangular area fill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484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Pick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Sample existing tiles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84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Erase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Remove tiles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27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Flood Fill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Fill contiguous regions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8382000" y="5397500"/>
            <a:ext cx="7112000" cy="10160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8382000" y="5397500"/>
            <a:ext cx="50800" cy="101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Shape 24"/>
          <p:cNvSpPr/>
          <p:nvPr/>
        </p:nvSpPr>
        <p:spPr>
          <a:xfrm>
            <a:off x="8670925" y="55880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8" name="Text 25"/>
          <p:cNvSpPr/>
          <p:nvPr/>
        </p:nvSpPr>
        <p:spPr>
          <a:xfrm>
            <a:off x="9017000" y="5562600"/>
            <a:ext cx="6223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Slice sprite sheets in the Sprite Editor first (Grid by Cell Size) for organized tile sets.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 Assets &amp; Brush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Tile assets define what appears in each grid cell.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34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 Properties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819400"/>
          <a:ext cx="7112000" cy="2476500"/>
        </p:xfrm>
        <a:graphic>
          <a:graphicData uri="http://schemas.openxmlformats.org/drawingml/2006/table">
            <a:tbl>
              <a:tblPr/>
              <a:tblGrid>
                <a:gridCol w="2133600"/>
                <a:gridCol w="4978400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Sprite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 visual image displayed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Tint applied to the sprite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Collider 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None, Sprite, or Grid collision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 Script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Inherit from TileBase for logic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558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Keyboard Shortcuts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6096000"/>
            <a:ext cx="7112000" cy="1333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6000" y="6223000"/>
            <a:ext cx="6604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 ]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Rotate brush |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=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Flip H/V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 + Paint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Temporarily switches to Erase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Tilemap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Dropdown switches between layers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82000" y="14986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 Types Overview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382000" y="2032000"/>
            <a:ext cx="7112000" cy="88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36000" y="21336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Tile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displays a single sprite. The simplest tile type.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3111500"/>
            <a:ext cx="7112000" cy="8890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382000" y="3111500"/>
            <a:ext cx="50800" cy="88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8636000" y="32131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Tile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auto-selects sprites based on neighbors. Smart auto-tiling.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382000" y="4191000"/>
            <a:ext cx="7112000" cy="8890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382000" y="4191000"/>
            <a:ext cx="50800" cy="88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5"/>
          <p:cNvSpPr/>
          <p:nvPr/>
        </p:nvSpPr>
        <p:spPr>
          <a:xfrm>
            <a:off x="8636000" y="42926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Animated Tile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cycles through sprites for dynamic effects.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382000" y="5270500"/>
            <a:ext cx="71120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36000" y="546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8"/>
          <p:cNvSpPr/>
          <p:nvPr/>
        </p:nvSpPr>
        <p:spPr>
          <a:xfrm>
            <a:off x="9067800" y="5397500"/>
            <a:ext cx="6172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 Tilemap Extras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package: Window → Package Manager → Unity Registry → 2D Tilemap Extras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with Multiple Tilemap Layers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level design uses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Tilemap layers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organization and functionality separation.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4699000" cy="1143000"/>
          </a:xfrm>
          <a:prstGeom prst="roundRect">
            <a:avLst>
              <a:gd name="adj" fmla="val 50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950" y="2413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0" y="200025"/>
                </a:moveTo>
                <a:cubicBezTo>
                  <a:pt x="0" y="247352"/>
                  <a:pt x="38398" y="285750"/>
                  <a:pt x="85725" y="285750"/>
                </a:cubicBezTo>
                <a:lnTo>
                  <a:pt x="266700" y="285750"/>
                </a:lnTo>
                <a:cubicBezTo>
                  <a:pt x="308789" y="285750"/>
                  <a:pt x="342900" y="251639"/>
                  <a:pt x="342900" y="209550"/>
                </a:cubicBezTo>
                <a:cubicBezTo>
                  <a:pt x="342900" y="178832"/>
                  <a:pt x="324743" y="152340"/>
                  <a:pt x="298549" y="140315"/>
                </a:cubicBezTo>
                <a:cubicBezTo>
                  <a:pt x="302538" y="132517"/>
                  <a:pt x="304800" y="123646"/>
                  <a:pt x="304800" y="114300"/>
                </a:cubicBezTo>
                <a:cubicBezTo>
                  <a:pt x="304800" y="82748"/>
                  <a:pt x="279202" y="57150"/>
                  <a:pt x="247650" y="57150"/>
                </a:cubicBezTo>
                <a:cubicBezTo>
                  <a:pt x="237113" y="57150"/>
                  <a:pt x="227290" y="60007"/>
                  <a:pt x="218837" y="64949"/>
                </a:cubicBezTo>
                <a:cubicBezTo>
                  <a:pt x="204490" y="37683"/>
                  <a:pt x="175855" y="19050"/>
                  <a:pt x="142875" y="19050"/>
                </a:cubicBezTo>
                <a:cubicBezTo>
                  <a:pt x="95548" y="19050"/>
                  <a:pt x="57150" y="57448"/>
                  <a:pt x="57150" y="104775"/>
                </a:cubicBezTo>
                <a:cubicBezTo>
                  <a:pt x="57150" y="109537"/>
                  <a:pt x="57567" y="114240"/>
                  <a:pt x="58281" y="118765"/>
                </a:cubicBezTo>
                <a:cubicBezTo>
                  <a:pt x="24408" y="130195"/>
                  <a:pt x="0" y="162282"/>
                  <a:pt x="0" y="200025"/>
                </a:cubicBezTo>
                <a:close/>
              </a:path>
            </a:pathLst>
          </a:cu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234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369A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730500"/>
            <a:ext cx="419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Distant scenery, parallax — lowest sorting order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159000"/>
            <a:ext cx="4699000" cy="114300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25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290" y="19050"/>
                </a:moveTo>
                <a:lnTo>
                  <a:pt x="87928" y="19050"/>
                </a:lnTo>
                <a:cubicBezTo>
                  <a:pt x="70425" y="19050"/>
                  <a:pt x="55126" y="31016"/>
                  <a:pt x="50959" y="47982"/>
                </a:cubicBezTo>
                <a:lnTo>
                  <a:pt x="833" y="250329"/>
                </a:lnTo>
                <a:cubicBezTo>
                  <a:pt x="-3631" y="268307"/>
                  <a:pt x="10001" y="285750"/>
                  <a:pt x="28575" y="285750"/>
                </a:cubicBezTo>
                <a:lnTo>
                  <a:pt x="133290" y="285750"/>
                </a:lnTo>
                <a:lnTo>
                  <a:pt x="133290" y="247650"/>
                </a:lnTo>
                <a:cubicBezTo>
                  <a:pt x="133290" y="237113"/>
                  <a:pt x="141803" y="228600"/>
                  <a:pt x="152340" y="228600"/>
                </a:cubicBezTo>
                <a:cubicBezTo>
                  <a:pt x="162878" y="228600"/>
                  <a:pt x="171390" y="237113"/>
                  <a:pt x="171390" y="247650"/>
                </a:cubicBezTo>
                <a:lnTo>
                  <a:pt x="171390" y="285750"/>
                </a:lnTo>
                <a:lnTo>
                  <a:pt x="276225" y="285750"/>
                </a:lnTo>
                <a:cubicBezTo>
                  <a:pt x="294799" y="285750"/>
                  <a:pt x="308431" y="268307"/>
                  <a:pt x="303967" y="250329"/>
                </a:cubicBezTo>
                <a:lnTo>
                  <a:pt x="253901" y="47982"/>
                </a:lnTo>
                <a:cubicBezTo>
                  <a:pt x="249674" y="31016"/>
                  <a:pt x="234434" y="19050"/>
                  <a:pt x="216872" y="19050"/>
                </a:cubicBezTo>
                <a:lnTo>
                  <a:pt x="171390" y="19050"/>
                </a:lnTo>
                <a:lnTo>
                  <a:pt x="171390" y="57150"/>
                </a:lnTo>
                <a:cubicBezTo>
                  <a:pt x="171390" y="67687"/>
                  <a:pt x="162877" y="76200"/>
                  <a:pt x="152340" y="76200"/>
                </a:cubicBezTo>
                <a:cubicBezTo>
                  <a:pt x="141803" y="76200"/>
                  <a:pt x="133290" y="67687"/>
                  <a:pt x="133290" y="57150"/>
                </a:cubicBezTo>
                <a:lnTo>
                  <a:pt x="133290" y="19050"/>
                </a:lnTo>
                <a:close/>
                <a:moveTo>
                  <a:pt x="171390" y="133350"/>
                </a:moveTo>
                <a:lnTo>
                  <a:pt x="171390" y="171450"/>
                </a:lnTo>
                <a:cubicBezTo>
                  <a:pt x="171390" y="181987"/>
                  <a:pt x="162877" y="190500"/>
                  <a:pt x="152340" y="190500"/>
                </a:cubicBezTo>
                <a:cubicBezTo>
                  <a:pt x="141803" y="190500"/>
                  <a:pt x="133290" y="181987"/>
                  <a:pt x="133290" y="171450"/>
                </a:cubicBezTo>
                <a:lnTo>
                  <a:pt x="133290" y="133350"/>
                </a:lnTo>
                <a:cubicBezTo>
                  <a:pt x="133290" y="122813"/>
                  <a:pt x="141803" y="114300"/>
                  <a:pt x="152340" y="114300"/>
                </a:cubicBezTo>
                <a:cubicBezTo>
                  <a:pt x="162877" y="114300"/>
                  <a:pt x="171390" y="122813"/>
                  <a:pt x="171390" y="133350"/>
                </a:cubicBez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64300" y="234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580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730500"/>
            <a:ext cx="419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Walkable surfaces — primary collision layer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159000"/>
            <a:ext cx="4699000" cy="1143000"/>
          </a:xfrm>
          <a:prstGeom prst="roundRect">
            <a:avLst>
              <a:gd name="adj" fmla="val 5000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490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9050"/>
                </a:moveTo>
                <a:cubicBezTo>
                  <a:pt x="304800" y="83403"/>
                  <a:pt x="259199" y="137100"/>
                  <a:pt x="198596" y="149662"/>
                </a:cubicBezTo>
                <a:cubicBezTo>
                  <a:pt x="193893" y="115074"/>
                  <a:pt x="178356" y="83939"/>
                  <a:pt x="155436" y="59829"/>
                </a:cubicBezTo>
                <a:cubicBezTo>
                  <a:pt x="179308" y="23813"/>
                  <a:pt x="220206" y="0"/>
                  <a:pt x="266700" y="0"/>
                </a:cubicBezTo>
                <a:lnTo>
                  <a:pt x="285750" y="0"/>
                </a:lnTo>
                <a:cubicBezTo>
                  <a:pt x="296287" y="0"/>
                  <a:pt x="304800" y="8513"/>
                  <a:pt x="304800" y="19050"/>
                </a:cubicBezTo>
                <a:close/>
                <a:moveTo>
                  <a:pt x="0" y="57150"/>
                </a:moveTo>
                <a:cubicBezTo>
                  <a:pt x="0" y="46613"/>
                  <a:pt x="8513" y="38100"/>
                  <a:pt x="19050" y="38100"/>
                </a:cubicBezTo>
                <a:lnTo>
                  <a:pt x="38100" y="38100"/>
                </a:lnTo>
                <a:cubicBezTo>
                  <a:pt x="111740" y="38100"/>
                  <a:pt x="171450" y="97810"/>
                  <a:pt x="171450" y="171450"/>
                </a:cubicBezTo>
                <a:lnTo>
                  <a:pt x="171450" y="285750"/>
                </a:lnTo>
                <a:cubicBezTo>
                  <a:pt x="171450" y="296287"/>
                  <a:pt x="162937" y="304800"/>
                  <a:pt x="152400" y="304800"/>
                </a:cubicBezTo>
                <a:cubicBezTo>
                  <a:pt x="141863" y="304800"/>
                  <a:pt x="133350" y="296287"/>
                  <a:pt x="133350" y="285750"/>
                </a:cubicBezTo>
                <a:lnTo>
                  <a:pt x="133350" y="190500"/>
                </a:lnTo>
                <a:cubicBezTo>
                  <a:pt x="59710" y="190500"/>
                  <a:pt x="0" y="130790"/>
                  <a:pt x="0" y="57150"/>
                </a:cubicBezTo>
                <a:close/>
              </a:path>
            </a:pathLst>
          </a:custGeom>
          <a:solidFill>
            <a:srgbClr val="CA8A04"/>
          </a:solidFill>
          <a:ln/>
        </p:spPr>
      </p:sp>
      <p:sp>
        <p:nvSpPr>
          <p:cNvPr id="15" name="Text 13"/>
          <p:cNvSpPr/>
          <p:nvPr/>
        </p:nvSpPr>
        <p:spPr>
          <a:xfrm>
            <a:off x="11480800" y="234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A162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Decoration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730500"/>
            <a:ext cx="419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details without collision — grass, flowers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63900" y="3556000"/>
            <a:ext cx="4699000" cy="114300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36950" y="3810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-19050"/>
                </a:moveTo>
                <a:cubicBezTo>
                  <a:pt x="137517" y="-19050"/>
                  <a:pt x="141506" y="-17205"/>
                  <a:pt x="144244" y="-13990"/>
                </a:cubicBezTo>
                <a:lnTo>
                  <a:pt x="225207" y="81260"/>
                </a:lnTo>
                <a:cubicBezTo>
                  <a:pt x="228838" y="85487"/>
                  <a:pt x="229612" y="91440"/>
                  <a:pt x="227290" y="96500"/>
                </a:cubicBezTo>
                <a:cubicBezTo>
                  <a:pt x="224969" y="101560"/>
                  <a:pt x="219908" y="104775"/>
                  <a:pt x="214313" y="104775"/>
                </a:cubicBezTo>
                <a:lnTo>
                  <a:pt x="199489" y="104775"/>
                </a:lnTo>
                <a:lnTo>
                  <a:pt x="244257" y="157460"/>
                </a:lnTo>
                <a:cubicBezTo>
                  <a:pt x="247888" y="161687"/>
                  <a:pt x="248662" y="167640"/>
                  <a:pt x="246340" y="172700"/>
                </a:cubicBezTo>
                <a:cubicBezTo>
                  <a:pt x="244019" y="177760"/>
                  <a:pt x="238958" y="180975"/>
                  <a:pt x="233363" y="180975"/>
                </a:cubicBezTo>
                <a:lnTo>
                  <a:pt x="210443" y="180975"/>
                </a:lnTo>
                <a:lnTo>
                  <a:pt x="263307" y="243185"/>
                </a:lnTo>
                <a:cubicBezTo>
                  <a:pt x="266938" y="247412"/>
                  <a:pt x="267712" y="253365"/>
                  <a:pt x="265390" y="258425"/>
                </a:cubicBezTo>
                <a:cubicBezTo>
                  <a:pt x="263069" y="263485"/>
                  <a:pt x="258008" y="266700"/>
                  <a:pt x="252413" y="266700"/>
                </a:cubicBezTo>
                <a:lnTo>
                  <a:pt x="152400" y="266700"/>
                </a:lnTo>
                <a:lnTo>
                  <a:pt x="152400" y="304800"/>
                </a:lnTo>
                <a:cubicBezTo>
                  <a:pt x="152400" y="315337"/>
                  <a:pt x="143887" y="323850"/>
                  <a:pt x="133350" y="323850"/>
                </a:cubicBezTo>
                <a:cubicBezTo>
                  <a:pt x="122813" y="323850"/>
                  <a:pt x="114300" y="315337"/>
                  <a:pt x="114300" y="304800"/>
                </a:cubicBezTo>
                <a:lnTo>
                  <a:pt x="114300" y="266700"/>
                </a:lnTo>
                <a:lnTo>
                  <a:pt x="14288" y="266700"/>
                </a:lnTo>
                <a:cubicBezTo>
                  <a:pt x="8692" y="266700"/>
                  <a:pt x="3631" y="263485"/>
                  <a:pt x="1310" y="258425"/>
                </a:cubicBezTo>
                <a:cubicBezTo>
                  <a:pt x="-1012" y="253365"/>
                  <a:pt x="-238" y="247412"/>
                  <a:pt x="3393" y="243185"/>
                </a:cubicBezTo>
                <a:lnTo>
                  <a:pt x="56257" y="180975"/>
                </a:lnTo>
                <a:lnTo>
                  <a:pt x="33338" y="180975"/>
                </a:lnTo>
                <a:cubicBezTo>
                  <a:pt x="27742" y="180975"/>
                  <a:pt x="22681" y="177760"/>
                  <a:pt x="20360" y="172700"/>
                </a:cubicBezTo>
                <a:cubicBezTo>
                  <a:pt x="18038" y="167640"/>
                  <a:pt x="18812" y="161687"/>
                  <a:pt x="22443" y="157460"/>
                </a:cubicBezTo>
                <a:lnTo>
                  <a:pt x="67211" y="104775"/>
                </a:lnTo>
                <a:lnTo>
                  <a:pt x="52388" y="104775"/>
                </a:lnTo>
                <a:cubicBezTo>
                  <a:pt x="46792" y="104775"/>
                  <a:pt x="41731" y="101560"/>
                  <a:pt x="39410" y="96500"/>
                </a:cubicBezTo>
                <a:cubicBezTo>
                  <a:pt x="37088" y="91440"/>
                  <a:pt x="37862" y="85487"/>
                  <a:pt x="41493" y="81260"/>
                </a:cubicBezTo>
                <a:lnTo>
                  <a:pt x="122456" y="-13990"/>
                </a:lnTo>
                <a:cubicBezTo>
                  <a:pt x="125194" y="-17205"/>
                  <a:pt x="129183" y="-19050"/>
                  <a:pt x="133350" y="-19050"/>
                </a:cubicBezTo>
                <a:close/>
              </a:path>
            </a:pathLst>
          </a:cu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3949700" y="3746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E2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Foreground Layer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17900" y="4127500"/>
            <a:ext cx="419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Elements in front of player — fences, tree tops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80400" y="3556000"/>
            <a:ext cx="4699000" cy="1143000"/>
          </a:xfrm>
          <a:prstGeom prst="roundRect">
            <a:avLst>
              <a:gd name="adj" fmla="val 5000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34400" y="381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/>
            </a:pathLst>
          </a:custGeom>
          <a:solidFill>
            <a:srgbClr val="E11D48"/>
          </a:solidFill>
          <a:ln/>
        </p:spPr>
      </p:sp>
      <p:sp>
        <p:nvSpPr>
          <p:cNvPr id="23" name="Text 21"/>
          <p:cNvSpPr/>
          <p:nvPr/>
        </p:nvSpPr>
        <p:spPr>
          <a:xfrm>
            <a:off x="8966200" y="3746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BE12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Collision Layer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34400" y="4127500"/>
            <a:ext cx="419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Invisible collision markers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508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Rendering &amp; Collision Setup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5588000"/>
            <a:ext cx="711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Tilemap has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Tilemap Renderer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Sorting Layer and Order in Layer.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TilemapCollider2D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generates collision from tiles.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CompositeCollider2D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merged boundaries.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2000" y="5080000"/>
            <a:ext cx="7112000" cy="24765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8636000" y="52070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Layer hierarchy (bottom to top)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Order: -10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Order: 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Decoration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Order: 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Foreground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Order: 10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Ground: TilemapCollider2D + Composite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Tiles — Smart Auto-Tiling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Tiles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auto-select sprites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neighboring tiles.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603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Installation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111500"/>
            <a:ext cx="71120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3238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 → Package Manager → Unity Registry →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 Tilemap Extras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Assets → Create → Tiles → Rule Tile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38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889500"/>
            <a:ext cx="711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Rule Tile has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Tiling Rules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Specifies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Sets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neighbor conditions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mode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14986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Evaluation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032000"/>
            <a:ext cx="7112000" cy="15240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382000" y="2032000"/>
            <a:ext cx="50800" cy="1524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21590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 are evaluated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top-to-bottom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first matching rule wins and determines the sprite.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patterns above general ones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correct behavior.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381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Neighbor Grid (3×3)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0" y="4381500"/>
            <a:ext cx="2540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0" y="4381500"/>
            <a:ext cx="838200" cy="838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4381500"/>
            <a:ext cx="8382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94900" y="4381500"/>
            <a:ext cx="838200" cy="838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9994900" y="4381500"/>
            <a:ext cx="8382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845800" y="4381500"/>
            <a:ext cx="838200" cy="838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10845800" y="4381500"/>
            <a:ext cx="8382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0" y="5232400"/>
            <a:ext cx="838200" cy="838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5232400"/>
            <a:ext cx="8382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994900" y="5232400"/>
            <a:ext cx="838200" cy="838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9994900" y="5232400"/>
            <a:ext cx="8382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845800" y="5232400"/>
            <a:ext cx="838200" cy="838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10845800" y="5232400"/>
            <a:ext cx="8382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44000" y="6083300"/>
            <a:ext cx="838200" cy="838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6083300"/>
            <a:ext cx="8382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994900" y="6083300"/>
            <a:ext cx="838200" cy="838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9994900" y="6083300"/>
            <a:ext cx="8382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845800" y="6083300"/>
            <a:ext cx="838200" cy="838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10845800" y="6083300"/>
            <a:ext cx="8382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938000" y="4381500"/>
            <a:ext cx="355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Legend: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tile being evaluated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Adjacent (N,S,E,W)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Diagonal (NE,NW,SE,SW)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position can be: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This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Don't Care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Configuring Tiling Rules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Tiling Rules define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each sprite variant appears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neighbor conditions.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09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Neighbor Conditions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565400"/>
          <a:ext cx="6350000" cy="1778000"/>
        </p:xfrm>
        <a:graphic>
          <a:graphicData uri="http://schemas.openxmlformats.org/drawingml/2006/table">
            <a:tbl>
              <a:tblPr/>
              <a:tblGrid>
                <a:gridCol w="1587500"/>
                <a:gridCol w="2222500"/>
                <a:gridCol w="2540000"/>
              </a:tblGrid>
              <a:tr h="441348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Symbol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Requirement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395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6A3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■ This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Neighbor must be same tile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Same Rule Tile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34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□ Not This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Neighbor must be different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Different or empty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134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 Don't Care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Any state accepted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check performed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463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Rule Patterns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5143500"/>
            <a:ext cx="3429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2500" y="5245100"/>
            <a:ext cx="30480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Center Fill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neighbors are This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■■■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□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 ■■■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08500" y="5143500"/>
            <a:ext cx="3429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99000" y="5245100"/>
            <a:ext cx="30480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Piece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side is Not This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■■■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□□□ ■■■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6667500"/>
            <a:ext cx="3429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2500" y="6769100"/>
            <a:ext cx="30480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Corner Piece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Diagonal is Not This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■□■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■■■ ■■■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08500" y="6667500"/>
            <a:ext cx="3429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9000" y="6769100"/>
            <a:ext cx="30480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neighbors are Not This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□□□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□□□ □□□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82000" y="2095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Modes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82000" y="2603500"/>
            <a:ext cx="7112000" cy="95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36000" y="27051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one sprite per rule. The standard mode for terrain edges and corners.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382000" y="3746500"/>
            <a:ext cx="7112000" cy="95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36000" y="38481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randomly selects from a sprite list. Great for natural variety in grass or ground.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382000" y="4889500"/>
            <a:ext cx="7112000" cy="95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36000" y="49911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cycles through sprites for dynamic effects like flowing water or flickering lights.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382000" y="6096000"/>
            <a:ext cx="7112000" cy="10160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8382000" y="6096000"/>
            <a:ext cx="50800" cy="101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22"/>
          <p:cNvSpPr/>
          <p:nvPr/>
        </p:nvSpPr>
        <p:spPr>
          <a:xfrm>
            <a:off x="8636000" y="6286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7722" y="0"/>
                  <a:pt x="155089" y="4420"/>
                  <a:pt x="158909" y="11460"/>
                </a:cubicBezTo>
                <a:lnTo>
                  <a:pt x="276781" y="229741"/>
                </a:lnTo>
                <a:cubicBezTo>
                  <a:pt x="280437" y="236508"/>
                  <a:pt x="280273" y="244693"/>
                  <a:pt x="276344" y="251296"/>
                </a:cubicBezTo>
                <a:cubicBezTo>
                  <a:pt x="272415" y="257899"/>
                  <a:pt x="265266" y="261938"/>
                  <a:pt x="257572" y="261938"/>
                </a:cubicBezTo>
                <a:lnTo>
                  <a:pt x="21828" y="261938"/>
                </a:lnTo>
                <a:cubicBezTo>
                  <a:pt x="14134" y="261938"/>
                  <a:pt x="7040" y="257899"/>
                  <a:pt x="3056" y="251296"/>
                </a:cubicBezTo>
                <a:cubicBezTo>
                  <a:pt x="-928" y="244693"/>
                  <a:pt x="-1037" y="236508"/>
                  <a:pt x="2619" y="229741"/>
                </a:cubicBezTo>
                <a:lnTo>
                  <a:pt x="120491" y="11460"/>
                </a:lnTo>
                <a:cubicBezTo>
                  <a:pt x="124311" y="4420"/>
                  <a:pt x="131678" y="0"/>
                  <a:pt x="139700" y="0"/>
                </a:cubicBezTo>
                <a:close/>
                <a:moveTo>
                  <a:pt x="139700" y="91678"/>
                </a:moveTo>
                <a:cubicBezTo>
                  <a:pt x="132442" y="91678"/>
                  <a:pt x="126603" y="97517"/>
                  <a:pt x="126603" y="104775"/>
                </a:cubicBezTo>
                <a:lnTo>
                  <a:pt x="126603" y="165894"/>
                </a:lnTo>
                <a:cubicBezTo>
                  <a:pt x="126603" y="173152"/>
                  <a:pt x="132442" y="178991"/>
                  <a:pt x="139700" y="178991"/>
                </a:cubicBezTo>
                <a:cubicBezTo>
                  <a:pt x="146958" y="178991"/>
                  <a:pt x="152797" y="173152"/>
                  <a:pt x="152797" y="165894"/>
                </a:cubicBezTo>
                <a:lnTo>
                  <a:pt x="152797" y="104775"/>
                </a:lnTo>
                <a:cubicBezTo>
                  <a:pt x="152797" y="97517"/>
                  <a:pt x="146958" y="91678"/>
                  <a:pt x="139700" y="91678"/>
                </a:cubicBezTo>
                <a:close/>
                <a:moveTo>
                  <a:pt x="154270" y="209550"/>
                </a:moveTo>
                <a:cubicBezTo>
                  <a:pt x="154602" y="204142"/>
                  <a:pt x="151905" y="198996"/>
                  <a:pt x="147268" y="196192"/>
                </a:cubicBezTo>
                <a:cubicBezTo>
                  <a:pt x="142632" y="193387"/>
                  <a:pt x="136823" y="193387"/>
                  <a:pt x="132186" y="196192"/>
                </a:cubicBezTo>
                <a:cubicBezTo>
                  <a:pt x="127550" y="198996"/>
                  <a:pt x="124853" y="204142"/>
                  <a:pt x="125184" y="209550"/>
                </a:cubicBezTo>
                <a:cubicBezTo>
                  <a:pt x="124853" y="214958"/>
                  <a:pt x="127550" y="220104"/>
                  <a:pt x="132186" y="222908"/>
                </a:cubicBezTo>
                <a:cubicBezTo>
                  <a:pt x="136823" y="225713"/>
                  <a:pt x="142632" y="225713"/>
                  <a:pt x="147268" y="222908"/>
                </a:cubicBezTo>
                <a:cubicBezTo>
                  <a:pt x="151905" y="220104"/>
                  <a:pt x="154602" y="214958"/>
                  <a:pt x="154270" y="2095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9017000" y="6261100"/>
            <a:ext cx="6223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matters!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Place specific patterns (corners) above general ones (center fills) in the rule list.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Rule Tile Techniques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Extending Rule Tiles for complex scenarios and professional workflows.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3775" y="2349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3241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Rule Tiles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8194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Inherit from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RuleTile&lt;T&gt;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add custom properties like biome types or damage values that affect rule evaluation at runtime.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1590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25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8685" y="138698"/>
                </a:moveTo>
                <a:lnTo>
                  <a:pt x="60146" y="160159"/>
                </a:lnTo>
                <a:cubicBezTo>
                  <a:pt x="64314" y="164326"/>
                  <a:pt x="69939" y="166688"/>
                  <a:pt x="75843" y="166688"/>
                </a:cubicBezTo>
                <a:lnTo>
                  <a:pt x="90775" y="166688"/>
                </a:lnTo>
                <a:cubicBezTo>
                  <a:pt x="96679" y="166688"/>
                  <a:pt x="102304" y="169049"/>
                  <a:pt x="106472" y="173216"/>
                </a:cubicBezTo>
                <a:lnTo>
                  <a:pt x="126821" y="193566"/>
                </a:lnTo>
                <a:cubicBezTo>
                  <a:pt x="130989" y="197733"/>
                  <a:pt x="133350" y="203359"/>
                  <a:pt x="133350" y="209262"/>
                </a:cubicBezTo>
                <a:lnTo>
                  <a:pt x="133350" y="235307"/>
                </a:lnTo>
                <a:cubicBezTo>
                  <a:pt x="133350" y="241211"/>
                  <a:pt x="135711" y="246836"/>
                  <a:pt x="139879" y="251004"/>
                </a:cubicBezTo>
                <a:lnTo>
                  <a:pt x="149116" y="260241"/>
                </a:lnTo>
                <a:cubicBezTo>
                  <a:pt x="153283" y="264408"/>
                  <a:pt x="155644" y="270034"/>
                  <a:pt x="155644" y="275937"/>
                </a:cubicBezTo>
                <a:lnTo>
                  <a:pt x="155644" y="288925"/>
                </a:lnTo>
                <a:cubicBezTo>
                  <a:pt x="155644" y="301218"/>
                  <a:pt x="165576" y="311150"/>
                  <a:pt x="177869" y="311150"/>
                </a:cubicBezTo>
                <a:cubicBezTo>
                  <a:pt x="190163" y="311150"/>
                  <a:pt x="200094" y="301218"/>
                  <a:pt x="200094" y="288925"/>
                </a:cubicBezTo>
                <a:lnTo>
                  <a:pt x="200094" y="287050"/>
                </a:lnTo>
                <a:cubicBezTo>
                  <a:pt x="200094" y="281146"/>
                  <a:pt x="202456" y="275521"/>
                  <a:pt x="206623" y="271353"/>
                </a:cubicBezTo>
                <a:lnTo>
                  <a:pt x="238085" y="239891"/>
                </a:lnTo>
                <a:cubicBezTo>
                  <a:pt x="242253" y="235724"/>
                  <a:pt x="244614" y="230098"/>
                  <a:pt x="244614" y="224195"/>
                </a:cubicBezTo>
                <a:lnTo>
                  <a:pt x="244614" y="200094"/>
                </a:lnTo>
                <a:cubicBezTo>
                  <a:pt x="244614" y="187801"/>
                  <a:pt x="234682" y="177869"/>
                  <a:pt x="222389" y="177869"/>
                </a:cubicBezTo>
                <a:lnTo>
                  <a:pt x="164951" y="177869"/>
                </a:lnTo>
                <a:cubicBezTo>
                  <a:pt x="159048" y="177869"/>
                  <a:pt x="153422" y="175508"/>
                  <a:pt x="149255" y="171341"/>
                </a:cubicBezTo>
                <a:lnTo>
                  <a:pt x="138142" y="160228"/>
                </a:lnTo>
                <a:cubicBezTo>
                  <a:pt x="135225" y="157311"/>
                  <a:pt x="133558" y="153283"/>
                  <a:pt x="133558" y="149116"/>
                </a:cubicBezTo>
                <a:cubicBezTo>
                  <a:pt x="133558" y="140434"/>
                  <a:pt x="140573" y="133419"/>
                  <a:pt x="149255" y="133419"/>
                </a:cubicBezTo>
                <a:lnTo>
                  <a:pt x="173355" y="133419"/>
                </a:lnTo>
                <a:cubicBezTo>
                  <a:pt x="182037" y="133419"/>
                  <a:pt x="189051" y="126405"/>
                  <a:pt x="189051" y="117723"/>
                </a:cubicBezTo>
                <a:cubicBezTo>
                  <a:pt x="189051" y="113556"/>
                  <a:pt x="187385" y="109528"/>
                  <a:pt x="184468" y="106611"/>
                </a:cubicBezTo>
                <a:lnTo>
                  <a:pt x="170785" y="92928"/>
                </a:lnTo>
                <a:cubicBezTo>
                  <a:pt x="168077" y="90289"/>
                  <a:pt x="166688" y="86886"/>
                  <a:pt x="166688" y="83344"/>
                </a:cubicBezTo>
                <a:cubicBezTo>
                  <a:pt x="166688" y="79802"/>
                  <a:pt x="168077" y="76398"/>
                  <a:pt x="170646" y="73829"/>
                </a:cubicBezTo>
                <a:lnTo>
                  <a:pt x="182662" y="61813"/>
                </a:lnTo>
                <a:cubicBezTo>
                  <a:pt x="186690" y="57785"/>
                  <a:pt x="188982" y="52298"/>
                  <a:pt x="188982" y="46603"/>
                </a:cubicBezTo>
                <a:cubicBezTo>
                  <a:pt x="188982" y="41602"/>
                  <a:pt x="187315" y="37088"/>
                  <a:pt x="184537" y="33476"/>
                </a:cubicBezTo>
                <a:cubicBezTo>
                  <a:pt x="182314" y="33407"/>
                  <a:pt x="180092" y="33337"/>
                  <a:pt x="177869" y="33337"/>
                </a:cubicBezTo>
                <a:cubicBezTo>
                  <a:pt x="111611" y="33337"/>
                  <a:pt x="55840" y="77926"/>
                  <a:pt x="38755" y="138698"/>
                </a:cubicBezTo>
                <a:close/>
                <a:moveTo>
                  <a:pt x="322263" y="177800"/>
                </a:moveTo>
                <a:cubicBezTo>
                  <a:pt x="322263" y="153769"/>
                  <a:pt x="316428" y="131128"/>
                  <a:pt x="306010" y="111264"/>
                </a:cubicBezTo>
                <a:cubicBezTo>
                  <a:pt x="301565" y="111889"/>
                  <a:pt x="297190" y="113973"/>
                  <a:pt x="293578" y="117584"/>
                </a:cubicBezTo>
                <a:lnTo>
                  <a:pt x="284272" y="126891"/>
                </a:lnTo>
                <a:cubicBezTo>
                  <a:pt x="280104" y="131058"/>
                  <a:pt x="277743" y="136684"/>
                  <a:pt x="277743" y="142587"/>
                </a:cubicBezTo>
                <a:lnTo>
                  <a:pt x="277743" y="166688"/>
                </a:lnTo>
                <a:cubicBezTo>
                  <a:pt x="277743" y="178981"/>
                  <a:pt x="287675" y="188913"/>
                  <a:pt x="299968" y="188913"/>
                </a:cubicBezTo>
                <a:lnTo>
                  <a:pt x="316706" y="188913"/>
                </a:lnTo>
                <a:cubicBezTo>
                  <a:pt x="318443" y="188913"/>
                  <a:pt x="320179" y="188704"/>
                  <a:pt x="321776" y="188357"/>
                </a:cubicBezTo>
                <a:cubicBezTo>
                  <a:pt x="322054" y="184884"/>
                  <a:pt x="322124" y="181342"/>
                  <a:pt x="322124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515100" y="23241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Biome Sets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8194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separate Rule Tiles for different biomes (grass, desert, snow). Swap them at runtime or assign per-level for visual variety.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1590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49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1531600" y="23241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Layered Rule Tiles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8194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Rule Tiles on different Tilemap layers — one layer handles base terrain, another handles auto-placed decorations based on terrain rules.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08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Debugging &amp; Performance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588000"/>
            <a:ext cx="7112000" cy="13970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56896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Debugging: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Scene view's Tilemap grid overlay to see active rules.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Rules evaluate at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edit time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minimal cost.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5080000"/>
            <a:ext cx="7112000" cy="20955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8636000" y="5207000"/>
            <a:ext cx="6604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Runtime tile manipulation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tm = GetComponent&lt;Tilemap&gt;();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Vector3Int(x, y,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tm.SetTile(p, tile);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 = tm.GetTile(p);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Animated Tiles — Adding Life to Your Tilemaps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Animated Tiles bring tilemaps to life by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cycling through sprites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34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Setup &amp; Configuration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819400"/>
            <a:ext cx="7112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via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→ Tiles → Animated Tile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Ordered list of animation sprites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Min/max animation speed (FPS)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Start time for staggered anims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4762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 Cases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270500"/>
            <a:ext cx="2286000" cy="10160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/>
        </p:spPr>
      </p:sp>
      <p:sp>
        <p:nvSpPr>
          <p:cNvPr id="9" name="Shape 7"/>
          <p:cNvSpPr/>
          <p:nvPr/>
        </p:nvSpPr>
        <p:spPr>
          <a:xfrm>
            <a:off x="15875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5175" y="86191"/>
                </a:moveTo>
                <a:cubicBezTo>
                  <a:pt x="299551" y="97026"/>
                  <a:pt x="317123" y="107513"/>
                  <a:pt x="336709" y="110153"/>
                </a:cubicBezTo>
                <a:cubicBezTo>
                  <a:pt x="345807" y="111403"/>
                  <a:pt x="354211" y="104944"/>
                  <a:pt x="355461" y="95845"/>
                </a:cubicBezTo>
                <a:cubicBezTo>
                  <a:pt x="356711" y="86747"/>
                  <a:pt x="350252" y="78343"/>
                  <a:pt x="341154" y="77093"/>
                </a:cubicBezTo>
                <a:cubicBezTo>
                  <a:pt x="330111" y="75634"/>
                  <a:pt x="318095" y="69245"/>
                  <a:pt x="305246" y="59591"/>
                </a:cubicBezTo>
                <a:cubicBezTo>
                  <a:pt x="278576" y="39449"/>
                  <a:pt x="242391" y="39449"/>
                  <a:pt x="215652" y="59591"/>
                </a:cubicBezTo>
                <a:cubicBezTo>
                  <a:pt x="198983" y="72162"/>
                  <a:pt x="187385" y="77857"/>
                  <a:pt x="177800" y="77857"/>
                </a:cubicBezTo>
                <a:cubicBezTo>
                  <a:pt x="168215" y="77857"/>
                  <a:pt x="156617" y="72162"/>
                  <a:pt x="139948" y="59591"/>
                </a:cubicBezTo>
                <a:cubicBezTo>
                  <a:pt x="113278" y="39449"/>
                  <a:pt x="77093" y="39449"/>
                  <a:pt x="50354" y="59591"/>
                </a:cubicBezTo>
                <a:cubicBezTo>
                  <a:pt x="37505" y="69245"/>
                  <a:pt x="25489" y="75634"/>
                  <a:pt x="14446" y="77093"/>
                </a:cubicBezTo>
                <a:cubicBezTo>
                  <a:pt x="5348" y="78343"/>
                  <a:pt x="-1111" y="86678"/>
                  <a:pt x="139" y="95845"/>
                </a:cubicBezTo>
                <a:cubicBezTo>
                  <a:pt x="1389" y="105013"/>
                  <a:pt x="9723" y="111403"/>
                  <a:pt x="18891" y="110153"/>
                </a:cubicBezTo>
                <a:cubicBezTo>
                  <a:pt x="38477" y="107513"/>
                  <a:pt x="56118" y="97026"/>
                  <a:pt x="70425" y="86191"/>
                </a:cubicBezTo>
                <a:cubicBezTo>
                  <a:pt x="85219" y="75009"/>
                  <a:pt x="105083" y="75009"/>
                  <a:pt x="119876" y="86191"/>
                </a:cubicBezTo>
                <a:cubicBezTo>
                  <a:pt x="136684" y="98901"/>
                  <a:pt x="156200" y="111125"/>
                  <a:pt x="177800" y="111125"/>
                </a:cubicBezTo>
                <a:cubicBezTo>
                  <a:pt x="199400" y="111125"/>
                  <a:pt x="218847" y="98832"/>
                  <a:pt x="235724" y="86191"/>
                </a:cubicBezTo>
                <a:cubicBezTo>
                  <a:pt x="250517" y="75009"/>
                  <a:pt x="270381" y="75009"/>
                  <a:pt x="285175" y="86191"/>
                </a:cubicBezTo>
                <a:close/>
                <a:moveTo>
                  <a:pt x="285175" y="186204"/>
                </a:moveTo>
                <a:cubicBezTo>
                  <a:pt x="299551" y="197039"/>
                  <a:pt x="317123" y="207526"/>
                  <a:pt x="336709" y="210165"/>
                </a:cubicBezTo>
                <a:cubicBezTo>
                  <a:pt x="345807" y="211415"/>
                  <a:pt x="354211" y="204956"/>
                  <a:pt x="355461" y="195858"/>
                </a:cubicBezTo>
                <a:cubicBezTo>
                  <a:pt x="356711" y="186759"/>
                  <a:pt x="350252" y="178356"/>
                  <a:pt x="341154" y="177105"/>
                </a:cubicBezTo>
                <a:cubicBezTo>
                  <a:pt x="330111" y="175647"/>
                  <a:pt x="318095" y="169257"/>
                  <a:pt x="305246" y="159603"/>
                </a:cubicBezTo>
                <a:cubicBezTo>
                  <a:pt x="278576" y="139462"/>
                  <a:pt x="242391" y="139462"/>
                  <a:pt x="215652" y="159603"/>
                </a:cubicBezTo>
                <a:cubicBezTo>
                  <a:pt x="198983" y="172174"/>
                  <a:pt x="187385" y="177869"/>
                  <a:pt x="177800" y="177869"/>
                </a:cubicBezTo>
                <a:cubicBezTo>
                  <a:pt x="168215" y="177869"/>
                  <a:pt x="156617" y="172174"/>
                  <a:pt x="139948" y="159603"/>
                </a:cubicBezTo>
                <a:cubicBezTo>
                  <a:pt x="113278" y="139462"/>
                  <a:pt x="77093" y="139462"/>
                  <a:pt x="50354" y="159603"/>
                </a:cubicBezTo>
                <a:cubicBezTo>
                  <a:pt x="37505" y="169257"/>
                  <a:pt x="25489" y="175647"/>
                  <a:pt x="14446" y="177105"/>
                </a:cubicBezTo>
                <a:cubicBezTo>
                  <a:pt x="5348" y="178286"/>
                  <a:pt x="-1111" y="186690"/>
                  <a:pt x="139" y="195858"/>
                </a:cubicBezTo>
                <a:cubicBezTo>
                  <a:pt x="1389" y="205026"/>
                  <a:pt x="9723" y="211415"/>
                  <a:pt x="18891" y="210165"/>
                </a:cubicBezTo>
                <a:cubicBezTo>
                  <a:pt x="38477" y="207526"/>
                  <a:pt x="56118" y="197039"/>
                  <a:pt x="70425" y="186204"/>
                </a:cubicBezTo>
                <a:cubicBezTo>
                  <a:pt x="85219" y="175022"/>
                  <a:pt x="105083" y="175022"/>
                  <a:pt x="119876" y="186204"/>
                </a:cubicBezTo>
                <a:cubicBezTo>
                  <a:pt x="136684" y="198914"/>
                  <a:pt x="156200" y="211138"/>
                  <a:pt x="177800" y="211138"/>
                </a:cubicBezTo>
                <a:cubicBezTo>
                  <a:pt x="199400" y="211138"/>
                  <a:pt x="218847" y="198844"/>
                  <a:pt x="235724" y="186204"/>
                </a:cubicBezTo>
                <a:cubicBezTo>
                  <a:pt x="250517" y="175022"/>
                  <a:pt x="270381" y="175022"/>
                  <a:pt x="285175" y="186204"/>
                </a:cubicBezTo>
                <a:close/>
                <a:moveTo>
                  <a:pt x="235724" y="286216"/>
                </a:moveTo>
                <a:cubicBezTo>
                  <a:pt x="250517" y="275034"/>
                  <a:pt x="270381" y="275034"/>
                  <a:pt x="285175" y="286216"/>
                </a:cubicBezTo>
                <a:cubicBezTo>
                  <a:pt x="299551" y="297051"/>
                  <a:pt x="317123" y="307538"/>
                  <a:pt x="336709" y="310178"/>
                </a:cubicBezTo>
                <a:cubicBezTo>
                  <a:pt x="345807" y="311428"/>
                  <a:pt x="354211" y="304969"/>
                  <a:pt x="355461" y="295870"/>
                </a:cubicBezTo>
                <a:cubicBezTo>
                  <a:pt x="356711" y="286772"/>
                  <a:pt x="350252" y="278368"/>
                  <a:pt x="341154" y="277118"/>
                </a:cubicBezTo>
                <a:cubicBezTo>
                  <a:pt x="330111" y="275659"/>
                  <a:pt x="318095" y="269270"/>
                  <a:pt x="305246" y="259616"/>
                </a:cubicBezTo>
                <a:cubicBezTo>
                  <a:pt x="278576" y="239474"/>
                  <a:pt x="242391" y="239474"/>
                  <a:pt x="215652" y="259616"/>
                </a:cubicBezTo>
                <a:cubicBezTo>
                  <a:pt x="198983" y="272187"/>
                  <a:pt x="187385" y="277882"/>
                  <a:pt x="177800" y="277882"/>
                </a:cubicBezTo>
                <a:cubicBezTo>
                  <a:pt x="168215" y="277882"/>
                  <a:pt x="156617" y="272187"/>
                  <a:pt x="139948" y="259616"/>
                </a:cubicBezTo>
                <a:cubicBezTo>
                  <a:pt x="113278" y="239474"/>
                  <a:pt x="77093" y="239474"/>
                  <a:pt x="50354" y="259616"/>
                </a:cubicBezTo>
                <a:cubicBezTo>
                  <a:pt x="37505" y="269270"/>
                  <a:pt x="25489" y="275659"/>
                  <a:pt x="14446" y="277118"/>
                </a:cubicBezTo>
                <a:cubicBezTo>
                  <a:pt x="5348" y="278368"/>
                  <a:pt x="-1111" y="286703"/>
                  <a:pt x="139" y="295870"/>
                </a:cubicBezTo>
                <a:cubicBezTo>
                  <a:pt x="1389" y="305038"/>
                  <a:pt x="9723" y="311428"/>
                  <a:pt x="18891" y="310178"/>
                </a:cubicBezTo>
                <a:cubicBezTo>
                  <a:pt x="38477" y="307538"/>
                  <a:pt x="56118" y="297051"/>
                  <a:pt x="70425" y="286216"/>
                </a:cubicBezTo>
                <a:cubicBezTo>
                  <a:pt x="85219" y="275034"/>
                  <a:pt x="105083" y="275034"/>
                  <a:pt x="119876" y="286216"/>
                </a:cubicBezTo>
                <a:cubicBezTo>
                  <a:pt x="136684" y="298926"/>
                  <a:pt x="156200" y="311150"/>
                  <a:pt x="177800" y="311150"/>
                </a:cubicBezTo>
                <a:cubicBezTo>
                  <a:pt x="199400" y="311150"/>
                  <a:pt x="218847" y="298857"/>
                  <a:pt x="235724" y="286216"/>
                </a:cubicBezTo>
                <a:close/>
              </a:path>
            </a:pathLst>
          </a:cu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5842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369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Flowing Water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02000" y="5270500"/>
            <a:ext cx="2286000" cy="1016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/>
        </p:spPr>
      </p:sp>
      <p:sp>
        <p:nvSpPr>
          <p:cNvPr id="12" name="Shape 10"/>
          <p:cNvSpPr/>
          <p:nvPr/>
        </p:nvSpPr>
        <p:spPr>
          <a:xfrm>
            <a:off x="4149725" y="5397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11472" y="-18336"/>
                </a:moveTo>
                <a:cubicBezTo>
                  <a:pt x="117931" y="-23753"/>
                  <a:pt x="127446" y="-23545"/>
                  <a:pt x="133628" y="-17711"/>
                </a:cubicBezTo>
                <a:cubicBezTo>
                  <a:pt x="142171" y="-9654"/>
                  <a:pt x="149810" y="-764"/>
                  <a:pt x="157172" y="8265"/>
                </a:cubicBezTo>
                <a:cubicBezTo>
                  <a:pt x="166549" y="19725"/>
                  <a:pt x="177800" y="34865"/>
                  <a:pt x="188635" y="52854"/>
                </a:cubicBezTo>
                <a:cubicBezTo>
                  <a:pt x="192246" y="48131"/>
                  <a:pt x="195580" y="43964"/>
                  <a:pt x="198497" y="40422"/>
                </a:cubicBezTo>
                <a:cubicBezTo>
                  <a:pt x="199261" y="39519"/>
                  <a:pt x="200025" y="38546"/>
                  <a:pt x="200789" y="37574"/>
                </a:cubicBezTo>
                <a:cubicBezTo>
                  <a:pt x="206276" y="30768"/>
                  <a:pt x="213082" y="22225"/>
                  <a:pt x="222181" y="22225"/>
                </a:cubicBezTo>
                <a:cubicBezTo>
                  <a:pt x="231487" y="22225"/>
                  <a:pt x="238016" y="30490"/>
                  <a:pt x="243572" y="37574"/>
                </a:cubicBezTo>
                <a:cubicBezTo>
                  <a:pt x="244475" y="38755"/>
                  <a:pt x="245378" y="39866"/>
                  <a:pt x="246281" y="40908"/>
                </a:cubicBezTo>
                <a:cubicBezTo>
                  <a:pt x="253434" y="49520"/>
                  <a:pt x="262950" y="61952"/>
                  <a:pt x="272465" y="77301"/>
                </a:cubicBezTo>
                <a:cubicBezTo>
                  <a:pt x="291356" y="107791"/>
                  <a:pt x="311081" y="151199"/>
                  <a:pt x="311081" y="199956"/>
                </a:cubicBezTo>
                <a:cubicBezTo>
                  <a:pt x="311081" y="285869"/>
                  <a:pt x="241419" y="355531"/>
                  <a:pt x="155506" y="355531"/>
                </a:cubicBezTo>
                <a:cubicBezTo>
                  <a:pt x="69592" y="355531"/>
                  <a:pt x="0" y="285939"/>
                  <a:pt x="0" y="200025"/>
                </a:cubicBezTo>
                <a:cubicBezTo>
                  <a:pt x="0" y="136753"/>
                  <a:pt x="28545" y="81955"/>
                  <a:pt x="55910" y="43755"/>
                </a:cubicBezTo>
                <a:cubicBezTo>
                  <a:pt x="69731" y="24517"/>
                  <a:pt x="83483" y="9098"/>
                  <a:pt x="93831" y="-1459"/>
                </a:cubicBezTo>
                <a:cubicBezTo>
                  <a:pt x="99526" y="-7293"/>
                  <a:pt x="105291" y="-13057"/>
                  <a:pt x="111542" y="-18266"/>
                </a:cubicBezTo>
                <a:close/>
                <a:moveTo>
                  <a:pt x="156756" y="288925"/>
                </a:moveTo>
                <a:cubicBezTo>
                  <a:pt x="174327" y="288925"/>
                  <a:pt x="189885" y="284063"/>
                  <a:pt x="204539" y="274340"/>
                </a:cubicBezTo>
                <a:cubicBezTo>
                  <a:pt x="233779" y="253921"/>
                  <a:pt x="241627" y="213082"/>
                  <a:pt x="224056" y="180995"/>
                </a:cubicBezTo>
                <a:cubicBezTo>
                  <a:pt x="220930" y="174744"/>
                  <a:pt x="212943" y="174327"/>
                  <a:pt x="208429" y="179606"/>
                </a:cubicBezTo>
                <a:lnTo>
                  <a:pt x="190927" y="199956"/>
                </a:lnTo>
                <a:cubicBezTo>
                  <a:pt x="186343" y="205234"/>
                  <a:pt x="178078" y="205095"/>
                  <a:pt x="173772" y="199608"/>
                </a:cubicBezTo>
                <a:cubicBezTo>
                  <a:pt x="161756" y="184259"/>
                  <a:pt x="139670" y="156270"/>
                  <a:pt x="128419" y="141962"/>
                </a:cubicBezTo>
                <a:cubicBezTo>
                  <a:pt x="124668" y="137170"/>
                  <a:pt x="117862" y="136406"/>
                  <a:pt x="113486" y="140643"/>
                </a:cubicBezTo>
                <a:cubicBezTo>
                  <a:pt x="100776" y="153005"/>
                  <a:pt x="77718" y="180092"/>
                  <a:pt x="77718" y="213082"/>
                </a:cubicBezTo>
                <a:cubicBezTo>
                  <a:pt x="77718" y="260727"/>
                  <a:pt x="112861" y="288925"/>
                  <a:pt x="156686" y="28892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302000" y="5842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Flickering Torches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42000" y="5270500"/>
            <a:ext cx="2286000" cy="1016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/>
        </p:spPr>
      </p:sp>
      <p:sp>
        <p:nvSpPr>
          <p:cNvPr id="15" name="Shape 13"/>
          <p:cNvSpPr/>
          <p:nvPr/>
        </p:nvSpPr>
        <p:spPr>
          <a:xfrm>
            <a:off x="66675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0025" y="22225"/>
                </a:moveTo>
                <a:cubicBezTo>
                  <a:pt x="200025" y="34518"/>
                  <a:pt x="209957" y="44450"/>
                  <a:pt x="222250" y="44450"/>
                </a:cubicBezTo>
                <a:lnTo>
                  <a:pt x="250031" y="44450"/>
                </a:lnTo>
                <a:cubicBezTo>
                  <a:pt x="259269" y="44450"/>
                  <a:pt x="266700" y="51881"/>
                  <a:pt x="266700" y="61119"/>
                </a:cubicBezTo>
                <a:cubicBezTo>
                  <a:pt x="266700" y="70356"/>
                  <a:pt x="259269" y="77788"/>
                  <a:pt x="250031" y="77788"/>
                </a:cubicBezTo>
                <a:lnTo>
                  <a:pt x="22225" y="77788"/>
                </a:lnTo>
                <a:cubicBezTo>
                  <a:pt x="9932" y="77788"/>
                  <a:pt x="0" y="87719"/>
                  <a:pt x="0" y="100013"/>
                </a:cubicBezTo>
                <a:cubicBezTo>
                  <a:pt x="0" y="112306"/>
                  <a:pt x="9932" y="122238"/>
                  <a:pt x="22225" y="122238"/>
                </a:cubicBezTo>
                <a:lnTo>
                  <a:pt x="250031" y="122238"/>
                </a:lnTo>
                <a:cubicBezTo>
                  <a:pt x="283785" y="122238"/>
                  <a:pt x="311150" y="94873"/>
                  <a:pt x="311150" y="61119"/>
                </a:cubicBezTo>
                <a:cubicBezTo>
                  <a:pt x="311150" y="27365"/>
                  <a:pt x="283785" y="0"/>
                  <a:pt x="250031" y="0"/>
                </a:cubicBezTo>
                <a:lnTo>
                  <a:pt x="222250" y="0"/>
                </a:lnTo>
                <a:cubicBezTo>
                  <a:pt x="209957" y="0"/>
                  <a:pt x="200025" y="9932"/>
                  <a:pt x="200025" y="22225"/>
                </a:cubicBezTo>
                <a:close/>
                <a:moveTo>
                  <a:pt x="244475" y="266700"/>
                </a:moveTo>
                <a:cubicBezTo>
                  <a:pt x="244475" y="278993"/>
                  <a:pt x="254407" y="288925"/>
                  <a:pt x="266700" y="288925"/>
                </a:cubicBezTo>
                <a:lnTo>
                  <a:pt x="288925" y="288925"/>
                </a:lnTo>
                <a:cubicBezTo>
                  <a:pt x="325735" y="288925"/>
                  <a:pt x="355600" y="259060"/>
                  <a:pt x="355600" y="222250"/>
                </a:cubicBezTo>
                <a:cubicBezTo>
                  <a:pt x="355600" y="185440"/>
                  <a:pt x="325735" y="155575"/>
                  <a:pt x="288925" y="155575"/>
                </a:cubicBez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288925" y="200025"/>
                </a:lnTo>
                <a:cubicBezTo>
                  <a:pt x="301218" y="200025"/>
                  <a:pt x="311150" y="209957"/>
                  <a:pt x="311150" y="222250"/>
                </a:cubicBezTo>
                <a:cubicBezTo>
                  <a:pt x="311150" y="234543"/>
                  <a:pt x="301218" y="244475"/>
                  <a:pt x="288925" y="244475"/>
                </a:cubicBezTo>
                <a:lnTo>
                  <a:pt x="266700" y="244475"/>
                </a:lnTo>
                <a:cubicBezTo>
                  <a:pt x="254407" y="244475"/>
                  <a:pt x="244475" y="254407"/>
                  <a:pt x="244475" y="266700"/>
                </a:cubicBezTo>
                <a:close/>
                <a:moveTo>
                  <a:pt x="88900" y="355600"/>
                </a:moveTo>
                <a:lnTo>
                  <a:pt x="116681" y="355600"/>
                </a:lnTo>
                <a:cubicBezTo>
                  <a:pt x="150435" y="355600"/>
                  <a:pt x="177800" y="328235"/>
                  <a:pt x="177800" y="294481"/>
                </a:cubicBezTo>
                <a:cubicBezTo>
                  <a:pt x="177800" y="260727"/>
                  <a:pt x="150435" y="233363"/>
                  <a:pt x="116681" y="233363"/>
                </a:cubicBezTo>
                <a:lnTo>
                  <a:pt x="22225" y="233363"/>
                </a:lnTo>
                <a:cubicBezTo>
                  <a:pt x="9932" y="233363"/>
                  <a:pt x="0" y="243294"/>
                  <a:pt x="0" y="255587"/>
                </a:cubicBezTo>
                <a:cubicBezTo>
                  <a:pt x="0" y="267881"/>
                  <a:pt x="9932" y="277813"/>
                  <a:pt x="22225" y="277813"/>
                </a:cubicBezTo>
                <a:lnTo>
                  <a:pt x="116681" y="277813"/>
                </a:lnTo>
                <a:cubicBezTo>
                  <a:pt x="125919" y="277813"/>
                  <a:pt x="133350" y="285244"/>
                  <a:pt x="133350" y="294481"/>
                </a:cubicBezTo>
                <a:cubicBezTo>
                  <a:pt x="133350" y="303719"/>
                  <a:pt x="125919" y="311150"/>
                  <a:pt x="116681" y="311150"/>
                </a:cubicBezTo>
                <a:lnTo>
                  <a:pt x="88900" y="311150"/>
                </a:lnTo>
                <a:cubicBezTo>
                  <a:pt x="76607" y="311150"/>
                  <a:pt x="66675" y="321082"/>
                  <a:pt x="66675" y="333375"/>
                </a:cubicBezTo>
                <a:cubicBezTo>
                  <a:pt x="66675" y="345668"/>
                  <a:pt x="76607" y="355600"/>
                  <a:pt x="88900" y="355600"/>
                </a:cubicBez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842000" y="5842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580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Swaying Grass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540500"/>
            <a:ext cx="2286000" cy="10160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587500" y="666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1052" y="23475"/>
                </a:moveTo>
                <a:cubicBezTo>
                  <a:pt x="84177" y="19239"/>
                  <a:pt x="89178" y="16669"/>
                  <a:pt x="94456" y="16669"/>
                </a:cubicBezTo>
                <a:lnTo>
                  <a:pt x="261144" y="16669"/>
                </a:lnTo>
                <a:cubicBezTo>
                  <a:pt x="266422" y="16669"/>
                  <a:pt x="271423" y="19169"/>
                  <a:pt x="274548" y="23475"/>
                </a:cubicBezTo>
                <a:lnTo>
                  <a:pt x="352336" y="129044"/>
                </a:lnTo>
                <a:cubicBezTo>
                  <a:pt x="357059" y="135434"/>
                  <a:pt x="356572" y="144254"/>
                  <a:pt x="351294" y="150158"/>
                </a:cubicBezTo>
                <a:lnTo>
                  <a:pt x="190163" y="327958"/>
                </a:lnTo>
                <a:cubicBezTo>
                  <a:pt x="187037" y="331430"/>
                  <a:pt x="182523" y="333444"/>
                  <a:pt x="177800" y="333444"/>
                </a:cubicBezTo>
                <a:cubicBezTo>
                  <a:pt x="173077" y="333444"/>
                  <a:pt x="168632" y="331430"/>
                  <a:pt x="165437" y="327958"/>
                </a:cubicBezTo>
                <a:lnTo>
                  <a:pt x="4306" y="150158"/>
                </a:lnTo>
                <a:cubicBezTo>
                  <a:pt x="-1042" y="144254"/>
                  <a:pt x="-1459" y="135434"/>
                  <a:pt x="3264" y="129044"/>
                </a:cubicBezTo>
                <a:lnTo>
                  <a:pt x="81052" y="23475"/>
                </a:lnTo>
                <a:close/>
                <a:moveTo>
                  <a:pt x="107791" y="51117"/>
                </a:moveTo>
                <a:cubicBezTo>
                  <a:pt x="105499" y="52854"/>
                  <a:pt x="104874" y="55979"/>
                  <a:pt x="106333" y="58410"/>
                </a:cubicBezTo>
                <a:lnTo>
                  <a:pt x="146199" y="124877"/>
                </a:lnTo>
                <a:lnTo>
                  <a:pt x="43964" y="133350"/>
                </a:lnTo>
                <a:cubicBezTo>
                  <a:pt x="41116" y="133558"/>
                  <a:pt x="38894" y="135989"/>
                  <a:pt x="38894" y="138906"/>
                </a:cubicBezTo>
                <a:cubicBezTo>
                  <a:pt x="38894" y="141823"/>
                  <a:pt x="41116" y="144185"/>
                  <a:pt x="43964" y="144463"/>
                </a:cubicBezTo>
                <a:lnTo>
                  <a:pt x="177314" y="155575"/>
                </a:lnTo>
                <a:cubicBezTo>
                  <a:pt x="177592" y="155575"/>
                  <a:pt x="177939" y="155575"/>
                  <a:pt x="178217" y="155575"/>
                </a:cubicBezTo>
                <a:lnTo>
                  <a:pt x="311567" y="144463"/>
                </a:lnTo>
                <a:cubicBezTo>
                  <a:pt x="314414" y="144254"/>
                  <a:pt x="316637" y="141823"/>
                  <a:pt x="316637" y="138906"/>
                </a:cubicBezTo>
                <a:cubicBezTo>
                  <a:pt x="316637" y="135989"/>
                  <a:pt x="314414" y="133628"/>
                  <a:pt x="311567" y="133350"/>
                </a:cubicBezTo>
                <a:lnTo>
                  <a:pt x="209332" y="124807"/>
                </a:lnTo>
                <a:lnTo>
                  <a:pt x="249198" y="58410"/>
                </a:lnTo>
                <a:cubicBezTo>
                  <a:pt x="250656" y="55979"/>
                  <a:pt x="250031" y="52784"/>
                  <a:pt x="247739" y="51117"/>
                </a:cubicBezTo>
                <a:cubicBezTo>
                  <a:pt x="245447" y="49451"/>
                  <a:pt x="242253" y="49728"/>
                  <a:pt x="240308" y="51812"/>
                </a:cubicBezTo>
                <a:lnTo>
                  <a:pt x="177800" y="119598"/>
                </a:lnTo>
                <a:lnTo>
                  <a:pt x="115223" y="51812"/>
                </a:lnTo>
                <a:cubicBezTo>
                  <a:pt x="113278" y="49728"/>
                  <a:pt x="110083" y="49451"/>
                  <a:pt x="107791" y="51117"/>
                </a:cubicBezTo>
                <a:close/>
              </a:path>
            </a:pathLst>
          </a:cu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7112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E22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Pulsing Crystals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02000" y="6540500"/>
            <a:ext cx="2286000" cy="10160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/>
        </p:spPr>
      </p:sp>
      <p:sp>
        <p:nvSpPr>
          <p:cNvPr id="21" name="Shape 19"/>
          <p:cNvSpPr/>
          <p:nvPr/>
        </p:nvSpPr>
        <p:spPr>
          <a:xfrm>
            <a:off x="4083050" y="6667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88856" y="146199"/>
                </a:moveTo>
                <a:cubicBezTo>
                  <a:pt x="297329" y="143907"/>
                  <a:pt x="306219" y="147935"/>
                  <a:pt x="310039" y="155783"/>
                </a:cubicBezTo>
                <a:lnTo>
                  <a:pt x="322957" y="181898"/>
                </a:lnTo>
                <a:cubicBezTo>
                  <a:pt x="330111" y="182870"/>
                  <a:pt x="337125" y="184815"/>
                  <a:pt x="343724" y="187523"/>
                </a:cubicBezTo>
                <a:lnTo>
                  <a:pt x="368032" y="171341"/>
                </a:lnTo>
                <a:cubicBezTo>
                  <a:pt x="375325" y="166479"/>
                  <a:pt x="384979" y="167451"/>
                  <a:pt x="391160" y="173633"/>
                </a:cubicBezTo>
                <a:lnTo>
                  <a:pt x="404495" y="186968"/>
                </a:lnTo>
                <a:cubicBezTo>
                  <a:pt x="410676" y="193149"/>
                  <a:pt x="411649" y="202873"/>
                  <a:pt x="406787" y="210096"/>
                </a:cubicBezTo>
                <a:lnTo>
                  <a:pt x="390604" y="234335"/>
                </a:lnTo>
                <a:cubicBezTo>
                  <a:pt x="391924" y="237599"/>
                  <a:pt x="393105" y="241002"/>
                  <a:pt x="394077" y="244544"/>
                </a:cubicBezTo>
                <a:cubicBezTo>
                  <a:pt x="395049" y="248087"/>
                  <a:pt x="395674" y="251559"/>
                  <a:pt x="396161" y="255101"/>
                </a:cubicBezTo>
                <a:lnTo>
                  <a:pt x="422344" y="268020"/>
                </a:lnTo>
                <a:cubicBezTo>
                  <a:pt x="430193" y="271909"/>
                  <a:pt x="434221" y="280799"/>
                  <a:pt x="431929" y="289203"/>
                </a:cubicBezTo>
                <a:lnTo>
                  <a:pt x="427067" y="307400"/>
                </a:lnTo>
                <a:cubicBezTo>
                  <a:pt x="424775" y="315803"/>
                  <a:pt x="416927" y="321499"/>
                  <a:pt x="408176" y="320943"/>
                </a:cubicBezTo>
                <a:lnTo>
                  <a:pt x="379006" y="319068"/>
                </a:lnTo>
                <a:cubicBezTo>
                  <a:pt x="374630" y="324693"/>
                  <a:pt x="369560" y="329902"/>
                  <a:pt x="363795" y="334347"/>
                </a:cubicBezTo>
                <a:lnTo>
                  <a:pt x="365671" y="363448"/>
                </a:lnTo>
                <a:cubicBezTo>
                  <a:pt x="366226" y="372199"/>
                  <a:pt x="360531" y="380117"/>
                  <a:pt x="352127" y="382339"/>
                </a:cubicBezTo>
                <a:lnTo>
                  <a:pt x="333931" y="387201"/>
                </a:lnTo>
                <a:cubicBezTo>
                  <a:pt x="325457" y="389493"/>
                  <a:pt x="316637" y="385465"/>
                  <a:pt x="312747" y="377617"/>
                </a:cubicBezTo>
                <a:lnTo>
                  <a:pt x="299829" y="351502"/>
                </a:lnTo>
                <a:cubicBezTo>
                  <a:pt x="292675" y="350530"/>
                  <a:pt x="285661" y="348585"/>
                  <a:pt x="279063" y="345877"/>
                </a:cubicBezTo>
                <a:lnTo>
                  <a:pt x="254754" y="362059"/>
                </a:lnTo>
                <a:cubicBezTo>
                  <a:pt x="247461" y="366921"/>
                  <a:pt x="237808" y="365949"/>
                  <a:pt x="231626" y="359767"/>
                </a:cubicBezTo>
                <a:lnTo>
                  <a:pt x="218291" y="346432"/>
                </a:lnTo>
                <a:cubicBezTo>
                  <a:pt x="212110" y="340251"/>
                  <a:pt x="211138" y="330597"/>
                  <a:pt x="215999" y="323304"/>
                </a:cubicBezTo>
                <a:lnTo>
                  <a:pt x="232182" y="298996"/>
                </a:lnTo>
                <a:cubicBezTo>
                  <a:pt x="230862" y="295731"/>
                  <a:pt x="229681" y="292328"/>
                  <a:pt x="228709" y="288786"/>
                </a:cubicBezTo>
                <a:cubicBezTo>
                  <a:pt x="227737" y="285244"/>
                  <a:pt x="227112" y="281702"/>
                  <a:pt x="226626" y="278229"/>
                </a:cubicBezTo>
                <a:lnTo>
                  <a:pt x="200442" y="265311"/>
                </a:lnTo>
                <a:cubicBezTo>
                  <a:pt x="192594" y="261422"/>
                  <a:pt x="188635" y="252532"/>
                  <a:pt x="190857" y="244128"/>
                </a:cubicBezTo>
                <a:lnTo>
                  <a:pt x="195719" y="225931"/>
                </a:lnTo>
                <a:cubicBezTo>
                  <a:pt x="198011" y="217527"/>
                  <a:pt x="205859" y="211832"/>
                  <a:pt x="214610" y="212388"/>
                </a:cubicBezTo>
                <a:lnTo>
                  <a:pt x="243711" y="214263"/>
                </a:lnTo>
                <a:cubicBezTo>
                  <a:pt x="248087" y="208637"/>
                  <a:pt x="253157" y="203428"/>
                  <a:pt x="258921" y="198983"/>
                </a:cubicBezTo>
                <a:lnTo>
                  <a:pt x="257046" y="169952"/>
                </a:lnTo>
                <a:cubicBezTo>
                  <a:pt x="256490" y="161201"/>
                  <a:pt x="262186" y="153283"/>
                  <a:pt x="270589" y="151061"/>
                </a:cubicBezTo>
                <a:lnTo>
                  <a:pt x="288786" y="146199"/>
                </a:lnTo>
                <a:close/>
                <a:moveTo>
                  <a:pt x="311428" y="236141"/>
                </a:moveTo>
                <a:cubicBezTo>
                  <a:pt x="294562" y="236160"/>
                  <a:pt x="280884" y="249869"/>
                  <a:pt x="280903" y="266735"/>
                </a:cubicBezTo>
                <a:cubicBezTo>
                  <a:pt x="280922" y="283601"/>
                  <a:pt x="294631" y="297279"/>
                  <a:pt x="311497" y="297259"/>
                </a:cubicBezTo>
                <a:cubicBezTo>
                  <a:pt x="328363" y="297240"/>
                  <a:pt x="342041" y="283531"/>
                  <a:pt x="342022" y="266665"/>
                </a:cubicBezTo>
                <a:cubicBezTo>
                  <a:pt x="342003" y="249799"/>
                  <a:pt x="328294" y="236121"/>
                  <a:pt x="311428" y="236141"/>
                </a:cubicBezTo>
                <a:close/>
                <a:moveTo>
                  <a:pt x="156200" y="-31601"/>
                </a:moveTo>
                <a:lnTo>
                  <a:pt x="174397" y="-26739"/>
                </a:lnTo>
                <a:cubicBezTo>
                  <a:pt x="182801" y="-24448"/>
                  <a:pt x="188496" y="-16530"/>
                  <a:pt x="187940" y="-7848"/>
                </a:cubicBezTo>
                <a:lnTo>
                  <a:pt x="186065" y="21183"/>
                </a:lnTo>
                <a:cubicBezTo>
                  <a:pt x="191830" y="25628"/>
                  <a:pt x="196900" y="30768"/>
                  <a:pt x="201275" y="36463"/>
                </a:cubicBezTo>
                <a:lnTo>
                  <a:pt x="230445" y="34588"/>
                </a:lnTo>
                <a:cubicBezTo>
                  <a:pt x="239127" y="34032"/>
                  <a:pt x="247045" y="39727"/>
                  <a:pt x="249337" y="48131"/>
                </a:cubicBezTo>
                <a:lnTo>
                  <a:pt x="254198" y="66328"/>
                </a:lnTo>
                <a:cubicBezTo>
                  <a:pt x="256421" y="74732"/>
                  <a:pt x="252462" y="83622"/>
                  <a:pt x="244614" y="87511"/>
                </a:cubicBezTo>
                <a:lnTo>
                  <a:pt x="218430" y="100429"/>
                </a:lnTo>
                <a:cubicBezTo>
                  <a:pt x="217944" y="103971"/>
                  <a:pt x="217249" y="107513"/>
                  <a:pt x="216346" y="110986"/>
                </a:cubicBezTo>
                <a:cubicBezTo>
                  <a:pt x="215444" y="114459"/>
                  <a:pt x="214193" y="117931"/>
                  <a:pt x="212874" y="121196"/>
                </a:cubicBezTo>
                <a:lnTo>
                  <a:pt x="229056" y="145504"/>
                </a:lnTo>
                <a:cubicBezTo>
                  <a:pt x="233918" y="152797"/>
                  <a:pt x="232946" y="162451"/>
                  <a:pt x="226764" y="168632"/>
                </a:cubicBezTo>
                <a:lnTo>
                  <a:pt x="213429" y="181967"/>
                </a:lnTo>
                <a:cubicBezTo>
                  <a:pt x="207248" y="188149"/>
                  <a:pt x="197594" y="189121"/>
                  <a:pt x="190302" y="184259"/>
                </a:cubicBezTo>
                <a:lnTo>
                  <a:pt x="165993" y="168077"/>
                </a:lnTo>
                <a:cubicBezTo>
                  <a:pt x="159395" y="170785"/>
                  <a:pt x="152380" y="172730"/>
                  <a:pt x="145226" y="173702"/>
                </a:cubicBezTo>
                <a:lnTo>
                  <a:pt x="132308" y="199817"/>
                </a:lnTo>
                <a:cubicBezTo>
                  <a:pt x="128419" y="207665"/>
                  <a:pt x="119529" y="211624"/>
                  <a:pt x="111125" y="209401"/>
                </a:cubicBezTo>
                <a:lnTo>
                  <a:pt x="92928" y="204539"/>
                </a:lnTo>
                <a:cubicBezTo>
                  <a:pt x="84455" y="202248"/>
                  <a:pt x="78829" y="194330"/>
                  <a:pt x="79385" y="185648"/>
                </a:cubicBezTo>
                <a:lnTo>
                  <a:pt x="81260" y="156547"/>
                </a:lnTo>
                <a:cubicBezTo>
                  <a:pt x="75496" y="152102"/>
                  <a:pt x="70425" y="146963"/>
                  <a:pt x="66050" y="141268"/>
                </a:cubicBezTo>
                <a:lnTo>
                  <a:pt x="36880" y="143143"/>
                </a:lnTo>
                <a:cubicBezTo>
                  <a:pt x="28198" y="143699"/>
                  <a:pt x="20280" y="138003"/>
                  <a:pt x="17988" y="129600"/>
                </a:cubicBezTo>
                <a:lnTo>
                  <a:pt x="13127" y="111403"/>
                </a:lnTo>
                <a:cubicBezTo>
                  <a:pt x="10904" y="102999"/>
                  <a:pt x="14863" y="94109"/>
                  <a:pt x="22711" y="90220"/>
                </a:cubicBezTo>
                <a:lnTo>
                  <a:pt x="48895" y="77301"/>
                </a:lnTo>
                <a:cubicBezTo>
                  <a:pt x="49381" y="73759"/>
                  <a:pt x="50076" y="70287"/>
                  <a:pt x="50979" y="66744"/>
                </a:cubicBezTo>
                <a:cubicBezTo>
                  <a:pt x="51951" y="63202"/>
                  <a:pt x="53062" y="59799"/>
                  <a:pt x="54451" y="56535"/>
                </a:cubicBezTo>
                <a:lnTo>
                  <a:pt x="38269" y="32296"/>
                </a:lnTo>
                <a:cubicBezTo>
                  <a:pt x="33407" y="25003"/>
                  <a:pt x="34379" y="15349"/>
                  <a:pt x="40561" y="9168"/>
                </a:cubicBezTo>
                <a:lnTo>
                  <a:pt x="53896" y="-4167"/>
                </a:lnTo>
                <a:cubicBezTo>
                  <a:pt x="60077" y="-10349"/>
                  <a:pt x="69731" y="-11321"/>
                  <a:pt x="77024" y="-6459"/>
                </a:cubicBezTo>
                <a:lnTo>
                  <a:pt x="101332" y="9723"/>
                </a:lnTo>
                <a:cubicBezTo>
                  <a:pt x="107930" y="7015"/>
                  <a:pt x="114945" y="5070"/>
                  <a:pt x="122099" y="4098"/>
                </a:cubicBezTo>
                <a:lnTo>
                  <a:pt x="135017" y="-22017"/>
                </a:lnTo>
                <a:cubicBezTo>
                  <a:pt x="138906" y="-29865"/>
                  <a:pt x="147727" y="-33824"/>
                  <a:pt x="156200" y="-31601"/>
                </a:cubicBezTo>
                <a:close/>
                <a:moveTo>
                  <a:pt x="133628" y="58341"/>
                </a:moveTo>
                <a:cubicBezTo>
                  <a:pt x="116762" y="58341"/>
                  <a:pt x="103068" y="72034"/>
                  <a:pt x="103068" y="88900"/>
                </a:cubicBezTo>
                <a:cubicBezTo>
                  <a:pt x="103068" y="105766"/>
                  <a:pt x="116762" y="119459"/>
                  <a:pt x="133628" y="119459"/>
                </a:cubicBezTo>
                <a:cubicBezTo>
                  <a:pt x="150494" y="119459"/>
                  <a:pt x="164187" y="105766"/>
                  <a:pt x="164187" y="88900"/>
                </a:cubicBezTo>
                <a:cubicBezTo>
                  <a:pt x="164187" y="72034"/>
                  <a:pt x="150494" y="58341"/>
                  <a:pt x="133628" y="58341"/>
                </a:cubicBezTo>
                <a:close/>
              </a:path>
            </a:pathLst>
          </a:custGeom>
          <a:solidFill>
            <a:srgbClr val="E11D48"/>
          </a:solidFill>
          <a:ln/>
        </p:spPr>
      </p:sp>
      <p:sp>
        <p:nvSpPr>
          <p:cNvPr id="22" name="Text 20"/>
          <p:cNvSpPr/>
          <p:nvPr/>
        </p:nvSpPr>
        <p:spPr>
          <a:xfrm>
            <a:off x="3302000" y="7112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BE12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Conveyor Belts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2349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Sync &amp; Variety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2857500"/>
            <a:ext cx="71120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36000" y="29845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default, animation is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synchronized per-tile-instance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organic variation, use: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Random start times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Varied speed ranges (min/max FPS)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4762500"/>
            <a:ext cx="7112000" cy="13970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82000" y="4762500"/>
            <a:ext cx="50800" cy="1397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Shape 26"/>
          <p:cNvSpPr/>
          <p:nvPr/>
        </p:nvSpPr>
        <p:spPr>
          <a:xfrm>
            <a:off x="8616950" y="4953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56805" y="-16073"/>
                </a:moveTo>
                <a:lnTo>
                  <a:pt x="165616" y="5834"/>
                </a:lnTo>
                <a:lnTo>
                  <a:pt x="187523" y="14645"/>
                </a:lnTo>
                <a:cubicBezTo>
                  <a:pt x="189309" y="15359"/>
                  <a:pt x="190500" y="17145"/>
                  <a:pt x="190500" y="19050"/>
                </a:cubicBezTo>
                <a:cubicBezTo>
                  <a:pt x="190500" y="20955"/>
                  <a:pt x="189309" y="22741"/>
                  <a:pt x="187523" y="23455"/>
                </a:cubicBezTo>
                <a:lnTo>
                  <a:pt x="165616" y="32266"/>
                </a:lnTo>
                <a:lnTo>
                  <a:pt x="156805" y="54173"/>
                </a:lnTo>
                <a:cubicBezTo>
                  <a:pt x="156091" y="55959"/>
                  <a:pt x="154305" y="57150"/>
                  <a:pt x="152400" y="57150"/>
                </a:cubicBezTo>
                <a:cubicBezTo>
                  <a:pt x="150495" y="57150"/>
                  <a:pt x="148709" y="55959"/>
                  <a:pt x="147995" y="54173"/>
                </a:cubicBezTo>
                <a:lnTo>
                  <a:pt x="139184" y="32266"/>
                </a:lnTo>
                <a:lnTo>
                  <a:pt x="117277" y="23455"/>
                </a:lnTo>
                <a:cubicBezTo>
                  <a:pt x="115491" y="22741"/>
                  <a:pt x="114300" y="20955"/>
                  <a:pt x="114300" y="19050"/>
                </a:cubicBezTo>
                <a:cubicBezTo>
                  <a:pt x="114300" y="17145"/>
                  <a:pt x="115491" y="15359"/>
                  <a:pt x="117277" y="14645"/>
                </a:cubicBezTo>
                <a:lnTo>
                  <a:pt x="139184" y="5834"/>
                </a:lnTo>
                <a:lnTo>
                  <a:pt x="147995" y="-16073"/>
                </a:lnTo>
                <a:cubicBezTo>
                  <a:pt x="148709" y="-17859"/>
                  <a:pt x="150495" y="-19050"/>
                  <a:pt x="152400" y="-19050"/>
                </a:cubicBezTo>
                <a:cubicBezTo>
                  <a:pt x="154305" y="-19050"/>
                  <a:pt x="156091" y="-17859"/>
                  <a:pt x="156805" y="-16073"/>
                </a:cubicBezTo>
                <a:close/>
                <a:moveTo>
                  <a:pt x="65901" y="24825"/>
                </a:moveTo>
                <a:lnTo>
                  <a:pt x="78700" y="54650"/>
                </a:lnTo>
                <a:lnTo>
                  <a:pt x="108525" y="67449"/>
                </a:lnTo>
                <a:cubicBezTo>
                  <a:pt x="112038" y="68937"/>
                  <a:pt x="114300" y="72390"/>
                  <a:pt x="114300" y="76200"/>
                </a:cubicBezTo>
                <a:cubicBezTo>
                  <a:pt x="114300" y="80010"/>
                  <a:pt x="112038" y="83463"/>
                  <a:pt x="108525" y="84951"/>
                </a:cubicBezTo>
                <a:lnTo>
                  <a:pt x="78700" y="97750"/>
                </a:lnTo>
                <a:lnTo>
                  <a:pt x="65901" y="127575"/>
                </a:lnTo>
                <a:cubicBezTo>
                  <a:pt x="64413" y="131088"/>
                  <a:pt x="60960" y="133350"/>
                  <a:pt x="57150" y="133350"/>
                </a:cubicBezTo>
                <a:cubicBezTo>
                  <a:pt x="53340" y="133350"/>
                  <a:pt x="49887" y="131088"/>
                  <a:pt x="48399" y="127575"/>
                </a:cubicBezTo>
                <a:lnTo>
                  <a:pt x="35600" y="97750"/>
                </a:lnTo>
                <a:lnTo>
                  <a:pt x="5775" y="84951"/>
                </a:lnTo>
                <a:cubicBezTo>
                  <a:pt x="2262" y="83463"/>
                  <a:pt x="0" y="80010"/>
                  <a:pt x="0" y="76200"/>
                </a:cubicBezTo>
                <a:cubicBezTo>
                  <a:pt x="0" y="72390"/>
                  <a:pt x="2262" y="68937"/>
                  <a:pt x="5775" y="67449"/>
                </a:cubicBezTo>
                <a:lnTo>
                  <a:pt x="35600" y="54650"/>
                </a:lnTo>
                <a:lnTo>
                  <a:pt x="48399" y="24825"/>
                </a:lnTo>
                <a:cubicBezTo>
                  <a:pt x="49887" y="21312"/>
                  <a:pt x="53340" y="19050"/>
                  <a:pt x="57150" y="19050"/>
                </a:cubicBezTo>
                <a:cubicBezTo>
                  <a:pt x="60960" y="19050"/>
                  <a:pt x="64413" y="21312"/>
                  <a:pt x="65901" y="24825"/>
                </a:cubicBezTo>
                <a:close/>
                <a:moveTo>
                  <a:pt x="276225" y="180975"/>
                </a:moveTo>
                <a:cubicBezTo>
                  <a:pt x="280035" y="180975"/>
                  <a:pt x="283488" y="183237"/>
                  <a:pt x="284976" y="186750"/>
                </a:cubicBezTo>
                <a:lnTo>
                  <a:pt x="297775" y="216575"/>
                </a:lnTo>
                <a:lnTo>
                  <a:pt x="327600" y="229374"/>
                </a:lnTo>
                <a:cubicBezTo>
                  <a:pt x="331113" y="230862"/>
                  <a:pt x="333375" y="234315"/>
                  <a:pt x="333375" y="238125"/>
                </a:cubicBezTo>
                <a:cubicBezTo>
                  <a:pt x="333375" y="241935"/>
                  <a:pt x="331113" y="245388"/>
                  <a:pt x="327600" y="246876"/>
                </a:cubicBezTo>
                <a:lnTo>
                  <a:pt x="297775" y="259675"/>
                </a:lnTo>
                <a:lnTo>
                  <a:pt x="284976" y="289500"/>
                </a:lnTo>
                <a:cubicBezTo>
                  <a:pt x="283488" y="293013"/>
                  <a:pt x="280035" y="295275"/>
                  <a:pt x="276225" y="295275"/>
                </a:cubicBezTo>
                <a:cubicBezTo>
                  <a:pt x="272415" y="295275"/>
                  <a:pt x="268962" y="293013"/>
                  <a:pt x="267474" y="289500"/>
                </a:cubicBezTo>
                <a:lnTo>
                  <a:pt x="254675" y="259675"/>
                </a:lnTo>
                <a:lnTo>
                  <a:pt x="224850" y="246876"/>
                </a:lnTo>
                <a:cubicBezTo>
                  <a:pt x="221337" y="245388"/>
                  <a:pt x="219075" y="241935"/>
                  <a:pt x="219075" y="238125"/>
                </a:cubicBezTo>
                <a:cubicBezTo>
                  <a:pt x="219075" y="234315"/>
                  <a:pt x="221337" y="230862"/>
                  <a:pt x="224850" y="229374"/>
                </a:cubicBezTo>
                <a:lnTo>
                  <a:pt x="254675" y="216575"/>
                </a:lnTo>
                <a:lnTo>
                  <a:pt x="267474" y="186750"/>
                </a:lnTo>
                <a:cubicBezTo>
                  <a:pt x="268962" y="183237"/>
                  <a:pt x="272415" y="180975"/>
                  <a:pt x="276225" y="180975"/>
                </a:cubicBezTo>
                <a:close/>
                <a:moveTo>
                  <a:pt x="273844" y="0"/>
                </a:moveTo>
                <a:cubicBezTo>
                  <a:pt x="280392" y="0"/>
                  <a:pt x="286703" y="2619"/>
                  <a:pt x="291405" y="7263"/>
                </a:cubicBezTo>
                <a:lnTo>
                  <a:pt x="316587" y="32445"/>
                </a:lnTo>
                <a:cubicBezTo>
                  <a:pt x="321231" y="37148"/>
                  <a:pt x="323850" y="43458"/>
                  <a:pt x="323850" y="50006"/>
                </a:cubicBezTo>
                <a:cubicBezTo>
                  <a:pt x="323850" y="56555"/>
                  <a:pt x="321231" y="62865"/>
                  <a:pt x="316587" y="67568"/>
                </a:cubicBezTo>
                <a:lnTo>
                  <a:pt x="264081" y="120075"/>
                </a:lnTo>
                <a:lnTo>
                  <a:pt x="203775" y="59769"/>
                </a:lnTo>
                <a:lnTo>
                  <a:pt x="256282" y="7263"/>
                </a:lnTo>
                <a:cubicBezTo>
                  <a:pt x="260985" y="2619"/>
                  <a:pt x="267295" y="0"/>
                  <a:pt x="273844" y="0"/>
                </a:cubicBezTo>
                <a:close/>
                <a:moveTo>
                  <a:pt x="26313" y="237232"/>
                </a:moveTo>
                <a:lnTo>
                  <a:pt x="183594" y="79950"/>
                </a:lnTo>
                <a:lnTo>
                  <a:pt x="243900" y="140256"/>
                </a:lnTo>
                <a:lnTo>
                  <a:pt x="86618" y="297537"/>
                </a:lnTo>
                <a:cubicBezTo>
                  <a:pt x="81915" y="302181"/>
                  <a:pt x="75605" y="304800"/>
                  <a:pt x="69056" y="304800"/>
                </a:cubicBezTo>
                <a:cubicBezTo>
                  <a:pt x="62508" y="304800"/>
                  <a:pt x="56198" y="302181"/>
                  <a:pt x="51495" y="297537"/>
                </a:cubicBezTo>
                <a:lnTo>
                  <a:pt x="26313" y="272355"/>
                </a:lnTo>
                <a:cubicBezTo>
                  <a:pt x="21669" y="267653"/>
                  <a:pt x="19050" y="261342"/>
                  <a:pt x="19050" y="254794"/>
                </a:cubicBezTo>
                <a:cubicBezTo>
                  <a:pt x="19050" y="248245"/>
                  <a:pt x="21669" y="241935"/>
                  <a:pt x="26313" y="23723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9067800" y="48895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Animated Tiles work on any Tilemap layer and can be combined with Rule Tiles using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Animation output mode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smart animated terrain!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 Performance &amp; Best Practices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Optimizing Tilemap-based games for smooth performance across all target platforms.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46990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3775" y="2349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2225" y="82927"/>
                </a:moveTo>
                <a:cubicBezTo>
                  <a:pt x="8959" y="75287"/>
                  <a:pt x="0" y="60910"/>
                  <a:pt x="0" y="44450"/>
                </a:cubicBezTo>
                <a:cubicBezTo>
                  <a:pt x="0" y="19933"/>
                  <a:pt x="19933" y="0"/>
                  <a:pt x="44450" y="0"/>
                </a:cubicBezTo>
                <a:cubicBezTo>
                  <a:pt x="60910" y="0"/>
                  <a:pt x="75287" y="8959"/>
                  <a:pt x="82927" y="22225"/>
                </a:cubicBezTo>
                <a:lnTo>
                  <a:pt x="317054" y="22225"/>
                </a:lnTo>
                <a:cubicBezTo>
                  <a:pt x="324763" y="8959"/>
                  <a:pt x="339070" y="0"/>
                  <a:pt x="355531" y="0"/>
                </a:cubicBezTo>
                <a:cubicBezTo>
                  <a:pt x="380047" y="0"/>
                  <a:pt x="399981" y="19933"/>
                  <a:pt x="399981" y="44450"/>
                </a:cubicBezTo>
                <a:cubicBezTo>
                  <a:pt x="399981" y="60910"/>
                  <a:pt x="391021" y="75287"/>
                  <a:pt x="377756" y="82927"/>
                </a:cubicBezTo>
                <a:lnTo>
                  <a:pt x="377756" y="272604"/>
                </a:lnTo>
                <a:cubicBezTo>
                  <a:pt x="391021" y="280313"/>
                  <a:pt x="399981" y="294620"/>
                  <a:pt x="399981" y="311081"/>
                </a:cubicBezTo>
                <a:cubicBezTo>
                  <a:pt x="399981" y="335598"/>
                  <a:pt x="380047" y="355531"/>
                  <a:pt x="355531" y="355531"/>
                </a:cubicBezTo>
                <a:cubicBezTo>
                  <a:pt x="339070" y="355531"/>
                  <a:pt x="324693" y="346571"/>
                  <a:pt x="317054" y="333306"/>
                </a:cubicBezTo>
                <a:lnTo>
                  <a:pt x="82927" y="333306"/>
                </a:lnTo>
                <a:cubicBezTo>
                  <a:pt x="75218" y="346571"/>
                  <a:pt x="60910" y="355531"/>
                  <a:pt x="44450" y="355531"/>
                </a:cubicBezTo>
                <a:cubicBezTo>
                  <a:pt x="19933" y="355531"/>
                  <a:pt x="0" y="335598"/>
                  <a:pt x="0" y="311081"/>
                </a:cubicBezTo>
                <a:cubicBezTo>
                  <a:pt x="0" y="294620"/>
                  <a:pt x="8959" y="280243"/>
                  <a:pt x="22225" y="272604"/>
                </a:cubicBezTo>
                <a:lnTo>
                  <a:pt x="22225" y="82927"/>
                </a:lnTo>
                <a:close/>
                <a:moveTo>
                  <a:pt x="333375" y="82927"/>
                </a:moveTo>
                <a:cubicBezTo>
                  <a:pt x="326638" y="79038"/>
                  <a:pt x="321012" y="73412"/>
                  <a:pt x="317123" y="66675"/>
                </a:cubicBezTo>
                <a:lnTo>
                  <a:pt x="82927" y="66675"/>
                </a:lnTo>
                <a:cubicBezTo>
                  <a:pt x="79038" y="73412"/>
                  <a:pt x="73412" y="79038"/>
                  <a:pt x="66675" y="82927"/>
                </a:cubicBezTo>
                <a:lnTo>
                  <a:pt x="66675" y="272604"/>
                </a:lnTo>
                <a:cubicBezTo>
                  <a:pt x="73412" y="276493"/>
                  <a:pt x="79038" y="282119"/>
                  <a:pt x="82927" y="288856"/>
                </a:cubicBezTo>
                <a:lnTo>
                  <a:pt x="317054" y="288856"/>
                </a:lnTo>
                <a:cubicBezTo>
                  <a:pt x="320943" y="282119"/>
                  <a:pt x="326569" y="276493"/>
                  <a:pt x="333306" y="272604"/>
                </a:cubicBezTo>
                <a:lnTo>
                  <a:pt x="333306" y="82927"/>
                </a:lnTo>
                <a:close/>
                <a:moveTo>
                  <a:pt x="100013" y="122238"/>
                </a:moveTo>
                <a:cubicBezTo>
                  <a:pt x="100013" y="109944"/>
                  <a:pt x="109944" y="100013"/>
                  <a:pt x="122238" y="100013"/>
                </a:cubicBezTo>
                <a:lnTo>
                  <a:pt x="200025" y="100013"/>
                </a:lnTo>
                <a:cubicBezTo>
                  <a:pt x="212318" y="100013"/>
                  <a:pt x="222250" y="109944"/>
                  <a:pt x="222250" y="122238"/>
                </a:cubicBezTo>
                <a:lnTo>
                  <a:pt x="222250" y="166688"/>
                </a:lnTo>
                <a:cubicBezTo>
                  <a:pt x="222250" y="178981"/>
                  <a:pt x="212318" y="188913"/>
                  <a:pt x="200025" y="188913"/>
                </a:cubicBezTo>
                <a:lnTo>
                  <a:pt x="122238" y="188913"/>
                </a:lnTo>
                <a:cubicBezTo>
                  <a:pt x="109944" y="188913"/>
                  <a:pt x="100013" y="178981"/>
                  <a:pt x="100013" y="166688"/>
                </a:cubicBezTo>
                <a:lnTo>
                  <a:pt x="100013" y="122238"/>
                </a:lnTo>
                <a:close/>
                <a:moveTo>
                  <a:pt x="177800" y="222250"/>
                </a:moveTo>
                <a:lnTo>
                  <a:pt x="200025" y="222250"/>
                </a:lnTo>
                <a:cubicBezTo>
                  <a:pt x="230723" y="222250"/>
                  <a:pt x="255587" y="197386"/>
                  <a:pt x="255587" y="166688"/>
                </a:cubicBezTo>
                <a:lnTo>
                  <a:pt x="277813" y="166688"/>
                </a:lnTo>
                <a:cubicBezTo>
                  <a:pt x="290106" y="166688"/>
                  <a:pt x="300038" y="176619"/>
                  <a:pt x="300038" y="188913"/>
                </a:cubicBezTo>
                <a:lnTo>
                  <a:pt x="300038" y="233363"/>
                </a:lnTo>
                <a:cubicBezTo>
                  <a:pt x="300038" y="245656"/>
                  <a:pt x="290106" y="255587"/>
                  <a:pt x="277813" y="255587"/>
                </a:cubicBezTo>
                <a:lnTo>
                  <a:pt x="200025" y="255587"/>
                </a:lnTo>
                <a:cubicBezTo>
                  <a:pt x="187732" y="255587"/>
                  <a:pt x="177800" y="245656"/>
                  <a:pt x="177800" y="233363"/>
                </a:cubicBezTo>
                <a:lnTo>
                  <a:pt x="177800" y="22225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3241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Draw Call Batching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819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auto-batches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tiles sharing the same sprite and material. Minimize unique sprites.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159000"/>
            <a:ext cx="46990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54725" y="234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66675"/>
                </a:moveTo>
                <a:lnTo>
                  <a:pt x="177800" y="66675"/>
                </a:lnTo>
                <a:lnTo>
                  <a:pt x="177800" y="155575"/>
                </a:lnTo>
                <a:lnTo>
                  <a:pt x="266700" y="155575"/>
                </a:lnTo>
                <a:lnTo>
                  <a:pt x="266700" y="66675"/>
                </a:lnTo>
                <a:close/>
                <a:moveTo>
                  <a:pt x="311150" y="155575"/>
                </a:move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66675"/>
                </a:lnTo>
                <a:cubicBezTo>
                  <a:pt x="0" y="42158"/>
                  <a:pt x="19933" y="22225"/>
                  <a:pt x="44450" y="22225"/>
                </a:cubicBezTo>
                <a:lnTo>
                  <a:pt x="266700" y="22225"/>
                </a:lnTo>
                <a:cubicBezTo>
                  <a:pt x="291217" y="22225"/>
                  <a:pt x="311150" y="42158"/>
                  <a:pt x="311150" y="66675"/>
                </a:cubicBezTo>
                <a:lnTo>
                  <a:pt x="311150" y="155575"/>
                </a:lnTo>
                <a:close/>
                <a:moveTo>
                  <a:pt x="44450" y="200025"/>
                </a:moveTo>
                <a:lnTo>
                  <a:pt x="44450" y="288925"/>
                </a:lnTo>
                <a:lnTo>
                  <a:pt x="133350" y="288925"/>
                </a:lnTo>
                <a:lnTo>
                  <a:pt x="133350" y="200025"/>
                </a:lnTo>
                <a:lnTo>
                  <a:pt x="44450" y="200025"/>
                </a:lnTo>
                <a:close/>
                <a:moveTo>
                  <a:pt x="133350" y="155575"/>
                </a:moveTo>
                <a:lnTo>
                  <a:pt x="133350" y="66675"/>
                </a:lnTo>
                <a:lnTo>
                  <a:pt x="44450" y="66675"/>
                </a:lnTo>
                <a:lnTo>
                  <a:pt x="44450" y="155575"/>
                </a:lnTo>
                <a:lnTo>
                  <a:pt x="133350" y="155575"/>
                </a:lnTo>
                <a:close/>
                <a:moveTo>
                  <a:pt x="177800" y="200025"/>
                </a:moveTo>
                <a:lnTo>
                  <a:pt x="177800" y="288925"/>
                </a:lnTo>
                <a:lnTo>
                  <a:pt x="266700" y="288925"/>
                </a:lnTo>
                <a:lnTo>
                  <a:pt x="266700" y="200025"/>
                </a:lnTo>
                <a:lnTo>
                  <a:pt x="177800" y="20002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515100" y="23241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Chunk Size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819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Tilemap Renderer splits tiles into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chunks for culling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Default (32×32) works for most games.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159000"/>
            <a:ext cx="46990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49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1531600" y="23241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Collision Optimization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819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TilemapCollider2D + CompositeCollider2D + Rigidbody2D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(static) for merged colliders.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572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&amp; Memory Optimization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5054600"/>
            <a:ext cx="711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Avoid excessive layers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Merge decorative layers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Large maps use more memory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chunk-based loading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4572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Manipulation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5080000"/>
            <a:ext cx="7112000" cy="2667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8636000" y="5207000"/>
            <a:ext cx="6604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Procedural generation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tilemap.SetTile(pos, tile);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Destructible terrain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tilemap.SetTile(pos,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null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Check at position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 = tilemap.GetTile(pos);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Putting It All Together — Level Design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complete workflow for creating a professional tilemap-based level in Unity.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184400"/>
            <a:ext cx="406400" cy="406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184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0800" y="2159000"/>
            <a:ext cx="622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 assets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draw/acquire tile sprites, slice sprite sheets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768600"/>
            <a:ext cx="406400" cy="406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7686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0800" y="2743200"/>
            <a:ext cx="622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Palette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organized palettes (Terrain, Props, Nature)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352800"/>
            <a:ext cx="406400" cy="406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3528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0800" y="3327400"/>
            <a:ext cx="622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base terrain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paint ground with Rule Tiles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937000"/>
            <a:ext cx="406400" cy="406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3937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0800" y="3911600"/>
            <a:ext cx="622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detail layers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decorations on separate Tilemaps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521200"/>
            <a:ext cx="406400" cy="406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521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0800" y="4495800"/>
            <a:ext cx="622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collision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TilemapCollider2D + Composite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105400"/>
            <a:ext cx="406400" cy="406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5105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0800" y="5080000"/>
            <a:ext cx="622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animated elements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water, fire, moving parts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689600"/>
            <a:ext cx="406400" cy="406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56896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0800" y="5664200"/>
            <a:ext cx="622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Polish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adjust colors, particles, test movement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5200" y="2590800"/>
            <a:ext cx="0" cy="1778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965200" y="3175000"/>
            <a:ext cx="0" cy="1778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965200" y="3759200"/>
            <a:ext cx="0" cy="1778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965200" y="4343400"/>
            <a:ext cx="0" cy="1778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965200" y="4927600"/>
            <a:ext cx="0" cy="1778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965200" y="5511800"/>
            <a:ext cx="0" cy="1778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8382000" y="2159000"/>
            <a:ext cx="7112000" cy="1524000"/>
          </a:xfrm>
          <a:prstGeom prst="roundRect">
            <a:avLst>
              <a:gd name="adj" fmla="val 5000"/>
            </a:avLst>
          </a:prstGeom>
          <a:solidFill>
            <a:srgbClr val="D97706">
              <a:alpha val="8235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382000" y="2159000"/>
            <a:ext cx="50800" cy="1524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Shape 32"/>
          <p:cNvSpPr/>
          <p:nvPr/>
        </p:nvSpPr>
        <p:spPr>
          <a:xfrm>
            <a:off x="8616950" y="2349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9067800" y="2324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 Tip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36000" y="27305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 reusable sections as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prefabs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modular design. Build a library of room templates and corridor pieces.</a:t>
            </a:r>
            <a:endParaRPr lang="en-US" sz="1600" dirty="0"/>
          </a:p>
        </p:txBody>
      </p:sp>
      <p:pic>
        <p:nvPicPr>
          <p:cNvPr id="37" name="Image 0" descr="https://kimi-img.moonshot.cn/pub/slides/okc/6gnjpd5kb3urc/mnt/agents/output/game_programming_week7/images/4_3_934_2d_Game_Platformer_Royalty.png">    </p:cNvPr>
          <p:cNvPicPr>
            <a:picLocks noChangeAspect="1"/>
          </p:cNvPicPr>
          <p:nvPr/>
        </p:nvPicPr>
        <p:blipFill>
          <a:blip r:embed="rId1"/>
          <a:srcRect l="0" r="0" t="8661" b="8661"/>
          <a:stretch/>
        </p:blipFill>
        <p:spPr>
          <a:xfrm>
            <a:off x="8382000" y="3937000"/>
            <a:ext cx="7112000" cy="3556000"/>
          </a:xfrm>
          <a:prstGeom prst="roundRect">
            <a:avLst>
              <a:gd name="adj" fmla="val 5000"/>
            </a:avLst>
          </a:prstGeom>
        </p:spPr>
      </p:pic>
      <p:sp>
        <p:nvSpPr>
          <p:cNvPr id="38" name="Text 3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7 Summary &amp; Key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06600"/>
            <a:ext cx="71120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2133600"/>
            <a:ext cx="660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C#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store typed data with proper scope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Conditionals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(if/switch) control program flow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Loops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(for/while/foreach) repeat operations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organize code into reusable blocks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 OOP: encapsulation, inheritance, polymorphism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MonoBehaviour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lifecycle: Awake → Start → Update → Destroy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GameObject/Component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is central to Unity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58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2006600"/>
            <a:ext cx="71120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36000" y="2133600"/>
            <a:ext cx="660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Tilemaps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Grid + Tilemap + Tile structure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Tile Palette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visual painting with brush tools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Tiles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auto-select sprites via neighbor rules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Animated Tiles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dynamic visual effects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layers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professional level design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Collision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TilemapCollider2D + CompositeCollider2D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batching, chunk culling, layer optimization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01000" y="2540000"/>
            <a:ext cx="0" cy="20320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ysDot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62000" y="53975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571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841500" y="5588000"/>
            <a:ext cx="1320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week you learned: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C# programming fundamentals that power Unity game logic, and the Tilemap system for efficient 2D level creation. These skills form the foundation for building complete 2D games.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Practice Exercises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SUGGESTED EXERCISES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57400"/>
            <a:ext cx="46990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21590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0500" y="2184400"/>
            <a:ext cx="381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Player 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health, speed, and Jump() method; control it in Unity.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2057400"/>
            <a:ext cx="46990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69000" y="21590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0" y="2184400"/>
            <a:ext cx="381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machine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switch for enemy AI: Patrol, Chase, Attack states.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95000" y="2057400"/>
            <a:ext cx="46990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85500" y="21590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93500" y="218440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multi-layer Tilemap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Rule Tiles and Animated Tiles.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429000"/>
            <a:ext cx="46990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2500" y="35306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0500" y="3556000"/>
            <a:ext cx="381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pooling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projectiles fired by the player.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78500" y="3429000"/>
            <a:ext cx="46990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9000" y="35306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000" y="355600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Rule Tile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 custom property.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01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READING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461000"/>
            <a:ext cx="7112000" cy="1333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6000" y="5588000"/>
            <a:ext cx="6604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Unity Manual — Scripting API &amp; Tilemap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2D Game Kit (Unity Learn)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C# Programming Yellow Book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501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WEEK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5461000"/>
            <a:ext cx="71120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8699500" y="577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8939" y="221139"/>
                </a:moveTo>
                <a:cubicBezTo>
                  <a:pt x="408861" y="211217"/>
                  <a:pt x="408861" y="195104"/>
                  <a:pt x="398939" y="185182"/>
                </a:cubicBezTo>
                <a:lnTo>
                  <a:pt x="271939" y="58182"/>
                </a:lnTo>
                <a:cubicBezTo>
                  <a:pt x="262017" y="48260"/>
                  <a:pt x="245904" y="48260"/>
                  <a:pt x="235982" y="58182"/>
                </a:cubicBezTo>
                <a:cubicBezTo>
                  <a:pt x="226060" y="68104"/>
                  <a:pt x="226060" y="84217"/>
                  <a:pt x="235982" y="94139"/>
                </a:cubicBezTo>
                <a:lnTo>
                  <a:pt x="319643" y="177800"/>
                </a:lnTo>
                <a:lnTo>
                  <a:pt x="25400" y="177800"/>
                </a:ln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319643" y="228600"/>
                </a:lnTo>
                <a:lnTo>
                  <a:pt x="235982" y="312261"/>
                </a:lnTo>
                <a:cubicBezTo>
                  <a:pt x="226060" y="322183"/>
                  <a:pt x="226060" y="338296"/>
                  <a:pt x="235982" y="348218"/>
                </a:cubicBezTo>
                <a:cubicBezTo>
                  <a:pt x="245904" y="358140"/>
                  <a:pt x="262017" y="358140"/>
                  <a:pt x="271939" y="348218"/>
                </a:cubicBezTo>
                <a:lnTo>
                  <a:pt x="398939" y="22121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9271000" y="56896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Physics2D, Raycasting, and Player Controllers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gnjpd5kb3urc/mnt/agents/output/game_programming_week7/images/8_29_532_Black_Game_Developer_Royalty.png">    </p:cNvPr>
          <p:cNvPicPr>
            <a:picLocks noChangeAspect="1"/>
          </p:cNvPicPr>
          <p:nvPr/>
        </p:nvPicPr>
        <p:blipFill>
          <a:blip r:embed="rId1"/>
          <a:srcRect l="3185" r="3185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0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0F172A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175000"/>
            <a:ext cx="1270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800" i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best way to learn game programming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800" i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to build games. Start small, iterate often,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800" i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have fun!"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52705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5588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6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CODING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048000" y="62865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6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CREATING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18000" y="736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Programming | Week 7 | See you next lecture!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Programming — Week 7</dc:title>
  <dc:subject>Game Programming — Week 7</dc:subject>
  <dc:creator>Kimi</dc:creator>
  <cp:lastModifiedBy>Kimi</cp:lastModifiedBy>
  <cp:revision>1</cp:revision>
  <dcterms:created xsi:type="dcterms:W3CDTF">2026-05-24T16:41:36Z</dcterms:created>
  <dcterms:modified xsi:type="dcterms:W3CDTF">2026-05-24T16:41:36Z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{"Label":"Game Programming — Week 7","ContentProducer":"001191110108MACG2KBH8F10000","ProduceID":"19e5adc0-b792-81d2-8000-0000521396f6","ReservedCode1":"","ContentPropagator":"001191110108MACG2KBH8F20000","PropagateID":"19e5adc0-b792-81d2-8000-0000521396f6","ReservedCode2":""}</vt:lpwstr>
  </property>
</Properties>
</file>