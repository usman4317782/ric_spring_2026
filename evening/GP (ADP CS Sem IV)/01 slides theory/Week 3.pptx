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6256000" cy="9144000"/>
  <p:notesSz cx="9144000" cy="16256000"/>
  <p:embeddedFontLst>
    <p:embeddedFont>
      <p:font typeface="Liter" charset="-122" pitchFamily="34"/>
      <p:regular r:id="rId34"/>
    </p:embeddedFont>
    <p:embeddedFont>
      <p:font typeface="Quattrocento Sans" charset="-122" pitchFamily="34"/>
      <p:regular r:id="rId3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openxmlformats.org/officeDocument/2006/relationships/font" Target="fonts/font1.fntdata"/><Relationship Id="rId35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unity.com/download" TargetMode="External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3laoalbxzvofm/mnt/agents/output/game_programming_week3/images/8_Solar_System_animation_Download_Fre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A1A2E">
                  <a:alpha val="25000"/>
                </a:srgbClr>
              </a:gs>
              <a:gs pos="40000">
                <a:srgbClr val="1A1A2E">
                  <a:alpha val="60000"/>
                </a:srgbClr>
              </a:gs>
              <a:gs pos="100000">
                <a:srgbClr val="1A1A2E">
                  <a:alpha val="93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318000" y="2794000"/>
            <a:ext cx="762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spc="400" kern="0" dirty="0">
                <a:solidFill>
                  <a:srgbClr val="FF6B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 PROGRAMMING COURSE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175500" y="3276600"/>
            <a:ext cx="1905000" cy="381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3"/>
          <p:cNvSpPr/>
          <p:nvPr/>
        </p:nvSpPr>
        <p:spPr>
          <a:xfrm>
            <a:off x="1778000" y="35306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200" spc="400" kern="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3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3048000" y="4521200"/>
            <a:ext cx="10160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000" dirty="0">
                <a:solidFill>
                  <a:srgbClr val="F5F5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Unity Engine Fundamentals &amp; Solar System Simulation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953000" y="78740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5F5F0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Lectures 5 &amp; 6 | Spring 2026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762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300" kern="0" dirty="0">
                <a:solidFill>
                  <a:srgbClr val="4A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COURSE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11684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800" spc="200" kern="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2000" y="1930400"/>
            <a:ext cx="1016000" cy="508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25400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FF6B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905000" y="2540000"/>
            <a:ext cx="571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5: Game Engine Overview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905000" y="2971800"/>
            <a:ext cx="571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4A4A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Game engines, Unity platform, Solar System project introduction, and Unity installation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3937000"/>
            <a:ext cx="6858000" cy="12700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43180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FF6B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905000" y="4318000"/>
            <a:ext cx="571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6: Unity Development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905000" y="4749800"/>
            <a:ext cx="571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4A4A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setup, materials, lighting, scripting, prefabs, audio, and finishing the simulation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5715000"/>
            <a:ext cx="6858000" cy="12700"/>
          </a:xfrm>
          <a:prstGeom prst="rect">
            <a:avLst/>
          </a:prstGeom>
          <a:solidFill>
            <a:srgbClr val="D0D0D0"/>
          </a:solidFill>
          <a:ln/>
        </p:spPr>
      </p:sp>
      <p:pic>
        <p:nvPicPr>
          <p:cNvPr id="13" name="Image 0" descr="https://kimi-img.moonshot.cn/pub/slides/okc/3laoalbxzvofm/mnt/agents/output/game_programming_week3/images/1_Solar_System_Wallpaper_Images_Browse.png">    </p:cNvPr>
          <p:cNvPicPr>
            <a:picLocks noChangeAspect="1"/>
          </p:cNvPicPr>
          <p:nvPr/>
        </p:nvPicPr>
        <p:blipFill>
          <a:blip r:embed="rId1"/>
          <a:srcRect l="33125" r="33125" t="0" b="0"/>
          <a:stretch/>
        </p:blipFill>
        <p:spPr>
          <a:xfrm>
            <a:off x="8636000" y="762000"/>
            <a:ext cx="6858000" cy="76200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636000" y="762000"/>
            <a:ext cx="6858000" cy="7620000"/>
          </a:xfrm>
          <a:prstGeom prst="rect">
            <a:avLst/>
          </a:prstGeom>
          <a:gradFill rotWithShape="1" flip="none">
            <a:gsLst>
              <a:gs pos="0">
                <a:srgbClr val="F5F5F0"/>
              </a:gs>
              <a:gs pos="15000">
                <a:srgbClr val="F5F5F0">
                  <a:alpha val="0"/>
                </a:srgbClr>
              </a:gs>
              <a:gs pos="100000">
                <a:srgbClr val="F5F5F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15" name="Shape 12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FF6B35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3laoalbxzvofm/mnt/agents/output/game_programming_week3/images/9_Planets_Solar_System_3d_Cinematic.png">    </p:cNvPr>
          <p:cNvPicPr>
            <a:picLocks noChangeAspect="1"/>
          </p:cNvPicPr>
          <p:nvPr/>
        </p:nvPicPr>
        <p:blipFill>
          <a:blip r:embed="rId1"/>
          <a:srcRect l="3148" r="3148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A1A2E">
                  <a:alpha val="93000"/>
                </a:srgbClr>
              </a:gs>
              <a:gs pos="60000">
                <a:srgbClr val="1A1A2E">
                  <a:alpha val="80000"/>
                </a:srgbClr>
              </a:gs>
              <a:gs pos="100000">
                <a:srgbClr val="1A1A2E">
                  <a:alpha val="4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540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FF6B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016000" y="3683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400" kern="0" dirty="0">
                <a:solidFill>
                  <a:srgbClr val="F5F5F0">
                    <a:alpha val="50196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016000" y="4140200"/>
            <a:ext cx="1270000" cy="381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4"/>
          <p:cNvSpPr/>
          <p:nvPr/>
        </p:nvSpPr>
        <p:spPr>
          <a:xfrm>
            <a:off x="1016000" y="43942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800" spc="300" kern="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 ENGINE OVERVIEW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1016000" y="51562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F5F5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Solar System Project &amp; Unity Installation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4A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 PROGRAMMING — WEEK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7112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100" kern="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a Game Engine?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24000"/>
            <a:ext cx="838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game engine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 software framework that provides the core functionality needed to build video games — rendering, physics, audio, scripting, and more.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743200"/>
            <a:ext cx="4699000" cy="1651000"/>
          </a:xfrm>
          <a:prstGeom prst="roundRect">
            <a:avLst>
              <a:gd name="adj" fmla="val 8000"/>
            </a:avLst>
          </a:prstGeom>
          <a:solidFill>
            <a:srgbClr val="1A1A2E">
              <a:alpha val="5098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93775" y="2921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00025" y="22225"/>
                </a:moveTo>
                <a:cubicBezTo>
                  <a:pt x="143907" y="22225"/>
                  <a:pt x="98971" y="47784"/>
                  <a:pt x="66258" y="78204"/>
                </a:cubicBezTo>
                <a:cubicBezTo>
                  <a:pt x="33754" y="108416"/>
                  <a:pt x="12015" y="144463"/>
                  <a:pt x="1667" y="169257"/>
                </a:cubicBezTo>
                <a:cubicBezTo>
                  <a:pt x="-625" y="174744"/>
                  <a:pt x="-625" y="180856"/>
                  <a:pt x="1667" y="186343"/>
                </a:cubicBezTo>
                <a:cubicBezTo>
                  <a:pt x="12015" y="211138"/>
                  <a:pt x="33754" y="247253"/>
                  <a:pt x="66258" y="277396"/>
                </a:cubicBezTo>
                <a:cubicBezTo>
                  <a:pt x="98971" y="307747"/>
                  <a:pt x="143907" y="333375"/>
                  <a:pt x="200025" y="333375"/>
                </a:cubicBezTo>
                <a:cubicBezTo>
                  <a:pt x="256143" y="333375"/>
                  <a:pt x="301079" y="307816"/>
                  <a:pt x="333792" y="277396"/>
                </a:cubicBezTo>
                <a:cubicBezTo>
                  <a:pt x="366296" y="247184"/>
                  <a:pt x="388035" y="211138"/>
                  <a:pt x="398383" y="186343"/>
                </a:cubicBezTo>
                <a:cubicBezTo>
                  <a:pt x="400675" y="180856"/>
                  <a:pt x="400675" y="174744"/>
                  <a:pt x="398383" y="169257"/>
                </a:cubicBezTo>
                <a:cubicBezTo>
                  <a:pt x="388035" y="144462"/>
                  <a:pt x="366296" y="108347"/>
                  <a:pt x="333792" y="78204"/>
                </a:cubicBezTo>
                <a:cubicBezTo>
                  <a:pt x="301079" y="47853"/>
                  <a:pt x="256143" y="22225"/>
                  <a:pt x="200025" y="22225"/>
                </a:cubicBezTo>
                <a:close/>
                <a:moveTo>
                  <a:pt x="100013" y="177800"/>
                </a:moveTo>
                <a:cubicBezTo>
                  <a:pt x="100013" y="122602"/>
                  <a:pt x="144827" y="77788"/>
                  <a:pt x="200025" y="77788"/>
                </a:cubicBezTo>
                <a:cubicBezTo>
                  <a:pt x="255223" y="77788"/>
                  <a:pt x="300038" y="122602"/>
                  <a:pt x="300038" y="177800"/>
                </a:cubicBezTo>
                <a:cubicBezTo>
                  <a:pt x="300038" y="232998"/>
                  <a:pt x="255223" y="277813"/>
                  <a:pt x="200025" y="277813"/>
                </a:cubicBezTo>
                <a:cubicBezTo>
                  <a:pt x="144827" y="277813"/>
                  <a:pt x="100013" y="232998"/>
                  <a:pt x="100013" y="177800"/>
                </a:cubicBezTo>
                <a:close/>
                <a:moveTo>
                  <a:pt x="200025" y="133350"/>
                </a:moveTo>
                <a:cubicBezTo>
                  <a:pt x="200025" y="157867"/>
                  <a:pt x="180092" y="177800"/>
                  <a:pt x="155575" y="177800"/>
                </a:cubicBezTo>
                <a:cubicBezTo>
                  <a:pt x="147588" y="177800"/>
                  <a:pt x="140087" y="175716"/>
                  <a:pt x="133558" y="171966"/>
                </a:cubicBezTo>
                <a:cubicBezTo>
                  <a:pt x="132864" y="179536"/>
                  <a:pt x="133489" y="187315"/>
                  <a:pt x="135573" y="195024"/>
                </a:cubicBezTo>
                <a:cubicBezTo>
                  <a:pt x="145088" y="230584"/>
                  <a:pt x="181689" y="251698"/>
                  <a:pt x="217249" y="242183"/>
                </a:cubicBezTo>
                <a:cubicBezTo>
                  <a:pt x="252809" y="232668"/>
                  <a:pt x="273923" y="196066"/>
                  <a:pt x="264408" y="160506"/>
                </a:cubicBezTo>
                <a:cubicBezTo>
                  <a:pt x="255935" y="128766"/>
                  <a:pt x="225862" y="108555"/>
                  <a:pt x="194191" y="111333"/>
                </a:cubicBezTo>
                <a:cubicBezTo>
                  <a:pt x="197872" y="117793"/>
                  <a:pt x="200025" y="125293"/>
                  <a:pt x="200025" y="13335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8" name="Text 6"/>
          <p:cNvSpPr/>
          <p:nvPr/>
        </p:nvSpPr>
        <p:spPr>
          <a:xfrm>
            <a:off x="1498600" y="29210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Rendering Engine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3378200"/>
            <a:ext cx="4191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4A4A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2D/3D graphics rendering, shaders, visual effects, and scene composition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5000" y="2743200"/>
            <a:ext cx="4699000" cy="1651000"/>
          </a:xfrm>
          <a:prstGeom prst="roundRect">
            <a:avLst>
              <a:gd name="adj" fmla="val 8000"/>
            </a:avLst>
          </a:prstGeom>
          <a:solidFill>
            <a:srgbClr val="1A1A2E">
              <a:alpha val="5098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969000" y="2921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55783" y="-1736"/>
                </a:moveTo>
                <a:cubicBezTo>
                  <a:pt x="169535" y="-9654"/>
                  <a:pt x="186482" y="-9654"/>
                  <a:pt x="200233" y="-1736"/>
                </a:cubicBezTo>
                <a:lnTo>
                  <a:pt x="322401" y="68759"/>
                </a:lnTo>
                <a:cubicBezTo>
                  <a:pt x="336153" y="76676"/>
                  <a:pt x="344626" y="91400"/>
                  <a:pt x="344626" y="107236"/>
                </a:cubicBezTo>
                <a:lnTo>
                  <a:pt x="344626" y="248225"/>
                </a:lnTo>
                <a:cubicBezTo>
                  <a:pt x="344626" y="264130"/>
                  <a:pt x="336153" y="278785"/>
                  <a:pt x="322401" y="286702"/>
                </a:cubicBezTo>
                <a:lnTo>
                  <a:pt x="200233" y="357336"/>
                </a:lnTo>
                <a:cubicBezTo>
                  <a:pt x="186482" y="365254"/>
                  <a:pt x="169535" y="365254"/>
                  <a:pt x="155783" y="357336"/>
                </a:cubicBezTo>
                <a:lnTo>
                  <a:pt x="33685" y="286841"/>
                </a:lnTo>
                <a:cubicBezTo>
                  <a:pt x="19933" y="278924"/>
                  <a:pt x="11460" y="264200"/>
                  <a:pt x="11460" y="248364"/>
                </a:cubicBezTo>
                <a:lnTo>
                  <a:pt x="11460" y="107375"/>
                </a:lnTo>
                <a:cubicBezTo>
                  <a:pt x="11460" y="91470"/>
                  <a:pt x="19933" y="76815"/>
                  <a:pt x="33685" y="68898"/>
                </a:cubicBezTo>
                <a:lnTo>
                  <a:pt x="155783" y="-1736"/>
                </a:lnTo>
                <a:close/>
                <a:moveTo>
                  <a:pt x="300107" y="248295"/>
                </a:moveTo>
                <a:lnTo>
                  <a:pt x="300107" y="132933"/>
                </a:lnTo>
                <a:lnTo>
                  <a:pt x="200233" y="190579"/>
                </a:lnTo>
                <a:lnTo>
                  <a:pt x="200233" y="305941"/>
                </a:lnTo>
                <a:lnTo>
                  <a:pt x="300107" y="248295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6451600" y="29210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Physics Engine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69000" y="3378200"/>
            <a:ext cx="4191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4A4A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Collision detection, gravity simulation, rigid body dynamics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4597400"/>
            <a:ext cx="4699000" cy="1651000"/>
          </a:xfrm>
          <a:prstGeom prst="roundRect">
            <a:avLst>
              <a:gd name="adj" fmla="val 8000"/>
            </a:avLst>
          </a:prstGeom>
          <a:solidFill>
            <a:srgbClr val="1A1A2E">
              <a:alpha val="5098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16000" y="47752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25041" y="4862"/>
                </a:moveTo>
                <a:cubicBezTo>
                  <a:pt x="330319" y="9098"/>
                  <a:pt x="333375" y="15488"/>
                  <a:pt x="333375" y="22225"/>
                </a:cubicBezTo>
                <a:lnTo>
                  <a:pt x="333375" y="233363"/>
                </a:lnTo>
                <a:cubicBezTo>
                  <a:pt x="333375" y="264061"/>
                  <a:pt x="303510" y="288925"/>
                  <a:pt x="266700" y="288925"/>
                </a:cubicBezTo>
                <a:cubicBezTo>
                  <a:pt x="229890" y="288925"/>
                  <a:pt x="200025" y="264061"/>
                  <a:pt x="200025" y="233363"/>
                </a:cubicBezTo>
                <a:cubicBezTo>
                  <a:pt x="200025" y="202664"/>
                  <a:pt x="229890" y="177800"/>
                  <a:pt x="266700" y="177800"/>
                </a:cubicBezTo>
                <a:cubicBezTo>
                  <a:pt x="274479" y="177800"/>
                  <a:pt x="281980" y="178911"/>
                  <a:pt x="288925" y="180995"/>
                </a:cubicBezTo>
                <a:lnTo>
                  <a:pt x="288925" y="99943"/>
                </a:lnTo>
                <a:lnTo>
                  <a:pt x="133350" y="134531"/>
                </a:lnTo>
                <a:lnTo>
                  <a:pt x="133350" y="277813"/>
                </a:lnTo>
                <a:cubicBezTo>
                  <a:pt x="133350" y="308511"/>
                  <a:pt x="103485" y="333375"/>
                  <a:pt x="66675" y="333375"/>
                </a:cubicBezTo>
                <a:cubicBezTo>
                  <a:pt x="29865" y="333375"/>
                  <a:pt x="0" y="308511"/>
                  <a:pt x="0" y="277813"/>
                </a:cubicBezTo>
                <a:cubicBezTo>
                  <a:pt x="0" y="247114"/>
                  <a:pt x="29865" y="222250"/>
                  <a:pt x="66675" y="222250"/>
                </a:cubicBezTo>
                <a:cubicBezTo>
                  <a:pt x="74454" y="222250"/>
                  <a:pt x="81955" y="223361"/>
                  <a:pt x="88900" y="225445"/>
                </a:cubicBezTo>
                <a:lnTo>
                  <a:pt x="88900" y="66675"/>
                </a:lnTo>
                <a:cubicBezTo>
                  <a:pt x="88900" y="56257"/>
                  <a:pt x="96123" y="47228"/>
                  <a:pt x="106333" y="45006"/>
                </a:cubicBezTo>
                <a:lnTo>
                  <a:pt x="306358" y="556"/>
                </a:lnTo>
                <a:cubicBezTo>
                  <a:pt x="312956" y="-903"/>
                  <a:pt x="319832" y="695"/>
                  <a:pt x="325110" y="4931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1498600" y="47752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Audio Engine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16000" y="5232400"/>
            <a:ext cx="4191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4A4A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Sound effects, music playback, spatial 3D audio positioning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715000" y="4597400"/>
            <a:ext cx="4699000" cy="1651000"/>
          </a:xfrm>
          <a:prstGeom prst="roundRect">
            <a:avLst>
              <a:gd name="adj" fmla="val 8000"/>
            </a:avLst>
          </a:prstGeom>
          <a:solidFill>
            <a:srgbClr val="1A1A2E">
              <a:alpha val="5098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946775" y="47752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50587" y="833"/>
                </a:moveTo>
                <a:cubicBezTo>
                  <a:pt x="238780" y="-2570"/>
                  <a:pt x="226487" y="4306"/>
                  <a:pt x="223083" y="16113"/>
                </a:cubicBezTo>
                <a:lnTo>
                  <a:pt x="134183" y="327263"/>
                </a:lnTo>
                <a:cubicBezTo>
                  <a:pt x="130780" y="339070"/>
                  <a:pt x="137656" y="351363"/>
                  <a:pt x="149463" y="354767"/>
                </a:cubicBezTo>
                <a:cubicBezTo>
                  <a:pt x="161270" y="358170"/>
                  <a:pt x="173563" y="351294"/>
                  <a:pt x="176967" y="339487"/>
                </a:cubicBezTo>
                <a:lnTo>
                  <a:pt x="265867" y="28337"/>
                </a:lnTo>
                <a:cubicBezTo>
                  <a:pt x="269270" y="16530"/>
                  <a:pt x="262394" y="4237"/>
                  <a:pt x="250587" y="833"/>
                </a:cubicBezTo>
                <a:close/>
                <a:moveTo>
                  <a:pt x="295454" y="95359"/>
                </a:moveTo>
                <a:cubicBezTo>
                  <a:pt x="286772" y="104041"/>
                  <a:pt x="286772" y="118140"/>
                  <a:pt x="295454" y="126821"/>
                </a:cubicBezTo>
                <a:lnTo>
                  <a:pt x="346432" y="177800"/>
                </a:lnTo>
                <a:lnTo>
                  <a:pt x="295454" y="228779"/>
                </a:lnTo>
                <a:cubicBezTo>
                  <a:pt x="286772" y="237460"/>
                  <a:pt x="286772" y="251559"/>
                  <a:pt x="295454" y="260241"/>
                </a:cubicBezTo>
                <a:cubicBezTo>
                  <a:pt x="304135" y="268922"/>
                  <a:pt x="318234" y="268922"/>
                  <a:pt x="326916" y="260241"/>
                </a:cubicBezTo>
                <a:lnTo>
                  <a:pt x="393591" y="193566"/>
                </a:lnTo>
                <a:cubicBezTo>
                  <a:pt x="402273" y="184884"/>
                  <a:pt x="402273" y="170785"/>
                  <a:pt x="393591" y="162104"/>
                </a:cubicBezTo>
                <a:lnTo>
                  <a:pt x="326916" y="95429"/>
                </a:lnTo>
                <a:cubicBezTo>
                  <a:pt x="318234" y="86747"/>
                  <a:pt x="304135" y="86747"/>
                  <a:pt x="295454" y="95429"/>
                </a:cubicBezTo>
                <a:close/>
                <a:moveTo>
                  <a:pt x="104666" y="95359"/>
                </a:moveTo>
                <a:cubicBezTo>
                  <a:pt x="95984" y="86678"/>
                  <a:pt x="81885" y="86678"/>
                  <a:pt x="73204" y="95359"/>
                </a:cubicBezTo>
                <a:lnTo>
                  <a:pt x="6529" y="162034"/>
                </a:lnTo>
                <a:cubicBezTo>
                  <a:pt x="-2153" y="170716"/>
                  <a:pt x="-2153" y="184815"/>
                  <a:pt x="6529" y="193496"/>
                </a:cubicBezTo>
                <a:lnTo>
                  <a:pt x="73204" y="260171"/>
                </a:lnTo>
                <a:cubicBezTo>
                  <a:pt x="81885" y="268853"/>
                  <a:pt x="95984" y="268853"/>
                  <a:pt x="104666" y="260171"/>
                </a:cubicBezTo>
                <a:cubicBezTo>
                  <a:pt x="113348" y="251490"/>
                  <a:pt x="113348" y="237391"/>
                  <a:pt x="104666" y="228709"/>
                </a:cubicBezTo>
                <a:lnTo>
                  <a:pt x="53687" y="177800"/>
                </a:lnTo>
                <a:lnTo>
                  <a:pt x="104596" y="126821"/>
                </a:lnTo>
                <a:cubicBezTo>
                  <a:pt x="113278" y="118140"/>
                  <a:pt x="113278" y="104041"/>
                  <a:pt x="104596" y="95359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20" name="Text 18"/>
          <p:cNvSpPr/>
          <p:nvPr/>
        </p:nvSpPr>
        <p:spPr>
          <a:xfrm>
            <a:off x="6451600" y="47752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Scripting Engine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969000" y="5232400"/>
            <a:ext cx="4191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4A4A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Game logic, AI behaviors, event handling, custom mechanics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6451600"/>
            <a:ext cx="4699000" cy="1651000"/>
          </a:xfrm>
          <a:prstGeom prst="roundRect">
            <a:avLst>
              <a:gd name="adj" fmla="val 8000"/>
            </a:avLst>
          </a:prstGeom>
          <a:solidFill>
            <a:srgbClr val="1A1A2E">
              <a:alpha val="5098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038225" y="66294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178147" y="-22225"/>
                </a:moveTo>
                <a:cubicBezTo>
                  <a:pt x="199613" y="-22225"/>
                  <a:pt x="217041" y="-4797"/>
                  <a:pt x="217041" y="16669"/>
                </a:cubicBezTo>
                <a:cubicBezTo>
                  <a:pt x="217041" y="38135"/>
                  <a:pt x="199613" y="55563"/>
                  <a:pt x="178147" y="55563"/>
                </a:cubicBezTo>
                <a:cubicBezTo>
                  <a:pt x="156681" y="55563"/>
                  <a:pt x="139254" y="38135"/>
                  <a:pt x="139254" y="16669"/>
                </a:cubicBezTo>
                <a:cubicBezTo>
                  <a:pt x="139254" y="-4797"/>
                  <a:pt x="156681" y="-22225"/>
                  <a:pt x="178147" y="-22225"/>
                </a:cubicBezTo>
                <a:close/>
                <a:moveTo>
                  <a:pt x="85844" y="122238"/>
                </a:moveTo>
                <a:cubicBezTo>
                  <a:pt x="83552" y="122238"/>
                  <a:pt x="81538" y="123627"/>
                  <a:pt x="80705" y="125710"/>
                </a:cubicBezTo>
                <a:lnTo>
                  <a:pt x="65425" y="163840"/>
                </a:lnTo>
                <a:cubicBezTo>
                  <a:pt x="60841" y="175230"/>
                  <a:pt x="47923" y="180786"/>
                  <a:pt x="36532" y="176203"/>
                </a:cubicBezTo>
                <a:cubicBezTo>
                  <a:pt x="25142" y="171619"/>
                  <a:pt x="19586" y="158700"/>
                  <a:pt x="24170" y="147310"/>
                </a:cubicBezTo>
                <a:lnTo>
                  <a:pt x="39380" y="109180"/>
                </a:lnTo>
                <a:cubicBezTo>
                  <a:pt x="47020" y="90220"/>
                  <a:pt x="65355" y="77788"/>
                  <a:pt x="85844" y="77788"/>
                </a:cubicBezTo>
                <a:lnTo>
                  <a:pt x="153422" y="77788"/>
                </a:lnTo>
                <a:cubicBezTo>
                  <a:pt x="173216" y="77788"/>
                  <a:pt x="191482" y="88275"/>
                  <a:pt x="201414" y="105360"/>
                </a:cubicBezTo>
                <a:lnTo>
                  <a:pt x="224195" y="144463"/>
                </a:lnTo>
                <a:lnTo>
                  <a:pt x="266978" y="144463"/>
                </a:lnTo>
                <a:cubicBezTo>
                  <a:pt x="279271" y="144463"/>
                  <a:pt x="289203" y="154394"/>
                  <a:pt x="289203" y="166688"/>
                </a:cubicBezTo>
                <a:cubicBezTo>
                  <a:pt x="289203" y="178981"/>
                  <a:pt x="279271" y="188913"/>
                  <a:pt x="266978" y="188913"/>
                </a:cubicBezTo>
                <a:lnTo>
                  <a:pt x="224195" y="188913"/>
                </a:lnTo>
                <a:cubicBezTo>
                  <a:pt x="208359" y="188913"/>
                  <a:pt x="193774" y="180509"/>
                  <a:pt x="185787" y="166826"/>
                </a:cubicBezTo>
                <a:lnTo>
                  <a:pt x="178842" y="154950"/>
                </a:lnTo>
                <a:lnTo>
                  <a:pt x="164465" y="203845"/>
                </a:lnTo>
                <a:lnTo>
                  <a:pt x="216833" y="219541"/>
                </a:lnTo>
                <a:cubicBezTo>
                  <a:pt x="236071" y="225306"/>
                  <a:pt x="245864" y="246628"/>
                  <a:pt x="237738" y="265033"/>
                </a:cubicBezTo>
                <a:lnTo>
                  <a:pt x="198428" y="353516"/>
                </a:lnTo>
                <a:cubicBezTo>
                  <a:pt x="193427" y="364768"/>
                  <a:pt x="180300" y="369768"/>
                  <a:pt x="169118" y="364768"/>
                </a:cubicBezTo>
                <a:cubicBezTo>
                  <a:pt x="157936" y="359767"/>
                  <a:pt x="152866" y="346641"/>
                  <a:pt x="157867" y="335459"/>
                </a:cubicBezTo>
                <a:lnTo>
                  <a:pt x="192038" y="258505"/>
                </a:lnTo>
                <a:lnTo>
                  <a:pt x="125432" y="238502"/>
                </a:lnTo>
                <a:cubicBezTo>
                  <a:pt x="102721" y="231696"/>
                  <a:pt x="89317" y="208151"/>
                  <a:pt x="95081" y="185162"/>
                </a:cubicBezTo>
                <a:lnTo>
                  <a:pt x="110847" y="122238"/>
                </a:lnTo>
                <a:lnTo>
                  <a:pt x="85914" y="122238"/>
                </a:lnTo>
                <a:close/>
                <a:moveTo>
                  <a:pt x="80288" y="247948"/>
                </a:moveTo>
                <a:cubicBezTo>
                  <a:pt x="89525" y="258296"/>
                  <a:pt x="101610" y="266214"/>
                  <a:pt x="115848" y="270450"/>
                </a:cubicBezTo>
                <a:lnTo>
                  <a:pt x="119112" y="271423"/>
                </a:lnTo>
                <a:lnTo>
                  <a:pt x="114320" y="284827"/>
                </a:lnTo>
                <a:cubicBezTo>
                  <a:pt x="110292" y="296148"/>
                  <a:pt x="103207" y="306219"/>
                  <a:pt x="93970" y="313859"/>
                </a:cubicBezTo>
                <a:lnTo>
                  <a:pt x="36741" y="361017"/>
                </a:lnTo>
                <a:cubicBezTo>
                  <a:pt x="27295" y="368796"/>
                  <a:pt x="13266" y="367476"/>
                  <a:pt x="5487" y="358031"/>
                </a:cubicBezTo>
                <a:cubicBezTo>
                  <a:pt x="-2292" y="348585"/>
                  <a:pt x="-972" y="334556"/>
                  <a:pt x="8473" y="326777"/>
                </a:cubicBezTo>
                <a:lnTo>
                  <a:pt x="65703" y="279618"/>
                </a:lnTo>
                <a:cubicBezTo>
                  <a:pt x="68828" y="277049"/>
                  <a:pt x="71120" y="273715"/>
                  <a:pt x="72509" y="269964"/>
                </a:cubicBezTo>
                <a:lnTo>
                  <a:pt x="80288" y="247948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24" name="Text 22"/>
          <p:cNvSpPr/>
          <p:nvPr/>
        </p:nvSpPr>
        <p:spPr>
          <a:xfrm>
            <a:off x="1498600" y="66294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Animation System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16000" y="7086600"/>
            <a:ext cx="4191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4A4A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Skeletal animation, tweening, state machines, blending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715000" y="6451600"/>
            <a:ext cx="4699000" cy="1651000"/>
          </a:xfrm>
          <a:prstGeom prst="roundRect">
            <a:avLst>
              <a:gd name="adj" fmla="val 8000"/>
            </a:avLst>
          </a:prstGeom>
          <a:solidFill>
            <a:srgbClr val="1A1A2E">
              <a:alpha val="5098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946775" y="66294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38894" y="156686"/>
                </a:moveTo>
                <a:lnTo>
                  <a:pt x="22503" y="205720"/>
                </a:lnTo>
                <a:lnTo>
                  <a:pt x="22503" y="66675"/>
                </a:lnTo>
                <a:cubicBezTo>
                  <a:pt x="22503" y="42158"/>
                  <a:pt x="42436" y="22225"/>
                  <a:pt x="66953" y="22225"/>
                </a:cubicBezTo>
                <a:lnTo>
                  <a:pt x="163284" y="22225"/>
                </a:lnTo>
                <a:cubicBezTo>
                  <a:pt x="172869" y="22225"/>
                  <a:pt x="182245" y="25350"/>
                  <a:pt x="189954" y="31115"/>
                </a:cubicBezTo>
                <a:lnTo>
                  <a:pt x="216624" y="51117"/>
                </a:lnTo>
                <a:cubicBezTo>
                  <a:pt x="220444" y="54035"/>
                  <a:pt x="225167" y="55563"/>
                  <a:pt x="229959" y="55563"/>
                </a:cubicBezTo>
                <a:lnTo>
                  <a:pt x="311428" y="55563"/>
                </a:lnTo>
                <a:cubicBezTo>
                  <a:pt x="335945" y="55563"/>
                  <a:pt x="355878" y="75496"/>
                  <a:pt x="355878" y="100013"/>
                </a:cubicBezTo>
                <a:lnTo>
                  <a:pt x="355878" y="111125"/>
                </a:lnTo>
                <a:lnTo>
                  <a:pt x="102096" y="111125"/>
                </a:lnTo>
                <a:cubicBezTo>
                  <a:pt x="73412" y="111125"/>
                  <a:pt x="47923" y="129461"/>
                  <a:pt x="38824" y="156686"/>
                </a:cubicBezTo>
                <a:close/>
                <a:moveTo>
                  <a:pt x="331847" y="311150"/>
                </a:moveTo>
                <a:lnTo>
                  <a:pt x="68759" y="311150"/>
                </a:lnTo>
                <a:cubicBezTo>
                  <a:pt x="45978" y="311150"/>
                  <a:pt x="29934" y="288856"/>
                  <a:pt x="37157" y="267256"/>
                </a:cubicBezTo>
                <a:lnTo>
                  <a:pt x="70495" y="167243"/>
                </a:lnTo>
                <a:cubicBezTo>
                  <a:pt x="75009" y="153630"/>
                  <a:pt x="87789" y="144463"/>
                  <a:pt x="102096" y="144463"/>
                </a:cubicBezTo>
                <a:lnTo>
                  <a:pt x="365185" y="144463"/>
                </a:lnTo>
                <a:cubicBezTo>
                  <a:pt x="387965" y="144463"/>
                  <a:pt x="404009" y="166757"/>
                  <a:pt x="396786" y="188357"/>
                </a:cubicBezTo>
                <a:lnTo>
                  <a:pt x="363448" y="288369"/>
                </a:lnTo>
                <a:cubicBezTo>
                  <a:pt x="358934" y="301982"/>
                  <a:pt x="346154" y="311150"/>
                  <a:pt x="331847" y="31115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28" name="Text 26"/>
          <p:cNvSpPr/>
          <p:nvPr/>
        </p:nvSpPr>
        <p:spPr>
          <a:xfrm>
            <a:off x="6451600" y="66294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Asset Management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969000" y="7086600"/>
            <a:ext cx="4191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4A4A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Importing, organizing, and loading textures, models, audio</a:t>
            </a:r>
            <a:endParaRPr lang="en-US" sz="1600" dirty="0"/>
          </a:p>
        </p:txBody>
      </p:sp>
      <p:pic>
        <p:nvPicPr>
          <p:cNvPr id="30" name="Image 0" descr="https://kimi-img.moonshot.cn/pub/slides/okc/3laoalbxzvofm/mnt/agents/output/game_programming_week3/images/4_Dark_coding_aesthetic_Images_Free.png">    </p:cNvPr>
          <p:cNvPicPr>
            <a:picLocks noChangeAspect="1"/>
          </p:cNvPicPr>
          <p:nvPr/>
        </p:nvPicPr>
        <p:blipFill>
          <a:blip r:embed="rId1"/>
          <a:srcRect l="30465" r="30465" t="0" b="0"/>
          <a:stretch/>
        </p:blipFill>
        <p:spPr>
          <a:xfrm>
            <a:off x="10922000" y="1524000"/>
            <a:ext cx="4572000" cy="6578600"/>
          </a:xfrm>
          <a:prstGeom prst="roundRect">
            <a:avLst>
              <a:gd name="adj" fmla="val 8000"/>
            </a:avLst>
          </a:prstGeom>
        </p:spPr>
      </p:pic>
      <p:sp>
        <p:nvSpPr>
          <p:cNvPr id="31" name="Shape 28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2" name="Text 29"/>
          <p:cNvSpPr/>
          <p:nvPr/>
        </p:nvSpPr>
        <p:spPr>
          <a:xfrm>
            <a:off x="14732000" y="87884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4A4A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4A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 PROGRAMMING — WEEK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7112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100" kern="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Popular Game Engines Comparison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FF6B35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574800"/>
          <a:ext cx="14732000" cy="6731000"/>
        </p:xfrm>
        <a:graphic>
          <a:graphicData uri="http://schemas.openxmlformats.org/drawingml/2006/table">
            <a:tbl>
              <a:tblPr/>
              <a:tblGrid>
                <a:gridCol w="2651760"/>
                <a:gridCol w="3241040"/>
                <a:gridCol w="3241040"/>
                <a:gridCol w="2946400"/>
                <a:gridCol w="2651760"/>
              </a:tblGrid>
              <a:tr h="809744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5F5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Feature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5F5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Unity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5F5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Unreal Engine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5F5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Godot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5F5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GameMaker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148031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Language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C#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C++, Blueprints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GDScript, C#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GML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</a:tr>
              <a:tr h="148031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Dimensions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2D &amp; 3D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2D &amp; 3D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2D &amp; 3D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2D primary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5"/>
                    </a:solidFill>
                  </a:tcPr>
                </a:tc>
              </a:tr>
              <a:tr h="148031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Best For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Cross-platform, mobile, indie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AAA, high-fidelity graphics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Open-source, lightweight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2D games, beginners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</a:tr>
              <a:tr h="148031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License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Free (Personal)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Free (5% royalty)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MIT (Free)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Free / Paid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5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62000" y="8382000"/>
            <a:ext cx="1016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4A4A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engine has strengths for different project types, team sizes, and target platforms.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Text 5"/>
          <p:cNvSpPr/>
          <p:nvPr/>
        </p:nvSpPr>
        <p:spPr>
          <a:xfrm>
            <a:off x="14732000" y="87884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4A4A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4A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 PROGRAMMING — WEEK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7112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100" kern="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Unity Engine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74800"/>
            <a:ext cx="7620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Unity is 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cross-platform game engine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developed by Unity Technologies. First released in 2005, it has become one of the most widely used engines for indie and mobile game development.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Unity uses a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FF6B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component-based architecture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where GameObjects with Components are assembled to create game worlds.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4318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4826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92033" y="152797"/>
                </a:moveTo>
                <a:lnTo>
                  <a:pt x="87858" y="152797"/>
                </a:lnTo>
                <a:cubicBezTo>
                  <a:pt x="89441" y="187995"/>
                  <a:pt x="97244" y="220409"/>
                  <a:pt x="108322" y="244148"/>
                </a:cubicBezTo>
                <a:cubicBezTo>
                  <a:pt x="114543" y="257517"/>
                  <a:pt x="121255" y="266958"/>
                  <a:pt x="127476" y="272742"/>
                </a:cubicBezTo>
                <a:cubicBezTo>
                  <a:pt x="133588" y="278472"/>
                  <a:pt x="137790" y="279400"/>
                  <a:pt x="139973" y="279400"/>
                </a:cubicBezTo>
                <a:cubicBezTo>
                  <a:pt x="142156" y="279400"/>
                  <a:pt x="146358" y="278472"/>
                  <a:pt x="152469" y="272742"/>
                </a:cubicBezTo>
                <a:cubicBezTo>
                  <a:pt x="158690" y="266958"/>
                  <a:pt x="165403" y="257463"/>
                  <a:pt x="171624" y="244148"/>
                </a:cubicBezTo>
                <a:cubicBezTo>
                  <a:pt x="182701" y="220409"/>
                  <a:pt x="190505" y="187995"/>
                  <a:pt x="192087" y="152797"/>
                </a:cubicBezTo>
                <a:close/>
                <a:moveTo>
                  <a:pt x="87804" y="126603"/>
                </a:moveTo>
                <a:lnTo>
                  <a:pt x="191978" y="126603"/>
                </a:lnTo>
                <a:cubicBezTo>
                  <a:pt x="190450" y="91405"/>
                  <a:pt x="182647" y="58991"/>
                  <a:pt x="171569" y="35252"/>
                </a:cubicBezTo>
                <a:cubicBezTo>
                  <a:pt x="165348" y="21937"/>
                  <a:pt x="158636" y="12442"/>
                  <a:pt x="152415" y="6658"/>
                </a:cubicBezTo>
                <a:cubicBezTo>
                  <a:pt x="146303" y="928"/>
                  <a:pt x="142101" y="0"/>
                  <a:pt x="139918" y="0"/>
                </a:cubicBezTo>
                <a:cubicBezTo>
                  <a:pt x="137735" y="0"/>
                  <a:pt x="133534" y="928"/>
                  <a:pt x="127422" y="6658"/>
                </a:cubicBezTo>
                <a:cubicBezTo>
                  <a:pt x="121201" y="12442"/>
                  <a:pt x="114489" y="21937"/>
                  <a:pt x="108267" y="35252"/>
                </a:cubicBezTo>
                <a:cubicBezTo>
                  <a:pt x="97190" y="58991"/>
                  <a:pt x="89386" y="91405"/>
                  <a:pt x="87804" y="126603"/>
                </a:cubicBezTo>
                <a:close/>
                <a:moveTo>
                  <a:pt x="61610" y="126603"/>
                </a:moveTo>
                <a:cubicBezTo>
                  <a:pt x="63520" y="79891"/>
                  <a:pt x="75580" y="36508"/>
                  <a:pt x="93206" y="8022"/>
                </a:cubicBezTo>
                <a:cubicBezTo>
                  <a:pt x="42947" y="25812"/>
                  <a:pt x="5948" y="71596"/>
                  <a:pt x="819" y="126603"/>
                </a:cubicBezTo>
                <a:lnTo>
                  <a:pt x="61610" y="126603"/>
                </a:lnTo>
                <a:close/>
                <a:moveTo>
                  <a:pt x="819" y="152797"/>
                </a:moveTo>
                <a:cubicBezTo>
                  <a:pt x="5948" y="207804"/>
                  <a:pt x="42947" y="253588"/>
                  <a:pt x="93206" y="271378"/>
                </a:cubicBezTo>
                <a:cubicBezTo>
                  <a:pt x="75580" y="242892"/>
                  <a:pt x="63520" y="199509"/>
                  <a:pt x="61610" y="152797"/>
                </a:cubicBezTo>
                <a:lnTo>
                  <a:pt x="819" y="152797"/>
                </a:lnTo>
                <a:close/>
                <a:moveTo>
                  <a:pt x="218227" y="152797"/>
                </a:moveTo>
                <a:cubicBezTo>
                  <a:pt x="216317" y="199509"/>
                  <a:pt x="204257" y="242892"/>
                  <a:pt x="186630" y="271378"/>
                </a:cubicBezTo>
                <a:cubicBezTo>
                  <a:pt x="236890" y="253534"/>
                  <a:pt x="273888" y="207804"/>
                  <a:pt x="279018" y="152797"/>
                </a:cubicBezTo>
                <a:lnTo>
                  <a:pt x="218227" y="152797"/>
                </a:lnTo>
                <a:close/>
                <a:moveTo>
                  <a:pt x="279018" y="126603"/>
                </a:moveTo>
                <a:cubicBezTo>
                  <a:pt x="273888" y="71596"/>
                  <a:pt x="236890" y="25812"/>
                  <a:pt x="186630" y="8022"/>
                </a:cubicBezTo>
                <a:cubicBezTo>
                  <a:pt x="204257" y="36508"/>
                  <a:pt x="216317" y="79891"/>
                  <a:pt x="218227" y="126603"/>
                </a:cubicBezTo>
                <a:lnTo>
                  <a:pt x="279018" y="126603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8" name="Text 6"/>
          <p:cNvSpPr/>
          <p:nvPr/>
        </p:nvSpPr>
        <p:spPr>
          <a:xfrm>
            <a:off x="1168400" y="4800600"/>
            <a:ext cx="330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Cross-platform (25+ platforms)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55118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54980" y="-709"/>
                </a:moveTo>
                <a:cubicBezTo>
                  <a:pt x="145539" y="-6166"/>
                  <a:pt x="133861" y="-6166"/>
                  <a:pt x="124420" y="-709"/>
                </a:cubicBezTo>
                <a:lnTo>
                  <a:pt x="78472" y="25812"/>
                </a:lnTo>
                <a:cubicBezTo>
                  <a:pt x="69031" y="31269"/>
                  <a:pt x="63192" y="41364"/>
                  <a:pt x="63192" y="52278"/>
                </a:cubicBezTo>
                <a:lnTo>
                  <a:pt x="63192" y="107886"/>
                </a:lnTo>
                <a:lnTo>
                  <a:pt x="15007" y="135716"/>
                </a:lnTo>
                <a:cubicBezTo>
                  <a:pt x="5566" y="141173"/>
                  <a:pt x="-273" y="151269"/>
                  <a:pt x="-273" y="162183"/>
                </a:cubicBezTo>
                <a:lnTo>
                  <a:pt x="-273" y="215280"/>
                </a:lnTo>
                <a:cubicBezTo>
                  <a:pt x="-273" y="226194"/>
                  <a:pt x="5566" y="236289"/>
                  <a:pt x="15007" y="241746"/>
                </a:cubicBezTo>
                <a:lnTo>
                  <a:pt x="61010" y="268268"/>
                </a:lnTo>
                <a:cubicBezTo>
                  <a:pt x="70450" y="273725"/>
                  <a:pt x="82128" y="273725"/>
                  <a:pt x="91569" y="268268"/>
                </a:cubicBezTo>
                <a:lnTo>
                  <a:pt x="139755" y="240437"/>
                </a:lnTo>
                <a:lnTo>
                  <a:pt x="187940" y="268268"/>
                </a:lnTo>
                <a:cubicBezTo>
                  <a:pt x="197381" y="273725"/>
                  <a:pt x="209059" y="273725"/>
                  <a:pt x="218500" y="268268"/>
                </a:cubicBezTo>
                <a:lnTo>
                  <a:pt x="264393" y="241746"/>
                </a:lnTo>
                <a:cubicBezTo>
                  <a:pt x="273834" y="236289"/>
                  <a:pt x="279673" y="226194"/>
                  <a:pt x="279673" y="215280"/>
                </a:cubicBezTo>
                <a:lnTo>
                  <a:pt x="279673" y="162183"/>
                </a:lnTo>
                <a:cubicBezTo>
                  <a:pt x="279673" y="151269"/>
                  <a:pt x="273834" y="141173"/>
                  <a:pt x="264393" y="135716"/>
                </a:cubicBezTo>
                <a:lnTo>
                  <a:pt x="216208" y="107886"/>
                </a:lnTo>
                <a:lnTo>
                  <a:pt x="216208" y="52278"/>
                </a:lnTo>
                <a:cubicBezTo>
                  <a:pt x="216208" y="41364"/>
                  <a:pt x="210369" y="31269"/>
                  <a:pt x="200928" y="25812"/>
                </a:cubicBezTo>
                <a:lnTo>
                  <a:pt x="154980" y="-709"/>
                </a:lnTo>
                <a:close/>
                <a:moveTo>
                  <a:pt x="126603" y="159673"/>
                </a:moveTo>
                <a:lnTo>
                  <a:pt x="126603" y="217790"/>
                </a:lnTo>
                <a:lnTo>
                  <a:pt x="78418" y="245621"/>
                </a:lnTo>
                <a:cubicBezTo>
                  <a:pt x="77763" y="246003"/>
                  <a:pt x="76999" y="246221"/>
                  <a:pt x="76235" y="246221"/>
                </a:cubicBezTo>
                <a:lnTo>
                  <a:pt x="76235" y="188759"/>
                </a:lnTo>
                <a:lnTo>
                  <a:pt x="126603" y="159673"/>
                </a:lnTo>
                <a:close/>
                <a:moveTo>
                  <a:pt x="252879" y="160000"/>
                </a:moveTo>
                <a:cubicBezTo>
                  <a:pt x="253261" y="160655"/>
                  <a:pt x="253479" y="161419"/>
                  <a:pt x="253479" y="162183"/>
                </a:cubicBezTo>
                <a:lnTo>
                  <a:pt x="253479" y="215280"/>
                </a:lnTo>
                <a:cubicBezTo>
                  <a:pt x="253479" y="216862"/>
                  <a:pt x="252661" y="218281"/>
                  <a:pt x="251296" y="219045"/>
                </a:cubicBezTo>
                <a:lnTo>
                  <a:pt x="205294" y="245566"/>
                </a:lnTo>
                <a:cubicBezTo>
                  <a:pt x="204639" y="245948"/>
                  <a:pt x="203875" y="246167"/>
                  <a:pt x="203111" y="246167"/>
                </a:cubicBezTo>
                <a:lnTo>
                  <a:pt x="203111" y="188704"/>
                </a:lnTo>
                <a:lnTo>
                  <a:pt x="252879" y="160000"/>
                </a:lnTo>
                <a:close/>
                <a:moveTo>
                  <a:pt x="190068" y="52278"/>
                </a:moveTo>
                <a:lnTo>
                  <a:pt x="190068" y="107886"/>
                </a:lnTo>
                <a:lnTo>
                  <a:pt x="139700" y="136971"/>
                </a:lnTo>
                <a:lnTo>
                  <a:pt x="139700" y="78854"/>
                </a:lnTo>
                <a:lnTo>
                  <a:pt x="189468" y="50150"/>
                </a:lnTo>
                <a:cubicBezTo>
                  <a:pt x="189850" y="50805"/>
                  <a:pt x="190068" y="51569"/>
                  <a:pt x="190068" y="52333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10" name="Text 8"/>
          <p:cNvSpPr/>
          <p:nvPr/>
        </p:nvSpPr>
        <p:spPr>
          <a:xfrm>
            <a:off x="1168400" y="5486400"/>
            <a:ext cx="330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 Editor + Real-time preview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44538" y="6197600"/>
            <a:ext cx="314325" cy="279400"/>
          </a:xfrm>
          <a:custGeom>
            <a:avLst/>
            <a:gdLst/>
            <a:ahLst/>
            <a:cxnLst/>
            <a:rect l="l" t="t" r="r" b="b"/>
            <a:pathLst>
              <a:path w="314325" h="279400">
                <a:moveTo>
                  <a:pt x="196890" y="655"/>
                </a:moveTo>
                <a:cubicBezTo>
                  <a:pt x="187613" y="-2019"/>
                  <a:pt x="177954" y="3383"/>
                  <a:pt x="175280" y="12660"/>
                </a:cubicBezTo>
                <a:lnTo>
                  <a:pt x="105430" y="257135"/>
                </a:lnTo>
                <a:cubicBezTo>
                  <a:pt x="102756" y="266412"/>
                  <a:pt x="108158" y="276071"/>
                  <a:pt x="117435" y="278745"/>
                </a:cubicBezTo>
                <a:cubicBezTo>
                  <a:pt x="126712" y="281419"/>
                  <a:pt x="136371" y="276017"/>
                  <a:pt x="139045" y="266740"/>
                </a:cubicBezTo>
                <a:lnTo>
                  <a:pt x="208895" y="22265"/>
                </a:lnTo>
                <a:cubicBezTo>
                  <a:pt x="211569" y="12988"/>
                  <a:pt x="206167" y="3329"/>
                  <a:pt x="196890" y="655"/>
                </a:cubicBezTo>
                <a:close/>
                <a:moveTo>
                  <a:pt x="232142" y="74925"/>
                </a:moveTo>
                <a:cubicBezTo>
                  <a:pt x="225321" y="81746"/>
                  <a:pt x="225321" y="92824"/>
                  <a:pt x="232142" y="99645"/>
                </a:cubicBezTo>
                <a:lnTo>
                  <a:pt x="272197" y="139700"/>
                </a:lnTo>
                <a:lnTo>
                  <a:pt x="232142" y="179755"/>
                </a:lnTo>
                <a:cubicBezTo>
                  <a:pt x="225321" y="186576"/>
                  <a:pt x="225321" y="197654"/>
                  <a:pt x="232142" y="204475"/>
                </a:cubicBezTo>
                <a:cubicBezTo>
                  <a:pt x="238963" y="211296"/>
                  <a:pt x="250041" y="211296"/>
                  <a:pt x="256862" y="204475"/>
                </a:cubicBezTo>
                <a:lnTo>
                  <a:pt x="309250" y="152087"/>
                </a:lnTo>
                <a:cubicBezTo>
                  <a:pt x="316071" y="145266"/>
                  <a:pt x="316071" y="134188"/>
                  <a:pt x="309250" y="127367"/>
                </a:cubicBezTo>
                <a:lnTo>
                  <a:pt x="256862" y="74980"/>
                </a:lnTo>
                <a:cubicBezTo>
                  <a:pt x="250041" y="68158"/>
                  <a:pt x="238963" y="68158"/>
                  <a:pt x="232142" y="74980"/>
                </a:cubicBezTo>
                <a:close/>
                <a:moveTo>
                  <a:pt x="82237" y="74925"/>
                </a:moveTo>
                <a:cubicBezTo>
                  <a:pt x="75416" y="68104"/>
                  <a:pt x="64338" y="68104"/>
                  <a:pt x="57517" y="74925"/>
                </a:cubicBezTo>
                <a:lnTo>
                  <a:pt x="5130" y="127313"/>
                </a:lnTo>
                <a:cubicBezTo>
                  <a:pt x="-1692" y="134134"/>
                  <a:pt x="-1692" y="145212"/>
                  <a:pt x="5130" y="152033"/>
                </a:cubicBezTo>
                <a:lnTo>
                  <a:pt x="57517" y="204420"/>
                </a:lnTo>
                <a:cubicBezTo>
                  <a:pt x="64338" y="211242"/>
                  <a:pt x="75416" y="211242"/>
                  <a:pt x="82237" y="204420"/>
                </a:cubicBezTo>
                <a:cubicBezTo>
                  <a:pt x="89059" y="197599"/>
                  <a:pt x="89059" y="186521"/>
                  <a:pt x="82237" y="179700"/>
                </a:cubicBezTo>
                <a:lnTo>
                  <a:pt x="42183" y="139700"/>
                </a:lnTo>
                <a:lnTo>
                  <a:pt x="82183" y="99645"/>
                </a:lnTo>
                <a:cubicBezTo>
                  <a:pt x="89004" y="92824"/>
                  <a:pt x="89004" y="81746"/>
                  <a:pt x="82183" y="74925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1168400" y="6172200"/>
            <a:ext cx="330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C# scripting language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843463" y="48260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184884" y="-5402"/>
                </a:moveTo>
                <a:cubicBezTo>
                  <a:pt x="191378" y="-709"/>
                  <a:pt x="193779" y="7804"/>
                  <a:pt x="190832" y="15225"/>
                </a:cubicBezTo>
                <a:lnTo>
                  <a:pt x="148049" y="122238"/>
                </a:lnTo>
                <a:lnTo>
                  <a:pt x="227013" y="122238"/>
                </a:lnTo>
                <a:cubicBezTo>
                  <a:pt x="234379" y="122238"/>
                  <a:pt x="240928" y="126821"/>
                  <a:pt x="243438" y="133752"/>
                </a:cubicBezTo>
                <a:cubicBezTo>
                  <a:pt x="245948" y="140682"/>
                  <a:pt x="243820" y="148431"/>
                  <a:pt x="238199" y="153124"/>
                </a:cubicBezTo>
                <a:lnTo>
                  <a:pt x="81037" y="284093"/>
                </a:lnTo>
                <a:cubicBezTo>
                  <a:pt x="74870" y="289223"/>
                  <a:pt x="66085" y="289496"/>
                  <a:pt x="59591" y="284802"/>
                </a:cubicBezTo>
                <a:cubicBezTo>
                  <a:pt x="53097" y="280109"/>
                  <a:pt x="50696" y="271596"/>
                  <a:pt x="53643" y="264175"/>
                </a:cubicBezTo>
                <a:lnTo>
                  <a:pt x="96426" y="157163"/>
                </a:lnTo>
                <a:lnTo>
                  <a:pt x="17463" y="157163"/>
                </a:lnTo>
                <a:cubicBezTo>
                  <a:pt x="10096" y="157163"/>
                  <a:pt x="3547" y="152579"/>
                  <a:pt x="1037" y="145648"/>
                </a:cubicBezTo>
                <a:cubicBezTo>
                  <a:pt x="-1473" y="138718"/>
                  <a:pt x="655" y="130969"/>
                  <a:pt x="6276" y="126276"/>
                </a:cubicBezTo>
                <a:lnTo>
                  <a:pt x="163438" y="-4693"/>
                </a:lnTo>
                <a:cubicBezTo>
                  <a:pt x="169605" y="-9823"/>
                  <a:pt x="178390" y="-10096"/>
                  <a:pt x="184884" y="-5402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14" name="Text 12"/>
          <p:cNvSpPr/>
          <p:nvPr/>
        </p:nvSpPr>
        <p:spPr>
          <a:xfrm>
            <a:off x="5232400" y="4800600"/>
            <a:ext cx="330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Built-in physics (NVIDIA PhysX)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826000" y="55118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6753" y="39454"/>
                </a:moveTo>
                <a:cubicBezTo>
                  <a:pt x="20518" y="26412"/>
                  <a:pt x="32469" y="17463"/>
                  <a:pt x="46057" y="17463"/>
                </a:cubicBezTo>
                <a:lnTo>
                  <a:pt x="233779" y="17463"/>
                </a:lnTo>
                <a:cubicBezTo>
                  <a:pt x="247367" y="17463"/>
                  <a:pt x="259318" y="26412"/>
                  <a:pt x="263138" y="39454"/>
                </a:cubicBezTo>
                <a:lnTo>
                  <a:pt x="275908" y="83220"/>
                </a:lnTo>
                <a:cubicBezTo>
                  <a:pt x="282892" y="107067"/>
                  <a:pt x="264939" y="130969"/>
                  <a:pt x="240109" y="130969"/>
                </a:cubicBezTo>
                <a:cubicBezTo>
                  <a:pt x="225757" y="130969"/>
                  <a:pt x="213152" y="122838"/>
                  <a:pt x="206931" y="110723"/>
                </a:cubicBezTo>
                <a:cubicBezTo>
                  <a:pt x="200600" y="122674"/>
                  <a:pt x="188049" y="130969"/>
                  <a:pt x="173424" y="130969"/>
                </a:cubicBezTo>
                <a:cubicBezTo>
                  <a:pt x="158909" y="130969"/>
                  <a:pt x="146303" y="122783"/>
                  <a:pt x="139973" y="110778"/>
                </a:cubicBezTo>
                <a:cubicBezTo>
                  <a:pt x="133643" y="122783"/>
                  <a:pt x="121037" y="130969"/>
                  <a:pt x="106521" y="130969"/>
                </a:cubicBezTo>
                <a:cubicBezTo>
                  <a:pt x="91896" y="130969"/>
                  <a:pt x="79345" y="122729"/>
                  <a:pt x="73015" y="110723"/>
                </a:cubicBezTo>
                <a:cubicBezTo>
                  <a:pt x="66794" y="122783"/>
                  <a:pt x="54188" y="130969"/>
                  <a:pt x="39836" y="130969"/>
                </a:cubicBezTo>
                <a:cubicBezTo>
                  <a:pt x="14952" y="130969"/>
                  <a:pt x="-2947" y="107122"/>
                  <a:pt x="4038" y="83220"/>
                </a:cubicBezTo>
                <a:lnTo>
                  <a:pt x="16753" y="39454"/>
                </a:lnTo>
                <a:close/>
                <a:moveTo>
                  <a:pt x="52606" y="192088"/>
                </a:moveTo>
                <a:lnTo>
                  <a:pt x="227231" y="192088"/>
                </a:lnTo>
                <a:lnTo>
                  <a:pt x="227231" y="155853"/>
                </a:lnTo>
                <a:cubicBezTo>
                  <a:pt x="231378" y="156726"/>
                  <a:pt x="235689" y="157163"/>
                  <a:pt x="240055" y="157163"/>
                </a:cubicBezTo>
                <a:cubicBezTo>
                  <a:pt x="247858" y="157163"/>
                  <a:pt x="255334" y="155744"/>
                  <a:pt x="262156" y="153233"/>
                </a:cubicBezTo>
                <a:lnTo>
                  <a:pt x="262156" y="235744"/>
                </a:lnTo>
                <a:cubicBezTo>
                  <a:pt x="262156" y="250205"/>
                  <a:pt x="250423" y="261938"/>
                  <a:pt x="235962" y="261938"/>
                </a:cubicBezTo>
                <a:lnTo>
                  <a:pt x="43875" y="261938"/>
                </a:lnTo>
                <a:cubicBezTo>
                  <a:pt x="29413" y="261938"/>
                  <a:pt x="17681" y="250205"/>
                  <a:pt x="17681" y="235744"/>
                </a:cubicBezTo>
                <a:lnTo>
                  <a:pt x="17681" y="153233"/>
                </a:lnTo>
                <a:cubicBezTo>
                  <a:pt x="24502" y="155744"/>
                  <a:pt x="31924" y="157163"/>
                  <a:pt x="39782" y="157163"/>
                </a:cubicBezTo>
                <a:cubicBezTo>
                  <a:pt x="44202" y="157163"/>
                  <a:pt x="48458" y="156726"/>
                  <a:pt x="52606" y="155853"/>
                </a:cubicBezTo>
                <a:lnTo>
                  <a:pt x="52606" y="192088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5232400" y="5486400"/>
            <a:ext cx="330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Asset Store (thousands of resources)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791075" y="6197600"/>
            <a:ext cx="349250" cy="279400"/>
          </a:xfrm>
          <a:custGeom>
            <a:avLst/>
            <a:gdLst/>
            <a:ahLst/>
            <a:cxnLst/>
            <a:rect l="l" t="t" r="r" b="b"/>
            <a:pathLst>
              <a:path w="349250" h="279400">
                <a:moveTo>
                  <a:pt x="244475" y="34925"/>
                </a:moveTo>
                <a:cubicBezTo>
                  <a:pt x="302320" y="34925"/>
                  <a:pt x="349250" y="81855"/>
                  <a:pt x="349250" y="139700"/>
                </a:cubicBezTo>
                <a:cubicBezTo>
                  <a:pt x="349250" y="197545"/>
                  <a:pt x="302320" y="244475"/>
                  <a:pt x="244475" y="244475"/>
                </a:cubicBezTo>
                <a:lnTo>
                  <a:pt x="104775" y="244475"/>
                </a:lnTo>
                <a:cubicBezTo>
                  <a:pt x="46930" y="244475"/>
                  <a:pt x="0" y="197545"/>
                  <a:pt x="0" y="139700"/>
                </a:cubicBezTo>
                <a:cubicBezTo>
                  <a:pt x="0" y="81855"/>
                  <a:pt x="46930" y="34925"/>
                  <a:pt x="104775" y="34925"/>
                </a:cubicBezTo>
                <a:lnTo>
                  <a:pt x="244475" y="34925"/>
                </a:lnTo>
                <a:close/>
                <a:moveTo>
                  <a:pt x="104775" y="96044"/>
                </a:moveTo>
                <a:cubicBezTo>
                  <a:pt x="97517" y="96044"/>
                  <a:pt x="91678" y="101883"/>
                  <a:pt x="91678" y="109141"/>
                </a:cubicBezTo>
                <a:lnTo>
                  <a:pt x="91678" y="126603"/>
                </a:lnTo>
                <a:lnTo>
                  <a:pt x="74216" y="126603"/>
                </a:lnTo>
                <a:cubicBezTo>
                  <a:pt x="66958" y="126603"/>
                  <a:pt x="61119" y="132442"/>
                  <a:pt x="61119" y="139700"/>
                </a:cubicBezTo>
                <a:cubicBezTo>
                  <a:pt x="61119" y="146958"/>
                  <a:pt x="66958" y="152797"/>
                  <a:pt x="74216" y="152797"/>
                </a:cubicBezTo>
                <a:lnTo>
                  <a:pt x="91678" y="152797"/>
                </a:lnTo>
                <a:lnTo>
                  <a:pt x="91678" y="170259"/>
                </a:lnTo>
                <a:cubicBezTo>
                  <a:pt x="91678" y="177517"/>
                  <a:pt x="97517" y="183356"/>
                  <a:pt x="104775" y="183356"/>
                </a:cubicBezTo>
                <a:cubicBezTo>
                  <a:pt x="112033" y="183356"/>
                  <a:pt x="117872" y="177517"/>
                  <a:pt x="117872" y="170259"/>
                </a:cubicBezTo>
                <a:lnTo>
                  <a:pt x="117872" y="152797"/>
                </a:lnTo>
                <a:lnTo>
                  <a:pt x="135334" y="152797"/>
                </a:lnTo>
                <a:cubicBezTo>
                  <a:pt x="142592" y="152797"/>
                  <a:pt x="148431" y="146958"/>
                  <a:pt x="148431" y="139700"/>
                </a:cubicBezTo>
                <a:cubicBezTo>
                  <a:pt x="148431" y="132442"/>
                  <a:pt x="142592" y="126603"/>
                  <a:pt x="135334" y="126603"/>
                </a:cubicBezTo>
                <a:lnTo>
                  <a:pt x="117872" y="126603"/>
                </a:lnTo>
                <a:lnTo>
                  <a:pt x="117872" y="109141"/>
                </a:lnTo>
                <a:cubicBezTo>
                  <a:pt x="117872" y="101883"/>
                  <a:pt x="112033" y="96044"/>
                  <a:pt x="104775" y="96044"/>
                </a:cubicBezTo>
                <a:close/>
                <a:moveTo>
                  <a:pt x="235744" y="148431"/>
                </a:moveTo>
                <a:cubicBezTo>
                  <a:pt x="226106" y="148431"/>
                  <a:pt x="218281" y="156256"/>
                  <a:pt x="218281" y="165894"/>
                </a:cubicBezTo>
                <a:cubicBezTo>
                  <a:pt x="218281" y="175532"/>
                  <a:pt x="226106" y="183356"/>
                  <a:pt x="235744" y="183356"/>
                </a:cubicBezTo>
                <a:cubicBezTo>
                  <a:pt x="245382" y="183356"/>
                  <a:pt x="253206" y="175532"/>
                  <a:pt x="253206" y="165894"/>
                </a:cubicBezTo>
                <a:cubicBezTo>
                  <a:pt x="253206" y="156256"/>
                  <a:pt x="245382" y="148431"/>
                  <a:pt x="235744" y="148431"/>
                </a:cubicBezTo>
                <a:close/>
                <a:moveTo>
                  <a:pt x="270669" y="96044"/>
                </a:moveTo>
                <a:cubicBezTo>
                  <a:pt x="261031" y="96044"/>
                  <a:pt x="253206" y="103868"/>
                  <a:pt x="253206" y="113506"/>
                </a:cubicBezTo>
                <a:cubicBezTo>
                  <a:pt x="253206" y="123144"/>
                  <a:pt x="261031" y="130969"/>
                  <a:pt x="270669" y="130969"/>
                </a:cubicBezTo>
                <a:cubicBezTo>
                  <a:pt x="280307" y="130969"/>
                  <a:pt x="288131" y="123144"/>
                  <a:pt x="288131" y="113506"/>
                </a:cubicBezTo>
                <a:cubicBezTo>
                  <a:pt x="288131" y="103868"/>
                  <a:pt x="280307" y="96044"/>
                  <a:pt x="270669" y="96044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18" name="Text 16"/>
          <p:cNvSpPr/>
          <p:nvPr/>
        </p:nvSpPr>
        <p:spPr>
          <a:xfrm>
            <a:off x="5232400" y="6172200"/>
            <a:ext cx="330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 2D and 3D support</a:t>
            </a:r>
            <a:endParaRPr lang="en-US" sz="1600" dirty="0"/>
          </a:p>
        </p:txBody>
      </p:sp>
      <p:pic>
        <p:nvPicPr>
          <p:cNvPr id="19" name="Image 0" descr="https://kimi-img.moonshot.cn/pub/slides/okc/3laoalbxzvofm/mnt/agents/output/game_programming_week3/images/5_dark_mode_menu_bar_Unity_Engine_Unity.png">    </p:cNvPr>
          <p:cNvPicPr>
            <a:picLocks noChangeAspect="1"/>
          </p:cNvPicPr>
          <p:nvPr/>
        </p:nvPicPr>
        <p:blipFill>
          <a:blip r:embed="rId1"/>
          <a:srcRect l="12201" r="12201" t="0" b="0"/>
          <a:stretch/>
        </p:blipFill>
        <p:spPr>
          <a:xfrm>
            <a:off x="9144000" y="1574800"/>
            <a:ext cx="6350000" cy="4699000"/>
          </a:xfrm>
          <a:prstGeom prst="roundRect">
            <a:avLst>
              <a:gd name="adj" fmla="val 6000"/>
            </a:avLst>
          </a:prstGeom>
        </p:spPr>
      </p:pic>
      <p:sp>
        <p:nvSpPr>
          <p:cNvPr id="20" name="Text 17"/>
          <p:cNvSpPr/>
          <p:nvPr/>
        </p:nvSpPr>
        <p:spPr>
          <a:xfrm>
            <a:off x="9144000" y="63754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4A4A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Unity Editor interface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2" name="Text 19"/>
          <p:cNvSpPr/>
          <p:nvPr/>
        </p:nvSpPr>
        <p:spPr>
          <a:xfrm>
            <a:off x="14732000" y="87884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4A4A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4A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 PROGRAMMING — WEEK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7112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100" kern="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Solar System Project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24000"/>
            <a:ext cx="838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Solar System Simulation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 hands-on learning exercise designed to teach core Unity concepts through building an interactive 3D solar system.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26162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100" kern="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OBJECTIVES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3073400"/>
            <a:ext cx="8128000" cy="482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a realistic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3D solar system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orbiting planets</a:t>
            </a:r>
            <a:endParaRPr lang="en-US" sz="1600" dirty="0"/>
          </a:p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 proper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scale relationships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between celestial bodies</a:t>
            </a:r>
            <a:endParaRPr lang="en-US" sz="1600" dirty="0"/>
          </a:p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Apply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materials and textures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planet surfaces</a:t>
            </a:r>
            <a:endParaRPr lang="en-US" sz="1600" dirty="0"/>
          </a:p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 up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lighting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simulate the Sun's illumination</a:t>
            </a:r>
            <a:endParaRPr lang="en-US" sz="1600" dirty="0"/>
          </a:p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C# scripts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control planetary orbits and rotations</a:t>
            </a:r>
            <a:endParaRPr lang="en-US" sz="1600" dirty="0"/>
          </a:p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camera controls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user navigation</a:t>
            </a:r>
            <a:endParaRPr lang="en-US" sz="1600" dirty="0"/>
          </a:p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Include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audio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ambient space atmosphere</a:t>
            </a:r>
            <a:endParaRPr lang="en-US" sz="1600" dirty="0"/>
          </a:p>
        </p:txBody>
      </p:sp>
      <p:pic>
        <p:nvPicPr>
          <p:cNvPr id="8" name="Image 0" descr="https://kimi-img.moonshot.cn/pub/slides/okc/3laoalbxzvofm/mnt/agents/output/game_programming_week3/images/10_Solar_System_Scope_Online_Model_of.png">    </p:cNvPr>
          <p:cNvPicPr>
            <a:picLocks noChangeAspect="1"/>
          </p:cNvPicPr>
          <p:nvPr/>
        </p:nvPicPr>
        <p:blipFill>
          <a:blip r:embed="rId1"/>
          <a:srcRect l="23502" r="23502" t="0" b="0"/>
          <a:stretch/>
        </p:blipFill>
        <p:spPr>
          <a:xfrm>
            <a:off x="9398000" y="1524000"/>
            <a:ext cx="6096000" cy="6477000"/>
          </a:xfrm>
          <a:prstGeom prst="roundRect">
            <a:avLst>
              <a:gd name="adj" fmla="val 6000"/>
            </a:avLst>
          </a:prstGeom>
        </p:spPr>
      </p:pic>
      <p:sp>
        <p:nvSpPr>
          <p:cNvPr id="9" name="Shape 6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Text 7"/>
          <p:cNvSpPr/>
          <p:nvPr/>
        </p:nvSpPr>
        <p:spPr>
          <a:xfrm>
            <a:off x="14732000" y="87884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4A4A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4A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 PROGRAMMING — WEEK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7112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100" kern="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Goals &amp; Learning Outcomes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986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 completing this project, students will master the following Unity skills: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108200"/>
            <a:ext cx="4572000" cy="1016000"/>
          </a:xfrm>
          <a:prstGeom prst="roundRect">
            <a:avLst>
              <a:gd name="adj" fmla="val 6000"/>
            </a:avLst>
          </a:prstGeom>
          <a:solidFill>
            <a:srgbClr val="1A1A2E">
              <a:alpha val="5098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209800"/>
            <a:ext cx="4572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6B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47800" y="2209800"/>
            <a:ext cx="368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 the Unity Editor interface and workflow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3276600"/>
            <a:ext cx="4572000" cy="1016000"/>
          </a:xfrm>
          <a:prstGeom prst="roundRect">
            <a:avLst>
              <a:gd name="adj" fmla="val 6000"/>
            </a:avLst>
          </a:prstGeom>
          <a:solidFill>
            <a:srgbClr val="1A1A2E">
              <a:alpha val="5098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378200"/>
            <a:ext cx="4572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6B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47800" y="3378200"/>
            <a:ext cx="368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 to import and manage game assets efficiently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4445000"/>
            <a:ext cx="4572000" cy="1016000"/>
          </a:xfrm>
          <a:prstGeom prst="roundRect">
            <a:avLst>
              <a:gd name="adj" fmla="val 6000"/>
            </a:avLst>
          </a:prstGeom>
          <a:solidFill>
            <a:srgbClr val="1A1A2E">
              <a:alpha val="5098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546600"/>
            <a:ext cx="4572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6B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47800" y="4546600"/>
            <a:ext cx="368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Master GameObject manipulation and hierarchy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588000" y="2108200"/>
            <a:ext cx="4572000" cy="1016000"/>
          </a:xfrm>
          <a:prstGeom prst="roundRect">
            <a:avLst>
              <a:gd name="adj" fmla="val 6000"/>
            </a:avLst>
          </a:prstGeom>
          <a:solidFill>
            <a:srgbClr val="1A1A2E">
              <a:alpha val="5098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740400" y="2209800"/>
            <a:ext cx="4572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6B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73800" y="2209800"/>
            <a:ext cx="368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Apply materials, textures, and shaders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588000" y="3276600"/>
            <a:ext cx="4572000" cy="1016000"/>
          </a:xfrm>
          <a:prstGeom prst="roundRect">
            <a:avLst>
              <a:gd name="adj" fmla="val 6000"/>
            </a:avLst>
          </a:prstGeom>
          <a:solidFill>
            <a:srgbClr val="1A1A2E">
              <a:alpha val="5098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740400" y="3378200"/>
            <a:ext cx="4572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6B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73800" y="3378200"/>
            <a:ext cx="368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Configure lighting systems for realistic scenes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588000" y="4445000"/>
            <a:ext cx="4572000" cy="1016000"/>
          </a:xfrm>
          <a:prstGeom prst="roundRect">
            <a:avLst>
              <a:gd name="adj" fmla="val 6000"/>
            </a:avLst>
          </a:prstGeom>
          <a:solidFill>
            <a:srgbClr val="1A1A2E">
              <a:alpha val="5098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740400" y="4546600"/>
            <a:ext cx="4572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6B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273800" y="4546600"/>
            <a:ext cx="368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Write C# scripts for game behaviors and logic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414000" y="2108200"/>
            <a:ext cx="5080000" cy="1016000"/>
          </a:xfrm>
          <a:prstGeom prst="roundRect">
            <a:avLst>
              <a:gd name="adj" fmla="val 6000"/>
            </a:avLst>
          </a:prstGeom>
          <a:solidFill>
            <a:srgbClr val="1A1A2E">
              <a:alpha val="5098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0566400" y="2209800"/>
            <a:ext cx="4572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6B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099800" y="2209800"/>
            <a:ext cx="419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 physics-based and scripted animations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414000" y="3276600"/>
            <a:ext cx="5080000" cy="1016000"/>
          </a:xfrm>
          <a:prstGeom prst="roundRect">
            <a:avLst>
              <a:gd name="adj" fmla="val 6000"/>
            </a:avLst>
          </a:prstGeom>
          <a:solidFill>
            <a:srgbClr val="1A1A2E">
              <a:alpha val="5098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0566400" y="3378200"/>
            <a:ext cx="4572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6B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099800" y="3378200"/>
            <a:ext cx="419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Prefabs for reusable objects across scenes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414000" y="4445000"/>
            <a:ext cx="5080000" cy="1016000"/>
          </a:xfrm>
          <a:prstGeom prst="roundRect">
            <a:avLst>
              <a:gd name="adj" fmla="val 6000"/>
            </a:avLst>
          </a:prstGeom>
          <a:solidFill>
            <a:srgbClr val="1A1A2E">
              <a:alpha val="5098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0566400" y="4546600"/>
            <a:ext cx="4572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6B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099800" y="4546600"/>
            <a:ext cx="419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Configure audio sources and build a complete app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62000" y="5842000"/>
            <a:ext cx="14732000" cy="101600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/>
        </p:spPr>
      </p:sp>
      <p:sp>
        <p:nvSpPr>
          <p:cNvPr id="34" name="Shape 32"/>
          <p:cNvSpPr/>
          <p:nvPr/>
        </p:nvSpPr>
        <p:spPr>
          <a:xfrm>
            <a:off x="1041400" y="61468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38100" y="155416"/>
                </a:moveTo>
                <a:lnTo>
                  <a:pt x="204152" y="223758"/>
                </a:lnTo>
                <a:cubicBezTo>
                  <a:pt x="211931" y="226933"/>
                  <a:pt x="220186" y="228600"/>
                  <a:pt x="228600" y="228600"/>
                </a:cubicBezTo>
                <a:cubicBezTo>
                  <a:pt x="237014" y="228600"/>
                  <a:pt x="245269" y="226933"/>
                  <a:pt x="253048" y="223758"/>
                </a:cubicBezTo>
                <a:lnTo>
                  <a:pt x="445453" y="144542"/>
                </a:lnTo>
                <a:cubicBezTo>
                  <a:pt x="452596" y="141605"/>
                  <a:pt x="457200" y="134699"/>
                  <a:pt x="457200" y="127000"/>
                </a:cubicBezTo>
                <a:cubicBezTo>
                  <a:pt x="457200" y="119301"/>
                  <a:pt x="452596" y="112395"/>
                  <a:pt x="445453" y="109458"/>
                </a:cubicBezTo>
                <a:lnTo>
                  <a:pt x="253048" y="30242"/>
                </a:lnTo>
                <a:cubicBezTo>
                  <a:pt x="245269" y="27067"/>
                  <a:pt x="237014" y="25400"/>
                  <a:pt x="228600" y="25400"/>
                </a:cubicBezTo>
                <a:cubicBezTo>
                  <a:pt x="220186" y="25400"/>
                  <a:pt x="211931" y="27067"/>
                  <a:pt x="204152" y="30242"/>
                </a:cubicBezTo>
                <a:lnTo>
                  <a:pt x="11748" y="109458"/>
                </a:lnTo>
                <a:cubicBezTo>
                  <a:pt x="4604" y="112395"/>
                  <a:pt x="0" y="119301"/>
                  <a:pt x="0" y="127000"/>
                </a:cubicBezTo>
                <a:lnTo>
                  <a:pt x="0" y="361950"/>
                </a:lnTo>
                <a:cubicBezTo>
                  <a:pt x="0" y="372507"/>
                  <a:pt x="8493" y="381000"/>
                  <a:pt x="19050" y="381000"/>
                </a:cubicBezTo>
                <a:cubicBezTo>
                  <a:pt x="29607" y="381000"/>
                  <a:pt x="38100" y="372507"/>
                  <a:pt x="38100" y="361950"/>
                </a:cubicBezTo>
                <a:lnTo>
                  <a:pt x="38100" y="155416"/>
                </a:lnTo>
                <a:close/>
                <a:moveTo>
                  <a:pt x="76200" y="212328"/>
                </a:moveTo>
                <a:lnTo>
                  <a:pt x="76200" y="304800"/>
                </a:lnTo>
                <a:cubicBezTo>
                  <a:pt x="76200" y="346869"/>
                  <a:pt x="144463" y="381000"/>
                  <a:pt x="228600" y="381000"/>
                </a:cubicBezTo>
                <a:cubicBezTo>
                  <a:pt x="312738" y="381000"/>
                  <a:pt x="381000" y="346869"/>
                  <a:pt x="381000" y="304800"/>
                </a:cubicBezTo>
                <a:lnTo>
                  <a:pt x="381000" y="212249"/>
                </a:lnTo>
                <a:lnTo>
                  <a:pt x="267573" y="259001"/>
                </a:lnTo>
                <a:cubicBezTo>
                  <a:pt x="255191" y="264081"/>
                  <a:pt x="242014" y="266700"/>
                  <a:pt x="228600" y="266700"/>
                </a:cubicBezTo>
                <a:cubicBezTo>
                  <a:pt x="215186" y="266700"/>
                  <a:pt x="202009" y="264081"/>
                  <a:pt x="189627" y="259001"/>
                </a:cubicBezTo>
                <a:lnTo>
                  <a:pt x="76200" y="212249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35" name="Text 33"/>
          <p:cNvSpPr/>
          <p:nvPr/>
        </p:nvSpPr>
        <p:spPr>
          <a:xfrm>
            <a:off x="1651000" y="5994400"/>
            <a:ext cx="13462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project covers the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Unity workflow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initial setup to final build — giving you practical experience with every major engine system.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7" name="Text 35"/>
          <p:cNvSpPr/>
          <p:nvPr/>
        </p:nvSpPr>
        <p:spPr>
          <a:xfrm>
            <a:off x="14732000" y="87884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4A4A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4A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 PROGRAMMING — WEEK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7112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100" kern="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Downloading Unity Hub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24000"/>
            <a:ext cx="812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Unity Hub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the central management tool for Unity projects, editor versions, and licenses.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24892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100" kern="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INSTALLATION STEPS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3048000"/>
            <a:ext cx="406400" cy="4064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30480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0800" y="3022600"/>
            <a:ext cx="711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Visit </a:t>
            </a:r>
            <a:pPr>
              <a:lnSpc>
                <a:spcPct val="150000"/>
              </a:lnSpc>
            </a:pPr>
            <a:r>
              <a:rPr lang="en-US" sz="1700" u="sng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hlinkClick r:id="rId1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unity.com/download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download Unity Hub for your OS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3810000"/>
            <a:ext cx="406400" cy="4064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38100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0800" y="3784600"/>
            <a:ext cx="711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Run the installer and follow the setup instructions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4445000"/>
            <a:ext cx="406400" cy="4064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4" name="Text 12"/>
          <p:cNvSpPr/>
          <p:nvPr/>
        </p:nvSpPr>
        <p:spPr>
          <a:xfrm>
            <a:off x="762000" y="44450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0800" y="4419600"/>
            <a:ext cx="711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or sign in with a Unity account (free for students)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5080000"/>
            <a:ext cx="406400" cy="4064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7" name="Text 15"/>
          <p:cNvSpPr/>
          <p:nvPr/>
        </p:nvSpPr>
        <p:spPr>
          <a:xfrm>
            <a:off x="762000" y="50800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0800" y="5054600"/>
            <a:ext cx="711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Launch Unity Hub — you're ready to install the Editor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2000" y="59182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100" kern="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UNITY HUB FEATURES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2000" y="6375400"/>
            <a:ext cx="7620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management and organization</a:t>
            </a:r>
            <a:endParaRPr lang="en-US" sz="1600" dirty="0"/>
          </a:p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Unity Editor version management</a:t>
            </a:r>
            <a:endParaRPr lang="en-US" sz="1600" dirty="0"/>
          </a:p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License management (Personal/Plus/Pro)</a:t>
            </a:r>
            <a:endParaRPr lang="en-US" sz="1600" dirty="0"/>
          </a:p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 access to learning resources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144000" y="1524000"/>
            <a:ext cx="6350000" cy="2032000"/>
          </a:xfrm>
          <a:prstGeom prst="roundRect">
            <a:avLst>
              <a:gd name="adj" fmla="val 6000"/>
            </a:avLst>
          </a:prstGeom>
          <a:solidFill>
            <a:srgbClr val="FF6B35">
              <a:alpha val="8235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9493250" y="17780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23" name="Text 21"/>
          <p:cNvSpPr/>
          <p:nvPr/>
        </p:nvSpPr>
        <p:spPr>
          <a:xfrm>
            <a:off x="9931400" y="1778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6B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 TIP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448800" y="2260600"/>
            <a:ext cx="57404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Personal license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completely free and includes all core features needed for this course. No payment required.</a:t>
            </a:r>
            <a:endParaRPr lang="en-US" sz="1600" dirty="0"/>
          </a:p>
        </p:txBody>
      </p:sp>
      <p:pic>
        <p:nvPicPr>
          <p:cNvPr id="25" name="Image 0" descr="https://kimi-img.moonshot.cn/pub/slides/okc/3laoalbxzvofm/mnt/agents/output/game_programming_week3/images/3_DarkFrame_Dark_mode_frame_UI_for.png">    </p:cNvPr>
          <p:cNvPicPr>
            <a:picLocks noChangeAspect="1"/>
          </p:cNvPicPr>
          <p:nvPr/>
        </p:nvPicPr>
        <p:blipFill>
          <a:blip r:embed="rId2"/>
          <a:srcRect l="7386" r="7386" t="0" b="0"/>
          <a:stretch/>
        </p:blipFill>
        <p:spPr>
          <a:xfrm>
            <a:off x="9144000" y="3810000"/>
            <a:ext cx="6350000" cy="4191000"/>
          </a:xfrm>
          <a:prstGeom prst="roundRect">
            <a:avLst>
              <a:gd name="adj" fmla="val 6000"/>
            </a:avLst>
          </a:prstGeom>
        </p:spPr>
      </p:pic>
      <p:sp>
        <p:nvSpPr>
          <p:cNvPr id="26" name="Shape 23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7" name="Text 24"/>
          <p:cNvSpPr/>
          <p:nvPr/>
        </p:nvSpPr>
        <p:spPr>
          <a:xfrm>
            <a:off x="14732000" y="87884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4A4A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4A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 PROGRAMMING — WEEK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7112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100" kern="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Installing the Unity Editor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98600"/>
            <a:ext cx="812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After installing Unity Hub, follow these steps to install the Unity Editor: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463800"/>
            <a:ext cx="406400" cy="4064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24638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0800" y="2438400"/>
            <a:ext cx="711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 Unity Hub and go to the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Installs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tab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3098800"/>
            <a:ext cx="406400" cy="4064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30988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0800" y="3073400"/>
            <a:ext cx="711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Click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"Install Editor"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button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3733800"/>
            <a:ext cx="406400" cy="4064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3" name="Text 11"/>
          <p:cNvSpPr/>
          <p:nvPr/>
        </p:nvSpPr>
        <p:spPr>
          <a:xfrm>
            <a:off x="762000" y="37338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0800" y="3708400"/>
            <a:ext cx="7112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Choose a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Long Term Support (LTS)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version for stability (recommended: 2022.3 LTS or newer)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4521200"/>
            <a:ext cx="406400" cy="4064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762000" y="45212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0800" y="4521200"/>
            <a:ext cx="7112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Select modules: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Windows Build Support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 Studio Community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Documentation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5461000"/>
            <a:ext cx="406400" cy="4064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9" name="Text 17"/>
          <p:cNvSpPr/>
          <p:nvPr/>
        </p:nvSpPr>
        <p:spPr>
          <a:xfrm>
            <a:off x="762000" y="54610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20800" y="5435600"/>
            <a:ext cx="711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Click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Install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wait for the download to complete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144000" y="1498600"/>
            <a:ext cx="6350000" cy="3175000"/>
          </a:xfrm>
          <a:prstGeom prst="roundRect">
            <a:avLst>
              <a:gd name="adj" fmla="val 6000"/>
            </a:avLst>
          </a:prstGeom>
          <a:solidFill>
            <a:srgbClr val="1A1A2E"/>
          </a:solidFill>
          <a:ln/>
        </p:spPr>
      </p:sp>
      <p:sp>
        <p:nvSpPr>
          <p:cNvPr id="22" name="Text 20"/>
          <p:cNvSpPr/>
          <p:nvPr/>
        </p:nvSpPr>
        <p:spPr>
          <a:xfrm>
            <a:off x="9448800" y="1701800"/>
            <a:ext cx="57404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100" kern="0" dirty="0">
                <a:solidFill>
                  <a:srgbClr val="FF6B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REQUIRED MODULES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448800" y="2159000"/>
            <a:ext cx="5740400" cy="233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Windows/Mac/Linux Build Support</a:t>
            </a:r>
            <a:endParaRPr lang="en-US" sz="1600" dirty="0"/>
          </a:p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 Studio Community (for C#)</a:t>
            </a:r>
            <a:endParaRPr lang="en-US" sz="1600" dirty="0"/>
          </a:p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Documentation package</a:t>
            </a:r>
            <a:endParaRPr lang="en-US" sz="1600" dirty="0"/>
          </a:p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Android/iOS support (optional)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144000" y="4953000"/>
            <a:ext cx="6350000" cy="1524000"/>
          </a:xfrm>
          <a:prstGeom prst="roundRect">
            <a:avLst>
              <a:gd name="adj" fmla="val 6000"/>
            </a:avLst>
          </a:prstGeom>
          <a:solidFill>
            <a:srgbClr val="FF6B35">
              <a:alpha val="8235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9448800" y="5181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133350" y="95250"/>
                </a:moveTo>
                <a:cubicBezTo>
                  <a:pt x="133350" y="84736"/>
                  <a:pt x="141886" y="76200"/>
                  <a:pt x="152400" y="76200"/>
                </a:cubicBezTo>
                <a:cubicBezTo>
                  <a:pt x="162914" y="76200"/>
                  <a:pt x="171450" y="84736"/>
                  <a:pt x="171450" y="95250"/>
                </a:cubicBezTo>
                <a:cubicBezTo>
                  <a:pt x="171450" y="105764"/>
                  <a:pt x="162914" y="114300"/>
                  <a:pt x="152400" y="114300"/>
                </a:cubicBezTo>
                <a:cubicBezTo>
                  <a:pt x="141886" y="114300"/>
                  <a:pt x="133350" y="105764"/>
                  <a:pt x="133350" y="95250"/>
                </a:cubicBezTo>
                <a:close/>
                <a:moveTo>
                  <a:pt x="128588" y="133350"/>
                </a:moveTo>
                <a:lnTo>
                  <a:pt x="157163" y="133350"/>
                </a:lnTo>
                <a:cubicBezTo>
                  <a:pt x="165080" y="133350"/>
                  <a:pt x="171450" y="139720"/>
                  <a:pt x="171450" y="147638"/>
                </a:cubicBezTo>
                <a:lnTo>
                  <a:pt x="171450" y="200025"/>
                </a:lnTo>
                <a:lnTo>
                  <a:pt x="176212" y="200025"/>
                </a:lnTo>
                <a:cubicBezTo>
                  <a:pt x="184130" y="200025"/>
                  <a:pt x="190500" y="206395"/>
                  <a:pt x="190500" y="214313"/>
                </a:cubicBezTo>
                <a:cubicBezTo>
                  <a:pt x="190500" y="222230"/>
                  <a:pt x="184130" y="228600"/>
                  <a:pt x="176212" y="228600"/>
                </a:cubicBezTo>
                <a:lnTo>
                  <a:pt x="128588" y="228600"/>
                </a:lnTo>
                <a:cubicBezTo>
                  <a:pt x="120670" y="228600"/>
                  <a:pt x="114300" y="222230"/>
                  <a:pt x="114300" y="214313"/>
                </a:cubicBezTo>
                <a:cubicBezTo>
                  <a:pt x="114300" y="206395"/>
                  <a:pt x="120670" y="200025"/>
                  <a:pt x="128588" y="200025"/>
                </a:cubicBezTo>
                <a:lnTo>
                  <a:pt x="142875" y="200025"/>
                </a:lnTo>
                <a:lnTo>
                  <a:pt x="142875" y="161925"/>
                </a:lnTo>
                <a:lnTo>
                  <a:pt x="128588" y="161925"/>
                </a:lnTo>
                <a:cubicBezTo>
                  <a:pt x="120670" y="161925"/>
                  <a:pt x="114300" y="155555"/>
                  <a:pt x="114300" y="147638"/>
                </a:cubicBezTo>
                <a:cubicBezTo>
                  <a:pt x="114300" y="139720"/>
                  <a:pt x="120670" y="133350"/>
                  <a:pt x="128588" y="13335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26" name="Text 24"/>
          <p:cNvSpPr/>
          <p:nvPr/>
        </p:nvSpPr>
        <p:spPr>
          <a:xfrm>
            <a:off x="9880600" y="51562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FF6B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448800" y="5588000"/>
            <a:ext cx="57404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LTS versions receive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 years of support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ideal for long-term projects and education.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9" name="Text 27"/>
          <p:cNvSpPr/>
          <p:nvPr/>
        </p:nvSpPr>
        <p:spPr>
          <a:xfrm>
            <a:off x="14732000" y="87884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4A4A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3laoalbxzvofm/mnt/agents/output/game_programming_week3/images/7_Epic_Outer_Space_Background_Video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A1A2E">
                  <a:alpha val="93000"/>
                </a:srgbClr>
              </a:gs>
              <a:gs pos="60000">
                <a:srgbClr val="1A1A2E">
                  <a:alpha val="80000"/>
                </a:srgbClr>
              </a:gs>
              <a:gs pos="100000">
                <a:srgbClr val="1A1A2E">
                  <a:alpha val="4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540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FF6B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016000" y="3683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400" kern="0" dirty="0">
                <a:solidFill>
                  <a:srgbClr val="F5F5F0">
                    <a:alpha val="50196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016000" y="4140200"/>
            <a:ext cx="1270000" cy="381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4"/>
          <p:cNvSpPr/>
          <p:nvPr/>
        </p:nvSpPr>
        <p:spPr>
          <a:xfrm>
            <a:off x="1016000" y="43942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800" spc="300" kern="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UNITY DEVELOPMENT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1016000" y="51562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F5F5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Project Setup, Core Systems &amp; Solar System Completion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4A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 PROGRAMMING — WEEK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7112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100" kern="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Unity Editor Interface Setup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986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Unity Editor consists of several key windows that work together: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108200"/>
            <a:ext cx="4699000" cy="1397000"/>
          </a:xfrm>
          <a:prstGeom prst="roundRect">
            <a:avLst>
              <a:gd name="adj" fmla="val 6000"/>
            </a:avLst>
          </a:prstGeom>
          <a:solidFill>
            <a:srgbClr val="1A1A2E">
              <a:alpha val="5098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71550" y="22860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52698" y="0"/>
                </a:moveTo>
                <a:cubicBezTo>
                  <a:pt x="161449" y="0"/>
                  <a:pt x="169485" y="4822"/>
                  <a:pt x="173653" y="12502"/>
                </a:cubicBezTo>
                <a:lnTo>
                  <a:pt x="302240" y="250627"/>
                </a:lnTo>
                <a:cubicBezTo>
                  <a:pt x="306229" y="258008"/>
                  <a:pt x="306050" y="266938"/>
                  <a:pt x="301764" y="274141"/>
                </a:cubicBezTo>
                <a:cubicBezTo>
                  <a:pt x="297478" y="281345"/>
                  <a:pt x="289679" y="285750"/>
                  <a:pt x="281345" y="285750"/>
                </a:cubicBezTo>
                <a:lnTo>
                  <a:pt x="24170" y="285750"/>
                </a:lnTo>
                <a:cubicBezTo>
                  <a:pt x="15776" y="285750"/>
                  <a:pt x="8037" y="281345"/>
                  <a:pt x="3750" y="274141"/>
                </a:cubicBezTo>
                <a:cubicBezTo>
                  <a:pt x="-536" y="266938"/>
                  <a:pt x="-714" y="258008"/>
                  <a:pt x="3274" y="250627"/>
                </a:cubicBezTo>
                <a:lnTo>
                  <a:pt x="131862" y="12502"/>
                </a:lnTo>
                <a:lnTo>
                  <a:pt x="133588" y="9763"/>
                </a:lnTo>
                <a:cubicBezTo>
                  <a:pt x="137934" y="3691"/>
                  <a:pt x="145018" y="0"/>
                  <a:pt x="152698" y="0"/>
                </a:cubicBezTo>
                <a:close/>
                <a:moveTo>
                  <a:pt x="101441" y="148769"/>
                </a:moveTo>
                <a:lnTo>
                  <a:pt x="117396" y="164723"/>
                </a:lnTo>
                <a:cubicBezTo>
                  <a:pt x="121087" y="168414"/>
                  <a:pt x="127159" y="168414"/>
                  <a:pt x="130850" y="164723"/>
                </a:cubicBezTo>
                <a:lnTo>
                  <a:pt x="156627" y="138946"/>
                </a:lnTo>
                <a:cubicBezTo>
                  <a:pt x="160199" y="135374"/>
                  <a:pt x="165021" y="133350"/>
                  <a:pt x="170081" y="133350"/>
                </a:cubicBezTo>
                <a:lnTo>
                  <a:pt x="195560" y="133350"/>
                </a:lnTo>
                <a:lnTo>
                  <a:pt x="152638" y="53876"/>
                </a:lnTo>
                <a:lnTo>
                  <a:pt x="101382" y="148769"/>
                </a:lnTo>
                <a:close/>
                <a:moveTo>
                  <a:pt x="295573" y="95250"/>
                </a:moveTo>
                <a:cubicBezTo>
                  <a:pt x="269288" y="95250"/>
                  <a:pt x="247948" y="73910"/>
                  <a:pt x="247948" y="47625"/>
                </a:cubicBezTo>
                <a:cubicBezTo>
                  <a:pt x="247948" y="21340"/>
                  <a:pt x="269288" y="0"/>
                  <a:pt x="295573" y="0"/>
                </a:cubicBezTo>
                <a:cubicBezTo>
                  <a:pt x="321858" y="0"/>
                  <a:pt x="343198" y="21340"/>
                  <a:pt x="343198" y="47625"/>
                </a:cubicBezTo>
                <a:cubicBezTo>
                  <a:pt x="343198" y="73910"/>
                  <a:pt x="321858" y="95250"/>
                  <a:pt x="295573" y="9525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8" name="Text 6"/>
          <p:cNvSpPr/>
          <p:nvPr/>
        </p:nvSpPr>
        <p:spPr>
          <a:xfrm>
            <a:off x="1422400" y="22606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Scene View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90600" y="2667000"/>
            <a:ext cx="4241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4A4A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 editing of the game world — navigate, place, and manipulate objects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5000" y="2108200"/>
            <a:ext cx="4699000" cy="1397000"/>
          </a:xfrm>
          <a:prstGeom prst="roundRect">
            <a:avLst>
              <a:gd name="adj" fmla="val 6000"/>
            </a:avLst>
          </a:prstGeom>
          <a:solidFill>
            <a:srgbClr val="1A1A2E">
              <a:alpha val="5098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905500" y="22860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266700" y="38100"/>
                </a:moveTo>
                <a:cubicBezTo>
                  <a:pt x="329803" y="38100"/>
                  <a:pt x="381000" y="89297"/>
                  <a:pt x="381000" y="152400"/>
                </a:cubicBezTo>
                <a:cubicBezTo>
                  <a:pt x="381000" y="215503"/>
                  <a:pt x="329803" y="266700"/>
                  <a:pt x="266700" y="266700"/>
                </a:cubicBezTo>
                <a:lnTo>
                  <a:pt x="114300" y="266700"/>
                </a:lnTo>
                <a:cubicBezTo>
                  <a:pt x="51197" y="266700"/>
                  <a:pt x="0" y="215503"/>
                  <a:pt x="0" y="152400"/>
                </a:cubicBezTo>
                <a:cubicBezTo>
                  <a:pt x="0" y="89297"/>
                  <a:pt x="51197" y="38100"/>
                  <a:pt x="114300" y="38100"/>
                </a:cubicBezTo>
                <a:lnTo>
                  <a:pt x="266700" y="38100"/>
                </a:lnTo>
                <a:close/>
                <a:moveTo>
                  <a:pt x="114300" y="104775"/>
                </a:moveTo>
                <a:cubicBezTo>
                  <a:pt x="106382" y="104775"/>
                  <a:pt x="100013" y="111145"/>
                  <a:pt x="100013" y="119062"/>
                </a:cubicBezTo>
                <a:lnTo>
                  <a:pt x="100013" y="138113"/>
                </a:lnTo>
                <a:lnTo>
                  <a:pt x="80962" y="138113"/>
                </a:lnTo>
                <a:cubicBezTo>
                  <a:pt x="73045" y="138113"/>
                  <a:pt x="66675" y="144482"/>
                  <a:pt x="66675" y="152400"/>
                </a:cubicBezTo>
                <a:cubicBezTo>
                  <a:pt x="66675" y="160318"/>
                  <a:pt x="73045" y="166688"/>
                  <a:pt x="80962" y="166688"/>
                </a:cubicBezTo>
                <a:lnTo>
                  <a:pt x="100013" y="166688"/>
                </a:lnTo>
                <a:lnTo>
                  <a:pt x="100013" y="185738"/>
                </a:lnTo>
                <a:cubicBezTo>
                  <a:pt x="100013" y="193655"/>
                  <a:pt x="106382" y="200025"/>
                  <a:pt x="114300" y="200025"/>
                </a:cubicBezTo>
                <a:cubicBezTo>
                  <a:pt x="122218" y="200025"/>
                  <a:pt x="128588" y="193655"/>
                  <a:pt x="128588" y="185738"/>
                </a:cubicBezTo>
                <a:lnTo>
                  <a:pt x="128588" y="166688"/>
                </a:lnTo>
                <a:lnTo>
                  <a:pt x="147638" y="166688"/>
                </a:lnTo>
                <a:cubicBezTo>
                  <a:pt x="155555" y="166688"/>
                  <a:pt x="161925" y="160318"/>
                  <a:pt x="161925" y="152400"/>
                </a:cubicBezTo>
                <a:cubicBezTo>
                  <a:pt x="161925" y="144482"/>
                  <a:pt x="155555" y="138113"/>
                  <a:pt x="147638" y="138113"/>
                </a:cubicBezTo>
                <a:lnTo>
                  <a:pt x="128588" y="138113"/>
                </a:lnTo>
                <a:lnTo>
                  <a:pt x="128588" y="119062"/>
                </a:lnTo>
                <a:cubicBezTo>
                  <a:pt x="128588" y="111145"/>
                  <a:pt x="122218" y="104775"/>
                  <a:pt x="114300" y="104775"/>
                </a:cubicBezTo>
                <a:close/>
                <a:moveTo>
                  <a:pt x="257175" y="161925"/>
                </a:moveTo>
                <a:cubicBezTo>
                  <a:pt x="246661" y="161925"/>
                  <a:pt x="238125" y="170461"/>
                  <a:pt x="238125" y="180975"/>
                </a:cubicBezTo>
                <a:cubicBezTo>
                  <a:pt x="238125" y="191489"/>
                  <a:pt x="246661" y="200025"/>
                  <a:pt x="257175" y="200025"/>
                </a:cubicBezTo>
                <a:cubicBezTo>
                  <a:pt x="267689" y="200025"/>
                  <a:pt x="276225" y="191489"/>
                  <a:pt x="276225" y="180975"/>
                </a:cubicBezTo>
                <a:cubicBezTo>
                  <a:pt x="276225" y="170461"/>
                  <a:pt x="267689" y="161925"/>
                  <a:pt x="257175" y="161925"/>
                </a:cubicBezTo>
                <a:close/>
                <a:moveTo>
                  <a:pt x="295275" y="104775"/>
                </a:moveTo>
                <a:cubicBezTo>
                  <a:pt x="284761" y="104775"/>
                  <a:pt x="276225" y="113311"/>
                  <a:pt x="276225" y="123825"/>
                </a:cubicBezTo>
                <a:cubicBezTo>
                  <a:pt x="276225" y="134339"/>
                  <a:pt x="284761" y="142875"/>
                  <a:pt x="295275" y="142875"/>
                </a:cubicBezTo>
                <a:cubicBezTo>
                  <a:pt x="305789" y="142875"/>
                  <a:pt x="314325" y="134339"/>
                  <a:pt x="314325" y="123825"/>
                </a:cubicBezTo>
                <a:cubicBezTo>
                  <a:pt x="314325" y="113311"/>
                  <a:pt x="305789" y="104775"/>
                  <a:pt x="295275" y="104775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6375400" y="22606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 View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43600" y="2667000"/>
            <a:ext cx="4241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4A4A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Preview of the player experience — what the camera sees at runtime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668000" y="2108200"/>
            <a:ext cx="4826000" cy="1397000"/>
          </a:xfrm>
          <a:prstGeom prst="roundRect">
            <a:avLst>
              <a:gd name="adj" fmla="val 6000"/>
            </a:avLst>
          </a:prstGeom>
          <a:solidFill>
            <a:srgbClr val="1A1A2E">
              <a:alpha val="5098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896600" y="2286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3813" y="28575"/>
                </a:moveTo>
                <a:cubicBezTo>
                  <a:pt x="15895" y="28575"/>
                  <a:pt x="9525" y="34945"/>
                  <a:pt x="9525" y="42863"/>
                </a:cubicBezTo>
                <a:lnTo>
                  <a:pt x="9525" y="71438"/>
                </a:lnTo>
                <a:cubicBezTo>
                  <a:pt x="9525" y="79355"/>
                  <a:pt x="15895" y="85725"/>
                  <a:pt x="23813" y="85725"/>
                </a:cubicBezTo>
                <a:lnTo>
                  <a:pt x="52388" y="85725"/>
                </a:lnTo>
                <a:cubicBezTo>
                  <a:pt x="60305" y="85725"/>
                  <a:pt x="66675" y="79355"/>
                  <a:pt x="66675" y="71438"/>
                </a:cubicBezTo>
                <a:lnTo>
                  <a:pt x="66675" y="42863"/>
                </a:lnTo>
                <a:cubicBezTo>
                  <a:pt x="66675" y="34945"/>
                  <a:pt x="60305" y="28575"/>
                  <a:pt x="52388" y="28575"/>
                </a:cubicBezTo>
                <a:lnTo>
                  <a:pt x="23813" y="28575"/>
                </a:lnTo>
                <a:close/>
                <a:moveTo>
                  <a:pt x="114300" y="38100"/>
                </a:moveTo>
                <a:cubicBezTo>
                  <a:pt x="103763" y="38100"/>
                  <a:pt x="95250" y="46613"/>
                  <a:pt x="95250" y="57150"/>
                </a:cubicBezTo>
                <a:cubicBezTo>
                  <a:pt x="95250" y="67687"/>
                  <a:pt x="103763" y="76200"/>
                  <a:pt x="114300" y="76200"/>
                </a:cubicBezTo>
                <a:lnTo>
                  <a:pt x="285750" y="76200"/>
                </a:lnTo>
                <a:cubicBezTo>
                  <a:pt x="296287" y="76200"/>
                  <a:pt x="304800" y="67687"/>
                  <a:pt x="304800" y="57150"/>
                </a:cubicBezTo>
                <a:cubicBezTo>
                  <a:pt x="304800" y="46613"/>
                  <a:pt x="296287" y="38100"/>
                  <a:pt x="285750" y="38100"/>
                </a:cubicBezTo>
                <a:lnTo>
                  <a:pt x="114300" y="38100"/>
                </a:lnTo>
                <a:close/>
                <a:moveTo>
                  <a:pt x="114300" y="133350"/>
                </a:moveTo>
                <a:cubicBezTo>
                  <a:pt x="103763" y="133350"/>
                  <a:pt x="95250" y="141863"/>
                  <a:pt x="95250" y="152400"/>
                </a:cubicBezTo>
                <a:cubicBezTo>
                  <a:pt x="95250" y="162937"/>
                  <a:pt x="103763" y="171450"/>
                  <a:pt x="114300" y="171450"/>
                </a:cubicBezTo>
                <a:lnTo>
                  <a:pt x="285750" y="171450"/>
                </a:lnTo>
                <a:cubicBezTo>
                  <a:pt x="296287" y="171450"/>
                  <a:pt x="304800" y="162937"/>
                  <a:pt x="304800" y="152400"/>
                </a:cubicBezTo>
                <a:cubicBezTo>
                  <a:pt x="304800" y="141863"/>
                  <a:pt x="296287" y="133350"/>
                  <a:pt x="285750" y="133350"/>
                </a:cubicBezTo>
                <a:lnTo>
                  <a:pt x="114300" y="133350"/>
                </a:lnTo>
                <a:close/>
                <a:moveTo>
                  <a:pt x="114300" y="228600"/>
                </a:moveTo>
                <a:cubicBezTo>
                  <a:pt x="103763" y="228600"/>
                  <a:pt x="95250" y="237113"/>
                  <a:pt x="95250" y="247650"/>
                </a:cubicBezTo>
                <a:cubicBezTo>
                  <a:pt x="95250" y="258187"/>
                  <a:pt x="103763" y="266700"/>
                  <a:pt x="114300" y="266700"/>
                </a:cubicBezTo>
                <a:lnTo>
                  <a:pt x="285750" y="266700"/>
                </a:lnTo>
                <a:cubicBezTo>
                  <a:pt x="296287" y="266700"/>
                  <a:pt x="304800" y="258187"/>
                  <a:pt x="304800" y="247650"/>
                </a:cubicBezTo>
                <a:cubicBezTo>
                  <a:pt x="304800" y="237113"/>
                  <a:pt x="296287" y="228600"/>
                  <a:pt x="285750" y="228600"/>
                </a:cubicBezTo>
                <a:lnTo>
                  <a:pt x="114300" y="228600"/>
                </a:lnTo>
                <a:close/>
                <a:moveTo>
                  <a:pt x="9525" y="138113"/>
                </a:moveTo>
                <a:lnTo>
                  <a:pt x="9525" y="166688"/>
                </a:lnTo>
                <a:cubicBezTo>
                  <a:pt x="9525" y="174605"/>
                  <a:pt x="15895" y="180975"/>
                  <a:pt x="23813" y="180975"/>
                </a:cubicBezTo>
                <a:lnTo>
                  <a:pt x="52388" y="180975"/>
                </a:lnTo>
                <a:cubicBezTo>
                  <a:pt x="60305" y="180975"/>
                  <a:pt x="66675" y="174605"/>
                  <a:pt x="66675" y="166688"/>
                </a:cubicBezTo>
                <a:lnTo>
                  <a:pt x="66675" y="138113"/>
                </a:lnTo>
                <a:cubicBezTo>
                  <a:pt x="66675" y="130195"/>
                  <a:pt x="60305" y="123825"/>
                  <a:pt x="52388" y="123825"/>
                </a:cubicBezTo>
                <a:lnTo>
                  <a:pt x="23813" y="123825"/>
                </a:lnTo>
                <a:cubicBezTo>
                  <a:pt x="15895" y="123825"/>
                  <a:pt x="9525" y="130195"/>
                  <a:pt x="9525" y="138113"/>
                </a:cubicBezTo>
                <a:close/>
                <a:moveTo>
                  <a:pt x="23813" y="219075"/>
                </a:moveTo>
                <a:cubicBezTo>
                  <a:pt x="15895" y="219075"/>
                  <a:pt x="9525" y="225445"/>
                  <a:pt x="9525" y="233363"/>
                </a:cubicBezTo>
                <a:lnTo>
                  <a:pt x="9525" y="261937"/>
                </a:lnTo>
                <a:cubicBezTo>
                  <a:pt x="9525" y="269855"/>
                  <a:pt x="15895" y="276225"/>
                  <a:pt x="23813" y="276225"/>
                </a:cubicBezTo>
                <a:lnTo>
                  <a:pt x="52388" y="276225"/>
                </a:lnTo>
                <a:cubicBezTo>
                  <a:pt x="60305" y="276225"/>
                  <a:pt x="66675" y="269855"/>
                  <a:pt x="66675" y="261937"/>
                </a:cubicBezTo>
                <a:lnTo>
                  <a:pt x="66675" y="233363"/>
                </a:lnTo>
                <a:cubicBezTo>
                  <a:pt x="66675" y="225445"/>
                  <a:pt x="60305" y="219075"/>
                  <a:pt x="52388" y="219075"/>
                </a:cubicBezTo>
                <a:lnTo>
                  <a:pt x="23813" y="219075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11328400" y="2260600"/>
            <a:ext cx="393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Hierarchy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896600" y="2667000"/>
            <a:ext cx="4368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4A4A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List of all GameObjects in the current scene and their parent-child relationships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3733800"/>
            <a:ext cx="4699000" cy="1397000"/>
          </a:xfrm>
          <a:prstGeom prst="roundRect">
            <a:avLst>
              <a:gd name="adj" fmla="val 6000"/>
            </a:avLst>
          </a:prstGeom>
          <a:solidFill>
            <a:srgbClr val="1A1A2E">
              <a:alpha val="5098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71550" y="39116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28575" y="14288"/>
                </a:moveTo>
                <a:cubicBezTo>
                  <a:pt x="28575" y="6370"/>
                  <a:pt x="22205" y="0"/>
                  <a:pt x="14288" y="0"/>
                </a:cubicBezTo>
                <a:cubicBezTo>
                  <a:pt x="6370" y="0"/>
                  <a:pt x="0" y="6370"/>
                  <a:pt x="0" y="14288"/>
                </a:cubicBezTo>
                <a:lnTo>
                  <a:pt x="0" y="233363"/>
                </a:lnTo>
                <a:cubicBezTo>
                  <a:pt x="0" y="251758"/>
                  <a:pt x="14942" y="266700"/>
                  <a:pt x="33338" y="266700"/>
                </a:cubicBezTo>
                <a:lnTo>
                  <a:pt x="142875" y="266700"/>
                </a:lnTo>
                <a:lnTo>
                  <a:pt x="142875" y="238125"/>
                </a:lnTo>
                <a:lnTo>
                  <a:pt x="33338" y="238125"/>
                </a:lnTo>
                <a:cubicBezTo>
                  <a:pt x="30718" y="238125"/>
                  <a:pt x="28575" y="235982"/>
                  <a:pt x="28575" y="233363"/>
                </a:cubicBezTo>
                <a:lnTo>
                  <a:pt x="28575" y="95250"/>
                </a:lnTo>
                <a:lnTo>
                  <a:pt x="142875" y="95250"/>
                </a:lnTo>
                <a:lnTo>
                  <a:pt x="142875" y="66675"/>
                </a:lnTo>
                <a:lnTo>
                  <a:pt x="28575" y="66675"/>
                </a:lnTo>
                <a:lnTo>
                  <a:pt x="28575" y="14288"/>
                </a:lnTo>
                <a:close/>
                <a:moveTo>
                  <a:pt x="200025" y="133350"/>
                </a:moveTo>
                <a:lnTo>
                  <a:pt x="314325" y="133350"/>
                </a:lnTo>
                <a:cubicBezTo>
                  <a:pt x="330101" y="133350"/>
                  <a:pt x="342900" y="120551"/>
                  <a:pt x="342900" y="104775"/>
                </a:cubicBezTo>
                <a:lnTo>
                  <a:pt x="342900" y="47625"/>
                </a:lnTo>
                <a:cubicBezTo>
                  <a:pt x="342900" y="31849"/>
                  <a:pt x="330101" y="19050"/>
                  <a:pt x="314325" y="19050"/>
                </a:cubicBezTo>
                <a:lnTo>
                  <a:pt x="265093" y="19050"/>
                </a:lnTo>
                <a:cubicBezTo>
                  <a:pt x="260033" y="19050"/>
                  <a:pt x="255210" y="17026"/>
                  <a:pt x="251639" y="13454"/>
                </a:cubicBezTo>
                <a:lnTo>
                  <a:pt x="246519" y="8334"/>
                </a:lnTo>
                <a:cubicBezTo>
                  <a:pt x="241161" y="2977"/>
                  <a:pt x="233898" y="-60"/>
                  <a:pt x="226338" y="-60"/>
                </a:cubicBezTo>
                <a:lnTo>
                  <a:pt x="200025" y="0"/>
                </a:lnTo>
                <a:cubicBezTo>
                  <a:pt x="184249" y="0"/>
                  <a:pt x="171450" y="12799"/>
                  <a:pt x="171450" y="28575"/>
                </a:cubicBezTo>
                <a:lnTo>
                  <a:pt x="171450" y="104775"/>
                </a:lnTo>
                <a:cubicBezTo>
                  <a:pt x="171450" y="120551"/>
                  <a:pt x="184249" y="133350"/>
                  <a:pt x="200025" y="133350"/>
                </a:cubicBezTo>
                <a:close/>
                <a:moveTo>
                  <a:pt x="200025" y="304800"/>
                </a:moveTo>
                <a:lnTo>
                  <a:pt x="314325" y="304800"/>
                </a:lnTo>
                <a:cubicBezTo>
                  <a:pt x="330101" y="304800"/>
                  <a:pt x="342900" y="292001"/>
                  <a:pt x="342900" y="276225"/>
                </a:cubicBezTo>
                <a:lnTo>
                  <a:pt x="342900" y="219075"/>
                </a:lnTo>
                <a:cubicBezTo>
                  <a:pt x="342900" y="203299"/>
                  <a:pt x="330101" y="190500"/>
                  <a:pt x="314325" y="190500"/>
                </a:cubicBezTo>
                <a:lnTo>
                  <a:pt x="265093" y="190500"/>
                </a:lnTo>
                <a:cubicBezTo>
                  <a:pt x="260033" y="190500"/>
                  <a:pt x="255210" y="188476"/>
                  <a:pt x="251639" y="184904"/>
                </a:cubicBezTo>
                <a:lnTo>
                  <a:pt x="246519" y="179784"/>
                </a:lnTo>
                <a:cubicBezTo>
                  <a:pt x="241161" y="174427"/>
                  <a:pt x="233898" y="171390"/>
                  <a:pt x="226338" y="171390"/>
                </a:cubicBezTo>
                <a:lnTo>
                  <a:pt x="200025" y="171450"/>
                </a:lnTo>
                <a:cubicBezTo>
                  <a:pt x="184249" y="171450"/>
                  <a:pt x="171450" y="184249"/>
                  <a:pt x="171450" y="200025"/>
                </a:cubicBezTo>
                <a:lnTo>
                  <a:pt x="171450" y="276225"/>
                </a:lnTo>
                <a:cubicBezTo>
                  <a:pt x="171450" y="292001"/>
                  <a:pt x="184249" y="304800"/>
                  <a:pt x="200025" y="30480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20" name="Text 18"/>
          <p:cNvSpPr/>
          <p:nvPr/>
        </p:nvSpPr>
        <p:spPr>
          <a:xfrm>
            <a:off x="1422400" y="38862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90600" y="4292600"/>
            <a:ext cx="4241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4A4A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File browser for all assets — models, textures, scripts, audio, scenes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715000" y="3733800"/>
            <a:ext cx="4699000" cy="1397000"/>
          </a:xfrm>
          <a:prstGeom prst="roundRect">
            <a:avLst>
              <a:gd name="adj" fmla="val 6000"/>
            </a:avLst>
          </a:prstGeom>
          <a:solidFill>
            <a:srgbClr val="1A1A2E">
              <a:alpha val="5098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5943600" y="3911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9050" y="38100"/>
                </a:moveTo>
                <a:cubicBezTo>
                  <a:pt x="8513" y="38100"/>
                  <a:pt x="0" y="46613"/>
                  <a:pt x="0" y="57150"/>
                </a:cubicBezTo>
                <a:cubicBezTo>
                  <a:pt x="0" y="67687"/>
                  <a:pt x="8513" y="76200"/>
                  <a:pt x="19050" y="76200"/>
                </a:cubicBezTo>
                <a:lnTo>
                  <a:pt x="70664" y="76200"/>
                </a:lnTo>
                <a:cubicBezTo>
                  <a:pt x="77986" y="93047"/>
                  <a:pt x="94774" y="104775"/>
                  <a:pt x="114300" y="104775"/>
                </a:cubicBezTo>
                <a:cubicBezTo>
                  <a:pt x="133826" y="104775"/>
                  <a:pt x="150614" y="93047"/>
                  <a:pt x="157936" y="76200"/>
                </a:cubicBezTo>
                <a:lnTo>
                  <a:pt x="285750" y="76200"/>
                </a:lnTo>
                <a:cubicBezTo>
                  <a:pt x="296287" y="76200"/>
                  <a:pt x="304800" y="67687"/>
                  <a:pt x="304800" y="57150"/>
                </a:cubicBezTo>
                <a:cubicBezTo>
                  <a:pt x="304800" y="46613"/>
                  <a:pt x="296287" y="38100"/>
                  <a:pt x="285750" y="38100"/>
                </a:cubicBezTo>
                <a:lnTo>
                  <a:pt x="157936" y="38100"/>
                </a:lnTo>
                <a:cubicBezTo>
                  <a:pt x="150614" y="21253"/>
                  <a:pt x="133826" y="9525"/>
                  <a:pt x="114300" y="9525"/>
                </a:cubicBezTo>
                <a:cubicBezTo>
                  <a:pt x="94774" y="9525"/>
                  <a:pt x="77986" y="21253"/>
                  <a:pt x="70664" y="38100"/>
                </a:cubicBezTo>
                <a:lnTo>
                  <a:pt x="19050" y="38100"/>
                </a:lnTo>
                <a:close/>
                <a:moveTo>
                  <a:pt x="19050" y="133350"/>
                </a:moveTo>
                <a:cubicBezTo>
                  <a:pt x="8513" y="133350"/>
                  <a:pt x="0" y="141863"/>
                  <a:pt x="0" y="152400"/>
                </a:cubicBezTo>
                <a:cubicBezTo>
                  <a:pt x="0" y="162937"/>
                  <a:pt x="8513" y="171450"/>
                  <a:pt x="19050" y="171450"/>
                </a:cubicBezTo>
                <a:lnTo>
                  <a:pt x="165914" y="171450"/>
                </a:lnTo>
                <a:cubicBezTo>
                  <a:pt x="173236" y="188297"/>
                  <a:pt x="190024" y="200025"/>
                  <a:pt x="209550" y="200025"/>
                </a:cubicBezTo>
                <a:cubicBezTo>
                  <a:pt x="229076" y="200025"/>
                  <a:pt x="245864" y="188297"/>
                  <a:pt x="253186" y="171450"/>
                </a:cubicBezTo>
                <a:lnTo>
                  <a:pt x="285750" y="171450"/>
                </a:lnTo>
                <a:cubicBezTo>
                  <a:pt x="296287" y="171450"/>
                  <a:pt x="304800" y="162937"/>
                  <a:pt x="304800" y="152400"/>
                </a:cubicBezTo>
                <a:cubicBezTo>
                  <a:pt x="304800" y="141863"/>
                  <a:pt x="296287" y="133350"/>
                  <a:pt x="285750" y="133350"/>
                </a:cubicBezTo>
                <a:lnTo>
                  <a:pt x="253186" y="133350"/>
                </a:lnTo>
                <a:cubicBezTo>
                  <a:pt x="245864" y="116503"/>
                  <a:pt x="229076" y="104775"/>
                  <a:pt x="209550" y="104775"/>
                </a:cubicBezTo>
                <a:cubicBezTo>
                  <a:pt x="190024" y="104775"/>
                  <a:pt x="173236" y="116503"/>
                  <a:pt x="165914" y="133350"/>
                </a:cubicBezTo>
                <a:lnTo>
                  <a:pt x="19050" y="133350"/>
                </a:lnTo>
                <a:close/>
                <a:moveTo>
                  <a:pt x="19050" y="228600"/>
                </a:moveTo>
                <a:cubicBezTo>
                  <a:pt x="8513" y="228600"/>
                  <a:pt x="0" y="237113"/>
                  <a:pt x="0" y="247650"/>
                </a:cubicBezTo>
                <a:cubicBezTo>
                  <a:pt x="0" y="258187"/>
                  <a:pt x="8513" y="266700"/>
                  <a:pt x="19050" y="266700"/>
                </a:cubicBezTo>
                <a:lnTo>
                  <a:pt x="51614" y="266700"/>
                </a:lnTo>
                <a:cubicBezTo>
                  <a:pt x="58936" y="283547"/>
                  <a:pt x="75724" y="295275"/>
                  <a:pt x="95250" y="295275"/>
                </a:cubicBezTo>
                <a:cubicBezTo>
                  <a:pt x="114776" y="295275"/>
                  <a:pt x="131564" y="283547"/>
                  <a:pt x="138886" y="266700"/>
                </a:cubicBezTo>
                <a:lnTo>
                  <a:pt x="285750" y="266700"/>
                </a:lnTo>
                <a:cubicBezTo>
                  <a:pt x="296287" y="266700"/>
                  <a:pt x="304800" y="258187"/>
                  <a:pt x="304800" y="247650"/>
                </a:cubicBezTo>
                <a:cubicBezTo>
                  <a:pt x="304800" y="237113"/>
                  <a:pt x="296287" y="228600"/>
                  <a:pt x="285750" y="228600"/>
                </a:cubicBezTo>
                <a:lnTo>
                  <a:pt x="138886" y="228600"/>
                </a:lnTo>
                <a:cubicBezTo>
                  <a:pt x="131564" y="211753"/>
                  <a:pt x="114776" y="200025"/>
                  <a:pt x="95250" y="200025"/>
                </a:cubicBezTo>
                <a:cubicBezTo>
                  <a:pt x="75724" y="200025"/>
                  <a:pt x="58936" y="211753"/>
                  <a:pt x="51614" y="228600"/>
                </a:cubicBezTo>
                <a:lnTo>
                  <a:pt x="19050" y="228600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24" name="Text 22"/>
          <p:cNvSpPr/>
          <p:nvPr/>
        </p:nvSpPr>
        <p:spPr>
          <a:xfrm>
            <a:off x="6375400" y="38862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Inspector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943600" y="4292600"/>
            <a:ext cx="4241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4A4A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Properties and components of the selected GameObject — editable in real-time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668000" y="3733800"/>
            <a:ext cx="4826000" cy="1397000"/>
          </a:xfrm>
          <a:prstGeom prst="roundRect">
            <a:avLst>
              <a:gd name="adj" fmla="val 6000"/>
            </a:avLst>
          </a:prstGeom>
          <a:solidFill>
            <a:srgbClr val="1A1A2E">
              <a:alpha val="5098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0896600" y="3911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5596" y="70604"/>
                </a:moveTo>
                <a:cubicBezTo>
                  <a:pt x="-1845" y="63163"/>
                  <a:pt x="-1845" y="51078"/>
                  <a:pt x="5596" y="43636"/>
                </a:cubicBezTo>
                <a:cubicBezTo>
                  <a:pt x="13037" y="36195"/>
                  <a:pt x="25122" y="36195"/>
                  <a:pt x="32564" y="43636"/>
                </a:cubicBezTo>
                <a:lnTo>
                  <a:pt x="127814" y="138886"/>
                </a:lnTo>
                <a:cubicBezTo>
                  <a:pt x="135255" y="146328"/>
                  <a:pt x="135255" y="158413"/>
                  <a:pt x="127814" y="165854"/>
                </a:cubicBezTo>
                <a:lnTo>
                  <a:pt x="32564" y="261104"/>
                </a:lnTo>
                <a:cubicBezTo>
                  <a:pt x="25122" y="268545"/>
                  <a:pt x="13037" y="268545"/>
                  <a:pt x="5596" y="261104"/>
                </a:cubicBezTo>
                <a:cubicBezTo>
                  <a:pt x="-1845" y="253663"/>
                  <a:pt x="-1845" y="241578"/>
                  <a:pt x="5596" y="234136"/>
                </a:cubicBezTo>
                <a:lnTo>
                  <a:pt x="87332" y="152400"/>
                </a:lnTo>
                <a:lnTo>
                  <a:pt x="5596" y="70604"/>
                </a:lnTo>
                <a:close/>
                <a:moveTo>
                  <a:pt x="133350" y="228600"/>
                </a:moveTo>
                <a:lnTo>
                  <a:pt x="285750" y="228600"/>
                </a:lnTo>
                <a:cubicBezTo>
                  <a:pt x="296287" y="228600"/>
                  <a:pt x="304800" y="237113"/>
                  <a:pt x="304800" y="247650"/>
                </a:cubicBezTo>
                <a:cubicBezTo>
                  <a:pt x="304800" y="258187"/>
                  <a:pt x="296287" y="266700"/>
                  <a:pt x="285750" y="266700"/>
                </a:cubicBezTo>
                <a:lnTo>
                  <a:pt x="133350" y="266700"/>
                </a:lnTo>
                <a:cubicBezTo>
                  <a:pt x="122813" y="266700"/>
                  <a:pt x="114300" y="258187"/>
                  <a:pt x="114300" y="247650"/>
                </a:cubicBezTo>
                <a:cubicBezTo>
                  <a:pt x="114300" y="237113"/>
                  <a:pt x="122813" y="228600"/>
                  <a:pt x="133350" y="22860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28" name="Text 26"/>
          <p:cNvSpPr/>
          <p:nvPr/>
        </p:nvSpPr>
        <p:spPr>
          <a:xfrm>
            <a:off x="11328400" y="3886200"/>
            <a:ext cx="393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Console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896600" y="4292600"/>
            <a:ext cx="4368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4A4A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Logs, errors, warnings, and debug output from scripts and the engine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62000" y="54356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100" kern="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ESSENTIAL SHORTCUTS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892800"/>
          <a:ext cx="14732000" cy="2413000"/>
        </p:xfrm>
        <a:graphic>
          <a:graphicData uri="http://schemas.openxmlformats.org/drawingml/2006/table">
            <a:tbl>
              <a:tblPr/>
              <a:tblGrid>
                <a:gridCol w="3683000"/>
                <a:gridCol w="3683000"/>
                <a:gridCol w="3683000"/>
                <a:gridCol w="3683000"/>
              </a:tblGrid>
              <a:tr h="669576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5F5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Shortcut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5F5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Function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5F5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Shortcut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5F5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Function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81141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Q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Hand tool (pan view)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Ctrl + 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Save scene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</a:tr>
              <a:tr h="581141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Move tool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Space + Click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Maximize window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5"/>
                    </a:solidFill>
                  </a:tcPr>
                </a:tc>
              </a:tr>
              <a:tr h="581141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 / 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Rotate / Scale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Ctrl + Z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Undo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</a:tr>
            </a:tbl>
          </a:graphicData>
        </a:graphic>
      </p:graphicFrame>
      <p:sp>
        <p:nvSpPr>
          <p:cNvPr id="32" name="Shape 29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3" name="Text 30"/>
          <p:cNvSpPr/>
          <p:nvPr/>
        </p:nvSpPr>
        <p:spPr>
          <a:xfrm>
            <a:off x="14732000" y="87884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4A4A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4A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 PROGRAMMING — WEEK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7112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100" kern="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Creating a New Unity Project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600200"/>
            <a:ext cx="406400" cy="4064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6002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0800" y="1574800"/>
            <a:ext cx="711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 Unity Hub, go to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Projects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tab, click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"New Project"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2235200"/>
            <a:ext cx="406400" cy="4064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22352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0800" y="2209800"/>
            <a:ext cx="711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Select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"3D"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template (URP recommended)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2870200"/>
            <a:ext cx="406400" cy="4064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28702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20800" y="2844800"/>
            <a:ext cx="711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Name the project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"SolarSystem"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3505200"/>
            <a:ext cx="406400" cy="4064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5" name="Text 13"/>
          <p:cNvSpPr/>
          <p:nvPr/>
        </p:nvSpPr>
        <p:spPr>
          <a:xfrm>
            <a:off x="762000" y="35052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20800" y="3479800"/>
            <a:ext cx="711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Choose a location and click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"Create Project"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2000" y="42164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100" kern="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DEFAULT PROJECT STRUCTURE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4699000"/>
            <a:ext cx="7620000" cy="3556000"/>
          </a:xfrm>
          <a:prstGeom prst="roundRect">
            <a:avLst>
              <a:gd name="adj" fmla="val 4000"/>
            </a:avLst>
          </a:prstGeom>
          <a:solidFill>
            <a:srgbClr val="1A1A2E">
              <a:alpha val="5098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016000" y="4851400"/>
            <a:ext cx="7112000" cy="325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FF6B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SolarSystem/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FF6B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Assets/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4A4A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← All game resources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FF6B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Packages/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4A4A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← Managed dependencies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FF6B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ProjectSettings/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4A4A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← Configuration files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FF6B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UserSettings/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4A4A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← Personal preferences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4A4A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Initial scene: Main Camera + Directional Light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890000" y="1600200"/>
            <a:ext cx="6604000" cy="1524000"/>
          </a:xfrm>
          <a:prstGeom prst="roundRect">
            <a:avLst>
              <a:gd name="adj" fmla="val 6000"/>
            </a:avLst>
          </a:prstGeom>
          <a:solidFill>
            <a:srgbClr val="FF6B35">
              <a:alpha val="8235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232900" y="18288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74367" y="228600"/>
                </a:moveTo>
                <a:cubicBezTo>
                  <a:pt x="178713" y="215325"/>
                  <a:pt x="187404" y="203299"/>
                  <a:pt x="197227" y="192941"/>
                </a:cubicBezTo>
                <a:cubicBezTo>
                  <a:pt x="216694" y="172462"/>
                  <a:pt x="228600" y="144780"/>
                  <a:pt x="228600" y="114300"/>
                </a:cubicBezTo>
                <a:cubicBezTo>
                  <a:pt x="228600" y="51197"/>
                  <a:pt x="177403" y="0"/>
                  <a:pt x="114300" y="0"/>
                </a:cubicBezTo>
                <a:cubicBezTo>
                  <a:pt x="51197" y="0"/>
                  <a:pt x="0" y="51197"/>
                  <a:pt x="0" y="114300"/>
                </a:cubicBezTo>
                <a:cubicBezTo>
                  <a:pt x="0" y="144780"/>
                  <a:pt x="11906" y="172462"/>
                  <a:pt x="31373" y="192941"/>
                </a:cubicBezTo>
                <a:cubicBezTo>
                  <a:pt x="41196" y="203299"/>
                  <a:pt x="49947" y="215325"/>
                  <a:pt x="54233" y="228600"/>
                </a:cubicBezTo>
                <a:lnTo>
                  <a:pt x="174308" y="228600"/>
                </a:lnTo>
                <a:close/>
                <a:moveTo>
                  <a:pt x="171450" y="257175"/>
                </a:moveTo>
                <a:lnTo>
                  <a:pt x="57150" y="257175"/>
                </a:lnTo>
                <a:lnTo>
                  <a:pt x="57150" y="266700"/>
                </a:lnTo>
                <a:cubicBezTo>
                  <a:pt x="57150" y="293013"/>
                  <a:pt x="78462" y="314325"/>
                  <a:pt x="104775" y="314325"/>
                </a:cubicBezTo>
                <a:lnTo>
                  <a:pt x="123825" y="314325"/>
                </a:lnTo>
                <a:cubicBezTo>
                  <a:pt x="150138" y="314325"/>
                  <a:pt x="171450" y="293013"/>
                  <a:pt x="171450" y="266700"/>
                </a:cubicBezTo>
                <a:lnTo>
                  <a:pt x="171450" y="257175"/>
                </a:lnTo>
                <a:close/>
                <a:moveTo>
                  <a:pt x="109537" y="66675"/>
                </a:moveTo>
                <a:cubicBezTo>
                  <a:pt x="85844" y="66675"/>
                  <a:pt x="66675" y="85844"/>
                  <a:pt x="66675" y="109537"/>
                </a:cubicBezTo>
                <a:cubicBezTo>
                  <a:pt x="66675" y="117455"/>
                  <a:pt x="60305" y="123825"/>
                  <a:pt x="52388" y="123825"/>
                </a:cubicBezTo>
                <a:cubicBezTo>
                  <a:pt x="44470" y="123825"/>
                  <a:pt x="38100" y="117455"/>
                  <a:pt x="38100" y="109537"/>
                </a:cubicBezTo>
                <a:cubicBezTo>
                  <a:pt x="38100" y="70068"/>
                  <a:pt x="70068" y="38100"/>
                  <a:pt x="109537" y="38100"/>
                </a:cubicBezTo>
                <a:cubicBezTo>
                  <a:pt x="117455" y="38100"/>
                  <a:pt x="123825" y="44470"/>
                  <a:pt x="123825" y="52388"/>
                </a:cubicBezTo>
                <a:cubicBezTo>
                  <a:pt x="123825" y="60305"/>
                  <a:pt x="117455" y="66675"/>
                  <a:pt x="109537" y="66675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22" name="Text 20"/>
          <p:cNvSpPr/>
          <p:nvPr/>
        </p:nvSpPr>
        <p:spPr>
          <a:xfrm>
            <a:off x="9626600" y="18034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FF6B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URP vs Built-in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94800" y="2235200"/>
            <a:ext cx="60452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Universal Render Pipeline (URP)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offers better performance and visual quality for most projects.</a:t>
            </a:r>
            <a:endParaRPr lang="en-US" sz="1600" dirty="0"/>
          </a:p>
        </p:txBody>
      </p:sp>
      <p:pic>
        <p:nvPicPr>
          <p:cNvPr id="24" name="Image 0" descr="https://kimi-img.moonshot.cn/pub/slides/okc/3laoalbxzvofm/mnt/agents/output/game_programming_week3/images/6_Unity_Editor_is_completely_pitch.png">    </p:cNvPr>
          <p:cNvPicPr>
            <a:picLocks noChangeAspect="1"/>
          </p:cNvPicPr>
          <p:nvPr/>
        </p:nvPicPr>
        <p:blipFill>
          <a:blip r:embed="rId1"/>
          <a:srcRect l="11532" r="11532" t="0" b="0"/>
          <a:stretch/>
        </p:blipFill>
        <p:spPr>
          <a:xfrm>
            <a:off x="8890000" y="3429000"/>
            <a:ext cx="6604000" cy="4826000"/>
          </a:xfrm>
          <a:prstGeom prst="roundRect">
            <a:avLst>
              <a:gd name="adj" fmla="val 6000"/>
            </a:avLst>
          </a:prstGeom>
        </p:spPr>
      </p:pic>
      <p:sp>
        <p:nvSpPr>
          <p:cNvPr id="25" name="Shape 22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6" name="Text 23"/>
          <p:cNvSpPr/>
          <p:nvPr/>
        </p:nvSpPr>
        <p:spPr>
          <a:xfrm>
            <a:off x="14732000" y="87884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4A4A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4A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 PROGRAMMING — WEEK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7112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100" kern="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Structure &amp; Organization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98600"/>
            <a:ext cx="762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Good folder organization is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essential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maintaining a clean, scalable project.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413000"/>
            <a:ext cx="7112000" cy="571500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5654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spc="100" kern="0" dirty="0">
                <a:solidFill>
                  <a:srgbClr val="FF6B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RECOMMENDED FOLDERS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997200"/>
            <a:ext cx="6604000" cy="495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FF6B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Assets/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Materials/ 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F5F5F0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← Shaders, surface materials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Meshes/ 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F5F5F0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← 3D models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Textures/ 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F5F5F0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← Image files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Scripts/ 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F5F5F0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← C# code files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Prefabs/ 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F5F5F0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← Reusable templates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Scenes/ 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F5F5F0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← Level/scene files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Audio/ 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F5F5F0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← Sound effects, music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Resources/ 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F5F5F0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← Dynamically loaded assets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382000" y="2413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100" kern="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NAMING CONVENTIONS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97875" y="29210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215702" y="34776"/>
                </a:moveTo>
                <a:cubicBezTo>
                  <a:pt x="222796" y="39936"/>
                  <a:pt x="224383" y="49857"/>
                  <a:pt x="219224" y="56952"/>
                </a:cubicBezTo>
                <a:lnTo>
                  <a:pt x="92224" y="231577"/>
                </a:lnTo>
                <a:cubicBezTo>
                  <a:pt x="89495" y="235347"/>
                  <a:pt x="85279" y="237679"/>
                  <a:pt x="80615" y="238075"/>
                </a:cubicBezTo>
                <a:cubicBezTo>
                  <a:pt x="75952" y="238472"/>
                  <a:pt x="71438" y="236736"/>
                  <a:pt x="68163" y="233462"/>
                </a:cubicBezTo>
                <a:lnTo>
                  <a:pt x="4663" y="169962"/>
                </a:lnTo>
                <a:cubicBezTo>
                  <a:pt x="-1538" y="163761"/>
                  <a:pt x="-1538" y="153690"/>
                  <a:pt x="4663" y="147489"/>
                </a:cubicBezTo>
                <a:cubicBezTo>
                  <a:pt x="10864" y="141288"/>
                  <a:pt x="20935" y="141288"/>
                  <a:pt x="27136" y="147489"/>
                </a:cubicBezTo>
                <a:lnTo>
                  <a:pt x="77490" y="197842"/>
                </a:lnTo>
                <a:lnTo>
                  <a:pt x="193576" y="38249"/>
                </a:lnTo>
                <a:cubicBezTo>
                  <a:pt x="198735" y="31155"/>
                  <a:pt x="208657" y="29567"/>
                  <a:pt x="215751" y="34727"/>
                </a:cubicBezTo>
                <a:close/>
              </a:path>
            </a:pathLst>
          </a:custGeom>
          <a:solidFill>
            <a:srgbClr val="4CAF50"/>
          </a:solidFill>
          <a:ln/>
        </p:spPr>
      </p:sp>
      <p:sp>
        <p:nvSpPr>
          <p:cNvPr id="11" name="Text 9"/>
          <p:cNvSpPr/>
          <p:nvPr/>
        </p:nvSpPr>
        <p:spPr>
          <a:xfrm>
            <a:off x="8763000" y="2895600"/>
            <a:ext cx="673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PascalCase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folders and files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397875" y="36322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215702" y="34776"/>
                </a:moveTo>
                <a:cubicBezTo>
                  <a:pt x="222796" y="39936"/>
                  <a:pt x="224383" y="49857"/>
                  <a:pt x="219224" y="56952"/>
                </a:cubicBezTo>
                <a:lnTo>
                  <a:pt x="92224" y="231577"/>
                </a:lnTo>
                <a:cubicBezTo>
                  <a:pt x="89495" y="235347"/>
                  <a:pt x="85279" y="237679"/>
                  <a:pt x="80615" y="238075"/>
                </a:cubicBezTo>
                <a:cubicBezTo>
                  <a:pt x="75952" y="238472"/>
                  <a:pt x="71438" y="236736"/>
                  <a:pt x="68163" y="233462"/>
                </a:cubicBezTo>
                <a:lnTo>
                  <a:pt x="4663" y="169962"/>
                </a:lnTo>
                <a:cubicBezTo>
                  <a:pt x="-1538" y="163761"/>
                  <a:pt x="-1538" y="153690"/>
                  <a:pt x="4663" y="147489"/>
                </a:cubicBezTo>
                <a:cubicBezTo>
                  <a:pt x="10864" y="141288"/>
                  <a:pt x="20935" y="141288"/>
                  <a:pt x="27136" y="147489"/>
                </a:cubicBezTo>
                <a:lnTo>
                  <a:pt x="77490" y="197842"/>
                </a:lnTo>
                <a:lnTo>
                  <a:pt x="193576" y="38249"/>
                </a:lnTo>
                <a:cubicBezTo>
                  <a:pt x="198735" y="31155"/>
                  <a:pt x="208657" y="29567"/>
                  <a:pt x="215751" y="34727"/>
                </a:cubicBezTo>
                <a:close/>
              </a:path>
            </a:pathLst>
          </a:custGeom>
          <a:solidFill>
            <a:srgbClr val="4CAF50"/>
          </a:solidFill>
          <a:ln/>
        </p:spPr>
      </p:sp>
      <p:sp>
        <p:nvSpPr>
          <p:cNvPr id="13" name="Text 11"/>
          <p:cNvSpPr/>
          <p:nvPr/>
        </p:nvSpPr>
        <p:spPr>
          <a:xfrm>
            <a:off x="8763000" y="3606800"/>
            <a:ext cx="673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spaces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file names (use underscores)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397875" y="43434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215702" y="34776"/>
                </a:moveTo>
                <a:cubicBezTo>
                  <a:pt x="222796" y="39936"/>
                  <a:pt x="224383" y="49857"/>
                  <a:pt x="219224" y="56952"/>
                </a:cubicBezTo>
                <a:lnTo>
                  <a:pt x="92224" y="231577"/>
                </a:lnTo>
                <a:cubicBezTo>
                  <a:pt x="89495" y="235347"/>
                  <a:pt x="85279" y="237679"/>
                  <a:pt x="80615" y="238075"/>
                </a:cubicBezTo>
                <a:cubicBezTo>
                  <a:pt x="75952" y="238472"/>
                  <a:pt x="71438" y="236736"/>
                  <a:pt x="68163" y="233462"/>
                </a:cubicBezTo>
                <a:lnTo>
                  <a:pt x="4663" y="169962"/>
                </a:lnTo>
                <a:cubicBezTo>
                  <a:pt x="-1538" y="163761"/>
                  <a:pt x="-1538" y="153690"/>
                  <a:pt x="4663" y="147489"/>
                </a:cubicBezTo>
                <a:cubicBezTo>
                  <a:pt x="10864" y="141288"/>
                  <a:pt x="20935" y="141288"/>
                  <a:pt x="27136" y="147489"/>
                </a:cubicBezTo>
                <a:lnTo>
                  <a:pt x="77490" y="197842"/>
                </a:lnTo>
                <a:lnTo>
                  <a:pt x="193576" y="38249"/>
                </a:lnTo>
                <a:cubicBezTo>
                  <a:pt x="198735" y="31155"/>
                  <a:pt x="208657" y="29567"/>
                  <a:pt x="215751" y="34727"/>
                </a:cubicBezTo>
                <a:close/>
              </a:path>
            </a:pathLst>
          </a:custGeom>
          <a:solidFill>
            <a:srgbClr val="4CAF50"/>
          </a:solidFill>
          <a:ln/>
        </p:spPr>
      </p:sp>
      <p:sp>
        <p:nvSpPr>
          <p:cNvPr id="15" name="Text 13"/>
          <p:cNvSpPr/>
          <p:nvPr/>
        </p:nvSpPr>
        <p:spPr>
          <a:xfrm>
            <a:off x="8763000" y="4318000"/>
            <a:ext cx="673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descriptive names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not "Script1.cs"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397875" y="50546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215702" y="34776"/>
                </a:moveTo>
                <a:cubicBezTo>
                  <a:pt x="222796" y="39936"/>
                  <a:pt x="224383" y="49857"/>
                  <a:pt x="219224" y="56952"/>
                </a:cubicBezTo>
                <a:lnTo>
                  <a:pt x="92224" y="231577"/>
                </a:lnTo>
                <a:cubicBezTo>
                  <a:pt x="89495" y="235347"/>
                  <a:pt x="85279" y="237679"/>
                  <a:pt x="80615" y="238075"/>
                </a:cubicBezTo>
                <a:cubicBezTo>
                  <a:pt x="75952" y="238472"/>
                  <a:pt x="71438" y="236736"/>
                  <a:pt x="68163" y="233462"/>
                </a:cubicBezTo>
                <a:lnTo>
                  <a:pt x="4663" y="169962"/>
                </a:lnTo>
                <a:cubicBezTo>
                  <a:pt x="-1538" y="163761"/>
                  <a:pt x="-1538" y="153690"/>
                  <a:pt x="4663" y="147489"/>
                </a:cubicBezTo>
                <a:cubicBezTo>
                  <a:pt x="10864" y="141288"/>
                  <a:pt x="20935" y="141288"/>
                  <a:pt x="27136" y="147489"/>
                </a:cubicBezTo>
                <a:lnTo>
                  <a:pt x="77490" y="197842"/>
                </a:lnTo>
                <a:lnTo>
                  <a:pt x="193576" y="38249"/>
                </a:lnTo>
                <a:cubicBezTo>
                  <a:pt x="198735" y="31155"/>
                  <a:pt x="208657" y="29567"/>
                  <a:pt x="215751" y="34727"/>
                </a:cubicBezTo>
                <a:close/>
              </a:path>
            </a:pathLst>
          </a:custGeom>
          <a:solidFill>
            <a:srgbClr val="4CAF50"/>
          </a:solidFill>
          <a:ln/>
        </p:spPr>
      </p:sp>
      <p:sp>
        <p:nvSpPr>
          <p:cNvPr id="17" name="Text 15"/>
          <p:cNvSpPr/>
          <p:nvPr/>
        </p:nvSpPr>
        <p:spPr>
          <a:xfrm>
            <a:off x="8763000" y="5029200"/>
            <a:ext cx="673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Organize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early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messy projects become unmanageable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382000" y="5918200"/>
            <a:ext cx="7112000" cy="1270000"/>
          </a:xfrm>
          <a:prstGeom prst="roundRect">
            <a:avLst>
              <a:gd name="adj" fmla="val 6000"/>
            </a:avLst>
          </a:prstGeom>
          <a:solidFill>
            <a:srgbClr val="FF6B35">
              <a:alpha val="8235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686800" y="6172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61151" y="0"/>
                  <a:pt x="169188" y="4822"/>
                  <a:pt x="173355" y="12502"/>
                </a:cubicBezTo>
                <a:lnTo>
                  <a:pt x="301943" y="250627"/>
                </a:lnTo>
                <a:cubicBezTo>
                  <a:pt x="305931" y="258008"/>
                  <a:pt x="305753" y="266938"/>
                  <a:pt x="301466" y="274141"/>
                </a:cubicBezTo>
                <a:cubicBezTo>
                  <a:pt x="297180" y="281345"/>
                  <a:pt x="289381" y="285750"/>
                  <a:pt x="280987" y="285750"/>
                </a:cubicBezTo>
                <a:lnTo>
                  <a:pt x="23813" y="285750"/>
                </a:lnTo>
                <a:cubicBezTo>
                  <a:pt x="15419" y="285750"/>
                  <a:pt x="7680" y="281345"/>
                  <a:pt x="3334" y="274141"/>
                </a:cubicBezTo>
                <a:cubicBezTo>
                  <a:pt x="-1012" y="266938"/>
                  <a:pt x="-1131" y="258008"/>
                  <a:pt x="2858" y="250627"/>
                </a:cubicBezTo>
                <a:lnTo>
                  <a:pt x="131445" y="12502"/>
                </a:lnTo>
                <a:cubicBezTo>
                  <a:pt x="135612" y="4822"/>
                  <a:pt x="143649" y="0"/>
                  <a:pt x="152400" y="0"/>
                </a:cubicBezTo>
                <a:close/>
                <a:moveTo>
                  <a:pt x="152400" y="100013"/>
                </a:moveTo>
                <a:cubicBezTo>
                  <a:pt x="144482" y="100013"/>
                  <a:pt x="138113" y="106382"/>
                  <a:pt x="138113" y="114300"/>
                </a:cubicBezTo>
                <a:lnTo>
                  <a:pt x="138113" y="180975"/>
                </a:lnTo>
                <a:cubicBezTo>
                  <a:pt x="138113" y="188893"/>
                  <a:pt x="144482" y="195263"/>
                  <a:pt x="152400" y="195263"/>
                </a:cubicBezTo>
                <a:cubicBezTo>
                  <a:pt x="160318" y="195263"/>
                  <a:pt x="166688" y="188893"/>
                  <a:pt x="166688" y="180975"/>
                </a:cubicBezTo>
                <a:lnTo>
                  <a:pt x="166688" y="114300"/>
                </a:lnTo>
                <a:cubicBezTo>
                  <a:pt x="166688" y="106382"/>
                  <a:pt x="160318" y="100013"/>
                  <a:pt x="152400" y="100013"/>
                </a:cubicBezTo>
                <a:close/>
                <a:moveTo>
                  <a:pt x="168295" y="228600"/>
                </a:moveTo>
                <a:cubicBezTo>
                  <a:pt x="168656" y="222700"/>
                  <a:pt x="165714" y="217087"/>
                  <a:pt x="160656" y="214027"/>
                </a:cubicBezTo>
                <a:cubicBezTo>
                  <a:pt x="155599" y="210968"/>
                  <a:pt x="149261" y="210968"/>
                  <a:pt x="144203" y="214027"/>
                </a:cubicBezTo>
                <a:cubicBezTo>
                  <a:pt x="139145" y="217087"/>
                  <a:pt x="136203" y="222700"/>
                  <a:pt x="136565" y="228600"/>
                </a:cubicBezTo>
                <a:cubicBezTo>
                  <a:pt x="136203" y="234500"/>
                  <a:pt x="139145" y="240113"/>
                  <a:pt x="144203" y="243173"/>
                </a:cubicBezTo>
                <a:cubicBezTo>
                  <a:pt x="149261" y="246232"/>
                  <a:pt x="155599" y="246232"/>
                  <a:pt x="160656" y="243173"/>
                </a:cubicBezTo>
                <a:cubicBezTo>
                  <a:pt x="165714" y="240113"/>
                  <a:pt x="168656" y="234500"/>
                  <a:pt x="168295" y="22860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20" name="Text 18"/>
          <p:cNvSpPr/>
          <p:nvPr/>
        </p:nvSpPr>
        <p:spPr>
          <a:xfrm>
            <a:off x="9118600" y="61468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FF6B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WARNING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686800" y="6553200"/>
            <a:ext cx="6553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Renaming or moving files outside Unity breaks references. Always use the Project window.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3" name="Text 21"/>
          <p:cNvSpPr/>
          <p:nvPr/>
        </p:nvSpPr>
        <p:spPr>
          <a:xfrm>
            <a:off x="14732000" y="87884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4A4A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4A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 PROGRAMMING — WEEK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7112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100" kern="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Downloading &amp; Importing Assets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24000"/>
            <a:ext cx="762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Assets needed for the Solar System project and where to find them: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26162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100" kern="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ASSET SOURCES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3098800"/>
            <a:ext cx="3556000" cy="1143000"/>
          </a:xfrm>
          <a:prstGeom prst="roundRect">
            <a:avLst>
              <a:gd name="adj" fmla="val 6000"/>
            </a:avLst>
          </a:prstGeom>
          <a:solidFill>
            <a:srgbClr val="1A1A2E">
              <a:alpha val="5098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90600" y="32766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6753" y="39454"/>
                </a:moveTo>
                <a:cubicBezTo>
                  <a:pt x="20518" y="26412"/>
                  <a:pt x="32469" y="17463"/>
                  <a:pt x="46057" y="17463"/>
                </a:cubicBezTo>
                <a:lnTo>
                  <a:pt x="233779" y="17463"/>
                </a:lnTo>
                <a:cubicBezTo>
                  <a:pt x="247367" y="17463"/>
                  <a:pt x="259318" y="26412"/>
                  <a:pt x="263138" y="39454"/>
                </a:cubicBezTo>
                <a:lnTo>
                  <a:pt x="275908" y="83220"/>
                </a:lnTo>
                <a:cubicBezTo>
                  <a:pt x="282892" y="107067"/>
                  <a:pt x="264939" y="130969"/>
                  <a:pt x="240109" y="130969"/>
                </a:cubicBezTo>
                <a:cubicBezTo>
                  <a:pt x="225757" y="130969"/>
                  <a:pt x="213152" y="122838"/>
                  <a:pt x="206931" y="110723"/>
                </a:cubicBezTo>
                <a:cubicBezTo>
                  <a:pt x="200600" y="122674"/>
                  <a:pt x="188049" y="130969"/>
                  <a:pt x="173424" y="130969"/>
                </a:cubicBezTo>
                <a:cubicBezTo>
                  <a:pt x="158909" y="130969"/>
                  <a:pt x="146303" y="122783"/>
                  <a:pt x="139973" y="110778"/>
                </a:cubicBezTo>
                <a:cubicBezTo>
                  <a:pt x="133643" y="122783"/>
                  <a:pt x="121037" y="130969"/>
                  <a:pt x="106521" y="130969"/>
                </a:cubicBezTo>
                <a:cubicBezTo>
                  <a:pt x="91896" y="130969"/>
                  <a:pt x="79345" y="122729"/>
                  <a:pt x="73015" y="110723"/>
                </a:cubicBezTo>
                <a:cubicBezTo>
                  <a:pt x="66794" y="122783"/>
                  <a:pt x="54188" y="130969"/>
                  <a:pt x="39836" y="130969"/>
                </a:cubicBezTo>
                <a:cubicBezTo>
                  <a:pt x="14952" y="130969"/>
                  <a:pt x="-2947" y="107122"/>
                  <a:pt x="4038" y="83220"/>
                </a:cubicBezTo>
                <a:lnTo>
                  <a:pt x="16753" y="39454"/>
                </a:lnTo>
                <a:close/>
                <a:moveTo>
                  <a:pt x="52606" y="192088"/>
                </a:moveTo>
                <a:lnTo>
                  <a:pt x="227231" y="192088"/>
                </a:lnTo>
                <a:lnTo>
                  <a:pt x="227231" y="155853"/>
                </a:lnTo>
                <a:cubicBezTo>
                  <a:pt x="231378" y="156726"/>
                  <a:pt x="235689" y="157163"/>
                  <a:pt x="240055" y="157163"/>
                </a:cubicBezTo>
                <a:cubicBezTo>
                  <a:pt x="247858" y="157163"/>
                  <a:pt x="255334" y="155744"/>
                  <a:pt x="262156" y="153233"/>
                </a:cubicBezTo>
                <a:lnTo>
                  <a:pt x="262156" y="235744"/>
                </a:lnTo>
                <a:cubicBezTo>
                  <a:pt x="262156" y="250205"/>
                  <a:pt x="250423" y="261938"/>
                  <a:pt x="235962" y="261938"/>
                </a:cubicBezTo>
                <a:lnTo>
                  <a:pt x="43875" y="261938"/>
                </a:lnTo>
                <a:cubicBezTo>
                  <a:pt x="29413" y="261938"/>
                  <a:pt x="17681" y="250205"/>
                  <a:pt x="17681" y="235744"/>
                </a:cubicBezTo>
                <a:lnTo>
                  <a:pt x="17681" y="153233"/>
                </a:lnTo>
                <a:cubicBezTo>
                  <a:pt x="24502" y="155744"/>
                  <a:pt x="31924" y="157163"/>
                  <a:pt x="39782" y="157163"/>
                </a:cubicBezTo>
                <a:cubicBezTo>
                  <a:pt x="44202" y="157163"/>
                  <a:pt x="48458" y="156726"/>
                  <a:pt x="52606" y="155853"/>
                </a:cubicBezTo>
                <a:lnTo>
                  <a:pt x="52606" y="192088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3251200"/>
            <a:ext cx="279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Unity Asset Store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90600" y="3657600"/>
            <a:ext cx="3149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4A4A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Free space asset packs and tools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0" y="3098800"/>
            <a:ext cx="3556000" cy="1143000"/>
          </a:xfrm>
          <a:prstGeom prst="roundRect">
            <a:avLst>
              <a:gd name="adj" fmla="val 6000"/>
            </a:avLst>
          </a:prstGeom>
          <a:solidFill>
            <a:srgbClr val="1A1A2E">
              <a:alpha val="5098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800600" y="32766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69850" y="174625"/>
                </a:moveTo>
                <a:lnTo>
                  <a:pt x="13370" y="174625"/>
                </a:lnTo>
                <a:cubicBezTo>
                  <a:pt x="-218" y="174625"/>
                  <a:pt x="-8568" y="159836"/>
                  <a:pt x="-1583" y="148158"/>
                </a:cubicBezTo>
                <a:lnTo>
                  <a:pt x="27285" y="100027"/>
                </a:lnTo>
                <a:cubicBezTo>
                  <a:pt x="32033" y="92115"/>
                  <a:pt x="40546" y="87313"/>
                  <a:pt x="49768" y="87313"/>
                </a:cubicBezTo>
                <a:lnTo>
                  <a:pt x="101610" y="87313"/>
                </a:lnTo>
                <a:cubicBezTo>
                  <a:pt x="143138" y="16971"/>
                  <a:pt x="205075" y="13424"/>
                  <a:pt x="246494" y="19482"/>
                </a:cubicBezTo>
                <a:cubicBezTo>
                  <a:pt x="253479" y="20518"/>
                  <a:pt x="258936" y="25975"/>
                  <a:pt x="259918" y="32906"/>
                </a:cubicBezTo>
                <a:cubicBezTo>
                  <a:pt x="265976" y="74325"/>
                  <a:pt x="262429" y="136262"/>
                  <a:pt x="192088" y="177790"/>
                </a:cubicBezTo>
                <a:lnTo>
                  <a:pt x="192088" y="229632"/>
                </a:lnTo>
                <a:cubicBezTo>
                  <a:pt x="192088" y="238854"/>
                  <a:pt x="187285" y="247367"/>
                  <a:pt x="179373" y="252115"/>
                </a:cubicBezTo>
                <a:lnTo>
                  <a:pt x="131242" y="280983"/>
                </a:lnTo>
                <a:cubicBezTo>
                  <a:pt x="119618" y="287968"/>
                  <a:pt x="104775" y="279564"/>
                  <a:pt x="104775" y="266030"/>
                </a:cubicBezTo>
                <a:lnTo>
                  <a:pt x="104775" y="209550"/>
                </a:lnTo>
                <a:cubicBezTo>
                  <a:pt x="104775" y="190287"/>
                  <a:pt x="89113" y="174625"/>
                  <a:pt x="69850" y="174625"/>
                </a:cubicBezTo>
                <a:lnTo>
                  <a:pt x="69795" y="174625"/>
                </a:lnTo>
                <a:close/>
                <a:moveTo>
                  <a:pt x="218281" y="87313"/>
                </a:moveTo>
                <a:cubicBezTo>
                  <a:pt x="218281" y="72856"/>
                  <a:pt x="206544" y="61119"/>
                  <a:pt x="192088" y="61119"/>
                </a:cubicBezTo>
                <a:cubicBezTo>
                  <a:pt x="177631" y="61119"/>
                  <a:pt x="165894" y="72856"/>
                  <a:pt x="165894" y="87313"/>
                </a:cubicBezTo>
                <a:cubicBezTo>
                  <a:pt x="165894" y="101769"/>
                  <a:pt x="177631" y="113506"/>
                  <a:pt x="192088" y="113506"/>
                </a:cubicBezTo>
                <a:cubicBezTo>
                  <a:pt x="206544" y="113506"/>
                  <a:pt x="218281" y="101769"/>
                  <a:pt x="218281" y="87313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13" name="Text 11"/>
          <p:cNvSpPr/>
          <p:nvPr/>
        </p:nvSpPr>
        <p:spPr>
          <a:xfrm>
            <a:off x="5181600" y="3251200"/>
            <a:ext cx="279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NASA 3D Resources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00600" y="3657600"/>
            <a:ext cx="3149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4A4A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 domain planet textures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4445000"/>
            <a:ext cx="3556000" cy="1143000"/>
          </a:xfrm>
          <a:prstGeom prst="roundRect">
            <a:avLst>
              <a:gd name="adj" fmla="val 6000"/>
            </a:avLst>
          </a:prstGeom>
          <a:solidFill>
            <a:srgbClr val="1A1A2E">
              <a:alpha val="5098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90600" y="46228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92033" y="152797"/>
                </a:moveTo>
                <a:lnTo>
                  <a:pt x="87858" y="152797"/>
                </a:lnTo>
                <a:cubicBezTo>
                  <a:pt x="89441" y="187995"/>
                  <a:pt x="97244" y="220409"/>
                  <a:pt x="108322" y="244148"/>
                </a:cubicBezTo>
                <a:cubicBezTo>
                  <a:pt x="114543" y="257517"/>
                  <a:pt x="121255" y="266958"/>
                  <a:pt x="127476" y="272742"/>
                </a:cubicBezTo>
                <a:cubicBezTo>
                  <a:pt x="133588" y="278472"/>
                  <a:pt x="137790" y="279400"/>
                  <a:pt x="139973" y="279400"/>
                </a:cubicBezTo>
                <a:cubicBezTo>
                  <a:pt x="142156" y="279400"/>
                  <a:pt x="146358" y="278472"/>
                  <a:pt x="152469" y="272742"/>
                </a:cubicBezTo>
                <a:cubicBezTo>
                  <a:pt x="158690" y="266958"/>
                  <a:pt x="165403" y="257463"/>
                  <a:pt x="171624" y="244148"/>
                </a:cubicBezTo>
                <a:cubicBezTo>
                  <a:pt x="182701" y="220409"/>
                  <a:pt x="190505" y="187995"/>
                  <a:pt x="192087" y="152797"/>
                </a:cubicBezTo>
                <a:close/>
                <a:moveTo>
                  <a:pt x="87804" y="126603"/>
                </a:moveTo>
                <a:lnTo>
                  <a:pt x="191978" y="126603"/>
                </a:lnTo>
                <a:cubicBezTo>
                  <a:pt x="190450" y="91405"/>
                  <a:pt x="182647" y="58991"/>
                  <a:pt x="171569" y="35252"/>
                </a:cubicBezTo>
                <a:cubicBezTo>
                  <a:pt x="165348" y="21937"/>
                  <a:pt x="158636" y="12442"/>
                  <a:pt x="152415" y="6658"/>
                </a:cubicBezTo>
                <a:cubicBezTo>
                  <a:pt x="146303" y="928"/>
                  <a:pt x="142101" y="0"/>
                  <a:pt x="139918" y="0"/>
                </a:cubicBezTo>
                <a:cubicBezTo>
                  <a:pt x="137735" y="0"/>
                  <a:pt x="133534" y="928"/>
                  <a:pt x="127422" y="6658"/>
                </a:cubicBezTo>
                <a:cubicBezTo>
                  <a:pt x="121201" y="12442"/>
                  <a:pt x="114489" y="21937"/>
                  <a:pt x="108267" y="35252"/>
                </a:cubicBezTo>
                <a:cubicBezTo>
                  <a:pt x="97190" y="58991"/>
                  <a:pt x="89386" y="91405"/>
                  <a:pt x="87804" y="126603"/>
                </a:cubicBezTo>
                <a:close/>
                <a:moveTo>
                  <a:pt x="61610" y="126603"/>
                </a:moveTo>
                <a:cubicBezTo>
                  <a:pt x="63520" y="79891"/>
                  <a:pt x="75580" y="36508"/>
                  <a:pt x="93206" y="8022"/>
                </a:cubicBezTo>
                <a:cubicBezTo>
                  <a:pt x="42947" y="25812"/>
                  <a:pt x="5948" y="71596"/>
                  <a:pt x="819" y="126603"/>
                </a:cubicBezTo>
                <a:lnTo>
                  <a:pt x="61610" y="126603"/>
                </a:lnTo>
                <a:close/>
                <a:moveTo>
                  <a:pt x="819" y="152797"/>
                </a:moveTo>
                <a:cubicBezTo>
                  <a:pt x="5948" y="207804"/>
                  <a:pt x="42947" y="253588"/>
                  <a:pt x="93206" y="271378"/>
                </a:cubicBezTo>
                <a:cubicBezTo>
                  <a:pt x="75580" y="242892"/>
                  <a:pt x="63520" y="199509"/>
                  <a:pt x="61610" y="152797"/>
                </a:cubicBezTo>
                <a:lnTo>
                  <a:pt x="819" y="152797"/>
                </a:lnTo>
                <a:close/>
                <a:moveTo>
                  <a:pt x="218227" y="152797"/>
                </a:moveTo>
                <a:cubicBezTo>
                  <a:pt x="216317" y="199509"/>
                  <a:pt x="204257" y="242892"/>
                  <a:pt x="186630" y="271378"/>
                </a:cubicBezTo>
                <a:cubicBezTo>
                  <a:pt x="236890" y="253534"/>
                  <a:pt x="273888" y="207804"/>
                  <a:pt x="279018" y="152797"/>
                </a:cubicBezTo>
                <a:lnTo>
                  <a:pt x="218227" y="152797"/>
                </a:lnTo>
                <a:close/>
                <a:moveTo>
                  <a:pt x="279018" y="126603"/>
                </a:moveTo>
                <a:cubicBezTo>
                  <a:pt x="273888" y="71596"/>
                  <a:pt x="236890" y="25812"/>
                  <a:pt x="186630" y="8022"/>
                </a:cubicBezTo>
                <a:cubicBezTo>
                  <a:pt x="204257" y="36508"/>
                  <a:pt x="216317" y="79891"/>
                  <a:pt x="218227" y="126603"/>
                </a:cubicBezTo>
                <a:lnTo>
                  <a:pt x="279018" y="126603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17" name="Text 15"/>
          <p:cNvSpPr/>
          <p:nvPr/>
        </p:nvSpPr>
        <p:spPr>
          <a:xfrm>
            <a:off x="1371600" y="4597400"/>
            <a:ext cx="279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OpenGameArt.org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90600" y="5003800"/>
            <a:ext cx="3149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4A4A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Open-source game assets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0" y="4445000"/>
            <a:ext cx="3556000" cy="1143000"/>
          </a:xfrm>
          <a:prstGeom prst="roundRect">
            <a:avLst>
              <a:gd name="adj" fmla="val 6000"/>
            </a:avLst>
          </a:prstGeom>
          <a:solidFill>
            <a:srgbClr val="1A1A2E">
              <a:alpha val="5098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765675" y="4622800"/>
            <a:ext cx="349250" cy="279400"/>
          </a:xfrm>
          <a:custGeom>
            <a:avLst/>
            <a:gdLst/>
            <a:ahLst/>
            <a:cxnLst/>
            <a:rect l="l" t="t" r="r" b="b"/>
            <a:pathLst>
              <a:path w="349250" h="279400">
                <a:moveTo>
                  <a:pt x="305757" y="129441"/>
                </a:moveTo>
                <a:cubicBezTo>
                  <a:pt x="311433" y="135880"/>
                  <a:pt x="321201" y="137299"/>
                  <a:pt x="328568" y="132442"/>
                </a:cubicBezTo>
                <a:cubicBezTo>
                  <a:pt x="336590" y="127094"/>
                  <a:pt x="338772" y="116235"/>
                  <a:pt x="333425" y="108213"/>
                </a:cubicBezTo>
                <a:lnTo>
                  <a:pt x="307231" y="68922"/>
                </a:lnTo>
                <a:cubicBezTo>
                  <a:pt x="305703" y="66630"/>
                  <a:pt x="303629" y="64720"/>
                  <a:pt x="301174" y="63356"/>
                </a:cubicBezTo>
                <a:lnTo>
                  <a:pt x="191760" y="2565"/>
                </a:lnTo>
                <a:cubicBezTo>
                  <a:pt x="181228" y="-3274"/>
                  <a:pt x="168404" y="-3274"/>
                  <a:pt x="157817" y="2565"/>
                </a:cubicBezTo>
                <a:lnTo>
                  <a:pt x="48458" y="63302"/>
                </a:lnTo>
                <a:cubicBezTo>
                  <a:pt x="45512" y="64939"/>
                  <a:pt x="43165" y="67340"/>
                  <a:pt x="41583" y="70287"/>
                </a:cubicBezTo>
                <a:lnTo>
                  <a:pt x="15116" y="119345"/>
                </a:lnTo>
                <a:cubicBezTo>
                  <a:pt x="8240" y="132115"/>
                  <a:pt x="13042" y="147995"/>
                  <a:pt x="25812" y="154871"/>
                </a:cubicBezTo>
                <a:lnTo>
                  <a:pt x="43820" y="164529"/>
                </a:lnTo>
                <a:lnTo>
                  <a:pt x="43820" y="193615"/>
                </a:lnTo>
                <a:cubicBezTo>
                  <a:pt x="43820" y="206167"/>
                  <a:pt x="50587" y="217790"/>
                  <a:pt x="61501" y="224011"/>
                </a:cubicBezTo>
                <a:lnTo>
                  <a:pt x="157544" y="278418"/>
                </a:lnTo>
                <a:cubicBezTo>
                  <a:pt x="168240" y="284475"/>
                  <a:pt x="181283" y="284475"/>
                  <a:pt x="191978" y="278418"/>
                </a:cubicBezTo>
                <a:lnTo>
                  <a:pt x="288022" y="224011"/>
                </a:lnTo>
                <a:cubicBezTo>
                  <a:pt x="298991" y="217790"/>
                  <a:pt x="305703" y="206221"/>
                  <a:pt x="305703" y="193615"/>
                </a:cubicBezTo>
                <a:lnTo>
                  <a:pt x="305703" y="129495"/>
                </a:lnTo>
                <a:close/>
                <a:moveTo>
                  <a:pt x="174789" y="124093"/>
                </a:moveTo>
                <a:lnTo>
                  <a:pt x="92879" y="78581"/>
                </a:lnTo>
                <a:lnTo>
                  <a:pt x="174789" y="33070"/>
                </a:lnTo>
                <a:lnTo>
                  <a:pt x="256699" y="78581"/>
                </a:lnTo>
                <a:lnTo>
                  <a:pt x="174789" y="124093"/>
                </a:lnTo>
                <a:close/>
                <a:moveTo>
                  <a:pt x="152142" y="151487"/>
                </a:moveTo>
                <a:lnTo>
                  <a:pt x="140519" y="176699"/>
                </a:lnTo>
                <a:lnTo>
                  <a:pt x="50041" y="128240"/>
                </a:lnTo>
                <a:lnTo>
                  <a:pt x="63902" y="102483"/>
                </a:lnTo>
                <a:lnTo>
                  <a:pt x="152142" y="151487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21" name="Text 19"/>
          <p:cNvSpPr/>
          <p:nvPr/>
        </p:nvSpPr>
        <p:spPr>
          <a:xfrm>
            <a:off x="5181600" y="4597400"/>
            <a:ext cx="279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Kenney.nl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00600" y="5003800"/>
            <a:ext cx="3149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4A4A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Free high-quality game assets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62000" y="58674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100" kern="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TO IMPORT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2000" y="6324600"/>
            <a:ext cx="7620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Download asset files to your computer</a:t>
            </a:r>
            <a:endParaRPr lang="en-US" sz="1600" dirty="0"/>
          </a:p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Font typeface="+mj-lt"/>
              <a:buAutoNum type="arabicPeriod" startAt="1"/>
            </a:pPr>
            <a:r>
              <a:rPr lang="en-US" sz="16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Drag and drop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into the Project window</a:t>
            </a:r>
            <a:endParaRPr lang="en-US" sz="1600" dirty="0"/>
          </a:p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 use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6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Assets &gt; Import New Asset</a:t>
            </a:r>
            <a:endParaRPr lang="en-US" sz="1600" dirty="0"/>
          </a:p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Asset Store: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6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Window &gt; Package Manager &gt; My Assets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890000" y="1524000"/>
            <a:ext cx="6604000" cy="673100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/>
        </p:spPr>
      </p:sp>
      <p:sp>
        <p:nvSpPr>
          <p:cNvPr id="26" name="Text 24"/>
          <p:cNvSpPr/>
          <p:nvPr/>
        </p:nvSpPr>
        <p:spPr>
          <a:xfrm>
            <a:off x="9194800" y="1778000"/>
            <a:ext cx="59944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100" kern="0" dirty="0">
                <a:solidFill>
                  <a:srgbClr val="FF6B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ASSETS FOR THIS PROJECT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194800" y="2286000"/>
            <a:ext cx="59944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FF6B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Textures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Planet surface maps (8 planets)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Skybox/star field cubemap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FF6B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Audio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Ambient space atmosphere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FF6B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Materials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Planet surface materials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 emissive material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FF6B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Scripts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Planet rotation, Orbit mechanics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Camera navigation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9" name="Text 27"/>
          <p:cNvSpPr/>
          <p:nvPr/>
        </p:nvSpPr>
        <p:spPr>
          <a:xfrm>
            <a:off x="14732000" y="87884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4A4A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4A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 PROGRAMMING — WEEK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7112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100" kern="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Working with Materials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98600"/>
            <a:ext cx="762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Materials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define how surfaces appear. They use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Shaders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render textures, colors, and surface properties.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25908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100" kern="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STANDARD SHADER PROPERTIES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3073400"/>
            <a:ext cx="2286000" cy="889000"/>
          </a:xfrm>
          <a:prstGeom prst="roundRect">
            <a:avLst>
              <a:gd name="adj" fmla="val 6000"/>
            </a:avLst>
          </a:prstGeom>
          <a:solidFill>
            <a:srgbClr val="1A1A2E">
              <a:alpha val="5098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3149600"/>
            <a:ext cx="228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6B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Albedo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3600" y="3505200"/>
            <a:ext cx="2082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4A4A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 color/texture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51200" y="3073400"/>
            <a:ext cx="2286000" cy="889000"/>
          </a:xfrm>
          <a:prstGeom prst="roundRect">
            <a:avLst>
              <a:gd name="adj" fmla="val 6000"/>
            </a:avLst>
          </a:prstGeom>
          <a:solidFill>
            <a:srgbClr val="1A1A2E">
              <a:alpha val="5098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251200" y="3149600"/>
            <a:ext cx="228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6B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Metallic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52800" y="3505200"/>
            <a:ext cx="2082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4A4A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Metal-like reflection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40400" y="3073400"/>
            <a:ext cx="2286000" cy="889000"/>
          </a:xfrm>
          <a:prstGeom prst="roundRect">
            <a:avLst>
              <a:gd name="adj" fmla="val 6000"/>
            </a:avLst>
          </a:prstGeom>
          <a:solidFill>
            <a:srgbClr val="1A1A2E">
              <a:alpha val="5098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740400" y="3149600"/>
            <a:ext cx="228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6B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Smoothness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842000" y="3505200"/>
            <a:ext cx="2082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4A4A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Surface polish level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4165600"/>
            <a:ext cx="2286000" cy="889000"/>
          </a:xfrm>
          <a:prstGeom prst="roundRect">
            <a:avLst>
              <a:gd name="adj" fmla="val 6000"/>
            </a:avLst>
          </a:prstGeom>
          <a:solidFill>
            <a:srgbClr val="1A1A2E">
              <a:alpha val="5098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62000" y="4241800"/>
            <a:ext cx="228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6B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Normal Map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3600" y="4597400"/>
            <a:ext cx="2082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4A4A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Surface bump detail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251200" y="4165600"/>
            <a:ext cx="2286000" cy="889000"/>
          </a:xfrm>
          <a:prstGeom prst="roundRect">
            <a:avLst>
              <a:gd name="adj" fmla="val 6000"/>
            </a:avLst>
          </a:prstGeom>
          <a:solidFill>
            <a:srgbClr val="1A1A2E">
              <a:alpha val="5098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251200" y="4241800"/>
            <a:ext cx="228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6B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Emission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352800" y="4597400"/>
            <a:ext cx="2082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4A4A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Glow effect (for Sun)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62000" y="53340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100" kern="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CREATING A PLANET MATERIAL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62000" y="5791200"/>
            <a:ext cx="7366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Right-click in Project window →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6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&gt; Material</a:t>
            </a:r>
            <a:endParaRPr lang="en-US" sz="1600" dirty="0"/>
          </a:p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Assign a planet texture to the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6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Albedo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slot</a:t>
            </a:r>
            <a:endParaRPr lang="en-US" sz="1600" dirty="0"/>
          </a:p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Adjust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6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Metallic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6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Smoothness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values</a:t>
            </a:r>
            <a:endParaRPr lang="en-US" sz="1600" dirty="0"/>
          </a:p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Apply the material to a sphere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6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GameObject</a:t>
            </a:r>
            <a:endParaRPr lang="en-US" sz="1600" dirty="0"/>
          </a:p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the Sun: use high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6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Emission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glow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636000" y="1498600"/>
            <a:ext cx="6858000" cy="685800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/>
        </p:spPr>
      </p:sp>
      <p:sp>
        <p:nvSpPr>
          <p:cNvPr id="25" name="Text 23"/>
          <p:cNvSpPr/>
          <p:nvPr/>
        </p:nvSpPr>
        <p:spPr>
          <a:xfrm>
            <a:off x="8940800" y="1752600"/>
            <a:ext cx="62484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100" kern="0" dirty="0">
                <a:solidFill>
                  <a:srgbClr val="FF6B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MATERIAL WORKFLOW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940800" y="2286000"/>
            <a:ext cx="6248400" cy="584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FF6B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Create Material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Right-click → Create → Material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Name it (e.g., "EarthMat")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FF6B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Assign Texture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Drag texture to Albedo slot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 click the circle to select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FF6B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Adjust Properties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Metallic: 0 (rocky) to 1 (metal)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Smoothness: surface polish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Emission: for glowing objects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FF6B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Apply to Object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Drag material onto GameObject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 set via Mesh Renderer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8" name="Text 26"/>
          <p:cNvSpPr/>
          <p:nvPr/>
        </p:nvSpPr>
        <p:spPr>
          <a:xfrm>
            <a:off x="14732000" y="87884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4A4A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4A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 PROGRAMMING — WEEK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7112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100" kern="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Lighting Systems in Unity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986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Unity supports multiple light types for different lighting scenarios: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133600"/>
            <a:ext cx="3429000" cy="1778000"/>
          </a:xfrm>
          <a:prstGeom prst="roundRect">
            <a:avLst>
              <a:gd name="adj" fmla="val 6000"/>
            </a:avLst>
          </a:prstGeom>
          <a:solidFill>
            <a:srgbClr val="1A1A2E">
              <a:alpha val="5098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69963" y="2311400"/>
            <a:ext cx="371475" cy="330200"/>
          </a:xfrm>
          <a:custGeom>
            <a:avLst/>
            <a:gdLst/>
            <a:ahLst/>
            <a:cxnLst/>
            <a:rect l="l" t="t" r="r" b="b"/>
            <a:pathLst>
              <a:path w="371475" h="330200">
                <a:moveTo>
                  <a:pt x="114925" y="-6514"/>
                </a:moveTo>
                <a:cubicBezTo>
                  <a:pt x="119697" y="-8513"/>
                  <a:pt x="125115" y="-7933"/>
                  <a:pt x="129436" y="-5095"/>
                </a:cubicBezTo>
                <a:lnTo>
                  <a:pt x="186060" y="32440"/>
                </a:lnTo>
                <a:lnTo>
                  <a:pt x="242684" y="-5095"/>
                </a:lnTo>
                <a:cubicBezTo>
                  <a:pt x="247005" y="-7933"/>
                  <a:pt x="252422" y="-8448"/>
                  <a:pt x="257195" y="-6514"/>
                </a:cubicBezTo>
                <a:cubicBezTo>
                  <a:pt x="261967" y="-4579"/>
                  <a:pt x="265321" y="-322"/>
                  <a:pt x="266353" y="4708"/>
                </a:cubicBezTo>
                <a:lnTo>
                  <a:pt x="279832" y="71264"/>
                </a:lnTo>
                <a:lnTo>
                  <a:pt x="346388" y="84743"/>
                </a:lnTo>
                <a:cubicBezTo>
                  <a:pt x="351418" y="85775"/>
                  <a:pt x="355674" y="89257"/>
                  <a:pt x="357609" y="93965"/>
                </a:cubicBezTo>
                <a:cubicBezTo>
                  <a:pt x="359544" y="98673"/>
                  <a:pt x="359028" y="104155"/>
                  <a:pt x="356190" y="108476"/>
                </a:cubicBezTo>
                <a:lnTo>
                  <a:pt x="318656" y="165100"/>
                </a:lnTo>
                <a:lnTo>
                  <a:pt x="356190" y="221724"/>
                </a:lnTo>
                <a:cubicBezTo>
                  <a:pt x="359028" y="226045"/>
                  <a:pt x="359544" y="231462"/>
                  <a:pt x="357609" y="236235"/>
                </a:cubicBezTo>
                <a:cubicBezTo>
                  <a:pt x="355674" y="241007"/>
                  <a:pt x="351418" y="244490"/>
                  <a:pt x="346388" y="245457"/>
                </a:cubicBezTo>
                <a:lnTo>
                  <a:pt x="279767" y="258872"/>
                </a:lnTo>
                <a:lnTo>
                  <a:pt x="266353" y="325492"/>
                </a:lnTo>
                <a:cubicBezTo>
                  <a:pt x="265321" y="330522"/>
                  <a:pt x="261838" y="334779"/>
                  <a:pt x="257130" y="336714"/>
                </a:cubicBezTo>
                <a:cubicBezTo>
                  <a:pt x="252422" y="338648"/>
                  <a:pt x="246941" y="338133"/>
                  <a:pt x="242620" y="335295"/>
                </a:cubicBezTo>
                <a:lnTo>
                  <a:pt x="185995" y="297760"/>
                </a:lnTo>
                <a:lnTo>
                  <a:pt x="129371" y="335295"/>
                </a:lnTo>
                <a:cubicBezTo>
                  <a:pt x="125050" y="338133"/>
                  <a:pt x="119633" y="338648"/>
                  <a:pt x="114861" y="336714"/>
                </a:cubicBezTo>
                <a:cubicBezTo>
                  <a:pt x="110088" y="334779"/>
                  <a:pt x="106606" y="330522"/>
                  <a:pt x="105638" y="325492"/>
                </a:cubicBezTo>
                <a:lnTo>
                  <a:pt x="92224" y="258872"/>
                </a:lnTo>
                <a:lnTo>
                  <a:pt x="25603" y="245393"/>
                </a:lnTo>
                <a:cubicBezTo>
                  <a:pt x="20573" y="244361"/>
                  <a:pt x="16317" y="240878"/>
                  <a:pt x="14382" y="236170"/>
                </a:cubicBezTo>
                <a:cubicBezTo>
                  <a:pt x="12447" y="231462"/>
                  <a:pt x="12963" y="225981"/>
                  <a:pt x="15801" y="221660"/>
                </a:cubicBezTo>
                <a:lnTo>
                  <a:pt x="53335" y="165100"/>
                </a:lnTo>
                <a:lnTo>
                  <a:pt x="15801" y="108476"/>
                </a:lnTo>
                <a:cubicBezTo>
                  <a:pt x="12963" y="104155"/>
                  <a:pt x="12447" y="98738"/>
                  <a:pt x="14382" y="93965"/>
                </a:cubicBezTo>
                <a:cubicBezTo>
                  <a:pt x="16317" y="89193"/>
                  <a:pt x="20573" y="85710"/>
                  <a:pt x="25603" y="84743"/>
                </a:cubicBezTo>
                <a:lnTo>
                  <a:pt x="92224" y="71328"/>
                </a:lnTo>
                <a:lnTo>
                  <a:pt x="105703" y="4708"/>
                </a:lnTo>
                <a:cubicBezTo>
                  <a:pt x="106735" y="-322"/>
                  <a:pt x="110217" y="-4579"/>
                  <a:pt x="114925" y="-6514"/>
                </a:cubicBezTo>
                <a:close/>
                <a:moveTo>
                  <a:pt x="133886" y="165100"/>
                </a:moveTo>
                <a:cubicBezTo>
                  <a:pt x="133886" y="146575"/>
                  <a:pt x="143769" y="129458"/>
                  <a:pt x="159812" y="120195"/>
                </a:cubicBezTo>
                <a:cubicBezTo>
                  <a:pt x="175855" y="110933"/>
                  <a:pt x="195620" y="110933"/>
                  <a:pt x="211663" y="120195"/>
                </a:cubicBezTo>
                <a:cubicBezTo>
                  <a:pt x="227706" y="129458"/>
                  <a:pt x="237589" y="146575"/>
                  <a:pt x="237589" y="165100"/>
                </a:cubicBezTo>
                <a:cubicBezTo>
                  <a:pt x="237589" y="193718"/>
                  <a:pt x="214355" y="216952"/>
                  <a:pt x="185738" y="216952"/>
                </a:cubicBezTo>
                <a:cubicBezTo>
                  <a:pt x="157120" y="216952"/>
                  <a:pt x="133886" y="193718"/>
                  <a:pt x="133886" y="165100"/>
                </a:cubicBezTo>
                <a:close/>
                <a:moveTo>
                  <a:pt x="268545" y="165100"/>
                </a:moveTo>
                <a:cubicBezTo>
                  <a:pt x="268545" y="119397"/>
                  <a:pt x="231440" y="82292"/>
                  <a:pt x="185738" y="82292"/>
                </a:cubicBezTo>
                <a:cubicBezTo>
                  <a:pt x="140035" y="82292"/>
                  <a:pt x="102930" y="119397"/>
                  <a:pt x="102930" y="165100"/>
                </a:cubicBezTo>
                <a:cubicBezTo>
                  <a:pt x="102930" y="194684"/>
                  <a:pt x="118713" y="222022"/>
                  <a:pt x="144334" y="236814"/>
                </a:cubicBezTo>
                <a:cubicBezTo>
                  <a:pt x="169954" y="251606"/>
                  <a:pt x="201521" y="251606"/>
                  <a:pt x="227141" y="236814"/>
                </a:cubicBezTo>
                <a:cubicBezTo>
                  <a:pt x="252762" y="222022"/>
                  <a:pt x="268545" y="194684"/>
                  <a:pt x="268545" y="16510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8" name="Text 6"/>
          <p:cNvSpPr/>
          <p:nvPr/>
        </p:nvSpPr>
        <p:spPr>
          <a:xfrm>
            <a:off x="1422400" y="2286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Directional Light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90600" y="2717800"/>
            <a:ext cx="29718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4A4A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Simulates distant light like the Sun. Affects all objects uniformly. Main scene light source.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45000" y="2133600"/>
            <a:ext cx="3429000" cy="1778000"/>
          </a:xfrm>
          <a:prstGeom prst="roundRect">
            <a:avLst>
              <a:gd name="adj" fmla="val 6000"/>
            </a:avLst>
          </a:prstGeom>
          <a:solidFill>
            <a:srgbClr val="1A1A2E">
              <a:alpha val="5098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714875" y="2311400"/>
            <a:ext cx="247650" cy="330200"/>
          </a:xfrm>
          <a:custGeom>
            <a:avLst/>
            <a:gdLst/>
            <a:ahLst/>
            <a:cxnLst/>
            <a:rect l="l" t="t" r="r" b="b"/>
            <a:pathLst>
              <a:path w="247650" h="330200">
                <a:moveTo>
                  <a:pt x="188898" y="247650"/>
                </a:moveTo>
                <a:cubicBezTo>
                  <a:pt x="193606" y="233268"/>
                  <a:pt x="203021" y="220241"/>
                  <a:pt x="213663" y="209019"/>
                </a:cubicBezTo>
                <a:cubicBezTo>
                  <a:pt x="234752" y="186834"/>
                  <a:pt x="247650" y="156845"/>
                  <a:pt x="247650" y="123825"/>
                </a:cubicBezTo>
                <a:cubicBezTo>
                  <a:pt x="247650" y="55463"/>
                  <a:pt x="192187" y="0"/>
                  <a:pt x="123825" y="0"/>
                </a:cubicBezTo>
                <a:cubicBezTo>
                  <a:pt x="55463" y="0"/>
                  <a:pt x="0" y="55463"/>
                  <a:pt x="0" y="123825"/>
                </a:cubicBezTo>
                <a:cubicBezTo>
                  <a:pt x="0" y="156845"/>
                  <a:pt x="12898" y="186834"/>
                  <a:pt x="33987" y="209019"/>
                </a:cubicBezTo>
                <a:cubicBezTo>
                  <a:pt x="44629" y="220241"/>
                  <a:pt x="54109" y="233268"/>
                  <a:pt x="58752" y="247650"/>
                </a:cubicBezTo>
                <a:lnTo>
                  <a:pt x="188833" y="247650"/>
                </a:lnTo>
                <a:close/>
                <a:moveTo>
                  <a:pt x="185738" y="278606"/>
                </a:moveTo>
                <a:lnTo>
                  <a:pt x="61912" y="278606"/>
                </a:lnTo>
                <a:lnTo>
                  <a:pt x="61912" y="288925"/>
                </a:lnTo>
                <a:cubicBezTo>
                  <a:pt x="61912" y="317431"/>
                  <a:pt x="85001" y="340519"/>
                  <a:pt x="113506" y="340519"/>
                </a:cubicBezTo>
                <a:lnTo>
                  <a:pt x="134144" y="340519"/>
                </a:lnTo>
                <a:cubicBezTo>
                  <a:pt x="162649" y="340519"/>
                  <a:pt x="185738" y="317431"/>
                  <a:pt x="185738" y="288925"/>
                </a:cubicBezTo>
                <a:lnTo>
                  <a:pt x="185738" y="278606"/>
                </a:lnTo>
                <a:close/>
                <a:moveTo>
                  <a:pt x="118666" y="72231"/>
                </a:moveTo>
                <a:cubicBezTo>
                  <a:pt x="92998" y="72231"/>
                  <a:pt x="72231" y="92998"/>
                  <a:pt x="72231" y="118666"/>
                </a:cubicBezTo>
                <a:cubicBezTo>
                  <a:pt x="72231" y="127243"/>
                  <a:pt x="65331" y="134144"/>
                  <a:pt x="56753" y="134144"/>
                </a:cubicBezTo>
                <a:cubicBezTo>
                  <a:pt x="48176" y="134144"/>
                  <a:pt x="41275" y="127243"/>
                  <a:pt x="41275" y="118666"/>
                </a:cubicBezTo>
                <a:cubicBezTo>
                  <a:pt x="41275" y="75907"/>
                  <a:pt x="75907" y="41275"/>
                  <a:pt x="118666" y="41275"/>
                </a:cubicBezTo>
                <a:cubicBezTo>
                  <a:pt x="127243" y="41275"/>
                  <a:pt x="134144" y="48176"/>
                  <a:pt x="134144" y="56753"/>
                </a:cubicBezTo>
                <a:cubicBezTo>
                  <a:pt x="134144" y="65331"/>
                  <a:pt x="127243" y="72231"/>
                  <a:pt x="118666" y="72231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5105400" y="2286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Point Light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73600" y="2717800"/>
            <a:ext cx="29718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4A4A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Omnidirectional light from a position. Useful for glowing objects like the Sun.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28000" y="2133600"/>
            <a:ext cx="3429000" cy="1778000"/>
          </a:xfrm>
          <a:prstGeom prst="roundRect">
            <a:avLst>
              <a:gd name="adj" fmla="val 6000"/>
            </a:avLst>
          </a:prstGeom>
          <a:solidFill>
            <a:srgbClr val="1A1A2E">
              <a:alpha val="5098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356600" y="23114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/>
            </a:pathLst>
          </a:cu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8788400" y="2286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Spot Light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56600" y="2717800"/>
            <a:ext cx="29718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4A4A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Cone-shaped light beam. Good for focused illumination and dramatic effects.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811000" y="2133600"/>
            <a:ext cx="3683000" cy="1778000"/>
          </a:xfrm>
          <a:prstGeom prst="roundRect">
            <a:avLst>
              <a:gd name="adj" fmla="val 6000"/>
            </a:avLst>
          </a:prstGeom>
          <a:solidFill>
            <a:srgbClr val="1A1A2E">
              <a:alpha val="5098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2060238" y="2311400"/>
            <a:ext cx="288925" cy="330200"/>
          </a:xfrm>
          <a:custGeom>
            <a:avLst/>
            <a:gdLst/>
            <a:ahLst/>
            <a:cxnLst/>
            <a:rect l="l" t="t" r="r" b="b"/>
            <a:pathLst>
              <a:path w="288925" h="330200">
                <a:moveTo>
                  <a:pt x="247650" y="61912"/>
                </a:moveTo>
                <a:lnTo>
                  <a:pt x="247650" y="103188"/>
                </a:lnTo>
                <a:lnTo>
                  <a:pt x="206375" y="103188"/>
                </a:lnTo>
                <a:lnTo>
                  <a:pt x="206375" y="61912"/>
                </a:lnTo>
                <a:lnTo>
                  <a:pt x="247650" y="61912"/>
                </a:lnTo>
                <a:close/>
                <a:moveTo>
                  <a:pt x="247650" y="144463"/>
                </a:moveTo>
                <a:lnTo>
                  <a:pt x="247650" y="185738"/>
                </a:lnTo>
                <a:lnTo>
                  <a:pt x="206375" y="185738"/>
                </a:lnTo>
                <a:lnTo>
                  <a:pt x="206375" y="144463"/>
                </a:lnTo>
                <a:lnTo>
                  <a:pt x="247650" y="144463"/>
                </a:lnTo>
                <a:close/>
                <a:moveTo>
                  <a:pt x="247650" y="227013"/>
                </a:moveTo>
                <a:lnTo>
                  <a:pt x="247650" y="268288"/>
                </a:lnTo>
                <a:lnTo>
                  <a:pt x="206375" y="268288"/>
                </a:lnTo>
                <a:lnTo>
                  <a:pt x="206375" y="227013"/>
                </a:lnTo>
                <a:lnTo>
                  <a:pt x="247650" y="227013"/>
                </a:lnTo>
                <a:close/>
                <a:moveTo>
                  <a:pt x="165100" y="185738"/>
                </a:moveTo>
                <a:lnTo>
                  <a:pt x="123825" y="185738"/>
                </a:lnTo>
                <a:lnTo>
                  <a:pt x="123825" y="144463"/>
                </a:lnTo>
                <a:lnTo>
                  <a:pt x="165100" y="144463"/>
                </a:lnTo>
                <a:lnTo>
                  <a:pt x="165100" y="185738"/>
                </a:lnTo>
                <a:close/>
                <a:moveTo>
                  <a:pt x="123825" y="227013"/>
                </a:moveTo>
                <a:lnTo>
                  <a:pt x="165100" y="227013"/>
                </a:lnTo>
                <a:lnTo>
                  <a:pt x="165100" y="268288"/>
                </a:lnTo>
                <a:lnTo>
                  <a:pt x="123825" y="268288"/>
                </a:lnTo>
                <a:lnTo>
                  <a:pt x="123825" y="227013"/>
                </a:lnTo>
                <a:close/>
                <a:moveTo>
                  <a:pt x="82550" y="185738"/>
                </a:moveTo>
                <a:lnTo>
                  <a:pt x="41275" y="185738"/>
                </a:lnTo>
                <a:lnTo>
                  <a:pt x="41275" y="144463"/>
                </a:lnTo>
                <a:lnTo>
                  <a:pt x="82550" y="144463"/>
                </a:lnTo>
                <a:lnTo>
                  <a:pt x="82550" y="185738"/>
                </a:lnTo>
                <a:close/>
                <a:moveTo>
                  <a:pt x="41275" y="227013"/>
                </a:moveTo>
                <a:lnTo>
                  <a:pt x="82550" y="227013"/>
                </a:lnTo>
                <a:lnTo>
                  <a:pt x="82550" y="268288"/>
                </a:lnTo>
                <a:lnTo>
                  <a:pt x="41275" y="268288"/>
                </a:lnTo>
                <a:lnTo>
                  <a:pt x="41275" y="227013"/>
                </a:lnTo>
                <a:close/>
                <a:moveTo>
                  <a:pt x="41275" y="103188"/>
                </a:moveTo>
                <a:lnTo>
                  <a:pt x="41275" y="61912"/>
                </a:lnTo>
                <a:lnTo>
                  <a:pt x="82550" y="61912"/>
                </a:lnTo>
                <a:lnTo>
                  <a:pt x="82550" y="103188"/>
                </a:lnTo>
                <a:lnTo>
                  <a:pt x="41275" y="103188"/>
                </a:lnTo>
                <a:close/>
                <a:moveTo>
                  <a:pt x="123825" y="103188"/>
                </a:moveTo>
                <a:lnTo>
                  <a:pt x="123825" y="61912"/>
                </a:lnTo>
                <a:lnTo>
                  <a:pt x="165100" y="61912"/>
                </a:lnTo>
                <a:lnTo>
                  <a:pt x="165100" y="103188"/>
                </a:lnTo>
                <a:lnTo>
                  <a:pt x="123825" y="103188"/>
                </a:lnTo>
                <a:close/>
                <a:moveTo>
                  <a:pt x="41275" y="20638"/>
                </a:moveTo>
                <a:cubicBezTo>
                  <a:pt x="18509" y="20638"/>
                  <a:pt x="0" y="39147"/>
                  <a:pt x="0" y="61912"/>
                </a:cubicBezTo>
                <a:lnTo>
                  <a:pt x="0" y="268288"/>
                </a:lnTo>
                <a:cubicBezTo>
                  <a:pt x="0" y="291053"/>
                  <a:pt x="18509" y="309563"/>
                  <a:pt x="41275" y="309563"/>
                </a:cubicBezTo>
                <a:lnTo>
                  <a:pt x="247650" y="309563"/>
                </a:lnTo>
                <a:cubicBezTo>
                  <a:pt x="270416" y="309563"/>
                  <a:pt x="288925" y="291053"/>
                  <a:pt x="288925" y="268288"/>
                </a:cubicBezTo>
                <a:lnTo>
                  <a:pt x="288925" y="61912"/>
                </a:lnTo>
                <a:cubicBezTo>
                  <a:pt x="288925" y="39147"/>
                  <a:pt x="270416" y="20638"/>
                  <a:pt x="247650" y="20638"/>
                </a:cubicBezTo>
                <a:lnTo>
                  <a:pt x="41275" y="20638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20" name="Text 18"/>
          <p:cNvSpPr/>
          <p:nvPr/>
        </p:nvSpPr>
        <p:spPr>
          <a:xfrm>
            <a:off x="12471400" y="2286000"/>
            <a:ext cx="279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Area Light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039600" y="2717800"/>
            <a:ext cx="32258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4A4A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Rectangular light surface. Baked only — not real-time. Soft, realistic shadows.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62000" y="42418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100" kern="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LIGHTING FOR SOLAR SYSTEM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62000" y="4699000"/>
            <a:ext cx="7112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a single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Directional Light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simulate sunlight</a:t>
            </a:r>
            <a:endParaRPr lang="en-US" sz="1600" dirty="0"/>
          </a:p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Enable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shadows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realistic planet shading</a:t>
            </a:r>
            <a:endParaRPr lang="en-US" sz="1600" dirty="0"/>
          </a:p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Adjust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ambient light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space darkness</a:t>
            </a:r>
            <a:endParaRPr lang="en-US" sz="1600" dirty="0"/>
          </a:p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the Sun's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Emission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a glowing effect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382000" y="4241800"/>
            <a:ext cx="7112000" cy="266700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0" y="4445000"/>
            <a:ext cx="65024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spc="100" kern="0" dirty="0">
                <a:solidFill>
                  <a:srgbClr val="FF6B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LIGHTING SETTINGS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686800" y="4876800"/>
            <a:ext cx="65024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Access via: </a:t>
            </a:r>
            <a:pPr>
              <a:lnSpc>
                <a:spcPct val="170000"/>
              </a:lnSpc>
            </a:pPr>
            <a:r>
              <a:rPr lang="en-US" sz="1400" b="1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Window &gt; Rendering &gt; Lighting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Ambient Color: Dark blue/black for space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Skybox Material: Space/starfield cubemap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Global Illumination: Enable for realism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62000" y="6985000"/>
            <a:ext cx="14732000" cy="1270000"/>
          </a:xfrm>
          <a:prstGeom prst="roundRect">
            <a:avLst>
              <a:gd name="adj" fmla="val 4000"/>
            </a:avLst>
          </a:prstGeom>
          <a:solidFill>
            <a:srgbClr val="FF6B35">
              <a:alpha val="8235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104900" y="72898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74367" y="228600"/>
                </a:moveTo>
                <a:cubicBezTo>
                  <a:pt x="178713" y="215325"/>
                  <a:pt x="187404" y="203299"/>
                  <a:pt x="197227" y="192941"/>
                </a:cubicBezTo>
                <a:cubicBezTo>
                  <a:pt x="216694" y="172462"/>
                  <a:pt x="228600" y="144780"/>
                  <a:pt x="228600" y="114300"/>
                </a:cubicBezTo>
                <a:cubicBezTo>
                  <a:pt x="228600" y="51197"/>
                  <a:pt x="177403" y="0"/>
                  <a:pt x="114300" y="0"/>
                </a:cubicBezTo>
                <a:cubicBezTo>
                  <a:pt x="51197" y="0"/>
                  <a:pt x="0" y="51197"/>
                  <a:pt x="0" y="114300"/>
                </a:cubicBezTo>
                <a:cubicBezTo>
                  <a:pt x="0" y="144780"/>
                  <a:pt x="11906" y="172462"/>
                  <a:pt x="31373" y="192941"/>
                </a:cubicBezTo>
                <a:cubicBezTo>
                  <a:pt x="41196" y="203299"/>
                  <a:pt x="49947" y="215325"/>
                  <a:pt x="54233" y="228600"/>
                </a:cubicBezTo>
                <a:lnTo>
                  <a:pt x="174308" y="228600"/>
                </a:lnTo>
                <a:close/>
                <a:moveTo>
                  <a:pt x="171450" y="257175"/>
                </a:moveTo>
                <a:lnTo>
                  <a:pt x="57150" y="257175"/>
                </a:lnTo>
                <a:lnTo>
                  <a:pt x="57150" y="266700"/>
                </a:lnTo>
                <a:cubicBezTo>
                  <a:pt x="57150" y="293013"/>
                  <a:pt x="78462" y="314325"/>
                  <a:pt x="104775" y="314325"/>
                </a:cubicBezTo>
                <a:lnTo>
                  <a:pt x="123825" y="314325"/>
                </a:lnTo>
                <a:cubicBezTo>
                  <a:pt x="150138" y="314325"/>
                  <a:pt x="171450" y="293013"/>
                  <a:pt x="171450" y="266700"/>
                </a:cubicBezTo>
                <a:lnTo>
                  <a:pt x="171450" y="257175"/>
                </a:lnTo>
                <a:close/>
                <a:moveTo>
                  <a:pt x="109537" y="66675"/>
                </a:moveTo>
                <a:cubicBezTo>
                  <a:pt x="85844" y="66675"/>
                  <a:pt x="66675" y="85844"/>
                  <a:pt x="66675" y="109537"/>
                </a:cubicBezTo>
                <a:cubicBezTo>
                  <a:pt x="66675" y="117455"/>
                  <a:pt x="60305" y="123825"/>
                  <a:pt x="52388" y="123825"/>
                </a:cubicBezTo>
                <a:cubicBezTo>
                  <a:pt x="44470" y="123825"/>
                  <a:pt x="38100" y="117455"/>
                  <a:pt x="38100" y="109537"/>
                </a:cubicBezTo>
                <a:cubicBezTo>
                  <a:pt x="38100" y="70068"/>
                  <a:pt x="70068" y="38100"/>
                  <a:pt x="109537" y="38100"/>
                </a:cubicBezTo>
                <a:cubicBezTo>
                  <a:pt x="117455" y="38100"/>
                  <a:pt x="123825" y="44470"/>
                  <a:pt x="123825" y="52388"/>
                </a:cubicBezTo>
                <a:cubicBezTo>
                  <a:pt x="123825" y="60305"/>
                  <a:pt x="117455" y="66675"/>
                  <a:pt x="109537" y="66675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29" name="Text 27"/>
          <p:cNvSpPr/>
          <p:nvPr/>
        </p:nvSpPr>
        <p:spPr>
          <a:xfrm>
            <a:off x="1498600" y="72644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FF6B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TIP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66800" y="7696200"/>
            <a:ext cx="14173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Minimize real-time lights — each additional light increases rendering cost. Use baked lighting for static objects when possible.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2" name="Text 30"/>
          <p:cNvSpPr/>
          <p:nvPr/>
        </p:nvSpPr>
        <p:spPr>
          <a:xfrm>
            <a:off x="14732000" y="87884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4A4A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4A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 PROGRAMMING — WEEK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7112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100" kern="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Behaviors &amp; C# Scripting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98600"/>
            <a:ext cx="762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Scripts control GameObject behavior using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C#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All scripts inherit from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FF6B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MonoBehaviour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24892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100" kern="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LIFECYCLE METHODS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2971800"/>
            <a:ext cx="4318000" cy="1016000"/>
          </a:xfrm>
          <a:prstGeom prst="roundRect">
            <a:avLst>
              <a:gd name="adj" fmla="val 6000"/>
            </a:avLst>
          </a:prstGeom>
          <a:solidFill>
            <a:srgbClr val="1A1A2E">
              <a:alpha val="5098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90600" y="3048000"/>
            <a:ext cx="38608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FF6B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Start()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90600" y="3429000"/>
            <a:ext cx="386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Called once when the object is initialized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34000" y="2971800"/>
            <a:ext cx="3429000" cy="1143000"/>
          </a:xfrm>
          <a:prstGeom prst="roundRect">
            <a:avLst>
              <a:gd name="adj" fmla="val 6000"/>
            </a:avLst>
          </a:prstGeom>
          <a:solidFill>
            <a:srgbClr val="1A1A2E">
              <a:alpha val="5098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562600" y="3048000"/>
            <a:ext cx="29718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FF6B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Update()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562600" y="3429000"/>
            <a:ext cx="29718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Called every frame — use for visual updates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4191000"/>
            <a:ext cx="7620000" cy="1016000"/>
          </a:xfrm>
          <a:prstGeom prst="roundRect">
            <a:avLst>
              <a:gd name="adj" fmla="val 6000"/>
            </a:avLst>
          </a:prstGeom>
          <a:solidFill>
            <a:srgbClr val="1A1A2E">
              <a:alpha val="5098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990600" y="4267200"/>
            <a:ext cx="71628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FF6B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FixedUpdate()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90600" y="4648200"/>
            <a:ext cx="716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Physics updates at fixed intervals — use for rigidbody and orbit calculations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2000" y="54610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100" kern="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 ROTATION SCRIPT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5918200"/>
            <a:ext cx="7620000" cy="266700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/>
        </p:spPr>
      </p:sp>
      <p:sp>
        <p:nvSpPr>
          <p:cNvPr id="18" name="Text 16"/>
          <p:cNvSpPr/>
          <p:nvPr/>
        </p:nvSpPr>
        <p:spPr>
          <a:xfrm>
            <a:off x="1016000" y="6070600"/>
            <a:ext cx="7112000" cy="248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FF6B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 class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PlanetRotation : MonoBehaviour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{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FF6B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 float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rotationSpeed = 10f;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FF6B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void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Update()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{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transform.Rotate(0, rotationSpeed * Time.deltaTime, 0);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890000" y="1498600"/>
            <a:ext cx="6604000" cy="6807200"/>
          </a:xfrm>
          <a:prstGeom prst="roundRect">
            <a:avLst>
              <a:gd name="adj" fmla="val 4000"/>
            </a:avLst>
          </a:prstGeom>
          <a:solidFill>
            <a:srgbClr val="FF6B35">
              <a:alpha val="8235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9194800" y="1752600"/>
            <a:ext cx="59944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100" kern="0" dirty="0">
                <a:solidFill>
                  <a:srgbClr val="FF6B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SCRIPTING CONCEPTS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94800" y="2260600"/>
            <a:ext cx="5994400" cy="584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FF6B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MonoBehaviour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 class for all Unity scripts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FF6B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GameObject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entity scripts attach to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FF6B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Position, rotation, scale access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FF6B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Component Pattern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 scripts via Inspector or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AddComponent&lt;T&gt;() in code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FF6B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Time.deltaTime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Ensures frame-rate independent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movement and rotation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3" name="Text 21"/>
          <p:cNvSpPr/>
          <p:nvPr/>
        </p:nvSpPr>
        <p:spPr>
          <a:xfrm>
            <a:off x="14732000" y="87884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4A4A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4A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 PROGRAMMING — WEEK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7112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100" kern="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Camera Systems &amp; Controls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98600"/>
            <a:ext cx="762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Cameras define the player's viewpoint. Unity includes a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Main Camera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by default in every new scene.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24892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100" kern="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CAMERA TYPES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2971800"/>
            <a:ext cx="4699000" cy="1270000"/>
          </a:xfrm>
          <a:prstGeom prst="roundRect">
            <a:avLst>
              <a:gd name="adj" fmla="val 6000"/>
            </a:avLst>
          </a:prstGeom>
          <a:solidFill>
            <a:srgbClr val="1A1A2E">
              <a:alpha val="5098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90600" y="30734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6B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Perspective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90600" y="3454400"/>
            <a:ext cx="42418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3D with depth perception. Objects appear smaller with distance. Default for this project.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5000" y="2971800"/>
            <a:ext cx="3048000" cy="1524000"/>
          </a:xfrm>
          <a:prstGeom prst="roundRect">
            <a:avLst>
              <a:gd name="adj" fmla="val 6000"/>
            </a:avLst>
          </a:prstGeom>
          <a:solidFill>
            <a:srgbClr val="1A1A2E">
              <a:alpha val="5098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943600" y="3073400"/>
            <a:ext cx="228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6B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Orthographic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0" y="3454400"/>
            <a:ext cx="26670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2D/flat with no depth. Used for isometric games and UI rendering.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45212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100" kern="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CAMERA SETUP FOR SOLAR SYSTEM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4978400"/>
            <a:ext cx="76200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Position camera to view the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entire solar system</a:t>
            </a:r>
            <a:endParaRPr lang="en-US" sz="1600" dirty="0"/>
          </a:p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Adjust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Field of View (FOV)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desired framing</a:t>
            </a:r>
            <a:endParaRPr lang="en-US" sz="1600" dirty="0"/>
          </a:p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Enable camera controls for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navigation</a:t>
            </a:r>
            <a:endParaRPr lang="en-US" sz="1600" dirty="0"/>
          </a:p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multiple cameras for overview and close-up views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2000" y="68580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100" kern="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CAMERA CONTROLS</a:t>
            </a:r>
            <a:endParaRPr lang="en-US" sz="1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7289800"/>
          <a:ext cx="7620000" cy="1016000"/>
        </p:xfrm>
        <a:graphic>
          <a:graphicData uri="http://schemas.openxmlformats.org/drawingml/2006/table">
            <a:tbl>
              <a:tblPr/>
              <a:tblGrid>
                <a:gridCol w="2667000"/>
                <a:gridCol w="4953000"/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5F5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Action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5F5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Input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Zoom / Rotate / Pan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Mouse Scroll / Right-drag / Middle-drag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8890000" y="1498600"/>
            <a:ext cx="6604000" cy="683260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/>
        </p:spPr>
      </p:sp>
      <p:sp>
        <p:nvSpPr>
          <p:cNvPr id="18" name="Text 15"/>
          <p:cNvSpPr/>
          <p:nvPr/>
        </p:nvSpPr>
        <p:spPr>
          <a:xfrm>
            <a:off x="9194800" y="1752600"/>
            <a:ext cx="59944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100" kern="0" dirty="0">
                <a:solidFill>
                  <a:srgbClr val="FF6B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CAMERA PROPERTIES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194800" y="2260600"/>
            <a:ext cx="5994400" cy="584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FF6B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Position, Rotation, Scale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FF6B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Field of View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Camera lens angle (degrees)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FF6B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Near/Far Clip Plane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Rendering distance range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FF6B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Clear Flags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Skybox, Solid Color, Depth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FF6B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Culling Mask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Which layers to render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FF6B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Viewport Rect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Screen position and size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FF6B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Depth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Camera rendering order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1" name="Text 18"/>
          <p:cNvSpPr/>
          <p:nvPr/>
        </p:nvSpPr>
        <p:spPr>
          <a:xfrm>
            <a:off x="14732000" y="87884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4A4A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4A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 PROGRAMMING — WEEK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7112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100" kern="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Audio in Unity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98600"/>
            <a:ext cx="812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Audio enhances immersion. Unity's audio system has three core components: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489200"/>
            <a:ext cx="4699000" cy="1397000"/>
          </a:xfrm>
          <a:prstGeom prst="roundRect">
            <a:avLst>
              <a:gd name="adj" fmla="val 6000"/>
            </a:avLst>
          </a:prstGeom>
          <a:solidFill>
            <a:srgbClr val="1A1A2E">
              <a:alpha val="5098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90600" y="2667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25981" y="179"/>
                </a:moveTo>
                <a:cubicBezTo>
                  <a:pt x="220682" y="893"/>
                  <a:pt x="215741" y="3870"/>
                  <a:pt x="212646" y="8573"/>
                </a:cubicBezTo>
                <a:cubicBezTo>
                  <a:pt x="208598" y="14764"/>
                  <a:pt x="208478" y="22920"/>
                  <a:pt x="212408" y="29170"/>
                </a:cubicBezTo>
                <a:cubicBezTo>
                  <a:pt x="215741" y="34469"/>
                  <a:pt x="221635" y="36731"/>
                  <a:pt x="226576" y="40184"/>
                </a:cubicBezTo>
                <a:cubicBezTo>
                  <a:pt x="231041" y="43279"/>
                  <a:pt x="237053" y="48042"/>
                  <a:pt x="243066" y="54590"/>
                </a:cubicBezTo>
                <a:cubicBezTo>
                  <a:pt x="254972" y="67508"/>
                  <a:pt x="266581" y="86916"/>
                  <a:pt x="266581" y="114300"/>
                </a:cubicBezTo>
                <a:cubicBezTo>
                  <a:pt x="266581" y="124837"/>
                  <a:pt x="275094" y="133350"/>
                  <a:pt x="285631" y="133350"/>
                </a:cubicBezTo>
                <a:cubicBezTo>
                  <a:pt x="296168" y="133350"/>
                  <a:pt x="304681" y="124837"/>
                  <a:pt x="304681" y="114300"/>
                </a:cubicBezTo>
                <a:cubicBezTo>
                  <a:pt x="304681" y="75009"/>
                  <a:pt x="287715" y="46792"/>
                  <a:pt x="271046" y="28754"/>
                </a:cubicBezTo>
                <a:cubicBezTo>
                  <a:pt x="262771" y="19764"/>
                  <a:pt x="254496" y="13216"/>
                  <a:pt x="248245" y="8930"/>
                </a:cubicBezTo>
                <a:cubicBezTo>
                  <a:pt x="241697" y="4405"/>
                  <a:pt x="234255" y="-952"/>
                  <a:pt x="225862" y="179"/>
                </a:cubicBezTo>
                <a:close/>
                <a:moveTo>
                  <a:pt x="142875" y="76200"/>
                </a:moveTo>
                <a:cubicBezTo>
                  <a:pt x="108585" y="76200"/>
                  <a:pt x="80308" y="102156"/>
                  <a:pt x="76617" y="135434"/>
                </a:cubicBezTo>
                <a:cubicBezTo>
                  <a:pt x="75486" y="145911"/>
                  <a:pt x="66020" y="153412"/>
                  <a:pt x="55602" y="152281"/>
                </a:cubicBezTo>
                <a:cubicBezTo>
                  <a:pt x="45184" y="151150"/>
                  <a:pt x="37624" y="141684"/>
                  <a:pt x="38755" y="131266"/>
                </a:cubicBezTo>
                <a:cubicBezTo>
                  <a:pt x="44529" y="78879"/>
                  <a:pt x="88940" y="38100"/>
                  <a:pt x="142875" y="38100"/>
                </a:cubicBezTo>
                <a:cubicBezTo>
                  <a:pt x="200739" y="38100"/>
                  <a:pt x="247650" y="85011"/>
                  <a:pt x="247650" y="142875"/>
                </a:cubicBezTo>
                <a:cubicBezTo>
                  <a:pt x="247650" y="170259"/>
                  <a:pt x="237113" y="195203"/>
                  <a:pt x="219908" y="213896"/>
                </a:cubicBezTo>
                <a:cubicBezTo>
                  <a:pt x="212765" y="221635"/>
                  <a:pt x="209550" y="228660"/>
                  <a:pt x="209550" y="234553"/>
                </a:cubicBezTo>
                <a:lnTo>
                  <a:pt x="209550" y="238185"/>
                </a:lnTo>
                <a:cubicBezTo>
                  <a:pt x="209550" y="275034"/>
                  <a:pt x="179725" y="304860"/>
                  <a:pt x="142875" y="304860"/>
                </a:cubicBezTo>
                <a:cubicBezTo>
                  <a:pt x="132338" y="304860"/>
                  <a:pt x="123825" y="296347"/>
                  <a:pt x="123825" y="285810"/>
                </a:cubicBezTo>
                <a:cubicBezTo>
                  <a:pt x="123825" y="275273"/>
                  <a:pt x="132338" y="266760"/>
                  <a:pt x="142875" y="266760"/>
                </a:cubicBezTo>
                <a:cubicBezTo>
                  <a:pt x="158651" y="266760"/>
                  <a:pt x="171450" y="253960"/>
                  <a:pt x="171450" y="238185"/>
                </a:cubicBezTo>
                <a:lnTo>
                  <a:pt x="171450" y="234553"/>
                </a:lnTo>
                <a:cubicBezTo>
                  <a:pt x="171450" y="214967"/>
                  <a:pt x="181808" y="199072"/>
                  <a:pt x="191929" y="188119"/>
                </a:cubicBezTo>
                <a:cubicBezTo>
                  <a:pt x="202882" y="176212"/>
                  <a:pt x="209550" y="160377"/>
                  <a:pt x="209550" y="142935"/>
                </a:cubicBezTo>
                <a:cubicBezTo>
                  <a:pt x="209550" y="106085"/>
                  <a:pt x="179725" y="76260"/>
                  <a:pt x="142875" y="76260"/>
                </a:cubicBezTo>
                <a:close/>
                <a:moveTo>
                  <a:pt x="0" y="285750"/>
                </a:moveTo>
                <a:cubicBezTo>
                  <a:pt x="0" y="275236"/>
                  <a:pt x="8536" y="266700"/>
                  <a:pt x="19050" y="266700"/>
                </a:cubicBezTo>
                <a:cubicBezTo>
                  <a:pt x="29564" y="266700"/>
                  <a:pt x="38100" y="275236"/>
                  <a:pt x="38100" y="285750"/>
                </a:cubicBezTo>
                <a:cubicBezTo>
                  <a:pt x="38100" y="296264"/>
                  <a:pt x="29564" y="304800"/>
                  <a:pt x="19050" y="304800"/>
                </a:cubicBezTo>
                <a:cubicBezTo>
                  <a:pt x="8536" y="304800"/>
                  <a:pt x="0" y="296264"/>
                  <a:pt x="0" y="285750"/>
                </a:cubicBezTo>
                <a:close/>
                <a:moveTo>
                  <a:pt x="95250" y="228600"/>
                </a:moveTo>
                <a:cubicBezTo>
                  <a:pt x="105764" y="228600"/>
                  <a:pt x="114300" y="220064"/>
                  <a:pt x="114300" y="209550"/>
                </a:cubicBezTo>
                <a:cubicBezTo>
                  <a:pt x="114300" y="199036"/>
                  <a:pt x="105764" y="190500"/>
                  <a:pt x="95250" y="190500"/>
                </a:cubicBezTo>
                <a:cubicBezTo>
                  <a:pt x="84736" y="190500"/>
                  <a:pt x="76200" y="199036"/>
                  <a:pt x="76200" y="209550"/>
                </a:cubicBezTo>
                <a:cubicBezTo>
                  <a:pt x="76200" y="220064"/>
                  <a:pt x="84736" y="228600"/>
                  <a:pt x="95250" y="228600"/>
                </a:cubicBezTo>
                <a:close/>
                <a:moveTo>
                  <a:pt x="51554" y="215146"/>
                </a:moveTo>
                <a:cubicBezTo>
                  <a:pt x="44113" y="207705"/>
                  <a:pt x="32028" y="207705"/>
                  <a:pt x="24586" y="215146"/>
                </a:cubicBezTo>
                <a:cubicBezTo>
                  <a:pt x="17145" y="222587"/>
                  <a:pt x="17145" y="234672"/>
                  <a:pt x="24586" y="242114"/>
                </a:cubicBezTo>
                <a:lnTo>
                  <a:pt x="62686" y="280214"/>
                </a:lnTo>
                <a:cubicBezTo>
                  <a:pt x="70128" y="287655"/>
                  <a:pt x="82213" y="287655"/>
                  <a:pt x="89654" y="280214"/>
                </a:cubicBezTo>
                <a:cubicBezTo>
                  <a:pt x="97095" y="272772"/>
                  <a:pt x="97095" y="260687"/>
                  <a:pt x="89654" y="253246"/>
                </a:cubicBezTo>
                <a:lnTo>
                  <a:pt x="51554" y="215146"/>
                </a:lnTo>
                <a:close/>
                <a:moveTo>
                  <a:pt x="142875" y="123825"/>
                </a:moveTo>
                <a:cubicBezTo>
                  <a:pt x="132338" y="123825"/>
                  <a:pt x="123825" y="132338"/>
                  <a:pt x="123825" y="142875"/>
                </a:cubicBezTo>
                <a:cubicBezTo>
                  <a:pt x="123825" y="150793"/>
                  <a:pt x="117455" y="157163"/>
                  <a:pt x="109537" y="157163"/>
                </a:cubicBezTo>
                <a:cubicBezTo>
                  <a:pt x="101620" y="157163"/>
                  <a:pt x="95250" y="150793"/>
                  <a:pt x="95250" y="142875"/>
                </a:cubicBezTo>
                <a:cubicBezTo>
                  <a:pt x="95250" y="116562"/>
                  <a:pt x="116562" y="95250"/>
                  <a:pt x="142875" y="95250"/>
                </a:cubicBezTo>
                <a:cubicBezTo>
                  <a:pt x="169188" y="95250"/>
                  <a:pt x="190500" y="116562"/>
                  <a:pt x="190500" y="142875"/>
                </a:cubicBezTo>
                <a:cubicBezTo>
                  <a:pt x="190500" y="150793"/>
                  <a:pt x="184130" y="157163"/>
                  <a:pt x="176212" y="157163"/>
                </a:cubicBezTo>
                <a:cubicBezTo>
                  <a:pt x="168295" y="157163"/>
                  <a:pt x="161925" y="150793"/>
                  <a:pt x="161925" y="142875"/>
                </a:cubicBezTo>
                <a:cubicBezTo>
                  <a:pt x="161925" y="132338"/>
                  <a:pt x="153412" y="123825"/>
                  <a:pt x="142875" y="123825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8" name="Text 6"/>
          <p:cNvSpPr/>
          <p:nvPr/>
        </p:nvSpPr>
        <p:spPr>
          <a:xfrm>
            <a:off x="1422400" y="26416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Audio Listener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90600" y="3048000"/>
            <a:ext cx="4241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4A4A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Receives all sound in the scene. Attached to Main Camera by default.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5000" y="2489200"/>
            <a:ext cx="4699000" cy="1397000"/>
          </a:xfrm>
          <a:prstGeom prst="roundRect">
            <a:avLst>
              <a:gd name="adj" fmla="val 6000"/>
            </a:avLst>
          </a:prstGeom>
          <a:solidFill>
            <a:srgbClr val="1A1A2E">
              <a:alpha val="5098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905500" y="26670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317659" y="19348"/>
                </a:moveTo>
                <a:cubicBezTo>
                  <a:pt x="311527" y="14347"/>
                  <a:pt x="302538" y="15300"/>
                  <a:pt x="297537" y="21431"/>
                </a:cubicBezTo>
                <a:cubicBezTo>
                  <a:pt x="292537" y="27563"/>
                  <a:pt x="293489" y="36552"/>
                  <a:pt x="299621" y="41553"/>
                </a:cubicBezTo>
                <a:cubicBezTo>
                  <a:pt x="331887" y="67747"/>
                  <a:pt x="352425" y="107633"/>
                  <a:pt x="352425" y="152400"/>
                </a:cubicBezTo>
                <a:cubicBezTo>
                  <a:pt x="352425" y="197167"/>
                  <a:pt x="331887" y="237053"/>
                  <a:pt x="299621" y="263307"/>
                </a:cubicBezTo>
                <a:cubicBezTo>
                  <a:pt x="293489" y="268307"/>
                  <a:pt x="292596" y="277297"/>
                  <a:pt x="297537" y="283428"/>
                </a:cubicBezTo>
                <a:cubicBezTo>
                  <a:pt x="302478" y="289560"/>
                  <a:pt x="311527" y="290453"/>
                  <a:pt x="317659" y="285512"/>
                </a:cubicBezTo>
                <a:cubicBezTo>
                  <a:pt x="356295" y="254020"/>
                  <a:pt x="381000" y="206097"/>
                  <a:pt x="381000" y="152400"/>
                </a:cubicBezTo>
                <a:cubicBezTo>
                  <a:pt x="381000" y="98703"/>
                  <a:pt x="356295" y="50721"/>
                  <a:pt x="317659" y="19348"/>
                </a:cubicBezTo>
                <a:close/>
                <a:moveTo>
                  <a:pt x="281642" y="63698"/>
                </a:moveTo>
                <a:cubicBezTo>
                  <a:pt x="275511" y="58698"/>
                  <a:pt x="266521" y="59650"/>
                  <a:pt x="261521" y="65782"/>
                </a:cubicBezTo>
                <a:cubicBezTo>
                  <a:pt x="256520" y="71914"/>
                  <a:pt x="257473" y="80903"/>
                  <a:pt x="263604" y="85904"/>
                </a:cubicBezTo>
                <a:cubicBezTo>
                  <a:pt x="282952" y="101620"/>
                  <a:pt x="295275" y="125551"/>
                  <a:pt x="295275" y="152400"/>
                </a:cubicBezTo>
                <a:cubicBezTo>
                  <a:pt x="295275" y="179249"/>
                  <a:pt x="282952" y="203180"/>
                  <a:pt x="263604" y="218956"/>
                </a:cubicBezTo>
                <a:cubicBezTo>
                  <a:pt x="257473" y="223957"/>
                  <a:pt x="256580" y="232946"/>
                  <a:pt x="261521" y="239078"/>
                </a:cubicBezTo>
                <a:cubicBezTo>
                  <a:pt x="266462" y="245209"/>
                  <a:pt x="275511" y="246102"/>
                  <a:pt x="281642" y="241161"/>
                </a:cubicBezTo>
                <a:cubicBezTo>
                  <a:pt x="307360" y="220206"/>
                  <a:pt x="323850" y="188238"/>
                  <a:pt x="323850" y="152460"/>
                </a:cubicBezTo>
                <a:cubicBezTo>
                  <a:pt x="323850" y="116681"/>
                  <a:pt x="307360" y="84713"/>
                  <a:pt x="281642" y="63758"/>
                </a:cubicBezTo>
                <a:close/>
                <a:moveTo>
                  <a:pt x="245626" y="108049"/>
                </a:moveTo>
                <a:cubicBezTo>
                  <a:pt x="239494" y="103049"/>
                  <a:pt x="230505" y="104001"/>
                  <a:pt x="225504" y="110133"/>
                </a:cubicBezTo>
                <a:cubicBezTo>
                  <a:pt x="220504" y="116265"/>
                  <a:pt x="221456" y="125254"/>
                  <a:pt x="227588" y="130254"/>
                </a:cubicBezTo>
                <a:cubicBezTo>
                  <a:pt x="234017" y="135493"/>
                  <a:pt x="238125" y="143470"/>
                  <a:pt x="238125" y="152400"/>
                </a:cubicBezTo>
                <a:cubicBezTo>
                  <a:pt x="238125" y="161330"/>
                  <a:pt x="234017" y="169307"/>
                  <a:pt x="227588" y="174605"/>
                </a:cubicBezTo>
                <a:cubicBezTo>
                  <a:pt x="221456" y="179606"/>
                  <a:pt x="220563" y="188595"/>
                  <a:pt x="225504" y="194727"/>
                </a:cubicBezTo>
                <a:cubicBezTo>
                  <a:pt x="230445" y="200858"/>
                  <a:pt x="239494" y="201751"/>
                  <a:pt x="245626" y="196810"/>
                </a:cubicBezTo>
                <a:cubicBezTo>
                  <a:pt x="258425" y="186273"/>
                  <a:pt x="266700" y="170319"/>
                  <a:pt x="266700" y="152400"/>
                </a:cubicBezTo>
                <a:cubicBezTo>
                  <a:pt x="266700" y="134481"/>
                  <a:pt x="258425" y="118527"/>
                  <a:pt x="245626" y="108049"/>
                </a:cubicBezTo>
                <a:close/>
                <a:moveTo>
                  <a:pt x="47625" y="209550"/>
                </a:moveTo>
                <a:lnTo>
                  <a:pt x="76200" y="209550"/>
                </a:lnTo>
                <a:lnTo>
                  <a:pt x="156031" y="280511"/>
                </a:lnTo>
                <a:cubicBezTo>
                  <a:pt x="159841" y="283905"/>
                  <a:pt x="164723" y="285750"/>
                  <a:pt x="169783" y="285750"/>
                </a:cubicBezTo>
                <a:cubicBezTo>
                  <a:pt x="181213" y="285750"/>
                  <a:pt x="190500" y="276463"/>
                  <a:pt x="190500" y="265033"/>
                </a:cubicBezTo>
                <a:lnTo>
                  <a:pt x="190500" y="39767"/>
                </a:lnTo>
                <a:cubicBezTo>
                  <a:pt x="190500" y="28337"/>
                  <a:pt x="181213" y="19050"/>
                  <a:pt x="169783" y="19050"/>
                </a:cubicBezTo>
                <a:cubicBezTo>
                  <a:pt x="164723" y="19050"/>
                  <a:pt x="159841" y="20895"/>
                  <a:pt x="156031" y="24289"/>
                </a:cubicBezTo>
                <a:lnTo>
                  <a:pt x="76200" y="95250"/>
                </a:lnTo>
                <a:lnTo>
                  <a:pt x="47625" y="95250"/>
                </a:lnTo>
                <a:cubicBezTo>
                  <a:pt x="31849" y="95250"/>
                  <a:pt x="19050" y="108049"/>
                  <a:pt x="19050" y="123825"/>
                </a:cubicBezTo>
                <a:lnTo>
                  <a:pt x="19050" y="180975"/>
                </a:lnTo>
                <a:cubicBezTo>
                  <a:pt x="19050" y="196751"/>
                  <a:pt x="31849" y="209550"/>
                  <a:pt x="47625" y="20955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6375400" y="26416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Audio Source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43600" y="3048000"/>
            <a:ext cx="4241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4A4A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Plays sound in the scene. Attach to GameObjects that emit audio.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4114800"/>
            <a:ext cx="4699000" cy="1397000"/>
          </a:xfrm>
          <a:prstGeom prst="roundRect">
            <a:avLst>
              <a:gd name="adj" fmla="val 6000"/>
            </a:avLst>
          </a:prstGeom>
          <a:solidFill>
            <a:srgbClr val="1A1A2E">
              <a:alpha val="5098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90600" y="4292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78606" y="4167"/>
                </a:moveTo>
                <a:cubicBezTo>
                  <a:pt x="283131" y="7799"/>
                  <a:pt x="285750" y="13275"/>
                  <a:pt x="285750" y="19050"/>
                </a:cubicBezTo>
                <a:lnTo>
                  <a:pt x="285750" y="200025"/>
                </a:lnTo>
                <a:cubicBezTo>
                  <a:pt x="285750" y="226338"/>
                  <a:pt x="260152" y="247650"/>
                  <a:pt x="228600" y="247650"/>
                </a:cubicBezTo>
                <a:cubicBezTo>
                  <a:pt x="197048" y="247650"/>
                  <a:pt x="171450" y="226338"/>
                  <a:pt x="171450" y="200025"/>
                </a:cubicBezTo>
                <a:cubicBezTo>
                  <a:pt x="171450" y="173712"/>
                  <a:pt x="197048" y="152400"/>
                  <a:pt x="228600" y="152400"/>
                </a:cubicBezTo>
                <a:cubicBezTo>
                  <a:pt x="235268" y="152400"/>
                  <a:pt x="241697" y="153353"/>
                  <a:pt x="247650" y="155138"/>
                </a:cubicBezTo>
                <a:lnTo>
                  <a:pt x="247650" y="85665"/>
                </a:lnTo>
                <a:lnTo>
                  <a:pt x="114300" y="115312"/>
                </a:lnTo>
                <a:lnTo>
                  <a:pt x="114300" y="238125"/>
                </a:lnTo>
                <a:cubicBezTo>
                  <a:pt x="114300" y="264438"/>
                  <a:pt x="88702" y="285750"/>
                  <a:pt x="57150" y="285750"/>
                </a:cubicBezTo>
                <a:cubicBezTo>
                  <a:pt x="25598" y="285750"/>
                  <a:pt x="0" y="264438"/>
                  <a:pt x="0" y="238125"/>
                </a:cubicBezTo>
                <a:cubicBezTo>
                  <a:pt x="0" y="211812"/>
                  <a:pt x="25598" y="190500"/>
                  <a:pt x="57150" y="190500"/>
                </a:cubicBezTo>
                <a:cubicBezTo>
                  <a:pt x="63818" y="190500"/>
                  <a:pt x="70247" y="191453"/>
                  <a:pt x="76200" y="193238"/>
                </a:cubicBezTo>
                <a:lnTo>
                  <a:pt x="76200" y="57150"/>
                </a:lnTo>
                <a:cubicBezTo>
                  <a:pt x="76200" y="48220"/>
                  <a:pt x="82391" y="40481"/>
                  <a:pt x="91142" y="38576"/>
                </a:cubicBezTo>
                <a:lnTo>
                  <a:pt x="262592" y="476"/>
                </a:lnTo>
                <a:cubicBezTo>
                  <a:pt x="268248" y="-774"/>
                  <a:pt x="274141" y="595"/>
                  <a:pt x="278666" y="4227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1422400" y="42672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Audio Clip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90600" y="4673600"/>
            <a:ext cx="4241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4A4A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actual sound file (MP3, WAV, OGG). Assigned to Audio Sources.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2000" y="58420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100" kern="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SETTING UP AUDIO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2000" y="6299200"/>
            <a:ext cx="7620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Import an ambient space audio clip</a:t>
            </a:r>
            <a:endParaRPr lang="en-US" sz="1600" dirty="0"/>
          </a:p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empty GameObject: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6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"AudioManager"</a:t>
            </a:r>
            <a:endParaRPr lang="en-US" sz="1600" dirty="0"/>
          </a:p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6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Audio Source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component</a:t>
            </a:r>
            <a:endParaRPr lang="en-US" sz="1600" dirty="0"/>
          </a:p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Assign the Audio Clip, enable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6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Play On Awake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6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Loop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890000" y="4064000"/>
            <a:ext cx="6604000" cy="426720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/>
        </p:spPr>
      </p:sp>
      <p:sp>
        <p:nvSpPr>
          <p:cNvPr id="21" name="Text 19"/>
          <p:cNvSpPr/>
          <p:nvPr/>
        </p:nvSpPr>
        <p:spPr>
          <a:xfrm>
            <a:off x="9194800" y="4318000"/>
            <a:ext cx="59944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100" kern="0" dirty="0">
                <a:solidFill>
                  <a:srgbClr val="FF6B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3D AUDIO SETTINGS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94800" y="4826000"/>
            <a:ext cx="59944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200" b="1" dirty="0">
                <a:solidFill>
                  <a:srgbClr val="FF6B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Spatial Blend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 = 2D (UI) / 1 = 3D (world)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200" b="1" dirty="0">
                <a:solidFill>
                  <a:srgbClr val="FF6B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Volume Rolloff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Logarithmic, Linear, Custom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200" b="1" dirty="0">
                <a:solidFill>
                  <a:srgbClr val="FF6B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 / Max Distance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Audio audible range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200" b="1" dirty="0">
                <a:solidFill>
                  <a:srgbClr val="FF6B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Audio Mixer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Volume control and effects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4" name="Text 22"/>
          <p:cNvSpPr/>
          <p:nvPr/>
        </p:nvSpPr>
        <p:spPr>
          <a:xfrm>
            <a:off x="14732000" y="87884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4A4A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4A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 PROGRAMMING — WEEK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7112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100" kern="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Prefabs &amp; Reusability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98600"/>
            <a:ext cx="812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Prefabs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are reusable GameObject templates — create once, use everywhere.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24892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100" kern="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BENEFITS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875" y="29972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215702" y="34776"/>
                </a:moveTo>
                <a:cubicBezTo>
                  <a:pt x="222796" y="39936"/>
                  <a:pt x="224383" y="49857"/>
                  <a:pt x="219224" y="56952"/>
                </a:cubicBezTo>
                <a:lnTo>
                  <a:pt x="92224" y="231577"/>
                </a:lnTo>
                <a:cubicBezTo>
                  <a:pt x="89495" y="235347"/>
                  <a:pt x="85279" y="237679"/>
                  <a:pt x="80615" y="238075"/>
                </a:cubicBezTo>
                <a:cubicBezTo>
                  <a:pt x="75952" y="238472"/>
                  <a:pt x="71438" y="236736"/>
                  <a:pt x="68163" y="233462"/>
                </a:cubicBezTo>
                <a:lnTo>
                  <a:pt x="4663" y="169962"/>
                </a:lnTo>
                <a:cubicBezTo>
                  <a:pt x="-1538" y="163761"/>
                  <a:pt x="-1538" y="153690"/>
                  <a:pt x="4663" y="147489"/>
                </a:cubicBezTo>
                <a:cubicBezTo>
                  <a:pt x="10864" y="141288"/>
                  <a:pt x="20935" y="141288"/>
                  <a:pt x="27136" y="147489"/>
                </a:cubicBezTo>
                <a:lnTo>
                  <a:pt x="77490" y="197842"/>
                </a:lnTo>
                <a:lnTo>
                  <a:pt x="193576" y="38249"/>
                </a:lnTo>
                <a:cubicBezTo>
                  <a:pt x="198735" y="31155"/>
                  <a:pt x="208657" y="29567"/>
                  <a:pt x="215751" y="34727"/>
                </a:cubicBezTo>
                <a:close/>
              </a:path>
            </a:pathLst>
          </a:custGeom>
          <a:solidFill>
            <a:srgbClr val="4CAF50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971800"/>
            <a:ext cx="431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once, instantiate multiple times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875" y="34290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215702" y="34776"/>
                </a:moveTo>
                <a:cubicBezTo>
                  <a:pt x="222796" y="39936"/>
                  <a:pt x="224383" y="49857"/>
                  <a:pt x="219224" y="56952"/>
                </a:cubicBezTo>
                <a:lnTo>
                  <a:pt x="92224" y="231577"/>
                </a:lnTo>
                <a:cubicBezTo>
                  <a:pt x="89495" y="235347"/>
                  <a:pt x="85279" y="237679"/>
                  <a:pt x="80615" y="238075"/>
                </a:cubicBezTo>
                <a:cubicBezTo>
                  <a:pt x="75952" y="238472"/>
                  <a:pt x="71438" y="236736"/>
                  <a:pt x="68163" y="233462"/>
                </a:cubicBezTo>
                <a:lnTo>
                  <a:pt x="4663" y="169962"/>
                </a:lnTo>
                <a:cubicBezTo>
                  <a:pt x="-1538" y="163761"/>
                  <a:pt x="-1538" y="153690"/>
                  <a:pt x="4663" y="147489"/>
                </a:cubicBezTo>
                <a:cubicBezTo>
                  <a:pt x="10864" y="141288"/>
                  <a:pt x="20935" y="141288"/>
                  <a:pt x="27136" y="147489"/>
                </a:cubicBezTo>
                <a:lnTo>
                  <a:pt x="77490" y="197842"/>
                </a:lnTo>
                <a:lnTo>
                  <a:pt x="193576" y="38249"/>
                </a:lnTo>
                <a:cubicBezTo>
                  <a:pt x="198735" y="31155"/>
                  <a:pt x="208657" y="29567"/>
                  <a:pt x="215751" y="34727"/>
                </a:cubicBezTo>
                <a:close/>
              </a:path>
            </a:pathLst>
          </a:custGeom>
          <a:solidFill>
            <a:srgbClr val="4CAF50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403600"/>
            <a:ext cx="431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Changes propagate to all instances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7875" y="38608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215702" y="34776"/>
                </a:moveTo>
                <a:cubicBezTo>
                  <a:pt x="222796" y="39936"/>
                  <a:pt x="224383" y="49857"/>
                  <a:pt x="219224" y="56952"/>
                </a:cubicBezTo>
                <a:lnTo>
                  <a:pt x="92224" y="231577"/>
                </a:lnTo>
                <a:cubicBezTo>
                  <a:pt x="89495" y="235347"/>
                  <a:pt x="85279" y="237679"/>
                  <a:pt x="80615" y="238075"/>
                </a:cubicBezTo>
                <a:cubicBezTo>
                  <a:pt x="75952" y="238472"/>
                  <a:pt x="71438" y="236736"/>
                  <a:pt x="68163" y="233462"/>
                </a:cubicBezTo>
                <a:lnTo>
                  <a:pt x="4663" y="169962"/>
                </a:lnTo>
                <a:cubicBezTo>
                  <a:pt x="-1538" y="163761"/>
                  <a:pt x="-1538" y="153690"/>
                  <a:pt x="4663" y="147489"/>
                </a:cubicBezTo>
                <a:cubicBezTo>
                  <a:pt x="10864" y="141288"/>
                  <a:pt x="20935" y="141288"/>
                  <a:pt x="27136" y="147489"/>
                </a:cubicBezTo>
                <a:lnTo>
                  <a:pt x="77490" y="197842"/>
                </a:lnTo>
                <a:lnTo>
                  <a:pt x="193576" y="38249"/>
                </a:lnTo>
                <a:cubicBezTo>
                  <a:pt x="198735" y="31155"/>
                  <a:pt x="208657" y="29567"/>
                  <a:pt x="215751" y="34727"/>
                </a:cubicBezTo>
                <a:close/>
              </a:path>
            </a:pathLst>
          </a:custGeom>
          <a:solidFill>
            <a:srgbClr val="4CAF50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3835400"/>
            <a:ext cx="431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 scene file complexity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44450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100" kern="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CREATING A PLANET PREFAB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4902200"/>
            <a:ext cx="7620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Configure a planet GameObject (sphere + material + script)</a:t>
            </a:r>
            <a:endParaRPr lang="en-US" sz="1600" dirty="0"/>
          </a:p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Font typeface="+mj-lt"/>
              <a:buAutoNum type="arabicPeriod" startAt="1"/>
            </a:pPr>
            <a:r>
              <a:rPr lang="en-US" sz="16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Drag from Hierarchy to Project window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create Prefab</a:t>
            </a:r>
            <a:endParaRPr lang="en-US" sz="1600" dirty="0"/>
          </a:p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Drag prefab back to scene to create instances</a:t>
            </a:r>
            <a:endParaRPr lang="en-US" sz="1600" dirty="0"/>
          </a:p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Edit the prefab asset to update all instances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7162800"/>
            <a:ext cx="7620000" cy="1016000"/>
          </a:xfrm>
          <a:prstGeom prst="roundRect">
            <a:avLst>
              <a:gd name="adj" fmla="val 4000"/>
            </a:avLst>
          </a:prstGeom>
          <a:solidFill>
            <a:srgbClr val="FF6B35">
              <a:alpha val="8235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04900" y="74168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74367" y="228600"/>
                </a:moveTo>
                <a:cubicBezTo>
                  <a:pt x="178713" y="215325"/>
                  <a:pt x="187404" y="203299"/>
                  <a:pt x="197227" y="192941"/>
                </a:cubicBezTo>
                <a:cubicBezTo>
                  <a:pt x="216694" y="172462"/>
                  <a:pt x="228600" y="144780"/>
                  <a:pt x="228600" y="114300"/>
                </a:cubicBezTo>
                <a:cubicBezTo>
                  <a:pt x="228600" y="51197"/>
                  <a:pt x="177403" y="0"/>
                  <a:pt x="114300" y="0"/>
                </a:cubicBezTo>
                <a:cubicBezTo>
                  <a:pt x="51197" y="0"/>
                  <a:pt x="0" y="51197"/>
                  <a:pt x="0" y="114300"/>
                </a:cubicBezTo>
                <a:cubicBezTo>
                  <a:pt x="0" y="144780"/>
                  <a:pt x="11906" y="172462"/>
                  <a:pt x="31373" y="192941"/>
                </a:cubicBezTo>
                <a:cubicBezTo>
                  <a:pt x="41196" y="203299"/>
                  <a:pt x="49947" y="215325"/>
                  <a:pt x="54233" y="228600"/>
                </a:cubicBezTo>
                <a:lnTo>
                  <a:pt x="174308" y="228600"/>
                </a:lnTo>
                <a:close/>
                <a:moveTo>
                  <a:pt x="171450" y="257175"/>
                </a:moveTo>
                <a:lnTo>
                  <a:pt x="57150" y="257175"/>
                </a:lnTo>
                <a:lnTo>
                  <a:pt x="57150" y="266700"/>
                </a:lnTo>
                <a:cubicBezTo>
                  <a:pt x="57150" y="293013"/>
                  <a:pt x="78462" y="314325"/>
                  <a:pt x="104775" y="314325"/>
                </a:cubicBezTo>
                <a:lnTo>
                  <a:pt x="123825" y="314325"/>
                </a:lnTo>
                <a:cubicBezTo>
                  <a:pt x="150138" y="314325"/>
                  <a:pt x="171450" y="293013"/>
                  <a:pt x="171450" y="266700"/>
                </a:cubicBezTo>
                <a:lnTo>
                  <a:pt x="171450" y="257175"/>
                </a:lnTo>
                <a:close/>
                <a:moveTo>
                  <a:pt x="109537" y="66675"/>
                </a:moveTo>
                <a:cubicBezTo>
                  <a:pt x="85844" y="66675"/>
                  <a:pt x="66675" y="85844"/>
                  <a:pt x="66675" y="109537"/>
                </a:cubicBezTo>
                <a:cubicBezTo>
                  <a:pt x="66675" y="117455"/>
                  <a:pt x="60305" y="123825"/>
                  <a:pt x="52388" y="123825"/>
                </a:cubicBezTo>
                <a:cubicBezTo>
                  <a:pt x="44470" y="123825"/>
                  <a:pt x="38100" y="117455"/>
                  <a:pt x="38100" y="109537"/>
                </a:cubicBezTo>
                <a:cubicBezTo>
                  <a:pt x="38100" y="70068"/>
                  <a:pt x="70068" y="38100"/>
                  <a:pt x="109537" y="38100"/>
                </a:cubicBezTo>
                <a:cubicBezTo>
                  <a:pt x="117455" y="38100"/>
                  <a:pt x="123825" y="44470"/>
                  <a:pt x="123825" y="52388"/>
                </a:cubicBezTo>
                <a:cubicBezTo>
                  <a:pt x="123825" y="60305"/>
                  <a:pt x="117455" y="66675"/>
                  <a:pt x="109537" y="66675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17" name="Text 15"/>
          <p:cNvSpPr/>
          <p:nvPr/>
        </p:nvSpPr>
        <p:spPr>
          <a:xfrm>
            <a:off x="1498600" y="7315200"/>
            <a:ext cx="6604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Prefab Variants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similar objects with slight differences — like planets with unique scales and orbit speeds.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890000" y="1498600"/>
            <a:ext cx="6604000" cy="683260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/>
        </p:spPr>
      </p:sp>
      <p:sp>
        <p:nvSpPr>
          <p:cNvPr id="19" name="Text 17"/>
          <p:cNvSpPr/>
          <p:nvPr/>
        </p:nvSpPr>
        <p:spPr>
          <a:xfrm>
            <a:off x="9194800" y="1752600"/>
            <a:ext cx="59944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100" kern="0" dirty="0">
                <a:solidFill>
                  <a:srgbClr val="FF6B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PREFAB WORKFLOW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94800" y="2286000"/>
            <a:ext cx="5994400" cy="584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FF6B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Design Base Object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Sphere mesh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Planet material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Rotation script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Orbit script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FF6B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Create Prefab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Drag to Project window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Name: "PlanetPrefab"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FF6B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Instantiate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Drag into scene 8 times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Customize each instance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FF6B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Update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Edit prefab → all update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Override per-instance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2" name="Text 20"/>
          <p:cNvSpPr/>
          <p:nvPr/>
        </p:nvSpPr>
        <p:spPr>
          <a:xfrm>
            <a:off x="14732000" y="87884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4A4A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21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4A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 PROGRAMMING — WEEK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7112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100" kern="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 &amp; Test Workflow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24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100" kern="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PLAY MODE TESTING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1955800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Click the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Play button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test in the Editor. Changes in Play Mode are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FF6B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saved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exit Play Mode before editing.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3175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100" kern="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 PROCESS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3683000"/>
            <a:ext cx="355600" cy="3556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36830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19200" y="36576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File &gt; Build Settings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4191000"/>
            <a:ext cx="355600" cy="3556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41910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19200" y="41656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 open scenes to the build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4699000"/>
            <a:ext cx="355600" cy="3556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5" name="Text 13"/>
          <p:cNvSpPr/>
          <p:nvPr/>
        </p:nvSpPr>
        <p:spPr>
          <a:xfrm>
            <a:off x="762000" y="46990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19200" y="46736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Select target platform (PC/Mac/Linux)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5207000"/>
            <a:ext cx="355600" cy="3556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8" name="Text 16"/>
          <p:cNvSpPr/>
          <p:nvPr/>
        </p:nvSpPr>
        <p:spPr>
          <a:xfrm>
            <a:off x="762000" y="52070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19200" y="51816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Click </a:t>
            </a:r>
            <a:pPr>
              <a:lnSpc>
                <a:spcPct val="100000"/>
              </a:lnSpc>
            </a:pPr>
            <a:r>
              <a:rPr lang="en-US" sz="16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choose output folder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2000" y="59182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100" kern="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TESTING CHECKLIST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2000" y="6375400"/>
            <a:ext cx="7620000" cy="195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planets visible and textured correctly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Orbits and rotations working smoothly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Camera controls functional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Audio playing, no console errors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smooth — target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6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60 FPS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144000" y="1524000"/>
            <a:ext cx="6350000" cy="680720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/>
        </p:spPr>
      </p:sp>
      <p:sp>
        <p:nvSpPr>
          <p:cNvPr id="23" name="Text 21"/>
          <p:cNvSpPr/>
          <p:nvPr/>
        </p:nvSpPr>
        <p:spPr>
          <a:xfrm>
            <a:off x="9448800" y="1778000"/>
            <a:ext cx="57404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100" kern="0" dirty="0">
                <a:solidFill>
                  <a:srgbClr val="FF6B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MONITORING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448800" y="2286000"/>
            <a:ext cx="5740400" cy="584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FF6B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Stats Overlay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Game View → Stats button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Shows FPS, draw calls, tris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FF6B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Profiler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Window → Analysis → Profiler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 performance analysis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FF6B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Frame Debugger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Window → Analysis → Frame Debugger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See each rendering step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FF6B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 Metrics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Draw calls: &lt; 100 (mobile)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FPS: 60+ consistentlyMemory: Monitor for leaks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6" name="Text 24"/>
          <p:cNvSpPr/>
          <p:nvPr/>
        </p:nvSpPr>
        <p:spPr>
          <a:xfrm>
            <a:off x="14732000" y="87884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4A4A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4A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 PROGRAMMING — WEEK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7112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100" kern="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Finishing the Solar System Simulation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98600"/>
            <a:ext cx="812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 assembly — bring everything together to complete the simulation: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463800"/>
            <a:ext cx="4699000" cy="1270000"/>
          </a:xfrm>
          <a:prstGeom prst="roundRect">
            <a:avLst>
              <a:gd name="adj" fmla="val 6000"/>
            </a:avLst>
          </a:prstGeom>
          <a:solidFill>
            <a:srgbClr val="1A1A2E">
              <a:alpha val="5098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71550" y="26670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06085" y="-6013"/>
                </a:moveTo>
                <a:cubicBezTo>
                  <a:pt x="110490" y="-7858"/>
                  <a:pt x="115491" y="-7322"/>
                  <a:pt x="119479" y="-4703"/>
                </a:cubicBezTo>
                <a:lnTo>
                  <a:pt x="171748" y="29944"/>
                </a:lnTo>
                <a:lnTo>
                  <a:pt x="224016" y="-4703"/>
                </a:lnTo>
                <a:cubicBezTo>
                  <a:pt x="228005" y="-7322"/>
                  <a:pt x="233005" y="-7799"/>
                  <a:pt x="237411" y="-6013"/>
                </a:cubicBezTo>
                <a:cubicBezTo>
                  <a:pt x="241816" y="-4227"/>
                  <a:pt x="244912" y="-298"/>
                  <a:pt x="245864" y="4346"/>
                </a:cubicBezTo>
                <a:lnTo>
                  <a:pt x="258306" y="65782"/>
                </a:lnTo>
                <a:lnTo>
                  <a:pt x="319742" y="78224"/>
                </a:lnTo>
                <a:cubicBezTo>
                  <a:pt x="324386" y="79177"/>
                  <a:pt x="328315" y="82391"/>
                  <a:pt x="330101" y="86737"/>
                </a:cubicBezTo>
                <a:cubicBezTo>
                  <a:pt x="331887" y="91083"/>
                  <a:pt x="331410" y="96143"/>
                  <a:pt x="328791" y="100132"/>
                </a:cubicBezTo>
                <a:lnTo>
                  <a:pt x="294144" y="152400"/>
                </a:lnTo>
                <a:lnTo>
                  <a:pt x="328791" y="204668"/>
                </a:lnTo>
                <a:cubicBezTo>
                  <a:pt x="331410" y="208657"/>
                  <a:pt x="331887" y="213658"/>
                  <a:pt x="330101" y="218063"/>
                </a:cubicBezTo>
                <a:cubicBezTo>
                  <a:pt x="328315" y="222468"/>
                  <a:pt x="324386" y="225683"/>
                  <a:pt x="319742" y="226576"/>
                </a:cubicBezTo>
                <a:lnTo>
                  <a:pt x="258247" y="238958"/>
                </a:lnTo>
                <a:lnTo>
                  <a:pt x="245864" y="300454"/>
                </a:lnTo>
                <a:cubicBezTo>
                  <a:pt x="244912" y="305098"/>
                  <a:pt x="241697" y="309027"/>
                  <a:pt x="237351" y="310813"/>
                </a:cubicBezTo>
                <a:cubicBezTo>
                  <a:pt x="233005" y="312599"/>
                  <a:pt x="227945" y="312122"/>
                  <a:pt x="223957" y="309503"/>
                </a:cubicBezTo>
                <a:lnTo>
                  <a:pt x="171688" y="274856"/>
                </a:lnTo>
                <a:lnTo>
                  <a:pt x="119420" y="309503"/>
                </a:lnTo>
                <a:cubicBezTo>
                  <a:pt x="115431" y="312122"/>
                  <a:pt x="110430" y="312599"/>
                  <a:pt x="106025" y="310813"/>
                </a:cubicBezTo>
                <a:cubicBezTo>
                  <a:pt x="101620" y="309027"/>
                  <a:pt x="98405" y="305098"/>
                  <a:pt x="97512" y="300454"/>
                </a:cubicBezTo>
                <a:lnTo>
                  <a:pt x="85130" y="238958"/>
                </a:lnTo>
                <a:lnTo>
                  <a:pt x="23634" y="226516"/>
                </a:lnTo>
                <a:cubicBezTo>
                  <a:pt x="18990" y="225564"/>
                  <a:pt x="15061" y="222349"/>
                  <a:pt x="13275" y="218003"/>
                </a:cubicBezTo>
                <a:cubicBezTo>
                  <a:pt x="11490" y="213658"/>
                  <a:pt x="11966" y="208597"/>
                  <a:pt x="14585" y="204609"/>
                </a:cubicBezTo>
                <a:lnTo>
                  <a:pt x="49232" y="152400"/>
                </a:lnTo>
                <a:lnTo>
                  <a:pt x="14585" y="100132"/>
                </a:lnTo>
                <a:cubicBezTo>
                  <a:pt x="11966" y="96143"/>
                  <a:pt x="11490" y="91142"/>
                  <a:pt x="13275" y="86737"/>
                </a:cubicBezTo>
                <a:cubicBezTo>
                  <a:pt x="15061" y="82332"/>
                  <a:pt x="18990" y="79117"/>
                  <a:pt x="23634" y="78224"/>
                </a:cubicBezTo>
                <a:lnTo>
                  <a:pt x="85130" y="65842"/>
                </a:lnTo>
                <a:lnTo>
                  <a:pt x="97572" y="4346"/>
                </a:lnTo>
                <a:cubicBezTo>
                  <a:pt x="98524" y="-298"/>
                  <a:pt x="101739" y="-4227"/>
                  <a:pt x="106085" y="-6013"/>
                </a:cubicBezTo>
                <a:close/>
                <a:moveTo>
                  <a:pt x="123587" y="152400"/>
                </a:moveTo>
                <a:cubicBezTo>
                  <a:pt x="123587" y="135300"/>
                  <a:pt x="132710" y="119499"/>
                  <a:pt x="147518" y="110949"/>
                </a:cubicBezTo>
                <a:cubicBezTo>
                  <a:pt x="162327" y="102399"/>
                  <a:pt x="180573" y="102399"/>
                  <a:pt x="195382" y="110949"/>
                </a:cubicBezTo>
                <a:cubicBezTo>
                  <a:pt x="210190" y="119499"/>
                  <a:pt x="219313" y="135300"/>
                  <a:pt x="219313" y="152400"/>
                </a:cubicBezTo>
                <a:cubicBezTo>
                  <a:pt x="219313" y="178816"/>
                  <a:pt x="197866" y="200263"/>
                  <a:pt x="171450" y="200263"/>
                </a:cubicBezTo>
                <a:cubicBezTo>
                  <a:pt x="145034" y="200263"/>
                  <a:pt x="123587" y="178816"/>
                  <a:pt x="123587" y="152400"/>
                </a:cubicBezTo>
                <a:close/>
                <a:moveTo>
                  <a:pt x="247888" y="152400"/>
                </a:moveTo>
                <a:cubicBezTo>
                  <a:pt x="247888" y="110213"/>
                  <a:pt x="213637" y="75962"/>
                  <a:pt x="171450" y="75962"/>
                </a:cubicBezTo>
                <a:cubicBezTo>
                  <a:pt x="129263" y="75962"/>
                  <a:pt x="95012" y="110213"/>
                  <a:pt x="95012" y="152400"/>
                </a:cubicBezTo>
                <a:cubicBezTo>
                  <a:pt x="95012" y="179709"/>
                  <a:pt x="109581" y="204943"/>
                  <a:pt x="133231" y="218597"/>
                </a:cubicBezTo>
                <a:cubicBezTo>
                  <a:pt x="156881" y="232252"/>
                  <a:pt x="186019" y="232252"/>
                  <a:pt x="209669" y="218597"/>
                </a:cubicBezTo>
                <a:cubicBezTo>
                  <a:pt x="233319" y="204943"/>
                  <a:pt x="247888" y="179709"/>
                  <a:pt x="247888" y="15240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8" name="Text 6"/>
          <p:cNvSpPr/>
          <p:nvPr/>
        </p:nvSpPr>
        <p:spPr>
          <a:xfrm>
            <a:off x="1422400" y="26416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Sun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90600" y="3048000"/>
            <a:ext cx="4241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4A4A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Center position, emissive material, point light source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5000" y="2463800"/>
            <a:ext cx="4699000" cy="1270000"/>
          </a:xfrm>
          <a:prstGeom prst="roundRect">
            <a:avLst>
              <a:gd name="adj" fmla="val 6000"/>
            </a:avLst>
          </a:prstGeom>
          <a:solidFill>
            <a:srgbClr val="1A1A2E">
              <a:alpha val="5098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0" y="2667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09490" y="166688"/>
                </a:moveTo>
                <a:lnTo>
                  <a:pt x="95845" y="166688"/>
                </a:lnTo>
                <a:cubicBezTo>
                  <a:pt x="97572" y="205085"/>
                  <a:pt x="106085" y="240447"/>
                  <a:pt x="118170" y="266343"/>
                </a:cubicBezTo>
                <a:cubicBezTo>
                  <a:pt x="124956" y="280928"/>
                  <a:pt x="132278" y="291227"/>
                  <a:pt x="139065" y="297537"/>
                </a:cubicBezTo>
                <a:cubicBezTo>
                  <a:pt x="145733" y="303788"/>
                  <a:pt x="150316" y="304800"/>
                  <a:pt x="152698" y="304800"/>
                </a:cubicBezTo>
                <a:cubicBezTo>
                  <a:pt x="155079" y="304800"/>
                  <a:pt x="159663" y="303788"/>
                  <a:pt x="166330" y="297537"/>
                </a:cubicBezTo>
                <a:cubicBezTo>
                  <a:pt x="173117" y="291227"/>
                  <a:pt x="180439" y="280868"/>
                  <a:pt x="187226" y="266343"/>
                </a:cubicBezTo>
                <a:cubicBezTo>
                  <a:pt x="199311" y="240447"/>
                  <a:pt x="207824" y="205085"/>
                  <a:pt x="209550" y="166688"/>
                </a:cubicBezTo>
                <a:close/>
                <a:moveTo>
                  <a:pt x="95786" y="138113"/>
                </a:moveTo>
                <a:lnTo>
                  <a:pt x="209431" y="138113"/>
                </a:lnTo>
                <a:cubicBezTo>
                  <a:pt x="207764" y="99715"/>
                  <a:pt x="199251" y="64353"/>
                  <a:pt x="187166" y="38457"/>
                </a:cubicBezTo>
                <a:cubicBezTo>
                  <a:pt x="180380" y="23932"/>
                  <a:pt x="173057" y="13573"/>
                  <a:pt x="166271" y="7263"/>
                </a:cubicBezTo>
                <a:cubicBezTo>
                  <a:pt x="159603" y="1012"/>
                  <a:pt x="155019" y="0"/>
                  <a:pt x="152638" y="0"/>
                </a:cubicBezTo>
                <a:cubicBezTo>
                  <a:pt x="150257" y="0"/>
                  <a:pt x="145673" y="1012"/>
                  <a:pt x="139005" y="7263"/>
                </a:cubicBezTo>
                <a:cubicBezTo>
                  <a:pt x="132219" y="13573"/>
                  <a:pt x="124897" y="23932"/>
                  <a:pt x="118110" y="38457"/>
                </a:cubicBezTo>
                <a:cubicBezTo>
                  <a:pt x="106025" y="64353"/>
                  <a:pt x="97512" y="99715"/>
                  <a:pt x="95786" y="138113"/>
                </a:cubicBezTo>
                <a:close/>
                <a:moveTo>
                  <a:pt x="67211" y="138113"/>
                </a:moveTo>
                <a:cubicBezTo>
                  <a:pt x="69294" y="87154"/>
                  <a:pt x="82451" y="39826"/>
                  <a:pt x="101679" y="8751"/>
                </a:cubicBezTo>
                <a:cubicBezTo>
                  <a:pt x="46851" y="28158"/>
                  <a:pt x="6489" y="78105"/>
                  <a:pt x="893" y="138113"/>
                </a:cubicBezTo>
                <a:lnTo>
                  <a:pt x="67211" y="138113"/>
                </a:lnTo>
                <a:close/>
                <a:moveTo>
                  <a:pt x="893" y="166688"/>
                </a:moveTo>
                <a:cubicBezTo>
                  <a:pt x="6489" y="226695"/>
                  <a:pt x="46851" y="276642"/>
                  <a:pt x="101679" y="296049"/>
                </a:cubicBezTo>
                <a:cubicBezTo>
                  <a:pt x="82451" y="264974"/>
                  <a:pt x="69294" y="217646"/>
                  <a:pt x="67211" y="166688"/>
                </a:cubicBezTo>
                <a:lnTo>
                  <a:pt x="893" y="166688"/>
                </a:lnTo>
                <a:close/>
                <a:moveTo>
                  <a:pt x="238065" y="166688"/>
                </a:moveTo>
                <a:cubicBezTo>
                  <a:pt x="235982" y="217646"/>
                  <a:pt x="222825" y="264974"/>
                  <a:pt x="203597" y="296049"/>
                </a:cubicBezTo>
                <a:cubicBezTo>
                  <a:pt x="258425" y="276582"/>
                  <a:pt x="298787" y="226695"/>
                  <a:pt x="304383" y="166688"/>
                </a:cubicBezTo>
                <a:lnTo>
                  <a:pt x="238065" y="166688"/>
                </a:lnTo>
                <a:close/>
                <a:moveTo>
                  <a:pt x="304383" y="138113"/>
                </a:moveTo>
                <a:cubicBezTo>
                  <a:pt x="298787" y="78105"/>
                  <a:pt x="258425" y="28158"/>
                  <a:pt x="203597" y="8751"/>
                </a:cubicBezTo>
                <a:cubicBezTo>
                  <a:pt x="222825" y="39826"/>
                  <a:pt x="235982" y="87154"/>
                  <a:pt x="238065" y="138113"/>
                </a:cubicBezTo>
                <a:lnTo>
                  <a:pt x="304383" y="138113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6375400" y="26416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 Planets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43600" y="3048000"/>
            <a:ext cx="42418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4A4A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Using Planet prefab with unique parameters per planet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40386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100" kern="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PLANET CONFIGURATIONS</a:t>
            </a:r>
            <a:endParaRPr lang="en-US" sz="1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4495800"/>
          <a:ext cx="9652000" cy="3810000"/>
        </p:xfrm>
        <a:graphic>
          <a:graphicData uri="http://schemas.openxmlformats.org/drawingml/2006/table">
            <a:tbl>
              <a:tblPr/>
              <a:tblGrid>
                <a:gridCol w="2123440"/>
                <a:gridCol w="1930400"/>
                <a:gridCol w="2895600"/>
                <a:gridCol w="2702560"/>
              </a:tblGrid>
              <a:tr h="47625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5F5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Planet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5F5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Scale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5F5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Orbit Speed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5F5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Special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Mercury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Small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Fast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Venus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Medium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Slow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Retrograde rotation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5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Earth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Medium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Medium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With Moon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Mars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Small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Medium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Reddish texture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5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Jupiter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Largest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Slow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Striped texture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Saturn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Large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Slow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Ring system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5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Uranus/Neptune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Medium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Very Slow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Tilted axis / Deep blue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</a:tr>
            </a:tbl>
          </a:graphicData>
        </a:graphic>
      </p:graphicFrame>
      <p:pic>
        <p:nvPicPr>
          <p:cNvPr id="16" name="Image 0" descr="https://kimi-img.moonshot.cn/pub/slides/okc/3laoalbxzvofm/mnt/agents/output/game_programming_week3/images/2_3D_Solar_System_Viewer_TheSkyLiv.png">    </p:cNvPr>
          <p:cNvPicPr>
            <a:picLocks noChangeAspect="1"/>
          </p:cNvPicPr>
          <p:nvPr/>
        </p:nvPicPr>
        <p:blipFill>
          <a:blip r:embed="rId1"/>
          <a:srcRect l="29457" r="29457" t="0" b="0"/>
          <a:stretch/>
        </p:blipFill>
        <p:spPr>
          <a:xfrm>
            <a:off x="10922000" y="2463800"/>
            <a:ext cx="4572000" cy="5842000"/>
          </a:xfrm>
          <a:prstGeom prst="roundRect">
            <a:avLst>
              <a:gd name="adj" fmla="val 6000"/>
            </a:avLst>
          </a:prstGeom>
        </p:spPr>
      </p:pic>
      <p:sp>
        <p:nvSpPr>
          <p:cNvPr id="17" name="Shape 13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8" name="Text 14"/>
          <p:cNvSpPr/>
          <p:nvPr/>
        </p:nvSpPr>
        <p:spPr>
          <a:xfrm>
            <a:off x="14732000" y="87884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4A4A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4A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 PROGRAMMING — WEEK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7112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100" kern="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Setting Up the Project — Best Practices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74800"/>
            <a:ext cx="4699000" cy="3302000"/>
          </a:xfrm>
          <a:prstGeom prst="roundRect">
            <a:avLst>
              <a:gd name="adj" fmla="val 6000"/>
            </a:avLst>
          </a:prstGeom>
          <a:solidFill>
            <a:srgbClr val="1A1A2E">
              <a:alpha val="5098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38225" y="18034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55563" y="72231"/>
                </a:moveTo>
                <a:cubicBezTo>
                  <a:pt x="64762" y="72231"/>
                  <a:pt x="72231" y="64762"/>
                  <a:pt x="72231" y="55563"/>
                </a:cubicBezTo>
                <a:cubicBezTo>
                  <a:pt x="72231" y="46363"/>
                  <a:pt x="64762" y="38894"/>
                  <a:pt x="55563" y="38894"/>
                </a:cubicBezTo>
                <a:cubicBezTo>
                  <a:pt x="46363" y="38894"/>
                  <a:pt x="38894" y="46363"/>
                  <a:pt x="38894" y="55563"/>
                </a:cubicBezTo>
                <a:cubicBezTo>
                  <a:pt x="38894" y="64762"/>
                  <a:pt x="46363" y="72231"/>
                  <a:pt x="55563" y="72231"/>
                </a:cubicBezTo>
                <a:close/>
                <a:moveTo>
                  <a:pt x="111125" y="55563"/>
                </a:moveTo>
                <a:cubicBezTo>
                  <a:pt x="111125" y="78343"/>
                  <a:pt x="97443" y="97929"/>
                  <a:pt x="77788" y="106472"/>
                </a:cubicBezTo>
                <a:lnTo>
                  <a:pt x="77788" y="155575"/>
                </a:lnTo>
                <a:lnTo>
                  <a:pt x="200025" y="155575"/>
                </a:lnTo>
                <a:cubicBezTo>
                  <a:pt x="218430" y="155575"/>
                  <a:pt x="233363" y="140643"/>
                  <a:pt x="233363" y="122238"/>
                </a:cubicBezTo>
                <a:lnTo>
                  <a:pt x="233363" y="106472"/>
                </a:lnTo>
                <a:cubicBezTo>
                  <a:pt x="213707" y="97929"/>
                  <a:pt x="200025" y="78343"/>
                  <a:pt x="200025" y="55563"/>
                </a:cubicBezTo>
                <a:cubicBezTo>
                  <a:pt x="200025" y="24864"/>
                  <a:pt x="224889" y="0"/>
                  <a:pt x="255587" y="0"/>
                </a:cubicBezTo>
                <a:cubicBezTo>
                  <a:pt x="286286" y="0"/>
                  <a:pt x="311150" y="24864"/>
                  <a:pt x="311150" y="55563"/>
                </a:cubicBezTo>
                <a:cubicBezTo>
                  <a:pt x="311150" y="78343"/>
                  <a:pt x="297468" y="97929"/>
                  <a:pt x="277813" y="106472"/>
                </a:cubicBezTo>
                <a:lnTo>
                  <a:pt x="277813" y="122238"/>
                </a:lnTo>
                <a:cubicBezTo>
                  <a:pt x="277813" y="165229"/>
                  <a:pt x="243016" y="200025"/>
                  <a:pt x="200025" y="200025"/>
                </a:cubicBezTo>
                <a:lnTo>
                  <a:pt x="77788" y="200025"/>
                </a:lnTo>
                <a:lnTo>
                  <a:pt x="77788" y="249128"/>
                </a:lnTo>
                <a:cubicBezTo>
                  <a:pt x="97443" y="257671"/>
                  <a:pt x="111125" y="277257"/>
                  <a:pt x="111125" y="300038"/>
                </a:cubicBezTo>
                <a:cubicBezTo>
                  <a:pt x="111125" y="330736"/>
                  <a:pt x="86261" y="355600"/>
                  <a:pt x="55563" y="355600"/>
                </a:cubicBezTo>
                <a:cubicBezTo>
                  <a:pt x="24864" y="355600"/>
                  <a:pt x="0" y="330736"/>
                  <a:pt x="0" y="300038"/>
                </a:cubicBezTo>
                <a:cubicBezTo>
                  <a:pt x="0" y="277257"/>
                  <a:pt x="13682" y="257671"/>
                  <a:pt x="33337" y="249128"/>
                </a:cubicBezTo>
                <a:lnTo>
                  <a:pt x="33337" y="106541"/>
                </a:lnTo>
                <a:cubicBezTo>
                  <a:pt x="13682" y="97929"/>
                  <a:pt x="0" y="78343"/>
                  <a:pt x="0" y="55563"/>
                </a:cubicBezTo>
                <a:cubicBezTo>
                  <a:pt x="0" y="24864"/>
                  <a:pt x="24864" y="0"/>
                  <a:pt x="55563" y="0"/>
                </a:cubicBezTo>
                <a:cubicBezTo>
                  <a:pt x="86261" y="0"/>
                  <a:pt x="111125" y="24864"/>
                  <a:pt x="111125" y="55563"/>
                </a:cubicBezTo>
                <a:close/>
                <a:moveTo>
                  <a:pt x="272256" y="55563"/>
                </a:moveTo>
                <a:cubicBezTo>
                  <a:pt x="272256" y="46363"/>
                  <a:pt x="264787" y="38894"/>
                  <a:pt x="255587" y="38894"/>
                </a:cubicBezTo>
                <a:cubicBezTo>
                  <a:pt x="246388" y="38894"/>
                  <a:pt x="238919" y="46363"/>
                  <a:pt x="238919" y="55563"/>
                </a:cubicBezTo>
                <a:cubicBezTo>
                  <a:pt x="238919" y="64762"/>
                  <a:pt x="246388" y="72231"/>
                  <a:pt x="255587" y="72231"/>
                </a:cubicBezTo>
                <a:cubicBezTo>
                  <a:pt x="264787" y="72231"/>
                  <a:pt x="272256" y="64762"/>
                  <a:pt x="272256" y="55563"/>
                </a:cubicBezTo>
                <a:close/>
                <a:moveTo>
                  <a:pt x="55563" y="316706"/>
                </a:moveTo>
                <a:cubicBezTo>
                  <a:pt x="64762" y="316706"/>
                  <a:pt x="72231" y="309237"/>
                  <a:pt x="72231" y="300038"/>
                </a:cubicBezTo>
                <a:cubicBezTo>
                  <a:pt x="72231" y="290838"/>
                  <a:pt x="64762" y="283369"/>
                  <a:pt x="55563" y="283369"/>
                </a:cubicBezTo>
                <a:cubicBezTo>
                  <a:pt x="46363" y="283369"/>
                  <a:pt x="38894" y="290838"/>
                  <a:pt x="38894" y="300038"/>
                </a:cubicBezTo>
                <a:cubicBezTo>
                  <a:pt x="38894" y="309237"/>
                  <a:pt x="46363" y="316706"/>
                  <a:pt x="55563" y="316706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1498600" y="1778000"/>
            <a:ext cx="368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Version Control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286000"/>
            <a:ext cx="4191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 up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5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Git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5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repository</a:t>
            </a:r>
            <a:endParaRPr lang="en-US" sz="1600" dirty="0"/>
          </a:p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 .gitignore for Unity</a:t>
            </a:r>
            <a:endParaRPr lang="en-US" sz="1600" dirty="0"/>
          </a:p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Commit regularly</a:t>
            </a:r>
            <a:endParaRPr lang="en-US" sz="1600" dirty="0"/>
          </a:p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meaningful messages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15000" y="1574800"/>
            <a:ext cx="4699000" cy="3302000"/>
          </a:xfrm>
          <a:prstGeom prst="roundRect">
            <a:avLst>
              <a:gd name="adj" fmla="val 6000"/>
            </a:avLst>
          </a:prstGeom>
          <a:solidFill>
            <a:srgbClr val="1A1A2E">
              <a:alpha val="5098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969000" y="1803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0" y="177800"/>
                </a:moveTo>
                <a:cubicBezTo>
                  <a:pt x="0" y="79670"/>
                  <a:pt x="79670" y="0"/>
                  <a:pt x="177800" y="0"/>
                </a:cubicBezTo>
                <a:cubicBezTo>
                  <a:pt x="275930" y="0"/>
                  <a:pt x="355600" y="79670"/>
                  <a:pt x="355600" y="177800"/>
                </a:cubicBezTo>
                <a:cubicBezTo>
                  <a:pt x="355600" y="275930"/>
                  <a:pt x="275930" y="355600"/>
                  <a:pt x="177800" y="355600"/>
                </a:cubicBezTo>
                <a:cubicBezTo>
                  <a:pt x="79670" y="355600"/>
                  <a:pt x="0" y="275930"/>
                  <a:pt x="0" y="177800"/>
                </a:cubicBezTo>
                <a:close/>
                <a:moveTo>
                  <a:pt x="200025" y="66675"/>
                </a:moveTo>
                <a:cubicBezTo>
                  <a:pt x="200025" y="54409"/>
                  <a:pt x="190066" y="44450"/>
                  <a:pt x="177800" y="44450"/>
                </a:cubicBezTo>
                <a:cubicBezTo>
                  <a:pt x="165534" y="44450"/>
                  <a:pt x="155575" y="54409"/>
                  <a:pt x="155575" y="66675"/>
                </a:cubicBezTo>
                <a:cubicBezTo>
                  <a:pt x="155575" y="78941"/>
                  <a:pt x="165534" y="88900"/>
                  <a:pt x="177800" y="88900"/>
                </a:cubicBezTo>
                <a:cubicBezTo>
                  <a:pt x="190066" y="88900"/>
                  <a:pt x="200025" y="78941"/>
                  <a:pt x="200025" y="66675"/>
                </a:cubicBezTo>
                <a:close/>
                <a:moveTo>
                  <a:pt x="177800" y="288925"/>
                </a:moveTo>
                <a:cubicBezTo>
                  <a:pt x="202317" y="288925"/>
                  <a:pt x="222250" y="268992"/>
                  <a:pt x="222250" y="244475"/>
                </a:cubicBezTo>
                <a:cubicBezTo>
                  <a:pt x="222250" y="233224"/>
                  <a:pt x="218083" y="222875"/>
                  <a:pt x="211138" y="215096"/>
                </a:cubicBezTo>
                <a:lnTo>
                  <a:pt x="259407" y="118626"/>
                </a:lnTo>
                <a:cubicBezTo>
                  <a:pt x="263505" y="110361"/>
                  <a:pt x="260171" y="100360"/>
                  <a:pt x="251976" y="96262"/>
                </a:cubicBezTo>
                <a:cubicBezTo>
                  <a:pt x="243780" y="92164"/>
                  <a:pt x="233710" y="95498"/>
                  <a:pt x="229612" y="103694"/>
                </a:cubicBezTo>
                <a:lnTo>
                  <a:pt x="181342" y="200164"/>
                </a:lnTo>
                <a:cubicBezTo>
                  <a:pt x="180161" y="200094"/>
                  <a:pt x="178981" y="200025"/>
                  <a:pt x="177800" y="200025"/>
                </a:cubicBezTo>
                <a:cubicBezTo>
                  <a:pt x="153283" y="200025"/>
                  <a:pt x="133350" y="219958"/>
                  <a:pt x="133350" y="244475"/>
                </a:cubicBezTo>
                <a:cubicBezTo>
                  <a:pt x="133350" y="268992"/>
                  <a:pt x="153283" y="288925"/>
                  <a:pt x="177800" y="288925"/>
                </a:cubicBezTo>
                <a:close/>
                <a:moveTo>
                  <a:pt x="122238" y="100013"/>
                </a:moveTo>
                <a:cubicBezTo>
                  <a:pt x="122238" y="87746"/>
                  <a:pt x="112279" y="77788"/>
                  <a:pt x="100013" y="77788"/>
                </a:cubicBezTo>
                <a:cubicBezTo>
                  <a:pt x="87746" y="77788"/>
                  <a:pt x="77788" y="87746"/>
                  <a:pt x="77788" y="100013"/>
                </a:cubicBezTo>
                <a:cubicBezTo>
                  <a:pt x="77788" y="112279"/>
                  <a:pt x="87746" y="122238"/>
                  <a:pt x="100013" y="122238"/>
                </a:cubicBezTo>
                <a:cubicBezTo>
                  <a:pt x="112279" y="122238"/>
                  <a:pt x="122238" y="112279"/>
                  <a:pt x="122238" y="100013"/>
                </a:cubicBezTo>
                <a:close/>
                <a:moveTo>
                  <a:pt x="66675" y="200025"/>
                </a:moveTo>
                <a:cubicBezTo>
                  <a:pt x="78941" y="200025"/>
                  <a:pt x="88900" y="190066"/>
                  <a:pt x="88900" y="177800"/>
                </a:cubicBezTo>
                <a:cubicBezTo>
                  <a:pt x="88900" y="165534"/>
                  <a:pt x="78941" y="155575"/>
                  <a:pt x="66675" y="155575"/>
                </a:cubicBezTo>
                <a:cubicBezTo>
                  <a:pt x="54409" y="155575"/>
                  <a:pt x="44450" y="165534"/>
                  <a:pt x="44450" y="177800"/>
                </a:cubicBezTo>
                <a:cubicBezTo>
                  <a:pt x="44450" y="190066"/>
                  <a:pt x="54409" y="200025"/>
                  <a:pt x="66675" y="200025"/>
                </a:cubicBezTo>
                <a:close/>
                <a:moveTo>
                  <a:pt x="311150" y="177800"/>
                </a:moveTo>
                <a:cubicBezTo>
                  <a:pt x="311150" y="165534"/>
                  <a:pt x="301191" y="155575"/>
                  <a:pt x="288925" y="155575"/>
                </a:cubicBezTo>
                <a:cubicBezTo>
                  <a:pt x="276659" y="155575"/>
                  <a:pt x="266700" y="165534"/>
                  <a:pt x="266700" y="177800"/>
                </a:cubicBezTo>
                <a:cubicBezTo>
                  <a:pt x="266700" y="190066"/>
                  <a:pt x="276659" y="200025"/>
                  <a:pt x="288925" y="200025"/>
                </a:cubicBezTo>
                <a:cubicBezTo>
                  <a:pt x="301191" y="200025"/>
                  <a:pt x="311150" y="190066"/>
                  <a:pt x="311150" y="17780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6451600" y="1778000"/>
            <a:ext cx="368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69000" y="2286000"/>
            <a:ext cx="4191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the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5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Profiler</a:t>
            </a:r>
            <a:endParaRPr lang="en-US" sz="1600" dirty="0"/>
          </a:p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Optimize draw calls</a:t>
            </a:r>
            <a:endParaRPr lang="en-US" sz="1600" dirty="0"/>
          </a:p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Batch where possible</a:t>
            </a:r>
            <a:endParaRPr lang="en-US" sz="1600" dirty="0"/>
          </a:p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LOD for complex models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668000" y="1574800"/>
            <a:ext cx="4826000" cy="3302000"/>
          </a:xfrm>
          <a:prstGeom prst="roundRect">
            <a:avLst>
              <a:gd name="adj" fmla="val 6000"/>
            </a:avLst>
          </a:prstGeom>
          <a:solidFill>
            <a:srgbClr val="1A1A2E">
              <a:alpha val="5098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966450" y="18034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0" y="44450"/>
                </a:moveTo>
                <a:cubicBezTo>
                  <a:pt x="0" y="19933"/>
                  <a:pt x="19933" y="0"/>
                  <a:pt x="44450" y="0"/>
                </a:cubicBezTo>
                <a:lnTo>
                  <a:pt x="148282" y="0"/>
                </a:lnTo>
                <a:cubicBezTo>
                  <a:pt x="160089" y="0"/>
                  <a:pt x="171410" y="4653"/>
                  <a:pt x="179745" y="12988"/>
                </a:cubicBezTo>
                <a:lnTo>
                  <a:pt x="253712" y="87025"/>
                </a:lnTo>
                <a:cubicBezTo>
                  <a:pt x="262047" y="95359"/>
                  <a:pt x="266700" y="106680"/>
                  <a:pt x="266700" y="118487"/>
                </a:cubicBezTo>
                <a:lnTo>
                  <a:pt x="266700" y="311150"/>
                </a:lnTo>
                <a:cubicBezTo>
                  <a:pt x="266700" y="335667"/>
                  <a:pt x="246767" y="355600"/>
                  <a:pt x="222250" y="355600"/>
                </a:cubicBezTo>
                <a:lnTo>
                  <a:pt x="44450" y="355600"/>
                </a:lnTo>
                <a:cubicBezTo>
                  <a:pt x="19933" y="355600"/>
                  <a:pt x="0" y="335667"/>
                  <a:pt x="0" y="311150"/>
                </a:cubicBezTo>
                <a:lnTo>
                  <a:pt x="0" y="44450"/>
                </a:lnTo>
                <a:close/>
                <a:moveTo>
                  <a:pt x="144463" y="40630"/>
                </a:moveTo>
                <a:lnTo>
                  <a:pt x="144463" y="105569"/>
                </a:lnTo>
                <a:cubicBezTo>
                  <a:pt x="144463" y="114806"/>
                  <a:pt x="151894" y="122238"/>
                  <a:pt x="161131" y="122238"/>
                </a:cubicBezTo>
                <a:lnTo>
                  <a:pt x="226070" y="122238"/>
                </a:lnTo>
                <a:lnTo>
                  <a:pt x="144463" y="40630"/>
                </a:lnTo>
                <a:close/>
                <a:moveTo>
                  <a:pt x="83344" y="177800"/>
                </a:moveTo>
                <a:cubicBezTo>
                  <a:pt x="74106" y="177800"/>
                  <a:pt x="66675" y="185231"/>
                  <a:pt x="66675" y="194469"/>
                </a:cubicBezTo>
                <a:cubicBezTo>
                  <a:pt x="66675" y="203706"/>
                  <a:pt x="74106" y="211138"/>
                  <a:pt x="83344" y="211138"/>
                </a:cubicBezTo>
                <a:lnTo>
                  <a:pt x="183356" y="211138"/>
                </a:lnTo>
                <a:cubicBezTo>
                  <a:pt x="192594" y="211138"/>
                  <a:pt x="200025" y="203706"/>
                  <a:pt x="200025" y="194469"/>
                </a:cubicBezTo>
                <a:cubicBezTo>
                  <a:pt x="200025" y="185231"/>
                  <a:pt x="192594" y="177800"/>
                  <a:pt x="183356" y="177800"/>
                </a:cubicBezTo>
                <a:lnTo>
                  <a:pt x="83344" y="177800"/>
                </a:lnTo>
                <a:close/>
                <a:moveTo>
                  <a:pt x="83344" y="244475"/>
                </a:moveTo>
                <a:cubicBezTo>
                  <a:pt x="74106" y="244475"/>
                  <a:pt x="66675" y="251906"/>
                  <a:pt x="66675" y="261144"/>
                </a:cubicBezTo>
                <a:cubicBezTo>
                  <a:pt x="66675" y="270381"/>
                  <a:pt x="74106" y="277813"/>
                  <a:pt x="83344" y="277813"/>
                </a:cubicBezTo>
                <a:lnTo>
                  <a:pt x="183356" y="277813"/>
                </a:lnTo>
                <a:cubicBezTo>
                  <a:pt x="192594" y="277813"/>
                  <a:pt x="200025" y="270381"/>
                  <a:pt x="200025" y="261144"/>
                </a:cubicBezTo>
                <a:cubicBezTo>
                  <a:pt x="200025" y="251906"/>
                  <a:pt x="192594" y="244475"/>
                  <a:pt x="183356" y="244475"/>
                </a:cubicBezTo>
                <a:lnTo>
                  <a:pt x="83344" y="244475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15" name="Text 13"/>
          <p:cNvSpPr/>
          <p:nvPr/>
        </p:nvSpPr>
        <p:spPr>
          <a:xfrm>
            <a:off x="11404600" y="1778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Documentation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22000" y="2286000"/>
            <a:ext cx="4318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Comment your code</a:t>
            </a:r>
            <a:endParaRPr lang="en-US" sz="1600" dirty="0"/>
          </a:p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Keep a development log</a:t>
            </a:r>
            <a:endParaRPr lang="en-US" sz="1600" dirty="0"/>
          </a:p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Document custom systems</a:t>
            </a:r>
            <a:endParaRPr lang="en-US" sz="1600" dirty="0"/>
          </a:p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Note dependencies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5156200"/>
            <a:ext cx="14732000" cy="127000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/>
        </p:spPr>
      </p:sp>
      <p:sp>
        <p:nvSpPr>
          <p:cNvPr id="18" name="Shape 16"/>
          <p:cNvSpPr/>
          <p:nvPr/>
        </p:nvSpPr>
        <p:spPr>
          <a:xfrm>
            <a:off x="1066800" y="5461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206851" y="0"/>
                  <a:pt x="210503" y="794"/>
                  <a:pt x="213836" y="2302"/>
                </a:cubicBezTo>
                <a:lnTo>
                  <a:pt x="363379" y="65723"/>
                </a:lnTo>
                <a:cubicBezTo>
                  <a:pt x="380841" y="73104"/>
                  <a:pt x="393859" y="90329"/>
                  <a:pt x="393779" y="111125"/>
                </a:cubicBezTo>
                <a:cubicBezTo>
                  <a:pt x="393383" y="189865"/>
                  <a:pt x="360998" y="333931"/>
                  <a:pt x="224234" y="399415"/>
                </a:cubicBezTo>
                <a:cubicBezTo>
                  <a:pt x="210979" y="405765"/>
                  <a:pt x="195580" y="405765"/>
                  <a:pt x="182324" y="399415"/>
                </a:cubicBezTo>
                <a:cubicBezTo>
                  <a:pt x="45482" y="333931"/>
                  <a:pt x="13176" y="189865"/>
                  <a:pt x="12779" y="111125"/>
                </a:cubicBezTo>
                <a:cubicBezTo>
                  <a:pt x="12700" y="90329"/>
                  <a:pt x="25717" y="73104"/>
                  <a:pt x="43180" y="65723"/>
                </a:cubicBezTo>
                <a:lnTo>
                  <a:pt x="192643" y="2302"/>
                </a:lnTo>
                <a:cubicBezTo>
                  <a:pt x="195977" y="794"/>
                  <a:pt x="199549" y="0"/>
                  <a:pt x="203200" y="0"/>
                </a:cubicBezTo>
                <a:close/>
                <a:moveTo>
                  <a:pt x="203200" y="53022"/>
                </a:moveTo>
                <a:lnTo>
                  <a:pt x="203200" y="353139"/>
                </a:lnTo>
                <a:cubicBezTo>
                  <a:pt x="312738" y="300117"/>
                  <a:pt x="342186" y="182642"/>
                  <a:pt x="342900" y="112316"/>
                </a:cubicBezTo>
                <a:lnTo>
                  <a:pt x="203200" y="53102"/>
                </a:lnTo>
                <a:lnTo>
                  <a:pt x="203200" y="53102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19" name="Text 17"/>
          <p:cNvSpPr/>
          <p:nvPr/>
        </p:nvSpPr>
        <p:spPr>
          <a:xfrm>
            <a:off x="1625600" y="54356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6B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BACKUP STRATEGY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25600" y="5892800"/>
            <a:ext cx="1346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Regular Git commits + Cloud backup of project folder = Never lose work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2000" y="67310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100" kern="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NAMING CONVENTIONS REMINDER</a:t>
            </a:r>
            <a:endParaRPr lang="en-US" sz="16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7188200"/>
          <a:ext cx="14732000" cy="1016000"/>
        </p:xfrm>
        <a:graphic>
          <a:graphicData uri="http://schemas.openxmlformats.org/drawingml/2006/table">
            <a:tbl>
              <a:tblPr/>
              <a:tblGrid>
                <a:gridCol w="3683000"/>
                <a:gridCol w="3683000"/>
                <a:gridCol w="3683000"/>
                <a:gridCol w="3683000"/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5F5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Rule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5F5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Example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5F5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Rule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5F5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Example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PascalCase files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PlanetController.cs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 spaces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SolarSystemScene.unity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4" name="Text 21"/>
          <p:cNvSpPr/>
          <p:nvPr/>
        </p:nvSpPr>
        <p:spPr>
          <a:xfrm>
            <a:off x="14732000" y="87884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4A4A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4A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 PROGRAMMING — WEEK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7112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100" kern="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Level Design Fundamentals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986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While the Solar System is a simulation, core level design principles still apply: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133600"/>
            <a:ext cx="3429000" cy="2032000"/>
          </a:xfrm>
          <a:prstGeom prst="roundRect">
            <a:avLst>
              <a:gd name="adj" fmla="val 6000"/>
            </a:avLst>
          </a:prstGeom>
          <a:solidFill>
            <a:srgbClr val="1A1A2E">
              <a:alpha val="5098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09650" y="23368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38100" y="19050"/>
                </a:moveTo>
                <a:cubicBezTo>
                  <a:pt x="17085" y="19050"/>
                  <a:pt x="0" y="36135"/>
                  <a:pt x="0" y="57150"/>
                </a:cubicBezTo>
                <a:lnTo>
                  <a:pt x="0" y="247650"/>
                </a:lnTo>
                <a:cubicBezTo>
                  <a:pt x="0" y="268665"/>
                  <a:pt x="17085" y="285750"/>
                  <a:pt x="38100" y="285750"/>
                </a:cubicBezTo>
                <a:lnTo>
                  <a:pt x="228600" y="285750"/>
                </a:lnTo>
                <a:cubicBezTo>
                  <a:pt x="249615" y="285750"/>
                  <a:pt x="266700" y="268665"/>
                  <a:pt x="266700" y="247650"/>
                </a:cubicBezTo>
                <a:lnTo>
                  <a:pt x="266700" y="57150"/>
                </a:lnTo>
                <a:cubicBezTo>
                  <a:pt x="266700" y="36135"/>
                  <a:pt x="249615" y="19050"/>
                  <a:pt x="228600" y="19050"/>
                </a:cubicBezTo>
                <a:lnTo>
                  <a:pt x="38100" y="19050"/>
                </a:lnTo>
                <a:close/>
                <a:moveTo>
                  <a:pt x="76200" y="66675"/>
                </a:moveTo>
                <a:cubicBezTo>
                  <a:pt x="91971" y="66675"/>
                  <a:pt x="104775" y="79479"/>
                  <a:pt x="104775" y="95250"/>
                </a:cubicBezTo>
                <a:cubicBezTo>
                  <a:pt x="104775" y="111021"/>
                  <a:pt x="91971" y="123825"/>
                  <a:pt x="76200" y="123825"/>
                </a:cubicBezTo>
                <a:cubicBezTo>
                  <a:pt x="60429" y="123825"/>
                  <a:pt x="47625" y="111021"/>
                  <a:pt x="47625" y="95250"/>
                </a:cubicBezTo>
                <a:cubicBezTo>
                  <a:pt x="47625" y="79479"/>
                  <a:pt x="60429" y="66675"/>
                  <a:pt x="76200" y="66675"/>
                </a:cubicBezTo>
                <a:close/>
                <a:moveTo>
                  <a:pt x="161925" y="133350"/>
                </a:moveTo>
                <a:cubicBezTo>
                  <a:pt x="166926" y="133350"/>
                  <a:pt x="171510" y="135969"/>
                  <a:pt x="174129" y="140196"/>
                </a:cubicBezTo>
                <a:lnTo>
                  <a:pt x="226516" y="225921"/>
                </a:lnTo>
                <a:cubicBezTo>
                  <a:pt x="229195" y="230326"/>
                  <a:pt x="229314" y="235863"/>
                  <a:pt x="226814" y="240387"/>
                </a:cubicBezTo>
                <a:cubicBezTo>
                  <a:pt x="224314" y="244912"/>
                  <a:pt x="219492" y="247650"/>
                  <a:pt x="214313" y="247650"/>
                </a:cubicBezTo>
                <a:lnTo>
                  <a:pt x="52388" y="247650"/>
                </a:lnTo>
                <a:cubicBezTo>
                  <a:pt x="47089" y="247650"/>
                  <a:pt x="42148" y="244673"/>
                  <a:pt x="39707" y="239970"/>
                </a:cubicBezTo>
                <a:cubicBezTo>
                  <a:pt x="37267" y="235268"/>
                  <a:pt x="37624" y="229553"/>
                  <a:pt x="40660" y="225207"/>
                </a:cubicBezTo>
                <a:lnTo>
                  <a:pt x="73997" y="177582"/>
                </a:lnTo>
                <a:cubicBezTo>
                  <a:pt x="76676" y="173772"/>
                  <a:pt x="81022" y="171510"/>
                  <a:pt x="85725" y="171510"/>
                </a:cubicBezTo>
                <a:cubicBezTo>
                  <a:pt x="90428" y="171510"/>
                  <a:pt x="94774" y="173772"/>
                  <a:pt x="97453" y="177582"/>
                </a:cubicBezTo>
                <a:lnTo>
                  <a:pt x="113169" y="200085"/>
                </a:lnTo>
                <a:lnTo>
                  <a:pt x="149721" y="140256"/>
                </a:lnTo>
                <a:cubicBezTo>
                  <a:pt x="152340" y="136029"/>
                  <a:pt x="156924" y="133410"/>
                  <a:pt x="161925" y="13341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8" name="Text 6"/>
          <p:cNvSpPr/>
          <p:nvPr/>
        </p:nvSpPr>
        <p:spPr>
          <a:xfrm>
            <a:off x="1422400" y="23114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Composition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90600" y="2743200"/>
            <a:ext cx="29718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Arrange elements to guide the viewer's attention. The Sun is the focal point.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45000" y="2133600"/>
            <a:ext cx="3429000" cy="2032000"/>
          </a:xfrm>
          <a:prstGeom prst="roundRect">
            <a:avLst>
              <a:gd name="adj" fmla="val 6000"/>
            </a:avLst>
          </a:prstGeom>
          <a:solidFill>
            <a:srgbClr val="1A1A2E">
              <a:alpha val="5098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692650" y="23368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595" y="262950"/>
                </a:moveTo>
                <a:cubicBezTo>
                  <a:pt x="3274" y="275927"/>
                  <a:pt x="14764" y="285750"/>
                  <a:pt x="28575" y="285750"/>
                </a:cubicBezTo>
                <a:lnTo>
                  <a:pt x="238125" y="285750"/>
                </a:lnTo>
                <a:cubicBezTo>
                  <a:pt x="253901" y="285750"/>
                  <a:pt x="266700" y="272951"/>
                  <a:pt x="266700" y="257175"/>
                </a:cubicBezTo>
                <a:lnTo>
                  <a:pt x="266700" y="200025"/>
                </a:lnTo>
                <a:cubicBezTo>
                  <a:pt x="266700" y="184249"/>
                  <a:pt x="253901" y="171450"/>
                  <a:pt x="238125" y="171450"/>
                </a:cubicBezTo>
                <a:lnTo>
                  <a:pt x="209550" y="171450"/>
                </a:lnTo>
                <a:lnTo>
                  <a:pt x="209550" y="214313"/>
                </a:lnTo>
                <a:cubicBezTo>
                  <a:pt x="209550" y="222230"/>
                  <a:pt x="203180" y="228600"/>
                  <a:pt x="195263" y="228600"/>
                </a:cubicBezTo>
                <a:cubicBezTo>
                  <a:pt x="187345" y="228600"/>
                  <a:pt x="180975" y="222230"/>
                  <a:pt x="180975" y="214313"/>
                </a:cubicBezTo>
                <a:lnTo>
                  <a:pt x="180975" y="171450"/>
                </a:lnTo>
                <a:lnTo>
                  <a:pt x="142875" y="171450"/>
                </a:lnTo>
                <a:lnTo>
                  <a:pt x="142875" y="214313"/>
                </a:lnTo>
                <a:cubicBezTo>
                  <a:pt x="142875" y="222230"/>
                  <a:pt x="136505" y="228600"/>
                  <a:pt x="128588" y="228600"/>
                </a:cubicBezTo>
                <a:cubicBezTo>
                  <a:pt x="120670" y="228600"/>
                  <a:pt x="114300" y="222230"/>
                  <a:pt x="114300" y="214313"/>
                </a:cubicBezTo>
                <a:lnTo>
                  <a:pt x="114300" y="171450"/>
                </a:lnTo>
                <a:lnTo>
                  <a:pt x="71438" y="171450"/>
                </a:lnTo>
                <a:cubicBezTo>
                  <a:pt x="63520" y="171450"/>
                  <a:pt x="57150" y="165080"/>
                  <a:pt x="57150" y="157163"/>
                </a:cubicBezTo>
                <a:cubicBezTo>
                  <a:pt x="57150" y="149245"/>
                  <a:pt x="63520" y="142875"/>
                  <a:pt x="71438" y="142875"/>
                </a:cubicBezTo>
                <a:lnTo>
                  <a:pt x="114300" y="142875"/>
                </a:lnTo>
                <a:lnTo>
                  <a:pt x="114300" y="104775"/>
                </a:lnTo>
                <a:lnTo>
                  <a:pt x="71438" y="104775"/>
                </a:lnTo>
                <a:cubicBezTo>
                  <a:pt x="63520" y="104775"/>
                  <a:pt x="57150" y="98405"/>
                  <a:pt x="57150" y="90488"/>
                </a:cubicBezTo>
                <a:cubicBezTo>
                  <a:pt x="57150" y="82570"/>
                  <a:pt x="63520" y="76200"/>
                  <a:pt x="71438" y="76200"/>
                </a:cubicBezTo>
                <a:lnTo>
                  <a:pt x="114300" y="76200"/>
                </a:lnTo>
                <a:lnTo>
                  <a:pt x="114300" y="47625"/>
                </a:lnTo>
                <a:cubicBezTo>
                  <a:pt x="114300" y="31849"/>
                  <a:pt x="101501" y="19050"/>
                  <a:pt x="85725" y="19050"/>
                </a:cubicBezTo>
                <a:lnTo>
                  <a:pt x="28575" y="19050"/>
                </a:lnTo>
                <a:cubicBezTo>
                  <a:pt x="12799" y="19050"/>
                  <a:pt x="0" y="31849"/>
                  <a:pt x="0" y="47625"/>
                </a:cubicBezTo>
                <a:lnTo>
                  <a:pt x="0" y="257175"/>
                </a:lnTo>
                <a:cubicBezTo>
                  <a:pt x="0" y="259140"/>
                  <a:pt x="179" y="261104"/>
                  <a:pt x="595" y="26295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5105400" y="23114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Scale &amp; Proportion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73600" y="2743200"/>
            <a:ext cx="29718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Balance realism with readability. Exaggerate planet sizes for visibility.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28000" y="2133600"/>
            <a:ext cx="3429000" cy="2032000"/>
          </a:xfrm>
          <a:prstGeom prst="roundRect">
            <a:avLst>
              <a:gd name="adj" fmla="val 6000"/>
            </a:avLst>
          </a:prstGeom>
          <a:solidFill>
            <a:srgbClr val="1A1A2E">
              <a:alpha val="5098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356600" y="2336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152400"/>
                </a:moveTo>
                <a:cubicBezTo>
                  <a:pt x="304800" y="152936"/>
                  <a:pt x="304800" y="153472"/>
                  <a:pt x="304800" y="154007"/>
                </a:cubicBezTo>
                <a:cubicBezTo>
                  <a:pt x="304562" y="175736"/>
                  <a:pt x="284797" y="190500"/>
                  <a:pt x="263069" y="190500"/>
                </a:cubicBezTo>
                <a:lnTo>
                  <a:pt x="204787" y="190500"/>
                </a:lnTo>
                <a:cubicBezTo>
                  <a:pt x="189012" y="190500"/>
                  <a:pt x="176212" y="203299"/>
                  <a:pt x="176212" y="219075"/>
                </a:cubicBezTo>
                <a:cubicBezTo>
                  <a:pt x="176212" y="221099"/>
                  <a:pt x="176451" y="223064"/>
                  <a:pt x="176808" y="224969"/>
                </a:cubicBezTo>
                <a:cubicBezTo>
                  <a:pt x="178058" y="231041"/>
                  <a:pt x="180677" y="236875"/>
                  <a:pt x="183237" y="242768"/>
                </a:cubicBezTo>
                <a:cubicBezTo>
                  <a:pt x="186869" y="250984"/>
                  <a:pt x="190440" y="259140"/>
                  <a:pt x="190440" y="267772"/>
                </a:cubicBezTo>
                <a:cubicBezTo>
                  <a:pt x="190440" y="286702"/>
                  <a:pt x="177582" y="303907"/>
                  <a:pt x="158651" y="304681"/>
                </a:cubicBezTo>
                <a:cubicBezTo>
                  <a:pt x="156567" y="304740"/>
                  <a:pt x="154484" y="304800"/>
                  <a:pt x="152340" y="304800"/>
                </a:cubicBezTo>
                <a:cubicBezTo>
                  <a:pt x="68163" y="304800"/>
                  <a:pt x="-60" y="236577"/>
                  <a:pt x="-60" y="152400"/>
                </a:cubicBezTo>
                <a:cubicBezTo>
                  <a:pt x="-60" y="68223"/>
                  <a:pt x="68223" y="0"/>
                  <a:pt x="152400" y="0"/>
                </a:cubicBezTo>
                <a:cubicBezTo>
                  <a:pt x="236577" y="0"/>
                  <a:pt x="304800" y="68223"/>
                  <a:pt x="304800" y="152400"/>
                </a:cubicBezTo>
                <a:close/>
                <a:moveTo>
                  <a:pt x="76200" y="171450"/>
                </a:moveTo>
                <a:cubicBezTo>
                  <a:pt x="76200" y="160936"/>
                  <a:pt x="67664" y="152400"/>
                  <a:pt x="57150" y="152400"/>
                </a:cubicBezTo>
                <a:cubicBezTo>
                  <a:pt x="46636" y="152400"/>
                  <a:pt x="38100" y="160936"/>
                  <a:pt x="38100" y="171450"/>
                </a:cubicBezTo>
                <a:cubicBezTo>
                  <a:pt x="38100" y="181964"/>
                  <a:pt x="46636" y="190500"/>
                  <a:pt x="57150" y="190500"/>
                </a:cubicBezTo>
                <a:cubicBezTo>
                  <a:pt x="67664" y="190500"/>
                  <a:pt x="76200" y="181964"/>
                  <a:pt x="76200" y="171450"/>
                </a:cubicBezTo>
                <a:close/>
                <a:moveTo>
                  <a:pt x="76200" y="114300"/>
                </a:moveTo>
                <a:cubicBezTo>
                  <a:pt x="86714" y="114300"/>
                  <a:pt x="95250" y="105764"/>
                  <a:pt x="95250" y="95250"/>
                </a:cubicBezTo>
                <a:cubicBezTo>
                  <a:pt x="95250" y="84736"/>
                  <a:pt x="86714" y="76200"/>
                  <a:pt x="76200" y="76200"/>
                </a:cubicBezTo>
                <a:cubicBezTo>
                  <a:pt x="65686" y="76200"/>
                  <a:pt x="57150" y="84736"/>
                  <a:pt x="57150" y="95250"/>
                </a:cubicBezTo>
                <a:cubicBezTo>
                  <a:pt x="57150" y="105764"/>
                  <a:pt x="65686" y="114300"/>
                  <a:pt x="76200" y="114300"/>
                </a:cubicBezTo>
                <a:close/>
                <a:moveTo>
                  <a:pt x="171450" y="57150"/>
                </a:moveTo>
                <a:cubicBezTo>
                  <a:pt x="171450" y="46636"/>
                  <a:pt x="162914" y="38100"/>
                  <a:pt x="152400" y="38100"/>
                </a:cubicBezTo>
                <a:cubicBezTo>
                  <a:pt x="141886" y="38100"/>
                  <a:pt x="133350" y="46636"/>
                  <a:pt x="133350" y="57150"/>
                </a:cubicBezTo>
                <a:cubicBezTo>
                  <a:pt x="133350" y="67664"/>
                  <a:pt x="141886" y="76200"/>
                  <a:pt x="152400" y="76200"/>
                </a:cubicBezTo>
                <a:cubicBezTo>
                  <a:pt x="162914" y="76200"/>
                  <a:pt x="171450" y="67664"/>
                  <a:pt x="171450" y="57150"/>
                </a:cubicBezTo>
                <a:close/>
                <a:moveTo>
                  <a:pt x="228600" y="114300"/>
                </a:moveTo>
                <a:cubicBezTo>
                  <a:pt x="239114" y="114300"/>
                  <a:pt x="247650" y="105764"/>
                  <a:pt x="247650" y="95250"/>
                </a:cubicBezTo>
                <a:cubicBezTo>
                  <a:pt x="247650" y="84736"/>
                  <a:pt x="239114" y="76200"/>
                  <a:pt x="228600" y="76200"/>
                </a:cubicBezTo>
                <a:cubicBezTo>
                  <a:pt x="218086" y="76200"/>
                  <a:pt x="209550" y="84736"/>
                  <a:pt x="209550" y="95250"/>
                </a:cubicBezTo>
                <a:cubicBezTo>
                  <a:pt x="209550" y="105764"/>
                  <a:pt x="218086" y="114300"/>
                  <a:pt x="228600" y="11430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8788400" y="23114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Color Theory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56600" y="2743200"/>
            <a:ext cx="29718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color to differentiate planets. Maintain visual harmony across the scene.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811000" y="2133600"/>
            <a:ext cx="3683000" cy="2032000"/>
          </a:xfrm>
          <a:prstGeom prst="roundRect">
            <a:avLst>
              <a:gd name="adj" fmla="val 6000"/>
            </a:avLst>
          </a:prstGeom>
          <a:solidFill>
            <a:srgbClr val="1A1A2E">
              <a:alpha val="5098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2058650" y="23368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133350" y="200025"/>
                </a:moveTo>
                <a:cubicBezTo>
                  <a:pt x="177760" y="200025"/>
                  <a:pt x="215741" y="172403"/>
                  <a:pt x="230981" y="133350"/>
                </a:cubicBezTo>
                <a:lnTo>
                  <a:pt x="233363" y="133350"/>
                </a:lnTo>
                <a:cubicBezTo>
                  <a:pt x="241280" y="133350"/>
                  <a:pt x="247650" y="126980"/>
                  <a:pt x="247650" y="119062"/>
                </a:cubicBezTo>
                <a:lnTo>
                  <a:pt x="247650" y="71438"/>
                </a:lnTo>
                <a:cubicBezTo>
                  <a:pt x="247650" y="63520"/>
                  <a:pt x="241280" y="57150"/>
                  <a:pt x="233363" y="57150"/>
                </a:cubicBezTo>
                <a:lnTo>
                  <a:pt x="230981" y="57150"/>
                </a:lnTo>
                <a:cubicBezTo>
                  <a:pt x="215741" y="18098"/>
                  <a:pt x="177760" y="-9525"/>
                  <a:pt x="133350" y="-9525"/>
                </a:cubicBezTo>
                <a:cubicBezTo>
                  <a:pt x="88940" y="-9525"/>
                  <a:pt x="50959" y="18098"/>
                  <a:pt x="35719" y="57150"/>
                </a:cubicBezTo>
                <a:lnTo>
                  <a:pt x="33338" y="57150"/>
                </a:lnTo>
                <a:cubicBezTo>
                  <a:pt x="25420" y="57150"/>
                  <a:pt x="19050" y="63520"/>
                  <a:pt x="19050" y="71438"/>
                </a:cubicBezTo>
                <a:lnTo>
                  <a:pt x="19050" y="119062"/>
                </a:lnTo>
                <a:cubicBezTo>
                  <a:pt x="19050" y="126980"/>
                  <a:pt x="25420" y="133350"/>
                  <a:pt x="33338" y="133350"/>
                </a:cubicBezTo>
                <a:lnTo>
                  <a:pt x="35719" y="133350"/>
                </a:lnTo>
                <a:cubicBezTo>
                  <a:pt x="50959" y="172403"/>
                  <a:pt x="88940" y="200025"/>
                  <a:pt x="133350" y="200025"/>
                </a:cubicBezTo>
                <a:close/>
                <a:moveTo>
                  <a:pt x="123825" y="47625"/>
                </a:moveTo>
                <a:lnTo>
                  <a:pt x="142875" y="47625"/>
                </a:lnTo>
                <a:cubicBezTo>
                  <a:pt x="174427" y="47625"/>
                  <a:pt x="200025" y="73223"/>
                  <a:pt x="200025" y="104775"/>
                </a:cubicBezTo>
                <a:cubicBezTo>
                  <a:pt x="200025" y="136327"/>
                  <a:pt x="174427" y="161925"/>
                  <a:pt x="142875" y="161925"/>
                </a:cubicBezTo>
                <a:lnTo>
                  <a:pt x="123825" y="161925"/>
                </a:lnTo>
                <a:cubicBezTo>
                  <a:pt x="92273" y="161925"/>
                  <a:pt x="66675" y="136327"/>
                  <a:pt x="66675" y="104775"/>
                </a:cubicBezTo>
                <a:cubicBezTo>
                  <a:pt x="66675" y="73223"/>
                  <a:pt x="92273" y="47625"/>
                  <a:pt x="123825" y="47625"/>
                </a:cubicBezTo>
                <a:close/>
                <a:moveTo>
                  <a:pt x="9525" y="288488"/>
                </a:moveTo>
                <a:cubicBezTo>
                  <a:pt x="9525" y="297478"/>
                  <a:pt x="16847" y="304800"/>
                  <a:pt x="25837" y="304800"/>
                </a:cubicBezTo>
                <a:lnTo>
                  <a:pt x="57150" y="304800"/>
                </a:lnTo>
                <a:lnTo>
                  <a:pt x="57150" y="276225"/>
                </a:lnTo>
                <a:cubicBezTo>
                  <a:pt x="57150" y="265688"/>
                  <a:pt x="65663" y="257175"/>
                  <a:pt x="76200" y="257175"/>
                </a:cubicBezTo>
                <a:lnTo>
                  <a:pt x="190500" y="257175"/>
                </a:lnTo>
                <a:cubicBezTo>
                  <a:pt x="201037" y="257175"/>
                  <a:pt x="209550" y="265688"/>
                  <a:pt x="209550" y="276225"/>
                </a:cubicBezTo>
                <a:lnTo>
                  <a:pt x="209550" y="304800"/>
                </a:lnTo>
                <a:lnTo>
                  <a:pt x="240863" y="304800"/>
                </a:lnTo>
                <a:cubicBezTo>
                  <a:pt x="249853" y="304800"/>
                  <a:pt x="257175" y="297478"/>
                  <a:pt x="257175" y="288488"/>
                </a:cubicBezTo>
                <a:cubicBezTo>
                  <a:pt x="257175" y="252889"/>
                  <a:pt x="238185" y="221694"/>
                  <a:pt x="209788" y="204549"/>
                </a:cubicBezTo>
                <a:cubicBezTo>
                  <a:pt x="188119" y="219730"/>
                  <a:pt x="161806" y="228600"/>
                  <a:pt x="133350" y="228600"/>
                </a:cubicBezTo>
                <a:cubicBezTo>
                  <a:pt x="104894" y="228600"/>
                  <a:pt x="78581" y="219730"/>
                  <a:pt x="56912" y="204549"/>
                </a:cubicBezTo>
                <a:cubicBezTo>
                  <a:pt x="28515" y="221694"/>
                  <a:pt x="9525" y="252889"/>
                  <a:pt x="9525" y="288488"/>
                </a:cubicBezTo>
                <a:close/>
                <a:moveTo>
                  <a:pt x="109121" y="84237"/>
                </a:moveTo>
                <a:cubicBezTo>
                  <a:pt x="108585" y="82272"/>
                  <a:pt x="106799" y="80962"/>
                  <a:pt x="104775" y="80962"/>
                </a:cubicBezTo>
                <a:cubicBezTo>
                  <a:pt x="102751" y="80962"/>
                  <a:pt x="100965" y="82272"/>
                  <a:pt x="100429" y="84237"/>
                </a:cubicBezTo>
                <a:lnTo>
                  <a:pt x="96857" y="96857"/>
                </a:lnTo>
                <a:lnTo>
                  <a:pt x="84237" y="100429"/>
                </a:lnTo>
                <a:cubicBezTo>
                  <a:pt x="82272" y="100965"/>
                  <a:pt x="80962" y="102751"/>
                  <a:pt x="80962" y="104775"/>
                </a:cubicBezTo>
                <a:cubicBezTo>
                  <a:pt x="80962" y="106799"/>
                  <a:pt x="82272" y="108585"/>
                  <a:pt x="84237" y="109121"/>
                </a:cubicBezTo>
                <a:lnTo>
                  <a:pt x="96857" y="112693"/>
                </a:lnTo>
                <a:lnTo>
                  <a:pt x="100429" y="125313"/>
                </a:lnTo>
                <a:cubicBezTo>
                  <a:pt x="100965" y="127278"/>
                  <a:pt x="102751" y="128588"/>
                  <a:pt x="104775" y="128588"/>
                </a:cubicBezTo>
                <a:cubicBezTo>
                  <a:pt x="106799" y="128588"/>
                  <a:pt x="108585" y="127278"/>
                  <a:pt x="109121" y="125313"/>
                </a:cubicBezTo>
                <a:lnTo>
                  <a:pt x="112693" y="112693"/>
                </a:lnTo>
                <a:lnTo>
                  <a:pt x="125313" y="109121"/>
                </a:lnTo>
                <a:cubicBezTo>
                  <a:pt x="127278" y="108585"/>
                  <a:pt x="128588" y="106799"/>
                  <a:pt x="128588" y="104775"/>
                </a:cubicBezTo>
                <a:cubicBezTo>
                  <a:pt x="128588" y="102751"/>
                  <a:pt x="127278" y="100965"/>
                  <a:pt x="125313" y="100429"/>
                </a:cubicBezTo>
                <a:lnTo>
                  <a:pt x="112693" y="96857"/>
                </a:lnTo>
                <a:lnTo>
                  <a:pt x="109121" y="84237"/>
                </a:lnTo>
                <a:close/>
                <a:moveTo>
                  <a:pt x="90488" y="290513"/>
                </a:moveTo>
                <a:lnTo>
                  <a:pt x="90488" y="304800"/>
                </a:lnTo>
                <a:lnTo>
                  <a:pt x="119062" y="304800"/>
                </a:lnTo>
                <a:lnTo>
                  <a:pt x="119062" y="290513"/>
                </a:lnTo>
                <a:cubicBezTo>
                  <a:pt x="119062" y="282595"/>
                  <a:pt x="112693" y="276225"/>
                  <a:pt x="104775" y="276225"/>
                </a:cubicBezTo>
                <a:cubicBezTo>
                  <a:pt x="96857" y="276225"/>
                  <a:pt x="90488" y="282595"/>
                  <a:pt x="90488" y="290513"/>
                </a:cubicBezTo>
                <a:close/>
                <a:moveTo>
                  <a:pt x="161925" y="276225"/>
                </a:moveTo>
                <a:cubicBezTo>
                  <a:pt x="154007" y="276225"/>
                  <a:pt x="147638" y="282595"/>
                  <a:pt x="147638" y="290513"/>
                </a:cubicBezTo>
                <a:lnTo>
                  <a:pt x="147638" y="304800"/>
                </a:lnTo>
                <a:lnTo>
                  <a:pt x="176212" y="304800"/>
                </a:lnTo>
                <a:lnTo>
                  <a:pt x="176212" y="290513"/>
                </a:lnTo>
                <a:cubicBezTo>
                  <a:pt x="176212" y="282595"/>
                  <a:pt x="169843" y="276225"/>
                  <a:pt x="161925" y="276225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20" name="Text 18"/>
          <p:cNvSpPr/>
          <p:nvPr/>
        </p:nvSpPr>
        <p:spPr>
          <a:xfrm>
            <a:off x="12471400" y="2311400"/>
            <a:ext cx="279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Player Experience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039600" y="2743200"/>
            <a:ext cx="32258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Intuitive camera controls. Points of interest: rings, moons, asteroid belt.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62000" y="45212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100" kern="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ITERATION PROCESS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5029200"/>
            <a:ext cx="3429000" cy="1016000"/>
          </a:xfrm>
          <a:prstGeom prst="roundRect">
            <a:avLst>
              <a:gd name="adj" fmla="val 6000"/>
            </a:avLst>
          </a:prstGeom>
          <a:solidFill>
            <a:srgbClr val="1A1A2E"/>
          </a:solidFill>
          <a:ln/>
        </p:spPr>
      </p:sp>
      <p:sp>
        <p:nvSpPr>
          <p:cNvPr id="24" name="Text 22"/>
          <p:cNvSpPr/>
          <p:nvPr/>
        </p:nvSpPr>
        <p:spPr>
          <a:xfrm>
            <a:off x="990600" y="5156200"/>
            <a:ext cx="2971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FF6B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Build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Create initial layout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318000" y="5435600"/>
            <a:ext cx="381000" cy="0"/>
          </a:xfrm>
          <a:prstGeom prst="straightConnector1">
            <a:avLst/>
          </a:prstGeom>
          <a:noFill/>
          <a:ln w="25400">
            <a:solidFill>
              <a:srgbClr val="FF6B35"/>
            </a:solidFill>
            <a:prstDash val="solid"/>
            <a:headEnd type="none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4826000" y="5029200"/>
            <a:ext cx="3429000" cy="1016000"/>
          </a:xfrm>
          <a:prstGeom prst="roundRect">
            <a:avLst>
              <a:gd name="adj" fmla="val 6000"/>
            </a:avLst>
          </a:prstGeom>
          <a:solidFill>
            <a:srgbClr val="1A1A2E"/>
          </a:solidFill>
          <a:ln/>
        </p:spPr>
      </p:sp>
      <p:sp>
        <p:nvSpPr>
          <p:cNvPr id="27" name="Text 25"/>
          <p:cNvSpPr/>
          <p:nvPr/>
        </p:nvSpPr>
        <p:spPr>
          <a:xfrm>
            <a:off x="5054600" y="5156200"/>
            <a:ext cx="2971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FF6B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Test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Get feedback from others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382000" y="5435600"/>
            <a:ext cx="381000" cy="0"/>
          </a:xfrm>
          <a:prstGeom prst="straightConnector1">
            <a:avLst/>
          </a:prstGeom>
          <a:noFill/>
          <a:ln w="25400">
            <a:solidFill>
              <a:srgbClr val="FF6B35"/>
            </a:solidFill>
            <a:prstDash val="solid"/>
            <a:headEnd type="none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8890000" y="5029200"/>
            <a:ext cx="3429000" cy="1016000"/>
          </a:xfrm>
          <a:prstGeom prst="roundRect">
            <a:avLst>
              <a:gd name="adj" fmla="val 6000"/>
            </a:avLst>
          </a:prstGeom>
          <a:solidFill>
            <a:srgbClr val="1A1A2E"/>
          </a:solidFill>
          <a:ln/>
        </p:spPr>
      </p:sp>
      <p:sp>
        <p:nvSpPr>
          <p:cNvPr id="30" name="Text 28"/>
          <p:cNvSpPr/>
          <p:nvPr/>
        </p:nvSpPr>
        <p:spPr>
          <a:xfrm>
            <a:off x="9118600" y="5156200"/>
            <a:ext cx="2971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FF6B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Refine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Adjust based on feedback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2446000" y="5435600"/>
            <a:ext cx="381000" cy="0"/>
          </a:xfrm>
          <a:prstGeom prst="straightConnector1">
            <a:avLst/>
          </a:prstGeom>
          <a:noFill/>
          <a:ln w="25400">
            <a:solidFill>
              <a:srgbClr val="FF6B35"/>
            </a:solidFill>
            <a:prstDash val="solid"/>
            <a:headEnd type="none"/>
            <a:tailEnd type="arrow"/>
          </a:ln>
        </p:spPr>
      </p:sp>
      <p:sp>
        <p:nvSpPr>
          <p:cNvPr id="32" name="Shape 30"/>
          <p:cNvSpPr/>
          <p:nvPr/>
        </p:nvSpPr>
        <p:spPr>
          <a:xfrm>
            <a:off x="12954000" y="5029200"/>
            <a:ext cx="2540000" cy="1016000"/>
          </a:xfrm>
          <a:prstGeom prst="roundRect">
            <a:avLst>
              <a:gd name="adj" fmla="val 6000"/>
            </a:avLst>
          </a:prstGeom>
          <a:solidFill>
            <a:srgbClr val="1A1A2E"/>
          </a:solidFill>
          <a:ln/>
        </p:spPr>
      </p:sp>
      <p:sp>
        <p:nvSpPr>
          <p:cNvPr id="33" name="Text 31"/>
          <p:cNvSpPr/>
          <p:nvPr/>
        </p:nvSpPr>
        <p:spPr>
          <a:xfrm>
            <a:off x="13182600" y="5156200"/>
            <a:ext cx="2082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FF6B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Repeat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Iterate again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62000" y="64008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100" kern="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 TIPS FOR SOLAR SYSTEM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62000" y="6858000"/>
            <a:ext cx="1473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Place the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 at the center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as the primary focal point with strong emissive glow</a:t>
            </a:r>
            <a:endParaRPr lang="en-US" sz="1600" dirty="0"/>
          </a:p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 paths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orbit trails to guide the eye through the solar system</a:t>
            </a:r>
            <a:endParaRPr lang="en-US" sz="1600" dirty="0"/>
          </a:p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points of interest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Saturn's rings, Earth's moon, Jupiter's great red spot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7" name="Text 35"/>
          <p:cNvSpPr/>
          <p:nvPr/>
        </p:nvSpPr>
        <p:spPr>
          <a:xfrm>
            <a:off x="14732000" y="87884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4A4A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4A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 PROGRAMMING — WEEK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7112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100" kern="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 Systems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986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well-structured game uses interconnected systems. For the Solar System project: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133600"/>
            <a:ext cx="4699000" cy="1270000"/>
          </a:xfrm>
          <a:prstGeom prst="roundRect">
            <a:avLst>
              <a:gd name="adj" fmla="val 6000"/>
            </a:avLst>
          </a:prstGeom>
          <a:solidFill>
            <a:srgbClr val="1A1A2E">
              <a:alpha val="5098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71550" y="23368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38100" y="38100"/>
                </a:moveTo>
                <a:cubicBezTo>
                  <a:pt x="17085" y="38100"/>
                  <a:pt x="0" y="55185"/>
                  <a:pt x="0" y="76200"/>
                </a:cubicBezTo>
                <a:lnTo>
                  <a:pt x="0" y="228600"/>
                </a:lnTo>
                <a:cubicBezTo>
                  <a:pt x="0" y="249615"/>
                  <a:pt x="17085" y="266700"/>
                  <a:pt x="38100" y="266700"/>
                </a:cubicBezTo>
                <a:lnTo>
                  <a:pt x="304800" y="266700"/>
                </a:lnTo>
                <a:cubicBezTo>
                  <a:pt x="325815" y="266700"/>
                  <a:pt x="342900" y="249615"/>
                  <a:pt x="342900" y="228600"/>
                </a:cubicBezTo>
                <a:lnTo>
                  <a:pt x="342900" y="76200"/>
                </a:lnTo>
                <a:cubicBezTo>
                  <a:pt x="342900" y="55185"/>
                  <a:pt x="325815" y="38100"/>
                  <a:pt x="304800" y="38100"/>
                </a:cubicBezTo>
                <a:lnTo>
                  <a:pt x="38100" y="38100"/>
                </a:lnTo>
                <a:close/>
                <a:moveTo>
                  <a:pt x="47625" y="76200"/>
                </a:moveTo>
                <a:lnTo>
                  <a:pt x="66675" y="76200"/>
                </a:lnTo>
                <a:cubicBezTo>
                  <a:pt x="71914" y="76200"/>
                  <a:pt x="76200" y="80486"/>
                  <a:pt x="76200" y="85725"/>
                </a:cubicBezTo>
                <a:lnTo>
                  <a:pt x="76200" y="104775"/>
                </a:lnTo>
                <a:cubicBezTo>
                  <a:pt x="76200" y="110014"/>
                  <a:pt x="71914" y="114300"/>
                  <a:pt x="66675" y="114300"/>
                </a:cubicBezTo>
                <a:lnTo>
                  <a:pt x="47625" y="114300"/>
                </a:lnTo>
                <a:cubicBezTo>
                  <a:pt x="42386" y="114300"/>
                  <a:pt x="38100" y="110014"/>
                  <a:pt x="38100" y="104775"/>
                </a:cubicBezTo>
                <a:lnTo>
                  <a:pt x="38100" y="85725"/>
                </a:lnTo>
                <a:cubicBezTo>
                  <a:pt x="38100" y="80486"/>
                  <a:pt x="42386" y="76200"/>
                  <a:pt x="47625" y="76200"/>
                </a:cubicBezTo>
                <a:close/>
                <a:moveTo>
                  <a:pt x="38100" y="142875"/>
                </a:moveTo>
                <a:cubicBezTo>
                  <a:pt x="38100" y="137636"/>
                  <a:pt x="42386" y="133350"/>
                  <a:pt x="47625" y="133350"/>
                </a:cubicBezTo>
                <a:lnTo>
                  <a:pt x="66675" y="133350"/>
                </a:lnTo>
                <a:cubicBezTo>
                  <a:pt x="71914" y="133350"/>
                  <a:pt x="76200" y="137636"/>
                  <a:pt x="76200" y="142875"/>
                </a:cubicBezTo>
                <a:lnTo>
                  <a:pt x="76200" y="161925"/>
                </a:lnTo>
                <a:cubicBezTo>
                  <a:pt x="76200" y="167164"/>
                  <a:pt x="71914" y="171450"/>
                  <a:pt x="66675" y="171450"/>
                </a:cubicBezTo>
                <a:lnTo>
                  <a:pt x="47625" y="171450"/>
                </a:lnTo>
                <a:cubicBezTo>
                  <a:pt x="42386" y="171450"/>
                  <a:pt x="38100" y="167164"/>
                  <a:pt x="38100" y="161925"/>
                </a:cubicBezTo>
                <a:lnTo>
                  <a:pt x="38100" y="142875"/>
                </a:lnTo>
                <a:close/>
                <a:moveTo>
                  <a:pt x="104775" y="76200"/>
                </a:moveTo>
                <a:lnTo>
                  <a:pt x="123825" y="76200"/>
                </a:lnTo>
                <a:cubicBezTo>
                  <a:pt x="129064" y="76200"/>
                  <a:pt x="133350" y="80486"/>
                  <a:pt x="133350" y="85725"/>
                </a:cubicBezTo>
                <a:lnTo>
                  <a:pt x="133350" y="104775"/>
                </a:lnTo>
                <a:cubicBezTo>
                  <a:pt x="133350" y="110014"/>
                  <a:pt x="129064" y="114300"/>
                  <a:pt x="123825" y="114300"/>
                </a:cubicBezTo>
                <a:lnTo>
                  <a:pt x="104775" y="114300"/>
                </a:lnTo>
                <a:cubicBezTo>
                  <a:pt x="99536" y="114300"/>
                  <a:pt x="95250" y="110014"/>
                  <a:pt x="95250" y="104775"/>
                </a:cubicBezTo>
                <a:lnTo>
                  <a:pt x="95250" y="85725"/>
                </a:lnTo>
                <a:cubicBezTo>
                  <a:pt x="95250" y="80486"/>
                  <a:pt x="99536" y="76200"/>
                  <a:pt x="104775" y="76200"/>
                </a:cubicBezTo>
                <a:close/>
                <a:moveTo>
                  <a:pt x="95250" y="142875"/>
                </a:moveTo>
                <a:cubicBezTo>
                  <a:pt x="95250" y="137636"/>
                  <a:pt x="99536" y="133350"/>
                  <a:pt x="104775" y="133350"/>
                </a:cubicBezTo>
                <a:lnTo>
                  <a:pt x="123825" y="133350"/>
                </a:lnTo>
                <a:cubicBezTo>
                  <a:pt x="129064" y="133350"/>
                  <a:pt x="133350" y="137636"/>
                  <a:pt x="133350" y="142875"/>
                </a:cubicBezTo>
                <a:lnTo>
                  <a:pt x="133350" y="161925"/>
                </a:lnTo>
                <a:cubicBezTo>
                  <a:pt x="133350" y="167164"/>
                  <a:pt x="129064" y="171450"/>
                  <a:pt x="123825" y="171450"/>
                </a:cubicBezTo>
                <a:lnTo>
                  <a:pt x="104775" y="171450"/>
                </a:lnTo>
                <a:cubicBezTo>
                  <a:pt x="99536" y="171450"/>
                  <a:pt x="95250" y="167164"/>
                  <a:pt x="95250" y="161925"/>
                </a:cubicBezTo>
                <a:lnTo>
                  <a:pt x="95250" y="142875"/>
                </a:lnTo>
                <a:close/>
                <a:moveTo>
                  <a:pt x="104775" y="190500"/>
                </a:moveTo>
                <a:lnTo>
                  <a:pt x="238125" y="190500"/>
                </a:lnTo>
                <a:cubicBezTo>
                  <a:pt x="243364" y="190500"/>
                  <a:pt x="247650" y="194786"/>
                  <a:pt x="247650" y="200025"/>
                </a:cubicBezTo>
                <a:lnTo>
                  <a:pt x="247650" y="219075"/>
                </a:lnTo>
                <a:cubicBezTo>
                  <a:pt x="247650" y="224314"/>
                  <a:pt x="243364" y="228600"/>
                  <a:pt x="238125" y="228600"/>
                </a:cubicBezTo>
                <a:lnTo>
                  <a:pt x="104775" y="228600"/>
                </a:lnTo>
                <a:cubicBezTo>
                  <a:pt x="99536" y="228600"/>
                  <a:pt x="95250" y="224314"/>
                  <a:pt x="95250" y="219075"/>
                </a:cubicBezTo>
                <a:lnTo>
                  <a:pt x="95250" y="200025"/>
                </a:lnTo>
                <a:cubicBezTo>
                  <a:pt x="95250" y="194786"/>
                  <a:pt x="99536" y="190500"/>
                  <a:pt x="104775" y="190500"/>
                </a:cubicBezTo>
                <a:close/>
                <a:moveTo>
                  <a:pt x="152400" y="85725"/>
                </a:moveTo>
                <a:cubicBezTo>
                  <a:pt x="152400" y="80486"/>
                  <a:pt x="156686" y="76200"/>
                  <a:pt x="161925" y="76200"/>
                </a:cubicBezTo>
                <a:lnTo>
                  <a:pt x="180975" y="76200"/>
                </a:lnTo>
                <a:cubicBezTo>
                  <a:pt x="186214" y="76200"/>
                  <a:pt x="190500" y="80486"/>
                  <a:pt x="190500" y="85725"/>
                </a:cubicBezTo>
                <a:lnTo>
                  <a:pt x="190500" y="104775"/>
                </a:lnTo>
                <a:cubicBezTo>
                  <a:pt x="190500" y="110014"/>
                  <a:pt x="186214" y="114300"/>
                  <a:pt x="180975" y="114300"/>
                </a:cubicBezTo>
                <a:lnTo>
                  <a:pt x="161925" y="114300"/>
                </a:lnTo>
                <a:cubicBezTo>
                  <a:pt x="156686" y="114300"/>
                  <a:pt x="152400" y="110014"/>
                  <a:pt x="152400" y="104775"/>
                </a:cubicBezTo>
                <a:lnTo>
                  <a:pt x="152400" y="85725"/>
                </a:lnTo>
                <a:close/>
                <a:moveTo>
                  <a:pt x="161925" y="133350"/>
                </a:moveTo>
                <a:lnTo>
                  <a:pt x="180975" y="133350"/>
                </a:lnTo>
                <a:cubicBezTo>
                  <a:pt x="186214" y="133350"/>
                  <a:pt x="190500" y="137636"/>
                  <a:pt x="190500" y="142875"/>
                </a:cubicBezTo>
                <a:lnTo>
                  <a:pt x="190500" y="161925"/>
                </a:lnTo>
                <a:cubicBezTo>
                  <a:pt x="190500" y="167164"/>
                  <a:pt x="186214" y="171450"/>
                  <a:pt x="180975" y="171450"/>
                </a:cubicBezTo>
                <a:lnTo>
                  <a:pt x="161925" y="171450"/>
                </a:lnTo>
                <a:cubicBezTo>
                  <a:pt x="156686" y="171450"/>
                  <a:pt x="152400" y="167164"/>
                  <a:pt x="152400" y="161925"/>
                </a:cubicBezTo>
                <a:lnTo>
                  <a:pt x="152400" y="142875"/>
                </a:lnTo>
                <a:cubicBezTo>
                  <a:pt x="152400" y="137636"/>
                  <a:pt x="156686" y="133350"/>
                  <a:pt x="161925" y="133350"/>
                </a:cubicBezTo>
                <a:close/>
                <a:moveTo>
                  <a:pt x="209550" y="85725"/>
                </a:moveTo>
                <a:cubicBezTo>
                  <a:pt x="209550" y="80486"/>
                  <a:pt x="213836" y="76200"/>
                  <a:pt x="219075" y="76200"/>
                </a:cubicBezTo>
                <a:lnTo>
                  <a:pt x="238125" y="76200"/>
                </a:lnTo>
                <a:cubicBezTo>
                  <a:pt x="243364" y="76200"/>
                  <a:pt x="247650" y="80486"/>
                  <a:pt x="247650" y="85725"/>
                </a:cubicBezTo>
                <a:lnTo>
                  <a:pt x="247650" y="104775"/>
                </a:lnTo>
                <a:cubicBezTo>
                  <a:pt x="247650" y="110014"/>
                  <a:pt x="243364" y="114300"/>
                  <a:pt x="238125" y="114300"/>
                </a:cubicBezTo>
                <a:lnTo>
                  <a:pt x="219075" y="114300"/>
                </a:lnTo>
                <a:cubicBezTo>
                  <a:pt x="213836" y="114300"/>
                  <a:pt x="209550" y="110014"/>
                  <a:pt x="209550" y="104775"/>
                </a:cubicBezTo>
                <a:lnTo>
                  <a:pt x="209550" y="85725"/>
                </a:lnTo>
                <a:close/>
                <a:moveTo>
                  <a:pt x="219075" y="133350"/>
                </a:moveTo>
                <a:lnTo>
                  <a:pt x="238125" y="133350"/>
                </a:lnTo>
                <a:cubicBezTo>
                  <a:pt x="243364" y="133350"/>
                  <a:pt x="247650" y="137636"/>
                  <a:pt x="247650" y="142875"/>
                </a:cubicBezTo>
                <a:lnTo>
                  <a:pt x="247650" y="161925"/>
                </a:lnTo>
                <a:cubicBezTo>
                  <a:pt x="247650" y="167164"/>
                  <a:pt x="243364" y="171450"/>
                  <a:pt x="238125" y="171450"/>
                </a:cubicBezTo>
                <a:lnTo>
                  <a:pt x="219075" y="171450"/>
                </a:lnTo>
                <a:cubicBezTo>
                  <a:pt x="213836" y="171450"/>
                  <a:pt x="209550" y="167164"/>
                  <a:pt x="209550" y="161925"/>
                </a:cubicBezTo>
                <a:lnTo>
                  <a:pt x="209550" y="142875"/>
                </a:lnTo>
                <a:cubicBezTo>
                  <a:pt x="209550" y="137636"/>
                  <a:pt x="213836" y="133350"/>
                  <a:pt x="219075" y="133350"/>
                </a:cubicBezTo>
                <a:close/>
                <a:moveTo>
                  <a:pt x="266700" y="85725"/>
                </a:moveTo>
                <a:cubicBezTo>
                  <a:pt x="266700" y="80486"/>
                  <a:pt x="270986" y="76200"/>
                  <a:pt x="276225" y="76200"/>
                </a:cubicBezTo>
                <a:lnTo>
                  <a:pt x="295275" y="76200"/>
                </a:lnTo>
                <a:cubicBezTo>
                  <a:pt x="300514" y="76200"/>
                  <a:pt x="304800" y="80486"/>
                  <a:pt x="304800" y="85725"/>
                </a:cubicBezTo>
                <a:lnTo>
                  <a:pt x="304800" y="104775"/>
                </a:lnTo>
                <a:cubicBezTo>
                  <a:pt x="304800" y="110014"/>
                  <a:pt x="300514" y="114300"/>
                  <a:pt x="295275" y="114300"/>
                </a:cubicBezTo>
                <a:lnTo>
                  <a:pt x="276225" y="114300"/>
                </a:lnTo>
                <a:cubicBezTo>
                  <a:pt x="270986" y="114300"/>
                  <a:pt x="266700" y="110014"/>
                  <a:pt x="266700" y="104775"/>
                </a:cubicBezTo>
                <a:lnTo>
                  <a:pt x="266700" y="85725"/>
                </a:lnTo>
                <a:close/>
                <a:moveTo>
                  <a:pt x="276225" y="133350"/>
                </a:moveTo>
                <a:lnTo>
                  <a:pt x="295275" y="133350"/>
                </a:lnTo>
                <a:cubicBezTo>
                  <a:pt x="300514" y="133350"/>
                  <a:pt x="304800" y="137636"/>
                  <a:pt x="304800" y="142875"/>
                </a:cubicBezTo>
                <a:lnTo>
                  <a:pt x="304800" y="161925"/>
                </a:lnTo>
                <a:cubicBezTo>
                  <a:pt x="304800" y="167164"/>
                  <a:pt x="300514" y="171450"/>
                  <a:pt x="295275" y="171450"/>
                </a:cubicBezTo>
                <a:lnTo>
                  <a:pt x="276225" y="171450"/>
                </a:lnTo>
                <a:cubicBezTo>
                  <a:pt x="270986" y="171450"/>
                  <a:pt x="266700" y="167164"/>
                  <a:pt x="266700" y="161925"/>
                </a:cubicBezTo>
                <a:lnTo>
                  <a:pt x="266700" y="142875"/>
                </a:lnTo>
                <a:cubicBezTo>
                  <a:pt x="266700" y="137636"/>
                  <a:pt x="270986" y="133350"/>
                  <a:pt x="276225" y="13335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8" name="Text 6"/>
          <p:cNvSpPr/>
          <p:nvPr/>
        </p:nvSpPr>
        <p:spPr>
          <a:xfrm>
            <a:off x="1422400" y="23114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Input System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90600" y="2717800"/>
            <a:ext cx="42418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4A4A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Mouse/keyboard for camera control and UI interaction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5000" y="2133600"/>
            <a:ext cx="4699000" cy="1270000"/>
          </a:xfrm>
          <a:prstGeom prst="roundRect">
            <a:avLst>
              <a:gd name="adj" fmla="val 6000"/>
            </a:avLst>
          </a:prstGeom>
          <a:solidFill>
            <a:srgbClr val="1A1A2E">
              <a:alpha val="5098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924550" y="23368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71450" y="19050"/>
                </a:moveTo>
                <a:cubicBezTo>
                  <a:pt x="123349" y="19050"/>
                  <a:pt x="84832" y="40957"/>
                  <a:pt x="56793" y="67032"/>
                </a:cubicBezTo>
                <a:cubicBezTo>
                  <a:pt x="28932" y="92928"/>
                  <a:pt x="10299" y="123825"/>
                  <a:pt x="1429" y="145078"/>
                </a:cubicBezTo>
                <a:cubicBezTo>
                  <a:pt x="-536" y="149781"/>
                  <a:pt x="-536" y="155019"/>
                  <a:pt x="1429" y="159722"/>
                </a:cubicBezTo>
                <a:cubicBezTo>
                  <a:pt x="10299" y="180975"/>
                  <a:pt x="28932" y="211931"/>
                  <a:pt x="56793" y="237768"/>
                </a:cubicBezTo>
                <a:cubicBezTo>
                  <a:pt x="84832" y="263783"/>
                  <a:pt x="123349" y="285750"/>
                  <a:pt x="171450" y="285750"/>
                </a:cubicBezTo>
                <a:cubicBezTo>
                  <a:pt x="219551" y="285750"/>
                  <a:pt x="258068" y="263843"/>
                  <a:pt x="286107" y="237768"/>
                </a:cubicBezTo>
                <a:cubicBezTo>
                  <a:pt x="313968" y="211872"/>
                  <a:pt x="332601" y="180975"/>
                  <a:pt x="341471" y="159722"/>
                </a:cubicBezTo>
                <a:cubicBezTo>
                  <a:pt x="343436" y="155019"/>
                  <a:pt x="343436" y="149781"/>
                  <a:pt x="341471" y="145078"/>
                </a:cubicBezTo>
                <a:cubicBezTo>
                  <a:pt x="332601" y="123825"/>
                  <a:pt x="313968" y="92869"/>
                  <a:pt x="286107" y="67032"/>
                </a:cubicBezTo>
                <a:cubicBezTo>
                  <a:pt x="258068" y="41017"/>
                  <a:pt x="219551" y="19050"/>
                  <a:pt x="171450" y="19050"/>
                </a:cubicBezTo>
                <a:close/>
                <a:moveTo>
                  <a:pt x="85725" y="152400"/>
                </a:moveTo>
                <a:cubicBezTo>
                  <a:pt x="85725" y="105087"/>
                  <a:pt x="124137" y="66675"/>
                  <a:pt x="171450" y="66675"/>
                </a:cubicBezTo>
                <a:cubicBezTo>
                  <a:pt x="218763" y="66675"/>
                  <a:pt x="257175" y="105087"/>
                  <a:pt x="257175" y="152400"/>
                </a:cubicBezTo>
                <a:cubicBezTo>
                  <a:pt x="257175" y="199713"/>
                  <a:pt x="218763" y="238125"/>
                  <a:pt x="171450" y="238125"/>
                </a:cubicBezTo>
                <a:cubicBezTo>
                  <a:pt x="124137" y="238125"/>
                  <a:pt x="85725" y="199713"/>
                  <a:pt x="85725" y="152400"/>
                </a:cubicBezTo>
                <a:close/>
                <a:moveTo>
                  <a:pt x="171450" y="114300"/>
                </a:moveTo>
                <a:cubicBezTo>
                  <a:pt x="171450" y="135315"/>
                  <a:pt x="154365" y="152400"/>
                  <a:pt x="133350" y="152400"/>
                </a:cubicBezTo>
                <a:cubicBezTo>
                  <a:pt x="126504" y="152400"/>
                  <a:pt x="120075" y="150614"/>
                  <a:pt x="114479" y="147399"/>
                </a:cubicBezTo>
                <a:cubicBezTo>
                  <a:pt x="113883" y="153888"/>
                  <a:pt x="114419" y="160556"/>
                  <a:pt x="116205" y="167164"/>
                </a:cubicBezTo>
                <a:cubicBezTo>
                  <a:pt x="124361" y="197644"/>
                  <a:pt x="155734" y="215741"/>
                  <a:pt x="186214" y="207585"/>
                </a:cubicBezTo>
                <a:cubicBezTo>
                  <a:pt x="216694" y="199430"/>
                  <a:pt x="234791" y="168057"/>
                  <a:pt x="226635" y="137577"/>
                </a:cubicBezTo>
                <a:cubicBezTo>
                  <a:pt x="219373" y="110371"/>
                  <a:pt x="193596" y="93047"/>
                  <a:pt x="166449" y="95429"/>
                </a:cubicBezTo>
                <a:cubicBezTo>
                  <a:pt x="169605" y="100965"/>
                  <a:pt x="171450" y="107394"/>
                  <a:pt x="171450" y="11430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6375400" y="23114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Rendering System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43600" y="2717800"/>
            <a:ext cx="42418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4A4A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Materials, lighting, post-processing, skybox rendering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668000" y="2133600"/>
            <a:ext cx="4826000" cy="1270000"/>
          </a:xfrm>
          <a:prstGeom prst="roundRect">
            <a:avLst>
              <a:gd name="adj" fmla="val 6000"/>
            </a:avLst>
          </a:prstGeom>
          <a:solidFill>
            <a:srgbClr val="1A1A2E">
              <a:alpha val="5098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896600" y="2336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85810" y="114300"/>
                </a:moveTo>
                <a:lnTo>
                  <a:pt x="290513" y="114300"/>
                </a:lnTo>
                <a:cubicBezTo>
                  <a:pt x="298430" y="114300"/>
                  <a:pt x="304800" y="107930"/>
                  <a:pt x="304800" y="100013"/>
                </a:cubicBezTo>
                <a:lnTo>
                  <a:pt x="304800" y="14288"/>
                </a:lnTo>
                <a:cubicBezTo>
                  <a:pt x="304800" y="8513"/>
                  <a:pt x="301347" y="3274"/>
                  <a:pt x="295989" y="1072"/>
                </a:cubicBezTo>
                <a:cubicBezTo>
                  <a:pt x="290632" y="-1131"/>
                  <a:pt x="284500" y="119"/>
                  <a:pt x="280392" y="4167"/>
                </a:cubicBezTo>
                <a:lnTo>
                  <a:pt x="249615" y="35004"/>
                </a:lnTo>
                <a:cubicBezTo>
                  <a:pt x="223242" y="13156"/>
                  <a:pt x="189309" y="0"/>
                  <a:pt x="152400" y="0"/>
                </a:cubicBezTo>
                <a:cubicBezTo>
                  <a:pt x="75605" y="0"/>
                  <a:pt x="12085" y="56793"/>
                  <a:pt x="1548" y="130671"/>
                </a:cubicBezTo>
                <a:cubicBezTo>
                  <a:pt x="60" y="141089"/>
                  <a:pt x="7263" y="150733"/>
                  <a:pt x="17681" y="152221"/>
                </a:cubicBezTo>
                <a:cubicBezTo>
                  <a:pt x="28099" y="153710"/>
                  <a:pt x="37743" y="146447"/>
                  <a:pt x="39231" y="136088"/>
                </a:cubicBezTo>
                <a:cubicBezTo>
                  <a:pt x="47149" y="80665"/>
                  <a:pt x="94833" y="38100"/>
                  <a:pt x="152400" y="38100"/>
                </a:cubicBezTo>
                <a:cubicBezTo>
                  <a:pt x="178832" y="38100"/>
                  <a:pt x="203121" y="47030"/>
                  <a:pt x="222468" y="62091"/>
                </a:cubicBezTo>
                <a:lnTo>
                  <a:pt x="194667" y="89892"/>
                </a:lnTo>
                <a:cubicBezTo>
                  <a:pt x="190560" y="94000"/>
                  <a:pt x="189369" y="100132"/>
                  <a:pt x="191572" y="105489"/>
                </a:cubicBezTo>
                <a:cubicBezTo>
                  <a:pt x="193774" y="110847"/>
                  <a:pt x="199013" y="114300"/>
                  <a:pt x="204787" y="114300"/>
                </a:cubicBezTo>
                <a:lnTo>
                  <a:pt x="285810" y="114300"/>
                </a:lnTo>
                <a:close/>
                <a:moveTo>
                  <a:pt x="303312" y="174129"/>
                </a:moveTo>
                <a:cubicBezTo>
                  <a:pt x="304800" y="163711"/>
                  <a:pt x="297537" y="154067"/>
                  <a:pt x="287179" y="152579"/>
                </a:cubicBezTo>
                <a:cubicBezTo>
                  <a:pt x="276820" y="151090"/>
                  <a:pt x="267117" y="158353"/>
                  <a:pt x="265628" y="168712"/>
                </a:cubicBezTo>
                <a:cubicBezTo>
                  <a:pt x="257711" y="224076"/>
                  <a:pt x="210026" y="266640"/>
                  <a:pt x="152460" y="266640"/>
                </a:cubicBezTo>
                <a:cubicBezTo>
                  <a:pt x="126028" y="266640"/>
                  <a:pt x="101739" y="257711"/>
                  <a:pt x="82391" y="242649"/>
                </a:cubicBezTo>
                <a:lnTo>
                  <a:pt x="110133" y="214908"/>
                </a:lnTo>
                <a:cubicBezTo>
                  <a:pt x="114240" y="210800"/>
                  <a:pt x="115431" y="204668"/>
                  <a:pt x="113228" y="199311"/>
                </a:cubicBezTo>
                <a:cubicBezTo>
                  <a:pt x="111026" y="193953"/>
                  <a:pt x="105787" y="190500"/>
                  <a:pt x="100013" y="190500"/>
                </a:cubicBezTo>
                <a:lnTo>
                  <a:pt x="14288" y="190500"/>
                </a:lnTo>
                <a:cubicBezTo>
                  <a:pt x="6370" y="190500"/>
                  <a:pt x="0" y="196870"/>
                  <a:pt x="0" y="204787"/>
                </a:cubicBezTo>
                <a:lnTo>
                  <a:pt x="0" y="290513"/>
                </a:lnTo>
                <a:cubicBezTo>
                  <a:pt x="0" y="296287"/>
                  <a:pt x="3453" y="301526"/>
                  <a:pt x="8811" y="303728"/>
                </a:cubicBezTo>
                <a:cubicBezTo>
                  <a:pt x="14168" y="305931"/>
                  <a:pt x="20300" y="304681"/>
                  <a:pt x="24408" y="300633"/>
                </a:cubicBezTo>
                <a:lnTo>
                  <a:pt x="55245" y="269796"/>
                </a:lnTo>
                <a:cubicBezTo>
                  <a:pt x="81558" y="291644"/>
                  <a:pt x="115491" y="304800"/>
                  <a:pt x="152400" y="304800"/>
                </a:cubicBezTo>
                <a:cubicBezTo>
                  <a:pt x="229195" y="304800"/>
                  <a:pt x="292715" y="248007"/>
                  <a:pt x="303252" y="174129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11328400" y="2311400"/>
            <a:ext cx="393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Animation System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896600" y="2717800"/>
            <a:ext cx="4368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4A4A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Script-driven planet rotations and orbital mechanics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3683000"/>
            <a:ext cx="4699000" cy="1270000"/>
          </a:xfrm>
          <a:prstGeom prst="roundRect">
            <a:avLst>
              <a:gd name="adj" fmla="val 6000"/>
            </a:avLst>
          </a:prstGeom>
          <a:solidFill>
            <a:srgbClr val="1A1A2E">
              <a:alpha val="5098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90600" y="3886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78606" y="4167"/>
                </a:moveTo>
                <a:cubicBezTo>
                  <a:pt x="283131" y="7799"/>
                  <a:pt x="285750" y="13275"/>
                  <a:pt x="285750" y="19050"/>
                </a:cubicBezTo>
                <a:lnTo>
                  <a:pt x="285750" y="200025"/>
                </a:lnTo>
                <a:cubicBezTo>
                  <a:pt x="285750" y="226338"/>
                  <a:pt x="260152" y="247650"/>
                  <a:pt x="228600" y="247650"/>
                </a:cubicBezTo>
                <a:cubicBezTo>
                  <a:pt x="197048" y="247650"/>
                  <a:pt x="171450" y="226338"/>
                  <a:pt x="171450" y="200025"/>
                </a:cubicBezTo>
                <a:cubicBezTo>
                  <a:pt x="171450" y="173712"/>
                  <a:pt x="197048" y="152400"/>
                  <a:pt x="228600" y="152400"/>
                </a:cubicBezTo>
                <a:cubicBezTo>
                  <a:pt x="235268" y="152400"/>
                  <a:pt x="241697" y="153353"/>
                  <a:pt x="247650" y="155138"/>
                </a:cubicBezTo>
                <a:lnTo>
                  <a:pt x="247650" y="85665"/>
                </a:lnTo>
                <a:lnTo>
                  <a:pt x="114300" y="115312"/>
                </a:lnTo>
                <a:lnTo>
                  <a:pt x="114300" y="238125"/>
                </a:lnTo>
                <a:cubicBezTo>
                  <a:pt x="114300" y="264438"/>
                  <a:pt x="88702" y="285750"/>
                  <a:pt x="57150" y="285750"/>
                </a:cubicBezTo>
                <a:cubicBezTo>
                  <a:pt x="25598" y="285750"/>
                  <a:pt x="0" y="264438"/>
                  <a:pt x="0" y="238125"/>
                </a:cubicBezTo>
                <a:cubicBezTo>
                  <a:pt x="0" y="211812"/>
                  <a:pt x="25598" y="190500"/>
                  <a:pt x="57150" y="190500"/>
                </a:cubicBezTo>
                <a:cubicBezTo>
                  <a:pt x="63818" y="190500"/>
                  <a:pt x="70247" y="191453"/>
                  <a:pt x="76200" y="193238"/>
                </a:cubicBezTo>
                <a:lnTo>
                  <a:pt x="76200" y="57150"/>
                </a:lnTo>
                <a:cubicBezTo>
                  <a:pt x="76200" y="48220"/>
                  <a:pt x="82391" y="40481"/>
                  <a:pt x="91142" y="38576"/>
                </a:cubicBezTo>
                <a:lnTo>
                  <a:pt x="262592" y="476"/>
                </a:lnTo>
                <a:cubicBezTo>
                  <a:pt x="268248" y="-774"/>
                  <a:pt x="274141" y="595"/>
                  <a:pt x="278666" y="4227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20" name="Text 18"/>
          <p:cNvSpPr/>
          <p:nvPr/>
        </p:nvSpPr>
        <p:spPr>
          <a:xfrm>
            <a:off x="1422400" y="38608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Audio System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90600" y="4267200"/>
            <a:ext cx="42418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4A4A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Ambient sound management and potential UI audio feedback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715000" y="3683000"/>
            <a:ext cx="4699000" cy="1270000"/>
          </a:xfrm>
          <a:prstGeom prst="roundRect">
            <a:avLst>
              <a:gd name="adj" fmla="val 6000"/>
            </a:avLst>
          </a:prstGeom>
          <a:solidFill>
            <a:srgbClr val="1A1A2E">
              <a:alpha val="5098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5943600" y="3886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19050"/>
                </a:moveTo>
                <a:cubicBezTo>
                  <a:pt x="17085" y="19050"/>
                  <a:pt x="0" y="36135"/>
                  <a:pt x="0" y="57150"/>
                </a:cubicBezTo>
                <a:lnTo>
                  <a:pt x="0" y="209550"/>
                </a:lnTo>
                <a:cubicBezTo>
                  <a:pt x="0" y="230565"/>
                  <a:pt x="17085" y="247650"/>
                  <a:pt x="38100" y="247650"/>
                </a:cubicBezTo>
                <a:lnTo>
                  <a:pt x="123825" y="247650"/>
                </a:lnTo>
                <a:lnTo>
                  <a:pt x="114300" y="276225"/>
                </a:lnTo>
                <a:lnTo>
                  <a:pt x="71438" y="276225"/>
                </a:lnTo>
                <a:cubicBezTo>
                  <a:pt x="63520" y="276225"/>
                  <a:pt x="57150" y="282595"/>
                  <a:pt x="57150" y="290513"/>
                </a:cubicBezTo>
                <a:cubicBezTo>
                  <a:pt x="57150" y="298430"/>
                  <a:pt x="63520" y="304800"/>
                  <a:pt x="71438" y="304800"/>
                </a:cubicBezTo>
                <a:lnTo>
                  <a:pt x="233363" y="304800"/>
                </a:lnTo>
                <a:cubicBezTo>
                  <a:pt x="241280" y="304800"/>
                  <a:pt x="247650" y="298430"/>
                  <a:pt x="247650" y="290513"/>
                </a:cubicBezTo>
                <a:cubicBezTo>
                  <a:pt x="247650" y="282595"/>
                  <a:pt x="241280" y="276225"/>
                  <a:pt x="233363" y="276225"/>
                </a:cubicBezTo>
                <a:lnTo>
                  <a:pt x="190500" y="276225"/>
                </a:lnTo>
                <a:lnTo>
                  <a:pt x="180975" y="247650"/>
                </a:lnTo>
                <a:lnTo>
                  <a:pt x="266700" y="247650"/>
                </a:lnTo>
                <a:cubicBezTo>
                  <a:pt x="287715" y="247650"/>
                  <a:pt x="304800" y="230565"/>
                  <a:pt x="304800" y="209550"/>
                </a:cubicBezTo>
                <a:lnTo>
                  <a:pt x="304800" y="57150"/>
                </a:lnTo>
                <a:cubicBezTo>
                  <a:pt x="304800" y="36135"/>
                  <a:pt x="287715" y="19050"/>
                  <a:pt x="266700" y="19050"/>
                </a:cubicBezTo>
                <a:lnTo>
                  <a:pt x="38100" y="19050"/>
                </a:lnTo>
                <a:close/>
                <a:moveTo>
                  <a:pt x="57150" y="57150"/>
                </a:moveTo>
                <a:lnTo>
                  <a:pt x="247650" y="57150"/>
                </a:lnTo>
                <a:cubicBezTo>
                  <a:pt x="258187" y="57150"/>
                  <a:pt x="266700" y="65663"/>
                  <a:pt x="266700" y="76200"/>
                </a:cubicBezTo>
                <a:lnTo>
                  <a:pt x="266700" y="171450"/>
                </a:lnTo>
                <a:cubicBezTo>
                  <a:pt x="266700" y="181987"/>
                  <a:pt x="258187" y="190500"/>
                  <a:pt x="247650" y="190500"/>
                </a:cubicBezTo>
                <a:lnTo>
                  <a:pt x="57150" y="190500"/>
                </a:lnTo>
                <a:cubicBezTo>
                  <a:pt x="46613" y="190500"/>
                  <a:pt x="38100" y="181987"/>
                  <a:pt x="38100" y="171450"/>
                </a:cubicBezTo>
                <a:lnTo>
                  <a:pt x="38100" y="76200"/>
                </a:lnTo>
                <a:cubicBezTo>
                  <a:pt x="38100" y="65663"/>
                  <a:pt x="46613" y="57150"/>
                  <a:pt x="57150" y="5715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24" name="Text 22"/>
          <p:cNvSpPr/>
          <p:nvPr/>
        </p:nvSpPr>
        <p:spPr>
          <a:xfrm>
            <a:off x="6375400" y="38608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UI System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943600" y="4267200"/>
            <a:ext cx="4241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4A4A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Planet information displays and on-screen controls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668000" y="3683000"/>
            <a:ext cx="4826000" cy="1270000"/>
          </a:xfrm>
          <a:prstGeom prst="roundRect">
            <a:avLst>
              <a:gd name="adj" fmla="val 6000"/>
            </a:avLst>
          </a:prstGeom>
          <a:solidFill>
            <a:srgbClr val="1A1A2E">
              <a:alpha val="5098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0915650" y="38862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66700" y="122515"/>
                </a:moveTo>
                <a:cubicBezTo>
                  <a:pt x="257889" y="128349"/>
                  <a:pt x="247769" y="133052"/>
                  <a:pt x="237232" y="136803"/>
                </a:cubicBezTo>
                <a:cubicBezTo>
                  <a:pt x="209252" y="146804"/>
                  <a:pt x="172522" y="152400"/>
                  <a:pt x="133350" y="152400"/>
                </a:cubicBezTo>
                <a:cubicBezTo>
                  <a:pt x="94178" y="152400"/>
                  <a:pt x="57388" y="146745"/>
                  <a:pt x="29468" y="136803"/>
                </a:cubicBezTo>
                <a:cubicBezTo>
                  <a:pt x="18990" y="133052"/>
                  <a:pt x="8811" y="128349"/>
                  <a:pt x="0" y="122515"/>
                </a:cubicBezTo>
                <a:lnTo>
                  <a:pt x="0" y="171450"/>
                </a:lnTo>
                <a:cubicBezTo>
                  <a:pt x="0" y="197763"/>
                  <a:pt x="59710" y="219075"/>
                  <a:pt x="133350" y="219075"/>
                </a:cubicBezTo>
                <a:cubicBezTo>
                  <a:pt x="206990" y="219075"/>
                  <a:pt x="266700" y="197763"/>
                  <a:pt x="266700" y="171450"/>
                </a:cubicBezTo>
                <a:lnTo>
                  <a:pt x="266700" y="122515"/>
                </a:lnTo>
                <a:close/>
                <a:moveTo>
                  <a:pt x="266700" y="76200"/>
                </a:moveTo>
                <a:lnTo>
                  <a:pt x="266700" y="47625"/>
                </a:lnTo>
                <a:cubicBezTo>
                  <a:pt x="266700" y="21312"/>
                  <a:pt x="206990" y="0"/>
                  <a:pt x="133350" y="0"/>
                </a:cubicBezTo>
                <a:cubicBezTo>
                  <a:pt x="59710" y="0"/>
                  <a:pt x="0" y="21312"/>
                  <a:pt x="0" y="47625"/>
                </a:cubicBezTo>
                <a:lnTo>
                  <a:pt x="0" y="76200"/>
                </a:lnTo>
                <a:cubicBezTo>
                  <a:pt x="0" y="102513"/>
                  <a:pt x="59710" y="123825"/>
                  <a:pt x="133350" y="123825"/>
                </a:cubicBezTo>
                <a:cubicBezTo>
                  <a:pt x="206990" y="123825"/>
                  <a:pt x="266700" y="102513"/>
                  <a:pt x="266700" y="76200"/>
                </a:cubicBezTo>
                <a:close/>
                <a:moveTo>
                  <a:pt x="237232" y="232053"/>
                </a:moveTo>
                <a:cubicBezTo>
                  <a:pt x="209312" y="241995"/>
                  <a:pt x="172581" y="247650"/>
                  <a:pt x="133350" y="247650"/>
                </a:cubicBezTo>
                <a:cubicBezTo>
                  <a:pt x="94119" y="247650"/>
                  <a:pt x="57388" y="241995"/>
                  <a:pt x="29468" y="232053"/>
                </a:cubicBezTo>
                <a:cubicBezTo>
                  <a:pt x="18990" y="228302"/>
                  <a:pt x="8811" y="223599"/>
                  <a:pt x="0" y="217765"/>
                </a:cubicBezTo>
                <a:lnTo>
                  <a:pt x="0" y="257175"/>
                </a:lnTo>
                <a:cubicBezTo>
                  <a:pt x="0" y="283488"/>
                  <a:pt x="59710" y="304800"/>
                  <a:pt x="133350" y="304800"/>
                </a:cubicBezTo>
                <a:cubicBezTo>
                  <a:pt x="206990" y="304800"/>
                  <a:pt x="266700" y="283488"/>
                  <a:pt x="266700" y="257175"/>
                </a:cubicBezTo>
                <a:lnTo>
                  <a:pt x="266700" y="217765"/>
                </a:lnTo>
                <a:cubicBezTo>
                  <a:pt x="257889" y="223599"/>
                  <a:pt x="247769" y="228302"/>
                  <a:pt x="237232" y="232053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28" name="Text 26"/>
          <p:cNvSpPr/>
          <p:nvPr/>
        </p:nvSpPr>
        <p:spPr>
          <a:xfrm>
            <a:off x="11328400" y="3860800"/>
            <a:ext cx="393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System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896600" y="4267200"/>
            <a:ext cx="4368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4A4A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ScriptableObjects for clean planet data management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62000" y="52832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100" kern="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COMMUNICATION PATTERNS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62000" y="5765800"/>
            <a:ext cx="4699000" cy="1270000"/>
          </a:xfrm>
          <a:prstGeom prst="roundRect">
            <a:avLst>
              <a:gd name="adj" fmla="val 6000"/>
            </a:avLst>
          </a:prstGeom>
          <a:solidFill>
            <a:srgbClr val="1A1A2E"/>
          </a:solidFill>
          <a:ln/>
        </p:spPr>
      </p:sp>
      <p:sp>
        <p:nvSpPr>
          <p:cNvPr id="32" name="Text 30"/>
          <p:cNvSpPr/>
          <p:nvPr/>
        </p:nvSpPr>
        <p:spPr>
          <a:xfrm>
            <a:off x="990600" y="5892800"/>
            <a:ext cx="4241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FF6B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Direct References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90600" y="6273800"/>
            <a:ext cx="4241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Simple component-to-component links for tightly coupled features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715000" y="5765800"/>
            <a:ext cx="4699000" cy="1270000"/>
          </a:xfrm>
          <a:prstGeom prst="roundRect">
            <a:avLst>
              <a:gd name="adj" fmla="val 6000"/>
            </a:avLst>
          </a:prstGeom>
          <a:solidFill>
            <a:srgbClr val="1A1A2E"/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0" y="5892800"/>
            <a:ext cx="4241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FF6B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Events / Actions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943600" y="6273800"/>
            <a:ext cx="4241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Decoupled system communication — subscribe and respond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0668000" y="5765800"/>
            <a:ext cx="4826000" cy="1270000"/>
          </a:xfrm>
          <a:prstGeom prst="roundRect">
            <a:avLst>
              <a:gd name="adj" fmla="val 6000"/>
            </a:avLst>
          </a:prstGeom>
          <a:solidFill>
            <a:srgbClr val="1A1A2E"/>
          </a:solidFill>
          <a:ln/>
        </p:spPr>
      </p:sp>
      <p:sp>
        <p:nvSpPr>
          <p:cNvPr id="38" name="Text 36"/>
          <p:cNvSpPr/>
          <p:nvPr/>
        </p:nvSpPr>
        <p:spPr>
          <a:xfrm>
            <a:off x="10896600" y="5892800"/>
            <a:ext cx="4368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FF6B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Singleton Pattern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896600" y="6273800"/>
            <a:ext cx="4368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sparingly for global managers (GameManager, AudioManager)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62000" y="7315200"/>
            <a:ext cx="14732000" cy="1016000"/>
          </a:xfrm>
          <a:prstGeom prst="roundRect">
            <a:avLst>
              <a:gd name="adj" fmla="val 4000"/>
            </a:avLst>
          </a:prstGeom>
          <a:solidFill>
            <a:srgbClr val="FF6B35">
              <a:alpha val="8235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104900" y="75692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74367" y="228600"/>
                </a:moveTo>
                <a:cubicBezTo>
                  <a:pt x="178713" y="215325"/>
                  <a:pt x="187404" y="203299"/>
                  <a:pt x="197227" y="192941"/>
                </a:cubicBezTo>
                <a:cubicBezTo>
                  <a:pt x="216694" y="172462"/>
                  <a:pt x="228600" y="144780"/>
                  <a:pt x="228600" y="114300"/>
                </a:cubicBezTo>
                <a:cubicBezTo>
                  <a:pt x="228600" y="51197"/>
                  <a:pt x="177403" y="0"/>
                  <a:pt x="114300" y="0"/>
                </a:cubicBezTo>
                <a:cubicBezTo>
                  <a:pt x="51197" y="0"/>
                  <a:pt x="0" y="51197"/>
                  <a:pt x="0" y="114300"/>
                </a:cubicBezTo>
                <a:cubicBezTo>
                  <a:pt x="0" y="144780"/>
                  <a:pt x="11906" y="172462"/>
                  <a:pt x="31373" y="192941"/>
                </a:cubicBezTo>
                <a:cubicBezTo>
                  <a:pt x="41196" y="203299"/>
                  <a:pt x="49947" y="215325"/>
                  <a:pt x="54233" y="228600"/>
                </a:cubicBezTo>
                <a:lnTo>
                  <a:pt x="174308" y="228600"/>
                </a:lnTo>
                <a:close/>
                <a:moveTo>
                  <a:pt x="171450" y="257175"/>
                </a:moveTo>
                <a:lnTo>
                  <a:pt x="57150" y="257175"/>
                </a:lnTo>
                <a:lnTo>
                  <a:pt x="57150" y="266700"/>
                </a:lnTo>
                <a:cubicBezTo>
                  <a:pt x="57150" y="293013"/>
                  <a:pt x="78462" y="314325"/>
                  <a:pt x="104775" y="314325"/>
                </a:cubicBezTo>
                <a:lnTo>
                  <a:pt x="123825" y="314325"/>
                </a:lnTo>
                <a:cubicBezTo>
                  <a:pt x="150138" y="314325"/>
                  <a:pt x="171450" y="293013"/>
                  <a:pt x="171450" y="266700"/>
                </a:cubicBezTo>
                <a:lnTo>
                  <a:pt x="171450" y="257175"/>
                </a:lnTo>
                <a:close/>
                <a:moveTo>
                  <a:pt x="109537" y="66675"/>
                </a:moveTo>
                <a:cubicBezTo>
                  <a:pt x="85844" y="66675"/>
                  <a:pt x="66675" y="85844"/>
                  <a:pt x="66675" y="109537"/>
                </a:cubicBezTo>
                <a:cubicBezTo>
                  <a:pt x="66675" y="117455"/>
                  <a:pt x="60305" y="123825"/>
                  <a:pt x="52388" y="123825"/>
                </a:cubicBezTo>
                <a:cubicBezTo>
                  <a:pt x="44470" y="123825"/>
                  <a:pt x="38100" y="117455"/>
                  <a:pt x="38100" y="109537"/>
                </a:cubicBezTo>
                <a:cubicBezTo>
                  <a:pt x="38100" y="70068"/>
                  <a:pt x="70068" y="38100"/>
                  <a:pt x="109537" y="38100"/>
                </a:cubicBezTo>
                <a:cubicBezTo>
                  <a:pt x="117455" y="38100"/>
                  <a:pt x="123825" y="44470"/>
                  <a:pt x="123825" y="52388"/>
                </a:cubicBezTo>
                <a:cubicBezTo>
                  <a:pt x="123825" y="60305"/>
                  <a:pt x="117455" y="66675"/>
                  <a:pt x="109537" y="66675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42" name="Text 40"/>
          <p:cNvSpPr/>
          <p:nvPr/>
        </p:nvSpPr>
        <p:spPr>
          <a:xfrm>
            <a:off x="1498600" y="7467600"/>
            <a:ext cx="13716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ScriptableObjects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1E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are ideal for storing planet data (size, distance, speed) — they keep data separate from logic and are easily editable in the Inspector.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4" name="Text 42"/>
          <p:cNvSpPr/>
          <p:nvPr/>
        </p:nvSpPr>
        <p:spPr>
          <a:xfrm>
            <a:off x="14732000" y="87884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4A4A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3laoalbxzvofm/mnt/agents/output/game_programming_week3/images/8_Solar_System_animation_Download_Fre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A1A2E">
                  <a:alpha val="40000"/>
                </a:srgbClr>
              </a:gs>
              <a:gs pos="35000">
                <a:srgbClr val="1A1A2E">
                  <a:alpha val="80000"/>
                </a:srgbClr>
              </a:gs>
              <a:gs pos="100000">
                <a:srgbClr val="1A1A2E">
                  <a:alpha val="93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318000" y="1778000"/>
            <a:ext cx="762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spc="400" kern="0" dirty="0">
                <a:solidFill>
                  <a:srgbClr val="FF6B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3 COMPLETE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175500" y="2184400"/>
            <a:ext cx="1905000" cy="381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3"/>
          <p:cNvSpPr/>
          <p:nvPr/>
        </p:nvSpPr>
        <p:spPr>
          <a:xfrm>
            <a:off x="1778000" y="2438400"/>
            <a:ext cx="1270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spc="300" kern="0" dirty="0">
                <a:solidFill>
                  <a:srgbClr val="F5F5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286000" y="3302000"/>
            <a:ext cx="11684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 now understand game engines and Unity's role in game development</a:t>
            </a:r>
            <a:endParaRPr lang="en-US" sz="1600" dirty="0"/>
          </a:p>
          <a:p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to set up Unity, create projects, and organize assets</a:t>
            </a:r>
            <a:endParaRPr lang="en-US" sz="1600" dirty="0"/>
          </a:p>
          <a:p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Unity systems: Materials, Lighting, Scripts, Cameras, Audio, Prefabs</a:t>
            </a:r>
            <a:endParaRPr lang="en-US" sz="1600" dirty="0"/>
          </a:p>
          <a:p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complete workflow from project creation to build</a:t>
            </a:r>
            <a:endParaRPr lang="en-US" sz="1600" dirty="0"/>
          </a:p>
          <a:p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F5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to build a complete Solar System simulation from scratch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175500" y="6553200"/>
            <a:ext cx="1905000" cy="381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9" name="Text 6"/>
          <p:cNvSpPr/>
          <p:nvPr/>
        </p:nvSpPr>
        <p:spPr>
          <a:xfrm>
            <a:off x="3048000" y="68072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spc="200" kern="0" dirty="0">
                <a:solidFill>
                  <a:srgbClr val="FF6B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NEXT WEEK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048000" y="72898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5F5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 scripting, physics interactions, and player mechanics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048000" y="7874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500" dirty="0">
                <a:solidFill>
                  <a:srgbClr val="F5F5F0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Keep experimenting — add moons, asteroid belts, or interactive planet info panels!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Game Programming - Week 3</dc:title>
  <dc:subject>Game Programming - Week 3</dc:subject>
  <dc:creator>Kimi</dc:creator>
  <cp:lastModifiedBy>Kimi</cp:lastModifiedBy>
  <cp:revision>1</cp:revision>
  <dcterms:created xsi:type="dcterms:W3CDTF">2026-05-24T16:23:11Z</dcterms:created>
  <dcterms:modified xsi:type="dcterms:W3CDTF">2026-05-24T16:23:11Z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{"Label":"Game Programming - Week 3","ContentProducer":"001191110108MACG2KBH8F10000","ProduceID":"19e5ac80-bb02-8498-8000-00001acad25c","ReservedCode1":"","ContentPropagator":"001191110108MACG2KBH8F20000","PropagateID":"19e5ac80-bb02-8498-8000-00001acad25c","ReservedCode2":""}</vt:lpwstr>
  </property>
</Properties>
</file>