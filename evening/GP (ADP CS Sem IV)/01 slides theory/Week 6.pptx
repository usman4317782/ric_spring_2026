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6256000" cy="9144000"/>
  <p:notesSz cx="9144000" cy="16256000"/>
  <p:embeddedFontLst>
    <p:embeddedFont>
      <p:font typeface="Quattrocento Sans" charset="-122" pitchFamily="34"/>
      <p:regular r:id="rId39"/>
    </p:embeddedFont>
    <p:embeddedFont>
      <p:font typeface="Liter" charset="-122" pitchFamily="34"/>
      <p:regular r:id="rId4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font" Target="fonts/font1.fntdata"/><Relationship Id="rId4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8_Everblade_Review_A_Wonderfully_Crafted.png">    </p:cNvPr>
          <p:cNvPicPr>
            <a:picLocks noChangeAspect="1"/>
          </p:cNvPicPr>
          <p:nvPr/>
        </p:nvPicPr>
        <p:blipFill>
          <a:blip r:embed="rId1"/>
          <a:srcRect l="0" r="0" t="195" b="1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50000">
                <a:srgbClr val="1A1A2E">
                  <a:alpha val="82000"/>
                </a:srgbClr>
              </a:gs>
              <a:gs pos="100000">
                <a:srgbClr val="1A1A2E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4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572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 — Lectures 11 &amp; 12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048000" y="5207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Cameras · Levels · UI · Audio · Code Architecture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787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Material — Spring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524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spc="2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2413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9210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Cameras: Framing the 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492500"/>
            <a:ext cx="6858000" cy="12700"/>
          </a:xfrm>
          <a:prstGeom prst="rect">
            <a:avLst/>
          </a:prstGeom>
          <a:solidFill>
            <a:srgbClr val="5A5A72">
              <a:alpha val="25098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36195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Level Setup: Environment Sprites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191000"/>
            <a:ext cx="6858000" cy="12700"/>
          </a:xfrm>
          <a:prstGeom prst="rect">
            <a:avLst/>
          </a:prstGeom>
          <a:solidFill>
            <a:srgbClr val="5A5A72">
              <a:alpha val="2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3180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Game Loop: Management &amp; UI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889500"/>
            <a:ext cx="6858000" cy="12700"/>
          </a:xfrm>
          <a:prstGeom prst="rect">
            <a:avLst/>
          </a:prstGeom>
          <a:solidFill>
            <a:srgbClr val="5A5A72">
              <a:alpha val="2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50165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In-Game UI &amp; Main Menu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588000"/>
            <a:ext cx="6858000" cy="12700"/>
          </a:xfrm>
          <a:prstGeom prst="rect">
            <a:avLst/>
          </a:prstGeom>
          <a:solidFill>
            <a:srgbClr val="5A5A72">
              <a:alpha val="2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29210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Audio &amp; Music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492500"/>
            <a:ext cx="6858000" cy="12700"/>
          </a:xfrm>
          <a:prstGeom prst="rect">
            <a:avLst/>
          </a:prstGeom>
          <a:solidFill>
            <a:srgbClr val="5A5A72">
              <a:alpha val="25098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36195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Adding More Levels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4191000"/>
            <a:ext cx="6858000" cy="12700"/>
          </a:xfrm>
          <a:prstGeom prst="rect">
            <a:avLst/>
          </a:prstGeom>
          <a:solidFill>
            <a:srgbClr val="5A5A72">
              <a:alpha val="25098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43180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Code Basics &amp; 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4889500"/>
            <a:ext cx="6858000" cy="12700"/>
          </a:xfrm>
          <a:prstGeom prst="rect">
            <a:avLst/>
          </a:prstGeom>
          <a:solidFill>
            <a:srgbClr val="5A5A72">
              <a:alpha val="2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5715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>
              <a:lnSpc>
                <a:spcPct val="100000"/>
              </a:lnSpc>
            </a:pPr>
            <a:r>
              <a:rPr lang="en-US" sz="20000" dirty="0">
                <a:solidFill>
                  <a:srgbClr val="E8913A">
                    <a:alpha val="1451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 }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4_Lets_talk_about_Very_Complex_parallax.png">    </p:cNvPr>
          <p:cNvPicPr>
            <a:picLocks noChangeAspect="1"/>
          </p:cNvPicPr>
          <p:nvPr/>
        </p:nvPicPr>
        <p:blipFill>
          <a:blip r:embed="rId1"/>
          <a:srcRect l="868" r="86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E891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Framing the Action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camera systems guide player focus and create dynamic gameplay experiences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Camera Systems Matter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camera is the player's window into the game world. A well-designed camera ensures the player always sees what matters.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273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574800" y="2730500"/>
            <a:ext cx="3632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Framing Action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3238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Keep the subject centered and visible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2540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273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527800" y="2730500"/>
            <a:ext cx="3632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Flow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69000" y="3238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 what the player sees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318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1400" y="4508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794" y="350599"/>
                </a:moveTo>
                <a:cubicBezTo>
                  <a:pt x="4366" y="367903"/>
                  <a:pt x="19685" y="381000"/>
                  <a:pt x="38100" y="381000"/>
                </a:cubicBezTo>
                <a:lnTo>
                  <a:pt x="317500" y="381000"/>
                </a:lnTo>
                <a:cubicBezTo>
                  <a:pt x="338534" y="381000"/>
                  <a:pt x="355600" y="363934"/>
                  <a:pt x="355600" y="342900"/>
                </a:cubicBezTo>
                <a:lnTo>
                  <a:pt x="355600" y="266700"/>
                </a:lnTo>
                <a:cubicBezTo>
                  <a:pt x="355600" y="245666"/>
                  <a:pt x="338534" y="228600"/>
                  <a:pt x="317500" y="228600"/>
                </a:cubicBezTo>
                <a:lnTo>
                  <a:pt x="279400" y="228600"/>
                </a:lnTo>
                <a:lnTo>
                  <a:pt x="279400" y="285750"/>
                </a:lnTo>
                <a:cubicBezTo>
                  <a:pt x="279400" y="296307"/>
                  <a:pt x="270907" y="304800"/>
                  <a:pt x="260350" y="304800"/>
                </a:cubicBezTo>
                <a:cubicBezTo>
                  <a:pt x="249793" y="304800"/>
                  <a:pt x="241300" y="296307"/>
                  <a:pt x="241300" y="285750"/>
                </a:cubicBezTo>
                <a:lnTo>
                  <a:pt x="241300" y="228600"/>
                </a:lnTo>
                <a:lnTo>
                  <a:pt x="190500" y="228600"/>
                </a:lnTo>
                <a:lnTo>
                  <a:pt x="190500" y="285750"/>
                </a:lnTo>
                <a:cubicBezTo>
                  <a:pt x="190500" y="296307"/>
                  <a:pt x="182007" y="304800"/>
                  <a:pt x="171450" y="304800"/>
                </a:cubicBezTo>
                <a:cubicBezTo>
                  <a:pt x="160893" y="304800"/>
                  <a:pt x="152400" y="296307"/>
                  <a:pt x="152400" y="285750"/>
                </a:cubicBezTo>
                <a:lnTo>
                  <a:pt x="152400" y="228600"/>
                </a:lnTo>
                <a:lnTo>
                  <a:pt x="95250" y="228600"/>
                </a:lnTo>
                <a:cubicBezTo>
                  <a:pt x="84693" y="228600"/>
                  <a:pt x="76200" y="220107"/>
                  <a:pt x="76200" y="209550"/>
                </a:cubicBezTo>
                <a:cubicBezTo>
                  <a:pt x="76200" y="198993"/>
                  <a:pt x="84693" y="190500"/>
                  <a:pt x="95250" y="190500"/>
                </a:cubicBezTo>
                <a:lnTo>
                  <a:pt x="152400" y="190500"/>
                </a:lnTo>
                <a:lnTo>
                  <a:pt x="152400" y="139700"/>
                </a:lnTo>
                <a:lnTo>
                  <a:pt x="95250" y="139700"/>
                </a:lnTo>
                <a:cubicBezTo>
                  <a:pt x="84693" y="139700"/>
                  <a:pt x="76200" y="131207"/>
                  <a:pt x="76200" y="120650"/>
                </a:cubicBezTo>
                <a:cubicBezTo>
                  <a:pt x="76200" y="110093"/>
                  <a:pt x="84693" y="101600"/>
                  <a:pt x="95250" y="101600"/>
                </a:cubicBezTo>
                <a:lnTo>
                  <a:pt x="152400" y="101600"/>
                </a:lnTo>
                <a:lnTo>
                  <a:pt x="152400" y="63500"/>
                </a:lnTo>
                <a:cubicBezTo>
                  <a:pt x="152400" y="42466"/>
                  <a:pt x="135334" y="25400"/>
                  <a:pt x="114300" y="25400"/>
                </a:cubicBezTo>
                <a:lnTo>
                  <a:pt x="38100" y="25400"/>
                </a:lnTo>
                <a:cubicBezTo>
                  <a:pt x="17066" y="25400"/>
                  <a:pt x="0" y="42466"/>
                  <a:pt x="0" y="63500"/>
                </a:cubicBezTo>
                <a:lnTo>
                  <a:pt x="0" y="342900"/>
                </a:lnTo>
                <a:cubicBezTo>
                  <a:pt x="0" y="345519"/>
                  <a:pt x="238" y="348139"/>
                  <a:pt x="794" y="350599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1574800" y="4508500"/>
            <a:ext cx="3632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Scale &amp; Perspective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16000" y="5016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Establish world size and spatial relationships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15000" y="4318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94400" y="4508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76200"/>
                </a:moveTo>
                <a:cubicBezTo>
                  <a:pt x="0" y="48181"/>
                  <a:pt x="22781" y="25400"/>
                  <a:pt x="50800" y="25400"/>
                </a:cubicBezTo>
                <a:lnTo>
                  <a:pt x="304800" y="25400"/>
                </a:lnTo>
                <a:cubicBezTo>
                  <a:pt x="332819" y="25400"/>
                  <a:pt x="355600" y="48181"/>
                  <a:pt x="355600" y="762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76200"/>
                </a:lnTo>
                <a:close/>
                <a:moveTo>
                  <a:pt x="38100" y="292100"/>
                </a:moveTo>
                <a:lnTo>
                  <a:pt x="38100" y="317500"/>
                </a:lnTo>
                <a:cubicBezTo>
                  <a:pt x="38100" y="324485"/>
                  <a:pt x="43815" y="330200"/>
                  <a:pt x="50800" y="330200"/>
                </a:cubicBezTo>
                <a:lnTo>
                  <a:pt x="76200" y="330200"/>
                </a:lnTo>
                <a:cubicBezTo>
                  <a:pt x="83185" y="330200"/>
                  <a:pt x="88900" y="324485"/>
                  <a:pt x="88900" y="317500"/>
                </a:cubicBezTo>
                <a:lnTo>
                  <a:pt x="88900" y="292100"/>
                </a:lnTo>
                <a:cubicBezTo>
                  <a:pt x="88900" y="285115"/>
                  <a:pt x="83185" y="279400"/>
                  <a:pt x="76200" y="279400"/>
                </a:cubicBezTo>
                <a:lnTo>
                  <a:pt x="50800" y="279400"/>
                </a:lnTo>
                <a:cubicBezTo>
                  <a:pt x="43815" y="279400"/>
                  <a:pt x="38100" y="285115"/>
                  <a:pt x="38100" y="292100"/>
                </a:cubicBezTo>
                <a:close/>
                <a:moveTo>
                  <a:pt x="279400" y="279400"/>
                </a:moveTo>
                <a:cubicBezTo>
                  <a:pt x="272415" y="279400"/>
                  <a:pt x="266700" y="285115"/>
                  <a:pt x="266700" y="2921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lnTo>
                  <a:pt x="304800" y="330200"/>
                </a:lnTo>
                <a:cubicBezTo>
                  <a:pt x="311785" y="330200"/>
                  <a:pt x="317500" y="324485"/>
                  <a:pt x="317500" y="317500"/>
                </a:cubicBezTo>
                <a:lnTo>
                  <a:pt x="317500" y="292100"/>
                </a:lnTo>
                <a:cubicBezTo>
                  <a:pt x="317500" y="285115"/>
                  <a:pt x="311785" y="279400"/>
                  <a:pt x="304800" y="279400"/>
                </a:cubicBezTo>
                <a:lnTo>
                  <a:pt x="279400" y="279400"/>
                </a:lnTo>
                <a:close/>
                <a:moveTo>
                  <a:pt x="38100" y="190500"/>
                </a:moveTo>
                <a:lnTo>
                  <a:pt x="38100" y="215900"/>
                </a:lnTo>
                <a:cubicBezTo>
                  <a:pt x="38100" y="222885"/>
                  <a:pt x="43815" y="228600"/>
                  <a:pt x="50800" y="228600"/>
                </a:cubicBezTo>
                <a:lnTo>
                  <a:pt x="76200" y="228600"/>
                </a:lnTo>
                <a:cubicBezTo>
                  <a:pt x="83185" y="228600"/>
                  <a:pt x="88900" y="222885"/>
                  <a:pt x="88900" y="215900"/>
                </a:cubicBezTo>
                <a:lnTo>
                  <a:pt x="88900" y="190500"/>
                </a:lnTo>
                <a:cubicBezTo>
                  <a:pt x="88900" y="183515"/>
                  <a:pt x="83185" y="177800"/>
                  <a:pt x="76200" y="177800"/>
                </a:cubicBezTo>
                <a:lnTo>
                  <a:pt x="50800" y="177800"/>
                </a:lnTo>
                <a:cubicBezTo>
                  <a:pt x="43815" y="177800"/>
                  <a:pt x="38100" y="183515"/>
                  <a:pt x="38100" y="190500"/>
                </a:cubicBezTo>
                <a:close/>
                <a:moveTo>
                  <a:pt x="279400" y="177800"/>
                </a:moveTo>
                <a:cubicBezTo>
                  <a:pt x="272415" y="177800"/>
                  <a:pt x="266700" y="183515"/>
                  <a:pt x="266700" y="190500"/>
                </a:cubicBezTo>
                <a:lnTo>
                  <a:pt x="266700" y="215900"/>
                </a:lnTo>
                <a:cubicBezTo>
                  <a:pt x="266700" y="222885"/>
                  <a:pt x="272415" y="228600"/>
                  <a:pt x="279400" y="228600"/>
                </a:cubicBezTo>
                <a:lnTo>
                  <a:pt x="304800" y="228600"/>
                </a:lnTo>
                <a:cubicBezTo>
                  <a:pt x="311785" y="228600"/>
                  <a:pt x="317500" y="222885"/>
                  <a:pt x="317500" y="215900"/>
                </a:cubicBezTo>
                <a:lnTo>
                  <a:pt x="317500" y="190500"/>
                </a:lnTo>
                <a:cubicBezTo>
                  <a:pt x="317500" y="183515"/>
                  <a:pt x="311785" y="177800"/>
                  <a:pt x="304800" y="177800"/>
                </a:cubicBezTo>
                <a:lnTo>
                  <a:pt x="279400" y="177800"/>
                </a:lnTo>
                <a:close/>
                <a:moveTo>
                  <a:pt x="38100" y="88900"/>
                </a:moveTo>
                <a:lnTo>
                  <a:pt x="38100" y="114300"/>
                </a:lnTo>
                <a:cubicBezTo>
                  <a:pt x="38100" y="121285"/>
                  <a:pt x="43815" y="127000"/>
                  <a:pt x="50800" y="127000"/>
                </a:cubicBezTo>
                <a:lnTo>
                  <a:pt x="76200" y="127000"/>
                </a:lnTo>
                <a:cubicBezTo>
                  <a:pt x="83185" y="127000"/>
                  <a:pt x="88900" y="121285"/>
                  <a:pt x="88900" y="114300"/>
                </a:cubicBezTo>
                <a:lnTo>
                  <a:pt x="88900" y="88900"/>
                </a:lnTo>
                <a:cubicBezTo>
                  <a:pt x="88900" y="81915"/>
                  <a:pt x="83185" y="76200"/>
                  <a:pt x="76200" y="76200"/>
                </a:cubicBezTo>
                <a:lnTo>
                  <a:pt x="50800" y="76200"/>
                </a:lnTo>
                <a:cubicBezTo>
                  <a:pt x="43815" y="76200"/>
                  <a:pt x="38100" y="81915"/>
                  <a:pt x="38100" y="88900"/>
                </a:cubicBezTo>
                <a:close/>
                <a:moveTo>
                  <a:pt x="279400" y="76200"/>
                </a:moveTo>
                <a:cubicBezTo>
                  <a:pt x="272415" y="76200"/>
                  <a:pt x="266700" y="81915"/>
                  <a:pt x="266700" y="88900"/>
                </a:cubicBezTo>
                <a:lnTo>
                  <a:pt x="266700" y="114300"/>
                </a:lnTo>
                <a:cubicBezTo>
                  <a:pt x="266700" y="121285"/>
                  <a:pt x="272415" y="127000"/>
                  <a:pt x="279400" y="127000"/>
                </a:cubicBezTo>
                <a:lnTo>
                  <a:pt x="304800" y="127000"/>
                </a:lnTo>
                <a:cubicBezTo>
                  <a:pt x="311785" y="127000"/>
                  <a:pt x="317500" y="121285"/>
                  <a:pt x="317500" y="114300"/>
                </a:cubicBezTo>
                <a:lnTo>
                  <a:pt x="317500" y="88900"/>
                </a:lnTo>
                <a:cubicBezTo>
                  <a:pt x="317500" y="81915"/>
                  <a:pt x="311785" y="76200"/>
                  <a:pt x="304800" y="76200"/>
                </a:cubicBezTo>
                <a:lnTo>
                  <a:pt x="279400" y="76200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6527800" y="4508500"/>
            <a:ext cx="3632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Cinematic Moments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69000" y="5016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emotional impact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6223000"/>
            <a:ext cx="9652000" cy="1143000"/>
          </a:xfrm>
          <a:prstGeom prst="roundRect">
            <a:avLst>
              <a:gd name="adj" fmla="val 6000"/>
            </a:avLst>
          </a:prstGeom>
          <a:solidFill>
            <a:srgbClr val="E8913A">
              <a:alpha val="7059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6413500"/>
            <a:ext cx="863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Poor camera design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leads to player frustration, disorientation, and broken game flow. The camera is not decoration — it is a core gameplay system.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2D Camera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34925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2500" y="1524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2032000"/>
            <a:ext cx="3111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Camera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52500" y="2476500"/>
            <a:ext cx="3111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 position, never moves. Used in puzzle games, classic arcade, and scenes where the entire play area must be visible at once.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08500" y="1397000"/>
            <a:ext cx="34925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9000" y="1524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9000" y="2032000"/>
            <a:ext cx="3111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Follow Camera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99000" y="2476500"/>
            <a:ext cx="3111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Tracks player movement with smooth interpolation. Most common in platformers and action games. Creates a sense of forward momentum.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55000" y="1397000"/>
            <a:ext cx="34925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5500" y="1524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2032000"/>
            <a:ext cx="3111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Bounded Camera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45500" y="2476500"/>
            <a:ext cx="3111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Follows player but clamped to level boundaries. Prevents showing areas outside the designed world. Essential for contained levels.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01500" y="1397000"/>
            <a:ext cx="34925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192000" y="1524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92000" y="2032000"/>
            <a:ext cx="3111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Multi-Target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192000" y="2476500"/>
            <a:ext cx="3111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Frames multiple points of interest. Used in co-op games and arena fighters. Calculates bounding box of all targets and frames them.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080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E1E2C">
              <a:alpha val="627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0450" y="5334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5207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Tip: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Most games combine camera types. A platformer might use Follow Camera during gameplay, then switch to Static for boss introductions, and Multi-Target during co-op sections.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Follow with Smoothing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Raw camera following creates jarring motion. Smooth follow uses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linear interpolation (lerp)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 polished feel.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7112000" cy="762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765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camera.pos = Lerp(current, target, followSpeed × deltaTime)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9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Smoothing Techniques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4127500"/>
            <a:ext cx="76200" cy="50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0386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Lookahead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Camera leads player movement, showing more of where they're going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4953000"/>
            <a:ext cx="76200" cy="50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8641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Damping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Different smoothness per axis. Vertical needs more damping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778500"/>
            <a:ext cx="76200" cy="50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6896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Dead Zone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Player can move within area without camera following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13970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36000" y="1524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5A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Smooth Follow Visualization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44000" y="2286000"/>
            <a:ext cx="5588000" cy="3556000"/>
          </a:xfrm>
          <a:prstGeom prst="rect">
            <a:avLst/>
          </a:prstGeom>
          <a:solidFill>
            <a:srgbClr val="F5F0EB"/>
          </a:solidFill>
          <a:ln w="25400">
            <a:solidFill>
              <a:srgbClr val="5A5A7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271000" y="2349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Viewport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49000" y="3683000"/>
            <a:ext cx="381000" cy="3810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731500" y="2794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287000" y="3048000"/>
            <a:ext cx="2032000" cy="1651000"/>
          </a:xfrm>
          <a:prstGeom prst="rect">
            <a:avLst/>
          </a:prstGeom>
          <a:solidFill>
            <a:srgbClr val="E8913A">
              <a:alpha val="6275"/>
            </a:srgbClr>
          </a:solidFill>
          <a:ln w="12700">
            <a:solidFill>
              <a:srgbClr val="E8913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0414000" y="31115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Dead Zone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954000" y="3810000"/>
            <a:ext cx="508000" cy="0"/>
          </a:xfrm>
          <a:prstGeom prst="straightConnector1">
            <a:avLst/>
          </a:prstGeom>
          <a:noFill/>
          <a:ln w="25400">
            <a:solidFill>
              <a:srgbClr val="5A5A72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13017500" y="3556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lookahead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Bounds &amp; Clamping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406400" cy="4064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06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3500" y="19685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 level bounds: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minX, maxX, minY, maxY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641600"/>
            <a:ext cx="406400" cy="4064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641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6035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Calculate camera half-size from viewport dimensions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276600"/>
            <a:ext cx="406400" cy="4064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276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3500" y="32385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Clamp camera position to valid bounds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911600"/>
            <a:ext cx="406400" cy="4064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911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8735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smoothing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clamping for clean motion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6990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8260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halfW = camera.viewportWidth / 2;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clampedX = Mathf.Clamp(targetX,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minX + halfW, maxX - halfW);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camera.position.x = Mathf.Lerp(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camera.position.x, clampedX, speed);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1397000"/>
            <a:ext cx="7112000" cy="520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36000" y="1524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5A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Clamping Visualization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17000" y="2286000"/>
            <a:ext cx="5842000" cy="3937000"/>
          </a:xfrm>
          <a:prstGeom prst="rect">
            <a:avLst/>
          </a:prstGeom>
          <a:solidFill>
            <a:srgbClr val="F5F0EB"/>
          </a:solidFill>
          <a:ln w="25400">
            <a:solidFill>
              <a:srgbClr val="5A5A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349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Bounds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06000" y="3302000"/>
            <a:ext cx="2540000" cy="1778000"/>
          </a:xfrm>
          <a:prstGeom prst="rect">
            <a:avLst/>
          </a:prstGeom>
          <a:solidFill>
            <a:srgbClr val="E8913A">
              <a:alpha val="12549"/>
            </a:srgbClr>
          </a:solidFill>
          <a:ln w="25400">
            <a:solidFill>
              <a:srgbClr val="E891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33000" y="3365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View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049000" y="4064000"/>
            <a:ext cx="254000" cy="2540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9017000" y="628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097000" y="628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10_Pixelblog_20_Top_Down_Tiles_SLYNYR.png">    </p:cNvPr>
          <p:cNvPicPr>
            <a:picLocks noChangeAspect="1"/>
          </p:cNvPicPr>
          <p:nvPr/>
        </p:nvPicPr>
        <p:blipFill>
          <a:blip r:embed="rId1"/>
          <a:srcRect l="0" r="0" t="4158" b="415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E891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SETUP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 Sprites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immersive game worlds through tilemaps, layering, and parallax effects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Sprite-Based Environments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36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2D game environments are built from sprite assets organized into cohesive scenes. Four key components work together: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7366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2825" y="26289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66675"/>
                </a:moveTo>
                <a:lnTo>
                  <a:pt x="266700" y="155575"/>
                </a:lnTo>
                <a:lnTo>
                  <a:pt x="177800" y="155575"/>
                </a:lnTo>
                <a:lnTo>
                  <a:pt x="177800" y="66675"/>
                </a:lnTo>
                <a:lnTo>
                  <a:pt x="266700" y="66675"/>
                </a:lnTo>
                <a:close/>
                <a:moveTo>
                  <a:pt x="266700" y="200025"/>
                </a:moveTo>
                <a:lnTo>
                  <a:pt x="266700" y="288925"/>
                </a:lnTo>
                <a:lnTo>
                  <a:pt x="177800" y="288925"/>
                </a:lnTo>
                <a:lnTo>
                  <a:pt x="177800" y="200025"/>
                </a:lnTo>
                <a:lnTo>
                  <a:pt x="266700" y="200025"/>
                </a:lnTo>
                <a:close/>
                <a:moveTo>
                  <a:pt x="133350" y="155575"/>
                </a:moveTo>
                <a:lnTo>
                  <a:pt x="44450" y="155575"/>
                </a:lnTo>
                <a:lnTo>
                  <a:pt x="44450" y="66675"/>
                </a:lnTo>
                <a:lnTo>
                  <a:pt x="133350" y="66675"/>
                </a:lnTo>
                <a:lnTo>
                  <a:pt x="133350" y="155575"/>
                </a:lnTo>
                <a:close/>
                <a:moveTo>
                  <a:pt x="44450" y="200025"/>
                </a:moveTo>
                <a:lnTo>
                  <a:pt x="133350" y="200025"/>
                </a:lnTo>
                <a:lnTo>
                  <a:pt x="133350" y="288925"/>
                </a:lnTo>
                <a:lnTo>
                  <a:pt x="44450" y="288925"/>
                </a:lnTo>
                <a:lnTo>
                  <a:pt x="44450" y="200025"/>
                </a:lnTo>
                <a:close/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54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98600" y="28956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Grid-based systems for placing repeating terrain tiles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556000"/>
            <a:ext cx="7366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8375" y="37719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66675"/>
                </a:moveTo>
                <a:cubicBezTo>
                  <a:pt x="66675" y="42158"/>
                  <a:pt x="86608" y="22225"/>
                  <a:pt x="111125" y="22225"/>
                </a:cubicBezTo>
                <a:lnTo>
                  <a:pt x="333375" y="22225"/>
                </a:lnTo>
                <a:cubicBezTo>
                  <a:pt x="357892" y="22225"/>
                  <a:pt x="377825" y="42158"/>
                  <a:pt x="377825" y="66675"/>
                </a:cubicBezTo>
                <a:lnTo>
                  <a:pt x="377825" y="244475"/>
                </a:lnTo>
                <a:cubicBezTo>
                  <a:pt x="377825" y="268992"/>
                  <a:pt x="357892" y="288925"/>
                  <a:pt x="333375" y="288925"/>
                </a:cubicBezTo>
                <a:lnTo>
                  <a:pt x="111125" y="288925"/>
                </a:lnTo>
                <a:cubicBezTo>
                  <a:pt x="86608" y="288925"/>
                  <a:pt x="66675" y="268992"/>
                  <a:pt x="66675" y="244475"/>
                </a:cubicBezTo>
                <a:lnTo>
                  <a:pt x="66675" y="66675"/>
                </a:lnTo>
                <a:close/>
                <a:moveTo>
                  <a:pt x="16669" y="88900"/>
                </a:moveTo>
                <a:cubicBezTo>
                  <a:pt x="25906" y="88900"/>
                  <a:pt x="33337" y="96331"/>
                  <a:pt x="33337" y="105569"/>
                </a:cubicBezTo>
                <a:lnTo>
                  <a:pt x="33337" y="311150"/>
                </a:lnTo>
                <a:cubicBezTo>
                  <a:pt x="33337" y="317262"/>
                  <a:pt x="38338" y="322263"/>
                  <a:pt x="44450" y="322263"/>
                </a:cubicBezTo>
                <a:lnTo>
                  <a:pt x="294481" y="322263"/>
                </a:lnTo>
                <a:cubicBezTo>
                  <a:pt x="303719" y="322263"/>
                  <a:pt x="311150" y="329694"/>
                  <a:pt x="311150" y="338931"/>
                </a:cubicBezTo>
                <a:cubicBezTo>
                  <a:pt x="311150" y="348169"/>
                  <a:pt x="303719" y="355600"/>
                  <a:pt x="294481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05569"/>
                </a:lnTo>
                <a:cubicBezTo>
                  <a:pt x="0" y="96331"/>
                  <a:pt x="7431" y="88900"/>
                  <a:pt x="16669" y="88900"/>
                </a:cubicBezTo>
                <a:close/>
                <a:moveTo>
                  <a:pt x="133350" y="111125"/>
                </a:moveTo>
                <a:cubicBezTo>
                  <a:pt x="145616" y="111125"/>
                  <a:pt x="155575" y="101166"/>
                  <a:pt x="155575" y="88900"/>
                </a:cubicBezTo>
                <a:cubicBezTo>
                  <a:pt x="155575" y="76634"/>
                  <a:pt x="145616" y="66675"/>
                  <a:pt x="133350" y="66675"/>
                </a:cubicBezTo>
                <a:cubicBezTo>
                  <a:pt x="121084" y="66675"/>
                  <a:pt x="111125" y="76634"/>
                  <a:pt x="111125" y="88900"/>
                </a:cubicBezTo>
                <a:cubicBezTo>
                  <a:pt x="111125" y="101166"/>
                  <a:pt x="121084" y="111125"/>
                  <a:pt x="133350" y="111125"/>
                </a:cubicBezTo>
                <a:close/>
                <a:moveTo>
                  <a:pt x="269825" y="119112"/>
                </a:moveTo>
                <a:cubicBezTo>
                  <a:pt x="266769" y="114181"/>
                  <a:pt x="261422" y="111125"/>
                  <a:pt x="255587" y="111125"/>
                </a:cubicBezTo>
                <a:cubicBezTo>
                  <a:pt x="249753" y="111125"/>
                  <a:pt x="244406" y="114181"/>
                  <a:pt x="241350" y="119112"/>
                </a:cubicBezTo>
                <a:lnTo>
                  <a:pt x="202248" y="183078"/>
                </a:lnTo>
                <a:lnTo>
                  <a:pt x="185231" y="161826"/>
                </a:lnTo>
                <a:cubicBezTo>
                  <a:pt x="182037" y="157867"/>
                  <a:pt x="177314" y="155575"/>
                  <a:pt x="172244" y="155575"/>
                </a:cubicBezTo>
                <a:cubicBezTo>
                  <a:pt x="167174" y="155575"/>
                  <a:pt x="162381" y="157867"/>
                  <a:pt x="159256" y="161826"/>
                </a:cubicBezTo>
                <a:lnTo>
                  <a:pt x="114806" y="217388"/>
                </a:lnTo>
                <a:cubicBezTo>
                  <a:pt x="110778" y="222389"/>
                  <a:pt x="110014" y="229265"/>
                  <a:pt x="112792" y="235029"/>
                </a:cubicBezTo>
                <a:cubicBezTo>
                  <a:pt x="115570" y="240794"/>
                  <a:pt x="121404" y="244475"/>
                  <a:pt x="127794" y="244475"/>
                </a:cubicBezTo>
                <a:lnTo>
                  <a:pt x="316706" y="244475"/>
                </a:lnTo>
                <a:cubicBezTo>
                  <a:pt x="322749" y="244475"/>
                  <a:pt x="328305" y="241211"/>
                  <a:pt x="331222" y="235932"/>
                </a:cubicBezTo>
                <a:cubicBezTo>
                  <a:pt x="334139" y="230654"/>
                  <a:pt x="334070" y="224264"/>
                  <a:pt x="330875" y="219055"/>
                </a:cubicBezTo>
                <a:lnTo>
                  <a:pt x="269756" y="119043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368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Sprite Atlases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98600" y="40386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Combined texture sheets reducing draw calls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699000"/>
            <a:ext cx="7366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12825" y="49149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-22225"/>
                </a:moveTo>
                <a:cubicBezTo>
                  <a:pt x="160437" y="-22225"/>
                  <a:pt x="165090" y="-20072"/>
                  <a:pt x="168285" y="-16321"/>
                </a:cubicBezTo>
                <a:lnTo>
                  <a:pt x="262741" y="94804"/>
                </a:lnTo>
                <a:cubicBezTo>
                  <a:pt x="266978" y="99735"/>
                  <a:pt x="267881" y="106680"/>
                  <a:pt x="265172" y="112584"/>
                </a:cubicBezTo>
                <a:cubicBezTo>
                  <a:pt x="262463" y="118487"/>
                  <a:pt x="256560" y="122238"/>
                  <a:pt x="250031" y="122238"/>
                </a:cubicBezTo>
                <a:lnTo>
                  <a:pt x="232737" y="122238"/>
                </a:lnTo>
                <a:lnTo>
                  <a:pt x="284966" y="183704"/>
                </a:lnTo>
                <a:cubicBezTo>
                  <a:pt x="289203" y="188635"/>
                  <a:pt x="290106" y="195580"/>
                  <a:pt x="287397" y="201484"/>
                </a:cubicBezTo>
                <a:cubicBezTo>
                  <a:pt x="284688" y="207387"/>
                  <a:pt x="278785" y="211138"/>
                  <a:pt x="272256" y="211138"/>
                </a:cubicBezTo>
                <a:lnTo>
                  <a:pt x="245517" y="211138"/>
                </a:lnTo>
                <a:lnTo>
                  <a:pt x="307191" y="283716"/>
                </a:lnTo>
                <a:cubicBezTo>
                  <a:pt x="311428" y="288647"/>
                  <a:pt x="312331" y="295593"/>
                  <a:pt x="309622" y="301496"/>
                </a:cubicBezTo>
                <a:cubicBezTo>
                  <a:pt x="306913" y="307400"/>
                  <a:pt x="301010" y="311150"/>
                  <a:pt x="294481" y="311150"/>
                </a:cubicBezTo>
                <a:lnTo>
                  <a:pt x="177800" y="311150"/>
                </a:lnTo>
                <a:lnTo>
                  <a:pt x="177800" y="355600"/>
                </a:lnTo>
                <a:cubicBezTo>
                  <a:pt x="177800" y="367893"/>
                  <a:pt x="167868" y="377825"/>
                  <a:pt x="155575" y="377825"/>
                </a:cubicBezTo>
                <a:cubicBezTo>
                  <a:pt x="143282" y="377825"/>
                  <a:pt x="133350" y="367893"/>
                  <a:pt x="133350" y="355600"/>
                </a:cubicBezTo>
                <a:lnTo>
                  <a:pt x="133350" y="311150"/>
                </a:lnTo>
                <a:lnTo>
                  <a:pt x="16669" y="311150"/>
                </a:lnTo>
                <a:cubicBezTo>
                  <a:pt x="10140" y="311150"/>
                  <a:pt x="4237" y="307400"/>
                  <a:pt x="1528" y="301496"/>
                </a:cubicBezTo>
                <a:cubicBezTo>
                  <a:pt x="-1181" y="295593"/>
                  <a:pt x="-278" y="288647"/>
                  <a:pt x="3959" y="283716"/>
                </a:cubicBezTo>
                <a:lnTo>
                  <a:pt x="65633" y="211138"/>
                </a:lnTo>
                <a:lnTo>
                  <a:pt x="38894" y="211138"/>
                </a:lnTo>
                <a:cubicBezTo>
                  <a:pt x="32365" y="211138"/>
                  <a:pt x="26462" y="207387"/>
                  <a:pt x="23753" y="201484"/>
                </a:cubicBezTo>
                <a:cubicBezTo>
                  <a:pt x="21044" y="195580"/>
                  <a:pt x="21947" y="188635"/>
                  <a:pt x="26184" y="183704"/>
                </a:cubicBezTo>
                <a:lnTo>
                  <a:pt x="78413" y="122238"/>
                </a:lnTo>
                <a:lnTo>
                  <a:pt x="61119" y="122238"/>
                </a:lnTo>
                <a:cubicBezTo>
                  <a:pt x="54590" y="122238"/>
                  <a:pt x="48687" y="118487"/>
                  <a:pt x="45978" y="112584"/>
                </a:cubicBezTo>
                <a:cubicBezTo>
                  <a:pt x="43269" y="106680"/>
                  <a:pt x="44172" y="99735"/>
                  <a:pt x="48409" y="94804"/>
                </a:cubicBezTo>
                <a:lnTo>
                  <a:pt x="142865" y="-16321"/>
                </a:lnTo>
                <a:cubicBezTo>
                  <a:pt x="146060" y="-20072"/>
                  <a:pt x="150713" y="-22225"/>
                  <a:pt x="155575" y="-2222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4826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 Props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8600" y="51816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Decorative sprites adding visual detail and atmosphere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842000"/>
            <a:ext cx="7366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90600" y="6057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596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Collision Tiles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98600" y="63246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Invisible geometry defining walkable boundaries</a:t>
            </a:r>
            <a:endParaRPr lang="en-US" sz="1800" dirty="0"/>
          </a:p>
        </p:txBody>
      </p:sp>
      <p:pic>
        <p:nvPicPr>
          <p:cNvPr id="21" name="Image 0" descr="https://kimi-img.moonshot.cn/pub/slides/okc/23nymxquuy5no/mnt/agents/output/game-programming-week6/images/9_Level_Map_Pixel_Art_OpenGameArt_or.png">    </p:cNvPr>
          <p:cNvPicPr>
            <a:picLocks noChangeAspect="1"/>
          </p:cNvPicPr>
          <p:nvPr/>
        </p:nvPicPr>
        <p:blipFill>
          <a:blip r:embed="rId1"/>
          <a:srcRect l="0" r="0" t="2744" b="2744"/>
          <a:stretch/>
        </p:blipFill>
        <p:spPr>
          <a:xfrm>
            <a:off x="8636000" y="1397000"/>
            <a:ext cx="6858000" cy="4318000"/>
          </a:xfrm>
          <a:prstGeom prst="roundRect">
            <a:avLst>
              <a:gd name="adj" fmla="val 6000"/>
            </a:avLst>
          </a:prstGeom>
        </p:spPr>
      </p:pic>
      <p:sp>
        <p:nvSpPr>
          <p:cNvPr id="22" name="Text 19"/>
          <p:cNvSpPr/>
          <p:nvPr/>
        </p:nvSpPr>
        <p:spPr>
          <a:xfrm>
            <a:off x="8636000" y="5842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5A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 Tileset with terrain, props, and objects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636000" y="6477000"/>
            <a:ext cx="6858000" cy="762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890000" y="65786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well-organized sprite pipeline is essential for scalable level design.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 Systems &amp; Layers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6858000" cy="1016000"/>
          </a:xfrm>
          <a:prstGeom prst="roundRect">
            <a:avLst>
              <a:gd name="adj" fmla="val 5000"/>
            </a:avLst>
          </a:prstGeom>
          <a:solidFill>
            <a:srgbClr val="8B7355">
              <a:alpha val="1254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01600" cy="10160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52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Ground Layer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1905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Walkable surfaces and base terrain — the foundation of the level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667000"/>
            <a:ext cx="6858000" cy="1016000"/>
          </a:xfrm>
          <a:prstGeom prst="roundRect">
            <a:avLst>
              <a:gd name="adj" fmla="val 5000"/>
            </a:avLst>
          </a:prstGeom>
          <a:solidFill>
            <a:srgbClr val="5A8B5A">
              <a:alpha val="12549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667000"/>
            <a:ext cx="101600" cy="1016000"/>
          </a:xfrm>
          <a:prstGeom prst="rect">
            <a:avLst/>
          </a:prstGeom>
          <a:solidFill>
            <a:srgbClr val="5A8B5A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2730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Decoration Layer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400" y="3111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details like grass, rocks, flowers — no collision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873500"/>
            <a:ext cx="6858000" cy="1016000"/>
          </a:xfrm>
          <a:prstGeom prst="roundRect">
            <a:avLst>
              <a:gd name="adj" fmla="val 5000"/>
            </a:avLst>
          </a:prstGeom>
          <a:solidFill>
            <a:srgbClr val="E8913A">
              <a:alpha val="12549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873500"/>
            <a:ext cx="101600" cy="1016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3937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Collision Layer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400" y="4318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Invisible boundaries and platform geometry — defines physics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080000"/>
            <a:ext cx="6858000" cy="1016000"/>
          </a:xfrm>
          <a:prstGeom prst="roundRect">
            <a:avLst>
              <a:gd name="adj" fmla="val 5000"/>
            </a:avLst>
          </a:prstGeom>
          <a:solidFill>
            <a:srgbClr val="5A5A8B">
              <a:alpha val="12549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080000"/>
            <a:ext cx="101600" cy="1016000"/>
          </a:xfrm>
          <a:prstGeom prst="rect">
            <a:avLst/>
          </a:prstGeom>
          <a:solidFill>
            <a:srgbClr val="5A5A8B"/>
          </a:solidFill>
          <a:ln/>
        </p:spPr>
      </p:sp>
      <p:sp>
        <p:nvSpPr>
          <p:cNvPr id="18" name="Text 16"/>
          <p:cNvSpPr/>
          <p:nvPr/>
        </p:nvSpPr>
        <p:spPr>
          <a:xfrm>
            <a:off x="1041400" y="5143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Foreground Layer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41400" y="5524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Elements drawn in front of player for depth and atmosphere</a:t>
            </a:r>
            <a:endParaRPr lang="en-US" sz="1800" dirty="0"/>
          </a:p>
        </p:txBody>
      </p:sp>
      <p:pic>
        <p:nvPicPr>
          <p:cNvPr id="20" name="Image 0" descr="https://kimi-img.moonshot.cn/pub/slides/okc/23nymxquuy5no/mnt/agents/output/game-programming-week6/images/1_1_367_Tile_Map_Pixel_Art_Royalty.png">    </p:cNvPr>
          <p:cNvPicPr>
            <a:picLocks noChangeAspect="1"/>
          </p:cNvPicPr>
          <p:nvPr/>
        </p:nvPicPr>
        <p:blipFill>
          <a:blip r:embed="rId1"/>
          <a:srcRect l="0" r="0" t="2015" b="2015"/>
          <a:stretch/>
        </p:blipFill>
        <p:spPr>
          <a:xfrm>
            <a:off x="8128000" y="1460500"/>
            <a:ext cx="7366000" cy="4635500"/>
          </a:xfrm>
          <a:prstGeom prst="roundRect">
            <a:avLst>
              <a:gd name="adj" fmla="val 6000"/>
            </a:avLst>
          </a:prstGeom>
        </p:spPr>
      </p:pic>
      <p:sp>
        <p:nvSpPr>
          <p:cNvPr id="21" name="Shape 18"/>
          <p:cNvSpPr/>
          <p:nvPr/>
        </p:nvSpPr>
        <p:spPr>
          <a:xfrm>
            <a:off x="762000" y="64770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971550" y="6629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3252" y="58698"/>
                </a:moveTo>
                <a:cubicBezTo>
                  <a:pt x="307777" y="54173"/>
                  <a:pt x="315337" y="55305"/>
                  <a:pt x="317599" y="61258"/>
                </a:cubicBezTo>
                <a:cubicBezTo>
                  <a:pt x="321647" y="71795"/>
                  <a:pt x="323850" y="83284"/>
                  <a:pt x="323850" y="95250"/>
                </a:cubicBezTo>
                <a:cubicBezTo>
                  <a:pt x="323850" y="147876"/>
                  <a:pt x="281226" y="190500"/>
                  <a:pt x="228600" y="190500"/>
                </a:cubicBezTo>
                <a:cubicBezTo>
                  <a:pt x="218182" y="190500"/>
                  <a:pt x="208121" y="188833"/>
                  <a:pt x="198715" y="185738"/>
                </a:cubicBezTo>
                <a:lnTo>
                  <a:pt x="87451" y="297001"/>
                </a:lnTo>
                <a:cubicBezTo>
                  <a:pt x="70723" y="313730"/>
                  <a:pt x="43577" y="313730"/>
                  <a:pt x="26849" y="297001"/>
                </a:cubicBezTo>
                <a:cubicBezTo>
                  <a:pt x="10120" y="280273"/>
                  <a:pt x="10120" y="253127"/>
                  <a:pt x="26849" y="236399"/>
                </a:cubicBezTo>
                <a:lnTo>
                  <a:pt x="138113" y="125135"/>
                </a:lnTo>
                <a:cubicBezTo>
                  <a:pt x="135017" y="115729"/>
                  <a:pt x="133350" y="105728"/>
                  <a:pt x="133350" y="95250"/>
                </a:cubicBezTo>
                <a:cubicBezTo>
                  <a:pt x="133350" y="42624"/>
                  <a:pt x="175974" y="0"/>
                  <a:pt x="228600" y="0"/>
                </a:cubicBezTo>
                <a:cubicBezTo>
                  <a:pt x="240566" y="0"/>
                  <a:pt x="252055" y="2203"/>
                  <a:pt x="262592" y="6251"/>
                </a:cubicBezTo>
                <a:cubicBezTo>
                  <a:pt x="268545" y="8513"/>
                  <a:pt x="269617" y="16073"/>
                  <a:pt x="265152" y="20598"/>
                </a:cubicBezTo>
                <a:lnTo>
                  <a:pt x="212348" y="73402"/>
                </a:lnTo>
                <a:cubicBezTo>
                  <a:pt x="210562" y="75188"/>
                  <a:pt x="209550" y="77629"/>
                  <a:pt x="209550" y="80129"/>
                </a:cubicBezTo>
                <a:lnTo>
                  <a:pt x="209550" y="104775"/>
                </a:lnTo>
                <a:cubicBezTo>
                  <a:pt x="209550" y="110014"/>
                  <a:pt x="213836" y="114300"/>
                  <a:pt x="219075" y="114300"/>
                </a:cubicBezTo>
                <a:lnTo>
                  <a:pt x="243721" y="114300"/>
                </a:lnTo>
                <a:cubicBezTo>
                  <a:pt x="246221" y="114300"/>
                  <a:pt x="248662" y="113288"/>
                  <a:pt x="250448" y="111502"/>
                </a:cubicBezTo>
                <a:lnTo>
                  <a:pt x="303252" y="58698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0"/>
          <p:cNvSpPr/>
          <p:nvPr/>
        </p:nvSpPr>
        <p:spPr>
          <a:xfrm>
            <a:off x="1422400" y="6578600"/>
            <a:ext cx="1371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engines provide built-in tilemap editors with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auto-tiling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brush tools, and tile rule systems for rapid level construction.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Sorting Order &amp; Layer Depth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mechanisms control sprite rendering order in 2D games: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4699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2286000"/>
            <a:ext cx="365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Sorting Layers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794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Named groups rendered in sequence: Background → Midground → Foreground. Each layer is a render pass.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2095500"/>
            <a:ext cx="4699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69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9539" y="32861"/>
                </a:moveTo>
                <a:cubicBezTo>
                  <a:pt x="109617" y="22939"/>
                  <a:pt x="93504" y="22939"/>
                  <a:pt x="83582" y="32861"/>
                </a:cubicBezTo>
                <a:lnTo>
                  <a:pt x="7382" y="109061"/>
                </a:lnTo>
                <a:cubicBezTo>
                  <a:pt x="-2540" y="118983"/>
                  <a:pt x="-2540" y="135096"/>
                  <a:pt x="7382" y="145018"/>
                </a:cubicBezTo>
                <a:cubicBezTo>
                  <a:pt x="17304" y="154940"/>
                  <a:pt x="33417" y="154940"/>
                  <a:pt x="43339" y="145018"/>
                </a:cubicBezTo>
                <a:lnTo>
                  <a:pt x="76200" y="112157"/>
                </a:lnTo>
                <a:lnTo>
                  <a:pt x="76200" y="355600"/>
                </a:lnTo>
                <a:cubicBezTo>
                  <a:pt x="76200" y="369649"/>
                  <a:pt x="87551" y="381000"/>
                  <a:pt x="101600" y="381000"/>
                </a:cubicBezTo>
                <a:cubicBezTo>
                  <a:pt x="115649" y="381000"/>
                  <a:pt x="127000" y="369649"/>
                  <a:pt x="127000" y="355600"/>
                </a:cubicBezTo>
                <a:lnTo>
                  <a:pt x="127000" y="112157"/>
                </a:lnTo>
                <a:lnTo>
                  <a:pt x="159861" y="145018"/>
                </a:lnTo>
                <a:cubicBezTo>
                  <a:pt x="169783" y="154940"/>
                  <a:pt x="185896" y="154940"/>
                  <a:pt x="195818" y="145018"/>
                </a:cubicBezTo>
                <a:cubicBezTo>
                  <a:pt x="205740" y="135096"/>
                  <a:pt x="205740" y="118983"/>
                  <a:pt x="195818" y="109061"/>
                </a:cubicBezTo>
                <a:lnTo>
                  <a:pt x="119618" y="32861"/>
                </a:lnTo>
                <a:close/>
                <a:moveTo>
                  <a:pt x="332343" y="30163"/>
                </a:moveTo>
                <a:cubicBezTo>
                  <a:pt x="325755" y="25400"/>
                  <a:pt x="317183" y="24051"/>
                  <a:pt x="309483" y="26670"/>
                </a:cubicBezTo>
                <a:lnTo>
                  <a:pt x="271383" y="39370"/>
                </a:lnTo>
                <a:cubicBezTo>
                  <a:pt x="258048" y="43815"/>
                  <a:pt x="250904" y="58182"/>
                  <a:pt x="255349" y="71517"/>
                </a:cubicBezTo>
                <a:cubicBezTo>
                  <a:pt x="259794" y="84852"/>
                  <a:pt x="274161" y="91996"/>
                  <a:pt x="287496" y="87551"/>
                </a:cubicBezTo>
                <a:lnTo>
                  <a:pt x="292179" y="85963"/>
                </a:lnTo>
                <a:lnTo>
                  <a:pt x="292179" y="126921"/>
                </a:lnTo>
                <a:lnTo>
                  <a:pt x="279479" y="126921"/>
                </a:lnTo>
                <a:cubicBezTo>
                  <a:pt x="265430" y="126921"/>
                  <a:pt x="254079" y="138271"/>
                  <a:pt x="254079" y="152321"/>
                </a:cubicBezTo>
                <a:cubicBezTo>
                  <a:pt x="254079" y="166370"/>
                  <a:pt x="265430" y="177721"/>
                  <a:pt x="279479" y="177721"/>
                </a:cubicBezTo>
                <a:lnTo>
                  <a:pt x="355679" y="177721"/>
                </a:lnTo>
                <a:cubicBezTo>
                  <a:pt x="369729" y="177721"/>
                  <a:pt x="381079" y="166370"/>
                  <a:pt x="381079" y="152321"/>
                </a:cubicBezTo>
                <a:cubicBezTo>
                  <a:pt x="381079" y="138271"/>
                  <a:pt x="369729" y="126921"/>
                  <a:pt x="355679" y="126921"/>
                </a:cubicBezTo>
                <a:lnTo>
                  <a:pt x="342979" y="126921"/>
                </a:lnTo>
                <a:lnTo>
                  <a:pt x="342979" y="50721"/>
                </a:lnTo>
                <a:cubicBezTo>
                  <a:pt x="342979" y="42545"/>
                  <a:pt x="339090" y="34925"/>
                  <a:pt x="332423" y="30083"/>
                </a:cubicBezTo>
                <a:close/>
                <a:moveTo>
                  <a:pt x="289798" y="341789"/>
                </a:moveTo>
                <a:cubicBezTo>
                  <a:pt x="282178" y="353536"/>
                  <a:pt x="285512" y="369253"/>
                  <a:pt x="297259" y="376952"/>
                </a:cubicBezTo>
                <a:cubicBezTo>
                  <a:pt x="309007" y="384651"/>
                  <a:pt x="324723" y="381238"/>
                  <a:pt x="332423" y="369491"/>
                </a:cubicBezTo>
                <a:lnTo>
                  <a:pt x="365839" y="317976"/>
                </a:lnTo>
                <a:cubicBezTo>
                  <a:pt x="375682" y="302736"/>
                  <a:pt x="381000" y="284956"/>
                  <a:pt x="381000" y="266779"/>
                </a:cubicBezTo>
                <a:cubicBezTo>
                  <a:pt x="381000" y="231696"/>
                  <a:pt x="352584" y="203279"/>
                  <a:pt x="317500" y="203279"/>
                </a:cubicBezTo>
                <a:cubicBezTo>
                  <a:pt x="282416" y="203279"/>
                  <a:pt x="254000" y="231696"/>
                  <a:pt x="254000" y="266779"/>
                </a:cubicBezTo>
                <a:cubicBezTo>
                  <a:pt x="254000" y="295434"/>
                  <a:pt x="272971" y="319723"/>
                  <a:pt x="299085" y="327581"/>
                </a:cubicBezTo>
                <a:lnTo>
                  <a:pt x="289798" y="341868"/>
                </a:lnTo>
                <a:close/>
                <a:moveTo>
                  <a:pt x="298450" y="266700"/>
                </a:moveTo>
                <a:cubicBezTo>
                  <a:pt x="298450" y="256186"/>
                  <a:pt x="306986" y="247650"/>
                  <a:pt x="317500" y="247650"/>
                </a:cubicBezTo>
                <a:cubicBezTo>
                  <a:pt x="328014" y="247650"/>
                  <a:pt x="336550" y="256186"/>
                  <a:pt x="336550" y="266700"/>
                </a:cubicBezTo>
                <a:cubicBezTo>
                  <a:pt x="336550" y="277214"/>
                  <a:pt x="328014" y="285750"/>
                  <a:pt x="317500" y="285750"/>
                </a:cubicBezTo>
                <a:cubicBezTo>
                  <a:pt x="306986" y="285750"/>
                  <a:pt x="298450" y="277214"/>
                  <a:pt x="298450" y="2667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502400" y="2286000"/>
            <a:ext cx="365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Order in Layer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69000" y="2794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Numeric priority within each layer. Higher numbers render on top. Controls overlap within the same layer.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20955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22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038" y="-1984"/>
                </a:moveTo>
                <a:cubicBezTo>
                  <a:pt x="193754" y="-11033"/>
                  <a:pt x="213122" y="-11033"/>
                  <a:pt x="228838" y="-1984"/>
                </a:cubicBezTo>
                <a:lnTo>
                  <a:pt x="368459" y="78581"/>
                </a:lnTo>
                <a:cubicBezTo>
                  <a:pt x="384175" y="87630"/>
                  <a:pt x="393859" y="104458"/>
                  <a:pt x="393859" y="122555"/>
                </a:cubicBezTo>
                <a:lnTo>
                  <a:pt x="393859" y="283686"/>
                </a:lnTo>
                <a:cubicBezTo>
                  <a:pt x="393859" y="301863"/>
                  <a:pt x="384175" y="318611"/>
                  <a:pt x="368459" y="327660"/>
                </a:cubicBezTo>
                <a:lnTo>
                  <a:pt x="228838" y="408384"/>
                </a:lnTo>
                <a:cubicBezTo>
                  <a:pt x="213122" y="417433"/>
                  <a:pt x="193754" y="417433"/>
                  <a:pt x="178038" y="408384"/>
                </a:cubicBezTo>
                <a:lnTo>
                  <a:pt x="38497" y="327819"/>
                </a:lnTo>
                <a:cubicBezTo>
                  <a:pt x="22781" y="318770"/>
                  <a:pt x="13097" y="301943"/>
                  <a:pt x="13097" y="283845"/>
                </a:cubicBezTo>
                <a:lnTo>
                  <a:pt x="13097" y="122714"/>
                </a:lnTo>
                <a:cubicBezTo>
                  <a:pt x="13097" y="104537"/>
                  <a:pt x="22781" y="87789"/>
                  <a:pt x="38497" y="78740"/>
                </a:cubicBezTo>
                <a:lnTo>
                  <a:pt x="178038" y="-1984"/>
                </a:lnTo>
                <a:close/>
                <a:moveTo>
                  <a:pt x="342979" y="283766"/>
                </a:moveTo>
                <a:lnTo>
                  <a:pt x="342979" y="151924"/>
                </a:lnTo>
                <a:lnTo>
                  <a:pt x="228838" y="217805"/>
                </a:lnTo>
                <a:lnTo>
                  <a:pt x="228838" y="349647"/>
                </a:lnTo>
                <a:lnTo>
                  <a:pt x="342979" y="283766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55400" y="2286000"/>
            <a:ext cx="3784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 Z-Position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22000" y="27940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Depth along the Z-axis for pseudo-3D effects. Useful for isometric and top-down perspective games.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6990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93775" y="495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488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16000" y="5334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top-down games, set character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Order in Layer based on Y-position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(bottom-screen sprites first). This creates natural depth: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= -(int)(transform.position.y * 100)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66040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1E1E2C">
              <a:alpha val="627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76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5A5A72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" y="6705600"/>
            <a:ext cx="1371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Proper sorting prevents visual glitches like characters walking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behind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objects they should be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front of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Parallax Background Scrolling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Parallax creates depth illusion by moving background layers at different speeds. Each layer has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parallax factor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(0.0 to 1.0).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765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layerOffset = cameraPosition × parallaxFactor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65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Typical Parallax Factors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73500"/>
          <a:ext cx="7112000" cy="2286000"/>
        </p:xfrm>
        <a:graphic>
          <a:graphicData uri="http://schemas.openxmlformats.org/drawingml/2006/table">
            <a:tbl>
              <a:tblPr/>
              <a:tblGrid>
                <a:gridCol w="2489200"/>
                <a:gridCol w="2133600"/>
                <a:gridCol w="24892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Factor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Background (sky)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0.1 - 0.3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Clouds, stars, moon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Midground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0.4 - 0.6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Mountains, buildings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Gameplay Layer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Ground, player, enemies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https://kimi-img.moonshot.cn/pub/slides/okc/23nymxquuy5no/mnt/agents/output/game-programming-week6/images/6_Parallax_Background_Pixel_Over_162.png">    </p:cNvPr>
          <p:cNvPicPr>
            <a:picLocks noChangeAspect="1"/>
          </p:cNvPicPr>
          <p:nvPr/>
        </p:nvPicPr>
        <p:blipFill>
          <a:blip r:embed="rId1"/>
          <a:srcRect l="0" r="0" t="11614" b="11614"/>
          <a:stretch/>
        </p:blipFill>
        <p:spPr>
          <a:xfrm>
            <a:off x="8382000" y="1397000"/>
            <a:ext cx="7112000" cy="3302000"/>
          </a:xfrm>
          <a:prstGeom prst="roundRect">
            <a:avLst>
              <a:gd name="adj" fmla="val 6000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8382000" y="50800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8613775" y="533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0" y="530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Result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636000" y="5778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Rich visual depth that makes 2D worlds feel expansive and immersive.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3_coding_for_doom_Tech_Computer_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E891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LOOP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Management &amp; UI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Architecting game state, managers, and the event-driven UI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Manager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 Managers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singleton-pattern controllers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coordinating global systems: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1550" y="2286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260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GameManager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730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High-level game state: playing, paused, game over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20955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690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2260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ScoreManager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69000" y="2730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Tracks and persists player score and achievements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2095500"/>
            <a:ext cx="4826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220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61119" y="88900"/>
                </a:moveTo>
                <a:lnTo>
                  <a:pt x="294481" y="88900"/>
                </a:lnTo>
                <a:cubicBezTo>
                  <a:pt x="303719" y="88900"/>
                  <a:pt x="311150" y="96331"/>
                  <a:pt x="311150" y="105569"/>
                </a:cubicBezTo>
                <a:cubicBezTo>
                  <a:pt x="311150" y="114806"/>
                  <a:pt x="303719" y="122238"/>
                  <a:pt x="294481" y="122238"/>
                </a:cubicBezTo>
                <a:lnTo>
                  <a:pt x="61119" y="122238"/>
                </a:lnTo>
                <a:cubicBezTo>
                  <a:pt x="51881" y="122238"/>
                  <a:pt x="44450" y="114806"/>
                  <a:pt x="44450" y="105569"/>
                </a:cubicBezTo>
                <a:cubicBezTo>
                  <a:pt x="44450" y="96331"/>
                  <a:pt x="51881" y="88900"/>
                  <a:pt x="61119" y="889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4600" y="2260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UIManager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22000" y="2730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Controls UI panels, transitions, and input routing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38735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1550" y="4064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70602" y="22572"/>
                </a:moveTo>
                <a:cubicBezTo>
                  <a:pt x="363448" y="16738"/>
                  <a:pt x="352961" y="17849"/>
                  <a:pt x="347127" y="25003"/>
                </a:cubicBezTo>
                <a:cubicBezTo>
                  <a:pt x="341293" y="32157"/>
                  <a:pt x="342404" y="42644"/>
                  <a:pt x="349558" y="48478"/>
                </a:cubicBezTo>
                <a:cubicBezTo>
                  <a:pt x="387201" y="79038"/>
                  <a:pt x="411162" y="125571"/>
                  <a:pt x="411162" y="177800"/>
                </a:cubicBezTo>
                <a:cubicBezTo>
                  <a:pt x="411162" y="230029"/>
                  <a:pt x="387201" y="276562"/>
                  <a:pt x="349558" y="307191"/>
                </a:cubicBezTo>
                <a:cubicBezTo>
                  <a:pt x="342404" y="313025"/>
                  <a:pt x="341362" y="323513"/>
                  <a:pt x="347127" y="330666"/>
                </a:cubicBezTo>
                <a:cubicBezTo>
                  <a:pt x="352891" y="337820"/>
                  <a:pt x="363448" y="338862"/>
                  <a:pt x="370602" y="333097"/>
                </a:cubicBezTo>
                <a:cubicBezTo>
                  <a:pt x="415677" y="296356"/>
                  <a:pt x="444500" y="240447"/>
                  <a:pt x="444500" y="177800"/>
                </a:cubicBezTo>
                <a:cubicBezTo>
                  <a:pt x="444500" y="115153"/>
                  <a:pt x="415677" y="59174"/>
                  <a:pt x="370602" y="22572"/>
                </a:cubicBezTo>
                <a:close/>
                <a:moveTo>
                  <a:pt x="328583" y="74315"/>
                </a:moveTo>
                <a:cubicBezTo>
                  <a:pt x="321429" y="68481"/>
                  <a:pt x="310942" y="69592"/>
                  <a:pt x="305108" y="76746"/>
                </a:cubicBezTo>
                <a:cubicBezTo>
                  <a:pt x="299274" y="83899"/>
                  <a:pt x="300385" y="94387"/>
                  <a:pt x="307538" y="100221"/>
                </a:cubicBezTo>
                <a:cubicBezTo>
                  <a:pt x="330111" y="118556"/>
                  <a:pt x="344488" y="146477"/>
                  <a:pt x="344488" y="177800"/>
                </a:cubicBezTo>
                <a:cubicBezTo>
                  <a:pt x="344488" y="209123"/>
                  <a:pt x="330111" y="237044"/>
                  <a:pt x="307538" y="255449"/>
                </a:cubicBezTo>
                <a:cubicBezTo>
                  <a:pt x="300385" y="261283"/>
                  <a:pt x="299343" y="271770"/>
                  <a:pt x="305108" y="278924"/>
                </a:cubicBezTo>
                <a:cubicBezTo>
                  <a:pt x="310872" y="286077"/>
                  <a:pt x="321429" y="287119"/>
                  <a:pt x="328583" y="281355"/>
                </a:cubicBezTo>
                <a:cubicBezTo>
                  <a:pt x="358586" y="256907"/>
                  <a:pt x="377825" y="219611"/>
                  <a:pt x="377825" y="177869"/>
                </a:cubicBezTo>
                <a:cubicBezTo>
                  <a:pt x="377825" y="136128"/>
                  <a:pt x="358586" y="98832"/>
                  <a:pt x="328583" y="74384"/>
                </a:cubicBezTo>
                <a:close/>
                <a:moveTo>
                  <a:pt x="286564" y="126057"/>
                </a:moveTo>
                <a:cubicBezTo>
                  <a:pt x="279410" y="120223"/>
                  <a:pt x="268923" y="121335"/>
                  <a:pt x="263088" y="128488"/>
                </a:cubicBezTo>
                <a:cubicBezTo>
                  <a:pt x="257254" y="135642"/>
                  <a:pt x="258366" y="146129"/>
                  <a:pt x="265519" y="151963"/>
                </a:cubicBezTo>
                <a:cubicBezTo>
                  <a:pt x="273020" y="158075"/>
                  <a:pt x="277813" y="167382"/>
                  <a:pt x="277813" y="177800"/>
                </a:cubicBezTo>
                <a:cubicBezTo>
                  <a:pt x="277813" y="188218"/>
                  <a:pt x="273020" y="197525"/>
                  <a:pt x="265519" y="203706"/>
                </a:cubicBezTo>
                <a:cubicBezTo>
                  <a:pt x="258366" y="209540"/>
                  <a:pt x="257324" y="220028"/>
                  <a:pt x="263088" y="227181"/>
                </a:cubicBezTo>
                <a:cubicBezTo>
                  <a:pt x="268853" y="234335"/>
                  <a:pt x="279410" y="235377"/>
                  <a:pt x="286564" y="229612"/>
                </a:cubicBezTo>
                <a:cubicBezTo>
                  <a:pt x="301496" y="217319"/>
                  <a:pt x="311150" y="198705"/>
                  <a:pt x="311150" y="177800"/>
                </a:cubicBezTo>
                <a:cubicBezTo>
                  <a:pt x="311150" y="156895"/>
                  <a:pt x="301496" y="138281"/>
                  <a:pt x="286564" y="126057"/>
                </a:cubicBezTo>
                <a:close/>
                <a:moveTo>
                  <a:pt x="55563" y="244475"/>
                </a:moveTo>
                <a:lnTo>
                  <a:pt x="88900" y="244475"/>
                </a:lnTo>
                <a:lnTo>
                  <a:pt x="182037" y="327263"/>
                </a:lnTo>
                <a:cubicBezTo>
                  <a:pt x="186482" y="331222"/>
                  <a:pt x="192177" y="333375"/>
                  <a:pt x="198080" y="333375"/>
                </a:cubicBezTo>
                <a:cubicBezTo>
                  <a:pt x="211415" y="333375"/>
                  <a:pt x="222250" y="322540"/>
                  <a:pt x="222250" y="309205"/>
                </a:cubicBezTo>
                <a:lnTo>
                  <a:pt x="222250" y="46395"/>
                </a:lnTo>
                <a:cubicBezTo>
                  <a:pt x="222250" y="33060"/>
                  <a:pt x="211415" y="22225"/>
                  <a:pt x="198080" y="22225"/>
                </a:cubicBezTo>
                <a:cubicBezTo>
                  <a:pt x="192177" y="22225"/>
                  <a:pt x="186482" y="24378"/>
                  <a:pt x="182037" y="28337"/>
                </a:cubicBezTo>
                <a:lnTo>
                  <a:pt x="88900" y="111125"/>
                </a:lnTo>
                <a:lnTo>
                  <a:pt x="55563" y="111125"/>
                </a:lnTo>
                <a:cubicBezTo>
                  <a:pt x="37157" y="111125"/>
                  <a:pt x="22225" y="126057"/>
                  <a:pt x="22225" y="144463"/>
                </a:cubicBezTo>
                <a:lnTo>
                  <a:pt x="22225" y="211138"/>
                </a:lnTo>
                <a:cubicBezTo>
                  <a:pt x="22225" y="229543"/>
                  <a:pt x="37157" y="244475"/>
                  <a:pt x="55563" y="24447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4038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AudioManager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16000" y="4508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Manages sound playback and music transitions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15000" y="38735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69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33337"/>
                </a:moveTo>
                <a:cubicBezTo>
                  <a:pt x="355600" y="25628"/>
                  <a:pt x="351641" y="18475"/>
                  <a:pt x="345043" y="14446"/>
                </a:cubicBezTo>
                <a:cubicBezTo>
                  <a:pt x="338445" y="10418"/>
                  <a:pt x="330319" y="10001"/>
                  <a:pt x="323443" y="13474"/>
                </a:cubicBezTo>
                <a:lnTo>
                  <a:pt x="242739" y="53826"/>
                </a:lnTo>
                <a:lnTo>
                  <a:pt x="118140" y="12224"/>
                </a:lnTo>
                <a:cubicBezTo>
                  <a:pt x="112514" y="10349"/>
                  <a:pt x="106472" y="10765"/>
                  <a:pt x="101193" y="13404"/>
                </a:cubicBezTo>
                <a:lnTo>
                  <a:pt x="12293" y="57854"/>
                </a:lnTo>
                <a:cubicBezTo>
                  <a:pt x="4723" y="61674"/>
                  <a:pt x="0" y="69384"/>
                  <a:pt x="0" y="77788"/>
                </a:cubicBezTo>
                <a:lnTo>
                  <a:pt x="0" y="322263"/>
                </a:lnTo>
                <a:cubicBezTo>
                  <a:pt x="0" y="329972"/>
                  <a:pt x="3959" y="337125"/>
                  <a:pt x="10557" y="341154"/>
                </a:cubicBezTo>
                <a:cubicBezTo>
                  <a:pt x="17155" y="345182"/>
                  <a:pt x="25281" y="345599"/>
                  <a:pt x="32157" y="342126"/>
                </a:cubicBezTo>
                <a:lnTo>
                  <a:pt x="112792" y="301774"/>
                </a:lnTo>
                <a:lnTo>
                  <a:pt x="237391" y="343307"/>
                </a:lnTo>
                <a:cubicBezTo>
                  <a:pt x="243016" y="345182"/>
                  <a:pt x="249059" y="344765"/>
                  <a:pt x="254337" y="342126"/>
                </a:cubicBezTo>
                <a:lnTo>
                  <a:pt x="343237" y="297676"/>
                </a:lnTo>
                <a:cubicBezTo>
                  <a:pt x="350738" y="293926"/>
                  <a:pt x="355531" y="286216"/>
                  <a:pt x="355531" y="277812"/>
                </a:cubicBezTo>
                <a:lnTo>
                  <a:pt x="355531" y="33337"/>
                </a:lnTo>
                <a:close/>
                <a:moveTo>
                  <a:pt x="133350" y="261769"/>
                </a:moveTo>
                <a:lnTo>
                  <a:pt x="133350" y="64175"/>
                </a:lnTo>
                <a:lnTo>
                  <a:pt x="222250" y="93831"/>
                </a:lnTo>
                <a:lnTo>
                  <a:pt x="222250" y="291425"/>
                </a:lnTo>
                <a:lnTo>
                  <a:pt x="133350" y="261769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51600" y="4038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LevelManager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69000" y="4508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Handles scene loading and level progression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5842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" y="6032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manager pattern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prevents spaghetti code and creates clean separation of concerns. Each manager has a single responsibility and communicates through events.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States &amp; State Machine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Games operate 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finite state machines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clear state transitions. Each state has defined entry/exit behaviors.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540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540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MainMenu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18000" y="2540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2540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0" y="2540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0" y="2540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Paused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22000" y="2540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2540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GameOver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954000" y="2540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5A5A72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0" y="2540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LevelComplete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48000" y="2857500"/>
            <a:ext cx="1270000" cy="0"/>
          </a:xfrm>
          <a:prstGeom prst="straightConnector1">
            <a:avLst/>
          </a:prstGeom>
          <a:noFill/>
          <a:ln w="25400">
            <a:solidFill>
              <a:srgbClr val="5A5A72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350000" y="2857500"/>
            <a:ext cx="1270000" cy="0"/>
          </a:xfrm>
          <a:prstGeom prst="straightConnector1">
            <a:avLst/>
          </a:prstGeom>
          <a:noFill/>
          <a:ln w="25400">
            <a:solidFill>
              <a:srgbClr val="5A5A72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652000" y="2857500"/>
            <a:ext cx="1270000" cy="0"/>
          </a:xfrm>
          <a:prstGeom prst="straightConnector1">
            <a:avLst/>
          </a:prstGeom>
          <a:noFill/>
          <a:ln w="25400">
            <a:solidFill>
              <a:srgbClr val="5A5A72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762000" y="381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Pattern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000" y="43815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enum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state definitions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5080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State change method calls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OnExit()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old state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OnEnter()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new state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5778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Update logic runs only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state's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behavior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3810000"/>
            <a:ext cx="7112000" cy="2667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39370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enum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GameState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MainMenu, Playing, Paused,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GameOver, LevelComplete 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ChangeState(GameState s)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current.OnExit(); current = s;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current.OnEnter(); }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Canvas &amp; Event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Canvas Render Modes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90600" y="20574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Screen Space - Overlay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90600" y="2413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Renders on top of everything. Most common for HUDs and menus.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0" y="19685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20574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Screen Space - Camera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0" y="2413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Positioned relative to a camera. UI can be occluded by world objects.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0" y="1968500"/>
            <a:ext cx="4826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96600" y="20574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 Space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896600" y="24130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Placed in the 3D scene. Used for in-world UI like nameplates and signs.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3683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Event System Components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2000" y="42545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" y="4470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22400" y="438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 Raycaster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22400" y="4724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Detects clicks on UI elements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715000" y="4254500"/>
            <a:ext cx="4699000" cy="1016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24550" y="4470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304800" y="266700"/>
                </a:lnTo>
                <a:cubicBezTo>
                  <a:pt x="325815" y="266700"/>
                  <a:pt x="342900" y="249615"/>
                  <a:pt x="342900" y="228600"/>
                </a:cubicBezTo>
                <a:lnTo>
                  <a:pt x="342900" y="76200"/>
                </a:lnTo>
                <a:cubicBezTo>
                  <a:pt x="342900" y="55185"/>
                  <a:pt x="325815" y="38100"/>
                  <a:pt x="304800" y="38100"/>
                </a:cubicBezTo>
                <a:lnTo>
                  <a:pt x="38100" y="38100"/>
                </a:lnTo>
                <a:close/>
                <a:moveTo>
                  <a:pt x="47625" y="76200"/>
                </a:moveTo>
                <a:lnTo>
                  <a:pt x="66675" y="76200"/>
                </a:lnTo>
                <a:cubicBezTo>
                  <a:pt x="71914" y="76200"/>
                  <a:pt x="76200" y="80486"/>
                  <a:pt x="76200" y="85725"/>
                </a:cubicBezTo>
                <a:lnTo>
                  <a:pt x="76200" y="104775"/>
                </a:lnTo>
                <a:cubicBezTo>
                  <a:pt x="76200" y="110014"/>
                  <a:pt x="71914" y="114300"/>
                  <a:pt x="66675" y="114300"/>
                </a:cubicBezTo>
                <a:lnTo>
                  <a:pt x="47625" y="114300"/>
                </a:lnTo>
                <a:cubicBezTo>
                  <a:pt x="42386" y="114300"/>
                  <a:pt x="38100" y="110014"/>
                  <a:pt x="38100" y="104775"/>
                </a:cubicBezTo>
                <a:lnTo>
                  <a:pt x="38100" y="85725"/>
                </a:lnTo>
                <a:cubicBezTo>
                  <a:pt x="38100" y="80486"/>
                  <a:pt x="42386" y="76200"/>
                  <a:pt x="47625" y="76200"/>
                </a:cubicBezTo>
                <a:close/>
                <a:moveTo>
                  <a:pt x="38100" y="142875"/>
                </a:moveTo>
                <a:cubicBezTo>
                  <a:pt x="38100" y="137636"/>
                  <a:pt x="42386" y="133350"/>
                  <a:pt x="47625" y="133350"/>
                </a:cubicBezTo>
                <a:lnTo>
                  <a:pt x="66675" y="133350"/>
                </a:lnTo>
                <a:cubicBezTo>
                  <a:pt x="71914" y="133350"/>
                  <a:pt x="76200" y="137636"/>
                  <a:pt x="76200" y="142875"/>
                </a:cubicBezTo>
                <a:lnTo>
                  <a:pt x="76200" y="161925"/>
                </a:lnTo>
                <a:cubicBezTo>
                  <a:pt x="76200" y="167164"/>
                  <a:pt x="71914" y="171450"/>
                  <a:pt x="66675" y="171450"/>
                </a:cubicBezTo>
                <a:lnTo>
                  <a:pt x="47625" y="171450"/>
                </a:lnTo>
                <a:cubicBezTo>
                  <a:pt x="42386" y="171450"/>
                  <a:pt x="38100" y="167164"/>
                  <a:pt x="38100" y="161925"/>
                </a:cubicBezTo>
                <a:lnTo>
                  <a:pt x="38100" y="142875"/>
                </a:lnTo>
                <a:close/>
                <a:moveTo>
                  <a:pt x="104775" y="76200"/>
                </a:moveTo>
                <a:lnTo>
                  <a:pt x="123825" y="76200"/>
                </a:lnTo>
                <a:cubicBezTo>
                  <a:pt x="129064" y="76200"/>
                  <a:pt x="133350" y="80486"/>
                  <a:pt x="133350" y="85725"/>
                </a:cubicBezTo>
                <a:lnTo>
                  <a:pt x="133350" y="104775"/>
                </a:lnTo>
                <a:cubicBezTo>
                  <a:pt x="133350" y="110014"/>
                  <a:pt x="129064" y="114300"/>
                  <a:pt x="123825" y="114300"/>
                </a:cubicBezTo>
                <a:lnTo>
                  <a:pt x="104775" y="114300"/>
                </a:lnTo>
                <a:cubicBezTo>
                  <a:pt x="99536" y="114300"/>
                  <a:pt x="95250" y="110014"/>
                  <a:pt x="95250" y="104775"/>
                </a:cubicBezTo>
                <a:lnTo>
                  <a:pt x="95250" y="85725"/>
                </a:lnTo>
                <a:cubicBezTo>
                  <a:pt x="95250" y="80486"/>
                  <a:pt x="99536" y="76200"/>
                  <a:pt x="104775" y="76200"/>
                </a:cubicBezTo>
                <a:close/>
                <a:moveTo>
                  <a:pt x="95250" y="142875"/>
                </a:moveTo>
                <a:cubicBezTo>
                  <a:pt x="95250" y="137636"/>
                  <a:pt x="99536" y="133350"/>
                  <a:pt x="104775" y="133350"/>
                </a:cubicBezTo>
                <a:lnTo>
                  <a:pt x="123825" y="133350"/>
                </a:lnTo>
                <a:cubicBezTo>
                  <a:pt x="129064" y="133350"/>
                  <a:pt x="133350" y="137636"/>
                  <a:pt x="133350" y="142875"/>
                </a:cubicBezTo>
                <a:lnTo>
                  <a:pt x="133350" y="161925"/>
                </a:lnTo>
                <a:cubicBezTo>
                  <a:pt x="133350" y="167164"/>
                  <a:pt x="129064" y="171450"/>
                  <a:pt x="123825" y="171450"/>
                </a:cubicBezTo>
                <a:lnTo>
                  <a:pt x="104775" y="171450"/>
                </a:lnTo>
                <a:cubicBezTo>
                  <a:pt x="99536" y="171450"/>
                  <a:pt x="95250" y="167164"/>
                  <a:pt x="95250" y="161925"/>
                </a:cubicBezTo>
                <a:lnTo>
                  <a:pt x="95250" y="142875"/>
                </a:lnTo>
                <a:close/>
                <a:moveTo>
                  <a:pt x="104775" y="190500"/>
                </a:moveTo>
                <a:lnTo>
                  <a:pt x="238125" y="190500"/>
                </a:lnTo>
                <a:cubicBezTo>
                  <a:pt x="243364" y="190500"/>
                  <a:pt x="247650" y="194786"/>
                  <a:pt x="247650" y="200025"/>
                </a:cubicBezTo>
                <a:lnTo>
                  <a:pt x="247650" y="219075"/>
                </a:lnTo>
                <a:cubicBezTo>
                  <a:pt x="247650" y="224314"/>
                  <a:pt x="243364" y="228600"/>
                  <a:pt x="238125" y="228600"/>
                </a:cubicBezTo>
                <a:lnTo>
                  <a:pt x="104775" y="228600"/>
                </a:lnTo>
                <a:cubicBezTo>
                  <a:pt x="99536" y="228600"/>
                  <a:pt x="95250" y="224314"/>
                  <a:pt x="95250" y="219075"/>
                </a:cubicBezTo>
                <a:lnTo>
                  <a:pt x="95250" y="200025"/>
                </a:lnTo>
                <a:cubicBezTo>
                  <a:pt x="95250" y="194786"/>
                  <a:pt x="99536" y="190500"/>
                  <a:pt x="104775" y="190500"/>
                </a:cubicBezTo>
                <a:close/>
                <a:moveTo>
                  <a:pt x="152400" y="85725"/>
                </a:moveTo>
                <a:cubicBezTo>
                  <a:pt x="152400" y="80486"/>
                  <a:pt x="156686" y="76200"/>
                  <a:pt x="161925" y="76200"/>
                </a:cubicBezTo>
                <a:lnTo>
                  <a:pt x="180975" y="76200"/>
                </a:lnTo>
                <a:cubicBezTo>
                  <a:pt x="186214" y="76200"/>
                  <a:pt x="190500" y="80486"/>
                  <a:pt x="190500" y="85725"/>
                </a:cubicBezTo>
                <a:lnTo>
                  <a:pt x="190500" y="104775"/>
                </a:lnTo>
                <a:cubicBezTo>
                  <a:pt x="190500" y="110014"/>
                  <a:pt x="186214" y="114300"/>
                  <a:pt x="180975" y="114300"/>
                </a:cubicBezTo>
                <a:lnTo>
                  <a:pt x="161925" y="114300"/>
                </a:lnTo>
                <a:cubicBezTo>
                  <a:pt x="156686" y="114300"/>
                  <a:pt x="152400" y="110014"/>
                  <a:pt x="152400" y="104775"/>
                </a:cubicBezTo>
                <a:lnTo>
                  <a:pt x="152400" y="85725"/>
                </a:lnTo>
                <a:close/>
                <a:moveTo>
                  <a:pt x="161925" y="133350"/>
                </a:moveTo>
                <a:lnTo>
                  <a:pt x="180975" y="133350"/>
                </a:lnTo>
                <a:cubicBezTo>
                  <a:pt x="186214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86214" y="171450"/>
                  <a:pt x="180975" y="171450"/>
                </a:cubicBezTo>
                <a:lnTo>
                  <a:pt x="161925" y="171450"/>
                </a:lnTo>
                <a:cubicBezTo>
                  <a:pt x="156686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56686" y="133350"/>
                  <a:pt x="161925" y="133350"/>
                </a:cubicBezTo>
                <a:close/>
                <a:moveTo>
                  <a:pt x="209550" y="85725"/>
                </a:moveTo>
                <a:cubicBezTo>
                  <a:pt x="209550" y="80486"/>
                  <a:pt x="213836" y="76200"/>
                  <a:pt x="219075" y="76200"/>
                </a:cubicBezTo>
                <a:lnTo>
                  <a:pt x="238125" y="76200"/>
                </a:lnTo>
                <a:cubicBezTo>
                  <a:pt x="243364" y="76200"/>
                  <a:pt x="247650" y="80486"/>
                  <a:pt x="247650" y="85725"/>
                </a:cubicBezTo>
                <a:lnTo>
                  <a:pt x="247650" y="104775"/>
                </a:lnTo>
                <a:cubicBezTo>
                  <a:pt x="247650" y="110014"/>
                  <a:pt x="243364" y="114300"/>
                  <a:pt x="238125" y="114300"/>
                </a:cubicBezTo>
                <a:lnTo>
                  <a:pt x="219075" y="114300"/>
                </a:lnTo>
                <a:cubicBezTo>
                  <a:pt x="213836" y="114300"/>
                  <a:pt x="209550" y="110014"/>
                  <a:pt x="209550" y="104775"/>
                </a:cubicBezTo>
                <a:lnTo>
                  <a:pt x="209550" y="85725"/>
                </a:lnTo>
                <a:close/>
                <a:moveTo>
                  <a:pt x="219075" y="133350"/>
                </a:moveTo>
                <a:lnTo>
                  <a:pt x="238125" y="133350"/>
                </a:lnTo>
                <a:cubicBezTo>
                  <a:pt x="243364" y="133350"/>
                  <a:pt x="247650" y="137636"/>
                  <a:pt x="247650" y="142875"/>
                </a:cubicBezTo>
                <a:lnTo>
                  <a:pt x="247650" y="161925"/>
                </a:lnTo>
                <a:cubicBezTo>
                  <a:pt x="247650" y="167164"/>
                  <a:pt x="243364" y="171450"/>
                  <a:pt x="238125" y="171450"/>
                </a:cubicBezTo>
                <a:lnTo>
                  <a:pt x="219075" y="171450"/>
                </a:lnTo>
                <a:cubicBezTo>
                  <a:pt x="213836" y="171450"/>
                  <a:pt x="209550" y="167164"/>
                  <a:pt x="209550" y="161925"/>
                </a:cubicBezTo>
                <a:lnTo>
                  <a:pt x="209550" y="142875"/>
                </a:lnTo>
                <a:cubicBezTo>
                  <a:pt x="209550" y="137636"/>
                  <a:pt x="213836" y="133350"/>
                  <a:pt x="219075" y="133350"/>
                </a:cubicBezTo>
                <a:close/>
                <a:moveTo>
                  <a:pt x="266700" y="85725"/>
                </a:moveTo>
                <a:cubicBezTo>
                  <a:pt x="266700" y="80486"/>
                  <a:pt x="270986" y="76200"/>
                  <a:pt x="276225" y="76200"/>
                </a:cubicBezTo>
                <a:lnTo>
                  <a:pt x="295275" y="76200"/>
                </a:lnTo>
                <a:cubicBezTo>
                  <a:pt x="300514" y="76200"/>
                  <a:pt x="304800" y="80486"/>
                  <a:pt x="304800" y="85725"/>
                </a:cubicBezTo>
                <a:lnTo>
                  <a:pt x="304800" y="104775"/>
                </a:lnTo>
                <a:cubicBezTo>
                  <a:pt x="304800" y="110014"/>
                  <a:pt x="300514" y="114300"/>
                  <a:pt x="295275" y="114300"/>
                </a:cubicBezTo>
                <a:lnTo>
                  <a:pt x="276225" y="114300"/>
                </a:lnTo>
                <a:cubicBezTo>
                  <a:pt x="270986" y="114300"/>
                  <a:pt x="266700" y="110014"/>
                  <a:pt x="266700" y="104775"/>
                </a:cubicBezTo>
                <a:lnTo>
                  <a:pt x="266700" y="85725"/>
                </a:lnTo>
                <a:close/>
                <a:moveTo>
                  <a:pt x="276225" y="133350"/>
                </a:moveTo>
                <a:lnTo>
                  <a:pt x="295275" y="133350"/>
                </a:lnTo>
                <a:cubicBezTo>
                  <a:pt x="300514" y="133350"/>
                  <a:pt x="304800" y="137636"/>
                  <a:pt x="304800" y="142875"/>
                </a:cubicBezTo>
                <a:lnTo>
                  <a:pt x="304800" y="161925"/>
                </a:lnTo>
                <a:cubicBezTo>
                  <a:pt x="304800" y="167164"/>
                  <a:pt x="300514" y="171450"/>
                  <a:pt x="295275" y="171450"/>
                </a:cubicBezTo>
                <a:lnTo>
                  <a:pt x="276225" y="171450"/>
                </a:lnTo>
                <a:cubicBezTo>
                  <a:pt x="270986" y="171450"/>
                  <a:pt x="266700" y="167164"/>
                  <a:pt x="266700" y="161925"/>
                </a:cubicBezTo>
                <a:lnTo>
                  <a:pt x="266700" y="142875"/>
                </a:lnTo>
                <a:cubicBezTo>
                  <a:pt x="266700" y="137636"/>
                  <a:pt x="270986" y="133350"/>
                  <a:pt x="276225" y="13335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6375400" y="438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Module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75400" y="4724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Handles mouse, keyboard, touch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668000" y="4254500"/>
            <a:ext cx="4826000" cy="1016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915650" y="4470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5" name="Text 23"/>
          <p:cNvSpPr/>
          <p:nvPr/>
        </p:nvSpPr>
        <p:spPr>
          <a:xfrm>
            <a:off x="11328400" y="43815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Event Trigger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28400" y="4724400"/>
            <a:ext cx="393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Defines responses to pointer events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5651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Canvas Scaling Modes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2000" y="6159500"/>
            <a:ext cx="1473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Constant Pixel Size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UI stays same size in pixels regardless of resolution.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Scale With Screen Size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UI scales to reference resolution (most common).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Constant Physical Size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UI maintains physical size across devices.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7_Game_health_bar_UI_asset_for_video.png">    </p:cNvPr>
          <p:cNvPicPr>
            <a:picLocks noChangeAspect="1"/>
          </p:cNvPicPr>
          <p:nvPr/>
        </p:nvPicPr>
        <p:blipFill>
          <a:blip r:embed="rId1"/>
          <a:srcRect l="22419" r="2241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E891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IN-GAME UI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In-Game UI &amp; Main Menu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Designing HUDs, health systems, and menu flows that enhance player experience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HUD Design Principles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Heads-Up Display (HUD)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presents critical information without breaking immersion.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33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Minimalism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 only what the player needs right now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175000"/>
            <a:ext cx="457200" cy="4572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17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149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Peripheral Placement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35306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Keep the screen center clear for gameplay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191000"/>
            <a:ext cx="457200" cy="4572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191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65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 Readability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45466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icons and color coding over text where possible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457200" cy="4572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20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181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 Sensitivity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55626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Show/hide elements based on game state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6223000"/>
            <a:ext cx="457200" cy="4572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22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6197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Hierarchy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65786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important info (health) should be largest and most prominent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82000" y="2032000"/>
            <a:ext cx="7112000" cy="4953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8763000" y="228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Golden Rule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63000" y="27305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0" y="2984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well-designed HUD feels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invisible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until the player needs it. The best UI is the one the player doesn't notice.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63000" y="457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5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HUD ELEMENTS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63000" y="5016500"/>
            <a:ext cx="635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Health / Lives — top-left or bottom-left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Score — top-right corner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Ammo / Mana — near health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Minimap — top-right or bottom-right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Objective — top-center, subtle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Bars, Score &amp; Feedback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HUD Elements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1971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 Bar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667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Slider with two sprites (bg + fill). Update fillAmount from health.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2032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6775" y="222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21971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Score Display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69000" y="2667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Updated via ScoreManager events. Use formatted strings.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2032000"/>
            <a:ext cx="4826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22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66675"/>
                </a:moveTo>
                <a:lnTo>
                  <a:pt x="88900" y="55563"/>
                </a:lnTo>
                <a:cubicBezTo>
                  <a:pt x="88900" y="24864"/>
                  <a:pt x="148630" y="0"/>
                  <a:pt x="222250" y="0"/>
                </a:cubicBezTo>
                <a:cubicBezTo>
                  <a:pt x="295870" y="0"/>
                  <a:pt x="355600" y="24864"/>
                  <a:pt x="355600" y="55563"/>
                </a:cubicBezTo>
                <a:lnTo>
                  <a:pt x="355600" y="66675"/>
                </a:lnTo>
                <a:cubicBezTo>
                  <a:pt x="355600" y="87928"/>
                  <a:pt x="326916" y="106402"/>
                  <a:pt x="284758" y="115778"/>
                </a:cubicBezTo>
                <a:cubicBezTo>
                  <a:pt x="283091" y="113834"/>
                  <a:pt x="281355" y="111958"/>
                  <a:pt x="279618" y="110222"/>
                </a:cubicBezTo>
                <a:cubicBezTo>
                  <a:pt x="268853" y="99596"/>
                  <a:pt x="254962" y="91539"/>
                  <a:pt x="240447" y="85566"/>
                </a:cubicBezTo>
                <a:cubicBezTo>
                  <a:pt x="211346" y="73412"/>
                  <a:pt x="173424" y="66744"/>
                  <a:pt x="133350" y="66744"/>
                </a:cubicBezTo>
                <a:cubicBezTo>
                  <a:pt x="118140" y="66744"/>
                  <a:pt x="103277" y="67717"/>
                  <a:pt x="89039" y="69592"/>
                </a:cubicBezTo>
                <a:cubicBezTo>
                  <a:pt x="88900" y="68689"/>
                  <a:pt x="88900" y="67717"/>
                  <a:pt x="88900" y="66744"/>
                </a:cubicBezTo>
                <a:close/>
                <a:moveTo>
                  <a:pt x="300038" y="245170"/>
                </a:moveTo>
                <a:lnTo>
                  <a:pt x="300038" y="213082"/>
                </a:lnTo>
                <a:cubicBezTo>
                  <a:pt x="310525" y="210374"/>
                  <a:pt x="320387" y="207179"/>
                  <a:pt x="329347" y="203428"/>
                </a:cubicBezTo>
                <a:cubicBezTo>
                  <a:pt x="338515" y="199608"/>
                  <a:pt x="347474" y="194955"/>
                  <a:pt x="355600" y="189329"/>
                </a:cubicBezTo>
                <a:lnTo>
                  <a:pt x="355600" y="200025"/>
                </a:lnTo>
                <a:cubicBezTo>
                  <a:pt x="355600" y="218638"/>
                  <a:pt x="333722" y="235099"/>
                  <a:pt x="300038" y="245170"/>
                </a:cubicBezTo>
                <a:close/>
                <a:moveTo>
                  <a:pt x="300038" y="178495"/>
                </a:moveTo>
                <a:lnTo>
                  <a:pt x="300038" y="155575"/>
                </a:lnTo>
                <a:cubicBezTo>
                  <a:pt x="300038" y="152450"/>
                  <a:pt x="299760" y="149463"/>
                  <a:pt x="299343" y="146546"/>
                </a:cubicBezTo>
                <a:cubicBezTo>
                  <a:pt x="310108" y="143837"/>
                  <a:pt x="320179" y="140573"/>
                  <a:pt x="329347" y="136684"/>
                </a:cubicBezTo>
                <a:cubicBezTo>
                  <a:pt x="338515" y="132794"/>
                  <a:pt x="347474" y="128210"/>
                  <a:pt x="355600" y="122585"/>
                </a:cubicBezTo>
                <a:lnTo>
                  <a:pt x="355600" y="133281"/>
                </a:lnTo>
                <a:cubicBezTo>
                  <a:pt x="355600" y="151894"/>
                  <a:pt x="333722" y="168354"/>
                  <a:pt x="300038" y="178425"/>
                </a:cubicBezTo>
                <a:close/>
                <a:moveTo>
                  <a:pt x="0" y="166688"/>
                </a:moveTo>
                <a:lnTo>
                  <a:pt x="0" y="155575"/>
                </a:lnTo>
                <a:cubicBezTo>
                  <a:pt x="0" y="124877"/>
                  <a:pt x="59730" y="100013"/>
                  <a:pt x="133350" y="100013"/>
                </a:cubicBezTo>
                <a:cubicBezTo>
                  <a:pt x="206970" y="100013"/>
                  <a:pt x="266700" y="124877"/>
                  <a:pt x="266700" y="155575"/>
                </a:cubicBezTo>
                <a:lnTo>
                  <a:pt x="266700" y="166688"/>
                </a:lnTo>
                <a:cubicBezTo>
                  <a:pt x="266700" y="197386"/>
                  <a:pt x="206970" y="222250"/>
                  <a:pt x="133350" y="222250"/>
                </a:cubicBezTo>
                <a:cubicBezTo>
                  <a:pt x="59730" y="222250"/>
                  <a:pt x="0" y="197386"/>
                  <a:pt x="0" y="166688"/>
                </a:cubicBezTo>
                <a:close/>
                <a:moveTo>
                  <a:pt x="266700" y="233363"/>
                </a:moveTo>
                <a:cubicBezTo>
                  <a:pt x="266700" y="264061"/>
                  <a:pt x="206970" y="288925"/>
                  <a:pt x="133350" y="288925"/>
                </a:cubicBezTo>
                <a:cubicBezTo>
                  <a:pt x="59730" y="288925"/>
                  <a:pt x="0" y="264061"/>
                  <a:pt x="0" y="233363"/>
                </a:cubicBezTo>
                <a:lnTo>
                  <a:pt x="0" y="222667"/>
                </a:lnTo>
                <a:cubicBezTo>
                  <a:pt x="8057" y="228292"/>
                  <a:pt x="17016" y="232876"/>
                  <a:pt x="26253" y="236766"/>
                </a:cubicBezTo>
                <a:cubicBezTo>
                  <a:pt x="55354" y="248920"/>
                  <a:pt x="93276" y="255588"/>
                  <a:pt x="133350" y="255588"/>
                </a:cubicBezTo>
                <a:cubicBezTo>
                  <a:pt x="173424" y="255588"/>
                  <a:pt x="211346" y="248851"/>
                  <a:pt x="240447" y="236766"/>
                </a:cubicBezTo>
                <a:cubicBezTo>
                  <a:pt x="249615" y="232946"/>
                  <a:pt x="258574" y="228292"/>
                  <a:pt x="266700" y="222667"/>
                </a:cubicBezTo>
                <a:lnTo>
                  <a:pt x="266700" y="233363"/>
                </a:lnTo>
                <a:close/>
                <a:moveTo>
                  <a:pt x="266700" y="289342"/>
                </a:moveTo>
                <a:lnTo>
                  <a:pt x="266700" y="300038"/>
                </a:lnTo>
                <a:cubicBezTo>
                  <a:pt x="266700" y="330736"/>
                  <a:pt x="206970" y="355600"/>
                  <a:pt x="133350" y="355600"/>
                </a:cubicBezTo>
                <a:cubicBezTo>
                  <a:pt x="59730" y="355600"/>
                  <a:pt x="0" y="330736"/>
                  <a:pt x="0" y="300038"/>
                </a:cubicBezTo>
                <a:lnTo>
                  <a:pt x="0" y="289342"/>
                </a:lnTo>
                <a:cubicBezTo>
                  <a:pt x="8057" y="294967"/>
                  <a:pt x="17016" y="299551"/>
                  <a:pt x="26253" y="303441"/>
                </a:cubicBezTo>
                <a:cubicBezTo>
                  <a:pt x="55354" y="315595"/>
                  <a:pt x="93276" y="322263"/>
                  <a:pt x="133350" y="322263"/>
                </a:cubicBezTo>
                <a:cubicBezTo>
                  <a:pt x="173424" y="322263"/>
                  <a:pt x="211346" y="315526"/>
                  <a:pt x="240447" y="303441"/>
                </a:cubicBezTo>
                <a:cubicBezTo>
                  <a:pt x="249615" y="299621"/>
                  <a:pt x="258574" y="294967"/>
                  <a:pt x="266700" y="289342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4600" y="219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Ammo / Currency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22000" y="26670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Icon + text showing collectible quantities. Consider animated counters for score increases.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4191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Damage Feedback Techniques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62000" y="4762500"/>
            <a:ext cx="3492500" cy="1016000"/>
          </a:xfrm>
          <a:prstGeom prst="roundRect">
            <a:avLst>
              <a:gd name="adj" fmla="val 6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1550" y="49911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06085" y="-6013"/>
                </a:moveTo>
                <a:cubicBezTo>
                  <a:pt x="110490" y="-7858"/>
                  <a:pt x="115491" y="-7322"/>
                  <a:pt x="119479" y="-4703"/>
                </a:cubicBezTo>
                <a:lnTo>
                  <a:pt x="171748" y="29944"/>
                </a:lnTo>
                <a:lnTo>
                  <a:pt x="224016" y="-4703"/>
                </a:lnTo>
                <a:cubicBezTo>
                  <a:pt x="228005" y="-7322"/>
                  <a:pt x="233005" y="-7799"/>
                  <a:pt x="237411" y="-6013"/>
                </a:cubicBezTo>
                <a:cubicBezTo>
                  <a:pt x="241816" y="-4227"/>
                  <a:pt x="244912" y="-298"/>
                  <a:pt x="245864" y="4346"/>
                </a:cubicBezTo>
                <a:lnTo>
                  <a:pt x="258306" y="65782"/>
                </a:lnTo>
                <a:lnTo>
                  <a:pt x="319742" y="78224"/>
                </a:lnTo>
                <a:cubicBezTo>
                  <a:pt x="324386" y="79177"/>
                  <a:pt x="328315" y="82391"/>
                  <a:pt x="330101" y="86737"/>
                </a:cubicBezTo>
                <a:cubicBezTo>
                  <a:pt x="331887" y="91083"/>
                  <a:pt x="331410" y="96143"/>
                  <a:pt x="328791" y="100132"/>
                </a:cubicBezTo>
                <a:lnTo>
                  <a:pt x="294144" y="152400"/>
                </a:lnTo>
                <a:lnTo>
                  <a:pt x="328791" y="204668"/>
                </a:lnTo>
                <a:cubicBezTo>
                  <a:pt x="331410" y="208657"/>
                  <a:pt x="331887" y="213658"/>
                  <a:pt x="330101" y="218063"/>
                </a:cubicBezTo>
                <a:cubicBezTo>
                  <a:pt x="328315" y="222468"/>
                  <a:pt x="324386" y="225683"/>
                  <a:pt x="319742" y="226576"/>
                </a:cubicBezTo>
                <a:lnTo>
                  <a:pt x="258247" y="238958"/>
                </a:lnTo>
                <a:lnTo>
                  <a:pt x="245864" y="300454"/>
                </a:lnTo>
                <a:cubicBezTo>
                  <a:pt x="244912" y="305098"/>
                  <a:pt x="241697" y="309027"/>
                  <a:pt x="237351" y="310813"/>
                </a:cubicBezTo>
                <a:cubicBezTo>
                  <a:pt x="233005" y="312599"/>
                  <a:pt x="227945" y="312122"/>
                  <a:pt x="223957" y="309503"/>
                </a:cubicBezTo>
                <a:lnTo>
                  <a:pt x="171688" y="274856"/>
                </a:lnTo>
                <a:lnTo>
                  <a:pt x="119420" y="309503"/>
                </a:lnTo>
                <a:cubicBezTo>
                  <a:pt x="115431" y="312122"/>
                  <a:pt x="110430" y="312599"/>
                  <a:pt x="106025" y="310813"/>
                </a:cubicBezTo>
                <a:cubicBezTo>
                  <a:pt x="101620" y="309027"/>
                  <a:pt x="98405" y="305098"/>
                  <a:pt x="97512" y="300454"/>
                </a:cubicBezTo>
                <a:lnTo>
                  <a:pt x="85130" y="238958"/>
                </a:lnTo>
                <a:lnTo>
                  <a:pt x="23634" y="226516"/>
                </a:lnTo>
                <a:cubicBezTo>
                  <a:pt x="18990" y="225564"/>
                  <a:pt x="15061" y="222349"/>
                  <a:pt x="13275" y="218003"/>
                </a:cubicBezTo>
                <a:cubicBezTo>
                  <a:pt x="11490" y="213658"/>
                  <a:pt x="11966" y="208597"/>
                  <a:pt x="14585" y="204609"/>
                </a:cubicBezTo>
                <a:lnTo>
                  <a:pt x="49232" y="152400"/>
                </a:lnTo>
                <a:lnTo>
                  <a:pt x="14585" y="100132"/>
                </a:lnTo>
                <a:cubicBezTo>
                  <a:pt x="11966" y="96143"/>
                  <a:pt x="11490" y="91142"/>
                  <a:pt x="13275" y="86737"/>
                </a:cubicBezTo>
                <a:cubicBezTo>
                  <a:pt x="15061" y="82332"/>
                  <a:pt x="18990" y="79117"/>
                  <a:pt x="23634" y="78224"/>
                </a:cubicBezTo>
                <a:lnTo>
                  <a:pt x="85130" y="65842"/>
                </a:lnTo>
                <a:lnTo>
                  <a:pt x="97572" y="4346"/>
                </a:lnTo>
                <a:cubicBezTo>
                  <a:pt x="98524" y="-298"/>
                  <a:pt x="101739" y="-4227"/>
                  <a:pt x="106085" y="-6013"/>
                </a:cubicBezTo>
                <a:close/>
                <a:moveTo>
                  <a:pt x="123587" y="152400"/>
                </a:moveTo>
                <a:cubicBezTo>
                  <a:pt x="123587" y="135300"/>
                  <a:pt x="132710" y="119499"/>
                  <a:pt x="147518" y="110949"/>
                </a:cubicBezTo>
                <a:cubicBezTo>
                  <a:pt x="162327" y="102399"/>
                  <a:pt x="180573" y="102399"/>
                  <a:pt x="195382" y="110949"/>
                </a:cubicBezTo>
                <a:cubicBezTo>
                  <a:pt x="210190" y="119499"/>
                  <a:pt x="219313" y="135300"/>
                  <a:pt x="219313" y="152400"/>
                </a:cubicBezTo>
                <a:cubicBezTo>
                  <a:pt x="219313" y="178816"/>
                  <a:pt x="197866" y="200263"/>
                  <a:pt x="171450" y="200263"/>
                </a:cubicBezTo>
                <a:cubicBezTo>
                  <a:pt x="145034" y="200263"/>
                  <a:pt x="123587" y="178816"/>
                  <a:pt x="123587" y="152400"/>
                </a:cubicBezTo>
                <a:close/>
                <a:moveTo>
                  <a:pt x="247888" y="152400"/>
                </a:moveTo>
                <a:cubicBezTo>
                  <a:pt x="247888" y="110213"/>
                  <a:pt x="213637" y="75962"/>
                  <a:pt x="171450" y="75962"/>
                </a:cubicBezTo>
                <a:cubicBezTo>
                  <a:pt x="129263" y="75962"/>
                  <a:pt x="95012" y="110213"/>
                  <a:pt x="95012" y="152400"/>
                </a:cubicBezTo>
                <a:cubicBezTo>
                  <a:pt x="95012" y="179709"/>
                  <a:pt x="109581" y="204943"/>
                  <a:pt x="133231" y="218597"/>
                </a:cubicBezTo>
                <a:cubicBezTo>
                  <a:pt x="156881" y="232252"/>
                  <a:pt x="186019" y="232252"/>
                  <a:pt x="209669" y="218597"/>
                </a:cubicBezTo>
                <a:cubicBezTo>
                  <a:pt x="233319" y="204943"/>
                  <a:pt x="247888" y="179709"/>
                  <a:pt x="247888" y="1524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1422400" y="49530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Screen Flash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brief red overlay on damage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08500" y="4762500"/>
            <a:ext cx="3492500" cy="1016000"/>
          </a:xfrm>
          <a:prstGeom prst="roundRect">
            <a:avLst>
              <a:gd name="adj" fmla="val 6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18050" y="49911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38100"/>
                </a:moveTo>
                <a:cubicBezTo>
                  <a:pt x="36135" y="38100"/>
                  <a:pt x="19050" y="55185"/>
                  <a:pt x="19050" y="76200"/>
                </a:cubicBezTo>
                <a:lnTo>
                  <a:pt x="19050" y="228600"/>
                </a:lnTo>
                <a:cubicBezTo>
                  <a:pt x="19050" y="249615"/>
                  <a:pt x="36135" y="266700"/>
                  <a:pt x="57150" y="266700"/>
                </a:cubicBezTo>
                <a:lnTo>
                  <a:pt x="209550" y="266700"/>
                </a:lnTo>
                <a:cubicBezTo>
                  <a:pt x="230565" y="266700"/>
                  <a:pt x="247650" y="249615"/>
                  <a:pt x="247650" y="228600"/>
                </a:cubicBezTo>
                <a:lnTo>
                  <a:pt x="247650" y="76200"/>
                </a:lnTo>
                <a:cubicBezTo>
                  <a:pt x="247650" y="55185"/>
                  <a:pt x="230565" y="38100"/>
                  <a:pt x="209550" y="38100"/>
                </a:cubicBezTo>
                <a:lnTo>
                  <a:pt x="57150" y="38100"/>
                </a:lnTo>
                <a:close/>
                <a:moveTo>
                  <a:pt x="276225" y="200025"/>
                </a:moveTo>
                <a:lnTo>
                  <a:pt x="319980" y="235029"/>
                </a:lnTo>
                <a:cubicBezTo>
                  <a:pt x="322481" y="237053"/>
                  <a:pt x="325576" y="238125"/>
                  <a:pt x="328791" y="238125"/>
                </a:cubicBezTo>
                <a:cubicBezTo>
                  <a:pt x="336590" y="238125"/>
                  <a:pt x="342900" y="231815"/>
                  <a:pt x="342900" y="224016"/>
                </a:cubicBezTo>
                <a:lnTo>
                  <a:pt x="342900" y="80784"/>
                </a:lnTo>
                <a:cubicBezTo>
                  <a:pt x="342900" y="72985"/>
                  <a:pt x="336590" y="66675"/>
                  <a:pt x="328791" y="66675"/>
                </a:cubicBezTo>
                <a:cubicBezTo>
                  <a:pt x="325576" y="66675"/>
                  <a:pt x="322481" y="67747"/>
                  <a:pt x="319980" y="69771"/>
                </a:cubicBezTo>
                <a:lnTo>
                  <a:pt x="276225" y="104775"/>
                </a:lnTo>
                <a:lnTo>
                  <a:pt x="276225" y="200025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5168900" y="49530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Camera Shake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brief violent motion on impact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55000" y="4762500"/>
            <a:ext cx="3492500" cy="1016000"/>
          </a:xfrm>
          <a:prstGeom prst="roundRect">
            <a:avLst>
              <a:gd name="adj" fmla="val 6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21700" y="49911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27754" y="10358"/>
                </a:moveTo>
                <a:cubicBezTo>
                  <a:pt x="120313" y="2917"/>
                  <a:pt x="108228" y="2917"/>
                  <a:pt x="100786" y="10358"/>
                </a:cubicBezTo>
                <a:lnTo>
                  <a:pt x="5536" y="105608"/>
                </a:lnTo>
                <a:cubicBezTo>
                  <a:pt x="-1905" y="113050"/>
                  <a:pt x="-1905" y="125135"/>
                  <a:pt x="5536" y="132576"/>
                </a:cubicBezTo>
                <a:cubicBezTo>
                  <a:pt x="12978" y="140018"/>
                  <a:pt x="25063" y="140018"/>
                  <a:pt x="32504" y="132576"/>
                </a:cubicBezTo>
                <a:lnTo>
                  <a:pt x="95250" y="69830"/>
                </a:lnTo>
                <a:lnTo>
                  <a:pt x="95250" y="290513"/>
                </a:lnTo>
                <a:cubicBezTo>
                  <a:pt x="95250" y="301050"/>
                  <a:pt x="103763" y="309563"/>
                  <a:pt x="114300" y="309563"/>
                </a:cubicBezTo>
                <a:cubicBezTo>
                  <a:pt x="124837" y="309563"/>
                  <a:pt x="133350" y="301050"/>
                  <a:pt x="133350" y="290513"/>
                </a:cubicBezTo>
                <a:lnTo>
                  <a:pt x="133350" y="69830"/>
                </a:lnTo>
                <a:lnTo>
                  <a:pt x="196096" y="132576"/>
                </a:lnTo>
                <a:cubicBezTo>
                  <a:pt x="203537" y="140018"/>
                  <a:pt x="215622" y="140018"/>
                  <a:pt x="223064" y="132576"/>
                </a:cubicBezTo>
                <a:cubicBezTo>
                  <a:pt x="230505" y="125135"/>
                  <a:pt x="230505" y="113050"/>
                  <a:pt x="223064" y="105608"/>
                </a:cubicBezTo>
                <a:lnTo>
                  <a:pt x="127814" y="10358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8915400" y="4953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Floating Numbers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damage values float up and fade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001500" y="4762500"/>
            <a:ext cx="3492500" cy="1016000"/>
          </a:xfrm>
          <a:prstGeom prst="roundRect">
            <a:avLst>
              <a:gd name="adj" fmla="val 6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230100" y="499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236" y="19050"/>
                </a:moveTo>
                <a:cubicBezTo>
                  <a:pt x="89535" y="19050"/>
                  <a:pt x="99596" y="21074"/>
                  <a:pt x="108942" y="24825"/>
                </a:cubicBezTo>
                <a:lnTo>
                  <a:pt x="141565" y="75545"/>
                </a:lnTo>
                <a:lnTo>
                  <a:pt x="96679" y="120432"/>
                </a:lnTo>
                <a:cubicBezTo>
                  <a:pt x="95786" y="121325"/>
                  <a:pt x="95250" y="122575"/>
                  <a:pt x="95310" y="123885"/>
                </a:cubicBezTo>
                <a:cubicBezTo>
                  <a:pt x="95369" y="125194"/>
                  <a:pt x="95905" y="126385"/>
                  <a:pt x="96857" y="127278"/>
                </a:cubicBezTo>
                <a:lnTo>
                  <a:pt x="163532" y="189190"/>
                </a:lnTo>
                <a:cubicBezTo>
                  <a:pt x="165259" y="190798"/>
                  <a:pt x="167938" y="190917"/>
                  <a:pt x="169783" y="189369"/>
                </a:cubicBezTo>
                <a:cubicBezTo>
                  <a:pt x="171629" y="187821"/>
                  <a:pt x="172045" y="185202"/>
                  <a:pt x="170795" y="183178"/>
                </a:cubicBezTo>
                <a:lnTo>
                  <a:pt x="134838" y="124778"/>
                </a:lnTo>
                <a:lnTo>
                  <a:pt x="188833" y="79772"/>
                </a:lnTo>
                <a:cubicBezTo>
                  <a:pt x="190381" y="78522"/>
                  <a:pt x="190917" y="76379"/>
                  <a:pt x="190262" y="74533"/>
                </a:cubicBezTo>
                <a:lnTo>
                  <a:pt x="176451" y="36076"/>
                </a:lnTo>
                <a:cubicBezTo>
                  <a:pt x="190262" y="25182"/>
                  <a:pt x="207526" y="19050"/>
                  <a:pt x="225564" y="19050"/>
                </a:cubicBezTo>
                <a:cubicBezTo>
                  <a:pt x="269319" y="19050"/>
                  <a:pt x="304800" y="54531"/>
                  <a:pt x="304800" y="98286"/>
                </a:cubicBezTo>
                <a:lnTo>
                  <a:pt x="304800" y="99834"/>
                </a:lnTo>
                <a:cubicBezTo>
                  <a:pt x="304800" y="166628"/>
                  <a:pt x="221516" y="244197"/>
                  <a:pt x="178058" y="277356"/>
                </a:cubicBezTo>
                <a:cubicBezTo>
                  <a:pt x="170676" y="282952"/>
                  <a:pt x="161627" y="285750"/>
                  <a:pt x="152400" y="285750"/>
                </a:cubicBezTo>
                <a:cubicBezTo>
                  <a:pt x="143173" y="285750"/>
                  <a:pt x="134064" y="283012"/>
                  <a:pt x="126742" y="277356"/>
                </a:cubicBezTo>
                <a:cubicBezTo>
                  <a:pt x="83284" y="244197"/>
                  <a:pt x="0" y="166628"/>
                  <a:pt x="0" y="99834"/>
                </a:cubicBezTo>
                <a:lnTo>
                  <a:pt x="0" y="98286"/>
                </a:lnTo>
                <a:cubicBezTo>
                  <a:pt x="0" y="54531"/>
                  <a:pt x="35481" y="19050"/>
                  <a:pt x="79236" y="1905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9" name="Text 27"/>
          <p:cNvSpPr/>
          <p:nvPr/>
        </p:nvSpPr>
        <p:spPr>
          <a:xfrm>
            <a:off x="12661900" y="49530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Heartbeat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pulsing health bar at low HP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2000" y="6223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8225" y="6477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32" name="Text 30"/>
          <p:cNvSpPr/>
          <p:nvPr/>
        </p:nvSpPr>
        <p:spPr>
          <a:xfrm>
            <a:off x="1524000" y="6350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Updates: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HUD updates should be event-driven — game state changes fire events, and UI components listen and update. This decouples gameplay logic from UI rendering.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Menu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main menu is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player's first impression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 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76200" cy="381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603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Game-themed image or animated scene that sets the tone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429000"/>
            <a:ext cx="76200" cy="381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365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Title Logo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Prominent, stylized game title with distinctive typography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4191000"/>
            <a:ext cx="76200" cy="381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127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 Buttons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Play, Settings, Quit with hover/click visual states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953000"/>
            <a:ext cx="76200" cy="381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889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Version Info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Subtle build number in bottom corner for debugging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2095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2260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Button Implementation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36000" y="2667000"/>
            <a:ext cx="635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2857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UIManager.LoadGame()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Show loading screen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SceneManager.LoadScene()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Settings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UIManager.OpenSettings()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Application.Quit()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9690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613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96143" y="101144"/>
                </a:moveTo>
                <a:cubicBezTo>
                  <a:pt x="88880" y="98048"/>
                  <a:pt x="80486" y="101382"/>
                  <a:pt x="77391" y="108645"/>
                </a:cubicBezTo>
                <a:cubicBezTo>
                  <a:pt x="74295" y="115907"/>
                  <a:pt x="77629" y="124301"/>
                  <a:pt x="84892" y="127397"/>
                </a:cubicBezTo>
                <a:lnTo>
                  <a:pt x="91976" y="130433"/>
                </a:lnTo>
                <a:cubicBezTo>
                  <a:pt x="102275" y="134838"/>
                  <a:pt x="112931" y="138113"/>
                  <a:pt x="123885" y="140137"/>
                </a:cubicBezTo>
                <a:lnTo>
                  <a:pt x="123885" y="169962"/>
                </a:lnTo>
                <a:cubicBezTo>
                  <a:pt x="123885" y="172522"/>
                  <a:pt x="123468" y="175081"/>
                  <a:pt x="122634" y="177463"/>
                </a:cubicBezTo>
                <a:lnTo>
                  <a:pt x="105549" y="228719"/>
                </a:lnTo>
                <a:cubicBezTo>
                  <a:pt x="103049" y="236220"/>
                  <a:pt x="107097" y="244316"/>
                  <a:pt x="114598" y="246817"/>
                </a:cubicBezTo>
                <a:cubicBezTo>
                  <a:pt x="122099" y="249317"/>
                  <a:pt x="130195" y="245269"/>
                  <a:pt x="132695" y="237768"/>
                </a:cubicBezTo>
                <a:lnTo>
                  <a:pt x="147221" y="194191"/>
                </a:lnTo>
                <a:cubicBezTo>
                  <a:pt x="147995" y="191929"/>
                  <a:pt x="150078" y="190381"/>
                  <a:pt x="152460" y="190381"/>
                </a:cubicBezTo>
                <a:cubicBezTo>
                  <a:pt x="154841" y="190381"/>
                  <a:pt x="156984" y="191929"/>
                  <a:pt x="157698" y="194191"/>
                </a:cubicBezTo>
                <a:lnTo>
                  <a:pt x="172224" y="237768"/>
                </a:lnTo>
                <a:cubicBezTo>
                  <a:pt x="174724" y="245269"/>
                  <a:pt x="182820" y="249317"/>
                  <a:pt x="190321" y="246817"/>
                </a:cubicBezTo>
                <a:cubicBezTo>
                  <a:pt x="197822" y="244316"/>
                  <a:pt x="201811" y="236339"/>
                  <a:pt x="199311" y="228838"/>
                </a:cubicBezTo>
                <a:lnTo>
                  <a:pt x="182225" y="177582"/>
                </a:lnTo>
                <a:cubicBezTo>
                  <a:pt x="181392" y="175141"/>
                  <a:pt x="180975" y="172641"/>
                  <a:pt x="180975" y="170081"/>
                </a:cubicBezTo>
                <a:lnTo>
                  <a:pt x="180975" y="140256"/>
                </a:lnTo>
                <a:cubicBezTo>
                  <a:pt x="191929" y="138172"/>
                  <a:pt x="202585" y="134957"/>
                  <a:pt x="212884" y="130552"/>
                </a:cubicBezTo>
                <a:lnTo>
                  <a:pt x="219968" y="127516"/>
                </a:lnTo>
                <a:cubicBezTo>
                  <a:pt x="227231" y="124420"/>
                  <a:pt x="230565" y="116026"/>
                  <a:pt x="227469" y="108764"/>
                </a:cubicBezTo>
                <a:cubicBezTo>
                  <a:pt x="224373" y="101501"/>
                  <a:pt x="215979" y="98167"/>
                  <a:pt x="208717" y="101263"/>
                </a:cubicBezTo>
                <a:lnTo>
                  <a:pt x="201632" y="104180"/>
                </a:lnTo>
                <a:cubicBezTo>
                  <a:pt x="186095" y="110847"/>
                  <a:pt x="169366" y="114300"/>
                  <a:pt x="152400" y="114300"/>
                </a:cubicBezTo>
                <a:cubicBezTo>
                  <a:pt x="135434" y="114300"/>
                  <a:pt x="118765" y="110847"/>
                  <a:pt x="103168" y="104180"/>
                </a:cubicBezTo>
                <a:lnTo>
                  <a:pt x="96083" y="101144"/>
                </a:lnTo>
                <a:close/>
                <a:moveTo>
                  <a:pt x="152400" y="95250"/>
                </a:moveTo>
                <a:cubicBezTo>
                  <a:pt x="165542" y="95250"/>
                  <a:pt x="176212" y="84580"/>
                  <a:pt x="176212" y="71438"/>
                </a:cubicBezTo>
                <a:cubicBezTo>
                  <a:pt x="176212" y="58295"/>
                  <a:pt x="165542" y="47625"/>
                  <a:pt x="152400" y="47625"/>
                </a:cubicBezTo>
                <a:cubicBezTo>
                  <a:pt x="139258" y="47625"/>
                  <a:pt x="128588" y="58295"/>
                  <a:pt x="128588" y="71438"/>
                </a:cubicBezTo>
                <a:cubicBezTo>
                  <a:pt x="128588" y="84580"/>
                  <a:pt x="139258" y="95250"/>
                  <a:pt x="152400" y="9525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6070600"/>
            <a:ext cx="1371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 navigation should support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mouse, keyboard, and controller input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full accessibility.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Pause Menu &amp; Settings Panel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Pause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Time.timeScale = 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freeze physics and Update loops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730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Show Pause Menu panel with semi-transparent dark overlay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429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Options: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Resume, Restart, Settings, Quit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127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Bind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Escape key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Start button to toggle pause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5080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Settings Panel Controls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71120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391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UI Control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Master Volume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Slider → AudioMixer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Music Volume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Slider → Music Group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SFX Volume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Slider → SFX Group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Fullscreen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Toggle → Screen.fullScreen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382000" y="1460500"/>
            <a:ext cx="7112000" cy="4826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12" name="Text 9"/>
          <p:cNvSpPr/>
          <p:nvPr/>
        </p:nvSpPr>
        <p:spPr>
          <a:xfrm>
            <a:off x="8636000" y="1625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Pause Toggle Code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36000" y="2032000"/>
            <a:ext cx="635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1"/>
          <p:cNvSpPr/>
          <p:nvPr/>
        </p:nvSpPr>
        <p:spPr>
          <a:xfrm>
            <a:off x="8636000" y="2222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TogglePause()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isPaused = !isPaused;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Time.timeScale = isPaused ? 0 : 1;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pauseMenu.SetActive(isPaused);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Update()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(Input.GetKeyDown(KeyCode.Escape))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TogglePause();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382000" y="6604000"/>
            <a:ext cx="7112000" cy="635000"/>
          </a:xfrm>
          <a:prstGeom prst="roundRect">
            <a:avLst>
              <a:gd name="adj" fmla="val 4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636000" y="66675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Save settings 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PlayerPrefs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persistence across sessions.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2_Video_Game_Audio_and_Sound_Desig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E891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&amp; MUSIC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Sound Design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Adding immersive audio through sound effects, music systems, and dynamic mixing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System Fundamentals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 Primary Categories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711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5200" y="2349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423545" y="25797"/>
                </a:moveTo>
                <a:cubicBezTo>
                  <a:pt x="415369" y="19129"/>
                  <a:pt x="403384" y="20399"/>
                  <a:pt x="396716" y="28575"/>
                </a:cubicBezTo>
                <a:cubicBezTo>
                  <a:pt x="390049" y="36751"/>
                  <a:pt x="391319" y="48736"/>
                  <a:pt x="399494" y="55404"/>
                </a:cubicBezTo>
                <a:cubicBezTo>
                  <a:pt x="442516" y="90329"/>
                  <a:pt x="469900" y="143510"/>
                  <a:pt x="469900" y="203200"/>
                </a:cubicBezTo>
                <a:cubicBezTo>
                  <a:pt x="469900" y="262890"/>
                  <a:pt x="442516" y="316071"/>
                  <a:pt x="399494" y="351076"/>
                </a:cubicBezTo>
                <a:cubicBezTo>
                  <a:pt x="391319" y="357743"/>
                  <a:pt x="390128" y="369729"/>
                  <a:pt x="396716" y="377904"/>
                </a:cubicBezTo>
                <a:cubicBezTo>
                  <a:pt x="403304" y="386080"/>
                  <a:pt x="415369" y="387271"/>
                  <a:pt x="423545" y="380683"/>
                </a:cubicBezTo>
                <a:cubicBezTo>
                  <a:pt x="475059" y="338693"/>
                  <a:pt x="508000" y="274796"/>
                  <a:pt x="508000" y="203200"/>
                </a:cubicBezTo>
                <a:cubicBezTo>
                  <a:pt x="508000" y="131604"/>
                  <a:pt x="475059" y="67628"/>
                  <a:pt x="423545" y="25797"/>
                </a:cubicBezTo>
                <a:close/>
                <a:moveTo>
                  <a:pt x="375523" y="84931"/>
                </a:moveTo>
                <a:cubicBezTo>
                  <a:pt x="367348" y="78264"/>
                  <a:pt x="355362" y="79534"/>
                  <a:pt x="348694" y="87709"/>
                </a:cubicBezTo>
                <a:cubicBezTo>
                  <a:pt x="342027" y="95885"/>
                  <a:pt x="343297" y="107871"/>
                  <a:pt x="351473" y="114538"/>
                </a:cubicBezTo>
                <a:cubicBezTo>
                  <a:pt x="377269" y="135493"/>
                  <a:pt x="393700" y="167402"/>
                  <a:pt x="393700" y="203200"/>
                </a:cubicBezTo>
                <a:cubicBezTo>
                  <a:pt x="393700" y="238998"/>
                  <a:pt x="377269" y="270907"/>
                  <a:pt x="351473" y="291941"/>
                </a:cubicBezTo>
                <a:cubicBezTo>
                  <a:pt x="343297" y="298609"/>
                  <a:pt x="342106" y="310594"/>
                  <a:pt x="348694" y="318770"/>
                </a:cubicBezTo>
                <a:cubicBezTo>
                  <a:pt x="355283" y="326946"/>
                  <a:pt x="367348" y="328136"/>
                  <a:pt x="375523" y="321548"/>
                </a:cubicBezTo>
                <a:cubicBezTo>
                  <a:pt x="409813" y="293608"/>
                  <a:pt x="431800" y="250984"/>
                  <a:pt x="431800" y="203279"/>
                </a:cubicBezTo>
                <a:cubicBezTo>
                  <a:pt x="431800" y="155575"/>
                  <a:pt x="409813" y="112951"/>
                  <a:pt x="375523" y="85011"/>
                </a:cubicBezTo>
                <a:close/>
                <a:moveTo>
                  <a:pt x="327501" y="144066"/>
                </a:moveTo>
                <a:cubicBezTo>
                  <a:pt x="319326" y="137398"/>
                  <a:pt x="307340" y="138668"/>
                  <a:pt x="300673" y="146844"/>
                </a:cubicBezTo>
                <a:cubicBezTo>
                  <a:pt x="294005" y="155019"/>
                  <a:pt x="295275" y="167005"/>
                  <a:pt x="303451" y="173673"/>
                </a:cubicBezTo>
                <a:cubicBezTo>
                  <a:pt x="312023" y="180658"/>
                  <a:pt x="317500" y="191294"/>
                  <a:pt x="317500" y="203200"/>
                </a:cubicBezTo>
                <a:cubicBezTo>
                  <a:pt x="317500" y="215106"/>
                  <a:pt x="312023" y="225742"/>
                  <a:pt x="303451" y="232807"/>
                </a:cubicBezTo>
                <a:cubicBezTo>
                  <a:pt x="295275" y="239474"/>
                  <a:pt x="294084" y="251460"/>
                  <a:pt x="300673" y="259636"/>
                </a:cubicBezTo>
                <a:cubicBezTo>
                  <a:pt x="307261" y="267811"/>
                  <a:pt x="319326" y="269002"/>
                  <a:pt x="327501" y="262414"/>
                </a:cubicBezTo>
                <a:cubicBezTo>
                  <a:pt x="344567" y="248364"/>
                  <a:pt x="355600" y="227092"/>
                  <a:pt x="355600" y="203200"/>
                </a:cubicBezTo>
                <a:cubicBezTo>
                  <a:pt x="355600" y="179308"/>
                  <a:pt x="344567" y="158036"/>
                  <a:pt x="327501" y="144066"/>
                </a:cubicBezTo>
                <a:close/>
                <a:moveTo>
                  <a:pt x="63500" y="279400"/>
                </a:moveTo>
                <a:lnTo>
                  <a:pt x="101600" y="279400"/>
                </a:lnTo>
                <a:lnTo>
                  <a:pt x="208042" y="374015"/>
                </a:lnTo>
                <a:cubicBezTo>
                  <a:pt x="213122" y="378539"/>
                  <a:pt x="219631" y="381000"/>
                  <a:pt x="226378" y="381000"/>
                </a:cubicBezTo>
                <a:cubicBezTo>
                  <a:pt x="241618" y="381000"/>
                  <a:pt x="254000" y="368617"/>
                  <a:pt x="254000" y="353378"/>
                </a:cubicBezTo>
                <a:lnTo>
                  <a:pt x="254000" y="53023"/>
                </a:lnTo>
                <a:cubicBezTo>
                  <a:pt x="254000" y="37783"/>
                  <a:pt x="241618" y="25400"/>
                  <a:pt x="226378" y="25400"/>
                </a:cubicBezTo>
                <a:cubicBezTo>
                  <a:pt x="219631" y="25400"/>
                  <a:pt x="213122" y="27861"/>
                  <a:pt x="208042" y="32385"/>
                </a:cubicBezTo>
                <a:lnTo>
                  <a:pt x="101600" y="127000"/>
                </a:lnTo>
                <a:lnTo>
                  <a:pt x="63500" y="127000"/>
                </a:lnTo>
                <a:cubicBezTo>
                  <a:pt x="42466" y="127000"/>
                  <a:pt x="25400" y="144066"/>
                  <a:pt x="25400" y="165100"/>
                </a:cubicBezTo>
                <a:lnTo>
                  <a:pt x="25400" y="241300"/>
                </a:lnTo>
                <a:cubicBezTo>
                  <a:pt x="25400" y="262334"/>
                  <a:pt x="42466" y="279400"/>
                  <a:pt x="63500" y="2794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574800" y="2222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Sound Effects (SFX)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730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Short, event-driven sounds played through AudioSource components.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810000"/>
            <a:ext cx="711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16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1475" y="5556"/>
                </a:moveTo>
                <a:cubicBezTo>
                  <a:pt x="377508" y="10398"/>
                  <a:pt x="381000" y="17701"/>
                  <a:pt x="381000" y="25400"/>
                </a:cubicBezTo>
                <a:lnTo>
                  <a:pt x="381000" y="266700"/>
                </a:lnTo>
                <a:cubicBezTo>
                  <a:pt x="381000" y="301784"/>
                  <a:pt x="346869" y="330200"/>
                  <a:pt x="304800" y="330200"/>
                </a:cubicBezTo>
                <a:cubicBezTo>
                  <a:pt x="262731" y="330200"/>
                  <a:pt x="228600" y="301784"/>
                  <a:pt x="228600" y="266700"/>
                </a:cubicBezTo>
                <a:cubicBezTo>
                  <a:pt x="228600" y="231616"/>
                  <a:pt x="262731" y="203200"/>
                  <a:pt x="304800" y="203200"/>
                </a:cubicBezTo>
                <a:cubicBezTo>
                  <a:pt x="313690" y="203200"/>
                  <a:pt x="322263" y="204470"/>
                  <a:pt x="330200" y="206851"/>
                </a:cubicBezTo>
                <a:lnTo>
                  <a:pt x="330200" y="114221"/>
                </a:lnTo>
                <a:lnTo>
                  <a:pt x="152400" y="153749"/>
                </a:lnTo>
                <a:lnTo>
                  <a:pt x="152400" y="317500"/>
                </a:lnTo>
                <a:cubicBezTo>
                  <a:pt x="152400" y="352584"/>
                  <a:pt x="118269" y="381000"/>
                  <a:pt x="76200" y="381000"/>
                </a:cubicBezTo>
                <a:cubicBezTo>
                  <a:pt x="34131" y="381000"/>
                  <a:pt x="0" y="352584"/>
                  <a:pt x="0" y="317500"/>
                </a:cubicBezTo>
                <a:cubicBezTo>
                  <a:pt x="0" y="282416"/>
                  <a:pt x="34131" y="254000"/>
                  <a:pt x="76200" y="254000"/>
                </a:cubicBezTo>
                <a:cubicBezTo>
                  <a:pt x="85090" y="254000"/>
                  <a:pt x="93663" y="255270"/>
                  <a:pt x="101600" y="257651"/>
                </a:cubicBezTo>
                <a:lnTo>
                  <a:pt x="101600" y="76200"/>
                </a:lnTo>
                <a:cubicBezTo>
                  <a:pt x="101600" y="64294"/>
                  <a:pt x="109855" y="53975"/>
                  <a:pt x="121523" y="51435"/>
                </a:cubicBezTo>
                <a:lnTo>
                  <a:pt x="350123" y="635"/>
                </a:lnTo>
                <a:cubicBezTo>
                  <a:pt x="357664" y="-1032"/>
                  <a:pt x="365522" y="794"/>
                  <a:pt x="371554" y="5636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1574800" y="400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 Music (BGM)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16000" y="4508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Continuous tracks setting mood. Loop seamlessly for uninterrupted play.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Technical Concepts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223000"/>
          <a:ext cx="7112000" cy="1778000"/>
        </p:xfrm>
        <a:graphic>
          <a:graphicData uri="http://schemas.openxmlformats.org/drawingml/2006/table">
            <a:tbl>
              <a:tblPr/>
              <a:tblGrid>
                <a:gridCol w="2133600"/>
                <a:gridCol w="49784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3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AudioClip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actual sound file asset (.wav, .mp3, .ogg)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AudioSource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Plays clips with volume, pitch, spatial settings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AudioListener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Receives all audio output (typically on camera)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382000" y="2032000"/>
            <a:ext cx="7112000" cy="3937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16" name="Text 13"/>
          <p:cNvSpPr/>
          <p:nvPr/>
        </p:nvSpPr>
        <p:spPr>
          <a:xfrm>
            <a:off x="8636000" y="2222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Architecture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90000" y="2921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18" name="Text 15"/>
          <p:cNvSpPr/>
          <p:nvPr/>
        </p:nvSpPr>
        <p:spPr>
          <a:xfrm>
            <a:off x="8890000" y="2921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AudioClip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668000" y="3238500"/>
            <a:ext cx="7620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11430000" y="2921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0" y="2921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AudioSource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319000" y="3556000"/>
            <a:ext cx="0" cy="635000"/>
          </a:xfrm>
          <a:prstGeom prst="straightConnector1">
            <a:avLst/>
          </a:prstGeom>
          <a:noFill/>
          <a:ln w="25400">
            <a:solidFill>
              <a:srgbClr val="5A5A72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13208000" y="3556000"/>
            <a:ext cx="762000" cy="635000"/>
          </a:xfrm>
          <a:prstGeom prst="straightConnector1">
            <a:avLst/>
          </a:prstGeom>
          <a:noFill/>
          <a:ln w="25400">
            <a:solidFill>
              <a:srgbClr val="5A5A72"/>
            </a:solidFill>
            <a:prstDash val="solid"/>
            <a:headEnd type="none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10922000" y="41910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5A5A72"/>
          </a:solidFill>
          <a:ln/>
        </p:spPr>
      </p:sp>
      <p:sp>
        <p:nvSpPr>
          <p:cNvPr id="25" name="Text 22"/>
          <p:cNvSpPr/>
          <p:nvPr/>
        </p:nvSpPr>
        <p:spPr>
          <a:xfrm>
            <a:off x="10922000" y="4191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AudioMixer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3462000" y="4191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5A5A72"/>
          </a:solidFill>
          <a:ln/>
        </p:spPr>
      </p:sp>
      <p:sp>
        <p:nvSpPr>
          <p:cNvPr id="27" name="Text 24"/>
          <p:cNvSpPr/>
          <p:nvPr/>
        </p:nvSpPr>
        <p:spPr>
          <a:xfrm>
            <a:off x="13462000" y="4191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AudioListener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36000" y="5080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AudioMixer groups and processes audio with effects, volume control, and snapshots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82000" y="63500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636000" y="64770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Separate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SFX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Music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different mixer groups.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Sound Effects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best practices for professional SFX implementation: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2500" y="2286000"/>
            <a:ext cx="406400" cy="4064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286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2260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Pool AudioSources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98600" y="26670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Reuse sources instead of Instantiate per sound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35560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2500" y="3746500"/>
            <a:ext cx="406400" cy="4064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3746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" y="3721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Variation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98600" y="41275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Pitch randomization and clip variants prevent fatigue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016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2500" y="5207000"/>
            <a:ext cx="406400" cy="4064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207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" y="5181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Spatial Audio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8600" y="55880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spatial blend with distance rolloff curves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64770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2500" y="6667500"/>
            <a:ext cx="406400" cy="4064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6667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" y="6642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Trigger at Key Points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98600" y="7048500"/>
            <a:ext cx="609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 sounds at exact animation frames or event callbacks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2000" y="2095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Sound Triggers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82000" y="26035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Footsteps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animation events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Jump / Land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state change callbacks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Shoot / Attack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input triggers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Collect / Pickup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collision events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Clicks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onClick handlers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Damage / Death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health events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382000" y="54610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8636000" y="5588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Pitch variation example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source.pitch = Random.Range(0.95f, 1.05f);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source.PlayOneShot(clip);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Music &amp; Dynamic Mixing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Music systems go beyond simple looping. Three professional techniques: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46990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2286000"/>
            <a:ext cx="3657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Crossfading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794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Smoothly transition between tracks by fading out current while fading in new over 1-2 seconds. Creates seamless mood shifts.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2095500"/>
            <a:ext cx="46990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69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6502400" y="2286000"/>
            <a:ext cx="3657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Layered Music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69000" y="2794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Compose in stems (drums, bass, melody). Mix layers dynamically based on game intensity — add percussion during combat.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2095500"/>
            <a:ext cx="48260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22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1351" y="50800"/>
                  <a:pt x="0" y="62151"/>
                  <a:pt x="0" y="76200"/>
                </a:cubicBezTo>
                <a:cubicBezTo>
                  <a:pt x="0" y="90249"/>
                  <a:pt x="11351" y="101600"/>
                  <a:pt x="25400" y="101600"/>
                </a:cubicBezTo>
                <a:lnTo>
                  <a:pt x="94218" y="101600"/>
                </a:lnTo>
                <a:cubicBezTo>
                  <a:pt x="103981" y="124063"/>
                  <a:pt x="126365" y="139700"/>
                  <a:pt x="152400" y="139700"/>
                </a:cubicBezTo>
                <a:cubicBezTo>
                  <a:pt x="178435" y="139700"/>
                  <a:pt x="200819" y="124063"/>
                  <a:pt x="210582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210582" y="50800"/>
                </a:lnTo>
                <a:cubicBezTo>
                  <a:pt x="200819" y="28337"/>
                  <a:pt x="178435" y="12700"/>
                  <a:pt x="152400" y="12700"/>
                </a:cubicBezTo>
                <a:cubicBezTo>
                  <a:pt x="126365" y="12700"/>
                  <a:pt x="103981" y="28337"/>
                  <a:pt x="94218" y="50800"/>
                </a:cubicBezTo>
                <a:lnTo>
                  <a:pt x="25400" y="50800"/>
                </a:lnTo>
                <a:close/>
                <a:moveTo>
                  <a:pt x="25400" y="177800"/>
                </a:move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221218" y="228600"/>
                </a:lnTo>
                <a:cubicBezTo>
                  <a:pt x="230981" y="251063"/>
                  <a:pt x="253365" y="266700"/>
                  <a:pt x="279400" y="266700"/>
                </a:cubicBezTo>
                <a:cubicBezTo>
                  <a:pt x="305435" y="266700"/>
                  <a:pt x="327819" y="251063"/>
                  <a:pt x="337582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337582" y="177800"/>
                </a:lnTo>
                <a:cubicBezTo>
                  <a:pt x="327819" y="155337"/>
                  <a:pt x="305435" y="139700"/>
                  <a:pt x="279400" y="139700"/>
                </a:cubicBezTo>
                <a:cubicBezTo>
                  <a:pt x="253365" y="139700"/>
                  <a:pt x="230981" y="155337"/>
                  <a:pt x="221218" y="177800"/>
                </a:cubicBezTo>
                <a:lnTo>
                  <a:pt x="25400" y="177800"/>
                </a:lnTo>
                <a:close/>
                <a:moveTo>
                  <a:pt x="25400" y="304800"/>
                </a:moveTo>
                <a:cubicBezTo>
                  <a:pt x="11351" y="304800"/>
                  <a:pt x="0" y="316151"/>
                  <a:pt x="0" y="330200"/>
                </a:cubicBezTo>
                <a:cubicBezTo>
                  <a:pt x="0" y="344249"/>
                  <a:pt x="11351" y="355600"/>
                  <a:pt x="25400" y="355600"/>
                </a:cubicBezTo>
                <a:lnTo>
                  <a:pt x="68818" y="355600"/>
                </a:lnTo>
                <a:cubicBezTo>
                  <a:pt x="78581" y="378063"/>
                  <a:pt x="100965" y="393700"/>
                  <a:pt x="127000" y="393700"/>
                </a:cubicBezTo>
                <a:cubicBezTo>
                  <a:pt x="153035" y="393700"/>
                  <a:pt x="175419" y="378063"/>
                  <a:pt x="185182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85182" y="304800"/>
                </a:lnTo>
                <a:cubicBezTo>
                  <a:pt x="175419" y="282337"/>
                  <a:pt x="153035" y="266700"/>
                  <a:pt x="127000" y="266700"/>
                </a:cubicBezTo>
                <a:cubicBezTo>
                  <a:pt x="100965" y="266700"/>
                  <a:pt x="78581" y="282337"/>
                  <a:pt x="68818" y="304800"/>
                </a:cubicBezTo>
                <a:lnTo>
                  <a:pt x="25400" y="304800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55400" y="2286000"/>
            <a:ext cx="3784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Adaptive Music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22000" y="27940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Switch between calm, tension, and combat music via AudioMixer snapshots triggered by game state changes.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4889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MusicManager Pattern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2000" y="5397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MusicManager singleton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PlayMusic(), CrossfadeTo(), and SetIntensity() methods.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2000" y="4889500"/>
            <a:ext cx="7112000" cy="21336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5016500"/>
            <a:ext cx="660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MusicManager : MonoBehaviour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Crossfade(AudioClip clip,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duration) { ... 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SetIntensity(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level)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mixer.SetFloat("Intensity", level); 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175500"/>
            <a:ext cx="14732000" cy="635000"/>
          </a:xfrm>
          <a:prstGeom prst="roundRect">
            <a:avLst>
              <a:gd name="adj" fmla="val 4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730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" y="7239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Music should loop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seamlessly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carefully edited loop points. Avoid pops or gaps at boundaries.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9_Level_Map_Pixel_Art_OpenGameArt_or.png">    </p:cNvPr>
          <p:cNvPicPr>
            <a:picLocks noChangeAspect="1"/>
          </p:cNvPicPr>
          <p:nvPr/>
        </p:nvPicPr>
        <p:blipFill>
          <a:blip r:embed="rId1"/>
          <a:srcRect l="0" r="0" t="7783" b="778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E891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LEVELS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Adding More Levels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progression, scene management, and scalable content architecture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Design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11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625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Difficulty Curve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2095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Progressively introduce challenges following an "easy ramp up, occasional dip" rhythm. Give players breathing room after hard sections.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175000"/>
            <a:ext cx="711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93775" y="349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3340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Teaching Through Design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16000" y="3810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level introduces one new mechanic in a safe environment before combining it with previous mechanics.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889500"/>
            <a:ext cx="7112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38225" y="5207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44450" y="9932"/>
                  <a:pt x="34518" y="0"/>
                  <a:pt x="22225" y="0"/>
                </a:cubicBezTo>
                <a:cubicBezTo>
                  <a:pt x="9932" y="0"/>
                  <a:pt x="0" y="9932"/>
                  <a:pt x="0" y="22225"/>
                </a:cubicBezTo>
                <a:lnTo>
                  <a:pt x="0" y="333375"/>
                </a:lnTo>
                <a:cubicBezTo>
                  <a:pt x="0" y="345668"/>
                  <a:pt x="9932" y="355600"/>
                  <a:pt x="22225" y="355600"/>
                </a:cubicBezTo>
                <a:cubicBezTo>
                  <a:pt x="34518" y="355600"/>
                  <a:pt x="44450" y="345668"/>
                  <a:pt x="44450" y="333375"/>
                </a:cubicBezTo>
                <a:lnTo>
                  <a:pt x="44450" y="248920"/>
                </a:lnTo>
                <a:lnTo>
                  <a:pt x="87997" y="235863"/>
                </a:lnTo>
                <a:cubicBezTo>
                  <a:pt x="117098" y="227112"/>
                  <a:pt x="148491" y="229820"/>
                  <a:pt x="175647" y="243433"/>
                </a:cubicBezTo>
                <a:cubicBezTo>
                  <a:pt x="205303" y="258296"/>
                  <a:pt x="239891" y="260102"/>
                  <a:pt x="270937" y="248434"/>
                </a:cubicBezTo>
                <a:lnTo>
                  <a:pt x="296704" y="238780"/>
                </a:lnTo>
                <a:cubicBezTo>
                  <a:pt x="305385" y="235516"/>
                  <a:pt x="311150" y="227251"/>
                  <a:pt x="311150" y="217944"/>
                </a:cubicBezTo>
                <a:lnTo>
                  <a:pt x="311150" y="45909"/>
                </a:lnTo>
                <a:cubicBezTo>
                  <a:pt x="311150" y="29934"/>
                  <a:pt x="294342" y="19516"/>
                  <a:pt x="280035" y="26670"/>
                </a:cubicBezTo>
                <a:lnTo>
                  <a:pt x="271840" y="30768"/>
                </a:lnTo>
                <a:cubicBezTo>
                  <a:pt x="240655" y="46395"/>
                  <a:pt x="203914" y="46395"/>
                  <a:pt x="172660" y="30768"/>
                </a:cubicBezTo>
                <a:cubicBezTo>
                  <a:pt x="147380" y="18127"/>
                  <a:pt x="118279" y="15627"/>
                  <a:pt x="91261" y="23753"/>
                </a:cubicBezTo>
                <a:lnTo>
                  <a:pt x="44450" y="37783"/>
                </a:lnTo>
                <a:lnTo>
                  <a:pt x="44450" y="22225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1498600" y="5054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Checkpoints &amp; Respawns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6000" y="5524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Frequent checkpoints reduce frustration and maintain flow. Place them after challenging sections as a reward.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66040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16000" y="685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1052" y="23475"/>
                </a:moveTo>
                <a:cubicBezTo>
                  <a:pt x="84177" y="19239"/>
                  <a:pt x="89178" y="16669"/>
                  <a:pt x="94456" y="16669"/>
                </a:cubicBezTo>
                <a:lnTo>
                  <a:pt x="261144" y="16669"/>
                </a:lnTo>
                <a:cubicBezTo>
                  <a:pt x="266422" y="16669"/>
                  <a:pt x="271423" y="19169"/>
                  <a:pt x="274548" y="23475"/>
                </a:cubicBezTo>
                <a:lnTo>
                  <a:pt x="352336" y="129044"/>
                </a:lnTo>
                <a:cubicBezTo>
                  <a:pt x="357059" y="135434"/>
                  <a:pt x="356572" y="144254"/>
                  <a:pt x="351294" y="150158"/>
                </a:cubicBezTo>
                <a:lnTo>
                  <a:pt x="190163" y="327958"/>
                </a:lnTo>
                <a:cubicBezTo>
                  <a:pt x="187037" y="331430"/>
                  <a:pt x="182523" y="333444"/>
                  <a:pt x="177800" y="333444"/>
                </a:cubicBezTo>
                <a:cubicBezTo>
                  <a:pt x="173077" y="333444"/>
                  <a:pt x="168632" y="331430"/>
                  <a:pt x="165437" y="327958"/>
                </a:cubicBezTo>
                <a:lnTo>
                  <a:pt x="4306" y="150158"/>
                </a:lnTo>
                <a:cubicBezTo>
                  <a:pt x="-1042" y="144254"/>
                  <a:pt x="-1459" y="135434"/>
                  <a:pt x="3264" y="129044"/>
                </a:cubicBezTo>
                <a:lnTo>
                  <a:pt x="81052" y="23475"/>
                </a:lnTo>
                <a:close/>
                <a:moveTo>
                  <a:pt x="107791" y="51117"/>
                </a:moveTo>
                <a:cubicBezTo>
                  <a:pt x="105499" y="52854"/>
                  <a:pt x="104874" y="55979"/>
                  <a:pt x="106333" y="58410"/>
                </a:cubicBezTo>
                <a:lnTo>
                  <a:pt x="146199" y="124877"/>
                </a:lnTo>
                <a:lnTo>
                  <a:pt x="43964" y="133350"/>
                </a:lnTo>
                <a:cubicBezTo>
                  <a:pt x="41116" y="133558"/>
                  <a:pt x="38894" y="135989"/>
                  <a:pt x="38894" y="138906"/>
                </a:cubicBezTo>
                <a:cubicBezTo>
                  <a:pt x="38894" y="141823"/>
                  <a:pt x="41116" y="144185"/>
                  <a:pt x="43964" y="144463"/>
                </a:cubicBezTo>
                <a:lnTo>
                  <a:pt x="177314" y="155575"/>
                </a:lnTo>
                <a:cubicBezTo>
                  <a:pt x="177592" y="155575"/>
                  <a:pt x="177939" y="155575"/>
                  <a:pt x="178217" y="155575"/>
                </a:cubicBezTo>
                <a:lnTo>
                  <a:pt x="311567" y="144463"/>
                </a:lnTo>
                <a:cubicBezTo>
                  <a:pt x="314414" y="144254"/>
                  <a:pt x="316637" y="141823"/>
                  <a:pt x="316637" y="138906"/>
                </a:cubicBezTo>
                <a:cubicBezTo>
                  <a:pt x="316637" y="135989"/>
                  <a:pt x="314414" y="133628"/>
                  <a:pt x="311567" y="133350"/>
                </a:cubicBezTo>
                <a:lnTo>
                  <a:pt x="209332" y="124807"/>
                </a:lnTo>
                <a:lnTo>
                  <a:pt x="249198" y="58410"/>
                </a:lnTo>
                <a:cubicBezTo>
                  <a:pt x="250656" y="55979"/>
                  <a:pt x="250031" y="52784"/>
                  <a:pt x="247739" y="51117"/>
                </a:cubicBezTo>
                <a:cubicBezTo>
                  <a:pt x="245447" y="49451"/>
                  <a:pt x="242253" y="49728"/>
                  <a:pt x="240308" y="51812"/>
                </a:cubicBezTo>
                <a:lnTo>
                  <a:pt x="177800" y="119598"/>
                </a:lnTo>
                <a:lnTo>
                  <a:pt x="115223" y="51812"/>
                </a:lnTo>
                <a:cubicBezTo>
                  <a:pt x="113278" y="49728"/>
                  <a:pt x="110083" y="49451"/>
                  <a:pt x="107791" y="51117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673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Secret Areas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16000" y="71374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Optional challenges reward exploration with collectibles or shortcuts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1460500"/>
            <a:ext cx="7112000" cy="4826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1651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Design Document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36000" y="2057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22860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each level's purpose: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does it teach?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mechanic introduced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does it test?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Skills player must demonstrate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does it connect?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Progression to next level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Management &amp; Level Loading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Loading Approaches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7112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6000" y="2133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Scene Per Level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25146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level is a separate scene file. Load with SceneManager.LoadScene().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365500"/>
            <a:ext cx="7112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16000" y="34671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Additive Loading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6000" y="38481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Load levels additively for seamless open worlds.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4889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53975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asynchronous loading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(LoadSceneAsync) with a loading screen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59690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Preload shared assets in a persistent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bootstrap scene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65405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DontDestroyOnLoad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managers that survive scene changes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71120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Show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progress bar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AsyncOperation.progress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1460500"/>
            <a:ext cx="7112000" cy="4826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1651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36000" y="2057400"/>
            <a:ext cx="762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Shape 17"/>
          <p:cNvSpPr/>
          <p:nvPr/>
        </p:nvSpPr>
        <p:spPr>
          <a:xfrm>
            <a:off x="9652000" y="2413000"/>
            <a:ext cx="3302000" cy="63500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9652000" y="2413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Bootstrap (Managers)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303000" y="3048000"/>
            <a:ext cx="0" cy="5080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160000" y="355600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5A5A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0" y="35560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Scene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303000" y="4127500"/>
            <a:ext cx="0" cy="50800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160000" y="463550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5A5A72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0" y="46355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1, 2, 3...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446000" y="3810000"/>
            <a:ext cx="1016000" cy="1143000"/>
          </a:xfrm>
          <a:prstGeom prst="straightConnector1">
            <a:avLst/>
          </a:prstGeom>
          <a:noFill/>
          <a:ln w="25400">
            <a:solidFill>
              <a:srgbClr val="5A5A72"/>
            </a:solidFill>
            <a:prstDash val="sysDot"/>
            <a:headEnd type="arrow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3525500" y="4191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36000" y="5461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Bootstrap scene loads first and persists. Managers use DontDestroyOnLoad().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5_36_221_Coding_On_Blac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E8913A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BASICS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Architecture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programming patterns for clean, maintainable game code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Programming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essential patterns every game developer should master: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4699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21971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1971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Singleton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2500" y="26670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global instance of managers. Use sparingly to avoid tight coupling.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2095500"/>
            <a:ext cx="4699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05500" y="21971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4000" y="21971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Observer Pattern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05500" y="26670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Event-driven communication. C# events and delegates decouple systems.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2095500"/>
            <a:ext cx="4826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58500" y="21971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57000" y="21971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 Pattern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858500" y="2667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Entities are containers of behaviors. Mix and match for flexibility.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3810000"/>
            <a:ext cx="71755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2500" y="3911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1000" y="3911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 Machine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2500" y="43815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 entity behaviors and game flow with discrete states and defined transitions. Prevents invalid state changes.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91500" y="3810000"/>
            <a:ext cx="73025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82000" y="3911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80500" y="3911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Pooling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82000" y="4381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Reuse GameObjects instead of Instantiate/Destroy. Eliminates garbage collection spikes during gameplay.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5715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603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" y="5905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these patterns produces code that is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modular, testable, and scalable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your projects grow from prototypes to full games.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Organization 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Folder Organization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699000" cy="2667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955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Scripts/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Managers/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Gameplay/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UI/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 Entities/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└── Utilities/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0" y="1460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Naming Conventions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15000" y="1968500"/>
            <a:ext cx="469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PascalCase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classes, methods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i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PlayerController, Start()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camelCase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variables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i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playerSpeed, isGrounded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ALL_CAPS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constants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i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MAX_HEALTH, GRAVITY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0" y="14605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 Tips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668000" y="1968500"/>
            <a:ext cx="4826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Cache references in Awake/Start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Coroutines for timed ops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Avoid FindObjectOfType in Update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object pools for particles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Profile early, profile often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Version Control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5524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Commit frequently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meaningful messages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feature branches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branch per feature, merge when complete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5016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Comments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82000" y="5524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XML documentation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APIs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Inline comments only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 logic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9215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E8913A">
              <a:alpha val="823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711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7382" y="60494"/>
                </a:moveTo>
                <a:lnTo>
                  <a:pt x="177800" y="74870"/>
                </a:lnTo>
                <a:lnTo>
                  <a:pt x="188218" y="60494"/>
                </a:lnTo>
                <a:cubicBezTo>
                  <a:pt x="205581" y="36463"/>
                  <a:pt x="233501" y="22225"/>
                  <a:pt x="263158" y="22225"/>
                </a:cubicBezTo>
                <a:cubicBezTo>
                  <a:pt x="314206" y="22225"/>
                  <a:pt x="355600" y="63619"/>
                  <a:pt x="355600" y="114667"/>
                </a:cubicBezTo>
                <a:lnTo>
                  <a:pt x="355600" y="116473"/>
                </a:lnTo>
                <a:cubicBezTo>
                  <a:pt x="355600" y="194399"/>
                  <a:pt x="258435" y="284897"/>
                  <a:pt x="207734" y="323582"/>
                </a:cubicBezTo>
                <a:cubicBezTo>
                  <a:pt x="199122" y="330111"/>
                  <a:pt x="188565" y="333375"/>
                  <a:pt x="177800" y="333375"/>
                </a:cubicBezTo>
                <a:cubicBezTo>
                  <a:pt x="167035" y="333375"/>
                  <a:pt x="156408" y="330180"/>
                  <a:pt x="147866" y="323582"/>
                </a:cubicBezTo>
                <a:cubicBezTo>
                  <a:pt x="97165" y="284897"/>
                  <a:pt x="0" y="194399"/>
                  <a:pt x="0" y="116473"/>
                </a:cubicBezTo>
                <a:lnTo>
                  <a:pt x="0" y="114667"/>
                </a:lnTo>
                <a:cubicBezTo>
                  <a:pt x="0" y="63619"/>
                  <a:pt x="41394" y="22225"/>
                  <a:pt x="92442" y="22225"/>
                </a:cubicBezTo>
                <a:cubicBezTo>
                  <a:pt x="122099" y="22225"/>
                  <a:pt x="150019" y="36463"/>
                  <a:pt x="167382" y="60494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6985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Clean code is not about perfection — it is about making code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understandable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your future self and teammates.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A5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3nymxquuy5no/mnt/agents/output/game-programming-week6/images/8_Everblade_Review_A_Wonderfully_Crafted.png">    </p:cNvPr>
          <p:cNvPicPr>
            <a:picLocks noChangeAspect="1"/>
          </p:cNvPicPr>
          <p:nvPr/>
        </p:nvPicPr>
        <p:blipFill>
          <a:blip r:embed="rId1"/>
          <a:srcRect l="0" r="0" t="195" b="1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1000"/>
                </a:srgbClr>
              </a:gs>
              <a:gs pos="50000">
                <a:srgbClr val="1A1A2E">
                  <a:alpha val="82000"/>
                </a:srgbClr>
              </a:gs>
              <a:gs pos="100000">
                <a:srgbClr val="1A1A2E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048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4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BUILDING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858000" y="4064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4445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best way to learn game programming is to make games.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small, finish projects, and build your skills one level at a time."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A9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Programming — Week 6 — Spring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Programming - Week 6</dc:title>
  <dc:subject>Game Programming - Week 6</dc:subject>
  <dc:creator>Kimi</dc:creator>
  <cp:lastModifiedBy>Kimi</cp:lastModifiedBy>
  <cp:revision>1</cp:revision>
  <dcterms:created xsi:type="dcterms:W3CDTF">2026-05-24T16:34:07Z</dcterms:created>
  <dcterms:modified xsi:type="dcterms:W3CDTF">2026-05-24T16:34:07Z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{"Label":"Game Programming - Week 6","ContentProducer":"001191110108MACG2KBH8F10000","ProduceID":"19e5ad22-52c2-8c7a-8000-0000f02b9997","ReservedCode1":"","ContentPropagator":"001191110108MACG2KBH8F20000","PropagateID":"19e5ad22-52c2-8c7a-8000-0000f02b9997","ReservedCode2":""}</vt:lpwstr>
  </property>
</Properties>
</file>