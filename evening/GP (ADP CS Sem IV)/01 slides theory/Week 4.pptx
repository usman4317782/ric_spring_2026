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Liter" charset="-122" pitchFamily="34"/>
      <p:regular r:id="rId35"/>
    </p:embeddedFont>
    <p:embeddedFont>
      <p:font typeface="Quattrocento Sans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Intensity</c:v>
                </c:pt>
              </c:strCache>
            </c:strRef>
          </c:tx>
          <c:spPr>
            <a:solidFill>
              <a:srgbClr val="E8A838"/>
            </a:solidFill>
            <a:ln w="25400" cap="flat">
              <a:solidFill>
                <a:srgbClr val="E8A8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838"/>
              </a:solidFill>
              <a:ln w="9525" cap="flat">
                <a:solidFill>
                  <a:srgbClr val="E8A8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Start</c:v>
                  </c:pt>
                  <c:pt idx="1">
                    <c:v>Teach</c:v>
                  </c:pt>
                  <c:pt idx="2">
                    <c:v>Build</c:v>
                  </c:pt>
                  <c:pt idx="3">
                    <c:v>Peak 1</c:v>
                  </c:pt>
                  <c:pt idx="4">
                    <c:v>Rest</c:v>
                  </c:pt>
                  <c:pt idx="5">
                    <c:v>Escalate</c:v>
                  </c:pt>
                  <c:pt idx="6">
                    <c:v>Peak 2</c:v>
                  </c:pt>
                  <c:pt idx="7">
                    <c:v>Climax</c:v>
                  </c:pt>
                  <c:pt idx="8">
                    <c:v>Resolve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</c:v>
                </c:pt>
                <c:pt idx="1">
                  <c:v>25</c:v>
                </c:pt>
                <c:pt idx="2">
                  <c:v>55</c:v>
                </c:pt>
                <c:pt idx="3">
                  <c:v>85</c:v>
                </c:pt>
                <c:pt idx="4">
                  <c:v>30</c:v>
                </c:pt>
                <c:pt idx="5">
                  <c:v>70</c:v>
                </c:pt>
                <c:pt idx="6">
                  <c:v>95</c:v>
                </c:pt>
                <c:pt idx="7">
                  <c:v>100</c:v>
                </c:pt>
                <c:pt idx="8">
                  <c:v>40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CBC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xpmouzkvz2hw/mnt/agents/output/game-programming-week4/images/7_Blending_Architecture_and_Caves_in.png">    </p:cNvPr>
          <p:cNvPicPr>
            <a:picLocks noChangeAspect="1"/>
          </p:cNvPicPr>
          <p:nvPr/>
        </p:nvPicPr>
        <p:blipFill>
          <a:blip r:embed="rId1"/>
          <a:srcRect l="2975" r="2975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50000">
                <a:srgbClr val="1A1A2E">
                  <a:alpha val="82000"/>
                </a:srgbClr>
              </a:gs>
              <a:gs pos="100000">
                <a:srgbClr val="1A1A2E">
                  <a:alpha val="69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175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spc="400" kern="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858000" y="4064000"/>
            <a:ext cx="2540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5F3E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4 — Level Design, Game Systems &amp; Project Setup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318000" y="7874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spc="200" kern="0" dirty="0">
                <a:solidFill>
                  <a:srgbClr val="F5F3E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LECTURES 7 &amp; 8 | UNITY ENGINE |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 rot="900000">
            <a:off x="1016000" y="7366000"/>
            <a:ext cx="508000" cy="508000"/>
          </a:xfrm>
          <a:prstGeom prst="triangle">
            <a:avLst>
              <a:gd name="adj" fmla="val 50000"/>
            </a:avLst>
          </a:prstGeom>
          <a:solidFill>
            <a:srgbClr val="E8A838">
              <a:alpha val="18824"/>
            </a:srgbClr>
          </a:solidFill>
          <a:ln/>
        </p:spPr>
      </p:sp>
      <p:sp>
        <p:nvSpPr>
          <p:cNvPr id="10" name="Shape 7"/>
          <p:cNvSpPr/>
          <p:nvPr/>
        </p:nvSpPr>
        <p:spPr>
          <a:xfrm rot="2700000">
            <a:off x="14732000" y="1524000"/>
            <a:ext cx="381000" cy="381000"/>
          </a:xfrm>
          <a:prstGeom prst="triangle">
            <a:avLst>
              <a:gd name="adj" fmla="val 50000"/>
            </a:avLst>
          </a:prstGeom>
          <a:solidFill>
            <a:srgbClr val="E8A838">
              <a:alpha val="12549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9525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300" kern="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TODAY'S AGENDA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714500"/>
            <a:ext cx="1016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349500"/>
            <a:ext cx="635000" cy="6350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349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2311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7 — LEVEL DESIGN &amp; GAME SYSTEMS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51000" y="2730500"/>
            <a:ext cx="889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5F3E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principles, spatial design, pacing, and Unity implementation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429000"/>
            <a:ext cx="14732000" cy="12700"/>
          </a:xfrm>
          <a:prstGeom prst="rect">
            <a:avLst/>
          </a:prstGeom>
          <a:solidFill>
            <a:srgbClr val="F5F3EF">
              <a:alpha val="12549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3873500"/>
            <a:ext cx="635000" cy="6350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3873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51000" y="3835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SCREENSHOTS &amp; RESOURCES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51000" y="4254500"/>
            <a:ext cx="889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5F3E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 techniques, tools, and essential learning references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953000"/>
            <a:ext cx="14732000" cy="12700"/>
          </a:xfrm>
          <a:prstGeom prst="rect">
            <a:avLst/>
          </a:prstGeom>
          <a:solidFill>
            <a:srgbClr val="F5F3EF">
              <a:alpha val="12549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5397500"/>
            <a:ext cx="635000" cy="6350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5397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51000" y="5359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8 — CREATING A UNITY PROJECT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51000" y="5778500"/>
            <a:ext cx="889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5F3E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Hub, templates, settings, and project organization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255000"/>
            <a:ext cx="14732000" cy="12700"/>
          </a:xfrm>
          <a:prstGeom prst="rect">
            <a:avLst/>
          </a:prstGeom>
          <a:solidFill>
            <a:srgbClr val="F5F3EF">
              <a:alpha val="8235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F5F3EF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xpmouzkvz2hw/mnt/agents/output/game-programming-week4/images/5_Blending_Architecture_and_Caves_in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60000">
                <a:srgbClr val="1A1A2E">
                  <a:alpha val="82000"/>
                </a:srgbClr>
              </a:gs>
              <a:gs pos="100000">
                <a:srgbClr val="1A1A2E">
                  <a:alpha val="56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635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0" dirty="0">
                <a:solidFill>
                  <a:srgbClr val="E8A838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937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62000" y="4318000"/>
            <a:ext cx="1016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5466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300" kern="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DESIGN &amp; GAME SYSTEMS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3EF">
                    <a:alpha val="56471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Screenshots &amp; Additional Resources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 rot="1800000">
            <a:off x="14732000" y="7620000"/>
            <a:ext cx="635000" cy="635000"/>
          </a:xfrm>
          <a:prstGeom prst="triangle">
            <a:avLst>
              <a:gd name="adj" fmla="val 50000"/>
            </a:avLst>
          </a:prstGeom>
          <a:solidFill>
            <a:srgbClr val="E8A838">
              <a:alpha val="1451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Level Design?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8636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Level design is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 and science of creating interactive spaces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guide players through meaningful experiences. It combines spatial design, gameplay pacing, narrative delivery, and aesthetic composition.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well-designed level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A83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teaches mechanics without explicit tutorials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builds emotional arcs through environmental storytelling, and maintains engagement through carefully calibrated challenge.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Level design sits at the intersection of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game design, environmental art, and systems engineering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requiring both creative vision and technical implementation skills.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906000" y="1270000"/>
            <a:ext cx="5588000" cy="3556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7" name="Text 5"/>
          <p:cNvSpPr/>
          <p:nvPr/>
        </p:nvSpPr>
        <p:spPr>
          <a:xfrm>
            <a:off x="10287000" y="14605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DISCIPLINES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287000" y="1879600"/>
            <a:ext cx="508000" cy="254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0" y="2057400"/>
            <a:ext cx="482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Spatial Design &amp; Architecture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Gameplay Pacing &amp; Flow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Environmental Storytelling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Visual Composition &amp; Lighting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Systems Engineering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Player Psychology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207000"/>
            <a:ext cx="14732000" cy="127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334000"/>
            <a:ext cx="1397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i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"Every room is a question, every corridor is a hint, and every vista is a reward."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5F3EF">
                    <a:alpha val="376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Level Design Philosophy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Principles of Level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70000"/>
            <a:ext cx="3429000" cy="3556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3429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Shape 5"/>
          <p:cNvSpPr/>
          <p:nvPr/>
        </p:nvSpPr>
        <p:spPr>
          <a:xfrm>
            <a:off x="990600" y="152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0574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476500"/>
            <a:ext cx="292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Players must always understand their objective and available options. Use visual language, lighting, and spatial composition to guide attention naturally.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08500" y="1270000"/>
            <a:ext cx="3429000" cy="3556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1" name="Shape 9"/>
          <p:cNvSpPr/>
          <p:nvPr/>
        </p:nvSpPr>
        <p:spPr>
          <a:xfrm>
            <a:off x="4508500" y="1270000"/>
            <a:ext cx="3429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Shape 10"/>
          <p:cNvSpPr/>
          <p:nvPr/>
        </p:nvSpPr>
        <p:spPr>
          <a:xfrm>
            <a:off x="4762500" y="152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5914" y="98504"/>
                </a:moveTo>
                <a:cubicBezTo>
                  <a:pt x="342344" y="110887"/>
                  <a:pt x="362426" y="122873"/>
                  <a:pt x="384810" y="125889"/>
                </a:cubicBezTo>
                <a:cubicBezTo>
                  <a:pt x="395208" y="127318"/>
                  <a:pt x="404813" y="119936"/>
                  <a:pt x="406241" y="109538"/>
                </a:cubicBezTo>
                <a:cubicBezTo>
                  <a:pt x="407670" y="99139"/>
                  <a:pt x="400288" y="89535"/>
                  <a:pt x="389890" y="88106"/>
                </a:cubicBezTo>
                <a:cubicBezTo>
                  <a:pt x="377269" y="86439"/>
                  <a:pt x="363538" y="79137"/>
                  <a:pt x="348853" y="68104"/>
                </a:cubicBezTo>
                <a:cubicBezTo>
                  <a:pt x="318373" y="45085"/>
                  <a:pt x="277019" y="45085"/>
                  <a:pt x="246459" y="68104"/>
                </a:cubicBezTo>
                <a:cubicBezTo>
                  <a:pt x="227409" y="82471"/>
                  <a:pt x="214154" y="88979"/>
                  <a:pt x="203200" y="88979"/>
                </a:cubicBezTo>
                <a:cubicBezTo>
                  <a:pt x="192246" y="88979"/>
                  <a:pt x="178991" y="82471"/>
                  <a:pt x="159941" y="68104"/>
                </a:cubicBezTo>
                <a:cubicBezTo>
                  <a:pt x="129461" y="45085"/>
                  <a:pt x="88106" y="45085"/>
                  <a:pt x="57547" y="68104"/>
                </a:cubicBezTo>
                <a:cubicBezTo>
                  <a:pt x="42863" y="79137"/>
                  <a:pt x="29131" y="86439"/>
                  <a:pt x="16510" y="88106"/>
                </a:cubicBezTo>
                <a:cubicBezTo>
                  <a:pt x="6112" y="89535"/>
                  <a:pt x="-1270" y="99060"/>
                  <a:pt x="159" y="109538"/>
                </a:cubicBezTo>
                <a:cubicBezTo>
                  <a:pt x="1587" y="120015"/>
                  <a:pt x="11112" y="127318"/>
                  <a:pt x="21590" y="125889"/>
                </a:cubicBezTo>
                <a:cubicBezTo>
                  <a:pt x="43974" y="122873"/>
                  <a:pt x="64135" y="110887"/>
                  <a:pt x="80486" y="98504"/>
                </a:cubicBezTo>
                <a:cubicBezTo>
                  <a:pt x="97393" y="85725"/>
                  <a:pt x="120094" y="85725"/>
                  <a:pt x="137001" y="98504"/>
                </a:cubicBezTo>
                <a:cubicBezTo>
                  <a:pt x="156210" y="113030"/>
                  <a:pt x="178514" y="127000"/>
                  <a:pt x="203200" y="127000"/>
                </a:cubicBezTo>
                <a:cubicBezTo>
                  <a:pt x="227886" y="127000"/>
                  <a:pt x="250111" y="112951"/>
                  <a:pt x="269399" y="98504"/>
                </a:cubicBezTo>
                <a:cubicBezTo>
                  <a:pt x="286306" y="85725"/>
                  <a:pt x="309007" y="85725"/>
                  <a:pt x="325914" y="98504"/>
                </a:cubicBezTo>
                <a:close/>
                <a:moveTo>
                  <a:pt x="325914" y="212804"/>
                </a:moveTo>
                <a:cubicBezTo>
                  <a:pt x="342344" y="225187"/>
                  <a:pt x="362426" y="237173"/>
                  <a:pt x="384810" y="240189"/>
                </a:cubicBezTo>
                <a:cubicBezTo>
                  <a:pt x="395208" y="241618"/>
                  <a:pt x="404813" y="234236"/>
                  <a:pt x="406241" y="223838"/>
                </a:cubicBezTo>
                <a:cubicBezTo>
                  <a:pt x="407670" y="213439"/>
                  <a:pt x="400288" y="203835"/>
                  <a:pt x="389890" y="202406"/>
                </a:cubicBezTo>
                <a:cubicBezTo>
                  <a:pt x="377269" y="200739"/>
                  <a:pt x="363538" y="193437"/>
                  <a:pt x="348853" y="182404"/>
                </a:cubicBezTo>
                <a:cubicBezTo>
                  <a:pt x="318373" y="159385"/>
                  <a:pt x="277019" y="159385"/>
                  <a:pt x="246459" y="182404"/>
                </a:cubicBezTo>
                <a:cubicBezTo>
                  <a:pt x="227409" y="196771"/>
                  <a:pt x="214154" y="203279"/>
                  <a:pt x="203200" y="203279"/>
                </a:cubicBezTo>
                <a:cubicBezTo>
                  <a:pt x="192246" y="203279"/>
                  <a:pt x="178991" y="196771"/>
                  <a:pt x="159941" y="182404"/>
                </a:cubicBezTo>
                <a:cubicBezTo>
                  <a:pt x="129461" y="159385"/>
                  <a:pt x="88106" y="159385"/>
                  <a:pt x="57547" y="182404"/>
                </a:cubicBezTo>
                <a:cubicBezTo>
                  <a:pt x="42863" y="193437"/>
                  <a:pt x="29131" y="200739"/>
                  <a:pt x="16510" y="202406"/>
                </a:cubicBezTo>
                <a:cubicBezTo>
                  <a:pt x="6112" y="203756"/>
                  <a:pt x="-1270" y="213360"/>
                  <a:pt x="159" y="223838"/>
                </a:cubicBezTo>
                <a:cubicBezTo>
                  <a:pt x="1587" y="234315"/>
                  <a:pt x="11112" y="241618"/>
                  <a:pt x="21590" y="240189"/>
                </a:cubicBezTo>
                <a:cubicBezTo>
                  <a:pt x="43974" y="237173"/>
                  <a:pt x="64135" y="225187"/>
                  <a:pt x="80486" y="212804"/>
                </a:cubicBezTo>
                <a:cubicBezTo>
                  <a:pt x="97393" y="200025"/>
                  <a:pt x="120094" y="200025"/>
                  <a:pt x="137001" y="212804"/>
                </a:cubicBezTo>
                <a:cubicBezTo>
                  <a:pt x="156210" y="227330"/>
                  <a:pt x="178514" y="241300"/>
                  <a:pt x="203200" y="241300"/>
                </a:cubicBezTo>
                <a:cubicBezTo>
                  <a:pt x="227886" y="241300"/>
                  <a:pt x="250111" y="227251"/>
                  <a:pt x="269399" y="212804"/>
                </a:cubicBezTo>
                <a:cubicBezTo>
                  <a:pt x="286306" y="200025"/>
                  <a:pt x="309007" y="200025"/>
                  <a:pt x="325914" y="212804"/>
                </a:cubicBezTo>
                <a:close/>
                <a:moveTo>
                  <a:pt x="269399" y="327104"/>
                </a:moveTo>
                <a:cubicBezTo>
                  <a:pt x="286306" y="314325"/>
                  <a:pt x="309007" y="314325"/>
                  <a:pt x="325914" y="327104"/>
                </a:cubicBezTo>
                <a:cubicBezTo>
                  <a:pt x="342344" y="339487"/>
                  <a:pt x="362426" y="351473"/>
                  <a:pt x="384810" y="354489"/>
                </a:cubicBezTo>
                <a:cubicBezTo>
                  <a:pt x="395208" y="355918"/>
                  <a:pt x="404813" y="348536"/>
                  <a:pt x="406241" y="338138"/>
                </a:cubicBezTo>
                <a:cubicBezTo>
                  <a:pt x="407670" y="327739"/>
                  <a:pt x="400288" y="318135"/>
                  <a:pt x="389890" y="316706"/>
                </a:cubicBezTo>
                <a:cubicBezTo>
                  <a:pt x="377269" y="315039"/>
                  <a:pt x="363538" y="307737"/>
                  <a:pt x="348853" y="296704"/>
                </a:cubicBezTo>
                <a:cubicBezTo>
                  <a:pt x="318373" y="273685"/>
                  <a:pt x="277019" y="273685"/>
                  <a:pt x="246459" y="296704"/>
                </a:cubicBezTo>
                <a:cubicBezTo>
                  <a:pt x="227409" y="311071"/>
                  <a:pt x="214154" y="317579"/>
                  <a:pt x="203200" y="317579"/>
                </a:cubicBezTo>
                <a:cubicBezTo>
                  <a:pt x="192246" y="317579"/>
                  <a:pt x="178991" y="311071"/>
                  <a:pt x="159941" y="296704"/>
                </a:cubicBezTo>
                <a:cubicBezTo>
                  <a:pt x="129461" y="273685"/>
                  <a:pt x="88106" y="273685"/>
                  <a:pt x="57547" y="296704"/>
                </a:cubicBezTo>
                <a:cubicBezTo>
                  <a:pt x="42863" y="307737"/>
                  <a:pt x="29131" y="315039"/>
                  <a:pt x="16510" y="316706"/>
                </a:cubicBezTo>
                <a:cubicBezTo>
                  <a:pt x="6112" y="318135"/>
                  <a:pt x="-1270" y="327660"/>
                  <a:pt x="159" y="338138"/>
                </a:cubicBezTo>
                <a:cubicBezTo>
                  <a:pt x="1587" y="348615"/>
                  <a:pt x="11112" y="355918"/>
                  <a:pt x="21590" y="354489"/>
                </a:cubicBezTo>
                <a:cubicBezTo>
                  <a:pt x="43974" y="351473"/>
                  <a:pt x="64135" y="339487"/>
                  <a:pt x="80486" y="327104"/>
                </a:cubicBezTo>
                <a:cubicBezTo>
                  <a:pt x="97393" y="314325"/>
                  <a:pt x="120094" y="314325"/>
                  <a:pt x="137001" y="327104"/>
                </a:cubicBezTo>
                <a:cubicBezTo>
                  <a:pt x="156210" y="341630"/>
                  <a:pt x="178514" y="355600"/>
                  <a:pt x="203200" y="355600"/>
                </a:cubicBezTo>
                <a:cubicBezTo>
                  <a:pt x="227886" y="355600"/>
                  <a:pt x="250111" y="341551"/>
                  <a:pt x="269399" y="327104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4762500" y="20574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62500" y="2476500"/>
            <a:ext cx="292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 smooth player movement and progression. Eliminate frustrating bottlenecks while creating rhythmic alternation between tension and release.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55000" y="1270000"/>
            <a:ext cx="3429000" cy="3556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6" name="Shape 14"/>
          <p:cNvSpPr/>
          <p:nvPr/>
        </p:nvSpPr>
        <p:spPr>
          <a:xfrm>
            <a:off x="8255000" y="1270000"/>
            <a:ext cx="3429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Shape 15"/>
          <p:cNvSpPr/>
          <p:nvPr/>
        </p:nvSpPr>
        <p:spPr>
          <a:xfrm>
            <a:off x="8534400" y="1524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31750"/>
                </a:moveTo>
                <a:cubicBezTo>
                  <a:pt x="101600" y="14208"/>
                  <a:pt x="115808" y="0"/>
                  <a:pt x="133350" y="0"/>
                </a:cubicBezTo>
                <a:cubicBezTo>
                  <a:pt x="150892" y="0"/>
                  <a:pt x="165100" y="14208"/>
                  <a:pt x="165100" y="31750"/>
                </a:cubicBezTo>
                <a:lnTo>
                  <a:pt x="165100" y="149384"/>
                </a:lnTo>
                <a:cubicBezTo>
                  <a:pt x="171847" y="143351"/>
                  <a:pt x="180737" y="139700"/>
                  <a:pt x="190500" y="139700"/>
                </a:cubicBezTo>
                <a:cubicBezTo>
                  <a:pt x="206851" y="139700"/>
                  <a:pt x="220821" y="150019"/>
                  <a:pt x="226219" y="164465"/>
                </a:cubicBezTo>
                <a:cubicBezTo>
                  <a:pt x="233204" y="157083"/>
                  <a:pt x="243046" y="152400"/>
                  <a:pt x="254000" y="152400"/>
                </a:cubicBezTo>
                <a:cubicBezTo>
                  <a:pt x="274082" y="152400"/>
                  <a:pt x="290513" y="167878"/>
                  <a:pt x="292021" y="187563"/>
                </a:cubicBezTo>
                <a:cubicBezTo>
                  <a:pt x="298768" y="181451"/>
                  <a:pt x="307737" y="177800"/>
                  <a:pt x="317500" y="177800"/>
                </a:cubicBezTo>
                <a:cubicBezTo>
                  <a:pt x="338534" y="177800"/>
                  <a:pt x="355600" y="194866"/>
                  <a:pt x="355600" y="215900"/>
                </a:cubicBezTo>
                <a:lnTo>
                  <a:pt x="355600" y="304800"/>
                </a:lnTo>
                <a:cubicBezTo>
                  <a:pt x="355600" y="360918"/>
                  <a:pt x="310118" y="406400"/>
                  <a:pt x="254000" y="406400"/>
                </a:cubicBezTo>
                <a:lnTo>
                  <a:pt x="186293" y="406400"/>
                </a:lnTo>
                <a:cubicBezTo>
                  <a:pt x="182324" y="406400"/>
                  <a:pt x="178435" y="406162"/>
                  <a:pt x="174625" y="405606"/>
                </a:cubicBezTo>
                <a:cubicBezTo>
                  <a:pt x="130731" y="401161"/>
                  <a:pt x="90329" y="378619"/>
                  <a:pt x="63500" y="342900"/>
                </a:cubicBezTo>
                <a:lnTo>
                  <a:pt x="6350" y="266700"/>
                </a:lnTo>
                <a:cubicBezTo>
                  <a:pt x="-4207" y="252651"/>
                  <a:pt x="-1349" y="232807"/>
                  <a:pt x="12700" y="222250"/>
                </a:cubicBezTo>
                <a:cubicBezTo>
                  <a:pt x="26749" y="211693"/>
                  <a:pt x="46593" y="214551"/>
                  <a:pt x="57150" y="228600"/>
                </a:cubicBezTo>
                <a:lnTo>
                  <a:pt x="101600" y="287893"/>
                </a:lnTo>
                <a:lnTo>
                  <a:pt x="101600" y="31750"/>
                </a:lnTo>
                <a:close/>
                <a:moveTo>
                  <a:pt x="190500" y="241300"/>
                </a:moveTo>
                <a:cubicBezTo>
                  <a:pt x="190500" y="234315"/>
                  <a:pt x="184785" y="228600"/>
                  <a:pt x="177800" y="228600"/>
                </a:cubicBezTo>
                <a:cubicBezTo>
                  <a:pt x="170815" y="228600"/>
                  <a:pt x="165100" y="234315"/>
                  <a:pt x="165100" y="241300"/>
                </a:cubicBezTo>
                <a:lnTo>
                  <a:pt x="165100" y="317500"/>
                </a:lnTo>
                <a:cubicBezTo>
                  <a:pt x="165100" y="324485"/>
                  <a:pt x="170815" y="330200"/>
                  <a:pt x="177800" y="330200"/>
                </a:cubicBezTo>
                <a:cubicBezTo>
                  <a:pt x="184785" y="330200"/>
                  <a:pt x="190500" y="324485"/>
                  <a:pt x="190500" y="317500"/>
                </a:cubicBezTo>
                <a:lnTo>
                  <a:pt x="190500" y="241300"/>
                </a:lnTo>
                <a:close/>
                <a:moveTo>
                  <a:pt x="228600" y="228600"/>
                </a:moveTo>
                <a:cubicBezTo>
                  <a:pt x="221615" y="228600"/>
                  <a:pt x="215900" y="234315"/>
                  <a:pt x="215900" y="241300"/>
                </a:cubicBezTo>
                <a:lnTo>
                  <a:pt x="215900" y="317500"/>
                </a:lnTo>
                <a:cubicBezTo>
                  <a:pt x="215900" y="324485"/>
                  <a:pt x="221615" y="330200"/>
                  <a:pt x="228600" y="330200"/>
                </a:cubicBezTo>
                <a:cubicBezTo>
                  <a:pt x="235585" y="330200"/>
                  <a:pt x="241300" y="324485"/>
                  <a:pt x="241300" y="317500"/>
                </a:cubicBezTo>
                <a:lnTo>
                  <a:pt x="241300" y="241300"/>
                </a:lnTo>
                <a:cubicBezTo>
                  <a:pt x="241300" y="234315"/>
                  <a:pt x="235585" y="228600"/>
                  <a:pt x="228600" y="228600"/>
                </a:cubicBezTo>
                <a:close/>
                <a:moveTo>
                  <a:pt x="292100" y="241300"/>
                </a:moveTo>
                <a:cubicBezTo>
                  <a:pt x="292100" y="234315"/>
                  <a:pt x="286385" y="228600"/>
                  <a:pt x="279400" y="228600"/>
                </a:cubicBezTo>
                <a:cubicBezTo>
                  <a:pt x="272415" y="228600"/>
                  <a:pt x="266700" y="234315"/>
                  <a:pt x="266700" y="241300"/>
                </a:cubicBezTo>
                <a:lnTo>
                  <a:pt x="266700" y="317500"/>
                </a:lnTo>
                <a:cubicBezTo>
                  <a:pt x="266700" y="324485"/>
                  <a:pt x="272415" y="330200"/>
                  <a:pt x="279400" y="330200"/>
                </a:cubicBezTo>
                <a:cubicBezTo>
                  <a:pt x="286385" y="330200"/>
                  <a:pt x="292100" y="324485"/>
                  <a:pt x="292100" y="317500"/>
                </a:cubicBezTo>
                <a:lnTo>
                  <a:pt x="292100" y="241300"/>
                </a:ln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20574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9000" y="2476500"/>
            <a:ext cx="292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Give players meaningful choices that affect their experience. Multiple paths, optional challenges, and emergent gameplay increase replayability.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001500" y="1270000"/>
            <a:ext cx="3429000" cy="3302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0" y="1270000"/>
            <a:ext cx="3429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Shape 20"/>
          <p:cNvSpPr/>
          <p:nvPr/>
        </p:nvSpPr>
        <p:spPr>
          <a:xfrm>
            <a:off x="12280900" y="1524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23" name="Text 21"/>
          <p:cNvSpPr/>
          <p:nvPr/>
        </p:nvSpPr>
        <p:spPr>
          <a:xfrm>
            <a:off x="12255500" y="20574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FEEDBACK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255500" y="2476500"/>
            <a:ext cx="292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player action should produce clear, immediate, and satisfying feedback through visual, audio, and haptic responses.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4953000"/>
            <a:ext cx="14732000" cy="1016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1079500" y="5080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four pillars work together. A level with perfect flow but no player agency feels like a movie. A level with great clarity but poor feedback feels hollow. Balance is key.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Layout &amp; Player Guidance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7874000" cy="501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Effective spatial design uses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environmental cues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guide players intuitively without breaking immersion: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8A83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Landmarking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Place distinctive visual markers that help players orient themselves and navigate complex spaces.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8A83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Funneling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Use architecture to naturally direct player attention toward objectives without feeling restrictive.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8A83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Weenies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Disney term for visible distant goals that draw players forward (like a castle on a hill).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8A83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Signposting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Use lighting, color contrast, and motion to highlight important elements.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0" y="1270000"/>
            <a:ext cx="6350000" cy="4699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7" name="Text 5"/>
          <p:cNvSpPr/>
          <p:nvPr/>
        </p:nvSpPr>
        <p:spPr>
          <a:xfrm>
            <a:off x="9461500" y="1460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GOLDEN PATH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461500" y="1841500"/>
            <a:ext cx="508000" cy="254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9" name="Shape 7"/>
          <p:cNvSpPr/>
          <p:nvPr/>
        </p:nvSpPr>
        <p:spPr>
          <a:xfrm>
            <a:off x="9588500" y="2222500"/>
            <a:ext cx="1270000" cy="508000"/>
          </a:xfrm>
          <a:prstGeom prst="roundRect">
            <a:avLst>
              <a:gd name="adj" fmla="val 8000"/>
            </a:avLst>
          </a:pr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9588500" y="2222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858500" y="2413000"/>
            <a:ext cx="635000" cy="0"/>
          </a:xfrm>
          <a:prstGeom prst="straightConnector1">
            <a:avLst/>
          </a:prstGeom>
          <a:noFill/>
          <a:ln w="25400">
            <a:solidFill>
              <a:srgbClr val="E8A838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1493500" y="2095500"/>
            <a:ext cx="1651000" cy="698500"/>
          </a:xfrm>
          <a:prstGeom prst="diamond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93500" y="2095500"/>
            <a:ext cx="165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CHOICE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462000" y="1841500"/>
            <a:ext cx="0" cy="444500"/>
          </a:xfrm>
          <a:prstGeom prst="straightConnector1">
            <a:avLst/>
          </a:prstGeom>
          <a:noFill/>
          <a:ln w="25400">
            <a:solidFill>
              <a:srgbClr val="5A5A5A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2954000" y="1498600"/>
            <a:ext cx="1016000" cy="330200"/>
          </a:xfrm>
          <a:prstGeom prst="roundRect">
            <a:avLst>
              <a:gd name="adj" fmla="val 8000"/>
            </a:avLst>
          </a:prstGeom>
          <a:solidFill>
            <a:srgbClr val="EBE8E1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54000" y="14986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Side Path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319000" y="2794000"/>
            <a:ext cx="0" cy="698500"/>
          </a:xfrm>
          <a:prstGeom prst="straightConnector1">
            <a:avLst/>
          </a:prstGeom>
          <a:noFill/>
          <a:ln w="25400">
            <a:solidFill>
              <a:srgbClr val="E8A838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1684000" y="3492500"/>
            <a:ext cx="1270000" cy="508000"/>
          </a:xfrm>
          <a:prstGeom prst="roundRect">
            <a:avLst>
              <a:gd name="adj" fmla="val 8000"/>
            </a:avLst>
          </a:pr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11684000" y="3492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Path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954000" y="3746500"/>
            <a:ext cx="762000" cy="0"/>
          </a:xfrm>
          <a:prstGeom prst="straightConnector1">
            <a:avLst/>
          </a:prstGeom>
          <a:noFill/>
          <a:ln w="25400">
            <a:solidFill>
              <a:srgbClr val="E8A838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3716000" y="3429000"/>
            <a:ext cx="1397000" cy="635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0" y="3429000"/>
            <a:ext cx="139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61500" y="44450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the optimal route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allowing exploration. Players should always see where they came from and where they're going.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Pacing, Difficulty &amp; Engagement Curves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06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Level pacing follows an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emotional arc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similar to storytelling — alternating challenge peaks with recovery valleys.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62000" y="1778000"/>
          <a:ext cx="7112000" cy="330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382000" y="17780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Difficulty Ramping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Introduce mechanics individually, then combine them in escalating complexity.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Flow Channel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 challenge against skill; too easy = boredom, too hard = anxiety.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Breathing Room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 safe zones after intense encounters for recovery and resource management.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5397500"/>
            <a:ext cx="14732000" cy="1397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9" name="Text 6"/>
          <p:cNvSpPr/>
          <p:nvPr/>
        </p:nvSpPr>
        <p:spPr>
          <a:xfrm>
            <a:off x="1079500" y="5524500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Setpiece Moments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Design memorable high-intensity sequences as punctuation marks that players remember.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Playtesting is Essential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What designers find "challenging," players often find "impossible." Always test with fresh players.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Design Practical Tips in 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7000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7000" y="127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with Greyboxing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16510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 out spaces with primitive shapes before adding art. Iterate on layout fast without asset dependencies.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4000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540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97000" y="254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ProBuilder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97000" y="29210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Unity's built-in tool for rapid prototyping of level geometry directly in the editor.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81000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3810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97000" y="381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Prefab Everything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7000" y="41910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Turn repeating elements into prefabs for consistency and easy iteration across the project.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0" y="1270000"/>
            <a:ext cx="7366000" cy="3683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146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 WORKFLOW TIPS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09000" y="1879600"/>
            <a:ext cx="508000" cy="254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8509000" y="2095500"/>
            <a:ext cx="660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Lighting Early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Establish base lighting during greybox phase; lighting fundamentally changes how spaces feel.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 Volumes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Maintain a library of correctly-scaled reference objects to ensure proper proportions.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Constantly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Play your level after every significant change; what looks good in editor may play poorly.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334000"/>
            <a:ext cx="14732000" cy="1016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3950" y="5588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23" name="Text 21"/>
          <p:cNvSpPr/>
          <p:nvPr/>
        </p:nvSpPr>
        <p:spPr>
          <a:xfrm>
            <a:off x="1587500" y="54610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Golden Rule: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level that looks beautiful but plays poorly is a failed level. Always prioritize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gameplay over aesthetics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early iterations.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xpmouzkvz2hw/mnt/agents/output/game-programming-week4/images/2_Close_up_shot_of_colorful_code_on.png">    </p:cNvPr>
          <p:cNvPicPr>
            <a:picLocks noChangeAspect="1"/>
          </p:cNvPicPr>
          <p:nvPr/>
        </p:nvPicPr>
        <p:blipFill>
          <a:blip r:embed="rId1"/>
          <a:srcRect l="1524" r="152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60000">
                <a:srgbClr val="1A1A2E">
                  <a:alpha val="82000"/>
                </a:srgbClr>
              </a:gs>
              <a:gs pos="100000">
                <a:srgbClr val="1A1A2E">
                  <a:alpha val="56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635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0" dirty="0">
                <a:solidFill>
                  <a:srgbClr val="E8A838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937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SYSTEMS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62000" y="4318000"/>
            <a:ext cx="1016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5466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300" kern="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PATTERNS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3EF">
                    <a:alpha val="56471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Component Design, Game Loop &amp; Event Systems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 rot="1800000">
            <a:off x="14732000" y="7620000"/>
            <a:ext cx="635000" cy="635000"/>
          </a:xfrm>
          <a:prstGeom prst="triangle">
            <a:avLst>
              <a:gd name="adj" fmla="val 50000"/>
            </a:avLst>
          </a:prstGeom>
          <a:solidFill>
            <a:srgbClr val="E8A838">
              <a:alpha val="1451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Game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06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systems are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interconnected rules, mechanics, and subsystems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define how a game functions. They transform player input into meaningful output through structured logic.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4699000" cy="1460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7" name="Shape 5"/>
          <p:cNvSpPr/>
          <p:nvPr/>
        </p:nvSpPr>
        <p:spPr>
          <a:xfrm>
            <a:off x="971550" y="2349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311150" y="44450"/>
                </a:moveTo>
                <a:cubicBezTo>
                  <a:pt x="384770" y="44450"/>
                  <a:pt x="444500" y="104180"/>
                  <a:pt x="444500" y="177800"/>
                </a:cubicBezTo>
                <a:cubicBezTo>
                  <a:pt x="444500" y="251420"/>
                  <a:pt x="384770" y="311150"/>
                  <a:pt x="311150" y="311150"/>
                </a:cubicBezTo>
                <a:lnTo>
                  <a:pt x="133350" y="311150"/>
                </a:lnTo>
                <a:cubicBezTo>
                  <a:pt x="59730" y="311150"/>
                  <a:pt x="0" y="251420"/>
                  <a:pt x="0" y="177800"/>
                </a:cubicBezTo>
                <a:cubicBezTo>
                  <a:pt x="0" y="104180"/>
                  <a:pt x="59730" y="44450"/>
                  <a:pt x="133350" y="44450"/>
                </a:cubicBezTo>
                <a:lnTo>
                  <a:pt x="311150" y="44450"/>
                </a:lnTo>
                <a:close/>
                <a:moveTo>
                  <a:pt x="133350" y="122238"/>
                </a:moveTo>
                <a:cubicBezTo>
                  <a:pt x="124113" y="122238"/>
                  <a:pt x="116681" y="129669"/>
                  <a:pt x="116681" y="138906"/>
                </a:cubicBezTo>
                <a:lnTo>
                  <a:pt x="116681" y="161131"/>
                </a:lnTo>
                <a:lnTo>
                  <a:pt x="94456" y="161131"/>
                </a:lnTo>
                <a:cubicBezTo>
                  <a:pt x="85219" y="161131"/>
                  <a:pt x="77788" y="168563"/>
                  <a:pt x="77788" y="177800"/>
                </a:cubicBezTo>
                <a:cubicBezTo>
                  <a:pt x="77788" y="187037"/>
                  <a:pt x="85219" y="194469"/>
                  <a:pt x="94456" y="194469"/>
                </a:cubicBezTo>
                <a:lnTo>
                  <a:pt x="116681" y="194469"/>
                </a:lnTo>
                <a:lnTo>
                  <a:pt x="116681" y="216694"/>
                </a:lnTo>
                <a:cubicBezTo>
                  <a:pt x="116681" y="225931"/>
                  <a:pt x="124113" y="233363"/>
                  <a:pt x="133350" y="233363"/>
                </a:cubicBezTo>
                <a:cubicBezTo>
                  <a:pt x="142587" y="233363"/>
                  <a:pt x="150019" y="225931"/>
                  <a:pt x="150019" y="216694"/>
                </a:cubicBezTo>
                <a:lnTo>
                  <a:pt x="150019" y="194469"/>
                </a:lnTo>
                <a:lnTo>
                  <a:pt x="172244" y="194469"/>
                </a:lnTo>
                <a:cubicBezTo>
                  <a:pt x="181481" y="194469"/>
                  <a:pt x="188913" y="187037"/>
                  <a:pt x="188913" y="177800"/>
                </a:cubicBezTo>
                <a:cubicBezTo>
                  <a:pt x="188913" y="168563"/>
                  <a:pt x="181481" y="161131"/>
                  <a:pt x="172244" y="161131"/>
                </a:cubicBezTo>
                <a:lnTo>
                  <a:pt x="150019" y="161131"/>
                </a:lnTo>
                <a:lnTo>
                  <a:pt x="150019" y="138906"/>
                </a:lnTo>
                <a:cubicBezTo>
                  <a:pt x="150019" y="129669"/>
                  <a:pt x="142587" y="122238"/>
                  <a:pt x="133350" y="122238"/>
                </a:cubicBezTo>
                <a:close/>
                <a:moveTo>
                  <a:pt x="300038" y="188913"/>
                </a:moveTo>
                <a:cubicBezTo>
                  <a:pt x="287771" y="188913"/>
                  <a:pt x="277813" y="198871"/>
                  <a:pt x="277813" y="211138"/>
                </a:cubicBezTo>
                <a:cubicBezTo>
                  <a:pt x="277813" y="223404"/>
                  <a:pt x="287771" y="233363"/>
                  <a:pt x="300038" y="233363"/>
                </a:cubicBezTo>
                <a:cubicBezTo>
                  <a:pt x="312304" y="233363"/>
                  <a:pt x="322263" y="223404"/>
                  <a:pt x="322263" y="211138"/>
                </a:cubicBezTo>
                <a:cubicBezTo>
                  <a:pt x="322263" y="198871"/>
                  <a:pt x="312304" y="188913"/>
                  <a:pt x="300038" y="188913"/>
                </a:cubicBezTo>
                <a:close/>
                <a:moveTo>
                  <a:pt x="344488" y="122238"/>
                </a:moveTo>
                <a:cubicBezTo>
                  <a:pt x="332221" y="122238"/>
                  <a:pt x="322263" y="132196"/>
                  <a:pt x="322263" y="144463"/>
                </a:cubicBezTo>
                <a:cubicBezTo>
                  <a:pt x="322263" y="156729"/>
                  <a:pt x="332221" y="166688"/>
                  <a:pt x="344488" y="166688"/>
                </a:cubicBezTo>
                <a:cubicBezTo>
                  <a:pt x="356754" y="166688"/>
                  <a:pt x="366712" y="156729"/>
                  <a:pt x="366712" y="144463"/>
                </a:cubicBezTo>
                <a:cubicBezTo>
                  <a:pt x="366712" y="132196"/>
                  <a:pt x="356754" y="122238"/>
                  <a:pt x="344488" y="122238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2286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SYSTEMS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730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 and process player commands from keyboard, mouse, controller, or touch.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2095500"/>
            <a:ext cx="4699000" cy="1460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1" name="Shape 9"/>
          <p:cNvSpPr/>
          <p:nvPr/>
        </p:nvSpPr>
        <p:spPr>
          <a:xfrm>
            <a:off x="60325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783" y="-1736"/>
                </a:moveTo>
                <a:cubicBezTo>
                  <a:pt x="169535" y="-9654"/>
                  <a:pt x="186482" y="-9654"/>
                  <a:pt x="200233" y="-1736"/>
                </a:cubicBezTo>
                <a:lnTo>
                  <a:pt x="322401" y="68759"/>
                </a:lnTo>
                <a:cubicBezTo>
                  <a:pt x="336153" y="76676"/>
                  <a:pt x="344626" y="91400"/>
                  <a:pt x="344626" y="107236"/>
                </a:cubicBezTo>
                <a:lnTo>
                  <a:pt x="344626" y="248225"/>
                </a:lnTo>
                <a:cubicBezTo>
                  <a:pt x="344626" y="264130"/>
                  <a:pt x="336153" y="278785"/>
                  <a:pt x="322401" y="286702"/>
                </a:cubicBezTo>
                <a:lnTo>
                  <a:pt x="200233" y="357336"/>
                </a:lnTo>
                <a:cubicBezTo>
                  <a:pt x="186482" y="365254"/>
                  <a:pt x="169535" y="365254"/>
                  <a:pt x="155783" y="357336"/>
                </a:cubicBezTo>
                <a:lnTo>
                  <a:pt x="33685" y="286841"/>
                </a:lnTo>
                <a:cubicBezTo>
                  <a:pt x="19933" y="278924"/>
                  <a:pt x="11460" y="264200"/>
                  <a:pt x="11460" y="248364"/>
                </a:cubicBezTo>
                <a:lnTo>
                  <a:pt x="11460" y="107375"/>
                </a:lnTo>
                <a:cubicBezTo>
                  <a:pt x="11460" y="91470"/>
                  <a:pt x="19933" y="76815"/>
                  <a:pt x="33685" y="68898"/>
                </a:cubicBezTo>
                <a:lnTo>
                  <a:pt x="155783" y="-1736"/>
                </a:lnTo>
                <a:close/>
                <a:moveTo>
                  <a:pt x="300107" y="248295"/>
                </a:moveTo>
                <a:lnTo>
                  <a:pt x="300107" y="132933"/>
                </a:lnTo>
                <a:lnTo>
                  <a:pt x="200233" y="190579"/>
                </a:lnTo>
                <a:lnTo>
                  <a:pt x="200233" y="305941"/>
                </a:lnTo>
                <a:lnTo>
                  <a:pt x="300107" y="248295"/>
                </a:ln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6540500" y="2286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PHYSICS SYSTEMS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730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Simulate movement, collision detection, and environmental interaction.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2095500"/>
            <a:ext cx="4699000" cy="1460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26775" y="2349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16" name="Text 14"/>
          <p:cNvSpPr/>
          <p:nvPr/>
        </p:nvSpPr>
        <p:spPr>
          <a:xfrm>
            <a:off x="11557000" y="2286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RENDERING SYSTEMS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2730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 visual output to the screen through cameras, shaders, and lighting.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746500"/>
            <a:ext cx="4699000" cy="1460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400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5041" y="4862"/>
                </a:moveTo>
                <a:cubicBezTo>
                  <a:pt x="330319" y="9098"/>
                  <a:pt x="333375" y="15488"/>
                  <a:pt x="333375" y="22225"/>
                </a:cubicBezTo>
                <a:lnTo>
                  <a:pt x="333375" y="233363"/>
                </a:lnTo>
                <a:cubicBezTo>
                  <a:pt x="333375" y="264061"/>
                  <a:pt x="303510" y="288925"/>
                  <a:pt x="266700" y="288925"/>
                </a:cubicBezTo>
                <a:cubicBezTo>
                  <a:pt x="229890" y="288925"/>
                  <a:pt x="200025" y="264061"/>
                  <a:pt x="200025" y="233363"/>
                </a:cubicBezTo>
                <a:cubicBezTo>
                  <a:pt x="200025" y="202664"/>
                  <a:pt x="229890" y="177800"/>
                  <a:pt x="266700" y="177800"/>
                </a:cubicBezTo>
                <a:cubicBezTo>
                  <a:pt x="274479" y="177800"/>
                  <a:pt x="281980" y="178911"/>
                  <a:pt x="288925" y="180995"/>
                </a:cubicBezTo>
                <a:lnTo>
                  <a:pt x="288925" y="99943"/>
                </a:lnTo>
                <a:lnTo>
                  <a:pt x="133350" y="134531"/>
                </a:lnTo>
                <a:lnTo>
                  <a:pt x="133350" y="277813"/>
                </a:lnTo>
                <a:cubicBezTo>
                  <a:pt x="133350" y="308511"/>
                  <a:pt x="103485" y="333375"/>
                  <a:pt x="66675" y="333375"/>
                </a:cubicBezTo>
                <a:cubicBezTo>
                  <a:pt x="29865" y="333375"/>
                  <a:pt x="0" y="308511"/>
                  <a:pt x="0" y="277813"/>
                </a:cubicBezTo>
                <a:cubicBezTo>
                  <a:pt x="0" y="247114"/>
                  <a:pt x="29865" y="222250"/>
                  <a:pt x="66675" y="222250"/>
                </a:cubicBezTo>
                <a:cubicBezTo>
                  <a:pt x="74454" y="222250"/>
                  <a:pt x="81955" y="223361"/>
                  <a:pt x="88900" y="225445"/>
                </a:cubicBezTo>
                <a:lnTo>
                  <a:pt x="88900" y="66675"/>
                </a:lnTo>
                <a:cubicBezTo>
                  <a:pt x="88900" y="56257"/>
                  <a:pt x="96123" y="47228"/>
                  <a:pt x="106333" y="45006"/>
                </a:cubicBezTo>
                <a:lnTo>
                  <a:pt x="306358" y="556"/>
                </a:lnTo>
                <a:cubicBezTo>
                  <a:pt x="312956" y="-903"/>
                  <a:pt x="319832" y="695"/>
                  <a:pt x="325110" y="4931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1524000" y="3937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SYSTEMS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381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sound effects, music, and spatial audio for immersive experiences.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78500" y="3746500"/>
            <a:ext cx="4699000" cy="1460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23" name="Shape 21"/>
          <p:cNvSpPr/>
          <p:nvPr/>
        </p:nvSpPr>
        <p:spPr>
          <a:xfrm>
            <a:off x="6054725" y="4000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24" name="Text 22"/>
          <p:cNvSpPr/>
          <p:nvPr/>
        </p:nvSpPr>
        <p:spPr>
          <a:xfrm>
            <a:off x="6540500" y="3937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MANAGEMENT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2500" y="4381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game progress, save/load data, and manage scene transitions.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795000" y="3746500"/>
            <a:ext cx="4699000" cy="1460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49000" y="400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28" name="Text 26"/>
          <p:cNvSpPr/>
          <p:nvPr/>
        </p:nvSpPr>
        <p:spPr>
          <a:xfrm>
            <a:off x="11557000" y="3937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SYSTEMS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49000" y="4381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 information and receive player interaction through interfaces.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5461000"/>
            <a:ext cx="14732000" cy="1016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5050" y="5715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32" name="Text 30"/>
          <p:cNvSpPr/>
          <p:nvPr/>
        </p:nvSpPr>
        <p:spPr>
          <a:xfrm>
            <a:off x="1587500" y="55880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Systems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Control non-player entity behavior and decision-making. Well-designed systems are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modular, decoupled, and communicate through defined interfaces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Unity's Component-Based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711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Unity uses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component-based design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where GameObjects are containers and Components define behavior: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E8A83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GameObject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Empty container that exists in the scene.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E8A83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Components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Modular modules: Transform, Renderer, Collider, scripts.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E8A83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Composition &gt; Inheritance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Combine components, avoid deep hierarchies.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270000"/>
            <a:ext cx="7112000" cy="3302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7" name="Text 5"/>
          <p:cNvSpPr/>
          <p:nvPr/>
        </p:nvSpPr>
        <p:spPr>
          <a:xfrm>
            <a:off x="8699500" y="1460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COMPOSITION EXAMPLE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22000" y="1968500"/>
            <a:ext cx="2032000" cy="508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22000" y="1968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GameObject: Player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938000" y="2476500"/>
            <a:ext cx="0" cy="317500"/>
          </a:xfrm>
          <a:prstGeom prst="straightConnector1">
            <a:avLst/>
          </a:prstGeom>
          <a:noFill/>
          <a:ln w="25400">
            <a:solidFill>
              <a:srgbClr val="E8A838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8890000" y="2857500"/>
            <a:ext cx="6096000" cy="444500"/>
          </a:xfrm>
          <a:prstGeom prst="roundRect">
            <a:avLst>
              <a:gd name="adj" fmla="val 6000"/>
            </a:avLst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0" y="28575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| Sprite Renderer | Rigidbody2D | PlayerController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938000" y="3302000"/>
            <a:ext cx="0" cy="317500"/>
          </a:xfrm>
          <a:prstGeom prst="straightConnector1">
            <a:avLst/>
          </a:prstGeom>
          <a:noFill/>
          <a:ln w="25400">
            <a:solidFill>
              <a:srgbClr val="5A5A5A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0160000" y="3683000"/>
            <a:ext cx="3556000" cy="444500"/>
          </a:xfrm>
          <a:prstGeom prst="roundRect">
            <a:avLst>
              <a:gd name="adj" fmla="val 6000"/>
            </a:avLst>
          </a:prstGeom>
          <a:solidFill>
            <a:srgbClr val="EBE8E1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60000" y="3683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Saved as Prefab | Reusable Template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4953000"/>
            <a:ext cx="1473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Prefabs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Reusable GameObject templates that maintain consistency across scenes. Edit the prefab, update all instances automatically.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ScriptableObjects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Data containers that live outside scene instances. Ideal for configuration data, shared game state, and event channels. Survive scene changes and don't require MonoBehaviour overhead.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Patterns for Game Development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70000"/>
            <a:ext cx="4699000" cy="1968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50800" cy="1968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397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SINGLETON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778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only one instance of a class exists (GameManager, AudioManager). Provides global access point.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sparingly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avoid tight coupling.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270000"/>
            <a:ext cx="4699000" cy="1968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0" name="Shape 8"/>
          <p:cNvSpPr/>
          <p:nvPr/>
        </p:nvSpPr>
        <p:spPr>
          <a:xfrm>
            <a:off x="5778500" y="1270000"/>
            <a:ext cx="50800" cy="1968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1397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OBSERVER / PUB-SUB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1778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Decoupled event communication. Objects subscribe to events without direct references. Unity's C# events and UnityEvents implement this.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270000"/>
            <a:ext cx="4699000" cy="1968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95000" y="1270000"/>
            <a:ext cx="50800" cy="1968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0" y="1397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MACHINE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1778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entity behavior through discrete states (Idle, Walk, Attack) with defined transitions. Essential for AI and player controllers.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556000"/>
            <a:ext cx="7175500" cy="1968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3556000"/>
            <a:ext cx="50800" cy="1968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3683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COMMAND PATTERN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40640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Encapsulate actions as objects to support undo/redo, action queuing, and replay systems. Each command becomes a self-contained object with Execute() and Undo() methods.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18500" y="3556000"/>
            <a:ext cx="7175500" cy="1968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22" name="Shape 20"/>
          <p:cNvSpPr/>
          <p:nvPr/>
        </p:nvSpPr>
        <p:spPr>
          <a:xfrm>
            <a:off x="8318500" y="3556000"/>
            <a:ext cx="50800" cy="1968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3" name="Text 21"/>
          <p:cNvSpPr/>
          <p:nvPr/>
        </p:nvSpPr>
        <p:spPr>
          <a:xfrm>
            <a:off x="8572500" y="3683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POOL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0" y="40640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Reuse instantiated objects instead of repeated create/destroy cycles. Critical for performance with frequent spawning — bullets, particles, enemies. Prevents garbage collection stutter.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842000"/>
            <a:ext cx="14732000" cy="762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1079500" y="5905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Don't force patterns where simple solutions work. The best architecture is the one your team can understand and maintain.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Game Loop &amp; State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70000"/>
            <a:ext cx="14732000" cy="2540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397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 EXECUTION ORDER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9500" y="19050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19050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Awake / Start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57500" y="2159000"/>
            <a:ext cx="444500" cy="0"/>
          </a:xfrm>
          <a:prstGeom prst="straightConnector1">
            <a:avLst/>
          </a:prstGeom>
          <a:noFill/>
          <a:ln w="25400">
            <a:solidFill>
              <a:srgbClr val="E8A838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302000" y="1905000"/>
            <a:ext cx="1968500" cy="571500"/>
          </a:xfrm>
          <a:prstGeom prst="roundRect">
            <a:avLst>
              <a:gd name="adj" fmla="val 8000"/>
            </a:avLst>
          </a:prstGeom>
          <a:solidFill>
            <a:srgbClr val="E8A838"/>
          </a:solidFill>
          <a:ln/>
        </p:spPr>
      </p:sp>
      <p:sp>
        <p:nvSpPr>
          <p:cNvPr id="11" name="Text 9"/>
          <p:cNvSpPr/>
          <p:nvPr/>
        </p:nvSpPr>
        <p:spPr>
          <a:xfrm>
            <a:off x="3302000" y="1905000"/>
            <a:ext cx="196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FixedUpdate (50Hz)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70500" y="2159000"/>
            <a:ext cx="444500" cy="0"/>
          </a:xfrm>
          <a:prstGeom prst="straightConnector1">
            <a:avLst/>
          </a:prstGeom>
          <a:noFill/>
          <a:ln w="25400">
            <a:solidFill>
              <a:srgbClr val="E8A838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5715000" y="19050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19050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(frame)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93000" y="2159000"/>
            <a:ext cx="444500" cy="0"/>
          </a:xfrm>
          <a:prstGeom prst="straightConnector1">
            <a:avLst/>
          </a:prstGeom>
          <a:noFill/>
          <a:ln w="25400">
            <a:solidFill>
              <a:srgbClr val="E8A838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937500" y="1905000"/>
            <a:ext cx="1968500" cy="571500"/>
          </a:xfrm>
          <a:prstGeom prst="roundRect">
            <a:avLst>
              <a:gd name="adj" fmla="val 8000"/>
            </a:avLst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500" y="1905000"/>
            <a:ext cx="196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LateUpdate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906000" y="2159000"/>
            <a:ext cx="444500" cy="0"/>
          </a:xfrm>
          <a:prstGeom prst="straightConnector1">
            <a:avLst/>
          </a:prstGeom>
          <a:noFill/>
          <a:ln w="25400">
            <a:solidFill>
              <a:srgbClr val="E8A838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350500" y="19050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10350500" y="19050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128500" y="2159000"/>
            <a:ext cx="444500" cy="0"/>
          </a:xfrm>
          <a:prstGeom prst="straightConnector1">
            <a:avLst/>
          </a:prstGeom>
          <a:noFill/>
          <a:ln w="25400">
            <a:solidFill>
              <a:srgbClr val="E8A838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2573000" y="1905000"/>
            <a:ext cx="1968500" cy="5715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12573000" y="1905000"/>
            <a:ext cx="196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OnDestroy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9500" y="2730500"/>
            <a:ext cx="1397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FixedUpdate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runs at fixed timestep (default 0.02s = 50Hz) for physics.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runs every frame for game logic.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LateUpdate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runs after all Updates — ideal for camera follow.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406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Management Approaches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4508500"/>
            <a:ext cx="635000" cy="254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" y="4762500"/>
            <a:ext cx="4699000" cy="1397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4889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SCENE-BASED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52324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Unity scenes as state containers: Menu scene, Gameplay scene, GameOver scene.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78500" y="4762500"/>
            <a:ext cx="4699000" cy="1397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31" name="Text 29"/>
          <p:cNvSpPr/>
          <p:nvPr/>
        </p:nvSpPr>
        <p:spPr>
          <a:xfrm>
            <a:off x="6032500" y="4889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SCRIPT-BASED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32500" y="52324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states in code with switch statements or dedicated state machine classes.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795000" y="4762500"/>
            <a:ext cx="4699000" cy="1397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34" name="Text 32"/>
          <p:cNvSpPr/>
          <p:nvPr/>
        </p:nvSpPr>
        <p:spPr>
          <a:xfrm>
            <a:off x="11049000" y="4889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049000" y="52324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scene loading with in-scene state transitions for complex games.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Event-Driven Communication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06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Unity games rely on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event-driven architecture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loose coupling between systems. Three primary approaches: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4699000" cy="3048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841500"/>
            <a:ext cx="4699000" cy="50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415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C# EVENTS / DELEGATES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5400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.NET event system built into C#. Good for intra-system communication within the same assembly.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Fast, type-safe, no external dependencies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5A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 serializable, tight compile-time coupling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841500"/>
            <a:ext cx="4699000" cy="3048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1" name="Shape 9"/>
          <p:cNvSpPr/>
          <p:nvPr/>
        </p:nvSpPr>
        <p:spPr>
          <a:xfrm>
            <a:off x="5778500" y="1841500"/>
            <a:ext cx="4699000" cy="50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0" y="18415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UNITYEVENTS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5400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Serializable in the Inspector. Designers can wire events without modifying code.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Designer-friendly, visual wiring, no code needed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5A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Slower than C# events, harder to debug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841500"/>
            <a:ext cx="4699000" cy="3048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95000" y="1841500"/>
            <a:ext cx="4699000" cy="50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0" y="18415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SCRIPTABLEOBJECT EVENTS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25400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Scriptable Objects as event channels enable cross-scene communication without direct references.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Fully decoupled, cross-scene, testable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5A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setup, potential for memory leaks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207000"/>
            <a:ext cx="14732000" cy="1079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53086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Unsubscribe from all events in OnDestroy() to prevent memory leaks. Use strongly-typed event payloads. Keep event handlers lightweight — defer heavy processing. Document your event schema so team members understand available channels.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xpmouzkvz2hw/mnt/agents/output/game-programming-week4/images/8_How_to_Design_3D_Game_Environment.png">    </p:cNvPr>
          <p:cNvPicPr>
            <a:picLocks noChangeAspect="1"/>
          </p:cNvPicPr>
          <p:nvPr/>
        </p:nvPicPr>
        <p:blipFill>
          <a:blip r:embed="rId1"/>
          <a:srcRect l="0" r="0" t="17168" b="1716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60000">
                <a:srgbClr val="1A1A2E">
                  <a:alpha val="82000"/>
                </a:srgbClr>
              </a:gs>
              <a:gs pos="100000">
                <a:srgbClr val="1A1A2E">
                  <a:alpha val="56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635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0" dirty="0">
                <a:solidFill>
                  <a:srgbClr val="E8A838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937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SCREENSHOTS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62000" y="4318000"/>
            <a:ext cx="1016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5466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300" kern="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&amp; TOOLS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3EF">
                    <a:alpha val="56471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Techniques, Advanced Methods &amp; Unity Recorder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 rot="1800000">
            <a:off x="14732000" y="7620000"/>
            <a:ext cx="635000" cy="635000"/>
          </a:xfrm>
          <a:prstGeom prst="triangle">
            <a:avLst>
              <a:gd name="adj" fmla="val 50000"/>
            </a:avLst>
          </a:prstGeom>
          <a:solidFill>
            <a:srgbClr val="E8A838">
              <a:alpha val="1451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Screenshot Methods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06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Capturing images from your game serves multiple purposes: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debugging, marketing materials, player features,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portfolio documentation.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905000"/>
            <a:ext cx="4699000" cy="2794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905000"/>
            <a:ext cx="4699000" cy="6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8348" y="51435"/>
                </a:moveTo>
                <a:lnTo>
                  <a:pt x="110093" y="76200"/>
                </a:lnTo>
                <a:lnTo>
                  <a:pt x="50800" y="76200"/>
                </a:lnTo>
                <a:cubicBezTo>
                  <a:pt x="22781" y="76200"/>
                  <a:pt x="0" y="98981"/>
                  <a:pt x="0" y="1270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55600" y="381000"/>
                </a:lnTo>
                <a:cubicBezTo>
                  <a:pt x="383619" y="381000"/>
                  <a:pt x="406400" y="358219"/>
                  <a:pt x="406400" y="330200"/>
                </a:cubicBezTo>
                <a:lnTo>
                  <a:pt x="406400" y="127000"/>
                </a:lnTo>
                <a:cubicBezTo>
                  <a:pt x="406400" y="98981"/>
                  <a:pt x="383619" y="76200"/>
                  <a:pt x="355600" y="76200"/>
                </a:cubicBezTo>
                <a:lnTo>
                  <a:pt x="296307" y="76200"/>
                </a:lnTo>
                <a:lnTo>
                  <a:pt x="288052" y="51435"/>
                </a:lnTo>
                <a:cubicBezTo>
                  <a:pt x="282892" y="35878"/>
                  <a:pt x="268367" y="25400"/>
                  <a:pt x="251936" y="25400"/>
                </a:cubicBezTo>
                <a:lnTo>
                  <a:pt x="154464" y="25400"/>
                </a:lnTo>
                <a:cubicBezTo>
                  <a:pt x="138033" y="25400"/>
                  <a:pt x="123507" y="35878"/>
                  <a:pt x="118348" y="51435"/>
                </a:cubicBezTo>
                <a:close/>
                <a:moveTo>
                  <a:pt x="203200" y="152400"/>
                </a:moveTo>
                <a:cubicBezTo>
                  <a:pt x="245256" y="152400"/>
                  <a:pt x="279400" y="186544"/>
                  <a:pt x="279400" y="228600"/>
                </a:cubicBezTo>
                <a:cubicBezTo>
                  <a:pt x="279400" y="270656"/>
                  <a:pt x="245256" y="304800"/>
                  <a:pt x="203200" y="304800"/>
                </a:cubicBezTo>
                <a:cubicBezTo>
                  <a:pt x="161144" y="304800"/>
                  <a:pt x="127000" y="270656"/>
                  <a:pt x="127000" y="228600"/>
                </a:cubicBezTo>
                <a:cubicBezTo>
                  <a:pt x="127000" y="186544"/>
                  <a:pt x="161144" y="152400"/>
                  <a:pt x="203200" y="152400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9" name="Text 7"/>
          <p:cNvSpPr/>
          <p:nvPr/>
        </p:nvSpPr>
        <p:spPr>
          <a:xfrm>
            <a:off x="1587500" y="2222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SCREENCAPTURE 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7686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static method for basic screenshot capture. One line of code saves the full game view as PNG.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Quick debug captures, simple save functionality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1905000"/>
            <a:ext cx="4699000" cy="2794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2" name="Shape 10"/>
          <p:cNvSpPr/>
          <p:nvPr/>
        </p:nvSpPr>
        <p:spPr>
          <a:xfrm>
            <a:off x="5778500" y="1905000"/>
            <a:ext cx="4699000" cy="6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Shape 11"/>
          <p:cNvSpPr/>
          <p:nvPr/>
        </p:nvSpPr>
        <p:spPr>
          <a:xfrm>
            <a:off x="6057900" y="2222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76200"/>
                </a:moveTo>
                <a:cubicBezTo>
                  <a:pt x="0" y="48181"/>
                  <a:pt x="22781" y="25400"/>
                  <a:pt x="50800" y="25400"/>
                </a:cubicBezTo>
                <a:lnTo>
                  <a:pt x="304800" y="25400"/>
                </a:lnTo>
                <a:cubicBezTo>
                  <a:pt x="332819" y="25400"/>
                  <a:pt x="355600" y="48181"/>
                  <a:pt x="355600" y="76200"/>
                </a:cubicBezTo>
                <a:lnTo>
                  <a:pt x="355600" y="330200"/>
                </a:lnTo>
                <a:cubicBezTo>
                  <a:pt x="355600" y="358219"/>
                  <a:pt x="332819" y="381000"/>
                  <a:pt x="304800" y="381000"/>
                </a:cubicBezTo>
                <a:lnTo>
                  <a:pt x="50800" y="381000"/>
                </a:lnTo>
                <a:cubicBezTo>
                  <a:pt x="22781" y="381000"/>
                  <a:pt x="0" y="358219"/>
                  <a:pt x="0" y="330200"/>
                </a:cubicBezTo>
                <a:lnTo>
                  <a:pt x="0" y="76200"/>
                </a:lnTo>
                <a:close/>
                <a:moveTo>
                  <a:pt x="38100" y="292100"/>
                </a:moveTo>
                <a:lnTo>
                  <a:pt x="38100" y="317500"/>
                </a:lnTo>
                <a:cubicBezTo>
                  <a:pt x="38100" y="324485"/>
                  <a:pt x="43815" y="330200"/>
                  <a:pt x="50800" y="330200"/>
                </a:cubicBezTo>
                <a:lnTo>
                  <a:pt x="76200" y="330200"/>
                </a:lnTo>
                <a:cubicBezTo>
                  <a:pt x="83185" y="330200"/>
                  <a:pt x="88900" y="324485"/>
                  <a:pt x="88900" y="317500"/>
                </a:cubicBezTo>
                <a:lnTo>
                  <a:pt x="88900" y="292100"/>
                </a:lnTo>
                <a:cubicBezTo>
                  <a:pt x="88900" y="285115"/>
                  <a:pt x="83185" y="279400"/>
                  <a:pt x="76200" y="279400"/>
                </a:cubicBezTo>
                <a:lnTo>
                  <a:pt x="50800" y="279400"/>
                </a:lnTo>
                <a:cubicBezTo>
                  <a:pt x="43815" y="279400"/>
                  <a:pt x="38100" y="285115"/>
                  <a:pt x="38100" y="292100"/>
                </a:cubicBezTo>
                <a:close/>
                <a:moveTo>
                  <a:pt x="279400" y="279400"/>
                </a:moveTo>
                <a:cubicBezTo>
                  <a:pt x="272415" y="279400"/>
                  <a:pt x="266700" y="285115"/>
                  <a:pt x="266700" y="292100"/>
                </a:cubicBezTo>
                <a:lnTo>
                  <a:pt x="266700" y="317500"/>
                </a:lnTo>
                <a:cubicBezTo>
                  <a:pt x="266700" y="324485"/>
                  <a:pt x="272415" y="330200"/>
                  <a:pt x="279400" y="330200"/>
                </a:cubicBezTo>
                <a:lnTo>
                  <a:pt x="304800" y="330200"/>
                </a:lnTo>
                <a:cubicBezTo>
                  <a:pt x="311785" y="330200"/>
                  <a:pt x="317500" y="324485"/>
                  <a:pt x="317500" y="317500"/>
                </a:cubicBezTo>
                <a:lnTo>
                  <a:pt x="317500" y="292100"/>
                </a:lnTo>
                <a:cubicBezTo>
                  <a:pt x="317500" y="285115"/>
                  <a:pt x="311785" y="279400"/>
                  <a:pt x="304800" y="279400"/>
                </a:cubicBezTo>
                <a:lnTo>
                  <a:pt x="279400" y="279400"/>
                </a:lnTo>
                <a:close/>
                <a:moveTo>
                  <a:pt x="38100" y="190500"/>
                </a:moveTo>
                <a:lnTo>
                  <a:pt x="38100" y="215900"/>
                </a:lnTo>
                <a:cubicBezTo>
                  <a:pt x="38100" y="222885"/>
                  <a:pt x="43815" y="228600"/>
                  <a:pt x="50800" y="228600"/>
                </a:cubicBezTo>
                <a:lnTo>
                  <a:pt x="76200" y="228600"/>
                </a:lnTo>
                <a:cubicBezTo>
                  <a:pt x="83185" y="228600"/>
                  <a:pt x="88900" y="222885"/>
                  <a:pt x="88900" y="215900"/>
                </a:cubicBezTo>
                <a:lnTo>
                  <a:pt x="88900" y="190500"/>
                </a:lnTo>
                <a:cubicBezTo>
                  <a:pt x="88900" y="183515"/>
                  <a:pt x="83185" y="177800"/>
                  <a:pt x="76200" y="177800"/>
                </a:cubicBezTo>
                <a:lnTo>
                  <a:pt x="50800" y="177800"/>
                </a:lnTo>
                <a:cubicBezTo>
                  <a:pt x="43815" y="177800"/>
                  <a:pt x="38100" y="183515"/>
                  <a:pt x="38100" y="190500"/>
                </a:cubicBezTo>
                <a:close/>
                <a:moveTo>
                  <a:pt x="279400" y="177800"/>
                </a:moveTo>
                <a:cubicBezTo>
                  <a:pt x="272415" y="177800"/>
                  <a:pt x="266700" y="183515"/>
                  <a:pt x="266700" y="190500"/>
                </a:cubicBezTo>
                <a:lnTo>
                  <a:pt x="266700" y="215900"/>
                </a:lnTo>
                <a:cubicBezTo>
                  <a:pt x="266700" y="222885"/>
                  <a:pt x="272415" y="228600"/>
                  <a:pt x="279400" y="228600"/>
                </a:cubicBezTo>
                <a:lnTo>
                  <a:pt x="304800" y="228600"/>
                </a:lnTo>
                <a:cubicBezTo>
                  <a:pt x="311785" y="228600"/>
                  <a:pt x="317500" y="222885"/>
                  <a:pt x="317500" y="215900"/>
                </a:cubicBezTo>
                <a:lnTo>
                  <a:pt x="317500" y="190500"/>
                </a:lnTo>
                <a:cubicBezTo>
                  <a:pt x="317500" y="183515"/>
                  <a:pt x="311785" y="177800"/>
                  <a:pt x="304800" y="177800"/>
                </a:cubicBezTo>
                <a:lnTo>
                  <a:pt x="279400" y="177800"/>
                </a:lnTo>
                <a:close/>
                <a:moveTo>
                  <a:pt x="38100" y="88900"/>
                </a:moveTo>
                <a:lnTo>
                  <a:pt x="38100" y="114300"/>
                </a:lnTo>
                <a:cubicBezTo>
                  <a:pt x="38100" y="121285"/>
                  <a:pt x="43815" y="127000"/>
                  <a:pt x="50800" y="127000"/>
                </a:cubicBezTo>
                <a:lnTo>
                  <a:pt x="76200" y="127000"/>
                </a:lnTo>
                <a:cubicBezTo>
                  <a:pt x="83185" y="127000"/>
                  <a:pt x="88900" y="121285"/>
                  <a:pt x="88900" y="114300"/>
                </a:cubicBezTo>
                <a:lnTo>
                  <a:pt x="88900" y="88900"/>
                </a:lnTo>
                <a:cubicBezTo>
                  <a:pt x="88900" y="81915"/>
                  <a:pt x="83185" y="76200"/>
                  <a:pt x="76200" y="76200"/>
                </a:cubicBezTo>
                <a:lnTo>
                  <a:pt x="50800" y="76200"/>
                </a:lnTo>
                <a:cubicBezTo>
                  <a:pt x="43815" y="76200"/>
                  <a:pt x="38100" y="81915"/>
                  <a:pt x="38100" y="88900"/>
                </a:cubicBezTo>
                <a:close/>
                <a:moveTo>
                  <a:pt x="279400" y="76200"/>
                </a:moveTo>
                <a:cubicBezTo>
                  <a:pt x="272415" y="76200"/>
                  <a:pt x="266700" y="81915"/>
                  <a:pt x="266700" y="88900"/>
                </a:cubicBezTo>
                <a:lnTo>
                  <a:pt x="266700" y="114300"/>
                </a:lnTo>
                <a:cubicBezTo>
                  <a:pt x="266700" y="121285"/>
                  <a:pt x="272415" y="127000"/>
                  <a:pt x="279400" y="127000"/>
                </a:cubicBezTo>
                <a:lnTo>
                  <a:pt x="304800" y="127000"/>
                </a:lnTo>
                <a:cubicBezTo>
                  <a:pt x="311785" y="127000"/>
                  <a:pt x="317500" y="121285"/>
                  <a:pt x="317500" y="114300"/>
                </a:cubicBezTo>
                <a:lnTo>
                  <a:pt x="317500" y="88900"/>
                </a:lnTo>
                <a:cubicBezTo>
                  <a:pt x="317500" y="81915"/>
                  <a:pt x="311785" y="76200"/>
                  <a:pt x="304800" y="76200"/>
                </a:cubicBezTo>
                <a:lnTo>
                  <a:pt x="279400" y="76200"/>
                </a:ln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6604000" y="2222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RENDERTEXTURE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27686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technique for camera-specific screenshots with layer filtering and transparent backgrounds.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In-game photo modes, UI exclusion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1905000"/>
            <a:ext cx="4699000" cy="2794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95000" y="1905000"/>
            <a:ext cx="4699000" cy="6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23600" y="2222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50800"/>
                </a:moveTo>
                <a:cubicBezTo>
                  <a:pt x="48181" y="50800"/>
                  <a:pt x="25400" y="73581"/>
                  <a:pt x="25400" y="101600"/>
                </a:cubicBezTo>
                <a:lnTo>
                  <a:pt x="25400" y="304800"/>
                </a:lnTo>
                <a:cubicBezTo>
                  <a:pt x="25400" y="332819"/>
                  <a:pt x="48181" y="355600"/>
                  <a:pt x="76200" y="355600"/>
                </a:cubicBezTo>
                <a:lnTo>
                  <a:pt x="279400" y="355600"/>
                </a:lnTo>
                <a:cubicBezTo>
                  <a:pt x="307419" y="355600"/>
                  <a:pt x="330200" y="332819"/>
                  <a:pt x="330200" y="304800"/>
                </a:cubicBezTo>
                <a:lnTo>
                  <a:pt x="330200" y="101600"/>
                </a:lnTo>
                <a:cubicBezTo>
                  <a:pt x="330200" y="73581"/>
                  <a:pt x="307419" y="50800"/>
                  <a:pt x="279400" y="50800"/>
                </a:cubicBezTo>
                <a:lnTo>
                  <a:pt x="76200" y="50800"/>
                </a:lnTo>
                <a:close/>
                <a:moveTo>
                  <a:pt x="368300" y="266700"/>
                </a:moveTo>
                <a:lnTo>
                  <a:pt x="426641" y="313373"/>
                </a:lnTo>
                <a:cubicBezTo>
                  <a:pt x="429974" y="316071"/>
                  <a:pt x="434102" y="317500"/>
                  <a:pt x="438388" y="317500"/>
                </a:cubicBezTo>
                <a:cubicBezTo>
                  <a:pt x="448786" y="317500"/>
                  <a:pt x="457200" y="309086"/>
                  <a:pt x="457200" y="298688"/>
                </a:cubicBezTo>
                <a:lnTo>
                  <a:pt x="457200" y="107712"/>
                </a:lnTo>
                <a:cubicBezTo>
                  <a:pt x="457200" y="97314"/>
                  <a:pt x="448786" y="88900"/>
                  <a:pt x="438388" y="88900"/>
                </a:cubicBezTo>
                <a:cubicBezTo>
                  <a:pt x="434102" y="88900"/>
                  <a:pt x="429974" y="90329"/>
                  <a:pt x="426641" y="93028"/>
                </a:cubicBezTo>
                <a:lnTo>
                  <a:pt x="368300" y="139700"/>
                </a:lnTo>
                <a:lnTo>
                  <a:pt x="368300" y="266700"/>
                </a:ln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11620500" y="2222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 RECORDER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27686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Professional-grade capture tool for high-quality screenshots and video recording with full configuration.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Marketing trailers, portfolio footage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080000"/>
            <a:ext cx="14732000" cy="889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1079500" y="51816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Choosing the right tool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depends on your quality requirements, performance constraints, and whether you need to exclude UI elements or capture from specific cameras.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ScreenCapture.CaptureScreenshot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736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simplest built-in method for taking screenshots: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usage: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Call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ScreenCapture.CaptureScreenshot("filename.png")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save a PNG.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Supersampling: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superSize parameter multiplies resolution — pass 4 for 4x quality.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Coroutine pattern: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WaitForEndOfFrame()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ensure complete rendering.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locations: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Editor saves to project root; builds save to persistentDataPath.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36000" y="1270000"/>
            <a:ext cx="6858000" cy="3683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8953500" y="1422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53500" y="1714500"/>
            <a:ext cx="6223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D4A85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KeyCode shotKey = KeyCode.F12;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D4A85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 Update() {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D4A85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(Input.GetKeyDown(shotKey))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D4A85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StartCoroutine(TakeShot());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D4A85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D4A85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IEnumerator TakeShot() {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D4A85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yield return new WaitForEndOfFrame();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D4A85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ScreenCapture.CaptureScreenshot(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D4A85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"shot.png", 2);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D4A85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5016500"/>
            <a:ext cx="14732000" cy="1270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0" name="Shape 8"/>
          <p:cNvSpPr/>
          <p:nvPr/>
        </p:nvSpPr>
        <p:spPr>
          <a:xfrm>
            <a:off x="1079500" y="530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5181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NOTES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9500" y="5588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Screenshots include the full game view including UI. Overwrites existing files. On mobile, files save to Application.persistentDataPath. Use full path: System.IO.Path.Combine(Application.persistentDataPath, "shot.png")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Screenshot Techniques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06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camera-specific captures with layer control, use the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RenderTexture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approach: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7366000" cy="4318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006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RENDERTEXTURE METHOD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413000"/>
            <a:ext cx="6731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a RenderTexture with target resolution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Assign it to the target camera's targetTexture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Call camera.Render() to render the frame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Read pixels into a Texture2D using ReadPixels()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Encode to PNG/JPG and write to file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Clean up RenderTexture to free GPU memory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9000" y="1841500"/>
            <a:ext cx="6985000" cy="254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8826500" y="2006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26500" y="24130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Exclude UI by setting camera culling mask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Capture with transparent backgrounds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Take screenshots from hidden cameras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 resolutions and aspect ratios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09000" y="4635500"/>
            <a:ext cx="6985000" cy="1524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3" name="Text 11"/>
          <p:cNvSpPr/>
          <p:nvPr/>
        </p:nvSpPr>
        <p:spPr>
          <a:xfrm>
            <a:off x="8826500" y="4762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26500" y="5080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In-game photo modes, inventory item rendering, procedural thumbnail generation, character portrait capture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6477000"/>
            <a:ext cx="14732000" cy="444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6477000"/>
            <a:ext cx="140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Note: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Creating RenderTextures is GPU-intensive. Pool and reuse them when taking frequent captures to avoid frame drops.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 Recorder for Professional Capture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70000"/>
            <a:ext cx="14732000" cy="762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270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Installation: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Open Package Manager → Install "Unity Recorder" → Access via Window &gt; General &gt; Recorder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49500"/>
            <a:ext cx="7175500" cy="2540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349500"/>
            <a:ext cx="63500" cy="25400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9" name="Shape 7"/>
          <p:cNvSpPr/>
          <p:nvPr/>
        </p:nvSpPr>
        <p:spPr>
          <a:xfrm>
            <a:off x="1101725" y="2540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88900" y="77788"/>
                </a:moveTo>
                <a:cubicBezTo>
                  <a:pt x="107299" y="77788"/>
                  <a:pt x="122238" y="92726"/>
                  <a:pt x="122238" y="111125"/>
                </a:cubicBezTo>
                <a:cubicBezTo>
                  <a:pt x="122238" y="129524"/>
                  <a:pt x="107299" y="144463"/>
                  <a:pt x="88900" y="144463"/>
                </a:cubicBezTo>
                <a:cubicBezTo>
                  <a:pt x="70501" y="144463"/>
                  <a:pt x="55563" y="129524"/>
                  <a:pt x="55563" y="111125"/>
                </a:cubicBezTo>
                <a:cubicBezTo>
                  <a:pt x="55563" y="92726"/>
                  <a:pt x="70501" y="77788"/>
                  <a:pt x="88900" y="77788"/>
                </a:cubicBezTo>
                <a:close/>
                <a:moveTo>
                  <a:pt x="188913" y="155575"/>
                </a:moveTo>
                <a:cubicBezTo>
                  <a:pt x="194747" y="155575"/>
                  <a:pt x="200094" y="158631"/>
                  <a:pt x="203150" y="163562"/>
                </a:cubicBezTo>
                <a:lnTo>
                  <a:pt x="264269" y="263575"/>
                </a:lnTo>
                <a:cubicBezTo>
                  <a:pt x="267395" y="268714"/>
                  <a:pt x="267533" y="275173"/>
                  <a:pt x="264616" y="280452"/>
                </a:cubicBezTo>
                <a:cubicBezTo>
                  <a:pt x="261699" y="285730"/>
                  <a:pt x="256074" y="288925"/>
                  <a:pt x="250031" y="288925"/>
                </a:cubicBezTo>
                <a:lnTo>
                  <a:pt x="61119" y="288925"/>
                </a:lnTo>
                <a:cubicBezTo>
                  <a:pt x="54937" y="288925"/>
                  <a:pt x="49173" y="285452"/>
                  <a:pt x="46325" y="279966"/>
                </a:cubicBezTo>
                <a:cubicBezTo>
                  <a:pt x="43478" y="274479"/>
                  <a:pt x="43894" y="267811"/>
                  <a:pt x="47436" y="262741"/>
                </a:cubicBezTo>
                <a:lnTo>
                  <a:pt x="86330" y="207179"/>
                </a:lnTo>
                <a:cubicBezTo>
                  <a:pt x="89456" y="202734"/>
                  <a:pt x="94526" y="200094"/>
                  <a:pt x="100013" y="200094"/>
                </a:cubicBezTo>
                <a:cubicBezTo>
                  <a:pt x="105499" y="200094"/>
                  <a:pt x="110569" y="202734"/>
                  <a:pt x="113695" y="207179"/>
                </a:cubicBezTo>
                <a:lnTo>
                  <a:pt x="132030" y="233432"/>
                </a:lnTo>
                <a:lnTo>
                  <a:pt x="174675" y="163632"/>
                </a:lnTo>
                <a:cubicBezTo>
                  <a:pt x="177731" y="158700"/>
                  <a:pt x="183078" y="155644"/>
                  <a:pt x="188913" y="155644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1587500" y="254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SEQUENCE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3048000"/>
            <a:ext cx="65405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 single or multiple frames as PNG, JPG, or EXR.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Single Frame mode for precise screenshot timing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Multi-frame capture for animation sequences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F10 shortcut for quick capture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18500" y="2349500"/>
            <a:ext cx="7175500" cy="2540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3" name="Shape 11"/>
          <p:cNvSpPr/>
          <p:nvPr/>
        </p:nvSpPr>
        <p:spPr>
          <a:xfrm>
            <a:off x="8318500" y="2349500"/>
            <a:ext cx="63500" cy="25400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Shape 12"/>
          <p:cNvSpPr/>
          <p:nvPr/>
        </p:nvSpPr>
        <p:spPr>
          <a:xfrm>
            <a:off x="8613775" y="2540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44450"/>
                </a:moveTo>
                <a:cubicBezTo>
                  <a:pt x="42158" y="44450"/>
                  <a:pt x="22225" y="64383"/>
                  <a:pt x="22225" y="88900"/>
                </a:cubicBezTo>
                <a:lnTo>
                  <a:pt x="22225" y="266700"/>
                </a:lnTo>
                <a:cubicBezTo>
                  <a:pt x="22225" y="291217"/>
                  <a:pt x="42158" y="311150"/>
                  <a:pt x="66675" y="311150"/>
                </a:cubicBezTo>
                <a:lnTo>
                  <a:pt x="244475" y="311150"/>
                </a:lnTo>
                <a:cubicBezTo>
                  <a:pt x="268992" y="311150"/>
                  <a:pt x="288925" y="291217"/>
                  <a:pt x="288925" y="266700"/>
                </a:cubicBezTo>
                <a:lnTo>
                  <a:pt x="288925" y="88900"/>
                </a:lnTo>
                <a:cubicBezTo>
                  <a:pt x="288925" y="64383"/>
                  <a:pt x="268992" y="44450"/>
                  <a:pt x="244475" y="44450"/>
                </a:cubicBezTo>
                <a:lnTo>
                  <a:pt x="66675" y="44450"/>
                </a:lnTo>
                <a:close/>
                <a:moveTo>
                  <a:pt x="322263" y="233363"/>
                </a:moveTo>
                <a:lnTo>
                  <a:pt x="373311" y="274201"/>
                </a:lnTo>
                <a:cubicBezTo>
                  <a:pt x="376228" y="276562"/>
                  <a:pt x="379839" y="277813"/>
                  <a:pt x="383590" y="277813"/>
                </a:cubicBezTo>
                <a:cubicBezTo>
                  <a:pt x="392688" y="277813"/>
                  <a:pt x="400050" y="270450"/>
                  <a:pt x="400050" y="261352"/>
                </a:cubicBezTo>
                <a:lnTo>
                  <a:pt x="400050" y="94248"/>
                </a:lnTo>
                <a:cubicBezTo>
                  <a:pt x="400050" y="85150"/>
                  <a:pt x="392688" y="77788"/>
                  <a:pt x="383590" y="77788"/>
                </a:cubicBezTo>
                <a:cubicBezTo>
                  <a:pt x="379839" y="77788"/>
                  <a:pt x="376228" y="79038"/>
                  <a:pt x="373311" y="81399"/>
                </a:cubicBezTo>
                <a:lnTo>
                  <a:pt x="322263" y="122238"/>
                </a:lnTo>
                <a:lnTo>
                  <a:pt x="322263" y="233363"/>
                </a:ln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254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MOVIE RECORDER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6000" y="3048000"/>
            <a:ext cx="65405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 gameplay video in multiple formats.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MP4, WebM, or ProRes output formats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Configurable resolution and frame rate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Source: Game View, Targeted Camera, Render Texture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20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 &amp; BEST USES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626100"/>
            <a:ext cx="635000" cy="254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5842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Marketing trailers, bug reproduction videos, portfolio footage, and automated capture pipelines.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location: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Files save to the project's Recordings folder by default. Change in recorder settings.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Resources &amp; 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70000"/>
            <a:ext cx="7175500" cy="3302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460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OFFICIAL RESOURCES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9500" y="1854200"/>
            <a:ext cx="508000" cy="254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2032000"/>
            <a:ext cx="6540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Documentation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docs.unity3d.com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API reference and manuals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Learn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learn.unity.com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courses, projects, certifications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Asset Store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assetstore.unity.com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Pre-built assets, tools, editor extensions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1270000"/>
            <a:ext cx="7175500" cy="3302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1460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COMMUNITY &amp; CODE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854200"/>
            <a:ext cx="508000" cy="254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8636000" y="2032000"/>
            <a:ext cx="6540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Forums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forum.unity.com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 support and Showcase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r/Unity3D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Reddit community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questions, feedback, inspiration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Unity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github.com/Unity-Technologies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Official ECS samples and open-source tools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953000"/>
            <a:ext cx="14732000" cy="127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5105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BOOKS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54864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"Game Programming Patterns" by Robert Nystrom (free online)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"Unity in Action" by Joe Hocking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"Level Design" by Christopher Totten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xpmouzkvz2hw/mnt/agents/output/game-programming-week4/images/1_DarkFrame_Dark_mode_frame_UI_f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60000">
                <a:srgbClr val="1A1A2E">
                  <a:alpha val="82000"/>
                </a:srgbClr>
              </a:gs>
              <a:gs pos="100000">
                <a:srgbClr val="1A1A2E">
                  <a:alpha val="56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635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0" dirty="0">
                <a:solidFill>
                  <a:srgbClr val="E8A838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937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8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62000" y="4318000"/>
            <a:ext cx="1016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5466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300" kern="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A UNITY PROJECT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3EF">
                    <a:alpha val="56471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Hub, Templates, Settings &amp; Organization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 rot="1800000">
            <a:off x="14732000" y="7620000"/>
            <a:ext cx="635000" cy="635000"/>
          </a:xfrm>
          <a:prstGeom prst="triangle">
            <a:avLst>
              <a:gd name="adj" fmla="val 50000"/>
            </a:avLst>
          </a:prstGeom>
          <a:solidFill>
            <a:srgbClr val="E8A838">
              <a:alpha val="1451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Getting Started with Unity Hub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06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Hub is your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command center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managing projects, editors, and licenses.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79600"/>
            <a:ext cx="7175500" cy="1333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7" name="Shape 5"/>
          <p:cNvSpPr/>
          <p:nvPr/>
        </p:nvSpPr>
        <p:spPr>
          <a:xfrm>
            <a:off x="1038225" y="2159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77800" y="22225"/>
                </a:moveTo>
                <a:cubicBezTo>
                  <a:pt x="177800" y="9932"/>
                  <a:pt x="167868" y="0"/>
                  <a:pt x="155575" y="0"/>
                </a:cubicBezTo>
                <a:cubicBezTo>
                  <a:pt x="143282" y="0"/>
                  <a:pt x="133350" y="9932"/>
                  <a:pt x="133350" y="22225"/>
                </a:cubicBezTo>
                <a:lnTo>
                  <a:pt x="133350" y="168563"/>
                </a:lnTo>
                <a:lnTo>
                  <a:pt x="104596" y="139809"/>
                </a:lnTo>
                <a:cubicBezTo>
                  <a:pt x="95915" y="131128"/>
                  <a:pt x="81816" y="131128"/>
                  <a:pt x="73134" y="139809"/>
                </a:cubicBezTo>
                <a:cubicBezTo>
                  <a:pt x="64453" y="148491"/>
                  <a:pt x="64453" y="162590"/>
                  <a:pt x="73134" y="171271"/>
                </a:cubicBezTo>
                <a:lnTo>
                  <a:pt x="139809" y="237946"/>
                </a:lnTo>
                <a:cubicBezTo>
                  <a:pt x="148491" y="246628"/>
                  <a:pt x="162590" y="246628"/>
                  <a:pt x="171271" y="237946"/>
                </a:cubicBezTo>
                <a:lnTo>
                  <a:pt x="237946" y="171271"/>
                </a:lnTo>
                <a:cubicBezTo>
                  <a:pt x="246628" y="162590"/>
                  <a:pt x="246628" y="148491"/>
                  <a:pt x="237946" y="139809"/>
                </a:cubicBezTo>
                <a:cubicBezTo>
                  <a:pt x="229265" y="131128"/>
                  <a:pt x="215166" y="131128"/>
                  <a:pt x="206484" y="139809"/>
                </a:cubicBezTo>
                <a:lnTo>
                  <a:pt x="177800" y="168563"/>
                </a:lnTo>
                <a:lnTo>
                  <a:pt x="177800" y="22225"/>
                </a:lnTo>
                <a:close/>
                <a:moveTo>
                  <a:pt x="44450" y="222250"/>
                </a:moveTo>
                <a:cubicBezTo>
                  <a:pt x="19933" y="222250"/>
                  <a:pt x="0" y="242183"/>
                  <a:pt x="0" y="266700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66700"/>
                </a:lnTo>
                <a:cubicBezTo>
                  <a:pt x="311150" y="242183"/>
                  <a:pt x="291217" y="222250"/>
                  <a:pt x="266700" y="222250"/>
                </a:cubicBezTo>
                <a:lnTo>
                  <a:pt x="234126" y="222250"/>
                </a:lnTo>
                <a:lnTo>
                  <a:pt x="194816" y="261560"/>
                </a:lnTo>
                <a:cubicBezTo>
                  <a:pt x="173147" y="283230"/>
                  <a:pt x="137934" y="283230"/>
                  <a:pt x="116265" y="261560"/>
                </a:cubicBezTo>
                <a:lnTo>
                  <a:pt x="77024" y="222250"/>
                </a:lnTo>
                <a:lnTo>
                  <a:pt x="44450" y="222250"/>
                </a:lnTo>
                <a:close/>
                <a:moveTo>
                  <a:pt x="255587" y="261144"/>
                </a:moveTo>
                <a:cubicBezTo>
                  <a:pt x="264787" y="261144"/>
                  <a:pt x="272256" y="268613"/>
                  <a:pt x="272256" y="277813"/>
                </a:cubicBezTo>
                <a:cubicBezTo>
                  <a:pt x="272256" y="287012"/>
                  <a:pt x="264787" y="294481"/>
                  <a:pt x="255587" y="294481"/>
                </a:cubicBezTo>
                <a:cubicBezTo>
                  <a:pt x="246388" y="294481"/>
                  <a:pt x="238919" y="287012"/>
                  <a:pt x="238919" y="277813"/>
                </a:cubicBezTo>
                <a:cubicBezTo>
                  <a:pt x="238919" y="268613"/>
                  <a:pt x="246388" y="261144"/>
                  <a:pt x="255587" y="261144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20066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INSTALLING EDITORS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2349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Hub &gt; Installs &gt; Install Editor. Choose LTS for stability; Tech Stream for latest features.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879600"/>
            <a:ext cx="7175500" cy="1333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1" name="Shape 9"/>
          <p:cNvSpPr/>
          <p:nvPr/>
        </p:nvSpPr>
        <p:spPr>
          <a:xfrm>
            <a:off x="8550275" y="2159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8894" y="156686"/>
                </a:moveTo>
                <a:lnTo>
                  <a:pt x="22503" y="205720"/>
                </a:lnTo>
                <a:lnTo>
                  <a:pt x="22503" y="66675"/>
                </a:lnTo>
                <a:cubicBezTo>
                  <a:pt x="22503" y="42158"/>
                  <a:pt x="42436" y="22225"/>
                  <a:pt x="66953" y="22225"/>
                </a:cubicBezTo>
                <a:lnTo>
                  <a:pt x="163284" y="22225"/>
                </a:lnTo>
                <a:cubicBezTo>
                  <a:pt x="172869" y="22225"/>
                  <a:pt x="182245" y="25350"/>
                  <a:pt x="189954" y="31115"/>
                </a:cubicBezTo>
                <a:lnTo>
                  <a:pt x="216624" y="51117"/>
                </a:lnTo>
                <a:cubicBezTo>
                  <a:pt x="220444" y="54035"/>
                  <a:pt x="225167" y="55563"/>
                  <a:pt x="229959" y="55563"/>
                </a:cubicBezTo>
                <a:lnTo>
                  <a:pt x="311428" y="55563"/>
                </a:lnTo>
                <a:cubicBezTo>
                  <a:pt x="335945" y="55563"/>
                  <a:pt x="355878" y="75496"/>
                  <a:pt x="355878" y="100013"/>
                </a:cubicBezTo>
                <a:lnTo>
                  <a:pt x="355878" y="111125"/>
                </a:lnTo>
                <a:lnTo>
                  <a:pt x="102096" y="111125"/>
                </a:lnTo>
                <a:cubicBezTo>
                  <a:pt x="73412" y="111125"/>
                  <a:pt x="47923" y="129461"/>
                  <a:pt x="38824" y="156686"/>
                </a:cubicBezTo>
                <a:close/>
                <a:moveTo>
                  <a:pt x="331847" y="311150"/>
                </a:moveTo>
                <a:lnTo>
                  <a:pt x="68759" y="311150"/>
                </a:lnTo>
                <a:cubicBezTo>
                  <a:pt x="45978" y="311150"/>
                  <a:pt x="29934" y="288856"/>
                  <a:pt x="37157" y="267256"/>
                </a:cubicBezTo>
                <a:lnTo>
                  <a:pt x="70495" y="167243"/>
                </a:lnTo>
                <a:cubicBezTo>
                  <a:pt x="75009" y="153630"/>
                  <a:pt x="87789" y="144463"/>
                  <a:pt x="102096" y="144463"/>
                </a:cubicBezTo>
                <a:lnTo>
                  <a:pt x="365185" y="144463"/>
                </a:lnTo>
                <a:cubicBezTo>
                  <a:pt x="387965" y="144463"/>
                  <a:pt x="404009" y="166757"/>
                  <a:pt x="396786" y="188357"/>
                </a:cubicBezTo>
                <a:lnTo>
                  <a:pt x="363448" y="288369"/>
                </a:lnTo>
                <a:cubicBezTo>
                  <a:pt x="358934" y="301982"/>
                  <a:pt x="346154" y="311150"/>
                  <a:pt x="331847" y="311150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9080500" y="20066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MANAGEMENT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80500" y="2349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all projects with Unity version, last modified date, and target platform.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403600"/>
            <a:ext cx="7175500" cy="1333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368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61131" y="238919"/>
                </a:moveTo>
                <a:lnTo>
                  <a:pt x="161131" y="194469"/>
                </a:lnTo>
                <a:lnTo>
                  <a:pt x="116681" y="194469"/>
                </a:lnTo>
                <a:cubicBezTo>
                  <a:pt x="107444" y="194469"/>
                  <a:pt x="100013" y="187037"/>
                  <a:pt x="100013" y="177800"/>
                </a:cubicBezTo>
                <a:cubicBezTo>
                  <a:pt x="100013" y="168563"/>
                  <a:pt x="107444" y="161131"/>
                  <a:pt x="116681" y="161131"/>
                </a:cubicBezTo>
                <a:lnTo>
                  <a:pt x="161131" y="161131"/>
                </a:lnTo>
                <a:lnTo>
                  <a:pt x="161131" y="116681"/>
                </a:lnTo>
                <a:cubicBezTo>
                  <a:pt x="161131" y="107444"/>
                  <a:pt x="168563" y="100013"/>
                  <a:pt x="177800" y="100013"/>
                </a:cubicBezTo>
                <a:cubicBezTo>
                  <a:pt x="187037" y="100013"/>
                  <a:pt x="194469" y="107444"/>
                  <a:pt x="194469" y="116681"/>
                </a:cubicBezTo>
                <a:lnTo>
                  <a:pt x="194469" y="161131"/>
                </a:lnTo>
                <a:lnTo>
                  <a:pt x="238919" y="161131"/>
                </a:lnTo>
                <a:cubicBezTo>
                  <a:pt x="248156" y="161131"/>
                  <a:pt x="255587" y="168563"/>
                  <a:pt x="255587" y="177800"/>
                </a:cubicBezTo>
                <a:cubicBezTo>
                  <a:pt x="255587" y="187037"/>
                  <a:pt x="248156" y="194469"/>
                  <a:pt x="238919" y="194469"/>
                </a:cubicBezTo>
                <a:lnTo>
                  <a:pt x="194469" y="194469"/>
                </a:lnTo>
                <a:lnTo>
                  <a:pt x="194469" y="238919"/>
                </a:lnTo>
                <a:cubicBezTo>
                  <a:pt x="194469" y="248156"/>
                  <a:pt x="187037" y="255587"/>
                  <a:pt x="177800" y="255587"/>
                </a:cubicBezTo>
                <a:cubicBezTo>
                  <a:pt x="168563" y="255587"/>
                  <a:pt x="161131" y="248156"/>
                  <a:pt x="161131" y="238919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35306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PROJECTS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4000" y="3873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"New Project" to begin the creation wizard with template selection.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18500" y="3403600"/>
            <a:ext cx="7175500" cy="1333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9" name="Shape 17"/>
          <p:cNvSpPr/>
          <p:nvPr/>
        </p:nvSpPr>
        <p:spPr>
          <a:xfrm>
            <a:off x="8572500" y="355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3363" y="244475"/>
                </a:moveTo>
                <a:cubicBezTo>
                  <a:pt x="300871" y="244475"/>
                  <a:pt x="355600" y="189746"/>
                  <a:pt x="355600" y="122238"/>
                </a:cubicBezTo>
                <a:cubicBezTo>
                  <a:pt x="355600" y="54729"/>
                  <a:pt x="300871" y="0"/>
                  <a:pt x="233363" y="0"/>
                </a:cubicBezTo>
                <a:cubicBezTo>
                  <a:pt x="165854" y="0"/>
                  <a:pt x="111125" y="54729"/>
                  <a:pt x="111125" y="122238"/>
                </a:cubicBezTo>
                <a:cubicBezTo>
                  <a:pt x="111125" y="135225"/>
                  <a:pt x="113139" y="147796"/>
                  <a:pt x="116890" y="159534"/>
                </a:cubicBezTo>
                <a:lnTo>
                  <a:pt x="4862" y="271562"/>
                </a:lnTo>
                <a:cubicBezTo>
                  <a:pt x="1736" y="274687"/>
                  <a:pt x="0" y="278924"/>
                  <a:pt x="0" y="283369"/>
                </a:cubicBezTo>
                <a:lnTo>
                  <a:pt x="0" y="338931"/>
                </a:lnTo>
                <a:cubicBezTo>
                  <a:pt x="0" y="348169"/>
                  <a:pt x="7431" y="355600"/>
                  <a:pt x="16669" y="355600"/>
                </a:cubicBezTo>
                <a:lnTo>
                  <a:pt x="72231" y="355600"/>
                </a:lnTo>
                <a:cubicBezTo>
                  <a:pt x="81469" y="355600"/>
                  <a:pt x="88900" y="348169"/>
                  <a:pt x="88900" y="338931"/>
                </a:cubicBezTo>
                <a:lnTo>
                  <a:pt x="88900" y="311150"/>
                </a:lnTo>
                <a:lnTo>
                  <a:pt x="116681" y="311150"/>
                </a:lnTo>
                <a:cubicBezTo>
                  <a:pt x="125919" y="311150"/>
                  <a:pt x="133350" y="303719"/>
                  <a:pt x="133350" y="294481"/>
                </a:cubicBezTo>
                <a:lnTo>
                  <a:pt x="133350" y="266700"/>
                </a:lnTo>
                <a:lnTo>
                  <a:pt x="161131" y="266700"/>
                </a:lnTo>
                <a:cubicBezTo>
                  <a:pt x="165576" y="266700"/>
                  <a:pt x="169813" y="264964"/>
                  <a:pt x="172938" y="261838"/>
                </a:cubicBezTo>
                <a:lnTo>
                  <a:pt x="196066" y="238710"/>
                </a:lnTo>
                <a:cubicBezTo>
                  <a:pt x="207804" y="242461"/>
                  <a:pt x="220375" y="244475"/>
                  <a:pt x="233363" y="244475"/>
                </a:cubicBezTo>
                <a:close/>
                <a:moveTo>
                  <a:pt x="261144" y="66675"/>
                </a:moveTo>
                <a:cubicBezTo>
                  <a:pt x="276477" y="66675"/>
                  <a:pt x="288925" y="79123"/>
                  <a:pt x="288925" y="94456"/>
                </a:cubicBezTo>
                <a:cubicBezTo>
                  <a:pt x="288925" y="109789"/>
                  <a:pt x="276477" y="122238"/>
                  <a:pt x="261144" y="122238"/>
                </a:cubicBezTo>
                <a:cubicBezTo>
                  <a:pt x="245811" y="122238"/>
                  <a:pt x="233363" y="109789"/>
                  <a:pt x="233363" y="94456"/>
                </a:cubicBezTo>
                <a:cubicBezTo>
                  <a:pt x="233363" y="79123"/>
                  <a:pt x="245811" y="66675"/>
                  <a:pt x="261144" y="66675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9080500" y="35306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LICENSE MANAGEMENT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80500" y="3873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Plus/Pro/Personal license activation from the Hub interface.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4953000"/>
            <a:ext cx="14732000" cy="889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1117600" y="5181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5016500"/>
            <a:ext cx="136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use the latest LTS version for coursework to ensure stability and community support. LTS releases receive bug fixes for 2+ years.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Project Templates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06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provides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pre-configured templates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set up the render pipeline, packages, and folder structure.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14732000" cy="3302000"/>
        </p:xfrm>
        <a:graphic>
          <a:graphicData uri="http://schemas.openxmlformats.org/drawingml/2006/table">
            <a:tbl>
              <a:tblPr/>
              <a:tblGrid>
                <a:gridCol w="3241040"/>
                <a:gridCol w="5598160"/>
                <a:gridCol w="5892800"/>
              </a:tblGrid>
              <a:tr h="599205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3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Template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3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3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3D (Built-in)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Legacy Built-in Render Pipeline. Limited modern features.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Learning fundamentals, older tutorials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3D (URP)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Universal Render Pipeline with modern visual features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A83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Most projects — Recommended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1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2D (URP)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URP configured for 2D with 2D renderer and lighting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2D games, platformers, top-down games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2D (Built-in)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Legacy 2D template using Built-in Render Pipeline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Older 2D projects, specific asset compatibility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5461000"/>
            <a:ext cx="14732000" cy="889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8" name="Text 5"/>
          <p:cNvSpPr/>
          <p:nvPr/>
        </p:nvSpPr>
        <p:spPr>
          <a:xfrm>
            <a:off x="1079500" y="55245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Template selection impacts: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available visual effects, performance characteristics, and platform compatibility. Choosing correctly at project creation avoids painful render pipeline migrations later.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URP vs Built-in Render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70000"/>
            <a:ext cx="7175500" cy="3937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7175500" cy="6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524000"/>
            <a:ext cx="1524000" cy="355600"/>
          </a:xfrm>
          <a:prstGeom prst="roundRect">
            <a:avLst>
              <a:gd name="adj" fmla="val 12000"/>
            </a:avLst>
          </a:prstGeom>
          <a:solidFill>
            <a:srgbClr val="E8A83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524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03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RENDER PIPELINE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5146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Optimized for performance across all platforms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Modern rendering: Shader Graph, VFX Graph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2D lights and post-processing stack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Forward rendering with Forward+ option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Unity's officially supported pipeline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Scales from mobile to high-end PC/console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18500" y="1270000"/>
            <a:ext cx="7175500" cy="3937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2" name="Shape 10"/>
          <p:cNvSpPr/>
          <p:nvPr/>
        </p:nvSpPr>
        <p:spPr>
          <a:xfrm>
            <a:off x="8318500" y="1270000"/>
            <a:ext cx="7175500" cy="63500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3" name="Shape 11"/>
          <p:cNvSpPr/>
          <p:nvPr/>
        </p:nvSpPr>
        <p:spPr>
          <a:xfrm>
            <a:off x="8572500" y="1524000"/>
            <a:ext cx="1016000" cy="355600"/>
          </a:xfrm>
          <a:prstGeom prst="roundRect">
            <a:avLst>
              <a:gd name="adj" fmla="val 12000"/>
            </a:avLst>
          </a:prstGeom>
          <a:solidFill>
            <a:srgbClr val="5A5A5A"/>
          </a:solidFill>
          <a:ln/>
        </p:spPr>
      </p:sp>
      <p:sp>
        <p:nvSpPr>
          <p:cNvPr id="14" name="Text 12"/>
          <p:cNvSpPr/>
          <p:nvPr/>
        </p:nvSpPr>
        <p:spPr>
          <a:xfrm>
            <a:off x="8572500" y="1524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72500" y="203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BUILT-IN RENDER PIPELINE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72500" y="25146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Legacy system, no longer actively developed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Most third-party asset compatibility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Older tutorials reference this pipeline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Higher overhead on mobile and VR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Still functional for existing projects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 recommended for new projects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524500"/>
            <a:ext cx="14732000" cy="889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5588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Choose URP for all new projects unless you specifically need a Built-in-only asset. URP is Unity's officially supported forward-looking pipeline.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Settings &amp; Configuration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06500"/>
            <a:ext cx="147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creating your project, configure these essential settings via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Edit &gt; Project Settings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778000"/>
            <a:ext cx="4699000" cy="1270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8796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1971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name, product name, bundle ID, resolution, splash screen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778000"/>
            <a:ext cx="4699000" cy="1270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0" name="Text 8"/>
          <p:cNvSpPr/>
          <p:nvPr/>
        </p:nvSpPr>
        <p:spPr>
          <a:xfrm>
            <a:off x="6032500" y="18796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21971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Presets (Low/High/Ultra) controlling shadows, anti-aliasing, textures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0" y="1778000"/>
            <a:ext cx="4699000" cy="1270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0" y="18796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49000" y="21971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Render pipeline asset, tier settings, built-in shader variants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302000"/>
            <a:ext cx="4699000" cy="1270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4036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SYSTEM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37211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legacy Input Manager or new Input System package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78500" y="3302000"/>
            <a:ext cx="4699000" cy="1270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9" name="Text 17"/>
          <p:cNvSpPr/>
          <p:nvPr/>
        </p:nvSpPr>
        <p:spPr>
          <a:xfrm>
            <a:off x="6032500" y="34036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TAGS AND LAYERS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2500" y="37211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custom tags and layer masks for collision and culling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95000" y="3302000"/>
            <a:ext cx="4699000" cy="1270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0" y="34036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PHYSICS &amp; TIME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0" y="37211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Gravity, fixed timestep (default 0.02s = 50Hz), layer collision matrix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4953000"/>
            <a:ext cx="14732000" cy="825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1079500" y="50165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Settings: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Configure default sample rate, DSP buffer size, and virtual voice count.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Settings: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Fixed timestep controls physics update rate — lower values = more accurate but more CPU usage.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Structure &amp; Organization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70000"/>
            <a:ext cx="6604000" cy="4826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422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FOLDER HIERARCHY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1778000"/>
            <a:ext cx="5969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Assets/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_Project/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Animations/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Audio/ (Music/, SFX/)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Materials/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Models/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Prefabs/ (Environment/, UI/)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Scenes/ (Development/, Production/)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Scripts/ (Managers/, Systems/, UI/)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ScriptableObjects/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Shaders/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Sprites/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Textures/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74000" y="1270000"/>
            <a:ext cx="7620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Naming Conventions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PascalCase for folders and files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Prefix scenes: 00_MainMenu, 01_Level1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Group related assets in subfolders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Avoid spaces; use underscores or PascalCase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74000" y="3746500"/>
            <a:ext cx="7620000" cy="20955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0" name="Text 8"/>
          <p:cNvSpPr/>
          <p:nvPr/>
        </p:nvSpPr>
        <p:spPr>
          <a:xfrm>
            <a:off x="8191500" y="387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 CONTROL SETUP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91500" y="4254500"/>
            <a:ext cx="698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Initialize Git repository at project root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.gitignore for Unity (Library/, Temp/, obj/)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Git LFS for large binaries (textures, models)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Commit after setup and before major changes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&amp; Development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762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70000"/>
            <a:ext cx="4699000" cy="1524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1422400"/>
            <a:ext cx="406400" cy="4064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1422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8600" y="14224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PREFABS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19050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Everything reusable should be a Prefab. Changes propagate automatically to all instances.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270000"/>
            <a:ext cx="4699000" cy="1524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1" name="Shape 9"/>
          <p:cNvSpPr/>
          <p:nvPr/>
        </p:nvSpPr>
        <p:spPr>
          <a:xfrm>
            <a:off x="5969000" y="1422400"/>
            <a:ext cx="406400" cy="4064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5969000" y="1422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15100" y="14224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SCENE ORGANIZATION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69000" y="19050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empty GameObjects as folders ("--- ENVIRONMENT ---") to keep Hierarchy clean.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270000"/>
            <a:ext cx="4699000" cy="1524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85500" y="1422400"/>
            <a:ext cx="406400" cy="4064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10985500" y="1422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31600" y="14224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85500" y="19050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Commit frequently with descriptive messages. Create feature branches for experimental work.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3111500"/>
            <a:ext cx="4699000" cy="1524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" y="3263900"/>
            <a:ext cx="406400" cy="4064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32639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" y="32639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NAMING STANDARDS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2500" y="37465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naming across scenes, scripts, and assets. Avoid spaces in file names.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78500" y="3111500"/>
            <a:ext cx="4699000" cy="1524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26" name="Shape 24"/>
          <p:cNvSpPr/>
          <p:nvPr/>
        </p:nvSpPr>
        <p:spPr>
          <a:xfrm>
            <a:off x="5969000" y="3263900"/>
            <a:ext cx="406400" cy="4064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7" name="Text 25"/>
          <p:cNvSpPr/>
          <p:nvPr/>
        </p:nvSpPr>
        <p:spPr>
          <a:xfrm>
            <a:off x="5969000" y="32639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15100" y="32639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AWARENESS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69000" y="37465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Stats overlay to monitor draw calls, triangles, and memory from day one.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795000" y="3111500"/>
            <a:ext cx="4699000" cy="1524000"/>
          </a:xfrm>
          <a:prstGeom prst="rect">
            <a:avLst/>
          </a:prstGeom>
          <a:solidFill>
            <a:srgbClr val="EBE8E1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85500" y="3263900"/>
            <a:ext cx="406400" cy="4064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32" name="Text 30"/>
          <p:cNvSpPr/>
          <p:nvPr/>
        </p:nvSpPr>
        <p:spPr>
          <a:xfrm>
            <a:off x="10985500" y="32639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531600" y="32639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REGULAR BUILDS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85500" y="37465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on your target platform early and often. Editor performance differs from builds.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5016500"/>
            <a:ext cx="14732000" cy="889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6" name="Shape 34"/>
          <p:cNvSpPr/>
          <p:nvPr/>
        </p:nvSpPr>
        <p:spPr>
          <a:xfrm>
            <a:off x="1117600" y="52451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37" name="Text 35"/>
          <p:cNvSpPr/>
          <p:nvPr/>
        </p:nvSpPr>
        <p:spPr>
          <a:xfrm>
            <a:off x="1524000" y="5080000"/>
            <a:ext cx="136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Maintain a README.md in your repository explaining project setup, controls, and architecture decisions. Future you will thank present you.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2000" y="8763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spc="200" kern="0" dirty="0">
                <a:solidFill>
                  <a:srgbClr val="5A5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4732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5A5A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540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spc="400" kern="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4 COMPLETE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0" y="3365500"/>
            <a:ext cx="2540000" cy="381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5588000" y="3746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200" kern="0" dirty="0">
                <a:solidFill>
                  <a:srgbClr val="E8A8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24000" y="4191000"/>
            <a:ext cx="635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Level design creates player experiences through spatial storytelling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Game systems architecture enables scalable, maintainable code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Screenshots capture your work for debugging and showcasing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4191000"/>
            <a:ext cx="635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well-configured Unity project is the foundation of success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Choose URP for new projects; organize with discipline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Version control and documentation are non-negotiable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18000" y="6731000"/>
            <a:ext cx="7620000" cy="635000"/>
          </a:xfrm>
          <a:prstGeom prst="roundRect">
            <a:avLst>
              <a:gd name="adj" fmla="val 10000"/>
            </a:avLst>
          </a:prstGeom>
          <a:solidFill>
            <a:srgbClr val="E8A838">
              <a:alpha val="12549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6731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Week: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8A8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Scripting fundamentals, player controllers, and physics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rot="900000">
            <a:off x="1016000" y="7366000"/>
            <a:ext cx="508000" cy="508000"/>
          </a:xfrm>
          <a:prstGeom prst="triangle">
            <a:avLst>
              <a:gd name="adj" fmla="val 50000"/>
            </a:avLst>
          </a:prstGeom>
          <a:solidFill>
            <a:srgbClr val="E8A838">
              <a:alpha val="18824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14732000" y="1524000"/>
            <a:ext cx="381000" cy="381000"/>
          </a:xfrm>
          <a:prstGeom prst="triangle">
            <a:avLst>
              <a:gd name="adj" fmla="val 50000"/>
            </a:avLst>
          </a:prstGeom>
          <a:solidFill>
            <a:srgbClr val="E8A838">
              <a:alpha val="12549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Programming — Week 4</dc:title>
  <dc:subject>Game Programming — Week 4</dc:subject>
  <dc:creator>Kimi</dc:creator>
  <cp:lastModifiedBy>Kimi</cp:lastModifiedBy>
  <cp:revision>1</cp:revision>
  <dcterms:created xsi:type="dcterms:W3CDTF">2026-05-24T16:23:13Z</dcterms:created>
  <dcterms:modified xsi:type="dcterms:W3CDTF">2026-05-24T16:23:13Z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{"Label":"Game Programming — Week 4","ContentProducer":"001191110108MACG2KBH8F10000","ProduceID":"19e5ac6f-3a52-81a4-8000-0000d4d8b513","ReservedCode1":"","ContentPropagator":"001191110108MACG2KBH8F20000","PropagateID":"19e5ac6f-3a52-81a4-8000-0000d4d8b513","ReservedCode2":""}</vt:lpwstr>
  </property>
</Properties>
</file>